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5"/>
  </p:notesMasterIdLst>
  <p:sldIdLst>
    <p:sldId id="352" r:id="rId2"/>
    <p:sldId id="421" r:id="rId3"/>
    <p:sldId id="1623" r:id="rId4"/>
    <p:sldId id="1592" r:id="rId5"/>
    <p:sldId id="1594" r:id="rId6"/>
    <p:sldId id="1596" r:id="rId7"/>
    <p:sldId id="1598" r:id="rId8"/>
    <p:sldId id="1625" r:id="rId9"/>
    <p:sldId id="1603" r:id="rId10"/>
    <p:sldId id="1626" r:id="rId11"/>
    <p:sldId id="1604" r:id="rId12"/>
    <p:sldId id="1627" r:id="rId13"/>
    <p:sldId id="643" r:id="rId14"/>
    <p:sldId id="1605" r:id="rId15"/>
    <p:sldId id="1629" r:id="rId16"/>
    <p:sldId id="1628" r:id="rId17"/>
    <p:sldId id="1606" r:id="rId18"/>
    <p:sldId id="1602" r:id="rId19"/>
    <p:sldId id="1607" r:id="rId20"/>
    <p:sldId id="1608" r:id="rId21"/>
    <p:sldId id="1612" r:id="rId22"/>
    <p:sldId id="1611" r:id="rId23"/>
    <p:sldId id="1631" r:id="rId24"/>
    <p:sldId id="1634" r:id="rId25"/>
    <p:sldId id="1632" r:id="rId26"/>
    <p:sldId id="1633" r:id="rId27"/>
    <p:sldId id="1620" r:id="rId28"/>
    <p:sldId id="1621" r:id="rId29"/>
    <p:sldId id="1630" r:id="rId30"/>
    <p:sldId id="1635" r:id="rId31"/>
    <p:sldId id="1636" r:id="rId32"/>
    <p:sldId id="1637" r:id="rId33"/>
    <p:sldId id="1638" r:id="rId34"/>
    <p:sldId id="1639" r:id="rId35"/>
    <p:sldId id="1640" r:id="rId36"/>
    <p:sldId id="1641" r:id="rId37"/>
    <p:sldId id="1642" r:id="rId38"/>
    <p:sldId id="1643" r:id="rId39"/>
    <p:sldId id="1644" r:id="rId40"/>
    <p:sldId id="1645" r:id="rId41"/>
    <p:sldId id="1646" r:id="rId42"/>
    <p:sldId id="1287" r:id="rId43"/>
    <p:sldId id="128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3346B6A-2980-49F8-93E8-DE86C98BFA70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39F8A-FAD6-4B92-9924-C5D90F02D8A4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3AE60-9CB4-408D-95E1-A99AE1CC9121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3F93-A398-4A26-9C48-9D7CEB8E83D3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79C38-BA72-4E6F-B3CC-BC7536ADE764}" type="datetime1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67A-5EDC-4E87-81E1-25F024F3D591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D107-6A65-4EA8-8822-E02132FA6CC1}" type="datetime1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348EC-01E3-4F3A-9F76-59403746E9AF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2F4BE-823E-4722-BB6E-ACECC05AA49C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C531-7D4A-4767-B0D0-32155F4C2BD9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988A-5AA7-4008-8B02-68DEC7FD72CB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BFAEBD7-A221-481D-8FF6-B8F2482FFC34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65138478_State_of_Health_Estimation_using_a_Temporal_Convolutional_Network_for_an_Efficient_Use_of_Retired_Electric_Vehicle_Batteries_within_Second-Life_Applications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9C3E-8739-4236-8F86-EFCA5CA917F3}" type="datetime1">
              <a:rPr lang="en-US" smtClean="0"/>
              <a:t>3/14/2025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 err="1">
                <a:solidFill>
                  <a:schemeClr val="bg1"/>
                </a:solidFill>
              </a:rPr>
              <a:t>PixelRNN</a:t>
            </a:r>
            <a:r>
              <a:rPr lang="en-US" sz="3200" dirty="0">
                <a:solidFill>
                  <a:schemeClr val="bg1"/>
                </a:solidFill>
              </a:rPr>
              <a:t> and </a:t>
            </a:r>
            <a:r>
              <a:rPr lang="en-US" sz="3200" dirty="0" err="1">
                <a:solidFill>
                  <a:schemeClr val="bg1"/>
                </a:solidFill>
              </a:rPr>
              <a:t>PixelCNN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Causal Convolution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Dilated Convolutions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Pixel Recurrent Neural Networks (</a:t>
            </a:r>
            <a:r>
              <a:rPr lang="en-US" dirty="0" err="1">
                <a:ea typeface="SimSun" panose="02010600030101010101" pitchFamily="2" charset="-122"/>
              </a:rPr>
              <a:t>PixelRNN</a:t>
            </a:r>
            <a:r>
              <a:rPr lang="en-US" dirty="0">
                <a:ea typeface="SimSun" panose="02010600030101010101" pitchFamily="2" charset="-122"/>
              </a:rPr>
              <a:t>)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Pixel Convolutional Neural Networks (</a:t>
            </a:r>
            <a:r>
              <a:rPr lang="en-US" dirty="0" err="1">
                <a:ea typeface="SimSun" panose="02010600030101010101" pitchFamily="2" charset="-122"/>
              </a:rPr>
              <a:t>PixelCNN</a:t>
            </a:r>
            <a:r>
              <a:rPr lang="en-US" dirty="0">
                <a:ea typeface="SimSun" panose="02010600030101010101" pitchFamily="2" charset="-122"/>
              </a:rPr>
              <a:t>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0C91-E82B-4446-98E9-AD1D537A295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D865-2304-C540-D1E5-74CD4F85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23E94-11D4-D5E4-B563-0BD978BA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86FD4-121A-49DE-BA47-E6D210134F28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C462B-1597-4177-40B1-E730E80B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B8636-36E5-9790-061E-91FF3C2C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89FF9E-9362-9EA1-1719-7DC1E20E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Review of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1142479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9A8E-F912-184D-E200-406C6CC30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Autoregressive models are a class of </a:t>
                </a:r>
                <a:r>
                  <a:rPr lang="en-US" dirty="0">
                    <a:solidFill>
                      <a:srgbClr val="FF0000"/>
                    </a:solidFill>
                  </a:rPr>
                  <a:t>statistical models</a:t>
                </a:r>
              </a:p>
              <a:p>
                <a:r>
                  <a:rPr lang="en-US" dirty="0"/>
                  <a:t>Used for modeling </a:t>
                </a:r>
                <a:r>
                  <a:rPr lang="en-US" dirty="0">
                    <a:solidFill>
                      <a:srgbClr val="0070C0"/>
                    </a:solidFill>
                  </a:rPr>
                  <a:t>time series data</a:t>
                </a:r>
              </a:p>
              <a:p>
                <a:pPr lvl="1"/>
                <a:r>
                  <a:rPr lang="en-US" dirty="0"/>
                  <a:t>The future value of a variable is assumed to be a </a:t>
                </a:r>
                <a:r>
                  <a:rPr lang="en-US" dirty="0">
                    <a:solidFill>
                      <a:srgbClr val="0070C0"/>
                    </a:solidFill>
                  </a:rPr>
                  <a:t>linear function of </a:t>
                </a:r>
                <a:r>
                  <a:rPr lang="en-US" dirty="0"/>
                  <a:t>a set of past values plus a stochastic error term.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2799A8E-F912-184D-E200-406C6CC30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D8A6C-A398-08E0-527B-A0BFF673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AA4EF-981E-4229-86D9-3713670D378C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7AC90-84C9-7D89-B2B4-4EC07CEE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AAE87-45D7-2D04-25A3-D50D1967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A2E880-75FA-5C39-6A32-8089D37E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39751-3F8C-DA6D-EBD5-2FB0A5A3D6A1}"/>
                  </a:ext>
                </a:extLst>
              </p:cNvPr>
              <p:cNvSpPr txBox="1"/>
              <p:nvPr/>
            </p:nvSpPr>
            <p:spPr>
              <a:xfrm>
                <a:off x="914400" y="4477970"/>
                <a:ext cx="6097554" cy="1559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𝑖𝑠𝑡h𝑒𝑓𝑢𝑡𝑢𝑟𝑒𝑣𝑎𝑙𝑢𝑒𝑜𝑓𝑡h𝑒𝑣𝑎𝑟𝑖𝑎𝑏𝑙𝑒𝑎𝑡𝑡𝑖𝑚𝑒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𝑖𝑠𝑎𝑐𝑜𝑛𝑠𝑡𝑎𝑛𝑡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𝑖𝑛𝑡𝑒𝑟𝑐𝑒𝑝𝑡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𝑎𝑟𝑒𝑡h𝑒𝑐𝑜𝑒𝑓𝑓𝑖𝑐𝑖𝑒𝑛𝑡𝑠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sepChr m:val=",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e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𝑝𝑎𝑠𝑡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𝑣𝑎𝑙𝑢𝑒𝑠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𝑣𝑎𝑟𝑖𝑎𝑏𝑙𝑒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𝑠𝑡𝑜𝑐h𝑎𝑠𝑡𝑖𝑐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𝑡𝑖𝑚𝑒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39751-3F8C-DA6D-EBD5-2FB0A5A3D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477970"/>
                <a:ext cx="6097554" cy="1559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184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41DB89-C5EB-B44D-E9EE-979231F4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i="1" u="none" strike="noStrike" baseline="0" dirty="0">
                <a:latin typeface="Times-BoldItalic"/>
              </a:rPr>
              <a:t>1. Finite Memory</a:t>
            </a:r>
            <a:endParaRPr lang="en-US" sz="3200" b="0" i="0" u="none" strike="noStrike" baseline="0" dirty="0">
              <a:latin typeface="Times-BoldItalic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Limit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complexity of a conditional model</a:t>
            </a:r>
            <a:r>
              <a:rPr lang="en-US" sz="2400" b="0" i="0" u="none" strike="noStrike" baseline="0" dirty="0">
                <a:latin typeface="Times-Roman"/>
              </a:rPr>
              <a:t>:  Assume a </a:t>
            </a:r>
            <a:r>
              <a:rPr lang="en-US" sz="2400" b="0" i="1" u="none" strike="noStrike" baseline="0" dirty="0">
                <a:latin typeface="Times-Italic"/>
              </a:rPr>
              <a:t>finite memory</a:t>
            </a:r>
            <a:r>
              <a:rPr lang="en-US" sz="2400" b="0" i="0" u="none" strike="noStrike" baseline="0" dirty="0">
                <a:latin typeface="Times-Roman"/>
              </a:rPr>
              <a:t>.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Example: assume that each variable is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dependent on no more than two past variables</a:t>
            </a:r>
            <a:r>
              <a:rPr lang="en-US" sz="2400" b="0" i="0" u="none" strike="noStrike" baseline="0" dirty="0">
                <a:latin typeface="Times-Roman"/>
              </a:rPr>
              <a:t>:</a:t>
            </a:r>
          </a:p>
          <a:p>
            <a:pPr algn="l"/>
            <a:endParaRPr lang="en-US" sz="2400" dirty="0">
              <a:latin typeface="Times-Roman"/>
            </a:endParaRPr>
          </a:p>
          <a:p>
            <a:pPr algn="l"/>
            <a:endParaRPr lang="en-US" sz="2400" b="0" i="0" u="none" strike="noStrike" baseline="0" dirty="0">
              <a:latin typeface="Times-Roman"/>
            </a:endParaRPr>
          </a:p>
          <a:p>
            <a:pPr algn="l"/>
            <a:endParaRPr lang="en-US" sz="2400" dirty="0">
              <a:latin typeface="Times-Roman"/>
            </a:endParaRPr>
          </a:p>
          <a:p>
            <a:pPr algn="l"/>
            <a:endParaRPr lang="en-US" sz="2400" b="0" i="0" u="none" strike="noStrike" baseline="0" dirty="0">
              <a:latin typeface="Times-Roman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Need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small neural network</a:t>
            </a:r>
            <a:r>
              <a:rPr lang="en-US" sz="2400" b="0" i="0" u="none" strike="noStrike" baseline="0" dirty="0">
                <a:latin typeface="Times-Roman"/>
              </a:rPr>
              <a:t>, e.g., </a:t>
            </a:r>
            <a:r>
              <a:rPr lang="en-US" sz="2400" b="0" i="0" u="none" strike="noStrike" baseline="0" dirty="0">
                <a:solidFill>
                  <a:srgbClr val="00B050"/>
                </a:solidFill>
                <a:latin typeface="Times-Roman"/>
              </a:rPr>
              <a:t>multi-layered perceptron (MLP), </a:t>
            </a:r>
            <a:r>
              <a:rPr lang="en-US" sz="2400" b="0" i="0" u="none" strike="noStrike" baseline="0" dirty="0">
                <a:latin typeface="Times-Roman"/>
              </a:rPr>
              <a:t>to predict the distribution of </a:t>
            </a:r>
            <a:r>
              <a:rPr lang="en-US" sz="2400" b="0" i="1" u="none" strike="noStrike" baseline="0" dirty="0" err="1">
                <a:latin typeface="MTMI"/>
              </a:rPr>
              <a:t>x</a:t>
            </a:r>
            <a:r>
              <a:rPr lang="en-US" sz="2400" b="0" i="1" u="none" strike="noStrike" baseline="-25000" dirty="0" err="1">
                <a:latin typeface="MTMI"/>
              </a:rPr>
              <a:t>d</a:t>
            </a:r>
            <a:r>
              <a:rPr lang="en-US" sz="2400" b="0" i="0" u="none" strike="noStrike" baseline="0" dirty="0">
                <a:latin typeface="Times-Roman"/>
              </a:rPr>
              <a:t>. </a:t>
            </a:r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AFBF4-4EFC-2BAA-CAD7-C17417A7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4632-7F32-4580-8DFF-FC0B3DA6A3E3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B053B-9ABE-5D58-004F-332DA98D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78DEA-41A2-4E12-FDAE-729816C9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50FB08-F15A-7F3D-37D1-05E8E7BA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D77C3-75E3-12A4-483D-949AE654E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280201"/>
            <a:ext cx="6940254" cy="129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4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3EA158-7EA2-1AC0-C0B9-4C405E6C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sfsdf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0EA4E-6F5B-0821-DAB9-183E8CB7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2426D-3322-45AB-86B5-6711DF373BDC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4EC7-2F2F-53B0-A71C-326DD1C4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E6295-1889-F0F3-1F1F-8229608D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8DC100-6650-4888-015B-876D29E0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AB1160-1BD6-3AFC-5D7B-E12D1D8BE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76400"/>
            <a:ext cx="10996613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8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1FC586-5D99-DD43-442B-36A4D1E38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u="none" strike="noStrike" baseline="0" dirty="0">
                <a:latin typeface="Times-BoldItalic"/>
              </a:rPr>
              <a:t>Long-Range Memory Through RNNs</a:t>
            </a:r>
            <a:endParaRPr lang="en-US" sz="2400" b="0" i="0" u="none" strike="noStrike" baseline="0" dirty="0">
              <a:latin typeface="Times-BoldItalic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-Roman"/>
              </a:rPr>
              <a:t>Use recurrent neural network (RNN) instead of MLP 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-Roman"/>
              </a:rPr>
              <a:t>The conditional distributions can be modeled as follows</a:t>
            </a:r>
          </a:p>
          <a:p>
            <a:pPr algn="l"/>
            <a:endParaRPr lang="en-US" sz="2400" dirty="0">
              <a:solidFill>
                <a:srgbClr val="000000"/>
              </a:solidFill>
              <a:latin typeface="Times-Roman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-Roman"/>
            </a:endParaRPr>
          </a:p>
          <a:p>
            <a:pPr algn="l"/>
            <a:endParaRPr lang="en-US" sz="2400" dirty="0">
              <a:solidFill>
                <a:srgbClr val="000000"/>
              </a:solidFill>
              <a:latin typeface="Times-Roman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where </a:t>
            </a:r>
            <a:r>
              <a:rPr lang="en-US" sz="2400" b="0" i="1" u="none" strike="noStrike" baseline="0" dirty="0" err="1">
                <a:latin typeface="MTMI"/>
              </a:rPr>
              <a:t>hd</a:t>
            </a:r>
            <a:r>
              <a:rPr lang="en-US" sz="2400" b="0" i="1" u="none" strike="noStrike" baseline="0" dirty="0">
                <a:latin typeface="MTMI"/>
              </a:rPr>
              <a:t> </a:t>
            </a:r>
            <a:r>
              <a:rPr lang="en-US" sz="2400" b="0" i="0" u="none" strike="noStrike" baseline="0" dirty="0">
                <a:latin typeface="MTSYN"/>
              </a:rPr>
              <a:t>= </a:t>
            </a:r>
            <a:r>
              <a:rPr lang="en-US" sz="2400" b="0" i="0" u="none" strike="noStrike" baseline="0" dirty="0">
                <a:latin typeface="Times-Roman"/>
              </a:rPr>
              <a:t>RNN</a:t>
            </a:r>
            <a:r>
              <a:rPr lang="en-US" sz="2400" b="0" i="1" u="none" strike="noStrike" baseline="0" dirty="0">
                <a:latin typeface="MTMI"/>
              </a:rPr>
              <a:t>(xd</a:t>
            </a:r>
            <a:r>
              <a:rPr lang="en-US" sz="2400" b="0" i="0" u="none" strike="noStrike" baseline="0" dirty="0">
                <a:latin typeface="MTSYN"/>
              </a:rPr>
              <a:t>−</a:t>
            </a:r>
            <a:r>
              <a:rPr lang="en-US" sz="2400" b="0" i="0" u="none" strike="noStrike" baseline="0" dirty="0">
                <a:latin typeface="Times-Roman"/>
              </a:rPr>
              <a:t>1</a:t>
            </a:r>
            <a:r>
              <a:rPr lang="en-US" sz="2400" b="0" i="1" u="none" strike="noStrike" baseline="0" dirty="0">
                <a:latin typeface="MTMI"/>
              </a:rPr>
              <a:t>, hd</a:t>
            </a:r>
            <a:r>
              <a:rPr lang="en-US" sz="2400" b="0" i="0" u="none" strike="noStrike" baseline="0" dirty="0">
                <a:latin typeface="MTSYN"/>
              </a:rPr>
              <a:t>−</a:t>
            </a:r>
            <a:r>
              <a:rPr lang="en-US" sz="2400" b="0" i="0" u="none" strike="noStrike" baseline="0" dirty="0">
                <a:latin typeface="Times-Roman"/>
              </a:rPr>
              <a:t>1</a:t>
            </a:r>
            <a:r>
              <a:rPr lang="en-US" sz="2400" b="0" i="1" u="none" strike="noStrike" baseline="0" dirty="0">
                <a:latin typeface="MTMI"/>
              </a:rPr>
              <a:t>)</a:t>
            </a:r>
            <a:r>
              <a:rPr lang="en-US" sz="2400" b="0" i="0" u="none" strike="noStrike" baseline="0" dirty="0">
                <a:latin typeface="Times-Roman"/>
              </a:rPr>
              <a:t>, and </a:t>
            </a:r>
            <a:r>
              <a:rPr lang="en-US" sz="2400" b="0" i="1" u="none" strike="noStrike" baseline="0" dirty="0" err="1">
                <a:latin typeface="MTMI"/>
              </a:rPr>
              <a:t>h</a:t>
            </a:r>
            <a:r>
              <a:rPr lang="en-US" sz="2400" b="0" i="1" u="none" strike="noStrike" baseline="-25000" dirty="0" err="1">
                <a:latin typeface="MTMI"/>
              </a:rPr>
              <a:t>d</a:t>
            </a:r>
            <a:r>
              <a:rPr lang="en-US" sz="2400" b="0" i="1" u="none" strike="noStrike" baseline="0" dirty="0">
                <a:latin typeface="MTMI"/>
              </a:rPr>
              <a:t> </a:t>
            </a:r>
            <a:r>
              <a:rPr lang="en-US" sz="2400" b="0" i="0" u="none" strike="noStrike" baseline="0" dirty="0">
                <a:latin typeface="Times-Roman"/>
              </a:rPr>
              <a:t>is a hidden context, which acts as a </a:t>
            </a:r>
            <a:r>
              <a:rPr lang="en-US" sz="2400" b="0" i="1" u="none" strike="noStrike" baseline="0" dirty="0">
                <a:latin typeface="Times-Italic"/>
              </a:rPr>
              <a:t>memory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Learning long-range dependencies.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 single parameterization, =&gt; efficient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Solves the problem of a finite memory.</a:t>
            </a: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-Roman"/>
            </a:endParaRPr>
          </a:p>
          <a:p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0AB8B-F740-B053-FAFC-319C1B8CA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85D1-B92A-4262-BF2B-A597582E81B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3D941-C9DD-6DA6-AA0D-CDB989B9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320C4-A984-E1E8-BD2E-92F719C5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756D64-6C09-9CD0-EE00-18A7E8C8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2B9432-2352-B002-CDB2-0DEE3F0CA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000361"/>
            <a:ext cx="6928825" cy="85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2870B-C98F-55D0-CFE4-25763320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76344-948D-4928-97D7-356E74836D46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89360-9BA7-FC4A-A299-C5878FEC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4AE56-AFE9-3289-5BDB-0F52C7AF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EE9215-0AEE-F603-78C8-4447395D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models: RNN Architecture</a:t>
            </a:r>
          </a:p>
        </p:txBody>
      </p:sp>
      <p:pic>
        <p:nvPicPr>
          <p:cNvPr id="7170" name="Picture 2" descr="What are Recurrent Neural Networks?">
            <a:extLst>
              <a:ext uri="{FF2B5EF4-FFF2-40B4-BE49-F238E27FC236}">
                <a16:creationId xmlns:a16="http://schemas.microsoft.com/office/drawing/2014/main" id="{8D25C06C-79D5-BE13-CCF1-DB82354C34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2320131"/>
            <a:ext cx="1042035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3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786270-16F6-DCE1-9420-1CAF04794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1. Gradient Clipping: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Exploding gradients: These occur when </a:t>
            </a:r>
            <a:r>
              <a:rPr lang="en-US" sz="24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large error gradients accumulate,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resulting in very </a:t>
            </a: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large updates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to the neural network's weights during training.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Gradient clipping is a technique to prevent exploding gradients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by setting a threshold value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</a:rPr>
              <a:t>If the gradients exceed this threshold, they are scaled down uniformly such that their </a:t>
            </a:r>
            <a:r>
              <a:rPr lang="en-US" kern="100" dirty="0">
                <a:solidFill>
                  <a:srgbClr val="0070C0"/>
                </a:solidFill>
                <a:latin typeface="Times New Roman" panose="02020603050405020304" pitchFamily="18" charset="0"/>
              </a:rPr>
              <a:t>norm (magnitude) does not exceed the threshold</a:t>
            </a:r>
            <a:r>
              <a:rPr lang="en-US" kern="100" dirty="0">
                <a:latin typeface="Times New Roman" panose="02020603050405020304" pitchFamily="18" charset="0"/>
              </a:rPr>
              <a:t>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latin typeface="Times New Roman" panose="02020603050405020304" pitchFamily="18" charset="0"/>
              </a:rPr>
              <a:t>The direction of the gradient is preserved, but the magnitude is controlled. </a:t>
            </a:r>
          </a:p>
          <a:p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08428-620C-5099-5DFA-E97F9A30B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2EEAC-7729-4608-867E-3AD3776724C7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563C-79F3-19AC-2948-46C064B5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3ED8A-C09A-6463-1F5A-02927F34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512477-7657-42D9-3D55-5410F0C3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182625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613473-7598-8F1F-69F5-E670BC49A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How it works: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Calculate the gradients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of the loss function with respect to the parameters.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Determine the threshold ( t ).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- If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&gt;</m:t>
                    </m:r>
                    <m:r>
                      <m:rPr>
                        <m:sty m:val="p"/>
                      </m:rPr>
                      <a:rPr lang="en-US" sz="2400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t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(where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|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is the norm of the gradient vector), then scale down the gradients: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𝑔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𝑔</m:t>
                      </m:r>
                      <m:r>
                        <a:rPr lang="en-US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t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 This ensures that the </a:t>
                </a:r>
                <a:r>
                  <a:rPr lang="en-US" sz="2400" kern="10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updates to the parameters are not too large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, helping maintain the stability of the learning process.</a:t>
                </a: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9613473-7598-8F1F-69F5-E670BC49A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C45350-3B37-F3CB-9E6E-60FE6801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58E17-0CEF-4B44-B7DD-2A87CC0B0C71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A9BAC-7CF2-9E2B-3CAC-729E6B3B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04A42-9114-B998-AAB3-C5D1C005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D31CA9-1171-BBA4-959D-448AB468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52560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7B3185-2D89-8B33-2188-87D676D4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2. 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Gradient Regularization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Vanishing gradients: It occurs when the gradients of the loss function become too small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Preventing the </a:t>
            </a:r>
            <a:r>
              <a:rPr lang="en-US" sz="1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weights from updating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Stops neural network from further learning.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 Gradient regularization:  It can refer to several techniques that modify the learning process to maintain stable gradients. 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Helps in 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exploding gradients issue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One common form is adding a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regularization term to the loss function, such as L1 or L2 regularization</a:t>
            </a:r>
          </a:p>
          <a:p>
            <a:pPr marL="40005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Help in 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keeping the weights from growing too large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</a:t>
            </a:r>
          </a:p>
          <a:p>
            <a:pPr mar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It doesn’t directly solve the exploding gradient problem but can contribute to a more stable and generalizable model.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B6F31-9664-CFE7-A9D5-D76E025C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6D63-E416-47D4-980A-A850E54B728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F3E81-E7EB-3D08-132C-DEB28607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8DE04-E4AB-E0A1-933D-2887A3A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DC2808-8A16-C48C-93A5-16BB5DAC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56061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65B87-FA95-ECD8-F757-FE6DB879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L1 regularization</a:t>
            </a:r>
            <a:endParaRPr lang="en-US" sz="3200" b="0" i="0" kern="100" dirty="0">
              <a:solidFill>
                <a:srgbClr val="0D0D0D"/>
              </a:solidFill>
              <a:latin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kern="1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L2 regularization</a:t>
            </a:r>
            <a:endParaRPr lang="en-US" sz="32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endParaRPr lang="en-US" b="0" i="1" dirty="0">
              <a:solidFill>
                <a:srgbClr val="0D0D0D"/>
              </a:solidFill>
              <a:effectLst/>
              <a:latin typeface="KaTeX_Math"/>
            </a:endParaRPr>
          </a:p>
          <a:p>
            <a:r>
              <a:rPr lang="en-US" b="0" i="1" dirty="0">
                <a:solidFill>
                  <a:srgbClr val="0D0D0D"/>
                </a:solidFill>
                <a:effectLst/>
                <a:latin typeface="KaTeX_Math"/>
              </a:rPr>
              <a:t>λ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is the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regularization strength hyperparameter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that controls the amount of regularization applied.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Choosing the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right value of </a:t>
            </a:r>
            <a:r>
              <a:rPr lang="en-US" b="0" i="1" dirty="0">
                <a:solidFill>
                  <a:srgbClr val="FF0000"/>
                </a:solidFill>
                <a:effectLst/>
                <a:latin typeface="KaTeX_Math"/>
              </a:rPr>
              <a:t>λ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 is critical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because a value too high will lead to underfitting, while a value too low will not sufficiently regularize the parameters.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33BFB8-9C95-D0B1-120D-81B6F54A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6A66-77B5-4779-94E3-C90FFA7AC76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ED343-E056-C898-2367-9ED233BB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92772-FFA7-8207-3FF4-FE25C968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65D0E7-702F-058E-DBE7-7F990C48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F78E51-3053-1AA4-10A0-026BB798D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509" y="1441580"/>
            <a:ext cx="4333390" cy="996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881096-872E-1B02-216E-490F51A6B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399" y="2789234"/>
            <a:ext cx="4229777" cy="86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0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1965-6927-DD7F-3E40-D36F0DDC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C0665-CACA-C4C1-F0F8-301D3746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5004-D18F-43CA-AE05-D5ACD4AF5229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13DC1-A745-56E9-1080-4F4D14BC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8EAC3-B4F5-528A-DEDE-45C01C27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8DB214-044E-715E-3467-9F05FB58D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09900"/>
            <a:ext cx="72390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182877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BE1D27-5468-6A77-3C70-D6C5266D9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Orthogonal Weight initialization</a:t>
            </a:r>
            <a:r>
              <a:rPr lang="en-US" dirty="0"/>
              <a:t>:</a:t>
            </a:r>
          </a:p>
          <a:p>
            <a:r>
              <a:rPr lang="en-US" dirty="0"/>
              <a:t>It is a technique used to address both </a:t>
            </a:r>
            <a:r>
              <a:rPr lang="en-US" dirty="0">
                <a:solidFill>
                  <a:srgbClr val="FF0000"/>
                </a:solidFill>
              </a:rPr>
              <a:t>exploding and vanishing gradients. </a:t>
            </a:r>
          </a:p>
          <a:p>
            <a:r>
              <a:rPr lang="en-US" dirty="0"/>
              <a:t>The concept is to </a:t>
            </a:r>
            <a:r>
              <a:rPr lang="en-US" dirty="0">
                <a:solidFill>
                  <a:srgbClr val="00B0F0"/>
                </a:solidFill>
              </a:rPr>
              <a:t>initialize the weight matrices </a:t>
            </a:r>
            <a:r>
              <a:rPr lang="en-US" dirty="0"/>
              <a:t>at the start of training such that they are orthogonal. </a:t>
            </a:r>
          </a:p>
          <a:p>
            <a:r>
              <a:rPr lang="en-US" dirty="0"/>
              <a:t>An orthogonal matrix is a </a:t>
            </a:r>
            <a:r>
              <a:rPr lang="en-US" dirty="0">
                <a:solidFill>
                  <a:srgbClr val="00B050"/>
                </a:solidFill>
              </a:rPr>
              <a:t>square matrix </a:t>
            </a:r>
            <a:r>
              <a:rPr lang="en-US" dirty="0"/>
              <a:t>whose </a:t>
            </a:r>
            <a:r>
              <a:rPr lang="en-US" dirty="0">
                <a:solidFill>
                  <a:srgbClr val="00B050"/>
                </a:solidFill>
              </a:rPr>
              <a:t>columns and rows are orthogonal unit vectors</a:t>
            </a:r>
            <a:r>
              <a:rPr lang="en-US" dirty="0"/>
              <a:t> (i.e., orthonormal vectors).</a:t>
            </a:r>
          </a:p>
          <a:p>
            <a:r>
              <a:rPr lang="en-US" dirty="0"/>
              <a:t>One of the key properties of an orthogonal matrix is that its </a:t>
            </a:r>
            <a:r>
              <a:rPr lang="en-US" dirty="0">
                <a:solidFill>
                  <a:srgbClr val="0099CC"/>
                </a:solidFill>
              </a:rPr>
              <a:t>inverse is equal to its transpose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2F6B9-15C9-AFEC-6E4F-A986FF0E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F40E8-51BC-4646-8739-5795B3E63942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A7D70-1D55-B092-5570-BCDE9C70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7A0C-FE2B-741C-156A-19D18BAD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6C54A7-C711-C05D-1A9B-0EA18BE1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103561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463514B-0DF2-68C2-123F-5D4E5A82F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Mathematically, an orthogonal matrix (Q ) has the property: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4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sz="6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4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𝐼</m:t>
                      </m:r>
                    </m:oMath>
                  </m:oMathPara>
                </a14:m>
                <a:endParaRPr lang="en-US" sz="6600" dirty="0"/>
              </a:p>
              <a:p>
                <a:r>
                  <a:rPr lang="en-US" sz="2800" dirty="0"/>
                  <a:t>Help train RNNs more effectively, potentially leading to better performance and more reliable convergence during training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463514B-0DF2-68C2-123F-5D4E5A82F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25CB7-3FE0-74DB-9845-EC149E14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7FED-64C0-41CD-AD66-78DFEDF86757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8B180-396C-53E5-86D2-A0A475CD3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79C22-7E8D-795D-C757-082D11DA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ACFFE5-E28F-5CEF-575A-20689EBF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8795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876FFC-6B48-9555-CCED-C2A8BD9F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orthogonal weights can help?</a:t>
            </a:r>
          </a:p>
          <a:p>
            <a:r>
              <a:rPr lang="en-US" dirty="0">
                <a:solidFill>
                  <a:srgbClr val="FF0000"/>
                </a:solidFill>
              </a:rPr>
              <a:t>During backpropagation, when the gradient is passed through the network, an orthogonal matrix will preserve the norm of the gradient.</a:t>
            </a:r>
            <a:r>
              <a:rPr lang="en-US" dirty="0"/>
              <a:t> </a:t>
            </a:r>
          </a:p>
          <a:p>
            <a:r>
              <a:rPr lang="en-US" dirty="0"/>
              <a:t>Not amplifies nor </a:t>
            </a:r>
            <a:r>
              <a:rPr lang="en-US" dirty="0">
                <a:solidFill>
                  <a:srgbClr val="0099CC"/>
                </a:solidFill>
              </a:rPr>
              <a:t>diminishes the magnitude of the gradient</a:t>
            </a:r>
            <a:r>
              <a:rPr lang="en-US" dirty="0"/>
              <a:t>, thus mitigating the risk of exploding or vanishing gradients.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346FC-48EB-3FFC-293D-929F89F3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4A87-54E0-4B01-8B1F-7B3619E1A5AE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EDA03-4648-F880-1723-D1723662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3225E-CED0-4D07-A3AC-EE1A06DF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81D1AF-5C5D-ECDE-6E97-593CA239E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2833258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93ABB3-C5FF-A163-4389-02C02FE623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𝑇𝑟𝑎𝑛𝑠𝑙𝑎𝑡𝑖𝑛𝑔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𝑡𝑜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𝑐𝑜𝑛𝑡𝑒𝑥𝑡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𝑛𝑒𝑢𝑟𝑎𝑙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𝑛𝑒𝑡𝑤𝑜𝑟𝑘𝑠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𝑎𝑛𝑑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𝑔𝑟𝑎𝑑𝑖𝑒𝑛𝑡𝑠</m:t>
                    </m:r>
                    <m:r>
                      <a:rPr lang="en-US" sz="200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:</m:t>
                    </m:r>
                  </m:oMath>
                </a14:m>
                <a:endParaRPr lang="en-US" sz="2000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i="1" kern="100" dirty="0">
                    <a:effectLst/>
                    <a:latin typeface="+mn-lt"/>
                    <a:ea typeface="Aptos" panose="020B00040202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𝐼𝑚𝑎𝑔𝑖𝑛𝑒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𝑟𝑒𝑝𝑟𝑒𝑠𝑒𝑛𝑡𝑠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</m:t>
                    </m:r>
                    <m:r>
                      <a:rPr lang="en-US" sz="2000" b="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𝑣𝑒𝑐𝑡𝑜𝑟</m:t>
                    </m:r>
                    <m:r>
                      <a:rPr lang="en-US" sz="2000" b="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𝑎𝑡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𝑐𝑒𝑟𝑡𝑎𝑖𝑛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𝑙𝑎𝑦𝑒𝑟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𝑖𝑛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𝑛𝑒𝑢𝑟𝑎𝑙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𝑛𝑒𝑡𝑤𝑜𝑟𝑘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𝑤𝑒𝑖𝑔h𝑡𝑠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𝑙𝑎𝑦𝑒𝑟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𝑎𝑟𝑒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𝑟𝑒𝑝𝑟𝑒𝑠𝑒𝑛𝑡𝑒𝑑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𝑏𝑦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𝑜𝑟𝑡h𝑜𝑔𝑜𝑛𝑎𝑙</m:t>
                    </m:r>
                    <m:r>
                      <a:rPr lang="en-US" sz="200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𝑚𝑎𝑡𝑟𝑖𝑥</m:t>
                    </m:r>
                    <m:r>
                      <a:rPr lang="en-US" sz="2000" i="1" kern="100" smtClean="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𝑄</m:t>
                    </m:r>
                    <m: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solidFill>
                          <a:srgbClr val="0099CC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𝐷𝑢𝑟𝑖𝑛𝑔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𝑏𝑎𝑐𝑘𝑝𝑟𝑜𝑝𝑎𝑔𝑎𝑡𝑖𝑜𝑛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𝑣𝑒𝑐𝑡𝑜𝑟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𝑚𝑢𝑙𝑡𝑖𝑝𝑙𝑖𝑒𝑑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𝑏𝑦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𝑡𝑟𝑎𝑛𝑠𝑝𝑜𝑠𝑒𝑑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 </m:t>
                    </m:r>
                  </m:oMath>
                </a14:m>
                <a:endParaRPr lang="en-US" sz="2000" b="0" i="1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+mn-lt"/>
                    <a:ea typeface="Aptos" panose="020B00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𝑤𝑒𝑖𝑔h𝑡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𝑚𝑎𝑡𝑟𝑖𝑥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𝑝𝑎𝑟𝑡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𝑜𝑓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𝑐h𝑎𝑖𝑛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𝑟𝑢𝑙𝑒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𝑆𝑖𝑛𝑐𝑒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𝑄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𝑜𝑟𝑡h𝑜𝑔𝑜𝑛𝑎𝑙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𝑄</m:t>
                        </m:r>
                      </m:e>
                      <m:sup>
                        <m: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⊤</m:t>
                        </m:r>
                      </m:sup>
                    </m:sSup>
                    <m:r>
                      <m:rPr>
                        <m:lit/>
                      </m:rP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𝑖𝑠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𝑎𝑙𝑠𝑜</m:t>
                    </m:r>
                    <m:r>
                      <a:rPr lang="en-US" sz="20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𝑜𝑟𝑡h𝑜𝑔𝑜𝑛𝑎𝑙</m:t>
                    </m:r>
                    <m:d>
                      <m:d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𝑎</m:t>
                        </m:r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 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𝑝𝑟𝑜𝑝𝑒𝑟𝑡𝑦</m:t>
                        </m:r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 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𝑜𝑓</m:t>
                        </m:r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 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𝑜𝑟𝑡h𝑜𝑔𝑜𝑛𝑎𝑙</m:t>
                        </m:r>
                        <m:r>
                          <a:rPr lang="en-US" sz="2000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 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𝑚𝑎𝑡𝑟𝑖𝑐𝑒𝑠</m:t>
                        </m:r>
                      </m:e>
                    </m:d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en-US" sz="2000" kern="100" dirty="0"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sz="200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𝑇h𝑒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𝑟𝑒𝑠𝑢𝑙𝑡𝑖𝑛𝑔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𝑔𝑟𝑎𝑑𝑖𝑒𝑛𝑡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𝑣𝑒𝑐𝑡𝑜𝑟</m:t>
                    </m:r>
                    <m:r>
                      <m:rPr>
                        <m:lit/>
                      </m:rP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𝑦</m:t>
                    </m:r>
                    <m:r>
                      <m:rPr>
                        <m:lit/>
                      </m:rP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𝑎𝑓𝑡𝑒𝑟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𝑡h𝑖𝑠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𝑚𝑢𝑙𝑡𝑖𝑝𝑙𝑖𝑐𝑎𝑡𝑖𝑜𝑛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h𝑎𝑠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𝑡h𝑒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𝑠𝑎𝑚𝑒</m:t>
                    </m:r>
                    <m:r>
                      <a:rPr lang="en-US" sz="2000" b="0" i="1" kern="10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sz="20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𝑛𝑜𝑟𝑚</m:t>
                    </m:r>
                  </m:oMath>
                </a14:m>
                <a:endParaRPr lang="en-US" sz="2000" i="1" kern="100" dirty="0">
                  <a:solidFill>
                    <a:srgbClr val="FF0000"/>
                  </a:solidFill>
                  <a:effectLst/>
                  <a:latin typeface="+mn-lt"/>
                  <a:ea typeface="Aptos" panose="020B000402020202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𝑎𝑠</m:t>
                      </m:r>
                      <m:r>
                        <a:rPr lang="en-US" sz="20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𝑡h𝑒</m:t>
                      </m:r>
                      <m:r>
                        <a:rPr lang="en-US" sz="20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𝑜𝑟𝑖𝑔𝑖𝑛𝑎𝑙</m:t>
                      </m:r>
                      <m:r>
                        <a:rPr lang="en-US" sz="20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𝑔𝑟𝑎𝑑𝑖𝑒𝑛𝑡</m:t>
                      </m:r>
                      <m:r>
                        <a:rPr lang="en-US" sz="2000" b="0" i="1" kern="100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𝑣𝑒𝑐𝑡𝑜𝑟</m:t>
                      </m:r>
                      <m:r>
                        <m:rPr>
                          <m:lit/>
                        </m:rP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(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𝑥</m:t>
                      </m:r>
                      <m:r>
                        <m:rPr>
                          <m:lit/>
                        </m:rP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)</m:t>
                      </m:r>
                      <m:r>
                        <a:rPr lang="en-US" sz="2000" i="1" kern="1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en-US" sz="2000" kern="100" dirty="0">
                  <a:solidFill>
                    <a:srgbClr val="FF0000"/>
                  </a:solidFill>
                  <a:effectLst/>
                  <a:latin typeface="+mn-lt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93ABB3-C5FF-A163-4389-02C02FE62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604CE-3CC7-B1DA-895E-A5E0E10A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C7BA-3FF9-493C-90C7-772DB12A006C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C42AE-F286-F21E-61F4-E0899202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5AD0F-8B71-57F3-170D-2A7D407A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240915-CED9-B49F-DE33-244B37E6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414988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0C08F-CC3E-DD1A-1606-A9A67307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u="none" strike="noStrike" baseline="0" dirty="0">
                <a:latin typeface="Times-BoldItalic"/>
              </a:rPr>
              <a:t>Long-Range Memory Through Convolutional Nets</a:t>
            </a:r>
            <a:endParaRPr lang="en-US" sz="2400" b="0" i="0" u="none" strike="noStrike" baseline="0" dirty="0">
              <a:latin typeface="Times-BoldItalic"/>
            </a:endParaRPr>
          </a:p>
          <a:p>
            <a:r>
              <a:rPr lang="en-US" sz="2400" dirty="0"/>
              <a:t>Convolutional neural networks (CNNs) could be used instead of RNNs to model long-range dependencies.</a:t>
            </a:r>
          </a:p>
          <a:p>
            <a:pPr lvl="1"/>
            <a:r>
              <a:rPr lang="en-US" b="0" i="0" u="none" strike="noStrike" baseline="0" dirty="0">
                <a:solidFill>
                  <a:srgbClr val="FF0000"/>
                </a:solidFill>
                <a:latin typeface="Times-Roman"/>
              </a:rPr>
              <a:t>One dimensional convolutional layers (Conv1D) </a:t>
            </a:r>
            <a:r>
              <a:rPr lang="en-US" b="0" i="0" u="none" strike="noStrike" baseline="0" dirty="0">
                <a:latin typeface="Times-Roman"/>
              </a:rPr>
              <a:t>could be stacked together to process sequential data. </a:t>
            </a:r>
          </a:p>
          <a:p>
            <a:r>
              <a:rPr lang="en-US" sz="2400" b="0" i="0" u="none" strike="noStrike" baseline="0" dirty="0">
                <a:latin typeface="Times-Roman"/>
              </a:rPr>
              <a:t>The advantages of such an approach are the following:</a:t>
            </a:r>
          </a:p>
          <a:p>
            <a:pPr lvl="1"/>
            <a:r>
              <a:rPr lang="en-US" b="0" i="0" u="none" strike="noStrike" baseline="0" dirty="0">
                <a:solidFill>
                  <a:srgbClr val="0070C0"/>
                </a:solidFill>
                <a:latin typeface="Times-Roman"/>
              </a:rPr>
              <a:t>Kernels are shared </a:t>
            </a:r>
            <a:r>
              <a:rPr lang="en-US" b="0" i="0" u="none" strike="noStrike" baseline="0" dirty="0">
                <a:latin typeface="Times-Roman"/>
              </a:rPr>
              <a:t>(i.e., an efficient parameterization).</a:t>
            </a:r>
          </a:p>
          <a:p>
            <a:pPr lvl="1"/>
            <a:r>
              <a:rPr lang="en-US" b="0" i="0" u="none" strike="noStrike" baseline="0" dirty="0">
                <a:latin typeface="Times-Roman"/>
              </a:rPr>
              <a:t>The processing is done in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Times-Roman"/>
              </a:rPr>
              <a:t>parallel which greatly </a:t>
            </a:r>
            <a:r>
              <a:rPr lang="en-US" b="0" i="0" u="none" strike="noStrike" baseline="0" dirty="0">
                <a:latin typeface="Times-Roman"/>
              </a:rPr>
              <a:t>speeds up computations.</a:t>
            </a:r>
          </a:p>
          <a:p>
            <a:pPr lvl="1"/>
            <a:r>
              <a:rPr lang="en-US" b="0" i="0" u="none" strike="noStrike" baseline="0" dirty="0">
                <a:latin typeface="Times-Roman"/>
              </a:rPr>
              <a:t>By stacking more layers, the effective kernel size grows with the </a:t>
            </a:r>
            <a:r>
              <a:rPr lang="en-US" b="0" i="0" u="none" strike="noStrike" baseline="0" dirty="0">
                <a:solidFill>
                  <a:srgbClr val="0070C0"/>
                </a:solidFill>
                <a:latin typeface="Times-Roman"/>
              </a:rPr>
              <a:t>network depth</a:t>
            </a:r>
            <a:r>
              <a:rPr lang="en-US" b="0" i="0" u="none" strike="noStrike" baseline="0" dirty="0">
                <a:latin typeface="Times-Roman"/>
              </a:rPr>
              <a:t>.</a:t>
            </a:r>
          </a:p>
          <a:p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28EEF-51FD-93EC-EF70-76711013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02FEA-2AA2-4258-9424-13D25D9CE3B0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33443-7A5A-9039-6919-254F492BA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F16AD-738B-C199-6DE2-685FDCBC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B25634-473D-00C0-EDA0-B876FA6C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777210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15D372-529D-7A5B-86A8-C1CAC944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u="none" strike="noStrike" baseline="0" dirty="0">
                <a:latin typeface="Times-Roman"/>
              </a:rPr>
              <a:t>Conv1D-based neural networks as a better solution to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-Roman"/>
              </a:rPr>
              <a:t>long-range dependency problems</a:t>
            </a:r>
            <a:r>
              <a:rPr lang="en-US" b="0" i="0" u="none" strike="noStrike" baseline="0" dirty="0">
                <a:latin typeface="Times-Roman"/>
              </a:rPr>
              <a:t>. </a:t>
            </a:r>
          </a:p>
          <a:p>
            <a:pPr algn="l"/>
            <a:r>
              <a:rPr lang="en-US" b="0" i="0" u="none" strike="noStrike" baseline="0" dirty="0">
                <a:latin typeface="Times-Roman"/>
              </a:rPr>
              <a:t>However, can we indeed use them straight away?</a:t>
            </a:r>
          </a:p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Times-Roman"/>
              </a:rPr>
              <a:t>A Conv1D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-Roman"/>
              </a:rPr>
              <a:t>cannot be used for autoregressive models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-Roman"/>
              </a:rPr>
              <a:t>directly. Why? </a:t>
            </a:r>
          </a:p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Times-Roman"/>
              </a:rPr>
              <a:t>We need convolutions to be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-Bold"/>
              </a:rPr>
              <a:t>causal</a:t>
            </a:r>
          </a:p>
          <a:p>
            <a:pPr lvl="1"/>
            <a:r>
              <a:rPr lang="en-US" sz="2800" b="0" i="1" u="none" strike="noStrike" baseline="0" dirty="0">
                <a:solidFill>
                  <a:srgbClr val="000000"/>
                </a:solidFill>
                <a:latin typeface="Times-Italic"/>
              </a:rPr>
              <a:t>Causal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-Roman"/>
              </a:rPr>
              <a:t>in this context means that a Conv1D layer is dependent on the last </a:t>
            </a:r>
            <a:r>
              <a:rPr lang="en-US" sz="2800" b="0" i="1" u="none" strike="noStrike" baseline="0" dirty="0">
                <a:solidFill>
                  <a:srgbClr val="000000"/>
                </a:solidFill>
                <a:latin typeface="MTMI"/>
              </a:rPr>
              <a:t>k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-Roman"/>
              </a:rPr>
              <a:t>inputs 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Times-Roman"/>
              </a:rPr>
              <a:t>but not the current one (</a:t>
            </a:r>
            <a:r>
              <a:rPr lang="en-US" sz="2800" b="0" i="1" u="none" strike="noStrike" baseline="0" dirty="0">
                <a:solidFill>
                  <a:srgbClr val="00B0F0"/>
                </a:solidFill>
                <a:latin typeface="Times-Italic"/>
              </a:rPr>
              <a:t>option A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Times-Roman"/>
              </a:rPr>
              <a:t>)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-Roman"/>
              </a:rPr>
              <a:t>or with 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Times-Roman"/>
              </a:rPr>
              <a:t>the current one (</a:t>
            </a:r>
            <a:r>
              <a:rPr lang="en-US" sz="2800" b="0" i="1" u="none" strike="noStrike" baseline="0" dirty="0">
                <a:solidFill>
                  <a:srgbClr val="00B0F0"/>
                </a:solidFill>
                <a:latin typeface="Times-Italic"/>
              </a:rPr>
              <a:t>option B</a:t>
            </a:r>
            <a:r>
              <a:rPr lang="en-US" sz="2800" b="0" i="0" u="none" strike="noStrike" baseline="0" dirty="0">
                <a:solidFill>
                  <a:srgbClr val="00B0F0"/>
                </a:solidFill>
                <a:latin typeface="Times-Roman"/>
              </a:rPr>
              <a:t>)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Times-Roman"/>
              </a:rPr>
              <a:t>. </a:t>
            </a:r>
          </a:p>
          <a:p>
            <a:pPr algn="l"/>
            <a:r>
              <a:rPr lang="en-US" b="0" i="0" u="none" strike="noStrike" baseline="0" dirty="0">
                <a:solidFill>
                  <a:srgbClr val="FF0000"/>
                </a:solidFill>
                <a:latin typeface="Times-Roman"/>
              </a:rPr>
              <a:t>We must “cut” the kernel in half and forbid it to look into the next variables (look into the future).</a:t>
            </a:r>
          </a:p>
          <a:p>
            <a:pPr algn="l"/>
            <a:endParaRPr lang="en-US" b="0" i="0" u="none" strike="noStrike" baseline="0" dirty="0">
              <a:solidFill>
                <a:srgbClr val="000000"/>
              </a:solidFill>
              <a:latin typeface="Times-Roman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6C097-E985-5974-0780-07B21E2D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4B407-F0B3-4610-B6C8-C1EA249492CC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01824-0B81-BCD1-90C6-5C3FAD50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0E93D-4C5A-E09F-22CF-E173E168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E62B65-3858-9A30-B727-7C48302A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637695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AB2BE7-F572-C576-3FB5-D63569AD8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065347"/>
            <a:ext cx="7704938" cy="444760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DD89E-BE69-0192-498E-B51DCF8B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BB4C0-FF79-4718-9F56-07AF6A3062EF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F8AC7-C9E5-DFDB-7EC6-4E5C41F2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7C39B-3CBD-DC2B-F48A-2225F916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74CA7D-7648-E1D4-603D-EBC0D8EC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227147"/>
            <a:ext cx="10972800" cy="838200"/>
          </a:xfrm>
        </p:spPr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A88DBC-7299-6760-ECB0-48259A9D2F93}"/>
              </a:ext>
            </a:extLst>
          </p:cNvPr>
          <p:cNvSpPr txBox="1"/>
          <p:nvPr/>
        </p:nvSpPr>
        <p:spPr>
          <a:xfrm>
            <a:off x="1295400" y="56388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The first CausalConv1D is of type A. </a:t>
            </a:r>
            <a:r>
              <a:rPr lang="en-US" sz="2800" dirty="0">
                <a:solidFill>
                  <a:srgbClr val="0070C0"/>
                </a:solidFill>
                <a:latin typeface="Times-Roman"/>
              </a:rPr>
              <a:t>N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ext, two layers use CausalConv1D (option B) with dilations 2 and 3.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067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BAE50F-7709-5C74-AEC9-A660090E7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Popular examples of a Autoregressive Models: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PixelRNN</a:t>
            </a:r>
            <a:r>
              <a:rPr lang="en-US" b="0" i="0" dirty="0">
                <a:solidFill>
                  <a:srgbClr val="00B0F0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PixelCNN</a:t>
            </a:r>
            <a:r>
              <a:rPr lang="en-US" b="0" i="0" dirty="0">
                <a:solidFill>
                  <a:srgbClr val="00B0F0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Söhne"/>
              </a:rPr>
              <a:t>WaveNet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etc.</a:t>
            </a:r>
          </a:p>
          <a:p>
            <a:r>
              <a:rPr lang="en-US" b="1" i="0" dirty="0">
                <a:solidFill>
                  <a:srgbClr val="FFC000"/>
                </a:solidFill>
                <a:effectLst/>
                <a:latin typeface="Söhne"/>
              </a:rPr>
              <a:t>Causal convolutions</a:t>
            </a:r>
            <a:r>
              <a:rPr lang="en-US" b="0" i="0" dirty="0">
                <a:solidFill>
                  <a:srgbClr val="FFC000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allow the model to generate </a:t>
            </a:r>
            <a:r>
              <a:rPr lang="en-US" b="0" i="0" dirty="0">
                <a:solidFill>
                  <a:srgbClr val="C00000"/>
                </a:solidFill>
                <a:effectLst/>
                <a:latin typeface="Söhne"/>
              </a:rPr>
              <a:t>output samples one timestep at a time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With each sample being dependent only on previous samples, mimicking how actual output is produced in the real world.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advantage of causal convolutions is that they can be used in </a:t>
            </a:r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real-time applications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No need of the entire sequence in advance.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They can process data as it comes in, making predictions for the next time step using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only currently available information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D37F6-B334-F080-92BB-D4D68606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D5C5-A4A3-4A40-A9A3-5ECD8A4F5702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F8789-3BB9-780A-9ECD-62A0BB8B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FDC72-B48E-4355-DEAC-34E0AE53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07BB4C-7355-2BC6-2267-5E6DC468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351588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DB0C8-2C11-9FEF-3A4B-61D0E09F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4E069-6FB7-49FE-B6FA-92AC17562183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90BA1-7388-B17E-4413-856C88AD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D6D33-7960-719F-BF8E-C0C20B3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6EC95D-691A-22C5-93FA-C00F577A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C417F5-6FE9-305A-262B-E752DD698A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9430633" cy="24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C403CE-98E4-62C0-02C8-C6564E892932}"/>
              </a:ext>
            </a:extLst>
          </p:cNvPr>
          <p:cNvSpPr txBox="1"/>
          <p:nvPr/>
        </p:nvSpPr>
        <p:spPr>
          <a:xfrm>
            <a:off x="4953000" y="4489211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u="none" strike="noStrike" dirty="0">
                <a:solidFill>
                  <a:srgbClr val="131314"/>
                </a:solidFill>
                <a:effectLst/>
                <a:latin typeface="inherit"/>
              </a:rPr>
              <a:t>Steffen et al. 2015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93E3A-6092-24F3-7066-57A390C7F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981972"/>
            <a:ext cx="565484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68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3C01-7DE0-51DF-81ED-F07496CD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Dilated convolutions (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atrous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convolutions).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variation of the standard convolution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operation.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Introduce an additional parameter called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dilation rate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which defines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spacing between the kernel's elements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Can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capture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information over larger contexts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without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losing resolution or increasing computational cost significantly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</a:t>
            </a:r>
            <a:r>
              <a:rPr lang="en-US" b="0" i="0" dirty="0">
                <a:solidFill>
                  <a:srgbClr val="00B050"/>
                </a:solidFill>
                <a:effectLst/>
                <a:latin typeface="Söhne"/>
              </a:rPr>
              <a:t>dilation rate of 1 means standard convolution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As the </a:t>
            </a:r>
            <a:r>
              <a:rPr lang="en-US" b="0" i="0" dirty="0">
                <a:solidFill>
                  <a:srgbClr val="0070C0"/>
                </a:solidFill>
                <a:effectLst/>
                <a:latin typeface="Söhne"/>
              </a:rPr>
              <a:t>dilation rate increases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the kernel elements are spread 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50AF9-E3FA-6DFC-A975-A8CE4089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287AB-714E-45F0-AB9A-02D22A51203A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8A22A-3E97-0E08-05D7-6587C3DE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60F31-9087-B7C2-8C65-10C4176D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B0E049-634B-B174-864C-BFCC217A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Dilated convolutions</a:t>
            </a:r>
          </a:p>
        </p:txBody>
      </p:sp>
    </p:spTree>
    <p:extLst>
      <p:ext uri="{BB962C8B-B14F-4D97-AF65-F5344CB8AC3E}">
        <p14:creationId xmlns:p14="http://schemas.microsoft.com/office/powerpoint/2010/main" val="266781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C5C0-9FE9-AB31-D3DC-749DC1ED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3224D18-C71D-A539-12B0-C57E489C4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065347"/>
            <a:ext cx="7704938" cy="444760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D8835-9132-973C-5AF4-92E68886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82589-D07E-4FBD-8C3C-537DCD97B0E6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26D5F-AA3D-2A72-E079-308DCD00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1F98B-D047-F077-B632-351420A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3F5ECA-B4BF-9273-D83F-2F116849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227147"/>
            <a:ext cx="10972800" cy="838200"/>
          </a:xfrm>
        </p:spPr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F320F8-B468-8207-618B-41E555680B38}"/>
              </a:ext>
            </a:extLst>
          </p:cNvPr>
          <p:cNvSpPr txBox="1"/>
          <p:nvPr/>
        </p:nvSpPr>
        <p:spPr>
          <a:xfrm>
            <a:off x="1295400" y="56388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The first CausalConv1D is of type A. </a:t>
            </a:r>
            <a:r>
              <a:rPr lang="en-US" sz="2800" dirty="0">
                <a:solidFill>
                  <a:srgbClr val="0070C0"/>
                </a:solidFill>
                <a:latin typeface="Times-Roman"/>
              </a:rPr>
              <a:t>N</a:t>
            </a:r>
            <a:r>
              <a:rPr lang="en-US" sz="2800" b="0" i="0" u="none" strike="noStrike" baseline="0" dirty="0">
                <a:solidFill>
                  <a:srgbClr val="0070C0"/>
                </a:solidFill>
                <a:latin typeface="Times-Roman"/>
              </a:rPr>
              <a:t>ext, two layers use CausalConv1D (option B) with dilations 2 and 3.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63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E16A42-567D-6EF1-45D8-8BD98B015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150" y="2133601"/>
            <a:ext cx="9189188" cy="320119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6D4FE-6918-228D-1937-E8EA9C453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DF28A-789B-44E2-8557-11E6C3539882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6ACDA-CB3F-1991-C7A3-D50B7943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A2C84-B084-A159-2029-A2777173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B51AAD-8C2C-468D-4E46-B4E0A56C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17FF23-E6F4-6149-6876-083588CBA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5410942"/>
            <a:ext cx="4814955" cy="7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836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7C0690-091F-3581-D35D-DF6813A5B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536457"/>
            <a:ext cx="8784941" cy="398145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ADF34-0C85-1953-4798-A4B2DD83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6530B-79FC-4DA2-B922-8DF0A397EF24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9807-1DA4-27A5-2337-9A96DADD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71B97-0E25-A83E-46A7-0DB61F87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82D58D-6E26-4C8D-A941-CBD8C42B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8322EB-9EBB-B13B-6AD5-5227E974A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707" y="5606562"/>
            <a:ext cx="5803315" cy="7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213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9448A-2952-C519-0ECA-F7DA3D62F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55C1F-0DD8-4D41-B85D-4313D256BFAD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CE7E1-1358-19F6-42CC-0DACE0B1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088FC-D6FC-4690-20FE-460FCEB2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F83F7A-FCB7-C567-52AA-CFB890DE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5434E83-8529-5213-17F3-A2EE35FEFE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7"/>
          <a:stretch/>
        </p:blipFill>
        <p:spPr bwMode="auto">
          <a:xfrm>
            <a:off x="1828800" y="1371600"/>
            <a:ext cx="8229142" cy="394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976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6929B0-D82D-F3CF-A7B3-D1D9F7675E7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Causal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causal_conv_layer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tf.keras.layers.Conv1D(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'causal'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Dilated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dilated_conv_layer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tf.keras.layers.Conv2D(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dilation_rate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'same'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input_tensor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Dilated Convolution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dilated_conv_layer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torch.nn.Conv2d(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Causal Convolution (for Conv1D)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input_sequence_padded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torch.nn.functional.pad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input_sequence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Pad 2 zeros on the left for a kernel size of 3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causal_conv_layer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torch.nn.Conv1d(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input_sequence_padded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DF25E-0E68-3237-80F6-EE4E6C2D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1B16-8B38-442E-84D7-C8ED5E737D3C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1AFFC-76F0-2617-8DD6-6E525EF4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7A6E5-B575-02E6-5B7F-66888664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65F981-4C53-FBF3-BA65-20B197EE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</p:spTree>
    <p:extLst>
      <p:ext uri="{BB962C8B-B14F-4D97-AF65-F5344CB8AC3E}">
        <p14:creationId xmlns:p14="http://schemas.microsoft.com/office/powerpoint/2010/main" val="3920010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823363-9437-28B8-3A3A-9216D38E2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200"/>
            <a:ext cx="10972800" cy="6476999"/>
          </a:xfrm>
          <a:solidFill>
            <a:schemeClr val="tx1"/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CausalConv1d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7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CausalConv1d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7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b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attributes: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module: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conv1d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torch.nn.Conv1d(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in_channels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out_channels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  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kernel_size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stride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 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  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dilation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  </a:t>
            </a:r>
            <a:r>
              <a:rPr lang="en-US" sz="17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7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kwargs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torch.nn.functional.pad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conv1d_out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conv1d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conv1d_out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[:, :, : </a:t>
            </a:r>
            <a:r>
              <a:rPr lang="en-US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conv1d_out</a:t>
            </a:r>
            <a:endParaRPr lang="en-US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ABB92-C204-A0EF-C52C-4571788D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00618-DD58-4E06-91B2-064759E13ABD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55C0B-34B2-65E2-C2AF-770B8E42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BBB23-7406-D697-29A6-2C98E4AD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64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8DF40-E667-C836-A305-A86218C1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57AA8-EA50-44B7-B5F9-F86D83BB7F0A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A5A8A8-FA98-BD4E-1F08-03117E65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FD811-EA5D-CCBF-4A7E-E54FA6C8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DC72A-E5AA-A845-DA8C-AD1362DB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09900"/>
            <a:ext cx="10972800" cy="1409700"/>
          </a:xfrm>
        </p:spPr>
        <p:txBody>
          <a:bodyPr/>
          <a:lstStyle/>
          <a:p>
            <a:r>
              <a:rPr lang="en-US" dirty="0"/>
              <a:t>Pixel Recurrent Neural Networks </a:t>
            </a:r>
            <a:br>
              <a:rPr lang="en-US" dirty="0"/>
            </a:br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63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037C14-4530-A71E-06CB-1BC7D6EC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Modeling the distribution </a:t>
            </a:r>
            <a:r>
              <a:rPr lang="en-US" dirty="0"/>
              <a:t>of natural images is a landmark problem in </a:t>
            </a:r>
            <a:r>
              <a:rPr lang="en-US" dirty="0">
                <a:solidFill>
                  <a:srgbClr val="FF0000"/>
                </a:solidFill>
              </a:rPr>
              <a:t>unsupervised learning</a:t>
            </a:r>
            <a:r>
              <a:rPr lang="en-US" dirty="0"/>
              <a:t>. </a:t>
            </a:r>
          </a:p>
          <a:p>
            <a:r>
              <a:rPr lang="en-US" dirty="0"/>
              <a:t>This task requires an </a:t>
            </a:r>
            <a:r>
              <a:rPr lang="en-US" dirty="0">
                <a:solidFill>
                  <a:srgbClr val="00B050"/>
                </a:solidFill>
              </a:rPr>
              <a:t>image model that is at once expressive, tractable and scalable</a:t>
            </a:r>
            <a:r>
              <a:rPr lang="en-US" dirty="0"/>
              <a:t>. </a:t>
            </a:r>
          </a:p>
          <a:p>
            <a:r>
              <a:rPr lang="en-US" dirty="0" err="1"/>
              <a:t>PixelRNN</a:t>
            </a:r>
            <a:r>
              <a:rPr lang="en-US" dirty="0"/>
              <a:t> is a </a:t>
            </a:r>
            <a:r>
              <a:rPr lang="en-US" dirty="0">
                <a:solidFill>
                  <a:srgbClr val="00B050"/>
                </a:solidFill>
              </a:rPr>
              <a:t>deep neural network </a:t>
            </a:r>
          </a:p>
          <a:p>
            <a:r>
              <a:rPr lang="en-US" dirty="0">
                <a:solidFill>
                  <a:srgbClr val="0070C0"/>
                </a:solidFill>
              </a:rPr>
              <a:t>Sequentially</a:t>
            </a:r>
            <a:r>
              <a:rPr lang="en-US" dirty="0"/>
              <a:t> predicts the pixels along the </a:t>
            </a:r>
            <a:r>
              <a:rPr lang="en-US" dirty="0">
                <a:solidFill>
                  <a:srgbClr val="0070C0"/>
                </a:solidFill>
              </a:rPr>
              <a:t>two spatial dimensions</a:t>
            </a:r>
            <a:r>
              <a:rPr lang="en-US" dirty="0"/>
              <a:t>. </a:t>
            </a:r>
          </a:p>
          <a:p>
            <a:r>
              <a:rPr lang="en-US" dirty="0"/>
              <a:t>Models the </a:t>
            </a:r>
            <a:r>
              <a:rPr lang="en-US" dirty="0">
                <a:solidFill>
                  <a:srgbClr val="FFC000"/>
                </a:solidFill>
              </a:rPr>
              <a:t>discrete probability </a:t>
            </a:r>
            <a:r>
              <a:rPr lang="en-US" dirty="0"/>
              <a:t>of the raw pixel values and </a:t>
            </a:r>
            <a:r>
              <a:rPr lang="en-US" dirty="0">
                <a:solidFill>
                  <a:srgbClr val="FFC000"/>
                </a:solidFill>
              </a:rPr>
              <a:t>encodes the complete set of dependencies </a:t>
            </a:r>
            <a:r>
              <a:rPr lang="en-US" dirty="0"/>
              <a:t>in the image. </a:t>
            </a:r>
          </a:p>
          <a:p>
            <a:r>
              <a:rPr lang="en-US" dirty="0"/>
              <a:t>Introduce </a:t>
            </a:r>
            <a:r>
              <a:rPr lang="en-US" dirty="0">
                <a:solidFill>
                  <a:srgbClr val="FF0000"/>
                </a:solidFill>
              </a:rPr>
              <a:t>two-dimensional recurrent layers </a:t>
            </a:r>
            <a:r>
              <a:rPr lang="en-US" dirty="0"/>
              <a:t>and an effective use of </a:t>
            </a:r>
            <a:r>
              <a:rPr lang="en-US" dirty="0">
                <a:solidFill>
                  <a:srgbClr val="FF0000"/>
                </a:solidFill>
              </a:rPr>
              <a:t>residual connections</a:t>
            </a:r>
            <a:r>
              <a:rPr lang="en-US" dirty="0"/>
              <a:t>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2B68BE-57D2-9A42-C744-409D3785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2B7E-A81E-4E2F-846D-43A1F554AFAD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6AA553-E7E5-E7E1-07BF-5795965F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76F0F-5743-AE6F-2F54-B2C13FF4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705027-9DE1-DCA0-79B5-B5FDD95A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10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D7F48B-2C45-2A84-6829-2899FD28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PixelRNNs</a:t>
            </a:r>
            <a:r>
              <a:rPr lang="en-US" dirty="0"/>
              <a:t> Components: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Twelve fast two-dimensional Long Short-Term Memory (LSTM) layers</a:t>
            </a:r>
            <a:r>
              <a:rPr lang="en-US" dirty="0"/>
              <a:t>. </a:t>
            </a:r>
          </a:p>
          <a:p>
            <a:r>
              <a:rPr lang="en-US" dirty="0"/>
              <a:t>Two types of these layers are designed: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Row LSTM layer</a:t>
            </a:r>
            <a:r>
              <a:rPr lang="en-US" dirty="0"/>
              <a:t>: where the convolution is applied along each row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Diagonal </a:t>
            </a:r>
            <a:r>
              <a:rPr lang="en-US" dirty="0" err="1">
                <a:solidFill>
                  <a:srgbClr val="FFC000"/>
                </a:solidFill>
              </a:rPr>
              <a:t>BiLSTM</a:t>
            </a:r>
            <a:r>
              <a:rPr lang="en-US" dirty="0">
                <a:solidFill>
                  <a:srgbClr val="FFC000"/>
                </a:solidFill>
              </a:rPr>
              <a:t> layer</a:t>
            </a:r>
            <a:r>
              <a:rPr lang="en-US" dirty="0"/>
              <a:t>: where the convolution is applied in a novel fashion along the diagonals of the image. </a:t>
            </a:r>
          </a:p>
          <a:p>
            <a:r>
              <a:rPr lang="en-US" dirty="0"/>
              <a:t>The networks also incorporate </a:t>
            </a:r>
            <a:r>
              <a:rPr lang="en-US" dirty="0">
                <a:solidFill>
                  <a:srgbClr val="FFC000"/>
                </a:solidFill>
              </a:rPr>
              <a:t>residual connections </a:t>
            </a:r>
            <a:r>
              <a:rPr lang="en-US" dirty="0"/>
              <a:t>around LSTM layers</a:t>
            </a:r>
          </a:p>
          <a:p>
            <a:pPr lvl="1"/>
            <a:r>
              <a:rPr lang="en-US" dirty="0"/>
              <a:t>Helps with the </a:t>
            </a:r>
            <a:r>
              <a:rPr lang="en-US" dirty="0">
                <a:solidFill>
                  <a:srgbClr val="00B0F0"/>
                </a:solidFill>
              </a:rPr>
              <a:t>training of the </a:t>
            </a:r>
            <a:r>
              <a:rPr lang="en-US" dirty="0" err="1">
                <a:solidFill>
                  <a:srgbClr val="00B0F0"/>
                </a:solidFill>
              </a:rPr>
              <a:t>PixelRNN</a:t>
            </a:r>
            <a:r>
              <a:rPr lang="en-US" dirty="0">
                <a:solidFill>
                  <a:srgbClr val="00B0F0"/>
                </a:solidFill>
              </a:rPr>
              <a:t> for up to twelve layers of depth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753E1-8C15-A368-74FA-C454A8E1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6561E-72CE-48F5-AEB8-A7AC7187660E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F7A6C-93AE-B1B9-22F9-3BB80CB8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3FAF5-F7DB-624B-E252-8EA6FE21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186689-1B44-EDEB-FAC0-97F0DA1C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23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C32931-B490-0DC1-EF85-8923C790C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Convolutional Neural Networks (CNN) is used as sequence model with a </a:t>
            </a:r>
            <a:r>
              <a:rPr lang="en-US" dirty="0">
                <a:solidFill>
                  <a:srgbClr val="00B0F0"/>
                </a:solidFill>
              </a:rPr>
              <a:t>fixed dependency range</a:t>
            </a:r>
          </a:p>
          <a:p>
            <a:pPr lvl="1"/>
            <a:r>
              <a:rPr lang="en-US" dirty="0"/>
              <a:t>Need Masked convolutions. </a:t>
            </a:r>
          </a:p>
          <a:p>
            <a:r>
              <a:rPr lang="en-US" dirty="0"/>
              <a:t>The </a:t>
            </a:r>
            <a:r>
              <a:rPr lang="en-US" dirty="0" err="1"/>
              <a:t>PixelCNN</a:t>
            </a:r>
            <a:r>
              <a:rPr lang="en-US" dirty="0"/>
              <a:t> architecture is a </a:t>
            </a:r>
            <a:r>
              <a:rPr lang="en-US" dirty="0">
                <a:solidFill>
                  <a:srgbClr val="FF0000"/>
                </a:solidFill>
              </a:rPr>
              <a:t>fully convolutional network of fifteen layers </a:t>
            </a:r>
            <a:r>
              <a:rPr lang="en-US" dirty="0"/>
              <a:t>that preserves the </a:t>
            </a:r>
            <a:r>
              <a:rPr lang="en-US" dirty="0">
                <a:solidFill>
                  <a:srgbClr val="0F22B1"/>
                </a:solidFill>
              </a:rPr>
              <a:t>spatial resolution </a:t>
            </a:r>
            <a:r>
              <a:rPr lang="en-US" dirty="0"/>
              <a:t>of its input throughout the layers and outputs a </a:t>
            </a:r>
            <a:r>
              <a:rPr lang="en-US" dirty="0">
                <a:solidFill>
                  <a:srgbClr val="00B0F0"/>
                </a:solidFill>
              </a:rPr>
              <a:t>conditional distribution at each location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16D2B2-E02A-3C6E-2A4B-6FCB5F316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1BDCD-A925-40F5-86B0-D52B8E1C6C2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9E08D-BA40-CBA7-3DF6-10A27B05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A55E8-C324-D942-12EB-4F8251C8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5679A5-3532-31D4-A7F8-16648708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PixelCNN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19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D2EBA0-20F0-10F3-4EC9-C5438D5E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network scans the image </a:t>
            </a:r>
            <a:r>
              <a:rPr lang="en-US" dirty="0">
                <a:solidFill>
                  <a:srgbClr val="0F22B1"/>
                </a:solidFill>
              </a:rPr>
              <a:t>one row at a time </a:t>
            </a:r>
            <a:r>
              <a:rPr lang="en-US" dirty="0"/>
              <a:t>and </a:t>
            </a:r>
            <a:r>
              <a:rPr lang="en-US" dirty="0">
                <a:solidFill>
                  <a:srgbClr val="0F22B1"/>
                </a:solidFill>
              </a:rPr>
              <a:t>one pixel </a:t>
            </a:r>
            <a:r>
              <a:rPr lang="en-US" dirty="0"/>
              <a:t>at a time within each row. </a:t>
            </a:r>
          </a:p>
          <a:p>
            <a:r>
              <a:rPr lang="en-US" dirty="0"/>
              <a:t>For each pixel it </a:t>
            </a:r>
            <a:r>
              <a:rPr lang="en-US" dirty="0">
                <a:solidFill>
                  <a:srgbClr val="0F22B1"/>
                </a:solidFill>
              </a:rPr>
              <a:t>predicts the conditional distribution </a:t>
            </a:r>
            <a:r>
              <a:rPr lang="en-US" dirty="0"/>
              <a:t>over the possible pixel values given the </a:t>
            </a:r>
            <a:r>
              <a:rPr lang="en-US" dirty="0">
                <a:solidFill>
                  <a:srgbClr val="00B0F0"/>
                </a:solidFill>
              </a:rPr>
              <a:t>scanned context</a:t>
            </a:r>
            <a:r>
              <a:rPr lang="en-US" dirty="0"/>
              <a:t>.</a:t>
            </a:r>
          </a:p>
          <a:p>
            <a:r>
              <a:rPr lang="en-US" dirty="0"/>
              <a:t>The joint distribution over the image pixels is </a:t>
            </a:r>
            <a:r>
              <a:rPr lang="en-US" dirty="0">
                <a:solidFill>
                  <a:srgbClr val="FF0000"/>
                </a:solidFill>
              </a:rPr>
              <a:t>factorized into a product of conditional distributions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263CB-20B8-4771-DC7E-422D676E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48F8-840E-402D-88C7-AA366A31D0B1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8225B-279F-6FC9-98B6-99E906AC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D9972-104A-2AF6-9ED7-FAF1BD53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838FD9-3DDD-A25C-BFC3-31A892A7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9BF09-76C5-A8EE-AFA8-57CD81BB6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416" y="1722436"/>
            <a:ext cx="60153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38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EE97FF-3B1E-2C8A-AB7E-94BB057602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The goal is to assign a </a:t>
                </a:r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probability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to each pixel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of image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</a:p>
              <a:p>
                <a:pPr marL="400050" lvl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ssume</m:t>
                    </m:r>
                    <m:r>
                      <a:rPr lang="en-US" b="0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  <m:r>
                      <a:rPr lang="en-US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𝑛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pixels.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Assume the image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as a </a:t>
                </a:r>
                <a:r>
                  <a:rPr lang="en-US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one-dimensional </a:t>
                </a:r>
                <a:r>
                  <a:rPr lang="en-US" kern="100" dirty="0">
                    <a:solidFill>
                      <a:srgbClr val="00B0F0"/>
                    </a:solidFill>
                    <a:latin typeface="Times New Roman" panose="02020603050405020304" pitchFamily="18" charset="0"/>
                    <a:ea typeface="Aptos" panose="020B0004020202020204" pitchFamily="34" charset="0"/>
                  </a:rPr>
                  <a:t>sequence </a:t>
                </a:r>
                <a:r>
                  <a:rPr lang="en-US" kern="100" dirty="0">
                    <a:latin typeface="Times New Roman" panose="02020603050405020304" pitchFamily="18" charset="0"/>
                    <a:ea typeface="Aptos" panose="020B0004020202020204" pitchFamily="34" charset="0"/>
                  </a:rPr>
                  <a:t>of  pixels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  <m:r>
                        <a:rPr lang="en-US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…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latin typeface="Times New Roman" panose="02020603050405020304" pitchFamily="18" charset="0"/>
                    <a:ea typeface="Aptos" panose="020B0004020202020204" pitchFamily="34" charset="0"/>
                  </a:rPr>
                  <a:t>P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ixels are taken from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image row by row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To estimate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joint distribution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i="1" kern="1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we write it as the product of the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conditional distributions </a:t>
                </a:r>
                <a:r>
                  <a:rPr lang="en-US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over the pixels: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EE97FF-3B1E-2C8A-AB7E-94BB057602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F9069-23E3-0B6A-DBC1-6F7DA79E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2EC8C-8C6B-4DB6-BCCA-2EEA333DA6A5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3A75-40FB-AAE2-F5F7-B2D7DFF9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A7E76-762A-5CE5-A5D2-EE87DC0C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9982FB-F8CA-09E4-96EF-A782EB29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an Image Pixel by Pixel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C4F02-F2EF-0062-4F8F-523309C0D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604" y="5284236"/>
            <a:ext cx="4270791" cy="12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4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94B87-68BC-6F69-6D0A-A1D6B199B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color image, each </a:t>
            </a:r>
            <a:r>
              <a:rPr lang="en-US" dirty="0">
                <a:solidFill>
                  <a:srgbClr val="FF0000"/>
                </a:solidFill>
              </a:rPr>
              <a:t>pixel x</a:t>
            </a:r>
            <a:r>
              <a:rPr lang="en-US" baseline="-25000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is jointly determined by three values</a:t>
            </a:r>
          </a:p>
          <a:p>
            <a:pPr lvl="1"/>
            <a:r>
              <a:rPr lang="en-US" dirty="0"/>
              <a:t>One for each of the color channels: </a:t>
            </a:r>
            <a:r>
              <a:rPr lang="en-US" dirty="0">
                <a:solidFill>
                  <a:srgbClr val="0070C0"/>
                </a:solidFill>
              </a:rPr>
              <a:t>Red, Green and Blue (RGB).</a:t>
            </a:r>
          </a:p>
          <a:p>
            <a:r>
              <a:rPr lang="en-US" dirty="0"/>
              <a:t>The distribution p(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|x</a:t>
            </a:r>
            <a:r>
              <a:rPr lang="en-US" baseline="-25000" dirty="0"/>
              <a:t>&lt;</a:t>
            </a:r>
            <a:r>
              <a:rPr lang="en-US" baseline="-25000" dirty="0" err="1"/>
              <a:t>i</a:t>
            </a:r>
            <a:r>
              <a:rPr lang="en-US" dirty="0"/>
              <a:t>) as the following product: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of the </a:t>
            </a:r>
            <a:r>
              <a:rPr lang="en-US" dirty="0">
                <a:solidFill>
                  <a:srgbClr val="FF0000"/>
                </a:solidFill>
              </a:rPr>
              <a:t>color values is conditioned on the other channels </a:t>
            </a:r>
            <a:r>
              <a:rPr lang="en-US" dirty="0"/>
              <a:t>as well as on all the </a:t>
            </a:r>
            <a:r>
              <a:rPr lang="en-US" dirty="0">
                <a:solidFill>
                  <a:srgbClr val="0070C0"/>
                </a:solidFill>
              </a:rPr>
              <a:t>previously generated pixels</a:t>
            </a:r>
            <a:r>
              <a:rPr lang="en-US" dirty="0"/>
              <a:t>.</a:t>
            </a:r>
          </a:p>
          <a:p>
            <a:r>
              <a:rPr lang="en-US" dirty="0"/>
              <a:t>During training and evaluation the distributions over the pixel values are </a:t>
            </a:r>
            <a:r>
              <a:rPr lang="en-US" dirty="0">
                <a:solidFill>
                  <a:srgbClr val="FF0000"/>
                </a:solidFill>
              </a:rPr>
              <a:t>computed in parallel</a:t>
            </a:r>
            <a:r>
              <a:rPr lang="en-US" dirty="0"/>
              <a:t>, while the </a:t>
            </a:r>
            <a:r>
              <a:rPr lang="en-US" dirty="0">
                <a:solidFill>
                  <a:srgbClr val="00B050"/>
                </a:solidFill>
              </a:rPr>
              <a:t>generation of an image is sequential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C294A-748B-740C-6469-6345A4D0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8C21-9AFB-400E-BA43-46481498FC7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93890-7478-5D22-D218-2D8A63A0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9E3D2-36A2-D685-F52B-D3A301DC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FC6873-0893-E259-9AAA-787A2707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an Image Pixel by Pixel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0BB6F1-58FC-D0DA-40FB-370F7C94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86100"/>
            <a:ext cx="7409324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73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C320A1-A230-4C77-D971-287CBE10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848600" cy="4525963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Previous approaches use a </a:t>
            </a:r>
            <a:r>
              <a:rPr lang="en-US" sz="3200" dirty="0">
                <a:solidFill>
                  <a:srgbClr val="00B050"/>
                </a:solidFill>
              </a:rPr>
              <a:t>continuous distribution</a:t>
            </a:r>
            <a:r>
              <a:rPr lang="en-US" sz="3200" dirty="0"/>
              <a:t> for the values of the pixels in the image.</a:t>
            </a:r>
          </a:p>
          <a:p>
            <a:r>
              <a:rPr lang="en-US" sz="3200" dirty="0" err="1"/>
              <a:t>PixelRNN</a:t>
            </a:r>
            <a:r>
              <a:rPr lang="en-US" sz="3200" dirty="0"/>
              <a:t> model </a:t>
            </a:r>
            <a:r>
              <a:rPr lang="en-US" sz="3200" dirty="0">
                <a:solidFill>
                  <a:srgbClr val="FF0000"/>
                </a:solidFill>
              </a:rPr>
              <a:t>p(x) as a discrete distribution</a:t>
            </a:r>
          </a:p>
          <a:p>
            <a:pPr lvl="1"/>
            <a:r>
              <a:rPr lang="en-US" sz="2800" dirty="0"/>
              <a:t>Every conditional distribution is multinomial that is modeled with a </a:t>
            </a:r>
            <a:r>
              <a:rPr lang="en-US" sz="2800" dirty="0" err="1"/>
              <a:t>softmax</a:t>
            </a:r>
            <a:r>
              <a:rPr lang="en-US" sz="2800" dirty="0"/>
              <a:t> layer. </a:t>
            </a:r>
          </a:p>
          <a:p>
            <a:r>
              <a:rPr lang="en-US" sz="3200" dirty="0"/>
              <a:t>Each channel variable x</a:t>
            </a:r>
            <a:r>
              <a:rPr lang="en-US" sz="3200" baseline="-25000" dirty="0"/>
              <a:t>i</a:t>
            </a:r>
            <a:r>
              <a:rPr lang="en-US" sz="3200" dirty="0"/>
              <a:t> simply takes one of 256 distinct values.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07FAD-0A30-20B0-397C-E89C29A7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F147-0D8B-4B3F-8C67-1C9BE18CC65B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394F8-C460-5A7E-6037-D23C9B93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954C-4F5D-EC45-61CE-F815F327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966A68-05C8-2424-108F-0A90233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Pixels as Discrete Variables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6431A-6356-1BF9-BED0-90F52C4B5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52599"/>
            <a:ext cx="3576797" cy="21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2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18D761-90B6-C996-FDA1-96F79316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types of </a:t>
            </a:r>
            <a:r>
              <a:rPr lang="en-US" dirty="0">
                <a:solidFill>
                  <a:srgbClr val="FF0000"/>
                </a:solidFill>
              </a:rPr>
              <a:t>LSTM layers </a:t>
            </a:r>
            <a:r>
              <a:rPr lang="en-US" dirty="0"/>
              <a:t>that use convolutions to compute at once the states along one of the spatial dimensions. </a:t>
            </a:r>
          </a:p>
          <a:p>
            <a:r>
              <a:rPr lang="en-US" dirty="0"/>
              <a:t>Incorporate </a:t>
            </a:r>
            <a:r>
              <a:rPr lang="en-US" dirty="0">
                <a:solidFill>
                  <a:srgbClr val="FF0000"/>
                </a:solidFill>
              </a:rPr>
              <a:t>residual connections </a:t>
            </a:r>
            <a:r>
              <a:rPr lang="en-US" dirty="0"/>
              <a:t>to improve the training of a </a:t>
            </a:r>
            <a:r>
              <a:rPr lang="en-US" dirty="0" err="1"/>
              <a:t>PixelRNN</a:t>
            </a:r>
            <a:r>
              <a:rPr lang="en-US" dirty="0"/>
              <a:t> with many LSTM layers. </a:t>
            </a:r>
          </a:p>
          <a:p>
            <a:r>
              <a:rPr lang="en-US" dirty="0" err="1">
                <a:solidFill>
                  <a:srgbClr val="FF0000"/>
                </a:solidFill>
              </a:rPr>
              <a:t>Softmax</a:t>
            </a:r>
            <a:r>
              <a:rPr lang="en-US" dirty="0">
                <a:solidFill>
                  <a:srgbClr val="FF0000"/>
                </a:solidFill>
              </a:rPr>
              <a:t> layer </a:t>
            </a:r>
            <a:r>
              <a:rPr lang="en-US" dirty="0"/>
              <a:t>that computes the discrete joint distribution of the colors and the masking technique that ensures the proper conditioning scheme.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3B5F79-2B8A-43F3-731D-0DBAF8043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F32B-9425-49F1-A47F-9C845E8074F5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A5CDC-A6D8-E857-95DE-0A4BC7CD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923A1-F866-E366-812E-4CAE5D2A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96F10D-CCA6-3D24-D9EF-96F581A1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Components pf </a:t>
            </a:r>
            <a:r>
              <a:rPr lang="en-US" dirty="0" err="1"/>
              <a:t>PixelRNN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3478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797622-39A8-5554-B0E2-49C98B95F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Row LSTM</a:t>
            </a:r>
          </a:p>
          <a:p>
            <a:r>
              <a:rPr lang="en-US" dirty="0"/>
              <a:t>It is a unidirectional layer that processes the image row by row from top to bottom computing features for a whole row at once; </a:t>
            </a:r>
          </a:p>
          <a:p>
            <a:r>
              <a:rPr lang="en-US" dirty="0"/>
              <a:t>The computation is performed with a one-dimensional convolution. </a:t>
            </a:r>
          </a:p>
          <a:p>
            <a:r>
              <a:rPr lang="en-US" dirty="0"/>
              <a:t>For a pixel x</a:t>
            </a:r>
            <a:r>
              <a:rPr lang="en-US" baseline="-25000" dirty="0"/>
              <a:t>i</a:t>
            </a:r>
            <a:r>
              <a:rPr lang="en-US" dirty="0"/>
              <a:t> the layer captures a roughly triangular context above the pixel as shown: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FA16E-93C9-DAB7-CE58-428C61BE0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4F52-A208-4822-BFD4-069874F475F1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C7E0D-C000-CE03-F597-947435D0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FF99B-F9AE-1C0C-B705-589A0281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5F3122-35A0-4C3A-14D7-50A0431E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</p:spTree>
    <p:extLst>
      <p:ext uri="{BB962C8B-B14F-4D97-AF65-F5344CB8AC3E}">
        <p14:creationId xmlns:p14="http://schemas.microsoft.com/office/powerpoint/2010/main" val="2560514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2FC65C-9BC6-15F1-9D07-0E2EEF014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1631"/>
            <a:ext cx="10972800" cy="4525963"/>
          </a:xfrm>
        </p:spPr>
        <p:txBody>
          <a:bodyPr/>
          <a:lstStyle/>
          <a:p>
            <a:r>
              <a:rPr lang="en-US" dirty="0"/>
              <a:t>The kernel of the one-dimensional convolution has size k × 1 where k ≥ 3; </a:t>
            </a:r>
          </a:p>
          <a:p>
            <a:r>
              <a:rPr lang="en-US" dirty="0"/>
              <a:t>The larger the value of k the broader the context that is captured.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0E923-D354-E4B2-4FF7-257DEB94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4A29D-399B-4DE9-A6FA-AC08FB0F7698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4AA11-BEB3-7AEF-75AD-B5978920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B4DF9-8807-0271-4F8F-776AC7A5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8F4A8B-525E-07A7-D9E8-83E4FB4E7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  <p:pic>
        <p:nvPicPr>
          <p:cNvPr id="7" name="Picture 6" descr="A group of symbols on a black background&#10;&#10;Description automatically generated">
            <a:extLst>
              <a:ext uri="{FF2B5EF4-FFF2-40B4-BE49-F238E27FC236}">
                <a16:creationId xmlns:a16="http://schemas.microsoft.com/office/drawing/2014/main" id="{05651552-B546-486E-65B0-FFBA13F854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223" y="3859728"/>
            <a:ext cx="4368977" cy="2013733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B607055A-C261-A431-5A17-AAB3464B0185}"/>
              </a:ext>
            </a:extLst>
          </p:cNvPr>
          <p:cNvGrpSpPr/>
          <p:nvPr/>
        </p:nvGrpSpPr>
        <p:grpSpPr>
          <a:xfrm>
            <a:off x="919465" y="3733677"/>
            <a:ext cx="5069869" cy="2139784"/>
            <a:chOff x="1905000" y="3060192"/>
            <a:chExt cx="5968365" cy="224345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3FA7BADB-01F7-6ABF-06AD-CE2CD6825481}"/>
                </a:ext>
              </a:extLst>
            </p:cNvPr>
            <p:cNvSpPr/>
            <p:nvPr/>
          </p:nvSpPr>
          <p:spPr>
            <a:xfrm>
              <a:off x="7504176" y="336042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010C0584-44CC-ACE9-9F36-DA38D4985884}"/>
                </a:ext>
              </a:extLst>
            </p:cNvPr>
            <p:cNvSpPr/>
            <p:nvPr/>
          </p:nvSpPr>
          <p:spPr>
            <a:xfrm>
              <a:off x="3508247" y="3387852"/>
              <a:ext cx="2033270" cy="24765"/>
            </a:xfrm>
            <a:custGeom>
              <a:avLst/>
              <a:gdLst/>
              <a:ahLst/>
              <a:cxnLst/>
              <a:rect l="l" t="t" r="r" b="b"/>
              <a:pathLst>
                <a:path w="2033270" h="24764">
                  <a:moveTo>
                    <a:pt x="0" y="0"/>
                  </a:moveTo>
                  <a:lnTo>
                    <a:pt x="33528" y="0"/>
                  </a:lnTo>
                </a:path>
                <a:path w="2033270" h="24764">
                  <a:moveTo>
                    <a:pt x="1984247" y="0"/>
                  </a:moveTo>
                  <a:lnTo>
                    <a:pt x="2020824" y="0"/>
                  </a:lnTo>
                </a:path>
                <a:path w="2033270" h="24764">
                  <a:moveTo>
                    <a:pt x="1972055" y="24384"/>
                  </a:moveTo>
                  <a:lnTo>
                    <a:pt x="2033016" y="243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1FF59B79-100C-78C0-7939-0E86FCCDBBF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191" y="3060192"/>
              <a:ext cx="5955791" cy="905255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6B289538-7DE9-3675-A7CA-ADF2E4FBB79E}"/>
                </a:ext>
              </a:extLst>
            </p:cNvPr>
            <p:cNvSpPr/>
            <p:nvPr/>
          </p:nvSpPr>
          <p:spPr>
            <a:xfrm>
              <a:off x="5782055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2626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9CD69A07-DB9C-67ED-BAF8-7ADF32849FF9}"/>
                </a:ext>
              </a:extLst>
            </p:cNvPr>
            <p:cNvSpPr/>
            <p:nvPr/>
          </p:nvSpPr>
          <p:spPr>
            <a:xfrm>
              <a:off x="7778496" y="39639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0">
              <a:extLst>
                <a:ext uri="{FF2B5EF4-FFF2-40B4-BE49-F238E27FC236}">
                  <a16:creationId xmlns:a16="http://schemas.microsoft.com/office/drawing/2014/main" id="{30341C3E-D6FD-2522-51B8-27F03814A6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7191" y="3962400"/>
              <a:ext cx="5952743" cy="688847"/>
            </a:xfrm>
            <a:prstGeom prst="rect">
              <a:avLst/>
            </a:prstGeom>
          </p:spPr>
        </p:pic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6FB3AB3F-5FDF-A1B9-FE67-41B892466703}"/>
                </a:ext>
              </a:extLst>
            </p:cNvPr>
            <p:cNvSpPr/>
            <p:nvPr/>
          </p:nvSpPr>
          <p:spPr>
            <a:xfrm>
              <a:off x="3803904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1C901598-7927-4450-7622-E29DC30BEBB9}"/>
                </a:ext>
              </a:extLst>
            </p:cNvPr>
            <p:cNvSpPr/>
            <p:nvPr/>
          </p:nvSpPr>
          <p:spPr>
            <a:xfrm>
              <a:off x="5788152" y="453999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2C2C2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BEF18280-D441-38FF-BA73-34C623745BCF}"/>
                </a:ext>
              </a:extLst>
            </p:cNvPr>
            <p:cNvSpPr/>
            <p:nvPr/>
          </p:nvSpPr>
          <p:spPr>
            <a:xfrm>
              <a:off x="3803904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5C5C5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F07C80AC-0503-94BF-1BD3-5D48B257E89A}"/>
                </a:ext>
              </a:extLst>
            </p:cNvPr>
            <p:cNvSpPr/>
            <p:nvPr/>
          </p:nvSpPr>
          <p:spPr>
            <a:xfrm>
              <a:off x="5788152" y="4649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0" y="0"/>
                  </a:moveTo>
                  <a:lnTo>
                    <a:pt x="3047" y="0"/>
                  </a:lnTo>
                </a:path>
              </a:pathLst>
            </a:custGeom>
            <a:ln w="3175">
              <a:solidFill>
                <a:srgbClr val="65656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5">
              <a:extLst>
                <a:ext uri="{FF2B5EF4-FFF2-40B4-BE49-F238E27FC236}">
                  <a16:creationId xmlns:a16="http://schemas.microsoft.com/office/drawing/2014/main" id="{9F3FCA26-1D05-3811-F920-6388E51C43B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5000" y="4651248"/>
              <a:ext cx="1789175" cy="652271"/>
            </a:xfrm>
            <a:prstGeom prst="rect">
              <a:avLst/>
            </a:prstGeom>
          </p:spPr>
        </p:pic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AFFE1F10-95BC-C79F-D6DA-B8267C7EB2D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8392" y="4648200"/>
              <a:ext cx="1780031" cy="655319"/>
            </a:xfrm>
            <a:prstGeom prst="rect">
              <a:avLst/>
            </a:prstGeom>
          </p:spPr>
        </p:pic>
        <p:pic>
          <p:nvPicPr>
            <p:cNvPr id="21" name="object 17">
              <a:extLst>
                <a:ext uri="{FF2B5EF4-FFF2-40B4-BE49-F238E27FC236}">
                  <a16:creationId xmlns:a16="http://schemas.microsoft.com/office/drawing/2014/main" id="{40845B94-845A-2CE5-509E-FFBCA816B0ED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6544" y="4648200"/>
              <a:ext cx="1798320" cy="655319"/>
            </a:xfrm>
            <a:prstGeom prst="rect">
              <a:avLst/>
            </a:prstGeom>
          </p:spPr>
        </p:pic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78BF83AF-75A5-F6F2-70B0-29BB8D41976A}"/>
                </a:ext>
              </a:extLst>
            </p:cNvPr>
            <p:cNvSpPr/>
            <p:nvPr/>
          </p:nvSpPr>
          <p:spPr>
            <a:xfrm>
              <a:off x="2036063" y="4820412"/>
              <a:ext cx="4002404" cy="125095"/>
            </a:xfrm>
            <a:custGeom>
              <a:avLst/>
              <a:gdLst/>
              <a:ahLst/>
              <a:cxnLst/>
              <a:rect l="l" t="t" r="r" b="b"/>
              <a:pathLst>
                <a:path w="4002404" h="125095">
                  <a:moveTo>
                    <a:pt x="0" y="0"/>
                  </a:moveTo>
                  <a:lnTo>
                    <a:pt x="21335" y="0"/>
                  </a:lnTo>
                </a:path>
                <a:path w="4002404" h="125095">
                  <a:moveTo>
                    <a:pt x="0" y="3047"/>
                  </a:moveTo>
                  <a:lnTo>
                    <a:pt x="21335" y="3047"/>
                  </a:lnTo>
                </a:path>
                <a:path w="4002404" h="125095">
                  <a:moveTo>
                    <a:pt x="0" y="6095"/>
                  </a:moveTo>
                  <a:lnTo>
                    <a:pt x="21335" y="6095"/>
                  </a:lnTo>
                </a:path>
                <a:path w="4002404" h="125095">
                  <a:moveTo>
                    <a:pt x="0" y="9143"/>
                  </a:moveTo>
                  <a:lnTo>
                    <a:pt x="21335" y="9143"/>
                  </a:lnTo>
                </a:path>
                <a:path w="4002404" h="125095">
                  <a:moveTo>
                    <a:pt x="1987295" y="9143"/>
                  </a:moveTo>
                  <a:lnTo>
                    <a:pt x="2005584" y="9143"/>
                  </a:lnTo>
                </a:path>
                <a:path w="4002404" h="125095">
                  <a:moveTo>
                    <a:pt x="0" y="12191"/>
                  </a:moveTo>
                  <a:lnTo>
                    <a:pt x="21335" y="12191"/>
                  </a:lnTo>
                </a:path>
                <a:path w="4002404" h="125095">
                  <a:moveTo>
                    <a:pt x="1987295" y="12191"/>
                  </a:moveTo>
                  <a:lnTo>
                    <a:pt x="2005584" y="12191"/>
                  </a:lnTo>
                </a:path>
                <a:path w="4002404" h="125095">
                  <a:moveTo>
                    <a:pt x="0" y="15239"/>
                  </a:moveTo>
                  <a:lnTo>
                    <a:pt x="21335" y="15239"/>
                  </a:lnTo>
                </a:path>
                <a:path w="4002404" h="125095">
                  <a:moveTo>
                    <a:pt x="1987295" y="15239"/>
                  </a:moveTo>
                  <a:lnTo>
                    <a:pt x="2005584" y="15239"/>
                  </a:lnTo>
                </a:path>
                <a:path w="4002404" h="125095">
                  <a:moveTo>
                    <a:pt x="0" y="18287"/>
                  </a:moveTo>
                  <a:lnTo>
                    <a:pt x="21335" y="18287"/>
                  </a:lnTo>
                </a:path>
                <a:path w="4002404" h="125095">
                  <a:moveTo>
                    <a:pt x="1987295" y="18287"/>
                  </a:moveTo>
                  <a:lnTo>
                    <a:pt x="2005584" y="18287"/>
                  </a:lnTo>
                </a:path>
                <a:path w="4002404" h="125095">
                  <a:moveTo>
                    <a:pt x="1987295" y="21336"/>
                  </a:moveTo>
                  <a:lnTo>
                    <a:pt x="2005584" y="21336"/>
                  </a:lnTo>
                </a:path>
                <a:path w="4002404" h="125095">
                  <a:moveTo>
                    <a:pt x="1987295" y="24383"/>
                  </a:moveTo>
                  <a:lnTo>
                    <a:pt x="2005584" y="24383"/>
                  </a:lnTo>
                </a:path>
                <a:path w="4002404" h="125095">
                  <a:moveTo>
                    <a:pt x="1987295" y="27431"/>
                  </a:moveTo>
                  <a:lnTo>
                    <a:pt x="2005584" y="27431"/>
                  </a:lnTo>
                </a:path>
                <a:path w="4002404" h="125095">
                  <a:moveTo>
                    <a:pt x="3980687" y="112775"/>
                  </a:moveTo>
                  <a:lnTo>
                    <a:pt x="4002023" y="112775"/>
                  </a:lnTo>
                </a:path>
                <a:path w="4002404" h="125095">
                  <a:moveTo>
                    <a:pt x="3980687" y="115823"/>
                  </a:moveTo>
                  <a:lnTo>
                    <a:pt x="4002023" y="115823"/>
                  </a:lnTo>
                </a:path>
                <a:path w="4002404" h="125095">
                  <a:moveTo>
                    <a:pt x="3980687" y="118871"/>
                  </a:moveTo>
                  <a:lnTo>
                    <a:pt x="4002023" y="118871"/>
                  </a:lnTo>
                </a:path>
                <a:path w="4002404" h="125095">
                  <a:moveTo>
                    <a:pt x="3980687" y="121919"/>
                  </a:moveTo>
                  <a:lnTo>
                    <a:pt x="4002023" y="121919"/>
                  </a:lnTo>
                </a:path>
                <a:path w="4002404" h="125095">
                  <a:moveTo>
                    <a:pt x="3980687" y="124967"/>
                  </a:moveTo>
                  <a:lnTo>
                    <a:pt x="4002023" y="1249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C4693CB-74F2-FE68-B4CF-BB0940A7F8B4}"/>
              </a:ext>
            </a:extLst>
          </p:cNvPr>
          <p:cNvSpPr txBox="1"/>
          <p:nvPr/>
        </p:nvSpPr>
        <p:spPr>
          <a:xfrm>
            <a:off x="2225565" y="6034000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LSTM Cell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98230C-8400-9A20-6D23-3DE23B45F61B}"/>
              </a:ext>
            </a:extLst>
          </p:cNvPr>
          <p:cNvSpPr txBox="1"/>
          <p:nvPr/>
        </p:nvSpPr>
        <p:spPr>
          <a:xfrm>
            <a:off x="8764037" y="5986405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RNN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B66985-6D29-5259-9A73-48B7CC7F817C}"/>
              </a:ext>
            </a:extLst>
          </p:cNvPr>
          <p:cNvSpPr txBox="1"/>
          <p:nvPr/>
        </p:nvSpPr>
        <p:spPr>
          <a:xfrm>
            <a:off x="4350708" y="3382948"/>
            <a:ext cx="1676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Cell State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054613-80AD-A3FC-8BAA-176FB5D5E76F}"/>
              </a:ext>
            </a:extLst>
          </p:cNvPr>
          <p:cNvCxnSpPr/>
          <p:nvPr/>
        </p:nvCxnSpPr>
        <p:spPr>
          <a:xfrm flipH="1">
            <a:off x="4219383" y="3708959"/>
            <a:ext cx="352617" cy="695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4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0F83A-1681-6C48-A57C-E2708EEF7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4671-7864-FFE6-B449-922CBEA3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F5F1E-A599-4654-B43C-544FF0ED5F8D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CAC74-6310-EB97-E5CE-71B750FC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99199-7214-86CC-BBD5-0FFBEF35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1C2EB1-B91A-8FE7-A852-FB650D1D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Layers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6A31F9-2C5D-8D56-BB44-289F956A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98637"/>
            <a:ext cx="6512203" cy="406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85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4EBE-4493-381C-BBC2-7F907581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F3DE3D-2EC0-FF0E-D6DD-5BB94039B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31314"/>
                </a:solidFill>
                <a:effectLst/>
                <a:latin typeface="Manrope Var"/>
                <a:hlinkClick r:id="rId2"/>
              </a:rPr>
              <a:t>State of Health Estimation using a Temporal Convolutional Network for an Efficient Use of Retired Electric Vehicle Batteries within Second-Life Applications</a:t>
            </a:r>
            <a:endParaRPr lang="en-US" b="1" i="0" dirty="0">
              <a:solidFill>
                <a:srgbClr val="131314"/>
              </a:solidFill>
              <a:effectLst/>
              <a:latin typeface="Manrope Var"/>
            </a:endParaRPr>
          </a:p>
          <a:p>
            <a:r>
              <a:rPr lang="en-US" b="1" dirty="0">
                <a:solidFill>
                  <a:srgbClr val="131314"/>
                </a:solidFill>
                <a:latin typeface="Manrope Var"/>
              </a:rPr>
              <a:t>Pixel Recurrent </a:t>
            </a:r>
            <a:r>
              <a:rPr lang="en-US" b="1">
                <a:solidFill>
                  <a:srgbClr val="131314"/>
                </a:solidFill>
                <a:latin typeface="Manrope Var"/>
              </a:rPr>
              <a:t>Neural Network</a:t>
            </a:r>
            <a:endParaRPr lang="en-US" b="1" i="0" dirty="0">
              <a:solidFill>
                <a:srgbClr val="131314"/>
              </a:solidFill>
              <a:effectLst/>
              <a:latin typeface="Manrope Var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D9B8A-BB10-B81C-7B73-476E2C3B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E7891-A87C-48DC-9126-670224FF8DB9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7BA1F-DFA4-266A-F989-5A0D454C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46DEE-39B1-81A4-1855-C5DE6D44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48668A-B5B6-EFD2-4E01-0316F2D7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011284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793B-A13D-4683-8EF0-B18817B8C3BD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24928</TotalTime>
  <Words>2830</Words>
  <Application>Microsoft Office PowerPoint</Application>
  <PresentationFormat>Widescreen</PresentationFormat>
  <Paragraphs>363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62" baseType="lpstr">
      <vt:lpstr>inherit</vt:lpstr>
      <vt:lpstr>KaTeX_Math</vt:lpstr>
      <vt:lpstr>Manrope Var</vt:lpstr>
      <vt:lpstr>MTMI</vt:lpstr>
      <vt:lpstr>MTSYN</vt:lpstr>
      <vt:lpstr>SimSun</vt:lpstr>
      <vt:lpstr>Söhne</vt:lpstr>
      <vt:lpstr>Times-Bold</vt:lpstr>
      <vt:lpstr>Times-BoldItalic</vt:lpstr>
      <vt:lpstr>Times-Italic</vt:lpstr>
      <vt:lpstr>Times-Roman</vt:lpstr>
      <vt:lpstr>Arial</vt:lpstr>
      <vt:lpstr>Arial</vt:lpstr>
      <vt:lpstr>Calibri</vt:lpstr>
      <vt:lpstr>Cambria Math</vt:lpstr>
      <vt:lpstr>Consolas</vt:lpstr>
      <vt:lpstr>Times New Roman</vt:lpstr>
      <vt:lpstr>Wingdings</vt:lpstr>
      <vt:lpstr>Office Theme</vt:lpstr>
      <vt:lpstr>PowerPoint Presentation</vt:lpstr>
      <vt:lpstr>Goals</vt:lpstr>
      <vt:lpstr>Review of Previous Lecture</vt:lpstr>
      <vt:lpstr>Autoregressive models</vt:lpstr>
      <vt:lpstr>Autoregressive models</vt:lpstr>
      <vt:lpstr>Autoregressive models</vt:lpstr>
      <vt:lpstr>Autoregressive models</vt:lpstr>
      <vt:lpstr>Autoregressive models: RNN Architecture</vt:lpstr>
      <vt:lpstr>Autoregressive models</vt:lpstr>
      <vt:lpstr>Autoregressive models</vt:lpstr>
      <vt:lpstr>Autoregressive models</vt:lpstr>
      <vt:lpstr>Autoregressive models</vt:lpstr>
      <vt:lpstr>Today’s Lecture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Autoregressive models</vt:lpstr>
      <vt:lpstr>Dilated convolutions</vt:lpstr>
      <vt:lpstr>Autoregressive models</vt:lpstr>
      <vt:lpstr>Autoregressive models</vt:lpstr>
      <vt:lpstr>Autoregressive models</vt:lpstr>
      <vt:lpstr>Autoregressive models</vt:lpstr>
      <vt:lpstr>Autoregressive models</vt:lpstr>
      <vt:lpstr>PowerPoint Presentation</vt:lpstr>
      <vt:lpstr>Pixel Recurrent Neural Networks  PixelRNN</vt:lpstr>
      <vt:lpstr>PixelRNN</vt:lpstr>
      <vt:lpstr>PixelRNN</vt:lpstr>
      <vt:lpstr>PixelCNN</vt:lpstr>
      <vt:lpstr>Model</vt:lpstr>
      <vt:lpstr>Generating an Image Pixel by Pixel</vt:lpstr>
      <vt:lpstr>Generating an Image Pixel by Pixel</vt:lpstr>
      <vt:lpstr>Pixels as Discrete Variables</vt:lpstr>
      <vt:lpstr>Architectural Components pf PixelRNN</vt:lpstr>
      <vt:lpstr>LSTM Layers</vt:lpstr>
      <vt:lpstr>LSTM Layers</vt:lpstr>
      <vt:lpstr>LSTM Layers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1631</cp:revision>
  <dcterms:created xsi:type="dcterms:W3CDTF">2006-08-16T00:00:00Z</dcterms:created>
  <dcterms:modified xsi:type="dcterms:W3CDTF">2025-03-14T04:58:41Z</dcterms:modified>
</cp:coreProperties>
</file>