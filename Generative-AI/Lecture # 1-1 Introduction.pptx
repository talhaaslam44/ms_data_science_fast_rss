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91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CB6151-C0EC-456C-BF4E-D40C6ACB0796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95A334-7A3E-487C-8A1F-6FBED70FD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267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070C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/>
              <a:t>1/22/2024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E05EEF63-922C-43B4-BEE5-24F417A0ED1A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070C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/>
              <a:t>1/22/2024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0492E84E-0F82-401F-B20C-1CF1DA83E12A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070C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/>
              <a:t>1/22/2024</a:t>
            </a: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DA874090-EFFD-4254-A786-5F881BE14CA8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070C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/>
              <a:t>1/22/2024</a:t>
            </a:r>
            <a:endParaRPr spc="-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B00F9D10-CCF3-4E9D-A7B0-5107CE45B42F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/>
              <a:t>1/22/2024</a:t>
            </a:r>
            <a:endParaRPr spc="-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C2EFFDC9-8F02-4984-A73E-FF6171CA64DA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4399" y="182564"/>
            <a:ext cx="12158980" cy="351155"/>
          </a:xfrm>
          <a:custGeom>
            <a:avLst/>
            <a:gdLst/>
            <a:ahLst/>
            <a:cxnLst/>
            <a:rect l="l" t="t" r="r" b="b"/>
            <a:pathLst>
              <a:path w="12158980" h="351155">
                <a:moveTo>
                  <a:pt x="12158399" y="350836"/>
                </a:moveTo>
                <a:lnTo>
                  <a:pt x="0" y="350836"/>
                </a:lnTo>
                <a:lnTo>
                  <a:pt x="0" y="0"/>
                </a:lnTo>
                <a:lnTo>
                  <a:pt x="12158399" y="0"/>
                </a:lnTo>
                <a:lnTo>
                  <a:pt x="12158399" y="3508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4399" y="182564"/>
            <a:ext cx="12158980" cy="351155"/>
          </a:xfrm>
          <a:custGeom>
            <a:avLst/>
            <a:gdLst/>
            <a:ahLst/>
            <a:cxnLst/>
            <a:rect l="l" t="t" r="r" b="b"/>
            <a:pathLst>
              <a:path w="12158980" h="351155">
                <a:moveTo>
                  <a:pt x="0" y="0"/>
                </a:moveTo>
                <a:lnTo>
                  <a:pt x="12158399" y="0"/>
                </a:lnTo>
                <a:lnTo>
                  <a:pt x="12158399" y="350836"/>
                </a:lnTo>
                <a:lnTo>
                  <a:pt x="0" y="350836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10631" y="305880"/>
            <a:ext cx="7370737" cy="9915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070C0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1939" y="1554552"/>
            <a:ext cx="10695305" cy="4328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2625" y="6633464"/>
            <a:ext cx="68326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F1F1F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/>
              <a:t>1/22/2024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59734" y="6633464"/>
            <a:ext cx="207137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F1F1F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2DFCB950-532F-47CF-B34A-26B7B5949DEC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29491" y="6633464"/>
            <a:ext cx="217804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F1F1F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Nouman.noor@isb.nu.edu.pk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ltk.org/" TargetMode="External"/><Relationship Id="rId2" Type="http://schemas.openxmlformats.org/officeDocument/2006/relationships/hyperlink" Target="http://www.tensorflow.org/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cimagojr.com/journalrank.php?category=1702&amp;area=1700&amp;t" TargetMode="External"/><Relationship Id="rId2" Type="http://schemas.openxmlformats.org/officeDocument/2006/relationships/hyperlink" Target="https://www.scimagojr.com/journalrank.php?area=1700&amp;type=p&amp;category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ensorflow.org/install/pip#linux" TargetMode="External"/><Relationship Id="rId2" Type="http://schemas.openxmlformats.org/officeDocument/2006/relationships/hyperlink" Target="http://www.anaconda.com/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overleaf.com/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cornell.edu/~kuleshov/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8016" y="473455"/>
            <a:ext cx="61556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99CC"/>
                </a:solidFill>
                <a:latin typeface="Arial"/>
                <a:cs typeface="Arial"/>
              </a:rPr>
              <a:t>National</a:t>
            </a:r>
            <a:r>
              <a:rPr sz="1800" b="1" spc="-35" dirty="0">
                <a:solidFill>
                  <a:srgbClr val="0099CC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99CC"/>
                </a:solidFill>
                <a:latin typeface="Arial"/>
                <a:cs typeface="Arial"/>
              </a:rPr>
              <a:t>University</a:t>
            </a:r>
            <a:r>
              <a:rPr sz="1800" b="1" spc="-35" dirty="0">
                <a:solidFill>
                  <a:srgbClr val="0099CC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99CC"/>
                </a:solidFill>
                <a:latin typeface="Arial"/>
                <a:cs typeface="Arial"/>
              </a:rPr>
              <a:t>of</a:t>
            </a:r>
            <a:r>
              <a:rPr sz="1800" b="1" spc="-35" dirty="0">
                <a:solidFill>
                  <a:srgbClr val="0099CC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99CC"/>
                </a:solidFill>
                <a:latin typeface="Arial"/>
                <a:cs typeface="Arial"/>
              </a:rPr>
              <a:t>Computer</a:t>
            </a:r>
            <a:r>
              <a:rPr sz="1800" b="1" spc="-35" dirty="0">
                <a:solidFill>
                  <a:srgbClr val="0099CC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99CC"/>
                </a:solidFill>
                <a:latin typeface="Arial"/>
                <a:cs typeface="Arial"/>
              </a:rPr>
              <a:t>and</a:t>
            </a:r>
            <a:r>
              <a:rPr sz="1800" b="1" spc="-35" dirty="0">
                <a:solidFill>
                  <a:srgbClr val="0099CC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99CC"/>
                </a:solidFill>
                <a:latin typeface="Arial"/>
                <a:cs typeface="Arial"/>
              </a:rPr>
              <a:t>Emerging</a:t>
            </a:r>
            <a:r>
              <a:rPr sz="1800" b="1" spc="-35" dirty="0">
                <a:solidFill>
                  <a:srgbClr val="0099CC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99CC"/>
                </a:solidFill>
                <a:latin typeface="Arial"/>
                <a:cs typeface="Arial"/>
              </a:rPr>
              <a:t>Sciences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395538" y="2584479"/>
            <a:ext cx="7426325" cy="885825"/>
            <a:chOff x="2395538" y="2584479"/>
            <a:chExt cx="7426325" cy="8858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0938" y="2622579"/>
              <a:ext cx="7400924" cy="84772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400300" y="2589241"/>
              <a:ext cx="7391400" cy="838200"/>
            </a:xfrm>
            <a:custGeom>
              <a:avLst/>
              <a:gdLst/>
              <a:ahLst/>
              <a:cxnLst/>
              <a:rect l="l" t="t" r="r" b="b"/>
              <a:pathLst>
                <a:path w="7391400" h="838200">
                  <a:moveTo>
                    <a:pt x="7251695" y="838200"/>
                  </a:moveTo>
                  <a:lnTo>
                    <a:pt x="139702" y="838200"/>
                  </a:lnTo>
                  <a:lnTo>
                    <a:pt x="95546" y="831078"/>
                  </a:lnTo>
                  <a:lnTo>
                    <a:pt x="57196" y="811246"/>
                  </a:lnTo>
                  <a:lnTo>
                    <a:pt x="26954" y="781004"/>
                  </a:lnTo>
                  <a:lnTo>
                    <a:pt x="7122" y="742655"/>
                  </a:lnTo>
                  <a:lnTo>
                    <a:pt x="0" y="698498"/>
                  </a:lnTo>
                  <a:lnTo>
                    <a:pt x="0" y="139702"/>
                  </a:lnTo>
                  <a:lnTo>
                    <a:pt x="7122" y="95545"/>
                  </a:lnTo>
                  <a:lnTo>
                    <a:pt x="26954" y="57196"/>
                  </a:lnTo>
                  <a:lnTo>
                    <a:pt x="57196" y="26954"/>
                  </a:lnTo>
                  <a:lnTo>
                    <a:pt x="95546" y="7122"/>
                  </a:lnTo>
                  <a:lnTo>
                    <a:pt x="139702" y="0"/>
                  </a:lnTo>
                  <a:lnTo>
                    <a:pt x="7251695" y="0"/>
                  </a:lnTo>
                  <a:lnTo>
                    <a:pt x="7305157" y="10634"/>
                  </a:lnTo>
                  <a:lnTo>
                    <a:pt x="7350480" y="40917"/>
                  </a:lnTo>
                  <a:lnTo>
                    <a:pt x="7380764" y="86240"/>
                  </a:lnTo>
                  <a:lnTo>
                    <a:pt x="7391398" y="139702"/>
                  </a:lnTo>
                  <a:lnTo>
                    <a:pt x="7391398" y="698498"/>
                  </a:lnTo>
                  <a:lnTo>
                    <a:pt x="7384276" y="742655"/>
                  </a:lnTo>
                  <a:lnTo>
                    <a:pt x="7364444" y="781004"/>
                  </a:lnTo>
                  <a:lnTo>
                    <a:pt x="7334202" y="811246"/>
                  </a:lnTo>
                  <a:lnTo>
                    <a:pt x="7295852" y="831078"/>
                  </a:lnTo>
                  <a:lnTo>
                    <a:pt x="7251695" y="83820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400300" y="2589241"/>
              <a:ext cx="7391400" cy="838200"/>
            </a:xfrm>
            <a:custGeom>
              <a:avLst/>
              <a:gdLst/>
              <a:ahLst/>
              <a:cxnLst/>
              <a:rect l="l" t="t" r="r" b="b"/>
              <a:pathLst>
                <a:path w="7391400" h="838200">
                  <a:moveTo>
                    <a:pt x="0" y="139702"/>
                  </a:moveTo>
                  <a:lnTo>
                    <a:pt x="7122" y="95545"/>
                  </a:lnTo>
                  <a:lnTo>
                    <a:pt x="26954" y="57196"/>
                  </a:lnTo>
                  <a:lnTo>
                    <a:pt x="57196" y="26954"/>
                  </a:lnTo>
                  <a:lnTo>
                    <a:pt x="95546" y="7122"/>
                  </a:lnTo>
                  <a:lnTo>
                    <a:pt x="139702" y="0"/>
                  </a:lnTo>
                  <a:lnTo>
                    <a:pt x="7251695" y="0"/>
                  </a:lnTo>
                  <a:lnTo>
                    <a:pt x="7305157" y="10634"/>
                  </a:lnTo>
                  <a:lnTo>
                    <a:pt x="7350480" y="40917"/>
                  </a:lnTo>
                  <a:lnTo>
                    <a:pt x="7380764" y="86240"/>
                  </a:lnTo>
                  <a:lnTo>
                    <a:pt x="7391398" y="139702"/>
                  </a:lnTo>
                  <a:lnTo>
                    <a:pt x="7391398" y="698498"/>
                  </a:lnTo>
                  <a:lnTo>
                    <a:pt x="7384276" y="742655"/>
                  </a:lnTo>
                  <a:lnTo>
                    <a:pt x="7364444" y="781004"/>
                  </a:lnTo>
                  <a:lnTo>
                    <a:pt x="7334202" y="811246"/>
                  </a:lnTo>
                  <a:lnTo>
                    <a:pt x="7295852" y="831078"/>
                  </a:lnTo>
                  <a:lnTo>
                    <a:pt x="7251695" y="838200"/>
                  </a:lnTo>
                  <a:lnTo>
                    <a:pt x="139702" y="838200"/>
                  </a:lnTo>
                  <a:lnTo>
                    <a:pt x="95546" y="831078"/>
                  </a:lnTo>
                  <a:lnTo>
                    <a:pt x="57196" y="811246"/>
                  </a:lnTo>
                  <a:lnTo>
                    <a:pt x="26954" y="781004"/>
                  </a:lnTo>
                  <a:lnTo>
                    <a:pt x="7122" y="742655"/>
                  </a:lnTo>
                  <a:lnTo>
                    <a:pt x="0" y="698498"/>
                  </a:lnTo>
                  <a:lnTo>
                    <a:pt x="0" y="139702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221521" y="2735546"/>
            <a:ext cx="37465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Introduction</a:t>
            </a:r>
            <a:r>
              <a:rPr sz="3200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3200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Course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00300" y="3853929"/>
            <a:ext cx="7391400" cy="16645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4790" algn="ctr">
              <a:lnSpc>
                <a:spcPct val="100000"/>
              </a:lnSpc>
              <a:spcBef>
                <a:spcPts val="100"/>
              </a:spcBef>
            </a:pPr>
            <a:r>
              <a:rPr sz="2800" b="1" spc="-25" dirty="0">
                <a:latin typeface="Calibri"/>
                <a:cs typeface="Calibri"/>
              </a:rPr>
              <a:t>AI-</a:t>
            </a:r>
            <a:r>
              <a:rPr lang="en-US" sz="2800" b="1" dirty="0">
                <a:latin typeface="Calibri"/>
                <a:cs typeface="Calibri"/>
              </a:rPr>
              <a:t>5004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lang="en-US" sz="2800" b="1" spc="-70" dirty="0">
                <a:latin typeface="Calibri"/>
                <a:cs typeface="Calibri"/>
              </a:rPr>
              <a:t>Adv. Topics in </a:t>
            </a:r>
            <a:r>
              <a:rPr sz="2800" b="1" spc="-20" dirty="0">
                <a:latin typeface="Calibri"/>
                <a:cs typeface="Calibri"/>
              </a:rPr>
              <a:t>Generative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spc="-35" dirty="0">
                <a:latin typeface="Calibri"/>
                <a:cs typeface="Calibri"/>
              </a:rPr>
              <a:t>AI</a:t>
            </a:r>
            <a:endParaRPr lang="en-US" sz="2800" dirty="0">
              <a:latin typeface="Calibri"/>
              <a:cs typeface="Calibri"/>
            </a:endParaRPr>
          </a:p>
          <a:p>
            <a:pPr marL="224790" algn="ctr">
              <a:lnSpc>
                <a:spcPct val="100000"/>
              </a:lnSpc>
              <a:spcBef>
                <a:spcPts val="100"/>
              </a:spcBef>
            </a:pPr>
            <a:endParaRPr lang="en-US" sz="2800" b="1" spc="-40" dirty="0">
              <a:solidFill>
                <a:srgbClr val="002060"/>
              </a:solidFill>
              <a:latin typeface="Calibri"/>
              <a:cs typeface="Calibri"/>
            </a:endParaRPr>
          </a:p>
          <a:p>
            <a:pPr marL="224790" algn="ctr">
              <a:lnSpc>
                <a:spcPct val="100000"/>
              </a:lnSpc>
              <a:spcBef>
                <a:spcPts val="100"/>
              </a:spcBef>
            </a:pPr>
            <a:r>
              <a:rPr lang="en-US" sz="2000" b="1" spc="-40" dirty="0">
                <a:solidFill>
                  <a:srgbClr val="002060"/>
                </a:solidFill>
                <a:latin typeface="Arial"/>
                <a:cs typeface="Arial"/>
              </a:rPr>
              <a:t>Presented By: </a:t>
            </a:r>
            <a:r>
              <a:rPr sz="2000" b="1" spc="-40" dirty="0">
                <a:solidFill>
                  <a:srgbClr val="002060"/>
                </a:solidFill>
                <a:latin typeface="Arial"/>
                <a:cs typeface="Arial"/>
              </a:rPr>
              <a:t>Dr.</a:t>
            </a:r>
            <a:r>
              <a:rPr sz="2000" b="1" spc="-10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sz="2000" b="1" dirty="0">
                <a:solidFill>
                  <a:srgbClr val="002060"/>
                </a:solidFill>
                <a:latin typeface="Arial"/>
                <a:cs typeface="Arial"/>
              </a:rPr>
              <a:t>Muhammad Nouman Noor</a:t>
            </a:r>
          </a:p>
          <a:p>
            <a:pPr marL="224790" algn="ctr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02060"/>
                </a:solidFill>
                <a:latin typeface="Arial"/>
                <a:cs typeface="Arial"/>
              </a:rPr>
              <a:t>Department</a:t>
            </a:r>
            <a:r>
              <a:rPr sz="2000" b="1" spc="-5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2060"/>
                </a:solidFill>
                <a:latin typeface="Arial"/>
                <a:cs typeface="Arial"/>
              </a:rPr>
              <a:t>of</a:t>
            </a:r>
            <a:r>
              <a:rPr sz="2000" b="1" spc="-5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sz="2000" b="1" dirty="0">
                <a:solidFill>
                  <a:srgbClr val="002060"/>
                </a:solidFill>
                <a:latin typeface="Arial"/>
                <a:cs typeface="Arial"/>
              </a:rPr>
              <a:t>AI &amp; DS</a:t>
            </a:r>
            <a:endParaRPr lang="en-US" sz="2000" b="1" spc="-10" dirty="0">
              <a:solidFill>
                <a:srgbClr val="002060"/>
              </a:solidFill>
              <a:latin typeface="Arial"/>
              <a:cs typeface="Arial"/>
            </a:endParaRPr>
          </a:p>
          <a:p>
            <a:pPr marL="224790" algn="r">
              <a:lnSpc>
                <a:spcPct val="100000"/>
              </a:lnSpc>
              <a:spcBef>
                <a:spcPts val="100"/>
              </a:spcBef>
            </a:pPr>
            <a:r>
              <a:rPr lang="en-US" sz="800" b="1" spc="-10" dirty="0">
                <a:solidFill>
                  <a:srgbClr val="002060"/>
                </a:solidFill>
                <a:latin typeface="Arial"/>
                <a:cs typeface="Arial"/>
              </a:rPr>
              <a:t>Developed By: Dr. Akhtar Jamil</a:t>
            </a:r>
            <a:endParaRPr sz="800" dirty="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9200" y="349478"/>
            <a:ext cx="954107" cy="954107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D5331380-8409-4C88-AB22-800B77B32D9A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1625948"/>
              </p:ext>
            </p:extLst>
          </p:nvPr>
        </p:nvGraphicFramePr>
        <p:xfrm>
          <a:off x="1289050" y="1959921"/>
          <a:ext cx="9912349" cy="3233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5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4076">
                  <a:extLst>
                    <a:ext uri="{9D8B030D-6E8A-4147-A177-3AD203B41FA5}">
                      <a16:colId xmlns:a16="http://schemas.microsoft.com/office/drawing/2014/main" val="2290562980"/>
                    </a:ext>
                  </a:extLst>
                </a:gridCol>
                <a:gridCol w="12548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93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35050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540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Instructor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2258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28575">
                      <a:solidFill>
                        <a:srgbClr val="4F81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540"/>
                        </a:spcBef>
                      </a:pPr>
                      <a:r>
                        <a:rPr lang="en-US" sz="2400" dirty="0">
                          <a:latin typeface="Calibri"/>
                          <a:cs typeface="Calibri"/>
                        </a:rPr>
                        <a:t>Dr. Muhammad Nouman Noor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32258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28575">
                      <a:solidFill>
                        <a:srgbClr val="4F81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540"/>
                        </a:spcBef>
                      </a:pPr>
                      <a:r>
                        <a:rPr sz="2400" b="1" spc="-45" dirty="0">
                          <a:latin typeface="Calibri"/>
                          <a:cs typeface="Calibri"/>
                        </a:rPr>
                        <a:t>E-</a:t>
                      </a:r>
                      <a:r>
                        <a:rPr sz="2400" b="1" spc="-20" dirty="0">
                          <a:latin typeface="Calibri"/>
                          <a:cs typeface="Calibri"/>
                        </a:rPr>
                        <a:t>mail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322580" marB="0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2857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540"/>
                        </a:spcBef>
                      </a:pPr>
                      <a:r>
                        <a:rPr lang="en-US" sz="2400" spc="-10" dirty="0">
                          <a:latin typeface="Calibri"/>
                          <a:cs typeface="Calibri"/>
                          <a:hlinkClick r:id="rId2"/>
                        </a:rPr>
                        <a:t>nouman.noor</a:t>
                      </a:r>
                      <a:r>
                        <a:rPr sz="2400" spc="-10" dirty="0">
                          <a:latin typeface="Calibri"/>
                          <a:cs typeface="Calibri"/>
                          <a:hlinkClick r:id="rId2"/>
                        </a:rPr>
                        <a:t>@</a:t>
                      </a:r>
                      <a:r>
                        <a:rPr lang="en-US" sz="2400" spc="-10" dirty="0">
                          <a:latin typeface="Calibri"/>
                          <a:cs typeface="Calibri"/>
                          <a:hlinkClick r:id="rId2"/>
                        </a:rPr>
                        <a:t>isb.</a:t>
                      </a:r>
                      <a:r>
                        <a:rPr sz="2400" spc="-10" dirty="0">
                          <a:latin typeface="Calibri"/>
                          <a:cs typeface="Calibri"/>
                          <a:hlinkClick r:id="rId2"/>
                        </a:rPr>
                        <a:t>nu.edu.pk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32258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28575">
                      <a:solidFill>
                        <a:srgbClr val="4F81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2840">
                <a:tc gridSpan="4">
                  <a:txBody>
                    <a:bodyPr/>
                    <a:lstStyle/>
                    <a:p>
                      <a:pPr marL="66675" marR="2341245">
                        <a:lnSpc>
                          <a:spcPct val="114999"/>
                        </a:lnSpc>
                        <a:spcBef>
                          <a:spcPts val="60"/>
                        </a:spcBef>
                        <a:tabLst>
                          <a:tab pos="2023745" algn="l"/>
                          <a:tab pos="2047239" algn="l"/>
                        </a:tabLst>
                      </a:pPr>
                      <a:r>
                        <a:rPr sz="2000" b="1" spc="-10" dirty="0">
                          <a:latin typeface="Calibri"/>
                          <a:cs typeface="Calibri"/>
                        </a:rPr>
                        <a:t>Research</a:t>
                      </a:r>
                      <a:r>
                        <a:rPr sz="2000" b="1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latin typeface="Calibri"/>
                          <a:cs typeface="Calibri"/>
                        </a:rPr>
                        <a:t>Interest</a:t>
                      </a:r>
                      <a:r>
                        <a:rPr sz="2000" b="1" spc="-3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:</a:t>
                      </a:r>
                      <a:r>
                        <a:rPr sz="2000" b="1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Computer</a:t>
                      </a:r>
                      <a:r>
                        <a:rPr sz="2000" b="1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Vision</a:t>
                      </a:r>
                      <a:r>
                        <a:rPr lang="en-US" sz="2000" b="1" dirty="0">
                          <a:latin typeface="Calibri"/>
                          <a:cs typeface="Calibri"/>
                        </a:rPr>
                        <a:t>, Medical Imaging</a:t>
                      </a:r>
                      <a:r>
                        <a:rPr lang="en-US" sz="2000" b="1" dirty="0">
                          <a:latin typeface="+mn-lt"/>
                          <a:cs typeface="Calibri"/>
                        </a:rPr>
                        <a:t> &amp; Deep Learning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28575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4F81BD">
                        <a:alpha val="19999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6480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585"/>
                        </a:spcBef>
                      </a:pPr>
                      <a:r>
                        <a:rPr sz="2400" b="1" spc="-10" dirty="0">
                          <a:latin typeface="Calibri"/>
                          <a:cs typeface="Calibri"/>
                        </a:rPr>
                        <a:t>Office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328295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585"/>
                        </a:spcBef>
                      </a:pPr>
                      <a:r>
                        <a:rPr lang="en-US" sz="2800" spc="-25" dirty="0">
                          <a:latin typeface="Calibri"/>
                          <a:cs typeface="Calibri"/>
                        </a:rPr>
                        <a:t>D-</a:t>
                      </a:r>
                      <a:r>
                        <a:rPr lang="en-US" sz="2800" dirty="0">
                          <a:latin typeface="Calibri"/>
                          <a:cs typeface="Calibri"/>
                        </a:rPr>
                        <a:t>202E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29591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585"/>
                        </a:spcBef>
                      </a:pPr>
                      <a:r>
                        <a:rPr sz="2400" b="1" spc="-25" dirty="0">
                          <a:latin typeface="Calibri"/>
                          <a:cs typeface="Calibri"/>
                        </a:rPr>
                        <a:t>Tel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328295" marB="0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B w="12700">
                      <a:solidFill>
                        <a:srgbClr val="4F81B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2330"/>
                        </a:spcBef>
                      </a:pP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295910" marB="0">
                    <a:lnL w="12700">
                      <a:solidFill>
                        <a:srgbClr val="4F81BD"/>
                      </a:solidFill>
                      <a:prstDash val="solid"/>
                    </a:lnL>
                    <a:lnR w="12700">
                      <a:solidFill>
                        <a:srgbClr val="4F81BD"/>
                      </a:solidFill>
                      <a:prstDash val="solid"/>
                    </a:lnR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ED2B3492-893E-4F1B-A65A-BDB551061EF7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12" rIns="0" bIns="0" rtlCol="0">
            <a:spAutoFit/>
          </a:bodyPr>
          <a:lstStyle/>
          <a:p>
            <a:pPr marL="129730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Instructor</a:t>
            </a:r>
            <a:r>
              <a:rPr b="1" spc="-6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Information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12" rIns="0" bIns="0" rtlCol="0">
            <a:spAutoFit/>
          </a:bodyPr>
          <a:lstStyle/>
          <a:p>
            <a:pPr marL="2198370">
              <a:lnSpc>
                <a:spcPct val="100000"/>
              </a:lnSpc>
              <a:spcBef>
                <a:spcPts val="100"/>
              </a:spcBef>
            </a:pPr>
            <a:r>
              <a:rPr dirty="0"/>
              <a:t>Meeting</a:t>
            </a:r>
            <a:r>
              <a:rPr spc="-35" dirty="0"/>
              <a:t> </a:t>
            </a:r>
            <a:r>
              <a:rPr spc="-10" dirty="0"/>
              <a:t>Hours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0694365"/>
              </p:ext>
            </p:extLst>
          </p:nvPr>
        </p:nvGraphicFramePr>
        <p:xfrm>
          <a:off x="1371600" y="1404620"/>
          <a:ext cx="9816389" cy="456311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898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0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55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97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83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629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28345">
                <a:tc gridSpan="7">
                  <a:txBody>
                    <a:bodyPr/>
                    <a:lstStyle/>
                    <a:p>
                      <a:pPr marL="628650" algn="ctr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</a:rPr>
                        <a:t>Schedule</a:t>
                      </a:r>
                      <a:r>
                        <a:rPr sz="2800" b="1" spc="-55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</a:rPr>
                        <a:t>and</a:t>
                      </a:r>
                      <a:r>
                        <a:rPr sz="2800" b="1" spc="-50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</a:rPr>
                        <a:t>Office</a:t>
                      </a:r>
                      <a:r>
                        <a:rPr sz="2800" b="1" spc="-50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</a:rPr>
                        <a:t>Hours</a:t>
                      </a:r>
                      <a:r>
                        <a:rPr sz="2800" b="1" spc="-50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2800" b="1" spc="-20" dirty="0">
                          <a:solidFill>
                            <a:srgbClr val="FFFFFF"/>
                          </a:solidFill>
                        </a:rPr>
                        <a:t>(</a:t>
                      </a:r>
                      <a:r>
                        <a:rPr lang="en-US" sz="2800" b="1" spc="-20" dirty="0">
                          <a:solidFill>
                            <a:srgbClr val="FFFFFF"/>
                          </a:solidFill>
                        </a:rPr>
                        <a:t>Fall</a:t>
                      </a:r>
                      <a:r>
                        <a:rPr sz="2800" b="1" spc="-20" dirty="0">
                          <a:solidFill>
                            <a:srgbClr val="FFFFFF"/>
                          </a:solidFill>
                        </a:rPr>
                        <a:t>-</a:t>
                      </a:r>
                      <a:r>
                        <a:rPr sz="2800" b="1" spc="-10" dirty="0">
                          <a:solidFill>
                            <a:srgbClr val="FFFFFF"/>
                          </a:solidFill>
                        </a:rPr>
                        <a:t>202</a:t>
                      </a:r>
                      <a:r>
                        <a:rPr lang="en-US" sz="2800" b="1" spc="-10" dirty="0">
                          <a:solidFill>
                            <a:srgbClr val="FFFFFF"/>
                          </a:solidFill>
                        </a:rPr>
                        <a:t>5</a:t>
                      </a:r>
                      <a:r>
                        <a:rPr sz="2800" b="1" spc="-10" dirty="0">
                          <a:solidFill>
                            <a:srgbClr val="FFFFFF"/>
                          </a:solidFill>
                        </a:rPr>
                        <a:t>)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1811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50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800"/>
                    </a:p>
                    <a:p>
                      <a:pPr marL="471805" algn="ctr">
                        <a:lnSpc>
                          <a:spcPct val="100000"/>
                        </a:lnSpc>
                      </a:pPr>
                      <a:r>
                        <a:rPr sz="1800" b="1" spc="-20" dirty="0"/>
                        <a:t>Days</a:t>
                      </a:r>
                      <a:endParaRPr sz="1800">
                        <a:latin typeface="+mj-lt"/>
                        <a:cs typeface="Times New Roman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1800" b="1" spc="-20" dirty="0"/>
                        <a:t>8:30</a:t>
                      </a:r>
                      <a:endParaRPr sz="1800"/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10" dirty="0"/>
                        <a:t>09:50</a:t>
                      </a:r>
                      <a:endParaRPr sz="1800">
                        <a:latin typeface="+mj-lt"/>
                        <a:cs typeface="Times New Roman"/>
                      </a:endParaRPr>
                    </a:p>
                  </a:txBody>
                  <a:tcPr marL="0" marR="0" marT="125730" marB="0"/>
                </a:tc>
                <a:tc>
                  <a:txBody>
                    <a:bodyPr/>
                    <a:lstStyle/>
                    <a:p>
                      <a:pPr marL="265430" algn="ctr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1800" b="1" spc="-10" dirty="0"/>
                        <a:t>10:00</a:t>
                      </a:r>
                      <a:endParaRPr sz="1800" dirty="0"/>
                    </a:p>
                    <a:p>
                      <a:pPr marL="271145" algn="ctr">
                        <a:lnSpc>
                          <a:spcPct val="100000"/>
                        </a:lnSpc>
                      </a:pPr>
                      <a:r>
                        <a:rPr sz="1800" b="1" spc="-10" dirty="0"/>
                        <a:t>11:20</a:t>
                      </a:r>
                      <a:endParaRPr sz="1800" dirty="0">
                        <a:latin typeface="+mj-lt"/>
                        <a:cs typeface="Times New Roman"/>
                      </a:endParaRPr>
                    </a:p>
                  </a:txBody>
                  <a:tcPr marL="0" marR="0" marT="125730" marB="0"/>
                </a:tc>
                <a:tc>
                  <a:txBody>
                    <a:bodyPr/>
                    <a:lstStyle/>
                    <a:p>
                      <a:pPr marL="285750" algn="ctr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1800" b="1" spc="-10" dirty="0"/>
                        <a:t>11:30</a:t>
                      </a:r>
                      <a:endParaRPr sz="1800" dirty="0"/>
                    </a:p>
                    <a:p>
                      <a:pPr marL="280035" algn="ctr">
                        <a:lnSpc>
                          <a:spcPct val="100000"/>
                        </a:lnSpc>
                      </a:pPr>
                      <a:r>
                        <a:rPr sz="1800" b="1" spc="-10" dirty="0"/>
                        <a:t>12:50</a:t>
                      </a:r>
                      <a:endParaRPr sz="1800" dirty="0">
                        <a:latin typeface="+mj-lt"/>
                        <a:cs typeface="Times New Roman"/>
                      </a:endParaRPr>
                    </a:p>
                  </a:txBody>
                  <a:tcPr marL="0" marR="0" marT="125730" marB="0"/>
                </a:tc>
                <a:tc>
                  <a:txBody>
                    <a:bodyPr/>
                    <a:lstStyle/>
                    <a:p>
                      <a:pPr marL="250825" algn="ctr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lang="en-US" sz="1800" b="1" spc="-10" dirty="0"/>
                        <a:t>0</a:t>
                      </a:r>
                      <a:r>
                        <a:rPr sz="1800" b="1" spc="-10" dirty="0"/>
                        <a:t>1:00</a:t>
                      </a:r>
                      <a:endParaRPr sz="1800" dirty="0"/>
                    </a:p>
                    <a:p>
                      <a:pPr marL="250825" algn="ctr">
                        <a:lnSpc>
                          <a:spcPct val="100000"/>
                        </a:lnSpc>
                      </a:pPr>
                      <a:r>
                        <a:rPr lang="en-US" sz="1800" b="1" spc="-10" dirty="0"/>
                        <a:t>02</a:t>
                      </a:r>
                      <a:r>
                        <a:rPr sz="1800" b="1" spc="-10" dirty="0"/>
                        <a:t>:20</a:t>
                      </a:r>
                      <a:endParaRPr sz="1800" dirty="0">
                        <a:latin typeface="+mj-lt"/>
                        <a:cs typeface="Times New Roman"/>
                      </a:endParaRPr>
                    </a:p>
                  </a:txBody>
                  <a:tcPr marL="0" marR="0" marT="125730" marB="0"/>
                </a:tc>
                <a:tc>
                  <a:txBody>
                    <a:bodyPr/>
                    <a:lstStyle/>
                    <a:p>
                      <a:pPr marL="265430" algn="ctr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lang="en-US" sz="1800" b="1" spc="-10" dirty="0"/>
                        <a:t>02</a:t>
                      </a:r>
                      <a:r>
                        <a:rPr sz="1800" b="1" spc="-10" dirty="0"/>
                        <a:t>:20</a:t>
                      </a:r>
                      <a:endParaRPr sz="1800" dirty="0"/>
                    </a:p>
                    <a:p>
                      <a:pPr marL="288290" algn="ctr">
                        <a:lnSpc>
                          <a:spcPct val="100000"/>
                        </a:lnSpc>
                      </a:pPr>
                      <a:r>
                        <a:rPr lang="en-US" sz="1800" b="1" spc="-10" dirty="0"/>
                        <a:t>03</a:t>
                      </a:r>
                      <a:r>
                        <a:rPr sz="1800" b="1" spc="-10" dirty="0"/>
                        <a:t>:50</a:t>
                      </a:r>
                      <a:endParaRPr sz="1800" dirty="0">
                        <a:latin typeface="+mj-lt"/>
                        <a:cs typeface="Times New Roman"/>
                      </a:endParaRPr>
                    </a:p>
                  </a:txBody>
                  <a:tcPr marL="0" marR="0" marT="125730" marB="0"/>
                </a:tc>
                <a:tc>
                  <a:txBody>
                    <a:bodyPr/>
                    <a:lstStyle/>
                    <a:p>
                      <a:pPr marL="100965" algn="ctr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lang="en-US" sz="1800" b="1" spc="-10" dirty="0"/>
                        <a:t>05</a:t>
                      </a:r>
                      <a:r>
                        <a:rPr sz="1800" b="1" spc="-10" dirty="0"/>
                        <a:t>:</a:t>
                      </a:r>
                      <a:r>
                        <a:rPr lang="en-US" sz="1800" b="1" spc="-10" dirty="0"/>
                        <a:t>20</a:t>
                      </a:r>
                      <a:endParaRPr sz="1800" dirty="0"/>
                    </a:p>
                    <a:p>
                      <a:pPr marL="100965" algn="ctr">
                        <a:lnSpc>
                          <a:spcPct val="100000"/>
                        </a:lnSpc>
                      </a:pPr>
                      <a:r>
                        <a:rPr lang="en-US" sz="1800" b="1" spc="-10" dirty="0"/>
                        <a:t>06</a:t>
                      </a:r>
                      <a:r>
                        <a:rPr sz="1800" b="1" spc="-10" dirty="0"/>
                        <a:t>:</a:t>
                      </a:r>
                      <a:r>
                        <a:rPr lang="en-US" sz="1800" b="1" spc="-10" dirty="0"/>
                        <a:t>40</a:t>
                      </a:r>
                      <a:endParaRPr sz="1800" dirty="0">
                        <a:latin typeface="+mj-lt"/>
                        <a:cs typeface="Times New Roman"/>
                      </a:endParaRPr>
                    </a:p>
                  </a:txBody>
                  <a:tcPr marL="0" marR="0" marT="12573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810">
                <a:tc>
                  <a:txBody>
                    <a:bodyPr/>
                    <a:lstStyle/>
                    <a:p>
                      <a:pPr marL="325120" algn="ctr">
                        <a:lnSpc>
                          <a:spcPct val="100000"/>
                        </a:lnSpc>
                        <a:spcBef>
                          <a:spcPts val="1490"/>
                        </a:spcBef>
                      </a:pPr>
                      <a:r>
                        <a:rPr sz="1800" b="1" spc="-10" dirty="0"/>
                        <a:t>Monday</a:t>
                      </a:r>
                      <a:endParaRPr sz="1800">
                        <a:latin typeface="+mj-lt"/>
                        <a:cs typeface="Times New Roman"/>
                      </a:endParaRPr>
                    </a:p>
                  </a:txBody>
                  <a:tcPr marL="0" marR="0" marT="18923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90"/>
                        </a:spcBef>
                      </a:pPr>
                      <a:endParaRPr sz="18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Times New Roman"/>
                      </a:endParaRPr>
                    </a:p>
                  </a:txBody>
                  <a:tcPr marL="0" marR="0" marT="18923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dirty="0"/>
                        <a:t>Office Hours</a:t>
                      </a:r>
                      <a:endParaRPr sz="1800" b="1" dirty="0">
                        <a:latin typeface="+mj-lt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90"/>
                        </a:spcBef>
                      </a:pPr>
                      <a:endParaRPr sz="1800" dirty="0">
                        <a:latin typeface="+mj-lt"/>
                        <a:cs typeface="Times New Roman"/>
                      </a:endParaRPr>
                    </a:p>
                  </a:txBody>
                  <a:tcPr marL="0" marR="0" marT="189230" marB="0"/>
                </a:tc>
                <a:tc>
                  <a:txBody>
                    <a:bodyPr/>
                    <a:lstStyle/>
                    <a:p>
                      <a:pPr marL="264795" marR="220345" indent="-3810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endParaRPr sz="1800" dirty="0">
                        <a:latin typeface="+mj-lt"/>
                        <a:cs typeface="Times New Roman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marL="308610" marR="267970" indent="-34290"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lang="en-US" sz="1800" b="1" spc="-20" dirty="0">
                          <a:solidFill>
                            <a:schemeClr val="dk1"/>
                          </a:solidFill>
                        </a:rPr>
                        <a:t>Adv. Topics in Gen AI</a:t>
                      </a:r>
                      <a:endParaRPr sz="1800" b="1" spc="-2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8490">
                <a:tc>
                  <a:txBody>
                    <a:bodyPr/>
                    <a:lstStyle/>
                    <a:p>
                      <a:pPr marL="328930" algn="ct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b="1" spc="-10" dirty="0"/>
                        <a:t>Tuesday</a:t>
                      </a:r>
                      <a:endParaRPr sz="1800">
                        <a:latin typeface="+mj-lt"/>
                        <a:cs typeface="Times New Roman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+mj-lt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8610" marR="267970" lvl="0" indent="-3429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spc="-20" noProof="0" dirty="0">
                          <a:solidFill>
                            <a:schemeClr val="dk1"/>
                          </a:solidFill>
                        </a:rPr>
                        <a:t>Gen AI</a:t>
                      </a:r>
                      <a:endParaRPr lang="en-US" sz="1800" b="1" spc="-20" noProof="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08610" marR="267970" indent="-34290"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lang="en-US" sz="1800" b="1" spc="-20" dirty="0"/>
                        <a:t>Gen AI</a:t>
                      </a:r>
                      <a:endParaRPr sz="1800" dirty="0">
                        <a:latin typeface="+mj-lt"/>
                        <a:cs typeface="Times New Roman"/>
                      </a:endParaRPr>
                    </a:p>
                  </a:txBody>
                  <a:tcPr marL="0" marR="0" marT="5715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 dirty="0">
                        <a:latin typeface="+mj-lt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Office Hours</a:t>
                      </a:r>
                      <a:endParaRPr lang="en-US" sz="1800" b="1" dirty="0">
                        <a:latin typeface="+mj-lt"/>
                        <a:cs typeface="Times New Roman"/>
                      </a:endParaRPr>
                    </a:p>
                  </a:txBody>
                  <a:tcPr marL="0" marR="0" marT="0" marB="0" anchor="ctr">
                    <a:solidFill>
                      <a:srgbClr val="FFF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 dirty="0">
                        <a:latin typeface="+mj-lt"/>
                        <a:cs typeface="Times New Roman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8490">
                <a:tc>
                  <a:txBody>
                    <a:bodyPr/>
                    <a:lstStyle/>
                    <a:p>
                      <a:pPr marL="189865" algn="ct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b="1" spc="-10" dirty="0"/>
                        <a:t>Wednesday</a:t>
                      </a:r>
                      <a:endParaRPr sz="1800">
                        <a:latin typeface="+mj-lt"/>
                        <a:cs typeface="Times New Roman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 dirty="0">
                        <a:latin typeface="+mj-lt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90"/>
                        </a:spcBef>
                      </a:pPr>
                      <a:endParaRPr sz="1800" dirty="0">
                        <a:latin typeface="+mj-lt"/>
                        <a:cs typeface="Times New Roman"/>
                      </a:endParaRPr>
                    </a:p>
                  </a:txBody>
                  <a:tcPr marL="0" marR="0" marT="189230" marB="0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spc="-10" dirty="0"/>
                        <a:t>Office </a:t>
                      </a:r>
                      <a:r>
                        <a:rPr lang="en-US" sz="1800" b="1" spc="-20" dirty="0"/>
                        <a:t>Hours</a:t>
                      </a:r>
                      <a:endParaRPr lang="en-US" sz="1800" dirty="0">
                        <a:latin typeface="+mj-lt"/>
                        <a:cs typeface="Times New Roman"/>
                      </a:endParaRPr>
                    </a:p>
                  </a:txBody>
                  <a:tcPr marL="0" marR="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endParaRPr sz="1800" dirty="0">
                        <a:latin typeface="+mj-lt"/>
                        <a:cs typeface="Times New Roman"/>
                      </a:endParaRPr>
                    </a:p>
                  </a:txBody>
                  <a:tcPr marL="0" marR="0" marT="1790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 dirty="0">
                        <a:latin typeface="+mj-lt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8610" marR="267970" indent="-34290"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lang="en-US" sz="1800" b="1" spc="-20" dirty="0">
                          <a:solidFill>
                            <a:schemeClr val="dk1"/>
                          </a:solidFill>
                        </a:rPr>
                        <a:t>Adv. Topics in Gen AI</a:t>
                      </a:r>
                      <a:endParaRPr sz="1800" b="1" spc="-2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62890" algn="ctr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sz="1800" b="1" spc="-10" dirty="0"/>
                        <a:t>Thursday</a:t>
                      </a:r>
                      <a:endParaRPr sz="1800">
                        <a:latin typeface="+mj-lt"/>
                        <a:cs typeface="Times New Roman"/>
                      </a:endParaRPr>
                    </a:p>
                  </a:txBody>
                  <a:tcPr marL="0" marR="0" marT="17208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+mj-lt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8610" marR="267970" lvl="0" indent="-3429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spc="-20" noProof="0" dirty="0">
                          <a:solidFill>
                            <a:schemeClr val="dk1"/>
                          </a:solidFill>
                        </a:rPr>
                        <a:t>Gen AI</a:t>
                      </a:r>
                      <a:endParaRPr lang="en-US" sz="1800" b="1" spc="-20" noProof="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08610" marR="267970" indent="-34290"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lang="en-US" sz="1800" b="1" spc="-20" dirty="0"/>
                        <a:t>Gen AI</a:t>
                      </a:r>
                      <a:endParaRPr sz="1800" dirty="0">
                        <a:latin typeface="+mj-lt"/>
                        <a:cs typeface="Times New Roman"/>
                      </a:endParaRPr>
                    </a:p>
                  </a:txBody>
                  <a:tcPr marL="0" marR="0" marT="5715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+mj-lt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spc="-1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Office Hours</a:t>
                      </a: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sz="1800" b="1" spc="-1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50165" marB="0">
                    <a:solidFill>
                      <a:srgbClr val="FFFF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spc="-1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Office Hours</a:t>
                      </a:r>
                    </a:p>
                  </a:txBody>
                  <a:tcPr marL="0" marR="0" marT="0" marB="0">
                    <a:solidFill>
                      <a:srgbClr val="FFFF0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5155">
                <a:tc>
                  <a:txBody>
                    <a:bodyPr/>
                    <a:lstStyle/>
                    <a:p>
                      <a:pPr marL="393065" algn="ctr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sz="1800" b="1" spc="-10" dirty="0"/>
                        <a:t>Friday</a:t>
                      </a:r>
                      <a:endParaRPr sz="1800">
                        <a:latin typeface="+mj-lt"/>
                        <a:cs typeface="Times New Roman"/>
                      </a:endParaRPr>
                    </a:p>
                  </a:txBody>
                  <a:tcPr marL="0" marR="0" marT="17208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+mj-lt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+mj-lt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+mj-lt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+mj-lt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>
                        <a:latin typeface="+mj-lt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1800" dirty="0">
                        <a:latin typeface="+mj-lt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7171" y="1849876"/>
            <a:ext cx="505892" cy="47613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EE8D7543-7758-4231-AD4E-2E469708229F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12" rIns="0" bIns="0" rtlCol="0">
            <a:spAutoFit/>
          </a:bodyPr>
          <a:lstStyle/>
          <a:p>
            <a:pPr marL="157670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Course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Information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5947" y="1540256"/>
            <a:ext cx="5274310" cy="151892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660"/>
              </a:spcBef>
              <a:buChar char="•"/>
              <a:tabLst>
                <a:tab pos="301625" algn="l"/>
              </a:tabLst>
            </a:pPr>
            <a:r>
              <a:rPr sz="2800" spc="-20" dirty="0">
                <a:latin typeface="Arial MT"/>
                <a:cs typeface="Arial MT"/>
              </a:rPr>
              <a:t>Generative</a:t>
            </a:r>
            <a:r>
              <a:rPr sz="2800" spc="-1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Artificial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Intelligence</a:t>
            </a:r>
            <a:endParaRPr sz="2800">
              <a:latin typeface="Arial MT"/>
              <a:cs typeface="Arial MT"/>
            </a:endParaRPr>
          </a:p>
          <a:p>
            <a:pPr marL="301625" indent="-288925">
              <a:lnSpc>
                <a:spcPct val="100000"/>
              </a:lnSpc>
              <a:spcBef>
                <a:spcPts val="560"/>
              </a:spcBef>
              <a:buChar char="•"/>
              <a:tabLst>
                <a:tab pos="301625" algn="l"/>
              </a:tabLst>
            </a:pPr>
            <a:r>
              <a:rPr sz="2800" dirty="0">
                <a:latin typeface="Arial MT"/>
                <a:cs typeface="Arial MT"/>
              </a:rPr>
              <a:t>Course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Credits: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3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+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0</a:t>
            </a:r>
            <a:endParaRPr sz="2800">
              <a:latin typeface="Arial MT"/>
              <a:cs typeface="Arial MT"/>
            </a:endParaRPr>
          </a:p>
          <a:p>
            <a:pPr marL="301625" indent="-288925">
              <a:lnSpc>
                <a:spcPct val="100000"/>
              </a:lnSpc>
              <a:spcBef>
                <a:spcPts val="560"/>
              </a:spcBef>
              <a:buChar char="•"/>
              <a:tabLst>
                <a:tab pos="301625" algn="l"/>
              </a:tabLst>
            </a:pPr>
            <a:r>
              <a:rPr sz="2800" spc="-10" dirty="0">
                <a:latin typeface="Arial MT"/>
                <a:cs typeface="Arial MT"/>
              </a:rPr>
              <a:t>Theoretical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+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Practical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01000" y="1447558"/>
            <a:ext cx="4038599" cy="227171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52398" y="3176056"/>
            <a:ext cx="7536815" cy="1816100"/>
          </a:xfrm>
          <a:prstGeom prst="rect">
            <a:avLst/>
          </a:prstGeom>
          <a:solidFill>
            <a:srgbClr val="F1F1F1"/>
          </a:solidFill>
          <a:ln w="9524">
            <a:solidFill>
              <a:srgbClr val="D99593"/>
            </a:solidFill>
          </a:ln>
        </p:spPr>
        <p:txBody>
          <a:bodyPr vert="horz" wrap="square" lIns="0" tIns="23495" rIns="0" bIns="0" rtlCol="0">
            <a:spAutoFit/>
          </a:bodyPr>
          <a:lstStyle/>
          <a:p>
            <a:pPr marL="85725" marR="300990">
              <a:lnSpc>
                <a:spcPct val="100000"/>
              </a:lnSpc>
              <a:spcBef>
                <a:spcPts val="185"/>
              </a:spcBef>
            </a:pPr>
            <a:r>
              <a:rPr sz="2800" dirty="0">
                <a:solidFill>
                  <a:srgbClr val="7030A0"/>
                </a:solidFill>
                <a:latin typeface="Calibri"/>
                <a:cs typeface="Calibri"/>
              </a:rPr>
              <a:t>Python,</a:t>
            </a:r>
            <a:r>
              <a:rPr sz="2800" spc="-100" dirty="0">
                <a:solidFill>
                  <a:srgbClr val="7030A0"/>
                </a:solidFill>
                <a:latin typeface="Calibri"/>
                <a:cs typeface="Calibri"/>
              </a:rPr>
              <a:t> </a:t>
            </a:r>
            <a:r>
              <a:rPr sz="2800" spc="-50" dirty="0">
                <a:solidFill>
                  <a:srgbClr val="7030A0"/>
                </a:solidFill>
                <a:latin typeface="Calibri"/>
                <a:cs typeface="Calibri"/>
              </a:rPr>
              <a:t>TensorFlow,</a:t>
            </a:r>
            <a:r>
              <a:rPr sz="2800" spc="-100" dirty="0">
                <a:solidFill>
                  <a:srgbClr val="7030A0"/>
                </a:solidFill>
                <a:latin typeface="Calibri"/>
                <a:cs typeface="Calibri"/>
              </a:rPr>
              <a:t> </a:t>
            </a:r>
            <a:r>
              <a:rPr sz="2800" spc="-30" dirty="0">
                <a:solidFill>
                  <a:srgbClr val="7030A0"/>
                </a:solidFill>
                <a:latin typeface="Calibri"/>
                <a:cs typeface="Calibri"/>
              </a:rPr>
              <a:t>PyTorch,</a:t>
            </a:r>
            <a:r>
              <a:rPr sz="2800" spc="-100" dirty="0">
                <a:solidFill>
                  <a:srgbClr val="7030A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7030A0"/>
                </a:solidFill>
                <a:latin typeface="Calibri"/>
                <a:cs typeface="Calibri"/>
              </a:rPr>
              <a:t>Keras,</a:t>
            </a:r>
            <a:r>
              <a:rPr sz="2800" spc="-100" dirty="0">
                <a:solidFill>
                  <a:srgbClr val="7030A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7030A0"/>
                </a:solidFill>
                <a:latin typeface="Calibri"/>
                <a:cs typeface="Calibri"/>
              </a:rPr>
              <a:t>FastAI, </a:t>
            </a:r>
            <a:r>
              <a:rPr sz="2800" spc="-35" dirty="0">
                <a:solidFill>
                  <a:srgbClr val="7030A0"/>
                </a:solidFill>
                <a:latin typeface="Calibri"/>
                <a:cs typeface="Calibri"/>
              </a:rPr>
              <a:t>PyTorch</a:t>
            </a:r>
            <a:r>
              <a:rPr sz="2800" spc="-85" dirty="0">
                <a:solidFill>
                  <a:srgbClr val="7030A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7030A0"/>
                </a:solidFill>
                <a:latin typeface="Calibri"/>
                <a:cs typeface="Calibri"/>
              </a:rPr>
              <a:t>GAN</a:t>
            </a:r>
            <a:r>
              <a:rPr sz="2800" spc="-85" dirty="0">
                <a:solidFill>
                  <a:srgbClr val="7030A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7030A0"/>
                </a:solidFill>
                <a:latin typeface="Calibri"/>
                <a:cs typeface="Calibri"/>
              </a:rPr>
              <a:t>Zoo,</a:t>
            </a:r>
            <a:r>
              <a:rPr sz="2800" spc="-85" dirty="0">
                <a:solidFill>
                  <a:srgbClr val="7030A0"/>
                </a:solidFill>
                <a:latin typeface="Calibri"/>
                <a:cs typeface="Calibri"/>
              </a:rPr>
              <a:t> </a:t>
            </a:r>
            <a:r>
              <a:rPr sz="2800" spc="-30" dirty="0">
                <a:solidFill>
                  <a:srgbClr val="7030A0"/>
                </a:solidFill>
                <a:latin typeface="Calibri"/>
                <a:cs typeface="Calibri"/>
              </a:rPr>
              <a:t>TensorFlow</a:t>
            </a:r>
            <a:r>
              <a:rPr sz="2800" spc="-80" dirty="0">
                <a:solidFill>
                  <a:srgbClr val="7030A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7030A0"/>
                </a:solidFill>
                <a:latin typeface="Calibri"/>
                <a:cs typeface="Calibri"/>
              </a:rPr>
              <a:t>GAN</a:t>
            </a:r>
            <a:r>
              <a:rPr sz="2800" spc="-85" dirty="0">
                <a:solidFill>
                  <a:srgbClr val="7030A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7030A0"/>
                </a:solidFill>
                <a:latin typeface="Calibri"/>
                <a:cs typeface="Calibri"/>
              </a:rPr>
              <a:t>(TF-</a:t>
            </a:r>
            <a:r>
              <a:rPr sz="2800" dirty="0">
                <a:solidFill>
                  <a:srgbClr val="7030A0"/>
                </a:solidFill>
                <a:latin typeface="Calibri"/>
                <a:cs typeface="Calibri"/>
              </a:rPr>
              <a:t>GAN),</a:t>
            </a:r>
            <a:r>
              <a:rPr sz="2800" spc="-85" dirty="0">
                <a:solidFill>
                  <a:srgbClr val="7030A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7030A0"/>
                </a:solidFill>
                <a:latin typeface="Calibri"/>
                <a:cs typeface="Calibri"/>
              </a:rPr>
              <a:t>and </a:t>
            </a:r>
            <a:r>
              <a:rPr sz="2800" dirty="0">
                <a:solidFill>
                  <a:srgbClr val="7030A0"/>
                </a:solidFill>
                <a:latin typeface="Calibri"/>
                <a:cs typeface="Calibri"/>
              </a:rPr>
              <a:t>GANs</a:t>
            </a:r>
            <a:r>
              <a:rPr sz="2800" spc="-50" dirty="0">
                <a:solidFill>
                  <a:srgbClr val="7030A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7030A0"/>
                </a:solidFill>
                <a:latin typeface="Calibri"/>
                <a:cs typeface="Calibri"/>
              </a:rPr>
              <a:t>in</a:t>
            </a:r>
            <a:r>
              <a:rPr sz="2800" spc="-50" dirty="0">
                <a:solidFill>
                  <a:srgbClr val="7030A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7030A0"/>
                </a:solidFill>
                <a:latin typeface="Calibri"/>
                <a:cs typeface="Calibri"/>
              </a:rPr>
              <a:t>Keras,</a:t>
            </a:r>
            <a:r>
              <a:rPr sz="2800" spc="-50" dirty="0">
                <a:solidFill>
                  <a:srgbClr val="7030A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7030A0"/>
                </a:solidFill>
                <a:latin typeface="Calibri"/>
                <a:cs typeface="Calibri"/>
              </a:rPr>
              <a:t>OpenAI's</a:t>
            </a:r>
            <a:r>
              <a:rPr sz="2800" spc="-50" dirty="0">
                <a:solidFill>
                  <a:srgbClr val="7030A0"/>
                </a:solidFill>
                <a:latin typeface="Calibri"/>
                <a:cs typeface="Calibri"/>
              </a:rPr>
              <a:t> </a:t>
            </a:r>
            <a:r>
              <a:rPr sz="2800" spc="-60" dirty="0">
                <a:solidFill>
                  <a:srgbClr val="7030A0"/>
                </a:solidFill>
                <a:latin typeface="Calibri"/>
                <a:cs typeface="Calibri"/>
              </a:rPr>
              <a:t>GPT,</a:t>
            </a:r>
            <a:r>
              <a:rPr sz="2800" spc="-50" dirty="0">
                <a:solidFill>
                  <a:srgbClr val="7030A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7030A0"/>
                </a:solidFill>
                <a:latin typeface="Calibri"/>
                <a:cs typeface="Calibri"/>
              </a:rPr>
              <a:t>T5</a:t>
            </a:r>
            <a:r>
              <a:rPr sz="2800" spc="-50" dirty="0">
                <a:solidFill>
                  <a:srgbClr val="7030A0"/>
                </a:solidFill>
                <a:latin typeface="Calibri"/>
                <a:cs typeface="Calibri"/>
              </a:rPr>
              <a:t> </a:t>
            </a:r>
            <a:r>
              <a:rPr sz="2800" spc="-75" dirty="0">
                <a:solidFill>
                  <a:srgbClr val="7030A0"/>
                </a:solidFill>
                <a:latin typeface="Calibri"/>
                <a:cs typeface="Calibri"/>
              </a:rPr>
              <a:t>(Text-</a:t>
            </a:r>
            <a:r>
              <a:rPr sz="2800" spc="-95" dirty="0">
                <a:solidFill>
                  <a:srgbClr val="7030A0"/>
                </a:solidFill>
                <a:latin typeface="Calibri"/>
                <a:cs typeface="Calibri"/>
              </a:rPr>
              <a:t>To-</a:t>
            </a:r>
            <a:r>
              <a:rPr sz="2800" spc="-20" dirty="0">
                <a:solidFill>
                  <a:srgbClr val="7030A0"/>
                </a:solidFill>
                <a:latin typeface="Calibri"/>
                <a:cs typeface="Calibri"/>
              </a:rPr>
              <a:t>Text </a:t>
            </a:r>
            <a:r>
              <a:rPr sz="2800" spc="-35" dirty="0">
                <a:solidFill>
                  <a:srgbClr val="7030A0"/>
                </a:solidFill>
                <a:latin typeface="Calibri"/>
                <a:cs typeface="Calibri"/>
              </a:rPr>
              <a:t>Transfer</a:t>
            </a:r>
            <a:r>
              <a:rPr sz="2800" spc="-120" dirty="0">
                <a:solidFill>
                  <a:srgbClr val="7030A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7030A0"/>
                </a:solidFill>
                <a:latin typeface="Calibri"/>
                <a:cs typeface="Calibri"/>
              </a:rPr>
              <a:t>Transformer),</a:t>
            </a:r>
            <a:r>
              <a:rPr sz="2800" spc="-114" dirty="0">
                <a:solidFill>
                  <a:srgbClr val="7030A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7030A0"/>
                </a:solidFill>
                <a:latin typeface="Calibri"/>
                <a:cs typeface="Calibri"/>
              </a:rPr>
              <a:t>Microsoft's</a:t>
            </a:r>
            <a:r>
              <a:rPr sz="2800" spc="-120" dirty="0">
                <a:solidFill>
                  <a:srgbClr val="7030A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7030A0"/>
                </a:solidFill>
                <a:latin typeface="Calibri"/>
                <a:cs typeface="Calibri"/>
              </a:rPr>
              <a:t>DeepSpeed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36159" y="4070350"/>
            <a:ext cx="4210667" cy="187324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45172" y="5068139"/>
            <a:ext cx="7543800" cy="1385570"/>
          </a:xfrm>
          <a:prstGeom prst="rect">
            <a:avLst/>
          </a:prstGeom>
          <a:solidFill>
            <a:srgbClr val="FCE9D8"/>
          </a:solidFill>
          <a:ln w="9524">
            <a:solidFill>
              <a:srgbClr val="D99593"/>
            </a:solidFill>
          </a:ln>
        </p:spPr>
        <p:txBody>
          <a:bodyPr vert="horz" wrap="square" lIns="0" tIns="2349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85"/>
              </a:spcBef>
            </a:pPr>
            <a:r>
              <a:rPr sz="2800" b="1" dirty="0">
                <a:solidFill>
                  <a:srgbClr val="374151"/>
                </a:solidFill>
                <a:latin typeface="Arial"/>
                <a:cs typeface="Arial"/>
              </a:rPr>
              <a:t>Data</a:t>
            </a:r>
            <a:r>
              <a:rPr sz="2800" b="1" spc="-85" dirty="0">
                <a:solidFill>
                  <a:srgbClr val="374151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374151"/>
                </a:solidFill>
                <a:latin typeface="Arial"/>
                <a:cs typeface="Arial"/>
              </a:rPr>
              <a:t>Sets:</a:t>
            </a:r>
            <a:endParaRPr sz="2800">
              <a:latin typeface="Arial"/>
              <a:cs typeface="Arial"/>
            </a:endParaRPr>
          </a:p>
          <a:p>
            <a:pPr marL="85725" marR="741680">
              <a:lnSpc>
                <a:spcPct val="100000"/>
              </a:lnSpc>
            </a:pPr>
            <a:r>
              <a:rPr sz="2800" dirty="0">
                <a:solidFill>
                  <a:srgbClr val="374151"/>
                </a:solidFill>
                <a:latin typeface="Arial MT"/>
                <a:cs typeface="Arial MT"/>
              </a:rPr>
              <a:t>UCI</a:t>
            </a:r>
            <a:r>
              <a:rPr sz="2800" spc="-120" dirty="0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74151"/>
                </a:solidFill>
                <a:latin typeface="Arial MT"/>
                <a:cs typeface="Arial MT"/>
              </a:rPr>
              <a:t>Machine</a:t>
            </a:r>
            <a:r>
              <a:rPr sz="2800" spc="-114" dirty="0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74151"/>
                </a:solidFill>
                <a:latin typeface="Arial MT"/>
                <a:cs typeface="Arial MT"/>
              </a:rPr>
              <a:t>Learning</a:t>
            </a:r>
            <a:r>
              <a:rPr sz="2800" spc="-120" dirty="0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374151"/>
                </a:solidFill>
                <a:latin typeface="Arial MT"/>
                <a:cs typeface="Arial MT"/>
              </a:rPr>
              <a:t>Repository,</a:t>
            </a:r>
            <a:r>
              <a:rPr sz="2800" spc="-114" dirty="0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374151"/>
                </a:solidFill>
                <a:latin typeface="Arial MT"/>
                <a:cs typeface="Arial MT"/>
              </a:rPr>
              <a:t>Kaggle, </a:t>
            </a:r>
            <a:r>
              <a:rPr sz="2800" dirty="0">
                <a:solidFill>
                  <a:srgbClr val="374151"/>
                </a:solidFill>
                <a:latin typeface="Arial MT"/>
                <a:cs typeface="Arial MT"/>
              </a:rPr>
              <a:t>Google</a:t>
            </a:r>
            <a:r>
              <a:rPr sz="2800" spc="-130" dirty="0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374151"/>
                </a:solidFill>
                <a:latin typeface="Arial MT"/>
                <a:cs typeface="Arial MT"/>
              </a:rPr>
              <a:t>Dataset</a:t>
            </a:r>
            <a:r>
              <a:rPr sz="2800" spc="-125" dirty="0">
                <a:solidFill>
                  <a:srgbClr val="374151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374151"/>
                </a:solidFill>
                <a:latin typeface="Arial MT"/>
                <a:cs typeface="Arial MT"/>
              </a:rPr>
              <a:t>Search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49F82745-AA90-4AF8-BD8C-74BACC778D9D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5947" y="1540256"/>
            <a:ext cx="6291580" cy="102108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660"/>
              </a:spcBef>
              <a:buChar char="•"/>
              <a:tabLst>
                <a:tab pos="301625" algn="l"/>
              </a:tabLst>
            </a:pPr>
            <a:r>
              <a:rPr sz="2800" dirty="0">
                <a:latin typeface="Arial MT"/>
                <a:cs typeface="Arial MT"/>
              </a:rPr>
              <a:t>Will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shared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via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Google</a:t>
            </a:r>
            <a:r>
              <a:rPr sz="2800" spc="-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Classroom</a:t>
            </a:r>
            <a:endParaRPr sz="2800">
              <a:latin typeface="Arial MT"/>
              <a:cs typeface="Arial MT"/>
            </a:endParaRPr>
          </a:p>
          <a:p>
            <a:pPr marL="4440555">
              <a:lnSpc>
                <a:spcPct val="100000"/>
              </a:lnSpc>
              <a:spcBef>
                <a:spcPts val="560"/>
              </a:spcBef>
            </a:pPr>
            <a:r>
              <a:rPr sz="2800" dirty="0">
                <a:solidFill>
                  <a:srgbClr val="0070C0"/>
                </a:solidFill>
                <a:latin typeface="Arial MT"/>
                <a:cs typeface="Arial MT"/>
              </a:rPr>
              <a:t>Class</a:t>
            </a:r>
            <a:r>
              <a:rPr sz="2800" spc="-80" dirty="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0070C0"/>
                </a:solidFill>
                <a:latin typeface="Arial MT"/>
                <a:cs typeface="Arial MT"/>
              </a:rPr>
              <a:t>Code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639586BC-AEA9-4564-BB32-482FB7B91BF4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12" rIns="0" bIns="0" rtlCol="0">
            <a:spAutoFit/>
          </a:bodyPr>
          <a:lstStyle/>
          <a:p>
            <a:pPr marL="1957070">
              <a:lnSpc>
                <a:spcPct val="100000"/>
              </a:lnSpc>
              <a:spcBef>
                <a:spcPts val="100"/>
              </a:spcBef>
            </a:pPr>
            <a:r>
              <a:rPr dirty="0"/>
              <a:t>Course</a:t>
            </a:r>
            <a:r>
              <a:rPr spc="-30" dirty="0"/>
              <a:t> </a:t>
            </a:r>
            <a:r>
              <a:rPr spc="-10" dirty="0"/>
              <a:t>Materials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353416" y="2551993"/>
            <a:ext cx="7708265" cy="40446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9600" dirty="0"/>
              <a:t>a73tax5r</a:t>
            </a:r>
            <a:br>
              <a:rPr lang="en-US" sz="9600" b="0" i="0" dirty="0">
                <a:solidFill>
                  <a:srgbClr val="5F6368"/>
                </a:solidFill>
                <a:effectLst/>
                <a:latin typeface="Roboto" panose="02000000000000000000" pitchFamily="2" charset="0"/>
              </a:rPr>
            </a:br>
            <a:endParaRPr sz="16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5947" y="1611376"/>
            <a:ext cx="10313053" cy="1318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100"/>
              </a:spcBef>
              <a:buChar char="•"/>
              <a:tabLst>
                <a:tab pos="301625" algn="l"/>
              </a:tabLst>
            </a:pPr>
            <a:r>
              <a:rPr lang="en-US" sz="2800" i="1" dirty="0">
                <a:latin typeface="Arial"/>
                <a:cs typeface="Arial"/>
              </a:rPr>
              <a:t>Generative AI Navigation the course to the Artificial General Intelligence Future</a:t>
            </a:r>
          </a:p>
          <a:p>
            <a:pPr marL="301625" indent="-288925">
              <a:lnSpc>
                <a:spcPct val="100000"/>
              </a:lnSpc>
              <a:spcBef>
                <a:spcPts val="100"/>
              </a:spcBef>
              <a:buChar char="•"/>
              <a:tabLst>
                <a:tab pos="301625" algn="l"/>
              </a:tabLst>
            </a:pPr>
            <a:r>
              <a:rPr lang="en-US" sz="2800" i="1" dirty="0">
                <a:latin typeface="Arial"/>
                <a:cs typeface="Arial"/>
              </a:rPr>
              <a:t>Generative Deep Learning by David Foster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BD72B384-FACB-4E9F-AA75-D23222663405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12" rIns="0" bIns="0" rtlCol="0">
            <a:spAutoFit/>
          </a:bodyPr>
          <a:lstStyle/>
          <a:p>
            <a:pPr marL="2597150">
              <a:lnSpc>
                <a:spcPct val="100000"/>
              </a:lnSpc>
              <a:spcBef>
                <a:spcPts val="100"/>
              </a:spcBef>
            </a:pPr>
            <a:r>
              <a:rPr b="1" spc="-20" dirty="0">
                <a:latin typeface="Arial"/>
                <a:cs typeface="Arial"/>
              </a:rPr>
              <a:t>Text</a:t>
            </a:r>
            <a:r>
              <a:rPr b="1" spc="-220" dirty="0">
                <a:latin typeface="Arial"/>
                <a:cs typeface="Arial"/>
              </a:rPr>
              <a:t> </a:t>
            </a:r>
            <a:r>
              <a:rPr b="1" spc="-20" dirty="0">
                <a:latin typeface="Arial"/>
                <a:cs typeface="Arial"/>
              </a:rPr>
              <a:t>Book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3580" y="1537818"/>
            <a:ext cx="10503535" cy="438213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294005" indent="-281305">
              <a:lnSpc>
                <a:spcPct val="100000"/>
              </a:lnSpc>
              <a:spcBef>
                <a:spcPts val="355"/>
              </a:spcBef>
              <a:buChar char="•"/>
              <a:tabLst>
                <a:tab pos="294005" algn="l"/>
              </a:tabLst>
            </a:pPr>
            <a:r>
              <a:rPr sz="3200" i="1" dirty="0">
                <a:latin typeface="Arial"/>
                <a:cs typeface="Arial"/>
              </a:rPr>
              <a:t>Recent</a:t>
            </a:r>
            <a:r>
              <a:rPr sz="3200" i="1" spc="-40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Research</a:t>
            </a:r>
            <a:r>
              <a:rPr sz="3200" i="1" spc="-35" dirty="0">
                <a:latin typeface="Arial"/>
                <a:cs typeface="Arial"/>
              </a:rPr>
              <a:t> </a:t>
            </a:r>
            <a:r>
              <a:rPr sz="3200" i="1" spc="-10" dirty="0">
                <a:latin typeface="Arial"/>
                <a:cs typeface="Arial"/>
              </a:rPr>
              <a:t>Papers</a:t>
            </a:r>
            <a:endParaRPr sz="3200">
              <a:latin typeface="Arial"/>
              <a:cs typeface="Arial"/>
            </a:endParaRPr>
          </a:p>
          <a:p>
            <a:pPr marL="294640" marR="432434" indent="-281940">
              <a:lnSpc>
                <a:spcPts val="3460"/>
              </a:lnSpc>
              <a:spcBef>
                <a:spcPts val="685"/>
              </a:spcBef>
              <a:buChar char="•"/>
              <a:tabLst>
                <a:tab pos="294640" algn="l"/>
              </a:tabLst>
            </a:pPr>
            <a:r>
              <a:rPr sz="3200" i="1" dirty="0">
                <a:latin typeface="Arial"/>
                <a:cs typeface="Arial"/>
              </a:rPr>
              <a:t>Deep</a:t>
            </a:r>
            <a:r>
              <a:rPr sz="3200" i="1" spc="-50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Learning,</a:t>
            </a:r>
            <a:r>
              <a:rPr sz="3200" i="1" spc="-50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by</a:t>
            </a:r>
            <a:r>
              <a:rPr sz="3200" i="1" spc="-45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Ian</a:t>
            </a:r>
            <a:r>
              <a:rPr sz="3200" i="1" spc="-45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Goodfellow</a:t>
            </a:r>
            <a:r>
              <a:rPr sz="3200" i="1" spc="-45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and</a:t>
            </a:r>
            <a:r>
              <a:rPr sz="3200" i="1" spc="-105" dirty="0">
                <a:latin typeface="Arial"/>
                <a:cs typeface="Arial"/>
              </a:rPr>
              <a:t> </a:t>
            </a:r>
            <a:r>
              <a:rPr sz="3200" i="1" spc="-10" dirty="0">
                <a:latin typeface="Arial"/>
                <a:cs typeface="Arial"/>
              </a:rPr>
              <a:t>Yoshua</a:t>
            </a:r>
            <a:r>
              <a:rPr sz="3200" i="1" spc="-45" dirty="0">
                <a:latin typeface="Arial"/>
                <a:cs typeface="Arial"/>
              </a:rPr>
              <a:t> </a:t>
            </a:r>
            <a:r>
              <a:rPr sz="3200" i="1" spc="-10" dirty="0">
                <a:latin typeface="Arial"/>
                <a:cs typeface="Arial"/>
              </a:rPr>
              <a:t>Bengio </a:t>
            </a:r>
            <a:r>
              <a:rPr sz="3200" i="1" dirty="0">
                <a:latin typeface="Arial"/>
                <a:cs typeface="Arial"/>
              </a:rPr>
              <a:t>and</a:t>
            </a:r>
            <a:r>
              <a:rPr sz="3200" i="1" spc="-145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Aaron</a:t>
            </a:r>
            <a:r>
              <a:rPr sz="3200" i="1" spc="-30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Courville,</a:t>
            </a:r>
            <a:r>
              <a:rPr sz="3200" i="1" spc="-30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MIT</a:t>
            </a:r>
            <a:r>
              <a:rPr sz="3200" i="1" spc="-30" dirty="0">
                <a:latin typeface="Arial"/>
                <a:cs typeface="Arial"/>
              </a:rPr>
              <a:t> </a:t>
            </a:r>
            <a:r>
              <a:rPr sz="3200" i="1" spc="-10" dirty="0">
                <a:latin typeface="Arial"/>
                <a:cs typeface="Arial"/>
              </a:rPr>
              <a:t>Press.</a:t>
            </a:r>
            <a:endParaRPr sz="3200">
              <a:latin typeface="Arial"/>
              <a:cs typeface="Arial"/>
            </a:endParaRPr>
          </a:p>
          <a:p>
            <a:pPr marL="294005" indent="-281305">
              <a:lnSpc>
                <a:spcPts val="3650"/>
              </a:lnSpc>
              <a:spcBef>
                <a:spcPts val="204"/>
              </a:spcBef>
              <a:buChar char="•"/>
              <a:tabLst>
                <a:tab pos="294005" algn="l"/>
              </a:tabLst>
            </a:pPr>
            <a:r>
              <a:rPr sz="3200" dirty="0">
                <a:latin typeface="Arial MT"/>
                <a:cs typeface="Arial MT"/>
              </a:rPr>
              <a:t>Neural</a:t>
            </a:r>
            <a:r>
              <a:rPr sz="3200" spc="-6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Networks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Deep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Learning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:</a:t>
            </a:r>
            <a:r>
              <a:rPr sz="3200" spc="-210" dirty="0">
                <a:latin typeface="Arial MT"/>
                <a:cs typeface="Arial MT"/>
              </a:rPr>
              <a:t> </a:t>
            </a:r>
            <a:r>
              <a:rPr sz="3200" spc="-30" dirty="0">
                <a:latin typeface="Arial MT"/>
                <a:cs typeface="Arial MT"/>
              </a:rPr>
              <a:t>A</a:t>
            </a:r>
            <a:r>
              <a:rPr sz="3200" spc="-24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Textbook,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Charu</a:t>
            </a:r>
            <a:endParaRPr sz="3200">
              <a:latin typeface="Arial MT"/>
              <a:cs typeface="Arial MT"/>
            </a:endParaRPr>
          </a:p>
          <a:p>
            <a:pPr marL="294640">
              <a:lnSpc>
                <a:spcPts val="3650"/>
              </a:lnSpc>
            </a:pPr>
            <a:r>
              <a:rPr sz="3200" dirty="0">
                <a:latin typeface="Arial MT"/>
                <a:cs typeface="Arial MT"/>
              </a:rPr>
              <a:t>C.</a:t>
            </a:r>
            <a:r>
              <a:rPr sz="3200" spc="-19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Aggarwal</a:t>
            </a:r>
            <a:endParaRPr sz="3200">
              <a:latin typeface="Arial MT"/>
              <a:cs typeface="Arial MT"/>
            </a:endParaRPr>
          </a:p>
          <a:p>
            <a:pPr marL="294005" indent="-281305">
              <a:lnSpc>
                <a:spcPct val="100000"/>
              </a:lnSpc>
              <a:spcBef>
                <a:spcPts val="254"/>
              </a:spcBef>
              <a:buChar char="•"/>
              <a:tabLst>
                <a:tab pos="294005" algn="l"/>
              </a:tabLst>
            </a:pPr>
            <a:r>
              <a:rPr sz="3200" dirty="0">
                <a:latin typeface="Arial MT"/>
                <a:cs typeface="Arial MT"/>
              </a:rPr>
              <a:t>Deep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Learning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with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Python,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François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Cholle</a:t>
            </a:r>
            <a:endParaRPr sz="3200">
              <a:latin typeface="Arial MT"/>
              <a:cs typeface="Arial MT"/>
            </a:endParaRPr>
          </a:p>
          <a:p>
            <a:pPr marL="294640" marR="793115" indent="-281940">
              <a:lnSpc>
                <a:spcPts val="3460"/>
              </a:lnSpc>
              <a:spcBef>
                <a:spcPts val="685"/>
              </a:spcBef>
              <a:buChar char="•"/>
              <a:tabLst>
                <a:tab pos="294640" algn="l"/>
              </a:tabLst>
            </a:pPr>
            <a:r>
              <a:rPr sz="3200" dirty="0">
                <a:latin typeface="Arial MT"/>
                <a:cs typeface="Arial MT"/>
              </a:rPr>
              <a:t>Machine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Learning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Deep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Learning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with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Python, scikit-</a:t>
            </a:r>
            <a:r>
              <a:rPr sz="3200" dirty="0">
                <a:latin typeface="Arial MT"/>
                <a:cs typeface="Arial MT"/>
              </a:rPr>
              <a:t>learn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100" dirty="0">
                <a:latin typeface="Arial MT"/>
                <a:cs typeface="Arial MT"/>
              </a:rPr>
              <a:t> </a:t>
            </a:r>
            <a:r>
              <a:rPr sz="3200" spc="-45" dirty="0">
                <a:latin typeface="Arial MT"/>
                <a:cs typeface="Arial MT"/>
              </a:rPr>
              <a:t>TensorFlow,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Sebastian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Raschka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and </a:t>
            </a:r>
            <a:r>
              <a:rPr sz="3200" spc="-20" dirty="0">
                <a:latin typeface="Arial MT"/>
                <a:cs typeface="Arial MT"/>
              </a:rPr>
              <a:t>Vahid</a:t>
            </a:r>
            <a:r>
              <a:rPr sz="3200" spc="-18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Mirjalili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EF88E8C6-C322-47C2-BBF1-294FC59E6F4B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12" rIns="0" bIns="0" rtlCol="0">
            <a:spAutoFit/>
          </a:bodyPr>
          <a:lstStyle/>
          <a:p>
            <a:pPr marL="152527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Reference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Materials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3580" y="1609345"/>
            <a:ext cx="3446779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4005" indent="-281305">
              <a:lnSpc>
                <a:spcPct val="100000"/>
              </a:lnSpc>
              <a:spcBef>
                <a:spcPts val="100"/>
              </a:spcBef>
              <a:buChar char="•"/>
              <a:tabLst>
                <a:tab pos="294005" algn="l"/>
              </a:tabLst>
            </a:pPr>
            <a:r>
              <a:rPr sz="3200" dirty="0">
                <a:latin typeface="Arial MT"/>
                <a:cs typeface="Arial MT"/>
              </a:rPr>
              <a:t>Absolute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Grading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12" rIns="0" bIns="0" rtlCol="0">
            <a:spAutoFit/>
          </a:bodyPr>
          <a:lstStyle/>
          <a:p>
            <a:pPr marL="2198370">
              <a:lnSpc>
                <a:spcPct val="100000"/>
              </a:lnSpc>
              <a:spcBef>
                <a:spcPts val="100"/>
              </a:spcBef>
            </a:pPr>
            <a:r>
              <a:rPr dirty="0"/>
              <a:t>Grading</a:t>
            </a:r>
            <a:r>
              <a:rPr spc="-35" dirty="0"/>
              <a:t> </a:t>
            </a:r>
            <a:r>
              <a:rPr spc="-10" dirty="0"/>
              <a:t>Policy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81576" y="2589427"/>
            <a:ext cx="2466974" cy="18478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37691" y="2393105"/>
            <a:ext cx="2143125" cy="2143124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4038600" y="3382684"/>
            <a:ext cx="802005" cy="164465"/>
            <a:chOff x="4038600" y="3382684"/>
            <a:chExt cx="802005" cy="164465"/>
          </a:xfrm>
        </p:grpSpPr>
        <p:sp>
          <p:nvSpPr>
            <p:cNvPr id="7" name="object 7"/>
            <p:cNvSpPr/>
            <p:nvPr/>
          </p:nvSpPr>
          <p:spPr>
            <a:xfrm>
              <a:off x="4038600" y="3464665"/>
              <a:ext cx="609600" cy="0"/>
            </a:xfrm>
            <a:custGeom>
              <a:avLst/>
              <a:gdLst/>
              <a:ahLst/>
              <a:cxnLst/>
              <a:rect l="l" t="t" r="r" b="b"/>
              <a:pathLst>
                <a:path w="609600">
                  <a:moveTo>
                    <a:pt x="0" y="0"/>
                  </a:moveTo>
                  <a:lnTo>
                    <a:pt x="609599" y="0"/>
                  </a:lnTo>
                </a:path>
              </a:pathLst>
            </a:custGeom>
            <a:ln w="38099">
              <a:solidFill>
                <a:srgbClr val="4A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29150" y="3382684"/>
              <a:ext cx="211001" cy="163961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6215064" y="3603001"/>
            <a:ext cx="4262755" cy="2874010"/>
            <a:chOff x="6215064" y="3603001"/>
            <a:chExt cx="4262755" cy="287401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15064" y="4728308"/>
              <a:ext cx="4262436" cy="174869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543782" y="3622051"/>
              <a:ext cx="802640" cy="878205"/>
            </a:xfrm>
            <a:custGeom>
              <a:avLst/>
              <a:gdLst/>
              <a:ahLst/>
              <a:cxnLst/>
              <a:rect l="l" t="t" r="r" b="b"/>
              <a:pathLst>
                <a:path w="802640" h="878204">
                  <a:moveTo>
                    <a:pt x="0" y="7056"/>
                  </a:moveTo>
                  <a:lnTo>
                    <a:pt x="0" y="0"/>
                  </a:lnTo>
                  <a:lnTo>
                    <a:pt x="802499" y="0"/>
                  </a:lnTo>
                  <a:lnTo>
                    <a:pt x="802499" y="877656"/>
                  </a:lnTo>
                </a:path>
              </a:pathLst>
            </a:custGeom>
            <a:ln w="38099">
              <a:solidFill>
                <a:srgbClr val="4A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64301" y="4480657"/>
              <a:ext cx="163962" cy="211001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D5416840-D8B4-4F36-8B03-90671E7A4434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12" rIns="0" bIns="0" rtlCol="0">
            <a:spAutoFit/>
          </a:bodyPr>
          <a:lstStyle/>
          <a:p>
            <a:pPr marL="2198370">
              <a:lnSpc>
                <a:spcPct val="100000"/>
              </a:lnSpc>
              <a:spcBef>
                <a:spcPts val="100"/>
              </a:spcBef>
            </a:pPr>
            <a:r>
              <a:rPr dirty="0"/>
              <a:t>Grading</a:t>
            </a:r>
            <a:r>
              <a:rPr spc="-35" dirty="0"/>
              <a:t> </a:t>
            </a:r>
            <a:r>
              <a:rPr spc="-10" dirty="0"/>
              <a:t>Policy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B9BE201C-5A2C-4F5A-8A1A-6D3083B672A3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9311871"/>
              </p:ext>
            </p:extLst>
          </p:nvPr>
        </p:nvGraphicFramePr>
        <p:xfrm>
          <a:off x="603251" y="1746249"/>
          <a:ext cx="10591165" cy="42627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2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2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4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896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Assessment</a:t>
                      </a:r>
                      <a:r>
                        <a:rPr sz="32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2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Item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32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Number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Weight</a:t>
                      </a:r>
                      <a:r>
                        <a:rPr sz="3200" b="1" spc="-10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32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(%)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96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3200" spc="-10" dirty="0">
                          <a:latin typeface="Arial MT"/>
                          <a:cs typeface="Arial MT"/>
                        </a:rPr>
                        <a:t>Assignments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lang="en-US" sz="3200" dirty="0">
                          <a:latin typeface="Arial MT"/>
                          <a:cs typeface="Arial MT"/>
                        </a:rPr>
                        <a:t>&gt;=</a:t>
                      </a:r>
                      <a:r>
                        <a:rPr sz="3200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3200" spc="-5" dirty="0">
                          <a:latin typeface="Arial MT"/>
                          <a:cs typeface="Arial MT"/>
                        </a:rPr>
                        <a:t> </a:t>
                      </a:r>
                      <a:endParaRPr sz="3200" dirty="0">
                        <a:latin typeface="Arial MT"/>
                        <a:cs typeface="Arial MT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lang="en-US" sz="3200" spc="-25" dirty="0">
                          <a:latin typeface="Arial MT"/>
                          <a:cs typeface="Arial MT"/>
                        </a:rPr>
                        <a:t>8</a:t>
                      </a:r>
                      <a:endParaRPr sz="3200" dirty="0">
                        <a:latin typeface="Arial MT"/>
                        <a:cs typeface="Arial MT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96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3200" spc="-10" dirty="0">
                          <a:latin typeface="Arial MT"/>
                          <a:cs typeface="Arial MT"/>
                        </a:rPr>
                        <a:t>Quizzes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lang="en-US" sz="3200" dirty="0">
                          <a:latin typeface="Arial MT"/>
                          <a:cs typeface="Arial MT"/>
                        </a:rPr>
                        <a:t>&gt;=4</a:t>
                      </a:r>
                      <a:endParaRPr sz="3200" dirty="0">
                        <a:latin typeface="Arial MT"/>
                        <a:cs typeface="Arial MT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lang="en-US" sz="3200" dirty="0">
                          <a:latin typeface="Arial MT"/>
                          <a:cs typeface="Arial MT"/>
                        </a:rPr>
                        <a:t>8</a:t>
                      </a:r>
                      <a:endParaRPr sz="3200" dirty="0">
                        <a:latin typeface="Arial MT"/>
                        <a:cs typeface="Arial MT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96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3200" spc="-10" dirty="0">
                          <a:latin typeface="Arial MT"/>
                          <a:cs typeface="Arial MT"/>
                        </a:rPr>
                        <a:t>Project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3200" spc="-50" dirty="0">
                          <a:latin typeface="Arial MT"/>
                          <a:cs typeface="Arial MT"/>
                        </a:rPr>
                        <a:t>1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3200" spc="-25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lang="en-US" sz="3200" spc="-25" dirty="0">
                          <a:latin typeface="Arial MT"/>
                          <a:cs typeface="Arial MT"/>
                        </a:rPr>
                        <a:t>4</a:t>
                      </a:r>
                      <a:endParaRPr sz="3200" dirty="0">
                        <a:latin typeface="Arial MT"/>
                        <a:cs typeface="Arial MT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896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3200" spc="-10" dirty="0">
                          <a:latin typeface="Arial MT"/>
                          <a:cs typeface="Arial MT"/>
                        </a:rPr>
                        <a:t>Sessional-</a:t>
                      </a:r>
                      <a:r>
                        <a:rPr sz="3200" spc="-50" dirty="0">
                          <a:latin typeface="Arial MT"/>
                          <a:cs typeface="Arial MT"/>
                        </a:rPr>
                        <a:t>I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3200" spc="-50" dirty="0">
                          <a:latin typeface="Arial MT"/>
                          <a:cs typeface="Arial MT"/>
                        </a:rPr>
                        <a:t>1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3200" spc="-25" dirty="0">
                          <a:latin typeface="Arial MT"/>
                          <a:cs typeface="Arial MT"/>
                        </a:rPr>
                        <a:t>15</a:t>
                      </a:r>
                      <a:endParaRPr sz="3200" dirty="0">
                        <a:latin typeface="Arial MT"/>
                        <a:cs typeface="Arial MT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896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3200" spc="-10" dirty="0">
                          <a:latin typeface="Arial MT"/>
                          <a:cs typeface="Arial MT"/>
                        </a:rPr>
                        <a:t>Sessional-</a:t>
                      </a:r>
                      <a:r>
                        <a:rPr sz="3200" spc="-25" dirty="0">
                          <a:latin typeface="Arial MT"/>
                          <a:cs typeface="Arial MT"/>
                        </a:rPr>
                        <a:t>II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3200" spc="-50" dirty="0">
                          <a:latin typeface="Arial MT"/>
                          <a:cs typeface="Arial MT"/>
                        </a:rPr>
                        <a:t>1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3200" spc="-25" dirty="0">
                          <a:latin typeface="Arial MT"/>
                          <a:cs typeface="Arial MT"/>
                        </a:rPr>
                        <a:t>15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896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3200" dirty="0">
                          <a:latin typeface="Arial MT"/>
                          <a:cs typeface="Arial MT"/>
                        </a:rPr>
                        <a:t>Final</a:t>
                      </a:r>
                      <a:r>
                        <a:rPr sz="32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3200" spc="-20" dirty="0">
                          <a:latin typeface="Arial MT"/>
                          <a:cs typeface="Arial MT"/>
                        </a:rPr>
                        <a:t>Exam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3200" spc="-50" dirty="0">
                          <a:latin typeface="Arial MT"/>
                          <a:cs typeface="Arial MT"/>
                        </a:rPr>
                        <a:t>1</a:t>
                      </a:r>
                      <a:endParaRPr sz="3200">
                        <a:latin typeface="Arial MT"/>
                        <a:cs typeface="Arial MT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3200" spc="-25" dirty="0">
                          <a:latin typeface="Arial MT"/>
                          <a:cs typeface="Arial MT"/>
                        </a:rPr>
                        <a:t>40</a:t>
                      </a:r>
                      <a:endParaRPr sz="3200" dirty="0">
                        <a:latin typeface="Arial MT"/>
                        <a:cs typeface="Arial MT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5947" y="1540256"/>
            <a:ext cx="9963785" cy="2903359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660"/>
              </a:spcBef>
              <a:buChar char="•"/>
              <a:tabLst>
                <a:tab pos="301625" algn="l"/>
              </a:tabLst>
            </a:pPr>
            <a:r>
              <a:rPr sz="2800" dirty="0">
                <a:latin typeface="Arial MT"/>
                <a:cs typeface="Arial MT"/>
              </a:rPr>
              <a:t>All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assignments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Quizzes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carry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equal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weightage</a:t>
            </a:r>
            <a:endParaRPr sz="2800" dirty="0">
              <a:latin typeface="Arial MT"/>
              <a:cs typeface="Arial MT"/>
            </a:endParaRPr>
          </a:p>
          <a:p>
            <a:pPr marL="302260" marR="1593215" indent="-290195">
              <a:lnSpc>
                <a:spcPct val="100000"/>
              </a:lnSpc>
              <a:spcBef>
                <a:spcPts val="560"/>
              </a:spcBef>
              <a:buChar char="•"/>
              <a:tabLst>
                <a:tab pos="302260" algn="l"/>
              </a:tabLst>
            </a:pPr>
            <a:r>
              <a:rPr sz="2800" dirty="0">
                <a:latin typeface="Arial MT"/>
                <a:cs typeface="Arial MT"/>
              </a:rPr>
              <a:t>Enough</a:t>
            </a:r>
            <a:r>
              <a:rPr sz="2800" spc="-1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Time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will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given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1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Assignments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their implementation.</a:t>
            </a:r>
            <a:endParaRPr sz="2800" dirty="0">
              <a:latin typeface="Arial MT"/>
              <a:cs typeface="Arial MT"/>
            </a:endParaRPr>
          </a:p>
          <a:p>
            <a:pPr marL="301625" indent="-288925">
              <a:lnSpc>
                <a:spcPct val="100000"/>
              </a:lnSpc>
              <a:spcBef>
                <a:spcPts val="560"/>
              </a:spcBef>
              <a:buChar char="•"/>
              <a:tabLst>
                <a:tab pos="301625" algn="l"/>
              </a:tabLst>
            </a:pPr>
            <a:r>
              <a:rPr sz="2800" dirty="0">
                <a:latin typeface="Arial MT"/>
                <a:cs typeface="Arial MT"/>
              </a:rPr>
              <a:t>Quizzes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can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B050"/>
                </a:solidFill>
                <a:latin typeface="Arial MT"/>
                <a:cs typeface="Arial MT"/>
              </a:rPr>
              <a:t>announced</a:t>
            </a:r>
            <a:r>
              <a:rPr sz="2800" spc="-85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B050"/>
                </a:solidFill>
                <a:latin typeface="Arial MT"/>
                <a:cs typeface="Arial MT"/>
              </a:rPr>
              <a:t>or</a:t>
            </a:r>
            <a:r>
              <a:rPr sz="2800" spc="-85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B050"/>
                </a:solidFill>
                <a:latin typeface="Arial MT"/>
                <a:cs typeface="Arial MT"/>
              </a:rPr>
              <a:t>unannounced.</a:t>
            </a:r>
            <a:endParaRPr sz="2800" dirty="0">
              <a:latin typeface="Arial MT"/>
              <a:cs typeface="Arial MT"/>
            </a:endParaRPr>
          </a:p>
          <a:p>
            <a:pPr marL="301625" indent="-288925">
              <a:lnSpc>
                <a:spcPct val="100000"/>
              </a:lnSpc>
              <a:spcBef>
                <a:spcPts val="560"/>
              </a:spcBef>
              <a:buChar char="•"/>
              <a:tabLst>
                <a:tab pos="301625" algn="l"/>
              </a:tabLst>
            </a:pPr>
            <a:r>
              <a:rPr sz="2800" dirty="0">
                <a:latin typeface="Arial MT"/>
                <a:cs typeface="Arial MT"/>
              </a:rPr>
              <a:t>Project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will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done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individually.</a:t>
            </a:r>
            <a:endParaRPr sz="2800" dirty="0">
              <a:latin typeface="Arial MT"/>
              <a:cs typeface="Arial MT"/>
            </a:endParaRPr>
          </a:p>
          <a:p>
            <a:pPr marL="701675" lvl="1" indent="-302260">
              <a:lnSpc>
                <a:spcPct val="100000"/>
              </a:lnSpc>
              <a:spcBef>
                <a:spcPts val="495"/>
              </a:spcBef>
              <a:buChar char="–"/>
              <a:tabLst>
                <a:tab pos="701675" algn="l"/>
              </a:tabLst>
            </a:pP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include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writing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research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paper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publication.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1D3F0A80-3833-4EC1-AF7B-FBF656A0993F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12" rIns="0" bIns="0" rtlCol="0">
            <a:spAutoFit/>
          </a:bodyPr>
          <a:lstStyle/>
          <a:p>
            <a:pPr marL="70802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Explanation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of</a:t>
            </a:r>
            <a:r>
              <a:rPr b="1" spc="-18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Assessment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731939" y="1554552"/>
            <a:ext cx="10695305" cy="2818853"/>
          </a:xfrm>
          <a:prstGeom prst="rect">
            <a:avLst/>
          </a:prstGeom>
        </p:spPr>
        <p:txBody>
          <a:bodyPr vert="horz" wrap="square" lIns="0" tIns="68711" rIns="0" bIns="0" rtlCol="0">
            <a:spAutoFit/>
          </a:bodyPr>
          <a:lstStyle/>
          <a:p>
            <a:pPr marL="306070" marR="352425" indent="-287020" algn="just">
              <a:lnSpc>
                <a:spcPct val="100299"/>
              </a:lnSpc>
              <a:spcBef>
                <a:spcPts val="100"/>
              </a:spcBef>
              <a:buChar char="•"/>
              <a:tabLst>
                <a:tab pos="306070" algn="l"/>
              </a:tabLst>
            </a:pPr>
            <a:r>
              <a:rPr lang="en-US" sz="2950" b="0" dirty="0">
                <a:latin typeface="Arial MT"/>
                <a:cs typeface="Arial MT"/>
              </a:rPr>
              <a:t>No</a:t>
            </a:r>
            <a:r>
              <a:rPr sz="2950" b="0" spc="-20" dirty="0">
                <a:latin typeface="Arial MT"/>
                <a:cs typeface="Arial MT"/>
              </a:rPr>
              <a:t> </a:t>
            </a:r>
            <a:r>
              <a:rPr sz="2950" b="0" dirty="0">
                <a:latin typeface="Arial MT"/>
                <a:cs typeface="Arial MT"/>
              </a:rPr>
              <a:t>assignment</a:t>
            </a:r>
            <a:r>
              <a:rPr sz="2950" b="0" spc="-25" dirty="0">
                <a:latin typeface="Arial MT"/>
                <a:cs typeface="Arial MT"/>
              </a:rPr>
              <a:t> </a:t>
            </a:r>
            <a:r>
              <a:rPr sz="2950" b="0" dirty="0">
                <a:latin typeface="Arial MT"/>
                <a:cs typeface="Arial MT"/>
              </a:rPr>
              <a:t>and</a:t>
            </a:r>
            <a:r>
              <a:rPr sz="2950" b="0" spc="-25" dirty="0">
                <a:latin typeface="Arial MT"/>
                <a:cs typeface="Arial MT"/>
              </a:rPr>
              <a:t> </a:t>
            </a:r>
            <a:r>
              <a:rPr sz="2950" b="0" dirty="0">
                <a:latin typeface="Arial MT"/>
                <a:cs typeface="Arial MT"/>
              </a:rPr>
              <a:t>project</a:t>
            </a:r>
            <a:r>
              <a:rPr sz="2950" b="0" spc="-25" dirty="0">
                <a:latin typeface="Arial MT"/>
                <a:cs typeface="Arial MT"/>
              </a:rPr>
              <a:t> </a:t>
            </a:r>
            <a:r>
              <a:rPr sz="2950" b="0" dirty="0">
                <a:latin typeface="Arial MT"/>
                <a:cs typeface="Arial MT"/>
              </a:rPr>
              <a:t>deliverable</a:t>
            </a:r>
            <a:r>
              <a:rPr sz="2950" b="0" spc="-25" dirty="0">
                <a:latin typeface="Arial MT"/>
                <a:cs typeface="Arial MT"/>
              </a:rPr>
              <a:t> </a:t>
            </a:r>
            <a:r>
              <a:rPr sz="2950" b="0" dirty="0">
                <a:latin typeface="Arial MT"/>
                <a:cs typeface="Arial MT"/>
              </a:rPr>
              <a:t>will</a:t>
            </a:r>
            <a:r>
              <a:rPr lang="en-US" sz="2950" b="0" spc="25" dirty="0">
                <a:latin typeface="Arial MT"/>
                <a:cs typeface="Arial MT"/>
              </a:rPr>
              <a:t> </a:t>
            </a:r>
            <a:r>
              <a:rPr lang="en-US" sz="2950" dirty="0">
                <a:solidFill>
                  <a:srgbClr val="FF0000"/>
                </a:solidFill>
              </a:rPr>
              <a:t>late submission allowed.</a:t>
            </a:r>
          </a:p>
          <a:p>
            <a:pPr marL="306070" marR="352425" indent="-287020" algn="just">
              <a:lnSpc>
                <a:spcPct val="100299"/>
              </a:lnSpc>
              <a:spcBef>
                <a:spcPts val="100"/>
              </a:spcBef>
              <a:buChar char="•"/>
              <a:tabLst>
                <a:tab pos="306070" algn="l"/>
              </a:tabLst>
            </a:pPr>
            <a:r>
              <a:rPr lang="en-US" sz="2950" b="0" dirty="0">
                <a:latin typeface="Arial MT"/>
                <a:cs typeface="Arial MT"/>
              </a:rPr>
              <a:t>It’s the responsibility of the class to submit assessments well before time.</a:t>
            </a:r>
          </a:p>
          <a:p>
            <a:pPr marL="306070" marR="352425" indent="-287020" algn="just">
              <a:lnSpc>
                <a:spcPct val="100299"/>
              </a:lnSpc>
              <a:spcBef>
                <a:spcPts val="100"/>
              </a:spcBef>
              <a:buChar char="•"/>
              <a:tabLst>
                <a:tab pos="306070" algn="l"/>
              </a:tabLst>
            </a:pPr>
            <a:r>
              <a:rPr lang="en-US" sz="2950" b="0" dirty="0">
                <a:latin typeface="Arial MT"/>
                <a:cs typeface="Arial MT"/>
              </a:rPr>
              <a:t>You are graduate students so manage your time accordingly.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99801227-6A33-4FC0-B95F-95F5867548FD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12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100"/>
              </a:spcBef>
            </a:pPr>
            <a:r>
              <a:rPr dirty="0"/>
              <a:t>Submission</a:t>
            </a:r>
            <a:r>
              <a:rPr spc="-30" dirty="0"/>
              <a:t> </a:t>
            </a:r>
            <a:r>
              <a:rPr dirty="0"/>
              <a:t>for</a:t>
            </a:r>
            <a:r>
              <a:rPr spc="-225" dirty="0"/>
              <a:t> </a:t>
            </a:r>
            <a:r>
              <a:rPr dirty="0"/>
              <a:t>Assignment</a:t>
            </a:r>
            <a:r>
              <a:rPr spc="-35" dirty="0"/>
              <a:t> </a:t>
            </a:r>
            <a:r>
              <a:rPr dirty="0"/>
              <a:t>/</a:t>
            </a:r>
            <a:r>
              <a:rPr spc="-30" dirty="0"/>
              <a:t> </a:t>
            </a:r>
            <a:r>
              <a:rPr spc="-10" dirty="0"/>
              <a:t>Project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8315" y="1613408"/>
            <a:ext cx="10053320" cy="1610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9880" marR="5080" indent="-297815">
              <a:lnSpc>
                <a:spcPct val="100000"/>
              </a:lnSpc>
              <a:spcBef>
                <a:spcPts val="100"/>
              </a:spcBef>
              <a:buChar char="•"/>
              <a:tabLst>
                <a:tab pos="309880" algn="l"/>
              </a:tabLst>
            </a:pPr>
            <a:r>
              <a:rPr sz="2400" dirty="0">
                <a:latin typeface="Arial MT"/>
                <a:cs typeface="Arial MT"/>
              </a:rPr>
              <a:t>Plagiarism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any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kind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assessment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including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project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sessional/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final </a:t>
            </a:r>
            <a:r>
              <a:rPr sz="2400" dirty="0">
                <a:latin typeface="Arial MT"/>
                <a:cs typeface="Arial MT"/>
              </a:rPr>
              <a:t>exam,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assignments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quizzes,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will</a:t>
            </a:r>
            <a:r>
              <a:rPr sz="2400" spc="-7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result</a:t>
            </a:r>
            <a:r>
              <a:rPr sz="2400" spc="-7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in</a:t>
            </a:r>
            <a:r>
              <a:rPr sz="2400" spc="-6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F</a:t>
            </a:r>
            <a:r>
              <a:rPr sz="2400" spc="-7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grade</a:t>
            </a:r>
            <a:r>
              <a:rPr sz="2400" spc="-7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in</a:t>
            </a:r>
            <a:r>
              <a:rPr sz="2400" spc="-7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sz="2400" spc="-7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course</a:t>
            </a:r>
            <a:r>
              <a:rPr sz="2400" spc="-1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80"/>
              </a:spcBef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309245" indent="-296545">
              <a:lnSpc>
                <a:spcPct val="100000"/>
              </a:lnSpc>
              <a:buChar char="•"/>
              <a:tabLst>
                <a:tab pos="309245" algn="l"/>
              </a:tabLst>
            </a:pPr>
            <a:r>
              <a:rPr sz="2400" dirty="0">
                <a:latin typeface="Arial MT"/>
                <a:cs typeface="Arial MT"/>
              </a:rPr>
              <a:t>So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what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it?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19396747-2C16-4C13-A143-876DDEA835F0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5236" rIns="0" bIns="0" rtlCol="0">
            <a:spAutoFit/>
          </a:bodyPr>
          <a:lstStyle/>
          <a:p>
            <a:pPr marL="155067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Arial"/>
                <a:cs typeface="Arial"/>
              </a:rPr>
              <a:t>Course</a:t>
            </a:r>
            <a:r>
              <a:rPr sz="2800" b="1" spc="-9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Plagiarism</a:t>
            </a:r>
            <a:r>
              <a:rPr sz="2800" b="1" spc="-9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Policy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83295" y="3863180"/>
            <a:ext cx="7825740" cy="1631314"/>
          </a:xfrm>
          <a:prstGeom prst="rect">
            <a:avLst/>
          </a:prstGeom>
          <a:solidFill>
            <a:srgbClr val="C5D8F1"/>
          </a:solidFill>
          <a:ln w="28574">
            <a:solidFill>
              <a:srgbClr val="0070C0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85725" marR="83820" algn="just">
              <a:lnSpc>
                <a:spcPct val="100000"/>
              </a:lnSpc>
              <a:spcBef>
                <a:spcPts val="220"/>
              </a:spcBef>
            </a:pP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Plagiarism</a:t>
            </a:r>
            <a:r>
              <a:rPr sz="2000" spc="1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is</a:t>
            </a:r>
            <a:r>
              <a:rPr sz="200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presenting</a:t>
            </a:r>
            <a:r>
              <a:rPr sz="2000" b="1" spc="1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someone</a:t>
            </a:r>
            <a:r>
              <a:rPr sz="2000" b="1" spc="1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else's</a:t>
            </a:r>
            <a:r>
              <a:rPr sz="2000" b="1" spc="1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work</a:t>
            </a:r>
            <a:r>
              <a:rPr sz="2000" b="1" spc="1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or</a:t>
            </a:r>
            <a:r>
              <a:rPr sz="2000" b="1" spc="1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ideas</a:t>
            </a:r>
            <a:r>
              <a:rPr sz="2000" b="1" spc="1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as</a:t>
            </a:r>
            <a:r>
              <a:rPr sz="2000" b="1" spc="1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FF0000"/>
                </a:solidFill>
                <a:latin typeface="Arial"/>
                <a:cs typeface="Arial"/>
              </a:rPr>
              <a:t>your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own,</a:t>
            </a:r>
            <a:r>
              <a:rPr sz="2000" b="1" spc="2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with</a:t>
            </a:r>
            <a:r>
              <a:rPr sz="2000" b="1" spc="22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or</a:t>
            </a:r>
            <a:r>
              <a:rPr sz="2000" b="1" spc="22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without</a:t>
            </a:r>
            <a:r>
              <a:rPr sz="2000" b="1" spc="2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their</a:t>
            </a:r>
            <a:r>
              <a:rPr sz="2000" b="1" spc="229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/>
                <a:cs typeface="Arial"/>
              </a:rPr>
              <a:t>consent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,</a:t>
            </a:r>
            <a:r>
              <a:rPr sz="2000" spc="22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by</a:t>
            </a:r>
            <a:r>
              <a:rPr sz="2000" spc="22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incorporating</a:t>
            </a:r>
            <a:r>
              <a:rPr sz="2000" spc="2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it</a:t>
            </a:r>
            <a:r>
              <a:rPr sz="2000" spc="2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into</a:t>
            </a:r>
            <a:r>
              <a:rPr sz="2000" spc="2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FF0000"/>
                </a:solidFill>
                <a:latin typeface="Arial MT"/>
                <a:cs typeface="Arial MT"/>
              </a:rPr>
              <a:t>your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work</a:t>
            </a:r>
            <a:r>
              <a:rPr sz="2000" spc="18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without</a:t>
            </a:r>
            <a:r>
              <a:rPr sz="2000" spc="18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full</a:t>
            </a:r>
            <a:r>
              <a:rPr sz="2000" spc="18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acknowledgement.</a:t>
            </a:r>
            <a:r>
              <a:rPr sz="2000" spc="8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All</a:t>
            </a:r>
            <a:r>
              <a:rPr sz="2000" spc="18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published</a:t>
            </a:r>
            <a:r>
              <a:rPr sz="2000" spc="18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and</a:t>
            </a:r>
            <a:r>
              <a:rPr sz="2000" spc="18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 MT"/>
                <a:cs typeface="Arial MT"/>
              </a:rPr>
              <a:t>unpublished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material,</a:t>
            </a:r>
            <a:r>
              <a:rPr sz="2000" spc="114" dirty="0">
                <a:solidFill>
                  <a:srgbClr val="FF0000"/>
                </a:solidFill>
                <a:latin typeface="Arial MT"/>
                <a:cs typeface="Arial MT"/>
              </a:rPr>
              <a:t> 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whether</a:t>
            </a:r>
            <a:r>
              <a:rPr sz="2000" spc="125" dirty="0">
                <a:solidFill>
                  <a:srgbClr val="FF0000"/>
                </a:solidFill>
                <a:latin typeface="Arial MT"/>
                <a:cs typeface="Arial MT"/>
              </a:rPr>
              <a:t> 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in</a:t>
            </a:r>
            <a:r>
              <a:rPr sz="2000" spc="120" dirty="0">
                <a:solidFill>
                  <a:srgbClr val="FF0000"/>
                </a:solidFill>
                <a:latin typeface="Arial MT"/>
                <a:cs typeface="Arial MT"/>
              </a:rPr>
              <a:t> 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manuscript,</a:t>
            </a:r>
            <a:r>
              <a:rPr sz="2000" spc="120" dirty="0">
                <a:solidFill>
                  <a:srgbClr val="FF0000"/>
                </a:solidFill>
                <a:latin typeface="Arial MT"/>
                <a:cs typeface="Arial MT"/>
              </a:rPr>
              <a:t> 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printed</a:t>
            </a:r>
            <a:r>
              <a:rPr sz="2000" spc="120" dirty="0">
                <a:solidFill>
                  <a:srgbClr val="FF0000"/>
                </a:solidFill>
                <a:latin typeface="Arial MT"/>
                <a:cs typeface="Arial MT"/>
              </a:rPr>
              <a:t> 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or</a:t>
            </a:r>
            <a:r>
              <a:rPr sz="2000" spc="120" dirty="0">
                <a:solidFill>
                  <a:srgbClr val="FF0000"/>
                </a:solidFill>
                <a:latin typeface="Arial MT"/>
                <a:cs typeface="Arial MT"/>
              </a:rPr>
              <a:t> 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electronic</a:t>
            </a:r>
            <a:r>
              <a:rPr sz="2000" spc="120" dirty="0">
                <a:solidFill>
                  <a:srgbClr val="FF0000"/>
                </a:solidFill>
                <a:latin typeface="Arial MT"/>
                <a:cs typeface="Arial MT"/>
              </a:rPr>
              <a:t> 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form,</a:t>
            </a:r>
            <a:r>
              <a:rPr sz="2000" spc="120" dirty="0">
                <a:solidFill>
                  <a:srgbClr val="FF0000"/>
                </a:solidFill>
                <a:latin typeface="Arial MT"/>
                <a:cs typeface="Arial MT"/>
              </a:rPr>
              <a:t>  </a:t>
            </a:r>
            <a:r>
              <a:rPr sz="2000" spc="-25" dirty="0">
                <a:solidFill>
                  <a:srgbClr val="FF0000"/>
                </a:solidFill>
                <a:latin typeface="Arial MT"/>
                <a:cs typeface="Arial MT"/>
              </a:rPr>
              <a:t>is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covered</a:t>
            </a:r>
            <a:r>
              <a:rPr sz="20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under</a:t>
            </a:r>
            <a:r>
              <a:rPr sz="20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this</a:t>
            </a:r>
            <a:r>
              <a:rPr sz="20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 MT"/>
                <a:cs typeface="Arial MT"/>
              </a:rPr>
              <a:t>definition.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5947" y="1537885"/>
            <a:ext cx="10639425" cy="253936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675"/>
              </a:spcBef>
              <a:buChar char="•"/>
              <a:tabLst>
                <a:tab pos="301625" algn="l"/>
              </a:tabLst>
            </a:pPr>
            <a:r>
              <a:rPr sz="2800" dirty="0">
                <a:latin typeface="Arial MT"/>
                <a:cs typeface="Arial MT"/>
              </a:rPr>
              <a:t>Project</a:t>
            </a:r>
            <a:r>
              <a:rPr sz="2800" spc="-12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Paper</a:t>
            </a:r>
            <a:endParaRPr sz="2800">
              <a:latin typeface="Arial MT"/>
              <a:cs typeface="Arial MT"/>
            </a:endParaRPr>
          </a:p>
          <a:p>
            <a:pPr marL="701675" lvl="1" indent="-302260">
              <a:lnSpc>
                <a:spcPct val="100000"/>
              </a:lnSpc>
              <a:spcBef>
                <a:spcPts val="500"/>
              </a:spcBef>
              <a:buChar char="–"/>
              <a:tabLst>
                <a:tab pos="701675" algn="l"/>
              </a:tabLst>
            </a:pPr>
            <a:r>
              <a:rPr sz="2400" dirty="0">
                <a:latin typeface="Arial MT"/>
                <a:cs typeface="Arial MT"/>
              </a:rPr>
              <a:t>Plagiarism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paper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will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checked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via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Turnitin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software</a:t>
            </a:r>
            <a:endParaRPr sz="2400">
              <a:latin typeface="Arial MT"/>
              <a:cs typeface="Arial MT"/>
            </a:endParaRPr>
          </a:p>
          <a:p>
            <a:pPr marL="702310" marR="5080" lvl="1" indent="-302895">
              <a:lnSpc>
                <a:spcPct val="100000"/>
              </a:lnSpc>
              <a:spcBef>
                <a:spcPts val="480"/>
              </a:spcBef>
              <a:buChar char="–"/>
              <a:tabLst>
                <a:tab pos="702310" algn="l"/>
              </a:tabLst>
            </a:pPr>
            <a:r>
              <a:rPr sz="2400" dirty="0">
                <a:latin typeface="Arial MT"/>
                <a:cs typeface="Arial MT"/>
              </a:rPr>
              <a:t>Any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paper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score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greater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20%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will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considered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plagiarized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and </a:t>
            </a:r>
            <a:r>
              <a:rPr sz="2400" dirty="0">
                <a:latin typeface="Arial MT"/>
                <a:cs typeface="Arial MT"/>
              </a:rPr>
              <a:t>ZERO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marks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will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awarded.</a:t>
            </a:r>
            <a:endParaRPr sz="2400">
              <a:latin typeface="Arial MT"/>
              <a:cs typeface="Arial MT"/>
            </a:endParaRPr>
          </a:p>
          <a:p>
            <a:pPr marL="702310" marR="706755" lvl="1" indent="-302895">
              <a:lnSpc>
                <a:spcPct val="100000"/>
              </a:lnSpc>
              <a:spcBef>
                <a:spcPts val="480"/>
              </a:spcBef>
              <a:buChar char="–"/>
              <a:tabLst>
                <a:tab pos="702310" algn="l"/>
              </a:tabLst>
            </a:pPr>
            <a:r>
              <a:rPr sz="2400" dirty="0">
                <a:latin typeface="Arial MT"/>
                <a:cs typeface="Arial MT"/>
              </a:rPr>
              <a:t>Content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will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also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checked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1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AI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Generated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plagiarism,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must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not </a:t>
            </a:r>
            <a:r>
              <a:rPr sz="2400" dirty="0">
                <a:latin typeface="Arial MT"/>
                <a:cs typeface="Arial MT"/>
              </a:rPr>
              <a:t>exceed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20%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too.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2E913683-A269-4D0D-A6D0-B0CA7B4645A9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12" rIns="0" bIns="0" rtlCol="0">
            <a:spAutoFit/>
          </a:bodyPr>
          <a:lstStyle/>
          <a:p>
            <a:pPr marL="94043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Course</a:t>
            </a:r>
            <a:r>
              <a:rPr b="1" spc="-4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Plagiarism</a:t>
            </a:r>
            <a:r>
              <a:rPr b="1" spc="-4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Policy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3580" y="1570330"/>
            <a:ext cx="10170795" cy="3933128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294640" marR="1291590" indent="-281940">
              <a:lnSpc>
                <a:spcPts val="3460"/>
              </a:lnSpc>
              <a:spcBef>
                <a:spcPts val="530"/>
              </a:spcBef>
              <a:buChar char="•"/>
              <a:tabLst>
                <a:tab pos="294640" algn="l"/>
              </a:tabLst>
            </a:pPr>
            <a:r>
              <a:rPr sz="3200" dirty="0">
                <a:latin typeface="Arial MT"/>
                <a:cs typeface="Arial MT"/>
              </a:rPr>
              <a:t>Retake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missed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assessment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items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is</a:t>
            </a:r>
            <a:r>
              <a:rPr sz="32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NOT</a:t>
            </a:r>
            <a:r>
              <a:rPr sz="3200" spc="-8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Arial MT"/>
                <a:cs typeface="Arial MT"/>
              </a:rPr>
              <a:t>allowed</a:t>
            </a:r>
            <a:r>
              <a:rPr sz="3200" spc="-10" dirty="0">
                <a:latin typeface="Arial MT"/>
                <a:cs typeface="Arial MT"/>
              </a:rPr>
              <a:t>.</a:t>
            </a:r>
            <a:endParaRPr sz="3200" dirty="0">
              <a:latin typeface="Arial MT"/>
              <a:cs typeface="Arial MT"/>
            </a:endParaRPr>
          </a:p>
          <a:p>
            <a:pPr marL="294640" marR="456565" indent="-281940">
              <a:lnSpc>
                <a:spcPts val="3460"/>
              </a:lnSpc>
              <a:spcBef>
                <a:spcPts val="390"/>
              </a:spcBef>
              <a:buChar char="•"/>
              <a:tabLst>
                <a:tab pos="294640" algn="l"/>
              </a:tabLst>
            </a:pPr>
            <a:r>
              <a:rPr sz="3200" dirty="0">
                <a:latin typeface="Arial MT"/>
                <a:cs typeface="Arial MT"/>
              </a:rPr>
              <a:t>Missed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assessment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item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will</a:t>
            </a:r>
            <a:r>
              <a:rPr sz="32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earn</a:t>
            </a:r>
            <a:r>
              <a:rPr sz="320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zero</a:t>
            </a:r>
            <a:r>
              <a:rPr sz="32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Arial MT"/>
                <a:cs typeface="Arial MT"/>
              </a:rPr>
              <a:t>marks</a:t>
            </a:r>
            <a:endParaRPr sz="3200" dirty="0">
              <a:latin typeface="Arial MT"/>
              <a:cs typeface="Arial MT"/>
            </a:endParaRPr>
          </a:p>
          <a:p>
            <a:pPr marL="294640" marR="450850" indent="-281940">
              <a:lnSpc>
                <a:spcPts val="3460"/>
              </a:lnSpc>
              <a:spcBef>
                <a:spcPts val="395"/>
              </a:spcBef>
              <a:buChar char="•"/>
              <a:tabLst>
                <a:tab pos="294640" algn="l"/>
              </a:tabLst>
            </a:pPr>
            <a:r>
              <a:rPr sz="3200" dirty="0">
                <a:latin typeface="Arial MT"/>
                <a:cs typeface="Arial MT"/>
              </a:rPr>
              <a:t>Late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submission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will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NOT</a:t>
            </a:r>
            <a:r>
              <a:rPr sz="32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be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accepted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(</a:t>
            </a:r>
            <a:r>
              <a:rPr sz="3200" dirty="0">
                <a:solidFill>
                  <a:srgbClr val="00B0F0"/>
                </a:solidFill>
                <a:latin typeface="Arial MT"/>
                <a:cs typeface="Arial MT"/>
              </a:rPr>
              <a:t>Even</a:t>
            </a:r>
            <a:r>
              <a:rPr sz="3200" spc="-30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0B0F0"/>
                </a:solidFill>
                <a:latin typeface="Arial MT"/>
                <a:cs typeface="Arial MT"/>
              </a:rPr>
              <a:t>by</a:t>
            </a:r>
            <a:r>
              <a:rPr sz="3200" spc="-25" dirty="0">
                <a:solidFill>
                  <a:srgbClr val="00B0F0"/>
                </a:solidFill>
                <a:latin typeface="Arial MT"/>
                <a:cs typeface="Arial MT"/>
              </a:rPr>
              <a:t> one </a:t>
            </a:r>
            <a:r>
              <a:rPr sz="3200" spc="-10" dirty="0">
                <a:solidFill>
                  <a:srgbClr val="00B0F0"/>
                </a:solidFill>
                <a:latin typeface="Arial MT"/>
                <a:cs typeface="Arial MT"/>
              </a:rPr>
              <a:t>second</a:t>
            </a:r>
            <a:r>
              <a:rPr sz="3200" spc="-10" dirty="0">
                <a:latin typeface="Arial MT"/>
                <a:cs typeface="Arial MT"/>
              </a:rPr>
              <a:t>).</a:t>
            </a:r>
            <a:endParaRPr sz="3200" dirty="0">
              <a:latin typeface="Arial MT"/>
              <a:cs typeface="Arial MT"/>
            </a:endParaRPr>
          </a:p>
          <a:p>
            <a:pPr marL="294640" marR="5080" indent="-281940">
              <a:lnSpc>
                <a:spcPts val="3460"/>
              </a:lnSpc>
              <a:spcBef>
                <a:spcPts val="830"/>
              </a:spcBef>
              <a:buChar char="•"/>
              <a:tabLst>
                <a:tab pos="294640" algn="l"/>
              </a:tabLst>
            </a:pPr>
            <a:r>
              <a:rPr sz="3200" dirty="0">
                <a:latin typeface="Arial MT"/>
                <a:cs typeface="Arial MT"/>
              </a:rPr>
              <a:t>For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missed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sessional/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final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exam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due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procedure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will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be </a:t>
            </a:r>
            <a:r>
              <a:rPr sz="3200" spc="-10" dirty="0">
                <a:latin typeface="Arial MT"/>
                <a:cs typeface="Arial MT"/>
              </a:rPr>
              <a:t>followed.</a:t>
            </a:r>
            <a:endParaRPr sz="3200" dirty="0">
              <a:latin typeface="Arial MT"/>
              <a:cs typeface="Arial MT"/>
            </a:endParaRPr>
          </a:p>
          <a:p>
            <a:pPr marL="294005" indent="-281305">
              <a:lnSpc>
                <a:spcPct val="100000"/>
              </a:lnSpc>
              <a:spcBef>
                <a:spcPts val="200"/>
              </a:spcBef>
              <a:buChar char="•"/>
              <a:tabLst>
                <a:tab pos="294005" algn="l"/>
              </a:tabLst>
            </a:pP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No</a:t>
            </a:r>
            <a:r>
              <a:rPr sz="32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change</a:t>
            </a:r>
            <a:r>
              <a:rPr sz="32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is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any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deadline</a:t>
            </a:r>
            <a:endParaRPr sz="32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DBCA0D97-2A20-4ECB-9539-5EAEA6C9BDE2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12" rIns="0" bIns="0" rtlCol="0">
            <a:spAutoFit/>
          </a:bodyPr>
          <a:lstStyle/>
          <a:p>
            <a:pPr marL="1664970">
              <a:lnSpc>
                <a:spcPct val="100000"/>
              </a:lnSpc>
              <a:spcBef>
                <a:spcPts val="100"/>
              </a:spcBef>
            </a:pPr>
            <a:r>
              <a:rPr dirty="0"/>
              <a:t>Missed</a:t>
            </a:r>
            <a:r>
              <a:rPr spc="-240" dirty="0"/>
              <a:t> </a:t>
            </a:r>
            <a:r>
              <a:rPr spc="-10" dirty="0"/>
              <a:t>Assessment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3580" y="1528065"/>
            <a:ext cx="10558780" cy="433324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94005" indent="-281305">
              <a:lnSpc>
                <a:spcPct val="100000"/>
              </a:lnSpc>
              <a:spcBef>
                <a:spcPts val="740"/>
              </a:spcBef>
              <a:buChar char="•"/>
              <a:tabLst>
                <a:tab pos="294005" algn="l"/>
              </a:tabLst>
            </a:pPr>
            <a:r>
              <a:rPr sz="3200" dirty="0">
                <a:latin typeface="Arial MT"/>
                <a:cs typeface="Arial MT"/>
              </a:rPr>
              <a:t>Students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are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supposed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have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100%</a:t>
            </a:r>
            <a:r>
              <a:rPr sz="32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Arial MT"/>
                <a:cs typeface="Arial MT"/>
              </a:rPr>
              <a:t>attendance</a:t>
            </a:r>
            <a:r>
              <a:rPr sz="3200" spc="-10" dirty="0">
                <a:latin typeface="Arial MT"/>
                <a:cs typeface="Arial MT"/>
              </a:rPr>
              <a:t>.</a:t>
            </a:r>
            <a:endParaRPr sz="3200">
              <a:latin typeface="Arial MT"/>
              <a:cs typeface="Arial MT"/>
            </a:endParaRPr>
          </a:p>
          <a:p>
            <a:pPr marL="294640" marR="53975" indent="-281940">
              <a:lnSpc>
                <a:spcPct val="100000"/>
              </a:lnSpc>
              <a:spcBef>
                <a:spcPts val="640"/>
              </a:spcBef>
              <a:buChar char="•"/>
              <a:tabLst>
                <a:tab pos="294640" algn="l"/>
              </a:tabLst>
            </a:pP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minimum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attendance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requirement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at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all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levels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in </a:t>
            </a:r>
            <a:r>
              <a:rPr sz="3200" dirty="0">
                <a:latin typeface="Arial MT"/>
                <a:cs typeface="Arial MT"/>
              </a:rPr>
              <a:t>all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courses</a:t>
            </a:r>
            <a:r>
              <a:rPr sz="32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is</a:t>
            </a:r>
            <a:r>
              <a:rPr sz="32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spc="-20" dirty="0">
                <a:solidFill>
                  <a:srgbClr val="FF0000"/>
                </a:solidFill>
                <a:latin typeface="Arial MT"/>
                <a:cs typeface="Arial MT"/>
              </a:rPr>
              <a:t>80%.</a:t>
            </a:r>
            <a:endParaRPr sz="3200">
              <a:latin typeface="Arial MT"/>
              <a:cs typeface="Arial MT"/>
            </a:endParaRPr>
          </a:p>
          <a:p>
            <a:pPr marL="294640" marR="5080" indent="-281940">
              <a:lnSpc>
                <a:spcPct val="100000"/>
              </a:lnSpc>
              <a:spcBef>
                <a:spcPts val="640"/>
              </a:spcBef>
              <a:buChar char="•"/>
              <a:tabLst>
                <a:tab pos="294640" algn="l"/>
              </a:tabLst>
            </a:pP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relaxation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20%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attendance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has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been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given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only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to </a:t>
            </a:r>
            <a:r>
              <a:rPr sz="3200" dirty="0">
                <a:latin typeface="Arial MT"/>
                <a:cs typeface="Arial MT"/>
              </a:rPr>
              <a:t>cover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any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planned</a:t>
            </a:r>
            <a:r>
              <a:rPr sz="32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events</a:t>
            </a:r>
            <a:r>
              <a:rPr sz="32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or</a:t>
            </a:r>
            <a:r>
              <a:rPr sz="32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unforeseen</a:t>
            </a:r>
            <a:r>
              <a:rPr sz="32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Arial MT"/>
                <a:cs typeface="Arial MT"/>
              </a:rPr>
              <a:t>situations</a:t>
            </a:r>
            <a:r>
              <a:rPr sz="3200" spc="-10" dirty="0">
                <a:latin typeface="Arial MT"/>
                <a:cs typeface="Arial MT"/>
              </a:rPr>
              <a:t>.</a:t>
            </a:r>
            <a:endParaRPr sz="3200">
              <a:latin typeface="Arial MT"/>
              <a:cs typeface="Arial MT"/>
            </a:endParaRPr>
          </a:p>
          <a:p>
            <a:pPr marL="294640" marR="821690" indent="-281940">
              <a:lnSpc>
                <a:spcPct val="100000"/>
              </a:lnSpc>
              <a:spcBef>
                <a:spcPts val="640"/>
              </a:spcBef>
              <a:buChar char="•"/>
              <a:tabLst>
                <a:tab pos="294640" algn="l"/>
              </a:tabLst>
            </a:pPr>
            <a:r>
              <a:rPr sz="3200" dirty="0">
                <a:latin typeface="Arial MT"/>
                <a:cs typeface="Arial MT"/>
              </a:rPr>
              <a:t>I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will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take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attendance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at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0B0F0"/>
                </a:solidFill>
                <a:latin typeface="Arial MT"/>
                <a:cs typeface="Arial MT"/>
              </a:rPr>
              <a:t>start</a:t>
            </a:r>
            <a:r>
              <a:rPr sz="3200" spc="-30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0B0F0"/>
                </a:solidFill>
                <a:latin typeface="Arial MT"/>
                <a:cs typeface="Arial MT"/>
              </a:rPr>
              <a:t>of</a:t>
            </a:r>
            <a:r>
              <a:rPr sz="3200" spc="-35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0B0F0"/>
                </a:solidFill>
                <a:latin typeface="Arial MT"/>
                <a:cs typeface="Arial MT"/>
              </a:rPr>
              <a:t>lecture,</a:t>
            </a:r>
            <a:r>
              <a:rPr sz="3200" spc="-30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0B0F0"/>
                </a:solidFill>
                <a:latin typeface="Arial MT"/>
                <a:cs typeface="Arial MT"/>
              </a:rPr>
              <a:t>within</a:t>
            </a:r>
            <a:r>
              <a:rPr sz="3200" spc="-25" dirty="0">
                <a:solidFill>
                  <a:srgbClr val="00B0F0"/>
                </a:solidFill>
                <a:latin typeface="Arial MT"/>
                <a:cs typeface="Arial MT"/>
              </a:rPr>
              <a:t> 10 </a:t>
            </a:r>
            <a:r>
              <a:rPr sz="3200" spc="-10" dirty="0">
                <a:solidFill>
                  <a:srgbClr val="00B0F0"/>
                </a:solidFill>
                <a:latin typeface="Arial MT"/>
                <a:cs typeface="Arial MT"/>
              </a:rPr>
              <a:t>minutes</a:t>
            </a:r>
            <a:r>
              <a:rPr sz="3200" spc="-10" dirty="0">
                <a:solidFill>
                  <a:srgbClr val="FF0000"/>
                </a:solidFill>
                <a:latin typeface="Arial MT"/>
                <a:cs typeface="Arial MT"/>
              </a:rPr>
              <a:t>.</a:t>
            </a:r>
            <a:endParaRPr sz="3200">
              <a:latin typeface="Arial MT"/>
              <a:cs typeface="Arial MT"/>
            </a:endParaRPr>
          </a:p>
          <a:p>
            <a:pPr marL="294005" indent="-281305">
              <a:lnSpc>
                <a:spcPct val="100000"/>
              </a:lnSpc>
              <a:spcBef>
                <a:spcPts val="640"/>
              </a:spcBef>
              <a:buChar char="•"/>
              <a:tabLst>
                <a:tab pos="294005" algn="l"/>
              </a:tabLst>
            </a:pPr>
            <a:r>
              <a:rPr sz="3200" dirty="0">
                <a:latin typeface="Arial MT"/>
                <a:cs typeface="Arial MT"/>
              </a:rPr>
              <a:t>Beyond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15</a:t>
            </a:r>
            <a:r>
              <a:rPr sz="32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minutes</a:t>
            </a:r>
            <a:r>
              <a:rPr sz="3200" dirty="0">
                <a:latin typeface="Arial MT"/>
                <a:cs typeface="Arial MT"/>
              </a:rPr>
              <a:t>,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you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will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be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marked</a:t>
            </a:r>
            <a:r>
              <a:rPr sz="3200" spc="-10" dirty="0"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Arial MT"/>
                <a:cs typeface="Arial MT"/>
              </a:rPr>
              <a:t>ABSENT</a:t>
            </a:r>
            <a:r>
              <a:rPr sz="3200" spc="-10" dirty="0">
                <a:latin typeface="Arial MT"/>
                <a:cs typeface="Arial MT"/>
              </a:rPr>
              <a:t>.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C7E8ABBF-3CE6-4296-BA93-5D90BFFDB09F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12" rIns="0" bIns="0" rtlCol="0">
            <a:spAutoFit/>
          </a:bodyPr>
          <a:lstStyle/>
          <a:p>
            <a:pPr marL="1880235">
              <a:lnSpc>
                <a:spcPct val="100000"/>
              </a:lnSpc>
              <a:spcBef>
                <a:spcPts val="100"/>
              </a:spcBef>
            </a:pPr>
            <a:r>
              <a:rPr dirty="0"/>
              <a:t>Attendance</a:t>
            </a:r>
            <a:r>
              <a:rPr spc="-50" dirty="0"/>
              <a:t> </a:t>
            </a:r>
            <a:r>
              <a:rPr spc="-10" dirty="0"/>
              <a:t>policy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1160" y="1510648"/>
            <a:ext cx="8392160" cy="450342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860"/>
              </a:spcBef>
              <a:buChar char="•"/>
              <a:tabLst>
                <a:tab pos="286385" algn="l"/>
              </a:tabLst>
            </a:pPr>
            <a:r>
              <a:rPr sz="3600" dirty="0">
                <a:latin typeface="Arial MT"/>
                <a:cs typeface="Arial MT"/>
              </a:rPr>
              <a:t>Mobile</a:t>
            </a:r>
            <a:r>
              <a:rPr sz="3600" spc="-30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Usage</a:t>
            </a:r>
            <a:endParaRPr sz="3600">
              <a:latin typeface="Arial MT"/>
              <a:cs typeface="Arial MT"/>
            </a:endParaRPr>
          </a:p>
          <a:p>
            <a:pPr marL="685800" lvl="1" indent="-304800">
              <a:lnSpc>
                <a:spcPct val="100000"/>
              </a:lnSpc>
              <a:spcBef>
                <a:spcPts val="590"/>
              </a:spcBef>
              <a:buChar char="–"/>
              <a:tabLst>
                <a:tab pos="685800" algn="l"/>
              </a:tabLst>
            </a:pPr>
            <a:r>
              <a:rPr sz="2800" dirty="0">
                <a:latin typeface="Arial MT"/>
                <a:cs typeface="Arial MT"/>
              </a:rPr>
              <a:t>Use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mobile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phones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should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avoided.</a:t>
            </a:r>
            <a:endParaRPr sz="2800">
              <a:latin typeface="Arial MT"/>
              <a:cs typeface="Arial MT"/>
            </a:endParaRPr>
          </a:p>
          <a:p>
            <a:pPr marL="685800" lvl="1" indent="-304800">
              <a:lnSpc>
                <a:spcPct val="100000"/>
              </a:lnSpc>
              <a:spcBef>
                <a:spcPts val="560"/>
              </a:spcBef>
              <a:buChar char="–"/>
              <a:tabLst>
                <a:tab pos="685800" algn="l"/>
              </a:tabLst>
            </a:pPr>
            <a:r>
              <a:rPr sz="2800" spc="-55" dirty="0">
                <a:latin typeface="Arial MT"/>
                <a:cs typeface="Arial MT"/>
              </a:rPr>
              <a:t>You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can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leave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class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case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emergency</a:t>
            </a:r>
            <a:endParaRPr sz="2800">
              <a:latin typeface="Arial MT"/>
              <a:cs typeface="Arial MT"/>
            </a:endParaRPr>
          </a:p>
          <a:p>
            <a:pPr marL="286385" indent="-273685">
              <a:lnSpc>
                <a:spcPct val="100000"/>
              </a:lnSpc>
              <a:spcBef>
                <a:spcPts val="690"/>
              </a:spcBef>
              <a:buChar char="•"/>
              <a:tabLst>
                <a:tab pos="286385" algn="l"/>
              </a:tabLst>
            </a:pPr>
            <a:r>
              <a:rPr sz="3600" spc="-10" dirty="0">
                <a:latin typeface="Arial MT"/>
                <a:cs typeface="Arial MT"/>
              </a:rPr>
              <a:t>Discussion</a:t>
            </a:r>
            <a:endParaRPr sz="3600">
              <a:latin typeface="Arial MT"/>
              <a:cs typeface="Arial MT"/>
            </a:endParaRPr>
          </a:p>
          <a:p>
            <a:pPr marL="686435" lvl="1" indent="-307975">
              <a:lnSpc>
                <a:spcPct val="100000"/>
              </a:lnSpc>
              <a:spcBef>
                <a:spcPts val="655"/>
              </a:spcBef>
              <a:buChar char="–"/>
              <a:tabLst>
                <a:tab pos="686435" algn="l"/>
              </a:tabLst>
            </a:pPr>
            <a:r>
              <a:rPr sz="3200" dirty="0">
                <a:solidFill>
                  <a:srgbClr val="0070C0"/>
                </a:solidFill>
                <a:latin typeface="Arial MT"/>
                <a:cs typeface="Arial MT"/>
              </a:rPr>
              <a:t>Class</a:t>
            </a:r>
            <a:r>
              <a:rPr sz="3200" spc="-30" dirty="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070C0"/>
                </a:solidFill>
                <a:latin typeface="Arial MT"/>
                <a:cs typeface="Arial MT"/>
              </a:rPr>
              <a:t>participation</a:t>
            </a:r>
            <a:r>
              <a:rPr sz="3200" spc="-25" dirty="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070C0"/>
                </a:solidFill>
                <a:latin typeface="Arial MT"/>
                <a:cs typeface="Arial MT"/>
              </a:rPr>
              <a:t>is</a:t>
            </a:r>
            <a:r>
              <a:rPr sz="3200" spc="-25" dirty="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0070C0"/>
                </a:solidFill>
                <a:latin typeface="Arial MT"/>
                <a:cs typeface="Arial MT"/>
              </a:rPr>
              <a:t>highly</a:t>
            </a:r>
            <a:r>
              <a:rPr sz="3200" spc="-25" dirty="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0070C0"/>
                </a:solidFill>
                <a:latin typeface="Arial MT"/>
                <a:cs typeface="Arial MT"/>
              </a:rPr>
              <a:t>appreciated</a:t>
            </a:r>
            <a:endParaRPr sz="3200">
              <a:latin typeface="Arial MT"/>
              <a:cs typeface="Arial MT"/>
            </a:endParaRPr>
          </a:p>
          <a:p>
            <a:pPr marL="687070" marR="235585" lvl="1" indent="-308610">
              <a:lnSpc>
                <a:spcPct val="100000"/>
              </a:lnSpc>
              <a:spcBef>
                <a:spcPts val="640"/>
              </a:spcBef>
              <a:buChar char="–"/>
              <a:tabLst>
                <a:tab pos="687070" algn="l"/>
              </a:tabLst>
            </a:pPr>
            <a:r>
              <a:rPr sz="3200" spc="-60" dirty="0">
                <a:latin typeface="Arial MT"/>
                <a:cs typeface="Arial MT"/>
              </a:rPr>
              <a:t>You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can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ask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questions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class(</a:t>
            </a:r>
            <a:r>
              <a:rPr sz="3200" spc="-10" dirty="0">
                <a:solidFill>
                  <a:srgbClr val="00B050"/>
                </a:solidFill>
                <a:latin typeface="Arial MT"/>
                <a:cs typeface="Arial MT"/>
              </a:rPr>
              <a:t>Highly Appreciated</a:t>
            </a:r>
            <a:r>
              <a:rPr sz="3200" spc="-10" dirty="0">
                <a:latin typeface="Arial MT"/>
                <a:cs typeface="Arial MT"/>
              </a:rPr>
              <a:t>)</a:t>
            </a:r>
            <a:endParaRPr sz="3200">
              <a:latin typeface="Arial MT"/>
              <a:cs typeface="Arial MT"/>
            </a:endParaRPr>
          </a:p>
          <a:p>
            <a:pPr marL="686435" lvl="1" indent="-307975">
              <a:lnSpc>
                <a:spcPct val="100000"/>
              </a:lnSpc>
              <a:spcBef>
                <a:spcPts val="640"/>
              </a:spcBef>
              <a:buChar char="–"/>
              <a:tabLst>
                <a:tab pos="686435" algn="l"/>
              </a:tabLst>
            </a:pP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Discussion</a:t>
            </a:r>
            <a:r>
              <a:rPr sz="32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among</a:t>
            </a:r>
            <a:r>
              <a:rPr sz="32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students</a:t>
            </a:r>
            <a:r>
              <a:rPr sz="32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is</a:t>
            </a:r>
            <a:r>
              <a:rPr sz="32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not</a:t>
            </a:r>
            <a:r>
              <a:rPr sz="320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Arial MT"/>
                <a:cs typeface="Arial MT"/>
              </a:rPr>
              <a:t>allowed.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12" rIns="0" bIns="0" rtlCol="0">
            <a:spAutoFit/>
          </a:bodyPr>
          <a:lstStyle/>
          <a:p>
            <a:pPr marL="1423035">
              <a:lnSpc>
                <a:spcPct val="100000"/>
              </a:lnSpc>
              <a:spcBef>
                <a:spcPts val="100"/>
              </a:spcBef>
            </a:pPr>
            <a:r>
              <a:rPr dirty="0"/>
              <a:t>Student</a:t>
            </a:r>
            <a:r>
              <a:rPr spc="-40" dirty="0"/>
              <a:t> </a:t>
            </a:r>
            <a:r>
              <a:rPr spc="-10" dirty="0"/>
              <a:t>Responsibility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53597" y="1447801"/>
            <a:ext cx="1515299" cy="150146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30211" y="4081463"/>
            <a:ext cx="1362074" cy="174307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AC505D29-A195-47DD-9F63-C286A4A7D6A7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12" rIns="0" bIns="0" rtlCol="0">
            <a:spAutoFit/>
          </a:bodyPr>
          <a:lstStyle/>
          <a:p>
            <a:pPr marL="1614170">
              <a:lnSpc>
                <a:spcPct val="100000"/>
              </a:lnSpc>
              <a:spcBef>
                <a:spcPts val="100"/>
              </a:spcBef>
            </a:pPr>
            <a:r>
              <a:rPr dirty="0"/>
              <a:t>Goals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this</a:t>
            </a:r>
            <a:r>
              <a:rPr spc="-5" dirty="0"/>
              <a:t> </a:t>
            </a:r>
            <a:r>
              <a:rPr spc="-10" dirty="0"/>
              <a:t>Course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AD6DFEC6-80D7-4857-B877-95A5C95FB5F7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35947" y="1611376"/>
            <a:ext cx="10391140" cy="3723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2260" marR="1325880" indent="-290195">
              <a:lnSpc>
                <a:spcPct val="100000"/>
              </a:lnSpc>
              <a:spcBef>
                <a:spcPts val="100"/>
              </a:spcBef>
              <a:buChar char="•"/>
              <a:tabLst>
                <a:tab pos="302260" algn="l"/>
              </a:tabLst>
            </a:pPr>
            <a:r>
              <a:rPr sz="2800" dirty="0">
                <a:latin typeface="Arial MT"/>
                <a:cs typeface="Arial MT"/>
              </a:rPr>
              <a:t>This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course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designed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gain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theoretical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B050"/>
                </a:solidFill>
                <a:latin typeface="Arial MT"/>
                <a:cs typeface="Arial MT"/>
              </a:rPr>
              <a:t>practical </a:t>
            </a:r>
            <a:r>
              <a:rPr sz="2800" dirty="0">
                <a:solidFill>
                  <a:srgbClr val="00B050"/>
                </a:solidFill>
                <a:latin typeface="Arial MT"/>
                <a:cs typeface="Arial MT"/>
              </a:rPr>
              <a:t>knowledge</a:t>
            </a:r>
            <a:r>
              <a:rPr sz="2800" spc="-135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B050"/>
                </a:solidFill>
                <a:latin typeface="Arial MT"/>
                <a:cs typeface="Arial MT"/>
              </a:rPr>
              <a:t>of</a:t>
            </a:r>
            <a:r>
              <a:rPr sz="2800" spc="-135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B050"/>
                </a:solidFill>
                <a:latin typeface="Arial MT"/>
                <a:cs typeface="Arial MT"/>
              </a:rPr>
              <a:t>Generative</a:t>
            </a:r>
            <a:r>
              <a:rPr sz="2800" spc="-130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B050"/>
                </a:solidFill>
                <a:latin typeface="Arial MT"/>
                <a:cs typeface="Arial MT"/>
              </a:rPr>
              <a:t>Models.</a:t>
            </a:r>
            <a:endParaRPr sz="2800">
              <a:latin typeface="Arial MT"/>
              <a:cs typeface="Arial MT"/>
            </a:endParaRPr>
          </a:p>
          <a:p>
            <a:pPr marL="301625" indent="-288925">
              <a:lnSpc>
                <a:spcPct val="100000"/>
              </a:lnSpc>
              <a:spcBef>
                <a:spcPts val="560"/>
              </a:spcBef>
              <a:buChar char="•"/>
              <a:tabLst>
                <a:tab pos="301625" algn="l"/>
              </a:tabLst>
            </a:pPr>
            <a:r>
              <a:rPr sz="2800" dirty="0">
                <a:latin typeface="Arial MT"/>
                <a:cs typeface="Arial MT"/>
              </a:rPr>
              <a:t>Course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will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cover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some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advanced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level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algorithms.</a:t>
            </a:r>
            <a:endParaRPr sz="2800">
              <a:latin typeface="Arial MT"/>
              <a:cs typeface="Arial MT"/>
            </a:endParaRPr>
          </a:p>
          <a:p>
            <a:pPr marL="302260" marR="5080" indent="-290195">
              <a:lnSpc>
                <a:spcPct val="100000"/>
              </a:lnSpc>
              <a:spcBef>
                <a:spcPts val="560"/>
              </a:spcBef>
              <a:buChar char="•"/>
              <a:tabLst>
                <a:tab pos="302260" algn="l"/>
              </a:tabLst>
            </a:pPr>
            <a:r>
              <a:rPr sz="2800" dirty="0">
                <a:latin typeface="Arial MT"/>
                <a:cs typeface="Arial MT"/>
              </a:rPr>
              <a:t>This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course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about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b="1" spc="-10" dirty="0">
                <a:latin typeface="Arial"/>
                <a:cs typeface="Arial"/>
              </a:rPr>
              <a:t>algorithmic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foundations</a:t>
            </a:r>
            <a:r>
              <a:rPr sz="2800" b="1" spc="-60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generative models.</a:t>
            </a:r>
            <a:endParaRPr sz="2800">
              <a:latin typeface="Arial MT"/>
              <a:cs typeface="Arial MT"/>
            </a:endParaRPr>
          </a:p>
          <a:p>
            <a:pPr marL="302260" marR="793750" indent="-290195">
              <a:lnSpc>
                <a:spcPct val="100000"/>
              </a:lnSpc>
              <a:spcBef>
                <a:spcPts val="560"/>
              </a:spcBef>
              <a:buChar char="•"/>
              <a:tabLst>
                <a:tab pos="302260" algn="l"/>
              </a:tabLst>
            </a:pPr>
            <a:r>
              <a:rPr sz="2800" dirty="0">
                <a:latin typeface="Arial MT"/>
                <a:cs typeface="Arial MT"/>
              </a:rPr>
              <a:t>Explain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b="1" dirty="0">
                <a:latin typeface="Arial"/>
                <a:cs typeface="Arial"/>
              </a:rPr>
              <a:t>principles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why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how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each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generative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modeling </a:t>
            </a:r>
            <a:r>
              <a:rPr sz="2800" dirty="0">
                <a:latin typeface="Arial MT"/>
                <a:cs typeface="Arial MT"/>
              </a:rPr>
              <a:t>algorithm</a:t>
            </a:r>
            <a:r>
              <a:rPr sz="2800" spc="-12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works.</a:t>
            </a:r>
            <a:endParaRPr sz="2800">
              <a:latin typeface="Arial MT"/>
              <a:cs typeface="Arial MT"/>
            </a:endParaRPr>
          </a:p>
          <a:p>
            <a:pPr marL="301625" indent="-288925">
              <a:lnSpc>
                <a:spcPct val="100000"/>
              </a:lnSpc>
              <a:spcBef>
                <a:spcPts val="560"/>
              </a:spcBef>
              <a:buChar char="•"/>
              <a:tabLst>
                <a:tab pos="301625" algn="l"/>
              </a:tabLst>
            </a:pPr>
            <a:r>
              <a:rPr sz="2800" spc="-55" dirty="0">
                <a:latin typeface="Arial MT"/>
                <a:cs typeface="Arial MT"/>
              </a:rPr>
              <a:t>You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will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focusing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implementation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techniques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974" y="1561664"/>
            <a:ext cx="9256395" cy="41008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13690" indent="-300990">
              <a:lnSpc>
                <a:spcPts val="2550"/>
              </a:lnSpc>
              <a:spcBef>
                <a:spcPts val="120"/>
              </a:spcBef>
              <a:buChar char="•"/>
              <a:tabLst>
                <a:tab pos="313690" algn="l"/>
              </a:tabLst>
            </a:pPr>
            <a:r>
              <a:rPr sz="2150" dirty="0">
                <a:latin typeface="Arial MT"/>
                <a:cs typeface="Arial MT"/>
              </a:rPr>
              <a:t>A</a:t>
            </a:r>
            <a:r>
              <a:rPr sz="2150" spc="-13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typical</a:t>
            </a:r>
            <a:r>
              <a:rPr sz="2150" spc="-1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paper</a:t>
            </a:r>
            <a:r>
              <a:rPr sz="2150" spc="-1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must</a:t>
            </a:r>
            <a:r>
              <a:rPr sz="2150" spc="-1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consists</a:t>
            </a:r>
            <a:r>
              <a:rPr sz="2150" spc="-1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of</a:t>
            </a:r>
            <a:r>
              <a:rPr sz="2150" spc="-1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following</a:t>
            </a:r>
            <a:r>
              <a:rPr sz="2150" spc="-1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main</a:t>
            </a:r>
            <a:r>
              <a:rPr sz="2150" spc="-10" dirty="0">
                <a:latin typeface="Arial MT"/>
                <a:cs typeface="Arial MT"/>
              </a:rPr>
              <a:t> section</a:t>
            </a:r>
            <a:endParaRPr sz="2150">
              <a:latin typeface="Arial MT"/>
              <a:cs typeface="Arial MT"/>
            </a:endParaRPr>
          </a:p>
          <a:p>
            <a:pPr marL="713740" lvl="1" indent="-298450">
              <a:lnSpc>
                <a:spcPts val="2155"/>
              </a:lnSpc>
              <a:buChar char="–"/>
              <a:tabLst>
                <a:tab pos="713740" algn="l"/>
              </a:tabLst>
            </a:pPr>
            <a:r>
              <a:rPr sz="1850" spc="-10" dirty="0">
                <a:latin typeface="Arial MT"/>
                <a:cs typeface="Arial MT"/>
              </a:rPr>
              <a:t>Abstract</a:t>
            </a:r>
            <a:endParaRPr sz="1850">
              <a:latin typeface="Arial MT"/>
              <a:cs typeface="Arial MT"/>
            </a:endParaRPr>
          </a:p>
          <a:p>
            <a:pPr marL="1113790" lvl="2" indent="-198755">
              <a:lnSpc>
                <a:spcPts val="1800"/>
              </a:lnSpc>
              <a:buChar char="•"/>
              <a:tabLst>
                <a:tab pos="1113790" algn="l"/>
              </a:tabLst>
            </a:pPr>
            <a:r>
              <a:rPr sz="1550" dirty="0">
                <a:latin typeface="Arial MT"/>
                <a:cs typeface="Arial MT"/>
              </a:rPr>
              <a:t>Should</a:t>
            </a:r>
            <a:r>
              <a:rPr sz="1550" spc="-4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be</a:t>
            </a:r>
            <a:r>
              <a:rPr sz="1550" spc="-4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one</a:t>
            </a:r>
            <a:r>
              <a:rPr sz="1550" spc="-4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paragraph</a:t>
            </a:r>
            <a:r>
              <a:rPr sz="1550" spc="-35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explaining</a:t>
            </a:r>
            <a:r>
              <a:rPr sz="1550" spc="-4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what</a:t>
            </a:r>
            <a:r>
              <a:rPr sz="1550" spc="-4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is</a:t>
            </a:r>
            <a:r>
              <a:rPr sz="1550" spc="-4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being</a:t>
            </a:r>
            <a:r>
              <a:rPr sz="1550" spc="-3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presented</a:t>
            </a:r>
            <a:r>
              <a:rPr sz="1550" spc="-4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in</a:t>
            </a:r>
            <a:r>
              <a:rPr sz="1550" spc="-4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the</a:t>
            </a:r>
            <a:r>
              <a:rPr sz="1550" spc="-40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paper</a:t>
            </a:r>
            <a:endParaRPr sz="1550">
              <a:latin typeface="Arial MT"/>
              <a:cs typeface="Arial MT"/>
            </a:endParaRPr>
          </a:p>
          <a:p>
            <a:pPr marL="713740" lvl="1" indent="-298450">
              <a:lnSpc>
                <a:spcPts val="2160"/>
              </a:lnSpc>
              <a:buChar char="–"/>
              <a:tabLst>
                <a:tab pos="713740" algn="l"/>
              </a:tabLst>
            </a:pPr>
            <a:r>
              <a:rPr sz="1850" spc="-10" dirty="0">
                <a:latin typeface="Arial MT"/>
                <a:cs typeface="Arial MT"/>
              </a:rPr>
              <a:t>Introduction</a:t>
            </a:r>
            <a:endParaRPr sz="1850">
              <a:latin typeface="Arial MT"/>
              <a:cs typeface="Arial MT"/>
            </a:endParaRPr>
          </a:p>
          <a:p>
            <a:pPr marL="1113790" lvl="2" indent="-198755">
              <a:lnSpc>
                <a:spcPts val="1800"/>
              </a:lnSpc>
              <a:buChar char="•"/>
              <a:tabLst>
                <a:tab pos="1113790" algn="l"/>
              </a:tabLst>
            </a:pPr>
            <a:r>
              <a:rPr sz="1550" dirty="0">
                <a:latin typeface="Arial MT"/>
                <a:cs typeface="Arial MT"/>
              </a:rPr>
              <a:t>A</a:t>
            </a:r>
            <a:r>
              <a:rPr sz="1550" spc="-11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short</a:t>
            </a:r>
            <a:r>
              <a:rPr sz="1550" spc="-30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explanation</a:t>
            </a:r>
            <a:r>
              <a:rPr sz="1550" spc="-3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of</a:t>
            </a:r>
            <a:r>
              <a:rPr sz="1550" spc="-2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the</a:t>
            </a:r>
            <a:r>
              <a:rPr sz="1550" spc="-3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problem</a:t>
            </a:r>
            <a:r>
              <a:rPr sz="1550" spc="-3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and</a:t>
            </a:r>
            <a:r>
              <a:rPr sz="1550" spc="-3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reviews</a:t>
            </a:r>
            <a:r>
              <a:rPr sz="1550" spc="-2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of</a:t>
            </a:r>
            <a:r>
              <a:rPr sz="1550" spc="-3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the</a:t>
            </a:r>
            <a:r>
              <a:rPr sz="1550" spc="-3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existing</a:t>
            </a:r>
            <a:r>
              <a:rPr sz="1550" spc="-30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research.</a:t>
            </a:r>
            <a:endParaRPr sz="1550">
              <a:latin typeface="Arial MT"/>
              <a:cs typeface="Arial MT"/>
            </a:endParaRPr>
          </a:p>
          <a:p>
            <a:pPr marL="1113790" lvl="2" indent="-198755">
              <a:lnSpc>
                <a:spcPts val="1800"/>
              </a:lnSpc>
              <a:buChar char="•"/>
              <a:tabLst>
                <a:tab pos="1113790" algn="l"/>
              </a:tabLst>
            </a:pPr>
            <a:r>
              <a:rPr sz="1550" spc="-45" dirty="0">
                <a:latin typeface="Arial MT"/>
                <a:cs typeface="Arial MT"/>
              </a:rPr>
              <a:t>You</a:t>
            </a:r>
            <a:r>
              <a:rPr sz="1550" spc="-3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must</a:t>
            </a:r>
            <a:r>
              <a:rPr sz="1550" spc="-35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download</a:t>
            </a:r>
            <a:r>
              <a:rPr sz="1550" spc="-3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and</a:t>
            </a:r>
            <a:r>
              <a:rPr sz="1550" spc="-3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review</a:t>
            </a:r>
            <a:r>
              <a:rPr sz="1550" spc="-3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at</a:t>
            </a:r>
            <a:r>
              <a:rPr sz="1550" spc="-3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least</a:t>
            </a:r>
            <a:r>
              <a:rPr sz="1550" spc="-35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10-</a:t>
            </a:r>
            <a:r>
              <a:rPr sz="1550" dirty="0">
                <a:latin typeface="Arial MT"/>
                <a:cs typeface="Arial MT"/>
              </a:rPr>
              <a:t>15</a:t>
            </a:r>
            <a:r>
              <a:rPr sz="1550" spc="-3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papers</a:t>
            </a:r>
            <a:r>
              <a:rPr sz="1550" spc="-3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(Journal</a:t>
            </a:r>
            <a:r>
              <a:rPr sz="1550" spc="-3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Papers</a:t>
            </a:r>
            <a:r>
              <a:rPr sz="1550" spc="-3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are</a:t>
            </a:r>
            <a:r>
              <a:rPr sz="1550" spc="-3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highly</a:t>
            </a:r>
            <a:r>
              <a:rPr sz="1550" spc="-35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encouraged)</a:t>
            </a:r>
            <a:endParaRPr sz="1550">
              <a:latin typeface="Arial MT"/>
              <a:cs typeface="Arial MT"/>
            </a:endParaRPr>
          </a:p>
          <a:p>
            <a:pPr marL="713740" lvl="1" indent="-298450">
              <a:lnSpc>
                <a:spcPts val="2160"/>
              </a:lnSpc>
              <a:buChar char="–"/>
              <a:tabLst>
                <a:tab pos="713740" algn="l"/>
              </a:tabLst>
            </a:pPr>
            <a:r>
              <a:rPr sz="1850" dirty="0">
                <a:latin typeface="Arial MT"/>
                <a:cs typeface="Arial MT"/>
              </a:rPr>
              <a:t>Data</a:t>
            </a:r>
            <a:r>
              <a:rPr sz="1850" spc="-15" dirty="0">
                <a:latin typeface="Arial MT"/>
                <a:cs typeface="Arial MT"/>
              </a:rPr>
              <a:t> </a:t>
            </a:r>
            <a:r>
              <a:rPr sz="1850" spc="-25" dirty="0">
                <a:latin typeface="Arial MT"/>
                <a:cs typeface="Arial MT"/>
              </a:rPr>
              <a:t>Set</a:t>
            </a:r>
            <a:endParaRPr sz="1850">
              <a:latin typeface="Arial MT"/>
              <a:cs typeface="Arial MT"/>
            </a:endParaRPr>
          </a:p>
          <a:p>
            <a:pPr marL="1113790" lvl="2" indent="-198755">
              <a:lnSpc>
                <a:spcPts val="1800"/>
              </a:lnSpc>
              <a:buChar char="•"/>
              <a:tabLst>
                <a:tab pos="1113790" algn="l"/>
              </a:tabLst>
            </a:pPr>
            <a:r>
              <a:rPr sz="1550" dirty="0">
                <a:latin typeface="Arial MT"/>
                <a:cs typeface="Arial MT"/>
              </a:rPr>
              <a:t>Which</a:t>
            </a:r>
            <a:r>
              <a:rPr sz="1550" spc="-4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data</a:t>
            </a:r>
            <a:r>
              <a:rPr sz="1550" spc="-3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has</a:t>
            </a:r>
            <a:r>
              <a:rPr sz="1550" spc="-4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been</a:t>
            </a:r>
            <a:r>
              <a:rPr sz="1550" spc="-3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used</a:t>
            </a:r>
            <a:r>
              <a:rPr sz="1550" spc="-4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for</a:t>
            </a:r>
            <a:r>
              <a:rPr sz="1550" spc="-3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this</a:t>
            </a:r>
            <a:r>
              <a:rPr sz="1550" spc="-40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study</a:t>
            </a:r>
            <a:endParaRPr sz="1550">
              <a:latin typeface="Arial MT"/>
              <a:cs typeface="Arial MT"/>
            </a:endParaRPr>
          </a:p>
          <a:p>
            <a:pPr marL="713740" lvl="1" indent="-298450">
              <a:lnSpc>
                <a:spcPts val="2160"/>
              </a:lnSpc>
              <a:buChar char="–"/>
              <a:tabLst>
                <a:tab pos="713740" algn="l"/>
              </a:tabLst>
            </a:pPr>
            <a:r>
              <a:rPr sz="1850" spc="-10" dirty="0">
                <a:solidFill>
                  <a:srgbClr val="00B050"/>
                </a:solidFill>
                <a:latin typeface="Arial MT"/>
                <a:cs typeface="Arial MT"/>
              </a:rPr>
              <a:t>Methodology</a:t>
            </a:r>
            <a:endParaRPr sz="1850">
              <a:latin typeface="Arial MT"/>
              <a:cs typeface="Arial MT"/>
            </a:endParaRPr>
          </a:p>
          <a:p>
            <a:pPr marL="1113790" lvl="2" indent="-198755">
              <a:lnSpc>
                <a:spcPts val="1800"/>
              </a:lnSpc>
              <a:buChar char="•"/>
              <a:tabLst>
                <a:tab pos="1113790" algn="l"/>
              </a:tabLst>
            </a:pPr>
            <a:r>
              <a:rPr sz="1550" dirty="0">
                <a:solidFill>
                  <a:srgbClr val="00B050"/>
                </a:solidFill>
                <a:latin typeface="Arial MT"/>
                <a:cs typeface="Arial MT"/>
              </a:rPr>
              <a:t>What</a:t>
            </a:r>
            <a:r>
              <a:rPr sz="1550" spc="-30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00B050"/>
                </a:solidFill>
                <a:latin typeface="Arial MT"/>
                <a:cs typeface="Arial MT"/>
              </a:rPr>
              <a:t>method(s)</a:t>
            </a:r>
            <a:r>
              <a:rPr sz="1550" spc="-25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00B050"/>
                </a:solidFill>
                <a:latin typeface="Arial MT"/>
                <a:cs typeface="Arial MT"/>
              </a:rPr>
              <a:t>has</a:t>
            </a:r>
            <a:r>
              <a:rPr sz="1550" spc="-30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00B050"/>
                </a:solidFill>
                <a:latin typeface="Arial MT"/>
                <a:cs typeface="Arial MT"/>
              </a:rPr>
              <a:t>been</a:t>
            </a:r>
            <a:r>
              <a:rPr sz="1550" spc="-25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00B050"/>
                </a:solidFill>
                <a:latin typeface="Arial MT"/>
                <a:cs typeface="Arial MT"/>
              </a:rPr>
              <a:t>implemented</a:t>
            </a:r>
            <a:endParaRPr sz="1550">
              <a:latin typeface="Arial MT"/>
              <a:cs typeface="Arial MT"/>
            </a:endParaRPr>
          </a:p>
          <a:p>
            <a:pPr marL="713740" lvl="1" indent="-298450">
              <a:lnSpc>
                <a:spcPts val="2160"/>
              </a:lnSpc>
              <a:buChar char="–"/>
              <a:tabLst>
                <a:tab pos="713740" algn="l"/>
              </a:tabLst>
            </a:pPr>
            <a:r>
              <a:rPr sz="1850" dirty="0">
                <a:solidFill>
                  <a:srgbClr val="0070C0"/>
                </a:solidFill>
                <a:latin typeface="Arial MT"/>
                <a:cs typeface="Arial MT"/>
              </a:rPr>
              <a:t>Experimental</a:t>
            </a:r>
            <a:r>
              <a:rPr sz="1850" spc="-55" dirty="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sz="1850" spc="-10" dirty="0">
                <a:solidFill>
                  <a:srgbClr val="0070C0"/>
                </a:solidFill>
                <a:latin typeface="Arial MT"/>
                <a:cs typeface="Arial MT"/>
              </a:rPr>
              <a:t>Results</a:t>
            </a:r>
            <a:endParaRPr sz="1850">
              <a:latin typeface="Arial MT"/>
              <a:cs typeface="Arial MT"/>
            </a:endParaRPr>
          </a:p>
          <a:p>
            <a:pPr marL="1113790" lvl="2" indent="-198755">
              <a:lnSpc>
                <a:spcPts val="1800"/>
              </a:lnSpc>
              <a:buChar char="•"/>
              <a:tabLst>
                <a:tab pos="1113790" algn="l"/>
              </a:tabLst>
            </a:pPr>
            <a:r>
              <a:rPr sz="1550" spc="-10" dirty="0">
                <a:solidFill>
                  <a:srgbClr val="0070C0"/>
                </a:solidFill>
                <a:latin typeface="Arial MT"/>
                <a:cs typeface="Arial MT"/>
              </a:rPr>
              <a:t>Explanation</a:t>
            </a:r>
            <a:r>
              <a:rPr sz="1550" spc="-40" dirty="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0070C0"/>
                </a:solidFill>
                <a:latin typeface="Arial MT"/>
                <a:cs typeface="Arial MT"/>
              </a:rPr>
              <a:t>of</a:t>
            </a:r>
            <a:r>
              <a:rPr sz="1550" spc="-40" dirty="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0070C0"/>
                </a:solidFill>
                <a:latin typeface="Arial MT"/>
                <a:cs typeface="Arial MT"/>
              </a:rPr>
              <a:t>the</a:t>
            </a:r>
            <a:r>
              <a:rPr sz="1550" spc="-40" dirty="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0070C0"/>
                </a:solidFill>
                <a:latin typeface="Arial MT"/>
                <a:cs typeface="Arial MT"/>
              </a:rPr>
              <a:t>results</a:t>
            </a:r>
            <a:r>
              <a:rPr sz="1550" spc="-40" dirty="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0070C0"/>
                </a:solidFill>
                <a:latin typeface="Arial MT"/>
                <a:cs typeface="Arial MT"/>
              </a:rPr>
              <a:t>obtained.</a:t>
            </a:r>
            <a:r>
              <a:rPr sz="1550" spc="-35" dirty="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0070C0"/>
                </a:solidFill>
                <a:latin typeface="Arial MT"/>
                <a:cs typeface="Arial MT"/>
              </a:rPr>
              <a:t>Should</a:t>
            </a:r>
            <a:r>
              <a:rPr sz="1550" spc="-40" dirty="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0070C0"/>
                </a:solidFill>
                <a:latin typeface="Arial MT"/>
                <a:cs typeface="Arial MT"/>
              </a:rPr>
              <a:t>include</a:t>
            </a:r>
            <a:r>
              <a:rPr sz="1550" spc="-40" dirty="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0070C0"/>
                </a:solidFill>
                <a:latin typeface="Arial MT"/>
                <a:cs typeface="Arial MT"/>
              </a:rPr>
              <a:t>figures,</a:t>
            </a:r>
            <a:r>
              <a:rPr sz="1550" spc="-40" dirty="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0070C0"/>
                </a:solidFill>
                <a:latin typeface="Arial MT"/>
                <a:cs typeface="Arial MT"/>
              </a:rPr>
              <a:t>tables</a:t>
            </a:r>
            <a:r>
              <a:rPr sz="1550" spc="-40" dirty="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sz="1550" spc="-20" dirty="0">
                <a:solidFill>
                  <a:srgbClr val="0070C0"/>
                </a:solidFill>
                <a:latin typeface="Arial MT"/>
                <a:cs typeface="Arial MT"/>
              </a:rPr>
              <a:t>etc.</a:t>
            </a:r>
            <a:endParaRPr sz="1550">
              <a:latin typeface="Arial MT"/>
              <a:cs typeface="Arial MT"/>
            </a:endParaRPr>
          </a:p>
          <a:p>
            <a:pPr marL="713740" lvl="1" indent="-298450">
              <a:lnSpc>
                <a:spcPts val="2160"/>
              </a:lnSpc>
              <a:buChar char="–"/>
              <a:tabLst>
                <a:tab pos="713740" algn="l"/>
              </a:tabLst>
            </a:pPr>
            <a:r>
              <a:rPr sz="1850" spc="-10" dirty="0">
                <a:latin typeface="Arial MT"/>
                <a:cs typeface="Arial MT"/>
              </a:rPr>
              <a:t>Conclusion</a:t>
            </a:r>
            <a:endParaRPr sz="1850">
              <a:latin typeface="Arial MT"/>
              <a:cs typeface="Arial MT"/>
            </a:endParaRPr>
          </a:p>
          <a:p>
            <a:pPr marL="1113790" lvl="2" indent="-198755">
              <a:lnSpc>
                <a:spcPts val="1800"/>
              </a:lnSpc>
              <a:buChar char="•"/>
              <a:tabLst>
                <a:tab pos="1113790" algn="l"/>
              </a:tabLst>
            </a:pPr>
            <a:r>
              <a:rPr sz="1550" dirty="0">
                <a:latin typeface="Arial MT"/>
                <a:cs typeface="Arial MT"/>
              </a:rPr>
              <a:t>Summarize</a:t>
            </a:r>
            <a:r>
              <a:rPr sz="1550" spc="-4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what</a:t>
            </a:r>
            <a:r>
              <a:rPr sz="1550" spc="-4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you</a:t>
            </a:r>
            <a:r>
              <a:rPr sz="1550" spc="-4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did</a:t>
            </a:r>
            <a:r>
              <a:rPr sz="1550" spc="-40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overall</a:t>
            </a:r>
            <a:endParaRPr sz="1550">
              <a:latin typeface="Arial MT"/>
              <a:cs typeface="Arial MT"/>
            </a:endParaRPr>
          </a:p>
          <a:p>
            <a:pPr marL="713740" lvl="1" indent="-298450">
              <a:lnSpc>
                <a:spcPts val="2160"/>
              </a:lnSpc>
              <a:buChar char="–"/>
              <a:tabLst>
                <a:tab pos="713740" algn="l"/>
              </a:tabLst>
            </a:pPr>
            <a:r>
              <a:rPr sz="1850" spc="-10" dirty="0">
                <a:latin typeface="Arial MT"/>
                <a:cs typeface="Arial MT"/>
              </a:rPr>
              <a:t>References</a:t>
            </a:r>
            <a:endParaRPr sz="1850">
              <a:latin typeface="Arial MT"/>
              <a:cs typeface="Arial MT"/>
            </a:endParaRPr>
          </a:p>
          <a:p>
            <a:pPr marL="1113790" lvl="2" indent="-198755">
              <a:lnSpc>
                <a:spcPts val="1830"/>
              </a:lnSpc>
              <a:buChar char="•"/>
              <a:tabLst>
                <a:tab pos="1113790" algn="l"/>
              </a:tabLst>
            </a:pPr>
            <a:r>
              <a:rPr sz="1550" dirty="0">
                <a:latin typeface="Arial MT"/>
                <a:cs typeface="Arial MT"/>
              </a:rPr>
              <a:t>Bibliography</a:t>
            </a:r>
            <a:r>
              <a:rPr sz="1550" spc="-4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of</a:t>
            </a:r>
            <a:r>
              <a:rPr sz="1550" spc="-4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which</a:t>
            </a:r>
            <a:r>
              <a:rPr sz="1550" spc="-4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papers</a:t>
            </a:r>
            <a:r>
              <a:rPr sz="1550" spc="-4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were</a:t>
            </a:r>
            <a:r>
              <a:rPr sz="1550" spc="-4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reviewed</a:t>
            </a:r>
            <a:r>
              <a:rPr sz="1550" spc="-4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or</a:t>
            </a:r>
            <a:r>
              <a:rPr sz="1550" spc="-45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used</a:t>
            </a:r>
            <a:r>
              <a:rPr sz="1550" spc="-4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in</a:t>
            </a:r>
            <a:r>
              <a:rPr sz="1550" spc="-40" dirty="0">
                <a:latin typeface="Arial MT"/>
                <a:cs typeface="Arial MT"/>
              </a:rPr>
              <a:t> </a:t>
            </a:r>
            <a:r>
              <a:rPr sz="1550" dirty="0">
                <a:latin typeface="Arial MT"/>
                <a:cs typeface="Arial MT"/>
              </a:rPr>
              <a:t>the</a:t>
            </a:r>
            <a:r>
              <a:rPr sz="1550" spc="-45" dirty="0">
                <a:latin typeface="Arial MT"/>
                <a:cs typeface="Arial MT"/>
              </a:rPr>
              <a:t> </a:t>
            </a:r>
            <a:r>
              <a:rPr sz="1550" spc="-10" dirty="0">
                <a:latin typeface="Arial MT"/>
                <a:cs typeface="Arial MT"/>
              </a:rPr>
              <a:t>paper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45328DB1-40A1-40BF-9796-33EA9159E36C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12" rIns="0" bIns="0" rtlCol="0">
            <a:spAutoFit/>
          </a:bodyPr>
          <a:lstStyle/>
          <a:p>
            <a:pPr marL="2304415">
              <a:lnSpc>
                <a:spcPct val="100000"/>
              </a:lnSpc>
              <a:spcBef>
                <a:spcPts val="100"/>
              </a:spcBef>
            </a:pPr>
            <a:r>
              <a:rPr dirty="0"/>
              <a:t>Paper</a:t>
            </a:r>
            <a:r>
              <a:rPr spc="-5" dirty="0"/>
              <a:t> </a:t>
            </a:r>
            <a:r>
              <a:rPr spc="-10" dirty="0"/>
              <a:t>Writing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5947" y="1611376"/>
            <a:ext cx="10429875" cy="3512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2260" marR="5080" indent="-290195">
              <a:lnSpc>
                <a:spcPct val="100000"/>
              </a:lnSpc>
              <a:spcBef>
                <a:spcPts val="100"/>
              </a:spcBef>
              <a:buChar char="•"/>
              <a:tabLst>
                <a:tab pos="302260" algn="l"/>
              </a:tabLst>
            </a:pPr>
            <a:r>
              <a:rPr sz="2800" dirty="0">
                <a:latin typeface="Arial MT"/>
                <a:cs typeface="Arial MT"/>
              </a:rPr>
              <a:t>Every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week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students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must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read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research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paper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related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their </a:t>
            </a:r>
            <a:r>
              <a:rPr sz="2800" dirty="0">
                <a:latin typeface="Arial MT"/>
                <a:cs typeface="Arial MT"/>
              </a:rPr>
              <a:t>topic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write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short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report.</a:t>
            </a:r>
            <a:endParaRPr sz="2800">
              <a:latin typeface="Arial MT"/>
              <a:cs typeface="Arial MT"/>
            </a:endParaRPr>
          </a:p>
          <a:p>
            <a:pPr marL="701675" lvl="1" indent="-302260">
              <a:lnSpc>
                <a:spcPct val="100000"/>
              </a:lnSpc>
              <a:spcBef>
                <a:spcPts val="495"/>
              </a:spcBef>
              <a:buChar char="–"/>
              <a:tabLst>
                <a:tab pos="701675" algn="l"/>
              </a:tabLst>
            </a:pPr>
            <a:r>
              <a:rPr sz="2400" spc="-40" dirty="0">
                <a:latin typeface="Arial MT"/>
                <a:cs typeface="Arial MT"/>
              </a:rPr>
              <a:t>Your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weekly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work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will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directly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contribute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your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assessment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items.</a:t>
            </a:r>
            <a:endParaRPr sz="2400">
              <a:latin typeface="Arial MT"/>
              <a:cs typeface="Arial MT"/>
            </a:endParaRPr>
          </a:p>
          <a:p>
            <a:pPr marL="301625" indent="-288925">
              <a:lnSpc>
                <a:spcPct val="100000"/>
              </a:lnSpc>
              <a:spcBef>
                <a:spcPts val="545"/>
              </a:spcBef>
              <a:buChar char="•"/>
              <a:tabLst>
                <a:tab pos="301625" algn="l"/>
              </a:tabLst>
            </a:pPr>
            <a:r>
              <a:rPr sz="2800" dirty="0">
                <a:latin typeface="Arial MT"/>
                <a:cs typeface="Arial MT"/>
              </a:rPr>
              <a:t>Particularly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following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items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are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required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discussion</a:t>
            </a:r>
            <a:endParaRPr sz="2800">
              <a:latin typeface="Arial MT"/>
              <a:cs typeface="Arial MT"/>
            </a:endParaRPr>
          </a:p>
          <a:p>
            <a:pPr marL="701675" lvl="1" indent="-302260">
              <a:lnSpc>
                <a:spcPct val="100000"/>
              </a:lnSpc>
              <a:spcBef>
                <a:spcPts val="495"/>
              </a:spcBef>
              <a:buChar char="–"/>
              <a:tabLst>
                <a:tab pos="701675" algn="l"/>
              </a:tabLst>
            </a:pPr>
            <a:r>
              <a:rPr sz="2400" dirty="0">
                <a:latin typeface="Arial MT"/>
                <a:cs typeface="Arial MT"/>
              </a:rPr>
              <a:t>Methodology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paper</a:t>
            </a:r>
            <a:endParaRPr sz="2400">
              <a:latin typeface="Arial MT"/>
              <a:cs typeface="Arial MT"/>
            </a:endParaRPr>
          </a:p>
          <a:p>
            <a:pPr marL="701675" lvl="1" indent="-302260">
              <a:lnSpc>
                <a:spcPct val="100000"/>
              </a:lnSpc>
              <a:spcBef>
                <a:spcPts val="480"/>
              </a:spcBef>
              <a:buChar char="–"/>
              <a:tabLst>
                <a:tab pos="701675" algn="l"/>
              </a:tabLst>
            </a:pPr>
            <a:r>
              <a:rPr sz="2400" dirty="0">
                <a:latin typeface="Arial MT"/>
                <a:cs typeface="Arial MT"/>
              </a:rPr>
              <a:t>Main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Contributions</a:t>
            </a:r>
            <a:endParaRPr sz="2400">
              <a:latin typeface="Arial MT"/>
              <a:cs typeface="Arial MT"/>
            </a:endParaRPr>
          </a:p>
          <a:p>
            <a:pPr marL="701675" lvl="1" indent="-302260">
              <a:lnSpc>
                <a:spcPct val="100000"/>
              </a:lnSpc>
              <a:spcBef>
                <a:spcPts val="480"/>
              </a:spcBef>
              <a:buChar char="–"/>
              <a:tabLst>
                <a:tab pos="701675" algn="l"/>
              </a:tabLst>
            </a:pPr>
            <a:r>
              <a:rPr sz="2400" spc="-10" dirty="0">
                <a:latin typeface="Arial MT"/>
                <a:cs typeface="Arial MT"/>
              </a:rPr>
              <a:t>Experimental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Results</a:t>
            </a:r>
            <a:endParaRPr sz="2400">
              <a:latin typeface="Arial MT"/>
              <a:cs typeface="Arial MT"/>
            </a:endParaRPr>
          </a:p>
          <a:p>
            <a:pPr marL="701675" lvl="1" indent="-302260">
              <a:lnSpc>
                <a:spcPct val="100000"/>
              </a:lnSpc>
              <a:spcBef>
                <a:spcPts val="480"/>
              </a:spcBef>
              <a:buChar char="–"/>
              <a:tabLst>
                <a:tab pos="701675" algn="l"/>
              </a:tabLst>
            </a:pPr>
            <a:r>
              <a:rPr sz="2400" dirty="0">
                <a:latin typeface="Arial MT"/>
                <a:cs typeface="Arial MT"/>
              </a:rPr>
              <a:t>Strong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points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weak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points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9D7B1561-5F4F-49A3-9B03-5F46BF9FFEB1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12" rIns="0" bIns="0" rtlCol="0">
            <a:spAutoFit/>
          </a:bodyPr>
          <a:lstStyle/>
          <a:p>
            <a:pPr marL="2045970">
              <a:lnSpc>
                <a:spcPct val="100000"/>
              </a:lnSpc>
              <a:spcBef>
                <a:spcPts val="100"/>
              </a:spcBef>
            </a:pPr>
            <a:r>
              <a:rPr dirty="0"/>
              <a:t>Reading</a:t>
            </a:r>
            <a:r>
              <a:rPr spc="-45" dirty="0"/>
              <a:t> </a:t>
            </a:r>
            <a:r>
              <a:rPr spc="-10" dirty="0"/>
              <a:t>Papers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5947" y="1540256"/>
            <a:ext cx="10469245" cy="409194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660"/>
              </a:spcBef>
              <a:buChar char="•"/>
              <a:tabLst>
                <a:tab pos="301625" algn="l"/>
              </a:tabLst>
            </a:pPr>
            <a:r>
              <a:rPr sz="2800" dirty="0">
                <a:latin typeface="Arial MT"/>
                <a:cs typeface="Arial MT"/>
              </a:rPr>
              <a:t>There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no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prerequisite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this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course.</a:t>
            </a:r>
            <a:endParaRPr sz="2800">
              <a:latin typeface="Arial MT"/>
              <a:cs typeface="Arial MT"/>
            </a:endParaRPr>
          </a:p>
          <a:p>
            <a:pPr marL="302260" marR="5080" indent="-290195">
              <a:lnSpc>
                <a:spcPct val="100000"/>
              </a:lnSpc>
              <a:spcBef>
                <a:spcPts val="560"/>
              </a:spcBef>
              <a:buChar char="•"/>
              <a:tabLst>
                <a:tab pos="302260" algn="l"/>
              </a:tabLst>
            </a:pPr>
            <a:r>
              <a:rPr sz="2800" spc="-20" dirty="0">
                <a:latin typeface="Arial MT"/>
                <a:cs typeface="Arial MT"/>
              </a:rPr>
              <a:t>However,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having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good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B050"/>
                </a:solidFill>
                <a:latin typeface="Arial MT"/>
                <a:cs typeface="Arial MT"/>
              </a:rPr>
              <a:t>programming</a:t>
            </a:r>
            <a:r>
              <a:rPr sz="2800" spc="-75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B050"/>
                </a:solidFill>
                <a:latin typeface="Arial MT"/>
                <a:cs typeface="Arial MT"/>
              </a:rPr>
              <a:t>skills</a:t>
            </a:r>
            <a:r>
              <a:rPr sz="2800" spc="-65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Python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/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C++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etc,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is </a:t>
            </a:r>
            <a:r>
              <a:rPr sz="2800" spc="-10" dirty="0">
                <a:latin typeface="Arial MT"/>
                <a:cs typeface="Arial MT"/>
              </a:rPr>
              <a:t>beneficial</a:t>
            </a:r>
            <a:endParaRPr sz="2800">
              <a:latin typeface="Arial MT"/>
              <a:cs typeface="Arial MT"/>
            </a:endParaRPr>
          </a:p>
          <a:p>
            <a:pPr marL="302260" marR="65405" indent="-290195">
              <a:lnSpc>
                <a:spcPct val="100000"/>
              </a:lnSpc>
              <a:spcBef>
                <a:spcPts val="560"/>
              </a:spcBef>
              <a:buChar char="•"/>
              <a:tabLst>
                <a:tab pos="302260" algn="l"/>
              </a:tabLst>
            </a:pPr>
            <a:r>
              <a:rPr sz="2800" dirty="0">
                <a:latin typeface="Arial MT"/>
                <a:cs typeface="Arial MT"/>
              </a:rPr>
              <a:t>Advanced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Level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Deep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Learning,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we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assume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knowledge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DL </a:t>
            </a:r>
            <a:r>
              <a:rPr sz="2800" spc="-10" dirty="0">
                <a:latin typeface="Arial MT"/>
                <a:cs typeface="Arial MT"/>
              </a:rPr>
              <a:t>models</a:t>
            </a:r>
            <a:endParaRPr sz="2800">
              <a:latin typeface="Arial MT"/>
              <a:cs typeface="Arial MT"/>
            </a:endParaRPr>
          </a:p>
          <a:p>
            <a:pPr marL="301625" indent="-288925">
              <a:lnSpc>
                <a:spcPct val="100000"/>
              </a:lnSpc>
              <a:spcBef>
                <a:spcPts val="560"/>
              </a:spcBef>
              <a:buChar char="•"/>
              <a:tabLst>
                <a:tab pos="301625" algn="l"/>
              </a:tabLst>
            </a:pPr>
            <a:r>
              <a:rPr sz="2800" dirty="0">
                <a:latin typeface="Arial MT"/>
                <a:cs typeface="Arial MT"/>
              </a:rPr>
              <a:t>Machine</a:t>
            </a:r>
            <a:r>
              <a:rPr sz="2800" spc="-1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Learning</a:t>
            </a:r>
            <a:r>
              <a:rPr sz="2800" spc="-14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Frameworks</a:t>
            </a:r>
            <a:endParaRPr sz="2800">
              <a:latin typeface="Arial MT"/>
              <a:cs typeface="Arial MT"/>
            </a:endParaRPr>
          </a:p>
          <a:p>
            <a:pPr marL="701675" lvl="1" indent="-302260">
              <a:lnSpc>
                <a:spcPct val="100000"/>
              </a:lnSpc>
              <a:spcBef>
                <a:spcPts val="495"/>
              </a:spcBef>
              <a:buChar char="–"/>
              <a:tabLst>
                <a:tab pos="701675" algn="l"/>
              </a:tabLst>
            </a:pPr>
            <a:r>
              <a:rPr sz="2400" spc="-20" dirty="0">
                <a:latin typeface="Arial MT"/>
                <a:cs typeface="Arial MT"/>
              </a:rPr>
              <a:t>Scikit-</a:t>
            </a:r>
            <a:r>
              <a:rPr sz="2400" dirty="0">
                <a:latin typeface="Arial MT"/>
                <a:cs typeface="Arial MT"/>
              </a:rPr>
              <a:t>Learn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(Conventional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ML)</a:t>
            </a:r>
            <a:endParaRPr sz="2400">
              <a:latin typeface="Arial MT"/>
              <a:cs typeface="Arial MT"/>
            </a:endParaRPr>
          </a:p>
          <a:p>
            <a:pPr marL="702310" marR="67945" lvl="1" indent="-302895">
              <a:lnSpc>
                <a:spcPct val="100000"/>
              </a:lnSpc>
              <a:spcBef>
                <a:spcPts val="480"/>
              </a:spcBef>
              <a:buChar char="–"/>
              <a:tabLst>
                <a:tab pos="702310" algn="l"/>
              </a:tabLst>
            </a:pPr>
            <a:r>
              <a:rPr sz="2400" b="1" spc="-10" dirty="0">
                <a:solidFill>
                  <a:srgbClr val="0070C0"/>
                </a:solidFill>
                <a:latin typeface="Arial"/>
                <a:cs typeface="Arial"/>
              </a:rPr>
              <a:t>Tensorflow</a:t>
            </a:r>
            <a:r>
              <a:rPr sz="2400" b="1" spc="-9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70C0"/>
                </a:solidFill>
                <a:latin typeface="Arial"/>
                <a:cs typeface="Arial"/>
              </a:rPr>
              <a:t>/</a:t>
            </a:r>
            <a:r>
              <a:rPr sz="2400" b="1" spc="-9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70C0"/>
                </a:solidFill>
                <a:latin typeface="Arial"/>
                <a:cs typeface="Arial"/>
              </a:rPr>
              <a:t>Keras</a:t>
            </a:r>
            <a:r>
              <a:rPr sz="2400" b="1" spc="-6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,</a:t>
            </a:r>
            <a:r>
              <a:rPr sz="2400" b="1" spc="-95" dirty="0">
                <a:latin typeface="Arial"/>
                <a:cs typeface="Arial"/>
              </a:rPr>
              <a:t> </a:t>
            </a:r>
            <a:r>
              <a:rPr sz="2400" spc="-25" dirty="0">
                <a:latin typeface="Arial MT"/>
                <a:cs typeface="Arial MT"/>
              </a:rPr>
              <a:t>PyTorch,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DEEPLEARNING4J,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Microsoft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Cognitive </a:t>
            </a:r>
            <a:r>
              <a:rPr sz="2400" spc="-35" dirty="0">
                <a:latin typeface="Arial MT"/>
                <a:cs typeface="Arial MT"/>
              </a:rPr>
              <a:t>Toolkit,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Caffe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B8691384-731C-4A53-BE90-559C817E115B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12" rIns="0" bIns="0" rtlCol="0">
            <a:spAutoFit/>
          </a:bodyPr>
          <a:lstStyle/>
          <a:p>
            <a:pPr marL="2084070">
              <a:lnSpc>
                <a:spcPct val="100000"/>
              </a:lnSpc>
              <a:spcBef>
                <a:spcPts val="100"/>
              </a:spcBef>
            </a:pPr>
            <a:r>
              <a:rPr b="1" spc="-10" dirty="0">
                <a:latin typeface="Arial"/>
                <a:cs typeface="Arial"/>
              </a:rPr>
              <a:t>Prerequisite(s)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12" rIns="0" bIns="0" rtlCol="0">
            <a:spAutoFit/>
          </a:bodyPr>
          <a:lstStyle/>
          <a:p>
            <a:pPr marL="23507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Prerequisites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C558F7E5-89A5-4079-80DC-B1996F5371AC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35947" y="1537885"/>
            <a:ext cx="10411460" cy="273050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675"/>
              </a:spcBef>
              <a:buChar char="•"/>
              <a:tabLst>
                <a:tab pos="301625" algn="l"/>
              </a:tabLst>
            </a:pPr>
            <a:r>
              <a:rPr sz="2800" dirty="0">
                <a:latin typeface="Arial MT"/>
                <a:cs typeface="Arial MT"/>
              </a:rPr>
              <a:t>Basic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knowledge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Optimization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Probabilities:</a:t>
            </a:r>
            <a:endParaRPr sz="2800">
              <a:latin typeface="Arial MT"/>
              <a:cs typeface="Arial MT"/>
            </a:endParaRPr>
          </a:p>
          <a:p>
            <a:pPr marL="701675" lvl="1" indent="-302260">
              <a:lnSpc>
                <a:spcPct val="100000"/>
              </a:lnSpc>
              <a:spcBef>
                <a:spcPts val="500"/>
              </a:spcBef>
              <a:buChar char="–"/>
              <a:tabLst>
                <a:tab pos="701675" algn="l"/>
              </a:tabLst>
            </a:pPr>
            <a:r>
              <a:rPr sz="2400" dirty="0">
                <a:latin typeface="Arial MT"/>
                <a:cs typeface="Arial MT"/>
              </a:rPr>
              <a:t>Gradients,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gradient-</a:t>
            </a:r>
            <a:r>
              <a:rPr sz="2400" dirty="0">
                <a:latin typeface="Arial MT"/>
                <a:cs typeface="Arial MT"/>
              </a:rPr>
              <a:t>descent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optimization,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backpropagation</a:t>
            </a:r>
            <a:endParaRPr sz="2400">
              <a:latin typeface="Arial MT"/>
              <a:cs typeface="Arial MT"/>
            </a:endParaRPr>
          </a:p>
          <a:p>
            <a:pPr marL="701675" lvl="1" indent="-302260">
              <a:lnSpc>
                <a:spcPct val="100000"/>
              </a:lnSpc>
              <a:spcBef>
                <a:spcPts val="480"/>
              </a:spcBef>
              <a:buChar char="–"/>
              <a:tabLst>
                <a:tab pos="701675" algn="l"/>
              </a:tabLst>
            </a:pPr>
            <a:r>
              <a:rPr sz="2400" dirty="0">
                <a:latin typeface="Arial MT"/>
                <a:cs typeface="Arial MT"/>
              </a:rPr>
              <a:t>Random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variables,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independence,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conditional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independence</a:t>
            </a:r>
            <a:endParaRPr sz="2400">
              <a:latin typeface="Arial MT"/>
              <a:cs typeface="Arial MT"/>
            </a:endParaRPr>
          </a:p>
          <a:p>
            <a:pPr marL="701675" lvl="1" indent="-302260">
              <a:lnSpc>
                <a:spcPct val="100000"/>
              </a:lnSpc>
              <a:spcBef>
                <a:spcPts val="480"/>
              </a:spcBef>
              <a:buChar char="–"/>
              <a:tabLst>
                <a:tab pos="701675" algn="l"/>
              </a:tabLst>
            </a:pPr>
            <a:r>
              <a:rPr sz="2400" dirty="0">
                <a:latin typeface="Arial MT"/>
                <a:cs typeface="Arial MT"/>
              </a:rPr>
              <a:t>Bayes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rule,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chain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rule</a:t>
            </a:r>
            <a:endParaRPr sz="2400">
              <a:latin typeface="Arial MT"/>
              <a:cs typeface="Arial MT"/>
            </a:endParaRPr>
          </a:p>
          <a:p>
            <a:pPr marL="302260" marR="5080" indent="-290195">
              <a:lnSpc>
                <a:spcPct val="100000"/>
              </a:lnSpc>
              <a:spcBef>
                <a:spcPts val="540"/>
              </a:spcBef>
              <a:buChar char="•"/>
              <a:tabLst>
                <a:tab pos="302260" algn="l"/>
              </a:tabLst>
            </a:pPr>
            <a:r>
              <a:rPr sz="2800" dirty="0">
                <a:latin typeface="Arial MT"/>
                <a:cs typeface="Arial MT"/>
              </a:rPr>
              <a:t>Basic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knowledge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E36C09"/>
                </a:solidFill>
                <a:latin typeface="Arial MT"/>
                <a:cs typeface="Arial MT"/>
              </a:rPr>
              <a:t>deep</a:t>
            </a:r>
            <a:r>
              <a:rPr sz="2800" spc="-100" dirty="0">
                <a:solidFill>
                  <a:srgbClr val="E36C0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E36C09"/>
                </a:solidFill>
                <a:latin typeface="Arial MT"/>
                <a:cs typeface="Arial MT"/>
              </a:rPr>
              <a:t>neural</a:t>
            </a:r>
            <a:r>
              <a:rPr sz="2800" spc="-105" dirty="0">
                <a:solidFill>
                  <a:srgbClr val="E36C0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E36C09"/>
                </a:solidFill>
                <a:latin typeface="Arial MT"/>
                <a:cs typeface="Arial MT"/>
              </a:rPr>
              <a:t>networks</a:t>
            </a:r>
            <a:r>
              <a:rPr sz="2800" spc="-100" dirty="0">
                <a:solidFill>
                  <a:srgbClr val="E36C0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E36C09"/>
                </a:solidFill>
                <a:latin typeface="Arial MT"/>
                <a:cs typeface="Arial MT"/>
              </a:rPr>
              <a:t>(ANNs,</a:t>
            </a:r>
            <a:r>
              <a:rPr sz="2800" spc="-105" dirty="0">
                <a:solidFill>
                  <a:srgbClr val="E36C0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E36C09"/>
                </a:solidFill>
                <a:latin typeface="Arial MT"/>
                <a:cs typeface="Arial MT"/>
              </a:rPr>
              <a:t>CNNs,</a:t>
            </a:r>
            <a:r>
              <a:rPr sz="2800" spc="-70" dirty="0">
                <a:solidFill>
                  <a:srgbClr val="E36C09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RNNs, Autoencoders).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12" rIns="0" bIns="0" rtlCol="0">
            <a:spAutoFit/>
          </a:bodyPr>
          <a:lstStyle/>
          <a:p>
            <a:pPr marL="285940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Projects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AD7DC913-C2AF-4A59-95D6-D6A631FDB0EF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35947" y="1611376"/>
            <a:ext cx="10654030" cy="3451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2260" marR="285115" indent="-290195">
              <a:lnSpc>
                <a:spcPct val="100000"/>
              </a:lnSpc>
              <a:spcBef>
                <a:spcPts val="100"/>
              </a:spcBef>
              <a:buChar char="•"/>
              <a:tabLst>
                <a:tab pos="302260" algn="l"/>
              </a:tabLst>
            </a:pPr>
            <a:r>
              <a:rPr sz="2800" dirty="0">
                <a:latin typeface="Arial MT"/>
                <a:cs typeface="Arial MT"/>
              </a:rPr>
              <a:t>Course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projects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will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done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by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individually</a:t>
            </a:r>
            <a:r>
              <a:rPr sz="2800" spc="-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can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fall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into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one </a:t>
            </a:r>
            <a:r>
              <a:rPr sz="2800" dirty="0">
                <a:latin typeface="Arial MT"/>
                <a:cs typeface="Arial MT"/>
              </a:rPr>
              <a:t>or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more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following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categories:</a:t>
            </a:r>
            <a:endParaRPr sz="2800">
              <a:latin typeface="Arial MT"/>
              <a:cs typeface="Arial MT"/>
            </a:endParaRPr>
          </a:p>
          <a:p>
            <a:pPr marL="701675" lvl="1" indent="-302260">
              <a:lnSpc>
                <a:spcPct val="100000"/>
              </a:lnSpc>
              <a:spcBef>
                <a:spcPts val="495"/>
              </a:spcBef>
              <a:buChar char="–"/>
              <a:tabLst>
                <a:tab pos="701675" algn="l"/>
              </a:tabLst>
            </a:pPr>
            <a:r>
              <a:rPr sz="2400" spc="-10" dirty="0">
                <a:latin typeface="Arial MT"/>
                <a:cs typeface="Arial MT"/>
              </a:rPr>
              <a:t>Application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deep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generative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models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novel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task/dataset</a:t>
            </a:r>
            <a:endParaRPr sz="2400">
              <a:latin typeface="Arial MT"/>
              <a:cs typeface="Arial MT"/>
            </a:endParaRPr>
          </a:p>
          <a:p>
            <a:pPr marL="702310" marR="5080" lvl="1" indent="-302895">
              <a:lnSpc>
                <a:spcPct val="100000"/>
              </a:lnSpc>
              <a:spcBef>
                <a:spcPts val="480"/>
              </a:spcBef>
              <a:buChar char="–"/>
              <a:tabLst>
                <a:tab pos="702310" algn="l"/>
              </a:tabLst>
            </a:pPr>
            <a:r>
              <a:rPr sz="2400" dirty="0">
                <a:latin typeface="Arial MT"/>
                <a:cs typeface="Arial MT"/>
              </a:rPr>
              <a:t>Algorithmic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improvements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into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evaluation,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learning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and/or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inference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of </a:t>
            </a:r>
            <a:r>
              <a:rPr sz="2400" dirty="0">
                <a:latin typeface="Arial MT"/>
                <a:cs typeface="Arial MT"/>
              </a:rPr>
              <a:t>deep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generative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models</a:t>
            </a:r>
            <a:endParaRPr sz="2400">
              <a:latin typeface="Arial MT"/>
              <a:cs typeface="Arial MT"/>
            </a:endParaRPr>
          </a:p>
          <a:p>
            <a:pPr marL="701675" lvl="1" indent="-302260">
              <a:lnSpc>
                <a:spcPct val="100000"/>
              </a:lnSpc>
              <a:spcBef>
                <a:spcPts val="480"/>
              </a:spcBef>
              <a:buChar char="–"/>
              <a:tabLst>
                <a:tab pos="701675" algn="l"/>
              </a:tabLst>
            </a:pPr>
            <a:r>
              <a:rPr sz="2400" spc="-10" dirty="0">
                <a:latin typeface="Arial MT"/>
                <a:cs typeface="Arial MT"/>
              </a:rPr>
              <a:t>Theoretical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analysis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any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aspect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existing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deep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generative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models</a:t>
            </a:r>
            <a:endParaRPr sz="2400">
              <a:latin typeface="Arial MT"/>
              <a:cs typeface="Arial MT"/>
            </a:endParaRPr>
          </a:p>
          <a:p>
            <a:pPr marL="301625" indent="-288925">
              <a:lnSpc>
                <a:spcPct val="100000"/>
              </a:lnSpc>
              <a:spcBef>
                <a:spcPts val="545"/>
              </a:spcBef>
              <a:buChar char="•"/>
              <a:tabLst>
                <a:tab pos="301625" algn="l"/>
              </a:tabLst>
            </a:pPr>
            <a:r>
              <a:rPr sz="2800" dirty="0">
                <a:latin typeface="Arial MT"/>
                <a:cs typeface="Arial MT"/>
              </a:rPr>
              <a:t>I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encourage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students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do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research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find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suitable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topics</a:t>
            </a:r>
            <a:endParaRPr sz="2800">
              <a:latin typeface="Arial MT"/>
              <a:cs typeface="Arial MT"/>
            </a:endParaRPr>
          </a:p>
          <a:p>
            <a:pPr marL="701675" lvl="1" indent="-302260">
              <a:lnSpc>
                <a:spcPct val="100000"/>
              </a:lnSpc>
              <a:spcBef>
                <a:spcPts val="495"/>
              </a:spcBef>
              <a:buChar char="–"/>
              <a:tabLst>
                <a:tab pos="701675" algn="l"/>
              </a:tabLst>
            </a:pPr>
            <a:r>
              <a:rPr sz="2400" dirty="0">
                <a:latin typeface="Arial MT"/>
                <a:cs typeface="Arial MT"/>
              </a:rPr>
              <a:t>We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also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suggest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few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possible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projects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5947" y="1540256"/>
            <a:ext cx="10747375" cy="1945639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660"/>
              </a:spcBef>
              <a:buChar char="•"/>
              <a:tabLst>
                <a:tab pos="301625" algn="l"/>
              </a:tabLst>
            </a:pPr>
            <a:r>
              <a:rPr sz="2800" dirty="0">
                <a:latin typeface="Arial MT"/>
                <a:cs typeface="Arial MT"/>
              </a:rPr>
              <a:t>Each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student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will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given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8-</a:t>
            </a:r>
            <a:r>
              <a:rPr sz="2800" dirty="0">
                <a:latin typeface="Arial MT"/>
                <a:cs typeface="Arial MT"/>
              </a:rPr>
              <a:t>10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minutes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their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presentation</a:t>
            </a:r>
            <a:endParaRPr sz="2800">
              <a:latin typeface="Arial MT"/>
              <a:cs typeface="Arial MT"/>
            </a:endParaRPr>
          </a:p>
          <a:p>
            <a:pPr marL="302260" marR="5080" indent="-290195">
              <a:lnSpc>
                <a:spcPct val="100000"/>
              </a:lnSpc>
              <a:spcBef>
                <a:spcPts val="560"/>
              </a:spcBef>
              <a:buChar char="•"/>
              <a:tabLst>
                <a:tab pos="302260" algn="l"/>
              </a:tabLst>
            </a:pPr>
            <a:r>
              <a:rPr sz="2800" dirty="0">
                <a:latin typeface="Arial MT"/>
                <a:cs typeface="Arial MT"/>
              </a:rPr>
              <a:t>Students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will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explain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every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step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they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have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performed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preparing </a:t>
            </a:r>
            <a:r>
              <a:rPr sz="2800" dirty="0">
                <a:latin typeface="Arial MT"/>
                <a:cs typeface="Arial MT"/>
              </a:rPr>
              <a:t>their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paper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results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obtained.</a:t>
            </a:r>
            <a:endParaRPr sz="2800">
              <a:latin typeface="Arial MT"/>
              <a:cs typeface="Arial MT"/>
            </a:endParaRPr>
          </a:p>
          <a:p>
            <a:pPr marL="301625" indent="-288925">
              <a:lnSpc>
                <a:spcPct val="100000"/>
              </a:lnSpc>
              <a:spcBef>
                <a:spcPts val="560"/>
              </a:spcBef>
              <a:buChar char="•"/>
              <a:tabLst>
                <a:tab pos="301625" algn="l"/>
              </a:tabLst>
            </a:pPr>
            <a:r>
              <a:rPr sz="2800" spc="-10" dirty="0">
                <a:latin typeface="Arial MT"/>
                <a:cs typeface="Arial MT"/>
              </a:rPr>
              <a:t>Implementation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must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shown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instructor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12" rIns="0" bIns="0" rtlCol="0">
            <a:spAutoFit/>
          </a:bodyPr>
          <a:lstStyle/>
          <a:p>
            <a:pPr marL="231330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Presentation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34200" y="4648200"/>
            <a:ext cx="3497705" cy="182879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B77E760C-27FF-4825-80B4-EDFB71547684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5947" y="1540256"/>
            <a:ext cx="8067040" cy="251460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660"/>
              </a:spcBef>
              <a:buClr>
                <a:srgbClr val="000000"/>
              </a:buClr>
              <a:buChar char="•"/>
              <a:tabLst>
                <a:tab pos="301625" algn="l"/>
              </a:tabLst>
            </a:pPr>
            <a:r>
              <a:rPr sz="28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https://www.tensorflow.org/</a:t>
            </a:r>
            <a:endParaRPr sz="2800">
              <a:latin typeface="Arial MT"/>
              <a:cs typeface="Arial MT"/>
            </a:endParaRPr>
          </a:p>
          <a:p>
            <a:pPr marL="301625" indent="-288925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Char char="•"/>
              <a:tabLst>
                <a:tab pos="301625" algn="l"/>
              </a:tabLst>
            </a:pPr>
            <a:r>
              <a:rPr sz="28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</a:rPr>
              <a:t>https://pytorch.org/</a:t>
            </a:r>
            <a:endParaRPr sz="2800">
              <a:latin typeface="Arial MT"/>
              <a:cs typeface="Arial MT"/>
            </a:endParaRPr>
          </a:p>
          <a:p>
            <a:pPr marL="301625" indent="-288925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Char char="•"/>
              <a:tabLst>
                <a:tab pos="301625" algn="l"/>
              </a:tabLst>
            </a:pPr>
            <a:r>
              <a:rPr sz="28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3"/>
              </a:rPr>
              <a:t>https://www.nltk.org/</a:t>
            </a:r>
            <a:endParaRPr sz="2800">
              <a:latin typeface="Arial MT"/>
              <a:cs typeface="Arial MT"/>
            </a:endParaRPr>
          </a:p>
          <a:p>
            <a:pPr marL="301625" indent="-288925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Char char="•"/>
              <a:tabLst>
                <a:tab pos="301625" algn="l"/>
              </a:tabLst>
            </a:pPr>
            <a:r>
              <a:rPr sz="2800" u="heavy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</a:rPr>
              <a:t>https://scikit-</a:t>
            </a:r>
            <a:r>
              <a:rPr sz="28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</a:rPr>
              <a:t>learn.org/stable/</a:t>
            </a:r>
            <a:endParaRPr sz="2800">
              <a:latin typeface="Arial MT"/>
              <a:cs typeface="Arial MT"/>
            </a:endParaRPr>
          </a:p>
          <a:p>
            <a:pPr marL="301625" indent="-288925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Char char="•"/>
              <a:tabLst>
                <a:tab pos="301625" algn="l"/>
              </a:tabLst>
            </a:pPr>
            <a:r>
              <a:rPr sz="2800" u="heavy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</a:rPr>
              <a:t>https://docs.microsoft.com/en-us/cognitive-</a:t>
            </a:r>
            <a:r>
              <a:rPr sz="28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</a:rPr>
              <a:t>toolkit/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69D03FE6-31E6-46BC-8D56-8CDB4673857D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12" rIns="0" bIns="0" rtlCol="0">
            <a:spAutoFit/>
          </a:bodyPr>
          <a:lstStyle/>
          <a:p>
            <a:pPr marL="1042669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Programming</a:t>
            </a:r>
            <a:r>
              <a:rPr b="1" spc="-6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resources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5947" y="1537885"/>
            <a:ext cx="10631805" cy="303720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675"/>
              </a:spcBef>
              <a:buChar char="•"/>
              <a:tabLst>
                <a:tab pos="301625" algn="l"/>
              </a:tabLst>
            </a:pPr>
            <a:r>
              <a:rPr sz="2800" dirty="0">
                <a:latin typeface="Arial MT"/>
                <a:cs typeface="Arial MT"/>
              </a:rPr>
              <a:t>High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Impact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Conferences</a:t>
            </a:r>
            <a:endParaRPr sz="2800" dirty="0">
              <a:latin typeface="Arial MT"/>
              <a:cs typeface="Arial MT"/>
            </a:endParaRPr>
          </a:p>
          <a:p>
            <a:pPr marL="701675" lvl="1" indent="-302260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Char char="–"/>
              <a:tabLst>
                <a:tab pos="701675" algn="l"/>
              </a:tabLst>
            </a:pPr>
            <a:r>
              <a:rPr sz="24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https://www.scimagojr.com/journalrank.php?area=1700&amp;type=p&amp;category</a:t>
            </a:r>
            <a:endParaRPr sz="2400" dirty="0">
              <a:latin typeface="Arial MT"/>
              <a:cs typeface="Arial MT"/>
            </a:endParaRPr>
          </a:p>
          <a:p>
            <a:pPr marL="702310">
              <a:lnSpc>
                <a:spcPct val="100000"/>
              </a:lnSpc>
            </a:pPr>
            <a:r>
              <a:rPr sz="24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</a:rPr>
              <a:t>=1702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40"/>
              </a:spcBef>
            </a:pPr>
            <a:endParaRPr sz="2400" dirty="0">
              <a:latin typeface="Arial MT"/>
              <a:cs typeface="Arial MT"/>
            </a:endParaRPr>
          </a:p>
          <a:p>
            <a:pPr marL="301625" indent="-288925">
              <a:lnSpc>
                <a:spcPct val="100000"/>
              </a:lnSpc>
              <a:buChar char="•"/>
              <a:tabLst>
                <a:tab pos="301625" algn="l"/>
              </a:tabLst>
            </a:pPr>
            <a:r>
              <a:rPr sz="2800" dirty="0">
                <a:latin typeface="Arial MT"/>
                <a:cs typeface="Arial MT"/>
              </a:rPr>
              <a:t>High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Impact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Journals</a:t>
            </a:r>
            <a:endParaRPr sz="2800" dirty="0">
              <a:latin typeface="Arial MT"/>
              <a:cs typeface="Arial MT"/>
            </a:endParaRPr>
          </a:p>
          <a:p>
            <a:pPr marL="702310" marR="5080" lvl="1" indent="-302895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Char char="–"/>
              <a:tabLst>
                <a:tab pos="702310" algn="l"/>
              </a:tabLst>
            </a:pPr>
            <a:r>
              <a:rPr sz="24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3"/>
              </a:rPr>
              <a:t>https://www.scimagojr.com/journalrank.php?category=1702&amp;area=1700&amp;t</a:t>
            </a:r>
            <a:r>
              <a:rPr sz="2400" spc="-1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4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</a:rPr>
              <a:t>ype=j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DFAADEE7-2270-4C21-8588-1F5BCE8C11B7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12" rIns="0" bIns="0" rtlCol="0">
            <a:spAutoFit/>
          </a:bodyPr>
          <a:lstStyle/>
          <a:p>
            <a:pPr marL="178435">
              <a:lnSpc>
                <a:spcPct val="100000"/>
              </a:lnSpc>
              <a:spcBef>
                <a:spcPts val="100"/>
              </a:spcBef>
            </a:pPr>
            <a:r>
              <a:rPr dirty="0"/>
              <a:t>High</a:t>
            </a:r>
            <a:r>
              <a:rPr spc="-30" dirty="0"/>
              <a:t> </a:t>
            </a:r>
            <a:r>
              <a:rPr dirty="0"/>
              <a:t>Impact</a:t>
            </a:r>
            <a:r>
              <a:rPr spc="-25" dirty="0"/>
              <a:t> </a:t>
            </a:r>
            <a:r>
              <a:rPr spc="-10" dirty="0"/>
              <a:t>Journals/Conferences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12" rIns="0" bIns="0" rtlCol="0">
            <a:spAutoFit/>
          </a:bodyPr>
          <a:lstStyle/>
          <a:p>
            <a:pPr marL="296100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9133839E-0D57-4C8B-9485-3DF51517095A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53480" y="1937622"/>
            <a:ext cx="2317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0" dirty="0">
                <a:latin typeface="Calibri"/>
                <a:cs typeface="Calibri"/>
              </a:rPr>
              <a:t>1</a:t>
            </a:r>
            <a:endParaRPr sz="32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98450" y="1472552"/>
          <a:ext cx="11734800" cy="4872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3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045">
                <a:tc>
                  <a:txBody>
                    <a:bodyPr/>
                    <a:lstStyle/>
                    <a:p>
                      <a:pPr marL="320675">
                        <a:lnSpc>
                          <a:spcPts val="3710"/>
                        </a:lnSpc>
                      </a:pPr>
                      <a:r>
                        <a:rPr sz="32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Week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10"/>
                        </a:lnSpc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List</a:t>
                      </a:r>
                      <a:r>
                        <a:rPr sz="3200" b="1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32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Topics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0085">
                <a:tc>
                  <a:txBody>
                    <a:bodyPr/>
                    <a:lstStyle/>
                    <a:p>
                      <a:pPr marL="167005">
                        <a:lnSpc>
                          <a:spcPts val="3710"/>
                        </a:lnSpc>
                      </a:pPr>
                      <a:r>
                        <a:rPr sz="3200" spc="-50" dirty="0">
                          <a:latin typeface="Calibri"/>
                          <a:cs typeface="Calibri"/>
                        </a:rPr>
                        <a:t>.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3710"/>
                        </a:lnSpc>
                      </a:pPr>
                      <a:r>
                        <a:rPr sz="3200" spc="-2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Courses</a:t>
                      </a:r>
                      <a:r>
                        <a:rPr sz="3200" spc="-1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Overview</a:t>
                      </a:r>
                      <a:endParaRPr sz="3200" dirty="0">
                        <a:latin typeface="Calibri"/>
                        <a:cs typeface="Calibri"/>
                      </a:endParaRPr>
                    </a:p>
                    <a:p>
                      <a:pPr marL="281940" indent="-215265">
                        <a:lnSpc>
                          <a:spcPct val="100000"/>
                        </a:lnSpc>
                        <a:buChar char="-"/>
                        <a:tabLst>
                          <a:tab pos="281940" algn="l"/>
                        </a:tabLst>
                      </a:pPr>
                      <a:r>
                        <a:rPr sz="3200" spc="-10" dirty="0">
                          <a:latin typeface="Calibri"/>
                          <a:cs typeface="Calibri"/>
                        </a:rPr>
                        <a:t>Introduction</a:t>
                      </a:r>
                      <a:r>
                        <a:rPr sz="32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32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Deep</a:t>
                      </a:r>
                      <a:r>
                        <a:rPr sz="32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Learning</a:t>
                      </a:r>
                      <a:endParaRPr sz="3200" dirty="0">
                        <a:latin typeface="Calibri"/>
                        <a:cs typeface="Calibri"/>
                      </a:endParaRPr>
                    </a:p>
                    <a:p>
                      <a:pPr marL="281940" indent="-215265">
                        <a:lnSpc>
                          <a:spcPct val="100000"/>
                        </a:lnSpc>
                        <a:buChar char="-"/>
                        <a:tabLst>
                          <a:tab pos="281940" algn="l"/>
                        </a:tabLst>
                      </a:pPr>
                      <a:r>
                        <a:rPr sz="3200" spc="-10" dirty="0">
                          <a:latin typeface="Calibri"/>
                          <a:cs typeface="Calibri"/>
                        </a:rPr>
                        <a:t>Generative</a:t>
                      </a:r>
                      <a:r>
                        <a:rPr sz="3200" spc="-1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Models</a:t>
                      </a:r>
                      <a:endParaRPr sz="3200" dirty="0">
                        <a:latin typeface="Calibri"/>
                        <a:cs typeface="Calibri"/>
                      </a:endParaRPr>
                    </a:p>
                    <a:p>
                      <a:pPr marL="281940" indent="-215265">
                        <a:lnSpc>
                          <a:spcPct val="100000"/>
                        </a:lnSpc>
                        <a:buChar char="-"/>
                        <a:tabLst>
                          <a:tab pos="281940" algn="l"/>
                        </a:tabLst>
                      </a:pPr>
                      <a:r>
                        <a:rPr sz="3200" spc="-10" dirty="0">
                          <a:latin typeface="Calibri"/>
                          <a:cs typeface="Calibri"/>
                        </a:rPr>
                        <a:t>Bayesian</a:t>
                      </a:r>
                      <a:r>
                        <a:rPr sz="3200" spc="-1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Learning</a:t>
                      </a:r>
                      <a:endParaRPr sz="32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045">
                <a:tc>
                  <a:txBody>
                    <a:bodyPr/>
                    <a:lstStyle/>
                    <a:p>
                      <a:pPr marL="66675">
                        <a:lnSpc>
                          <a:spcPts val="3710"/>
                        </a:lnSpc>
                      </a:pPr>
                      <a:r>
                        <a:rPr sz="3200" b="1" spc="-5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2</a:t>
                      </a:r>
                      <a:endParaRPr sz="32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3710"/>
                        </a:lnSpc>
                      </a:pPr>
                      <a:r>
                        <a:rPr sz="3200" spc="-10" dirty="0">
                          <a:latin typeface="Calibri"/>
                          <a:cs typeface="Calibri"/>
                        </a:rPr>
                        <a:t>Introduction</a:t>
                      </a:r>
                      <a:r>
                        <a:rPr sz="32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32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ANNs</a:t>
                      </a:r>
                      <a:r>
                        <a:rPr sz="32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32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20" dirty="0">
                          <a:latin typeface="Calibri"/>
                          <a:cs typeface="Calibri"/>
                        </a:rPr>
                        <a:t>CNNs</a:t>
                      </a:r>
                      <a:endParaRPr sz="32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045">
                <a:tc>
                  <a:txBody>
                    <a:bodyPr/>
                    <a:lstStyle/>
                    <a:p>
                      <a:pPr marL="66675">
                        <a:lnSpc>
                          <a:spcPts val="3710"/>
                        </a:lnSpc>
                      </a:pPr>
                      <a:r>
                        <a:rPr sz="32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3710"/>
                        </a:lnSpc>
                      </a:pPr>
                      <a:r>
                        <a:rPr sz="3200" spc="-10" dirty="0">
                          <a:latin typeface="Calibri"/>
                          <a:cs typeface="Calibri"/>
                        </a:rPr>
                        <a:t>Introduction</a:t>
                      </a:r>
                      <a:r>
                        <a:rPr sz="3200" spc="-1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3200" spc="-1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Probabilistic</a:t>
                      </a:r>
                      <a:r>
                        <a:rPr sz="3200" spc="-1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Graphical</a:t>
                      </a:r>
                      <a:r>
                        <a:rPr sz="3200" spc="-1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Models</a:t>
                      </a:r>
                      <a:endParaRPr sz="32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045">
                <a:tc>
                  <a:txBody>
                    <a:bodyPr/>
                    <a:lstStyle/>
                    <a:p>
                      <a:pPr marL="66675">
                        <a:lnSpc>
                          <a:spcPts val="3710"/>
                        </a:lnSpc>
                      </a:pPr>
                      <a:r>
                        <a:rPr sz="32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3710"/>
                        </a:lnSpc>
                      </a:pPr>
                      <a:r>
                        <a:rPr sz="3200" spc="-10" dirty="0">
                          <a:latin typeface="Calibri"/>
                          <a:cs typeface="Calibri"/>
                        </a:rPr>
                        <a:t>Restricted</a:t>
                      </a:r>
                      <a:r>
                        <a:rPr sz="3200" spc="-1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Boltzmann</a:t>
                      </a:r>
                      <a:r>
                        <a:rPr sz="3200" spc="-1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Machines</a:t>
                      </a:r>
                      <a:r>
                        <a:rPr sz="3200" spc="-1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(RBMs)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045">
                <a:tc>
                  <a:txBody>
                    <a:bodyPr/>
                    <a:lstStyle/>
                    <a:p>
                      <a:pPr marL="66675">
                        <a:lnSpc>
                          <a:spcPts val="3710"/>
                        </a:lnSpc>
                      </a:pPr>
                      <a:r>
                        <a:rPr sz="32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3710"/>
                        </a:lnSpc>
                      </a:pPr>
                      <a:r>
                        <a:rPr sz="3200" spc="-10" dirty="0">
                          <a:latin typeface="Calibri"/>
                          <a:cs typeface="Calibri"/>
                        </a:rPr>
                        <a:t>Autoregressive</a:t>
                      </a:r>
                      <a:r>
                        <a:rPr sz="32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Models</a:t>
                      </a:r>
                      <a:r>
                        <a:rPr sz="32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32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Image</a:t>
                      </a:r>
                      <a:r>
                        <a:rPr sz="32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Generation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045">
                <a:tc>
                  <a:txBody>
                    <a:bodyPr/>
                    <a:lstStyle/>
                    <a:p>
                      <a:pPr marL="66675">
                        <a:lnSpc>
                          <a:spcPts val="3710"/>
                        </a:lnSpc>
                      </a:pPr>
                      <a:r>
                        <a:rPr sz="32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D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10"/>
                        </a:lnSpc>
                      </a:pPr>
                      <a:r>
                        <a:rPr sz="3200" dirty="0">
                          <a:latin typeface="Calibri"/>
                          <a:cs typeface="Calibri"/>
                        </a:rPr>
                        <a:t>Sessional</a:t>
                      </a:r>
                      <a:r>
                        <a:rPr sz="3200" spc="-1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2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3200" spc="-50" dirty="0">
                          <a:latin typeface="Calibri"/>
                          <a:cs typeface="Calibri"/>
                        </a:rPr>
                        <a:t>I</a:t>
                      </a:r>
                      <a:endParaRPr sz="32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D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12" rIns="0" bIns="0" rtlCol="0">
            <a:spAutoFit/>
          </a:bodyPr>
          <a:lstStyle/>
          <a:p>
            <a:pPr marL="296100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DF070A39-B31E-4920-B56E-5692F64C60C1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74650" y="1418124"/>
          <a:ext cx="11353165" cy="49739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58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95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marL="66675">
                        <a:lnSpc>
                          <a:spcPts val="3750"/>
                        </a:lnSpc>
                      </a:pPr>
                      <a:r>
                        <a:rPr sz="3200" b="1" spc="-5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7</a:t>
                      </a:r>
                      <a:endParaRPr sz="32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3710"/>
                        </a:lnSpc>
                      </a:pPr>
                      <a:r>
                        <a:rPr sz="3200" spc="-10" dirty="0">
                          <a:latin typeface="Calibri"/>
                          <a:cs typeface="Calibri"/>
                        </a:rPr>
                        <a:t>Latent</a:t>
                      </a:r>
                      <a:r>
                        <a:rPr sz="3200" spc="-1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25" dirty="0">
                          <a:latin typeface="Calibri"/>
                          <a:cs typeface="Calibri"/>
                        </a:rPr>
                        <a:t>Variable</a:t>
                      </a:r>
                      <a:r>
                        <a:rPr sz="3200" spc="-1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Models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marL="66675">
                        <a:lnSpc>
                          <a:spcPts val="3710"/>
                        </a:lnSpc>
                      </a:pPr>
                      <a:r>
                        <a:rPr sz="32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3710"/>
                        </a:lnSpc>
                      </a:pPr>
                      <a:r>
                        <a:rPr sz="3200" spc="-35" dirty="0">
                          <a:latin typeface="Calibri"/>
                          <a:cs typeface="Calibri"/>
                        </a:rPr>
                        <a:t>Flow-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based</a:t>
                      </a:r>
                      <a:r>
                        <a:rPr sz="32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Models</a:t>
                      </a:r>
                      <a:r>
                        <a:rPr sz="32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(Normalizing</a:t>
                      </a:r>
                      <a:r>
                        <a:rPr sz="32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Flows)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marL="66675">
                        <a:lnSpc>
                          <a:spcPts val="3750"/>
                        </a:lnSpc>
                      </a:pPr>
                      <a:r>
                        <a:rPr sz="32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9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3710"/>
                        </a:lnSpc>
                      </a:pPr>
                      <a:r>
                        <a:rPr sz="3200" spc="-10" dirty="0">
                          <a:latin typeface="Calibri"/>
                          <a:cs typeface="Calibri"/>
                        </a:rPr>
                        <a:t>Introduction</a:t>
                      </a:r>
                      <a:r>
                        <a:rPr sz="32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32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25" dirty="0">
                          <a:latin typeface="Calibri"/>
                          <a:cs typeface="Calibri"/>
                        </a:rPr>
                        <a:t>Variational</a:t>
                      </a:r>
                      <a:r>
                        <a:rPr sz="32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Autoencoders</a:t>
                      </a:r>
                      <a:r>
                        <a:rPr sz="32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(VAEs)</a:t>
                      </a:r>
                      <a:endParaRPr sz="32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7930">
                <a:tc>
                  <a:txBody>
                    <a:bodyPr/>
                    <a:lstStyle/>
                    <a:p>
                      <a:pPr marL="66675">
                        <a:lnSpc>
                          <a:spcPts val="3710"/>
                        </a:lnSpc>
                      </a:pPr>
                      <a:r>
                        <a:rPr sz="3200" b="1" spc="-2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10</a:t>
                      </a:r>
                      <a:endParaRPr sz="32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3710"/>
                        </a:lnSpc>
                      </a:pPr>
                      <a:r>
                        <a:rPr sz="3200" spc="-10" dirty="0">
                          <a:latin typeface="Calibri"/>
                          <a:cs typeface="Calibri"/>
                        </a:rPr>
                        <a:t>Generative</a:t>
                      </a:r>
                      <a:r>
                        <a:rPr sz="3200" spc="-1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Adversarial</a:t>
                      </a:r>
                      <a:r>
                        <a:rPr sz="3200" spc="-1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Networks</a:t>
                      </a:r>
                      <a:r>
                        <a:rPr sz="3200" spc="-1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(GANs)</a:t>
                      </a:r>
                      <a:endParaRPr sz="3200" dirty="0">
                        <a:latin typeface="Calibri"/>
                        <a:cs typeface="Calibri"/>
                      </a:endParaRPr>
                    </a:p>
                    <a:p>
                      <a:pPr marL="281940" indent="-215265">
                        <a:lnSpc>
                          <a:spcPct val="100000"/>
                        </a:lnSpc>
                        <a:buChar char="-"/>
                        <a:tabLst>
                          <a:tab pos="281940" algn="l"/>
                        </a:tabLst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Wasserstein</a:t>
                      </a:r>
                      <a:r>
                        <a:rPr sz="3200" spc="-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25" dirty="0">
                          <a:latin typeface="Calibri"/>
                          <a:cs typeface="Calibri"/>
                        </a:rPr>
                        <a:t>GAN</a:t>
                      </a:r>
                      <a:endParaRPr sz="3200" dirty="0">
                        <a:latin typeface="Calibri"/>
                        <a:cs typeface="Calibri"/>
                      </a:endParaRPr>
                    </a:p>
                    <a:p>
                      <a:pPr marL="281940" indent="-215265">
                        <a:lnSpc>
                          <a:spcPct val="100000"/>
                        </a:lnSpc>
                        <a:buChar char="-"/>
                        <a:tabLst>
                          <a:tab pos="281940" algn="l"/>
                        </a:tabLst>
                      </a:pPr>
                      <a:r>
                        <a:rPr sz="3200" dirty="0">
                          <a:latin typeface="Calibri"/>
                          <a:cs typeface="Calibri"/>
                        </a:rPr>
                        <a:t>GAN</a:t>
                      </a:r>
                      <a:r>
                        <a:rPr sz="32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32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95" dirty="0">
                          <a:latin typeface="Calibri"/>
                          <a:cs typeface="Calibri"/>
                        </a:rPr>
                        <a:t>NLP,</a:t>
                      </a:r>
                      <a:r>
                        <a:rPr sz="32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25" dirty="0">
                          <a:latin typeface="Calibri"/>
                          <a:cs typeface="Calibri"/>
                        </a:rPr>
                        <a:t>CV</a:t>
                      </a:r>
                      <a:endParaRPr sz="3200" dirty="0">
                        <a:latin typeface="Calibri"/>
                        <a:cs typeface="Calibri"/>
                      </a:endParaRPr>
                    </a:p>
                    <a:p>
                      <a:pPr marL="66675" marR="85725" indent="353060">
                        <a:lnSpc>
                          <a:spcPct val="100000"/>
                        </a:lnSpc>
                        <a:buChar char="-"/>
                        <a:tabLst>
                          <a:tab pos="419734" algn="l"/>
                          <a:tab pos="1148715" algn="l"/>
                          <a:tab pos="2245360" algn="l"/>
                          <a:tab pos="3477895" algn="l"/>
                          <a:tab pos="5066665" algn="l"/>
                          <a:tab pos="7386955" algn="l"/>
                          <a:tab pos="8780145" algn="l"/>
                        </a:tabLst>
                      </a:pPr>
                      <a:r>
                        <a:rPr sz="3200" spc="-25" dirty="0">
                          <a:latin typeface="Calibri"/>
                          <a:cs typeface="Calibri"/>
                        </a:rPr>
                        <a:t>e.g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3200" spc="-20" dirty="0">
                          <a:latin typeface="Calibri"/>
                          <a:cs typeface="Calibri"/>
                        </a:rPr>
                        <a:t>Deep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Fakes,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BigGAN,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StyleGAN2,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Pix2Pix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32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CycleGAN</a:t>
                      </a:r>
                      <a:endParaRPr sz="32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marL="66675">
                        <a:lnSpc>
                          <a:spcPts val="3710"/>
                        </a:lnSpc>
                      </a:pPr>
                      <a:r>
                        <a:rPr sz="32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11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3710"/>
                        </a:lnSpc>
                      </a:pPr>
                      <a:r>
                        <a:rPr sz="3200" spc="-35" dirty="0">
                          <a:latin typeface="Calibri"/>
                          <a:cs typeface="Calibri"/>
                        </a:rPr>
                        <a:t>Transformer</a:t>
                      </a:r>
                      <a:r>
                        <a:rPr sz="32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Models</a:t>
                      </a:r>
                      <a:r>
                        <a:rPr sz="32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32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32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Generation</a:t>
                      </a:r>
                      <a:endParaRPr sz="32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marL="66675">
                        <a:lnSpc>
                          <a:spcPts val="3750"/>
                        </a:lnSpc>
                      </a:pPr>
                      <a:r>
                        <a:rPr sz="3200" b="1" spc="-25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12</a:t>
                      </a:r>
                      <a:endParaRPr sz="32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D4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50"/>
                        </a:lnSpc>
                      </a:pPr>
                      <a:r>
                        <a:rPr sz="3200" dirty="0">
                          <a:latin typeface="Calibri"/>
                          <a:cs typeface="Calibri"/>
                        </a:rPr>
                        <a:t>Sessional</a:t>
                      </a:r>
                      <a:r>
                        <a:rPr sz="32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32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25" dirty="0">
                          <a:latin typeface="Calibri"/>
                          <a:cs typeface="Calibri"/>
                        </a:rPr>
                        <a:t>II</a:t>
                      </a:r>
                      <a:endParaRPr sz="32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AD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12" rIns="0" bIns="0" rtlCol="0">
            <a:spAutoFit/>
          </a:bodyPr>
          <a:lstStyle/>
          <a:p>
            <a:pPr marL="296100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C3C0A13E-FD04-43D6-BB8A-E25E7C868EC9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28600" y="1433674"/>
          <a:ext cx="11430000" cy="4197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70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59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99515">
                <a:tc>
                  <a:txBody>
                    <a:bodyPr/>
                    <a:lstStyle/>
                    <a:p>
                      <a:pPr marL="66675">
                        <a:lnSpc>
                          <a:spcPts val="3710"/>
                        </a:lnSpc>
                      </a:pPr>
                      <a:r>
                        <a:rPr sz="3200" b="1" spc="-25" dirty="0">
                          <a:latin typeface="Calibri"/>
                          <a:cs typeface="Calibri"/>
                        </a:rPr>
                        <a:t>13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538CD4"/>
                    </a:solidFill>
                  </a:tcPr>
                </a:tc>
                <a:tc>
                  <a:txBody>
                    <a:bodyPr/>
                    <a:lstStyle/>
                    <a:p>
                      <a:pPr marL="66675" marR="200660">
                        <a:lnSpc>
                          <a:spcPts val="3840"/>
                        </a:lnSpc>
                        <a:tabLst>
                          <a:tab pos="1271905" algn="l"/>
                          <a:tab pos="3153410" algn="l"/>
                          <a:tab pos="4698365" algn="l"/>
                          <a:tab pos="5839460" algn="l"/>
                          <a:tab pos="7215505" algn="l"/>
                          <a:tab pos="8423910" algn="l"/>
                        </a:tabLst>
                      </a:pPr>
                      <a:r>
                        <a:rPr sz="3200" spc="-10" dirty="0">
                          <a:latin typeface="Calibri"/>
                          <a:cs typeface="Calibri"/>
                        </a:rPr>
                        <a:t>Large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Language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Models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(e.g.,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3200" spc="-90" dirty="0">
                          <a:latin typeface="Calibri"/>
                          <a:cs typeface="Calibri"/>
                        </a:rPr>
                        <a:t>GPT-</a:t>
                      </a:r>
                      <a:r>
                        <a:rPr sz="3200" spc="-25" dirty="0">
                          <a:latin typeface="Calibri"/>
                          <a:cs typeface="Calibri"/>
                        </a:rPr>
                        <a:t>3,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BERT,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3200" spc="-95" dirty="0">
                          <a:latin typeface="Calibri"/>
                          <a:cs typeface="Calibri"/>
                        </a:rPr>
                        <a:t>BART, 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DistillBert,</a:t>
                      </a:r>
                      <a:r>
                        <a:rPr sz="32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35" dirty="0">
                          <a:latin typeface="Calibri"/>
                          <a:cs typeface="Calibri"/>
                        </a:rPr>
                        <a:t>DALL-</a:t>
                      </a:r>
                      <a:r>
                        <a:rPr sz="3200" spc="-25" dirty="0">
                          <a:latin typeface="Calibri"/>
                          <a:cs typeface="Calibri"/>
                        </a:rPr>
                        <a:t>E)</a:t>
                      </a:r>
                      <a:endParaRPr sz="32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9440">
                <a:tc rowSpan="4">
                  <a:txBody>
                    <a:bodyPr/>
                    <a:lstStyle/>
                    <a:p>
                      <a:pPr marL="66675">
                        <a:lnSpc>
                          <a:spcPts val="3710"/>
                        </a:lnSpc>
                      </a:pPr>
                      <a:r>
                        <a:rPr sz="3200" b="1" spc="-25" dirty="0">
                          <a:latin typeface="Calibri"/>
                          <a:cs typeface="Calibri"/>
                        </a:rPr>
                        <a:t>14</a:t>
                      </a:r>
                      <a:endParaRPr sz="32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3200" b="1" spc="-25" dirty="0">
                          <a:latin typeface="Calibri"/>
                          <a:cs typeface="Calibri"/>
                        </a:rPr>
                        <a:t>15</a:t>
                      </a:r>
                      <a:endParaRPr sz="3200">
                        <a:latin typeface="Calibri"/>
                        <a:cs typeface="Calibri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  <a:spcBef>
                          <a:spcPts val="3245"/>
                        </a:spcBef>
                      </a:pPr>
                      <a:r>
                        <a:rPr sz="3200" b="1" spc="-25" dirty="0">
                          <a:latin typeface="Calibri"/>
                          <a:cs typeface="Calibri"/>
                        </a:rPr>
                        <a:t>16</a:t>
                      </a:r>
                      <a:endParaRPr sz="3200">
                        <a:latin typeface="Calibri"/>
                        <a:cs typeface="Calibri"/>
                      </a:endParaRPr>
                    </a:p>
                    <a:p>
                      <a:pPr marL="15811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3200" b="1" spc="-25" dirty="0">
                          <a:latin typeface="Calibri"/>
                          <a:cs typeface="Calibri"/>
                        </a:rPr>
                        <a:t>17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538CD4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3710"/>
                        </a:lnSpc>
                      </a:pPr>
                      <a:r>
                        <a:rPr sz="3200" spc="-10" dirty="0">
                          <a:latin typeface="Calibri"/>
                          <a:cs typeface="Calibri"/>
                        </a:rPr>
                        <a:t>Introduction</a:t>
                      </a:r>
                      <a:r>
                        <a:rPr sz="32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32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Diffusion</a:t>
                      </a:r>
                      <a:r>
                        <a:rPr sz="32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Models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12700">
                      <a:solidFill>
                        <a:srgbClr val="4F81BD"/>
                      </a:solidFill>
                      <a:prstDash val="solid"/>
                    </a:lnT>
                    <a:solidFill>
                      <a:srgbClr val="4F81BD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951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538CD4"/>
                    </a:solidFill>
                  </a:tcPr>
                </a:tc>
                <a:tc>
                  <a:txBody>
                    <a:bodyPr/>
                    <a:lstStyle/>
                    <a:p>
                      <a:pPr marL="66675" marR="98425">
                        <a:lnSpc>
                          <a:spcPts val="3840"/>
                        </a:lnSpc>
                        <a:tabLst>
                          <a:tab pos="1231265" algn="l"/>
                          <a:tab pos="2048510" algn="l"/>
                          <a:tab pos="3433445" algn="l"/>
                          <a:tab pos="5483225" algn="l"/>
                          <a:tab pos="7016115" algn="l"/>
                          <a:tab pos="7936865" algn="l"/>
                        </a:tabLst>
                      </a:pPr>
                      <a:r>
                        <a:rPr sz="3200" spc="-10" dirty="0">
                          <a:latin typeface="Calibri"/>
                          <a:cs typeface="Calibri"/>
                        </a:rPr>
                        <a:t>Audio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3200" spc="-25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Speech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Generation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Models: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(e.g.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3200" spc="-45" dirty="0">
                          <a:latin typeface="Calibri"/>
                          <a:cs typeface="Calibri"/>
                        </a:rPr>
                        <a:t>WaveNet </a:t>
                      </a:r>
                      <a:r>
                        <a:rPr sz="32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32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SampleRN,</a:t>
                      </a:r>
                      <a:r>
                        <a:rPr sz="32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Tacotron)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94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538CD4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3200" dirty="0">
                          <a:latin typeface="Calibri"/>
                          <a:cs typeface="Calibri"/>
                        </a:rPr>
                        <a:t>Project</a:t>
                      </a:r>
                      <a:r>
                        <a:rPr sz="3200" spc="-1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Presentations/</a:t>
                      </a:r>
                      <a:r>
                        <a:rPr sz="3200" spc="-1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0" dirty="0">
                          <a:latin typeface="Calibri"/>
                          <a:cs typeface="Calibri"/>
                        </a:rPr>
                        <a:t>Evaluations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39370" marB="0">
                    <a:solidFill>
                      <a:srgbClr val="4F81BD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94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T w="12700">
                      <a:solidFill>
                        <a:srgbClr val="4F81BD"/>
                      </a:solidFill>
                      <a:prstDash val="solid"/>
                    </a:lnT>
                    <a:lnB w="12700">
                      <a:solidFill>
                        <a:srgbClr val="4F81BD"/>
                      </a:solidFill>
                      <a:prstDash val="solid"/>
                    </a:lnB>
                    <a:solidFill>
                      <a:srgbClr val="538CD4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3200" spc="-10" dirty="0">
                          <a:latin typeface="Calibri"/>
                          <a:cs typeface="Calibri"/>
                        </a:rPr>
                        <a:t>Final</a:t>
                      </a:r>
                      <a:endParaRPr sz="3200" dirty="0">
                        <a:latin typeface="Calibri"/>
                        <a:cs typeface="Calibri"/>
                      </a:endParaRPr>
                    </a:p>
                  </a:txBody>
                  <a:tcPr marL="0" marR="0" marT="39370" marB="0">
                    <a:lnB w="12700">
                      <a:solidFill>
                        <a:srgbClr val="4F81B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5947" y="1537885"/>
            <a:ext cx="4018279" cy="138112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675"/>
              </a:spcBef>
              <a:buChar char="•"/>
              <a:tabLst>
                <a:tab pos="301625" algn="l"/>
              </a:tabLst>
            </a:pPr>
            <a:r>
              <a:rPr sz="2800" spc="-165" dirty="0">
                <a:latin typeface="Arial MT"/>
                <a:cs typeface="Arial MT"/>
              </a:rPr>
              <a:t>To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Introduce</a:t>
            </a:r>
            <a:r>
              <a:rPr sz="2800" spc="-114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Yourself</a:t>
            </a:r>
            <a:endParaRPr sz="2800">
              <a:latin typeface="Arial MT"/>
              <a:cs typeface="Arial MT"/>
            </a:endParaRPr>
          </a:p>
          <a:p>
            <a:pPr marL="701675" lvl="1" indent="-302260">
              <a:lnSpc>
                <a:spcPct val="100000"/>
              </a:lnSpc>
              <a:spcBef>
                <a:spcPts val="500"/>
              </a:spcBef>
              <a:buChar char="–"/>
              <a:tabLst>
                <a:tab pos="701675" algn="l"/>
              </a:tabLst>
            </a:pPr>
            <a:r>
              <a:rPr sz="2400" spc="-40" dirty="0">
                <a:latin typeface="Arial MT"/>
                <a:cs typeface="Arial MT"/>
              </a:rPr>
              <a:t>Your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Name</a:t>
            </a:r>
            <a:endParaRPr sz="2400">
              <a:latin typeface="Arial MT"/>
              <a:cs typeface="Arial MT"/>
            </a:endParaRPr>
          </a:p>
          <a:p>
            <a:pPr marL="701675" lvl="1" indent="-302260">
              <a:lnSpc>
                <a:spcPct val="100000"/>
              </a:lnSpc>
              <a:spcBef>
                <a:spcPts val="480"/>
              </a:spcBef>
              <a:buChar char="–"/>
              <a:tabLst>
                <a:tab pos="701675" algn="l"/>
              </a:tabLst>
            </a:pPr>
            <a:r>
              <a:rPr sz="2400" spc="-10" dirty="0">
                <a:latin typeface="Arial MT"/>
                <a:cs typeface="Arial MT"/>
              </a:rPr>
              <a:t>Educational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Background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53111" y="723393"/>
            <a:ext cx="26847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It’s</a:t>
            </a:r>
            <a:r>
              <a:rPr spc="-170" dirty="0"/>
              <a:t> </a:t>
            </a:r>
            <a:r>
              <a:rPr spc="-55" dirty="0"/>
              <a:t>Your</a:t>
            </a:r>
            <a:r>
              <a:rPr spc="-165" dirty="0"/>
              <a:t> </a:t>
            </a:r>
            <a:r>
              <a:rPr spc="-20" dirty="0"/>
              <a:t>Turn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0" y="2057400"/>
            <a:ext cx="3440667" cy="388107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24E3CEA7-4797-462B-83EB-51394E67883F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90785" y="3312265"/>
            <a:ext cx="21850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Lecture</a:t>
            </a:r>
            <a:r>
              <a:rPr spc="-35" dirty="0"/>
              <a:t> </a:t>
            </a:r>
            <a:r>
              <a:rPr spc="-25" dirty="0"/>
              <a:t>#1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06268" y="444501"/>
            <a:ext cx="8491220" cy="1116965"/>
            <a:chOff x="1806268" y="444501"/>
            <a:chExt cx="8491220" cy="1116965"/>
          </a:xfrm>
        </p:grpSpPr>
        <p:sp>
          <p:nvSpPr>
            <p:cNvPr id="4" name="object 4"/>
            <p:cNvSpPr/>
            <p:nvPr/>
          </p:nvSpPr>
          <p:spPr>
            <a:xfrm>
              <a:off x="1818968" y="457201"/>
              <a:ext cx="8465820" cy="1091565"/>
            </a:xfrm>
            <a:custGeom>
              <a:avLst/>
              <a:gdLst/>
              <a:ahLst/>
              <a:cxnLst/>
              <a:rect l="l" t="t" r="r" b="b"/>
              <a:pathLst>
                <a:path w="8465820" h="1091565">
                  <a:moveTo>
                    <a:pt x="8465574" y="1091380"/>
                  </a:moveTo>
                  <a:lnTo>
                    <a:pt x="0" y="1091380"/>
                  </a:lnTo>
                  <a:lnTo>
                    <a:pt x="0" y="0"/>
                  </a:lnTo>
                  <a:lnTo>
                    <a:pt x="8465574" y="0"/>
                  </a:lnTo>
                  <a:lnTo>
                    <a:pt x="8465574" y="10913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18968" y="457201"/>
              <a:ext cx="8465820" cy="1091565"/>
            </a:xfrm>
            <a:custGeom>
              <a:avLst/>
              <a:gdLst/>
              <a:ahLst/>
              <a:cxnLst/>
              <a:rect l="l" t="t" r="r" b="b"/>
              <a:pathLst>
                <a:path w="8465820" h="1091565">
                  <a:moveTo>
                    <a:pt x="0" y="0"/>
                  </a:moveTo>
                  <a:lnTo>
                    <a:pt x="8465574" y="0"/>
                  </a:lnTo>
                  <a:lnTo>
                    <a:pt x="8465574" y="1091380"/>
                  </a:lnTo>
                  <a:lnTo>
                    <a:pt x="0" y="1091380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B131C7CF-57F6-4DD0-B4D1-8551B69F494C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0677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Goals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3A8FB29C-8824-41E1-A6CB-2FBC8F22FEBE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82625" y="1537885"/>
            <a:ext cx="7957184" cy="223456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dirty="0">
                <a:latin typeface="Arial MT"/>
                <a:cs typeface="Arial MT"/>
              </a:rPr>
              <a:t>This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lecture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will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cover:</a:t>
            </a:r>
            <a:endParaRPr sz="2800">
              <a:latin typeface="Arial MT"/>
              <a:cs typeface="Arial MT"/>
            </a:endParaRPr>
          </a:p>
          <a:p>
            <a:pPr marL="755015" indent="-302260">
              <a:lnSpc>
                <a:spcPct val="100000"/>
              </a:lnSpc>
              <a:spcBef>
                <a:spcPts val="500"/>
              </a:spcBef>
              <a:buChar char="–"/>
              <a:tabLst>
                <a:tab pos="755015" algn="l"/>
              </a:tabLst>
            </a:pPr>
            <a:r>
              <a:rPr sz="2400" spc="-10" dirty="0">
                <a:latin typeface="Arial MT"/>
                <a:cs typeface="Arial MT"/>
              </a:rPr>
              <a:t>Development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Environment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Setup/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Mendeley/Overleaf</a:t>
            </a:r>
            <a:endParaRPr sz="2400">
              <a:latin typeface="Arial MT"/>
              <a:cs typeface="Arial MT"/>
            </a:endParaRPr>
          </a:p>
          <a:p>
            <a:pPr marL="755015" indent="-302260">
              <a:lnSpc>
                <a:spcPct val="100000"/>
              </a:lnSpc>
              <a:spcBef>
                <a:spcPts val="480"/>
              </a:spcBef>
              <a:buChar char="–"/>
              <a:tabLst>
                <a:tab pos="755015" algn="l"/>
              </a:tabLst>
            </a:pPr>
            <a:r>
              <a:rPr sz="2400" dirty="0">
                <a:latin typeface="Arial MT"/>
                <a:cs typeface="Arial MT"/>
              </a:rPr>
              <a:t>Research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Stages</a:t>
            </a:r>
            <a:endParaRPr sz="2400">
              <a:latin typeface="Arial MT"/>
              <a:cs typeface="Arial MT"/>
            </a:endParaRPr>
          </a:p>
          <a:p>
            <a:pPr marL="755015" indent="-302260">
              <a:lnSpc>
                <a:spcPct val="100000"/>
              </a:lnSpc>
              <a:spcBef>
                <a:spcPts val="480"/>
              </a:spcBef>
              <a:buChar char="–"/>
              <a:tabLst>
                <a:tab pos="755015" algn="l"/>
              </a:tabLst>
            </a:pPr>
            <a:r>
              <a:rPr sz="2400" dirty="0">
                <a:latin typeface="Arial MT"/>
                <a:cs typeface="Arial MT"/>
              </a:rPr>
              <a:t>Why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Machine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Learning?</a:t>
            </a:r>
            <a:endParaRPr sz="2400">
              <a:latin typeface="Arial MT"/>
              <a:cs typeface="Arial MT"/>
            </a:endParaRPr>
          </a:p>
          <a:p>
            <a:pPr marL="755015" indent="-302260">
              <a:lnSpc>
                <a:spcPct val="100000"/>
              </a:lnSpc>
              <a:spcBef>
                <a:spcPts val="480"/>
              </a:spcBef>
              <a:buChar char="–"/>
              <a:tabLst>
                <a:tab pos="755015" algn="l"/>
              </a:tabLst>
            </a:pPr>
            <a:r>
              <a:rPr sz="2400" dirty="0">
                <a:latin typeface="Arial MT"/>
                <a:cs typeface="Arial MT"/>
              </a:rPr>
              <a:t>Why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Generative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Models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5947" y="1537885"/>
            <a:ext cx="9628505" cy="372808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675"/>
              </a:spcBef>
              <a:buChar char="•"/>
              <a:tabLst>
                <a:tab pos="301625" algn="l"/>
              </a:tabLst>
            </a:pPr>
            <a:r>
              <a:rPr sz="2800" dirty="0">
                <a:latin typeface="Arial MT"/>
                <a:cs typeface="Arial MT"/>
              </a:rPr>
              <a:t>Download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Install</a:t>
            </a:r>
            <a:r>
              <a:rPr sz="2800" spc="-1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Anaconda</a:t>
            </a:r>
            <a:endParaRPr sz="2800">
              <a:latin typeface="Arial MT"/>
              <a:cs typeface="Arial MT"/>
            </a:endParaRPr>
          </a:p>
          <a:p>
            <a:pPr marL="701675" lvl="1" indent="-302260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Char char="–"/>
              <a:tabLst>
                <a:tab pos="701675" algn="l"/>
              </a:tabLst>
            </a:pPr>
            <a:r>
              <a:rPr sz="24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https://www.anaconda.com/</a:t>
            </a:r>
            <a:endParaRPr sz="2400">
              <a:latin typeface="Arial MT"/>
              <a:cs typeface="Arial MT"/>
            </a:endParaRPr>
          </a:p>
          <a:p>
            <a:pPr marL="701675" lvl="1" indent="-302260">
              <a:lnSpc>
                <a:spcPct val="100000"/>
              </a:lnSpc>
              <a:spcBef>
                <a:spcPts val="480"/>
              </a:spcBef>
              <a:buChar char="–"/>
              <a:tabLst>
                <a:tab pos="701675" algn="l"/>
              </a:tabLst>
            </a:pPr>
            <a:r>
              <a:rPr sz="2400" dirty="0">
                <a:latin typeface="Arial MT"/>
                <a:cs typeface="Arial MT"/>
              </a:rPr>
              <a:t>Individual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Edition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Free</a:t>
            </a:r>
            <a:endParaRPr sz="2400">
              <a:latin typeface="Arial MT"/>
              <a:cs typeface="Arial MT"/>
            </a:endParaRPr>
          </a:p>
          <a:p>
            <a:pPr marL="301625" indent="-288925">
              <a:lnSpc>
                <a:spcPct val="100000"/>
              </a:lnSpc>
              <a:spcBef>
                <a:spcPts val="540"/>
              </a:spcBef>
              <a:buChar char="•"/>
              <a:tabLst>
                <a:tab pos="301625" algn="l"/>
              </a:tabLst>
            </a:pPr>
            <a:r>
              <a:rPr sz="2800" dirty="0">
                <a:latin typeface="Arial MT"/>
                <a:cs typeface="Arial MT"/>
              </a:rPr>
              <a:t>Visual</a:t>
            </a:r>
            <a:r>
              <a:rPr sz="2800" spc="-1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Studio</a:t>
            </a:r>
            <a:r>
              <a:rPr sz="2800" spc="-12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Code</a:t>
            </a:r>
            <a:endParaRPr sz="2800">
              <a:latin typeface="Arial MT"/>
              <a:cs typeface="Arial MT"/>
            </a:endParaRPr>
          </a:p>
          <a:p>
            <a:pPr marL="301625" indent="-288925">
              <a:lnSpc>
                <a:spcPct val="100000"/>
              </a:lnSpc>
              <a:spcBef>
                <a:spcPts val="560"/>
              </a:spcBef>
              <a:buChar char="•"/>
              <a:tabLst>
                <a:tab pos="301625" algn="l"/>
              </a:tabLst>
            </a:pPr>
            <a:r>
              <a:rPr sz="2800" dirty="0">
                <a:latin typeface="Arial MT"/>
                <a:cs typeface="Arial MT"/>
              </a:rPr>
              <a:t>Conda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Installation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12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Tensorflow:</a:t>
            </a:r>
            <a:endParaRPr sz="2800">
              <a:latin typeface="Arial MT"/>
              <a:cs typeface="Arial MT"/>
            </a:endParaRPr>
          </a:p>
          <a:p>
            <a:pPr marL="701675" lvl="1" indent="-302260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Char char="–"/>
              <a:tabLst>
                <a:tab pos="701675" algn="l"/>
              </a:tabLst>
            </a:pPr>
            <a:r>
              <a:rPr sz="24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</a:rPr>
              <a:t>https://docs.anaconda.com/free/anaconda/applications/tensorflow/</a:t>
            </a:r>
            <a:endParaRPr sz="2400">
              <a:latin typeface="Arial MT"/>
              <a:cs typeface="Arial MT"/>
            </a:endParaRPr>
          </a:p>
          <a:p>
            <a:pPr marL="301625" indent="-288925">
              <a:lnSpc>
                <a:spcPct val="100000"/>
              </a:lnSpc>
              <a:spcBef>
                <a:spcPts val="540"/>
              </a:spcBef>
              <a:buChar char="•"/>
              <a:tabLst>
                <a:tab pos="301625" algn="l"/>
              </a:tabLst>
            </a:pPr>
            <a:r>
              <a:rPr sz="2800" dirty="0">
                <a:latin typeface="Arial MT"/>
                <a:cs typeface="Arial MT"/>
              </a:rPr>
              <a:t>PIP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Installation</a:t>
            </a:r>
            <a:endParaRPr sz="2800">
              <a:latin typeface="Arial MT"/>
              <a:cs typeface="Arial MT"/>
            </a:endParaRPr>
          </a:p>
          <a:p>
            <a:pPr marL="701675" lvl="1" indent="-302260">
              <a:lnSpc>
                <a:spcPct val="100000"/>
              </a:lnSpc>
              <a:spcBef>
                <a:spcPts val="500"/>
              </a:spcBef>
              <a:buClr>
                <a:srgbClr val="000000"/>
              </a:buClr>
              <a:buChar char="–"/>
              <a:tabLst>
                <a:tab pos="701675" algn="l"/>
              </a:tabLst>
            </a:pPr>
            <a:r>
              <a:rPr sz="24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3"/>
              </a:rPr>
              <a:t>https://www.tensorflow.org/install/pip#linux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9D476CF8-0421-436E-96DD-29E7F2BE2D54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12" rIns="0" bIns="0" rtlCol="0">
            <a:spAutoFit/>
          </a:bodyPr>
          <a:lstStyle/>
          <a:p>
            <a:pPr marL="330200">
              <a:lnSpc>
                <a:spcPct val="100000"/>
              </a:lnSpc>
              <a:spcBef>
                <a:spcPts val="100"/>
              </a:spcBef>
            </a:pPr>
            <a:r>
              <a:rPr dirty="0"/>
              <a:t>Development</a:t>
            </a:r>
            <a:r>
              <a:rPr spc="-60" dirty="0"/>
              <a:t> </a:t>
            </a:r>
            <a:r>
              <a:rPr dirty="0"/>
              <a:t>Environment</a:t>
            </a:r>
            <a:r>
              <a:rPr spc="-60" dirty="0"/>
              <a:t> </a:t>
            </a:r>
            <a:r>
              <a:rPr spc="-10" dirty="0"/>
              <a:t>Setup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3580" y="1528065"/>
            <a:ext cx="9175115" cy="3357879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94005" indent="-281305">
              <a:lnSpc>
                <a:spcPct val="100000"/>
              </a:lnSpc>
              <a:spcBef>
                <a:spcPts val="740"/>
              </a:spcBef>
              <a:buFont typeface="Arial MT"/>
              <a:buChar char="•"/>
              <a:tabLst>
                <a:tab pos="294005" algn="l"/>
              </a:tabLst>
            </a:pPr>
            <a:r>
              <a:rPr sz="3200" spc="50" dirty="0">
                <a:latin typeface="Tahoma"/>
                <a:cs typeface="Tahoma"/>
              </a:rPr>
              <a:t>Use</a:t>
            </a:r>
            <a:r>
              <a:rPr sz="3200" spc="-360" dirty="0">
                <a:latin typeface="Tahoma"/>
                <a:cs typeface="Tahoma"/>
              </a:rPr>
              <a:t> </a:t>
            </a:r>
            <a:r>
              <a:rPr sz="3200" b="1" spc="-220" dirty="0">
                <a:latin typeface="Tahoma"/>
                <a:cs typeface="Tahoma"/>
              </a:rPr>
              <a:t>LaTeX</a:t>
            </a:r>
            <a:r>
              <a:rPr sz="3200" b="1" spc="-290" dirty="0">
                <a:latin typeface="Tahoma"/>
                <a:cs typeface="Tahoma"/>
              </a:rPr>
              <a:t> </a:t>
            </a:r>
            <a:r>
              <a:rPr sz="3200" b="1" spc="-135" dirty="0">
                <a:latin typeface="Tahoma"/>
                <a:cs typeface="Tahoma"/>
              </a:rPr>
              <a:t>for</a:t>
            </a:r>
            <a:r>
              <a:rPr sz="3200" b="1" spc="-300" dirty="0">
                <a:latin typeface="Tahoma"/>
                <a:cs typeface="Tahoma"/>
              </a:rPr>
              <a:t> </a:t>
            </a:r>
            <a:r>
              <a:rPr sz="3200" b="1" spc="-45" dirty="0">
                <a:latin typeface="Tahoma"/>
                <a:cs typeface="Tahoma"/>
              </a:rPr>
              <a:t>writing</a:t>
            </a:r>
            <a:endParaRPr sz="3200" dirty="0">
              <a:latin typeface="Tahoma"/>
              <a:cs typeface="Tahoma"/>
            </a:endParaRPr>
          </a:p>
          <a:p>
            <a:pPr marL="294005" indent="-281305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294005" algn="l"/>
              </a:tabLst>
            </a:pPr>
            <a:r>
              <a:rPr sz="3200" spc="-25" dirty="0">
                <a:latin typeface="Tahoma"/>
                <a:cs typeface="Tahoma"/>
              </a:rPr>
              <a:t>The</a:t>
            </a:r>
            <a:r>
              <a:rPr sz="3200" spc="-31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easy</a:t>
            </a:r>
            <a:r>
              <a:rPr sz="3200" spc="-310" dirty="0">
                <a:latin typeface="Tahoma"/>
                <a:cs typeface="Tahoma"/>
              </a:rPr>
              <a:t> </a:t>
            </a:r>
            <a:r>
              <a:rPr sz="3200" spc="70" dirty="0">
                <a:latin typeface="Tahoma"/>
                <a:cs typeface="Tahoma"/>
              </a:rPr>
              <a:t>to</a:t>
            </a:r>
            <a:r>
              <a:rPr sz="3200" spc="-310" dirty="0">
                <a:latin typeface="Tahoma"/>
                <a:cs typeface="Tahoma"/>
              </a:rPr>
              <a:t> </a:t>
            </a:r>
            <a:r>
              <a:rPr sz="3200" spc="-95" dirty="0">
                <a:latin typeface="Tahoma"/>
                <a:cs typeface="Tahoma"/>
              </a:rPr>
              <a:t>use,</a:t>
            </a:r>
            <a:r>
              <a:rPr sz="3200" spc="-305" dirty="0">
                <a:latin typeface="Tahoma"/>
                <a:cs typeface="Tahoma"/>
              </a:rPr>
              <a:t> </a:t>
            </a:r>
            <a:r>
              <a:rPr sz="3200" spc="-35" dirty="0">
                <a:latin typeface="Tahoma"/>
                <a:cs typeface="Tahoma"/>
              </a:rPr>
              <a:t>online,</a:t>
            </a:r>
            <a:r>
              <a:rPr sz="3200" spc="-31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collaborative</a:t>
            </a:r>
            <a:r>
              <a:rPr sz="3200" spc="-320" dirty="0">
                <a:latin typeface="Tahoma"/>
                <a:cs typeface="Tahoma"/>
              </a:rPr>
              <a:t> </a:t>
            </a:r>
            <a:r>
              <a:rPr sz="3200" spc="-40" dirty="0">
                <a:solidFill>
                  <a:srgbClr val="FF0000"/>
                </a:solidFill>
                <a:latin typeface="Tahoma"/>
                <a:cs typeface="Tahoma"/>
              </a:rPr>
              <a:t>LaTeX</a:t>
            </a:r>
            <a:r>
              <a:rPr sz="3200" spc="-31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FF0000"/>
                </a:solidFill>
                <a:latin typeface="Tahoma"/>
                <a:cs typeface="Tahoma"/>
              </a:rPr>
              <a:t>editor</a:t>
            </a:r>
            <a:r>
              <a:rPr sz="3200" spc="-10" dirty="0"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 marL="294640" marR="151765" indent="-281940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294640" algn="l"/>
              </a:tabLst>
            </a:pPr>
            <a:r>
              <a:rPr sz="3200" spc="50" dirty="0">
                <a:latin typeface="Tahoma"/>
                <a:cs typeface="Tahoma"/>
              </a:rPr>
              <a:t>Overleaf</a:t>
            </a:r>
            <a:r>
              <a:rPr sz="3200" spc="-31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is</a:t>
            </a:r>
            <a:r>
              <a:rPr sz="3200" spc="-31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used</a:t>
            </a:r>
            <a:r>
              <a:rPr sz="3200" spc="-31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by</a:t>
            </a:r>
            <a:r>
              <a:rPr sz="3200" spc="-31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over</a:t>
            </a:r>
            <a:r>
              <a:rPr sz="3200" spc="-30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nine</a:t>
            </a:r>
            <a:r>
              <a:rPr sz="3200" spc="-31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million</a:t>
            </a:r>
            <a:r>
              <a:rPr sz="3200" spc="-330" dirty="0"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00B050"/>
                </a:solidFill>
                <a:latin typeface="Tahoma"/>
                <a:cs typeface="Tahoma"/>
              </a:rPr>
              <a:t>students</a:t>
            </a:r>
            <a:r>
              <a:rPr sz="3200" spc="-310" dirty="0">
                <a:solidFill>
                  <a:srgbClr val="00B050"/>
                </a:solidFill>
                <a:latin typeface="Tahoma"/>
                <a:cs typeface="Tahoma"/>
              </a:rPr>
              <a:t> </a:t>
            </a:r>
            <a:r>
              <a:rPr sz="3200" spc="-25" dirty="0">
                <a:solidFill>
                  <a:srgbClr val="00B050"/>
                </a:solidFill>
                <a:latin typeface="Tahoma"/>
                <a:cs typeface="Tahoma"/>
              </a:rPr>
              <a:t>and academics</a:t>
            </a:r>
            <a:r>
              <a:rPr sz="3200" spc="-225" dirty="0">
                <a:solidFill>
                  <a:srgbClr val="00B050"/>
                </a:solidFill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at</a:t>
            </a:r>
            <a:r>
              <a:rPr sz="3200" spc="-21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6,800</a:t>
            </a:r>
            <a:r>
              <a:rPr sz="3200" spc="-21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institutions</a:t>
            </a:r>
            <a:r>
              <a:rPr sz="3200" spc="-21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worldwide</a:t>
            </a:r>
            <a:endParaRPr sz="3200" dirty="0">
              <a:latin typeface="Tahoma"/>
              <a:cs typeface="Tahoma"/>
            </a:endParaRPr>
          </a:p>
          <a:p>
            <a:pPr marL="294005" indent="-281305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294005" algn="l"/>
              </a:tabLst>
            </a:pPr>
            <a:r>
              <a:rPr sz="3200" spc="130" dirty="0">
                <a:latin typeface="Tahoma"/>
                <a:cs typeface="Tahoma"/>
              </a:rPr>
              <a:t>Work</a:t>
            </a:r>
            <a:r>
              <a:rPr sz="3200" spc="-32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from</a:t>
            </a:r>
            <a:r>
              <a:rPr sz="3200" spc="-325" dirty="0"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0070C0"/>
                </a:solidFill>
                <a:latin typeface="Tahoma"/>
                <a:cs typeface="Tahoma"/>
              </a:rPr>
              <a:t>anywhere</a:t>
            </a:r>
            <a:endParaRPr sz="3200" dirty="0">
              <a:latin typeface="Tahoma"/>
              <a:cs typeface="Tahoma"/>
            </a:endParaRPr>
          </a:p>
          <a:p>
            <a:pPr marL="294005" indent="-281305">
              <a:lnSpc>
                <a:spcPct val="100000"/>
              </a:lnSpc>
              <a:spcBef>
                <a:spcPts val="640"/>
              </a:spcBef>
              <a:buClr>
                <a:srgbClr val="0070C0"/>
              </a:buClr>
              <a:buFont typeface="Arial MT"/>
              <a:buChar char="•"/>
              <a:tabLst>
                <a:tab pos="294005" algn="l"/>
              </a:tabLst>
            </a:pPr>
            <a:r>
              <a:rPr sz="32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</a:rPr>
              <a:t>https://</a:t>
            </a:r>
            <a:r>
              <a:rPr sz="32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2"/>
              </a:rPr>
              <a:t>www.overleaf.com</a:t>
            </a:r>
            <a:endParaRPr sz="32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80A0790C-BF12-40DB-A086-3B293B8D0E9E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12" rIns="0" bIns="0" rtlCol="0">
            <a:spAutoFit/>
          </a:bodyPr>
          <a:lstStyle/>
          <a:p>
            <a:pPr marL="277050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Overleaf</a:t>
            </a:r>
            <a:r>
              <a:rPr lang="en-US" spc="-10" dirty="0"/>
              <a:t> - Preferable</a:t>
            </a:r>
            <a:endParaRPr spc="-1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1939" y="1553674"/>
            <a:ext cx="6091555" cy="411734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306070" indent="-293370">
              <a:lnSpc>
                <a:spcPct val="100000"/>
              </a:lnSpc>
              <a:spcBef>
                <a:spcPts val="305"/>
              </a:spcBef>
              <a:buChar char="•"/>
              <a:tabLst>
                <a:tab pos="306070" algn="l"/>
              </a:tabLst>
            </a:pPr>
            <a:r>
              <a:rPr sz="2600" dirty="0">
                <a:latin typeface="Arial MT"/>
                <a:cs typeface="Arial MT"/>
              </a:rPr>
              <a:t>Step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1.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Select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</a:t>
            </a:r>
            <a:r>
              <a:rPr sz="2600" spc="-105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Topic</a:t>
            </a:r>
            <a:endParaRPr sz="2600">
              <a:latin typeface="Arial MT"/>
              <a:cs typeface="Arial MT"/>
            </a:endParaRPr>
          </a:p>
          <a:p>
            <a:pPr marL="706120" lvl="1" indent="-301625">
              <a:lnSpc>
                <a:spcPct val="100000"/>
              </a:lnSpc>
              <a:spcBef>
                <a:spcPts val="200"/>
              </a:spcBef>
              <a:buChar char="–"/>
              <a:tabLst>
                <a:tab pos="706120" algn="l"/>
              </a:tabLst>
            </a:pPr>
            <a:r>
              <a:rPr sz="2200" spc="-20" dirty="0">
                <a:latin typeface="Arial MT"/>
                <a:cs typeface="Arial MT"/>
              </a:rPr>
              <a:t>Your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interests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Skills</a:t>
            </a:r>
            <a:endParaRPr sz="2200">
              <a:latin typeface="Arial MT"/>
              <a:cs typeface="Arial MT"/>
            </a:endParaRPr>
          </a:p>
          <a:p>
            <a:pPr marL="706120" lvl="1" indent="-301625">
              <a:lnSpc>
                <a:spcPct val="100000"/>
              </a:lnSpc>
              <a:spcBef>
                <a:spcPts val="200"/>
              </a:spcBef>
              <a:buChar char="–"/>
              <a:tabLst>
                <a:tab pos="706120" algn="l"/>
              </a:tabLst>
            </a:pPr>
            <a:r>
              <a:rPr sz="2200" dirty="0">
                <a:latin typeface="Arial MT"/>
                <a:cs typeface="Arial MT"/>
              </a:rPr>
              <a:t>Supervisor / </a:t>
            </a:r>
            <a:r>
              <a:rPr sz="2200" spc="-10" dirty="0">
                <a:latin typeface="Arial MT"/>
                <a:cs typeface="Arial MT"/>
              </a:rPr>
              <a:t>Project</a:t>
            </a:r>
            <a:endParaRPr sz="2200">
              <a:latin typeface="Arial MT"/>
              <a:cs typeface="Arial MT"/>
            </a:endParaRPr>
          </a:p>
          <a:p>
            <a:pPr marL="706120" lvl="1" indent="-301625">
              <a:lnSpc>
                <a:spcPct val="100000"/>
              </a:lnSpc>
              <a:spcBef>
                <a:spcPts val="200"/>
              </a:spcBef>
              <a:buChar char="–"/>
              <a:tabLst>
                <a:tab pos="706120" algn="l"/>
              </a:tabLst>
            </a:pPr>
            <a:r>
              <a:rPr sz="2200" dirty="0">
                <a:latin typeface="Arial MT"/>
                <a:cs typeface="Arial MT"/>
              </a:rPr>
              <a:t>Availability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resources</a:t>
            </a:r>
            <a:endParaRPr sz="2200">
              <a:latin typeface="Arial MT"/>
              <a:cs typeface="Arial MT"/>
            </a:endParaRPr>
          </a:p>
          <a:p>
            <a:pPr marL="306070" indent="-293370">
              <a:lnSpc>
                <a:spcPct val="100000"/>
              </a:lnSpc>
              <a:spcBef>
                <a:spcPts val="200"/>
              </a:spcBef>
              <a:buChar char="•"/>
              <a:tabLst>
                <a:tab pos="306070" algn="l"/>
              </a:tabLst>
            </a:pPr>
            <a:r>
              <a:rPr sz="2600" dirty="0">
                <a:latin typeface="Arial MT"/>
                <a:cs typeface="Arial MT"/>
              </a:rPr>
              <a:t>Step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2.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Search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for</a:t>
            </a:r>
            <a:r>
              <a:rPr sz="2600" spc="-8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Relevant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Information</a:t>
            </a:r>
            <a:endParaRPr sz="2600">
              <a:latin typeface="Arial MT"/>
              <a:cs typeface="Arial MT"/>
            </a:endParaRPr>
          </a:p>
          <a:p>
            <a:pPr marL="706120" lvl="1" indent="-301625">
              <a:lnSpc>
                <a:spcPct val="100000"/>
              </a:lnSpc>
              <a:spcBef>
                <a:spcPts val="200"/>
              </a:spcBef>
              <a:buChar char="–"/>
              <a:tabLst>
                <a:tab pos="706120" algn="l"/>
              </a:tabLst>
            </a:pPr>
            <a:r>
              <a:rPr sz="2200" dirty="0">
                <a:solidFill>
                  <a:srgbClr val="FF0000"/>
                </a:solidFill>
                <a:latin typeface="Arial MT"/>
                <a:cs typeface="Arial MT"/>
              </a:rPr>
              <a:t>IEEE</a:t>
            </a:r>
            <a:r>
              <a:rPr sz="2200" spc="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Arial MT"/>
                <a:cs typeface="Arial MT"/>
              </a:rPr>
              <a:t>Explore</a:t>
            </a:r>
            <a:endParaRPr sz="2200">
              <a:latin typeface="Arial MT"/>
              <a:cs typeface="Arial MT"/>
            </a:endParaRPr>
          </a:p>
          <a:p>
            <a:pPr marL="706120" lvl="1" indent="-301625">
              <a:lnSpc>
                <a:spcPct val="100000"/>
              </a:lnSpc>
              <a:spcBef>
                <a:spcPts val="200"/>
              </a:spcBef>
              <a:buChar char="–"/>
              <a:tabLst>
                <a:tab pos="706120" algn="l"/>
              </a:tabLst>
            </a:pPr>
            <a:r>
              <a:rPr sz="2200" spc="-10" dirty="0">
                <a:solidFill>
                  <a:srgbClr val="FF0000"/>
                </a:solidFill>
                <a:latin typeface="Arial MT"/>
                <a:cs typeface="Arial MT"/>
              </a:rPr>
              <a:t>arXiv</a:t>
            </a:r>
            <a:endParaRPr sz="2200">
              <a:latin typeface="Arial MT"/>
              <a:cs typeface="Arial MT"/>
            </a:endParaRPr>
          </a:p>
          <a:p>
            <a:pPr marL="706120" lvl="1" indent="-301625">
              <a:lnSpc>
                <a:spcPct val="100000"/>
              </a:lnSpc>
              <a:spcBef>
                <a:spcPts val="200"/>
              </a:spcBef>
              <a:buChar char="–"/>
              <a:tabLst>
                <a:tab pos="706120" algn="l"/>
              </a:tabLst>
            </a:pPr>
            <a:r>
              <a:rPr sz="2200" spc="-10" dirty="0">
                <a:latin typeface="Arial MT"/>
                <a:cs typeface="Arial MT"/>
              </a:rPr>
              <a:t>Springer</a:t>
            </a:r>
            <a:endParaRPr sz="2200">
              <a:latin typeface="Arial MT"/>
              <a:cs typeface="Arial MT"/>
            </a:endParaRPr>
          </a:p>
          <a:p>
            <a:pPr marL="706120" lvl="1" indent="-301625">
              <a:lnSpc>
                <a:spcPct val="100000"/>
              </a:lnSpc>
              <a:spcBef>
                <a:spcPts val="204"/>
              </a:spcBef>
              <a:buChar char="–"/>
              <a:tabLst>
                <a:tab pos="706120" algn="l"/>
              </a:tabLst>
            </a:pPr>
            <a:r>
              <a:rPr sz="2200" spc="-10" dirty="0">
                <a:latin typeface="Arial MT"/>
                <a:cs typeface="Arial MT"/>
              </a:rPr>
              <a:t>Scopus</a:t>
            </a:r>
            <a:endParaRPr sz="2200">
              <a:latin typeface="Arial MT"/>
              <a:cs typeface="Arial MT"/>
            </a:endParaRPr>
          </a:p>
          <a:p>
            <a:pPr marL="706120" lvl="1" indent="-301625">
              <a:lnSpc>
                <a:spcPct val="100000"/>
              </a:lnSpc>
              <a:spcBef>
                <a:spcPts val="200"/>
              </a:spcBef>
              <a:buChar char="–"/>
              <a:tabLst>
                <a:tab pos="706120" algn="l"/>
              </a:tabLst>
            </a:pPr>
            <a:r>
              <a:rPr sz="2200" dirty="0">
                <a:latin typeface="Arial MT"/>
                <a:cs typeface="Arial MT"/>
              </a:rPr>
              <a:t>Web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Science</a:t>
            </a:r>
            <a:endParaRPr sz="2200">
              <a:latin typeface="Arial MT"/>
              <a:cs typeface="Arial MT"/>
            </a:endParaRPr>
          </a:p>
          <a:p>
            <a:pPr marL="706120" lvl="1" indent="-301625">
              <a:lnSpc>
                <a:spcPct val="100000"/>
              </a:lnSpc>
              <a:spcBef>
                <a:spcPts val="200"/>
              </a:spcBef>
              <a:buChar char="–"/>
              <a:tabLst>
                <a:tab pos="706120" algn="l"/>
              </a:tabLst>
            </a:pPr>
            <a:r>
              <a:rPr sz="2200" dirty="0">
                <a:latin typeface="Arial MT"/>
                <a:cs typeface="Arial MT"/>
              </a:rPr>
              <a:t>Google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Scholar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7E70F84C-219F-4A52-A24D-957D3F81C0E9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12" rIns="0" bIns="0" rtlCol="0">
            <a:spAutoFit/>
          </a:bodyPr>
          <a:lstStyle/>
          <a:p>
            <a:pPr marL="635635">
              <a:lnSpc>
                <a:spcPct val="100000"/>
              </a:lnSpc>
              <a:spcBef>
                <a:spcPts val="100"/>
              </a:spcBef>
            </a:pPr>
            <a:r>
              <a:rPr dirty="0"/>
              <a:t>Getting</a:t>
            </a:r>
            <a:r>
              <a:rPr spc="-30" dirty="0"/>
              <a:t> </a:t>
            </a:r>
            <a:r>
              <a:rPr dirty="0"/>
              <a:t>Started</a:t>
            </a:r>
            <a:r>
              <a:rPr spc="-30" dirty="0"/>
              <a:t> </a:t>
            </a:r>
            <a:r>
              <a:rPr dirty="0"/>
              <a:t>with</a:t>
            </a:r>
            <a:r>
              <a:rPr spc="-30" dirty="0"/>
              <a:t> </a:t>
            </a:r>
            <a:r>
              <a:rPr spc="-10" dirty="0"/>
              <a:t>Research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1939" y="1553674"/>
            <a:ext cx="4540250" cy="411734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306070" indent="-293370">
              <a:lnSpc>
                <a:spcPct val="100000"/>
              </a:lnSpc>
              <a:spcBef>
                <a:spcPts val="305"/>
              </a:spcBef>
              <a:buChar char="•"/>
              <a:tabLst>
                <a:tab pos="306070" algn="l"/>
                <a:tab pos="2954655" algn="l"/>
              </a:tabLst>
            </a:pPr>
            <a:r>
              <a:rPr sz="2600" dirty="0">
                <a:latin typeface="Arial MT"/>
                <a:cs typeface="Arial MT"/>
              </a:rPr>
              <a:t>Step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3.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Organize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10" dirty="0">
                <a:latin typeface="Arial MT"/>
                <a:cs typeface="Arial MT"/>
              </a:rPr>
              <a:t>Resources</a:t>
            </a:r>
            <a:endParaRPr sz="2600">
              <a:latin typeface="Arial MT"/>
              <a:cs typeface="Arial MT"/>
            </a:endParaRPr>
          </a:p>
          <a:p>
            <a:pPr marL="706120" lvl="1" indent="-301625">
              <a:lnSpc>
                <a:spcPct val="100000"/>
              </a:lnSpc>
              <a:spcBef>
                <a:spcPts val="200"/>
              </a:spcBef>
              <a:buChar char="–"/>
              <a:tabLst>
                <a:tab pos="706120" algn="l"/>
              </a:tabLst>
            </a:pPr>
            <a:r>
              <a:rPr sz="2200" spc="-10" dirty="0">
                <a:latin typeface="Arial MT"/>
                <a:cs typeface="Arial MT"/>
              </a:rPr>
              <a:t>Zotero</a:t>
            </a:r>
            <a:endParaRPr sz="2200">
              <a:latin typeface="Arial MT"/>
              <a:cs typeface="Arial MT"/>
            </a:endParaRPr>
          </a:p>
          <a:p>
            <a:pPr marL="706120" lvl="1" indent="-301625">
              <a:lnSpc>
                <a:spcPct val="100000"/>
              </a:lnSpc>
              <a:spcBef>
                <a:spcPts val="200"/>
              </a:spcBef>
              <a:buChar char="–"/>
              <a:tabLst>
                <a:tab pos="706120" algn="l"/>
              </a:tabLst>
            </a:pPr>
            <a:r>
              <a:rPr sz="2200" spc="-10" dirty="0">
                <a:latin typeface="Arial MT"/>
                <a:cs typeface="Arial MT"/>
              </a:rPr>
              <a:t>EndNote</a:t>
            </a:r>
            <a:endParaRPr sz="2200">
              <a:latin typeface="Arial MT"/>
              <a:cs typeface="Arial MT"/>
            </a:endParaRPr>
          </a:p>
          <a:p>
            <a:pPr marL="706120" lvl="1" indent="-301625">
              <a:lnSpc>
                <a:spcPct val="100000"/>
              </a:lnSpc>
              <a:spcBef>
                <a:spcPts val="200"/>
              </a:spcBef>
              <a:buChar char="–"/>
              <a:tabLst>
                <a:tab pos="706120" algn="l"/>
              </a:tabLst>
            </a:pPr>
            <a:r>
              <a:rPr sz="2200" spc="-10" dirty="0">
                <a:solidFill>
                  <a:srgbClr val="00B050"/>
                </a:solidFill>
                <a:latin typeface="Arial MT"/>
                <a:cs typeface="Arial MT"/>
              </a:rPr>
              <a:t>Mendeley</a:t>
            </a:r>
            <a:endParaRPr sz="2200">
              <a:latin typeface="Arial MT"/>
              <a:cs typeface="Arial MT"/>
            </a:endParaRPr>
          </a:p>
          <a:p>
            <a:pPr marL="706120" lvl="1" indent="-301625">
              <a:lnSpc>
                <a:spcPct val="100000"/>
              </a:lnSpc>
              <a:spcBef>
                <a:spcPts val="204"/>
              </a:spcBef>
              <a:buChar char="–"/>
              <a:tabLst>
                <a:tab pos="706120" algn="l"/>
              </a:tabLst>
            </a:pPr>
            <a:r>
              <a:rPr sz="2200" spc="-10" dirty="0">
                <a:latin typeface="Arial MT"/>
                <a:cs typeface="Arial MT"/>
              </a:rPr>
              <a:t>JabRef</a:t>
            </a:r>
            <a:endParaRPr sz="2200">
              <a:latin typeface="Arial MT"/>
              <a:cs typeface="Arial MT"/>
            </a:endParaRPr>
          </a:p>
          <a:p>
            <a:pPr marL="706120" lvl="1" indent="-301625">
              <a:lnSpc>
                <a:spcPct val="100000"/>
              </a:lnSpc>
              <a:spcBef>
                <a:spcPts val="200"/>
              </a:spcBef>
              <a:buChar char="–"/>
              <a:tabLst>
                <a:tab pos="706120" algn="l"/>
              </a:tabLst>
            </a:pPr>
            <a:r>
              <a:rPr sz="2200" spc="-10" dirty="0">
                <a:latin typeface="Arial MT"/>
                <a:cs typeface="Arial MT"/>
              </a:rPr>
              <a:t>License</a:t>
            </a:r>
            <a:endParaRPr sz="2200">
              <a:latin typeface="Arial MT"/>
              <a:cs typeface="Arial MT"/>
            </a:endParaRPr>
          </a:p>
          <a:p>
            <a:pPr marL="706120" lvl="1" indent="-301625">
              <a:lnSpc>
                <a:spcPct val="100000"/>
              </a:lnSpc>
              <a:spcBef>
                <a:spcPts val="200"/>
              </a:spcBef>
              <a:buChar char="–"/>
              <a:tabLst>
                <a:tab pos="706120" algn="l"/>
              </a:tabLst>
            </a:pPr>
            <a:r>
              <a:rPr sz="2200" spc="-10" dirty="0">
                <a:latin typeface="Arial MT"/>
                <a:cs typeface="Arial MT"/>
              </a:rPr>
              <a:t>MarginNote</a:t>
            </a:r>
            <a:endParaRPr sz="2200">
              <a:latin typeface="Arial MT"/>
              <a:cs typeface="Arial MT"/>
            </a:endParaRPr>
          </a:p>
          <a:p>
            <a:pPr marL="306070" indent="-293370">
              <a:lnSpc>
                <a:spcPct val="100000"/>
              </a:lnSpc>
              <a:spcBef>
                <a:spcPts val="195"/>
              </a:spcBef>
              <a:buChar char="•"/>
              <a:tabLst>
                <a:tab pos="306070" algn="l"/>
              </a:tabLst>
            </a:pPr>
            <a:r>
              <a:rPr sz="2600" dirty="0">
                <a:latin typeface="Arial MT"/>
                <a:cs typeface="Arial MT"/>
              </a:rPr>
              <a:t>Step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4.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Write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Paper</a:t>
            </a:r>
            <a:endParaRPr sz="2600">
              <a:latin typeface="Arial MT"/>
              <a:cs typeface="Arial MT"/>
            </a:endParaRPr>
          </a:p>
          <a:p>
            <a:pPr marL="706120" lvl="1" indent="-301625">
              <a:lnSpc>
                <a:spcPct val="100000"/>
              </a:lnSpc>
              <a:spcBef>
                <a:spcPts val="204"/>
              </a:spcBef>
              <a:buChar char="–"/>
              <a:tabLst>
                <a:tab pos="706120" algn="l"/>
              </a:tabLst>
            </a:pPr>
            <a:r>
              <a:rPr sz="2200" dirty="0">
                <a:latin typeface="Arial MT"/>
                <a:cs typeface="Arial MT"/>
              </a:rPr>
              <a:t>Outline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Paper</a:t>
            </a:r>
            <a:endParaRPr sz="2200">
              <a:latin typeface="Arial MT"/>
              <a:cs typeface="Arial MT"/>
            </a:endParaRPr>
          </a:p>
          <a:p>
            <a:pPr marL="706120" lvl="1" indent="-301625">
              <a:lnSpc>
                <a:spcPct val="100000"/>
              </a:lnSpc>
              <a:spcBef>
                <a:spcPts val="200"/>
              </a:spcBef>
              <a:buChar char="–"/>
              <a:tabLst>
                <a:tab pos="706120" algn="l"/>
              </a:tabLst>
            </a:pPr>
            <a:r>
              <a:rPr sz="2200" spc="-45" dirty="0">
                <a:latin typeface="Arial MT"/>
                <a:cs typeface="Arial MT"/>
              </a:rPr>
              <a:t>Take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Notes</a:t>
            </a:r>
            <a:endParaRPr sz="2200">
              <a:latin typeface="Arial MT"/>
              <a:cs typeface="Arial MT"/>
            </a:endParaRPr>
          </a:p>
          <a:p>
            <a:pPr marL="706120" lvl="1" indent="-301625">
              <a:lnSpc>
                <a:spcPct val="100000"/>
              </a:lnSpc>
              <a:spcBef>
                <a:spcPts val="200"/>
              </a:spcBef>
              <a:buChar char="–"/>
              <a:tabLst>
                <a:tab pos="706120" algn="l"/>
              </a:tabLst>
            </a:pPr>
            <a:r>
              <a:rPr sz="2200" dirty="0">
                <a:latin typeface="Arial MT"/>
                <a:cs typeface="Arial MT"/>
              </a:rPr>
              <a:t>Avoid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Plagiarism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A0A82A53-C082-4B07-9A7F-862BE2F1B9C3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12" rIns="0" bIns="0" rtlCol="0">
            <a:spAutoFit/>
          </a:bodyPr>
          <a:lstStyle/>
          <a:p>
            <a:pPr marL="508634">
              <a:lnSpc>
                <a:spcPct val="100000"/>
              </a:lnSpc>
              <a:spcBef>
                <a:spcPts val="100"/>
              </a:spcBef>
            </a:pPr>
            <a:r>
              <a:rPr dirty="0"/>
              <a:t>Getting</a:t>
            </a:r>
            <a:r>
              <a:rPr spc="-40" dirty="0"/>
              <a:t> </a:t>
            </a:r>
            <a:r>
              <a:rPr dirty="0"/>
              <a:t>Started</a:t>
            </a:r>
            <a:r>
              <a:rPr spc="-30" dirty="0"/>
              <a:t> </a:t>
            </a:r>
            <a:r>
              <a:rPr dirty="0"/>
              <a:t>with</a:t>
            </a:r>
            <a:r>
              <a:rPr spc="-30" dirty="0"/>
              <a:t> </a:t>
            </a:r>
            <a:r>
              <a:rPr spc="-10" dirty="0"/>
              <a:t>Research..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5947" y="1540256"/>
            <a:ext cx="7159625" cy="365252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301625" algn="l"/>
              </a:tabLst>
            </a:pPr>
            <a:r>
              <a:rPr sz="2800" b="1" spc="-20" dirty="0">
                <a:solidFill>
                  <a:srgbClr val="2E364E"/>
                </a:solidFill>
                <a:latin typeface="Tahoma"/>
                <a:cs typeface="Tahoma"/>
              </a:rPr>
              <a:t>Sam</a:t>
            </a:r>
            <a:r>
              <a:rPr sz="2800" b="1" spc="-185" dirty="0">
                <a:solidFill>
                  <a:srgbClr val="2E364E"/>
                </a:solidFill>
                <a:latin typeface="Tahoma"/>
                <a:cs typeface="Tahoma"/>
              </a:rPr>
              <a:t> </a:t>
            </a:r>
            <a:r>
              <a:rPr sz="2800" b="1" spc="-10" dirty="0">
                <a:solidFill>
                  <a:srgbClr val="2E364E"/>
                </a:solidFill>
                <a:latin typeface="Tahoma"/>
                <a:cs typeface="Tahoma"/>
              </a:rPr>
              <a:t>Altman</a:t>
            </a:r>
            <a:endParaRPr sz="2800">
              <a:latin typeface="Tahoma"/>
              <a:cs typeface="Tahoma"/>
            </a:endParaRPr>
          </a:p>
          <a:p>
            <a:pPr marL="302260" marR="5080" indent="-290195">
              <a:lnSpc>
                <a:spcPct val="100000"/>
              </a:lnSpc>
              <a:spcBef>
                <a:spcPts val="560"/>
              </a:spcBef>
              <a:buFont typeface="Arial MT"/>
              <a:buChar char="•"/>
              <a:tabLst>
                <a:tab pos="302260" algn="l"/>
              </a:tabLst>
            </a:pPr>
            <a:r>
              <a:rPr sz="2800" dirty="0">
                <a:solidFill>
                  <a:srgbClr val="2E364E"/>
                </a:solidFill>
                <a:latin typeface="Tahoma"/>
                <a:cs typeface="Tahoma"/>
              </a:rPr>
              <a:t>profound</a:t>
            </a:r>
            <a:r>
              <a:rPr sz="2800" spc="-55" dirty="0">
                <a:solidFill>
                  <a:srgbClr val="2E364E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E364E"/>
                </a:solidFill>
                <a:latin typeface="Tahoma"/>
                <a:cs typeface="Tahoma"/>
              </a:rPr>
              <a:t>impact</a:t>
            </a:r>
            <a:r>
              <a:rPr sz="2800" spc="-50" dirty="0">
                <a:solidFill>
                  <a:srgbClr val="2E364E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E364E"/>
                </a:solidFill>
                <a:latin typeface="Tahoma"/>
                <a:cs typeface="Tahoma"/>
              </a:rPr>
              <a:t>of</a:t>
            </a:r>
            <a:r>
              <a:rPr sz="2800" spc="-55" dirty="0">
                <a:solidFill>
                  <a:srgbClr val="2E364E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E364E"/>
                </a:solidFill>
                <a:latin typeface="Tahoma"/>
                <a:cs typeface="Tahoma"/>
              </a:rPr>
              <a:t>artificial</a:t>
            </a:r>
            <a:r>
              <a:rPr sz="2800" spc="-45" dirty="0">
                <a:solidFill>
                  <a:srgbClr val="2E364E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E364E"/>
                </a:solidFill>
                <a:latin typeface="Tahoma"/>
                <a:cs typeface="Tahoma"/>
              </a:rPr>
              <a:t>intelligence</a:t>
            </a:r>
            <a:r>
              <a:rPr sz="2800" spc="-45" dirty="0">
                <a:solidFill>
                  <a:srgbClr val="2E364E"/>
                </a:solidFill>
                <a:latin typeface="Tahoma"/>
                <a:cs typeface="Tahoma"/>
              </a:rPr>
              <a:t> </a:t>
            </a:r>
            <a:r>
              <a:rPr sz="2800" spc="-125" dirty="0">
                <a:solidFill>
                  <a:srgbClr val="2E364E"/>
                </a:solidFill>
                <a:latin typeface="Tahoma"/>
                <a:cs typeface="Tahoma"/>
              </a:rPr>
              <a:t>(AI) </a:t>
            </a:r>
            <a:r>
              <a:rPr sz="2800" dirty="0">
                <a:solidFill>
                  <a:srgbClr val="2E364E"/>
                </a:solidFill>
                <a:latin typeface="Tahoma"/>
                <a:cs typeface="Tahoma"/>
              </a:rPr>
              <a:t>on</a:t>
            </a:r>
            <a:r>
              <a:rPr sz="2800" spc="-25" dirty="0">
                <a:solidFill>
                  <a:srgbClr val="2E364E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E364E"/>
                </a:solidFill>
                <a:latin typeface="Tahoma"/>
                <a:cs typeface="Tahoma"/>
              </a:rPr>
              <a:t>society</a:t>
            </a:r>
            <a:r>
              <a:rPr sz="2800" spc="-25" dirty="0">
                <a:solidFill>
                  <a:srgbClr val="2E364E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E364E"/>
                </a:solidFill>
                <a:latin typeface="Tahoma"/>
                <a:cs typeface="Tahoma"/>
              </a:rPr>
              <a:t>during</a:t>
            </a:r>
            <a:r>
              <a:rPr sz="2800" spc="-25" dirty="0">
                <a:solidFill>
                  <a:srgbClr val="2E364E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E364E"/>
                </a:solidFill>
                <a:latin typeface="Tahoma"/>
                <a:cs typeface="Tahoma"/>
              </a:rPr>
              <a:t>the</a:t>
            </a:r>
            <a:r>
              <a:rPr sz="2800" spc="-20" dirty="0">
                <a:solidFill>
                  <a:srgbClr val="2E364E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E364E"/>
                </a:solidFill>
                <a:latin typeface="Tahoma"/>
                <a:cs typeface="Tahoma"/>
              </a:rPr>
              <a:t>World</a:t>
            </a:r>
            <a:r>
              <a:rPr sz="2800" spc="-30" dirty="0">
                <a:solidFill>
                  <a:srgbClr val="2E364E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2E364E"/>
                </a:solidFill>
                <a:latin typeface="Tahoma"/>
                <a:cs typeface="Tahoma"/>
              </a:rPr>
              <a:t>Economic </a:t>
            </a:r>
            <a:r>
              <a:rPr sz="2800" dirty="0">
                <a:solidFill>
                  <a:srgbClr val="2E364E"/>
                </a:solidFill>
                <a:latin typeface="Tahoma"/>
                <a:cs typeface="Tahoma"/>
              </a:rPr>
              <a:t>Forum</a:t>
            </a:r>
            <a:r>
              <a:rPr sz="2800" spc="-110" dirty="0">
                <a:solidFill>
                  <a:srgbClr val="2E364E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E364E"/>
                </a:solidFill>
                <a:latin typeface="Tahoma"/>
                <a:cs typeface="Tahoma"/>
              </a:rPr>
              <a:t>in</a:t>
            </a:r>
            <a:r>
              <a:rPr sz="2800" spc="-110" dirty="0">
                <a:solidFill>
                  <a:srgbClr val="2E364E"/>
                </a:solidFill>
                <a:latin typeface="Tahoma"/>
                <a:cs typeface="Tahoma"/>
              </a:rPr>
              <a:t> </a:t>
            </a:r>
            <a:r>
              <a:rPr sz="2800" spc="50" dirty="0">
                <a:solidFill>
                  <a:srgbClr val="2E364E"/>
                </a:solidFill>
                <a:latin typeface="Tahoma"/>
                <a:cs typeface="Tahoma"/>
              </a:rPr>
              <a:t>Davos</a:t>
            </a:r>
            <a:endParaRPr sz="2800">
              <a:latin typeface="Tahoma"/>
              <a:cs typeface="Tahoma"/>
            </a:endParaRPr>
          </a:p>
          <a:p>
            <a:pPr marL="302260" marR="27940" indent="-290195">
              <a:lnSpc>
                <a:spcPct val="100000"/>
              </a:lnSpc>
              <a:spcBef>
                <a:spcPts val="560"/>
              </a:spcBef>
              <a:buFont typeface="Arial MT"/>
              <a:buChar char="•"/>
              <a:tabLst>
                <a:tab pos="302260" algn="l"/>
              </a:tabLst>
            </a:pPr>
            <a:r>
              <a:rPr sz="2800" dirty="0">
                <a:solidFill>
                  <a:srgbClr val="2E364E"/>
                </a:solidFill>
                <a:latin typeface="Tahoma"/>
                <a:cs typeface="Tahoma"/>
              </a:rPr>
              <a:t>We’re</a:t>
            </a:r>
            <a:r>
              <a:rPr sz="2800" spc="-20" dirty="0">
                <a:solidFill>
                  <a:srgbClr val="2E364E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E364E"/>
                </a:solidFill>
                <a:latin typeface="Tahoma"/>
                <a:cs typeface="Tahoma"/>
              </a:rPr>
              <a:t>going</a:t>
            </a:r>
            <a:r>
              <a:rPr sz="2800" spc="-20" dirty="0">
                <a:solidFill>
                  <a:srgbClr val="2E364E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E364E"/>
                </a:solidFill>
                <a:latin typeface="Tahoma"/>
                <a:cs typeface="Tahoma"/>
              </a:rPr>
              <a:t>to</a:t>
            </a:r>
            <a:r>
              <a:rPr sz="2800" spc="-20" dirty="0">
                <a:solidFill>
                  <a:srgbClr val="2E364E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E364E"/>
                </a:solidFill>
                <a:latin typeface="Tahoma"/>
                <a:cs typeface="Tahoma"/>
              </a:rPr>
              <a:t>have</a:t>
            </a:r>
            <a:r>
              <a:rPr sz="2800" spc="-10" dirty="0">
                <a:solidFill>
                  <a:srgbClr val="2E364E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FF0000"/>
                </a:solidFill>
                <a:latin typeface="Tahoma"/>
                <a:cs typeface="Tahoma"/>
              </a:rPr>
              <a:t>digital</a:t>
            </a:r>
            <a:r>
              <a:rPr sz="2800" spc="-2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FF0000"/>
                </a:solidFill>
                <a:latin typeface="Tahoma"/>
                <a:cs typeface="Tahoma"/>
              </a:rPr>
              <a:t>doctors,</a:t>
            </a:r>
            <a:r>
              <a:rPr sz="28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Tahoma"/>
                <a:cs typeface="Tahoma"/>
              </a:rPr>
              <a:t>digital </a:t>
            </a:r>
            <a:r>
              <a:rPr sz="2800" dirty="0">
                <a:solidFill>
                  <a:srgbClr val="FF0000"/>
                </a:solidFill>
                <a:latin typeface="Tahoma"/>
                <a:cs typeface="Tahoma"/>
              </a:rPr>
              <a:t>people</a:t>
            </a:r>
            <a:r>
              <a:rPr sz="2800" dirty="0">
                <a:solidFill>
                  <a:srgbClr val="2E364E"/>
                </a:solidFill>
                <a:latin typeface="Tahoma"/>
                <a:cs typeface="Tahoma"/>
              </a:rPr>
              <a:t>,</a:t>
            </a:r>
            <a:r>
              <a:rPr sz="2800" spc="-50" dirty="0">
                <a:solidFill>
                  <a:srgbClr val="2E364E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E364E"/>
                </a:solidFill>
                <a:latin typeface="Tahoma"/>
                <a:cs typeface="Tahoma"/>
              </a:rPr>
              <a:t>and</a:t>
            </a:r>
            <a:r>
              <a:rPr sz="2800" spc="-45" dirty="0">
                <a:solidFill>
                  <a:srgbClr val="2E364E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E364E"/>
                </a:solidFill>
                <a:latin typeface="Tahoma"/>
                <a:cs typeface="Tahoma"/>
              </a:rPr>
              <a:t>these</a:t>
            </a:r>
            <a:r>
              <a:rPr sz="2800" spc="-40" dirty="0">
                <a:solidFill>
                  <a:srgbClr val="2E364E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E364E"/>
                </a:solidFill>
                <a:latin typeface="Tahoma"/>
                <a:cs typeface="Tahoma"/>
              </a:rPr>
              <a:t>digital</a:t>
            </a:r>
            <a:r>
              <a:rPr sz="2800" spc="-40" dirty="0">
                <a:solidFill>
                  <a:srgbClr val="2E364E"/>
                </a:solidFill>
                <a:latin typeface="Tahoma"/>
                <a:cs typeface="Tahoma"/>
              </a:rPr>
              <a:t> </a:t>
            </a:r>
            <a:r>
              <a:rPr sz="2800" spc="50" dirty="0">
                <a:solidFill>
                  <a:srgbClr val="2E364E"/>
                </a:solidFill>
                <a:latin typeface="Tahoma"/>
                <a:cs typeface="Tahoma"/>
              </a:rPr>
              <a:t>people</a:t>
            </a:r>
            <a:r>
              <a:rPr sz="2800" spc="-40" dirty="0">
                <a:solidFill>
                  <a:srgbClr val="2E364E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E364E"/>
                </a:solidFill>
                <a:latin typeface="Tahoma"/>
                <a:cs typeface="Tahoma"/>
              </a:rPr>
              <a:t>are</a:t>
            </a:r>
            <a:r>
              <a:rPr sz="2800" spc="-40" dirty="0">
                <a:solidFill>
                  <a:srgbClr val="2E364E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2E364E"/>
                </a:solidFill>
                <a:latin typeface="Tahoma"/>
                <a:cs typeface="Tahoma"/>
              </a:rPr>
              <a:t>going </a:t>
            </a:r>
            <a:r>
              <a:rPr sz="2800" dirty="0">
                <a:solidFill>
                  <a:srgbClr val="2E364E"/>
                </a:solidFill>
                <a:latin typeface="Tahoma"/>
                <a:cs typeface="Tahoma"/>
              </a:rPr>
              <a:t>to</a:t>
            </a:r>
            <a:r>
              <a:rPr sz="2800" spc="-100" dirty="0">
                <a:solidFill>
                  <a:srgbClr val="2E364E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E364E"/>
                </a:solidFill>
                <a:latin typeface="Tahoma"/>
                <a:cs typeface="Tahoma"/>
              </a:rPr>
              <a:t>merge,</a:t>
            </a:r>
            <a:r>
              <a:rPr sz="2800" spc="-100" dirty="0">
                <a:solidFill>
                  <a:srgbClr val="2E364E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E364E"/>
                </a:solidFill>
                <a:latin typeface="Tahoma"/>
                <a:cs typeface="Tahoma"/>
              </a:rPr>
              <a:t>and</a:t>
            </a:r>
            <a:r>
              <a:rPr sz="2800" spc="-105" dirty="0">
                <a:solidFill>
                  <a:srgbClr val="2E364E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E364E"/>
                </a:solidFill>
                <a:latin typeface="Tahoma"/>
                <a:cs typeface="Tahoma"/>
              </a:rPr>
              <a:t>there’s</a:t>
            </a:r>
            <a:r>
              <a:rPr sz="2800" spc="-95" dirty="0">
                <a:solidFill>
                  <a:srgbClr val="2E364E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E364E"/>
                </a:solidFill>
                <a:latin typeface="Tahoma"/>
                <a:cs typeface="Tahoma"/>
              </a:rPr>
              <a:t>going</a:t>
            </a:r>
            <a:r>
              <a:rPr sz="2800" spc="-100" dirty="0">
                <a:solidFill>
                  <a:srgbClr val="2E364E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E364E"/>
                </a:solidFill>
                <a:latin typeface="Tahoma"/>
                <a:cs typeface="Tahoma"/>
              </a:rPr>
              <a:t>to</a:t>
            </a:r>
            <a:r>
              <a:rPr sz="2800" spc="-95" dirty="0">
                <a:solidFill>
                  <a:srgbClr val="2E364E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E364E"/>
                </a:solidFill>
                <a:latin typeface="Tahoma"/>
                <a:cs typeface="Tahoma"/>
              </a:rPr>
              <a:t>have</a:t>
            </a:r>
            <a:r>
              <a:rPr sz="2800" spc="-100" dirty="0">
                <a:solidFill>
                  <a:srgbClr val="2E364E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E364E"/>
                </a:solidFill>
                <a:latin typeface="Tahoma"/>
                <a:cs typeface="Tahoma"/>
              </a:rPr>
              <a:t>to</a:t>
            </a:r>
            <a:r>
              <a:rPr sz="2800" spc="-95" dirty="0">
                <a:solidFill>
                  <a:srgbClr val="2E364E"/>
                </a:solidFill>
                <a:latin typeface="Tahoma"/>
                <a:cs typeface="Tahoma"/>
              </a:rPr>
              <a:t> </a:t>
            </a:r>
            <a:r>
              <a:rPr sz="2800" spc="55" dirty="0">
                <a:solidFill>
                  <a:srgbClr val="2E364E"/>
                </a:solidFill>
                <a:latin typeface="Tahoma"/>
                <a:cs typeface="Tahoma"/>
              </a:rPr>
              <a:t>be</a:t>
            </a:r>
            <a:r>
              <a:rPr sz="2800" spc="-100" dirty="0">
                <a:solidFill>
                  <a:srgbClr val="2E364E"/>
                </a:solidFill>
                <a:latin typeface="Tahoma"/>
                <a:cs typeface="Tahoma"/>
              </a:rPr>
              <a:t> </a:t>
            </a:r>
            <a:r>
              <a:rPr sz="2800" spc="-50" dirty="0">
                <a:solidFill>
                  <a:srgbClr val="2E364E"/>
                </a:solidFill>
                <a:latin typeface="Tahoma"/>
                <a:cs typeface="Tahoma"/>
              </a:rPr>
              <a:t>a </a:t>
            </a:r>
            <a:r>
              <a:rPr sz="2800" dirty="0">
                <a:solidFill>
                  <a:srgbClr val="2E364E"/>
                </a:solidFill>
                <a:latin typeface="Tahoma"/>
                <a:cs typeface="Tahoma"/>
              </a:rPr>
              <a:t>level</a:t>
            </a:r>
            <a:r>
              <a:rPr sz="2800" spc="-114" dirty="0">
                <a:solidFill>
                  <a:srgbClr val="2E364E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E364E"/>
                </a:solidFill>
                <a:latin typeface="Tahoma"/>
                <a:cs typeface="Tahoma"/>
              </a:rPr>
              <a:t>of</a:t>
            </a:r>
            <a:r>
              <a:rPr sz="2800" spc="-114" dirty="0">
                <a:solidFill>
                  <a:srgbClr val="2E364E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2E364E"/>
                </a:solidFill>
                <a:latin typeface="Tahoma"/>
                <a:cs typeface="Tahoma"/>
              </a:rPr>
              <a:t>trust.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12" rIns="0" bIns="0" rtlCol="0">
            <a:spAutoFit/>
          </a:bodyPr>
          <a:lstStyle/>
          <a:p>
            <a:pPr marL="1054735">
              <a:lnSpc>
                <a:spcPct val="100000"/>
              </a:lnSpc>
              <a:spcBef>
                <a:spcPts val="100"/>
              </a:spcBef>
            </a:pPr>
            <a:r>
              <a:rPr dirty="0"/>
              <a:t>Inside</a:t>
            </a:r>
            <a:r>
              <a:rPr spc="-30" dirty="0"/>
              <a:t> </a:t>
            </a:r>
            <a:r>
              <a:rPr dirty="0"/>
              <a:t>Davos:</a:t>
            </a:r>
            <a:r>
              <a:rPr spc="-30" dirty="0"/>
              <a:t> </a:t>
            </a:r>
            <a:r>
              <a:rPr dirty="0"/>
              <a:t>Future</a:t>
            </a:r>
            <a:r>
              <a:rPr spc="-25" dirty="0"/>
              <a:t> </a:t>
            </a:r>
            <a:r>
              <a:rPr dirty="0"/>
              <a:t>of</a:t>
            </a:r>
            <a:r>
              <a:rPr spc="-220" dirty="0"/>
              <a:t> </a:t>
            </a:r>
            <a:r>
              <a:rPr spc="-25" dirty="0"/>
              <a:t>AI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8886" y="1603652"/>
            <a:ext cx="3387724" cy="225952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08FB0B44-6886-4816-BE51-7051A64E9DFE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5947" y="1611376"/>
            <a:ext cx="7608570" cy="4312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2260" marR="5080" indent="-29019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02260" algn="l"/>
              </a:tabLst>
            </a:pPr>
            <a:r>
              <a:rPr sz="2800" dirty="0">
                <a:solidFill>
                  <a:srgbClr val="1A1A1A"/>
                </a:solidFill>
                <a:latin typeface="Verdana"/>
                <a:cs typeface="Verdana"/>
              </a:rPr>
              <a:t>There</a:t>
            </a:r>
            <a:r>
              <a:rPr sz="2800" spc="-60" dirty="0">
                <a:solidFill>
                  <a:srgbClr val="1A1A1A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1A1A1A"/>
                </a:solidFill>
                <a:latin typeface="Verdana"/>
                <a:cs typeface="Verdana"/>
              </a:rPr>
              <a:t>will</a:t>
            </a:r>
            <a:r>
              <a:rPr sz="2800" spc="-55" dirty="0">
                <a:solidFill>
                  <a:srgbClr val="1A1A1A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1A1A1A"/>
                </a:solidFill>
                <a:latin typeface="Verdana"/>
                <a:cs typeface="Verdana"/>
              </a:rPr>
              <a:t>be</a:t>
            </a:r>
            <a:r>
              <a:rPr sz="2800" spc="-55" dirty="0">
                <a:solidFill>
                  <a:srgbClr val="1A1A1A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1A1A1A"/>
                </a:solidFill>
                <a:latin typeface="Verdana"/>
                <a:cs typeface="Verdana"/>
              </a:rPr>
              <a:t>jobs:</a:t>
            </a:r>
            <a:r>
              <a:rPr sz="2800" spc="-60" dirty="0">
                <a:solidFill>
                  <a:srgbClr val="1A1A1A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1A1A1A"/>
                </a:solidFill>
                <a:latin typeface="Verdana"/>
                <a:cs typeface="Verdana"/>
              </a:rPr>
              <a:t>Microsoft</a:t>
            </a:r>
            <a:r>
              <a:rPr sz="2800" spc="-55" dirty="0">
                <a:solidFill>
                  <a:srgbClr val="1A1A1A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1A1A1A"/>
                </a:solidFill>
                <a:latin typeface="Verdana"/>
                <a:cs typeface="Verdana"/>
              </a:rPr>
              <a:t>CEO</a:t>
            </a:r>
            <a:r>
              <a:rPr sz="2800" spc="-55" dirty="0">
                <a:solidFill>
                  <a:srgbClr val="1A1A1A"/>
                </a:solidFill>
                <a:latin typeface="Verdana"/>
                <a:cs typeface="Verdana"/>
              </a:rPr>
              <a:t> </a:t>
            </a:r>
            <a:r>
              <a:rPr sz="2800" spc="-10" dirty="0">
                <a:solidFill>
                  <a:srgbClr val="1A1A1A"/>
                </a:solidFill>
                <a:latin typeface="Verdana"/>
                <a:cs typeface="Verdana"/>
              </a:rPr>
              <a:t>Satya </a:t>
            </a:r>
            <a:r>
              <a:rPr sz="2800" dirty="0">
                <a:solidFill>
                  <a:srgbClr val="1A1A1A"/>
                </a:solidFill>
                <a:latin typeface="Verdana"/>
                <a:cs typeface="Verdana"/>
              </a:rPr>
              <a:t>Nadella</a:t>
            </a:r>
            <a:r>
              <a:rPr sz="2800" spc="-60" dirty="0">
                <a:solidFill>
                  <a:srgbClr val="1A1A1A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1A1A1A"/>
                </a:solidFill>
                <a:latin typeface="Verdana"/>
                <a:cs typeface="Verdana"/>
              </a:rPr>
              <a:t>on</a:t>
            </a:r>
            <a:r>
              <a:rPr sz="2800" spc="-60" dirty="0">
                <a:solidFill>
                  <a:srgbClr val="1A1A1A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1A1A1A"/>
                </a:solidFill>
                <a:latin typeface="Verdana"/>
                <a:cs typeface="Verdana"/>
              </a:rPr>
              <a:t>how</a:t>
            </a:r>
            <a:r>
              <a:rPr sz="2800" spc="-60" dirty="0">
                <a:solidFill>
                  <a:srgbClr val="1A1A1A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1A1A1A"/>
                </a:solidFill>
                <a:latin typeface="Verdana"/>
                <a:cs typeface="Verdana"/>
              </a:rPr>
              <a:t>AI</a:t>
            </a:r>
            <a:r>
              <a:rPr sz="2800" spc="-60" dirty="0">
                <a:solidFill>
                  <a:srgbClr val="1A1A1A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1A1A1A"/>
                </a:solidFill>
                <a:latin typeface="Verdana"/>
                <a:cs typeface="Verdana"/>
              </a:rPr>
              <a:t>will</a:t>
            </a:r>
            <a:r>
              <a:rPr sz="2800" spc="-60" dirty="0">
                <a:solidFill>
                  <a:srgbClr val="1A1A1A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1A1A1A"/>
                </a:solidFill>
                <a:latin typeface="Verdana"/>
                <a:cs typeface="Verdana"/>
              </a:rPr>
              <a:t>change</a:t>
            </a:r>
            <a:r>
              <a:rPr sz="2800" spc="-60" dirty="0">
                <a:solidFill>
                  <a:srgbClr val="1A1A1A"/>
                </a:solidFill>
                <a:latin typeface="Verdana"/>
                <a:cs typeface="Verdana"/>
              </a:rPr>
              <a:t> </a:t>
            </a:r>
            <a:r>
              <a:rPr sz="2800" spc="-10" dirty="0">
                <a:solidFill>
                  <a:srgbClr val="1A1A1A"/>
                </a:solidFill>
                <a:latin typeface="Verdana"/>
                <a:cs typeface="Verdana"/>
              </a:rPr>
              <a:t>workplace</a:t>
            </a:r>
            <a:endParaRPr sz="2800">
              <a:latin typeface="Verdana"/>
              <a:cs typeface="Verdana"/>
            </a:endParaRPr>
          </a:p>
          <a:p>
            <a:pPr marL="702310" marR="83820" indent="-302895">
              <a:lnSpc>
                <a:spcPct val="100000"/>
              </a:lnSpc>
              <a:spcBef>
                <a:spcPts val="495"/>
              </a:spcBef>
              <a:tabLst>
                <a:tab pos="701675" algn="l"/>
              </a:tabLst>
            </a:pPr>
            <a:r>
              <a:rPr sz="2400" spc="-50" dirty="0">
                <a:solidFill>
                  <a:srgbClr val="1A1A1A"/>
                </a:solidFill>
                <a:latin typeface="Arial MT"/>
                <a:cs typeface="Arial MT"/>
              </a:rPr>
              <a:t>–</a:t>
            </a:r>
            <a:r>
              <a:rPr sz="2400" dirty="0">
                <a:solidFill>
                  <a:srgbClr val="1A1A1A"/>
                </a:solidFill>
                <a:latin typeface="Arial MT"/>
                <a:cs typeface="Arial MT"/>
              </a:rPr>
              <a:t>	</a:t>
            </a:r>
            <a:r>
              <a:rPr sz="2400" dirty="0">
                <a:solidFill>
                  <a:srgbClr val="1A1A1A"/>
                </a:solidFill>
                <a:latin typeface="Verdana"/>
                <a:cs typeface="Verdana"/>
              </a:rPr>
              <a:t>There</a:t>
            </a:r>
            <a:r>
              <a:rPr sz="2400" spc="-55" dirty="0">
                <a:solidFill>
                  <a:srgbClr val="1A1A1A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A1A1A"/>
                </a:solidFill>
                <a:latin typeface="Verdana"/>
                <a:cs typeface="Verdana"/>
              </a:rPr>
              <a:t>will</a:t>
            </a:r>
            <a:r>
              <a:rPr sz="2400" spc="-40" dirty="0">
                <a:solidFill>
                  <a:srgbClr val="1A1A1A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A1A1A"/>
                </a:solidFill>
                <a:latin typeface="Verdana"/>
                <a:cs typeface="Verdana"/>
              </a:rPr>
              <a:t>be</a:t>
            </a:r>
            <a:r>
              <a:rPr sz="2400" spc="-45" dirty="0">
                <a:solidFill>
                  <a:srgbClr val="1A1A1A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A1A1A"/>
                </a:solidFill>
                <a:latin typeface="Verdana"/>
                <a:cs typeface="Verdana"/>
              </a:rPr>
              <a:t>a</a:t>
            </a:r>
            <a:r>
              <a:rPr sz="2400" spc="-40" dirty="0">
                <a:solidFill>
                  <a:srgbClr val="1A1A1A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A1A1A"/>
                </a:solidFill>
                <a:latin typeface="Verdana"/>
                <a:cs typeface="Verdana"/>
              </a:rPr>
              <a:t>reduction</a:t>
            </a:r>
            <a:r>
              <a:rPr sz="2400" spc="-45" dirty="0">
                <a:solidFill>
                  <a:srgbClr val="1A1A1A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A1A1A"/>
                </a:solidFill>
                <a:latin typeface="Verdana"/>
                <a:cs typeface="Verdana"/>
              </a:rPr>
              <a:t>in</a:t>
            </a:r>
            <a:r>
              <a:rPr sz="2400" spc="-40" dirty="0">
                <a:solidFill>
                  <a:srgbClr val="1A1A1A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A1A1A"/>
                </a:solidFill>
                <a:latin typeface="Verdana"/>
                <a:cs typeface="Verdana"/>
              </a:rPr>
              <a:t>jobs</a:t>
            </a:r>
            <a:r>
              <a:rPr sz="2400" spc="-45" dirty="0">
                <a:solidFill>
                  <a:srgbClr val="1A1A1A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A1A1A"/>
                </a:solidFill>
                <a:latin typeface="Verdana"/>
                <a:cs typeface="Verdana"/>
              </a:rPr>
              <a:t>as</a:t>
            </a:r>
            <a:r>
              <a:rPr sz="2400" spc="-40" dirty="0">
                <a:solidFill>
                  <a:srgbClr val="1A1A1A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A1A1A"/>
                </a:solidFill>
                <a:latin typeface="Verdana"/>
                <a:cs typeface="Verdana"/>
              </a:rPr>
              <a:t>we</a:t>
            </a:r>
            <a:r>
              <a:rPr sz="2400" spc="-40" dirty="0">
                <a:solidFill>
                  <a:srgbClr val="1A1A1A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1A1A1A"/>
                </a:solidFill>
                <a:latin typeface="Verdana"/>
                <a:cs typeface="Verdana"/>
              </a:rPr>
              <a:t>know </a:t>
            </a:r>
            <a:r>
              <a:rPr sz="2400" dirty="0">
                <a:solidFill>
                  <a:srgbClr val="1A1A1A"/>
                </a:solidFill>
                <a:latin typeface="Verdana"/>
                <a:cs typeface="Verdana"/>
              </a:rPr>
              <a:t>but</a:t>
            </a:r>
            <a:r>
              <a:rPr sz="2400" spc="-65" dirty="0">
                <a:solidFill>
                  <a:srgbClr val="1A1A1A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A1A1A"/>
                </a:solidFill>
                <a:latin typeface="Verdana"/>
                <a:cs typeface="Verdana"/>
              </a:rPr>
              <a:t>different</a:t>
            </a:r>
            <a:r>
              <a:rPr sz="2400" spc="-65" dirty="0">
                <a:solidFill>
                  <a:srgbClr val="1A1A1A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A1A1A"/>
                </a:solidFill>
                <a:latin typeface="Verdana"/>
                <a:cs typeface="Verdana"/>
              </a:rPr>
              <a:t>jobs</a:t>
            </a:r>
            <a:r>
              <a:rPr sz="2400" spc="-60" dirty="0">
                <a:solidFill>
                  <a:srgbClr val="1A1A1A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A1A1A"/>
                </a:solidFill>
                <a:latin typeface="Verdana"/>
                <a:cs typeface="Verdana"/>
              </a:rPr>
              <a:t>will</a:t>
            </a:r>
            <a:r>
              <a:rPr sz="2400" spc="-65" dirty="0">
                <a:solidFill>
                  <a:srgbClr val="1A1A1A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A1A1A"/>
                </a:solidFill>
                <a:latin typeface="Verdana"/>
                <a:cs typeface="Verdana"/>
              </a:rPr>
              <a:t>be</a:t>
            </a:r>
            <a:r>
              <a:rPr sz="2400" spc="-60" dirty="0">
                <a:solidFill>
                  <a:srgbClr val="1A1A1A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A1A1A"/>
                </a:solidFill>
                <a:latin typeface="Verdana"/>
                <a:cs typeface="Verdana"/>
              </a:rPr>
              <a:t>created</a:t>
            </a:r>
            <a:r>
              <a:rPr sz="2400" spc="-65" dirty="0">
                <a:solidFill>
                  <a:srgbClr val="1A1A1A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1A1A1A"/>
                </a:solidFill>
                <a:latin typeface="Verdana"/>
                <a:cs typeface="Verdana"/>
              </a:rPr>
              <a:t>need </a:t>
            </a:r>
            <a:r>
              <a:rPr sz="2400" dirty="0">
                <a:solidFill>
                  <a:srgbClr val="1A1A1A"/>
                </a:solidFill>
                <a:latin typeface="Verdana"/>
                <a:cs typeface="Verdana"/>
              </a:rPr>
              <a:t>different</a:t>
            </a:r>
            <a:r>
              <a:rPr sz="2400" spc="-150" dirty="0">
                <a:solidFill>
                  <a:srgbClr val="1A1A1A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1A1A1A"/>
                </a:solidFill>
                <a:latin typeface="Verdana"/>
                <a:cs typeface="Verdana"/>
              </a:rPr>
              <a:t>skills</a:t>
            </a:r>
            <a:endParaRPr sz="2400">
              <a:latin typeface="Verdana"/>
              <a:cs typeface="Verdana"/>
            </a:endParaRPr>
          </a:p>
          <a:p>
            <a:pPr marL="302260" marR="10795" indent="-290195">
              <a:lnSpc>
                <a:spcPct val="100000"/>
              </a:lnSpc>
              <a:spcBef>
                <a:spcPts val="545"/>
              </a:spcBef>
              <a:buChar char="•"/>
              <a:tabLst>
                <a:tab pos="302260" algn="l"/>
              </a:tabLst>
            </a:pPr>
            <a:r>
              <a:rPr sz="2800" b="1" dirty="0">
                <a:latin typeface="Arial"/>
                <a:cs typeface="Arial"/>
              </a:rPr>
              <a:t>Microsoft</a:t>
            </a:r>
            <a:r>
              <a:rPr sz="2800" b="1" spc="-8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became</a:t>
            </a:r>
            <a:r>
              <a:rPr sz="2800" b="1" spc="-8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major</a:t>
            </a:r>
            <a:r>
              <a:rPr sz="2800" b="1" spc="-8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force</a:t>
            </a:r>
            <a:r>
              <a:rPr sz="2800" b="1" spc="-8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in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spc="-25" dirty="0">
                <a:latin typeface="Arial"/>
                <a:cs typeface="Arial"/>
              </a:rPr>
              <a:t>the </a:t>
            </a:r>
            <a:r>
              <a:rPr sz="2800" b="1" spc="-10" dirty="0">
                <a:latin typeface="Arial"/>
                <a:cs typeface="Arial"/>
              </a:rPr>
              <a:t>proliferation</a:t>
            </a:r>
            <a:r>
              <a:rPr sz="2800" b="1" spc="-8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of</a:t>
            </a:r>
            <a:r>
              <a:rPr sz="2800" b="1" spc="-17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AI</a:t>
            </a:r>
            <a:r>
              <a:rPr sz="2800" b="1" spc="-8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through</a:t>
            </a:r>
            <a:r>
              <a:rPr sz="2800" b="1" spc="-8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its</a:t>
            </a:r>
            <a:r>
              <a:rPr sz="2800" b="1" spc="-8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investment</a:t>
            </a:r>
            <a:r>
              <a:rPr sz="2800" b="1" spc="-85" dirty="0">
                <a:latin typeface="Arial"/>
                <a:cs typeface="Arial"/>
              </a:rPr>
              <a:t> </a:t>
            </a:r>
            <a:r>
              <a:rPr sz="2800" b="1" spc="-25" dirty="0">
                <a:latin typeface="Arial"/>
                <a:cs typeface="Arial"/>
              </a:rPr>
              <a:t>in </a:t>
            </a:r>
            <a:r>
              <a:rPr sz="2800" b="1" spc="-10" dirty="0">
                <a:latin typeface="Arial"/>
                <a:cs typeface="Arial"/>
              </a:rPr>
              <a:t>OpenAI.</a:t>
            </a:r>
            <a:endParaRPr sz="2800">
              <a:latin typeface="Arial"/>
              <a:cs typeface="Arial"/>
            </a:endParaRPr>
          </a:p>
          <a:p>
            <a:pPr marL="302260" marR="728345" indent="-290195">
              <a:lnSpc>
                <a:spcPct val="100000"/>
              </a:lnSpc>
              <a:spcBef>
                <a:spcPts val="560"/>
              </a:spcBef>
              <a:buChar char="•"/>
              <a:tabLst>
                <a:tab pos="302260" algn="l"/>
              </a:tabLst>
            </a:pPr>
            <a:r>
              <a:rPr sz="2800" dirty="0">
                <a:latin typeface="Arial MT"/>
                <a:cs typeface="Arial MT"/>
              </a:rPr>
              <a:t>AI’s</a:t>
            </a:r>
            <a:r>
              <a:rPr sz="2800" spc="-1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commercial</a:t>
            </a:r>
            <a:r>
              <a:rPr sz="2800" spc="-1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impact</a:t>
            </a:r>
            <a:r>
              <a:rPr sz="2800" spc="-1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could</a:t>
            </a:r>
            <a:r>
              <a:rPr sz="2800" spc="-1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translate</a:t>
            </a:r>
            <a:r>
              <a:rPr sz="2800" spc="-12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far </a:t>
            </a:r>
            <a:r>
              <a:rPr sz="2800" dirty="0">
                <a:latin typeface="Arial MT"/>
                <a:cs typeface="Arial MT"/>
              </a:rPr>
              <a:t>more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broadly.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12" rIns="0" bIns="0" rtlCol="0">
            <a:spAutoFit/>
          </a:bodyPr>
          <a:lstStyle/>
          <a:p>
            <a:pPr marL="1054735">
              <a:lnSpc>
                <a:spcPct val="100000"/>
              </a:lnSpc>
              <a:spcBef>
                <a:spcPts val="100"/>
              </a:spcBef>
            </a:pPr>
            <a:r>
              <a:rPr dirty="0"/>
              <a:t>Inside</a:t>
            </a:r>
            <a:r>
              <a:rPr spc="-30" dirty="0"/>
              <a:t> </a:t>
            </a:r>
            <a:r>
              <a:rPr dirty="0"/>
              <a:t>Davos:</a:t>
            </a:r>
            <a:r>
              <a:rPr spc="-30" dirty="0"/>
              <a:t> </a:t>
            </a:r>
            <a:r>
              <a:rPr dirty="0"/>
              <a:t>Future</a:t>
            </a:r>
            <a:r>
              <a:rPr spc="-25" dirty="0"/>
              <a:t> </a:t>
            </a:r>
            <a:r>
              <a:rPr dirty="0"/>
              <a:t>of</a:t>
            </a:r>
            <a:r>
              <a:rPr spc="-220" dirty="0"/>
              <a:t> </a:t>
            </a:r>
            <a:r>
              <a:rPr spc="-25" dirty="0"/>
              <a:t>AI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9950" y="1638300"/>
            <a:ext cx="3240312" cy="358139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77E91050-2F26-49C5-BE15-F2D870AF74E0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9524" rIns="0" bIns="0" rtlCol="0">
            <a:spAutoFit/>
          </a:bodyPr>
          <a:lstStyle/>
          <a:p>
            <a:pPr marL="306070" marR="5080" indent="-290195">
              <a:lnSpc>
                <a:spcPct val="100000"/>
              </a:lnSpc>
              <a:spcBef>
                <a:spcPts val="100"/>
              </a:spcBef>
              <a:buChar char="•"/>
              <a:tabLst>
                <a:tab pos="306070" algn="l"/>
              </a:tabLst>
            </a:pPr>
            <a:r>
              <a:rPr sz="2800" b="0" dirty="0">
                <a:latin typeface="Arial MT"/>
                <a:cs typeface="Arial MT"/>
              </a:rPr>
              <a:t>A</a:t>
            </a:r>
            <a:r>
              <a:rPr sz="2800" b="0" spc="-195" dirty="0">
                <a:latin typeface="Arial MT"/>
                <a:cs typeface="Arial MT"/>
              </a:rPr>
              <a:t> </a:t>
            </a:r>
            <a:r>
              <a:rPr sz="2800" b="0" dirty="0">
                <a:latin typeface="Arial MT"/>
                <a:cs typeface="Arial MT"/>
              </a:rPr>
              <a:t>branch</a:t>
            </a:r>
            <a:r>
              <a:rPr sz="2800" b="0" spc="-105" dirty="0">
                <a:latin typeface="Arial MT"/>
                <a:cs typeface="Arial MT"/>
              </a:rPr>
              <a:t> </a:t>
            </a:r>
            <a:r>
              <a:rPr sz="2800" b="0" dirty="0">
                <a:latin typeface="Arial MT"/>
                <a:cs typeface="Arial MT"/>
              </a:rPr>
              <a:t>of</a:t>
            </a:r>
            <a:r>
              <a:rPr sz="2800" b="0" spc="-80" dirty="0">
                <a:latin typeface="Arial MT"/>
                <a:cs typeface="Arial MT"/>
              </a:rPr>
              <a:t> </a:t>
            </a:r>
            <a:r>
              <a:rPr sz="2800" b="0" dirty="0">
                <a:latin typeface="Arial MT"/>
                <a:cs typeface="Arial MT"/>
              </a:rPr>
              <a:t>artificial</a:t>
            </a:r>
            <a:r>
              <a:rPr sz="2800" b="0" spc="-80" dirty="0">
                <a:latin typeface="Arial MT"/>
                <a:cs typeface="Arial MT"/>
              </a:rPr>
              <a:t> </a:t>
            </a:r>
            <a:r>
              <a:rPr sz="2800" b="0" spc="-10" dirty="0">
                <a:latin typeface="Arial MT"/>
                <a:cs typeface="Arial MT"/>
              </a:rPr>
              <a:t>intelligence</a:t>
            </a:r>
            <a:r>
              <a:rPr sz="2800" b="0" spc="-80" dirty="0">
                <a:latin typeface="Arial MT"/>
                <a:cs typeface="Arial MT"/>
              </a:rPr>
              <a:t> </a:t>
            </a:r>
            <a:r>
              <a:rPr sz="2800" b="0" dirty="0">
                <a:latin typeface="Arial MT"/>
                <a:cs typeface="Arial MT"/>
              </a:rPr>
              <a:t>that</a:t>
            </a:r>
            <a:r>
              <a:rPr sz="2800" b="0" spc="-45" dirty="0">
                <a:latin typeface="Arial MT"/>
                <a:cs typeface="Arial MT"/>
              </a:rPr>
              <a:t> </a:t>
            </a:r>
            <a:r>
              <a:rPr sz="2800" b="0" dirty="0">
                <a:solidFill>
                  <a:srgbClr val="FF0000"/>
                </a:solidFill>
                <a:latin typeface="Arial MT"/>
                <a:cs typeface="Arial MT"/>
              </a:rPr>
              <a:t>enables</a:t>
            </a:r>
            <a:r>
              <a:rPr sz="2800" b="0" spc="-8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b="0" dirty="0">
                <a:solidFill>
                  <a:srgbClr val="FF0000"/>
                </a:solidFill>
                <a:latin typeface="Arial MT"/>
                <a:cs typeface="Arial MT"/>
              </a:rPr>
              <a:t>systems</a:t>
            </a:r>
            <a:r>
              <a:rPr sz="2800" b="0" spc="-8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b="0" dirty="0">
                <a:solidFill>
                  <a:srgbClr val="FF0000"/>
                </a:solidFill>
                <a:latin typeface="Arial MT"/>
                <a:cs typeface="Arial MT"/>
              </a:rPr>
              <a:t>to</a:t>
            </a:r>
            <a:r>
              <a:rPr sz="2800" b="0" spc="-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b="0" dirty="0">
                <a:solidFill>
                  <a:srgbClr val="FF0000"/>
                </a:solidFill>
                <a:latin typeface="Arial MT"/>
                <a:cs typeface="Arial MT"/>
              </a:rPr>
              <a:t>learn</a:t>
            </a:r>
            <a:r>
              <a:rPr sz="2800" b="0" spc="-8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b="0" spc="-25" dirty="0">
                <a:solidFill>
                  <a:srgbClr val="FF0000"/>
                </a:solidFill>
                <a:latin typeface="Arial MT"/>
                <a:cs typeface="Arial MT"/>
              </a:rPr>
              <a:t>and </a:t>
            </a:r>
            <a:r>
              <a:rPr sz="2800" b="0" dirty="0">
                <a:solidFill>
                  <a:srgbClr val="FF0000"/>
                </a:solidFill>
                <a:latin typeface="Arial MT"/>
                <a:cs typeface="Arial MT"/>
              </a:rPr>
              <a:t>improve</a:t>
            </a:r>
            <a:r>
              <a:rPr sz="2800" b="0" spc="-1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b="0" dirty="0">
                <a:solidFill>
                  <a:srgbClr val="FF0000"/>
                </a:solidFill>
                <a:latin typeface="Arial MT"/>
                <a:cs typeface="Arial MT"/>
              </a:rPr>
              <a:t>from</a:t>
            </a:r>
            <a:r>
              <a:rPr sz="2800" b="0" spc="-1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b="0" dirty="0">
                <a:solidFill>
                  <a:srgbClr val="FF0000"/>
                </a:solidFill>
                <a:latin typeface="Arial MT"/>
                <a:cs typeface="Arial MT"/>
              </a:rPr>
              <a:t>experience</a:t>
            </a:r>
            <a:r>
              <a:rPr sz="2800" b="0" spc="-1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b="0" dirty="0">
                <a:latin typeface="Arial MT"/>
                <a:cs typeface="Arial MT"/>
              </a:rPr>
              <a:t>without</a:t>
            </a:r>
            <a:r>
              <a:rPr sz="2800" b="0" spc="-120" dirty="0">
                <a:latin typeface="Arial MT"/>
                <a:cs typeface="Arial MT"/>
              </a:rPr>
              <a:t> </a:t>
            </a:r>
            <a:r>
              <a:rPr sz="2800" b="0" dirty="0">
                <a:latin typeface="Arial MT"/>
                <a:cs typeface="Arial MT"/>
              </a:rPr>
              <a:t>being</a:t>
            </a:r>
            <a:r>
              <a:rPr sz="2800" b="0" spc="-114" dirty="0">
                <a:latin typeface="Arial MT"/>
                <a:cs typeface="Arial MT"/>
              </a:rPr>
              <a:t> </a:t>
            </a:r>
            <a:r>
              <a:rPr sz="2800" b="0" dirty="0">
                <a:latin typeface="Arial MT"/>
                <a:cs typeface="Arial MT"/>
              </a:rPr>
              <a:t>explicitly</a:t>
            </a:r>
            <a:r>
              <a:rPr sz="2800" b="0" spc="-120" dirty="0">
                <a:latin typeface="Arial MT"/>
                <a:cs typeface="Arial MT"/>
              </a:rPr>
              <a:t> </a:t>
            </a:r>
            <a:r>
              <a:rPr sz="2800" b="0" spc="-10" dirty="0">
                <a:latin typeface="Arial MT"/>
                <a:cs typeface="Arial MT"/>
              </a:rPr>
              <a:t>programmed.</a:t>
            </a:r>
            <a:endParaRPr sz="2800">
              <a:latin typeface="Arial MT"/>
              <a:cs typeface="Arial MT"/>
            </a:endParaRPr>
          </a:p>
          <a:p>
            <a:pPr marL="305435" indent="-288925">
              <a:lnSpc>
                <a:spcPct val="100000"/>
              </a:lnSpc>
              <a:spcBef>
                <a:spcPts val="560"/>
              </a:spcBef>
              <a:buChar char="•"/>
              <a:tabLst>
                <a:tab pos="305435" algn="l"/>
              </a:tabLst>
            </a:pPr>
            <a:r>
              <a:rPr sz="2800" b="0" dirty="0">
                <a:latin typeface="Arial MT"/>
                <a:cs typeface="Arial MT"/>
              </a:rPr>
              <a:t>Key</a:t>
            </a:r>
            <a:r>
              <a:rPr sz="2800" b="0" spc="-5" dirty="0">
                <a:latin typeface="Arial MT"/>
                <a:cs typeface="Arial MT"/>
              </a:rPr>
              <a:t> </a:t>
            </a:r>
            <a:r>
              <a:rPr sz="2800" b="0" spc="-10" dirty="0">
                <a:latin typeface="Arial MT"/>
                <a:cs typeface="Arial MT"/>
              </a:rPr>
              <a:t>Components:</a:t>
            </a:r>
            <a:endParaRPr sz="2800">
              <a:latin typeface="Arial MT"/>
              <a:cs typeface="Arial MT"/>
            </a:endParaRPr>
          </a:p>
          <a:p>
            <a:pPr marL="705485" lvl="1" indent="-302260">
              <a:lnSpc>
                <a:spcPct val="100000"/>
              </a:lnSpc>
              <a:spcBef>
                <a:spcPts val="495"/>
              </a:spcBef>
              <a:buChar char="–"/>
              <a:tabLst>
                <a:tab pos="705485" algn="l"/>
              </a:tabLst>
            </a:pPr>
            <a:r>
              <a:rPr sz="2400" dirty="0">
                <a:latin typeface="Arial MT"/>
                <a:cs typeface="Arial MT"/>
              </a:rPr>
              <a:t>Data: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B0F0"/>
                </a:solidFill>
                <a:latin typeface="Arial MT"/>
                <a:cs typeface="Arial MT"/>
              </a:rPr>
              <a:t>Essential</a:t>
            </a:r>
            <a:r>
              <a:rPr sz="2400" spc="-85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B0F0"/>
                </a:solidFill>
                <a:latin typeface="Arial MT"/>
                <a:cs typeface="Arial MT"/>
              </a:rPr>
              <a:t>for</a:t>
            </a:r>
            <a:r>
              <a:rPr sz="2400" spc="-90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B0F0"/>
                </a:solidFill>
                <a:latin typeface="Arial MT"/>
                <a:cs typeface="Arial MT"/>
              </a:rPr>
              <a:t>training</a:t>
            </a:r>
            <a:r>
              <a:rPr sz="2400" spc="-85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B0F0"/>
                </a:solidFill>
                <a:latin typeface="Arial MT"/>
                <a:cs typeface="Arial MT"/>
              </a:rPr>
              <a:t>models</a:t>
            </a:r>
            <a:r>
              <a:rPr sz="2400" spc="-1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705485" lvl="1" indent="-302260">
              <a:lnSpc>
                <a:spcPct val="100000"/>
              </a:lnSpc>
              <a:spcBef>
                <a:spcPts val="480"/>
              </a:spcBef>
              <a:buChar char="–"/>
              <a:tabLst>
                <a:tab pos="705485" algn="l"/>
              </a:tabLst>
            </a:pPr>
            <a:r>
              <a:rPr sz="2400" dirty="0">
                <a:latin typeface="Arial MT"/>
                <a:cs typeface="Arial MT"/>
              </a:rPr>
              <a:t>Algorithms: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B0F0"/>
                </a:solidFill>
                <a:latin typeface="Arial MT"/>
                <a:cs typeface="Arial MT"/>
              </a:rPr>
              <a:t>Learn</a:t>
            </a:r>
            <a:r>
              <a:rPr sz="2400" spc="-70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B0F0"/>
                </a:solidFill>
                <a:latin typeface="Arial MT"/>
                <a:cs typeface="Arial MT"/>
              </a:rPr>
              <a:t>from</a:t>
            </a:r>
            <a:r>
              <a:rPr sz="2400" spc="-70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B0F0"/>
                </a:solidFill>
                <a:latin typeface="Arial MT"/>
                <a:cs typeface="Arial MT"/>
              </a:rPr>
              <a:t>data</a:t>
            </a:r>
            <a:r>
              <a:rPr sz="2400" spc="-65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make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predictions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decisions.</a:t>
            </a:r>
            <a:endParaRPr sz="2400">
              <a:latin typeface="Arial MT"/>
              <a:cs typeface="Arial MT"/>
            </a:endParaRPr>
          </a:p>
          <a:p>
            <a:pPr marL="305435" indent="-288925">
              <a:lnSpc>
                <a:spcPct val="100000"/>
              </a:lnSpc>
              <a:spcBef>
                <a:spcPts val="545"/>
              </a:spcBef>
              <a:buChar char="•"/>
              <a:tabLst>
                <a:tab pos="305435" algn="l"/>
              </a:tabLst>
            </a:pPr>
            <a:r>
              <a:rPr sz="2800" b="0" spc="-10" dirty="0">
                <a:latin typeface="Arial MT"/>
                <a:cs typeface="Arial MT"/>
              </a:rPr>
              <a:t>Types</a:t>
            </a:r>
            <a:r>
              <a:rPr sz="2800" b="0" spc="-120" dirty="0">
                <a:latin typeface="Arial MT"/>
                <a:cs typeface="Arial MT"/>
              </a:rPr>
              <a:t> </a:t>
            </a:r>
            <a:r>
              <a:rPr sz="2800" b="0" dirty="0">
                <a:latin typeface="Arial MT"/>
                <a:cs typeface="Arial MT"/>
              </a:rPr>
              <a:t>of</a:t>
            </a:r>
            <a:r>
              <a:rPr sz="2800" b="0" spc="-114" dirty="0">
                <a:latin typeface="Arial MT"/>
                <a:cs typeface="Arial MT"/>
              </a:rPr>
              <a:t> </a:t>
            </a:r>
            <a:r>
              <a:rPr sz="2800" b="0" dirty="0">
                <a:latin typeface="Arial MT"/>
                <a:cs typeface="Arial MT"/>
              </a:rPr>
              <a:t>Machine</a:t>
            </a:r>
            <a:r>
              <a:rPr sz="2800" b="0" spc="-120" dirty="0">
                <a:latin typeface="Arial MT"/>
                <a:cs typeface="Arial MT"/>
              </a:rPr>
              <a:t> </a:t>
            </a:r>
            <a:r>
              <a:rPr sz="2800" b="0" spc="-10" dirty="0">
                <a:latin typeface="Arial MT"/>
                <a:cs typeface="Arial MT"/>
              </a:rPr>
              <a:t>Learning:</a:t>
            </a:r>
            <a:endParaRPr sz="2800">
              <a:latin typeface="Arial MT"/>
              <a:cs typeface="Arial MT"/>
            </a:endParaRPr>
          </a:p>
          <a:p>
            <a:pPr marL="705485" lvl="1" indent="-302260">
              <a:lnSpc>
                <a:spcPct val="100000"/>
              </a:lnSpc>
              <a:spcBef>
                <a:spcPts val="495"/>
              </a:spcBef>
              <a:buChar char="–"/>
              <a:tabLst>
                <a:tab pos="705485" algn="l"/>
              </a:tabLst>
            </a:pPr>
            <a:r>
              <a:rPr sz="2400" b="1" dirty="0">
                <a:latin typeface="Arial"/>
                <a:cs typeface="Arial"/>
              </a:rPr>
              <a:t>Supervised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Learning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Learning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labeled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data.</a:t>
            </a:r>
            <a:endParaRPr sz="2400">
              <a:latin typeface="Arial MT"/>
              <a:cs typeface="Arial MT"/>
            </a:endParaRPr>
          </a:p>
          <a:p>
            <a:pPr marL="705485" lvl="1" indent="-302260">
              <a:lnSpc>
                <a:spcPct val="100000"/>
              </a:lnSpc>
              <a:spcBef>
                <a:spcPts val="480"/>
              </a:spcBef>
              <a:buChar char="–"/>
              <a:tabLst>
                <a:tab pos="705485" algn="l"/>
              </a:tabLst>
            </a:pPr>
            <a:r>
              <a:rPr sz="2400" b="1" spc="-10" dirty="0">
                <a:latin typeface="Arial"/>
                <a:cs typeface="Arial"/>
              </a:rPr>
              <a:t>Unsupervised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Learning: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Learning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unlabeled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find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patterns.</a:t>
            </a:r>
            <a:endParaRPr sz="2400">
              <a:latin typeface="Arial MT"/>
              <a:cs typeface="Arial MT"/>
            </a:endParaRPr>
          </a:p>
          <a:p>
            <a:pPr marL="705485" lvl="1" indent="-302260">
              <a:lnSpc>
                <a:spcPct val="100000"/>
              </a:lnSpc>
              <a:spcBef>
                <a:spcPts val="480"/>
              </a:spcBef>
              <a:buChar char="–"/>
              <a:tabLst>
                <a:tab pos="705485" algn="l"/>
              </a:tabLst>
            </a:pPr>
            <a:r>
              <a:rPr sz="2400" b="1" spc="-10" dirty="0">
                <a:latin typeface="Arial"/>
                <a:cs typeface="Arial"/>
              </a:rPr>
              <a:t>Reinforcement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Learning: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Learning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trial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error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achieve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goal.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CC42C894-F509-48DB-B160-A1EDDA49670F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12" rIns="0" bIns="0" rtlCol="0">
            <a:spAutoFit/>
          </a:bodyPr>
          <a:lstStyle/>
          <a:p>
            <a:pPr marL="915035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25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dirty="0"/>
              <a:t>Machine</a:t>
            </a:r>
            <a:r>
              <a:rPr spc="-20" dirty="0"/>
              <a:t> </a:t>
            </a:r>
            <a:r>
              <a:rPr spc="-10" dirty="0"/>
              <a:t>Learning?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5947" y="1611376"/>
            <a:ext cx="10748010" cy="3154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2260" marR="419734" indent="-290195">
              <a:lnSpc>
                <a:spcPct val="100000"/>
              </a:lnSpc>
              <a:spcBef>
                <a:spcPts val="100"/>
              </a:spcBef>
              <a:buChar char="•"/>
              <a:tabLst>
                <a:tab pos="302260" algn="l"/>
              </a:tabLst>
            </a:pPr>
            <a:r>
              <a:rPr sz="2800" dirty="0">
                <a:latin typeface="Arial MT"/>
                <a:cs typeface="Arial MT"/>
              </a:rPr>
              <a:t>Uses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b="1" dirty="0">
                <a:solidFill>
                  <a:srgbClr val="00B0F0"/>
                </a:solidFill>
                <a:latin typeface="Arial"/>
                <a:cs typeface="Arial"/>
              </a:rPr>
              <a:t>complex</a:t>
            </a:r>
            <a:r>
              <a:rPr sz="2800" b="1" spc="-100" dirty="0">
                <a:solidFill>
                  <a:srgbClr val="00B0F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B0F0"/>
                </a:solidFill>
                <a:latin typeface="Arial"/>
                <a:cs typeface="Arial"/>
              </a:rPr>
              <a:t>neural</a:t>
            </a:r>
            <a:r>
              <a:rPr sz="2800" b="1" spc="-100" dirty="0">
                <a:solidFill>
                  <a:srgbClr val="00B0F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B0F0"/>
                </a:solidFill>
                <a:latin typeface="Arial"/>
                <a:cs typeface="Arial"/>
              </a:rPr>
              <a:t>networks</a:t>
            </a:r>
            <a:r>
              <a:rPr sz="2800" b="1" spc="-85" dirty="0">
                <a:solidFill>
                  <a:srgbClr val="00B0F0"/>
                </a:solidFill>
                <a:latin typeface="Arial"/>
                <a:cs typeface="Arial"/>
              </a:rPr>
              <a:t> </a:t>
            </a:r>
            <a:r>
              <a:rPr sz="2800" dirty="0">
                <a:latin typeface="Arial MT"/>
                <a:cs typeface="Arial MT"/>
              </a:rPr>
              <a:t>with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many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layers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(deep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neural networks).</a:t>
            </a:r>
            <a:endParaRPr sz="2800">
              <a:latin typeface="Arial MT"/>
              <a:cs typeface="Arial MT"/>
            </a:endParaRPr>
          </a:p>
          <a:p>
            <a:pPr marL="302260" marR="814069" indent="-290195">
              <a:lnSpc>
                <a:spcPct val="100000"/>
              </a:lnSpc>
              <a:spcBef>
                <a:spcPts val="560"/>
              </a:spcBef>
              <a:buChar char="•"/>
              <a:tabLst>
                <a:tab pos="302260" algn="l"/>
              </a:tabLst>
            </a:pPr>
            <a:r>
              <a:rPr sz="2800" dirty="0">
                <a:latin typeface="Arial MT"/>
                <a:cs typeface="Arial MT"/>
              </a:rPr>
              <a:t>These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networks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are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capable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of</a:t>
            </a:r>
            <a:r>
              <a:rPr sz="2800" spc="-1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automatically</a:t>
            </a:r>
            <a:r>
              <a:rPr sz="2800" spc="-1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discovering</a:t>
            </a:r>
            <a:r>
              <a:rPr sz="2800" spc="-1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spc="-25" dirty="0">
                <a:solidFill>
                  <a:srgbClr val="FF0000"/>
                </a:solidFill>
                <a:latin typeface="Arial MT"/>
                <a:cs typeface="Arial MT"/>
              </a:rPr>
              <a:t>and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learning</a:t>
            </a:r>
            <a:r>
              <a:rPr sz="2800" spc="-9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patterns</a:t>
            </a:r>
            <a:r>
              <a:rPr sz="2800" spc="-9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data</a:t>
            </a:r>
            <a:endParaRPr sz="2800">
              <a:latin typeface="Arial MT"/>
              <a:cs typeface="Arial MT"/>
            </a:endParaRPr>
          </a:p>
          <a:p>
            <a:pPr marL="399415">
              <a:lnSpc>
                <a:spcPct val="100000"/>
              </a:lnSpc>
              <a:spcBef>
                <a:spcPts val="495"/>
              </a:spcBef>
              <a:tabLst>
                <a:tab pos="701675" algn="l"/>
              </a:tabLst>
            </a:pPr>
            <a:r>
              <a:rPr sz="2400" spc="-50" dirty="0">
                <a:latin typeface="Arial MT"/>
                <a:cs typeface="Arial MT"/>
              </a:rPr>
              <a:t>–</a:t>
            </a:r>
            <a:r>
              <a:rPr sz="2400" dirty="0">
                <a:latin typeface="Arial MT"/>
                <a:cs typeface="Arial MT"/>
              </a:rPr>
              <a:t>	Superior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performance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tasks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like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image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speech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recognition.</a:t>
            </a:r>
            <a:endParaRPr sz="2400">
              <a:latin typeface="Arial MT"/>
              <a:cs typeface="Arial MT"/>
            </a:endParaRPr>
          </a:p>
          <a:p>
            <a:pPr marL="302260" marR="5080" indent="-290195">
              <a:lnSpc>
                <a:spcPct val="100000"/>
              </a:lnSpc>
              <a:spcBef>
                <a:spcPts val="545"/>
              </a:spcBef>
              <a:buChar char="•"/>
              <a:tabLst>
                <a:tab pos="302260" algn="l"/>
              </a:tabLst>
            </a:pPr>
            <a:r>
              <a:rPr sz="2800" dirty="0">
                <a:latin typeface="Arial MT"/>
                <a:cs typeface="Arial MT"/>
              </a:rPr>
              <a:t>Deep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learning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models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can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69646"/>
                </a:solidFill>
                <a:latin typeface="Arial MT"/>
                <a:cs typeface="Arial MT"/>
              </a:rPr>
              <a:t>automatically</a:t>
            </a:r>
            <a:r>
              <a:rPr sz="2800" spc="-100" dirty="0">
                <a:solidFill>
                  <a:srgbClr val="F69646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69646"/>
                </a:solidFill>
                <a:latin typeface="Arial MT"/>
                <a:cs typeface="Arial MT"/>
              </a:rPr>
              <a:t>extract</a:t>
            </a:r>
            <a:r>
              <a:rPr sz="2800" spc="-105" dirty="0">
                <a:solidFill>
                  <a:srgbClr val="F69646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69646"/>
                </a:solidFill>
                <a:latin typeface="Arial MT"/>
                <a:cs typeface="Arial MT"/>
              </a:rPr>
              <a:t>and</a:t>
            </a:r>
            <a:r>
              <a:rPr sz="2800" spc="-100" dirty="0">
                <a:solidFill>
                  <a:srgbClr val="F69646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69646"/>
                </a:solidFill>
                <a:latin typeface="Arial MT"/>
                <a:cs typeface="Arial MT"/>
              </a:rPr>
              <a:t>learn</a:t>
            </a:r>
            <a:r>
              <a:rPr sz="2800" spc="-105" dirty="0">
                <a:solidFill>
                  <a:srgbClr val="F69646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69646"/>
                </a:solidFill>
                <a:latin typeface="Arial MT"/>
                <a:cs typeface="Arial MT"/>
              </a:rPr>
              <a:t>features </a:t>
            </a:r>
            <a:r>
              <a:rPr sz="2800" dirty="0">
                <a:solidFill>
                  <a:srgbClr val="F69646"/>
                </a:solidFill>
                <a:latin typeface="Arial MT"/>
                <a:cs typeface="Arial MT"/>
              </a:rPr>
              <a:t>from</a:t>
            </a:r>
            <a:r>
              <a:rPr sz="2800" spc="-85" dirty="0">
                <a:solidFill>
                  <a:srgbClr val="F69646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69646"/>
                </a:solidFill>
                <a:latin typeface="Arial MT"/>
                <a:cs typeface="Arial MT"/>
              </a:rPr>
              <a:t>raw</a:t>
            </a:r>
            <a:r>
              <a:rPr sz="2800" spc="-85" dirty="0">
                <a:solidFill>
                  <a:srgbClr val="F69646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69646"/>
                </a:solidFill>
                <a:latin typeface="Arial MT"/>
                <a:cs typeface="Arial MT"/>
              </a:rPr>
              <a:t>data</a:t>
            </a:r>
            <a:r>
              <a:rPr sz="2800" dirty="0">
                <a:latin typeface="Arial MT"/>
                <a:cs typeface="Arial MT"/>
              </a:rPr>
              <a:t>,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reducing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need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manual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feature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extraction.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A64814AE-822F-4750-A8BD-DB72352408E0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12" rIns="0" bIns="0" rtlCol="0">
            <a:spAutoFit/>
          </a:bodyPr>
          <a:lstStyle/>
          <a:p>
            <a:pPr marL="2185035">
              <a:lnSpc>
                <a:spcPct val="100000"/>
              </a:lnSpc>
              <a:spcBef>
                <a:spcPts val="100"/>
              </a:spcBef>
            </a:pPr>
            <a:r>
              <a:rPr dirty="0"/>
              <a:t>Deep</a:t>
            </a:r>
            <a:r>
              <a:rPr spc="-20" dirty="0"/>
              <a:t> </a:t>
            </a:r>
            <a:r>
              <a:rPr spc="-10" dirty="0"/>
              <a:t>Learning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Machine</a:t>
            </a:r>
            <a:r>
              <a:rPr spc="-25" dirty="0"/>
              <a:t> </a:t>
            </a:r>
            <a:r>
              <a:rPr dirty="0"/>
              <a:t>Learning</a:t>
            </a:r>
            <a:r>
              <a:rPr spc="-25" dirty="0"/>
              <a:t> </a:t>
            </a:r>
            <a:r>
              <a:rPr dirty="0"/>
              <a:t>vs</a:t>
            </a:r>
            <a:r>
              <a:rPr spc="-25" dirty="0"/>
              <a:t> </a:t>
            </a:r>
            <a:r>
              <a:rPr dirty="0"/>
              <a:t>Deep</a:t>
            </a:r>
            <a:r>
              <a:rPr spc="-25" dirty="0"/>
              <a:t> </a:t>
            </a:r>
            <a:r>
              <a:rPr spc="-10" dirty="0"/>
              <a:t>Learning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1565" y="1600201"/>
            <a:ext cx="10568869" cy="452596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D9BAF0CB-A4DD-43AF-9D1C-7B62D45D9865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Machine</a:t>
            </a:r>
            <a:r>
              <a:rPr spc="-25" dirty="0"/>
              <a:t> </a:t>
            </a:r>
            <a:r>
              <a:rPr dirty="0"/>
              <a:t>Learning</a:t>
            </a:r>
            <a:r>
              <a:rPr spc="-25" dirty="0"/>
              <a:t> </a:t>
            </a:r>
            <a:r>
              <a:rPr dirty="0"/>
              <a:t>vs</a:t>
            </a:r>
            <a:r>
              <a:rPr spc="-25" dirty="0"/>
              <a:t> </a:t>
            </a:r>
            <a:r>
              <a:rPr dirty="0"/>
              <a:t>Deep</a:t>
            </a:r>
            <a:r>
              <a:rPr spc="-25" dirty="0"/>
              <a:t> </a:t>
            </a:r>
            <a:r>
              <a:rPr spc="-10" dirty="0"/>
              <a:t>Learning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00" y="1595705"/>
            <a:ext cx="9372599" cy="453045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0565B969-918F-48D4-A7A9-69C6FC33BFFD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12" rIns="0" bIns="0" rtlCol="0">
            <a:spAutoFit/>
          </a:bodyPr>
          <a:lstStyle/>
          <a:p>
            <a:pPr marL="1664970">
              <a:lnSpc>
                <a:spcPct val="100000"/>
              </a:lnSpc>
              <a:spcBef>
                <a:spcPts val="100"/>
              </a:spcBef>
            </a:pPr>
            <a:r>
              <a:rPr dirty="0"/>
              <a:t>Artificial</a:t>
            </a:r>
            <a:r>
              <a:rPr spc="-50" dirty="0"/>
              <a:t> </a:t>
            </a:r>
            <a:r>
              <a:rPr spc="-10" dirty="0"/>
              <a:t>Intelligence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0" y="1600200"/>
            <a:ext cx="7264399" cy="48767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28E7902C-18CA-400D-B0F3-F4B6B3A816EA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1939" y="1612443"/>
            <a:ext cx="10458450" cy="384111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06070" marR="254635" indent="-294005">
              <a:lnSpc>
                <a:spcPts val="3110"/>
              </a:lnSpc>
              <a:spcBef>
                <a:spcPts val="200"/>
              </a:spcBef>
              <a:buChar char="•"/>
              <a:tabLst>
                <a:tab pos="306070" algn="l"/>
              </a:tabLst>
            </a:pPr>
            <a:r>
              <a:rPr sz="2600" spc="-10" dirty="0">
                <a:latin typeface="Arial MT"/>
                <a:cs typeface="Arial MT"/>
              </a:rPr>
              <a:t>Generative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models</a:t>
            </a:r>
            <a:r>
              <a:rPr sz="2600" spc="-7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are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class</a:t>
            </a:r>
            <a:r>
              <a:rPr sz="2600" spc="-7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of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70C0"/>
                </a:solidFill>
                <a:latin typeface="Arial MT"/>
                <a:cs typeface="Arial MT"/>
              </a:rPr>
              <a:t>statistical</a:t>
            </a:r>
            <a:r>
              <a:rPr sz="2600" spc="-70" dirty="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70C0"/>
                </a:solidFill>
                <a:latin typeface="Arial MT"/>
                <a:cs typeface="Arial MT"/>
              </a:rPr>
              <a:t>models</a:t>
            </a:r>
            <a:r>
              <a:rPr sz="2600" spc="-65" dirty="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used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in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machine </a:t>
            </a:r>
            <a:r>
              <a:rPr sz="2600" dirty="0">
                <a:latin typeface="Arial MT"/>
                <a:cs typeface="Arial MT"/>
              </a:rPr>
              <a:t>learning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that</a:t>
            </a:r>
            <a:r>
              <a:rPr sz="2600" spc="-8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focus</a:t>
            </a:r>
            <a:r>
              <a:rPr sz="2600" spc="-8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on</a:t>
            </a:r>
            <a:r>
              <a:rPr sz="2600" spc="-8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60" dirty="0"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F69646"/>
                </a:solidFill>
                <a:latin typeface="Arial MT"/>
                <a:cs typeface="Arial MT"/>
              </a:rPr>
              <a:t>generation</a:t>
            </a:r>
            <a:r>
              <a:rPr sz="2600" spc="-80" dirty="0">
                <a:solidFill>
                  <a:srgbClr val="F69646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F69646"/>
                </a:solidFill>
                <a:latin typeface="Arial MT"/>
                <a:cs typeface="Arial MT"/>
              </a:rPr>
              <a:t>of</a:t>
            </a:r>
            <a:r>
              <a:rPr sz="2600" spc="-80" dirty="0">
                <a:solidFill>
                  <a:srgbClr val="F69646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F69646"/>
                </a:solidFill>
                <a:latin typeface="Arial MT"/>
                <a:cs typeface="Arial MT"/>
              </a:rPr>
              <a:t>new</a:t>
            </a:r>
            <a:r>
              <a:rPr sz="2600" spc="-85" dirty="0">
                <a:solidFill>
                  <a:srgbClr val="F69646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F69646"/>
                </a:solidFill>
                <a:latin typeface="Arial MT"/>
                <a:cs typeface="Arial MT"/>
              </a:rPr>
              <a:t>data</a:t>
            </a:r>
            <a:r>
              <a:rPr sz="2600" spc="-80" dirty="0">
                <a:solidFill>
                  <a:srgbClr val="F69646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F69646"/>
                </a:solidFill>
                <a:latin typeface="Arial MT"/>
                <a:cs typeface="Arial MT"/>
              </a:rPr>
              <a:t>instances</a:t>
            </a:r>
            <a:r>
              <a:rPr sz="2600" spc="-10" dirty="0">
                <a:latin typeface="Arial MT"/>
                <a:cs typeface="Arial MT"/>
              </a:rPr>
              <a:t>.</a:t>
            </a:r>
            <a:endParaRPr sz="2600">
              <a:latin typeface="Arial MT"/>
              <a:cs typeface="Arial MT"/>
            </a:endParaRPr>
          </a:p>
          <a:p>
            <a:pPr marL="306070" indent="-293370">
              <a:lnSpc>
                <a:spcPct val="100000"/>
              </a:lnSpc>
              <a:spcBef>
                <a:spcPts val="400"/>
              </a:spcBef>
              <a:buChar char="•"/>
              <a:tabLst>
                <a:tab pos="306070" algn="l"/>
              </a:tabLst>
            </a:pPr>
            <a:r>
              <a:rPr sz="2600" spc="-10" dirty="0">
                <a:latin typeface="Arial MT"/>
                <a:cs typeface="Arial MT"/>
              </a:rPr>
              <a:t>Generative</a:t>
            </a:r>
            <a:r>
              <a:rPr sz="2600" spc="-9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models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used</a:t>
            </a:r>
            <a:r>
              <a:rPr sz="2600" spc="-9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in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b="1" spc="-10" dirty="0">
                <a:latin typeface="Arial"/>
                <a:cs typeface="Arial"/>
              </a:rPr>
              <a:t>unsupervised</a:t>
            </a:r>
            <a:r>
              <a:rPr sz="2600" b="1" spc="-95" dirty="0"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machine</a:t>
            </a:r>
            <a:r>
              <a:rPr sz="2600" b="1" spc="-90" dirty="0">
                <a:latin typeface="Arial"/>
                <a:cs typeface="Arial"/>
              </a:rPr>
              <a:t> </a:t>
            </a:r>
            <a:r>
              <a:rPr sz="2600" b="1" spc="-10" dirty="0">
                <a:latin typeface="Arial"/>
                <a:cs typeface="Arial"/>
              </a:rPr>
              <a:t>learning</a:t>
            </a:r>
            <a:r>
              <a:rPr sz="2600" spc="-10" dirty="0">
                <a:latin typeface="Arial MT"/>
                <a:cs typeface="Arial MT"/>
              </a:rPr>
              <a:t>.</a:t>
            </a:r>
            <a:endParaRPr sz="2600">
              <a:latin typeface="Arial MT"/>
              <a:cs typeface="Arial MT"/>
            </a:endParaRPr>
          </a:p>
          <a:p>
            <a:pPr marL="306070" marR="1093470" indent="-294005">
              <a:lnSpc>
                <a:spcPts val="3110"/>
              </a:lnSpc>
              <a:spcBef>
                <a:spcPts val="620"/>
              </a:spcBef>
              <a:buChar char="•"/>
              <a:tabLst>
                <a:tab pos="306070" algn="l"/>
              </a:tabLst>
            </a:pPr>
            <a:r>
              <a:rPr sz="2600" dirty="0">
                <a:latin typeface="Arial MT"/>
                <a:cs typeface="Arial MT"/>
              </a:rPr>
              <a:t>They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try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understanding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and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replicating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complex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Arial MT"/>
                <a:cs typeface="Arial MT"/>
              </a:rPr>
              <a:t>probability </a:t>
            </a:r>
            <a:r>
              <a:rPr sz="2600" dirty="0">
                <a:solidFill>
                  <a:srgbClr val="FF0000"/>
                </a:solidFill>
                <a:latin typeface="Arial MT"/>
                <a:cs typeface="Arial MT"/>
              </a:rPr>
              <a:t>distributions</a:t>
            </a:r>
            <a:r>
              <a:rPr sz="2600" spc="-1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of</a:t>
            </a:r>
            <a:r>
              <a:rPr sz="2600" spc="-10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training</a:t>
            </a:r>
            <a:r>
              <a:rPr sz="2600" spc="-10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data.</a:t>
            </a:r>
            <a:endParaRPr sz="2600">
              <a:latin typeface="Arial MT"/>
              <a:cs typeface="Arial MT"/>
            </a:endParaRPr>
          </a:p>
          <a:p>
            <a:pPr marL="306070" marR="5080" indent="-294005">
              <a:lnSpc>
                <a:spcPts val="3110"/>
              </a:lnSpc>
              <a:spcBef>
                <a:spcPts val="515"/>
              </a:spcBef>
              <a:buChar char="•"/>
              <a:tabLst>
                <a:tab pos="306070" algn="l"/>
              </a:tabLst>
            </a:pPr>
            <a:r>
              <a:rPr sz="2600" dirty="0">
                <a:latin typeface="Arial MT"/>
                <a:cs typeface="Arial MT"/>
              </a:rPr>
              <a:t>Capture</a:t>
            </a:r>
            <a:r>
              <a:rPr sz="2600" spc="-9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9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essence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of</a:t>
            </a:r>
            <a:r>
              <a:rPr sz="2600" spc="-9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data</a:t>
            </a:r>
            <a:r>
              <a:rPr sz="2600" spc="-70" dirty="0"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F22B1"/>
                </a:solidFill>
                <a:latin typeface="Arial MT"/>
                <a:cs typeface="Arial MT"/>
              </a:rPr>
              <a:t>-</a:t>
            </a:r>
            <a:r>
              <a:rPr sz="2600" spc="-85" dirty="0">
                <a:solidFill>
                  <a:srgbClr val="0F22B1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F22B1"/>
                </a:solidFill>
                <a:latin typeface="Arial MT"/>
                <a:cs typeface="Arial MT"/>
              </a:rPr>
              <a:t>its</a:t>
            </a:r>
            <a:r>
              <a:rPr sz="2600" spc="-90" dirty="0">
                <a:solidFill>
                  <a:srgbClr val="0F22B1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F22B1"/>
                </a:solidFill>
                <a:latin typeface="Arial MT"/>
                <a:cs typeface="Arial MT"/>
              </a:rPr>
              <a:t>patterns,</a:t>
            </a:r>
            <a:r>
              <a:rPr sz="2600" spc="-90" dirty="0">
                <a:solidFill>
                  <a:srgbClr val="0F22B1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F22B1"/>
                </a:solidFill>
                <a:latin typeface="Arial MT"/>
                <a:cs typeface="Arial MT"/>
              </a:rPr>
              <a:t>variations,</a:t>
            </a:r>
            <a:r>
              <a:rPr sz="2600" spc="-95" dirty="0">
                <a:solidFill>
                  <a:srgbClr val="0F22B1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F22B1"/>
                </a:solidFill>
                <a:latin typeface="Arial MT"/>
                <a:cs typeface="Arial MT"/>
              </a:rPr>
              <a:t>and</a:t>
            </a:r>
            <a:r>
              <a:rPr sz="2600" spc="-90" dirty="0">
                <a:solidFill>
                  <a:srgbClr val="0F22B1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F22B1"/>
                </a:solidFill>
                <a:latin typeface="Arial MT"/>
                <a:cs typeface="Arial MT"/>
              </a:rPr>
              <a:t>structure</a:t>
            </a:r>
            <a:r>
              <a:rPr sz="2600" spc="-40" dirty="0">
                <a:solidFill>
                  <a:srgbClr val="0F22B1"/>
                </a:solidFill>
                <a:latin typeface="Arial MT"/>
                <a:cs typeface="Arial MT"/>
              </a:rPr>
              <a:t> </a:t>
            </a:r>
            <a:r>
              <a:rPr sz="2600" spc="-50" dirty="0">
                <a:latin typeface="Arial MT"/>
                <a:cs typeface="Arial MT"/>
              </a:rPr>
              <a:t>- </a:t>
            </a:r>
            <a:r>
              <a:rPr sz="2600" dirty="0">
                <a:latin typeface="Arial MT"/>
                <a:cs typeface="Arial MT"/>
              </a:rPr>
              <a:t>and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can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produce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new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data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that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follows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same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statistical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properties.</a:t>
            </a:r>
            <a:endParaRPr sz="2600">
              <a:latin typeface="Arial MT"/>
              <a:cs typeface="Arial MT"/>
            </a:endParaRPr>
          </a:p>
          <a:p>
            <a:pPr marL="306070" marR="859155" indent="-294005">
              <a:lnSpc>
                <a:spcPts val="3110"/>
              </a:lnSpc>
              <a:spcBef>
                <a:spcPts val="509"/>
              </a:spcBef>
              <a:buChar char="•"/>
              <a:tabLst>
                <a:tab pos="306070" algn="l"/>
              </a:tabLst>
            </a:pPr>
            <a:r>
              <a:rPr sz="2600" dirty="0">
                <a:latin typeface="Arial MT"/>
                <a:cs typeface="Arial MT"/>
              </a:rPr>
              <a:t>They</a:t>
            </a:r>
            <a:r>
              <a:rPr sz="2600" spc="-9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contrast</a:t>
            </a:r>
            <a:r>
              <a:rPr sz="2600" spc="-9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with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00B0F0"/>
                </a:solidFill>
                <a:latin typeface="Arial MT"/>
                <a:cs typeface="Arial MT"/>
              </a:rPr>
              <a:t>discriminative</a:t>
            </a:r>
            <a:r>
              <a:rPr sz="2600" spc="-95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B0F0"/>
                </a:solidFill>
                <a:latin typeface="Arial MT"/>
                <a:cs typeface="Arial MT"/>
              </a:rPr>
              <a:t>models</a:t>
            </a:r>
            <a:r>
              <a:rPr sz="2600" dirty="0">
                <a:latin typeface="Arial MT"/>
                <a:cs typeface="Arial MT"/>
              </a:rPr>
              <a:t>,</a:t>
            </a:r>
            <a:r>
              <a:rPr sz="2600" spc="-9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which</a:t>
            </a:r>
            <a:r>
              <a:rPr sz="2600" spc="-9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are</a:t>
            </a:r>
            <a:r>
              <a:rPr sz="2600" spc="-9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designed</a:t>
            </a:r>
            <a:r>
              <a:rPr sz="2600" spc="-100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to </a:t>
            </a:r>
            <a:r>
              <a:rPr sz="2600" spc="-10" dirty="0">
                <a:latin typeface="Arial MT"/>
                <a:cs typeface="Arial MT"/>
              </a:rPr>
              <a:t>distinguish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between</a:t>
            </a:r>
            <a:r>
              <a:rPr sz="2600" spc="-8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different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kinds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of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data</a:t>
            </a:r>
            <a:r>
              <a:rPr sz="2600" spc="-8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instances.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CECE80A6-11A2-4BF0-8C94-84FEADA242A4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12" rIns="0" bIns="0" rtlCol="0">
            <a:spAutoFit/>
          </a:bodyPr>
          <a:lstStyle/>
          <a:p>
            <a:pPr marL="648335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45" dirty="0"/>
              <a:t> </a:t>
            </a:r>
            <a:r>
              <a:rPr dirty="0"/>
              <a:t>are</a:t>
            </a:r>
            <a:r>
              <a:rPr spc="-30" dirty="0"/>
              <a:t> </a:t>
            </a:r>
            <a:r>
              <a:rPr dirty="0"/>
              <a:t>Generative</a:t>
            </a:r>
            <a:r>
              <a:rPr spc="-25" dirty="0"/>
              <a:t> </a:t>
            </a:r>
            <a:r>
              <a:rPr spc="-10" dirty="0"/>
              <a:t>Models?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5947" y="1548791"/>
            <a:ext cx="10760710" cy="422148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320"/>
              </a:spcBef>
              <a:buChar char="•"/>
              <a:tabLst>
                <a:tab pos="301625" algn="l"/>
              </a:tabLst>
            </a:pPr>
            <a:r>
              <a:rPr sz="2800" b="1" spc="-10" dirty="0">
                <a:latin typeface="Arial"/>
                <a:cs typeface="Arial"/>
              </a:rPr>
              <a:t>Generative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Models</a:t>
            </a:r>
            <a:endParaRPr sz="2800">
              <a:latin typeface="Arial"/>
              <a:cs typeface="Arial"/>
            </a:endParaRPr>
          </a:p>
          <a:p>
            <a:pPr marL="302260" marR="5080" indent="-290195">
              <a:lnSpc>
                <a:spcPts val="3020"/>
              </a:lnSpc>
              <a:spcBef>
                <a:spcPts val="610"/>
              </a:spcBef>
              <a:buChar char="•"/>
              <a:tabLst>
                <a:tab pos="302260" algn="l"/>
                <a:tab pos="3691890" algn="l"/>
                <a:tab pos="4119245" algn="l"/>
                <a:tab pos="10509885" algn="l"/>
              </a:tabLst>
            </a:pPr>
            <a:r>
              <a:rPr sz="2800" dirty="0">
                <a:latin typeface="Arial MT"/>
                <a:cs typeface="Arial MT"/>
              </a:rPr>
              <a:t>Generative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learn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7030A0"/>
                </a:solidFill>
                <a:latin typeface="Arial MT"/>
                <a:cs typeface="Arial MT"/>
              </a:rPr>
              <a:t>joint</a:t>
            </a:r>
            <a:r>
              <a:rPr sz="2800" spc="-85" dirty="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7030A0"/>
                </a:solidFill>
                <a:latin typeface="Arial MT"/>
                <a:cs typeface="Arial MT"/>
              </a:rPr>
              <a:t>probability</a:t>
            </a:r>
            <a:r>
              <a:rPr sz="2800" spc="-85" dirty="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7030A0"/>
                </a:solidFill>
                <a:latin typeface="Arial MT"/>
                <a:cs typeface="Arial MT"/>
              </a:rPr>
              <a:t>distribution</a:t>
            </a:r>
            <a:r>
              <a:rPr sz="2800" spc="-65" dirty="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P(X,</a:t>
            </a:r>
            <a:r>
              <a:rPr sz="2800" spc="-1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Y)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,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where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50" dirty="0">
                <a:latin typeface="Arial MT"/>
                <a:cs typeface="Arial MT"/>
              </a:rPr>
              <a:t>X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input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data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and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50" dirty="0">
                <a:latin typeface="Arial MT"/>
                <a:cs typeface="Arial MT"/>
              </a:rPr>
              <a:t>Y</a:t>
            </a:r>
            <a:r>
              <a:rPr sz="2800" dirty="0">
                <a:latin typeface="Arial MT"/>
                <a:cs typeface="Arial MT"/>
              </a:rPr>
              <a:t>	is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output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label.</a:t>
            </a:r>
            <a:endParaRPr sz="2800">
              <a:latin typeface="Arial MT"/>
              <a:cs typeface="Arial MT"/>
            </a:endParaRPr>
          </a:p>
          <a:p>
            <a:pPr marL="302260" marR="1539875" indent="-290195">
              <a:lnSpc>
                <a:spcPts val="3020"/>
              </a:lnSpc>
              <a:spcBef>
                <a:spcPts val="570"/>
              </a:spcBef>
              <a:buChar char="•"/>
              <a:tabLst>
                <a:tab pos="302260" algn="l"/>
              </a:tabLst>
            </a:pPr>
            <a:r>
              <a:rPr sz="2800" dirty="0">
                <a:latin typeface="Arial MT"/>
                <a:cs typeface="Arial MT"/>
              </a:rPr>
              <a:t>They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understand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how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data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generated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terms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a </a:t>
            </a:r>
            <a:r>
              <a:rPr sz="2800" dirty="0">
                <a:solidFill>
                  <a:srgbClr val="FF0000"/>
                </a:solidFill>
                <a:latin typeface="Arial MT"/>
                <a:cs typeface="Arial MT"/>
              </a:rPr>
              <a:t>probabilistic</a:t>
            </a:r>
            <a:r>
              <a:rPr sz="2800" spc="-1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Arial MT"/>
                <a:cs typeface="Arial MT"/>
              </a:rPr>
              <a:t>model</a:t>
            </a:r>
            <a:r>
              <a:rPr sz="2800" spc="-10" dirty="0">
                <a:latin typeface="Arial MT"/>
                <a:cs typeface="Arial MT"/>
              </a:rPr>
              <a:t>.</a:t>
            </a:r>
            <a:endParaRPr sz="2800">
              <a:latin typeface="Arial MT"/>
              <a:cs typeface="Arial MT"/>
            </a:endParaRPr>
          </a:p>
          <a:p>
            <a:pPr marL="302260" marR="292100" indent="-290195">
              <a:lnSpc>
                <a:spcPts val="3020"/>
              </a:lnSpc>
              <a:spcBef>
                <a:spcPts val="565"/>
              </a:spcBef>
              <a:buChar char="•"/>
              <a:tabLst>
                <a:tab pos="302260" algn="l"/>
              </a:tabLst>
            </a:pPr>
            <a:r>
              <a:rPr sz="2800" dirty="0">
                <a:latin typeface="Arial MT"/>
                <a:cs typeface="Arial MT"/>
              </a:rPr>
              <a:t>These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models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can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generate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new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data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points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that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B0F0"/>
                </a:solidFill>
                <a:latin typeface="Arial MT"/>
                <a:cs typeface="Arial MT"/>
              </a:rPr>
              <a:t>similar</a:t>
            </a:r>
            <a:r>
              <a:rPr sz="2800" spc="-80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B0F0"/>
                </a:solidFill>
                <a:latin typeface="Arial MT"/>
                <a:cs typeface="Arial MT"/>
              </a:rPr>
              <a:t>to</a:t>
            </a:r>
            <a:r>
              <a:rPr sz="2800" spc="-75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sz="2800" spc="-25" dirty="0">
                <a:solidFill>
                  <a:srgbClr val="00B0F0"/>
                </a:solidFill>
                <a:latin typeface="Arial MT"/>
                <a:cs typeface="Arial MT"/>
              </a:rPr>
              <a:t>the </a:t>
            </a:r>
            <a:r>
              <a:rPr sz="2800" dirty="0">
                <a:solidFill>
                  <a:srgbClr val="00B0F0"/>
                </a:solidFill>
                <a:latin typeface="Arial MT"/>
                <a:cs typeface="Arial MT"/>
              </a:rPr>
              <a:t>training</a:t>
            </a:r>
            <a:r>
              <a:rPr sz="2800" spc="-135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B0F0"/>
                </a:solidFill>
                <a:latin typeface="Arial MT"/>
                <a:cs typeface="Arial MT"/>
              </a:rPr>
              <a:t>data</a:t>
            </a:r>
            <a:r>
              <a:rPr sz="2800" spc="-10" dirty="0">
                <a:latin typeface="Arial MT"/>
                <a:cs typeface="Arial MT"/>
              </a:rPr>
              <a:t>.</a:t>
            </a:r>
            <a:endParaRPr sz="2800">
              <a:latin typeface="Arial MT"/>
              <a:cs typeface="Arial MT"/>
            </a:endParaRPr>
          </a:p>
          <a:p>
            <a:pPr marL="302260" marR="814069" indent="-290195">
              <a:lnSpc>
                <a:spcPts val="3020"/>
              </a:lnSpc>
              <a:spcBef>
                <a:spcPts val="570"/>
              </a:spcBef>
              <a:buChar char="•"/>
              <a:tabLst>
                <a:tab pos="302260" algn="l"/>
              </a:tabLst>
            </a:pPr>
            <a:r>
              <a:rPr sz="2800" dirty="0">
                <a:latin typeface="Arial MT"/>
                <a:cs typeface="Arial MT"/>
              </a:rPr>
              <a:t>e.g.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Gaussian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Mixture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Models,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Hidden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Markov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Models,</a:t>
            </a:r>
            <a:r>
              <a:rPr sz="2800" spc="-114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Naive </a:t>
            </a:r>
            <a:r>
              <a:rPr sz="2800" dirty="0">
                <a:latin typeface="Arial MT"/>
                <a:cs typeface="Arial MT"/>
              </a:rPr>
              <a:t>Bayes,</a:t>
            </a:r>
            <a:r>
              <a:rPr sz="2800" spc="-175" dirty="0">
                <a:latin typeface="Arial MT"/>
                <a:cs typeface="Arial MT"/>
              </a:rPr>
              <a:t> </a:t>
            </a:r>
            <a:r>
              <a:rPr sz="2800" spc="-40" dirty="0">
                <a:latin typeface="Arial MT"/>
                <a:cs typeface="Arial MT"/>
              </a:rPr>
              <a:t>Variational</a:t>
            </a:r>
            <a:r>
              <a:rPr sz="2800" spc="-1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Autoencoders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(VAEs),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Generative Adversarial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Networks</a:t>
            </a:r>
            <a:r>
              <a:rPr sz="2800" spc="-10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(GANs).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2DACE2BB-FB87-40CD-97B0-BEC9067FF7BA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44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12" rIns="0" bIns="0" rtlCol="0">
            <a:spAutoFit/>
          </a:bodyPr>
          <a:lstStyle/>
          <a:p>
            <a:pPr marL="64135">
              <a:lnSpc>
                <a:spcPct val="100000"/>
              </a:lnSpc>
              <a:spcBef>
                <a:spcPts val="100"/>
              </a:spcBef>
            </a:pPr>
            <a:r>
              <a:rPr dirty="0"/>
              <a:t>Discriminative</a:t>
            </a:r>
            <a:r>
              <a:rPr spc="-45" dirty="0"/>
              <a:t> </a:t>
            </a:r>
            <a:r>
              <a:rPr dirty="0"/>
              <a:t>Vs</a:t>
            </a:r>
            <a:r>
              <a:rPr spc="-40" dirty="0"/>
              <a:t> </a:t>
            </a:r>
            <a:r>
              <a:rPr dirty="0"/>
              <a:t>Generative</a:t>
            </a:r>
            <a:r>
              <a:rPr spc="-40" dirty="0"/>
              <a:t> </a:t>
            </a:r>
            <a:r>
              <a:rPr spc="-20" dirty="0"/>
              <a:t>Model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306070" indent="-293370">
              <a:lnSpc>
                <a:spcPct val="100000"/>
              </a:lnSpc>
              <a:spcBef>
                <a:spcPts val="295"/>
              </a:spcBef>
              <a:buChar char="•"/>
              <a:tabLst>
                <a:tab pos="306070" algn="l"/>
              </a:tabLst>
            </a:pPr>
            <a:r>
              <a:rPr spc="-10" dirty="0"/>
              <a:t>Discriminative</a:t>
            </a:r>
            <a:r>
              <a:rPr spc="-114" dirty="0"/>
              <a:t> </a:t>
            </a:r>
            <a:r>
              <a:rPr spc="-10" dirty="0"/>
              <a:t>Models</a:t>
            </a:r>
          </a:p>
          <a:p>
            <a:pPr marL="306070" marR="121920" indent="-294005">
              <a:lnSpc>
                <a:spcPts val="2800"/>
              </a:lnSpc>
              <a:spcBef>
                <a:spcPts val="555"/>
              </a:spcBef>
              <a:buChar char="•"/>
              <a:tabLst>
                <a:tab pos="306070" algn="l"/>
                <a:tab pos="5561330" algn="l"/>
                <a:tab pos="5956935" algn="l"/>
                <a:tab pos="8313420" algn="l"/>
                <a:tab pos="9007475" algn="l"/>
              </a:tabLst>
            </a:pPr>
            <a:r>
              <a:rPr b="0" spc="-10" dirty="0">
                <a:latin typeface="Arial MT"/>
                <a:cs typeface="Arial MT"/>
              </a:rPr>
              <a:t>Discriminative</a:t>
            </a:r>
            <a:r>
              <a:rPr b="0" spc="-8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models</a:t>
            </a:r>
            <a:r>
              <a:rPr b="0" spc="-7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learn</a:t>
            </a:r>
            <a:r>
              <a:rPr b="0" spc="-8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the</a:t>
            </a:r>
            <a:r>
              <a:rPr b="0" spc="-70" dirty="0"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rgbClr val="00B0F0"/>
                </a:solidFill>
                <a:latin typeface="Arial MT"/>
                <a:cs typeface="Arial MT"/>
              </a:rPr>
              <a:t>conditional</a:t>
            </a:r>
            <a:r>
              <a:rPr b="0" spc="-80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rgbClr val="00B0F0"/>
                </a:solidFill>
                <a:latin typeface="Arial MT"/>
                <a:cs typeface="Arial MT"/>
              </a:rPr>
              <a:t>probability</a:t>
            </a:r>
            <a:r>
              <a:rPr b="0" dirty="0">
                <a:solidFill>
                  <a:srgbClr val="00B0F0"/>
                </a:solidFill>
                <a:latin typeface="Arial MT"/>
                <a:cs typeface="Arial MT"/>
              </a:rPr>
              <a:t>	</a:t>
            </a:r>
            <a:r>
              <a:rPr b="0" dirty="0">
                <a:latin typeface="Arial MT"/>
                <a:cs typeface="Arial MT"/>
              </a:rPr>
              <a:t>P(Y</a:t>
            </a:r>
            <a:r>
              <a:rPr b="0" spc="-8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|</a:t>
            </a:r>
            <a:r>
              <a:rPr b="0" spc="-3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X)</a:t>
            </a:r>
            <a:r>
              <a:rPr b="0" spc="-2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,</a:t>
            </a:r>
            <a:r>
              <a:rPr b="0" spc="-35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which </a:t>
            </a:r>
            <a:r>
              <a:rPr b="0" dirty="0">
                <a:latin typeface="Arial MT"/>
                <a:cs typeface="Arial MT"/>
              </a:rPr>
              <a:t>is</a:t>
            </a:r>
            <a:r>
              <a:rPr b="0" spc="-6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the</a:t>
            </a:r>
            <a:r>
              <a:rPr b="0" spc="-7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probability</a:t>
            </a:r>
            <a:r>
              <a:rPr b="0" spc="-6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of</a:t>
            </a:r>
            <a:r>
              <a:rPr b="0" spc="-7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the</a:t>
            </a:r>
            <a:r>
              <a:rPr b="0" spc="-7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output</a:t>
            </a:r>
            <a:r>
              <a:rPr b="0" spc="-65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label</a:t>
            </a:r>
            <a:r>
              <a:rPr b="0" dirty="0">
                <a:latin typeface="Arial MT"/>
                <a:cs typeface="Arial MT"/>
              </a:rPr>
              <a:t>	</a:t>
            </a:r>
            <a:r>
              <a:rPr b="0" spc="-50" dirty="0">
                <a:latin typeface="Arial MT"/>
                <a:cs typeface="Arial MT"/>
              </a:rPr>
              <a:t>Y</a:t>
            </a:r>
            <a:r>
              <a:rPr b="0" dirty="0">
                <a:latin typeface="Arial MT"/>
                <a:cs typeface="Arial MT"/>
              </a:rPr>
              <a:t>	given</a:t>
            </a:r>
            <a:r>
              <a:rPr b="0" spc="-9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the</a:t>
            </a:r>
            <a:r>
              <a:rPr b="0" spc="-8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input</a:t>
            </a:r>
            <a:r>
              <a:rPr b="0" spc="-75" dirty="0">
                <a:latin typeface="Arial MT"/>
                <a:cs typeface="Arial MT"/>
              </a:rPr>
              <a:t> </a:t>
            </a:r>
            <a:r>
              <a:rPr b="0" spc="-20" dirty="0">
                <a:latin typeface="Arial MT"/>
                <a:cs typeface="Arial MT"/>
              </a:rPr>
              <a:t>data</a:t>
            </a:r>
            <a:r>
              <a:rPr b="0" dirty="0">
                <a:latin typeface="Arial MT"/>
                <a:cs typeface="Arial MT"/>
              </a:rPr>
              <a:t>	X</a:t>
            </a:r>
            <a:r>
              <a:rPr b="0" spc="-30" dirty="0">
                <a:latin typeface="Arial MT"/>
                <a:cs typeface="Arial MT"/>
              </a:rPr>
              <a:t> </a:t>
            </a:r>
            <a:r>
              <a:rPr b="0" spc="-50" dirty="0">
                <a:latin typeface="Arial MT"/>
                <a:cs typeface="Arial MT"/>
              </a:rPr>
              <a:t>.</a:t>
            </a:r>
          </a:p>
          <a:p>
            <a:pPr marL="306070" indent="-293370">
              <a:lnSpc>
                <a:spcPct val="100000"/>
              </a:lnSpc>
              <a:spcBef>
                <a:spcPts val="155"/>
              </a:spcBef>
              <a:buChar char="•"/>
              <a:tabLst>
                <a:tab pos="306070" algn="l"/>
              </a:tabLst>
            </a:pPr>
            <a:r>
              <a:rPr b="0" dirty="0">
                <a:latin typeface="Arial MT"/>
                <a:cs typeface="Arial MT"/>
              </a:rPr>
              <a:t>They</a:t>
            </a:r>
            <a:r>
              <a:rPr b="0" spc="-8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focus</a:t>
            </a:r>
            <a:r>
              <a:rPr b="0" spc="-8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on</a:t>
            </a:r>
            <a:r>
              <a:rPr b="0" spc="-8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the</a:t>
            </a:r>
            <a:r>
              <a:rPr b="0" spc="-75" dirty="0"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FF0000"/>
                </a:solidFill>
                <a:latin typeface="Arial MT"/>
                <a:cs typeface="Arial MT"/>
              </a:rPr>
              <a:t>boundary</a:t>
            </a:r>
            <a:r>
              <a:rPr b="0" spc="-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FF0000"/>
                </a:solidFill>
                <a:latin typeface="Arial MT"/>
                <a:cs typeface="Arial MT"/>
              </a:rPr>
              <a:t>between</a:t>
            </a:r>
            <a:r>
              <a:rPr b="0" spc="-8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rgbClr val="FF0000"/>
                </a:solidFill>
                <a:latin typeface="Arial MT"/>
                <a:cs typeface="Arial MT"/>
              </a:rPr>
              <a:t>classes</a:t>
            </a:r>
            <a:r>
              <a:rPr b="0" spc="-10" dirty="0">
                <a:latin typeface="Arial MT"/>
                <a:cs typeface="Arial MT"/>
              </a:rPr>
              <a:t>.</a:t>
            </a:r>
          </a:p>
          <a:p>
            <a:pPr marL="306070" marR="354330" indent="-294005">
              <a:lnSpc>
                <a:spcPts val="2800"/>
              </a:lnSpc>
              <a:spcBef>
                <a:spcPts val="555"/>
              </a:spcBef>
              <a:buChar char="•"/>
              <a:tabLst>
                <a:tab pos="306070" algn="l"/>
              </a:tabLst>
            </a:pPr>
            <a:r>
              <a:rPr b="0" dirty="0">
                <a:latin typeface="Arial MT"/>
                <a:cs typeface="Arial MT"/>
              </a:rPr>
              <a:t>These</a:t>
            </a:r>
            <a:r>
              <a:rPr b="0" spc="-8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models</a:t>
            </a:r>
            <a:r>
              <a:rPr b="0" spc="-7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are</a:t>
            </a:r>
            <a:r>
              <a:rPr b="0" spc="-8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used</a:t>
            </a:r>
            <a:r>
              <a:rPr b="0" spc="-8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to</a:t>
            </a:r>
            <a:r>
              <a:rPr b="0" spc="-65" dirty="0"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rgbClr val="FF0000"/>
                </a:solidFill>
                <a:latin typeface="Arial MT"/>
                <a:cs typeface="Arial MT"/>
              </a:rPr>
              <a:t>distinguish</a:t>
            </a:r>
            <a:r>
              <a:rPr b="0" spc="-8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FF0000"/>
                </a:solidFill>
                <a:latin typeface="Arial MT"/>
                <a:cs typeface="Arial MT"/>
              </a:rPr>
              <a:t>between</a:t>
            </a:r>
            <a:r>
              <a:rPr b="0" spc="-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rgbClr val="FF0000"/>
                </a:solidFill>
                <a:latin typeface="Arial MT"/>
                <a:cs typeface="Arial MT"/>
              </a:rPr>
              <a:t>different</a:t>
            </a:r>
            <a:r>
              <a:rPr b="0" spc="-8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FF0000"/>
                </a:solidFill>
                <a:latin typeface="Arial MT"/>
                <a:cs typeface="Arial MT"/>
              </a:rPr>
              <a:t>types</a:t>
            </a:r>
            <a:r>
              <a:rPr b="0" spc="-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FF0000"/>
                </a:solidFill>
                <a:latin typeface="Arial MT"/>
                <a:cs typeface="Arial MT"/>
              </a:rPr>
              <a:t>of</a:t>
            </a:r>
            <a:r>
              <a:rPr b="0" spc="-8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b="0" spc="-20" dirty="0">
                <a:solidFill>
                  <a:srgbClr val="FF0000"/>
                </a:solidFill>
                <a:latin typeface="Arial MT"/>
                <a:cs typeface="Arial MT"/>
              </a:rPr>
              <a:t>data </a:t>
            </a:r>
            <a:r>
              <a:rPr b="0" spc="-10" dirty="0">
                <a:latin typeface="Arial MT"/>
                <a:cs typeface="Arial MT"/>
              </a:rPr>
              <a:t>points.</a:t>
            </a:r>
          </a:p>
          <a:p>
            <a:pPr marL="306070" marR="89535" indent="-294005">
              <a:lnSpc>
                <a:spcPts val="2800"/>
              </a:lnSpc>
              <a:spcBef>
                <a:spcPts val="509"/>
              </a:spcBef>
              <a:buChar char="•"/>
              <a:tabLst>
                <a:tab pos="306070" algn="l"/>
              </a:tabLst>
            </a:pPr>
            <a:r>
              <a:rPr b="0" dirty="0">
                <a:latin typeface="Arial MT"/>
                <a:cs typeface="Arial MT"/>
              </a:rPr>
              <a:t>They</a:t>
            </a:r>
            <a:r>
              <a:rPr b="0" spc="-80" dirty="0"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B050"/>
                </a:solidFill>
                <a:latin typeface="Arial MT"/>
                <a:cs typeface="Arial MT"/>
              </a:rPr>
              <a:t>do</a:t>
            </a:r>
            <a:r>
              <a:rPr b="0" spc="-80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B050"/>
                </a:solidFill>
                <a:latin typeface="Arial MT"/>
                <a:cs typeface="Arial MT"/>
              </a:rPr>
              <a:t>not</a:t>
            </a:r>
            <a:r>
              <a:rPr b="0" spc="-80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B050"/>
                </a:solidFill>
                <a:latin typeface="Arial MT"/>
                <a:cs typeface="Arial MT"/>
              </a:rPr>
              <a:t>inherently</a:t>
            </a:r>
            <a:r>
              <a:rPr b="0" spc="-80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B050"/>
                </a:solidFill>
                <a:latin typeface="Arial MT"/>
                <a:cs typeface="Arial MT"/>
              </a:rPr>
              <a:t>generate</a:t>
            </a:r>
            <a:r>
              <a:rPr b="0" spc="-80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B050"/>
                </a:solidFill>
                <a:latin typeface="Arial MT"/>
                <a:cs typeface="Arial MT"/>
              </a:rPr>
              <a:t>new</a:t>
            </a:r>
            <a:r>
              <a:rPr b="0" spc="-80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B050"/>
                </a:solidFill>
                <a:latin typeface="Arial MT"/>
                <a:cs typeface="Arial MT"/>
              </a:rPr>
              <a:t>data</a:t>
            </a:r>
            <a:r>
              <a:rPr b="0" spc="-85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B050"/>
                </a:solidFill>
                <a:latin typeface="Arial MT"/>
                <a:cs typeface="Arial MT"/>
              </a:rPr>
              <a:t>points</a:t>
            </a:r>
            <a:r>
              <a:rPr b="0" spc="-55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but</a:t>
            </a:r>
            <a:r>
              <a:rPr b="0" spc="-8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classify</a:t>
            </a:r>
            <a:r>
              <a:rPr b="0" spc="-7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input</a:t>
            </a:r>
            <a:r>
              <a:rPr b="0" spc="-80" dirty="0">
                <a:latin typeface="Arial MT"/>
                <a:cs typeface="Arial MT"/>
              </a:rPr>
              <a:t> </a:t>
            </a:r>
            <a:r>
              <a:rPr b="0" spc="-20" dirty="0">
                <a:latin typeface="Arial MT"/>
                <a:cs typeface="Arial MT"/>
              </a:rPr>
              <a:t>data </a:t>
            </a:r>
            <a:r>
              <a:rPr b="0" dirty="0">
                <a:latin typeface="Arial MT"/>
                <a:cs typeface="Arial MT"/>
              </a:rPr>
              <a:t>into</a:t>
            </a:r>
            <a:r>
              <a:rPr b="0" spc="-12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predefined</a:t>
            </a:r>
            <a:r>
              <a:rPr b="0" spc="-125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categories.</a:t>
            </a:r>
          </a:p>
          <a:p>
            <a:pPr marL="306070" marR="5080" indent="-294005">
              <a:lnSpc>
                <a:spcPts val="2800"/>
              </a:lnSpc>
              <a:spcBef>
                <a:spcPts val="515"/>
              </a:spcBef>
              <a:buChar char="•"/>
              <a:tabLst>
                <a:tab pos="306070" algn="l"/>
              </a:tabLst>
            </a:pPr>
            <a:r>
              <a:rPr b="0" dirty="0">
                <a:solidFill>
                  <a:srgbClr val="00B050"/>
                </a:solidFill>
                <a:latin typeface="Arial MT"/>
                <a:cs typeface="Arial MT"/>
              </a:rPr>
              <a:t>Examples</a:t>
            </a:r>
            <a:r>
              <a:rPr b="0" spc="-120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B050"/>
                </a:solidFill>
                <a:latin typeface="Arial MT"/>
                <a:cs typeface="Arial MT"/>
              </a:rPr>
              <a:t>include</a:t>
            </a:r>
            <a:r>
              <a:rPr b="0" spc="-114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Logistic</a:t>
            </a:r>
            <a:r>
              <a:rPr b="0" spc="-114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Regression,</a:t>
            </a:r>
            <a:r>
              <a:rPr b="0" spc="-12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Support</a:t>
            </a:r>
            <a:r>
              <a:rPr b="0" spc="-120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Vector</a:t>
            </a:r>
            <a:r>
              <a:rPr b="0" spc="-120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Machines, Decision</a:t>
            </a:r>
            <a:r>
              <a:rPr b="0" spc="-125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Trees,</a:t>
            </a:r>
            <a:r>
              <a:rPr b="0" spc="-8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and</a:t>
            </a:r>
            <a:r>
              <a:rPr b="0" spc="-8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most</a:t>
            </a:r>
            <a:r>
              <a:rPr b="0" spc="-8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of</a:t>
            </a:r>
            <a:r>
              <a:rPr b="0" spc="-8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the</a:t>
            </a:r>
            <a:r>
              <a:rPr b="0" spc="-8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Neural</a:t>
            </a:r>
            <a:r>
              <a:rPr b="0" spc="-8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Networks</a:t>
            </a:r>
            <a:r>
              <a:rPr b="0" spc="-7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used</a:t>
            </a:r>
            <a:r>
              <a:rPr b="0" spc="-8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for</a:t>
            </a:r>
            <a:r>
              <a:rPr b="0" spc="-75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classification tasks.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01E3858D-FAA9-4447-AECF-5D699FD9224A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45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12" rIns="0" bIns="0" rtlCol="0">
            <a:spAutoFit/>
          </a:bodyPr>
          <a:lstStyle/>
          <a:p>
            <a:pPr marL="64135">
              <a:lnSpc>
                <a:spcPct val="100000"/>
              </a:lnSpc>
              <a:spcBef>
                <a:spcPts val="100"/>
              </a:spcBef>
            </a:pPr>
            <a:r>
              <a:rPr dirty="0"/>
              <a:t>Discriminative</a:t>
            </a:r>
            <a:r>
              <a:rPr spc="-45" dirty="0"/>
              <a:t> </a:t>
            </a:r>
            <a:r>
              <a:rPr dirty="0"/>
              <a:t>Vs</a:t>
            </a:r>
            <a:r>
              <a:rPr spc="-40" dirty="0"/>
              <a:t> </a:t>
            </a:r>
            <a:r>
              <a:rPr dirty="0"/>
              <a:t>Generative</a:t>
            </a:r>
            <a:r>
              <a:rPr spc="-40" dirty="0"/>
              <a:t> </a:t>
            </a:r>
            <a:r>
              <a:rPr spc="-20" dirty="0"/>
              <a:t>Model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5947" y="1611376"/>
            <a:ext cx="10321290" cy="1376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2260" marR="5080" indent="-290195">
              <a:lnSpc>
                <a:spcPct val="100000"/>
              </a:lnSpc>
              <a:spcBef>
                <a:spcPts val="100"/>
              </a:spcBef>
              <a:buChar char="•"/>
              <a:tabLst>
                <a:tab pos="302260" algn="l"/>
              </a:tabLst>
            </a:pPr>
            <a:r>
              <a:rPr sz="2800" dirty="0">
                <a:latin typeface="Arial MT"/>
                <a:cs typeface="Arial MT"/>
              </a:rPr>
              <a:t>Chapter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20,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Deep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Learning,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MIT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Press,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Ian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Goodfellow,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Yoshua </a:t>
            </a:r>
            <a:r>
              <a:rPr sz="2800" spc="-20" dirty="0">
                <a:latin typeface="Arial MT"/>
                <a:cs typeface="Arial MT"/>
              </a:rPr>
              <a:t>Bengio,</a:t>
            </a:r>
            <a:r>
              <a:rPr sz="2800" spc="-1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Aaron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Courville</a:t>
            </a:r>
            <a:endParaRPr sz="2800">
              <a:latin typeface="Arial MT"/>
              <a:cs typeface="Arial MT"/>
            </a:endParaRPr>
          </a:p>
          <a:p>
            <a:pPr marL="301625" indent="-288925">
              <a:lnSpc>
                <a:spcPct val="100000"/>
              </a:lnSpc>
              <a:spcBef>
                <a:spcPts val="560"/>
              </a:spcBef>
              <a:buChar char="•"/>
              <a:tabLst>
                <a:tab pos="301625" algn="l"/>
              </a:tabLst>
            </a:pPr>
            <a:r>
              <a:rPr sz="2800" dirty="0">
                <a:latin typeface="Arial MT"/>
                <a:cs typeface="Arial MT"/>
              </a:rPr>
              <a:t>Lecture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slides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https://www.cs.cornell.edu/~kuleshov/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288CED60-ED84-4E62-B503-B68DB365239D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46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212" rIns="0" bIns="0" rtlCol="0">
            <a:spAutoFit/>
          </a:bodyPr>
          <a:lstStyle/>
          <a:p>
            <a:pPr marL="25158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6993" y="2571967"/>
            <a:ext cx="553339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/>
              <a:t>Thank</a:t>
            </a:r>
            <a:r>
              <a:rPr sz="7200" spc="-335" dirty="0"/>
              <a:t> </a:t>
            </a:r>
            <a:r>
              <a:rPr sz="7200" spc="-540" dirty="0"/>
              <a:t>Y</a:t>
            </a:r>
            <a:r>
              <a:rPr sz="7200" spc="120" dirty="0"/>
              <a:t>o</a:t>
            </a:r>
            <a:r>
              <a:rPr sz="7200" spc="125" dirty="0"/>
              <a:t>u</a:t>
            </a:r>
            <a:r>
              <a:rPr sz="7200" spc="-200" dirty="0"/>
              <a:t> </a:t>
            </a:r>
            <a:r>
              <a:rPr sz="7200" spc="90" dirty="0"/>
              <a:t>☺</a:t>
            </a:r>
            <a:endParaRPr sz="7200"/>
          </a:p>
        </p:txBody>
      </p:sp>
      <p:sp>
        <p:nvSpPr>
          <p:cNvPr id="3" name="object 3"/>
          <p:cNvSpPr/>
          <p:nvPr/>
        </p:nvSpPr>
        <p:spPr>
          <a:xfrm>
            <a:off x="1726676" y="762000"/>
            <a:ext cx="8484235" cy="1404620"/>
          </a:xfrm>
          <a:custGeom>
            <a:avLst/>
            <a:gdLst/>
            <a:ahLst/>
            <a:cxnLst/>
            <a:rect l="l" t="t" r="r" b="b"/>
            <a:pathLst>
              <a:path w="8484235" h="1404620">
                <a:moveTo>
                  <a:pt x="0" y="0"/>
                </a:moveTo>
                <a:lnTo>
                  <a:pt x="8484123" y="0"/>
                </a:lnTo>
                <a:lnTo>
                  <a:pt x="8484123" y="1404593"/>
                </a:lnTo>
                <a:lnTo>
                  <a:pt x="0" y="1404593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  <a:tabLst>
                <a:tab pos="957580" algn="l"/>
              </a:tabLst>
            </a:pPr>
            <a:fld id="{DEA5C583-CD6E-4572-B8F4-F288E8D20C36}" type="datetime1">
              <a:rPr lang="en-US" spc="-10" smtClean="0"/>
              <a:t>8/30/2025</a:t>
            </a:fld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47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</TotalTime>
  <Words>2283</Words>
  <Application>Microsoft Office PowerPoint</Application>
  <PresentationFormat>Widescreen</PresentationFormat>
  <Paragraphs>441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7" baseType="lpstr">
      <vt:lpstr>Arial MT</vt:lpstr>
      <vt:lpstr>Aptos</vt:lpstr>
      <vt:lpstr>Arial</vt:lpstr>
      <vt:lpstr>Calibri</vt:lpstr>
      <vt:lpstr>Cambria</vt:lpstr>
      <vt:lpstr>Roboto</vt:lpstr>
      <vt:lpstr>Tahoma</vt:lpstr>
      <vt:lpstr>Times New Roman</vt:lpstr>
      <vt:lpstr>Verdana</vt:lpstr>
      <vt:lpstr>Office Theme</vt:lpstr>
      <vt:lpstr>Introduction to Course</vt:lpstr>
      <vt:lpstr>Instructor Information</vt:lpstr>
      <vt:lpstr>Meeting Hours</vt:lpstr>
      <vt:lpstr>Course Information</vt:lpstr>
      <vt:lpstr>Course Materials</vt:lpstr>
      <vt:lpstr>Text Book</vt:lpstr>
      <vt:lpstr>Reference Materials</vt:lpstr>
      <vt:lpstr>Grading Policy</vt:lpstr>
      <vt:lpstr>Grading Policy</vt:lpstr>
      <vt:lpstr>Explanation of Assessment</vt:lpstr>
      <vt:lpstr>Submission for Assignment / Project</vt:lpstr>
      <vt:lpstr>Course Plagiarism Policy</vt:lpstr>
      <vt:lpstr>Course Plagiarism Policy</vt:lpstr>
      <vt:lpstr>Missed Assessment</vt:lpstr>
      <vt:lpstr>Attendance policy</vt:lpstr>
      <vt:lpstr>Student Responsibility</vt:lpstr>
      <vt:lpstr>Goals of this Course</vt:lpstr>
      <vt:lpstr>Paper Writing</vt:lpstr>
      <vt:lpstr>Reading Papers</vt:lpstr>
      <vt:lpstr>Prerequisite(s)</vt:lpstr>
      <vt:lpstr>Prerequisites</vt:lpstr>
      <vt:lpstr>Projects</vt:lpstr>
      <vt:lpstr>Presentation</vt:lpstr>
      <vt:lpstr>Programming resources</vt:lpstr>
      <vt:lpstr>High Impact Journals/Conferences</vt:lpstr>
      <vt:lpstr>Outline</vt:lpstr>
      <vt:lpstr>Outline</vt:lpstr>
      <vt:lpstr>Outline</vt:lpstr>
      <vt:lpstr>It’s Your Turn</vt:lpstr>
      <vt:lpstr>Lecture #1</vt:lpstr>
      <vt:lpstr>Goals</vt:lpstr>
      <vt:lpstr>Development Environment Setup</vt:lpstr>
      <vt:lpstr>Overleaf - Preferable</vt:lpstr>
      <vt:lpstr>Getting Started with Research</vt:lpstr>
      <vt:lpstr>Getting Started with Research..</vt:lpstr>
      <vt:lpstr>Inside Davos: Future of AI</vt:lpstr>
      <vt:lpstr>Inside Davos: Future of AI</vt:lpstr>
      <vt:lpstr>What is Machine Learning?</vt:lpstr>
      <vt:lpstr>Deep Learning</vt:lpstr>
      <vt:lpstr>Machine Learning vs Deep Learning</vt:lpstr>
      <vt:lpstr>Machine Learning vs Deep Learning</vt:lpstr>
      <vt:lpstr>Artificial Intelligence</vt:lpstr>
      <vt:lpstr>What are Generative Models?</vt:lpstr>
      <vt:lpstr>Discriminative Vs Generative Model</vt:lpstr>
      <vt:lpstr>Discriminative Vs Generative Model</vt:lpstr>
      <vt:lpstr>References</vt:lpstr>
      <vt:lpstr>Thank You ☺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01-243172-020</cp:lastModifiedBy>
  <cp:revision>64</cp:revision>
  <dcterms:created xsi:type="dcterms:W3CDTF">2025-01-20T10:17:25Z</dcterms:created>
  <dcterms:modified xsi:type="dcterms:W3CDTF">2025-08-30T07:17:27Z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2024-01-22T00:00:00Z</vt:filetime>
  </property>
  <property fmtid="{D5CDD505-2E9C-101B-9397-08002B2CF9AE}" pid="3" name="Creator">
    <vt:lpwstr>PDFium</vt:lpwstr>
  </property>
  <property fmtid="{D5CDD505-2E9C-101B-9397-08002B2CF9AE}" pid="4" name="Producer">
    <vt:lpwstr>PDFium</vt:lpwstr>
  </property>
  <property fmtid="{D5CDD505-2E9C-101B-9397-08002B2CF9AE}" pid="5" name="LastSaved">
    <vt:filetime>2024-01-22T00:00:00Z</vt:filetime>
  </property>
</Properties>
</file>