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56"/>
  </p:notesMasterIdLst>
  <p:sldIdLst>
    <p:sldId id="352" r:id="rId2"/>
    <p:sldId id="421" r:id="rId3"/>
    <p:sldId id="1749" r:id="rId4"/>
    <p:sldId id="1750" r:id="rId5"/>
    <p:sldId id="1751" r:id="rId6"/>
    <p:sldId id="1735" r:id="rId7"/>
    <p:sldId id="1736" r:id="rId8"/>
    <p:sldId id="1740" r:id="rId9"/>
    <p:sldId id="1738" r:id="rId10"/>
    <p:sldId id="1737" r:id="rId11"/>
    <p:sldId id="1739" r:id="rId12"/>
    <p:sldId id="1744" r:id="rId13"/>
    <p:sldId id="1747" r:id="rId14"/>
    <p:sldId id="1753" r:id="rId15"/>
    <p:sldId id="1748" r:id="rId16"/>
    <p:sldId id="1742" r:id="rId17"/>
    <p:sldId id="1743" r:id="rId18"/>
    <p:sldId id="261" r:id="rId19"/>
    <p:sldId id="262" r:id="rId20"/>
    <p:sldId id="1574" r:id="rId21"/>
    <p:sldId id="1583" r:id="rId22"/>
    <p:sldId id="1589" r:id="rId23"/>
    <p:sldId id="1582" r:id="rId24"/>
    <p:sldId id="1729" r:id="rId25"/>
    <p:sldId id="1730" r:id="rId26"/>
    <p:sldId id="1754" r:id="rId27"/>
    <p:sldId id="1755" r:id="rId28"/>
    <p:sldId id="1756" r:id="rId29"/>
    <p:sldId id="1757" r:id="rId30"/>
    <p:sldId id="1758" r:id="rId31"/>
    <p:sldId id="1725" r:id="rId32"/>
    <p:sldId id="274" r:id="rId33"/>
    <p:sldId id="1606" r:id="rId34"/>
    <p:sldId id="1604" r:id="rId35"/>
    <p:sldId id="1759" r:id="rId36"/>
    <p:sldId id="1760" r:id="rId37"/>
    <p:sldId id="278" r:id="rId38"/>
    <p:sldId id="295" r:id="rId39"/>
    <p:sldId id="298" r:id="rId40"/>
    <p:sldId id="299" r:id="rId41"/>
    <p:sldId id="300" r:id="rId42"/>
    <p:sldId id="303" r:id="rId43"/>
    <p:sldId id="304" r:id="rId44"/>
    <p:sldId id="307" r:id="rId45"/>
    <p:sldId id="311" r:id="rId46"/>
    <p:sldId id="313" r:id="rId47"/>
    <p:sldId id="323" r:id="rId48"/>
    <p:sldId id="345" r:id="rId49"/>
    <p:sldId id="1611" r:id="rId50"/>
    <p:sldId id="1612" r:id="rId51"/>
    <p:sldId id="275" r:id="rId52"/>
    <p:sldId id="279" r:id="rId53"/>
    <p:sldId id="280" r:id="rId54"/>
    <p:sldId id="1288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2B1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2" d="100"/>
          <a:sy n="112" d="100"/>
        </p:scale>
        <p:origin x="55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408AAEF-863B-4403-8915-E1554E1D5A4E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E3539-3160-447D-8B0E-1FC1D6F138C2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C190-57A7-4102-B8D8-6EF1E1BD5241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CE1B-2A81-4CC4-8E94-2E5FB36C76D3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171C3-3117-4593-919A-EFFE6FD572A9}" type="datetime1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6D651-FF60-4D55-9045-4102E7A0CB86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00043-6144-4F22-BE80-B30397FB8ECE}" type="datetime1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1CED6-CC21-4511-A74F-CF19B34C3EBB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398F6-DDC4-40E8-ABB3-AFDF6415EA23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1B423-A382-4DC6-B036-05F8326CB4B8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EA543-9569-4943-A385-A26F0AF7E224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3EDE5B3-99A6-4CF7-A12D-FD0342DFD091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6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3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5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9.png"/><Relationship Id="rId18" Type="http://schemas.openxmlformats.org/officeDocument/2006/relationships/image" Target="../media/image28.png"/><Relationship Id="rId3" Type="http://schemas.openxmlformats.org/officeDocument/2006/relationships/image" Target="../media/image35.jpg"/><Relationship Id="rId7" Type="http://schemas.openxmlformats.org/officeDocument/2006/relationships/image" Target="../media/image17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34.jp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21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26.png"/><Relationship Id="rId19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20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.png"/><Relationship Id="rId4" Type="http://schemas.openxmlformats.org/officeDocument/2006/relationships/image" Target="../media/image4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12" Type="http://schemas.openxmlformats.org/officeDocument/2006/relationships/image" Target="../media/image6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2.png"/><Relationship Id="rId5" Type="http://schemas.openxmlformats.org/officeDocument/2006/relationships/image" Target="../media/image10.jpg"/><Relationship Id="rId10" Type="http://schemas.openxmlformats.org/officeDocument/2006/relationships/image" Target="../media/image61.png"/><Relationship Id="rId4" Type="http://schemas.openxmlformats.org/officeDocument/2006/relationships/image" Target="../media/image17.png"/><Relationship Id="rId9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11" Type="http://schemas.openxmlformats.org/officeDocument/2006/relationships/image" Target="../media/image64.jp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17.png"/><Relationship Id="rId9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8.png"/><Relationship Id="rId3" Type="http://schemas.openxmlformats.org/officeDocument/2006/relationships/image" Target="../media/image57.png"/><Relationship Id="rId7" Type="http://schemas.openxmlformats.org/officeDocument/2006/relationships/image" Target="../media/image54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image" Target="../media/image20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6.png"/><Relationship Id="rId5" Type="http://schemas.openxmlformats.org/officeDocument/2006/relationships/image" Target="../media/image10.jpg"/><Relationship Id="rId15" Type="http://schemas.openxmlformats.org/officeDocument/2006/relationships/image" Target="../media/image70.png"/><Relationship Id="rId10" Type="http://schemas.openxmlformats.org/officeDocument/2006/relationships/image" Target="../media/image63.png"/><Relationship Id="rId4" Type="http://schemas.openxmlformats.org/officeDocument/2006/relationships/image" Target="../media/image17.png"/><Relationship Id="rId9" Type="http://schemas.openxmlformats.org/officeDocument/2006/relationships/image" Target="../media/image62.png"/><Relationship Id="rId1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4.png"/><Relationship Id="rId7" Type="http://schemas.openxmlformats.org/officeDocument/2006/relationships/image" Target="../media/image5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0.png"/><Relationship Id="rId7" Type="http://schemas.openxmlformats.org/officeDocument/2006/relationships/image" Target="../media/image5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54.png"/><Relationship Id="rId5" Type="http://schemas.openxmlformats.org/officeDocument/2006/relationships/image" Target="../media/image82.png"/><Relationship Id="rId10" Type="http://schemas.openxmlformats.org/officeDocument/2006/relationships/image" Target="../media/image84.png"/><Relationship Id="rId4" Type="http://schemas.openxmlformats.org/officeDocument/2006/relationships/image" Target="../media/image81.png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1.png"/><Relationship Id="rId3" Type="http://schemas.openxmlformats.org/officeDocument/2006/relationships/image" Target="../media/image107.png"/><Relationship Id="rId21" Type="http://schemas.openxmlformats.org/officeDocument/2006/relationships/image" Target="../media/image124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53.png"/><Relationship Id="rId25" Type="http://schemas.openxmlformats.org/officeDocument/2006/relationships/image" Target="../media/image128.pn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24" Type="http://schemas.openxmlformats.org/officeDocument/2006/relationships/image" Target="../media/image127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23" Type="http://schemas.openxmlformats.org/officeDocument/2006/relationships/image" Target="../media/image126.png"/><Relationship Id="rId10" Type="http://schemas.openxmlformats.org/officeDocument/2006/relationships/image" Target="../media/image114.png"/><Relationship Id="rId19" Type="http://schemas.openxmlformats.org/officeDocument/2006/relationships/image" Target="../media/image122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jp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0.png"/><Relationship Id="rId7" Type="http://schemas.openxmlformats.org/officeDocument/2006/relationships/image" Target="../media/image136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jpg"/><Relationship Id="rId4" Type="http://schemas.openxmlformats.org/officeDocument/2006/relationships/image" Target="../media/image13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jpg"/><Relationship Id="rId3" Type="http://schemas.openxmlformats.org/officeDocument/2006/relationships/image" Target="../media/image130.png"/><Relationship Id="rId7" Type="http://schemas.openxmlformats.org/officeDocument/2006/relationships/image" Target="../media/image134.jp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1.png"/><Relationship Id="rId9" Type="http://schemas.openxmlformats.org/officeDocument/2006/relationships/image" Target="../media/image13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jpg"/><Relationship Id="rId3" Type="http://schemas.openxmlformats.org/officeDocument/2006/relationships/image" Target="../media/image131.png"/><Relationship Id="rId7" Type="http://schemas.openxmlformats.org/officeDocument/2006/relationships/image" Target="../media/image136.png"/><Relationship Id="rId12" Type="http://schemas.openxmlformats.org/officeDocument/2006/relationships/image" Target="../media/image14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1.png"/><Relationship Id="rId5" Type="http://schemas.openxmlformats.org/officeDocument/2006/relationships/image" Target="../media/image134.jpg"/><Relationship Id="rId10" Type="http://schemas.openxmlformats.org/officeDocument/2006/relationships/image" Target="../media/image140.png"/><Relationship Id="rId4" Type="http://schemas.openxmlformats.org/officeDocument/2006/relationships/image" Target="../media/image129.png"/><Relationship Id="rId9" Type="http://schemas.openxmlformats.org/officeDocument/2006/relationships/image" Target="../media/image13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30.png"/><Relationship Id="rId7" Type="http://schemas.openxmlformats.org/officeDocument/2006/relationships/image" Target="../media/image14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.jpg"/><Relationship Id="rId5" Type="http://schemas.openxmlformats.org/officeDocument/2006/relationships/image" Target="../media/image135.png"/><Relationship Id="rId10" Type="http://schemas.openxmlformats.org/officeDocument/2006/relationships/image" Target="../media/image147.png"/><Relationship Id="rId4" Type="http://schemas.openxmlformats.org/officeDocument/2006/relationships/image" Target="../media/image131.png"/><Relationship Id="rId9" Type="http://schemas.openxmlformats.org/officeDocument/2006/relationships/image" Target="../media/image1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7" Type="http://schemas.openxmlformats.org/officeDocument/2006/relationships/image" Target="../media/image131.pn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35.png"/><Relationship Id="rId4" Type="http://schemas.openxmlformats.org/officeDocument/2006/relationships/image" Target="../media/image151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g"/><Relationship Id="rId7" Type="http://schemas.openxmlformats.org/officeDocument/2006/relationships/image" Target="../media/image152.pn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3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50.jpg"/><Relationship Id="rId7" Type="http://schemas.openxmlformats.org/officeDocument/2006/relationships/image" Target="../media/image152.png"/><Relationship Id="rId2" Type="http://schemas.openxmlformats.org/officeDocument/2006/relationships/image" Target="../media/image14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155.png"/><Relationship Id="rId21" Type="http://schemas.openxmlformats.org/officeDocument/2006/relationships/image" Target="../media/image171.jp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" Type="http://schemas.openxmlformats.org/officeDocument/2006/relationships/image" Target="../media/image131.png"/><Relationship Id="rId16" Type="http://schemas.openxmlformats.org/officeDocument/2006/relationships/image" Target="../media/image167.png"/><Relationship Id="rId20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23" Type="http://schemas.openxmlformats.org/officeDocument/2006/relationships/image" Target="../media/image173.png"/><Relationship Id="rId10" Type="http://schemas.openxmlformats.org/officeDocument/2006/relationships/image" Target="../media/image161.png"/><Relationship Id="rId19" Type="http://schemas.openxmlformats.org/officeDocument/2006/relationships/image" Target="../media/image170.png"/><Relationship Id="rId4" Type="http://schemas.openxmlformats.org/officeDocument/2006/relationships/image" Target="../media/image130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Relationship Id="rId22" Type="http://schemas.openxmlformats.org/officeDocument/2006/relationships/image" Target="../media/image17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185.png"/><Relationship Id="rId18" Type="http://schemas.openxmlformats.org/officeDocument/2006/relationships/image" Target="../media/image190.png"/><Relationship Id="rId3" Type="http://schemas.openxmlformats.org/officeDocument/2006/relationships/image" Target="../media/image177.png"/><Relationship Id="rId7" Type="http://schemas.openxmlformats.org/officeDocument/2006/relationships/image" Target="../media/image63.png"/><Relationship Id="rId12" Type="http://schemas.openxmlformats.org/officeDocument/2006/relationships/image" Target="../media/image184.png"/><Relationship Id="rId17" Type="http://schemas.openxmlformats.org/officeDocument/2006/relationships/image" Target="../media/image189.png"/><Relationship Id="rId2" Type="http://schemas.openxmlformats.org/officeDocument/2006/relationships/image" Target="../media/image176.jpg"/><Relationship Id="rId16" Type="http://schemas.openxmlformats.org/officeDocument/2006/relationships/image" Target="../media/image188.png"/><Relationship Id="rId20" Type="http://schemas.openxmlformats.org/officeDocument/2006/relationships/image" Target="../media/image1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0.jpg"/><Relationship Id="rId11" Type="http://schemas.openxmlformats.org/officeDocument/2006/relationships/image" Target="../media/image183.png"/><Relationship Id="rId5" Type="http://schemas.openxmlformats.org/officeDocument/2006/relationships/image" Target="../media/image179.png"/><Relationship Id="rId15" Type="http://schemas.openxmlformats.org/officeDocument/2006/relationships/image" Target="../media/image187.png"/><Relationship Id="rId10" Type="http://schemas.openxmlformats.org/officeDocument/2006/relationships/image" Target="../media/image182.png"/><Relationship Id="rId19" Type="http://schemas.openxmlformats.org/officeDocument/2006/relationships/image" Target="../media/image191.png"/><Relationship Id="rId4" Type="http://schemas.openxmlformats.org/officeDocument/2006/relationships/image" Target="../media/image178.png"/><Relationship Id="rId9" Type="http://schemas.openxmlformats.org/officeDocument/2006/relationships/image" Target="../media/image181.jpg"/><Relationship Id="rId14" Type="http://schemas.openxmlformats.org/officeDocument/2006/relationships/image" Target="../media/image18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4.png"/><Relationship Id="rId7" Type="http://schemas.openxmlformats.org/officeDocument/2006/relationships/image" Target="../media/image198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3" Type="http://schemas.openxmlformats.org/officeDocument/2006/relationships/image" Target="../media/image198.png"/><Relationship Id="rId7" Type="http://schemas.openxmlformats.org/officeDocument/2006/relationships/image" Target="../media/image202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200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A80A4-0733-4052-8568-4E08F8C0CB9D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Latent Variable Models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Artificial Intelligence and Data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AI-4009 Generative AI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Latent Variable Models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Autoencoders</a:t>
            </a:r>
          </a:p>
          <a:p>
            <a:pPr lvl="1"/>
            <a:r>
              <a:rPr lang="en-US" dirty="0">
                <a:ea typeface="SimSun" panose="02010600030101010101" pitchFamily="2" charset="-122"/>
              </a:rPr>
              <a:t>Variational Inference with autoencoders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9BA1A-88CF-44D6-9AB3-A45380E205C6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/>
              <a:t>Probabilistic</a:t>
            </a:r>
            <a:r>
              <a:rPr sz="6000" spc="-75" dirty="0"/>
              <a:t> </a:t>
            </a:r>
            <a:r>
              <a:rPr sz="6000" spc="-5" dirty="0"/>
              <a:t>models</a:t>
            </a:r>
            <a:endParaRPr sz="6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2497" y="2215895"/>
            <a:ext cx="655319" cy="44879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44061" y="1829561"/>
            <a:ext cx="1714500" cy="1181100"/>
            <a:chOff x="3544061" y="1829561"/>
            <a:chExt cx="1714500" cy="1181100"/>
          </a:xfrm>
        </p:grpSpPr>
        <p:sp>
          <p:nvSpPr>
            <p:cNvPr id="5" name="object 5"/>
            <p:cNvSpPr/>
            <p:nvPr/>
          </p:nvSpPr>
          <p:spPr>
            <a:xfrm>
              <a:off x="3544062" y="1829561"/>
              <a:ext cx="1714500" cy="1181100"/>
            </a:xfrm>
            <a:custGeom>
              <a:avLst/>
              <a:gdLst/>
              <a:ahLst/>
              <a:cxnLst/>
              <a:rect l="l" t="t" r="r" b="b"/>
              <a:pathLst>
                <a:path w="1714500" h="1181100">
                  <a:moveTo>
                    <a:pt x="1714500" y="1143000"/>
                  </a:moveTo>
                  <a:lnTo>
                    <a:pt x="1695450" y="1133475"/>
                  </a:lnTo>
                  <a:lnTo>
                    <a:pt x="1638300" y="1104900"/>
                  </a:lnTo>
                  <a:lnTo>
                    <a:pt x="16383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1638300" y="1152525"/>
                  </a:lnTo>
                  <a:lnTo>
                    <a:pt x="1638300" y="1181100"/>
                  </a:lnTo>
                  <a:lnTo>
                    <a:pt x="1695450" y="1152525"/>
                  </a:lnTo>
                  <a:lnTo>
                    <a:pt x="17145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6783" y="2066543"/>
              <a:ext cx="152400" cy="126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3608" y="2063368"/>
              <a:ext cx="158750" cy="1328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0999" y="2706623"/>
              <a:ext cx="152400" cy="1264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7824" y="2703448"/>
              <a:ext cx="158750" cy="1328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24400" y="2052827"/>
              <a:ext cx="152400" cy="1264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1225" y="2049652"/>
              <a:ext cx="158750" cy="1328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79847" y="2304287"/>
              <a:ext cx="152400" cy="1264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6672" y="2301112"/>
              <a:ext cx="158750" cy="13284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861837" y="1974449"/>
              <a:ext cx="1115695" cy="835025"/>
            </a:xfrm>
            <a:custGeom>
              <a:avLst/>
              <a:gdLst/>
              <a:ahLst/>
              <a:cxnLst/>
              <a:rect l="l" t="t" r="r" b="b"/>
              <a:pathLst>
                <a:path w="1115695" h="835025">
                  <a:moveTo>
                    <a:pt x="22838" y="671722"/>
                  </a:moveTo>
                  <a:lnTo>
                    <a:pt x="10118" y="638690"/>
                  </a:lnTo>
                  <a:lnTo>
                    <a:pt x="2559" y="604257"/>
                  </a:lnTo>
                  <a:lnTo>
                    <a:pt x="0" y="568670"/>
                  </a:lnTo>
                  <a:lnTo>
                    <a:pt x="2283" y="532173"/>
                  </a:lnTo>
                  <a:lnTo>
                    <a:pt x="20741" y="457431"/>
                  </a:lnTo>
                  <a:lnTo>
                    <a:pt x="36598" y="419677"/>
                  </a:lnTo>
                  <a:lnTo>
                    <a:pt x="56664" y="381993"/>
                  </a:lnTo>
                  <a:lnTo>
                    <a:pt x="80778" y="344626"/>
                  </a:lnTo>
                  <a:lnTo>
                    <a:pt x="108782" y="307821"/>
                  </a:lnTo>
                  <a:lnTo>
                    <a:pt x="140518" y="271822"/>
                  </a:lnTo>
                  <a:lnTo>
                    <a:pt x="175826" y="236876"/>
                  </a:lnTo>
                  <a:lnTo>
                    <a:pt x="214549" y="203226"/>
                  </a:lnTo>
                  <a:lnTo>
                    <a:pt x="256527" y="171120"/>
                  </a:lnTo>
                  <a:lnTo>
                    <a:pt x="301603" y="140800"/>
                  </a:lnTo>
                  <a:lnTo>
                    <a:pt x="349616" y="112514"/>
                  </a:lnTo>
                  <a:lnTo>
                    <a:pt x="400409" y="86506"/>
                  </a:lnTo>
                  <a:lnTo>
                    <a:pt x="452662" y="63526"/>
                  </a:lnTo>
                  <a:lnTo>
                    <a:pt x="504923" y="44140"/>
                  </a:lnTo>
                  <a:lnTo>
                    <a:pt x="556902" y="28315"/>
                  </a:lnTo>
                  <a:lnTo>
                    <a:pt x="608309" y="16021"/>
                  </a:lnTo>
                  <a:lnTo>
                    <a:pt x="658855" y="7224"/>
                  </a:lnTo>
                  <a:lnTo>
                    <a:pt x="708249" y="1895"/>
                  </a:lnTo>
                  <a:lnTo>
                    <a:pt x="756202" y="0"/>
                  </a:lnTo>
                  <a:lnTo>
                    <a:pt x="802424" y="1507"/>
                  </a:lnTo>
                  <a:lnTo>
                    <a:pt x="846625" y="6386"/>
                  </a:lnTo>
                  <a:lnTo>
                    <a:pt x="888515" y="14604"/>
                  </a:lnTo>
                  <a:lnTo>
                    <a:pt x="927804" y="26130"/>
                  </a:lnTo>
                  <a:lnTo>
                    <a:pt x="964202" y="40931"/>
                  </a:lnTo>
                  <a:lnTo>
                    <a:pt x="1027166" y="80234"/>
                  </a:lnTo>
                  <a:lnTo>
                    <a:pt x="1075090" y="132257"/>
                  </a:lnTo>
                  <a:lnTo>
                    <a:pt x="1105405" y="195992"/>
                  </a:lnTo>
                  <a:lnTo>
                    <a:pt x="1115524" y="266012"/>
                  </a:lnTo>
                  <a:lnTo>
                    <a:pt x="1113241" y="302509"/>
                  </a:lnTo>
                  <a:lnTo>
                    <a:pt x="1094783" y="377251"/>
                  </a:lnTo>
                  <a:lnTo>
                    <a:pt x="1078925" y="415005"/>
                  </a:lnTo>
                  <a:lnTo>
                    <a:pt x="1058860" y="452689"/>
                  </a:lnTo>
                  <a:lnTo>
                    <a:pt x="1034746" y="490056"/>
                  </a:lnTo>
                  <a:lnTo>
                    <a:pt x="1006742" y="526861"/>
                  </a:lnTo>
                  <a:lnTo>
                    <a:pt x="975006" y="562860"/>
                  </a:lnTo>
                  <a:lnTo>
                    <a:pt x="939697" y="597806"/>
                  </a:lnTo>
                  <a:lnTo>
                    <a:pt x="900975" y="631455"/>
                  </a:lnTo>
                  <a:lnTo>
                    <a:pt x="858996" y="663562"/>
                  </a:lnTo>
                  <a:lnTo>
                    <a:pt x="813921" y="693881"/>
                  </a:lnTo>
                  <a:lnTo>
                    <a:pt x="765908" y="722168"/>
                  </a:lnTo>
                  <a:lnTo>
                    <a:pt x="715115" y="748176"/>
                  </a:lnTo>
                  <a:lnTo>
                    <a:pt x="662862" y="771176"/>
                  </a:lnTo>
                  <a:lnTo>
                    <a:pt x="610601" y="790577"/>
                  </a:lnTo>
                  <a:lnTo>
                    <a:pt x="558622" y="806412"/>
                  </a:lnTo>
                  <a:lnTo>
                    <a:pt x="507215" y="818714"/>
                  </a:lnTo>
                  <a:lnTo>
                    <a:pt x="456669" y="827513"/>
                  </a:lnTo>
                  <a:lnTo>
                    <a:pt x="407274" y="832844"/>
                  </a:lnTo>
                  <a:lnTo>
                    <a:pt x="359321" y="834737"/>
                  </a:lnTo>
                  <a:lnTo>
                    <a:pt x="313100" y="833225"/>
                  </a:lnTo>
                  <a:lnTo>
                    <a:pt x="268899" y="828340"/>
                  </a:lnTo>
                  <a:lnTo>
                    <a:pt x="227009" y="820116"/>
                  </a:lnTo>
                  <a:lnTo>
                    <a:pt x="187720" y="808583"/>
                  </a:lnTo>
                  <a:lnTo>
                    <a:pt x="151322" y="793774"/>
                  </a:lnTo>
                  <a:lnTo>
                    <a:pt x="88357" y="754458"/>
                  </a:lnTo>
                  <a:lnTo>
                    <a:pt x="40434" y="702426"/>
                  </a:lnTo>
                  <a:lnTo>
                    <a:pt x="22838" y="671722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00797" y="4830255"/>
            <a:ext cx="655320" cy="301953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645801" y="3337324"/>
            <a:ext cx="2795196" cy="2712955"/>
            <a:chOff x="3243986" y="4230066"/>
            <a:chExt cx="2506345" cy="241490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3986" y="4230066"/>
              <a:ext cx="2320975" cy="14946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5324" y="5455920"/>
              <a:ext cx="2014727" cy="118872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728943" y="5125282"/>
            <a:ext cx="558165" cy="476250"/>
            <a:chOff x="5821553" y="5812409"/>
            <a:chExt cx="558165" cy="47625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24728" y="5815584"/>
              <a:ext cx="551688" cy="4693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824728" y="5815584"/>
              <a:ext cx="551815" cy="469900"/>
            </a:xfrm>
            <a:custGeom>
              <a:avLst/>
              <a:gdLst/>
              <a:ahLst/>
              <a:cxnLst/>
              <a:rect l="l" t="t" r="r" b="b"/>
              <a:pathLst>
                <a:path w="551814" h="469900">
                  <a:moveTo>
                    <a:pt x="0" y="117347"/>
                  </a:moveTo>
                  <a:lnTo>
                    <a:pt x="316992" y="117347"/>
                  </a:lnTo>
                  <a:lnTo>
                    <a:pt x="316992" y="0"/>
                  </a:lnTo>
                  <a:lnTo>
                    <a:pt x="551688" y="234695"/>
                  </a:lnTo>
                  <a:lnTo>
                    <a:pt x="316992" y="469391"/>
                  </a:lnTo>
                  <a:lnTo>
                    <a:pt x="316992" y="352043"/>
                  </a:lnTo>
                  <a:lnTo>
                    <a:pt x="0" y="352043"/>
                  </a:lnTo>
                  <a:lnTo>
                    <a:pt x="0" y="11734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576441" y="5122107"/>
            <a:ext cx="558165" cy="476250"/>
            <a:chOff x="7423277" y="5812409"/>
            <a:chExt cx="558165" cy="476250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26452" y="5815584"/>
              <a:ext cx="551688" cy="4693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426452" y="5815584"/>
              <a:ext cx="551815" cy="469900"/>
            </a:xfrm>
            <a:custGeom>
              <a:avLst/>
              <a:gdLst/>
              <a:ahLst/>
              <a:cxnLst/>
              <a:rect l="l" t="t" r="r" b="b"/>
              <a:pathLst>
                <a:path w="551815" h="469900">
                  <a:moveTo>
                    <a:pt x="0" y="117347"/>
                  </a:moveTo>
                  <a:lnTo>
                    <a:pt x="316992" y="117347"/>
                  </a:lnTo>
                  <a:lnTo>
                    <a:pt x="316992" y="0"/>
                  </a:lnTo>
                  <a:lnTo>
                    <a:pt x="551688" y="234695"/>
                  </a:lnTo>
                  <a:lnTo>
                    <a:pt x="316992" y="469391"/>
                  </a:lnTo>
                  <a:lnTo>
                    <a:pt x="316992" y="352043"/>
                  </a:lnTo>
                  <a:lnTo>
                    <a:pt x="0" y="352043"/>
                  </a:lnTo>
                  <a:lnTo>
                    <a:pt x="0" y="11734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315570" y="5234430"/>
            <a:ext cx="1230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25" dirty="0">
                <a:latin typeface="Tahoma"/>
                <a:cs typeface="Tahoma"/>
              </a:rPr>
              <a:t>[</a:t>
            </a:r>
            <a:r>
              <a:rPr sz="1600" spc="110" dirty="0">
                <a:latin typeface="Tahoma"/>
                <a:cs typeface="Tahoma"/>
              </a:rPr>
              <a:t>o</a:t>
            </a:r>
            <a:r>
              <a:rPr sz="1600" spc="130" dirty="0">
                <a:latin typeface="Tahoma"/>
                <a:cs typeface="Tahoma"/>
              </a:rPr>
              <a:t>b</a:t>
            </a:r>
            <a:r>
              <a:rPr sz="1600" spc="-70" dirty="0">
                <a:latin typeface="Tahoma"/>
                <a:cs typeface="Tahoma"/>
              </a:rPr>
              <a:t>j</a:t>
            </a:r>
            <a:r>
              <a:rPr sz="1600" spc="65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c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5" dirty="0">
                <a:latin typeface="Tahoma"/>
                <a:cs typeface="Tahoma"/>
              </a:rPr>
              <a:t>a</a:t>
            </a:r>
            <a:r>
              <a:rPr sz="1600" spc="130" dirty="0">
                <a:latin typeface="Tahoma"/>
                <a:cs typeface="Tahoma"/>
              </a:rPr>
              <a:t>b</a:t>
            </a:r>
            <a:r>
              <a:rPr sz="1600" spc="65" dirty="0">
                <a:latin typeface="Tahoma"/>
                <a:cs typeface="Tahoma"/>
              </a:rPr>
              <a:t>e</a:t>
            </a:r>
            <a:r>
              <a:rPr sz="1600" spc="20" dirty="0">
                <a:latin typeface="Tahoma"/>
                <a:cs typeface="Tahoma"/>
              </a:rPr>
              <a:t>l</a:t>
            </a:r>
            <a:r>
              <a:rPr sz="1600" spc="-135" dirty="0">
                <a:latin typeface="Tahoma"/>
                <a:cs typeface="Tahoma"/>
              </a:rPr>
              <a:t>]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51676" y="5257799"/>
            <a:ext cx="874776" cy="222503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464808" y="2215895"/>
            <a:ext cx="3147060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800" spc="-15" dirty="0">
                <a:latin typeface="Calibri"/>
                <a:cs typeface="Calibri"/>
              </a:rPr>
              <a:t>Why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 want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20A979D8-38E5-1CB0-42E2-C1A1B329E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F507-9CD5-4747-853C-C371A0F26A59}" type="datetime1">
              <a:rPr lang="en-US" smtClean="0"/>
              <a:t>10/1/2025</a:t>
            </a:fld>
            <a:endParaRPr lang="en-US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010E7DDE-4AF8-3DAB-C2B1-2CE6F235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913B4035-4D95-3AD7-EF35-5E24EB6D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683735"/>
            <a:ext cx="10972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0" dirty="0"/>
              <a:t>Generative</a:t>
            </a:r>
            <a:r>
              <a:rPr sz="4400" spc="-65" dirty="0"/>
              <a:t> </a:t>
            </a:r>
            <a:r>
              <a:rPr sz="4400" spc="-5" dirty="0"/>
              <a:t>models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1761744"/>
            <a:ext cx="452628" cy="25298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081022" y="1707642"/>
            <a:ext cx="1714500" cy="1181100"/>
            <a:chOff x="2081022" y="1707642"/>
            <a:chExt cx="1714500" cy="1181100"/>
          </a:xfrm>
        </p:grpSpPr>
        <p:sp>
          <p:nvSpPr>
            <p:cNvPr id="5" name="object 5"/>
            <p:cNvSpPr/>
            <p:nvPr/>
          </p:nvSpPr>
          <p:spPr>
            <a:xfrm>
              <a:off x="2081022" y="1707641"/>
              <a:ext cx="1714500" cy="1181100"/>
            </a:xfrm>
            <a:custGeom>
              <a:avLst/>
              <a:gdLst/>
              <a:ahLst/>
              <a:cxnLst/>
              <a:rect l="l" t="t" r="r" b="b"/>
              <a:pathLst>
                <a:path w="1714500" h="1181100">
                  <a:moveTo>
                    <a:pt x="1714500" y="1143000"/>
                  </a:moveTo>
                  <a:lnTo>
                    <a:pt x="1695450" y="1133475"/>
                  </a:lnTo>
                  <a:lnTo>
                    <a:pt x="1638300" y="1104900"/>
                  </a:lnTo>
                  <a:lnTo>
                    <a:pt x="16383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1638300" y="1152525"/>
                  </a:lnTo>
                  <a:lnTo>
                    <a:pt x="1638300" y="1181100"/>
                  </a:lnTo>
                  <a:lnTo>
                    <a:pt x="1695450" y="1152525"/>
                  </a:lnTo>
                  <a:lnTo>
                    <a:pt x="17145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3744" y="1944624"/>
              <a:ext cx="152400" cy="1264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569" y="1941449"/>
              <a:ext cx="158750" cy="1328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7959" y="2584704"/>
              <a:ext cx="152400" cy="12649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4784" y="2581529"/>
              <a:ext cx="158750" cy="1328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1360" y="1930908"/>
              <a:ext cx="152400" cy="1264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58185" y="1927733"/>
              <a:ext cx="158750" cy="1328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6808" y="2182368"/>
              <a:ext cx="152400" cy="1264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3633" y="2179193"/>
              <a:ext cx="158750" cy="13284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98797" y="1852529"/>
              <a:ext cx="1115695" cy="835025"/>
            </a:xfrm>
            <a:custGeom>
              <a:avLst/>
              <a:gdLst/>
              <a:ahLst/>
              <a:cxnLst/>
              <a:rect l="l" t="t" r="r" b="b"/>
              <a:pathLst>
                <a:path w="1115695" h="835025">
                  <a:moveTo>
                    <a:pt x="22838" y="671722"/>
                  </a:moveTo>
                  <a:lnTo>
                    <a:pt x="10118" y="638690"/>
                  </a:lnTo>
                  <a:lnTo>
                    <a:pt x="2559" y="604257"/>
                  </a:lnTo>
                  <a:lnTo>
                    <a:pt x="0" y="568670"/>
                  </a:lnTo>
                  <a:lnTo>
                    <a:pt x="2283" y="532173"/>
                  </a:lnTo>
                  <a:lnTo>
                    <a:pt x="20741" y="457431"/>
                  </a:lnTo>
                  <a:lnTo>
                    <a:pt x="36598" y="419677"/>
                  </a:lnTo>
                  <a:lnTo>
                    <a:pt x="56664" y="381993"/>
                  </a:lnTo>
                  <a:lnTo>
                    <a:pt x="80778" y="344626"/>
                  </a:lnTo>
                  <a:lnTo>
                    <a:pt x="108782" y="307821"/>
                  </a:lnTo>
                  <a:lnTo>
                    <a:pt x="140518" y="271822"/>
                  </a:lnTo>
                  <a:lnTo>
                    <a:pt x="175826" y="236876"/>
                  </a:lnTo>
                  <a:lnTo>
                    <a:pt x="214549" y="203226"/>
                  </a:lnTo>
                  <a:lnTo>
                    <a:pt x="256527" y="171120"/>
                  </a:lnTo>
                  <a:lnTo>
                    <a:pt x="301603" y="140800"/>
                  </a:lnTo>
                  <a:lnTo>
                    <a:pt x="349616" y="112514"/>
                  </a:lnTo>
                  <a:lnTo>
                    <a:pt x="400409" y="86506"/>
                  </a:lnTo>
                  <a:lnTo>
                    <a:pt x="452662" y="63526"/>
                  </a:lnTo>
                  <a:lnTo>
                    <a:pt x="504923" y="44140"/>
                  </a:lnTo>
                  <a:lnTo>
                    <a:pt x="556902" y="28315"/>
                  </a:lnTo>
                  <a:lnTo>
                    <a:pt x="608309" y="16021"/>
                  </a:lnTo>
                  <a:lnTo>
                    <a:pt x="658855" y="7224"/>
                  </a:lnTo>
                  <a:lnTo>
                    <a:pt x="708249" y="1895"/>
                  </a:lnTo>
                  <a:lnTo>
                    <a:pt x="756202" y="0"/>
                  </a:lnTo>
                  <a:lnTo>
                    <a:pt x="802424" y="1507"/>
                  </a:lnTo>
                  <a:lnTo>
                    <a:pt x="846625" y="6386"/>
                  </a:lnTo>
                  <a:lnTo>
                    <a:pt x="888515" y="14604"/>
                  </a:lnTo>
                  <a:lnTo>
                    <a:pt x="927804" y="26130"/>
                  </a:lnTo>
                  <a:lnTo>
                    <a:pt x="964202" y="40931"/>
                  </a:lnTo>
                  <a:lnTo>
                    <a:pt x="1027166" y="80234"/>
                  </a:lnTo>
                  <a:lnTo>
                    <a:pt x="1075090" y="132257"/>
                  </a:lnTo>
                  <a:lnTo>
                    <a:pt x="1105405" y="195992"/>
                  </a:lnTo>
                  <a:lnTo>
                    <a:pt x="1115524" y="266012"/>
                  </a:lnTo>
                  <a:lnTo>
                    <a:pt x="1113241" y="302509"/>
                  </a:lnTo>
                  <a:lnTo>
                    <a:pt x="1094783" y="377251"/>
                  </a:lnTo>
                  <a:lnTo>
                    <a:pt x="1078925" y="415005"/>
                  </a:lnTo>
                  <a:lnTo>
                    <a:pt x="1058860" y="452689"/>
                  </a:lnTo>
                  <a:lnTo>
                    <a:pt x="1034746" y="490056"/>
                  </a:lnTo>
                  <a:lnTo>
                    <a:pt x="1006742" y="526861"/>
                  </a:lnTo>
                  <a:lnTo>
                    <a:pt x="975006" y="562860"/>
                  </a:lnTo>
                  <a:lnTo>
                    <a:pt x="939697" y="597806"/>
                  </a:lnTo>
                  <a:lnTo>
                    <a:pt x="900975" y="631455"/>
                  </a:lnTo>
                  <a:lnTo>
                    <a:pt x="858996" y="663562"/>
                  </a:lnTo>
                  <a:lnTo>
                    <a:pt x="813921" y="693881"/>
                  </a:lnTo>
                  <a:lnTo>
                    <a:pt x="765908" y="722168"/>
                  </a:lnTo>
                  <a:lnTo>
                    <a:pt x="715115" y="748176"/>
                  </a:lnTo>
                  <a:lnTo>
                    <a:pt x="662862" y="771176"/>
                  </a:lnTo>
                  <a:lnTo>
                    <a:pt x="610601" y="790577"/>
                  </a:lnTo>
                  <a:lnTo>
                    <a:pt x="558622" y="806412"/>
                  </a:lnTo>
                  <a:lnTo>
                    <a:pt x="507215" y="818714"/>
                  </a:lnTo>
                  <a:lnTo>
                    <a:pt x="456669" y="827513"/>
                  </a:lnTo>
                  <a:lnTo>
                    <a:pt x="407274" y="832844"/>
                  </a:lnTo>
                  <a:lnTo>
                    <a:pt x="359321" y="834737"/>
                  </a:lnTo>
                  <a:lnTo>
                    <a:pt x="313100" y="833225"/>
                  </a:lnTo>
                  <a:lnTo>
                    <a:pt x="268899" y="828340"/>
                  </a:lnTo>
                  <a:lnTo>
                    <a:pt x="227009" y="820116"/>
                  </a:lnTo>
                  <a:lnTo>
                    <a:pt x="187720" y="808583"/>
                  </a:lnTo>
                  <a:lnTo>
                    <a:pt x="151322" y="793774"/>
                  </a:lnTo>
                  <a:lnTo>
                    <a:pt x="88357" y="754458"/>
                  </a:lnTo>
                  <a:lnTo>
                    <a:pt x="40434" y="702426"/>
                  </a:lnTo>
                  <a:lnTo>
                    <a:pt x="22838" y="671722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0559" y="2389632"/>
            <a:ext cx="842772" cy="25907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4394" y="5546597"/>
            <a:ext cx="231012" cy="762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646804" y="5150992"/>
            <a:ext cx="187960" cy="820419"/>
            <a:chOff x="3646804" y="5150992"/>
            <a:chExt cx="187960" cy="820419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49979" y="5154167"/>
              <a:ext cx="181355" cy="81381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49979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5" y="813815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212209" y="5161660"/>
            <a:ext cx="187960" cy="821690"/>
            <a:chOff x="4212209" y="5161660"/>
            <a:chExt cx="187960" cy="821690"/>
          </a:xfrm>
        </p:grpSpPr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15384" y="5164835"/>
              <a:ext cx="181355" cy="8153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215384" y="5164835"/>
              <a:ext cx="181610" cy="815340"/>
            </a:xfrm>
            <a:custGeom>
              <a:avLst/>
              <a:gdLst/>
              <a:ahLst/>
              <a:cxnLst/>
              <a:rect l="l" t="t" r="r" b="b"/>
              <a:pathLst>
                <a:path w="181610" h="815339">
                  <a:moveTo>
                    <a:pt x="0" y="815339"/>
                  </a:moveTo>
                  <a:lnTo>
                    <a:pt x="181355" y="815339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533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48990" y="5546597"/>
            <a:ext cx="231012" cy="76200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3081401" y="5150992"/>
            <a:ext cx="187960" cy="820419"/>
            <a:chOff x="3081401" y="5150992"/>
            <a:chExt cx="187960" cy="820419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84576" y="5154167"/>
              <a:ext cx="181355" cy="81381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084576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5" y="813815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519045" y="5150992"/>
            <a:ext cx="187960" cy="820419"/>
            <a:chOff x="2519045" y="5150992"/>
            <a:chExt cx="187960" cy="820419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22220" y="5154167"/>
              <a:ext cx="181356" cy="81381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522220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6" y="813815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786633" y="5546597"/>
            <a:ext cx="231013" cy="7620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2535935" y="4585715"/>
            <a:ext cx="227329" cy="487045"/>
            <a:chOff x="2535935" y="4585715"/>
            <a:chExt cx="227329" cy="487045"/>
          </a:xfrm>
        </p:grpSpPr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83941" y="4839461"/>
              <a:ext cx="76200" cy="2330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35935" y="4585715"/>
              <a:ext cx="227075" cy="213360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3095244" y="4585715"/>
            <a:ext cx="230504" cy="487045"/>
            <a:chOff x="3095244" y="4585715"/>
            <a:chExt cx="230504" cy="487045"/>
          </a:xfrm>
        </p:grpSpPr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63062" y="4839461"/>
              <a:ext cx="76200" cy="2330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95244" y="4585715"/>
              <a:ext cx="230123" cy="216407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25417" y="4839461"/>
            <a:ext cx="76200" cy="233044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4226052" y="4585715"/>
            <a:ext cx="227329" cy="490220"/>
            <a:chOff x="4226052" y="4585715"/>
            <a:chExt cx="227329" cy="490220"/>
          </a:xfrm>
        </p:grpSpPr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87774" y="4842509"/>
              <a:ext cx="76200" cy="23304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6052" y="4585715"/>
              <a:ext cx="227075" cy="216407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59123" y="4570476"/>
            <a:ext cx="231648" cy="21336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64129" y="6058661"/>
            <a:ext cx="76200" cy="23304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43250" y="6058661"/>
            <a:ext cx="76200" cy="23304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05605" y="6058661"/>
            <a:ext cx="76200" cy="23304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67961" y="6061709"/>
            <a:ext cx="76200" cy="233045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2467482" y="6383832"/>
            <a:ext cx="1966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0695" algn="l"/>
              </a:tabLst>
            </a:pPr>
            <a:r>
              <a:rPr sz="1200" spc="-5" dirty="0">
                <a:latin typeface="Calibri"/>
                <a:cs typeface="Calibri"/>
              </a:rPr>
              <a:t>“I</a:t>
            </a:r>
            <a:r>
              <a:rPr sz="1200" dirty="0">
                <a:latin typeface="Calibri"/>
                <a:cs typeface="Calibri"/>
              </a:rPr>
              <a:t>”	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hi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spc="-1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”</a:t>
            </a:r>
            <a:r>
              <a:rPr sz="1200" spc="-8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he</a:t>
            </a:r>
            <a:r>
              <a:rPr sz="1200" spc="-10" dirty="0">
                <a:latin typeface="Calibri"/>
                <a:cs typeface="Calibri"/>
              </a:rPr>
              <a:t>re</a:t>
            </a:r>
            <a:r>
              <a:rPr sz="1200" spc="-35" dirty="0">
                <a:latin typeface="Calibri"/>
                <a:cs typeface="Calibri"/>
              </a:rPr>
              <a:t>f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e”   </a:t>
            </a:r>
            <a:r>
              <a:rPr sz="1200" spc="-10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“I”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22145" y="4286757"/>
            <a:ext cx="19367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850" algn="l"/>
              </a:tabLst>
            </a:pPr>
            <a:r>
              <a:rPr sz="1200" spc="-5" dirty="0">
                <a:latin typeface="Calibri"/>
                <a:cs typeface="Calibri"/>
              </a:rPr>
              <a:t>“I</a:t>
            </a:r>
            <a:r>
              <a:rPr sz="1200" dirty="0">
                <a:latin typeface="Calibri"/>
                <a:cs typeface="Calibri"/>
              </a:rPr>
              <a:t>”	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hi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spc="-10" dirty="0">
                <a:latin typeface="Calibri"/>
                <a:cs typeface="Calibri"/>
              </a:rPr>
              <a:t>k</a:t>
            </a:r>
            <a:r>
              <a:rPr sz="1200" dirty="0">
                <a:latin typeface="Calibri"/>
                <a:cs typeface="Calibri"/>
              </a:rPr>
              <a:t>”</a:t>
            </a:r>
            <a:r>
              <a:rPr sz="1200" spc="-8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he</a:t>
            </a:r>
            <a:r>
              <a:rPr sz="1200" spc="-10" dirty="0">
                <a:latin typeface="Calibri"/>
                <a:cs typeface="Calibri"/>
              </a:rPr>
              <a:t>re</a:t>
            </a:r>
            <a:r>
              <a:rPr sz="1200" spc="-35" dirty="0">
                <a:latin typeface="Calibri"/>
                <a:cs typeface="Calibri"/>
              </a:rPr>
              <a:t>f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e”   </a:t>
            </a:r>
            <a:r>
              <a:rPr sz="1200" spc="-10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“I”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31690" y="4280407"/>
            <a:ext cx="34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“</a:t>
            </a:r>
            <a:r>
              <a:rPr sz="1200" dirty="0">
                <a:latin typeface="Calibri"/>
                <a:cs typeface="Calibri"/>
              </a:rPr>
              <a:t>am”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87417" y="5535929"/>
            <a:ext cx="231012" cy="76200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4785233" y="5150992"/>
            <a:ext cx="187960" cy="820419"/>
            <a:chOff x="4785233" y="5150992"/>
            <a:chExt cx="187960" cy="820419"/>
          </a:xfrm>
        </p:grpSpPr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88408" y="5154167"/>
              <a:ext cx="181355" cy="813816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788408" y="5154167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5"/>
                  </a:moveTo>
                  <a:lnTo>
                    <a:pt x="181355" y="813815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4783835" y="4590288"/>
            <a:ext cx="230504" cy="473075"/>
            <a:chOff x="4783835" y="4590288"/>
            <a:chExt cx="230504" cy="473075"/>
          </a:xfrm>
        </p:grpSpPr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60797" y="4830318"/>
              <a:ext cx="76200" cy="2330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83835" y="4590288"/>
              <a:ext cx="230124" cy="216407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840985" y="6051041"/>
            <a:ext cx="76200" cy="233045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4709286" y="6364630"/>
            <a:ext cx="34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“</a:t>
            </a:r>
            <a:r>
              <a:rPr sz="1200" dirty="0">
                <a:latin typeface="Calibri"/>
                <a:cs typeface="Calibri"/>
              </a:rPr>
              <a:t>am”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665090" y="4260850"/>
            <a:ext cx="420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&lt;</a:t>
            </a:r>
            <a:r>
              <a:rPr sz="1200" spc="-2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OS&gt;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86177" y="5569458"/>
            <a:ext cx="231013" cy="76200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1920113" y="5173853"/>
            <a:ext cx="186690" cy="820419"/>
            <a:chOff x="1920113" y="5173853"/>
            <a:chExt cx="186690" cy="820419"/>
          </a:xfrm>
        </p:grpSpPr>
        <p:pic>
          <p:nvPicPr>
            <p:cNvPr id="61" name="object 6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23288" y="5177028"/>
              <a:ext cx="179831" cy="813816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923288" y="5177028"/>
              <a:ext cx="180340" cy="814069"/>
            </a:xfrm>
            <a:custGeom>
              <a:avLst/>
              <a:gdLst/>
              <a:ahLst/>
              <a:cxnLst/>
              <a:rect l="l" t="t" r="r" b="b"/>
              <a:pathLst>
                <a:path w="180339" h="814070">
                  <a:moveTo>
                    <a:pt x="0" y="813816"/>
                  </a:moveTo>
                  <a:lnTo>
                    <a:pt x="179831" y="813816"/>
                  </a:lnTo>
                  <a:lnTo>
                    <a:pt x="179831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3" name="object 6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85010" y="4862321"/>
            <a:ext cx="76200" cy="233044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923288" y="4568952"/>
            <a:ext cx="222504" cy="213360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65198" y="6081521"/>
            <a:ext cx="76200" cy="233045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1736217" y="6399682"/>
            <a:ext cx="552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&lt;</a:t>
            </a:r>
            <a:r>
              <a:rPr sz="1200" spc="-10" dirty="0">
                <a:latin typeface="Calibri"/>
                <a:cs typeface="Calibri"/>
              </a:rPr>
              <a:t>S</a:t>
            </a:r>
            <a:r>
              <a:rPr sz="1200" spc="-9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R</a:t>
            </a:r>
            <a:r>
              <a:rPr sz="1200" spc="-5" dirty="0">
                <a:latin typeface="Calibri"/>
                <a:cs typeface="Calibri"/>
              </a:rPr>
              <a:t>T&gt;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70559" y="3595143"/>
            <a:ext cx="452628" cy="248384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233442" y="3588220"/>
            <a:ext cx="6487375" cy="252983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1412747" y="6207252"/>
            <a:ext cx="1003300" cy="547370"/>
            <a:chOff x="1412747" y="6207252"/>
            <a:chExt cx="1003300" cy="547370"/>
          </a:xfrm>
        </p:grpSpPr>
        <p:pic>
          <p:nvPicPr>
            <p:cNvPr id="72" name="object 7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12747" y="6207252"/>
              <a:ext cx="230123" cy="15240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651253" y="6340602"/>
              <a:ext cx="745490" cy="394970"/>
            </a:xfrm>
            <a:custGeom>
              <a:avLst/>
              <a:gdLst/>
              <a:ahLst/>
              <a:cxnLst/>
              <a:rect l="l" t="t" r="r" b="b"/>
              <a:pathLst>
                <a:path w="745489" h="394970">
                  <a:moveTo>
                    <a:pt x="0" y="197358"/>
                  </a:moveTo>
                  <a:lnTo>
                    <a:pt x="19001" y="134975"/>
                  </a:lnTo>
                  <a:lnTo>
                    <a:pt x="71908" y="80798"/>
                  </a:lnTo>
                  <a:lnTo>
                    <a:pt x="109156" y="57802"/>
                  </a:lnTo>
                  <a:lnTo>
                    <a:pt x="152576" y="38076"/>
                  </a:lnTo>
                  <a:lnTo>
                    <a:pt x="201401" y="22027"/>
                  </a:lnTo>
                  <a:lnTo>
                    <a:pt x="254861" y="10060"/>
                  </a:lnTo>
                  <a:lnTo>
                    <a:pt x="312189" y="2582"/>
                  </a:lnTo>
                  <a:lnTo>
                    <a:pt x="372618" y="0"/>
                  </a:lnTo>
                  <a:lnTo>
                    <a:pt x="433046" y="2582"/>
                  </a:lnTo>
                  <a:lnTo>
                    <a:pt x="490374" y="10060"/>
                  </a:lnTo>
                  <a:lnTo>
                    <a:pt x="543834" y="22027"/>
                  </a:lnTo>
                  <a:lnTo>
                    <a:pt x="592659" y="38076"/>
                  </a:lnTo>
                  <a:lnTo>
                    <a:pt x="636079" y="57802"/>
                  </a:lnTo>
                  <a:lnTo>
                    <a:pt x="673327" y="80798"/>
                  </a:lnTo>
                  <a:lnTo>
                    <a:pt x="703635" y="106657"/>
                  </a:lnTo>
                  <a:lnTo>
                    <a:pt x="740357" y="165343"/>
                  </a:lnTo>
                  <a:lnTo>
                    <a:pt x="745235" y="197358"/>
                  </a:lnTo>
                  <a:lnTo>
                    <a:pt x="740357" y="229372"/>
                  </a:lnTo>
                  <a:lnTo>
                    <a:pt x="703635" y="288058"/>
                  </a:lnTo>
                  <a:lnTo>
                    <a:pt x="673327" y="313917"/>
                  </a:lnTo>
                  <a:lnTo>
                    <a:pt x="636079" y="336913"/>
                  </a:lnTo>
                  <a:lnTo>
                    <a:pt x="592659" y="356639"/>
                  </a:lnTo>
                  <a:lnTo>
                    <a:pt x="543834" y="372688"/>
                  </a:lnTo>
                  <a:lnTo>
                    <a:pt x="490374" y="384655"/>
                  </a:lnTo>
                  <a:lnTo>
                    <a:pt x="433046" y="392133"/>
                  </a:lnTo>
                  <a:lnTo>
                    <a:pt x="372618" y="394716"/>
                  </a:lnTo>
                  <a:lnTo>
                    <a:pt x="312189" y="392133"/>
                  </a:lnTo>
                  <a:lnTo>
                    <a:pt x="254861" y="384655"/>
                  </a:lnTo>
                  <a:lnTo>
                    <a:pt x="201401" y="372688"/>
                  </a:lnTo>
                  <a:lnTo>
                    <a:pt x="152576" y="356639"/>
                  </a:lnTo>
                  <a:lnTo>
                    <a:pt x="109156" y="336913"/>
                  </a:lnTo>
                  <a:lnTo>
                    <a:pt x="71908" y="313917"/>
                  </a:lnTo>
                  <a:lnTo>
                    <a:pt x="41600" y="288058"/>
                  </a:lnTo>
                  <a:lnTo>
                    <a:pt x="4878" y="229372"/>
                  </a:lnTo>
                  <a:lnTo>
                    <a:pt x="0" y="197358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95706" y="6139383"/>
            <a:ext cx="751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n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actually  a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variable!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738377" y="2742438"/>
            <a:ext cx="506095" cy="748665"/>
          </a:xfrm>
          <a:custGeom>
            <a:avLst/>
            <a:gdLst/>
            <a:ahLst/>
            <a:cxnLst/>
            <a:rect l="l" t="t" r="r" b="b"/>
            <a:pathLst>
              <a:path w="506094" h="748664">
                <a:moveTo>
                  <a:pt x="252984" y="0"/>
                </a:moveTo>
                <a:lnTo>
                  <a:pt x="0" y="252984"/>
                </a:lnTo>
                <a:lnTo>
                  <a:pt x="126491" y="252984"/>
                </a:lnTo>
                <a:lnTo>
                  <a:pt x="126491" y="495300"/>
                </a:lnTo>
                <a:lnTo>
                  <a:pt x="0" y="495300"/>
                </a:lnTo>
                <a:lnTo>
                  <a:pt x="252984" y="748284"/>
                </a:lnTo>
                <a:lnTo>
                  <a:pt x="505968" y="495300"/>
                </a:lnTo>
                <a:lnTo>
                  <a:pt x="379475" y="495300"/>
                </a:lnTo>
                <a:lnTo>
                  <a:pt x="379475" y="252984"/>
                </a:lnTo>
                <a:lnTo>
                  <a:pt x="505968" y="252984"/>
                </a:lnTo>
                <a:lnTo>
                  <a:pt x="252984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1344294" y="3056382"/>
            <a:ext cx="434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Just </a:t>
            </a:r>
            <a:r>
              <a:rPr sz="1800" spc="-15" dirty="0">
                <a:latin typeface="Calibri"/>
                <a:cs typeface="Calibri"/>
              </a:rPr>
              <a:t>different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ways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solve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 </a:t>
            </a:r>
            <a:r>
              <a:rPr sz="1800" spc="-10" dirty="0">
                <a:latin typeface="Calibri"/>
                <a:cs typeface="Calibri"/>
              </a:rPr>
              <a:t>problem!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542788" y="4091940"/>
            <a:ext cx="3148965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4"/>
              </a:spcBef>
            </a:pPr>
            <a:r>
              <a:rPr sz="1800" spc="-15" dirty="0">
                <a:latin typeface="Calibri"/>
                <a:cs typeface="Calibri"/>
              </a:rPr>
              <a:t>Why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would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 want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5" dirty="0">
                <a:latin typeface="Calibri"/>
                <a:cs typeface="Calibri"/>
              </a:rPr>
              <a:t>do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542788" y="4605528"/>
            <a:ext cx="3644265" cy="3689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44"/>
              </a:spcBef>
            </a:pPr>
            <a:r>
              <a:rPr sz="1800" spc="-5" dirty="0">
                <a:latin typeface="Calibri"/>
                <a:cs typeface="Calibri"/>
              </a:rPr>
              <a:t>Same reasons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" dirty="0">
                <a:latin typeface="Calibri"/>
                <a:cs typeface="Calibri"/>
              </a:rPr>
              <a:t> language modeling!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617845" y="4935220"/>
            <a:ext cx="4055110" cy="1616468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04165" indent="-287020">
              <a:lnSpc>
                <a:spcPct val="100000"/>
              </a:lnSpc>
              <a:spcBef>
                <a:spcPts val="1325"/>
              </a:spcBef>
              <a:buFont typeface="Wingdings"/>
              <a:buChar char=""/>
              <a:tabLst>
                <a:tab pos="304165" algn="l"/>
              </a:tabLst>
            </a:pPr>
            <a:r>
              <a:rPr sz="1600" dirty="0">
                <a:latin typeface="Calibri"/>
                <a:cs typeface="Calibri"/>
              </a:rPr>
              <a:t>Unsupervised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pretraining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lots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data</a:t>
            </a:r>
            <a:endParaRPr sz="1600" dirty="0">
              <a:latin typeface="Calibri"/>
              <a:cs typeface="Calibri"/>
            </a:endParaRPr>
          </a:p>
          <a:p>
            <a:pPr marL="304165" indent="-287020">
              <a:lnSpc>
                <a:spcPct val="100000"/>
              </a:lnSpc>
              <a:spcBef>
                <a:spcPts val="1225"/>
              </a:spcBef>
              <a:buFont typeface="Wingdings"/>
              <a:buChar char=""/>
              <a:tabLst>
                <a:tab pos="304165" algn="l"/>
              </a:tabLst>
            </a:pPr>
            <a:r>
              <a:rPr sz="1600" spc="-10" dirty="0">
                <a:latin typeface="Calibri"/>
                <a:cs typeface="Calibri"/>
              </a:rPr>
              <a:t>Representation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learning</a:t>
            </a:r>
            <a:endParaRPr sz="1600" dirty="0">
              <a:latin typeface="Calibri"/>
              <a:cs typeface="Calibri"/>
            </a:endParaRPr>
          </a:p>
          <a:p>
            <a:pPr marL="304165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04165" algn="l"/>
              </a:tabLst>
            </a:pPr>
            <a:r>
              <a:rPr sz="1600" spc="-10" dirty="0">
                <a:latin typeface="Calibri"/>
                <a:cs typeface="Calibri"/>
              </a:rPr>
              <a:t>Pretraining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 later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finetuning</a:t>
            </a:r>
            <a:endParaRPr sz="16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299720" algn="l"/>
              </a:tabLst>
            </a:pPr>
            <a:r>
              <a:rPr sz="1600" spc="-5" dirty="0">
                <a:latin typeface="Calibri"/>
                <a:cs typeface="Calibri"/>
              </a:rPr>
              <a:t>Actually</a:t>
            </a:r>
            <a:r>
              <a:rPr sz="1600" spc="-10" dirty="0">
                <a:latin typeface="Calibri"/>
                <a:cs typeface="Calibri"/>
              </a:rPr>
              <a:t> generating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things!</a:t>
            </a:r>
          </a:p>
        </p:txBody>
      </p:sp>
      <p:sp>
        <p:nvSpPr>
          <p:cNvPr id="80" name="object 80"/>
          <p:cNvSpPr txBox="1"/>
          <p:nvPr/>
        </p:nvSpPr>
        <p:spPr>
          <a:xfrm>
            <a:off x="5013959" y="1830323"/>
            <a:ext cx="6474460" cy="3708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5"/>
              </a:spcBef>
            </a:pPr>
            <a:r>
              <a:rPr sz="1800" b="1" spc="-35" dirty="0">
                <a:latin typeface="Calibri"/>
                <a:cs typeface="Calibri"/>
              </a:rPr>
              <a:t>Today: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go</a:t>
            </a:r>
            <a:r>
              <a:rPr sz="1800" spc="-10" dirty="0">
                <a:latin typeface="Calibri"/>
                <a:cs typeface="Calibri"/>
              </a:rPr>
              <a:t> from</a:t>
            </a:r>
            <a:r>
              <a:rPr sz="1800" spc="-5" dirty="0">
                <a:latin typeface="Calibri"/>
                <a:cs typeface="Calibri"/>
              </a:rPr>
              <a:t> “language </a:t>
            </a:r>
            <a:r>
              <a:rPr sz="1800" dirty="0">
                <a:latin typeface="Calibri"/>
                <a:cs typeface="Calibri"/>
              </a:rPr>
              <a:t>models”</a:t>
            </a:r>
            <a:r>
              <a:rPr sz="1800" spc="-10" dirty="0">
                <a:latin typeface="Calibri"/>
                <a:cs typeface="Calibri"/>
              </a:rPr>
              <a:t> to “everything </a:t>
            </a:r>
            <a:r>
              <a:rPr sz="1800" dirty="0">
                <a:latin typeface="Calibri"/>
                <a:cs typeface="Calibri"/>
              </a:rPr>
              <a:t>models”?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489191" y="2433827"/>
            <a:ext cx="3523615" cy="3708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unsupervised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learning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Date Placeholder 67">
            <a:extLst>
              <a:ext uri="{FF2B5EF4-FFF2-40B4-BE49-F238E27FC236}">
                <a16:creationId xmlns:a16="http://schemas.microsoft.com/office/drawing/2014/main" id="{5E62BF0C-8210-6B35-9F0B-AAADA57B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EF99-4E5B-4C3F-919D-7B9583359F6A}" type="datetime1">
              <a:rPr lang="en-US" smtClean="0"/>
              <a:t>10/1/2025</a:t>
            </a:fld>
            <a:endParaRPr lang="en-US"/>
          </a:p>
        </p:txBody>
      </p:sp>
      <p:sp>
        <p:nvSpPr>
          <p:cNvPr id="70" name="Footer Placeholder 69">
            <a:extLst>
              <a:ext uri="{FF2B5EF4-FFF2-40B4-BE49-F238E27FC236}">
                <a16:creationId xmlns:a16="http://schemas.microsoft.com/office/drawing/2014/main" id="{AFF61399-513A-1EA9-CCF4-E041FE74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3" name="Slide Number Placeholder 82">
            <a:extLst>
              <a:ext uri="{FF2B5EF4-FFF2-40B4-BE49-F238E27FC236}">
                <a16:creationId xmlns:a16="http://schemas.microsoft.com/office/drawing/2014/main" id="{9E03405D-2AD4-2127-B4B4-4FA327D8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745289"/>
            <a:ext cx="1097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Can</a:t>
            </a:r>
            <a:r>
              <a:rPr spc="-15" dirty="0"/>
              <a:t> </a:t>
            </a:r>
            <a:r>
              <a:rPr spc="-35" dirty="0"/>
              <a:t>we</a:t>
            </a:r>
            <a:r>
              <a:rPr spc="-15" dirty="0"/>
              <a:t> </a:t>
            </a:r>
            <a:r>
              <a:rPr spc="-10" dirty="0"/>
              <a:t>“language</a:t>
            </a:r>
            <a:r>
              <a:rPr spc="-15" dirty="0"/>
              <a:t> </a:t>
            </a:r>
            <a:r>
              <a:rPr spc="-5" dirty="0"/>
              <a:t>model”</a:t>
            </a:r>
            <a:r>
              <a:rPr spc="-10" dirty="0"/>
              <a:t> </a:t>
            </a:r>
            <a:r>
              <a:rPr spc="-15" dirty="0"/>
              <a:t>images?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5874" y="1642872"/>
            <a:ext cx="692397" cy="2209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6255511"/>
            <a:ext cx="4344670" cy="55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&lt;START&gt;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400" spc="-25" dirty="0">
                <a:latin typeface="Calibri"/>
                <a:cs typeface="Calibri"/>
              </a:rPr>
              <a:t>Van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Oord et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al. </a:t>
            </a:r>
            <a:r>
              <a:rPr sz="1400" b="1" spc="-10" dirty="0">
                <a:latin typeface="Calibri"/>
                <a:cs typeface="Calibri"/>
              </a:rPr>
              <a:t>Pixel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Recurrent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Neural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Networks</a:t>
            </a:r>
            <a:r>
              <a:rPr sz="1400" spc="-5" dirty="0">
                <a:latin typeface="Calibri"/>
                <a:cs typeface="Calibri"/>
              </a:rPr>
              <a:t>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2016.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591" y="1642872"/>
            <a:ext cx="722376" cy="22098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449197" y="2424557"/>
            <a:ext cx="646430" cy="646430"/>
            <a:chOff x="1449197" y="2424557"/>
            <a:chExt cx="646430" cy="6464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2372" y="2427732"/>
              <a:ext cx="640079" cy="6400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52372" y="2427732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160019"/>
                  </a:moveTo>
                  <a:lnTo>
                    <a:pt x="320040" y="160019"/>
                  </a:lnTo>
                  <a:lnTo>
                    <a:pt x="320040" y="0"/>
                  </a:lnTo>
                  <a:lnTo>
                    <a:pt x="640079" y="320039"/>
                  </a:lnTo>
                  <a:lnTo>
                    <a:pt x="320040" y="640079"/>
                  </a:lnTo>
                  <a:lnTo>
                    <a:pt x="320040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3044189" y="2266950"/>
            <a:ext cx="706755" cy="490855"/>
          </a:xfrm>
          <a:custGeom>
            <a:avLst/>
            <a:gdLst/>
            <a:ahLst/>
            <a:cxnLst/>
            <a:rect l="l" t="t" r="r" b="b"/>
            <a:pathLst>
              <a:path w="706754" h="490855">
                <a:moveTo>
                  <a:pt x="68104" y="35383"/>
                </a:moveTo>
                <a:lnTo>
                  <a:pt x="57337" y="51026"/>
                </a:lnTo>
                <a:lnTo>
                  <a:pt x="695579" y="490474"/>
                </a:lnTo>
                <a:lnTo>
                  <a:pt x="706501" y="474725"/>
                </a:lnTo>
                <a:lnTo>
                  <a:pt x="68104" y="35383"/>
                </a:lnTo>
                <a:close/>
              </a:path>
              <a:path w="706754" h="490855">
                <a:moveTo>
                  <a:pt x="0" y="0"/>
                </a:moveTo>
                <a:lnTo>
                  <a:pt x="41148" y="74549"/>
                </a:lnTo>
                <a:lnTo>
                  <a:pt x="57337" y="51026"/>
                </a:lnTo>
                <a:lnTo>
                  <a:pt x="46862" y="43814"/>
                </a:lnTo>
                <a:lnTo>
                  <a:pt x="57658" y="28194"/>
                </a:lnTo>
                <a:lnTo>
                  <a:pt x="73052" y="28194"/>
                </a:lnTo>
                <a:lnTo>
                  <a:pt x="84328" y="11811"/>
                </a:lnTo>
                <a:lnTo>
                  <a:pt x="0" y="0"/>
                </a:lnTo>
                <a:close/>
              </a:path>
              <a:path w="706754" h="490855">
                <a:moveTo>
                  <a:pt x="57658" y="28194"/>
                </a:moveTo>
                <a:lnTo>
                  <a:pt x="46862" y="43814"/>
                </a:lnTo>
                <a:lnTo>
                  <a:pt x="57337" y="51026"/>
                </a:lnTo>
                <a:lnTo>
                  <a:pt x="68104" y="35383"/>
                </a:lnTo>
                <a:lnTo>
                  <a:pt x="57658" y="28194"/>
                </a:lnTo>
                <a:close/>
              </a:path>
              <a:path w="706754" h="490855">
                <a:moveTo>
                  <a:pt x="73052" y="28194"/>
                </a:moveTo>
                <a:lnTo>
                  <a:pt x="57658" y="28194"/>
                </a:lnTo>
                <a:lnTo>
                  <a:pt x="68104" y="35383"/>
                </a:lnTo>
                <a:lnTo>
                  <a:pt x="73052" y="281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64001" y="2853689"/>
            <a:ext cx="680720" cy="76200"/>
          </a:xfrm>
          <a:custGeom>
            <a:avLst/>
            <a:gdLst/>
            <a:ahLst/>
            <a:cxnLst/>
            <a:rect l="l" t="t" r="r" b="b"/>
            <a:pathLst>
              <a:path w="68072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680720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680720" h="76200">
                <a:moveTo>
                  <a:pt x="680720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680720" y="47625"/>
                </a:lnTo>
                <a:lnTo>
                  <a:pt x="68072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64001" y="3026536"/>
            <a:ext cx="687705" cy="631825"/>
          </a:xfrm>
          <a:custGeom>
            <a:avLst/>
            <a:gdLst/>
            <a:ahLst/>
            <a:cxnLst/>
            <a:rect l="l" t="t" r="r" b="b"/>
            <a:pathLst>
              <a:path w="687704" h="631825">
                <a:moveTo>
                  <a:pt x="30353" y="552196"/>
                </a:moveTo>
                <a:lnTo>
                  <a:pt x="0" y="631825"/>
                </a:lnTo>
                <a:lnTo>
                  <a:pt x="81915" y="608330"/>
                </a:lnTo>
                <a:lnTo>
                  <a:pt x="70482" y="595883"/>
                </a:lnTo>
                <a:lnTo>
                  <a:pt x="53212" y="595883"/>
                </a:lnTo>
                <a:lnTo>
                  <a:pt x="40386" y="581913"/>
                </a:lnTo>
                <a:lnTo>
                  <a:pt x="49752" y="573315"/>
                </a:lnTo>
                <a:lnTo>
                  <a:pt x="30353" y="552196"/>
                </a:lnTo>
                <a:close/>
              </a:path>
              <a:path w="687704" h="631825">
                <a:moveTo>
                  <a:pt x="49752" y="573315"/>
                </a:moveTo>
                <a:lnTo>
                  <a:pt x="40386" y="581913"/>
                </a:lnTo>
                <a:lnTo>
                  <a:pt x="53212" y="595883"/>
                </a:lnTo>
                <a:lnTo>
                  <a:pt x="62582" y="587283"/>
                </a:lnTo>
                <a:lnTo>
                  <a:pt x="49752" y="573315"/>
                </a:lnTo>
                <a:close/>
              </a:path>
              <a:path w="687704" h="631825">
                <a:moveTo>
                  <a:pt x="62582" y="587283"/>
                </a:moveTo>
                <a:lnTo>
                  <a:pt x="53212" y="595883"/>
                </a:lnTo>
                <a:lnTo>
                  <a:pt x="70482" y="595883"/>
                </a:lnTo>
                <a:lnTo>
                  <a:pt x="62582" y="587283"/>
                </a:lnTo>
                <a:close/>
              </a:path>
              <a:path w="687704" h="631825">
                <a:moveTo>
                  <a:pt x="674243" y="0"/>
                </a:moveTo>
                <a:lnTo>
                  <a:pt x="49752" y="573315"/>
                </a:lnTo>
                <a:lnTo>
                  <a:pt x="62582" y="587283"/>
                </a:lnTo>
                <a:lnTo>
                  <a:pt x="687197" y="13970"/>
                </a:lnTo>
                <a:lnTo>
                  <a:pt x="674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23208" y="2585720"/>
            <a:ext cx="30327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ask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“image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language </a:t>
            </a:r>
            <a:r>
              <a:rPr sz="1800" dirty="0">
                <a:latin typeface="Calibri"/>
                <a:cs typeface="Calibri"/>
              </a:rPr>
              <a:t>model”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fill in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blanks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40548" y="1629283"/>
            <a:ext cx="36195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3830" algn="ctr">
              <a:lnSpc>
                <a:spcPct val="100000"/>
              </a:lnSpc>
              <a:spcBef>
                <a:spcPts val="100"/>
              </a:spcBef>
              <a:tabLst>
                <a:tab pos="2222500" algn="l"/>
              </a:tabLst>
            </a:pPr>
            <a:r>
              <a:rPr sz="1800" b="1" spc="-15" dirty="0">
                <a:latin typeface="Calibri"/>
                <a:cs typeface="Calibri"/>
              </a:rPr>
              <a:t>before	</a:t>
            </a:r>
            <a:r>
              <a:rPr sz="1800" b="1" dirty="0">
                <a:latin typeface="Calibri"/>
                <a:cs typeface="Calibri"/>
              </a:rPr>
              <a:t>now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084070" algn="l"/>
              </a:tabLst>
            </a:pPr>
            <a:r>
              <a:rPr sz="1800" spc="-5" dirty="0">
                <a:latin typeface="Calibri"/>
                <a:cs typeface="Calibri"/>
              </a:rPr>
              <a:t>time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step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word	</a:t>
            </a:r>
            <a:r>
              <a:rPr sz="2700" spc="-7" baseline="1543" dirty="0">
                <a:latin typeface="Calibri"/>
                <a:cs typeface="Calibri"/>
              </a:rPr>
              <a:t>time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spc="-22" baseline="1543" dirty="0">
                <a:latin typeface="Calibri"/>
                <a:cs typeface="Calibri"/>
              </a:rPr>
              <a:t>step </a:t>
            </a:r>
            <a:r>
              <a:rPr sz="2700" baseline="1543" dirty="0">
                <a:latin typeface="Calibri"/>
                <a:cs typeface="Calibri"/>
              </a:rPr>
              <a:t>=</a:t>
            </a:r>
            <a:r>
              <a:rPr sz="2700" spc="-30" baseline="1543" dirty="0">
                <a:latin typeface="Calibri"/>
                <a:cs typeface="Calibri"/>
              </a:rPr>
              <a:t> </a:t>
            </a:r>
            <a:r>
              <a:rPr sz="2700" spc="-22" baseline="1543" dirty="0">
                <a:latin typeface="Calibri"/>
                <a:cs typeface="Calibri"/>
              </a:rPr>
              <a:t>pixel</a:t>
            </a:r>
            <a:endParaRPr sz="2700" baseline="1543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5276" y="3564663"/>
            <a:ext cx="452627" cy="24838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448300" y="3209798"/>
            <a:ext cx="6000115" cy="600710"/>
            <a:chOff x="5448300" y="3209798"/>
            <a:chExt cx="6000115" cy="60071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8300" y="3557016"/>
              <a:ext cx="5999988" cy="2529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061198" y="3209798"/>
              <a:ext cx="485140" cy="309880"/>
            </a:xfrm>
            <a:custGeom>
              <a:avLst/>
              <a:gdLst/>
              <a:ahLst/>
              <a:cxnLst/>
              <a:rect l="l" t="t" r="r" b="b"/>
              <a:pathLst>
                <a:path w="485140" h="309879">
                  <a:moveTo>
                    <a:pt x="44196" y="236981"/>
                  </a:moveTo>
                  <a:lnTo>
                    <a:pt x="0" y="309752"/>
                  </a:lnTo>
                  <a:lnTo>
                    <a:pt x="84835" y="301498"/>
                  </a:lnTo>
                  <a:lnTo>
                    <a:pt x="73876" y="284099"/>
                  </a:lnTo>
                  <a:lnTo>
                    <a:pt x="58800" y="284099"/>
                  </a:lnTo>
                  <a:lnTo>
                    <a:pt x="48641" y="267969"/>
                  </a:lnTo>
                  <a:lnTo>
                    <a:pt x="59440" y="261182"/>
                  </a:lnTo>
                  <a:lnTo>
                    <a:pt x="44196" y="236981"/>
                  </a:lnTo>
                  <a:close/>
                </a:path>
                <a:path w="485140" h="309879">
                  <a:moveTo>
                    <a:pt x="59440" y="261182"/>
                  </a:moveTo>
                  <a:lnTo>
                    <a:pt x="48641" y="267969"/>
                  </a:lnTo>
                  <a:lnTo>
                    <a:pt x="58800" y="284099"/>
                  </a:lnTo>
                  <a:lnTo>
                    <a:pt x="69600" y="277311"/>
                  </a:lnTo>
                  <a:lnTo>
                    <a:pt x="59440" y="261182"/>
                  </a:lnTo>
                  <a:close/>
                </a:path>
                <a:path w="485140" h="309879">
                  <a:moveTo>
                    <a:pt x="69600" y="277311"/>
                  </a:moveTo>
                  <a:lnTo>
                    <a:pt x="58800" y="284099"/>
                  </a:lnTo>
                  <a:lnTo>
                    <a:pt x="73876" y="284099"/>
                  </a:lnTo>
                  <a:lnTo>
                    <a:pt x="69600" y="277311"/>
                  </a:lnTo>
                  <a:close/>
                </a:path>
                <a:path w="485140" h="309879">
                  <a:moveTo>
                    <a:pt x="474979" y="0"/>
                  </a:moveTo>
                  <a:lnTo>
                    <a:pt x="59440" y="261182"/>
                  </a:lnTo>
                  <a:lnTo>
                    <a:pt x="69600" y="277311"/>
                  </a:lnTo>
                  <a:lnTo>
                    <a:pt x="485140" y="16128"/>
                  </a:lnTo>
                  <a:lnTo>
                    <a:pt x="4749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620506" y="2986481"/>
            <a:ext cx="3239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some</a:t>
            </a:r>
            <a:r>
              <a:rPr sz="1800" spc="-10" dirty="0">
                <a:latin typeface="Calibri"/>
                <a:cs typeface="Calibri"/>
              </a:rPr>
              <a:t> (arbitrary)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pixels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8054" y="5401817"/>
            <a:ext cx="231012" cy="7620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2450464" y="5006213"/>
            <a:ext cx="187960" cy="820419"/>
            <a:chOff x="2450464" y="5006213"/>
            <a:chExt cx="187960" cy="820419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3639" y="5009388"/>
              <a:ext cx="181356" cy="8138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53639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015869" y="5018404"/>
            <a:ext cx="187960" cy="820419"/>
            <a:chOff x="3015869" y="5018404"/>
            <a:chExt cx="187960" cy="820419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19044" y="5021579"/>
              <a:ext cx="181356" cy="81381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19044" y="5021579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152650" y="5401817"/>
            <a:ext cx="231012" cy="7620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885060" y="5006213"/>
            <a:ext cx="187960" cy="820419"/>
            <a:chOff x="1885060" y="5006213"/>
            <a:chExt cx="187960" cy="820419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8235" y="5009388"/>
              <a:ext cx="181356" cy="81381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888235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0294" y="5401817"/>
            <a:ext cx="231012" cy="7620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1322705" y="5006213"/>
            <a:ext cx="187960" cy="820419"/>
            <a:chOff x="1322705" y="5006213"/>
            <a:chExt cx="187960" cy="820419"/>
          </a:xfrm>
        </p:grpSpPr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25880" y="5009388"/>
              <a:ext cx="181356" cy="81381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325880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09" h="814070">
                  <a:moveTo>
                    <a:pt x="0" y="813816"/>
                  </a:moveTo>
                  <a:lnTo>
                    <a:pt x="181356" y="813816"/>
                  </a:lnTo>
                  <a:lnTo>
                    <a:pt x="181356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339596" y="4440935"/>
            <a:ext cx="388620" cy="487045"/>
            <a:chOff x="1339596" y="4440935"/>
            <a:chExt cx="388620" cy="48704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87602" y="4694681"/>
              <a:ext cx="76200" cy="2330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9596" y="4440935"/>
              <a:ext cx="388620" cy="246887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1898904" y="4440935"/>
            <a:ext cx="390525" cy="487045"/>
            <a:chOff x="1898904" y="4440935"/>
            <a:chExt cx="390525" cy="487045"/>
          </a:xfrm>
        </p:grpSpPr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66722" y="4694681"/>
              <a:ext cx="76200" cy="2330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8904" y="4440935"/>
              <a:ext cx="390144" cy="246887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3029711" y="4440935"/>
            <a:ext cx="388620" cy="490220"/>
            <a:chOff x="3029711" y="4440935"/>
            <a:chExt cx="388620" cy="490220"/>
          </a:xfrm>
        </p:grpSpPr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91433" y="4697729"/>
              <a:ext cx="76200" cy="2330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29711" y="4440935"/>
              <a:ext cx="388620" cy="246887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2462783" y="4427220"/>
            <a:ext cx="382905" cy="501015"/>
            <a:chOff x="2462783" y="4427220"/>
            <a:chExt cx="382905" cy="501015"/>
          </a:xfrm>
        </p:grpSpPr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29077" y="4694682"/>
              <a:ext cx="76200" cy="23304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62783" y="4427220"/>
              <a:ext cx="382524" cy="246887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67789" y="5915405"/>
            <a:ext cx="76200" cy="23304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46910" y="5915405"/>
            <a:ext cx="76200" cy="23304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09266" y="5915405"/>
            <a:ext cx="76200" cy="23304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71622" y="5916929"/>
            <a:ext cx="76200" cy="233044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91078" y="5391150"/>
            <a:ext cx="231012" cy="76200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588892" y="5006213"/>
            <a:ext cx="187960" cy="820419"/>
            <a:chOff x="3588892" y="5006213"/>
            <a:chExt cx="187960" cy="820419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92067" y="5009388"/>
              <a:ext cx="181355" cy="81381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592067" y="5009388"/>
              <a:ext cx="181610" cy="814069"/>
            </a:xfrm>
            <a:custGeom>
              <a:avLst/>
              <a:gdLst/>
              <a:ahLst/>
              <a:cxnLst/>
              <a:rect l="l" t="t" r="r" b="b"/>
              <a:pathLst>
                <a:path w="181610" h="814070">
                  <a:moveTo>
                    <a:pt x="0" y="813816"/>
                  </a:moveTo>
                  <a:lnTo>
                    <a:pt x="181355" y="813816"/>
                  </a:lnTo>
                  <a:lnTo>
                    <a:pt x="181355" y="0"/>
                  </a:lnTo>
                  <a:lnTo>
                    <a:pt x="0" y="0"/>
                  </a:lnTo>
                  <a:lnTo>
                    <a:pt x="0" y="81381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3587496" y="4445508"/>
            <a:ext cx="390525" cy="474980"/>
            <a:chOff x="3587496" y="4445508"/>
            <a:chExt cx="390525" cy="474980"/>
          </a:xfrm>
        </p:grpSpPr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64458" y="4687062"/>
              <a:ext cx="76200" cy="2330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87496" y="4445508"/>
              <a:ext cx="390144" cy="246887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44646" y="5906261"/>
            <a:ext cx="76200" cy="23304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9838" y="5424678"/>
            <a:ext cx="231038" cy="76200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723773" y="5029072"/>
            <a:ext cx="186690" cy="820419"/>
            <a:chOff x="723773" y="5029072"/>
            <a:chExt cx="186690" cy="820419"/>
          </a:xfrm>
        </p:grpSpPr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6948" y="5032247"/>
              <a:ext cx="179832" cy="81381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26948" y="5032247"/>
              <a:ext cx="180340" cy="814069"/>
            </a:xfrm>
            <a:custGeom>
              <a:avLst/>
              <a:gdLst/>
              <a:ahLst/>
              <a:cxnLst/>
              <a:rect l="l" t="t" r="r" b="b"/>
              <a:pathLst>
                <a:path w="180340" h="814070">
                  <a:moveTo>
                    <a:pt x="0" y="813815"/>
                  </a:moveTo>
                  <a:lnTo>
                    <a:pt x="179832" y="813815"/>
                  </a:lnTo>
                  <a:lnTo>
                    <a:pt x="179832" y="0"/>
                  </a:lnTo>
                  <a:lnTo>
                    <a:pt x="0" y="0"/>
                  </a:lnTo>
                  <a:lnTo>
                    <a:pt x="0" y="813815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2" name="object 6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88669" y="4717541"/>
            <a:ext cx="76199" cy="233044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26948" y="4424171"/>
            <a:ext cx="382523" cy="24688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8858" y="5938265"/>
            <a:ext cx="76200" cy="23304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50385" y="5378958"/>
            <a:ext cx="231012" cy="76200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4149852" y="5416296"/>
            <a:ext cx="544195" cy="0"/>
          </a:xfrm>
          <a:custGeom>
            <a:avLst/>
            <a:gdLst/>
            <a:ahLst/>
            <a:cxnLst/>
            <a:rect l="l" t="t" r="r" b="b"/>
            <a:pathLst>
              <a:path w="544195">
                <a:moveTo>
                  <a:pt x="0" y="0"/>
                </a:moveTo>
                <a:lnTo>
                  <a:pt x="543940" y="0"/>
                </a:lnTo>
              </a:path>
            </a:pathLst>
          </a:custGeom>
          <a:ln w="762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72083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287780" y="6240779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87780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860804" y="6240779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4"/>
                </a:lnTo>
                <a:lnTo>
                  <a:pt x="234695" y="230124"/>
                </a:lnTo>
                <a:lnTo>
                  <a:pt x="234695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876044" y="4126991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3"/>
                </a:lnTo>
                <a:lnTo>
                  <a:pt x="234695" y="230123"/>
                </a:lnTo>
                <a:lnTo>
                  <a:pt x="234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423160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4"/>
                </a:lnTo>
                <a:lnTo>
                  <a:pt x="234695" y="230124"/>
                </a:lnTo>
                <a:lnTo>
                  <a:pt x="234695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991611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4"/>
                </a:lnTo>
                <a:lnTo>
                  <a:pt x="234695" y="230124"/>
                </a:lnTo>
                <a:lnTo>
                  <a:pt x="234695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579876" y="412851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4"/>
                </a:lnTo>
                <a:lnTo>
                  <a:pt x="234696" y="230124"/>
                </a:lnTo>
                <a:lnTo>
                  <a:pt x="234696" y="0"/>
                </a:lnTo>
                <a:close/>
              </a:path>
            </a:pathLst>
          </a:custGeom>
          <a:solidFill>
            <a:srgbClr val="F4B0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435351" y="6231635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5" y="0"/>
                </a:moveTo>
                <a:lnTo>
                  <a:pt x="0" y="0"/>
                </a:lnTo>
                <a:lnTo>
                  <a:pt x="0" y="230123"/>
                </a:lnTo>
                <a:lnTo>
                  <a:pt x="234695" y="230123"/>
                </a:lnTo>
                <a:lnTo>
                  <a:pt x="23469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991611" y="6230111"/>
            <a:ext cx="234950" cy="231775"/>
          </a:xfrm>
          <a:custGeom>
            <a:avLst/>
            <a:gdLst/>
            <a:ahLst/>
            <a:cxnLst/>
            <a:rect l="l" t="t" r="r" b="b"/>
            <a:pathLst>
              <a:path w="234950" h="231775">
                <a:moveTo>
                  <a:pt x="234695" y="0"/>
                </a:moveTo>
                <a:lnTo>
                  <a:pt x="0" y="0"/>
                </a:lnTo>
                <a:lnTo>
                  <a:pt x="0" y="231647"/>
                </a:lnTo>
                <a:lnTo>
                  <a:pt x="234695" y="231647"/>
                </a:lnTo>
                <a:lnTo>
                  <a:pt x="234695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579876" y="6230111"/>
            <a:ext cx="234950" cy="230504"/>
          </a:xfrm>
          <a:custGeom>
            <a:avLst/>
            <a:gdLst/>
            <a:ahLst/>
            <a:cxnLst/>
            <a:rect l="l" t="t" r="r" b="b"/>
            <a:pathLst>
              <a:path w="234950" h="230504">
                <a:moveTo>
                  <a:pt x="234696" y="0"/>
                </a:moveTo>
                <a:lnTo>
                  <a:pt x="0" y="0"/>
                </a:lnTo>
                <a:lnTo>
                  <a:pt x="0" y="230123"/>
                </a:lnTo>
                <a:lnTo>
                  <a:pt x="234696" y="230123"/>
                </a:lnTo>
                <a:lnTo>
                  <a:pt x="234696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8" name="object 78"/>
          <p:cNvGrpSpPr/>
          <p:nvPr/>
        </p:nvGrpSpPr>
        <p:grpSpPr>
          <a:xfrm>
            <a:off x="4387341" y="4183379"/>
            <a:ext cx="721360" cy="704850"/>
            <a:chOff x="4387341" y="4183379"/>
            <a:chExt cx="721360" cy="704850"/>
          </a:xfrm>
        </p:grpSpPr>
        <p:sp>
          <p:nvSpPr>
            <p:cNvPr id="79" name="object 79"/>
            <p:cNvSpPr/>
            <p:nvPr/>
          </p:nvSpPr>
          <p:spPr>
            <a:xfrm>
              <a:off x="4398263" y="4183379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632959" y="4187951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867655" y="4183379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398263" y="4413503"/>
              <a:ext cx="234950" cy="239395"/>
            </a:xfrm>
            <a:custGeom>
              <a:avLst/>
              <a:gdLst/>
              <a:ahLst/>
              <a:cxnLst/>
              <a:rect l="l" t="t" r="r" b="b"/>
              <a:pathLst>
                <a:path w="234950" h="239395">
                  <a:moveTo>
                    <a:pt x="234696" y="0"/>
                  </a:moveTo>
                  <a:lnTo>
                    <a:pt x="0" y="0"/>
                  </a:lnTo>
                  <a:lnTo>
                    <a:pt x="0" y="239268"/>
                  </a:lnTo>
                  <a:lnTo>
                    <a:pt x="234696" y="239268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632959" y="4418075"/>
              <a:ext cx="234950" cy="230504"/>
            </a:xfrm>
            <a:custGeom>
              <a:avLst/>
              <a:gdLst/>
              <a:ahLst/>
              <a:cxnLst/>
              <a:rect l="l" t="t" r="r" b="b"/>
              <a:pathLst>
                <a:path w="234950" h="230504">
                  <a:moveTo>
                    <a:pt x="234696" y="0"/>
                  </a:moveTo>
                  <a:lnTo>
                    <a:pt x="0" y="0"/>
                  </a:lnTo>
                  <a:lnTo>
                    <a:pt x="0" y="230124"/>
                  </a:lnTo>
                  <a:lnTo>
                    <a:pt x="234696" y="230124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867655" y="4416551"/>
              <a:ext cx="234950" cy="231775"/>
            </a:xfrm>
            <a:custGeom>
              <a:avLst/>
              <a:gdLst/>
              <a:ahLst/>
              <a:cxnLst/>
              <a:rect l="l" t="t" r="r" b="b"/>
              <a:pathLst>
                <a:path w="234950" h="231775">
                  <a:moveTo>
                    <a:pt x="234696" y="0"/>
                  </a:moveTo>
                  <a:lnTo>
                    <a:pt x="0" y="0"/>
                  </a:lnTo>
                  <a:lnTo>
                    <a:pt x="0" y="231648"/>
                  </a:lnTo>
                  <a:lnTo>
                    <a:pt x="234696" y="231648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393691" y="4651247"/>
              <a:ext cx="708660" cy="230504"/>
            </a:xfrm>
            <a:custGeom>
              <a:avLst/>
              <a:gdLst/>
              <a:ahLst/>
              <a:cxnLst/>
              <a:rect l="l" t="t" r="r" b="b"/>
              <a:pathLst>
                <a:path w="708660" h="230504">
                  <a:moveTo>
                    <a:pt x="0" y="227075"/>
                  </a:moveTo>
                  <a:lnTo>
                    <a:pt x="234696" y="227075"/>
                  </a:lnTo>
                  <a:lnTo>
                    <a:pt x="234696" y="1524"/>
                  </a:lnTo>
                  <a:lnTo>
                    <a:pt x="0" y="1524"/>
                  </a:lnTo>
                  <a:lnTo>
                    <a:pt x="0" y="227075"/>
                  </a:lnTo>
                  <a:close/>
                </a:path>
                <a:path w="708660" h="230504">
                  <a:moveTo>
                    <a:pt x="239268" y="230124"/>
                  </a:moveTo>
                  <a:lnTo>
                    <a:pt x="473964" y="230124"/>
                  </a:lnTo>
                  <a:lnTo>
                    <a:pt x="473964" y="0"/>
                  </a:lnTo>
                  <a:lnTo>
                    <a:pt x="239268" y="0"/>
                  </a:lnTo>
                  <a:lnTo>
                    <a:pt x="239268" y="230124"/>
                  </a:lnTo>
                  <a:close/>
                </a:path>
                <a:path w="708660" h="230504">
                  <a:moveTo>
                    <a:pt x="473963" y="230124"/>
                  </a:moveTo>
                  <a:lnTo>
                    <a:pt x="708660" y="230124"/>
                  </a:lnTo>
                  <a:lnTo>
                    <a:pt x="708660" y="0"/>
                  </a:lnTo>
                  <a:lnTo>
                    <a:pt x="473963" y="0"/>
                  </a:lnTo>
                  <a:lnTo>
                    <a:pt x="473963" y="23012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436871" y="4261230"/>
              <a:ext cx="654050" cy="551180"/>
            </a:xfrm>
            <a:custGeom>
              <a:avLst/>
              <a:gdLst/>
              <a:ahLst/>
              <a:cxnLst/>
              <a:rect l="l" t="t" r="r" b="b"/>
              <a:pathLst>
                <a:path w="654050" h="551179">
                  <a:moveTo>
                    <a:pt x="483615" y="465201"/>
                  </a:moveTo>
                  <a:lnTo>
                    <a:pt x="483615" y="550926"/>
                  </a:lnTo>
                  <a:lnTo>
                    <a:pt x="540850" y="522351"/>
                  </a:lnTo>
                  <a:lnTo>
                    <a:pt x="497839" y="522351"/>
                  </a:lnTo>
                  <a:lnTo>
                    <a:pt x="497839" y="493776"/>
                  </a:lnTo>
                  <a:lnTo>
                    <a:pt x="540681" y="493776"/>
                  </a:lnTo>
                  <a:lnTo>
                    <a:pt x="483615" y="465201"/>
                  </a:lnTo>
                  <a:close/>
                </a:path>
                <a:path w="654050" h="551179">
                  <a:moveTo>
                    <a:pt x="570611" y="228473"/>
                  </a:moveTo>
                  <a:lnTo>
                    <a:pt x="28066" y="522351"/>
                  </a:lnTo>
                  <a:lnTo>
                    <a:pt x="483615" y="522351"/>
                  </a:lnTo>
                  <a:lnTo>
                    <a:pt x="483615" y="520700"/>
                  </a:lnTo>
                  <a:lnTo>
                    <a:pt x="91186" y="520700"/>
                  </a:lnTo>
                  <a:lnTo>
                    <a:pt x="84454" y="493776"/>
                  </a:lnTo>
                  <a:lnTo>
                    <a:pt x="140870" y="493776"/>
                  </a:lnTo>
                  <a:lnTo>
                    <a:pt x="580998" y="255270"/>
                  </a:lnTo>
                  <a:lnTo>
                    <a:pt x="577341" y="255270"/>
                  </a:lnTo>
                  <a:lnTo>
                    <a:pt x="570611" y="228473"/>
                  </a:lnTo>
                  <a:close/>
                </a:path>
                <a:path w="654050" h="551179">
                  <a:moveTo>
                    <a:pt x="540681" y="493776"/>
                  </a:moveTo>
                  <a:lnTo>
                    <a:pt x="497839" y="493776"/>
                  </a:lnTo>
                  <a:lnTo>
                    <a:pt x="497839" y="522351"/>
                  </a:lnTo>
                  <a:lnTo>
                    <a:pt x="540850" y="522351"/>
                  </a:lnTo>
                  <a:lnTo>
                    <a:pt x="569340" y="508127"/>
                  </a:lnTo>
                  <a:lnTo>
                    <a:pt x="540681" y="493776"/>
                  </a:lnTo>
                  <a:close/>
                </a:path>
                <a:path w="654050" h="551179">
                  <a:moveTo>
                    <a:pt x="140870" y="493776"/>
                  </a:moveTo>
                  <a:lnTo>
                    <a:pt x="84454" y="493776"/>
                  </a:lnTo>
                  <a:lnTo>
                    <a:pt x="91186" y="520700"/>
                  </a:lnTo>
                  <a:lnTo>
                    <a:pt x="140870" y="493776"/>
                  </a:lnTo>
                  <a:close/>
                </a:path>
                <a:path w="654050" h="551179">
                  <a:moveTo>
                    <a:pt x="483615" y="493776"/>
                  </a:moveTo>
                  <a:lnTo>
                    <a:pt x="140870" y="493776"/>
                  </a:lnTo>
                  <a:lnTo>
                    <a:pt x="91186" y="520700"/>
                  </a:lnTo>
                  <a:lnTo>
                    <a:pt x="483615" y="520700"/>
                  </a:lnTo>
                  <a:lnTo>
                    <a:pt x="483615" y="493776"/>
                  </a:lnTo>
                  <a:close/>
                </a:path>
                <a:path w="654050" h="551179">
                  <a:moveTo>
                    <a:pt x="579754" y="1270"/>
                  </a:moveTo>
                  <a:lnTo>
                    <a:pt x="0" y="255270"/>
                  </a:lnTo>
                  <a:lnTo>
                    <a:pt x="521139" y="255270"/>
                  </a:lnTo>
                  <a:lnTo>
                    <a:pt x="523249" y="254127"/>
                  </a:lnTo>
                  <a:lnTo>
                    <a:pt x="73913" y="254127"/>
                  </a:lnTo>
                  <a:lnTo>
                    <a:pt x="68199" y="226695"/>
                  </a:lnTo>
                  <a:lnTo>
                    <a:pt x="136496" y="226695"/>
                  </a:lnTo>
                  <a:lnTo>
                    <a:pt x="588479" y="28575"/>
                  </a:lnTo>
                  <a:lnTo>
                    <a:pt x="585469" y="28575"/>
                  </a:lnTo>
                  <a:lnTo>
                    <a:pt x="579754" y="1270"/>
                  </a:lnTo>
                  <a:close/>
                </a:path>
                <a:path w="654050" h="551179">
                  <a:moveTo>
                    <a:pt x="630448" y="228473"/>
                  </a:moveTo>
                  <a:lnTo>
                    <a:pt x="570611" y="228473"/>
                  </a:lnTo>
                  <a:lnTo>
                    <a:pt x="577341" y="255270"/>
                  </a:lnTo>
                  <a:lnTo>
                    <a:pt x="580998" y="255270"/>
                  </a:lnTo>
                  <a:lnTo>
                    <a:pt x="630448" y="228473"/>
                  </a:lnTo>
                  <a:close/>
                </a:path>
                <a:path w="654050" h="551179">
                  <a:moveTo>
                    <a:pt x="136496" y="226695"/>
                  </a:moveTo>
                  <a:lnTo>
                    <a:pt x="68199" y="226695"/>
                  </a:lnTo>
                  <a:lnTo>
                    <a:pt x="73913" y="254127"/>
                  </a:lnTo>
                  <a:lnTo>
                    <a:pt x="136496" y="226695"/>
                  </a:lnTo>
                  <a:close/>
                </a:path>
                <a:path w="654050" h="551179">
                  <a:moveTo>
                    <a:pt x="633729" y="226695"/>
                  </a:moveTo>
                  <a:lnTo>
                    <a:pt x="136496" y="226695"/>
                  </a:lnTo>
                  <a:lnTo>
                    <a:pt x="73913" y="254127"/>
                  </a:lnTo>
                  <a:lnTo>
                    <a:pt x="523249" y="254127"/>
                  </a:lnTo>
                  <a:lnTo>
                    <a:pt x="570611" y="228473"/>
                  </a:lnTo>
                  <a:lnTo>
                    <a:pt x="630448" y="228473"/>
                  </a:lnTo>
                  <a:lnTo>
                    <a:pt x="633729" y="226695"/>
                  </a:lnTo>
                  <a:close/>
                </a:path>
                <a:path w="654050" h="551179">
                  <a:moveTo>
                    <a:pt x="653668" y="0"/>
                  </a:moveTo>
                  <a:lnTo>
                    <a:pt x="52069" y="0"/>
                  </a:lnTo>
                  <a:lnTo>
                    <a:pt x="52069" y="28575"/>
                  </a:lnTo>
                  <a:lnTo>
                    <a:pt x="517431" y="28575"/>
                  </a:lnTo>
                  <a:lnTo>
                    <a:pt x="579754" y="1270"/>
                  </a:lnTo>
                  <a:lnTo>
                    <a:pt x="650771" y="1270"/>
                  </a:lnTo>
                  <a:lnTo>
                    <a:pt x="653668" y="0"/>
                  </a:lnTo>
                  <a:close/>
                </a:path>
                <a:path w="654050" h="551179">
                  <a:moveTo>
                    <a:pt x="650771" y="1270"/>
                  </a:moveTo>
                  <a:lnTo>
                    <a:pt x="579754" y="1270"/>
                  </a:lnTo>
                  <a:lnTo>
                    <a:pt x="585469" y="28575"/>
                  </a:lnTo>
                  <a:lnTo>
                    <a:pt x="588479" y="28575"/>
                  </a:lnTo>
                  <a:lnTo>
                    <a:pt x="650771" y="1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5454141" y="4212082"/>
            <a:ext cx="3197860" cy="163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basically </a:t>
            </a:r>
            <a:r>
              <a:rPr sz="1800" dirty="0">
                <a:latin typeface="Calibri"/>
                <a:cs typeface="Calibri"/>
              </a:rPr>
              <a:t>the main idea, </a:t>
            </a:r>
            <a:r>
              <a:rPr sz="1800" spc="-5" dirty="0">
                <a:latin typeface="Calibri"/>
                <a:cs typeface="Calibri"/>
              </a:rPr>
              <a:t>but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there are </a:t>
            </a:r>
            <a:r>
              <a:rPr sz="1800" spc="-5" dirty="0">
                <a:latin typeface="Calibri"/>
                <a:cs typeface="Calibri"/>
              </a:rPr>
              <a:t>some </a:t>
            </a:r>
            <a:r>
              <a:rPr sz="1800" spc="-10" dirty="0">
                <a:latin typeface="Calibri"/>
                <a:cs typeface="Calibri"/>
              </a:rPr>
              <a:t>details we </a:t>
            </a:r>
            <a:r>
              <a:rPr sz="1800" dirty="0">
                <a:latin typeface="Calibri"/>
                <a:cs typeface="Calibri"/>
              </a:rPr>
              <a:t>need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figure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out!</a:t>
            </a:r>
            <a:endParaRPr sz="1800">
              <a:latin typeface="Calibri"/>
              <a:cs typeface="Calibri"/>
            </a:endParaRPr>
          </a:p>
          <a:p>
            <a:pPr marL="412750" indent="-287020">
              <a:lnSpc>
                <a:spcPct val="100000"/>
              </a:lnSpc>
              <a:spcBef>
                <a:spcPts val="1155"/>
              </a:spcBef>
              <a:buFont typeface="Wingdings"/>
              <a:buChar char=""/>
              <a:tabLst>
                <a:tab pos="413384" algn="l"/>
              </a:tabLst>
            </a:pPr>
            <a:r>
              <a:rPr sz="1800" spc="-10" dirty="0">
                <a:latin typeface="Calibri"/>
                <a:cs typeface="Calibri"/>
              </a:rPr>
              <a:t>How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order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pixels?</a:t>
            </a:r>
            <a:endParaRPr sz="1800">
              <a:latin typeface="Calibri"/>
              <a:cs typeface="Calibri"/>
            </a:endParaRPr>
          </a:p>
          <a:p>
            <a:pPr marL="412750" indent="-287020">
              <a:lnSpc>
                <a:spcPct val="100000"/>
              </a:lnSpc>
              <a:spcBef>
                <a:spcPts val="745"/>
              </a:spcBef>
              <a:buFont typeface="Wingdings"/>
              <a:buChar char=""/>
              <a:tabLst>
                <a:tab pos="413384" algn="l"/>
              </a:tabLst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kind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model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use?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9" name="Date Placeholder 88">
            <a:extLst>
              <a:ext uri="{FF2B5EF4-FFF2-40B4-BE49-F238E27FC236}">
                <a16:creationId xmlns:a16="http://schemas.microsoft.com/office/drawing/2014/main" id="{8237AEEC-43E8-F581-B0A1-0AA24010A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C794B-5F3D-4226-A331-EA64B849300A}" type="datetime1">
              <a:rPr lang="en-US" smtClean="0"/>
              <a:t>10/1/2025</a:t>
            </a:fld>
            <a:endParaRPr lang="en-US"/>
          </a:p>
        </p:txBody>
      </p:sp>
      <p:sp>
        <p:nvSpPr>
          <p:cNvPr id="90" name="Footer Placeholder 89">
            <a:extLst>
              <a:ext uri="{FF2B5EF4-FFF2-40B4-BE49-F238E27FC236}">
                <a16:creationId xmlns:a16="http://schemas.microsoft.com/office/drawing/2014/main" id="{9DD83BEF-EB5F-A181-B87A-5D073ADB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1" name="Slide Number Placeholder 90">
            <a:extLst>
              <a:ext uri="{FF2B5EF4-FFF2-40B4-BE49-F238E27FC236}">
                <a16:creationId xmlns:a16="http://schemas.microsoft.com/office/drawing/2014/main" id="{DF15DAED-9DEF-D2EA-6043-B91E3700A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3E7DAC-3889-A727-61D2-5C841C8B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Observed vs. Latent: </a:t>
            </a:r>
          </a:p>
          <a:p>
            <a:r>
              <a:rPr lang="en-US" b="1" dirty="0"/>
              <a:t>Observed: </a:t>
            </a:r>
            <a:r>
              <a:rPr lang="en-US" dirty="0"/>
              <a:t>something that we can see from our data, e.g. X or Y </a:t>
            </a:r>
          </a:p>
          <a:p>
            <a:r>
              <a:rPr lang="en-US" b="1" dirty="0"/>
              <a:t>Latent: </a:t>
            </a:r>
            <a:r>
              <a:rPr lang="en-US" dirty="0"/>
              <a:t>a variable that we assume exists, but we aren’t given the value </a:t>
            </a:r>
          </a:p>
          <a:p>
            <a:r>
              <a:rPr lang="en-US" dirty="0">
                <a:solidFill>
                  <a:srgbClr val="FF0000"/>
                </a:solidFill>
              </a:rPr>
              <a:t>Deterministic vs. Random: </a:t>
            </a:r>
          </a:p>
          <a:p>
            <a:r>
              <a:rPr lang="en-US" b="1" dirty="0"/>
              <a:t>Deterministic</a:t>
            </a:r>
            <a:r>
              <a:rPr lang="en-US" dirty="0"/>
              <a:t>: variables that are calculated directly according to some deterministic function </a:t>
            </a:r>
          </a:p>
          <a:p>
            <a:r>
              <a:rPr lang="en-US" b="1" dirty="0"/>
              <a:t>Random </a:t>
            </a:r>
            <a:r>
              <a:rPr lang="en-US" dirty="0"/>
              <a:t>(stochastic): variables that obey a probability distribution, and may take any of several (or infinite) values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FDD5D-BEE0-ADA5-1B6B-79DA2B38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63538-8077-46E1-8641-FFCB856A83A8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4DAB6-F6F6-A46E-E920-CBB18027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D8A93-5288-59E3-AA66-B0A299B6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E8CFB8-8422-A1E7-B791-BC5F63D5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Variables</a:t>
            </a:r>
          </a:p>
        </p:txBody>
      </p:sp>
    </p:spTree>
    <p:extLst>
      <p:ext uri="{BB962C8B-B14F-4D97-AF65-F5344CB8AC3E}">
        <p14:creationId xmlns:p14="http://schemas.microsoft.com/office/powerpoint/2010/main" val="3125399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40A776-9E5C-F660-12D4-61E9F527D8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dirty="0">
                    <a:solidFill>
                      <a:srgbClr val="FF0000"/>
                    </a:solidFill>
                  </a:rPr>
                  <a:t>latent variable model (LVM) </a:t>
                </a:r>
                <a:r>
                  <a:rPr lang="en-US" dirty="0"/>
                  <a:t>is a probability distribution over two sets of variables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𝑝</m:t>
                      </m:r>
                      <m:d>
                        <m:dPr>
                          <m:ctrlP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𝑥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,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𝑧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;</m:t>
                          </m:r>
                          <m:r>
                            <a:rPr lang="en-US" sz="4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Segoe UI Symbol" panose="020B0502040204020203" pitchFamily="34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r>
                  <a:rPr lang="en-US" dirty="0"/>
                  <a:t>where the </a:t>
                </a:r>
                <a:r>
                  <a:rPr lang="en-US" dirty="0">
                    <a:solidFill>
                      <a:srgbClr val="FF0000"/>
                    </a:solidFill>
                  </a:rPr>
                  <a:t>x variables are observed</a:t>
                </a:r>
                <a:r>
                  <a:rPr lang="en-US" dirty="0"/>
                  <a:t> at learning time in a dataset and </a:t>
                </a:r>
                <a:r>
                  <a:rPr lang="en-US" dirty="0">
                    <a:solidFill>
                      <a:srgbClr val="FF0000"/>
                    </a:solidFill>
                  </a:rPr>
                  <a:t>z are latent variables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Should be a simple distribution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040A776-9E5C-F660-12D4-61E9F527D8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482" r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26488-853C-5DD4-94D0-695BCF17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7E60A-1AA2-4193-A368-2994714E11D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9865E-689F-9AA7-AFD9-2CD821BF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BF487-6897-D005-CC1A-3BFD793D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8A5CE3-EF7E-2787-EDB4-93F385D6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Variable Models </a:t>
            </a:r>
          </a:p>
        </p:txBody>
      </p:sp>
    </p:spTree>
    <p:extLst>
      <p:ext uri="{BB962C8B-B14F-4D97-AF65-F5344CB8AC3E}">
        <p14:creationId xmlns:p14="http://schemas.microsoft.com/office/powerpoint/2010/main" val="167501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C17988B5-A6C5-CDB3-7331-1713E27EF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Latent</a:t>
            </a:r>
            <a:r>
              <a:rPr spc="-20" dirty="0"/>
              <a:t> </a:t>
            </a:r>
            <a:r>
              <a:rPr spc="-10" dirty="0"/>
              <a:t>variable</a:t>
            </a:r>
            <a:r>
              <a:rPr spc="-15" dirty="0"/>
              <a:t> </a:t>
            </a:r>
            <a:r>
              <a:rPr spc="-5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92580" y="2324100"/>
            <a:ext cx="1760220" cy="877569"/>
            <a:chOff x="1592580" y="2324100"/>
            <a:chExt cx="1760220" cy="87756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2580" y="2324100"/>
              <a:ext cx="1760220" cy="533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163062" y="2743962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47625" y="63500"/>
                  </a:moveTo>
                  <a:lnTo>
                    <a:pt x="28575" y="63500"/>
                  </a:lnTo>
                  <a:lnTo>
                    <a:pt x="28575" y="457200"/>
                  </a:lnTo>
                  <a:lnTo>
                    <a:pt x="47625" y="457200"/>
                  </a:lnTo>
                  <a:lnTo>
                    <a:pt x="47625" y="63500"/>
                  </a:lnTo>
                  <a:close/>
                </a:path>
                <a:path w="76200" h="457200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457200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724400"/>
            <a:ext cx="655319" cy="25298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026146" y="1730401"/>
            <a:ext cx="2895601" cy="2432976"/>
            <a:chOff x="3592511" y="1494106"/>
            <a:chExt cx="2963293" cy="2656891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2511" y="1494106"/>
              <a:ext cx="2963293" cy="265689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388358" y="2972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228600"/>
                  </a:moveTo>
                  <a:lnTo>
                    <a:pt x="17483" y="156350"/>
                  </a:lnTo>
                  <a:lnTo>
                    <a:pt x="38277" y="123551"/>
                  </a:lnTo>
                  <a:lnTo>
                    <a:pt x="66165" y="93597"/>
                  </a:lnTo>
                  <a:lnTo>
                    <a:pt x="100441" y="66960"/>
                  </a:lnTo>
                  <a:lnTo>
                    <a:pt x="140396" y="44110"/>
                  </a:lnTo>
                  <a:lnTo>
                    <a:pt x="185327" y="25518"/>
                  </a:lnTo>
                  <a:lnTo>
                    <a:pt x="234525" y="11655"/>
                  </a:lnTo>
                  <a:lnTo>
                    <a:pt x="287285" y="2992"/>
                  </a:lnTo>
                  <a:lnTo>
                    <a:pt x="342900" y="0"/>
                  </a:lnTo>
                  <a:lnTo>
                    <a:pt x="398514" y="2992"/>
                  </a:lnTo>
                  <a:lnTo>
                    <a:pt x="451274" y="11655"/>
                  </a:lnTo>
                  <a:lnTo>
                    <a:pt x="500472" y="25518"/>
                  </a:lnTo>
                  <a:lnTo>
                    <a:pt x="545403" y="44110"/>
                  </a:lnTo>
                  <a:lnTo>
                    <a:pt x="585358" y="66960"/>
                  </a:lnTo>
                  <a:lnTo>
                    <a:pt x="619634" y="93597"/>
                  </a:lnTo>
                  <a:lnTo>
                    <a:pt x="647522" y="123551"/>
                  </a:lnTo>
                  <a:lnTo>
                    <a:pt x="668316" y="156350"/>
                  </a:lnTo>
                  <a:lnTo>
                    <a:pt x="685800" y="228600"/>
                  </a:lnTo>
                  <a:lnTo>
                    <a:pt x="681311" y="265676"/>
                  </a:lnTo>
                  <a:lnTo>
                    <a:pt x="647522" y="333648"/>
                  </a:lnTo>
                  <a:lnTo>
                    <a:pt x="619634" y="363602"/>
                  </a:lnTo>
                  <a:lnTo>
                    <a:pt x="585358" y="390239"/>
                  </a:lnTo>
                  <a:lnTo>
                    <a:pt x="545403" y="413089"/>
                  </a:lnTo>
                  <a:lnTo>
                    <a:pt x="500472" y="431681"/>
                  </a:lnTo>
                  <a:lnTo>
                    <a:pt x="451274" y="445544"/>
                  </a:lnTo>
                  <a:lnTo>
                    <a:pt x="398514" y="454207"/>
                  </a:lnTo>
                  <a:lnTo>
                    <a:pt x="342900" y="457200"/>
                  </a:lnTo>
                  <a:lnTo>
                    <a:pt x="287285" y="454207"/>
                  </a:lnTo>
                  <a:lnTo>
                    <a:pt x="234525" y="445544"/>
                  </a:lnTo>
                  <a:lnTo>
                    <a:pt x="185327" y="431681"/>
                  </a:lnTo>
                  <a:lnTo>
                    <a:pt x="140396" y="413089"/>
                  </a:lnTo>
                  <a:lnTo>
                    <a:pt x="100441" y="390239"/>
                  </a:lnTo>
                  <a:lnTo>
                    <a:pt x="66165" y="363602"/>
                  </a:lnTo>
                  <a:lnTo>
                    <a:pt x="38277" y="333648"/>
                  </a:lnTo>
                  <a:lnTo>
                    <a:pt x="17483" y="300849"/>
                  </a:lnTo>
                  <a:lnTo>
                    <a:pt x="0" y="228600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93652" y="2334924"/>
              <a:ext cx="382418" cy="546861"/>
            </a:xfrm>
            <a:custGeom>
              <a:avLst/>
              <a:gdLst/>
              <a:ahLst/>
              <a:cxnLst/>
              <a:rect l="l" t="t" r="r" b="b"/>
              <a:pathLst>
                <a:path w="284479" h="438150">
                  <a:moveTo>
                    <a:pt x="127253" y="0"/>
                  </a:moveTo>
                  <a:lnTo>
                    <a:pt x="165623" y="5192"/>
                  </a:lnTo>
                  <a:lnTo>
                    <a:pt x="201120" y="24901"/>
                  </a:lnTo>
                  <a:lnTo>
                    <a:pt x="232251" y="57134"/>
                  </a:lnTo>
                  <a:lnTo>
                    <a:pt x="257518" y="99897"/>
                  </a:lnTo>
                  <a:lnTo>
                    <a:pt x="275426" y="151197"/>
                  </a:lnTo>
                  <a:lnTo>
                    <a:pt x="284479" y="209041"/>
                  </a:lnTo>
                  <a:lnTo>
                    <a:pt x="283423" y="267585"/>
                  </a:lnTo>
                  <a:lnTo>
                    <a:pt x="272683" y="320858"/>
                  </a:lnTo>
                  <a:lnTo>
                    <a:pt x="253476" y="366680"/>
                  </a:lnTo>
                  <a:lnTo>
                    <a:pt x="227019" y="402872"/>
                  </a:lnTo>
                  <a:lnTo>
                    <a:pt x="194530" y="427252"/>
                  </a:lnTo>
                  <a:lnTo>
                    <a:pt x="157225" y="437641"/>
                  </a:lnTo>
                  <a:lnTo>
                    <a:pt x="118900" y="432396"/>
                  </a:lnTo>
                  <a:lnTo>
                    <a:pt x="83415" y="412655"/>
                  </a:lnTo>
                  <a:lnTo>
                    <a:pt x="52276" y="380412"/>
                  </a:lnTo>
                  <a:lnTo>
                    <a:pt x="26989" y="337660"/>
                  </a:lnTo>
                  <a:lnTo>
                    <a:pt x="9062" y="286391"/>
                  </a:lnTo>
                  <a:lnTo>
                    <a:pt x="0" y="228600"/>
                  </a:lnTo>
                  <a:lnTo>
                    <a:pt x="1100" y="170056"/>
                  </a:lnTo>
                  <a:lnTo>
                    <a:pt x="11853" y="116783"/>
                  </a:lnTo>
                  <a:lnTo>
                    <a:pt x="31051" y="70961"/>
                  </a:lnTo>
                  <a:lnTo>
                    <a:pt x="57488" y="34769"/>
                  </a:lnTo>
                  <a:lnTo>
                    <a:pt x="89958" y="10389"/>
                  </a:lnTo>
                  <a:lnTo>
                    <a:pt x="127253" y="0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25931" y="1755397"/>
              <a:ext cx="502689" cy="277598"/>
            </a:xfrm>
            <a:custGeom>
              <a:avLst/>
              <a:gdLst/>
              <a:ahLst/>
              <a:cxnLst/>
              <a:rect l="l" t="t" r="r" b="b"/>
              <a:pathLst>
                <a:path w="439420" h="285114">
                  <a:moveTo>
                    <a:pt x="438912" y="142493"/>
                  </a:moveTo>
                  <a:lnTo>
                    <a:pt x="431069" y="180389"/>
                  </a:lnTo>
                  <a:lnTo>
                    <a:pt x="408939" y="214432"/>
                  </a:lnTo>
                  <a:lnTo>
                    <a:pt x="374618" y="243268"/>
                  </a:lnTo>
                  <a:lnTo>
                    <a:pt x="330200" y="265542"/>
                  </a:lnTo>
                  <a:lnTo>
                    <a:pt x="277780" y="279900"/>
                  </a:lnTo>
                  <a:lnTo>
                    <a:pt x="219456" y="284988"/>
                  </a:lnTo>
                  <a:lnTo>
                    <a:pt x="161131" y="279900"/>
                  </a:lnTo>
                  <a:lnTo>
                    <a:pt x="108712" y="265542"/>
                  </a:lnTo>
                  <a:lnTo>
                    <a:pt x="64293" y="243268"/>
                  </a:lnTo>
                  <a:lnTo>
                    <a:pt x="29972" y="214432"/>
                  </a:lnTo>
                  <a:lnTo>
                    <a:pt x="7842" y="180389"/>
                  </a:lnTo>
                  <a:lnTo>
                    <a:pt x="0" y="142493"/>
                  </a:lnTo>
                  <a:lnTo>
                    <a:pt x="7842" y="104598"/>
                  </a:lnTo>
                  <a:lnTo>
                    <a:pt x="29972" y="70555"/>
                  </a:lnTo>
                  <a:lnTo>
                    <a:pt x="64293" y="41719"/>
                  </a:lnTo>
                  <a:lnTo>
                    <a:pt x="108712" y="19445"/>
                  </a:lnTo>
                  <a:lnTo>
                    <a:pt x="161131" y="5087"/>
                  </a:lnTo>
                  <a:lnTo>
                    <a:pt x="219456" y="0"/>
                  </a:lnTo>
                  <a:lnTo>
                    <a:pt x="277780" y="5087"/>
                  </a:lnTo>
                  <a:lnTo>
                    <a:pt x="330200" y="19445"/>
                  </a:lnTo>
                  <a:lnTo>
                    <a:pt x="374618" y="41719"/>
                  </a:lnTo>
                  <a:lnTo>
                    <a:pt x="408939" y="70555"/>
                  </a:lnTo>
                  <a:lnTo>
                    <a:pt x="431069" y="104598"/>
                  </a:lnTo>
                  <a:lnTo>
                    <a:pt x="438912" y="142493"/>
                  </a:lnTo>
                  <a:close/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02127" y="3229483"/>
            <a:ext cx="7988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mixture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elem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6800" y="2360676"/>
            <a:ext cx="452628" cy="25298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37944" y="4677155"/>
            <a:ext cx="2004059" cy="5334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90359" y="5476684"/>
            <a:ext cx="2895600" cy="227075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7190358" y="4601146"/>
            <a:ext cx="2715641" cy="875538"/>
          </a:xfrm>
          <a:custGeom>
            <a:avLst/>
            <a:gdLst/>
            <a:ahLst/>
            <a:cxnLst/>
            <a:rect l="l" t="t" r="r" b="b"/>
            <a:pathLst>
              <a:path w="2536190" h="594360">
                <a:moveTo>
                  <a:pt x="0" y="594233"/>
                </a:moveTo>
                <a:lnTo>
                  <a:pt x="40525" y="593662"/>
                </a:lnTo>
                <a:lnTo>
                  <a:pt x="87583" y="590551"/>
                </a:lnTo>
                <a:lnTo>
                  <a:pt x="138792" y="584602"/>
                </a:lnTo>
                <a:lnTo>
                  <a:pt x="191775" y="575514"/>
                </a:lnTo>
                <a:lnTo>
                  <a:pt x="244151" y="562986"/>
                </a:lnTo>
                <a:lnTo>
                  <a:pt x="293541" y="546720"/>
                </a:lnTo>
                <a:lnTo>
                  <a:pt x="337565" y="526414"/>
                </a:lnTo>
                <a:lnTo>
                  <a:pt x="371973" y="500764"/>
                </a:lnTo>
                <a:lnTo>
                  <a:pt x="404302" y="465707"/>
                </a:lnTo>
                <a:lnTo>
                  <a:pt x="434794" y="425217"/>
                </a:lnTo>
                <a:lnTo>
                  <a:pt x="463692" y="383270"/>
                </a:lnTo>
                <a:lnTo>
                  <a:pt x="491239" y="343841"/>
                </a:lnTo>
                <a:lnTo>
                  <a:pt x="517677" y="310905"/>
                </a:lnTo>
                <a:lnTo>
                  <a:pt x="543249" y="288439"/>
                </a:lnTo>
                <a:lnTo>
                  <a:pt x="568197" y="280415"/>
                </a:lnTo>
                <a:lnTo>
                  <a:pt x="593710" y="292354"/>
                </a:lnTo>
                <a:lnTo>
                  <a:pt x="615205" y="322819"/>
                </a:lnTo>
                <a:lnTo>
                  <a:pt x="634695" y="365577"/>
                </a:lnTo>
                <a:lnTo>
                  <a:pt x="654196" y="414399"/>
                </a:lnTo>
                <a:lnTo>
                  <a:pt x="675724" y="463051"/>
                </a:lnTo>
                <a:lnTo>
                  <a:pt x="701292" y="505303"/>
                </a:lnTo>
                <a:lnTo>
                  <a:pt x="732916" y="534924"/>
                </a:lnTo>
                <a:lnTo>
                  <a:pt x="774098" y="552642"/>
                </a:lnTo>
                <a:lnTo>
                  <a:pt x="824284" y="564316"/>
                </a:lnTo>
                <a:lnTo>
                  <a:pt x="879244" y="571240"/>
                </a:lnTo>
                <a:lnTo>
                  <a:pt x="934748" y="574709"/>
                </a:lnTo>
                <a:lnTo>
                  <a:pt x="986567" y="576019"/>
                </a:lnTo>
                <a:lnTo>
                  <a:pt x="1030470" y="576465"/>
                </a:lnTo>
                <a:lnTo>
                  <a:pt x="1062227" y="577341"/>
                </a:lnTo>
              </a:path>
              <a:path w="2536190" h="594360">
                <a:moveTo>
                  <a:pt x="524255" y="569849"/>
                </a:moveTo>
                <a:lnTo>
                  <a:pt x="566597" y="569738"/>
                </a:lnTo>
                <a:lnTo>
                  <a:pt x="614380" y="568507"/>
                </a:lnTo>
                <a:lnTo>
                  <a:pt x="666353" y="566065"/>
                </a:lnTo>
                <a:lnTo>
                  <a:pt x="721268" y="562320"/>
                </a:lnTo>
                <a:lnTo>
                  <a:pt x="777874" y="557180"/>
                </a:lnTo>
                <a:lnTo>
                  <a:pt x="834923" y="550555"/>
                </a:lnTo>
                <a:lnTo>
                  <a:pt x="891164" y="542352"/>
                </a:lnTo>
                <a:lnTo>
                  <a:pt x="945347" y="532480"/>
                </a:lnTo>
                <a:lnTo>
                  <a:pt x="996223" y="520848"/>
                </a:lnTo>
                <a:lnTo>
                  <a:pt x="1042542" y="507364"/>
                </a:lnTo>
                <a:lnTo>
                  <a:pt x="1089651" y="486829"/>
                </a:lnTo>
                <a:lnTo>
                  <a:pt x="1134207" y="459114"/>
                </a:lnTo>
                <a:lnTo>
                  <a:pt x="1176471" y="426795"/>
                </a:lnTo>
                <a:lnTo>
                  <a:pt x="1216703" y="392446"/>
                </a:lnTo>
                <a:lnTo>
                  <a:pt x="1255163" y="358645"/>
                </a:lnTo>
                <a:lnTo>
                  <a:pt x="1292112" y="327965"/>
                </a:lnTo>
                <a:lnTo>
                  <a:pt x="1327809" y="302984"/>
                </a:lnTo>
                <a:lnTo>
                  <a:pt x="1362516" y="286275"/>
                </a:lnTo>
                <a:lnTo>
                  <a:pt x="1396491" y="280415"/>
                </a:lnTo>
                <a:lnTo>
                  <a:pt x="1431193" y="288995"/>
                </a:lnTo>
                <a:lnTo>
                  <a:pt x="1460861" y="311211"/>
                </a:lnTo>
                <a:lnTo>
                  <a:pt x="1487570" y="343211"/>
                </a:lnTo>
                <a:lnTo>
                  <a:pt x="1513395" y="381142"/>
                </a:lnTo>
                <a:lnTo>
                  <a:pt x="1540411" y="421151"/>
                </a:lnTo>
                <a:lnTo>
                  <a:pt x="1570692" y="459384"/>
                </a:lnTo>
                <a:lnTo>
                  <a:pt x="1606313" y="491989"/>
                </a:lnTo>
                <a:lnTo>
                  <a:pt x="1649349" y="515112"/>
                </a:lnTo>
                <a:lnTo>
                  <a:pt x="1691866" y="527231"/>
                </a:lnTo>
                <a:lnTo>
                  <a:pt x="1742114" y="536431"/>
                </a:lnTo>
                <a:lnTo>
                  <a:pt x="1797864" y="543123"/>
                </a:lnTo>
                <a:lnTo>
                  <a:pt x="1856887" y="547717"/>
                </a:lnTo>
                <a:lnTo>
                  <a:pt x="1916953" y="550624"/>
                </a:lnTo>
                <a:lnTo>
                  <a:pt x="1975835" y="552254"/>
                </a:lnTo>
                <a:lnTo>
                  <a:pt x="2031303" y="553019"/>
                </a:lnTo>
                <a:lnTo>
                  <a:pt x="2081128" y="553329"/>
                </a:lnTo>
                <a:lnTo>
                  <a:pt x="2123082" y="553595"/>
                </a:lnTo>
                <a:lnTo>
                  <a:pt x="2154935" y="554227"/>
                </a:lnTo>
              </a:path>
              <a:path w="2536190" h="594360">
                <a:moveTo>
                  <a:pt x="1339595" y="554609"/>
                </a:moveTo>
                <a:lnTo>
                  <a:pt x="1379088" y="553978"/>
                </a:lnTo>
                <a:lnTo>
                  <a:pt x="1424457" y="549949"/>
                </a:lnTo>
                <a:lnTo>
                  <a:pt x="1473914" y="542169"/>
                </a:lnTo>
                <a:lnTo>
                  <a:pt x="1525666" y="530288"/>
                </a:lnTo>
                <a:lnTo>
                  <a:pt x="1577925" y="513954"/>
                </a:lnTo>
                <a:lnTo>
                  <a:pt x="1628900" y="492815"/>
                </a:lnTo>
                <a:lnTo>
                  <a:pt x="1676799" y="466521"/>
                </a:lnTo>
                <a:lnTo>
                  <a:pt x="1719833" y="434721"/>
                </a:lnTo>
                <a:lnTo>
                  <a:pt x="1748253" y="403699"/>
                </a:lnTo>
                <a:lnTo>
                  <a:pt x="1775393" y="362868"/>
                </a:lnTo>
                <a:lnTo>
                  <a:pt x="1801359" y="314930"/>
                </a:lnTo>
                <a:lnTo>
                  <a:pt x="1826258" y="262590"/>
                </a:lnTo>
                <a:lnTo>
                  <a:pt x="1850195" y="208549"/>
                </a:lnTo>
                <a:lnTo>
                  <a:pt x="1873275" y="155512"/>
                </a:lnTo>
                <a:lnTo>
                  <a:pt x="1895606" y="106183"/>
                </a:lnTo>
                <a:lnTo>
                  <a:pt x="1917293" y="63263"/>
                </a:lnTo>
                <a:lnTo>
                  <a:pt x="1938442" y="29457"/>
                </a:lnTo>
                <a:lnTo>
                  <a:pt x="1959158" y="7468"/>
                </a:lnTo>
                <a:lnTo>
                  <a:pt x="1979549" y="0"/>
                </a:lnTo>
                <a:lnTo>
                  <a:pt x="1998494" y="9074"/>
                </a:lnTo>
                <a:lnTo>
                  <a:pt x="2030452" y="69001"/>
                </a:lnTo>
                <a:lnTo>
                  <a:pt x="2044634" y="114181"/>
                </a:lnTo>
                <a:lnTo>
                  <a:pt x="2058397" y="165722"/>
                </a:lnTo>
                <a:lnTo>
                  <a:pt x="2072328" y="220788"/>
                </a:lnTo>
                <a:lnTo>
                  <a:pt x="2087011" y="276543"/>
                </a:lnTo>
                <a:lnTo>
                  <a:pt x="2103032" y="330148"/>
                </a:lnTo>
                <a:lnTo>
                  <a:pt x="2120975" y="378769"/>
                </a:lnTo>
                <a:lnTo>
                  <a:pt x="2141425" y="419567"/>
                </a:lnTo>
                <a:lnTo>
                  <a:pt x="2164968" y="449706"/>
                </a:lnTo>
                <a:lnTo>
                  <a:pt x="2204911" y="477757"/>
                </a:lnTo>
                <a:lnTo>
                  <a:pt x="2253079" y="497401"/>
                </a:lnTo>
                <a:lnTo>
                  <a:pt x="2306276" y="510172"/>
                </a:lnTo>
                <a:lnTo>
                  <a:pt x="2361310" y="517604"/>
                </a:lnTo>
                <a:lnTo>
                  <a:pt x="2414987" y="521232"/>
                </a:lnTo>
                <a:lnTo>
                  <a:pt x="2464113" y="522591"/>
                </a:lnTo>
                <a:lnTo>
                  <a:pt x="2505494" y="523214"/>
                </a:lnTo>
                <a:lnTo>
                  <a:pt x="2535935" y="524637"/>
                </a:lnTo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DC128-A2EA-9A7B-A26C-70121CBB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9C3CB-1EA5-49A9-8A9E-BE365EC8F928}" type="datetime1">
              <a:rPr lang="en-US" smtClean="0"/>
              <a:t>10/1/2025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E782018-EE3E-FE9B-EBD3-EDF38B1F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D9362EE-58DA-F42A-FF47-C064306FA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70C1-DB60-3D66-BE9B-96A47879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A46632-F7CD-ED70-3C36-976BFBAFF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Latent</a:t>
            </a:r>
            <a:r>
              <a:rPr sz="4400" spc="-85" dirty="0"/>
              <a:t> </a:t>
            </a:r>
            <a:r>
              <a:rPr sz="4400" dirty="0"/>
              <a:t>variable</a:t>
            </a:r>
            <a:r>
              <a:rPr sz="4400" spc="-85" dirty="0"/>
              <a:t> </a:t>
            </a:r>
            <a:r>
              <a:rPr sz="4400" dirty="0"/>
              <a:t>models</a:t>
            </a:r>
            <a:r>
              <a:rPr sz="4400" spc="-85" dirty="0"/>
              <a:t> </a:t>
            </a:r>
            <a:r>
              <a:rPr sz="4400" dirty="0"/>
              <a:t>in</a:t>
            </a:r>
            <a:r>
              <a:rPr sz="4400" spc="-85" dirty="0"/>
              <a:t> </a:t>
            </a:r>
            <a:r>
              <a:rPr sz="4400" spc="-10" dirty="0"/>
              <a:t>general</a:t>
            </a:r>
            <a:endParaRPr sz="440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64C6F43-DA9D-02E4-67D5-2788B3DDCBFC}"/>
              </a:ext>
            </a:extLst>
          </p:cNvPr>
          <p:cNvGrpSpPr/>
          <p:nvPr/>
        </p:nvGrpSpPr>
        <p:grpSpPr>
          <a:xfrm>
            <a:off x="6058661" y="1789938"/>
            <a:ext cx="3695700" cy="1181100"/>
            <a:chOff x="6058661" y="1789938"/>
            <a:chExt cx="3695700" cy="1181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35ABA2C-8D14-7362-C5A5-DD4E151BC1BD}"/>
                </a:ext>
              </a:extLst>
            </p:cNvPr>
            <p:cNvSpPr/>
            <p:nvPr/>
          </p:nvSpPr>
          <p:spPr>
            <a:xfrm>
              <a:off x="6058662" y="1789937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CBBC546-0FFB-469C-F333-6E43139DD73F}"/>
                </a:ext>
              </a:extLst>
            </p:cNvPr>
            <p:cNvSpPr/>
            <p:nvPr/>
          </p:nvSpPr>
          <p:spPr>
            <a:xfrm>
              <a:off x="6128003" y="1913255"/>
              <a:ext cx="3531235" cy="977900"/>
            </a:xfrm>
            <a:custGeom>
              <a:avLst/>
              <a:gdLst/>
              <a:ahLst/>
              <a:cxnLst/>
              <a:rect l="l" t="t" r="r" b="b"/>
              <a:pathLst>
                <a:path w="3531234" h="977900">
                  <a:moveTo>
                    <a:pt x="0" y="830580"/>
                  </a:moveTo>
                  <a:lnTo>
                    <a:pt x="36574" y="850789"/>
                  </a:lnTo>
                  <a:lnTo>
                    <a:pt x="73646" y="869570"/>
                  </a:lnTo>
                  <a:lnTo>
                    <a:pt x="111712" y="885495"/>
                  </a:lnTo>
                  <a:lnTo>
                    <a:pt x="151272" y="897137"/>
                  </a:lnTo>
                  <a:lnTo>
                    <a:pt x="192822" y="903068"/>
                  </a:lnTo>
                  <a:lnTo>
                    <a:pt x="236859" y="901859"/>
                  </a:lnTo>
                  <a:lnTo>
                    <a:pt x="283882" y="892084"/>
                  </a:lnTo>
                  <a:lnTo>
                    <a:pt x="334388" y="872314"/>
                  </a:lnTo>
                  <a:lnTo>
                    <a:pt x="388874" y="841121"/>
                  </a:lnTo>
                  <a:lnTo>
                    <a:pt x="442335" y="795634"/>
                  </a:lnTo>
                  <a:lnTo>
                    <a:pt x="470768" y="765054"/>
                  </a:lnTo>
                  <a:lnTo>
                    <a:pt x="500196" y="730180"/>
                  </a:lnTo>
                  <a:lnTo>
                    <a:pt x="530510" y="691711"/>
                  </a:lnTo>
                  <a:lnTo>
                    <a:pt x="561606" y="650344"/>
                  </a:lnTo>
                  <a:lnTo>
                    <a:pt x="593376" y="606776"/>
                  </a:lnTo>
                  <a:lnTo>
                    <a:pt x="625715" y="561706"/>
                  </a:lnTo>
                  <a:lnTo>
                    <a:pt x="658516" y="515832"/>
                  </a:lnTo>
                  <a:lnTo>
                    <a:pt x="691673" y="469852"/>
                  </a:lnTo>
                  <a:lnTo>
                    <a:pt x="725080" y="424463"/>
                  </a:lnTo>
                  <a:lnTo>
                    <a:pt x="758629" y="380363"/>
                  </a:lnTo>
                  <a:lnTo>
                    <a:pt x="792216" y="338251"/>
                  </a:lnTo>
                  <a:lnTo>
                    <a:pt x="825733" y="298824"/>
                  </a:lnTo>
                  <a:lnTo>
                    <a:pt x="859075" y="262780"/>
                  </a:lnTo>
                  <a:lnTo>
                    <a:pt x="892135" y="230817"/>
                  </a:lnTo>
                  <a:lnTo>
                    <a:pt x="924806" y="203633"/>
                  </a:lnTo>
                  <a:lnTo>
                    <a:pt x="956983" y="181926"/>
                  </a:lnTo>
                  <a:lnTo>
                    <a:pt x="1019428" y="157734"/>
                  </a:lnTo>
                  <a:lnTo>
                    <a:pt x="1049656" y="156923"/>
                  </a:lnTo>
                  <a:lnTo>
                    <a:pt x="1079421" y="163899"/>
                  </a:lnTo>
                  <a:lnTo>
                    <a:pt x="1137815" y="197776"/>
                  </a:lnTo>
                  <a:lnTo>
                    <a:pt x="1166570" y="222958"/>
                  </a:lnTo>
                  <a:lnTo>
                    <a:pt x="1195114" y="252489"/>
                  </a:lnTo>
                  <a:lnTo>
                    <a:pt x="1223512" y="285511"/>
                  </a:lnTo>
                  <a:lnTo>
                    <a:pt x="1251824" y="321163"/>
                  </a:lnTo>
                  <a:lnTo>
                    <a:pt x="1280116" y="358587"/>
                  </a:lnTo>
                  <a:lnTo>
                    <a:pt x="1308449" y="396922"/>
                  </a:lnTo>
                  <a:lnTo>
                    <a:pt x="1336887" y="435310"/>
                  </a:lnTo>
                  <a:lnTo>
                    <a:pt x="1365492" y="472891"/>
                  </a:lnTo>
                  <a:lnTo>
                    <a:pt x="1394329" y="508805"/>
                  </a:lnTo>
                  <a:lnTo>
                    <a:pt x="1423459" y="542193"/>
                  </a:lnTo>
                  <a:lnTo>
                    <a:pt x="1452947" y="572196"/>
                  </a:lnTo>
                  <a:lnTo>
                    <a:pt x="1482855" y="597954"/>
                  </a:lnTo>
                  <a:lnTo>
                    <a:pt x="1544182" y="633298"/>
                  </a:lnTo>
                  <a:lnTo>
                    <a:pt x="1607947" y="641350"/>
                  </a:lnTo>
                  <a:lnTo>
                    <a:pt x="1636516" y="634548"/>
                  </a:lnTo>
                  <a:lnTo>
                    <a:pt x="1695011" y="602595"/>
                  </a:lnTo>
                  <a:lnTo>
                    <a:pt x="1724869" y="578705"/>
                  </a:lnTo>
                  <a:lnTo>
                    <a:pt x="1755089" y="550378"/>
                  </a:lnTo>
                  <a:lnTo>
                    <a:pt x="1785638" y="518245"/>
                  </a:lnTo>
                  <a:lnTo>
                    <a:pt x="1816481" y="482936"/>
                  </a:lnTo>
                  <a:lnTo>
                    <a:pt x="1847586" y="445080"/>
                  </a:lnTo>
                  <a:lnTo>
                    <a:pt x="1878918" y="405307"/>
                  </a:lnTo>
                  <a:lnTo>
                    <a:pt x="1910444" y="364248"/>
                  </a:lnTo>
                  <a:lnTo>
                    <a:pt x="1942130" y="322532"/>
                  </a:lnTo>
                  <a:lnTo>
                    <a:pt x="1973942" y="280789"/>
                  </a:lnTo>
                  <a:lnTo>
                    <a:pt x="2005846" y="239649"/>
                  </a:lnTo>
                  <a:lnTo>
                    <a:pt x="2037810" y="199742"/>
                  </a:lnTo>
                  <a:lnTo>
                    <a:pt x="2069799" y="161698"/>
                  </a:lnTo>
                  <a:lnTo>
                    <a:pt x="2101779" y="126147"/>
                  </a:lnTo>
                  <a:lnTo>
                    <a:pt x="2133718" y="93718"/>
                  </a:lnTo>
                  <a:lnTo>
                    <a:pt x="2165580" y="65042"/>
                  </a:lnTo>
                  <a:lnTo>
                    <a:pt x="2197333" y="40749"/>
                  </a:lnTo>
                  <a:lnTo>
                    <a:pt x="2260376" y="7830"/>
                  </a:lnTo>
                  <a:lnTo>
                    <a:pt x="2322576" y="0"/>
                  </a:lnTo>
                  <a:lnTo>
                    <a:pt x="2353581" y="6398"/>
                  </a:lnTo>
                  <a:lnTo>
                    <a:pt x="2416416" y="36805"/>
                  </a:lnTo>
                  <a:lnTo>
                    <a:pt x="2448153" y="59813"/>
                  </a:lnTo>
                  <a:lnTo>
                    <a:pt x="2480040" y="87356"/>
                  </a:lnTo>
                  <a:lnTo>
                    <a:pt x="2512032" y="118936"/>
                  </a:lnTo>
                  <a:lnTo>
                    <a:pt x="2544081" y="154051"/>
                  </a:lnTo>
                  <a:lnTo>
                    <a:pt x="2576141" y="192201"/>
                  </a:lnTo>
                  <a:lnTo>
                    <a:pt x="2608165" y="232886"/>
                  </a:lnTo>
                  <a:lnTo>
                    <a:pt x="2640107" y="275606"/>
                  </a:lnTo>
                  <a:lnTo>
                    <a:pt x="2671920" y="319861"/>
                  </a:lnTo>
                  <a:lnTo>
                    <a:pt x="2703558" y="365150"/>
                  </a:lnTo>
                  <a:lnTo>
                    <a:pt x="2734974" y="410973"/>
                  </a:lnTo>
                  <a:lnTo>
                    <a:pt x="2766120" y="456831"/>
                  </a:lnTo>
                  <a:lnTo>
                    <a:pt x="2796952" y="502222"/>
                  </a:lnTo>
                  <a:lnTo>
                    <a:pt x="2827422" y="546647"/>
                  </a:lnTo>
                  <a:lnTo>
                    <a:pt x="2857483" y="589605"/>
                  </a:lnTo>
                  <a:lnTo>
                    <a:pt x="2887089" y="630596"/>
                  </a:lnTo>
                  <a:lnTo>
                    <a:pt x="2916194" y="669120"/>
                  </a:lnTo>
                  <a:lnTo>
                    <a:pt x="2944750" y="704677"/>
                  </a:lnTo>
                  <a:lnTo>
                    <a:pt x="2972711" y="736767"/>
                  </a:lnTo>
                  <a:lnTo>
                    <a:pt x="3000032" y="764889"/>
                  </a:lnTo>
                  <a:lnTo>
                    <a:pt x="3080397" y="829381"/>
                  </a:lnTo>
                  <a:lnTo>
                    <a:pt x="3131880" y="863469"/>
                  </a:lnTo>
                  <a:lnTo>
                    <a:pt x="3181339" y="891481"/>
                  </a:lnTo>
                  <a:lnTo>
                    <a:pt x="3228997" y="914092"/>
                  </a:lnTo>
                  <a:lnTo>
                    <a:pt x="3275081" y="931975"/>
                  </a:lnTo>
                  <a:lnTo>
                    <a:pt x="3319814" y="945806"/>
                  </a:lnTo>
                  <a:lnTo>
                    <a:pt x="3363423" y="956258"/>
                  </a:lnTo>
                  <a:lnTo>
                    <a:pt x="3406131" y="964007"/>
                  </a:lnTo>
                  <a:lnTo>
                    <a:pt x="3448165" y="969726"/>
                  </a:lnTo>
                  <a:lnTo>
                    <a:pt x="3489749" y="974089"/>
                  </a:lnTo>
                  <a:lnTo>
                    <a:pt x="3531107" y="977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6CEC5919-493A-507B-CFF0-A0DEA6D6BD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3059" y="1722120"/>
            <a:ext cx="452627" cy="25298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3D433D05-47BE-E31F-D48B-595DFD9F83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2817876"/>
            <a:ext cx="126490" cy="114300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E2974C26-43A4-91EF-889A-00F9161C3EAB}"/>
              </a:ext>
            </a:extLst>
          </p:cNvPr>
          <p:cNvGrpSpPr/>
          <p:nvPr/>
        </p:nvGrpSpPr>
        <p:grpSpPr>
          <a:xfrm>
            <a:off x="6058661" y="3112007"/>
            <a:ext cx="5383530" cy="3023235"/>
            <a:chOff x="6058661" y="3112007"/>
            <a:chExt cx="5383530" cy="302323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B304FBF-223C-7248-BFF4-D41E84C81883}"/>
                </a:ext>
              </a:extLst>
            </p:cNvPr>
            <p:cNvSpPr/>
            <p:nvPr/>
          </p:nvSpPr>
          <p:spPr>
            <a:xfrm>
              <a:off x="6058662" y="4953761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9B162B5-79F3-65FF-831D-9744B7E6A528}"/>
                </a:ext>
              </a:extLst>
            </p:cNvPr>
            <p:cNvSpPr/>
            <p:nvPr/>
          </p:nvSpPr>
          <p:spPr>
            <a:xfrm>
              <a:off x="6117335" y="5265547"/>
              <a:ext cx="3469004" cy="836930"/>
            </a:xfrm>
            <a:custGeom>
              <a:avLst/>
              <a:gdLst/>
              <a:ahLst/>
              <a:cxnLst/>
              <a:rect l="l" t="t" r="r" b="b"/>
              <a:pathLst>
                <a:path w="3469004" h="836929">
                  <a:moveTo>
                    <a:pt x="0" y="799376"/>
                  </a:moveTo>
                  <a:lnTo>
                    <a:pt x="756792" y="767829"/>
                  </a:lnTo>
                  <a:lnTo>
                    <a:pt x="810125" y="750322"/>
                  </a:lnTo>
                  <a:lnTo>
                    <a:pt x="859634" y="729584"/>
                  </a:lnTo>
                  <a:lnTo>
                    <a:pt x="905843" y="705947"/>
                  </a:lnTo>
                  <a:lnTo>
                    <a:pt x="949272" y="679741"/>
                  </a:lnTo>
                  <a:lnTo>
                    <a:pt x="990445" y="651300"/>
                  </a:lnTo>
                  <a:lnTo>
                    <a:pt x="1029883" y="620954"/>
                  </a:lnTo>
                  <a:lnTo>
                    <a:pt x="1068108" y="589036"/>
                  </a:lnTo>
                  <a:lnTo>
                    <a:pt x="1105643" y="555876"/>
                  </a:lnTo>
                  <a:lnTo>
                    <a:pt x="1143010" y="521808"/>
                  </a:lnTo>
                  <a:lnTo>
                    <a:pt x="1180730" y="487163"/>
                  </a:lnTo>
                  <a:lnTo>
                    <a:pt x="1219327" y="452272"/>
                  </a:lnTo>
                  <a:lnTo>
                    <a:pt x="1252172" y="419376"/>
                  </a:lnTo>
                  <a:lnTo>
                    <a:pt x="1284453" y="380742"/>
                  </a:lnTo>
                  <a:lnTo>
                    <a:pt x="1316227" y="337847"/>
                  </a:lnTo>
                  <a:lnTo>
                    <a:pt x="1347551" y="292172"/>
                  </a:lnTo>
                  <a:lnTo>
                    <a:pt x="1378483" y="245195"/>
                  </a:lnTo>
                  <a:lnTo>
                    <a:pt x="1409081" y="198396"/>
                  </a:lnTo>
                  <a:lnTo>
                    <a:pt x="1439402" y="153252"/>
                  </a:lnTo>
                  <a:lnTo>
                    <a:pt x="1469504" y="111244"/>
                  </a:lnTo>
                  <a:lnTo>
                    <a:pt x="1499445" y="73851"/>
                  </a:lnTo>
                  <a:lnTo>
                    <a:pt x="1529281" y="42550"/>
                  </a:lnTo>
                  <a:lnTo>
                    <a:pt x="1588872" y="4146"/>
                  </a:lnTo>
                  <a:lnTo>
                    <a:pt x="1618741" y="0"/>
                  </a:lnTo>
                  <a:lnTo>
                    <a:pt x="1645527" y="6603"/>
                  </a:lnTo>
                  <a:lnTo>
                    <a:pt x="1694534" y="46721"/>
                  </a:lnTo>
                  <a:lnTo>
                    <a:pt x="1717606" y="77752"/>
                  </a:lnTo>
                  <a:lnTo>
                    <a:pt x="1740289" y="114442"/>
                  </a:lnTo>
                  <a:lnTo>
                    <a:pt x="1763009" y="155548"/>
                  </a:lnTo>
                  <a:lnTo>
                    <a:pt x="1786191" y="199829"/>
                  </a:lnTo>
                  <a:lnTo>
                    <a:pt x="1810259" y="246042"/>
                  </a:lnTo>
                  <a:lnTo>
                    <a:pt x="1835638" y="292946"/>
                  </a:lnTo>
                  <a:lnTo>
                    <a:pt x="1862754" y="339298"/>
                  </a:lnTo>
                  <a:lnTo>
                    <a:pt x="1892030" y="383856"/>
                  </a:lnTo>
                  <a:lnTo>
                    <a:pt x="1923893" y="425378"/>
                  </a:lnTo>
                  <a:lnTo>
                    <a:pt x="1958766" y="462623"/>
                  </a:lnTo>
                  <a:lnTo>
                    <a:pt x="1997074" y="494347"/>
                  </a:lnTo>
                  <a:lnTo>
                    <a:pt x="2033652" y="519132"/>
                  </a:lnTo>
                  <a:lnTo>
                    <a:pt x="2072901" y="543478"/>
                  </a:lnTo>
                  <a:lnTo>
                    <a:pt x="2114535" y="567315"/>
                  </a:lnTo>
                  <a:lnTo>
                    <a:pt x="2158271" y="590575"/>
                  </a:lnTo>
                  <a:lnTo>
                    <a:pt x="2203824" y="613187"/>
                  </a:lnTo>
                  <a:lnTo>
                    <a:pt x="2250908" y="635082"/>
                  </a:lnTo>
                  <a:lnTo>
                    <a:pt x="2299238" y="656192"/>
                  </a:lnTo>
                  <a:lnTo>
                    <a:pt x="2348531" y="676446"/>
                  </a:lnTo>
                  <a:lnTo>
                    <a:pt x="2398501" y="695776"/>
                  </a:lnTo>
                  <a:lnTo>
                    <a:pt x="2448863" y="714112"/>
                  </a:lnTo>
                  <a:lnTo>
                    <a:pt x="2499333" y="731385"/>
                  </a:lnTo>
                  <a:lnTo>
                    <a:pt x="2549626" y="747525"/>
                  </a:lnTo>
                  <a:lnTo>
                    <a:pt x="2599456" y="762464"/>
                  </a:lnTo>
                  <a:lnTo>
                    <a:pt x="2648540" y="776131"/>
                  </a:lnTo>
                  <a:lnTo>
                    <a:pt x="2696591" y="788458"/>
                  </a:lnTo>
                  <a:lnTo>
                    <a:pt x="2743327" y="799376"/>
                  </a:lnTo>
                  <a:lnTo>
                    <a:pt x="2795799" y="809960"/>
                  </a:lnTo>
                  <a:lnTo>
                    <a:pt x="2848124" y="818526"/>
                  </a:lnTo>
                  <a:lnTo>
                    <a:pt x="2900313" y="825229"/>
                  </a:lnTo>
                  <a:lnTo>
                    <a:pt x="2952376" y="830225"/>
                  </a:lnTo>
                  <a:lnTo>
                    <a:pt x="3004325" y="833669"/>
                  </a:lnTo>
                  <a:lnTo>
                    <a:pt x="3056172" y="835715"/>
                  </a:lnTo>
                  <a:lnTo>
                    <a:pt x="3107928" y="836520"/>
                  </a:lnTo>
                  <a:lnTo>
                    <a:pt x="3159604" y="836238"/>
                  </a:lnTo>
                  <a:lnTo>
                    <a:pt x="3211211" y="835024"/>
                  </a:lnTo>
                  <a:lnTo>
                    <a:pt x="3262762" y="833035"/>
                  </a:lnTo>
                  <a:lnTo>
                    <a:pt x="3314267" y="830424"/>
                  </a:lnTo>
                  <a:lnTo>
                    <a:pt x="3365738" y="827348"/>
                  </a:lnTo>
                  <a:lnTo>
                    <a:pt x="3417187" y="823961"/>
                  </a:lnTo>
                  <a:lnTo>
                    <a:pt x="3468623" y="820419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1C58CE4-BECD-97C7-E625-0B0B7BF1A9A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079" y="3112007"/>
              <a:ext cx="1219200" cy="1981122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8B7EFE84-A6F4-D8F1-1343-EDEDC8AF7A7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011" y="3683507"/>
              <a:ext cx="2964179" cy="259080"/>
            </a:xfrm>
            <a:prstGeom prst="rect">
              <a:avLst/>
            </a:prstGeom>
          </p:spPr>
        </p:pic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EA6C01C7-A323-52F1-DFA2-72198B1C796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10704" y="5981700"/>
            <a:ext cx="103498" cy="11430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7C85BCC4-1CED-83D8-3C0B-1535B76BD79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33059" y="4892040"/>
            <a:ext cx="435863" cy="252984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F3A79F78-11E0-8195-CA6E-80999E8446C4}"/>
              </a:ext>
            </a:extLst>
          </p:cNvPr>
          <p:cNvSpPr/>
          <p:nvPr/>
        </p:nvSpPr>
        <p:spPr>
          <a:xfrm>
            <a:off x="5106161" y="5601461"/>
            <a:ext cx="763270" cy="76200"/>
          </a:xfrm>
          <a:custGeom>
            <a:avLst/>
            <a:gdLst/>
            <a:ahLst/>
            <a:cxnLst/>
            <a:rect l="l" t="t" r="r" b="b"/>
            <a:pathLst>
              <a:path w="763270" h="76200">
                <a:moveTo>
                  <a:pt x="687070" y="0"/>
                </a:moveTo>
                <a:lnTo>
                  <a:pt x="687070" y="76200"/>
                </a:lnTo>
                <a:lnTo>
                  <a:pt x="744220" y="47625"/>
                </a:lnTo>
                <a:lnTo>
                  <a:pt x="699770" y="47625"/>
                </a:lnTo>
                <a:lnTo>
                  <a:pt x="699770" y="28575"/>
                </a:lnTo>
                <a:lnTo>
                  <a:pt x="744220" y="28575"/>
                </a:lnTo>
                <a:lnTo>
                  <a:pt x="687070" y="0"/>
                </a:lnTo>
                <a:close/>
              </a:path>
              <a:path w="763270" h="76200">
                <a:moveTo>
                  <a:pt x="68707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87070" y="47625"/>
                </a:lnTo>
                <a:lnTo>
                  <a:pt x="687070" y="28575"/>
                </a:lnTo>
                <a:close/>
              </a:path>
              <a:path w="763270" h="76200">
                <a:moveTo>
                  <a:pt x="744220" y="28575"/>
                </a:moveTo>
                <a:lnTo>
                  <a:pt x="699770" y="28575"/>
                </a:lnTo>
                <a:lnTo>
                  <a:pt x="699770" y="47625"/>
                </a:lnTo>
                <a:lnTo>
                  <a:pt x="744220" y="47625"/>
                </a:lnTo>
                <a:lnTo>
                  <a:pt x="763270" y="38100"/>
                </a:lnTo>
                <a:lnTo>
                  <a:pt x="74422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3001185-56FB-8593-7738-3C32FAE8FEA6}"/>
              </a:ext>
            </a:extLst>
          </p:cNvPr>
          <p:cNvSpPr txBox="1"/>
          <p:nvPr/>
        </p:nvSpPr>
        <p:spPr>
          <a:xfrm>
            <a:off x="3241675" y="5334380"/>
            <a:ext cx="1753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D3B39-B9AD-6756-2E05-6B4CFE3F4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6E5F8-5D5D-4C74-8201-C73FAA8EFC41}" type="datetime1">
              <a:rPr lang="en-US" smtClean="0"/>
              <a:t>10/1/2025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CDBBBF58-5F7C-314E-3397-0FCE8C32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2093160-FA0C-BB3C-1EB0-FA8A973F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51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EA28-9FE1-6832-AD1F-D0DF7B13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9761E5-A0BC-2D20-8067-A5575B839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Latent</a:t>
            </a:r>
            <a:r>
              <a:rPr sz="4400" spc="-85" dirty="0"/>
              <a:t> </a:t>
            </a:r>
            <a:r>
              <a:rPr sz="4400" dirty="0"/>
              <a:t>variable</a:t>
            </a:r>
            <a:r>
              <a:rPr sz="4400" spc="-85" dirty="0"/>
              <a:t> </a:t>
            </a:r>
            <a:r>
              <a:rPr sz="4400" dirty="0"/>
              <a:t>models</a:t>
            </a:r>
            <a:r>
              <a:rPr sz="4400" spc="-85" dirty="0"/>
              <a:t> </a:t>
            </a:r>
            <a:r>
              <a:rPr sz="4400" dirty="0"/>
              <a:t>in</a:t>
            </a:r>
            <a:r>
              <a:rPr sz="4400" spc="-85" dirty="0"/>
              <a:t> </a:t>
            </a:r>
            <a:r>
              <a:rPr sz="4400" spc="-10" dirty="0"/>
              <a:t>general</a:t>
            </a:r>
            <a:endParaRPr sz="440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466F105-41EA-2951-9AFC-6CC9F8C885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360676"/>
            <a:ext cx="452628" cy="252984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99DF86D9-750D-5C24-19DC-33AE14100FCB}"/>
              </a:ext>
            </a:extLst>
          </p:cNvPr>
          <p:cNvGrpSpPr/>
          <p:nvPr/>
        </p:nvGrpSpPr>
        <p:grpSpPr>
          <a:xfrm>
            <a:off x="6058661" y="1789938"/>
            <a:ext cx="3695700" cy="1181100"/>
            <a:chOff x="6058661" y="1789938"/>
            <a:chExt cx="3695700" cy="11811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FFC7DEB-2173-8F72-56D9-81475C50E212}"/>
                </a:ext>
              </a:extLst>
            </p:cNvPr>
            <p:cNvSpPr/>
            <p:nvPr/>
          </p:nvSpPr>
          <p:spPr>
            <a:xfrm>
              <a:off x="6058662" y="1789937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18412B2-5145-4174-5853-09B51589B426}"/>
                </a:ext>
              </a:extLst>
            </p:cNvPr>
            <p:cNvSpPr/>
            <p:nvPr/>
          </p:nvSpPr>
          <p:spPr>
            <a:xfrm>
              <a:off x="6128003" y="1913255"/>
              <a:ext cx="3531235" cy="977900"/>
            </a:xfrm>
            <a:custGeom>
              <a:avLst/>
              <a:gdLst/>
              <a:ahLst/>
              <a:cxnLst/>
              <a:rect l="l" t="t" r="r" b="b"/>
              <a:pathLst>
                <a:path w="3531234" h="977900">
                  <a:moveTo>
                    <a:pt x="0" y="830580"/>
                  </a:moveTo>
                  <a:lnTo>
                    <a:pt x="36574" y="850789"/>
                  </a:lnTo>
                  <a:lnTo>
                    <a:pt x="73646" y="869570"/>
                  </a:lnTo>
                  <a:lnTo>
                    <a:pt x="111712" y="885495"/>
                  </a:lnTo>
                  <a:lnTo>
                    <a:pt x="151272" y="897137"/>
                  </a:lnTo>
                  <a:lnTo>
                    <a:pt x="192822" y="903068"/>
                  </a:lnTo>
                  <a:lnTo>
                    <a:pt x="236859" y="901859"/>
                  </a:lnTo>
                  <a:lnTo>
                    <a:pt x="283882" y="892084"/>
                  </a:lnTo>
                  <a:lnTo>
                    <a:pt x="334388" y="872314"/>
                  </a:lnTo>
                  <a:lnTo>
                    <a:pt x="388874" y="841121"/>
                  </a:lnTo>
                  <a:lnTo>
                    <a:pt x="442335" y="795634"/>
                  </a:lnTo>
                  <a:lnTo>
                    <a:pt x="470768" y="765054"/>
                  </a:lnTo>
                  <a:lnTo>
                    <a:pt x="500196" y="730180"/>
                  </a:lnTo>
                  <a:lnTo>
                    <a:pt x="530510" y="691711"/>
                  </a:lnTo>
                  <a:lnTo>
                    <a:pt x="561606" y="650344"/>
                  </a:lnTo>
                  <a:lnTo>
                    <a:pt x="593376" y="606776"/>
                  </a:lnTo>
                  <a:lnTo>
                    <a:pt x="625715" y="561706"/>
                  </a:lnTo>
                  <a:lnTo>
                    <a:pt x="658516" y="515832"/>
                  </a:lnTo>
                  <a:lnTo>
                    <a:pt x="691673" y="469852"/>
                  </a:lnTo>
                  <a:lnTo>
                    <a:pt x="725080" y="424463"/>
                  </a:lnTo>
                  <a:lnTo>
                    <a:pt x="758629" y="380363"/>
                  </a:lnTo>
                  <a:lnTo>
                    <a:pt x="792216" y="338251"/>
                  </a:lnTo>
                  <a:lnTo>
                    <a:pt x="825733" y="298824"/>
                  </a:lnTo>
                  <a:lnTo>
                    <a:pt x="859075" y="262780"/>
                  </a:lnTo>
                  <a:lnTo>
                    <a:pt x="892135" y="230817"/>
                  </a:lnTo>
                  <a:lnTo>
                    <a:pt x="924806" y="203633"/>
                  </a:lnTo>
                  <a:lnTo>
                    <a:pt x="956983" y="181926"/>
                  </a:lnTo>
                  <a:lnTo>
                    <a:pt x="1019428" y="157734"/>
                  </a:lnTo>
                  <a:lnTo>
                    <a:pt x="1049656" y="156923"/>
                  </a:lnTo>
                  <a:lnTo>
                    <a:pt x="1079421" y="163899"/>
                  </a:lnTo>
                  <a:lnTo>
                    <a:pt x="1137815" y="197776"/>
                  </a:lnTo>
                  <a:lnTo>
                    <a:pt x="1166570" y="222958"/>
                  </a:lnTo>
                  <a:lnTo>
                    <a:pt x="1195114" y="252489"/>
                  </a:lnTo>
                  <a:lnTo>
                    <a:pt x="1223512" y="285511"/>
                  </a:lnTo>
                  <a:lnTo>
                    <a:pt x="1251824" y="321163"/>
                  </a:lnTo>
                  <a:lnTo>
                    <a:pt x="1280116" y="358587"/>
                  </a:lnTo>
                  <a:lnTo>
                    <a:pt x="1308449" y="396922"/>
                  </a:lnTo>
                  <a:lnTo>
                    <a:pt x="1336887" y="435310"/>
                  </a:lnTo>
                  <a:lnTo>
                    <a:pt x="1365492" y="472891"/>
                  </a:lnTo>
                  <a:lnTo>
                    <a:pt x="1394329" y="508805"/>
                  </a:lnTo>
                  <a:lnTo>
                    <a:pt x="1423459" y="542193"/>
                  </a:lnTo>
                  <a:lnTo>
                    <a:pt x="1452947" y="572196"/>
                  </a:lnTo>
                  <a:lnTo>
                    <a:pt x="1482855" y="597954"/>
                  </a:lnTo>
                  <a:lnTo>
                    <a:pt x="1544182" y="633298"/>
                  </a:lnTo>
                  <a:lnTo>
                    <a:pt x="1607947" y="641350"/>
                  </a:lnTo>
                  <a:lnTo>
                    <a:pt x="1636516" y="634548"/>
                  </a:lnTo>
                  <a:lnTo>
                    <a:pt x="1695011" y="602595"/>
                  </a:lnTo>
                  <a:lnTo>
                    <a:pt x="1724869" y="578705"/>
                  </a:lnTo>
                  <a:lnTo>
                    <a:pt x="1755089" y="550378"/>
                  </a:lnTo>
                  <a:lnTo>
                    <a:pt x="1785638" y="518245"/>
                  </a:lnTo>
                  <a:lnTo>
                    <a:pt x="1816481" y="482936"/>
                  </a:lnTo>
                  <a:lnTo>
                    <a:pt x="1847586" y="445080"/>
                  </a:lnTo>
                  <a:lnTo>
                    <a:pt x="1878918" y="405307"/>
                  </a:lnTo>
                  <a:lnTo>
                    <a:pt x="1910444" y="364248"/>
                  </a:lnTo>
                  <a:lnTo>
                    <a:pt x="1942130" y="322532"/>
                  </a:lnTo>
                  <a:lnTo>
                    <a:pt x="1973942" y="280789"/>
                  </a:lnTo>
                  <a:lnTo>
                    <a:pt x="2005846" y="239649"/>
                  </a:lnTo>
                  <a:lnTo>
                    <a:pt x="2037810" y="199742"/>
                  </a:lnTo>
                  <a:lnTo>
                    <a:pt x="2069799" y="161698"/>
                  </a:lnTo>
                  <a:lnTo>
                    <a:pt x="2101779" y="126147"/>
                  </a:lnTo>
                  <a:lnTo>
                    <a:pt x="2133718" y="93718"/>
                  </a:lnTo>
                  <a:lnTo>
                    <a:pt x="2165580" y="65042"/>
                  </a:lnTo>
                  <a:lnTo>
                    <a:pt x="2197333" y="40749"/>
                  </a:lnTo>
                  <a:lnTo>
                    <a:pt x="2260376" y="7830"/>
                  </a:lnTo>
                  <a:lnTo>
                    <a:pt x="2322576" y="0"/>
                  </a:lnTo>
                  <a:lnTo>
                    <a:pt x="2353581" y="6398"/>
                  </a:lnTo>
                  <a:lnTo>
                    <a:pt x="2416416" y="36805"/>
                  </a:lnTo>
                  <a:lnTo>
                    <a:pt x="2448153" y="59813"/>
                  </a:lnTo>
                  <a:lnTo>
                    <a:pt x="2480040" y="87356"/>
                  </a:lnTo>
                  <a:lnTo>
                    <a:pt x="2512032" y="118936"/>
                  </a:lnTo>
                  <a:lnTo>
                    <a:pt x="2544081" y="154051"/>
                  </a:lnTo>
                  <a:lnTo>
                    <a:pt x="2576141" y="192201"/>
                  </a:lnTo>
                  <a:lnTo>
                    <a:pt x="2608165" y="232886"/>
                  </a:lnTo>
                  <a:lnTo>
                    <a:pt x="2640107" y="275606"/>
                  </a:lnTo>
                  <a:lnTo>
                    <a:pt x="2671920" y="319861"/>
                  </a:lnTo>
                  <a:lnTo>
                    <a:pt x="2703558" y="365150"/>
                  </a:lnTo>
                  <a:lnTo>
                    <a:pt x="2734974" y="410973"/>
                  </a:lnTo>
                  <a:lnTo>
                    <a:pt x="2766120" y="456831"/>
                  </a:lnTo>
                  <a:lnTo>
                    <a:pt x="2796952" y="502222"/>
                  </a:lnTo>
                  <a:lnTo>
                    <a:pt x="2827422" y="546647"/>
                  </a:lnTo>
                  <a:lnTo>
                    <a:pt x="2857483" y="589605"/>
                  </a:lnTo>
                  <a:lnTo>
                    <a:pt x="2887089" y="630596"/>
                  </a:lnTo>
                  <a:lnTo>
                    <a:pt x="2916194" y="669120"/>
                  </a:lnTo>
                  <a:lnTo>
                    <a:pt x="2944750" y="704677"/>
                  </a:lnTo>
                  <a:lnTo>
                    <a:pt x="2972711" y="736767"/>
                  </a:lnTo>
                  <a:lnTo>
                    <a:pt x="3000032" y="764889"/>
                  </a:lnTo>
                  <a:lnTo>
                    <a:pt x="3080397" y="829381"/>
                  </a:lnTo>
                  <a:lnTo>
                    <a:pt x="3131880" y="863469"/>
                  </a:lnTo>
                  <a:lnTo>
                    <a:pt x="3181339" y="891481"/>
                  </a:lnTo>
                  <a:lnTo>
                    <a:pt x="3228997" y="914092"/>
                  </a:lnTo>
                  <a:lnTo>
                    <a:pt x="3275081" y="931975"/>
                  </a:lnTo>
                  <a:lnTo>
                    <a:pt x="3319814" y="945806"/>
                  </a:lnTo>
                  <a:lnTo>
                    <a:pt x="3363423" y="956258"/>
                  </a:lnTo>
                  <a:lnTo>
                    <a:pt x="3406131" y="964007"/>
                  </a:lnTo>
                  <a:lnTo>
                    <a:pt x="3448165" y="969726"/>
                  </a:lnTo>
                  <a:lnTo>
                    <a:pt x="3489749" y="974089"/>
                  </a:lnTo>
                  <a:lnTo>
                    <a:pt x="3531107" y="97777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13C326A9-E4F0-50C3-05B1-34D1E47B51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3059" y="1722120"/>
            <a:ext cx="452627" cy="25298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2346B067-BBBA-04FB-E264-FD6A541DC6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2817876"/>
            <a:ext cx="126490" cy="114300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7E9D0EB5-3D1B-5F81-38B6-E3C2E46E8E1C}"/>
              </a:ext>
            </a:extLst>
          </p:cNvPr>
          <p:cNvGrpSpPr/>
          <p:nvPr/>
        </p:nvGrpSpPr>
        <p:grpSpPr>
          <a:xfrm>
            <a:off x="6058661" y="3112007"/>
            <a:ext cx="5383530" cy="3023235"/>
            <a:chOff x="6058661" y="3112007"/>
            <a:chExt cx="5383530" cy="302323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853F322-67F9-1E44-D251-4E34A2DECEF2}"/>
                </a:ext>
              </a:extLst>
            </p:cNvPr>
            <p:cNvSpPr/>
            <p:nvPr/>
          </p:nvSpPr>
          <p:spPr>
            <a:xfrm>
              <a:off x="6058662" y="4953761"/>
              <a:ext cx="3695700" cy="1181100"/>
            </a:xfrm>
            <a:custGeom>
              <a:avLst/>
              <a:gdLst/>
              <a:ahLst/>
              <a:cxnLst/>
              <a:rect l="l" t="t" r="r" b="b"/>
              <a:pathLst>
                <a:path w="3695700" h="1181100">
                  <a:moveTo>
                    <a:pt x="3695700" y="1143000"/>
                  </a:moveTo>
                  <a:lnTo>
                    <a:pt x="3676650" y="1133475"/>
                  </a:lnTo>
                  <a:lnTo>
                    <a:pt x="3619500" y="1104900"/>
                  </a:lnTo>
                  <a:lnTo>
                    <a:pt x="3619500" y="1133475"/>
                  </a:lnTo>
                  <a:lnTo>
                    <a:pt x="47625" y="1133475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1143000"/>
                  </a:lnTo>
                  <a:lnTo>
                    <a:pt x="38100" y="1143000"/>
                  </a:lnTo>
                  <a:lnTo>
                    <a:pt x="38100" y="1152525"/>
                  </a:lnTo>
                  <a:lnTo>
                    <a:pt x="3619500" y="1152525"/>
                  </a:lnTo>
                  <a:lnTo>
                    <a:pt x="3619500" y="1181100"/>
                  </a:lnTo>
                  <a:lnTo>
                    <a:pt x="3676650" y="1152525"/>
                  </a:lnTo>
                  <a:lnTo>
                    <a:pt x="3695700" y="1143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AA75EAB-458C-B38C-880F-21A7E6935E67}"/>
                </a:ext>
              </a:extLst>
            </p:cNvPr>
            <p:cNvSpPr/>
            <p:nvPr/>
          </p:nvSpPr>
          <p:spPr>
            <a:xfrm>
              <a:off x="6117335" y="5265547"/>
              <a:ext cx="3469004" cy="836930"/>
            </a:xfrm>
            <a:custGeom>
              <a:avLst/>
              <a:gdLst/>
              <a:ahLst/>
              <a:cxnLst/>
              <a:rect l="l" t="t" r="r" b="b"/>
              <a:pathLst>
                <a:path w="3469004" h="836929">
                  <a:moveTo>
                    <a:pt x="0" y="799376"/>
                  </a:moveTo>
                  <a:lnTo>
                    <a:pt x="756792" y="767829"/>
                  </a:lnTo>
                  <a:lnTo>
                    <a:pt x="810125" y="750322"/>
                  </a:lnTo>
                  <a:lnTo>
                    <a:pt x="859634" y="729584"/>
                  </a:lnTo>
                  <a:lnTo>
                    <a:pt x="905843" y="705947"/>
                  </a:lnTo>
                  <a:lnTo>
                    <a:pt x="949272" y="679741"/>
                  </a:lnTo>
                  <a:lnTo>
                    <a:pt x="990445" y="651300"/>
                  </a:lnTo>
                  <a:lnTo>
                    <a:pt x="1029883" y="620954"/>
                  </a:lnTo>
                  <a:lnTo>
                    <a:pt x="1068108" y="589036"/>
                  </a:lnTo>
                  <a:lnTo>
                    <a:pt x="1105643" y="555876"/>
                  </a:lnTo>
                  <a:lnTo>
                    <a:pt x="1143010" y="521808"/>
                  </a:lnTo>
                  <a:lnTo>
                    <a:pt x="1180730" y="487163"/>
                  </a:lnTo>
                  <a:lnTo>
                    <a:pt x="1219327" y="452272"/>
                  </a:lnTo>
                  <a:lnTo>
                    <a:pt x="1252172" y="419376"/>
                  </a:lnTo>
                  <a:lnTo>
                    <a:pt x="1284453" y="380742"/>
                  </a:lnTo>
                  <a:lnTo>
                    <a:pt x="1316227" y="337847"/>
                  </a:lnTo>
                  <a:lnTo>
                    <a:pt x="1347551" y="292172"/>
                  </a:lnTo>
                  <a:lnTo>
                    <a:pt x="1378483" y="245195"/>
                  </a:lnTo>
                  <a:lnTo>
                    <a:pt x="1409081" y="198396"/>
                  </a:lnTo>
                  <a:lnTo>
                    <a:pt x="1439402" y="153252"/>
                  </a:lnTo>
                  <a:lnTo>
                    <a:pt x="1469504" y="111244"/>
                  </a:lnTo>
                  <a:lnTo>
                    <a:pt x="1499445" y="73851"/>
                  </a:lnTo>
                  <a:lnTo>
                    <a:pt x="1529281" y="42550"/>
                  </a:lnTo>
                  <a:lnTo>
                    <a:pt x="1588872" y="4146"/>
                  </a:lnTo>
                  <a:lnTo>
                    <a:pt x="1618741" y="0"/>
                  </a:lnTo>
                  <a:lnTo>
                    <a:pt x="1645527" y="6603"/>
                  </a:lnTo>
                  <a:lnTo>
                    <a:pt x="1694534" y="46721"/>
                  </a:lnTo>
                  <a:lnTo>
                    <a:pt x="1717606" y="77752"/>
                  </a:lnTo>
                  <a:lnTo>
                    <a:pt x="1740289" y="114442"/>
                  </a:lnTo>
                  <a:lnTo>
                    <a:pt x="1763009" y="155548"/>
                  </a:lnTo>
                  <a:lnTo>
                    <a:pt x="1786191" y="199829"/>
                  </a:lnTo>
                  <a:lnTo>
                    <a:pt x="1810259" y="246042"/>
                  </a:lnTo>
                  <a:lnTo>
                    <a:pt x="1835638" y="292946"/>
                  </a:lnTo>
                  <a:lnTo>
                    <a:pt x="1862754" y="339298"/>
                  </a:lnTo>
                  <a:lnTo>
                    <a:pt x="1892030" y="383856"/>
                  </a:lnTo>
                  <a:lnTo>
                    <a:pt x="1923893" y="425378"/>
                  </a:lnTo>
                  <a:lnTo>
                    <a:pt x="1958766" y="462623"/>
                  </a:lnTo>
                  <a:lnTo>
                    <a:pt x="1997074" y="494347"/>
                  </a:lnTo>
                  <a:lnTo>
                    <a:pt x="2033652" y="519132"/>
                  </a:lnTo>
                  <a:lnTo>
                    <a:pt x="2072901" y="543478"/>
                  </a:lnTo>
                  <a:lnTo>
                    <a:pt x="2114535" y="567315"/>
                  </a:lnTo>
                  <a:lnTo>
                    <a:pt x="2158271" y="590575"/>
                  </a:lnTo>
                  <a:lnTo>
                    <a:pt x="2203824" y="613187"/>
                  </a:lnTo>
                  <a:lnTo>
                    <a:pt x="2250908" y="635082"/>
                  </a:lnTo>
                  <a:lnTo>
                    <a:pt x="2299238" y="656192"/>
                  </a:lnTo>
                  <a:lnTo>
                    <a:pt x="2348531" y="676446"/>
                  </a:lnTo>
                  <a:lnTo>
                    <a:pt x="2398501" y="695776"/>
                  </a:lnTo>
                  <a:lnTo>
                    <a:pt x="2448863" y="714112"/>
                  </a:lnTo>
                  <a:lnTo>
                    <a:pt x="2499333" y="731385"/>
                  </a:lnTo>
                  <a:lnTo>
                    <a:pt x="2549626" y="747525"/>
                  </a:lnTo>
                  <a:lnTo>
                    <a:pt x="2599456" y="762464"/>
                  </a:lnTo>
                  <a:lnTo>
                    <a:pt x="2648540" y="776131"/>
                  </a:lnTo>
                  <a:lnTo>
                    <a:pt x="2696591" y="788458"/>
                  </a:lnTo>
                  <a:lnTo>
                    <a:pt x="2743327" y="799376"/>
                  </a:lnTo>
                  <a:lnTo>
                    <a:pt x="2795799" y="809960"/>
                  </a:lnTo>
                  <a:lnTo>
                    <a:pt x="2848124" y="818526"/>
                  </a:lnTo>
                  <a:lnTo>
                    <a:pt x="2900313" y="825229"/>
                  </a:lnTo>
                  <a:lnTo>
                    <a:pt x="2952376" y="830225"/>
                  </a:lnTo>
                  <a:lnTo>
                    <a:pt x="3004325" y="833669"/>
                  </a:lnTo>
                  <a:lnTo>
                    <a:pt x="3056172" y="835715"/>
                  </a:lnTo>
                  <a:lnTo>
                    <a:pt x="3107928" y="836520"/>
                  </a:lnTo>
                  <a:lnTo>
                    <a:pt x="3159604" y="836238"/>
                  </a:lnTo>
                  <a:lnTo>
                    <a:pt x="3211211" y="835024"/>
                  </a:lnTo>
                  <a:lnTo>
                    <a:pt x="3262762" y="833035"/>
                  </a:lnTo>
                  <a:lnTo>
                    <a:pt x="3314267" y="830424"/>
                  </a:lnTo>
                  <a:lnTo>
                    <a:pt x="3365738" y="827348"/>
                  </a:lnTo>
                  <a:lnTo>
                    <a:pt x="3417187" y="823961"/>
                  </a:lnTo>
                  <a:lnTo>
                    <a:pt x="3468623" y="820419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9DF9F96-F018-6CD8-B192-447D2616A4D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079" y="3112007"/>
              <a:ext cx="1219200" cy="1981122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1E68844F-851D-01C4-36A7-2BECCF260F2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8011" y="3683507"/>
              <a:ext cx="2964179" cy="259080"/>
            </a:xfrm>
            <a:prstGeom prst="rect">
              <a:avLst/>
            </a:prstGeom>
          </p:spPr>
        </p:pic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499CFB2A-24BB-A10B-E108-8E9BC63E3F4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10704" y="5981700"/>
            <a:ext cx="103498" cy="11430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A38EA07C-4153-32B5-D16D-43327CE86D1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33059" y="4892040"/>
            <a:ext cx="435863" cy="252984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E2B56774-0F32-F5F6-6BC0-0D324CA00713}"/>
              </a:ext>
            </a:extLst>
          </p:cNvPr>
          <p:cNvSpPr/>
          <p:nvPr/>
        </p:nvSpPr>
        <p:spPr>
          <a:xfrm>
            <a:off x="5106161" y="5601461"/>
            <a:ext cx="763270" cy="76200"/>
          </a:xfrm>
          <a:custGeom>
            <a:avLst/>
            <a:gdLst/>
            <a:ahLst/>
            <a:cxnLst/>
            <a:rect l="l" t="t" r="r" b="b"/>
            <a:pathLst>
              <a:path w="763270" h="76200">
                <a:moveTo>
                  <a:pt x="687070" y="0"/>
                </a:moveTo>
                <a:lnTo>
                  <a:pt x="687070" y="76200"/>
                </a:lnTo>
                <a:lnTo>
                  <a:pt x="744220" y="47625"/>
                </a:lnTo>
                <a:lnTo>
                  <a:pt x="699770" y="47625"/>
                </a:lnTo>
                <a:lnTo>
                  <a:pt x="699770" y="28575"/>
                </a:lnTo>
                <a:lnTo>
                  <a:pt x="744220" y="28575"/>
                </a:lnTo>
                <a:lnTo>
                  <a:pt x="687070" y="0"/>
                </a:lnTo>
                <a:close/>
              </a:path>
              <a:path w="763270" h="76200">
                <a:moveTo>
                  <a:pt x="68707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687070" y="47625"/>
                </a:lnTo>
                <a:lnTo>
                  <a:pt x="687070" y="28575"/>
                </a:lnTo>
                <a:close/>
              </a:path>
              <a:path w="763270" h="76200">
                <a:moveTo>
                  <a:pt x="744220" y="28575"/>
                </a:moveTo>
                <a:lnTo>
                  <a:pt x="699770" y="28575"/>
                </a:lnTo>
                <a:lnTo>
                  <a:pt x="699770" y="47625"/>
                </a:lnTo>
                <a:lnTo>
                  <a:pt x="744220" y="47625"/>
                </a:lnTo>
                <a:lnTo>
                  <a:pt x="763270" y="38100"/>
                </a:lnTo>
                <a:lnTo>
                  <a:pt x="74422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6DD03E9-015B-00A9-EB6E-9DC1BC1B700F}"/>
              </a:ext>
            </a:extLst>
          </p:cNvPr>
          <p:cNvSpPr txBox="1"/>
          <p:nvPr/>
        </p:nvSpPr>
        <p:spPr>
          <a:xfrm>
            <a:off x="3241675" y="5334380"/>
            <a:ext cx="17532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671AF260-6FBF-82C2-1F9A-77E8B3535BE3}"/>
              </a:ext>
            </a:extLst>
          </p:cNvPr>
          <p:cNvGrpSpPr/>
          <p:nvPr/>
        </p:nvGrpSpPr>
        <p:grpSpPr>
          <a:xfrm>
            <a:off x="1600200" y="2221992"/>
            <a:ext cx="1930400" cy="1060450"/>
            <a:chOff x="1600200" y="2221992"/>
            <a:chExt cx="1930400" cy="1060450"/>
          </a:xfrm>
        </p:grpSpPr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BAF3FE16-00E4-A48E-92C5-B30EB19637A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00200" y="2221992"/>
              <a:ext cx="1921764" cy="560831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188AA15-3411-D808-D55B-6194DF1069E0}"/>
                </a:ext>
              </a:extLst>
            </p:cNvPr>
            <p:cNvSpPr/>
            <p:nvPr/>
          </p:nvSpPr>
          <p:spPr>
            <a:xfrm>
              <a:off x="2214626" y="2756153"/>
              <a:ext cx="1315720" cy="526415"/>
            </a:xfrm>
            <a:custGeom>
              <a:avLst/>
              <a:gdLst/>
              <a:ahLst/>
              <a:cxnLst/>
              <a:rect l="l" t="t" r="r" b="b"/>
              <a:pathLst>
                <a:path w="1315720" h="526414">
                  <a:moveTo>
                    <a:pt x="319151" y="0"/>
                  </a:moveTo>
                  <a:lnTo>
                    <a:pt x="246634" y="44577"/>
                  </a:lnTo>
                  <a:lnTo>
                    <a:pt x="270802" y="59639"/>
                  </a:lnTo>
                  <a:lnTo>
                    <a:pt x="0" y="494284"/>
                  </a:lnTo>
                  <a:lnTo>
                    <a:pt x="16256" y="504444"/>
                  </a:lnTo>
                  <a:lnTo>
                    <a:pt x="287020" y="69735"/>
                  </a:lnTo>
                  <a:lnTo>
                    <a:pt x="311277" y="84836"/>
                  </a:lnTo>
                  <a:lnTo>
                    <a:pt x="314604" y="48895"/>
                  </a:lnTo>
                  <a:lnTo>
                    <a:pt x="319151" y="0"/>
                  </a:lnTo>
                  <a:close/>
                </a:path>
                <a:path w="1315720" h="526414">
                  <a:moveTo>
                    <a:pt x="1315593" y="514858"/>
                  </a:moveTo>
                  <a:lnTo>
                    <a:pt x="981519" y="61823"/>
                  </a:lnTo>
                  <a:lnTo>
                    <a:pt x="995426" y="51562"/>
                  </a:lnTo>
                  <a:lnTo>
                    <a:pt x="1004570" y="44831"/>
                  </a:lnTo>
                  <a:lnTo>
                    <a:pt x="928624" y="6096"/>
                  </a:lnTo>
                  <a:lnTo>
                    <a:pt x="943229" y="90043"/>
                  </a:lnTo>
                  <a:lnTo>
                    <a:pt x="966165" y="73139"/>
                  </a:lnTo>
                  <a:lnTo>
                    <a:pt x="1300226" y="526161"/>
                  </a:lnTo>
                  <a:lnTo>
                    <a:pt x="1315593" y="514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4F3D5F73-F315-A42B-A7FF-2593A8F3741D}"/>
              </a:ext>
            </a:extLst>
          </p:cNvPr>
          <p:cNvSpPr txBox="1"/>
          <p:nvPr/>
        </p:nvSpPr>
        <p:spPr>
          <a:xfrm>
            <a:off x="3363214" y="3315970"/>
            <a:ext cx="1753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0288D0F9-A2B3-E396-220A-0626E57F6937}"/>
              </a:ext>
            </a:extLst>
          </p:cNvPr>
          <p:cNvSpPr txBox="1"/>
          <p:nvPr/>
        </p:nvSpPr>
        <p:spPr>
          <a:xfrm>
            <a:off x="546303" y="3302634"/>
            <a:ext cx="2543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“easy”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conditional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Gaussian)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3FCD04AF-76E6-04F3-3340-723333AD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0A76C-FA3E-4C26-B92A-808926E824BA}" type="datetime1">
              <a:rPr lang="en-US" smtClean="0"/>
              <a:t>10/1/2025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4855264-A8A5-06B8-FEEF-5B8F82118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D7B7D84-9B25-AE69-F32B-B0E8DA46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53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rtlCol="0" anchor="ctr">
            <a:spAutoFit/>
          </a:bodyPr>
          <a:lstStyle/>
          <a:p>
            <a:pPr marL="15180">
              <a:spcBef>
                <a:spcPts val="70"/>
              </a:spcBef>
            </a:pPr>
            <a:r>
              <a:rPr spc="221" dirty="0">
                <a:latin typeface="Trebuchet MS"/>
                <a:cs typeface="Trebuchet MS"/>
              </a:rPr>
              <a:t>An</a:t>
            </a:r>
            <a:r>
              <a:rPr spc="-120" dirty="0">
                <a:latin typeface="Trebuchet MS"/>
                <a:cs typeface="Trebuchet MS"/>
              </a:rPr>
              <a:t> </a:t>
            </a:r>
            <a:r>
              <a:rPr spc="60" dirty="0">
                <a:latin typeface="Trebuchet MS"/>
                <a:cs typeface="Trebuchet MS"/>
              </a:rPr>
              <a:t>Example</a:t>
            </a:r>
            <a:r>
              <a:rPr spc="-749" dirty="0">
                <a:latin typeface="Trebuchet MS"/>
                <a:cs typeface="Trebuchet MS"/>
              </a:rPr>
              <a:t> </a:t>
            </a:r>
            <a:r>
              <a:rPr sz="3375" spc="80" dirty="0">
                <a:latin typeface="Trebuchet MS"/>
                <a:cs typeface="Trebuchet MS"/>
              </a:rPr>
              <a:t>(Goersch</a:t>
            </a:r>
            <a:r>
              <a:rPr sz="3375" spc="-74" dirty="0">
                <a:latin typeface="Trebuchet MS"/>
                <a:cs typeface="Trebuchet MS"/>
              </a:rPr>
              <a:t> </a:t>
            </a:r>
            <a:r>
              <a:rPr sz="3375" spc="42" dirty="0">
                <a:latin typeface="Trebuchet MS"/>
                <a:cs typeface="Trebuchet MS"/>
              </a:rPr>
              <a:t>2016)</a:t>
            </a:r>
            <a:endParaRPr sz="3375" dirty="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04367" y="1741289"/>
            <a:ext cx="8938617" cy="4054078"/>
            <a:chOff x="114300" y="2476500"/>
            <a:chExt cx="12712700" cy="5765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" y="2476500"/>
              <a:ext cx="12712700" cy="5765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358729" y="3473701"/>
              <a:ext cx="598170" cy="615950"/>
            </a:xfrm>
            <a:custGeom>
              <a:avLst/>
              <a:gdLst/>
              <a:ahLst/>
              <a:cxnLst/>
              <a:rect l="l" t="t" r="r" b="b"/>
              <a:pathLst>
                <a:path w="598170" h="615950">
                  <a:moveTo>
                    <a:pt x="510387" y="90152"/>
                  </a:moveTo>
                  <a:lnTo>
                    <a:pt x="541912" y="128305"/>
                  </a:lnTo>
                  <a:lnTo>
                    <a:pt x="566431" y="170042"/>
                  </a:lnTo>
                  <a:lnTo>
                    <a:pt x="583945" y="214468"/>
                  </a:lnTo>
                  <a:lnTo>
                    <a:pt x="594453" y="260686"/>
                  </a:lnTo>
                  <a:lnTo>
                    <a:pt x="597956" y="307800"/>
                  </a:lnTo>
                  <a:lnTo>
                    <a:pt x="594453" y="354915"/>
                  </a:lnTo>
                  <a:lnTo>
                    <a:pt x="583945" y="401133"/>
                  </a:lnTo>
                  <a:lnTo>
                    <a:pt x="566431" y="445559"/>
                  </a:lnTo>
                  <a:lnTo>
                    <a:pt x="541912" y="487296"/>
                  </a:lnTo>
                  <a:lnTo>
                    <a:pt x="510387" y="525449"/>
                  </a:lnTo>
                  <a:lnTo>
                    <a:pt x="473328" y="557904"/>
                  </a:lnTo>
                  <a:lnTo>
                    <a:pt x="432788" y="583146"/>
                  </a:lnTo>
                  <a:lnTo>
                    <a:pt x="389635" y="601177"/>
                  </a:lnTo>
                  <a:lnTo>
                    <a:pt x="344742" y="611995"/>
                  </a:lnTo>
                  <a:lnTo>
                    <a:pt x="298978" y="615601"/>
                  </a:lnTo>
                  <a:lnTo>
                    <a:pt x="253214" y="611995"/>
                  </a:lnTo>
                  <a:lnTo>
                    <a:pt x="208320" y="601177"/>
                  </a:lnTo>
                  <a:lnTo>
                    <a:pt x="165168" y="583146"/>
                  </a:lnTo>
                  <a:lnTo>
                    <a:pt x="124627" y="557904"/>
                  </a:lnTo>
                  <a:lnTo>
                    <a:pt x="87568" y="525449"/>
                  </a:lnTo>
                  <a:lnTo>
                    <a:pt x="56043" y="487296"/>
                  </a:lnTo>
                  <a:lnTo>
                    <a:pt x="31524" y="445559"/>
                  </a:lnTo>
                  <a:lnTo>
                    <a:pt x="14010" y="401133"/>
                  </a:lnTo>
                  <a:lnTo>
                    <a:pt x="3502" y="354915"/>
                  </a:lnTo>
                  <a:lnTo>
                    <a:pt x="0" y="307800"/>
                  </a:lnTo>
                  <a:lnTo>
                    <a:pt x="3502" y="260686"/>
                  </a:lnTo>
                  <a:lnTo>
                    <a:pt x="14010" y="214468"/>
                  </a:lnTo>
                  <a:lnTo>
                    <a:pt x="31524" y="170042"/>
                  </a:lnTo>
                  <a:lnTo>
                    <a:pt x="56043" y="128305"/>
                  </a:lnTo>
                  <a:lnTo>
                    <a:pt x="87568" y="90152"/>
                  </a:lnTo>
                  <a:lnTo>
                    <a:pt x="124627" y="57697"/>
                  </a:lnTo>
                  <a:lnTo>
                    <a:pt x="165168" y="32455"/>
                  </a:lnTo>
                  <a:lnTo>
                    <a:pt x="208320" y="14424"/>
                  </a:lnTo>
                  <a:lnTo>
                    <a:pt x="253214" y="3606"/>
                  </a:lnTo>
                  <a:lnTo>
                    <a:pt x="298978" y="0"/>
                  </a:lnTo>
                  <a:lnTo>
                    <a:pt x="344742" y="3606"/>
                  </a:lnTo>
                  <a:lnTo>
                    <a:pt x="389635" y="14424"/>
                  </a:lnTo>
                  <a:lnTo>
                    <a:pt x="432788" y="32455"/>
                  </a:lnTo>
                  <a:lnTo>
                    <a:pt x="473328" y="57697"/>
                  </a:lnTo>
                  <a:lnTo>
                    <a:pt x="510387" y="90152"/>
                  </a:lnTo>
                  <a:close/>
                </a:path>
              </a:pathLst>
            </a:custGeom>
            <a:ln w="38100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6" name="object 6"/>
            <p:cNvSpPr/>
            <p:nvPr/>
          </p:nvSpPr>
          <p:spPr>
            <a:xfrm>
              <a:off x="9405190" y="2956280"/>
              <a:ext cx="509905" cy="497205"/>
            </a:xfrm>
            <a:custGeom>
              <a:avLst/>
              <a:gdLst/>
              <a:ahLst/>
              <a:cxnLst/>
              <a:rect l="l" t="t" r="r" b="b"/>
              <a:pathLst>
                <a:path w="509904" h="497204">
                  <a:moveTo>
                    <a:pt x="435508" y="72163"/>
                  </a:moveTo>
                  <a:lnTo>
                    <a:pt x="465090" y="106713"/>
                  </a:lnTo>
                  <a:lnTo>
                    <a:pt x="487277" y="144750"/>
                  </a:lnTo>
                  <a:lnTo>
                    <a:pt x="502068" y="185277"/>
                  </a:lnTo>
                  <a:lnTo>
                    <a:pt x="509464" y="227300"/>
                  </a:lnTo>
                  <a:lnTo>
                    <a:pt x="509464" y="269820"/>
                  </a:lnTo>
                  <a:lnTo>
                    <a:pt x="502068" y="311843"/>
                  </a:lnTo>
                  <a:lnTo>
                    <a:pt x="487277" y="352370"/>
                  </a:lnTo>
                  <a:lnTo>
                    <a:pt x="465090" y="390407"/>
                  </a:lnTo>
                  <a:lnTo>
                    <a:pt x="435508" y="424957"/>
                  </a:lnTo>
                  <a:lnTo>
                    <a:pt x="400101" y="453822"/>
                  </a:lnTo>
                  <a:lnTo>
                    <a:pt x="361119" y="475471"/>
                  </a:lnTo>
                  <a:lnTo>
                    <a:pt x="319585" y="489904"/>
                  </a:lnTo>
                  <a:lnTo>
                    <a:pt x="276520" y="497121"/>
                  </a:lnTo>
                  <a:lnTo>
                    <a:pt x="232943" y="497121"/>
                  </a:lnTo>
                  <a:lnTo>
                    <a:pt x="189878" y="489904"/>
                  </a:lnTo>
                  <a:lnTo>
                    <a:pt x="148344" y="475471"/>
                  </a:lnTo>
                  <a:lnTo>
                    <a:pt x="109362" y="453822"/>
                  </a:lnTo>
                  <a:lnTo>
                    <a:pt x="73955" y="424957"/>
                  </a:lnTo>
                  <a:lnTo>
                    <a:pt x="44373" y="390407"/>
                  </a:lnTo>
                  <a:lnTo>
                    <a:pt x="22186" y="352370"/>
                  </a:lnTo>
                  <a:lnTo>
                    <a:pt x="7395" y="311843"/>
                  </a:lnTo>
                  <a:lnTo>
                    <a:pt x="0" y="269820"/>
                  </a:lnTo>
                  <a:lnTo>
                    <a:pt x="0" y="227300"/>
                  </a:lnTo>
                  <a:lnTo>
                    <a:pt x="7395" y="185277"/>
                  </a:lnTo>
                  <a:lnTo>
                    <a:pt x="22186" y="144750"/>
                  </a:lnTo>
                  <a:lnTo>
                    <a:pt x="44373" y="106713"/>
                  </a:lnTo>
                  <a:lnTo>
                    <a:pt x="73955" y="72163"/>
                  </a:lnTo>
                  <a:lnTo>
                    <a:pt x="109362" y="43298"/>
                  </a:lnTo>
                  <a:lnTo>
                    <a:pt x="148344" y="21649"/>
                  </a:lnTo>
                  <a:lnTo>
                    <a:pt x="189878" y="7216"/>
                  </a:lnTo>
                  <a:lnTo>
                    <a:pt x="232943" y="0"/>
                  </a:lnTo>
                  <a:lnTo>
                    <a:pt x="276520" y="0"/>
                  </a:lnTo>
                  <a:lnTo>
                    <a:pt x="319585" y="7216"/>
                  </a:lnTo>
                  <a:lnTo>
                    <a:pt x="361119" y="21649"/>
                  </a:lnTo>
                  <a:lnTo>
                    <a:pt x="400101" y="43298"/>
                  </a:lnTo>
                  <a:lnTo>
                    <a:pt x="435508" y="72163"/>
                  </a:lnTo>
                  <a:close/>
                </a:path>
              </a:pathLst>
            </a:custGeom>
            <a:ln w="38100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7" name="object 7"/>
            <p:cNvSpPr/>
            <p:nvPr/>
          </p:nvSpPr>
          <p:spPr>
            <a:xfrm>
              <a:off x="3948935" y="2918085"/>
              <a:ext cx="5337810" cy="732790"/>
            </a:xfrm>
            <a:custGeom>
              <a:avLst/>
              <a:gdLst/>
              <a:ahLst/>
              <a:cxnLst/>
              <a:rect l="l" t="t" r="r" b="b"/>
              <a:pathLst>
                <a:path w="5337809" h="732789">
                  <a:moveTo>
                    <a:pt x="0" y="732297"/>
                  </a:moveTo>
                  <a:lnTo>
                    <a:pt x="47376" y="712027"/>
                  </a:lnTo>
                  <a:lnTo>
                    <a:pt x="94781" y="692042"/>
                  </a:lnTo>
                  <a:lnTo>
                    <a:pt x="142212" y="672341"/>
                  </a:lnTo>
                  <a:lnTo>
                    <a:pt x="189671" y="652925"/>
                  </a:lnTo>
                  <a:lnTo>
                    <a:pt x="237158" y="633793"/>
                  </a:lnTo>
                  <a:lnTo>
                    <a:pt x="284671" y="614945"/>
                  </a:lnTo>
                  <a:lnTo>
                    <a:pt x="332212" y="596383"/>
                  </a:lnTo>
                  <a:lnTo>
                    <a:pt x="379780" y="578104"/>
                  </a:lnTo>
                  <a:lnTo>
                    <a:pt x="427376" y="560110"/>
                  </a:lnTo>
                  <a:lnTo>
                    <a:pt x="474999" y="542401"/>
                  </a:lnTo>
                  <a:lnTo>
                    <a:pt x="522649" y="524976"/>
                  </a:lnTo>
                  <a:lnTo>
                    <a:pt x="570327" y="507835"/>
                  </a:lnTo>
                  <a:lnTo>
                    <a:pt x="618032" y="490979"/>
                  </a:lnTo>
                  <a:lnTo>
                    <a:pt x="665764" y="474408"/>
                  </a:lnTo>
                  <a:lnTo>
                    <a:pt x="713524" y="458121"/>
                  </a:lnTo>
                  <a:lnTo>
                    <a:pt x="761311" y="442118"/>
                  </a:lnTo>
                  <a:lnTo>
                    <a:pt x="809125" y="426400"/>
                  </a:lnTo>
                  <a:lnTo>
                    <a:pt x="856966" y="410967"/>
                  </a:lnTo>
                  <a:lnTo>
                    <a:pt x="904835" y="395818"/>
                  </a:lnTo>
                  <a:lnTo>
                    <a:pt x="952732" y="380953"/>
                  </a:lnTo>
                  <a:lnTo>
                    <a:pt x="1000655" y="366373"/>
                  </a:lnTo>
                  <a:lnTo>
                    <a:pt x="1048606" y="352077"/>
                  </a:lnTo>
                  <a:lnTo>
                    <a:pt x="1096584" y="338066"/>
                  </a:lnTo>
                  <a:lnTo>
                    <a:pt x="1144590" y="324339"/>
                  </a:lnTo>
                  <a:lnTo>
                    <a:pt x="1192623" y="310897"/>
                  </a:lnTo>
                  <a:lnTo>
                    <a:pt x="1240683" y="297739"/>
                  </a:lnTo>
                  <a:lnTo>
                    <a:pt x="1288771" y="284866"/>
                  </a:lnTo>
                  <a:lnTo>
                    <a:pt x="1336886" y="272277"/>
                  </a:lnTo>
                  <a:lnTo>
                    <a:pt x="1385028" y="259973"/>
                  </a:lnTo>
                  <a:lnTo>
                    <a:pt x="1433197" y="247953"/>
                  </a:lnTo>
                  <a:lnTo>
                    <a:pt x="1481394" y="236218"/>
                  </a:lnTo>
                  <a:lnTo>
                    <a:pt x="1529619" y="224767"/>
                  </a:lnTo>
                  <a:lnTo>
                    <a:pt x="1577870" y="213601"/>
                  </a:lnTo>
                  <a:lnTo>
                    <a:pt x="1626149" y="202719"/>
                  </a:lnTo>
                  <a:lnTo>
                    <a:pt x="1674455" y="192121"/>
                  </a:lnTo>
                  <a:lnTo>
                    <a:pt x="1722789" y="181808"/>
                  </a:lnTo>
                  <a:lnTo>
                    <a:pt x="1771150" y="171780"/>
                  </a:lnTo>
                  <a:lnTo>
                    <a:pt x="1819538" y="162036"/>
                  </a:lnTo>
                  <a:lnTo>
                    <a:pt x="1867953" y="152577"/>
                  </a:lnTo>
                  <a:lnTo>
                    <a:pt x="1916396" y="143402"/>
                  </a:lnTo>
                  <a:lnTo>
                    <a:pt x="1964867" y="134511"/>
                  </a:lnTo>
                  <a:lnTo>
                    <a:pt x="2013364" y="125905"/>
                  </a:lnTo>
                  <a:lnTo>
                    <a:pt x="2061889" y="117584"/>
                  </a:lnTo>
                  <a:lnTo>
                    <a:pt x="2110441" y="109546"/>
                  </a:lnTo>
                  <a:lnTo>
                    <a:pt x="2159021" y="101794"/>
                  </a:lnTo>
                  <a:lnTo>
                    <a:pt x="2207628" y="94326"/>
                  </a:lnTo>
                  <a:lnTo>
                    <a:pt x="2256262" y="87142"/>
                  </a:lnTo>
                  <a:lnTo>
                    <a:pt x="2304923" y="80243"/>
                  </a:lnTo>
                  <a:lnTo>
                    <a:pt x="2353612" y="73628"/>
                  </a:lnTo>
                  <a:lnTo>
                    <a:pt x="2402328" y="67298"/>
                  </a:lnTo>
                  <a:lnTo>
                    <a:pt x="2451072" y="61253"/>
                  </a:lnTo>
                  <a:lnTo>
                    <a:pt x="2499843" y="55491"/>
                  </a:lnTo>
                  <a:lnTo>
                    <a:pt x="2548641" y="50015"/>
                  </a:lnTo>
                  <a:lnTo>
                    <a:pt x="2597466" y="44822"/>
                  </a:lnTo>
                  <a:lnTo>
                    <a:pt x="2646319" y="39915"/>
                  </a:lnTo>
                  <a:lnTo>
                    <a:pt x="2695199" y="35291"/>
                  </a:lnTo>
                  <a:lnTo>
                    <a:pt x="2744107" y="30953"/>
                  </a:lnTo>
                  <a:lnTo>
                    <a:pt x="2793042" y="26898"/>
                  </a:lnTo>
                  <a:lnTo>
                    <a:pt x="2842004" y="23128"/>
                  </a:lnTo>
                  <a:lnTo>
                    <a:pt x="2890993" y="19643"/>
                  </a:lnTo>
                  <a:lnTo>
                    <a:pt x="2940010" y="16442"/>
                  </a:lnTo>
                  <a:lnTo>
                    <a:pt x="2989055" y="13526"/>
                  </a:lnTo>
                  <a:lnTo>
                    <a:pt x="3038126" y="10894"/>
                  </a:lnTo>
                  <a:lnTo>
                    <a:pt x="3087225" y="8546"/>
                  </a:lnTo>
                  <a:lnTo>
                    <a:pt x="3136351" y="6483"/>
                  </a:lnTo>
                  <a:lnTo>
                    <a:pt x="3185505" y="4705"/>
                  </a:lnTo>
                  <a:lnTo>
                    <a:pt x="3234685" y="3211"/>
                  </a:lnTo>
                  <a:lnTo>
                    <a:pt x="3283894" y="2001"/>
                  </a:lnTo>
                  <a:lnTo>
                    <a:pt x="3333129" y="1076"/>
                  </a:lnTo>
                  <a:lnTo>
                    <a:pt x="3382392" y="436"/>
                  </a:lnTo>
                  <a:lnTo>
                    <a:pt x="3431682" y="80"/>
                  </a:lnTo>
                  <a:lnTo>
                    <a:pt x="3480999" y="8"/>
                  </a:lnTo>
                  <a:lnTo>
                    <a:pt x="3530344" y="221"/>
                  </a:lnTo>
                  <a:lnTo>
                    <a:pt x="3579716" y="719"/>
                  </a:lnTo>
                  <a:lnTo>
                    <a:pt x="3629116" y="1500"/>
                  </a:lnTo>
                  <a:lnTo>
                    <a:pt x="3678543" y="2567"/>
                  </a:lnTo>
                  <a:lnTo>
                    <a:pt x="3727997" y="3918"/>
                  </a:lnTo>
                  <a:lnTo>
                    <a:pt x="3777478" y="5553"/>
                  </a:lnTo>
                  <a:lnTo>
                    <a:pt x="3826987" y="7473"/>
                  </a:lnTo>
                  <a:lnTo>
                    <a:pt x="3876523" y="9677"/>
                  </a:lnTo>
                  <a:lnTo>
                    <a:pt x="3926087" y="12166"/>
                  </a:lnTo>
                  <a:lnTo>
                    <a:pt x="3975678" y="14939"/>
                  </a:lnTo>
                  <a:lnTo>
                    <a:pt x="4025296" y="17997"/>
                  </a:lnTo>
                  <a:lnTo>
                    <a:pt x="4074941" y="21339"/>
                  </a:lnTo>
                  <a:lnTo>
                    <a:pt x="4124614" y="24966"/>
                  </a:lnTo>
                  <a:lnTo>
                    <a:pt x="4174314" y="28877"/>
                  </a:lnTo>
                  <a:lnTo>
                    <a:pt x="4224042" y="33072"/>
                  </a:lnTo>
                  <a:lnTo>
                    <a:pt x="4273796" y="37553"/>
                  </a:lnTo>
                  <a:lnTo>
                    <a:pt x="4323579" y="42317"/>
                  </a:lnTo>
                  <a:lnTo>
                    <a:pt x="4373388" y="47366"/>
                  </a:lnTo>
                  <a:lnTo>
                    <a:pt x="4423225" y="52700"/>
                  </a:lnTo>
                  <a:lnTo>
                    <a:pt x="4473089" y="58318"/>
                  </a:lnTo>
                  <a:lnTo>
                    <a:pt x="4522980" y="64220"/>
                  </a:lnTo>
                  <a:lnTo>
                    <a:pt x="4572899" y="70407"/>
                  </a:lnTo>
                  <a:lnTo>
                    <a:pt x="4622845" y="76879"/>
                  </a:lnTo>
                  <a:lnTo>
                    <a:pt x="4672819" y="83635"/>
                  </a:lnTo>
                  <a:lnTo>
                    <a:pt x="4722820" y="90675"/>
                  </a:lnTo>
                  <a:lnTo>
                    <a:pt x="4772848" y="98000"/>
                  </a:lnTo>
                  <a:lnTo>
                    <a:pt x="4822903" y="105610"/>
                  </a:lnTo>
                  <a:lnTo>
                    <a:pt x="4872986" y="113504"/>
                  </a:lnTo>
                  <a:lnTo>
                    <a:pt x="4923096" y="121682"/>
                  </a:lnTo>
                  <a:lnTo>
                    <a:pt x="4973233" y="130145"/>
                  </a:lnTo>
                  <a:lnTo>
                    <a:pt x="5023398" y="138892"/>
                  </a:lnTo>
                  <a:lnTo>
                    <a:pt x="5073590" y="147924"/>
                  </a:lnTo>
                  <a:lnTo>
                    <a:pt x="5123810" y="157240"/>
                  </a:lnTo>
                  <a:lnTo>
                    <a:pt x="5174057" y="166841"/>
                  </a:lnTo>
                  <a:lnTo>
                    <a:pt x="5224331" y="176727"/>
                  </a:lnTo>
                  <a:lnTo>
                    <a:pt x="5274632" y="186896"/>
                  </a:lnTo>
                  <a:lnTo>
                    <a:pt x="5324961" y="197351"/>
                  </a:lnTo>
                  <a:lnTo>
                    <a:pt x="5337350" y="20003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66"/>
            </a:p>
          </p:txBody>
        </p:sp>
        <p:sp>
          <p:nvSpPr>
            <p:cNvPr id="8" name="object 8"/>
            <p:cNvSpPr/>
            <p:nvPr/>
          </p:nvSpPr>
          <p:spPr>
            <a:xfrm>
              <a:off x="9260945" y="3055848"/>
              <a:ext cx="132080" cy="119380"/>
            </a:xfrm>
            <a:custGeom>
              <a:avLst/>
              <a:gdLst/>
              <a:ahLst/>
              <a:cxnLst/>
              <a:rect l="l" t="t" r="r" b="b"/>
              <a:pathLst>
                <a:path w="132079" h="119380">
                  <a:moveTo>
                    <a:pt x="25858" y="0"/>
                  </a:moveTo>
                  <a:lnTo>
                    <a:pt x="0" y="119146"/>
                  </a:lnTo>
                  <a:lnTo>
                    <a:pt x="132074" y="85431"/>
                  </a:lnTo>
                  <a:lnTo>
                    <a:pt x="2585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66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51039" y="6072188"/>
            <a:ext cx="178594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b="1" spc="-35" dirty="0">
                <a:latin typeface="Arial"/>
                <a:cs typeface="Arial"/>
              </a:rPr>
              <a:t>z</a:t>
            </a:r>
            <a:endParaRPr sz="2531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26649" y="6072188"/>
            <a:ext cx="196900" cy="39848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531" b="1" spc="-35" dirty="0">
                <a:latin typeface="Arial"/>
                <a:cs typeface="Arial"/>
              </a:rPr>
              <a:t>x</a:t>
            </a:r>
            <a:endParaRPr sz="2531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37671" y="1656031"/>
            <a:ext cx="108049" cy="37693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391" spc="-35" dirty="0">
                <a:latin typeface="Arial MT"/>
                <a:cs typeface="Arial MT"/>
              </a:rPr>
              <a:t>f</a:t>
            </a:r>
            <a:endParaRPr sz="2391">
              <a:latin typeface="Arial MT"/>
              <a:cs typeface="Arial MT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A67F972-AA3E-242F-94D2-B51FD2F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D09F1-CBF6-491C-8EA5-E41C61662889}" type="datetime1">
              <a:rPr lang="en-US" smtClean="0"/>
              <a:t>10/1/2025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AB5E008-8A3B-D98F-875B-BA4ABAA6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946C4D4-D370-36DF-59A2-54A98C2E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865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Latent</a:t>
            </a:r>
            <a:r>
              <a:rPr dirty="0"/>
              <a:t> </a:t>
            </a:r>
            <a:r>
              <a:rPr spc="-10" dirty="0"/>
              <a:t>variable</a:t>
            </a:r>
            <a:r>
              <a:rPr dirty="0"/>
              <a:t> </a:t>
            </a:r>
            <a:r>
              <a:rPr spc="-5" dirty="0"/>
              <a:t>models</a:t>
            </a:r>
            <a:r>
              <a:rPr dirty="0"/>
              <a:t> in deep</a:t>
            </a:r>
            <a:r>
              <a:rPr spc="5" dirty="0"/>
              <a:t> </a:t>
            </a:r>
            <a:r>
              <a:rPr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4677" y="2417826"/>
            <a:ext cx="231013" cy="762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90217" y="1860676"/>
            <a:ext cx="707390" cy="1141730"/>
            <a:chOff x="1990217" y="1860676"/>
            <a:chExt cx="707390" cy="11417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392" y="1863851"/>
              <a:ext cx="701039" cy="11353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93392" y="1863851"/>
              <a:ext cx="701040" cy="1135380"/>
            </a:xfrm>
            <a:custGeom>
              <a:avLst/>
              <a:gdLst/>
              <a:ahLst/>
              <a:cxnLst/>
              <a:rect l="l" t="t" r="r" b="b"/>
              <a:pathLst>
                <a:path w="701039" h="1135380">
                  <a:moveTo>
                    <a:pt x="701039" y="1135380"/>
                  </a:moveTo>
                  <a:lnTo>
                    <a:pt x="701039" y="0"/>
                  </a:lnTo>
                  <a:lnTo>
                    <a:pt x="0" y="227075"/>
                  </a:lnTo>
                  <a:lnTo>
                    <a:pt x="0" y="908303"/>
                  </a:lnTo>
                  <a:lnTo>
                    <a:pt x="701039" y="1135380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3398" y="2394966"/>
            <a:ext cx="231012" cy="76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3260" y="1863851"/>
            <a:ext cx="1930908" cy="11399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1388" y="3172967"/>
            <a:ext cx="765048" cy="2529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808" y="3172967"/>
            <a:ext cx="435864" cy="2529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024" y="3585971"/>
            <a:ext cx="774192" cy="2590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33678" y="4051807"/>
            <a:ext cx="3005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Using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15" dirty="0">
                <a:latin typeface="Calibri"/>
                <a:cs typeface="Calibri"/>
              </a:rPr>
              <a:t> 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generation</a:t>
            </a:r>
            <a:r>
              <a:rPr sz="1800" spc="-1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25296" y="4578096"/>
            <a:ext cx="2026919" cy="2529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25296" y="5041391"/>
            <a:ext cx="2269236" cy="25298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93393" y="4532503"/>
            <a:ext cx="7845425" cy="1005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8465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“generate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spc="-5" dirty="0">
                <a:latin typeface="Calibri"/>
                <a:cs typeface="Calibri"/>
              </a:rPr>
              <a:t> of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numbers”</a:t>
            </a:r>
            <a:endParaRPr sz="1800" dirty="0">
              <a:latin typeface="Calibri"/>
              <a:cs typeface="Calibri"/>
            </a:endParaRPr>
          </a:p>
          <a:p>
            <a:pPr marL="2958465">
              <a:lnSpc>
                <a:spcPct val="100000"/>
              </a:lnSpc>
              <a:spcBef>
                <a:spcPts val="1485"/>
              </a:spcBef>
            </a:pPr>
            <a:r>
              <a:rPr sz="1800" spc="-5" dirty="0">
                <a:latin typeface="Calibri"/>
                <a:cs typeface="Calibri"/>
              </a:rPr>
              <a:t>“turn that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vector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spc="-5" dirty="0">
                <a:latin typeface="Calibri"/>
                <a:cs typeface="Calibri"/>
              </a:rPr>
              <a:t>image”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29741" y="1909445"/>
            <a:ext cx="238125" cy="1045844"/>
            <a:chOff x="1229741" y="1909445"/>
            <a:chExt cx="238125" cy="1045844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32916" y="1912620"/>
              <a:ext cx="231647" cy="10393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32916" y="1912620"/>
              <a:ext cx="231775" cy="1039494"/>
            </a:xfrm>
            <a:custGeom>
              <a:avLst/>
              <a:gdLst/>
              <a:ahLst/>
              <a:cxnLst/>
              <a:rect l="l" t="t" r="r" b="b"/>
              <a:pathLst>
                <a:path w="231775" h="1039494">
                  <a:moveTo>
                    <a:pt x="0" y="1039367"/>
                  </a:moveTo>
                  <a:lnTo>
                    <a:pt x="231647" y="1039367"/>
                  </a:lnTo>
                  <a:lnTo>
                    <a:pt x="231647" y="0"/>
                  </a:lnTo>
                  <a:lnTo>
                    <a:pt x="0" y="0"/>
                  </a:lnTo>
                  <a:lnTo>
                    <a:pt x="0" y="10393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5400" y="2378964"/>
              <a:ext cx="108203" cy="1143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022847" y="1882139"/>
            <a:ext cx="4447540" cy="92392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1115" rIns="0" bIns="0" rtlCol="0">
            <a:spAutoFit/>
          </a:bodyPr>
          <a:lstStyle/>
          <a:p>
            <a:pPr marL="90805" marR="43815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latent</a:t>
            </a:r>
            <a:r>
              <a:rPr sz="1800" spc="-5" dirty="0">
                <a:latin typeface="Calibri"/>
                <a:cs typeface="Calibri"/>
              </a:rPr>
              <a:t> variable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deep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generative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 </a:t>
            </a:r>
            <a:r>
              <a:rPr sz="1800" spc="-5" dirty="0">
                <a:latin typeface="Calibri"/>
                <a:cs typeface="Calibri"/>
              </a:rPr>
              <a:t>is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(usually)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just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 </a:t>
            </a:r>
            <a:r>
              <a:rPr sz="1800" spc="-5" dirty="0">
                <a:latin typeface="Calibri"/>
                <a:cs typeface="Calibri"/>
              </a:rPr>
              <a:t>that turns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random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numbers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valid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samples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5" dirty="0">
                <a:latin typeface="Calibri"/>
                <a:cs typeface="Calibri"/>
              </a:rPr>
              <a:t> images)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22847" y="3008562"/>
            <a:ext cx="4447540" cy="64643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805" marR="263525">
              <a:lnSpc>
                <a:spcPct val="100000"/>
              </a:lnSpc>
              <a:spcBef>
                <a:spcPts val="240"/>
              </a:spcBef>
            </a:pPr>
            <a:r>
              <a:rPr sz="1800" spc="-10" dirty="0">
                <a:latin typeface="Calibri"/>
                <a:cs typeface="Calibri"/>
              </a:rPr>
              <a:t>There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models: </a:t>
            </a:r>
            <a:r>
              <a:rPr sz="1800" spc="-20" dirty="0">
                <a:latin typeface="Calibri"/>
                <a:cs typeface="Calibri"/>
              </a:rPr>
              <a:t>VAEs,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GANs,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normalizing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flows,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6EE157FE-2CE4-4323-2B32-3100ABF7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CFAF7-8956-4BEA-988D-CF8A6717BEAC}" type="datetime1">
              <a:rPr lang="en-US" smtClean="0"/>
              <a:t>10/1/2025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5AA33998-46C6-6110-0C7D-50F04A32A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3767C3B4-7BAC-812B-382A-79D51140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076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Representing</a:t>
            </a:r>
            <a:r>
              <a:rPr spc="-30" dirty="0"/>
              <a:t> </a:t>
            </a:r>
            <a:r>
              <a:rPr spc="-25" dirty="0"/>
              <a:t>latent</a:t>
            </a:r>
            <a:r>
              <a:rPr spc="25" dirty="0"/>
              <a:t> </a:t>
            </a:r>
            <a:r>
              <a:rPr spc="-10" dirty="0"/>
              <a:t>variable</a:t>
            </a:r>
            <a:r>
              <a:rPr spc="-15" dirty="0"/>
              <a:t> </a:t>
            </a:r>
            <a:r>
              <a:rPr spc="-5" dirty="0"/>
              <a:t>models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14677" y="1661541"/>
            <a:ext cx="1419860" cy="1764664"/>
            <a:chOff x="1614677" y="1661541"/>
            <a:chExt cx="1419860" cy="17646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677" y="2417826"/>
              <a:ext cx="231013" cy="76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391" y="1863852"/>
              <a:ext cx="701039" cy="11353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93391" y="1863852"/>
              <a:ext cx="701040" cy="1135380"/>
            </a:xfrm>
            <a:custGeom>
              <a:avLst/>
              <a:gdLst/>
              <a:ahLst/>
              <a:cxnLst/>
              <a:rect l="l" t="t" r="r" b="b"/>
              <a:pathLst>
                <a:path w="701039" h="1135380">
                  <a:moveTo>
                    <a:pt x="701039" y="1135380"/>
                  </a:moveTo>
                  <a:lnTo>
                    <a:pt x="701039" y="0"/>
                  </a:lnTo>
                  <a:lnTo>
                    <a:pt x="0" y="227075"/>
                  </a:lnTo>
                  <a:lnTo>
                    <a:pt x="0" y="908303"/>
                  </a:lnTo>
                  <a:lnTo>
                    <a:pt x="701039" y="1135380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3397" y="2394966"/>
              <a:ext cx="231012" cy="76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1387" y="3172968"/>
              <a:ext cx="765048" cy="2529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86127" y="1690116"/>
              <a:ext cx="1173480" cy="1483360"/>
            </a:xfrm>
            <a:custGeom>
              <a:avLst/>
              <a:gdLst/>
              <a:ahLst/>
              <a:cxnLst/>
              <a:rect l="l" t="t" r="r" b="b"/>
              <a:pathLst>
                <a:path w="1173480" h="1483360">
                  <a:moveTo>
                    <a:pt x="0" y="741426"/>
                  </a:moveTo>
                  <a:lnTo>
                    <a:pt x="1472" y="688479"/>
                  </a:lnTo>
                  <a:lnTo>
                    <a:pt x="5825" y="636538"/>
                  </a:lnTo>
                  <a:lnTo>
                    <a:pt x="12958" y="585726"/>
                  </a:lnTo>
                  <a:lnTo>
                    <a:pt x="22772" y="536169"/>
                  </a:lnTo>
                  <a:lnTo>
                    <a:pt x="35168" y="487992"/>
                  </a:lnTo>
                  <a:lnTo>
                    <a:pt x="50048" y="441322"/>
                  </a:lnTo>
                  <a:lnTo>
                    <a:pt x="67310" y="396284"/>
                  </a:lnTo>
                  <a:lnTo>
                    <a:pt x="86858" y="353003"/>
                  </a:lnTo>
                  <a:lnTo>
                    <a:pt x="108590" y="311605"/>
                  </a:lnTo>
                  <a:lnTo>
                    <a:pt x="132409" y="272215"/>
                  </a:lnTo>
                  <a:lnTo>
                    <a:pt x="158214" y="234958"/>
                  </a:lnTo>
                  <a:lnTo>
                    <a:pt x="185907" y="199961"/>
                  </a:lnTo>
                  <a:lnTo>
                    <a:pt x="215388" y="167349"/>
                  </a:lnTo>
                  <a:lnTo>
                    <a:pt x="246559" y="137247"/>
                  </a:lnTo>
                  <a:lnTo>
                    <a:pt x="279319" y="109781"/>
                  </a:lnTo>
                  <a:lnTo>
                    <a:pt x="313570" y="85076"/>
                  </a:lnTo>
                  <a:lnTo>
                    <a:pt x="349213" y="63257"/>
                  </a:lnTo>
                  <a:lnTo>
                    <a:pt x="386149" y="44452"/>
                  </a:lnTo>
                  <a:lnTo>
                    <a:pt x="424277" y="28784"/>
                  </a:lnTo>
                  <a:lnTo>
                    <a:pt x="463500" y="16379"/>
                  </a:lnTo>
                  <a:lnTo>
                    <a:pt x="503717" y="7363"/>
                  </a:lnTo>
                  <a:lnTo>
                    <a:pt x="544830" y="1861"/>
                  </a:lnTo>
                  <a:lnTo>
                    <a:pt x="586740" y="0"/>
                  </a:lnTo>
                  <a:lnTo>
                    <a:pt x="628649" y="1861"/>
                  </a:lnTo>
                  <a:lnTo>
                    <a:pt x="669762" y="7363"/>
                  </a:lnTo>
                  <a:lnTo>
                    <a:pt x="709979" y="16379"/>
                  </a:lnTo>
                  <a:lnTo>
                    <a:pt x="749202" y="28784"/>
                  </a:lnTo>
                  <a:lnTo>
                    <a:pt x="787330" y="44452"/>
                  </a:lnTo>
                  <a:lnTo>
                    <a:pt x="824266" y="63257"/>
                  </a:lnTo>
                  <a:lnTo>
                    <a:pt x="859909" y="85076"/>
                  </a:lnTo>
                  <a:lnTo>
                    <a:pt x="894160" y="109781"/>
                  </a:lnTo>
                  <a:lnTo>
                    <a:pt x="926920" y="137247"/>
                  </a:lnTo>
                  <a:lnTo>
                    <a:pt x="958091" y="167349"/>
                  </a:lnTo>
                  <a:lnTo>
                    <a:pt x="987572" y="199961"/>
                  </a:lnTo>
                  <a:lnTo>
                    <a:pt x="1015265" y="234958"/>
                  </a:lnTo>
                  <a:lnTo>
                    <a:pt x="1041070" y="272215"/>
                  </a:lnTo>
                  <a:lnTo>
                    <a:pt x="1064889" y="311605"/>
                  </a:lnTo>
                  <a:lnTo>
                    <a:pt x="1086621" y="353003"/>
                  </a:lnTo>
                  <a:lnTo>
                    <a:pt x="1106169" y="396284"/>
                  </a:lnTo>
                  <a:lnTo>
                    <a:pt x="1123431" y="441322"/>
                  </a:lnTo>
                  <a:lnTo>
                    <a:pt x="1138311" y="487992"/>
                  </a:lnTo>
                  <a:lnTo>
                    <a:pt x="1150707" y="536169"/>
                  </a:lnTo>
                  <a:lnTo>
                    <a:pt x="1160521" y="585726"/>
                  </a:lnTo>
                  <a:lnTo>
                    <a:pt x="1167654" y="636538"/>
                  </a:lnTo>
                  <a:lnTo>
                    <a:pt x="1172007" y="688479"/>
                  </a:lnTo>
                  <a:lnTo>
                    <a:pt x="1173480" y="741426"/>
                  </a:lnTo>
                  <a:lnTo>
                    <a:pt x="1172007" y="794372"/>
                  </a:lnTo>
                  <a:lnTo>
                    <a:pt x="1167654" y="846313"/>
                  </a:lnTo>
                  <a:lnTo>
                    <a:pt x="1160521" y="897125"/>
                  </a:lnTo>
                  <a:lnTo>
                    <a:pt x="1150707" y="946682"/>
                  </a:lnTo>
                  <a:lnTo>
                    <a:pt x="1138311" y="994859"/>
                  </a:lnTo>
                  <a:lnTo>
                    <a:pt x="1123431" y="1041529"/>
                  </a:lnTo>
                  <a:lnTo>
                    <a:pt x="1106169" y="1086567"/>
                  </a:lnTo>
                  <a:lnTo>
                    <a:pt x="1086621" y="1129848"/>
                  </a:lnTo>
                  <a:lnTo>
                    <a:pt x="1064889" y="1171246"/>
                  </a:lnTo>
                  <a:lnTo>
                    <a:pt x="1041070" y="1210636"/>
                  </a:lnTo>
                  <a:lnTo>
                    <a:pt x="1015265" y="1247893"/>
                  </a:lnTo>
                  <a:lnTo>
                    <a:pt x="987572" y="1282890"/>
                  </a:lnTo>
                  <a:lnTo>
                    <a:pt x="958091" y="1315502"/>
                  </a:lnTo>
                  <a:lnTo>
                    <a:pt x="926920" y="1345604"/>
                  </a:lnTo>
                  <a:lnTo>
                    <a:pt x="894160" y="1373070"/>
                  </a:lnTo>
                  <a:lnTo>
                    <a:pt x="859909" y="1397775"/>
                  </a:lnTo>
                  <a:lnTo>
                    <a:pt x="824266" y="1419594"/>
                  </a:lnTo>
                  <a:lnTo>
                    <a:pt x="787330" y="1438399"/>
                  </a:lnTo>
                  <a:lnTo>
                    <a:pt x="749202" y="1454067"/>
                  </a:lnTo>
                  <a:lnTo>
                    <a:pt x="709979" y="1466472"/>
                  </a:lnTo>
                  <a:lnTo>
                    <a:pt x="669762" y="1475488"/>
                  </a:lnTo>
                  <a:lnTo>
                    <a:pt x="628649" y="1480990"/>
                  </a:lnTo>
                  <a:lnTo>
                    <a:pt x="586740" y="1482852"/>
                  </a:lnTo>
                  <a:lnTo>
                    <a:pt x="544830" y="1480990"/>
                  </a:lnTo>
                  <a:lnTo>
                    <a:pt x="503717" y="1475488"/>
                  </a:lnTo>
                  <a:lnTo>
                    <a:pt x="463500" y="1466472"/>
                  </a:lnTo>
                  <a:lnTo>
                    <a:pt x="424277" y="1454067"/>
                  </a:lnTo>
                  <a:lnTo>
                    <a:pt x="386149" y="1438399"/>
                  </a:lnTo>
                  <a:lnTo>
                    <a:pt x="349213" y="1419594"/>
                  </a:lnTo>
                  <a:lnTo>
                    <a:pt x="313570" y="1397775"/>
                  </a:lnTo>
                  <a:lnTo>
                    <a:pt x="279319" y="1373070"/>
                  </a:lnTo>
                  <a:lnTo>
                    <a:pt x="246559" y="1345604"/>
                  </a:lnTo>
                  <a:lnTo>
                    <a:pt x="215388" y="1315502"/>
                  </a:lnTo>
                  <a:lnTo>
                    <a:pt x="185907" y="1282890"/>
                  </a:lnTo>
                  <a:lnTo>
                    <a:pt x="158214" y="1247893"/>
                  </a:lnTo>
                  <a:lnTo>
                    <a:pt x="132409" y="1210636"/>
                  </a:lnTo>
                  <a:lnTo>
                    <a:pt x="108590" y="1171246"/>
                  </a:lnTo>
                  <a:lnTo>
                    <a:pt x="86858" y="1129848"/>
                  </a:lnTo>
                  <a:lnTo>
                    <a:pt x="67310" y="1086567"/>
                  </a:lnTo>
                  <a:lnTo>
                    <a:pt x="50048" y="1041529"/>
                  </a:lnTo>
                  <a:lnTo>
                    <a:pt x="35168" y="994859"/>
                  </a:lnTo>
                  <a:lnTo>
                    <a:pt x="22772" y="946682"/>
                  </a:lnTo>
                  <a:lnTo>
                    <a:pt x="12958" y="897125"/>
                  </a:lnTo>
                  <a:lnTo>
                    <a:pt x="5825" y="846313"/>
                  </a:lnTo>
                  <a:lnTo>
                    <a:pt x="1472" y="794372"/>
                  </a:lnTo>
                  <a:lnTo>
                    <a:pt x="0" y="741426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23260" y="1863851"/>
            <a:ext cx="1930908" cy="11399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808" y="3172967"/>
            <a:ext cx="435864" cy="2529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024" y="3585971"/>
            <a:ext cx="774192" cy="25907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229741" y="1909445"/>
            <a:ext cx="238125" cy="1045844"/>
            <a:chOff x="1229741" y="1909445"/>
            <a:chExt cx="238125" cy="1045844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2916" y="1912620"/>
              <a:ext cx="231647" cy="103936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32916" y="1912620"/>
              <a:ext cx="231775" cy="1039494"/>
            </a:xfrm>
            <a:custGeom>
              <a:avLst/>
              <a:gdLst/>
              <a:ahLst/>
              <a:cxnLst/>
              <a:rect l="l" t="t" r="r" b="b"/>
              <a:pathLst>
                <a:path w="231775" h="1039494">
                  <a:moveTo>
                    <a:pt x="0" y="1039367"/>
                  </a:moveTo>
                  <a:lnTo>
                    <a:pt x="231647" y="1039367"/>
                  </a:lnTo>
                  <a:lnTo>
                    <a:pt x="231647" y="0"/>
                  </a:lnTo>
                  <a:lnTo>
                    <a:pt x="0" y="0"/>
                  </a:lnTo>
                  <a:lnTo>
                    <a:pt x="0" y="10393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5400" y="2378964"/>
              <a:ext cx="108203" cy="1143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229357" y="3133471"/>
            <a:ext cx="6629400" cy="1687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45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what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architecture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should </a:t>
            </a:r>
            <a:r>
              <a:rPr sz="1800" spc="-10" dirty="0">
                <a:latin typeface="Calibri"/>
                <a:cs typeface="Calibri"/>
              </a:rPr>
              <a:t>we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use?</a:t>
            </a:r>
          </a:p>
          <a:p>
            <a:pPr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 marL="1187450" marR="5080" indent="-1174750">
              <a:lnSpc>
                <a:spcPct val="119800"/>
              </a:lnSpc>
            </a:pPr>
            <a:r>
              <a:rPr sz="1800" b="1" spc="-15" dirty="0">
                <a:latin typeface="Calibri"/>
                <a:cs typeface="Calibri"/>
              </a:rPr>
              <a:t>Easy </a:t>
            </a:r>
            <a:r>
              <a:rPr sz="1800" b="1" spc="-5" dirty="0">
                <a:latin typeface="Calibri"/>
                <a:cs typeface="Calibri"/>
              </a:rPr>
              <a:t>choice: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just</a:t>
            </a:r>
            <a:r>
              <a:rPr sz="1800" dirty="0">
                <a:latin typeface="Calibri"/>
                <a:cs typeface="Calibri"/>
              </a:rPr>
              <a:t> a </a:t>
            </a:r>
            <a:r>
              <a:rPr sz="1800" spc="-5" dirty="0">
                <a:latin typeface="Calibri"/>
                <a:cs typeface="Calibri"/>
              </a:rPr>
              <a:t>big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fully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connected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(linear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ReLU) 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 </a:t>
            </a:r>
            <a:r>
              <a:rPr sz="1800" spc="-5" dirty="0">
                <a:latin typeface="Calibri"/>
                <a:cs typeface="Calibri"/>
              </a:rPr>
              <a:t>well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tiny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(e.g.,</a:t>
            </a:r>
            <a:r>
              <a:rPr sz="1800" spc="-5" dirty="0">
                <a:latin typeface="Calibri"/>
                <a:cs typeface="Calibri"/>
              </a:rPr>
              <a:t> MNIST)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non-image </a:t>
            </a:r>
            <a:r>
              <a:rPr sz="1800" spc="-15" dirty="0">
                <a:latin typeface="Calibri"/>
                <a:cs typeface="Calibri"/>
              </a:rPr>
              <a:t>data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Better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choice: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transpose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convolutions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94430" y="4874261"/>
            <a:ext cx="3729354" cy="1678939"/>
            <a:chOff x="2473451" y="4986909"/>
            <a:chExt cx="3729354" cy="1678939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73451" y="5015484"/>
              <a:ext cx="3432048" cy="165029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59351" y="5015484"/>
              <a:ext cx="2214880" cy="1386840"/>
            </a:xfrm>
            <a:custGeom>
              <a:avLst/>
              <a:gdLst/>
              <a:ahLst/>
              <a:cxnLst/>
              <a:rect l="l" t="t" r="r" b="b"/>
              <a:pathLst>
                <a:path w="2214879" h="1386839">
                  <a:moveTo>
                    <a:pt x="0" y="693420"/>
                  </a:moveTo>
                  <a:lnTo>
                    <a:pt x="6087" y="620277"/>
                  </a:lnTo>
                  <a:lnTo>
                    <a:pt x="23942" y="549326"/>
                  </a:lnTo>
                  <a:lnTo>
                    <a:pt x="52951" y="480949"/>
                  </a:lnTo>
                  <a:lnTo>
                    <a:pt x="92504" y="415532"/>
                  </a:lnTo>
                  <a:lnTo>
                    <a:pt x="116043" y="384053"/>
                  </a:lnTo>
                  <a:lnTo>
                    <a:pt x="141988" y="353458"/>
                  </a:lnTo>
                  <a:lnTo>
                    <a:pt x="170263" y="323794"/>
                  </a:lnTo>
                  <a:lnTo>
                    <a:pt x="200791" y="295109"/>
                  </a:lnTo>
                  <a:lnTo>
                    <a:pt x="233495" y="267453"/>
                  </a:lnTo>
                  <a:lnTo>
                    <a:pt x="268300" y="240871"/>
                  </a:lnTo>
                  <a:lnTo>
                    <a:pt x="305129" y="215413"/>
                  </a:lnTo>
                  <a:lnTo>
                    <a:pt x="343905" y="191126"/>
                  </a:lnTo>
                  <a:lnTo>
                    <a:pt x="384551" y="168059"/>
                  </a:lnTo>
                  <a:lnTo>
                    <a:pt x="426992" y="146259"/>
                  </a:lnTo>
                  <a:lnTo>
                    <a:pt x="471150" y="125774"/>
                  </a:lnTo>
                  <a:lnTo>
                    <a:pt x="516950" y="106652"/>
                  </a:lnTo>
                  <a:lnTo>
                    <a:pt x="564315" y="88941"/>
                  </a:lnTo>
                  <a:lnTo>
                    <a:pt x="613167" y="72690"/>
                  </a:lnTo>
                  <a:lnTo>
                    <a:pt x="663431" y="57945"/>
                  </a:lnTo>
                  <a:lnTo>
                    <a:pt x="715031" y="44756"/>
                  </a:lnTo>
                  <a:lnTo>
                    <a:pt x="767889" y="33170"/>
                  </a:lnTo>
                  <a:lnTo>
                    <a:pt x="821929" y="23234"/>
                  </a:lnTo>
                  <a:lnTo>
                    <a:pt x="877075" y="14998"/>
                  </a:lnTo>
                  <a:lnTo>
                    <a:pt x="933250" y="8508"/>
                  </a:lnTo>
                  <a:lnTo>
                    <a:pt x="990378" y="3813"/>
                  </a:lnTo>
                  <a:lnTo>
                    <a:pt x="1048382" y="961"/>
                  </a:lnTo>
                  <a:lnTo>
                    <a:pt x="1107186" y="0"/>
                  </a:lnTo>
                  <a:lnTo>
                    <a:pt x="1165989" y="961"/>
                  </a:lnTo>
                  <a:lnTo>
                    <a:pt x="1223993" y="3813"/>
                  </a:lnTo>
                  <a:lnTo>
                    <a:pt x="1281121" y="8508"/>
                  </a:lnTo>
                  <a:lnTo>
                    <a:pt x="1337296" y="14998"/>
                  </a:lnTo>
                  <a:lnTo>
                    <a:pt x="1392442" y="23234"/>
                  </a:lnTo>
                  <a:lnTo>
                    <a:pt x="1446482" y="33170"/>
                  </a:lnTo>
                  <a:lnTo>
                    <a:pt x="1499340" y="44756"/>
                  </a:lnTo>
                  <a:lnTo>
                    <a:pt x="1550940" y="57945"/>
                  </a:lnTo>
                  <a:lnTo>
                    <a:pt x="1601204" y="72690"/>
                  </a:lnTo>
                  <a:lnTo>
                    <a:pt x="1650056" y="88941"/>
                  </a:lnTo>
                  <a:lnTo>
                    <a:pt x="1697421" y="106652"/>
                  </a:lnTo>
                  <a:lnTo>
                    <a:pt x="1743221" y="125774"/>
                  </a:lnTo>
                  <a:lnTo>
                    <a:pt x="1787379" y="146259"/>
                  </a:lnTo>
                  <a:lnTo>
                    <a:pt x="1829820" y="168059"/>
                  </a:lnTo>
                  <a:lnTo>
                    <a:pt x="1870466" y="191126"/>
                  </a:lnTo>
                  <a:lnTo>
                    <a:pt x="1909242" y="215413"/>
                  </a:lnTo>
                  <a:lnTo>
                    <a:pt x="1946071" y="240871"/>
                  </a:lnTo>
                  <a:lnTo>
                    <a:pt x="1980876" y="267453"/>
                  </a:lnTo>
                  <a:lnTo>
                    <a:pt x="2013580" y="295109"/>
                  </a:lnTo>
                  <a:lnTo>
                    <a:pt x="2044108" y="323794"/>
                  </a:lnTo>
                  <a:lnTo>
                    <a:pt x="2072383" y="353458"/>
                  </a:lnTo>
                  <a:lnTo>
                    <a:pt x="2098328" y="384053"/>
                  </a:lnTo>
                  <a:lnTo>
                    <a:pt x="2121867" y="415532"/>
                  </a:lnTo>
                  <a:lnTo>
                    <a:pt x="2142923" y="447847"/>
                  </a:lnTo>
                  <a:lnTo>
                    <a:pt x="2177281" y="514792"/>
                  </a:lnTo>
                  <a:lnTo>
                    <a:pt x="2200789" y="584503"/>
                  </a:lnTo>
                  <a:lnTo>
                    <a:pt x="2212837" y="656598"/>
                  </a:lnTo>
                  <a:lnTo>
                    <a:pt x="2214372" y="693420"/>
                  </a:lnTo>
                  <a:lnTo>
                    <a:pt x="2212837" y="730247"/>
                  </a:lnTo>
                  <a:lnTo>
                    <a:pt x="2200789" y="802351"/>
                  </a:lnTo>
                  <a:lnTo>
                    <a:pt x="2177281" y="872069"/>
                  </a:lnTo>
                  <a:lnTo>
                    <a:pt x="2142923" y="939018"/>
                  </a:lnTo>
                  <a:lnTo>
                    <a:pt x="2121867" y="971334"/>
                  </a:lnTo>
                  <a:lnTo>
                    <a:pt x="2098328" y="1002814"/>
                  </a:lnTo>
                  <a:lnTo>
                    <a:pt x="2072383" y="1033409"/>
                  </a:lnTo>
                  <a:lnTo>
                    <a:pt x="2044108" y="1063073"/>
                  </a:lnTo>
                  <a:lnTo>
                    <a:pt x="2013580" y="1091757"/>
                  </a:lnTo>
                  <a:lnTo>
                    <a:pt x="1980876" y="1119413"/>
                  </a:lnTo>
                  <a:lnTo>
                    <a:pt x="1946071" y="1145994"/>
                  </a:lnTo>
                  <a:lnTo>
                    <a:pt x="1909242" y="1171451"/>
                  </a:lnTo>
                  <a:lnTo>
                    <a:pt x="1870466" y="1195736"/>
                  </a:lnTo>
                  <a:lnTo>
                    <a:pt x="1829820" y="1218802"/>
                  </a:lnTo>
                  <a:lnTo>
                    <a:pt x="1787379" y="1240600"/>
                  </a:lnTo>
                  <a:lnTo>
                    <a:pt x="1743221" y="1261083"/>
                  </a:lnTo>
                  <a:lnTo>
                    <a:pt x="1697421" y="1280203"/>
                  </a:lnTo>
                  <a:lnTo>
                    <a:pt x="1650056" y="1297911"/>
                  </a:lnTo>
                  <a:lnTo>
                    <a:pt x="1601204" y="1314161"/>
                  </a:lnTo>
                  <a:lnTo>
                    <a:pt x="1550940" y="1328903"/>
                  </a:lnTo>
                  <a:lnTo>
                    <a:pt x="1499340" y="1342091"/>
                  </a:lnTo>
                  <a:lnTo>
                    <a:pt x="1446482" y="1353675"/>
                  </a:lnTo>
                  <a:lnTo>
                    <a:pt x="1392442" y="1363609"/>
                  </a:lnTo>
                  <a:lnTo>
                    <a:pt x="1337296" y="1371844"/>
                  </a:lnTo>
                  <a:lnTo>
                    <a:pt x="1281121" y="1378333"/>
                  </a:lnTo>
                  <a:lnTo>
                    <a:pt x="1223993" y="1383027"/>
                  </a:lnTo>
                  <a:lnTo>
                    <a:pt x="1165989" y="1385878"/>
                  </a:lnTo>
                  <a:lnTo>
                    <a:pt x="1107186" y="1386840"/>
                  </a:lnTo>
                  <a:lnTo>
                    <a:pt x="1048382" y="1385878"/>
                  </a:lnTo>
                  <a:lnTo>
                    <a:pt x="990378" y="1383027"/>
                  </a:lnTo>
                  <a:lnTo>
                    <a:pt x="933250" y="1378333"/>
                  </a:lnTo>
                  <a:lnTo>
                    <a:pt x="877075" y="1371844"/>
                  </a:lnTo>
                  <a:lnTo>
                    <a:pt x="821929" y="1363609"/>
                  </a:lnTo>
                  <a:lnTo>
                    <a:pt x="767889" y="1353675"/>
                  </a:lnTo>
                  <a:lnTo>
                    <a:pt x="715031" y="1342091"/>
                  </a:lnTo>
                  <a:lnTo>
                    <a:pt x="663431" y="1328903"/>
                  </a:lnTo>
                  <a:lnTo>
                    <a:pt x="613167" y="1314161"/>
                  </a:lnTo>
                  <a:lnTo>
                    <a:pt x="564315" y="1297911"/>
                  </a:lnTo>
                  <a:lnTo>
                    <a:pt x="516950" y="1280203"/>
                  </a:lnTo>
                  <a:lnTo>
                    <a:pt x="471150" y="1261083"/>
                  </a:lnTo>
                  <a:lnTo>
                    <a:pt x="426992" y="1240600"/>
                  </a:lnTo>
                  <a:lnTo>
                    <a:pt x="384551" y="1218802"/>
                  </a:lnTo>
                  <a:lnTo>
                    <a:pt x="343905" y="1195736"/>
                  </a:lnTo>
                  <a:lnTo>
                    <a:pt x="305129" y="1171451"/>
                  </a:lnTo>
                  <a:lnTo>
                    <a:pt x="268300" y="1145994"/>
                  </a:lnTo>
                  <a:lnTo>
                    <a:pt x="233495" y="1119413"/>
                  </a:lnTo>
                  <a:lnTo>
                    <a:pt x="200791" y="1091757"/>
                  </a:lnTo>
                  <a:lnTo>
                    <a:pt x="170263" y="1063073"/>
                  </a:lnTo>
                  <a:lnTo>
                    <a:pt x="141988" y="1033409"/>
                  </a:lnTo>
                  <a:lnTo>
                    <a:pt x="116043" y="1002814"/>
                  </a:lnTo>
                  <a:lnTo>
                    <a:pt x="92504" y="971334"/>
                  </a:lnTo>
                  <a:lnTo>
                    <a:pt x="71448" y="939018"/>
                  </a:lnTo>
                  <a:lnTo>
                    <a:pt x="37090" y="872069"/>
                  </a:lnTo>
                  <a:lnTo>
                    <a:pt x="13582" y="802351"/>
                  </a:lnTo>
                  <a:lnTo>
                    <a:pt x="1534" y="730247"/>
                  </a:lnTo>
                  <a:lnTo>
                    <a:pt x="0" y="69342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BBBE4673-53A4-FC5C-A387-8C48CAF29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2A792-A7A5-4286-8A2A-3C0A395B03E0}" type="datetime1">
              <a:rPr lang="en-US" smtClean="0"/>
              <a:t>10/1/2025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E47FC80-8AEE-D7C9-CD0F-24110E5DC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7A25071-99AE-E357-4206-D10D14FF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682974-C9BE-7CC4-9FD4-38F45ED21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01400" cy="4525963"/>
          </a:xfrm>
        </p:spPr>
        <p:txBody>
          <a:bodyPr>
            <a:normAutofit/>
          </a:bodyPr>
          <a:lstStyle/>
          <a:p>
            <a:r>
              <a:rPr lang="en-US" sz="2800" b="1" spc="-10" dirty="0">
                <a:latin typeface="Calibri"/>
                <a:cs typeface="Calibri"/>
              </a:rPr>
              <a:t>Transposed</a:t>
            </a:r>
            <a:r>
              <a:rPr lang="en-US" sz="2800" b="1" dirty="0">
                <a:latin typeface="Calibri"/>
                <a:cs typeface="Calibri"/>
              </a:rPr>
              <a:t> C</a:t>
            </a:r>
            <a:r>
              <a:rPr lang="en-US" sz="2800" b="1" spc="-10" dirty="0">
                <a:latin typeface="Calibri"/>
                <a:cs typeface="Calibri"/>
              </a:rPr>
              <a:t>onvolutions (</a:t>
            </a:r>
            <a:r>
              <a:rPr lang="en-US" b="1" dirty="0"/>
              <a:t>fractionally-strided or deconvolutions)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T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ransposed convolutional layers to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increase the spatial dimensions 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Opposite to conventional convolutions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Inserting </a:t>
            </a:r>
            <a:r>
              <a:rPr lang="en-US" dirty="0">
                <a:solidFill>
                  <a:srgbClr val="FFC000"/>
                </a:solidFill>
                <a:latin typeface="Söhne"/>
              </a:rPr>
              <a:t>zeros between the input values 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(up-sampling or dilating) </a:t>
            </a:r>
          </a:p>
          <a:p>
            <a:r>
              <a:rPr lang="en-US" dirty="0">
                <a:solidFill>
                  <a:srgbClr val="0D0D0D"/>
                </a:solidFill>
                <a:latin typeface="Söhne"/>
              </a:rPr>
              <a:t>Used in VAEs, GANs etc. </a:t>
            </a:r>
          </a:p>
          <a:p>
            <a:pPr lvl="1"/>
            <a:r>
              <a:rPr lang="en-US" dirty="0" err="1">
                <a:solidFill>
                  <a:srgbClr val="0D0D0D"/>
                </a:solidFill>
                <a:latin typeface="Söhne"/>
              </a:rPr>
              <a:t>Upsampling</a:t>
            </a:r>
            <a:r>
              <a:rPr lang="en-US" dirty="0">
                <a:solidFill>
                  <a:srgbClr val="0D0D0D"/>
                </a:solidFill>
                <a:latin typeface="Söhne"/>
              </a:rPr>
              <a:t>, image generation, and semantic segmentation. 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EC966-57B5-08F8-6AC9-F2FE2FF8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1A4AF-2077-4E34-91E6-7BBC2CD3735F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7556A-D5B6-0662-77F1-B9D20A51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F458F-E4C0-795E-CEDD-B771D2C43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BE65F97-7162-D55C-BAFA-E0D891AF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0" dirty="0"/>
              <a:t>Representing</a:t>
            </a:r>
            <a:r>
              <a:rPr lang="en-US" spc="-30" dirty="0"/>
              <a:t> </a:t>
            </a:r>
            <a:r>
              <a:rPr lang="en-US" spc="-25" dirty="0"/>
              <a:t>latent</a:t>
            </a:r>
            <a:r>
              <a:rPr lang="en-US" spc="25" dirty="0"/>
              <a:t> </a:t>
            </a:r>
            <a:r>
              <a:rPr lang="en-US" spc="-10" dirty="0"/>
              <a:t>variable</a:t>
            </a:r>
            <a:r>
              <a:rPr lang="en-US" spc="-15" dirty="0"/>
              <a:t> </a:t>
            </a:r>
            <a:r>
              <a:rPr lang="en-US" spc="-5" dirty="0"/>
              <a:t>models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BBB2A5-92D8-8AE4-100C-B8BACB1BF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487917"/>
            <a:ext cx="5819335" cy="198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59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8935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Training</a:t>
            </a:r>
            <a:r>
              <a:rPr spc="-20" dirty="0"/>
              <a:t> </a:t>
            </a:r>
            <a:r>
              <a:rPr spc="-25" dirty="0"/>
              <a:t>latent</a:t>
            </a:r>
            <a:r>
              <a:rPr spc="5" dirty="0"/>
              <a:t> </a:t>
            </a:r>
            <a:r>
              <a:rPr spc="-10" dirty="0"/>
              <a:t>variable</a:t>
            </a:r>
            <a:r>
              <a:rPr dirty="0"/>
              <a:t> </a:t>
            </a:r>
            <a:r>
              <a:rPr spc="-5" dirty="0"/>
              <a:t>models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4677" y="2417826"/>
            <a:ext cx="231013" cy="762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90217" y="1860676"/>
            <a:ext cx="707390" cy="1141730"/>
            <a:chOff x="1990217" y="1860676"/>
            <a:chExt cx="707390" cy="11417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3392" y="1863851"/>
              <a:ext cx="701039" cy="11353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93392" y="1863851"/>
              <a:ext cx="701040" cy="1135380"/>
            </a:xfrm>
            <a:custGeom>
              <a:avLst/>
              <a:gdLst/>
              <a:ahLst/>
              <a:cxnLst/>
              <a:rect l="l" t="t" r="r" b="b"/>
              <a:pathLst>
                <a:path w="701039" h="1135380">
                  <a:moveTo>
                    <a:pt x="701039" y="1135380"/>
                  </a:moveTo>
                  <a:lnTo>
                    <a:pt x="701039" y="0"/>
                  </a:lnTo>
                  <a:lnTo>
                    <a:pt x="0" y="227075"/>
                  </a:lnTo>
                  <a:lnTo>
                    <a:pt x="0" y="908303"/>
                  </a:lnTo>
                  <a:lnTo>
                    <a:pt x="701039" y="1135380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3398" y="2394966"/>
            <a:ext cx="231012" cy="76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3260" y="1863851"/>
            <a:ext cx="1930908" cy="113995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61388" y="3172967"/>
            <a:ext cx="765048" cy="2529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0808" y="3172967"/>
            <a:ext cx="435864" cy="2529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024" y="3585971"/>
            <a:ext cx="774192" cy="25907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229741" y="1909445"/>
            <a:ext cx="238125" cy="1045844"/>
            <a:chOff x="1229741" y="1909445"/>
            <a:chExt cx="238125" cy="1045844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2916" y="1912620"/>
              <a:ext cx="231647" cy="103936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32916" y="1912620"/>
              <a:ext cx="231775" cy="1039494"/>
            </a:xfrm>
            <a:custGeom>
              <a:avLst/>
              <a:gdLst/>
              <a:ahLst/>
              <a:cxnLst/>
              <a:rect l="l" t="t" r="r" b="b"/>
              <a:pathLst>
                <a:path w="231775" h="1039494">
                  <a:moveTo>
                    <a:pt x="0" y="1039367"/>
                  </a:moveTo>
                  <a:lnTo>
                    <a:pt x="231647" y="1039367"/>
                  </a:lnTo>
                  <a:lnTo>
                    <a:pt x="231647" y="0"/>
                  </a:lnTo>
                  <a:lnTo>
                    <a:pt x="0" y="0"/>
                  </a:lnTo>
                  <a:lnTo>
                    <a:pt x="0" y="10393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95400" y="2378964"/>
              <a:ext cx="108203" cy="11430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30936" y="4201667"/>
            <a:ext cx="2174748" cy="178307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838365" y="3422777"/>
            <a:ext cx="9596755" cy="1504950"/>
            <a:chOff x="838365" y="3422777"/>
            <a:chExt cx="9596755" cy="1504950"/>
          </a:xfrm>
        </p:grpSpPr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8365" y="4594860"/>
              <a:ext cx="7475054" cy="2529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13628" y="3422777"/>
              <a:ext cx="690245" cy="1504950"/>
            </a:xfrm>
            <a:custGeom>
              <a:avLst/>
              <a:gdLst/>
              <a:ahLst/>
              <a:cxnLst/>
              <a:rect l="l" t="t" r="r" b="b"/>
              <a:pathLst>
                <a:path w="690245" h="1504950">
                  <a:moveTo>
                    <a:pt x="0" y="1419479"/>
                  </a:moveTo>
                  <a:lnTo>
                    <a:pt x="3301" y="1504696"/>
                  </a:lnTo>
                  <a:lnTo>
                    <a:pt x="69342" y="1450848"/>
                  </a:lnTo>
                  <a:lnTo>
                    <a:pt x="69061" y="1450721"/>
                  </a:lnTo>
                  <a:lnTo>
                    <a:pt x="38100" y="1450721"/>
                  </a:lnTo>
                  <a:lnTo>
                    <a:pt x="20700" y="1442847"/>
                  </a:lnTo>
                  <a:lnTo>
                    <a:pt x="25952" y="1431219"/>
                  </a:lnTo>
                  <a:lnTo>
                    <a:pt x="0" y="1419479"/>
                  </a:lnTo>
                  <a:close/>
                </a:path>
                <a:path w="690245" h="1504950">
                  <a:moveTo>
                    <a:pt x="25952" y="1431219"/>
                  </a:moveTo>
                  <a:lnTo>
                    <a:pt x="20700" y="1442847"/>
                  </a:lnTo>
                  <a:lnTo>
                    <a:pt x="38100" y="1450721"/>
                  </a:lnTo>
                  <a:lnTo>
                    <a:pt x="43352" y="1439090"/>
                  </a:lnTo>
                  <a:lnTo>
                    <a:pt x="25952" y="1431219"/>
                  </a:lnTo>
                  <a:close/>
                </a:path>
                <a:path w="690245" h="1504950">
                  <a:moveTo>
                    <a:pt x="43352" y="1439090"/>
                  </a:moveTo>
                  <a:lnTo>
                    <a:pt x="38100" y="1450721"/>
                  </a:lnTo>
                  <a:lnTo>
                    <a:pt x="69061" y="1450721"/>
                  </a:lnTo>
                  <a:lnTo>
                    <a:pt x="43352" y="1439090"/>
                  </a:lnTo>
                  <a:close/>
                </a:path>
                <a:path w="690245" h="1504950">
                  <a:moveTo>
                    <a:pt x="672338" y="0"/>
                  </a:moveTo>
                  <a:lnTo>
                    <a:pt x="25952" y="1431219"/>
                  </a:lnTo>
                  <a:lnTo>
                    <a:pt x="43352" y="1439090"/>
                  </a:lnTo>
                  <a:lnTo>
                    <a:pt x="689737" y="7874"/>
                  </a:lnTo>
                  <a:lnTo>
                    <a:pt x="672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67119" y="3425952"/>
              <a:ext cx="3767708" cy="25298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0808" y="5003291"/>
            <a:ext cx="5617464" cy="28041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664452" y="3086100"/>
            <a:ext cx="2453640" cy="25298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0526014" y="3018154"/>
            <a:ext cx="513080" cy="541020"/>
            <a:chOff x="10526014" y="3018154"/>
            <a:chExt cx="513080" cy="541020"/>
          </a:xfrm>
        </p:grpSpPr>
        <p:sp>
          <p:nvSpPr>
            <p:cNvPr id="24" name="object 24"/>
            <p:cNvSpPr/>
            <p:nvPr/>
          </p:nvSpPr>
          <p:spPr>
            <a:xfrm>
              <a:off x="10532364" y="3024504"/>
              <a:ext cx="499109" cy="292735"/>
            </a:xfrm>
            <a:custGeom>
              <a:avLst/>
              <a:gdLst/>
              <a:ahLst/>
              <a:cxnLst/>
              <a:rect l="l" t="t" r="r" b="b"/>
              <a:pathLst>
                <a:path w="499109" h="292735">
                  <a:moveTo>
                    <a:pt x="124967" y="0"/>
                  </a:moveTo>
                  <a:lnTo>
                    <a:pt x="0" y="119507"/>
                  </a:lnTo>
                  <a:lnTo>
                    <a:pt x="124967" y="249936"/>
                  </a:lnTo>
                  <a:lnTo>
                    <a:pt x="124967" y="187452"/>
                  </a:lnTo>
                  <a:lnTo>
                    <a:pt x="189917" y="194942"/>
                  </a:lnTo>
                  <a:lnTo>
                    <a:pt x="250623" y="205297"/>
                  </a:lnTo>
                  <a:lnTo>
                    <a:pt x="306388" y="218299"/>
                  </a:lnTo>
                  <a:lnTo>
                    <a:pt x="356515" y="233734"/>
                  </a:lnTo>
                  <a:lnTo>
                    <a:pt x="400306" y="251387"/>
                  </a:lnTo>
                  <a:lnTo>
                    <a:pt x="437063" y="271040"/>
                  </a:lnTo>
                  <a:lnTo>
                    <a:pt x="466089" y="292481"/>
                  </a:lnTo>
                  <a:lnTo>
                    <a:pt x="487713" y="267981"/>
                  </a:lnTo>
                  <a:lnTo>
                    <a:pt x="498499" y="243274"/>
                  </a:lnTo>
                  <a:lnTo>
                    <a:pt x="498887" y="218705"/>
                  </a:lnTo>
                  <a:lnTo>
                    <a:pt x="489319" y="194621"/>
                  </a:lnTo>
                  <a:lnTo>
                    <a:pt x="442077" y="149294"/>
                  </a:lnTo>
                  <a:lnTo>
                    <a:pt x="405285" y="128743"/>
                  </a:lnTo>
                  <a:lnTo>
                    <a:pt x="360300" y="110062"/>
                  </a:lnTo>
                  <a:lnTo>
                    <a:pt x="307562" y="93599"/>
                  </a:lnTo>
                  <a:lnTo>
                    <a:pt x="247513" y="79698"/>
                  </a:lnTo>
                  <a:lnTo>
                    <a:pt x="180593" y="68707"/>
                  </a:lnTo>
                  <a:lnTo>
                    <a:pt x="124967" y="62484"/>
                  </a:lnTo>
                  <a:lnTo>
                    <a:pt x="124967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532364" y="3254501"/>
              <a:ext cx="500380" cy="298450"/>
            </a:xfrm>
            <a:custGeom>
              <a:avLst/>
              <a:gdLst/>
              <a:ahLst/>
              <a:cxnLst/>
              <a:rect l="l" t="t" r="r" b="b"/>
              <a:pathLst>
                <a:path w="500379" h="298450">
                  <a:moveTo>
                    <a:pt x="499871" y="0"/>
                  </a:moveTo>
                  <a:lnTo>
                    <a:pt x="482017" y="45974"/>
                  </a:lnTo>
                  <a:lnTo>
                    <a:pt x="431630" y="87291"/>
                  </a:lnTo>
                  <a:lnTo>
                    <a:pt x="395725" y="105687"/>
                  </a:lnTo>
                  <a:lnTo>
                    <a:pt x="353472" y="122300"/>
                  </a:lnTo>
                  <a:lnTo>
                    <a:pt x="305468" y="136924"/>
                  </a:lnTo>
                  <a:lnTo>
                    <a:pt x="252306" y="149351"/>
                  </a:lnTo>
                  <a:lnTo>
                    <a:pt x="194583" y="159377"/>
                  </a:lnTo>
                  <a:lnTo>
                    <a:pt x="132894" y="166793"/>
                  </a:lnTo>
                  <a:lnTo>
                    <a:pt x="67835" y="171394"/>
                  </a:lnTo>
                  <a:lnTo>
                    <a:pt x="0" y="172974"/>
                  </a:lnTo>
                  <a:lnTo>
                    <a:pt x="0" y="297942"/>
                  </a:lnTo>
                  <a:lnTo>
                    <a:pt x="67835" y="296362"/>
                  </a:lnTo>
                  <a:lnTo>
                    <a:pt x="132894" y="291761"/>
                  </a:lnTo>
                  <a:lnTo>
                    <a:pt x="194583" y="284345"/>
                  </a:lnTo>
                  <a:lnTo>
                    <a:pt x="252306" y="274320"/>
                  </a:lnTo>
                  <a:lnTo>
                    <a:pt x="305468" y="261892"/>
                  </a:lnTo>
                  <a:lnTo>
                    <a:pt x="353472" y="247269"/>
                  </a:lnTo>
                  <a:lnTo>
                    <a:pt x="395725" y="230655"/>
                  </a:lnTo>
                  <a:lnTo>
                    <a:pt x="431630" y="212259"/>
                  </a:lnTo>
                  <a:lnTo>
                    <a:pt x="482017" y="170942"/>
                  </a:lnTo>
                  <a:lnTo>
                    <a:pt x="499871" y="124968"/>
                  </a:lnTo>
                  <a:lnTo>
                    <a:pt x="499871" y="0"/>
                  </a:lnTo>
                  <a:close/>
                </a:path>
              </a:pathLst>
            </a:custGeom>
            <a:solidFill>
              <a:srgbClr val="5A8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532364" y="3024504"/>
              <a:ext cx="500380" cy="528320"/>
            </a:xfrm>
            <a:custGeom>
              <a:avLst/>
              <a:gdLst/>
              <a:ahLst/>
              <a:cxnLst/>
              <a:rect l="l" t="t" r="r" b="b"/>
              <a:pathLst>
                <a:path w="500379" h="528320">
                  <a:moveTo>
                    <a:pt x="499871" y="229997"/>
                  </a:moveTo>
                  <a:lnTo>
                    <a:pt x="482017" y="275971"/>
                  </a:lnTo>
                  <a:lnTo>
                    <a:pt x="431630" y="317288"/>
                  </a:lnTo>
                  <a:lnTo>
                    <a:pt x="395725" y="335684"/>
                  </a:lnTo>
                  <a:lnTo>
                    <a:pt x="353472" y="352298"/>
                  </a:lnTo>
                  <a:lnTo>
                    <a:pt x="305468" y="366921"/>
                  </a:lnTo>
                  <a:lnTo>
                    <a:pt x="252306" y="379349"/>
                  </a:lnTo>
                  <a:lnTo>
                    <a:pt x="194583" y="389374"/>
                  </a:lnTo>
                  <a:lnTo>
                    <a:pt x="132894" y="396790"/>
                  </a:lnTo>
                  <a:lnTo>
                    <a:pt x="67835" y="401391"/>
                  </a:lnTo>
                  <a:lnTo>
                    <a:pt x="0" y="402971"/>
                  </a:lnTo>
                  <a:lnTo>
                    <a:pt x="0" y="527939"/>
                  </a:lnTo>
                  <a:lnTo>
                    <a:pt x="67835" y="526359"/>
                  </a:lnTo>
                  <a:lnTo>
                    <a:pt x="132894" y="521758"/>
                  </a:lnTo>
                  <a:lnTo>
                    <a:pt x="194583" y="514342"/>
                  </a:lnTo>
                  <a:lnTo>
                    <a:pt x="252306" y="504317"/>
                  </a:lnTo>
                  <a:lnTo>
                    <a:pt x="305468" y="491889"/>
                  </a:lnTo>
                  <a:lnTo>
                    <a:pt x="353472" y="477266"/>
                  </a:lnTo>
                  <a:lnTo>
                    <a:pt x="395725" y="460652"/>
                  </a:lnTo>
                  <a:lnTo>
                    <a:pt x="431630" y="442256"/>
                  </a:lnTo>
                  <a:lnTo>
                    <a:pt x="482017" y="400939"/>
                  </a:lnTo>
                  <a:lnTo>
                    <a:pt x="499871" y="354965"/>
                  </a:lnTo>
                  <a:lnTo>
                    <a:pt x="499871" y="229997"/>
                  </a:lnTo>
                  <a:lnTo>
                    <a:pt x="477992" y="179333"/>
                  </a:lnTo>
                  <a:lnTo>
                    <a:pt x="416200" y="134209"/>
                  </a:lnTo>
                  <a:lnTo>
                    <a:pt x="372140" y="114527"/>
                  </a:lnTo>
                  <a:lnTo>
                    <a:pt x="320265" y="97192"/>
                  </a:lnTo>
                  <a:lnTo>
                    <a:pt x="261298" y="82526"/>
                  </a:lnTo>
                  <a:lnTo>
                    <a:pt x="195958" y="70850"/>
                  </a:lnTo>
                  <a:lnTo>
                    <a:pt x="124967" y="62484"/>
                  </a:lnTo>
                  <a:lnTo>
                    <a:pt x="124967" y="0"/>
                  </a:lnTo>
                  <a:lnTo>
                    <a:pt x="0" y="119507"/>
                  </a:lnTo>
                  <a:lnTo>
                    <a:pt x="124967" y="249936"/>
                  </a:lnTo>
                  <a:lnTo>
                    <a:pt x="124967" y="187452"/>
                  </a:lnTo>
                  <a:lnTo>
                    <a:pt x="189917" y="194942"/>
                  </a:lnTo>
                  <a:lnTo>
                    <a:pt x="250623" y="205297"/>
                  </a:lnTo>
                  <a:lnTo>
                    <a:pt x="306388" y="218299"/>
                  </a:lnTo>
                  <a:lnTo>
                    <a:pt x="356515" y="233734"/>
                  </a:lnTo>
                  <a:lnTo>
                    <a:pt x="400306" y="251387"/>
                  </a:lnTo>
                  <a:lnTo>
                    <a:pt x="437063" y="271040"/>
                  </a:lnTo>
                  <a:lnTo>
                    <a:pt x="466089" y="292481"/>
                  </a:lnTo>
                </a:path>
              </a:pathLst>
            </a:custGeom>
            <a:ln w="12700">
              <a:solidFill>
                <a:srgbClr val="50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38200" y="5501640"/>
            <a:ext cx="3953255" cy="2270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8390" y="5946647"/>
            <a:ext cx="6917245" cy="27889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603238" y="3765042"/>
            <a:ext cx="3042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variational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autoencoders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(VAEs)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64563" y="5396917"/>
            <a:ext cx="5963285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normalizing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flows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b="1" spc="-15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enerative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adversarial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networks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(GANs)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1" name="Date Placeholder 30">
            <a:extLst>
              <a:ext uri="{FF2B5EF4-FFF2-40B4-BE49-F238E27FC236}">
                <a16:creationId xmlns:a16="http://schemas.microsoft.com/office/drawing/2014/main" id="{6F68E3EF-5FBB-8412-94ED-A654C56ED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9C4E-19D2-42EA-927D-10C6D11CE934}" type="datetime1">
              <a:rPr lang="en-US" smtClean="0"/>
              <a:t>10/1/2025</a:t>
            </a:fld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6FEE2861-69E8-B8B9-C5CC-EBD3BE19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E05FD617-3720-EC10-43A6-A8F6EB3C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911E-9055-9218-95AA-41E73A78B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DED4E39-3B63-96C5-1B46-703EB075F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How</a:t>
            </a:r>
            <a:r>
              <a:rPr spc="15" dirty="0"/>
              <a:t> </a:t>
            </a:r>
            <a:r>
              <a:rPr dirty="0"/>
              <a:t>do</a:t>
            </a:r>
            <a:r>
              <a:rPr spc="5" dirty="0"/>
              <a:t> </a:t>
            </a:r>
            <a:r>
              <a:rPr spc="-30" dirty="0"/>
              <a:t>we</a:t>
            </a:r>
            <a:r>
              <a:rPr spc="-5" dirty="0"/>
              <a:t> </a:t>
            </a:r>
            <a:r>
              <a:rPr spc="-15" dirty="0"/>
              <a:t>train</a:t>
            </a:r>
            <a:r>
              <a:rPr dirty="0"/>
              <a:t> </a:t>
            </a:r>
            <a:r>
              <a:rPr spc="-30" dirty="0"/>
              <a:t>latent</a:t>
            </a:r>
            <a:r>
              <a:rPr spc="25" dirty="0"/>
              <a:t> </a:t>
            </a:r>
            <a:r>
              <a:rPr spc="-10" dirty="0"/>
              <a:t>variable </a:t>
            </a:r>
            <a:r>
              <a:rPr spc="-5" dirty="0"/>
              <a:t>models?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A80B209-4174-EAAB-BAF7-7C7233F612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057400"/>
            <a:ext cx="1840992" cy="252984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2DFEDC67-CC52-B65E-D859-D9E9658A9C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590800"/>
            <a:ext cx="3779520" cy="252984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01F1C362-A850-24A2-8D87-0F3ECEA7D33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6027" y="3208020"/>
            <a:ext cx="2613660" cy="18135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DA460AA4-F9C5-A39C-A329-F68BE32104B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6027" y="3738371"/>
            <a:ext cx="3174492" cy="640080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DCCA4D3C-9D77-D1CB-05D3-187B6152863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07864" y="3884676"/>
            <a:ext cx="452627" cy="252984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A838FC11-E57D-263A-3D85-2D1244F6DAA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1264" y="3745991"/>
            <a:ext cx="1921764" cy="562356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35D86FF1-42FB-2B51-1AFA-7B65DEBD12BF}"/>
              </a:ext>
            </a:extLst>
          </p:cNvPr>
          <p:cNvGrpSpPr/>
          <p:nvPr/>
        </p:nvGrpSpPr>
        <p:grpSpPr>
          <a:xfrm>
            <a:off x="986027" y="4727447"/>
            <a:ext cx="4726305" cy="1432560"/>
            <a:chOff x="986027" y="4727447"/>
            <a:chExt cx="4726305" cy="1432560"/>
          </a:xfrm>
        </p:grpSpPr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631F2BC3-F7F9-862F-6B84-349931ED5A2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6027" y="4727447"/>
              <a:ext cx="4725924" cy="669035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D20B005-3AF3-7A06-4E6C-64800E1F33B5}"/>
                </a:ext>
              </a:extLst>
            </p:cNvPr>
            <p:cNvSpPr/>
            <p:nvPr/>
          </p:nvSpPr>
          <p:spPr>
            <a:xfrm>
              <a:off x="4301489" y="5397245"/>
              <a:ext cx="76200" cy="763270"/>
            </a:xfrm>
            <a:custGeom>
              <a:avLst/>
              <a:gdLst/>
              <a:ahLst/>
              <a:cxnLst/>
              <a:rect l="l" t="t" r="r" b="b"/>
              <a:pathLst>
                <a:path w="76200" h="763270">
                  <a:moveTo>
                    <a:pt x="47625" y="63499"/>
                  </a:moveTo>
                  <a:lnTo>
                    <a:pt x="28575" y="63499"/>
                  </a:lnTo>
                  <a:lnTo>
                    <a:pt x="28575" y="762749"/>
                  </a:lnTo>
                  <a:lnTo>
                    <a:pt x="47625" y="762749"/>
                  </a:lnTo>
                  <a:lnTo>
                    <a:pt x="47625" y="63499"/>
                  </a:lnTo>
                  <a:close/>
                </a:path>
                <a:path w="76200" h="763270">
                  <a:moveTo>
                    <a:pt x="38100" y="0"/>
                  </a:moveTo>
                  <a:lnTo>
                    <a:pt x="0" y="76199"/>
                  </a:lnTo>
                  <a:lnTo>
                    <a:pt x="28575" y="76199"/>
                  </a:lnTo>
                  <a:lnTo>
                    <a:pt x="28575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763270">
                  <a:moveTo>
                    <a:pt x="69850" y="63499"/>
                  </a:moveTo>
                  <a:lnTo>
                    <a:pt x="47625" y="63499"/>
                  </a:lnTo>
                  <a:lnTo>
                    <a:pt x="47625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>
            <a:extLst>
              <a:ext uri="{FF2B5EF4-FFF2-40B4-BE49-F238E27FC236}">
                <a16:creationId xmlns:a16="http://schemas.microsoft.com/office/drawing/2014/main" id="{F1F6D8FE-584E-5D14-3717-8B6FB587D7E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15055" y="6347459"/>
            <a:ext cx="2446020" cy="227076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8D6F24-03DF-F683-04F9-C97D8EF38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65E5-53F1-47E5-93CD-649FDAE9CD74}" type="datetime1">
              <a:rPr lang="en-US" smtClean="0"/>
              <a:t>10/1/2025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118E21E-4534-48B5-E6A3-BA2E37D5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B829F89-4890-D379-F21E-1DAFE7FF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49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7C1E-FDBF-5E8D-7D7E-1CF85EC6E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9EFC7A-DCBB-63C1-AF40-DC4CB56B0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3887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Estimating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5" dirty="0"/>
              <a:t>log-likelihood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1B3317B-3075-4CA8-4458-701C833136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905000"/>
            <a:ext cx="3878579" cy="227075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B014F08F-49C8-2943-0B18-E9CEA4E2DB0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2514600"/>
            <a:ext cx="4632960" cy="640079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B793394-9951-4CF8-117C-BFD42ED8F7C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94931" y="1905000"/>
            <a:ext cx="4482083" cy="530351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C7D4295F-E199-8983-496C-6B5A6C380AC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4931" y="2586227"/>
            <a:ext cx="4536948" cy="544068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6AFFCC0-FA5D-CA68-6135-895F34686BC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979164"/>
            <a:ext cx="3861816" cy="252984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ACF61F61-D683-9E5E-F5B9-631946835FF7}"/>
              </a:ext>
            </a:extLst>
          </p:cNvPr>
          <p:cNvGrpSpPr/>
          <p:nvPr/>
        </p:nvGrpSpPr>
        <p:grpSpPr>
          <a:xfrm>
            <a:off x="6648450" y="3480053"/>
            <a:ext cx="2522855" cy="3048000"/>
            <a:chOff x="6648450" y="3480053"/>
            <a:chExt cx="2522855" cy="30480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08DEBFC-3DC4-6F96-6FAD-D981F8F45B56}"/>
                </a:ext>
              </a:extLst>
            </p:cNvPr>
            <p:cNvSpPr/>
            <p:nvPr/>
          </p:nvSpPr>
          <p:spPr>
            <a:xfrm>
              <a:off x="6648450" y="3480053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57"/>
                  </a:lnTo>
                  <a:lnTo>
                    <a:pt x="38100" y="798957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F08589A-9EA7-CD10-50DA-15B197CFD05B}"/>
                </a:ext>
              </a:extLst>
            </p:cNvPr>
            <p:cNvSpPr/>
            <p:nvPr/>
          </p:nvSpPr>
          <p:spPr>
            <a:xfrm>
              <a:off x="6707123" y="3565143"/>
              <a:ext cx="2399030" cy="683895"/>
            </a:xfrm>
            <a:custGeom>
              <a:avLst/>
              <a:gdLst/>
              <a:ahLst/>
              <a:cxnLst/>
              <a:rect l="l" t="t" r="r" b="b"/>
              <a:pathLst>
                <a:path w="2399029" h="683895">
                  <a:moveTo>
                    <a:pt x="0" y="580770"/>
                  </a:moveTo>
                  <a:lnTo>
                    <a:pt x="37391" y="601671"/>
                  </a:lnTo>
                  <a:lnTo>
                    <a:pt x="75908" y="619200"/>
                  </a:lnTo>
                  <a:lnTo>
                    <a:pt x="116697" y="629983"/>
                  </a:lnTo>
                  <a:lnTo>
                    <a:pt x="160904" y="630649"/>
                  </a:lnTo>
                  <a:lnTo>
                    <a:pt x="209676" y="617824"/>
                  </a:lnTo>
                  <a:lnTo>
                    <a:pt x="264159" y="588136"/>
                  </a:lnTo>
                  <a:lnTo>
                    <a:pt x="316993" y="538217"/>
                  </a:lnTo>
                  <a:lnTo>
                    <a:pt x="345613" y="503139"/>
                  </a:lnTo>
                  <a:lnTo>
                    <a:pt x="375421" y="463212"/>
                  </a:lnTo>
                  <a:lnTo>
                    <a:pt x="406207" y="419859"/>
                  </a:lnTo>
                  <a:lnTo>
                    <a:pt x="437759" y="374502"/>
                  </a:lnTo>
                  <a:lnTo>
                    <a:pt x="469868" y="328564"/>
                  </a:lnTo>
                  <a:lnTo>
                    <a:pt x="502323" y="283468"/>
                  </a:lnTo>
                  <a:lnTo>
                    <a:pt x="534913" y="240637"/>
                  </a:lnTo>
                  <a:lnTo>
                    <a:pt x="567428" y="201492"/>
                  </a:lnTo>
                  <a:lnTo>
                    <a:pt x="599658" y="167457"/>
                  </a:lnTo>
                  <a:lnTo>
                    <a:pt x="631392" y="139954"/>
                  </a:lnTo>
                  <a:lnTo>
                    <a:pt x="692530" y="110235"/>
                  </a:lnTo>
                  <a:lnTo>
                    <a:pt x="723990" y="111663"/>
                  </a:lnTo>
                  <a:lnTo>
                    <a:pt x="784992" y="148697"/>
                  </a:lnTo>
                  <a:lnTo>
                    <a:pt x="814848" y="179927"/>
                  </a:lnTo>
                  <a:lnTo>
                    <a:pt x="844481" y="216714"/>
                  </a:lnTo>
                  <a:lnTo>
                    <a:pt x="874048" y="256869"/>
                  </a:lnTo>
                  <a:lnTo>
                    <a:pt x="903707" y="298205"/>
                  </a:lnTo>
                  <a:lnTo>
                    <a:pt x="933613" y="338531"/>
                  </a:lnTo>
                  <a:lnTo>
                    <a:pt x="963923" y="375661"/>
                  </a:lnTo>
                  <a:lnTo>
                    <a:pt x="994792" y="407405"/>
                  </a:lnTo>
                  <a:lnTo>
                    <a:pt x="1026379" y="431574"/>
                  </a:lnTo>
                  <a:lnTo>
                    <a:pt x="1092327" y="448436"/>
                  </a:lnTo>
                  <a:lnTo>
                    <a:pt x="1120334" y="440198"/>
                  </a:lnTo>
                  <a:lnTo>
                    <a:pt x="1178165" y="398792"/>
                  </a:lnTo>
                  <a:lnTo>
                    <a:pt x="1207853" y="368242"/>
                  </a:lnTo>
                  <a:lnTo>
                    <a:pt x="1237965" y="332872"/>
                  </a:lnTo>
                  <a:lnTo>
                    <a:pt x="1268433" y="293991"/>
                  </a:lnTo>
                  <a:lnTo>
                    <a:pt x="1299190" y="252908"/>
                  </a:lnTo>
                  <a:lnTo>
                    <a:pt x="1330166" y="210931"/>
                  </a:lnTo>
                  <a:lnTo>
                    <a:pt x="1361294" y="169369"/>
                  </a:lnTo>
                  <a:lnTo>
                    <a:pt x="1392505" y="129531"/>
                  </a:lnTo>
                  <a:lnTo>
                    <a:pt x="1423733" y="92726"/>
                  </a:lnTo>
                  <a:lnTo>
                    <a:pt x="1454908" y="60263"/>
                  </a:lnTo>
                  <a:lnTo>
                    <a:pt x="1485962" y="33450"/>
                  </a:lnTo>
                  <a:lnTo>
                    <a:pt x="1547436" y="2009"/>
                  </a:lnTo>
                  <a:lnTo>
                    <a:pt x="1577721" y="0"/>
                  </a:lnTo>
                  <a:lnTo>
                    <a:pt x="1608064" y="7766"/>
                  </a:lnTo>
                  <a:lnTo>
                    <a:pt x="1669796" y="47493"/>
                  </a:lnTo>
                  <a:lnTo>
                    <a:pt x="1700996" y="77374"/>
                  </a:lnTo>
                  <a:lnTo>
                    <a:pt x="1732293" y="112548"/>
                  </a:lnTo>
                  <a:lnTo>
                    <a:pt x="1763594" y="151974"/>
                  </a:lnTo>
                  <a:lnTo>
                    <a:pt x="1794805" y="194613"/>
                  </a:lnTo>
                  <a:lnTo>
                    <a:pt x="1825831" y="239426"/>
                  </a:lnTo>
                  <a:lnTo>
                    <a:pt x="1856579" y="285373"/>
                  </a:lnTo>
                  <a:lnTo>
                    <a:pt x="1886954" y="331415"/>
                  </a:lnTo>
                  <a:lnTo>
                    <a:pt x="1916864" y="376511"/>
                  </a:lnTo>
                  <a:lnTo>
                    <a:pt x="1946213" y="419623"/>
                  </a:lnTo>
                  <a:lnTo>
                    <a:pt x="1974908" y="459711"/>
                  </a:lnTo>
                  <a:lnTo>
                    <a:pt x="2002855" y="495735"/>
                  </a:lnTo>
                  <a:lnTo>
                    <a:pt x="2029960" y="526656"/>
                  </a:lnTo>
                  <a:lnTo>
                    <a:pt x="2105904" y="589452"/>
                  </a:lnTo>
                  <a:lnTo>
                    <a:pt x="2152905" y="618884"/>
                  </a:lnTo>
                  <a:lnTo>
                    <a:pt x="2197529" y="640956"/>
                  </a:lnTo>
                  <a:lnTo>
                    <a:pt x="2240168" y="656891"/>
                  </a:lnTo>
                  <a:lnTo>
                    <a:pt x="2281218" y="667915"/>
                  </a:lnTo>
                  <a:lnTo>
                    <a:pt x="2321073" y="675253"/>
                  </a:lnTo>
                  <a:lnTo>
                    <a:pt x="2360128" y="680128"/>
                  </a:lnTo>
                  <a:lnTo>
                    <a:pt x="2398776" y="68376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0AF532A-F99B-AA60-B2E6-9C53BC2E3B01}"/>
                </a:ext>
              </a:extLst>
            </p:cNvPr>
            <p:cNvSpPr/>
            <p:nvPr/>
          </p:nvSpPr>
          <p:spPr>
            <a:xfrm>
              <a:off x="6648450" y="5691377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82"/>
                  </a:lnTo>
                  <a:lnTo>
                    <a:pt x="38100" y="798982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87A751C-108F-A6A8-76BF-4C9C47B61F40}"/>
                </a:ext>
              </a:extLst>
            </p:cNvPr>
            <p:cNvSpPr/>
            <p:nvPr/>
          </p:nvSpPr>
          <p:spPr>
            <a:xfrm>
              <a:off x="6701027" y="5908624"/>
              <a:ext cx="2356485" cy="584200"/>
            </a:xfrm>
            <a:custGeom>
              <a:avLst/>
              <a:gdLst/>
              <a:ahLst/>
              <a:cxnLst/>
              <a:rect l="l" t="t" r="r" b="b"/>
              <a:pathLst>
                <a:path w="2356484" h="584200">
                  <a:moveTo>
                    <a:pt x="0" y="557682"/>
                  </a:moveTo>
                  <a:lnTo>
                    <a:pt x="514096" y="535673"/>
                  </a:lnTo>
                  <a:lnTo>
                    <a:pt x="563225" y="518288"/>
                  </a:lnTo>
                  <a:lnTo>
                    <a:pt x="607693" y="496804"/>
                  </a:lnTo>
                  <a:lnTo>
                    <a:pt x="648418" y="471823"/>
                  </a:lnTo>
                  <a:lnTo>
                    <a:pt x="686323" y="443947"/>
                  </a:lnTo>
                  <a:lnTo>
                    <a:pt x="722330" y="413778"/>
                  </a:lnTo>
                  <a:lnTo>
                    <a:pt x="757358" y="381918"/>
                  </a:lnTo>
                  <a:lnTo>
                    <a:pt x="792330" y="348968"/>
                  </a:lnTo>
                  <a:lnTo>
                    <a:pt x="828167" y="315531"/>
                  </a:lnTo>
                  <a:lnTo>
                    <a:pt x="860294" y="281035"/>
                  </a:lnTo>
                  <a:lnTo>
                    <a:pt x="891648" y="239141"/>
                  </a:lnTo>
                  <a:lnTo>
                    <a:pt x="922349" y="192960"/>
                  </a:lnTo>
                  <a:lnTo>
                    <a:pt x="952516" y="145600"/>
                  </a:lnTo>
                  <a:lnTo>
                    <a:pt x="982271" y="100174"/>
                  </a:lnTo>
                  <a:lnTo>
                    <a:pt x="1011733" y="59791"/>
                  </a:lnTo>
                  <a:lnTo>
                    <a:pt x="1041023" y="27560"/>
                  </a:lnTo>
                  <a:lnTo>
                    <a:pt x="1070260" y="6593"/>
                  </a:lnTo>
                  <a:lnTo>
                    <a:pt x="1099566" y="0"/>
                  </a:lnTo>
                  <a:lnTo>
                    <a:pt x="1124710" y="8335"/>
                  </a:lnTo>
                  <a:lnTo>
                    <a:pt x="1169822" y="59082"/>
                  </a:lnTo>
                  <a:lnTo>
                    <a:pt x="1191373" y="96740"/>
                  </a:lnTo>
                  <a:lnTo>
                    <a:pt x="1213310" y="139417"/>
                  </a:lnTo>
                  <a:lnTo>
                    <a:pt x="1236424" y="184736"/>
                  </a:lnTo>
                  <a:lnTo>
                    <a:pt x="1261507" y="230319"/>
                  </a:lnTo>
                  <a:lnTo>
                    <a:pt x="1289350" y="273789"/>
                  </a:lnTo>
                  <a:lnTo>
                    <a:pt x="1320746" y="312769"/>
                  </a:lnTo>
                  <a:lnTo>
                    <a:pt x="1356487" y="344881"/>
                  </a:lnTo>
                  <a:lnTo>
                    <a:pt x="1393250" y="369933"/>
                  </a:lnTo>
                  <a:lnTo>
                    <a:pt x="1433663" y="394291"/>
                  </a:lnTo>
                  <a:lnTo>
                    <a:pt x="1477131" y="417805"/>
                  </a:lnTo>
                  <a:lnTo>
                    <a:pt x="1523059" y="440326"/>
                  </a:lnTo>
                  <a:lnTo>
                    <a:pt x="1570852" y="461706"/>
                  </a:lnTo>
                  <a:lnTo>
                    <a:pt x="1619916" y="481796"/>
                  </a:lnTo>
                  <a:lnTo>
                    <a:pt x="1669655" y="500447"/>
                  </a:lnTo>
                  <a:lnTo>
                    <a:pt x="1719475" y="517510"/>
                  </a:lnTo>
                  <a:lnTo>
                    <a:pt x="1768781" y="532836"/>
                  </a:lnTo>
                  <a:lnTo>
                    <a:pt x="1816977" y="546276"/>
                  </a:lnTo>
                  <a:lnTo>
                    <a:pt x="1863471" y="557682"/>
                  </a:lnTo>
                  <a:lnTo>
                    <a:pt x="1913351" y="567619"/>
                  </a:lnTo>
                  <a:lnTo>
                    <a:pt x="1963033" y="574882"/>
                  </a:lnTo>
                  <a:lnTo>
                    <a:pt x="2012541" y="579767"/>
                  </a:lnTo>
                  <a:lnTo>
                    <a:pt x="2061895" y="582573"/>
                  </a:lnTo>
                  <a:lnTo>
                    <a:pt x="2111121" y="583596"/>
                  </a:lnTo>
                  <a:lnTo>
                    <a:pt x="2160239" y="583133"/>
                  </a:lnTo>
                  <a:lnTo>
                    <a:pt x="2209274" y="581481"/>
                  </a:lnTo>
                  <a:lnTo>
                    <a:pt x="2258247" y="578938"/>
                  </a:lnTo>
                  <a:lnTo>
                    <a:pt x="2307183" y="575799"/>
                  </a:lnTo>
                  <a:lnTo>
                    <a:pt x="2356104" y="57236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612C8FC0-2BEF-D012-A8B8-61C7363D649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79208" y="4402861"/>
              <a:ext cx="829055" cy="1385843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840AD53-EA21-E584-D605-0822AF3C7338}"/>
                </a:ext>
              </a:extLst>
            </p:cNvPr>
            <p:cNvSpPr/>
            <p:nvPr/>
          </p:nvSpPr>
          <p:spPr>
            <a:xfrm>
              <a:off x="6680961" y="3935856"/>
              <a:ext cx="913765" cy="2117090"/>
            </a:xfrm>
            <a:custGeom>
              <a:avLst/>
              <a:gdLst/>
              <a:ahLst/>
              <a:cxnLst/>
              <a:rect l="l" t="t" r="r" b="b"/>
              <a:pathLst>
                <a:path w="913765" h="2117090">
                  <a:moveTo>
                    <a:pt x="715067" y="2067459"/>
                  </a:moveTo>
                  <a:lnTo>
                    <a:pt x="692531" y="2089848"/>
                  </a:lnTo>
                  <a:lnTo>
                    <a:pt x="773303" y="2116988"/>
                  </a:lnTo>
                  <a:lnTo>
                    <a:pt x="759936" y="2076450"/>
                  </a:lnTo>
                  <a:lnTo>
                    <a:pt x="724027" y="2076450"/>
                  </a:lnTo>
                  <a:lnTo>
                    <a:pt x="715067" y="2067459"/>
                  </a:lnTo>
                  <a:close/>
                </a:path>
                <a:path w="913765" h="2117090">
                  <a:moveTo>
                    <a:pt x="724082" y="2058504"/>
                  </a:moveTo>
                  <a:lnTo>
                    <a:pt x="715067" y="2067459"/>
                  </a:lnTo>
                  <a:lnTo>
                    <a:pt x="724027" y="2076450"/>
                  </a:lnTo>
                  <a:lnTo>
                    <a:pt x="733044" y="2067496"/>
                  </a:lnTo>
                  <a:lnTo>
                    <a:pt x="724082" y="2058504"/>
                  </a:lnTo>
                  <a:close/>
                </a:path>
                <a:path w="913765" h="2117090">
                  <a:moveTo>
                    <a:pt x="746633" y="2036102"/>
                  </a:moveTo>
                  <a:lnTo>
                    <a:pt x="724082" y="2058504"/>
                  </a:lnTo>
                  <a:lnTo>
                    <a:pt x="733044" y="2067496"/>
                  </a:lnTo>
                  <a:lnTo>
                    <a:pt x="724027" y="2076450"/>
                  </a:lnTo>
                  <a:lnTo>
                    <a:pt x="759936" y="2076450"/>
                  </a:lnTo>
                  <a:lnTo>
                    <a:pt x="746633" y="2036102"/>
                  </a:lnTo>
                  <a:close/>
                </a:path>
                <a:path w="913765" h="2117090">
                  <a:moveTo>
                    <a:pt x="906399" y="0"/>
                  </a:moveTo>
                  <a:lnTo>
                    <a:pt x="742188" y="115443"/>
                  </a:lnTo>
                  <a:lnTo>
                    <a:pt x="661670" y="173355"/>
                  </a:lnTo>
                  <a:lnTo>
                    <a:pt x="622046" y="202311"/>
                  </a:lnTo>
                  <a:lnTo>
                    <a:pt x="582803" y="231394"/>
                  </a:lnTo>
                  <a:lnTo>
                    <a:pt x="544322" y="260604"/>
                  </a:lnTo>
                  <a:lnTo>
                    <a:pt x="506349" y="289814"/>
                  </a:lnTo>
                  <a:lnTo>
                    <a:pt x="469265" y="319151"/>
                  </a:lnTo>
                  <a:lnTo>
                    <a:pt x="433070" y="348488"/>
                  </a:lnTo>
                  <a:lnTo>
                    <a:pt x="397764" y="378079"/>
                  </a:lnTo>
                  <a:lnTo>
                    <a:pt x="363347" y="407670"/>
                  </a:lnTo>
                  <a:lnTo>
                    <a:pt x="330073" y="437388"/>
                  </a:lnTo>
                  <a:lnTo>
                    <a:pt x="297815" y="467360"/>
                  </a:lnTo>
                  <a:lnTo>
                    <a:pt x="266954" y="497332"/>
                  </a:lnTo>
                  <a:lnTo>
                    <a:pt x="237236" y="527558"/>
                  </a:lnTo>
                  <a:lnTo>
                    <a:pt x="209042" y="557911"/>
                  </a:lnTo>
                  <a:lnTo>
                    <a:pt x="182118" y="588391"/>
                  </a:lnTo>
                  <a:lnTo>
                    <a:pt x="156845" y="619125"/>
                  </a:lnTo>
                  <a:lnTo>
                    <a:pt x="133096" y="649986"/>
                  </a:lnTo>
                  <a:lnTo>
                    <a:pt x="110998" y="681101"/>
                  </a:lnTo>
                  <a:lnTo>
                    <a:pt x="72263" y="743966"/>
                  </a:lnTo>
                  <a:lnTo>
                    <a:pt x="41021" y="807720"/>
                  </a:lnTo>
                  <a:lnTo>
                    <a:pt x="18288" y="872363"/>
                  </a:lnTo>
                  <a:lnTo>
                    <a:pt x="6985" y="921766"/>
                  </a:lnTo>
                  <a:lnTo>
                    <a:pt x="1016" y="971677"/>
                  </a:lnTo>
                  <a:lnTo>
                    <a:pt x="0" y="1005332"/>
                  </a:lnTo>
                  <a:lnTo>
                    <a:pt x="508" y="1022223"/>
                  </a:lnTo>
                  <a:lnTo>
                    <a:pt x="5334" y="1073150"/>
                  </a:lnTo>
                  <a:lnTo>
                    <a:pt x="19558" y="1141857"/>
                  </a:lnTo>
                  <a:lnTo>
                    <a:pt x="42037" y="1211326"/>
                  </a:lnTo>
                  <a:lnTo>
                    <a:pt x="72136" y="1281430"/>
                  </a:lnTo>
                  <a:lnTo>
                    <a:pt x="89916" y="1316736"/>
                  </a:lnTo>
                  <a:lnTo>
                    <a:pt x="109347" y="1352169"/>
                  </a:lnTo>
                  <a:lnTo>
                    <a:pt x="130429" y="1387983"/>
                  </a:lnTo>
                  <a:lnTo>
                    <a:pt x="152908" y="1423670"/>
                  </a:lnTo>
                  <a:lnTo>
                    <a:pt x="176911" y="1459611"/>
                  </a:lnTo>
                  <a:lnTo>
                    <a:pt x="202311" y="1495679"/>
                  </a:lnTo>
                  <a:lnTo>
                    <a:pt x="228981" y="1531747"/>
                  </a:lnTo>
                  <a:lnTo>
                    <a:pt x="256794" y="1568069"/>
                  </a:lnTo>
                  <a:lnTo>
                    <a:pt x="285877" y="1604518"/>
                  </a:lnTo>
                  <a:lnTo>
                    <a:pt x="315849" y="1640967"/>
                  </a:lnTo>
                  <a:lnTo>
                    <a:pt x="346964" y="1677644"/>
                  </a:lnTo>
                  <a:lnTo>
                    <a:pt x="378841" y="1714284"/>
                  </a:lnTo>
                  <a:lnTo>
                    <a:pt x="411734" y="1751101"/>
                  </a:lnTo>
                  <a:lnTo>
                    <a:pt x="445262" y="1787918"/>
                  </a:lnTo>
                  <a:lnTo>
                    <a:pt x="479425" y="1824812"/>
                  </a:lnTo>
                  <a:lnTo>
                    <a:pt x="514350" y="1861807"/>
                  </a:lnTo>
                  <a:lnTo>
                    <a:pt x="549783" y="1898802"/>
                  </a:lnTo>
                  <a:lnTo>
                    <a:pt x="621792" y="1972945"/>
                  </a:lnTo>
                  <a:lnTo>
                    <a:pt x="694944" y="2047265"/>
                  </a:lnTo>
                  <a:lnTo>
                    <a:pt x="715067" y="2067459"/>
                  </a:lnTo>
                  <a:lnTo>
                    <a:pt x="724082" y="2058504"/>
                  </a:lnTo>
                  <a:lnTo>
                    <a:pt x="703986" y="2038337"/>
                  </a:lnTo>
                  <a:lnTo>
                    <a:pt x="630834" y="1964067"/>
                  </a:lnTo>
                  <a:lnTo>
                    <a:pt x="558964" y="1890001"/>
                  </a:lnTo>
                  <a:lnTo>
                    <a:pt x="523657" y="1853082"/>
                  </a:lnTo>
                  <a:lnTo>
                    <a:pt x="488732" y="1816163"/>
                  </a:lnTo>
                  <a:lnTo>
                    <a:pt x="454580" y="1779346"/>
                  </a:lnTo>
                  <a:lnTo>
                    <a:pt x="421178" y="1742630"/>
                  </a:lnTo>
                  <a:lnTo>
                    <a:pt x="388411" y="1705914"/>
                  </a:lnTo>
                  <a:lnTo>
                    <a:pt x="356544" y="1669402"/>
                  </a:lnTo>
                  <a:lnTo>
                    <a:pt x="325628" y="1632839"/>
                  </a:lnTo>
                  <a:lnTo>
                    <a:pt x="295760" y="1596644"/>
                  </a:lnTo>
                  <a:lnTo>
                    <a:pt x="266927" y="1560322"/>
                  </a:lnTo>
                  <a:lnTo>
                    <a:pt x="239111" y="1524254"/>
                  </a:lnTo>
                  <a:lnTo>
                    <a:pt x="239047" y="1524127"/>
                  </a:lnTo>
                  <a:lnTo>
                    <a:pt x="212564" y="1488313"/>
                  </a:lnTo>
                  <a:lnTo>
                    <a:pt x="187414" y="1452499"/>
                  </a:lnTo>
                  <a:lnTo>
                    <a:pt x="187367" y="1452372"/>
                  </a:lnTo>
                  <a:lnTo>
                    <a:pt x="163660" y="1416812"/>
                  </a:lnTo>
                  <a:lnTo>
                    <a:pt x="163622" y="1416685"/>
                  </a:lnTo>
                  <a:lnTo>
                    <a:pt x="141304" y="1381379"/>
                  </a:lnTo>
                  <a:lnTo>
                    <a:pt x="120418" y="1346073"/>
                  </a:lnTo>
                  <a:lnTo>
                    <a:pt x="101230" y="1311021"/>
                  </a:lnTo>
                  <a:lnTo>
                    <a:pt x="83576" y="1275842"/>
                  </a:lnTo>
                  <a:lnTo>
                    <a:pt x="53950" y="1207008"/>
                  </a:lnTo>
                  <a:lnTo>
                    <a:pt x="53885" y="1206754"/>
                  </a:lnTo>
                  <a:lnTo>
                    <a:pt x="41916" y="1172718"/>
                  </a:lnTo>
                  <a:lnTo>
                    <a:pt x="31825" y="1138682"/>
                  </a:lnTo>
                  <a:lnTo>
                    <a:pt x="31816" y="1138428"/>
                  </a:lnTo>
                  <a:lnTo>
                    <a:pt x="23839" y="1105027"/>
                  </a:lnTo>
                  <a:lnTo>
                    <a:pt x="23807" y="1104646"/>
                  </a:lnTo>
                  <a:lnTo>
                    <a:pt x="17825" y="1071372"/>
                  </a:lnTo>
                  <a:lnTo>
                    <a:pt x="17874" y="1071118"/>
                  </a:lnTo>
                  <a:lnTo>
                    <a:pt x="15780" y="1054862"/>
                  </a:lnTo>
                  <a:lnTo>
                    <a:pt x="14327" y="1039114"/>
                  </a:lnTo>
                  <a:lnTo>
                    <a:pt x="14208" y="1037971"/>
                  </a:lnTo>
                  <a:lnTo>
                    <a:pt x="13200" y="1021461"/>
                  </a:lnTo>
                  <a:lnTo>
                    <a:pt x="12701" y="1005078"/>
                  </a:lnTo>
                  <a:lnTo>
                    <a:pt x="12827" y="988695"/>
                  </a:lnTo>
                  <a:lnTo>
                    <a:pt x="13599" y="972439"/>
                  </a:lnTo>
                  <a:lnTo>
                    <a:pt x="14964" y="956437"/>
                  </a:lnTo>
                  <a:lnTo>
                    <a:pt x="15015" y="956183"/>
                  </a:lnTo>
                  <a:lnTo>
                    <a:pt x="16876" y="940181"/>
                  </a:lnTo>
                  <a:lnTo>
                    <a:pt x="19391" y="924052"/>
                  </a:lnTo>
                  <a:lnTo>
                    <a:pt x="19480" y="923798"/>
                  </a:lnTo>
                  <a:lnTo>
                    <a:pt x="22581" y="907923"/>
                  </a:lnTo>
                  <a:lnTo>
                    <a:pt x="26229" y="892048"/>
                  </a:lnTo>
                  <a:lnTo>
                    <a:pt x="30412" y="876046"/>
                  </a:lnTo>
                  <a:lnTo>
                    <a:pt x="40517" y="844423"/>
                  </a:lnTo>
                  <a:lnTo>
                    <a:pt x="40640" y="844042"/>
                  </a:lnTo>
                  <a:lnTo>
                    <a:pt x="52832" y="812419"/>
                  </a:lnTo>
                  <a:lnTo>
                    <a:pt x="67183" y="781050"/>
                  </a:lnTo>
                  <a:lnTo>
                    <a:pt x="83439" y="749935"/>
                  </a:lnTo>
                  <a:lnTo>
                    <a:pt x="101451" y="719201"/>
                  </a:lnTo>
                  <a:lnTo>
                    <a:pt x="121539" y="688086"/>
                  </a:lnTo>
                  <a:lnTo>
                    <a:pt x="143292" y="657606"/>
                  </a:lnTo>
                  <a:lnTo>
                    <a:pt x="166779" y="627126"/>
                  </a:lnTo>
                  <a:lnTo>
                    <a:pt x="191897" y="596519"/>
                  </a:lnTo>
                  <a:lnTo>
                    <a:pt x="218328" y="566420"/>
                  </a:lnTo>
                  <a:lnTo>
                    <a:pt x="246388" y="536448"/>
                  </a:lnTo>
                  <a:lnTo>
                    <a:pt x="275971" y="506349"/>
                  </a:lnTo>
                  <a:lnTo>
                    <a:pt x="306578" y="476504"/>
                  </a:lnTo>
                  <a:lnTo>
                    <a:pt x="306714" y="476504"/>
                  </a:lnTo>
                  <a:lnTo>
                    <a:pt x="338582" y="446786"/>
                  </a:lnTo>
                  <a:lnTo>
                    <a:pt x="338723" y="446786"/>
                  </a:lnTo>
                  <a:lnTo>
                    <a:pt x="371729" y="417195"/>
                  </a:lnTo>
                  <a:lnTo>
                    <a:pt x="371876" y="417195"/>
                  </a:lnTo>
                  <a:lnTo>
                    <a:pt x="406019" y="387731"/>
                  </a:lnTo>
                  <a:lnTo>
                    <a:pt x="441198" y="358267"/>
                  </a:lnTo>
                  <a:lnTo>
                    <a:pt x="477266" y="329057"/>
                  </a:lnTo>
                  <a:lnTo>
                    <a:pt x="514223" y="299720"/>
                  </a:lnTo>
                  <a:lnTo>
                    <a:pt x="514387" y="299720"/>
                  </a:lnTo>
                  <a:lnTo>
                    <a:pt x="552069" y="270637"/>
                  </a:lnTo>
                  <a:lnTo>
                    <a:pt x="590423" y="241554"/>
                  </a:lnTo>
                  <a:lnTo>
                    <a:pt x="629539" y="212471"/>
                  </a:lnTo>
                  <a:lnTo>
                    <a:pt x="629712" y="212471"/>
                  </a:lnTo>
                  <a:lnTo>
                    <a:pt x="669163" y="183642"/>
                  </a:lnTo>
                  <a:lnTo>
                    <a:pt x="749554" y="125730"/>
                  </a:lnTo>
                  <a:lnTo>
                    <a:pt x="913765" y="10414"/>
                  </a:lnTo>
                  <a:lnTo>
                    <a:pt x="906399" y="0"/>
                  </a:lnTo>
                  <a:close/>
                </a:path>
                <a:path w="913765" h="2117090">
                  <a:moveTo>
                    <a:pt x="703961" y="2038311"/>
                  </a:moveTo>
                  <a:close/>
                </a:path>
                <a:path w="913765" h="2117090">
                  <a:moveTo>
                    <a:pt x="630911" y="1964042"/>
                  </a:moveTo>
                  <a:close/>
                </a:path>
                <a:path w="913765" h="2117090">
                  <a:moveTo>
                    <a:pt x="558927" y="1889963"/>
                  </a:moveTo>
                  <a:close/>
                </a:path>
                <a:path w="913765" h="2117090">
                  <a:moveTo>
                    <a:pt x="523621" y="1853044"/>
                  </a:moveTo>
                  <a:close/>
                </a:path>
                <a:path w="913765" h="2117090">
                  <a:moveTo>
                    <a:pt x="488787" y="1816125"/>
                  </a:moveTo>
                  <a:close/>
                </a:path>
                <a:path w="913765" h="2117090">
                  <a:moveTo>
                    <a:pt x="454613" y="1779295"/>
                  </a:moveTo>
                  <a:close/>
                </a:path>
                <a:path w="913765" h="2117090">
                  <a:moveTo>
                    <a:pt x="421132" y="1742579"/>
                  </a:moveTo>
                  <a:close/>
                </a:path>
                <a:path w="913765" h="2117090">
                  <a:moveTo>
                    <a:pt x="388366" y="1705864"/>
                  </a:moveTo>
                  <a:close/>
                </a:path>
                <a:path w="913765" h="2117090">
                  <a:moveTo>
                    <a:pt x="356562" y="1669338"/>
                  </a:moveTo>
                  <a:close/>
                </a:path>
                <a:path w="913765" h="2117090">
                  <a:moveTo>
                    <a:pt x="295682" y="1596517"/>
                  </a:moveTo>
                  <a:close/>
                </a:path>
                <a:path w="913765" h="2117090">
                  <a:moveTo>
                    <a:pt x="266827" y="1560195"/>
                  </a:moveTo>
                  <a:close/>
                </a:path>
                <a:path w="913765" h="2117090">
                  <a:moveTo>
                    <a:pt x="239047" y="1524127"/>
                  </a:moveTo>
                  <a:lnTo>
                    <a:pt x="239141" y="1524254"/>
                  </a:lnTo>
                  <a:lnTo>
                    <a:pt x="239047" y="1524127"/>
                  </a:lnTo>
                  <a:close/>
                </a:path>
                <a:path w="913765" h="2117090">
                  <a:moveTo>
                    <a:pt x="212508" y="1488186"/>
                  </a:moveTo>
                  <a:close/>
                </a:path>
                <a:path w="913765" h="2117090">
                  <a:moveTo>
                    <a:pt x="187367" y="1452372"/>
                  </a:moveTo>
                  <a:lnTo>
                    <a:pt x="187452" y="1452499"/>
                  </a:lnTo>
                  <a:lnTo>
                    <a:pt x="187367" y="1452372"/>
                  </a:lnTo>
                  <a:close/>
                </a:path>
                <a:path w="913765" h="2117090">
                  <a:moveTo>
                    <a:pt x="163622" y="1416685"/>
                  </a:moveTo>
                  <a:lnTo>
                    <a:pt x="163703" y="1416812"/>
                  </a:lnTo>
                  <a:lnTo>
                    <a:pt x="163622" y="1416685"/>
                  </a:lnTo>
                  <a:close/>
                </a:path>
                <a:path w="913765" h="2117090">
                  <a:moveTo>
                    <a:pt x="141224" y="1381252"/>
                  </a:moveTo>
                  <a:lnTo>
                    <a:pt x="141224" y="1381379"/>
                  </a:lnTo>
                  <a:lnTo>
                    <a:pt x="141224" y="1381252"/>
                  </a:lnTo>
                  <a:close/>
                </a:path>
                <a:path w="913765" h="2117090">
                  <a:moveTo>
                    <a:pt x="120269" y="1345819"/>
                  </a:moveTo>
                  <a:lnTo>
                    <a:pt x="120396" y="1346073"/>
                  </a:lnTo>
                  <a:lnTo>
                    <a:pt x="120269" y="1345819"/>
                  </a:lnTo>
                  <a:close/>
                </a:path>
                <a:path w="913765" h="2117090">
                  <a:moveTo>
                    <a:pt x="101092" y="1310767"/>
                  </a:moveTo>
                  <a:lnTo>
                    <a:pt x="101219" y="1311021"/>
                  </a:lnTo>
                  <a:lnTo>
                    <a:pt x="101092" y="1310767"/>
                  </a:lnTo>
                  <a:close/>
                </a:path>
                <a:path w="913765" h="2117090">
                  <a:moveTo>
                    <a:pt x="83688" y="1276085"/>
                  </a:moveTo>
                  <a:close/>
                </a:path>
                <a:path w="913765" h="2117090">
                  <a:moveTo>
                    <a:pt x="83576" y="1275842"/>
                  </a:moveTo>
                  <a:lnTo>
                    <a:pt x="83688" y="1276085"/>
                  </a:lnTo>
                  <a:lnTo>
                    <a:pt x="83576" y="1275842"/>
                  </a:lnTo>
                  <a:close/>
                </a:path>
                <a:path w="913765" h="2117090">
                  <a:moveTo>
                    <a:pt x="67715" y="1241171"/>
                  </a:moveTo>
                  <a:lnTo>
                    <a:pt x="67818" y="1241425"/>
                  </a:lnTo>
                  <a:lnTo>
                    <a:pt x="67715" y="1241171"/>
                  </a:lnTo>
                  <a:close/>
                </a:path>
                <a:path w="913765" h="2117090">
                  <a:moveTo>
                    <a:pt x="53885" y="1206754"/>
                  </a:moveTo>
                  <a:lnTo>
                    <a:pt x="53975" y="1207008"/>
                  </a:lnTo>
                  <a:lnTo>
                    <a:pt x="53885" y="1206754"/>
                  </a:lnTo>
                  <a:close/>
                </a:path>
                <a:path w="913765" h="2117090">
                  <a:moveTo>
                    <a:pt x="41872" y="1172591"/>
                  </a:moveTo>
                  <a:close/>
                </a:path>
                <a:path w="913765" h="2117090">
                  <a:moveTo>
                    <a:pt x="41797" y="1172337"/>
                  </a:moveTo>
                  <a:lnTo>
                    <a:pt x="41872" y="1172591"/>
                  </a:lnTo>
                  <a:lnTo>
                    <a:pt x="41797" y="1172337"/>
                  </a:lnTo>
                  <a:close/>
                </a:path>
                <a:path w="913765" h="2117090">
                  <a:moveTo>
                    <a:pt x="31816" y="1138428"/>
                  </a:moveTo>
                  <a:lnTo>
                    <a:pt x="31877" y="1138682"/>
                  </a:lnTo>
                  <a:lnTo>
                    <a:pt x="31816" y="1138428"/>
                  </a:lnTo>
                  <a:close/>
                </a:path>
                <a:path w="913765" h="2117090">
                  <a:moveTo>
                    <a:pt x="23807" y="1104646"/>
                  </a:moveTo>
                  <a:lnTo>
                    <a:pt x="23876" y="1105027"/>
                  </a:lnTo>
                  <a:lnTo>
                    <a:pt x="23807" y="1104646"/>
                  </a:lnTo>
                  <a:close/>
                </a:path>
                <a:path w="913765" h="2117090">
                  <a:moveTo>
                    <a:pt x="17874" y="1071118"/>
                  </a:moveTo>
                  <a:lnTo>
                    <a:pt x="17907" y="1071372"/>
                  </a:lnTo>
                  <a:lnTo>
                    <a:pt x="17874" y="1071118"/>
                  </a:lnTo>
                  <a:close/>
                </a:path>
                <a:path w="913765" h="2117090">
                  <a:moveTo>
                    <a:pt x="15748" y="1054608"/>
                  </a:moveTo>
                  <a:lnTo>
                    <a:pt x="15748" y="1054862"/>
                  </a:lnTo>
                  <a:lnTo>
                    <a:pt x="15748" y="1054608"/>
                  </a:lnTo>
                  <a:close/>
                </a:path>
                <a:path w="913765" h="2117090">
                  <a:moveTo>
                    <a:pt x="14224" y="1037971"/>
                  </a:moveTo>
                  <a:lnTo>
                    <a:pt x="14224" y="1038225"/>
                  </a:lnTo>
                  <a:lnTo>
                    <a:pt x="14224" y="1037971"/>
                  </a:lnTo>
                  <a:close/>
                </a:path>
                <a:path w="913765" h="2117090">
                  <a:moveTo>
                    <a:pt x="13208" y="1021461"/>
                  </a:moveTo>
                  <a:lnTo>
                    <a:pt x="13208" y="1021715"/>
                  </a:lnTo>
                  <a:lnTo>
                    <a:pt x="13208" y="1021461"/>
                  </a:lnTo>
                  <a:close/>
                </a:path>
                <a:path w="913765" h="2117090">
                  <a:moveTo>
                    <a:pt x="12838" y="988695"/>
                  </a:moveTo>
                  <a:lnTo>
                    <a:pt x="12827" y="988949"/>
                  </a:lnTo>
                  <a:lnTo>
                    <a:pt x="12838" y="988695"/>
                  </a:lnTo>
                  <a:close/>
                </a:path>
                <a:path w="913765" h="2117090">
                  <a:moveTo>
                    <a:pt x="13599" y="972439"/>
                  </a:moveTo>
                  <a:lnTo>
                    <a:pt x="13589" y="972566"/>
                  </a:lnTo>
                  <a:lnTo>
                    <a:pt x="13599" y="972439"/>
                  </a:lnTo>
                  <a:close/>
                </a:path>
                <a:path w="913765" h="2117090">
                  <a:moveTo>
                    <a:pt x="15015" y="956183"/>
                  </a:moveTo>
                  <a:lnTo>
                    <a:pt x="14986" y="956437"/>
                  </a:lnTo>
                  <a:lnTo>
                    <a:pt x="15015" y="956183"/>
                  </a:lnTo>
                  <a:close/>
                </a:path>
                <a:path w="913765" h="2117090">
                  <a:moveTo>
                    <a:pt x="16910" y="940054"/>
                  </a:moveTo>
                  <a:close/>
                </a:path>
                <a:path w="913765" h="2117090">
                  <a:moveTo>
                    <a:pt x="19480" y="923798"/>
                  </a:moveTo>
                  <a:lnTo>
                    <a:pt x="19431" y="924052"/>
                  </a:lnTo>
                  <a:lnTo>
                    <a:pt x="19480" y="923798"/>
                  </a:lnTo>
                  <a:close/>
                </a:path>
                <a:path w="913765" h="2117090">
                  <a:moveTo>
                    <a:pt x="22606" y="907796"/>
                  </a:moveTo>
                  <a:lnTo>
                    <a:pt x="22479" y="907923"/>
                  </a:lnTo>
                  <a:lnTo>
                    <a:pt x="22606" y="907796"/>
                  </a:lnTo>
                  <a:close/>
                </a:path>
                <a:path w="913765" h="2117090">
                  <a:moveTo>
                    <a:pt x="26289" y="891794"/>
                  </a:moveTo>
                  <a:lnTo>
                    <a:pt x="26162" y="892048"/>
                  </a:lnTo>
                  <a:lnTo>
                    <a:pt x="26289" y="891794"/>
                  </a:lnTo>
                  <a:close/>
                </a:path>
                <a:path w="913765" h="2117090">
                  <a:moveTo>
                    <a:pt x="30480" y="875792"/>
                  </a:moveTo>
                  <a:lnTo>
                    <a:pt x="30353" y="876046"/>
                  </a:lnTo>
                  <a:lnTo>
                    <a:pt x="30480" y="875792"/>
                  </a:lnTo>
                  <a:close/>
                </a:path>
                <a:path w="913765" h="2117090">
                  <a:moveTo>
                    <a:pt x="40659" y="844042"/>
                  </a:moveTo>
                  <a:lnTo>
                    <a:pt x="40540" y="844351"/>
                  </a:lnTo>
                  <a:lnTo>
                    <a:pt x="40659" y="844042"/>
                  </a:lnTo>
                  <a:close/>
                </a:path>
                <a:path w="913765" h="2117090">
                  <a:moveTo>
                    <a:pt x="52878" y="812419"/>
                  </a:moveTo>
                  <a:lnTo>
                    <a:pt x="52705" y="812800"/>
                  </a:lnTo>
                  <a:lnTo>
                    <a:pt x="52878" y="812419"/>
                  </a:lnTo>
                  <a:close/>
                </a:path>
                <a:path w="913765" h="2117090">
                  <a:moveTo>
                    <a:pt x="67254" y="781050"/>
                  </a:moveTo>
                  <a:lnTo>
                    <a:pt x="67056" y="781431"/>
                  </a:lnTo>
                  <a:lnTo>
                    <a:pt x="67254" y="781050"/>
                  </a:lnTo>
                  <a:close/>
                </a:path>
                <a:path w="913765" h="2117090">
                  <a:moveTo>
                    <a:pt x="83460" y="749935"/>
                  </a:moveTo>
                  <a:lnTo>
                    <a:pt x="83312" y="750189"/>
                  </a:lnTo>
                  <a:lnTo>
                    <a:pt x="83460" y="749935"/>
                  </a:lnTo>
                  <a:close/>
                </a:path>
                <a:path w="913765" h="2117090">
                  <a:moveTo>
                    <a:pt x="101600" y="718947"/>
                  </a:moveTo>
                  <a:lnTo>
                    <a:pt x="101346" y="719201"/>
                  </a:lnTo>
                  <a:lnTo>
                    <a:pt x="101600" y="718947"/>
                  </a:lnTo>
                  <a:close/>
                </a:path>
                <a:path w="913765" h="2117090">
                  <a:moveTo>
                    <a:pt x="121592" y="688086"/>
                  </a:moveTo>
                  <a:lnTo>
                    <a:pt x="121412" y="688340"/>
                  </a:lnTo>
                  <a:lnTo>
                    <a:pt x="121592" y="688086"/>
                  </a:lnTo>
                  <a:close/>
                </a:path>
                <a:path w="913765" h="2117090">
                  <a:moveTo>
                    <a:pt x="143383" y="657479"/>
                  </a:moveTo>
                  <a:close/>
                </a:path>
                <a:path w="913765" h="2117090">
                  <a:moveTo>
                    <a:pt x="166878" y="626999"/>
                  </a:moveTo>
                  <a:close/>
                </a:path>
                <a:path w="913765" h="2117090">
                  <a:moveTo>
                    <a:pt x="191992" y="596519"/>
                  </a:moveTo>
                  <a:lnTo>
                    <a:pt x="191770" y="596773"/>
                  </a:lnTo>
                  <a:lnTo>
                    <a:pt x="191992" y="596519"/>
                  </a:lnTo>
                  <a:close/>
                </a:path>
                <a:path w="913765" h="2117090">
                  <a:moveTo>
                    <a:pt x="306714" y="476504"/>
                  </a:moveTo>
                  <a:lnTo>
                    <a:pt x="306578" y="476504"/>
                  </a:lnTo>
                  <a:lnTo>
                    <a:pt x="306714" y="476504"/>
                  </a:lnTo>
                  <a:close/>
                </a:path>
                <a:path w="913765" h="2117090">
                  <a:moveTo>
                    <a:pt x="338723" y="446786"/>
                  </a:moveTo>
                  <a:lnTo>
                    <a:pt x="338582" y="446786"/>
                  </a:lnTo>
                  <a:lnTo>
                    <a:pt x="338723" y="446786"/>
                  </a:lnTo>
                  <a:close/>
                </a:path>
                <a:path w="913765" h="2117090">
                  <a:moveTo>
                    <a:pt x="371876" y="417195"/>
                  </a:moveTo>
                  <a:lnTo>
                    <a:pt x="371729" y="417195"/>
                  </a:lnTo>
                  <a:lnTo>
                    <a:pt x="371729" y="417322"/>
                  </a:lnTo>
                  <a:lnTo>
                    <a:pt x="371876" y="417195"/>
                  </a:lnTo>
                  <a:close/>
                </a:path>
                <a:path w="913765" h="2117090">
                  <a:moveTo>
                    <a:pt x="441227" y="358267"/>
                  </a:moveTo>
                  <a:lnTo>
                    <a:pt x="441071" y="358394"/>
                  </a:lnTo>
                  <a:lnTo>
                    <a:pt x="441227" y="358267"/>
                  </a:lnTo>
                  <a:close/>
                </a:path>
                <a:path w="913765" h="2117090">
                  <a:moveTo>
                    <a:pt x="514387" y="299720"/>
                  </a:moveTo>
                  <a:lnTo>
                    <a:pt x="514223" y="299720"/>
                  </a:lnTo>
                  <a:lnTo>
                    <a:pt x="514223" y="299847"/>
                  </a:lnTo>
                  <a:lnTo>
                    <a:pt x="514387" y="299720"/>
                  </a:lnTo>
                  <a:close/>
                </a:path>
                <a:path w="913765" h="2117090">
                  <a:moveTo>
                    <a:pt x="629712" y="212471"/>
                  </a:moveTo>
                  <a:lnTo>
                    <a:pt x="629539" y="212471"/>
                  </a:lnTo>
                  <a:lnTo>
                    <a:pt x="629539" y="212598"/>
                  </a:lnTo>
                  <a:lnTo>
                    <a:pt x="629712" y="2124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A1BA135-0705-A067-B9A9-83CFDE313A7C}"/>
                </a:ext>
              </a:extLst>
            </p:cNvPr>
            <p:cNvSpPr/>
            <p:nvPr/>
          </p:nvSpPr>
          <p:spPr>
            <a:xfrm>
              <a:off x="6918959" y="6074663"/>
              <a:ext cx="1513840" cy="399415"/>
            </a:xfrm>
            <a:custGeom>
              <a:avLst/>
              <a:gdLst/>
              <a:ahLst/>
              <a:cxnLst/>
              <a:rect l="l" t="t" r="r" b="b"/>
              <a:pathLst>
                <a:path w="1513840" h="399414">
                  <a:moveTo>
                    <a:pt x="1155954" y="0"/>
                  </a:moveTo>
                  <a:lnTo>
                    <a:pt x="1135785" y="11985"/>
                  </a:lnTo>
                  <a:lnTo>
                    <a:pt x="1114619" y="43999"/>
                  </a:lnTo>
                  <a:lnTo>
                    <a:pt x="1092459" y="90133"/>
                  </a:lnTo>
                  <a:lnTo>
                    <a:pt x="1045168" y="201118"/>
                  </a:lnTo>
                  <a:lnTo>
                    <a:pt x="1020044" y="254147"/>
                  </a:lnTo>
                  <a:lnTo>
                    <a:pt x="993937" y="297655"/>
                  </a:lnTo>
                  <a:lnTo>
                    <a:pt x="966851" y="325729"/>
                  </a:lnTo>
                  <a:lnTo>
                    <a:pt x="927018" y="343461"/>
                  </a:lnTo>
                  <a:lnTo>
                    <a:pt x="882805" y="349081"/>
                  </a:lnTo>
                  <a:lnTo>
                    <a:pt x="836834" y="344778"/>
                  </a:lnTo>
                  <a:lnTo>
                    <a:pt x="791732" y="332739"/>
                  </a:lnTo>
                  <a:lnTo>
                    <a:pt x="750121" y="315153"/>
                  </a:lnTo>
                  <a:lnTo>
                    <a:pt x="714629" y="294208"/>
                  </a:lnTo>
                  <a:lnTo>
                    <a:pt x="687189" y="261884"/>
                  </a:lnTo>
                  <a:lnTo>
                    <a:pt x="666016" y="214820"/>
                  </a:lnTo>
                  <a:lnTo>
                    <a:pt x="648335" y="162209"/>
                  </a:lnTo>
                  <a:lnTo>
                    <a:pt x="631373" y="113246"/>
                  </a:lnTo>
                  <a:lnTo>
                    <a:pt x="612358" y="77126"/>
                  </a:lnTo>
                  <a:lnTo>
                    <a:pt x="588518" y="63042"/>
                  </a:lnTo>
                  <a:lnTo>
                    <a:pt x="565489" y="72907"/>
                  </a:lnTo>
                  <a:lnTo>
                    <a:pt x="542318" y="99069"/>
                  </a:lnTo>
                  <a:lnTo>
                    <a:pt x="517991" y="136383"/>
                  </a:lnTo>
                  <a:lnTo>
                    <a:pt x="491497" y="179700"/>
                  </a:lnTo>
                  <a:lnTo>
                    <a:pt x="461821" y="223875"/>
                  </a:lnTo>
                  <a:lnTo>
                    <a:pt x="427951" y="263760"/>
                  </a:lnTo>
                  <a:lnTo>
                    <a:pt x="388874" y="294208"/>
                  </a:lnTo>
                  <a:lnTo>
                    <a:pt x="349943" y="313808"/>
                  </a:lnTo>
                  <a:lnTo>
                    <a:pt x="307145" y="330822"/>
                  </a:lnTo>
                  <a:lnTo>
                    <a:pt x="261032" y="345619"/>
                  </a:lnTo>
                  <a:lnTo>
                    <a:pt x="212153" y="358568"/>
                  </a:lnTo>
                  <a:lnTo>
                    <a:pt x="161060" y="370040"/>
                  </a:lnTo>
                  <a:lnTo>
                    <a:pt x="108303" y="380404"/>
                  </a:lnTo>
                  <a:lnTo>
                    <a:pt x="54432" y="390030"/>
                  </a:lnTo>
                  <a:lnTo>
                    <a:pt x="0" y="399288"/>
                  </a:lnTo>
                  <a:lnTo>
                    <a:pt x="1513332" y="388785"/>
                  </a:lnTo>
                  <a:lnTo>
                    <a:pt x="1462031" y="388785"/>
                  </a:lnTo>
                  <a:lnTo>
                    <a:pt x="1411992" y="385632"/>
                  </a:lnTo>
                  <a:lnTo>
                    <a:pt x="1364476" y="376174"/>
                  </a:lnTo>
                  <a:lnTo>
                    <a:pt x="1320747" y="357257"/>
                  </a:lnTo>
                  <a:lnTo>
                    <a:pt x="1282065" y="325729"/>
                  </a:lnTo>
                  <a:lnTo>
                    <a:pt x="1261738" y="293130"/>
                  </a:lnTo>
                  <a:lnTo>
                    <a:pt x="1244679" y="247498"/>
                  </a:lnTo>
                  <a:lnTo>
                    <a:pt x="1229906" y="194192"/>
                  </a:lnTo>
                  <a:lnTo>
                    <a:pt x="1216437" y="138566"/>
                  </a:lnTo>
                  <a:lnTo>
                    <a:pt x="1203290" y="85978"/>
                  </a:lnTo>
                  <a:lnTo>
                    <a:pt x="1189482" y="41783"/>
                  </a:lnTo>
                  <a:lnTo>
                    <a:pt x="1174030" y="11338"/>
                  </a:lnTo>
                  <a:lnTo>
                    <a:pt x="1155954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441771D-A010-502A-A284-9E43FC55648A}"/>
                </a:ext>
              </a:extLst>
            </p:cNvPr>
            <p:cNvSpPr/>
            <p:nvPr/>
          </p:nvSpPr>
          <p:spPr>
            <a:xfrm>
              <a:off x="6918959" y="6074663"/>
              <a:ext cx="1513840" cy="399415"/>
            </a:xfrm>
            <a:custGeom>
              <a:avLst/>
              <a:gdLst/>
              <a:ahLst/>
              <a:cxnLst/>
              <a:rect l="l" t="t" r="r" b="b"/>
              <a:pathLst>
                <a:path w="1513840" h="399414">
                  <a:moveTo>
                    <a:pt x="0" y="399288"/>
                  </a:moveTo>
                  <a:lnTo>
                    <a:pt x="54432" y="390030"/>
                  </a:lnTo>
                  <a:lnTo>
                    <a:pt x="108303" y="380404"/>
                  </a:lnTo>
                  <a:lnTo>
                    <a:pt x="161060" y="370040"/>
                  </a:lnTo>
                  <a:lnTo>
                    <a:pt x="212153" y="358568"/>
                  </a:lnTo>
                  <a:lnTo>
                    <a:pt x="261032" y="345619"/>
                  </a:lnTo>
                  <a:lnTo>
                    <a:pt x="307145" y="330822"/>
                  </a:lnTo>
                  <a:lnTo>
                    <a:pt x="349943" y="313808"/>
                  </a:lnTo>
                  <a:lnTo>
                    <a:pt x="388874" y="294208"/>
                  </a:lnTo>
                  <a:lnTo>
                    <a:pt x="427951" y="263760"/>
                  </a:lnTo>
                  <a:lnTo>
                    <a:pt x="461821" y="223875"/>
                  </a:lnTo>
                  <a:lnTo>
                    <a:pt x="491497" y="179700"/>
                  </a:lnTo>
                  <a:lnTo>
                    <a:pt x="517991" y="136383"/>
                  </a:lnTo>
                  <a:lnTo>
                    <a:pt x="542318" y="99069"/>
                  </a:lnTo>
                  <a:lnTo>
                    <a:pt x="565489" y="72907"/>
                  </a:lnTo>
                  <a:lnTo>
                    <a:pt x="588518" y="63042"/>
                  </a:lnTo>
                  <a:lnTo>
                    <a:pt x="612358" y="77126"/>
                  </a:lnTo>
                  <a:lnTo>
                    <a:pt x="631373" y="113246"/>
                  </a:lnTo>
                  <a:lnTo>
                    <a:pt x="648335" y="162209"/>
                  </a:lnTo>
                  <a:lnTo>
                    <a:pt x="666016" y="214820"/>
                  </a:lnTo>
                  <a:lnTo>
                    <a:pt x="687189" y="261884"/>
                  </a:lnTo>
                  <a:lnTo>
                    <a:pt x="714629" y="294208"/>
                  </a:lnTo>
                  <a:lnTo>
                    <a:pt x="750121" y="315153"/>
                  </a:lnTo>
                  <a:lnTo>
                    <a:pt x="791732" y="332739"/>
                  </a:lnTo>
                  <a:lnTo>
                    <a:pt x="836834" y="344778"/>
                  </a:lnTo>
                  <a:lnTo>
                    <a:pt x="882805" y="349081"/>
                  </a:lnTo>
                  <a:lnTo>
                    <a:pt x="927018" y="343461"/>
                  </a:lnTo>
                  <a:lnTo>
                    <a:pt x="966851" y="325729"/>
                  </a:lnTo>
                  <a:lnTo>
                    <a:pt x="993937" y="297655"/>
                  </a:lnTo>
                  <a:lnTo>
                    <a:pt x="1020044" y="254147"/>
                  </a:lnTo>
                  <a:lnTo>
                    <a:pt x="1045168" y="201118"/>
                  </a:lnTo>
                  <a:lnTo>
                    <a:pt x="1069308" y="144476"/>
                  </a:lnTo>
                  <a:lnTo>
                    <a:pt x="1092459" y="90133"/>
                  </a:lnTo>
                  <a:lnTo>
                    <a:pt x="1114619" y="43999"/>
                  </a:lnTo>
                  <a:lnTo>
                    <a:pt x="1135785" y="11985"/>
                  </a:lnTo>
                  <a:lnTo>
                    <a:pt x="1155954" y="0"/>
                  </a:lnTo>
                  <a:lnTo>
                    <a:pt x="1174030" y="11338"/>
                  </a:lnTo>
                  <a:lnTo>
                    <a:pt x="1189482" y="41783"/>
                  </a:lnTo>
                  <a:lnTo>
                    <a:pt x="1203290" y="85978"/>
                  </a:lnTo>
                  <a:lnTo>
                    <a:pt x="1216437" y="138566"/>
                  </a:lnTo>
                  <a:lnTo>
                    <a:pt x="1229906" y="194192"/>
                  </a:lnTo>
                  <a:lnTo>
                    <a:pt x="1244679" y="247498"/>
                  </a:lnTo>
                  <a:lnTo>
                    <a:pt x="1261738" y="293130"/>
                  </a:lnTo>
                  <a:lnTo>
                    <a:pt x="1282065" y="325729"/>
                  </a:lnTo>
                  <a:lnTo>
                    <a:pt x="1320747" y="357257"/>
                  </a:lnTo>
                  <a:lnTo>
                    <a:pt x="1364476" y="376174"/>
                  </a:lnTo>
                  <a:lnTo>
                    <a:pt x="1411992" y="385632"/>
                  </a:lnTo>
                  <a:lnTo>
                    <a:pt x="1462031" y="388785"/>
                  </a:lnTo>
                  <a:lnTo>
                    <a:pt x="1513332" y="388785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>
            <a:extLst>
              <a:ext uri="{FF2B5EF4-FFF2-40B4-BE49-F238E27FC236}">
                <a16:creationId xmlns:a16="http://schemas.microsoft.com/office/drawing/2014/main" id="{9577B8DF-F968-9667-BAD7-0EA19E80F16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36208" y="3432047"/>
            <a:ext cx="307847" cy="176783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54D39351-D76B-B49F-6BC3-182E54A6263A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273540" y="4197096"/>
            <a:ext cx="86866" cy="79248"/>
          </a:xfrm>
          <a:prstGeom prst="rect">
            <a:avLst/>
          </a:prstGeom>
        </p:spPr>
      </p:pic>
      <p:pic>
        <p:nvPicPr>
          <p:cNvPr id="19" name="object 19">
            <a:extLst>
              <a:ext uri="{FF2B5EF4-FFF2-40B4-BE49-F238E27FC236}">
                <a16:creationId xmlns:a16="http://schemas.microsoft.com/office/drawing/2014/main" id="{7FFF495B-0EFF-22F9-F990-E009F0127E83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78207" y="6408420"/>
            <a:ext cx="70007" cy="80772"/>
          </a:xfrm>
          <a:prstGeom prst="rect">
            <a:avLst/>
          </a:prstGeom>
        </p:spPr>
      </p:pic>
      <p:pic>
        <p:nvPicPr>
          <p:cNvPr id="20" name="object 20">
            <a:extLst>
              <a:ext uri="{FF2B5EF4-FFF2-40B4-BE49-F238E27FC236}">
                <a16:creationId xmlns:a16="http://schemas.microsoft.com/office/drawing/2014/main" id="{59F9331D-FE97-EE75-F02B-0FF9231CF84A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36208" y="5647944"/>
            <a:ext cx="295656" cy="176784"/>
          </a:xfrm>
          <a:prstGeom prst="rect">
            <a:avLst/>
          </a:prstGeom>
        </p:spPr>
      </p:pic>
      <p:sp>
        <p:nvSpPr>
          <p:cNvPr id="21" name="object 21">
            <a:extLst>
              <a:ext uri="{FF2B5EF4-FFF2-40B4-BE49-F238E27FC236}">
                <a16:creationId xmlns:a16="http://schemas.microsoft.com/office/drawing/2014/main" id="{8111CD3C-A65B-CDF7-88AC-BD2DBB72A1FD}"/>
              </a:ext>
            </a:extLst>
          </p:cNvPr>
          <p:cNvSpPr txBox="1"/>
          <p:nvPr/>
        </p:nvSpPr>
        <p:spPr>
          <a:xfrm>
            <a:off x="1233322" y="4421885"/>
            <a:ext cx="3311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this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probabilistic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inference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193B4A88-60E5-6443-3C13-0CD4DE4E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EBEB-DC97-48B4-B8DE-F98276A5DA08}" type="datetime1">
              <a:rPr lang="en-US" smtClean="0"/>
              <a:t>10/1/2025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B981C1E-C257-456D-EA81-A982C7CC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75E8212-8DF4-1A62-E224-C6C950C3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4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60092" y="5574919"/>
            <a:ext cx="3106420" cy="973455"/>
            <a:chOff x="2260092" y="5574919"/>
            <a:chExt cx="3106420" cy="973455"/>
          </a:xfrm>
        </p:grpSpPr>
        <p:sp>
          <p:nvSpPr>
            <p:cNvPr id="3" name="object 3"/>
            <p:cNvSpPr/>
            <p:nvPr/>
          </p:nvSpPr>
          <p:spPr>
            <a:xfrm>
              <a:off x="2788920" y="5934532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59">
                  <a:moveTo>
                    <a:pt x="1201166" y="0"/>
                  </a:moveTo>
                  <a:lnTo>
                    <a:pt x="1137279" y="25431"/>
                  </a:lnTo>
                  <a:lnTo>
                    <a:pt x="1105299" y="55304"/>
                  </a:lnTo>
                  <a:lnTo>
                    <a:pt x="1073125" y="92862"/>
                  </a:lnTo>
                  <a:lnTo>
                    <a:pt x="1040629" y="135291"/>
                  </a:lnTo>
                  <a:lnTo>
                    <a:pt x="1007683" y="179776"/>
                  </a:lnTo>
                  <a:lnTo>
                    <a:pt x="974161" y="223502"/>
                  </a:lnTo>
                  <a:lnTo>
                    <a:pt x="939934" y="263655"/>
                  </a:lnTo>
                  <a:lnTo>
                    <a:pt x="904875" y="297421"/>
                  </a:lnTo>
                  <a:lnTo>
                    <a:pt x="865684" y="331232"/>
                  </a:lnTo>
                  <a:lnTo>
                    <a:pt x="827448" y="365446"/>
                  </a:lnTo>
                  <a:lnTo>
                    <a:pt x="789159" y="399246"/>
                  </a:lnTo>
                  <a:lnTo>
                    <a:pt x="749807" y="431812"/>
                  </a:lnTo>
                  <a:lnTo>
                    <a:pt x="708384" y="462329"/>
                  </a:lnTo>
                  <a:lnTo>
                    <a:pt x="663880" y="489977"/>
                  </a:lnTo>
                  <a:lnTo>
                    <a:pt x="615286" y="513940"/>
                  </a:lnTo>
                  <a:lnTo>
                    <a:pt x="561594" y="533400"/>
                  </a:lnTo>
                  <a:lnTo>
                    <a:pt x="518755" y="544128"/>
                  </a:lnTo>
                  <a:lnTo>
                    <a:pt x="472794" y="551987"/>
                  </a:lnTo>
                  <a:lnTo>
                    <a:pt x="424205" y="557431"/>
                  </a:lnTo>
                  <a:lnTo>
                    <a:pt x="373480" y="560913"/>
                  </a:lnTo>
                  <a:lnTo>
                    <a:pt x="321111" y="562885"/>
                  </a:lnTo>
                  <a:lnTo>
                    <a:pt x="267593" y="563800"/>
                  </a:lnTo>
                  <a:lnTo>
                    <a:pt x="159077" y="564271"/>
                  </a:lnTo>
                  <a:lnTo>
                    <a:pt x="105065" y="564734"/>
                  </a:lnTo>
                  <a:lnTo>
                    <a:pt x="51875" y="565951"/>
                  </a:lnTo>
                  <a:lnTo>
                    <a:pt x="0" y="568375"/>
                  </a:lnTo>
                  <a:lnTo>
                    <a:pt x="2574035" y="553745"/>
                  </a:lnTo>
                  <a:lnTo>
                    <a:pt x="2533471" y="556006"/>
                  </a:lnTo>
                  <a:lnTo>
                    <a:pt x="2488563" y="558036"/>
                  </a:lnTo>
                  <a:lnTo>
                    <a:pt x="2440024" y="559747"/>
                  </a:lnTo>
                  <a:lnTo>
                    <a:pt x="2388570" y="561053"/>
                  </a:lnTo>
                  <a:lnTo>
                    <a:pt x="2334913" y="561868"/>
                  </a:lnTo>
                  <a:lnTo>
                    <a:pt x="2279768" y="562104"/>
                  </a:lnTo>
                  <a:lnTo>
                    <a:pt x="2223849" y="561676"/>
                  </a:lnTo>
                  <a:lnTo>
                    <a:pt x="2167870" y="560497"/>
                  </a:lnTo>
                  <a:lnTo>
                    <a:pt x="2112544" y="558480"/>
                  </a:lnTo>
                  <a:lnTo>
                    <a:pt x="2058586" y="555539"/>
                  </a:lnTo>
                  <a:lnTo>
                    <a:pt x="2006709" y="551587"/>
                  </a:lnTo>
                  <a:lnTo>
                    <a:pt x="1957629" y="546538"/>
                  </a:lnTo>
                  <a:lnTo>
                    <a:pt x="1912057" y="540306"/>
                  </a:lnTo>
                  <a:lnTo>
                    <a:pt x="1870709" y="532803"/>
                  </a:lnTo>
                  <a:lnTo>
                    <a:pt x="1813121" y="518565"/>
                  </a:lnTo>
                  <a:lnTo>
                    <a:pt x="1761117" y="501451"/>
                  </a:lnTo>
                  <a:lnTo>
                    <a:pt x="1713846" y="481746"/>
                  </a:lnTo>
                  <a:lnTo>
                    <a:pt x="1670456" y="459736"/>
                  </a:lnTo>
                  <a:lnTo>
                    <a:pt x="1630099" y="435706"/>
                  </a:lnTo>
                  <a:lnTo>
                    <a:pt x="1591921" y="409941"/>
                  </a:lnTo>
                  <a:lnTo>
                    <a:pt x="1555073" y="382727"/>
                  </a:lnTo>
                  <a:lnTo>
                    <a:pt x="1518704" y="354350"/>
                  </a:lnTo>
                  <a:lnTo>
                    <a:pt x="1481963" y="325094"/>
                  </a:lnTo>
                  <a:lnTo>
                    <a:pt x="1446134" y="290710"/>
                  </a:lnTo>
                  <a:lnTo>
                    <a:pt x="1412649" y="248787"/>
                  </a:lnTo>
                  <a:lnTo>
                    <a:pt x="1380998" y="202369"/>
                  </a:lnTo>
                  <a:lnTo>
                    <a:pt x="1321166" y="108230"/>
                  </a:lnTo>
                  <a:lnTo>
                    <a:pt x="1291971" y="66599"/>
                  </a:lnTo>
                  <a:lnTo>
                    <a:pt x="1262577" y="32654"/>
                  </a:lnTo>
                  <a:lnTo>
                    <a:pt x="1232478" y="9439"/>
                  </a:lnTo>
                  <a:lnTo>
                    <a:pt x="1201166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88920" y="5934532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59">
                  <a:moveTo>
                    <a:pt x="0" y="568375"/>
                  </a:moveTo>
                  <a:lnTo>
                    <a:pt x="51875" y="565951"/>
                  </a:lnTo>
                  <a:lnTo>
                    <a:pt x="105065" y="564734"/>
                  </a:lnTo>
                  <a:lnTo>
                    <a:pt x="159077" y="564271"/>
                  </a:lnTo>
                  <a:lnTo>
                    <a:pt x="213417" y="564111"/>
                  </a:lnTo>
                  <a:lnTo>
                    <a:pt x="267593" y="563800"/>
                  </a:lnTo>
                  <a:lnTo>
                    <a:pt x="321111" y="562885"/>
                  </a:lnTo>
                  <a:lnTo>
                    <a:pt x="373480" y="560913"/>
                  </a:lnTo>
                  <a:lnTo>
                    <a:pt x="424205" y="557431"/>
                  </a:lnTo>
                  <a:lnTo>
                    <a:pt x="472794" y="551987"/>
                  </a:lnTo>
                  <a:lnTo>
                    <a:pt x="518755" y="544128"/>
                  </a:lnTo>
                  <a:lnTo>
                    <a:pt x="561594" y="533400"/>
                  </a:lnTo>
                  <a:lnTo>
                    <a:pt x="615286" y="513940"/>
                  </a:lnTo>
                  <a:lnTo>
                    <a:pt x="663880" y="489977"/>
                  </a:lnTo>
                  <a:lnTo>
                    <a:pt x="708384" y="462329"/>
                  </a:lnTo>
                  <a:lnTo>
                    <a:pt x="749807" y="431812"/>
                  </a:lnTo>
                  <a:lnTo>
                    <a:pt x="789159" y="399246"/>
                  </a:lnTo>
                  <a:lnTo>
                    <a:pt x="827448" y="365446"/>
                  </a:lnTo>
                  <a:lnTo>
                    <a:pt x="865684" y="331232"/>
                  </a:lnTo>
                  <a:lnTo>
                    <a:pt x="904875" y="297421"/>
                  </a:lnTo>
                  <a:lnTo>
                    <a:pt x="939934" y="263655"/>
                  </a:lnTo>
                  <a:lnTo>
                    <a:pt x="974161" y="223502"/>
                  </a:lnTo>
                  <a:lnTo>
                    <a:pt x="1007683" y="179776"/>
                  </a:lnTo>
                  <a:lnTo>
                    <a:pt x="1040629" y="135291"/>
                  </a:lnTo>
                  <a:lnTo>
                    <a:pt x="1073125" y="92862"/>
                  </a:lnTo>
                  <a:lnTo>
                    <a:pt x="1105299" y="55304"/>
                  </a:lnTo>
                  <a:lnTo>
                    <a:pt x="1137279" y="25431"/>
                  </a:lnTo>
                  <a:lnTo>
                    <a:pt x="1169192" y="6058"/>
                  </a:lnTo>
                  <a:lnTo>
                    <a:pt x="1201166" y="0"/>
                  </a:lnTo>
                  <a:lnTo>
                    <a:pt x="1232478" y="9439"/>
                  </a:lnTo>
                  <a:lnTo>
                    <a:pt x="1291971" y="66599"/>
                  </a:lnTo>
                  <a:lnTo>
                    <a:pt x="1321166" y="108230"/>
                  </a:lnTo>
                  <a:lnTo>
                    <a:pt x="1350673" y="154502"/>
                  </a:lnTo>
                  <a:lnTo>
                    <a:pt x="1380998" y="202369"/>
                  </a:lnTo>
                  <a:lnTo>
                    <a:pt x="1412649" y="248787"/>
                  </a:lnTo>
                  <a:lnTo>
                    <a:pt x="1446134" y="290710"/>
                  </a:lnTo>
                  <a:lnTo>
                    <a:pt x="1481963" y="325094"/>
                  </a:lnTo>
                  <a:lnTo>
                    <a:pt x="1518704" y="354350"/>
                  </a:lnTo>
                  <a:lnTo>
                    <a:pt x="1555073" y="382727"/>
                  </a:lnTo>
                  <a:lnTo>
                    <a:pt x="1591921" y="409941"/>
                  </a:lnTo>
                  <a:lnTo>
                    <a:pt x="1630099" y="435706"/>
                  </a:lnTo>
                  <a:lnTo>
                    <a:pt x="1670456" y="459736"/>
                  </a:lnTo>
                  <a:lnTo>
                    <a:pt x="1713846" y="481746"/>
                  </a:lnTo>
                  <a:lnTo>
                    <a:pt x="1761117" y="501451"/>
                  </a:lnTo>
                  <a:lnTo>
                    <a:pt x="1813121" y="518565"/>
                  </a:lnTo>
                  <a:lnTo>
                    <a:pt x="1870709" y="532803"/>
                  </a:lnTo>
                  <a:lnTo>
                    <a:pt x="1912057" y="540306"/>
                  </a:lnTo>
                  <a:lnTo>
                    <a:pt x="1957629" y="546538"/>
                  </a:lnTo>
                  <a:lnTo>
                    <a:pt x="2006709" y="551587"/>
                  </a:lnTo>
                  <a:lnTo>
                    <a:pt x="2058586" y="555539"/>
                  </a:lnTo>
                  <a:lnTo>
                    <a:pt x="2112544" y="558480"/>
                  </a:lnTo>
                  <a:lnTo>
                    <a:pt x="2167870" y="560497"/>
                  </a:lnTo>
                  <a:lnTo>
                    <a:pt x="2223849" y="561676"/>
                  </a:lnTo>
                  <a:lnTo>
                    <a:pt x="2279768" y="562104"/>
                  </a:lnTo>
                  <a:lnTo>
                    <a:pt x="2334913" y="561868"/>
                  </a:lnTo>
                  <a:lnTo>
                    <a:pt x="2388570" y="561053"/>
                  </a:lnTo>
                  <a:lnTo>
                    <a:pt x="2440024" y="559747"/>
                  </a:lnTo>
                  <a:lnTo>
                    <a:pt x="2488563" y="558036"/>
                  </a:lnTo>
                  <a:lnTo>
                    <a:pt x="2533471" y="556006"/>
                  </a:lnTo>
                  <a:lnTo>
                    <a:pt x="2574035" y="55374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41498" y="5711189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82"/>
                  </a:lnTo>
                  <a:lnTo>
                    <a:pt x="38100" y="798982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0092" y="5657088"/>
              <a:ext cx="528828" cy="176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92552" y="5928461"/>
              <a:ext cx="2356485" cy="585470"/>
            </a:xfrm>
            <a:custGeom>
              <a:avLst/>
              <a:gdLst/>
              <a:ahLst/>
              <a:cxnLst/>
              <a:rect l="l" t="t" r="r" b="b"/>
              <a:pathLst>
                <a:path w="2356485" h="585470">
                  <a:moveTo>
                    <a:pt x="0" y="559117"/>
                  </a:moveTo>
                  <a:lnTo>
                    <a:pt x="46527" y="552951"/>
                  </a:lnTo>
                  <a:lnTo>
                    <a:pt x="92564" y="539428"/>
                  </a:lnTo>
                  <a:lnTo>
                    <a:pt x="137968" y="519994"/>
                  </a:lnTo>
                  <a:lnTo>
                    <a:pt x="182594" y="496093"/>
                  </a:lnTo>
                  <a:lnTo>
                    <a:pt x="226299" y="469172"/>
                  </a:lnTo>
                  <a:lnTo>
                    <a:pt x="268939" y="440677"/>
                  </a:lnTo>
                  <a:lnTo>
                    <a:pt x="310370" y="412052"/>
                  </a:lnTo>
                  <a:lnTo>
                    <a:pt x="350449" y="384743"/>
                  </a:lnTo>
                  <a:lnTo>
                    <a:pt x="389033" y="360196"/>
                  </a:lnTo>
                  <a:lnTo>
                    <a:pt x="425976" y="339857"/>
                  </a:lnTo>
                  <a:lnTo>
                    <a:pt x="461137" y="325170"/>
                  </a:lnTo>
                  <a:lnTo>
                    <a:pt x="511205" y="313966"/>
                  </a:lnTo>
                  <a:lnTo>
                    <a:pt x="555176" y="313151"/>
                  </a:lnTo>
                  <a:lnTo>
                    <a:pt x="595021" y="318264"/>
                  </a:lnTo>
                  <a:lnTo>
                    <a:pt x="632713" y="324844"/>
                  </a:lnTo>
                  <a:lnTo>
                    <a:pt x="670226" y="328429"/>
                  </a:lnTo>
                  <a:lnTo>
                    <a:pt x="709531" y="324560"/>
                  </a:lnTo>
                  <a:lnTo>
                    <a:pt x="752601" y="308775"/>
                  </a:lnTo>
                  <a:lnTo>
                    <a:pt x="785459" y="286794"/>
                  </a:lnTo>
                  <a:lnTo>
                    <a:pt x="819885" y="255261"/>
                  </a:lnTo>
                  <a:lnTo>
                    <a:pt x="855445" y="217017"/>
                  </a:lnTo>
                  <a:lnTo>
                    <a:pt x="891704" y="174901"/>
                  </a:lnTo>
                  <a:lnTo>
                    <a:pt x="928227" y="131756"/>
                  </a:lnTo>
                  <a:lnTo>
                    <a:pt x="964578" y="90420"/>
                  </a:lnTo>
                  <a:lnTo>
                    <a:pt x="1000322" y="53737"/>
                  </a:lnTo>
                  <a:lnTo>
                    <a:pt x="1035025" y="24545"/>
                  </a:lnTo>
                  <a:lnTo>
                    <a:pt x="1068251" y="5685"/>
                  </a:lnTo>
                  <a:lnTo>
                    <a:pt x="1099565" y="0"/>
                  </a:lnTo>
                  <a:lnTo>
                    <a:pt x="1127765" y="8665"/>
                  </a:lnTo>
                  <a:lnTo>
                    <a:pt x="1175367" y="59797"/>
                  </a:lnTo>
                  <a:lnTo>
                    <a:pt x="1196805" y="97541"/>
                  </a:lnTo>
                  <a:lnTo>
                    <a:pt x="1218025" y="140257"/>
                  </a:lnTo>
                  <a:lnTo>
                    <a:pt x="1240045" y="185582"/>
                  </a:lnTo>
                  <a:lnTo>
                    <a:pt x="1263883" y="231158"/>
                  </a:lnTo>
                  <a:lnTo>
                    <a:pt x="1290557" y="274621"/>
                  </a:lnTo>
                  <a:lnTo>
                    <a:pt x="1321086" y="313612"/>
                  </a:lnTo>
                  <a:lnTo>
                    <a:pt x="1356487" y="345770"/>
                  </a:lnTo>
                  <a:lnTo>
                    <a:pt x="1393250" y="370887"/>
                  </a:lnTo>
                  <a:lnTo>
                    <a:pt x="1433663" y="395307"/>
                  </a:lnTo>
                  <a:lnTo>
                    <a:pt x="1477131" y="418882"/>
                  </a:lnTo>
                  <a:lnTo>
                    <a:pt x="1523059" y="441460"/>
                  </a:lnTo>
                  <a:lnTo>
                    <a:pt x="1570852" y="462895"/>
                  </a:lnTo>
                  <a:lnTo>
                    <a:pt x="1619916" y="483036"/>
                  </a:lnTo>
                  <a:lnTo>
                    <a:pt x="1669655" y="501734"/>
                  </a:lnTo>
                  <a:lnTo>
                    <a:pt x="1719475" y="518840"/>
                  </a:lnTo>
                  <a:lnTo>
                    <a:pt x="1768781" y="534206"/>
                  </a:lnTo>
                  <a:lnTo>
                    <a:pt x="1816977" y="547681"/>
                  </a:lnTo>
                  <a:lnTo>
                    <a:pt x="1863471" y="559117"/>
                  </a:lnTo>
                  <a:lnTo>
                    <a:pt x="1913351" y="569080"/>
                  </a:lnTo>
                  <a:lnTo>
                    <a:pt x="1963033" y="576362"/>
                  </a:lnTo>
                  <a:lnTo>
                    <a:pt x="2012541" y="581260"/>
                  </a:lnTo>
                  <a:lnTo>
                    <a:pt x="2061895" y="584073"/>
                  </a:lnTo>
                  <a:lnTo>
                    <a:pt x="2111120" y="585098"/>
                  </a:lnTo>
                  <a:lnTo>
                    <a:pt x="2160239" y="584633"/>
                  </a:lnTo>
                  <a:lnTo>
                    <a:pt x="2209274" y="582977"/>
                  </a:lnTo>
                  <a:lnTo>
                    <a:pt x="2258247" y="580427"/>
                  </a:lnTo>
                  <a:lnTo>
                    <a:pt x="2307183" y="577280"/>
                  </a:lnTo>
                  <a:lnTo>
                    <a:pt x="2356104" y="573836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43528" y="5939078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143891" y="0"/>
                  </a:moveTo>
                  <a:lnTo>
                    <a:pt x="140145" y="9862"/>
                  </a:lnTo>
                  <a:lnTo>
                    <a:pt x="136360" y="39693"/>
                  </a:lnTo>
                  <a:lnTo>
                    <a:pt x="132413" y="84826"/>
                  </a:lnTo>
                  <a:lnTo>
                    <a:pt x="123541" y="202337"/>
                  </a:lnTo>
                  <a:lnTo>
                    <a:pt x="118368" y="265384"/>
                  </a:lnTo>
                  <a:lnTo>
                    <a:pt x="112540" y="325072"/>
                  </a:lnTo>
                  <a:lnTo>
                    <a:pt x="105933" y="376736"/>
                  </a:lnTo>
                  <a:lnTo>
                    <a:pt x="98425" y="415709"/>
                  </a:lnTo>
                  <a:lnTo>
                    <a:pt x="78152" y="473931"/>
                  </a:lnTo>
                  <a:lnTo>
                    <a:pt x="54165" y="513022"/>
                  </a:lnTo>
                  <a:lnTo>
                    <a:pt x="0" y="559320"/>
                  </a:lnTo>
                  <a:lnTo>
                    <a:pt x="249936" y="566877"/>
                  </a:lnTo>
                  <a:lnTo>
                    <a:pt x="202612" y="536878"/>
                  </a:lnTo>
                  <a:lnTo>
                    <a:pt x="182481" y="502838"/>
                  </a:lnTo>
                  <a:lnTo>
                    <a:pt x="166624" y="445947"/>
                  </a:lnTo>
                  <a:lnTo>
                    <a:pt x="161571" y="405938"/>
                  </a:lnTo>
                  <a:lnTo>
                    <a:pt x="157952" y="352148"/>
                  </a:lnTo>
                  <a:lnTo>
                    <a:pt x="155424" y="289463"/>
                  </a:lnTo>
                  <a:lnTo>
                    <a:pt x="153642" y="222764"/>
                  </a:lnTo>
                  <a:lnTo>
                    <a:pt x="150941" y="96862"/>
                  </a:lnTo>
                  <a:lnTo>
                    <a:pt x="149335" y="47426"/>
                  </a:lnTo>
                  <a:lnTo>
                    <a:pt x="147099" y="13510"/>
                  </a:lnTo>
                  <a:lnTo>
                    <a:pt x="143891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43528" y="5939078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0" y="559320"/>
                  </a:moveTo>
                  <a:lnTo>
                    <a:pt x="54165" y="513022"/>
                  </a:lnTo>
                  <a:lnTo>
                    <a:pt x="78152" y="473931"/>
                  </a:lnTo>
                  <a:lnTo>
                    <a:pt x="98425" y="415709"/>
                  </a:lnTo>
                  <a:lnTo>
                    <a:pt x="105933" y="376736"/>
                  </a:lnTo>
                  <a:lnTo>
                    <a:pt x="112540" y="325072"/>
                  </a:lnTo>
                  <a:lnTo>
                    <a:pt x="118368" y="265384"/>
                  </a:lnTo>
                  <a:lnTo>
                    <a:pt x="123541" y="202337"/>
                  </a:lnTo>
                  <a:lnTo>
                    <a:pt x="128182" y="140596"/>
                  </a:lnTo>
                  <a:lnTo>
                    <a:pt x="132413" y="84826"/>
                  </a:lnTo>
                  <a:lnTo>
                    <a:pt x="136360" y="39693"/>
                  </a:lnTo>
                  <a:lnTo>
                    <a:pt x="140145" y="9862"/>
                  </a:lnTo>
                  <a:lnTo>
                    <a:pt x="143891" y="0"/>
                  </a:lnTo>
                  <a:lnTo>
                    <a:pt x="147099" y="13510"/>
                  </a:lnTo>
                  <a:lnTo>
                    <a:pt x="149335" y="47426"/>
                  </a:lnTo>
                  <a:lnTo>
                    <a:pt x="150941" y="96862"/>
                  </a:lnTo>
                  <a:lnTo>
                    <a:pt x="152262" y="156936"/>
                  </a:lnTo>
                  <a:lnTo>
                    <a:pt x="153642" y="222764"/>
                  </a:lnTo>
                  <a:lnTo>
                    <a:pt x="155424" y="289463"/>
                  </a:lnTo>
                  <a:lnTo>
                    <a:pt x="157952" y="352148"/>
                  </a:lnTo>
                  <a:lnTo>
                    <a:pt x="161571" y="405938"/>
                  </a:lnTo>
                  <a:lnTo>
                    <a:pt x="166624" y="445947"/>
                  </a:lnTo>
                  <a:lnTo>
                    <a:pt x="182481" y="502838"/>
                  </a:lnTo>
                  <a:lnTo>
                    <a:pt x="202612" y="536878"/>
                  </a:lnTo>
                  <a:lnTo>
                    <a:pt x="225577" y="555684"/>
                  </a:lnTo>
                  <a:lnTo>
                    <a:pt x="249936" y="5668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70604" y="5574918"/>
              <a:ext cx="1283335" cy="762635"/>
            </a:xfrm>
            <a:custGeom>
              <a:avLst/>
              <a:gdLst/>
              <a:ahLst/>
              <a:cxnLst/>
              <a:rect l="l" t="t" r="r" b="b"/>
              <a:pathLst>
                <a:path w="1283335" h="762635">
                  <a:moveTo>
                    <a:pt x="647827" y="8890"/>
                  </a:moveTo>
                  <a:lnTo>
                    <a:pt x="638810" y="0"/>
                  </a:lnTo>
                  <a:lnTo>
                    <a:pt x="49491" y="587946"/>
                  </a:lnTo>
                  <a:lnTo>
                    <a:pt x="27051" y="565454"/>
                  </a:lnTo>
                  <a:lnTo>
                    <a:pt x="0" y="646239"/>
                  </a:lnTo>
                  <a:lnTo>
                    <a:pt x="80899" y="619391"/>
                  </a:lnTo>
                  <a:lnTo>
                    <a:pt x="67411" y="605891"/>
                  </a:lnTo>
                  <a:lnTo>
                    <a:pt x="58420" y="596887"/>
                  </a:lnTo>
                  <a:lnTo>
                    <a:pt x="647827" y="8890"/>
                  </a:lnTo>
                  <a:close/>
                </a:path>
                <a:path w="1283335" h="762635">
                  <a:moveTo>
                    <a:pt x="1282827" y="429463"/>
                  </a:moveTo>
                  <a:lnTo>
                    <a:pt x="1278255" y="417626"/>
                  </a:lnTo>
                  <a:lnTo>
                    <a:pt x="493941" y="721106"/>
                  </a:lnTo>
                  <a:lnTo>
                    <a:pt x="482473" y="691502"/>
                  </a:lnTo>
                  <a:lnTo>
                    <a:pt x="425196" y="754532"/>
                  </a:lnTo>
                  <a:lnTo>
                    <a:pt x="510032" y="762571"/>
                  </a:lnTo>
                  <a:lnTo>
                    <a:pt x="500316" y="737539"/>
                  </a:lnTo>
                  <a:lnTo>
                    <a:pt x="498538" y="732955"/>
                  </a:lnTo>
                  <a:lnTo>
                    <a:pt x="1282827" y="429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09600" y="536772"/>
            <a:ext cx="10972800" cy="983858"/>
          </a:xfrm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Entropy</a:t>
            </a:r>
            <a:endParaRPr sz="4400" dirty="0"/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6705" y="609601"/>
            <a:ext cx="1905000" cy="183832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16939" y="3132455"/>
            <a:ext cx="6428740" cy="80264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random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variable?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probability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expectation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under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itself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2476500"/>
            <a:ext cx="5399532" cy="576072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799893" y="3214878"/>
            <a:ext cx="2522855" cy="836930"/>
            <a:chOff x="8490966" y="2605277"/>
            <a:chExt cx="2522855" cy="836930"/>
          </a:xfrm>
        </p:grpSpPr>
        <p:sp>
          <p:nvSpPr>
            <p:cNvPr id="17" name="object 17"/>
            <p:cNvSpPr/>
            <p:nvPr/>
          </p:nvSpPr>
          <p:spPr>
            <a:xfrm>
              <a:off x="8490966" y="2605277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57"/>
                  </a:lnTo>
                  <a:lnTo>
                    <a:pt x="38100" y="798957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42020" y="2822575"/>
              <a:ext cx="2356485" cy="585470"/>
            </a:xfrm>
            <a:custGeom>
              <a:avLst/>
              <a:gdLst/>
              <a:ahLst/>
              <a:cxnLst/>
              <a:rect l="l" t="t" r="r" b="b"/>
              <a:pathLst>
                <a:path w="2356484" h="585470">
                  <a:moveTo>
                    <a:pt x="0" y="559053"/>
                  </a:moveTo>
                  <a:lnTo>
                    <a:pt x="514096" y="537083"/>
                  </a:lnTo>
                  <a:lnTo>
                    <a:pt x="563225" y="519634"/>
                  </a:lnTo>
                  <a:lnTo>
                    <a:pt x="607693" y="498076"/>
                  </a:lnTo>
                  <a:lnTo>
                    <a:pt x="648418" y="473014"/>
                  </a:lnTo>
                  <a:lnTo>
                    <a:pt x="686323" y="445055"/>
                  </a:lnTo>
                  <a:lnTo>
                    <a:pt x="722330" y="414804"/>
                  </a:lnTo>
                  <a:lnTo>
                    <a:pt x="757358" y="382867"/>
                  </a:lnTo>
                  <a:lnTo>
                    <a:pt x="792330" y="349849"/>
                  </a:lnTo>
                  <a:lnTo>
                    <a:pt x="828166" y="316357"/>
                  </a:lnTo>
                  <a:lnTo>
                    <a:pt x="860294" y="281763"/>
                  </a:lnTo>
                  <a:lnTo>
                    <a:pt x="891648" y="239753"/>
                  </a:lnTo>
                  <a:lnTo>
                    <a:pt x="922349" y="193444"/>
                  </a:lnTo>
                  <a:lnTo>
                    <a:pt x="952516" y="145956"/>
                  </a:lnTo>
                  <a:lnTo>
                    <a:pt x="982271" y="100409"/>
                  </a:lnTo>
                  <a:lnTo>
                    <a:pt x="1011733" y="59920"/>
                  </a:lnTo>
                  <a:lnTo>
                    <a:pt x="1041023" y="27610"/>
                  </a:lnTo>
                  <a:lnTo>
                    <a:pt x="1070260" y="6596"/>
                  </a:lnTo>
                  <a:lnTo>
                    <a:pt x="1099565" y="0"/>
                  </a:lnTo>
                  <a:lnTo>
                    <a:pt x="1124710" y="8338"/>
                  </a:lnTo>
                  <a:lnTo>
                    <a:pt x="1169822" y="59203"/>
                  </a:lnTo>
                  <a:lnTo>
                    <a:pt x="1191373" y="96958"/>
                  </a:lnTo>
                  <a:lnTo>
                    <a:pt x="1213310" y="139747"/>
                  </a:lnTo>
                  <a:lnTo>
                    <a:pt x="1236424" y="185184"/>
                  </a:lnTo>
                  <a:lnTo>
                    <a:pt x="1261507" y="230883"/>
                  </a:lnTo>
                  <a:lnTo>
                    <a:pt x="1289350" y="274458"/>
                  </a:lnTo>
                  <a:lnTo>
                    <a:pt x="1320746" y="313523"/>
                  </a:lnTo>
                  <a:lnTo>
                    <a:pt x="1356486" y="345694"/>
                  </a:lnTo>
                  <a:lnTo>
                    <a:pt x="1393250" y="370818"/>
                  </a:lnTo>
                  <a:lnTo>
                    <a:pt x="1433663" y="395245"/>
                  </a:lnTo>
                  <a:lnTo>
                    <a:pt x="1477131" y="418825"/>
                  </a:lnTo>
                  <a:lnTo>
                    <a:pt x="1523059" y="441409"/>
                  </a:lnTo>
                  <a:lnTo>
                    <a:pt x="1570852" y="462847"/>
                  </a:lnTo>
                  <a:lnTo>
                    <a:pt x="1619916" y="482991"/>
                  </a:lnTo>
                  <a:lnTo>
                    <a:pt x="1669655" y="501690"/>
                  </a:lnTo>
                  <a:lnTo>
                    <a:pt x="1719475" y="518795"/>
                  </a:lnTo>
                  <a:lnTo>
                    <a:pt x="1768781" y="534157"/>
                  </a:lnTo>
                  <a:lnTo>
                    <a:pt x="1816977" y="547626"/>
                  </a:lnTo>
                  <a:lnTo>
                    <a:pt x="1863471" y="559053"/>
                  </a:lnTo>
                  <a:lnTo>
                    <a:pt x="1913351" y="569040"/>
                  </a:lnTo>
                  <a:lnTo>
                    <a:pt x="1963033" y="576338"/>
                  </a:lnTo>
                  <a:lnTo>
                    <a:pt x="2012541" y="581246"/>
                  </a:lnTo>
                  <a:lnTo>
                    <a:pt x="2061895" y="584063"/>
                  </a:lnTo>
                  <a:lnTo>
                    <a:pt x="2111121" y="585088"/>
                  </a:lnTo>
                  <a:lnTo>
                    <a:pt x="2160239" y="584620"/>
                  </a:lnTo>
                  <a:lnTo>
                    <a:pt x="2209274" y="582957"/>
                  </a:lnTo>
                  <a:lnTo>
                    <a:pt x="2258247" y="580398"/>
                  </a:lnTo>
                  <a:lnTo>
                    <a:pt x="2307183" y="577241"/>
                  </a:lnTo>
                  <a:lnTo>
                    <a:pt x="2356104" y="57378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47450" y="3938398"/>
            <a:ext cx="85344" cy="7924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95360" y="2982467"/>
            <a:ext cx="307848" cy="176784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9030629" y="4915090"/>
            <a:ext cx="2522855" cy="836930"/>
            <a:chOff x="8490966" y="3748278"/>
            <a:chExt cx="2522855" cy="836930"/>
          </a:xfrm>
        </p:grpSpPr>
        <p:sp>
          <p:nvSpPr>
            <p:cNvPr id="22" name="object 22"/>
            <p:cNvSpPr/>
            <p:nvPr/>
          </p:nvSpPr>
          <p:spPr>
            <a:xfrm>
              <a:off x="8490966" y="3748278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57"/>
                  </a:lnTo>
                  <a:lnTo>
                    <a:pt x="38100" y="798957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87840" y="3962527"/>
              <a:ext cx="464820" cy="591820"/>
            </a:xfrm>
            <a:custGeom>
              <a:avLst/>
              <a:gdLst/>
              <a:ahLst/>
              <a:cxnLst/>
              <a:rect l="l" t="t" r="r" b="b"/>
              <a:pathLst>
                <a:path w="464820" h="591820">
                  <a:moveTo>
                    <a:pt x="0" y="573151"/>
                  </a:moveTo>
                  <a:lnTo>
                    <a:pt x="31031" y="579340"/>
                  </a:lnTo>
                  <a:lnTo>
                    <a:pt x="63182" y="589613"/>
                  </a:lnTo>
                  <a:lnTo>
                    <a:pt x="93047" y="591814"/>
                  </a:lnTo>
                  <a:lnTo>
                    <a:pt x="130535" y="539644"/>
                  </a:lnTo>
                  <a:lnTo>
                    <a:pt x="139552" y="491945"/>
                  </a:lnTo>
                  <a:lnTo>
                    <a:pt x="146344" y="435510"/>
                  </a:lnTo>
                  <a:lnTo>
                    <a:pt x="152984" y="375162"/>
                  </a:lnTo>
                  <a:lnTo>
                    <a:pt x="161543" y="315722"/>
                  </a:lnTo>
                  <a:lnTo>
                    <a:pt x="169124" y="267861"/>
                  </a:lnTo>
                  <a:lnTo>
                    <a:pt x="177179" y="210442"/>
                  </a:lnTo>
                  <a:lnTo>
                    <a:pt x="185563" y="149750"/>
                  </a:lnTo>
                  <a:lnTo>
                    <a:pt x="194130" y="92073"/>
                  </a:lnTo>
                  <a:lnTo>
                    <a:pt x="202731" y="43697"/>
                  </a:lnTo>
                  <a:lnTo>
                    <a:pt x="211222" y="10910"/>
                  </a:lnTo>
                  <a:lnTo>
                    <a:pt x="219455" y="0"/>
                  </a:lnTo>
                  <a:lnTo>
                    <a:pt x="227379" y="15755"/>
                  </a:lnTo>
                  <a:lnTo>
                    <a:pt x="235106" y="54256"/>
                  </a:lnTo>
                  <a:lnTo>
                    <a:pt x="242732" y="108565"/>
                  </a:lnTo>
                  <a:lnTo>
                    <a:pt x="250356" y="171739"/>
                  </a:lnTo>
                  <a:lnTo>
                    <a:pt x="258076" y="236840"/>
                  </a:lnTo>
                  <a:lnTo>
                    <a:pt x="265989" y="296926"/>
                  </a:lnTo>
                  <a:lnTo>
                    <a:pt x="274192" y="345059"/>
                  </a:lnTo>
                  <a:lnTo>
                    <a:pt x="287855" y="412216"/>
                  </a:lnTo>
                  <a:lnTo>
                    <a:pt x="301101" y="472170"/>
                  </a:lnTo>
                  <a:lnTo>
                    <a:pt x="316609" y="521813"/>
                  </a:lnTo>
                  <a:lnTo>
                    <a:pt x="337057" y="558038"/>
                  </a:lnTo>
                  <a:lnTo>
                    <a:pt x="399796" y="583961"/>
                  </a:lnTo>
                  <a:lnTo>
                    <a:pt x="434641" y="580630"/>
                  </a:lnTo>
                  <a:lnTo>
                    <a:pt x="464819" y="572643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30140" y="5595535"/>
            <a:ext cx="85344" cy="79248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76705" y="4665602"/>
            <a:ext cx="307848" cy="17678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492168" y="2679015"/>
            <a:ext cx="425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high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50947" y="2476500"/>
            <a:ext cx="360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low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3544" y="4672584"/>
            <a:ext cx="4174235" cy="27889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3544" y="4315967"/>
            <a:ext cx="3328415" cy="22707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71464" y="6429757"/>
            <a:ext cx="68275" cy="7924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172839" y="5218303"/>
            <a:ext cx="4576445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maximizes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</a:t>
            </a:r>
            <a:endParaRPr sz="1800">
              <a:latin typeface="Calibri"/>
              <a:cs typeface="Calibri"/>
            </a:endParaRPr>
          </a:p>
          <a:p>
            <a:pPr marL="1270635" marR="5080">
              <a:lnSpc>
                <a:spcPct val="100000"/>
              </a:lnSpc>
              <a:spcBef>
                <a:spcPts val="172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maximizes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 </a:t>
            </a:r>
            <a:r>
              <a:rPr sz="1800" dirty="0">
                <a:latin typeface="Calibri"/>
                <a:cs typeface="Calibri"/>
              </a:rPr>
              <a:t>(makes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possible)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E8703EA-ED5E-D1F9-2018-58233C86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DAF34-68DC-4ACE-8359-8C19780B33D3}" type="datetime1">
              <a:rPr lang="en-US" smtClean="0"/>
              <a:t>10/1/2025</a:t>
            </a:fld>
            <a:endParaRPr lang="en-US"/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F208C7F5-CDBD-685E-EE65-51457621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08D1A1F7-48A5-41BE-A664-7B2BC23E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536772"/>
            <a:ext cx="10972800" cy="983858"/>
          </a:xfrm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0" dirty="0">
                <a:latin typeface="Calibri"/>
                <a:cs typeface="Calibri"/>
              </a:rPr>
              <a:t>KL-Divergence</a:t>
            </a:r>
            <a:endParaRPr lang="en-US" sz="4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187" y="2683764"/>
            <a:ext cx="3390900" cy="6050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3964" y="2848355"/>
            <a:ext cx="4175760" cy="2788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0600" y="2846832"/>
            <a:ext cx="3095244" cy="27889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916161" y="4447794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190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383279" y="5530722"/>
            <a:ext cx="2897505" cy="973455"/>
            <a:chOff x="3383279" y="5530722"/>
            <a:chExt cx="2897505" cy="973455"/>
          </a:xfrm>
        </p:grpSpPr>
        <p:sp>
          <p:nvSpPr>
            <p:cNvPr id="9" name="object 9"/>
            <p:cNvSpPr/>
            <p:nvPr/>
          </p:nvSpPr>
          <p:spPr>
            <a:xfrm>
              <a:off x="3703319" y="5890336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60">
                  <a:moveTo>
                    <a:pt x="1201165" y="0"/>
                  </a:moveTo>
                  <a:lnTo>
                    <a:pt x="1137279" y="25431"/>
                  </a:lnTo>
                  <a:lnTo>
                    <a:pt x="1105299" y="55304"/>
                  </a:lnTo>
                  <a:lnTo>
                    <a:pt x="1073125" y="92862"/>
                  </a:lnTo>
                  <a:lnTo>
                    <a:pt x="1040629" y="135291"/>
                  </a:lnTo>
                  <a:lnTo>
                    <a:pt x="1007683" y="179776"/>
                  </a:lnTo>
                  <a:lnTo>
                    <a:pt x="974161" y="223502"/>
                  </a:lnTo>
                  <a:lnTo>
                    <a:pt x="939934" y="263655"/>
                  </a:lnTo>
                  <a:lnTo>
                    <a:pt x="904875" y="297421"/>
                  </a:lnTo>
                  <a:lnTo>
                    <a:pt x="865684" y="331232"/>
                  </a:lnTo>
                  <a:lnTo>
                    <a:pt x="827448" y="365446"/>
                  </a:lnTo>
                  <a:lnTo>
                    <a:pt x="789159" y="399246"/>
                  </a:lnTo>
                  <a:lnTo>
                    <a:pt x="749807" y="431812"/>
                  </a:lnTo>
                  <a:lnTo>
                    <a:pt x="708384" y="462329"/>
                  </a:lnTo>
                  <a:lnTo>
                    <a:pt x="663880" y="489977"/>
                  </a:lnTo>
                  <a:lnTo>
                    <a:pt x="615286" y="513940"/>
                  </a:lnTo>
                  <a:lnTo>
                    <a:pt x="561593" y="533400"/>
                  </a:lnTo>
                  <a:lnTo>
                    <a:pt x="518755" y="544128"/>
                  </a:lnTo>
                  <a:lnTo>
                    <a:pt x="472794" y="551987"/>
                  </a:lnTo>
                  <a:lnTo>
                    <a:pt x="424205" y="557431"/>
                  </a:lnTo>
                  <a:lnTo>
                    <a:pt x="373480" y="560913"/>
                  </a:lnTo>
                  <a:lnTo>
                    <a:pt x="321111" y="562885"/>
                  </a:lnTo>
                  <a:lnTo>
                    <a:pt x="267593" y="563800"/>
                  </a:lnTo>
                  <a:lnTo>
                    <a:pt x="159077" y="564271"/>
                  </a:lnTo>
                  <a:lnTo>
                    <a:pt x="105065" y="564734"/>
                  </a:lnTo>
                  <a:lnTo>
                    <a:pt x="51875" y="565951"/>
                  </a:lnTo>
                  <a:lnTo>
                    <a:pt x="0" y="568375"/>
                  </a:lnTo>
                  <a:lnTo>
                    <a:pt x="2574035" y="553745"/>
                  </a:lnTo>
                  <a:lnTo>
                    <a:pt x="2533471" y="556006"/>
                  </a:lnTo>
                  <a:lnTo>
                    <a:pt x="2488563" y="558036"/>
                  </a:lnTo>
                  <a:lnTo>
                    <a:pt x="2440024" y="559747"/>
                  </a:lnTo>
                  <a:lnTo>
                    <a:pt x="2388570" y="561053"/>
                  </a:lnTo>
                  <a:lnTo>
                    <a:pt x="2334913" y="561868"/>
                  </a:lnTo>
                  <a:lnTo>
                    <a:pt x="2279768" y="562104"/>
                  </a:lnTo>
                  <a:lnTo>
                    <a:pt x="2223849" y="561676"/>
                  </a:lnTo>
                  <a:lnTo>
                    <a:pt x="2167870" y="560497"/>
                  </a:lnTo>
                  <a:lnTo>
                    <a:pt x="2112544" y="558480"/>
                  </a:lnTo>
                  <a:lnTo>
                    <a:pt x="2058586" y="555539"/>
                  </a:lnTo>
                  <a:lnTo>
                    <a:pt x="2006709" y="551587"/>
                  </a:lnTo>
                  <a:lnTo>
                    <a:pt x="1957629" y="546538"/>
                  </a:lnTo>
                  <a:lnTo>
                    <a:pt x="1912057" y="540306"/>
                  </a:lnTo>
                  <a:lnTo>
                    <a:pt x="1870709" y="532803"/>
                  </a:lnTo>
                  <a:lnTo>
                    <a:pt x="1813121" y="518565"/>
                  </a:lnTo>
                  <a:lnTo>
                    <a:pt x="1761117" y="501451"/>
                  </a:lnTo>
                  <a:lnTo>
                    <a:pt x="1713846" y="481746"/>
                  </a:lnTo>
                  <a:lnTo>
                    <a:pt x="1670456" y="459736"/>
                  </a:lnTo>
                  <a:lnTo>
                    <a:pt x="1630099" y="435706"/>
                  </a:lnTo>
                  <a:lnTo>
                    <a:pt x="1591921" y="409941"/>
                  </a:lnTo>
                  <a:lnTo>
                    <a:pt x="1555073" y="382727"/>
                  </a:lnTo>
                  <a:lnTo>
                    <a:pt x="1518704" y="354350"/>
                  </a:lnTo>
                  <a:lnTo>
                    <a:pt x="1481963" y="325094"/>
                  </a:lnTo>
                  <a:lnTo>
                    <a:pt x="1446134" y="290710"/>
                  </a:lnTo>
                  <a:lnTo>
                    <a:pt x="1412649" y="248787"/>
                  </a:lnTo>
                  <a:lnTo>
                    <a:pt x="1380998" y="202369"/>
                  </a:lnTo>
                  <a:lnTo>
                    <a:pt x="1321166" y="108230"/>
                  </a:lnTo>
                  <a:lnTo>
                    <a:pt x="1291971" y="66599"/>
                  </a:lnTo>
                  <a:lnTo>
                    <a:pt x="1262577" y="32654"/>
                  </a:lnTo>
                  <a:lnTo>
                    <a:pt x="1232478" y="9439"/>
                  </a:lnTo>
                  <a:lnTo>
                    <a:pt x="1201165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3319" y="5890336"/>
              <a:ext cx="2574290" cy="568960"/>
            </a:xfrm>
            <a:custGeom>
              <a:avLst/>
              <a:gdLst/>
              <a:ahLst/>
              <a:cxnLst/>
              <a:rect l="l" t="t" r="r" b="b"/>
              <a:pathLst>
                <a:path w="2574290" h="568960">
                  <a:moveTo>
                    <a:pt x="0" y="568375"/>
                  </a:moveTo>
                  <a:lnTo>
                    <a:pt x="51875" y="565951"/>
                  </a:lnTo>
                  <a:lnTo>
                    <a:pt x="105065" y="564734"/>
                  </a:lnTo>
                  <a:lnTo>
                    <a:pt x="159077" y="564271"/>
                  </a:lnTo>
                  <a:lnTo>
                    <a:pt x="213417" y="564111"/>
                  </a:lnTo>
                  <a:lnTo>
                    <a:pt x="267593" y="563800"/>
                  </a:lnTo>
                  <a:lnTo>
                    <a:pt x="321111" y="562885"/>
                  </a:lnTo>
                  <a:lnTo>
                    <a:pt x="373480" y="560913"/>
                  </a:lnTo>
                  <a:lnTo>
                    <a:pt x="424205" y="557431"/>
                  </a:lnTo>
                  <a:lnTo>
                    <a:pt x="472794" y="551987"/>
                  </a:lnTo>
                  <a:lnTo>
                    <a:pt x="518755" y="544128"/>
                  </a:lnTo>
                  <a:lnTo>
                    <a:pt x="561593" y="533400"/>
                  </a:lnTo>
                  <a:lnTo>
                    <a:pt x="615286" y="513940"/>
                  </a:lnTo>
                  <a:lnTo>
                    <a:pt x="663880" y="489977"/>
                  </a:lnTo>
                  <a:lnTo>
                    <a:pt x="708384" y="462329"/>
                  </a:lnTo>
                  <a:lnTo>
                    <a:pt x="749807" y="431812"/>
                  </a:lnTo>
                  <a:lnTo>
                    <a:pt x="789159" y="399246"/>
                  </a:lnTo>
                  <a:lnTo>
                    <a:pt x="827448" y="365446"/>
                  </a:lnTo>
                  <a:lnTo>
                    <a:pt x="865684" y="331232"/>
                  </a:lnTo>
                  <a:lnTo>
                    <a:pt x="904875" y="297421"/>
                  </a:lnTo>
                  <a:lnTo>
                    <a:pt x="939934" y="263655"/>
                  </a:lnTo>
                  <a:lnTo>
                    <a:pt x="974161" y="223502"/>
                  </a:lnTo>
                  <a:lnTo>
                    <a:pt x="1007683" y="179776"/>
                  </a:lnTo>
                  <a:lnTo>
                    <a:pt x="1040629" y="135291"/>
                  </a:lnTo>
                  <a:lnTo>
                    <a:pt x="1073125" y="92862"/>
                  </a:lnTo>
                  <a:lnTo>
                    <a:pt x="1105299" y="55304"/>
                  </a:lnTo>
                  <a:lnTo>
                    <a:pt x="1137279" y="25431"/>
                  </a:lnTo>
                  <a:lnTo>
                    <a:pt x="1169192" y="6058"/>
                  </a:lnTo>
                  <a:lnTo>
                    <a:pt x="1201165" y="0"/>
                  </a:lnTo>
                  <a:lnTo>
                    <a:pt x="1232478" y="9439"/>
                  </a:lnTo>
                  <a:lnTo>
                    <a:pt x="1291971" y="66599"/>
                  </a:lnTo>
                  <a:lnTo>
                    <a:pt x="1321166" y="108230"/>
                  </a:lnTo>
                  <a:lnTo>
                    <a:pt x="1350673" y="154502"/>
                  </a:lnTo>
                  <a:lnTo>
                    <a:pt x="1380998" y="202369"/>
                  </a:lnTo>
                  <a:lnTo>
                    <a:pt x="1412649" y="248787"/>
                  </a:lnTo>
                  <a:lnTo>
                    <a:pt x="1446134" y="290710"/>
                  </a:lnTo>
                  <a:lnTo>
                    <a:pt x="1481963" y="325094"/>
                  </a:lnTo>
                  <a:lnTo>
                    <a:pt x="1518704" y="354350"/>
                  </a:lnTo>
                  <a:lnTo>
                    <a:pt x="1555073" y="382727"/>
                  </a:lnTo>
                  <a:lnTo>
                    <a:pt x="1591921" y="409941"/>
                  </a:lnTo>
                  <a:lnTo>
                    <a:pt x="1630099" y="435706"/>
                  </a:lnTo>
                  <a:lnTo>
                    <a:pt x="1670456" y="459736"/>
                  </a:lnTo>
                  <a:lnTo>
                    <a:pt x="1713846" y="481746"/>
                  </a:lnTo>
                  <a:lnTo>
                    <a:pt x="1761117" y="501451"/>
                  </a:lnTo>
                  <a:lnTo>
                    <a:pt x="1813121" y="518565"/>
                  </a:lnTo>
                  <a:lnTo>
                    <a:pt x="1870709" y="532803"/>
                  </a:lnTo>
                  <a:lnTo>
                    <a:pt x="1912057" y="540306"/>
                  </a:lnTo>
                  <a:lnTo>
                    <a:pt x="1957629" y="546538"/>
                  </a:lnTo>
                  <a:lnTo>
                    <a:pt x="2006709" y="551587"/>
                  </a:lnTo>
                  <a:lnTo>
                    <a:pt x="2058586" y="555539"/>
                  </a:lnTo>
                  <a:lnTo>
                    <a:pt x="2112544" y="558480"/>
                  </a:lnTo>
                  <a:lnTo>
                    <a:pt x="2167870" y="560497"/>
                  </a:lnTo>
                  <a:lnTo>
                    <a:pt x="2223849" y="561676"/>
                  </a:lnTo>
                  <a:lnTo>
                    <a:pt x="2279768" y="562104"/>
                  </a:lnTo>
                  <a:lnTo>
                    <a:pt x="2334913" y="561868"/>
                  </a:lnTo>
                  <a:lnTo>
                    <a:pt x="2388570" y="561053"/>
                  </a:lnTo>
                  <a:lnTo>
                    <a:pt x="2440024" y="559747"/>
                  </a:lnTo>
                  <a:lnTo>
                    <a:pt x="2488563" y="558036"/>
                  </a:lnTo>
                  <a:lnTo>
                    <a:pt x="2533471" y="556006"/>
                  </a:lnTo>
                  <a:lnTo>
                    <a:pt x="2574035" y="55374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55898" y="5666993"/>
              <a:ext cx="2522855" cy="836930"/>
            </a:xfrm>
            <a:custGeom>
              <a:avLst/>
              <a:gdLst/>
              <a:ahLst/>
              <a:cxnLst/>
              <a:rect l="l" t="t" r="r" b="b"/>
              <a:pathLst>
                <a:path w="2522854" h="836929">
                  <a:moveTo>
                    <a:pt x="2522347" y="798576"/>
                  </a:moveTo>
                  <a:lnTo>
                    <a:pt x="2503297" y="789051"/>
                  </a:lnTo>
                  <a:lnTo>
                    <a:pt x="2446147" y="760476"/>
                  </a:lnTo>
                  <a:lnTo>
                    <a:pt x="2446147" y="789051"/>
                  </a:lnTo>
                  <a:lnTo>
                    <a:pt x="47625" y="789051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798969"/>
                  </a:lnTo>
                  <a:lnTo>
                    <a:pt x="38100" y="798969"/>
                  </a:lnTo>
                  <a:lnTo>
                    <a:pt x="38100" y="808101"/>
                  </a:lnTo>
                  <a:lnTo>
                    <a:pt x="2446147" y="808101"/>
                  </a:lnTo>
                  <a:lnTo>
                    <a:pt x="2446147" y="836676"/>
                  </a:lnTo>
                  <a:lnTo>
                    <a:pt x="2503297" y="808101"/>
                  </a:lnTo>
                  <a:lnTo>
                    <a:pt x="2522347" y="798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79" y="5629736"/>
              <a:ext cx="295655" cy="17213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06951" y="5884265"/>
              <a:ext cx="2356485" cy="585470"/>
            </a:xfrm>
            <a:custGeom>
              <a:avLst/>
              <a:gdLst/>
              <a:ahLst/>
              <a:cxnLst/>
              <a:rect l="l" t="t" r="r" b="b"/>
              <a:pathLst>
                <a:path w="2356485" h="585470">
                  <a:moveTo>
                    <a:pt x="0" y="559117"/>
                  </a:moveTo>
                  <a:lnTo>
                    <a:pt x="46527" y="552951"/>
                  </a:lnTo>
                  <a:lnTo>
                    <a:pt x="92564" y="539428"/>
                  </a:lnTo>
                  <a:lnTo>
                    <a:pt x="137968" y="519994"/>
                  </a:lnTo>
                  <a:lnTo>
                    <a:pt x="182594" y="496093"/>
                  </a:lnTo>
                  <a:lnTo>
                    <a:pt x="226299" y="469172"/>
                  </a:lnTo>
                  <a:lnTo>
                    <a:pt x="268939" y="440677"/>
                  </a:lnTo>
                  <a:lnTo>
                    <a:pt x="310370" y="412052"/>
                  </a:lnTo>
                  <a:lnTo>
                    <a:pt x="350449" y="384743"/>
                  </a:lnTo>
                  <a:lnTo>
                    <a:pt x="389033" y="360196"/>
                  </a:lnTo>
                  <a:lnTo>
                    <a:pt x="425976" y="339857"/>
                  </a:lnTo>
                  <a:lnTo>
                    <a:pt x="461137" y="325170"/>
                  </a:lnTo>
                  <a:lnTo>
                    <a:pt x="511205" y="313966"/>
                  </a:lnTo>
                  <a:lnTo>
                    <a:pt x="555176" y="313151"/>
                  </a:lnTo>
                  <a:lnTo>
                    <a:pt x="595021" y="318264"/>
                  </a:lnTo>
                  <a:lnTo>
                    <a:pt x="632713" y="324844"/>
                  </a:lnTo>
                  <a:lnTo>
                    <a:pt x="670226" y="328429"/>
                  </a:lnTo>
                  <a:lnTo>
                    <a:pt x="709531" y="324560"/>
                  </a:lnTo>
                  <a:lnTo>
                    <a:pt x="752601" y="308775"/>
                  </a:lnTo>
                  <a:lnTo>
                    <a:pt x="785459" y="286794"/>
                  </a:lnTo>
                  <a:lnTo>
                    <a:pt x="819885" y="255261"/>
                  </a:lnTo>
                  <a:lnTo>
                    <a:pt x="855445" y="217017"/>
                  </a:lnTo>
                  <a:lnTo>
                    <a:pt x="891704" y="174901"/>
                  </a:lnTo>
                  <a:lnTo>
                    <a:pt x="928227" y="131756"/>
                  </a:lnTo>
                  <a:lnTo>
                    <a:pt x="964578" y="90420"/>
                  </a:lnTo>
                  <a:lnTo>
                    <a:pt x="1000322" y="53737"/>
                  </a:lnTo>
                  <a:lnTo>
                    <a:pt x="1035025" y="24545"/>
                  </a:lnTo>
                  <a:lnTo>
                    <a:pt x="1068251" y="5685"/>
                  </a:lnTo>
                  <a:lnTo>
                    <a:pt x="1099565" y="0"/>
                  </a:lnTo>
                  <a:lnTo>
                    <a:pt x="1127765" y="8665"/>
                  </a:lnTo>
                  <a:lnTo>
                    <a:pt x="1175367" y="59797"/>
                  </a:lnTo>
                  <a:lnTo>
                    <a:pt x="1196805" y="97541"/>
                  </a:lnTo>
                  <a:lnTo>
                    <a:pt x="1218025" y="140257"/>
                  </a:lnTo>
                  <a:lnTo>
                    <a:pt x="1240045" y="185582"/>
                  </a:lnTo>
                  <a:lnTo>
                    <a:pt x="1263883" y="231158"/>
                  </a:lnTo>
                  <a:lnTo>
                    <a:pt x="1290557" y="274621"/>
                  </a:lnTo>
                  <a:lnTo>
                    <a:pt x="1321086" y="313612"/>
                  </a:lnTo>
                  <a:lnTo>
                    <a:pt x="1356487" y="345770"/>
                  </a:lnTo>
                  <a:lnTo>
                    <a:pt x="1393250" y="370887"/>
                  </a:lnTo>
                  <a:lnTo>
                    <a:pt x="1433663" y="395307"/>
                  </a:lnTo>
                  <a:lnTo>
                    <a:pt x="1477131" y="418882"/>
                  </a:lnTo>
                  <a:lnTo>
                    <a:pt x="1523059" y="441460"/>
                  </a:lnTo>
                  <a:lnTo>
                    <a:pt x="1570852" y="462895"/>
                  </a:lnTo>
                  <a:lnTo>
                    <a:pt x="1619916" y="483036"/>
                  </a:lnTo>
                  <a:lnTo>
                    <a:pt x="1669655" y="501734"/>
                  </a:lnTo>
                  <a:lnTo>
                    <a:pt x="1719475" y="518840"/>
                  </a:lnTo>
                  <a:lnTo>
                    <a:pt x="1768781" y="534206"/>
                  </a:lnTo>
                  <a:lnTo>
                    <a:pt x="1816977" y="547681"/>
                  </a:lnTo>
                  <a:lnTo>
                    <a:pt x="1863471" y="559117"/>
                  </a:lnTo>
                  <a:lnTo>
                    <a:pt x="1913351" y="569080"/>
                  </a:lnTo>
                  <a:lnTo>
                    <a:pt x="1963033" y="576362"/>
                  </a:lnTo>
                  <a:lnTo>
                    <a:pt x="2012541" y="581260"/>
                  </a:lnTo>
                  <a:lnTo>
                    <a:pt x="2061895" y="584073"/>
                  </a:lnTo>
                  <a:lnTo>
                    <a:pt x="2111120" y="585098"/>
                  </a:lnTo>
                  <a:lnTo>
                    <a:pt x="2160239" y="584633"/>
                  </a:lnTo>
                  <a:lnTo>
                    <a:pt x="2209274" y="582977"/>
                  </a:lnTo>
                  <a:lnTo>
                    <a:pt x="2258247" y="580427"/>
                  </a:lnTo>
                  <a:lnTo>
                    <a:pt x="2307183" y="577280"/>
                  </a:lnTo>
                  <a:lnTo>
                    <a:pt x="2356104" y="573836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57927" y="5894882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143891" y="0"/>
                  </a:moveTo>
                  <a:lnTo>
                    <a:pt x="140145" y="9862"/>
                  </a:lnTo>
                  <a:lnTo>
                    <a:pt x="136360" y="39693"/>
                  </a:lnTo>
                  <a:lnTo>
                    <a:pt x="132413" y="84826"/>
                  </a:lnTo>
                  <a:lnTo>
                    <a:pt x="123541" y="202337"/>
                  </a:lnTo>
                  <a:lnTo>
                    <a:pt x="118368" y="265384"/>
                  </a:lnTo>
                  <a:lnTo>
                    <a:pt x="112540" y="325072"/>
                  </a:lnTo>
                  <a:lnTo>
                    <a:pt x="105933" y="376736"/>
                  </a:lnTo>
                  <a:lnTo>
                    <a:pt x="98425" y="415709"/>
                  </a:lnTo>
                  <a:lnTo>
                    <a:pt x="78152" y="473931"/>
                  </a:lnTo>
                  <a:lnTo>
                    <a:pt x="54165" y="513022"/>
                  </a:lnTo>
                  <a:lnTo>
                    <a:pt x="0" y="559320"/>
                  </a:lnTo>
                  <a:lnTo>
                    <a:pt x="249936" y="566877"/>
                  </a:lnTo>
                  <a:lnTo>
                    <a:pt x="202612" y="536878"/>
                  </a:lnTo>
                  <a:lnTo>
                    <a:pt x="182481" y="502838"/>
                  </a:lnTo>
                  <a:lnTo>
                    <a:pt x="166624" y="445947"/>
                  </a:lnTo>
                  <a:lnTo>
                    <a:pt x="161571" y="405938"/>
                  </a:lnTo>
                  <a:lnTo>
                    <a:pt x="157952" y="352148"/>
                  </a:lnTo>
                  <a:lnTo>
                    <a:pt x="155424" y="289463"/>
                  </a:lnTo>
                  <a:lnTo>
                    <a:pt x="153642" y="222764"/>
                  </a:lnTo>
                  <a:lnTo>
                    <a:pt x="150941" y="96862"/>
                  </a:lnTo>
                  <a:lnTo>
                    <a:pt x="149335" y="47426"/>
                  </a:lnTo>
                  <a:lnTo>
                    <a:pt x="147099" y="13510"/>
                  </a:lnTo>
                  <a:lnTo>
                    <a:pt x="143891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57927" y="5894882"/>
              <a:ext cx="250190" cy="567055"/>
            </a:xfrm>
            <a:custGeom>
              <a:avLst/>
              <a:gdLst/>
              <a:ahLst/>
              <a:cxnLst/>
              <a:rect l="l" t="t" r="r" b="b"/>
              <a:pathLst>
                <a:path w="250189" h="567054">
                  <a:moveTo>
                    <a:pt x="0" y="559320"/>
                  </a:moveTo>
                  <a:lnTo>
                    <a:pt x="54165" y="513022"/>
                  </a:lnTo>
                  <a:lnTo>
                    <a:pt x="78152" y="473931"/>
                  </a:lnTo>
                  <a:lnTo>
                    <a:pt x="98425" y="415709"/>
                  </a:lnTo>
                  <a:lnTo>
                    <a:pt x="105933" y="376736"/>
                  </a:lnTo>
                  <a:lnTo>
                    <a:pt x="112540" y="325072"/>
                  </a:lnTo>
                  <a:lnTo>
                    <a:pt x="118368" y="265384"/>
                  </a:lnTo>
                  <a:lnTo>
                    <a:pt x="123541" y="202337"/>
                  </a:lnTo>
                  <a:lnTo>
                    <a:pt x="128182" y="140596"/>
                  </a:lnTo>
                  <a:lnTo>
                    <a:pt x="132413" y="84826"/>
                  </a:lnTo>
                  <a:lnTo>
                    <a:pt x="136360" y="39693"/>
                  </a:lnTo>
                  <a:lnTo>
                    <a:pt x="140145" y="9862"/>
                  </a:lnTo>
                  <a:lnTo>
                    <a:pt x="143891" y="0"/>
                  </a:lnTo>
                  <a:lnTo>
                    <a:pt x="147099" y="13510"/>
                  </a:lnTo>
                  <a:lnTo>
                    <a:pt x="149335" y="47426"/>
                  </a:lnTo>
                  <a:lnTo>
                    <a:pt x="150941" y="96862"/>
                  </a:lnTo>
                  <a:lnTo>
                    <a:pt x="152262" y="156936"/>
                  </a:lnTo>
                  <a:lnTo>
                    <a:pt x="153642" y="222764"/>
                  </a:lnTo>
                  <a:lnTo>
                    <a:pt x="155424" y="289463"/>
                  </a:lnTo>
                  <a:lnTo>
                    <a:pt x="157952" y="352148"/>
                  </a:lnTo>
                  <a:lnTo>
                    <a:pt x="161571" y="405938"/>
                  </a:lnTo>
                  <a:lnTo>
                    <a:pt x="166624" y="445947"/>
                  </a:lnTo>
                  <a:lnTo>
                    <a:pt x="182481" y="502838"/>
                  </a:lnTo>
                  <a:lnTo>
                    <a:pt x="202612" y="536878"/>
                  </a:lnTo>
                  <a:lnTo>
                    <a:pt x="225577" y="555684"/>
                  </a:lnTo>
                  <a:lnTo>
                    <a:pt x="249936" y="56687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85004" y="5530722"/>
              <a:ext cx="1283335" cy="762635"/>
            </a:xfrm>
            <a:custGeom>
              <a:avLst/>
              <a:gdLst/>
              <a:ahLst/>
              <a:cxnLst/>
              <a:rect l="l" t="t" r="r" b="b"/>
              <a:pathLst>
                <a:path w="1283335" h="762635">
                  <a:moveTo>
                    <a:pt x="647827" y="8890"/>
                  </a:moveTo>
                  <a:lnTo>
                    <a:pt x="638810" y="0"/>
                  </a:lnTo>
                  <a:lnTo>
                    <a:pt x="49491" y="587946"/>
                  </a:lnTo>
                  <a:lnTo>
                    <a:pt x="27051" y="565454"/>
                  </a:lnTo>
                  <a:lnTo>
                    <a:pt x="0" y="646239"/>
                  </a:lnTo>
                  <a:lnTo>
                    <a:pt x="80899" y="619391"/>
                  </a:lnTo>
                  <a:lnTo>
                    <a:pt x="67411" y="605891"/>
                  </a:lnTo>
                  <a:lnTo>
                    <a:pt x="58420" y="596887"/>
                  </a:lnTo>
                  <a:lnTo>
                    <a:pt x="647827" y="8890"/>
                  </a:lnTo>
                  <a:close/>
                </a:path>
                <a:path w="1283335" h="762635">
                  <a:moveTo>
                    <a:pt x="1282827" y="429463"/>
                  </a:moveTo>
                  <a:lnTo>
                    <a:pt x="1278255" y="417626"/>
                  </a:lnTo>
                  <a:lnTo>
                    <a:pt x="493941" y="721106"/>
                  </a:lnTo>
                  <a:lnTo>
                    <a:pt x="482473" y="691502"/>
                  </a:lnTo>
                  <a:lnTo>
                    <a:pt x="425196" y="754532"/>
                  </a:lnTo>
                  <a:lnTo>
                    <a:pt x="510032" y="762571"/>
                  </a:lnTo>
                  <a:lnTo>
                    <a:pt x="500316" y="737539"/>
                  </a:lnTo>
                  <a:lnTo>
                    <a:pt x="498538" y="732955"/>
                  </a:lnTo>
                  <a:lnTo>
                    <a:pt x="1282827" y="429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9371" y="3601973"/>
            <a:ext cx="9628505" cy="2639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different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distributions?</a:t>
            </a:r>
            <a:endParaRPr sz="18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latin typeface="Calibri"/>
                <a:cs typeface="Calibri"/>
              </a:rPr>
              <a:t>Intuition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small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probability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distribution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under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another,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minus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entropy?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8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why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entropy?</a:t>
            </a:r>
            <a:endParaRPr sz="1800">
              <a:latin typeface="Calibri"/>
              <a:cs typeface="Calibri"/>
            </a:endParaRPr>
          </a:p>
          <a:p>
            <a:pPr marL="4390390">
              <a:lnSpc>
                <a:spcPct val="100000"/>
              </a:lnSpc>
              <a:spcBef>
                <a:spcPts val="1280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maximizes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</a:t>
            </a:r>
            <a:endParaRPr sz="1800">
              <a:latin typeface="Calibri"/>
              <a:cs typeface="Calibri"/>
            </a:endParaRPr>
          </a:p>
          <a:p>
            <a:pPr marL="5648325">
              <a:lnSpc>
                <a:spcPct val="100000"/>
              </a:lnSpc>
              <a:spcBef>
                <a:spcPts val="1725"/>
              </a:spcBef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maximizes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</a:t>
            </a:r>
            <a:endParaRPr sz="1800">
              <a:latin typeface="Calibri"/>
              <a:cs typeface="Calibri"/>
            </a:endParaRPr>
          </a:p>
          <a:p>
            <a:pPr marL="564832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(makes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possible)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5864" y="6385561"/>
            <a:ext cx="68274" cy="7924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726FE-CB27-CBF1-DFBC-74D9ED3E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8979-8EA9-42C0-8536-046F9C53801A}" type="datetime1">
              <a:rPr lang="en-US" smtClean="0"/>
              <a:t>10/1/2025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DA8A7966-154D-0900-A4DC-B96B46AE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6C368AF-7386-C2A6-0E69-6D026F31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A45A41-EFED-4246-83B9-B7A9A1E52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Autoencoders are simple </a:t>
            </a:r>
            <a:r>
              <a:rPr lang="en-US" dirty="0">
                <a:solidFill>
                  <a:srgbClr val="00B0F0"/>
                </a:solidFill>
              </a:rPr>
              <a:t>neural network architectures</a:t>
            </a:r>
            <a:r>
              <a:rPr lang="en-US" dirty="0"/>
              <a:t>. </a:t>
            </a:r>
          </a:p>
          <a:p>
            <a:r>
              <a:rPr lang="en-US" dirty="0"/>
              <a:t>They basically do compression on data and reconstruct the original data.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Think like MP3 compression, or image compression using JPEG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E0931-E0F7-415C-8227-872A021C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C770-60A7-48DE-91B5-1885900EC572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2924A-A134-4D9F-B34E-D2861C5A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C88D3-59ED-402A-BB24-966AC6F9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72295D-2A53-4B57-B8F4-74E89814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Autoencoders</a:t>
            </a: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DEBA9AA-F8D4-40EE-26BF-AE775D479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931" y="3505200"/>
            <a:ext cx="3386138" cy="308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905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6800A-4B5A-417B-A2AD-4B98CF05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BCA7-95FE-4229-BBD9-68C9DC4E3011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DC94A-BA7E-407C-BAD0-72F37146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8C9620-8818-4AF9-BA30-52E2065E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C5A1EA-C380-4F56-8490-46B635EA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Autoencoders</a:t>
            </a:r>
            <a:endParaRPr lang="en-US" dirty="0"/>
          </a:p>
        </p:txBody>
      </p:sp>
      <p:pic>
        <p:nvPicPr>
          <p:cNvPr id="1026" name="Picture 2" descr="Uploaded image">
            <a:extLst>
              <a:ext uri="{FF2B5EF4-FFF2-40B4-BE49-F238E27FC236}">
                <a16:creationId xmlns:a16="http://schemas.microsoft.com/office/drawing/2014/main" id="{72EC72CC-E600-D203-0B94-D32EC7CACC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517" y="1752600"/>
            <a:ext cx="8959483" cy="383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765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2CE75-F14F-434C-BD13-0E59A499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AB4E0-5850-4F59-B669-45E155F60CA9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A3BC8-06E4-4049-9D46-298C777B7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399AB-EB0A-4AB5-9C92-C199DCDF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8F6888-E380-4C34-8832-841F2AB4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Autoencoders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B63B6-1EAF-4540-8820-ED902BDB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49" y="2438400"/>
            <a:ext cx="9801110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049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ADFA6F-1978-4DE0-805B-1AA3BF130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autoencoder is a type of artificial neural network used to learn </a:t>
            </a:r>
            <a:r>
              <a:rPr lang="en-US" dirty="0">
                <a:solidFill>
                  <a:srgbClr val="00B0F0"/>
                </a:solidFill>
              </a:rPr>
              <a:t>efficient data coding </a:t>
            </a:r>
            <a:r>
              <a:rPr lang="en-US" dirty="0"/>
              <a:t>in an </a:t>
            </a:r>
            <a:r>
              <a:rPr lang="en-US" dirty="0">
                <a:solidFill>
                  <a:srgbClr val="00B050"/>
                </a:solidFill>
              </a:rPr>
              <a:t>unsupervised manner</a:t>
            </a:r>
            <a:r>
              <a:rPr lang="en-US" dirty="0"/>
              <a:t>.</a:t>
            </a:r>
          </a:p>
          <a:p>
            <a:r>
              <a:rPr lang="en-US" dirty="0"/>
              <a:t>The aim of an autoencoder is to learn a </a:t>
            </a:r>
            <a:r>
              <a:rPr lang="en-US" dirty="0">
                <a:solidFill>
                  <a:srgbClr val="FF0000"/>
                </a:solidFill>
              </a:rPr>
              <a:t>representation (encoding)</a:t>
            </a:r>
          </a:p>
          <a:p>
            <a:pPr lvl="1"/>
            <a:r>
              <a:rPr lang="en-US" dirty="0"/>
              <a:t>Representation Learning</a:t>
            </a:r>
          </a:p>
          <a:p>
            <a:r>
              <a:rPr lang="en-US" dirty="0"/>
              <a:t>Network can learn </a:t>
            </a:r>
            <a:r>
              <a:rPr lang="en-US" dirty="0">
                <a:solidFill>
                  <a:srgbClr val="0070C0"/>
                </a:solidFill>
              </a:rPr>
              <a:t>most important features and ignore noise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Dimensionality reduction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8D01A4-F5B9-4B20-A36C-84371030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1516-0C13-496E-B16E-B7EF92D981ED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AEA88-83AA-4BCF-8D2C-D993DB36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9207B-2493-40CB-ABF1-893C38E8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2BAFE54-0FC0-488C-A1BC-D8CDA0E6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Autoencoders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136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A2A960-5FBA-7EB4-2A16-5B2B51302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1. </a:t>
            </a:r>
            <a:r>
              <a:rPr lang="en-US" b="1" dirty="0"/>
              <a:t>Dimensionality Reduction</a:t>
            </a:r>
            <a:r>
              <a:rPr lang="en-US" dirty="0"/>
              <a:t>: Reduce the dimensionality of the data for visualization or to improve computational efficiency for other tasks.</a:t>
            </a:r>
          </a:p>
          <a:p>
            <a:r>
              <a:rPr lang="en-US" dirty="0"/>
              <a:t>2. </a:t>
            </a:r>
            <a:r>
              <a:rPr lang="en-US" b="1" dirty="0"/>
              <a:t>Feature Learning</a:t>
            </a:r>
            <a:r>
              <a:rPr lang="en-US" dirty="0"/>
              <a:t>: Autoencoders can learn useful features automatically from the input data, which can then be used for tasks like classification, regression, or further unsupervised learning.</a:t>
            </a:r>
          </a:p>
          <a:p>
            <a:r>
              <a:rPr lang="en-US" dirty="0"/>
              <a:t>3. </a:t>
            </a:r>
            <a:r>
              <a:rPr lang="en-US" b="1" dirty="0"/>
              <a:t>Anomaly Detection</a:t>
            </a:r>
            <a:r>
              <a:rPr lang="en-US" dirty="0"/>
              <a:t>: By learning to reproduce normal data, autoencoders can be used to detect anomalies or outliers by examining the reconstruction error. </a:t>
            </a:r>
          </a:p>
          <a:p>
            <a:r>
              <a:rPr lang="en-US" dirty="0"/>
              <a:t>4. </a:t>
            </a:r>
            <a:r>
              <a:rPr lang="en-US" b="1" dirty="0"/>
              <a:t>Denoising</a:t>
            </a:r>
            <a:r>
              <a:rPr lang="en-US" dirty="0"/>
              <a:t>: Denoising autoencoders are trained to remove noise from data. </a:t>
            </a:r>
          </a:p>
          <a:p>
            <a:r>
              <a:rPr lang="en-US" dirty="0"/>
              <a:t>5. </a:t>
            </a:r>
            <a:r>
              <a:rPr lang="en-US" b="1" dirty="0"/>
              <a:t>Data Generation: </a:t>
            </a:r>
            <a:r>
              <a:rPr lang="en-US" dirty="0"/>
              <a:t>Variational autoencoders (VAEs), generate new data that is similar to the training data. This is useful in generating synthetic data for training machine learning models when actual data is scarce.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CEB05-B32C-C707-3F83-A3EEAE05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37DC5-62A8-496B-87A1-3CD4985664DD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EF5E46-83BE-A328-64D6-E46A0A5E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F7B4A3-E810-513F-72DB-18DD5CB0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9CE4C4-61B4-13A8-EBE8-8E6BF1EE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Autoencoders: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191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DDF2AB-6626-26BF-D64E-3C3092D03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6</a:t>
            </a:r>
            <a:r>
              <a:rPr lang="en-US" sz="2400" b="1" dirty="0"/>
              <a:t>. Image Processing: </a:t>
            </a:r>
            <a:r>
              <a:rPr lang="en-US" sz="2400" dirty="0"/>
              <a:t>such as image colorization, image resolution enhancement (super-resolution), and image inpainting.</a:t>
            </a:r>
          </a:p>
          <a:p>
            <a:r>
              <a:rPr lang="en-US" sz="2400" b="1" dirty="0"/>
              <a:t>7. Sequence-to-sequence Modeling: </a:t>
            </a:r>
            <a:endParaRPr lang="en-US" sz="2400" dirty="0"/>
          </a:p>
          <a:p>
            <a:pPr lvl="1"/>
            <a:r>
              <a:rPr lang="en-US" sz="1800" dirty="0"/>
              <a:t>Neural machine translation, text summarization, and dialogue systems.</a:t>
            </a:r>
          </a:p>
          <a:p>
            <a:r>
              <a:rPr lang="en-US" sz="2400" dirty="0"/>
              <a:t>8. </a:t>
            </a:r>
            <a:r>
              <a:rPr lang="en-US" sz="2400" b="1" dirty="0"/>
              <a:t>Feature Transfer</a:t>
            </a:r>
            <a:r>
              <a:rPr lang="en-US" sz="2400" dirty="0"/>
              <a:t>: Trained autoencoder networks can be used for transferring features learned on one dataset to another dataset, which is beneficial when the second dataset is too small to train a deep network effectively.</a:t>
            </a:r>
          </a:p>
          <a:p>
            <a:r>
              <a:rPr lang="en-US" sz="2400" dirty="0"/>
              <a:t>9. </a:t>
            </a:r>
            <a:r>
              <a:rPr lang="en-US" sz="2400" b="1" dirty="0"/>
              <a:t>Unsupervised Pre-training</a:t>
            </a:r>
            <a:r>
              <a:rPr lang="en-US" sz="2400" dirty="0"/>
              <a:t>: pre-train the weights of neural networks in an unsupervised manner to improve the performance of subsequent supervised learning tasks.</a:t>
            </a:r>
          </a:p>
          <a:p>
            <a:r>
              <a:rPr lang="en-US" sz="2400" dirty="0"/>
              <a:t>10. </a:t>
            </a:r>
            <a:r>
              <a:rPr lang="en-US" sz="2400" b="1" dirty="0"/>
              <a:t>Compression</a:t>
            </a:r>
            <a:r>
              <a:rPr lang="en-US" sz="2400" dirty="0"/>
              <a:t>: Autoencoders can learn a compressed representation of data, which could potentially be used for efficient storage and transmission. </a:t>
            </a:r>
          </a:p>
          <a:p>
            <a:endParaRPr 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CD36E-35FD-9FA4-5B53-446B61C9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16BD5-6352-44A4-B4FE-CD956F06F500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202550-D9F4-0D93-381C-7C02E5D7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46127-AA18-62B2-B690-71645BEA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5576CFD-63D3-DB24-2E08-DA319EEF1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Autoencoders: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02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A3E9-C5BD-D978-4A1B-CD1BAB04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a bottleneck&#10;&#10;AI-generated content may be incorrect.">
            <a:extLst>
              <a:ext uri="{FF2B5EF4-FFF2-40B4-BE49-F238E27FC236}">
                <a16:creationId xmlns:a16="http://schemas.microsoft.com/office/drawing/2014/main" id="{5BF50083-0A44-359D-24F3-F783036A3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23207"/>
            <a:ext cx="9602242" cy="446770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4AB4E1-2626-53AA-9FB6-AF663E62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8F3B-6367-4BEC-84BF-E5AE282053A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9E888-0B63-E695-58FD-274806DA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18B64-F76F-5B1D-862A-00A8C231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41BB7E-E9D8-A909-405A-4129AA5EB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</a:t>
            </a:r>
          </a:p>
        </p:txBody>
      </p:sp>
    </p:spTree>
    <p:extLst>
      <p:ext uri="{BB962C8B-B14F-4D97-AF65-F5344CB8AC3E}">
        <p14:creationId xmlns:p14="http://schemas.microsoft.com/office/powerpoint/2010/main" val="1954988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4F3B-8781-1135-7B0D-986308FF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161E6-0C40-1D4B-6E95-6E28966A5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8F3B-6367-4BEC-84BF-E5AE282053A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3308F-96E7-FB1C-68AE-17BA25C4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E6AF9-EF2C-776C-C497-9D4DD2DE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D89E7A-0D34-F547-6A31-74A6F687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E4CCB7D-8A4D-1A80-1A25-1014729B5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We have an input image of size (28 x 28)</a:t>
            </a:r>
          </a:p>
          <a:p>
            <a:pPr algn="just"/>
            <a:r>
              <a:rPr lang="en-US" dirty="0">
                <a:solidFill>
                  <a:srgbClr val="242424"/>
                </a:solidFill>
                <a:latin typeface="source-serif-pro"/>
              </a:rPr>
              <a:t>B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y convention, this image has to be flattened before feeding it into a neural network.</a:t>
            </a:r>
          </a:p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 flattened representation of this image would be (784, ), and this is passed into the encoder (the first block). </a:t>
            </a:r>
          </a:p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The output of the encoder is then fed to the bottleneck or latent space which should be a reduced version.</a:t>
            </a:r>
          </a:p>
          <a:p>
            <a:pPr algn="just"/>
            <a:r>
              <a:rPr lang="en-US" dirty="0">
                <a:solidFill>
                  <a:srgbClr val="242424"/>
                </a:solidFill>
                <a:latin typeface="source-serif-pro"/>
              </a:rPr>
              <a:t>I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 the amount nodes in the latent space is 8, or even any number, it simply means we have succeeded in compressing an image of size 784 to just 8 nodes.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729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A2487-614E-AEFF-59E4-910DD30E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D8EFF-33A4-7324-1DAB-8FED3D8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8F3B-6367-4BEC-84BF-E5AE282053A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B36B2-070F-FEA6-36AD-9E969275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F4A8A-003A-ED63-B2BC-B2095431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52C009-0A8E-FF9F-E68C-0203E4D3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78D7278-79D6-C618-FDEF-B60F14A17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As soon as the image is reconstructed, you compare the reconstructed image with the original image, compute the difference, and calculate the loss which can then be minimized.</a:t>
            </a:r>
          </a:p>
          <a:p>
            <a:pPr algn="just"/>
            <a:endParaRPr lang="en-US" dirty="0"/>
          </a:p>
        </p:txBody>
      </p:sp>
      <p:pic>
        <p:nvPicPr>
          <p:cNvPr id="7" name="Picture 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DEAD010F-461F-F37F-96F3-54D1C5BEB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276600"/>
            <a:ext cx="6834157" cy="217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57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B14A3-3614-EB2C-32C9-F8956505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4D7FA-85B7-9D4B-5F2F-C890DFE1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8F3B-6367-4BEC-84BF-E5AE282053A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1547E-9994-CBF2-3086-00515E91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AD97B-5D28-B41E-7083-22380186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1FF5CC-58CD-93D5-C0C9-4995392C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E7424-4A25-F8A8-005E-CB0CF24B3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Encoder: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The encoder maps the input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to a latent representation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using a weight matrix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and a bias vector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. The output of the encoder is given by: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242424"/>
              </a:solidFill>
              <a:latin typeface="source-serif-pro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h = f(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Wx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+ b)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</a:endParaRP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Here,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is an activation function such as the sigmoid 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ReLU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, and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Wx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 + 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represents the linear transformation of the input</a:t>
            </a:r>
            <a:r>
              <a:rPr lang="en-US" altLang="en-US" sz="1800" dirty="0">
                <a:latin typeface="source-serif-pro"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4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544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8E9F3-CEC4-0C55-0E02-06EC6E5B6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813DE3-464C-0C1E-B01A-FD0C40BD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8F3B-6367-4BEC-84BF-E5AE282053A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0B614-725C-5E28-3C46-85267A69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29BF5-CA9D-1DFA-ABFC-7C7C1C13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0A94FA-694B-FE2C-A5B1-A7FB0627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Autoencoders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C18D32-9FED-BA9D-EF14-766E882FD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Decoder: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The decoder reconstructs the input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from the latent representation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using weights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W'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and bias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b'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. The output of the decoder is given by: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242424"/>
              </a:solidFill>
              <a:latin typeface="source-serif-pro"/>
            </a:endParaRP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source-code-pro"/>
              </a:rPr>
              <a:t>' = g(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41A16"/>
                </a:solidFill>
                <a:effectLst/>
                <a:latin typeface="source-code-pro"/>
              </a:rPr>
              <a:t>W'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41A16"/>
                </a:solidFill>
                <a:effectLst/>
                <a:latin typeface="source-code-pro"/>
              </a:rPr>
              <a:t>b’)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Here,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is an activation function such as the sigmoid 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ReLU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, and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Wx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</a:rPr>
              <a:t> + 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</a:rPr>
              <a:t> represents the linear transformation of the 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400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050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C8A7C9-3B8C-488F-A776-BE051CF82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5905F3-B911-4051-810E-C980DE63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C8F3B-6367-4BEC-84BF-E5AE282053A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0D528-B79B-42D7-B493-0AFBBD4D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C3BC0-03B2-40EF-BBDC-F3202FBF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FEA6EA-21EE-47F4-9701-756E67A0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Deeper Autoencoders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5F7D2DB-B7B2-40FF-BB25-85CA20F1F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88" y="1600200"/>
            <a:ext cx="6448425" cy="481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96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3B54-AFF2-95EE-D0A6-960127CB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4950A3-A6AB-4771-A23D-40B5E7920F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3011246"/>
            <a:ext cx="74123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Variational</a:t>
            </a:r>
            <a:r>
              <a:rPr sz="4400" spc="-190" dirty="0"/>
              <a:t> </a:t>
            </a:r>
            <a:r>
              <a:rPr sz="4400" spc="-10" dirty="0"/>
              <a:t>Autoencoders</a:t>
            </a:r>
            <a:endParaRPr sz="4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80A35-C608-83C8-D12E-08EBC36B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A98AE-0B5A-4B19-B65D-3F707F70B0F4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DD383-CE03-C35B-8867-C1E9DACB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7A7CE-185F-272E-7D36-44DCAD37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09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20EAE-EE34-43BC-A9AB-1AD022442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variational autoencoder is an autoencoder whose training is </a:t>
            </a:r>
            <a:r>
              <a:rPr lang="en-US" dirty="0">
                <a:solidFill>
                  <a:srgbClr val="FF0000"/>
                </a:solidFill>
              </a:rPr>
              <a:t>regularized to avoid overfitting </a:t>
            </a:r>
            <a:r>
              <a:rPr lang="en-US" dirty="0"/>
              <a:t>and ensure that the </a:t>
            </a:r>
            <a:r>
              <a:rPr lang="en-US" dirty="0">
                <a:solidFill>
                  <a:srgbClr val="FFC000"/>
                </a:solidFill>
              </a:rPr>
              <a:t>latent space </a:t>
            </a:r>
            <a:r>
              <a:rPr lang="en-US" dirty="0">
                <a:solidFill>
                  <a:srgbClr val="FF0000"/>
                </a:solidFill>
              </a:rPr>
              <a:t>has good properties </a:t>
            </a:r>
            <a:r>
              <a:rPr lang="en-US" dirty="0"/>
              <a:t>that enable the generative process.</a:t>
            </a:r>
          </a:p>
          <a:p>
            <a:r>
              <a:rPr lang="en-US" dirty="0"/>
              <a:t>Just like a standard autoencoder, a variational autoencoder is an architecture composed of both an </a:t>
            </a:r>
            <a:r>
              <a:rPr lang="en-US" dirty="0">
                <a:solidFill>
                  <a:srgbClr val="00B050"/>
                </a:solidFill>
              </a:rPr>
              <a:t>encoder and a decoder</a:t>
            </a:r>
          </a:p>
          <a:p>
            <a:r>
              <a:rPr lang="en-US" dirty="0"/>
              <a:t>It is designed to handle the issue of </a:t>
            </a:r>
            <a:r>
              <a:rPr lang="en-US" dirty="0">
                <a:solidFill>
                  <a:srgbClr val="FF0000"/>
                </a:solidFill>
              </a:rPr>
              <a:t>generating new instances </a:t>
            </a:r>
            <a:r>
              <a:rPr lang="en-US" dirty="0"/>
              <a:t>that are varied yet still </a:t>
            </a:r>
            <a:r>
              <a:rPr lang="en-US" dirty="0">
                <a:solidFill>
                  <a:srgbClr val="FF0000"/>
                </a:solidFill>
              </a:rPr>
              <a:t>resemble the input data</a:t>
            </a:r>
            <a:r>
              <a:rPr lang="en-US" dirty="0">
                <a:solidFill>
                  <a:srgbClr val="00B0F0"/>
                </a:solidFill>
              </a:rPr>
              <a:t>.</a:t>
            </a:r>
          </a:p>
          <a:p>
            <a:r>
              <a:rPr lang="en-US" dirty="0">
                <a:solidFill>
                  <a:srgbClr val="00B0F0"/>
                </a:solidFill>
              </a:rPr>
              <a:t>Instead of encoding an input as a single point, we encode it as a distribution over the latent space.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DBE19-280F-42FE-81B7-ED24072F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4D305-5D6F-40FC-BD6F-72B04ADE7DA6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CEA5E-FBBF-407C-83C4-0DABF1AA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C807E-3157-431D-B090-0497EA83F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87101B-7AA8-4AC1-AEB7-1D82E545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40" dirty="0">
                <a:solidFill>
                  <a:srgbClr val="00B0F0"/>
                </a:solidFill>
              </a:rPr>
              <a:t>Variational  </a:t>
            </a:r>
            <a:r>
              <a:rPr lang="en-US" spc="25" dirty="0">
                <a:solidFill>
                  <a:srgbClr val="00B0F0"/>
                </a:solidFill>
              </a:rPr>
              <a:t>Autoencoders</a:t>
            </a:r>
            <a:r>
              <a:rPr lang="en-US" spc="-90" dirty="0">
                <a:solidFill>
                  <a:srgbClr val="00B0F0"/>
                </a:solidFill>
              </a:rPr>
              <a:t> </a:t>
            </a:r>
            <a:r>
              <a:rPr lang="en-US" spc="-275" dirty="0">
                <a:solidFill>
                  <a:srgbClr val="00B0F0"/>
                </a:solidFill>
              </a:rPr>
              <a:t>(VAE)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364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9800F2-2587-413D-B404-DD089E6D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9046-00DD-4286-91E9-A694556193DB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6185C-9AFB-48C4-AE44-B4BCEF856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B3901-06C6-4871-AB74-5014A668E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06D9C4-1BAE-4D95-92FB-535F4DDD7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VAE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0F3BA5-1534-46C7-93F8-21520A129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546647"/>
            <a:ext cx="9144000" cy="463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91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8E58-566B-376D-44DA-78846814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algorithm&#10;&#10;AI-generated content may be incorrect.">
            <a:extLst>
              <a:ext uri="{FF2B5EF4-FFF2-40B4-BE49-F238E27FC236}">
                <a16:creationId xmlns:a16="http://schemas.microsoft.com/office/drawing/2014/main" id="{4F8514DC-C687-F8C6-5ED9-C2415FBE9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376" y="1600200"/>
            <a:ext cx="9763248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C1367-EC4B-53B8-92F8-BB26E577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9046-00DD-4286-91E9-A694556193DB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5BF25-DA0A-E828-ECFB-49695193E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33693-CA20-D2AF-C258-82F4158C9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0045D8-B12C-BAC7-5496-221B2E09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VAE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763491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855C1-A641-49D5-145B-D2E33899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5FCCFC-C6A1-344A-41DA-98B39A287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C9046-00DD-4286-91E9-A694556193DB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4DC85-3E9B-8450-A514-2C8EB0F8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A75DE-F550-326A-7F55-6FE0F606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8D0B0B-DCC4-04AC-F014-853151835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VAE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89D5EA9-885D-E477-ADE0-F34FB1E1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 idea behind the VAE proposed by Kingma et al in 2013 is that instead of mapping an input to a fixed vector, the input is mapped to a distribution.</a:t>
            </a:r>
          </a:p>
          <a:p>
            <a:pPr algn="just"/>
            <a:r>
              <a:rPr lang="en-US" dirty="0"/>
              <a:t>The loss function of the VAE is defined by two terms, the reconstruction loss and the </a:t>
            </a:r>
            <a:r>
              <a:rPr lang="en-US" dirty="0" err="1"/>
              <a:t>regularizer</a:t>
            </a:r>
            <a:r>
              <a:rPr lang="en-US" dirty="0"/>
              <a:t> which is essentially a KL divergence between the encoder’s distribution and the latent space.</a:t>
            </a:r>
          </a:p>
          <a:p>
            <a:endParaRPr lang="en-US" dirty="0"/>
          </a:p>
        </p:txBody>
      </p:sp>
      <p:pic>
        <p:nvPicPr>
          <p:cNvPr id="10" name="Picture 9" descr="A math equation on a white background&#10;&#10;AI-generated content may be incorrect.">
            <a:extLst>
              <a:ext uri="{FF2B5EF4-FFF2-40B4-BE49-F238E27FC236}">
                <a16:creationId xmlns:a16="http://schemas.microsoft.com/office/drawing/2014/main" id="{259A59FA-061E-C284-1C0F-AB736ED79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890620"/>
            <a:ext cx="9336627" cy="141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576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4ADD-10B2-3E77-8FD4-BDF888ABB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EFD695A-D940-4F3D-40CA-BD15A3EAA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715441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VAEs</a:t>
            </a:r>
            <a:r>
              <a:rPr sz="4400" spc="-114" dirty="0"/>
              <a:t> </a:t>
            </a:r>
            <a:r>
              <a:rPr sz="4400" dirty="0"/>
              <a:t>with</a:t>
            </a:r>
            <a:r>
              <a:rPr sz="4400" spc="-100" dirty="0"/>
              <a:t> </a:t>
            </a:r>
            <a:r>
              <a:rPr sz="4400" spc="-10" dirty="0"/>
              <a:t>convolutions</a:t>
            </a:r>
            <a:endParaRPr sz="440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BAF936F-2629-B064-9987-F9A25559DC68}"/>
              </a:ext>
            </a:extLst>
          </p:cNvPr>
          <p:cNvGrpSpPr/>
          <p:nvPr/>
        </p:nvGrpSpPr>
        <p:grpSpPr>
          <a:xfrm>
            <a:off x="877824" y="1863725"/>
            <a:ext cx="4692650" cy="1794510"/>
            <a:chOff x="877824" y="1863725"/>
            <a:chExt cx="4692650" cy="179451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E7CA624-A5D4-AA44-961C-CF233F4CA50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824" y="1999487"/>
              <a:ext cx="736854" cy="1509522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E3B2A24-AF79-77BA-C5F4-8BFA1282A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2288" y="1866900"/>
              <a:ext cx="214884" cy="821436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72B641F-D9C1-781A-79F4-EF1B918F70C0}"/>
                </a:ext>
              </a:extLst>
            </p:cNvPr>
            <p:cNvSpPr/>
            <p:nvPr/>
          </p:nvSpPr>
          <p:spPr>
            <a:xfrm>
              <a:off x="5352288" y="1866900"/>
              <a:ext cx="215265" cy="821690"/>
            </a:xfrm>
            <a:custGeom>
              <a:avLst/>
              <a:gdLst/>
              <a:ahLst/>
              <a:cxnLst/>
              <a:rect l="l" t="t" r="r" b="b"/>
              <a:pathLst>
                <a:path w="215264" h="821689">
                  <a:moveTo>
                    <a:pt x="0" y="821436"/>
                  </a:moveTo>
                  <a:lnTo>
                    <a:pt x="214884" y="821436"/>
                  </a:lnTo>
                  <a:lnTo>
                    <a:pt x="214884" y="0"/>
                  </a:lnTo>
                  <a:lnTo>
                    <a:pt x="0" y="0"/>
                  </a:lnTo>
                  <a:lnTo>
                    <a:pt x="0" y="821436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78BA899-34B0-9A0D-AF4E-8233C1EEBCA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0095" y="2831591"/>
              <a:ext cx="214884" cy="822960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977E14E-A729-D575-5643-9A549FF532EA}"/>
                </a:ext>
              </a:extLst>
            </p:cNvPr>
            <p:cNvSpPr/>
            <p:nvPr/>
          </p:nvSpPr>
          <p:spPr>
            <a:xfrm>
              <a:off x="5340095" y="2831591"/>
              <a:ext cx="215265" cy="822960"/>
            </a:xfrm>
            <a:custGeom>
              <a:avLst/>
              <a:gdLst/>
              <a:ahLst/>
              <a:cxnLst/>
              <a:rect l="l" t="t" r="r" b="b"/>
              <a:pathLst>
                <a:path w="215264" h="822960">
                  <a:moveTo>
                    <a:pt x="0" y="822960"/>
                  </a:moveTo>
                  <a:lnTo>
                    <a:pt x="214884" y="822960"/>
                  </a:lnTo>
                  <a:lnTo>
                    <a:pt x="214884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634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DD334A5-53AD-802F-D46E-C02707D32AC6}"/>
                </a:ext>
              </a:extLst>
            </p:cNvPr>
            <p:cNvSpPr/>
            <p:nvPr/>
          </p:nvSpPr>
          <p:spPr>
            <a:xfrm>
              <a:off x="1248918" y="2728722"/>
              <a:ext cx="781685" cy="76200"/>
            </a:xfrm>
            <a:custGeom>
              <a:avLst/>
              <a:gdLst/>
              <a:ahLst/>
              <a:cxnLst/>
              <a:rect l="l" t="t" r="r" b="b"/>
              <a:pathLst>
                <a:path w="781685" h="76200">
                  <a:moveTo>
                    <a:pt x="705484" y="0"/>
                  </a:moveTo>
                  <a:lnTo>
                    <a:pt x="705484" y="76200"/>
                  </a:lnTo>
                  <a:lnTo>
                    <a:pt x="762634" y="47625"/>
                  </a:lnTo>
                  <a:lnTo>
                    <a:pt x="718184" y="47625"/>
                  </a:lnTo>
                  <a:lnTo>
                    <a:pt x="718184" y="28575"/>
                  </a:lnTo>
                  <a:lnTo>
                    <a:pt x="762634" y="28575"/>
                  </a:lnTo>
                  <a:lnTo>
                    <a:pt x="705484" y="0"/>
                  </a:lnTo>
                  <a:close/>
                </a:path>
                <a:path w="781685" h="76200">
                  <a:moveTo>
                    <a:pt x="70548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05484" y="47625"/>
                  </a:lnTo>
                  <a:lnTo>
                    <a:pt x="705484" y="28575"/>
                  </a:lnTo>
                  <a:close/>
                </a:path>
                <a:path w="781685" h="76200">
                  <a:moveTo>
                    <a:pt x="762634" y="28575"/>
                  </a:moveTo>
                  <a:lnTo>
                    <a:pt x="718184" y="28575"/>
                  </a:lnTo>
                  <a:lnTo>
                    <a:pt x="718184" y="47625"/>
                  </a:lnTo>
                  <a:lnTo>
                    <a:pt x="762634" y="47625"/>
                  </a:lnTo>
                  <a:lnTo>
                    <a:pt x="781684" y="38100"/>
                  </a:lnTo>
                  <a:lnTo>
                    <a:pt x="762634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D8C697CF-68D2-234D-0DA6-C706AA3F61E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9176" y="2103120"/>
              <a:ext cx="717804" cy="1325879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FC1995E-3C2D-7BDB-9D33-34E214DD6634}"/>
                </a:ext>
              </a:extLst>
            </p:cNvPr>
            <p:cNvSpPr/>
            <p:nvPr/>
          </p:nvSpPr>
          <p:spPr>
            <a:xfrm>
              <a:off x="1789176" y="2103120"/>
              <a:ext cx="718185" cy="1325880"/>
            </a:xfrm>
            <a:custGeom>
              <a:avLst/>
              <a:gdLst/>
              <a:ahLst/>
              <a:cxnLst/>
              <a:rect l="l" t="t" r="r" b="b"/>
              <a:pathLst>
                <a:path w="718185" h="1325879">
                  <a:moveTo>
                    <a:pt x="0" y="442975"/>
                  </a:moveTo>
                  <a:lnTo>
                    <a:pt x="442975" y="0"/>
                  </a:lnTo>
                  <a:lnTo>
                    <a:pt x="717804" y="0"/>
                  </a:lnTo>
                  <a:lnTo>
                    <a:pt x="717804" y="882903"/>
                  </a:lnTo>
                  <a:lnTo>
                    <a:pt x="274828" y="1325879"/>
                  </a:lnTo>
                  <a:lnTo>
                    <a:pt x="0" y="1325879"/>
                  </a:lnTo>
                  <a:lnTo>
                    <a:pt x="0" y="442975"/>
                  </a:lnTo>
                  <a:close/>
                </a:path>
                <a:path w="718185" h="1325879">
                  <a:moveTo>
                    <a:pt x="0" y="442975"/>
                  </a:moveTo>
                  <a:lnTo>
                    <a:pt x="274828" y="442975"/>
                  </a:lnTo>
                  <a:lnTo>
                    <a:pt x="717804" y="0"/>
                  </a:lnTo>
                </a:path>
                <a:path w="718185" h="1325879">
                  <a:moveTo>
                    <a:pt x="274828" y="442975"/>
                  </a:moveTo>
                  <a:lnTo>
                    <a:pt x="274828" y="1325879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429B3FD-59CE-408F-F46A-CEF32483603B}"/>
                </a:ext>
              </a:extLst>
            </p:cNvPr>
            <p:cNvSpPr/>
            <p:nvPr/>
          </p:nvSpPr>
          <p:spPr>
            <a:xfrm>
              <a:off x="2318766" y="2748533"/>
              <a:ext cx="781685" cy="76200"/>
            </a:xfrm>
            <a:custGeom>
              <a:avLst/>
              <a:gdLst/>
              <a:ahLst/>
              <a:cxnLst/>
              <a:rect l="l" t="t" r="r" b="b"/>
              <a:pathLst>
                <a:path w="781685" h="76200">
                  <a:moveTo>
                    <a:pt x="705484" y="0"/>
                  </a:moveTo>
                  <a:lnTo>
                    <a:pt x="705484" y="76200"/>
                  </a:lnTo>
                  <a:lnTo>
                    <a:pt x="762634" y="47625"/>
                  </a:lnTo>
                  <a:lnTo>
                    <a:pt x="718184" y="47625"/>
                  </a:lnTo>
                  <a:lnTo>
                    <a:pt x="718184" y="28575"/>
                  </a:lnTo>
                  <a:lnTo>
                    <a:pt x="762634" y="28575"/>
                  </a:lnTo>
                  <a:lnTo>
                    <a:pt x="705484" y="0"/>
                  </a:lnTo>
                  <a:close/>
                </a:path>
                <a:path w="781685" h="76200">
                  <a:moveTo>
                    <a:pt x="70548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05484" y="47625"/>
                  </a:lnTo>
                  <a:lnTo>
                    <a:pt x="705484" y="28575"/>
                  </a:lnTo>
                  <a:close/>
                </a:path>
                <a:path w="781685" h="76200">
                  <a:moveTo>
                    <a:pt x="762634" y="28575"/>
                  </a:moveTo>
                  <a:lnTo>
                    <a:pt x="718184" y="28575"/>
                  </a:lnTo>
                  <a:lnTo>
                    <a:pt x="718184" y="47625"/>
                  </a:lnTo>
                  <a:lnTo>
                    <a:pt x="762634" y="47625"/>
                  </a:lnTo>
                  <a:lnTo>
                    <a:pt x="781684" y="38100"/>
                  </a:lnTo>
                  <a:lnTo>
                    <a:pt x="762634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279B40F3-686F-6255-5A4E-56BA5562790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0903" y="2310383"/>
              <a:ext cx="877823" cy="911351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CFB321C-7871-ABB7-B1DB-F90D9ED79AF8}"/>
                </a:ext>
              </a:extLst>
            </p:cNvPr>
            <p:cNvSpPr/>
            <p:nvPr/>
          </p:nvSpPr>
          <p:spPr>
            <a:xfrm>
              <a:off x="2660903" y="2310383"/>
              <a:ext cx="878205" cy="911860"/>
            </a:xfrm>
            <a:custGeom>
              <a:avLst/>
              <a:gdLst/>
              <a:ahLst/>
              <a:cxnLst/>
              <a:rect l="l" t="t" r="r" b="b"/>
              <a:pathLst>
                <a:path w="878204" h="911860">
                  <a:moveTo>
                    <a:pt x="0" y="311530"/>
                  </a:moveTo>
                  <a:lnTo>
                    <a:pt x="311531" y="0"/>
                  </a:lnTo>
                  <a:lnTo>
                    <a:pt x="877823" y="0"/>
                  </a:lnTo>
                  <a:lnTo>
                    <a:pt x="877823" y="599820"/>
                  </a:lnTo>
                  <a:lnTo>
                    <a:pt x="566293" y="911351"/>
                  </a:lnTo>
                  <a:lnTo>
                    <a:pt x="0" y="911351"/>
                  </a:lnTo>
                  <a:lnTo>
                    <a:pt x="0" y="311530"/>
                  </a:lnTo>
                  <a:close/>
                </a:path>
                <a:path w="878204" h="911860">
                  <a:moveTo>
                    <a:pt x="0" y="311530"/>
                  </a:moveTo>
                  <a:lnTo>
                    <a:pt x="566293" y="311530"/>
                  </a:lnTo>
                  <a:lnTo>
                    <a:pt x="877823" y="0"/>
                  </a:lnTo>
                </a:path>
                <a:path w="878204" h="911860">
                  <a:moveTo>
                    <a:pt x="566293" y="311530"/>
                  </a:moveTo>
                  <a:lnTo>
                    <a:pt x="566293" y="911351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C8D2BCA-3B7F-F366-8593-C13CA004EC0C}"/>
                </a:ext>
              </a:extLst>
            </p:cNvPr>
            <p:cNvSpPr/>
            <p:nvPr/>
          </p:nvSpPr>
          <p:spPr>
            <a:xfrm>
              <a:off x="3408425" y="2748533"/>
              <a:ext cx="781685" cy="76200"/>
            </a:xfrm>
            <a:custGeom>
              <a:avLst/>
              <a:gdLst/>
              <a:ahLst/>
              <a:cxnLst/>
              <a:rect l="l" t="t" r="r" b="b"/>
              <a:pathLst>
                <a:path w="781685" h="76200">
                  <a:moveTo>
                    <a:pt x="705485" y="0"/>
                  </a:moveTo>
                  <a:lnTo>
                    <a:pt x="705485" y="76200"/>
                  </a:lnTo>
                  <a:lnTo>
                    <a:pt x="762635" y="47625"/>
                  </a:lnTo>
                  <a:lnTo>
                    <a:pt x="718185" y="47625"/>
                  </a:lnTo>
                  <a:lnTo>
                    <a:pt x="718185" y="28575"/>
                  </a:lnTo>
                  <a:lnTo>
                    <a:pt x="762635" y="28575"/>
                  </a:lnTo>
                  <a:lnTo>
                    <a:pt x="705485" y="0"/>
                  </a:lnTo>
                  <a:close/>
                </a:path>
                <a:path w="781685" h="76200">
                  <a:moveTo>
                    <a:pt x="705485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05485" y="47625"/>
                  </a:lnTo>
                  <a:lnTo>
                    <a:pt x="705485" y="28575"/>
                  </a:lnTo>
                  <a:close/>
                </a:path>
                <a:path w="781685" h="76200">
                  <a:moveTo>
                    <a:pt x="762635" y="28575"/>
                  </a:moveTo>
                  <a:lnTo>
                    <a:pt x="718185" y="28575"/>
                  </a:lnTo>
                  <a:lnTo>
                    <a:pt x="718185" y="47625"/>
                  </a:lnTo>
                  <a:lnTo>
                    <a:pt x="762635" y="47625"/>
                  </a:lnTo>
                  <a:lnTo>
                    <a:pt x="781685" y="38100"/>
                  </a:lnTo>
                  <a:lnTo>
                    <a:pt x="762635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93050C3D-9E38-8F52-3F7B-F022D24952B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06368" y="2526791"/>
              <a:ext cx="716280" cy="457200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5A002401-FA5D-FD37-9A60-EC6796A7B34D}"/>
                </a:ext>
              </a:extLst>
            </p:cNvPr>
            <p:cNvSpPr/>
            <p:nvPr/>
          </p:nvSpPr>
          <p:spPr>
            <a:xfrm>
              <a:off x="3706368" y="2526791"/>
              <a:ext cx="716280" cy="457200"/>
            </a:xfrm>
            <a:custGeom>
              <a:avLst/>
              <a:gdLst/>
              <a:ahLst/>
              <a:cxnLst/>
              <a:rect l="l" t="t" r="r" b="b"/>
              <a:pathLst>
                <a:path w="716279" h="457200">
                  <a:moveTo>
                    <a:pt x="0" y="176784"/>
                  </a:moveTo>
                  <a:lnTo>
                    <a:pt x="176784" y="0"/>
                  </a:lnTo>
                  <a:lnTo>
                    <a:pt x="716280" y="0"/>
                  </a:lnTo>
                  <a:lnTo>
                    <a:pt x="716280" y="280416"/>
                  </a:lnTo>
                  <a:lnTo>
                    <a:pt x="539496" y="457200"/>
                  </a:lnTo>
                  <a:lnTo>
                    <a:pt x="0" y="457200"/>
                  </a:lnTo>
                  <a:lnTo>
                    <a:pt x="0" y="176784"/>
                  </a:lnTo>
                  <a:close/>
                </a:path>
                <a:path w="716279" h="457200">
                  <a:moveTo>
                    <a:pt x="0" y="176784"/>
                  </a:moveTo>
                  <a:lnTo>
                    <a:pt x="539496" y="176784"/>
                  </a:lnTo>
                  <a:lnTo>
                    <a:pt x="716280" y="0"/>
                  </a:lnTo>
                </a:path>
                <a:path w="716279" h="457200">
                  <a:moveTo>
                    <a:pt x="539496" y="176784"/>
                  </a:moveTo>
                  <a:lnTo>
                    <a:pt x="539496" y="457200"/>
                  </a:lnTo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0FE11F3F-E38E-008B-B97C-8D7C0484CBB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64380" y="2310383"/>
              <a:ext cx="214884" cy="911351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D427CBAE-0919-5B5B-F1BF-F5A5F8E013E7}"/>
                </a:ext>
              </a:extLst>
            </p:cNvPr>
            <p:cNvSpPr/>
            <p:nvPr/>
          </p:nvSpPr>
          <p:spPr>
            <a:xfrm>
              <a:off x="4564380" y="2310383"/>
              <a:ext cx="215265" cy="911860"/>
            </a:xfrm>
            <a:custGeom>
              <a:avLst/>
              <a:gdLst/>
              <a:ahLst/>
              <a:cxnLst/>
              <a:rect l="l" t="t" r="r" b="b"/>
              <a:pathLst>
                <a:path w="215264" h="911860">
                  <a:moveTo>
                    <a:pt x="0" y="911351"/>
                  </a:moveTo>
                  <a:lnTo>
                    <a:pt x="214884" y="911351"/>
                  </a:lnTo>
                  <a:lnTo>
                    <a:pt x="214884" y="0"/>
                  </a:lnTo>
                  <a:lnTo>
                    <a:pt x="0" y="0"/>
                  </a:lnTo>
                  <a:lnTo>
                    <a:pt x="0" y="911351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9372A0FF-9F4D-8E0F-A952-ACCDBC3FA07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13682" y="2748533"/>
              <a:ext cx="246252" cy="76200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56EB63C-DF80-7F64-D896-EB479AFBC968}"/>
                </a:ext>
              </a:extLst>
            </p:cNvPr>
            <p:cNvSpPr/>
            <p:nvPr/>
          </p:nvSpPr>
          <p:spPr>
            <a:xfrm>
              <a:off x="4812157" y="2416682"/>
              <a:ext cx="541020" cy="652145"/>
            </a:xfrm>
            <a:custGeom>
              <a:avLst/>
              <a:gdLst/>
              <a:ahLst/>
              <a:cxnLst/>
              <a:rect l="l" t="t" r="r" b="b"/>
              <a:pathLst>
                <a:path w="541020" h="652144">
                  <a:moveTo>
                    <a:pt x="539369" y="2667"/>
                  </a:moveTo>
                  <a:lnTo>
                    <a:pt x="454279" y="0"/>
                  </a:lnTo>
                  <a:lnTo>
                    <a:pt x="466255" y="26022"/>
                  </a:lnTo>
                  <a:lnTo>
                    <a:pt x="6604" y="238252"/>
                  </a:lnTo>
                  <a:lnTo>
                    <a:pt x="14478" y="255651"/>
                  </a:lnTo>
                  <a:lnTo>
                    <a:pt x="474218" y="43319"/>
                  </a:lnTo>
                  <a:lnTo>
                    <a:pt x="486156" y="69215"/>
                  </a:lnTo>
                  <a:lnTo>
                    <a:pt x="524941" y="20701"/>
                  </a:lnTo>
                  <a:lnTo>
                    <a:pt x="539369" y="2667"/>
                  </a:lnTo>
                  <a:close/>
                </a:path>
                <a:path w="541020" h="652144">
                  <a:moveTo>
                    <a:pt x="540639" y="639191"/>
                  </a:moveTo>
                  <a:lnTo>
                    <a:pt x="530021" y="628777"/>
                  </a:lnTo>
                  <a:lnTo>
                    <a:pt x="479806" y="579501"/>
                  </a:lnTo>
                  <a:lnTo>
                    <a:pt x="471030" y="606729"/>
                  </a:lnTo>
                  <a:lnTo>
                    <a:pt x="5842" y="456946"/>
                  </a:lnTo>
                  <a:lnTo>
                    <a:pt x="0" y="474980"/>
                  </a:lnTo>
                  <a:lnTo>
                    <a:pt x="465175" y="624890"/>
                  </a:lnTo>
                  <a:lnTo>
                    <a:pt x="456438" y="652018"/>
                  </a:lnTo>
                  <a:lnTo>
                    <a:pt x="540639" y="639191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>
            <a:extLst>
              <a:ext uri="{FF2B5EF4-FFF2-40B4-BE49-F238E27FC236}">
                <a16:creationId xmlns:a16="http://schemas.microsoft.com/office/drawing/2014/main" id="{8D243D3F-FBCB-274E-38FB-413B21E4142E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94403" y="4271771"/>
            <a:ext cx="1196339" cy="259080"/>
          </a:xfrm>
          <a:prstGeom prst="rect">
            <a:avLst/>
          </a:prstGeom>
        </p:spPr>
      </p:pic>
      <p:grpSp>
        <p:nvGrpSpPr>
          <p:cNvPr id="23" name="object 23">
            <a:extLst>
              <a:ext uri="{FF2B5EF4-FFF2-40B4-BE49-F238E27FC236}">
                <a16:creationId xmlns:a16="http://schemas.microsoft.com/office/drawing/2014/main" id="{148DC1ED-DE07-0616-98B9-615FF92DDA08}"/>
              </a:ext>
            </a:extLst>
          </p:cNvPr>
          <p:cNvGrpSpPr/>
          <p:nvPr/>
        </p:nvGrpSpPr>
        <p:grpSpPr>
          <a:xfrm>
            <a:off x="5336921" y="3989704"/>
            <a:ext cx="221615" cy="828040"/>
            <a:chOff x="5336921" y="3989704"/>
            <a:chExt cx="221615" cy="828040"/>
          </a:xfrm>
        </p:grpSpPr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3FD51A93-C0EF-EBB6-1A92-5E8D7E4A832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0096" y="3992879"/>
              <a:ext cx="214884" cy="821436"/>
            </a:xfrm>
            <a:prstGeom prst="rect">
              <a:avLst/>
            </a:prstGeom>
          </p:spPr>
        </p:pic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8681C10C-3A62-756E-9734-0598FFA1BC6D}"/>
                </a:ext>
              </a:extLst>
            </p:cNvPr>
            <p:cNvSpPr/>
            <p:nvPr/>
          </p:nvSpPr>
          <p:spPr>
            <a:xfrm>
              <a:off x="5340096" y="3992879"/>
              <a:ext cx="215265" cy="821690"/>
            </a:xfrm>
            <a:custGeom>
              <a:avLst/>
              <a:gdLst/>
              <a:ahLst/>
              <a:cxnLst/>
              <a:rect l="l" t="t" r="r" b="b"/>
              <a:pathLst>
                <a:path w="215264" h="821689">
                  <a:moveTo>
                    <a:pt x="0" y="821436"/>
                  </a:moveTo>
                  <a:lnTo>
                    <a:pt x="214884" y="821436"/>
                  </a:lnTo>
                  <a:lnTo>
                    <a:pt x="214884" y="0"/>
                  </a:lnTo>
                  <a:lnTo>
                    <a:pt x="0" y="0"/>
                  </a:lnTo>
                  <a:lnTo>
                    <a:pt x="0" y="821436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>
            <a:extLst>
              <a:ext uri="{FF2B5EF4-FFF2-40B4-BE49-F238E27FC236}">
                <a16:creationId xmlns:a16="http://schemas.microsoft.com/office/drawing/2014/main" id="{9C1E82A6-2A34-7400-8BB7-A13E4924999A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334000" y="3706367"/>
            <a:ext cx="227075" cy="149351"/>
          </a:xfrm>
          <a:prstGeom prst="rect">
            <a:avLst/>
          </a:prstGeom>
        </p:spPr>
      </p:pic>
      <p:pic>
        <p:nvPicPr>
          <p:cNvPr id="27" name="object 27">
            <a:extLst>
              <a:ext uri="{FF2B5EF4-FFF2-40B4-BE49-F238E27FC236}">
                <a16:creationId xmlns:a16="http://schemas.microsoft.com/office/drawing/2014/main" id="{B0BC82FD-15E0-CDC3-69F5-D8045E5CA143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38661" y="1600200"/>
            <a:ext cx="233082" cy="166115"/>
          </a:xfrm>
          <a:prstGeom prst="rect">
            <a:avLst/>
          </a:prstGeom>
        </p:spPr>
      </p:pic>
      <p:grpSp>
        <p:nvGrpSpPr>
          <p:cNvPr id="28" name="object 28">
            <a:extLst>
              <a:ext uri="{FF2B5EF4-FFF2-40B4-BE49-F238E27FC236}">
                <a16:creationId xmlns:a16="http://schemas.microsoft.com/office/drawing/2014/main" id="{BCB1B704-5938-F2CB-EE2A-BF48C8E33D51}"/>
              </a:ext>
            </a:extLst>
          </p:cNvPr>
          <p:cNvGrpSpPr/>
          <p:nvPr/>
        </p:nvGrpSpPr>
        <p:grpSpPr>
          <a:xfrm>
            <a:off x="5637276" y="3260216"/>
            <a:ext cx="725805" cy="792480"/>
            <a:chOff x="5637276" y="3260216"/>
            <a:chExt cx="725805" cy="792480"/>
          </a:xfrm>
        </p:grpSpPr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C66D01D2-DA56-E745-7461-B19F506885B7}"/>
                </a:ext>
              </a:extLst>
            </p:cNvPr>
            <p:cNvSpPr/>
            <p:nvPr/>
          </p:nvSpPr>
          <p:spPr>
            <a:xfrm>
              <a:off x="5958840" y="3646931"/>
              <a:ext cx="398145" cy="399415"/>
            </a:xfrm>
            <a:custGeom>
              <a:avLst/>
              <a:gdLst/>
              <a:ahLst/>
              <a:cxnLst/>
              <a:rect l="l" t="t" r="r" b="b"/>
              <a:pathLst>
                <a:path w="398145" h="399414">
                  <a:moveTo>
                    <a:pt x="0" y="199644"/>
                  </a:moveTo>
                  <a:lnTo>
                    <a:pt x="5251" y="153875"/>
                  </a:lnTo>
                  <a:lnTo>
                    <a:pt x="20211" y="111856"/>
                  </a:lnTo>
                  <a:lnTo>
                    <a:pt x="43687" y="74787"/>
                  </a:lnTo>
                  <a:lnTo>
                    <a:pt x="74484" y="43867"/>
                  </a:lnTo>
                  <a:lnTo>
                    <a:pt x="111411" y="20296"/>
                  </a:lnTo>
                  <a:lnTo>
                    <a:pt x="153275" y="5274"/>
                  </a:lnTo>
                  <a:lnTo>
                    <a:pt x="198882" y="0"/>
                  </a:lnTo>
                  <a:lnTo>
                    <a:pt x="244488" y="5274"/>
                  </a:lnTo>
                  <a:lnTo>
                    <a:pt x="286352" y="20296"/>
                  </a:lnTo>
                  <a:lnTo>
                    <a:pt x="323279" y="43867"/>
                  </a:lnTo>
                  <a:lnTo>
                    <a:pt x="354076" y="74787"/>
                  </a:lnTo>
                  <a:lnTo>
                    <a:pt x="377552" y="111856"/>
                  </a:lnTo>
                  <a:lnTo>
                    <a:pt x="392512" y="153875"/>
                  </a:lnTo>
                  <a:lnTo>
                    <a:pt x="397763" y="199644"/>
                  </a:lnTo>
                  <a:lnTo>
                    <a:pt x="392512" y="245412"/>
                  </a:lnTo>
                  <a:lnTo>
                    <a:pt x="377552" y="287431"/>
                  </a:lnTo>
                  <a:lnTo>
                    <a:pt x="354076" y="324500"/>
                  </a:lnTo>
                  <a:lnTo>
                    <a:pt x="323279" y="355420"/>
                  </a:lnTo>
                  <a:lnTo>
                    <a:pt x="286352" y="378991"/>
                  </a:lnTo>
                  <a:lnTo>
                    <a:pt x="244488" y="394013"/>
                  </a:lnTo>
                  <a:lnTo>
                    <a:pt x="198882" y="399288"/>
                  </a:lnTo>
                  <a:lnTo>
                    <a:pt x="153275" y="394013"/>
                  </a:lnTo>
                  <a:lnTo>
                    <a:pt x="111411" y="378991"/>
                  </a:lnTo>
                  <a:lnTo>
                    <a:pt x="74484" y="355420"/>
                  </a:lnTo>
                  <a:lnTo>
                    <a:pt x="43687" y="324500"/>
                  </a:lnTo>
                  <a:lnTo>
                    <a:pt x="20211" y="287431"/>
                  </a:lnTo>
                  <a:lnTo>
                    <a:pt x="5251" y="245412"/>
                  </a:lnTo>
                  <a:lnTo>
                    <a:pt x="0" y="19964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>
              <a:extLst>
                <a:ext uri="{FF2B5EF4-FFF2-40B4-BE49-F238E27FC236}">
                  <a16:creationId xmlns:a16="http://schemas.microsoft.com/office/drawing/2014/main" id="{C4068D5A-E805-6119-8F40-F988C26F1A8B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00747" y="3794759"/>
              <a:ext cx="118696" cy="121919"/>
            </a:xfrm>
            <a:prstGeom prst="rect">
              <a:avLst/>
            </a:prstGeom>
          </p:spPr>
        </p:pic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68FE1220-761E-B8B1-4CFF-F0C393BB30B0}"/>
                </a:ext>
              </a:extLst>
            </p:cNvPr>
            <p:cNvSpPr/>
            <p:nvPr/>
          </p:nvSpPr>
          <p:spPr>
            <a:xfrm>
              <a:off x="5637276" y="3260216"/>
              <a:ext cx="518795" cy="351155"/>
            </a:xfrm>
            <a:custGeom>
              <a:avLst/>
              <a:gdLst/>
              <a:ahLst/>
              <a:cxnLst/>
              <a:rect l="l" t="t" r="r" b="b"/>
              <a:pathLst>
                <a:path w="518795" h="351154">
                  <a:moveTo>
                    <a:pt x="473266" y="281754"/>
                  </a:moveTo>
                  <a:lnTo>
                    <a:pt x="446277" y="290830"/>
                  </a:lnTo>
                  <a:lnTo>
                    <a:pt x="506729" y="350901"/>
                  </a:lnTo>
                  <a:lnTo>
                    <a:pt x="514648" y="293750"/>
                  </a:lnTo>
                  <a:lnTo>
                    <a:pt x="477393" y="293750"/>
                  </a:lnTo>
                  <a:lnTo>
                    <a:pt x="473266" y="281754"/>
                  </a:lnTo>
                  <a:close/>
                </a:path>
                <a:path w="518795" h="351154">
                  <a:moveTo>
                    <a:pt x="491368" y="275667"/>
                  </a:moveTo>
                  <a:lnTo>
                    <a:pt x="473266" y="281754"/>
                  </a:lnTo>
                  <a:lnTo>
                    <a:pt x="477393" y="293750"/>
                  </a:lnTo>
                  <a:lnTo>
                    <a:pt x="495426" y="287655"/>
                  </a:lnTo>
                  <a:lnTo>
                    <a:pt x="491368" y="275667"/>
                  </a:lnTo>
                  <a:close/>
                </a:path>
                <a:path w="518795" h="351154">
                  <a:moveTo>
                    <a:pt x="518413" y="266573"/>
                  </a:moveTo>
                  <a:lnTo>
                    <a:pt x="491368" y="275667"/>
                  </a:lnTo>
                  <a:lnTo>
                    <a:pt x="495426" y="287655"/>
                  </a:lnTo>
                  <a:lnTo>
                    <a:pt x="477393" y="293750"/>
                  </a:lnTo>
                  <a:lnTo>
                    <a:pt x="514648" y="293750"/>
                  </a:lnTo>
                  <a:lnTo>
                    <a:pt x="518413" y="266573"/>
                  </a:lnTo>
                  <a:close/>
                </a:path>
                <a:path w="518795" h="351154">
                  <a:moveTo>
                    <a:pt x="478264" y="241554"/>
                  </a:moveTo>
                  <a:lnTo>
                    <a:pt x="457835" y="241554"/>
                  </a:lnTo>
                  <a:lnTo>
                    <a:pt x="472186" y="278257"/>
                  </a:lnTo>
                  <a:lnTo>
                    <a:pt x="473266" y="281754"/>
                  </a:lnTo>
                  <a:lnTo>
                    <a:pt x="491368" y="275667"/>
                  </a:lnTo>
                  <a:lnTo>
                    <a:pt x="489965" y="271525"/>
                  </a:lnTo>
                  <a:lnTo>
                    <a:pt x="478264" y="241554"/>
                  </a:lnTo>
                  <a:close/>
                </a:path>
                <a:path w="518795" h="351154">
                  <a:moveTo>
                    <a:pt x="471932" y="277875"/>
                  </a:moveTo>
                  <a:lnTo>
                    <a:pt x="472063" y="278257"/>
                  </a:lnTo>
                  <a:lnTo>
                    <a:pt x="471932" y="277875"/>
                  </a:lnTo>
                  <a:close/>
                </a:path>
                <a:path w="518795" h="351154">
                  <a:moveTo>
                    <a:pt x="463140" y="207137"/>
                  </a:moveTo>
                  <a:lnTo>
                    <a:pt x="441960" y="207137"/>
                  </a:lnTo>
                  <a:lnTo>
                    <a:pt x="442087" y="207391"/>
                  </a:lnTo>
                  <a:lnTo>
                    <a:pt x="450341" y="224409"/>
                  </a:lnTo>
                  <a:lnTo>
                    <a:pt x="457962" y="241935"/>
                  </a:lnTo>
                  <a:lnTo>
                    <a:pt x="457835" y="241554"/>
                  </a:lnTo>
                  <a:lnTo>
                    <a:pt x="478264" y="241554"/>
                  </a:lnTo>
                  <a:lnTo>
                    <a:pt x="475488" y="234442"/>
                  </a:lnTo>
                  <a:lnTo>
                    <a:pt x="467613" y="216281"/>
                  </a:lnTo>
                  <a:lnTo>
                    <a:pt x="463140" y="207137"/>
                  </a:lnTo>
                  <a:close/>
                </a:path>
                <a:path w="518795" h="351154">
                  <a:moveTo>
                    <a:pt x="450214" y="224155"/>
                  </a:moveTo>
                  <a:lnTo>
                    <a:pt x="450325" y="224409"/>
                  </a:lnTo>
                  <a:lnTo>
                    <a:pt x="450214" y="224155"/>
                  </a:lnTo>
                  <a:close/>
                </a:path>
                <a:path w="518795" h="351154">
                  <a:moveTo>
                    <a:pt x="442042" y="207308"/>
                  </a:moveTo>
                  <a:close/>
                </a:path>
                <a:path w="518795" h="351154">
                  <a:moveTo>
                    <a:pt x="454738" y="190627"/>
                  </a:moveTo>
                  <a:lnTo>
                    <a:pt x="433197" y="190627"/>
                  </a:lnTo>
                  <a:lnTo>
                    <a:pt x="442042" y="207308"/>
                  </a:lnTo>
                  <a:lnTo>
                    <a:pt x="441960" y="207137"/>
                  </a:lnTo>
                  <a:lnTo>
                    <a:pt x="463140" y="207137"/>
                  </a:lnTo>
                  <a:lnTo>
                    <a:pt x="458977" y="198628"/>
                  </a:lnTo>
                  <a:lnTo>
                    <a:pt x="454738" y="190627"/>
                  </a:lnTo>
                  <a:close/>
                </a:path>
                <a:path w="518795" h="351154">
                  <a:moveTo>
                    <a:pt x="445953" y="174879"/>
                  </a:moveTo>
                  <a:lnTo>
                    <a:pt x="423925" y="174879"/>
                  </a:lnTo>
                  <a:lnTo>
                    <a:pt x="424179" y="175260"/>
                  </a:lnTo>
                  <a:lnTo>
                    <a:pt x="433450" y="191135"/>
                  </a:lnTo>
                  <a:lnTo>
                    <a:pt x="433197" y="190627"/>
                  </a:lnTo>
                  <a:lnTo>
                    <a:pt x="454738" y="190627"/>
                  </a:lnTo>
                  <a:lnTo>
                    <a:pt x="449961" y="181610"/>
                  </a:lnTo>
                  <a:lnTo>
                    <a:pt x="445953" y="174879"/>
                  </a:lnTo>
                  <a:close/>
                </a:path>
                <a:path w="518795" h="351154">
                  <a:moveTo>
                    <a:pt x="423940" y="174903"/>
                  </a:moveTo>
                  <a:lnTo>
                    <a:pt x="424149" y="175260"/>
                  </a:lnTo>
                  <a:lnTo>
                    <a:pt x="423940" y="174903"/>
                  </a:lnTo>
                  <a:close/>
                </a:path>
                <a:path w="518795" h="351154">
                  <a:moveTo>
                    <a:pt x="436583" y="159766"/>
                  </a:moveTo>
                  <a:lnTo>
                    <a:pt x="413765" y="159766"/>
                  </a:lnTo>
                  <a:lnTo>
                    <a:pt x="423940" y="174903"/>
                  </a:lnTo>
                  <a:lnTo>
                    <a:pt x="445953" y="174879"/>
                  </a:lnTo>
                  <a:lnTo>
                    <a:pt x="440054" y="164973"/>
                  </a:lnTo>
                  <a:lnTo>
                    <a:pt x="436583" y="159766"/>
                  </a:lnTo>
                  <a:close/>
                </a:path>
                <a:path w="518795" h="351154">
                  <a:moveTo>
                    <a:pt x="426720" y="145415"/>
                  </a:moveTo>
                  <a:lnTo>
                    <a:pt x="402971" y="145415"/>
                  </a:lnTo>
                  <a:lnTo>
                    <a:pt x="403351" y="145923"/>
                  </a:lnTo>
                  <a:lnTo>
                    <a:pt x="414020" y="160274"/>
                  </a:lnTo>
                  <a:lnTo>
                    <a:pt x="413765" y="159766"/>
                  </a:lnTo>
                  <a:lnTo>
                    <a:pt x="436583" y="159766"/>
                  </a:lnTo>
                  <a:lnTo>
                    <a:pt x="429387" y="148971"/>
                  </a:lnTo>
                  <a:lnTo>
                    <a:pt x="426720" y="145415"/>
                  </a:lnTo>
                  <a:close/>
                </a:path>
                <a:path w="518795" h="351154">
                  <a:moveTo>
                    <a:pt x="403329" y="145897"/>
                  </a:moveTo>
                  <a:close/>
                </a:path>
                <a:path w="518795" h="351154">
                  <a:moveTo>
                    <a:pt x="405384" y="119253"/>
                  </a:moveTo>
                  <a:lnTo>
                    <a:pt x="378587" y="119253"/>
                  </a:lnTo>
                  <a:lnTo>
                    <a:pt x="379095" y="119761"/>
                  </a:lnTo>
                  <a:lnTo>
                    <a:pt x="391668" y="132461"/>
                  </a:lnTo>
                  <a:lnTo>
                    <a:pt x="403329" y="145897"/>
                  </a:lnTo>
                  <a:lnTo>
                    <a:pt x="402971" y="145415"/>
                  </a:lnTo>
                  <a:lnTo>
                    <a:pt x="426720" y="145415"/>
                  </a:lnTo>
                  <a:lnTo>
                    <a:pt x="417957" y="133731"/>
                  </a:lnTo>
                  <a:lnTo>
                    <a:pt x="405384" y="119253"/>
                  </a:lnTo>
                  <a:close/>
                </a:path>
                <a:path w="518795" h="351154">
                  <a:moveTo>
                    <a:pt x="391160" y="131953"/>
                  </a:moveTo>
                  <a:lnTo>
                    <a:pt x="391603" y="132461"/>
                  </a:lnTo>
                  <a:lnTo>
                    <a:pt x="391160" y="131953"/>
                  </a:lnTo>
                  <a:close/>
                </a:path>
                <a:path w="518795" h="351154">
                  <a:moveTo>
                    <a:pt x="379060" y="119731"/>
                  </a:moveTo>
                  <a:close/>
                </a:path>
                <a:path w="518795" h="351154">
                  <a:moveTo>
                    <a:pt x="393809" y="107569"/>
                  </a:moveTo>
                  <a:lnTo>
                    <a:pt x="364998" y="107569"/>
                  </a:lnTo>
                  <a:lnTo>
                    <a:pt x="365633" y="108077"/>
                  </a:lnTo>
                  <a:lnTo>
                    <a:pt x="379060" y="119731"/>
                  </a:lnTo>
                  <a:lnTo>
                    <a:pt x="378587" y="119253"/>
                  </a:lnTo>
                  <a:lnTo>
                    <a:pt x="405384" y="119253"/>
                  </a:lnTo>
                  <a:lnTo>
                    <a:pt x="393809" y="107569"/>
                  </a:lnTo>
                  <a:close/>
                </a:path>
                <a:path w="518795" h="351154">
                  <a:moveTo>
                    <a:pt x="365319" y="107847"/>
                  </a:moveTo>
                  <a:lnTo>
                    <a:pt x="365585" y="108077"/>
                  </a:lnTo>
                  <a:lnTo>
                    <a:pt x="365319" y="107847"/>
                  </a:lnTo>
                  <a:close/>
                </a:path>
                <a:path w="518795" h="351154">
                  <a:moveTo>
                    <a:pt x="364998" y="107569"/>
                  </a:moveTo>
                  <a:lnTo>
                    <a:pt x="365319" y="107847"/>
                  </a:lnTo>
                  <a:lnTo>
                    <a:pt x="365633" y="108077"/>
                  </a:lnTo>
                  <a:lnTo>
                    <a:pt x="364998" y="107569"/>
                  </a:lnTo>
                  <a:close/>
                </a:path>
                <a:path w="518795" h="351154">
                  <a:moveTo>
                    <a:pt x="369165" y="87122"/>
                  </a:moveTo>
                  <a:lnTo>
                    <a:pt x="334645" y="87122"/>
                  </a:lnTo>
                  <a:lnTo>
                    <a:pt x="335279" y="87503"/>
                  </a:lnTo>
                  <a:lnTo>
                    <a:pt x="351027" y="97282"/>
                  </a:lnTo>
                  <a:lnTo>
                    <a:pt x="365319" y="107847"/>
                  </a:lnTo>
                  <a:lnTo>
                    <a:pt x="364998" y="107569"/>
                  </a:lnTo>
                  <a:lnTo>
                    <a:pt x="393809" y="107569"/>
                  </a:lnTo>
                  <a:lnTo>
                    <a:pt x="391922" y="105663"/>
                  </a:lnTo>
                  <a:lnTo>
                    <a:pt x="377189" y="92963"/>
                  </a:lnTo>
                  <a:lnTo>
                    <a:pt x="369165" y="87122"/>
                  </a:lnTo>
                  <a:close/>
                </a:path>
                <a:path w="518795" h="351154">
                  <a:moveTo>
                    <a:pt x="350393" y="96900"/>
                  </a:moveTo>
                  <a:lnTo>
                    <a:pt x="350912" y="97282"/>
                  </a:lnTo>
                  <a:lnTo>
                    <a:pt x="350393" y="96900"/>
                  </a:lnTo>
                  <a:close/>
                </a:path>
                <a:path w="518795" h="351154">
                  <a:moveTo>
                    <a:pt x="335149" y="87435"/>
                  </a:moveTo>
                  <a:lnTo>
                    <a:pt x="335279" y="87503"/>
                  </a:lnTo>
                  <a:lnTo>
                    <a:pt x="335149" y="87435"/>
                  </a:lnTo>
                  <a:close/>
                </a:path>
                <a:path w="518795" h="351154">
                  <a:moveTo>
                    <a:pt x="356488" y="78359"/>
                  </a:moveTo>
                  <a:lnTo>
                    <a:pt x="317753" y="78359"/>
                  </a:lnTo>
                  <a:lnTo>
                    <a:pt x="318262" y="78612"/>
                  </a:lnTo>
                  <a:lnTo>
                    <a:pt x="335149" y="87435"/>
                  </a:lnTo>
                  <a:lnTo>
                    <a:pt x="334645" y="87122"/>
                  </a:lnTo>
                  <a:lnTo>
                    <a:pt x="369165" y="87122"/>
                  </a:lnTo>
                  <a:lnTo>
                    <a:pt x="361314" y="81407"/>
                  </a:lnTo>
                  <a:lnTo>
                    <a:pt x="356488" y="78359"/>
                  </a:lnTo>
                  <a:close/>
                </a:path>
                <a:path w="518795" h="351154">
                  <a:moveTo>
                    <a:pt x="318129" y="78554"/>
                  </a:moveTo>
                  <a:lnTo>
                    <a:pt x="318262" y="78612"/>
                  </a:lnTo>
                  <a:lnTo>
                    <a:pt x="318129" y="78554"/>
                  </a:lnTo>
                  <a:close/>
                </a:path>
                <a:path w="518795" h="351154">
                  <a:moveTo>
                    <a:pt x="299720" y="70485"/>
                  </a:moveTo>
                  <a:lnTo>
                    <a:pt x="318129" y="78554"/>
                  </a:lnTo>
                  <a:lnTo>
                    <a:pt x="317753" y="78359"/>
                  </a:lnTo>
                  <a:lnTo>
                    <a:pt x="356488" y="78359"/>
                  </a:lnTo>
                  <a:lnTo>
                    <a:pt x="344424" y="70738"/>
                  </a:lnTo>
                  <a:lnTo>
                    <a:pt x="344178" y="70612"/>
                  </a:lnTo>
                  <a:lnTo>
                    <a:pt x="300227" y="70612"/>
                  </a:lnTo>
                  <a:lnTo>
                    <a:pt x="299720" y="70485"/>
                  </a:lnTo>
                  <a:close/>
                </a:path>
                <a:path w="518795" h="351154">
                  <a:moveTo>
                    <a:pt x="329944" y="63246"/>
                  </a:moveTo>
                  <a:lnTo>
                    <a:pt x="280670" y="63246"/>
                  </a:lnTo>
                  <a:lnTo>
                    <a:pt x="300227" y="70612"/>
                  </a:lnTo>
                  <a:lnTo>
                    <a:pt x="344178" y="70612"/>
                  </a:lnTo>
                  <a:lnTo>
                    <a:pt x="329944" y="63246"/>
                  </a:lnTo>
                  <a:close/>
                </a:path>
                <a:path w="518795" h="351154">
                  <a:moveTo>
                    <a:pt x="316160" y="56896"/>
                  </a:moveTo>
                  <a:lnTo>
                    <a:pt x="260603" y="56896"/>
                  </a:lnTo>
                  <a:lnTo>
                    <a:pt x="281177" y="63500"/>
                  </a:lnTo>
                  <a:lnTo>
                    <a:pt x="280670" y="63246"/>
                  </a:lnTo>
                  <a:lnTo>
                    <a:pt x="329944" y="63246"/>
                  </a:lnTo>
                  <a:lnTo>
                    <a:pt x="326263" y="61341"/>
                  </a:lnTo>
                  <a:lnTo>
                    <a:pt x="316160" y="56896"/>
                  </a:lnTo>
                  <a:close/>
                </a:path>
                <a:path w="518795" h="351154">
                  <a:moveTo>
                    <a:pt x="302530" y="51181"/>
                  </a:moveTo>
                  <a:lnTo>
                    <a:pt x="239775" y="51181"/>
                  </a:lnTo>
                  <a:lnTo>
                    <a:pt x="260985" y="57023"/>
                  </a:lnTo>
                  <a:lnTo>
                    <a:pt x="260603" y="56896"/>
                  </a:lnTo>
                  <a:lnTo>
                    <a:pt x="316160" y="56896"/>
                  </a:lnTo>
                  <a:lnTo>
                    <a:pt x="307213" y="52959"/>
                  </a:lnTo>
                  <a:lnTo>
                    <a:pt x="302530" y="51181"/>
                  </a:lnTo>
                  <a:close/>
                </a:path>
                <a:path w="518795" h="351154">
                  <a:moveTo>
                    <a:pt x="289153" y="46100"/>
                  </a:moveTo>
                  <a:lnTo>
                    <a:pt x="218186" y="46100"/>
                  </a:lnTo>
                  <a:lnTo>
                    <a:pt x="240157" y="51308"/>
                  </a:lnTo>
                  <a:lnTo>
                    <a:pt x="239775" y="51181"/>
                  </a:lnTo>
                  <a:lnTo>
                    <a:pt x="302530" y="51181"/>
                  </a:lnTo>
                  <a:lnTo>
                    <a:pt x="289153" y="46100"/>
                  </a:lnTo>
                  <a:close/>
                </a:path>
                <a:path w="518795" h="351154">
                  <a:moveTo>
                    <a:pt x="1524" y="0"/>
                  </a:moveTo>
                  <a:lnTo>
                    <a:pt x="0" y="19050"/>
                  </a:lnTo>
                  <a:lnTo>
                    <a:pt x="50673" y="23368"/>
                  </a:lnTo>
                  <a:lnTo>
                    <a:pt x="100711" y="28194"/>
                  </a:lnTo>
                  <a:lnTo>
                    <a:pt x="100457" y="28194"/>
                  </a:lnTo>
                  <a:lnTo>
                    <a:pt x="149351" y="34162"/>
                  </a:lnTo>
                  <a:lnTo>
                    <a:pt x="149098" y="34162"/>
                  </a:lnTo>
                  <a:lnTo>
                    <a:pt x="172974" y="37719"/>
                  </a:lnTo>
                  <a:lnTo>
                    <a:pt x="172720" y="37719"/>
                  </a:lnTo>
                  <a:lnTo>
                    <a:pt x="196087" y="41656"/>
                  </a:lnTo>
                  <a:lnTo>
                    <a:pt x="195707" y="41656"/>
                  </a:lnTo>
                  <a:lnTo>
                    <a:pt x="218439" y="46228"/>
                  </a:lnTo>
                  <a:lnTo>
                    <a:pt x="218186" y="46100"/>
                  </a:lnTo>
                  <a:lnTo>
                    <a:pt x="289153" y="46100"/>
                  </a:lnTo>
                  <a:lnTo>
                    <a:pt x="244601" y="32766"/>
                  </a:lnTo>
                  <a:lnTo>
                    <a:pt x="199389" y="22987"/>
                  </a:lnTo>
                  <a:lnTo>
                    <a:pt x="151764" y="15367"/>
                  </a:lnTo>
                  <a:lnTo>
                    <a:pt x="102615" y="9271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>
            <a:extLst>
              <a:ext uri="{FF2B5EF4-FFF2-40B4-BE49-F238E27FC236}">
                <a16:creationId xmlns:a16="http://schemas.microsoft.com/office/drawing/2014/main" id="{0A1D6B5C-AAB1-920F-8B03-9B35DA8C553D}"/>
              </a:ext>
            </a:extLst>
          </p:cNvPr>
          <p:cNvSpPr txBox="1"/>
          <p:nvPr/>
        </p:nvSpPr>
        <p:spPr>
          <a:xfrm>
            <a:off x="927608" y="1755139"/>
            <a:ext cx="6311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64x64x3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2A378C1-379A-5E05-D7B0-C45C6BD126AB}"/>
              </a:ext>
            </a:extLst>
          </p:cNvPr>
          <p:cNvSpPr txBox="1"/>
          <p:nvPr/>
        </p:nvSpPr>
        <p:spPr>
          <a:xfrm>
            <a:off x="1150416" y="3329432"/>
            <a:ext cx="57023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5x5x32 </a:t>
            </a:r>
            <a:r>
              <a:rPr sz="1400" spc="-20" dirty="0">
                <a:latin typeface="Calibri"/>
                <a:cs typeface="Calibri"/>
              </a:rPr>
              <a:t>conv </a:t>
            </a:r>
            <a:r>
              <a:rPr sz="1400" dirty="0">
                <a:latin typeface="Calibri"/>
                <a:cs typeface="Calibri"/>
              </a:rPr>
              <a:t>stride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F13FA368-41DD-FDEA-8C76-1E344D5C1931}"/>
              </a:ext>
            </a:extLst>
          </p:cNvPr>
          <p:cNvSpPr txBox="1"/>
          <p:nvPr/>
        </p:nvSpPr>
        <p:spPr>
          <a:xfrm>
            <a:off x="2206244" y="3329432"/>
            <a:ext cx="57023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3x3x64 </a:t>
            </a:r>
            <a:r>
              <a:rPr sz="1400" spc="-20" dirty="0">
                <a:latin typeface="Calibri"/>
                <a:cs typeface="Calibri"/>
              </a:rPr>
              <a:t>conv </a:t>
            </a:r>
            <a:r>
              <a:rPr sz="1400" dirty="0">
                <a:latin typeface="Calibri"/>
                <a:cs typeface="Calibri"/>
              </a:rPr>
              <a:t>stride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349321BE-C481-3E93-1D4D-C0B42AD997CA}"/>
              </a:ext>
            </a:extLst>
          </p:cNvPr>
          <p:cNvSpPr txBox="1"/>
          <p:nvPr/>
        </p:nvSpPr>
        <p:spPr>
          <a:xfrm>
            <a:off x="3238880" y="3333114"/>
            <a:ext cx="63119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3x3x128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20" dirty="0">
                <a:latin typeface="Calibri"/>
                <a:cs typeface="Calibri"/>
              </a:rPr>
              <a:t>conv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stride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F24DC2B-E4CB-AC0A-1418-FFED8FC6BA7F}"/>
              </a:ext>
            </a:extLst>
          </p:cNvPr>
          <p:cNvSpPr txBox="1"/>
          <p:nvPr/>
        </p:nvSpPr>
        <p:spPr>
          <a:xfrm>
            <a:off x="1896236" y="1755139"/>
            <a:ext cx="7219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30x30x32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DDA60389-5E75-A04F-4C7B-25633C57A997}"/>
              </a:ext>
            </a:extLst>
          </p:cNvPr>
          <p:cNvSpPr txBox="1"/>
          <p:nvPr/>
        </p:nvSpPr>
        <p:spPr>
          <a:xfrm>
            <a:off x="2838069" y="1967839"/>
            <a:ext cx="1572895" cy="4794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400" spc="-10" dirty="0">
                <a:latin typeface="Calibri"/>
                <a:cs typeface="Calibri"/>
              </a:rPr>
              <a:t>14x14x64</a:t>
            </a:r>
            <a:endParaRPr sz="1400">
              <a:latin typeface="Calibri"/>
              <a:cs typeface="Calibri"/>
            </a:endParaRPr>
          </a:p>
          <a:p>
            <a:pPr marL="95440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6x6x128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A1F26D2F-A69E-4A24-5D8B-E7EF451273D8}"/>
              </a:ext>
            </a:extLst>
          </p:cNvPr>
          <p:cNvSpPr txBox="1"/>
          <p:nvPr/>
        </p:nvSpPr>
        <p:spPr>
          <a:xfrm>
            <a:off x="4466590" y="3253232"/>
            <a:ext cx="385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1024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5A6D11A5-F91B-16A8-E7DF-6B9600F92283}"/>
              </a:ext>
            </a:extLst>
          </p:cNvPr>
          <p:cNvSpPr txBox="1"/>
          <p:nvPr/>
        </p:nvSpPr>
        <p:spPr>
          <a:xfrm>
            <a:off x="5603240" y="2469007"/>
            <a:ext cx="295275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256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400" spc="-25" dirty="0">
                <a:latin typeface="Calibri"/>
                <a:cs typeface="Calibri"/>
              </a:rPr>
              <a:t>256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A97F64D0-D56F-F406-C00E-2E8AC18DF6F0}"/>
              </a:ext>
            </a:extLst>
          </p:cNvPr>
          <p:cNvSpPr txBox="1"/>
          <p:nvPr/>
        </p:nvSpPr>
        <p:spPr>
          <a:xfrm>
            <a:off x="5650738" y="4592827"/>
            <a:ext cx="2952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256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2F819627-4CAB-6819-E776-81A9B15BF670}"/>
              </a:ext>
            </a:extLst>
          </p:cNvPr>
          <p:cNvSpPr/>
          <p:nvPr/>
        </p:nvSpPr>
        <p:spPr>
          <a:xfrm>
            <a:off x="5637276" y="4098797"/>
            <a:ext cx="517525" cy="332740"/>
          </a:xfrm>
          <a:custGeom>
            <a:avLst/>
            <a:gdLst/>
            <a:ahLst/>
            <a:cxnLst/>
            <a:rect l="l" t="t" r="r" b="b"/>
            <a:pathLst>
              <a:path w="517525" h="332739">
                <a:moveTo>
                  <a:pt x="196087" y="292100"/>
                </a:moveTo>
                <a:lnTo>
                  <a:pt x="172720" y="295909"/>
                </a:lnTo>
                <a:lnTo>
                  <a:pt x="172974" y="295909"/>
                </a:lnTo>
                <a:lnTo>
                  <a:pt x="149225" y="299212"/>
                </a:lnTo>
                <a:lnTo>
                  <a:pt x="100584" y="304800"/>
                </a:lnTo>
                <a:lnTo>
                  <a:pt x="50673" y="309499"/>
                </a:lnTo>
                <a:lnTo>
                  <a:pt x="0" y="313563"/>
                </a:lnTo>
                <a:lnTo>
                  <a:pt x="1524" y="332613"/>
                </a:lnTo>
                <a:lnTo>
                  <a:pt x="102615" y="323850"/>
                </a:lnTo>
                <a:lnTo>
                  <a:pt x="151637" y="318134"/>
                </a:lnTo>
                <a:lnTo>
                  <a:pt x="199262" y="310895"/>
                </a:lnTo>
                <a:lnTo>
                  <a:pt x="244601" y="301625"/>
                </a:lnTo>
                <a:lnTo>
                  <a:pt x="278943" y="292226"/>
                </a:lnTo>
                <a:lnTo>
                  <a:pt x="195834" y="292226"/>
                </a:lnTo>
                <a:lnTo>
                  <a:pt x="196087" y="292100"/>
                </a:lnTo>
                <a:close/>
              </a:path>
              <a:path w="517525" h="332739">
                <a:moveTo>
                  <a:pt x="218566" y="287908"/>
                </a:moveTo>
                <a:lnTo>
                  <a:pt x="195834" y="292226"/>
                </a:lnTo>
                <a:lnTo>
                  <a:pt x="278943" y="292226"/>
                </a:lnTo>
                <a:lnTo>
                  <a:pt x="287020" y="289813"/>
                </a:lnTo>
                <a:lnTo>
                  <a:pt x="292004" y="288035"/>
                </a:lnTo>
                <a:lnTo>
                  <a:pt x="218312" y="288035"/>
                </a:lnTo>
                <a:lnTo>
                  <a:pt x="218566" y="287908"/>
                </a:lnTo>
                <a:close/>
              </a:path>
              <a:path w="517525" h="332739">
                <a:moveTo>
                  <a:pt x="240284" y="283082"/>
                </a:moveTo>
                <a:lnTo>
                  <a:pt x="218312" y="288035"/>
                </a:lnTo>
                <a:lnTo>
                  <a:pt x="292004" y="288035"/>
                </a:lnTo>
                <a:lnTo>
                  <a:pt x="305534" y="283209"/>
                </a:lnTo>
                <a:lnTo>
                  <a:pt x="239902" y="283209"/>
                </a:lnTo>
                <a:lnTo>
                  <a:pt x="240284" y="283082"/>
                </a:lnTo>
                <a:close/>
              </a:path>
              <a:path w="517525" h="332739">
                <a:moveTo>
                  <a:pt x="261112" y="277621"/>
                </a:moveTo>
                <a:lnTo>
                  <a:pt x="239902" y="283209"/>
                </a:lnTo>
                <a:lnTo>
                  <a:pt x="305534" y="283209"/>
                </a:lnTo>
                <a:lnTo>
                  <a:pt x="306959" y="282701"/>
                </a:lnTo>
                <a:lnTo>
                  <a:pt x="318830" y="277749"/>
                </a:lnTo>
                <a:lnTo>
                  <a:pt x="260858" y="277749"/>
                </a:lnTo>
                <a:lnTo>
                  <a:pt x="261112" y="277621"/>
                </a:lnTo>
                <a:close/>
              </a:path>
              <a:path w="517525" h="332739">
                <a:moveTo>
                  <a:pt x="281304" y="271525"/>
                </a:moveTo>
                <a:lnTo>
                  <a:pt x="260858" y="277749"/>
                </a:lnTo>
                <a:lnTo>
                  <a:pt x="318830" y="277749"/>
                </a:lnTo>
                <a:lnTo>
                  <a:pt x="326136" y="274700"/>
                </a:lnTo>
                <a:lnTo>
                  <a:pt x="332061" y="271779"/>
                </a:lnTo>
                <a:lnTo>
                  <a:pt x="280797" y="271779"/>
                </a:lnTo>
                <a:lnTo>
                  <a:pt x="281304" y="271525"/>
                </a:lnTo>
                <a:close/>
              </a:path>
              <a:path w="517525" h="332739">
                <a:moveTo>
                  <a:pt x="345893" y="264794"/>
                </a:moveTo>
                <a:lnTo>
                  <a:pt x="300354" y="264794"/>
                </a:lnTo>
                <a:lnTo>
                  <a:pt x="280797" y="271779"/>
                </a:lnTo>
                <a:lnTo>
                  <a:pt x="332061" y="271779"/>
                </a:lnTo>
                <a:lnTo>
                  <a:pt x="344170" y="265810"/>
                </a:lnTo>
                <a:lnTo>
                  <a:pt x="345893" y="264794"/>
                </a:lnTo>
                <a:close/>
              </a:path>
              <a:path w="517525" h="332739">
                <a:moveTo>
                  <a:pt x="318515" y="257175"/>
                </a:moveTo>
                <a:lnTo>
                  <a:pt x="299847" y="264921"/>
                </a:lnTo>
                <a:lnTo>
                  <a:pt x="300354" y="264794"/>
                </a:lnTo>
                <a:lnTo>
                  <a:pt x="345893" y="264794"/>
                </a:lnTo>
                <a:lnTo>
                  <a:pt x="358172" y="257556"/>
                </a:lnTo>
                <a:lnTo>
                  <a:pt x="317881" y="257556"/>
                </a:lnTo>
                <a:lnTo>
                  <a:pt x="318515" y="257175"/>
                </a:lnTo>
                <a:close/>
              </a:path>
              <a:path w="517525" h="332739">
                <a:moveTo>
                  <a:pt x="335407" y="248793"/>
                </a:moveTo>
                <a:lnTo>
                  <a:pt x="317881" y="257556"/>
                </a:lnTo>
                <a:lnTo>
                  <a:pt x="358172" y="257556"/>
                </a:lnTo>
                <a:lnTo>
                  <a:pt x="361188" y="255777"/>
                </a:lnTo>
                <a:lnTo>
                  <a:pt x="370676" y="249174"/>
                </a:lnTo>
                <a:lnTo>
                  <a:pt x="334899" y="249174"/>
                </a:lnTo>
                <a:lnTo>
                  <a:pt x="335407" y="248793"/>
                </a:lnTo>
                <a:close/>
              </a:path>
              <a:path w="517525" h="332739">
                <a:moveTo>
                  <a:pt x="383433" y="239521"/>
                </a:moveTo>
                <a:lnTo>
                  <a:pt x="351282" y="239521"/>
                </a:lnTo>
                <a:lnTo>
                  <a:pt x="334899" y="249174"/>
                </a:lnTo>
                <a:lnTo>
                  <a:pt x="370676" y="249174"/>
                </a:lnTo>
                <a:lnTo>
                  <a:pt x="377063" y="244728"/>
                </a:lnTo>
                <a:lnTo>
                  <a:pt x="383433" y="239521"/>
                </a:lnTo>
                <a:close/>
              </a:path>
              <a:path w="517525" h="332739">
                <a:moveTo>
                  <a:pt x="395265" y="229362"/>
                </a:moveTo>
                <a:lnTo>
                  <a:pt x="365887" y="229362"/>
                </a:lnTo>
                <a:lnTo>
                  <a:pt x="350714" y="239856"/>
                </a:lnTo>
                <a:lnTo>
                  <a:pt x="351282" y="239521"/>
                </a:lnTo>
                <a:lnTo>
                  <a:pt x="383433" y="239521"/>
                </a:lnTo>
                <a:lnTo>
                  <a:pt x="391668" y="232790"/>
                </a:lnTo>
                <a:lnTo>
                  <a:pt x="395265" y="229362"/>
                </a:lnTo>
                <a:close/>
              </a:path>
              <a:path w="517525" h="332739">
                <a:moveTo>
                  <a:pt x="391795" y="206247"/>
                </a:moveTo>
                <a:lnTo>
                  <a:pt x="378840" y="218820"/>
                </a:lnTo>
                <a:lnTo>
                  <a:pt x="365251" y="229743"/>
                </a:lnTo>
                <a:lnTo>
                  <a:pt x="365887" y="229362"/>
                </a:lnTo>
                <a:lnTo>
                  <a:pt x="395265" y="229362"/>
                </a:lnTo>
                <a:lnTo>
                  <a:pt x="405257" y="219837"/>
                </a:lnTo>
                <a:lnTo>
                  <a:pt x="417247" y="206756"/>
                </a:lnTo>
                <a:lnTo>
                  <a:pt x="391413" y="206756"/>
                </a:lnTo>
                <a:lnTo>
                  <a:pt x="391795" y="206247"/>
                </a:lnTo>
                <a:close/>
              </a:path>
              <a:path w="517525" h="332739">
                <a:moveTo>
                  <a:pt x="379349" y="218312"/>
                </a:moveTo>
                <a:lnTo>
                  <a:pt x="378722" y="218820"/>
                </a:lnTo>
                <a:lnTo>
                  <a:pt x="379349" y="218312"/>
                </a:lnTo>
                <a:close/>
              </a:path>
              <a:path w="517525" h="332739">
                <a:moveTo>
                  <a:pt x="437507" y="179958"/>
                </a:moveTo>
                <a:lnTo>
                  <a:pt x="414274" y="179958"/>
                </a:lnTo>
                <a:lnTo>
                  <a:pt x="413893" y="180466"/>
                </a:lnTo>
                <a:lnTo>
                  <a:pt x="403098" y="194056"/>
                </a:lnTo>
                <a:lnTo>
                  <a:pt x="391413" y="206756"/>
                </a:lnTo>
                <a:lnTo>
                  <a:pt x="417247" y="206756"/>
                </a:lnTo>
                <a:lnTo>
                  <a:pt x="417829" y="206120"/>
                </a:lnTo>
                <a:lnTo>
                  <a:pt x="429260" y="191643"/>
                </a:lnTo>
                <a:lnTo>
                  <a:pt x="437507" y="179958"/>
                </a:lnTo>
                <a:close/>
              </a:path>
              <a:path w="517525" h="332739">
                <a:moveTo>
                  <a:pt x="403478" y="193547"/>
                </a:moveTo>
                <a:lnTo>
                  <a:pt x="403014" y="194056"/>
                </a:lnTo>
                <a:lnTo>
                  <a:pt x="403478" y="193547"/>
                </a:lnTo>
                <a:close/>
              </a:path>
              <a:path w="517525" h="332739">
                <a:moveTo>
                  <a:pt x="414071" y="180213"/>
                </a:moveTo>
                <a:lnTo>
                  <a:pt x="413871" y="180466"/>
                </a:lnTo>
                <a:lnTo>
                  <a:pt x="414071" y="180213"/>
                </a:lnTo>
                <a:close/>
              </a:path>
              <a:path w="517525" h="332739">
                <a:moveTo>
                  <a:pt x="446718" y="165734"/>
                </a:moveTo>
                <a:lnTo>
                  <a:pt x="424307" y="165734"/>
                </a:lnTo>
                <a:lnTo>
                  <a:pt x="414071" y="180213"/>
                </a:lnTo>
                <a:lnTo>
                  <a:pt x="414274" y="179958"/>
                </a:lnTo>
                <a:lnTo>
                  <a:pt x="437507" y="179958"/>
                </a:lnTo>
                <a:lnTo>
                  <a:pt x="439927" y="176529"/>
                </a:lnTo>
                <a:lnTo>
                  <a:pt x="446718" y="165734"/>
                </a:lnTo>
                <a:close/>
              </a:path>
              <a:path w="517525" h="332739">
                <a:moveTo>
                  <a:pt x="455406" y="150875"/>
                </a:moveTo>
                <a:lnTo>
                  <a:pt x="433577" y="150875"/>
                </a:lnTo>
                <a:lnTo>
                  <a:pt x="423925" y="166243"/>
                </a:lnTo>
                <a:lnTo>
                  <a:pt x="424307" y="165734"/>
                </a:lnTo>
                <a:lnTo>
                  <a:pt x="446718" y="165734"/>
                </a:lnTo>
                <a:lnTo>
                  <a:pt x="449834" y="160781"/>
                </a:lnTo>
                <a:lnTo>
                  <a:pt x="455406" y="150875"/>
                </a:lnTo>
                <a:close/>
              </a:path>
              <a:path w="517525" h="332739">
                <a:moveTo>
                  <a:pt x="471457" y="119252"/>
                </a:moveTo>
                <a:lnTo>
                  <a:pt x="450469" y="119252"/>
                </a:lnTo>
                <a:lnTo>
                  <a:pt x="442087" y="135635"/>
                </a:lnTo>
                <a:lnTo>
                  <a:pt x="433324" y="151256"/>
                </a:lnTo>
                <a:lnTo>
                  <a:pt x="433577" y="150875"/>
                </a:lnTo>
                <a:lnTo>
                  <a:pt x="455406" y="150875"/>
                </a:lnTo>
                <a:lnTo>
                  <a:pt x="458977" y="144525"/>
                </a:lnTo>
                <a:lnTo>
                  <a:pt x="467487" y="127762"/>
                </a:lnTo>
                <a:lnTo>
                  <a:pt x="471457" y="119252"/>
                </a:lnTo>
                <a:close/>
              </a:path>
              <a:path w="517525" h="332739">
                <a:moveTo>
                  <a:pt x="442213" y="135381"/>
                </a:moveTo>
                <a:lnTo>
                  <a:pt x="442071" y="135635"/>
                </a:lnTo>
                <a:lnTo>
                  <a:pt x="442213" y="135381"/>
                </a:lnTo>
                <a:close/>
              </a:path>
              <a:path w="517525" h="332739">
                <a:moveTo>
                  <a:pt x="472161" y="68545"/>
                </a:moveTo>
                <a:lnTo>
                  <a:pt x="472059" y="68833"/>
                </a:lnTo>
                <a:lnTo>
                  <a:pt x="457962" y="103124"/>
                </a:lnTo>
                <a:lnTo>
                  <a:pt x="450214" y="119633"/>
                </a:lnTo>
                <a:lnTo>
                  <a:pt x="450469" y="119252"/>
                </a:lnTo>
                <a:lnTo>
                  <a:pt x="471457" y="119252"/>
                </a:lnTo>
                <a:lnTo>
                  <a:pt x="475488" y="110616"/>
                </a:lnTo>
                <a:lnTo>
                  <a:pt x="489965" y="75437"/>
                </a:lnTo>
                <a:lnTo>
                  <a:pt x="490128" y="74968"/>
                </a:lnTo>
                <a:lnTo>
                  <a:pt x="472161" y="68545"/>
                </a:lnTo>
                <a:close/>
              </a:path>
              <a:path w="517525" h="332739">
                <a:moveTo>
                  <a:pt x="458088" y="102743"/>
                </a:moveTo>
                <a:lnTo>
                  <a:pt x="457911" y="103124"/>
                </a:lnTo>
                <a:lnTo>
                  <a:pt x="458088" y="102743"/>
                </a:lnTo>
                <a:close/>
              </a:path>
              <a:path w="517525" h="332739">
                <a:moveTo>
                  <a:pt x="513618" y="56641"/>
                </a:moveTo>
                <a:lnTo>
                  <a:pt x="476376" y="56641"/>
                </a:lnTo>
                <a:lnTo>
                  <a:pt x="494284" y="62991"/>
                </a:lnTo>
                <a:lnTo>
                  <a:pt x="490128" y="74968"/>
                </a:lnTo>
                <a:lnTo>
                  <a:pt x="517016" y="84581"/>
                </a:lnTo>
                <a:lnTo>
                  <a:pt x="513618" y="56641"/>
                </a:lnTo>
                <a:close/>
              </a:path>
              <a:path w="517525" h="332739">
                <a:moveTo>
                  <a:pt x="476376" y="56641"/>
                </a:moveTo>
                <a:lnTo>
                  <a:pt x="472161" y="68545"/>
                </a:lnTo>
                <a:lnTo>
                  <a:pt x="490128" y="74968"/>
                </a:lnTo>
                <a:lnTo>
                  <a:pt x="494284" y="62991"/>
                </a:lnTo>
                <a:lnTo>
                  <a:pt x="476376" y="56641"/>
                </a:lnTo>
                <a:close/>
              </a:path>
              <a:path w="517525" h="332739">
                <a:moveTo>
                  <a:pt x="472104" y="68524"/>
                </a:moveTo>
                <a:lnTo>
                  <a:pt x="471978" y="68833"/>
                </a:lnTo>
                <a:lnTo>
                  <a:pt x="472104" y="68524"/>
                </a:lnTo>
                <a:close/>
              </a:path>
              <a:path w="517525" h="332739">
                <a:moveTo>
                  <a:pt x="472238" y="68325"/>
                </a:moveTo>
                <a:lnTo>
                  <a:pt x="472161" y="68545"/>
                </a:lnTo>
                <a:lnTo>
                  <a:pt x="472238" y="68325"/>
                </a:lnTo>
                <a:close/>
              </a:path>
              <a:path w="517525" h="332739">
                <a:moveTo>
                  <a:pt x="506729" y="0"/>
                </a:moveTo>
                <a:lnTo>
                  <a:pt x="445262" y="58927"/>
                </a:lnTo>
                <a:lnTo>
                  <a:pt x="472104" y="68524"/>
                </a:lnTo>
                <a:lnTo>
                  <a:pt x="472186" y="68325"/>
                </a:lnTo>
                <a:lnTo>
                  <a:pt x="476376" y="56641"/>
                </a:lnTo>
                <a:lnTo>
                  <a:pt x="513618" y="56641"/>
                </a:lnTo>
                <a:lnTo>
                  <a:pt x="5067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530A042-D315-55A5-9F0C-768F0BC50A15}"/>
              </a:ext>
            </a:extLst>
          </p:cNvPr>
          <p:cNvSpPr/>
          <p:nvPr/>
        </p:nvSpPr>
        <p:spPr>
          <a:xfrm>
            <a:off x="5649467" y="2251329"/>
            <a:ext cx="987425" cy="631825"/>
          </a:xfrm>
          <a:custGeom>
            <a:avLst/>
            <a:gdLst/>
            <a:ahLst/>
            <a:cxnLst/>
            <a:rect l="l" t="t" r="r" b="b"/>
            <a:pathLst>
              <a:path w="987425" h="631825">
                <a:moveTo>
                  <a:pt x="942000" y="562476"/>
                </a:moveTo>
                <a:lnTo>
                  <a:pt x="915162" y="571754"/>
                </a:lnTo>
                <a:lnTo>
                  <a:pt x="976122" y="631317"/>
                </a:lnTo>
                <a:lnTo>
                  <a:pt x="983548" y="574548"/>
                </a:lnTo>
                <a:lnTo>
                  <a:pt x="946277" y="574548"/>
                </a:lnTo>
                <a:lnTo>
                  <a:pt x="942000" y="562476"/>
                </a:lnTo>
                <a:close/>
              </a:path>
              <a:path w="987425" h="631825">
                <a:moveTo>
                  <a:pt x="960051" y="556236"/>
                </a:moveTo>
                <a:lnTo>
                  <a:pt x="942000" y="562476"/>
                </a:lnTo>
                <a:lnTo>
                  <a:pt x="946277" y="574548"/>
                </a:lnTo>
                <a:lnTo>
                  <a:pt x="964311" y="568198"/>
                </a:lnTo>
                <a:lnTo>
                  <a:pt x="960051" y="556236"/>
                </a:lnTo>
                <a:close/>
              </a:path>
              <a:path w="987425" h="631825">
                <a:moveTo>
                  <a:pt x="987171" y="546862"/>
                </a:moveTo>
                <a:lnTo>
                  <a:pt x="960051" y="556236"/>
                </a:lnTo>
                <a:lnTo>
                  <a:pt x="964311" y="568198"/>
                </a:lnTo>
                <a:lnTo>
                  <a:pt x="946277" y="574548"/>
                </a:lnTo>
                <a:lnTo>
                  <a:pt x="983548" y="574548"/>
                </a:lnTo>
                <a:lnTo>
                  <a:pt x="987171" y="546862"/>
                </a:lnTo>
                <a:close/>
              </a:path>
              <a:path w="987425" h="631825">
                <a:moveTo>
                  <a:pt x="938024" y="496062"/>
                </a:moveTo>
                <a:lnTo>
                  <a:pt x="917702" y="496062"/>
                </a:lnTo>
                <a:lnTo>
                  <a:pt x="930656" y="530351"/>
                </a:lnTo>
                <a:lnTo>
                  <a:pt x="942000" y="562476"/>
                </a:lnTo>
                <a:lnTo>
                  <a:pt x="960051" y="556236"/>
                </a:lnTo>
                <a:lnTo>
                  <a:pt x="948436" y="523621"/>
                </a:lnTo>
                <a:lnTo>
                  <a:pt x="938024" y="496062"/>
                </a:lnTo>
                <a:close/>
              </a:path>
              <a:path w="987425" h="631825">
                <a:moveTo>
                  <a:pt x="930529" y="530098"/>
                </a:moveTo>
                <a:lnTo>
                  <a:pt x="930618" y="530351"/>
                </a:lnTo>
                <a:lnTo>
                  <a:pt x="930529" y="530098"/>
                </a:lnTo>
                <a:close/>
              </a:path>
              <a:path w="987425" h="631825">
                <a:moveTo>
                  <a:pt x="924843" y="462534"/>
                </a:moveTo>
                <a:lnTo>
                  <a:pt x="904366" y="462534"/>
                </a:lnTo>
                <a:lnTo>
                  <a:pt x="917702" y="496316"/>
                </a:lnTo>
                <a:lnTo>
                  <a:pt x="917702" y="496062"/>
                </a:lnTo>
                <a:lnTo>
                  <a:pt x="938024" y="496062"/>
                </a:lnTo>
                <a:lnTo>
                  <a:pt x="935482" y="489331"/>
                </a:lnTo>
                <a:lnTo>
                  <a:pt x="924843" y="462534"/>
                </a:lnTo>
                <a:close/>
              </a:path>
              <a:path w="987425" h="631825">
                <a:moveTo>
                  <a:pt x="910942" y="429641"/>
                </a:moveTo>
                <a:lnTo>
                  <a:pt x="890270" y="429641"/>
                </a:lnTo>
                <a:lnTo>
                  <a:pt x="904366" y="462788"/>
                </a:lnTo>
                <a:lnTo>
                  <a:pt x="904366" y="462534"/>
                </a:lnTo>
                <a:lnTo>
                  <a:pt x="924843" y="462534"/>
                </a:lnTo>
                <a:lnTo>
                  <a:pt x="922020" y="455422"/>
                </a:lnTo>
                <a:lnTo>
                  <a:pt x="910942" y="429641"/>
                </a:lnTo>
                <a:close/>
              </a:path>
              <a:path w="987425" h="631825">
                <a:moveTo>
                  <a:pt x="896268" y="397510"/>
                </a:moveTo>
                <a:lnTo>
                  <a:pt x="875284" y="397510"/>
                </a:lnTo>
                <a:lnTo>
                  <a:pt x="875411" y="397763"/>
                </a:lnTo>
                <a:lnTo>
                  <a:pt x="890270" y="429895"/>
                </a:lnTo>
                <a:lnTo>
                  <a:pt x="890270" y="429641"/>
                </a:lnTo>
                <a:lnTo>
                  <a:pt x="910942" y="429641"/>
                </a:lnTo>
                <a:lnTo>
                  <a:pt x="907668" y="422021"/>
                </a:lnTo>
                <a:lnTo>
                  <a:pt x="896268" y="397510"/>
                </a:lnTo>
                <a:close/>
              </a:path>
              <a:path w="987425" h="631825">
                <a:moveTo>
                  <a:pt x="875312" y="397572"/>
                </a:moveTo>
                <a:lnTo>
                  <a:pt x="875401" y="397763"/>
                </a:lnTo>
                <a:lnTo>
                  <a:pt x="875312" y="397572"/>
                </a:lnTo>
                <a:close/>
              </a:path>
              <a:path w="987425" h="631825">
                <a:moveTo>
                  <a:pt x="846552" y="306959"/>
                </a:moveTo>
                <a:lnTo>
                  <a:pt x="824103" y="306959"/>
                </a:lnTo>
                <a:lnTo>
                  <a:pt x="824357" y="307340"/>
                </a:lnTo>
                <a:lnTo>
                  <a:pt x="842645" y="336423"/>
                </a:lnTo>
                <a:lnTo>
                  <a:pt x="859536" y="366649"/>
                </a:lnTo>
                <a:lnTo>
                  <a:pt x="875312" y="397572"/>
                </a:lnTo>
                <a:lnTo>
                  <a:pt x="896268" y="397510"/>
                </a:lnTo>
                <a:lnTo>
                  <a:pt x="892429" y="389255"/>
                </a:lnTo>
                <a:lnTo>
                  <a:pt x="876173" y="357505"/>
                </a:lnTo>
                <a:lnTo>
                  <a:pt x="858901" y="326517"/>
                </a:lnTo>
                <a:lnTo>
                  <a:pt x="846552" y="306959"/>
                </a:lnTo>
                <a:close/>
              </a:path>
              <a:path w="987425" h="631825">
                <a:moveTo>
                  <a:pt x="859282" y="366268"/>
                </a:moveTo>
                <a:lnTo>
                  <a:pt x="859477" y="366649"/>
                </a:lnTo>
                <a:lnTo>
                  <a:pt x="859282" y="366268"/>
                </a:lnTo>
                <a:close/>
              </a:path>
              <a:path w="987425" h="631825">
                <a:moveTo>
                  <a:pt x="842391" y="336042"/>
                </a:moveTo>
                <a:lnTo>
                  <a:pt x="842604" y="336423"/>
                </a:lnTo>
                <a:lnTo>
                  <a:pt x="842391" y="336042"/>
                </a:lnTo>
                <a:close/>
              </a:path>
              <a:path w="987425" h="631825">
                <a:moveTo>
                  <a:pt x="824222" y="307149"/>
                </a:moveTo>
                <a:lnTo>
                  <a:pt x="824342" y="307340"/>
                </a:lnTo>
                <a:lnTo>
                  <a:pt x="824222" y="307149"/>
                </a:lnTo>
                <a:close/>
              </a:path>
              <a:path w="987425" h="631825">
                <a:moveTo>
                  <a:pt x="827647" y="279019"/>
                </a:moveTo>
                <a:lnTo>
                  <a:pt x="804418" y="279019"/>
                </a:lnTo>
                <a:lnTo>
                  <a:pt x="804799" y="279526"/>
                </a:lnTo>
                <a:lnTo>
                  <a:pt x="824222" y="307149"/>
                </a:lnTo>
                <a:lnTo>
                  <a:pt x="824103" y="306959"/>
                </a:lnTo>
                <a:lnTo>
                  <a:pt x="846552" y="306959"/>
                </a:lnTo>
                <a:lnTo>
                  <a:pt x="839978" y="296545"/>
                </a:lnTo>
                <a:lnTo>
                  <a:pt x="827647" y="279019"/>
                </a:lnTo>
                <a:close/>
              </a:path>
              <a:path w="987425" h="631825">
                <a:moveTo>
                  <a:pt x="804613" y="279297"/>
                </a:moveTo>
                <a:lnTo>
                  <a:pt x="804775" y="279526"/>
                </a:lnTo>
                <a:lnTo>
                  <a:pt x="804613" y="279297"/>
                </a:lnTo>
                <a:close/>
              </a:path>
              <a:path w="987425" h="631825">
                <a:moveTo>
                  <a:pt x="786060" y="227584"/>
                </a:moveTo>
                <a:lnTo>
                  <a:pt x="760349" y="227584"/>
                </a:lnTo>
                <a:lnTo>
                  <a:pt x="783590" y="253111"/>
                </a:lnTo>
                <a:lnTo>
                  <a:pt x="804613" y="279297"/>
                </a:lnTo>
                <a:lnTo>
                  <a:pt x="804418" y="279019"/>
                </a:lnTo>
                <a:lnTo>
                  <a:pt x="827647" y="279019"/>
                </a:lnTo>
                <a:lnTo>
                  <a:pt x="819785" y="267843"/>
                </a:lnTo>
                <a:lnTo>
                  <a:pt x="797814" y="240537"/>
                </a:lnTo>
                <a:lnTo>
                  <a:pt x="786060" y="227584"/>
                </a:lnTo>
                <a:close/>
              </a:path>
              <a:path w="987425" h="631825">
                <a:moveTo>
                  <a:pt x="783209" y="252730"/>
                </a:moveTo>
                <a:lnTo>
                  <a:pt x="783515" y="253111"/>
                </a:lnTo>
                <a:lnTo>
                  <a:pt x="783209" y="252730"/>
                </a:lnTo>
                <a:close/>
              </a:path>
              <a:path w="987425" h="631825">
                <a:moveTo>
                  <a:pt x="735584" y="204216"/>
                </a:moveTo>
                <a:lnTo>
                  <a:pt x="760730" y="228092"/>
                </a:lnTo>
                <a:lnTo>
                  <a:pt x="760349" y="227584"/>
                </a:lnTo>
                <a:lnTo>
                  <a:pt x="786060" y="227584"/>
                </a:lnTo>
                <a:lnTo>
                  <a:pt x="774192" y="214503"/>
                </a:lnTo>
                <a:lnTo>
                  <a:pt x="763770" y="204597"/>
                </a:lnTo>
                <a:lnTo>
                  <a:pt x="736219" y="204597"/>
                </a:lnTo>
                <a:lnTo>
                  <a:pt x="735584" y="204216"/>
                </a:lnTo>
                <a:close/>
              </a:path>
              <a:path w="987425" h="631825">
                <a:moveTo>
                  <a:pt x="708914" y="182499"/>
                </a:moveTo>
                <a:lnTo>
                  <a:pt x="736219" y="204597"/>
                </a:lnTo>
                <a:lnTo>
                  <a:pt x="763770" y="204597"/>
                </a:lnTo>
                <a:lnTo>
                  <a:pt x="748538" y="190119"/>
                </a:lnTo>
                <a:lnTo>
                  <a:pt x="739475" y="182753"/>
                </a:lnTo>
                <a:lnTo>
                  <a:pt x="709422" y="182753"/>
                </a:lnTo>
                <a:lnTo>
                  <a:pt x="708914" y="182499"/>
                </a:lnTo>
                <a:close/>
              </a:path>
              <a:path w="987425" h="631825">
                <a:moveTo>
                  <a:pt x="694944" y="172466"/>
                </a:moveTo>
                <a:lnTo>
                  <a:pt x="709422" y="182753"/>
                </a:lnTo>
                <a:lnTo>
                  <a:pt x="739475" y="182753"/>
                </a:lnTo>
                <a:lnTo>
                  <a:pt x="726975" y="172593"/>
                </a:lnTo>
                <a:lnTo>
                  <a:pt x="695325" y="172593"/>
                </a:lnTo>
                <a:lnTo>
                  <a:pt x="694944" y="172466"/>
                </a:lnTo>
                <a:close/>
              </a:path>
              <a:path w="987425" h="631825">
                <a:moveTo>
                  <a:pt x="713885" y="162560"/>
                </a:moveTo>
                <a:lnTo>
                  <a:pt x="680339" y="162560"/>
                </a:lnTo>
                <a:lnTo>
                  <a:pt x="680720" y="162813"/>
                </a:lnTo>
                <a:lnTo>
                  <a:pt x="695325" y="172593"/>
                </a:lnTo>
                <a:lnTo>
                  <a:pt x="726975" y="172593"/>
                </a:lnTo>
                <a:lnTo>
                  <a:pt x="720725" y="167512"/>
                </a:lnTo>
                <a:lnTo>
                  <a:pt x="713885" y="162560"/>
                </a:lnTo>
                <a:close/>
              </a:path>
              <a:path w="987425" h="631825">
                <a:moveTo>
                  <a:pt x="680704" y="162804"/>
                </a:moveTo>
                <a:close/>
              </a:path>
              <a:path w="987425" h="631825">
                <a:moveTo>
                  <a:pt x="687202" y="144525"/>
                </a:moveTo>
                <a:lnTo>
                  <a:pt x="649351" y="144525"/>
                </a:lnTo>
                <a:lnTo>
                  <a:pt x="665353" y="153543"/>
                </a:lnTo>
                <a:lnTo>
                  <a:pt x="680704" y="162804"/>
                </a:lnTo>
                <a:lnTo>
                  <a:pt x="680339" y="162560"/>
                </a:lnTo>
                <a:lnTo>
                  <a:pt x="713885" y="162560"/>
                </a:lnTo>
                <a:lnTo>
                  <a:pt x="705993" y="156845"/>
                </a:lnTo>
                <a:lnTo>
                  <a:pt x="690753" y="146685"/>
                </a:lnTo>
                <a:lnTo>
                  <a:pt x="687202" y="144525"/>
                </a:lnTo>
                <a:close/>
              </a:path>
              <a:path w="987425" h="631825">
                <a:moveTo>
                  <a:pt x="665099" y="153416"/>
                </a:moveTo>
                <a:lnTo>
                  <a:pt x="665310" y="153543"/>
                </a:lnTo>
                <a:lnTo>
                  <a:pt x="665099" y="153416"/>
                </a:lnTo>
                <a:close/>
              </a:path>
              <a:path w="987425" h="631825">
                <a:moveTo>
                  <a:pt x="658943" y="128016"/>
                </a:moveTo>
                <a:lnTo>
                  <a:pt x="616077" y="128016"/>
                </a:lnTo>
                <a:lnTo>
                  <a:pt x="649732" y="144780"/>
                </a:lnTo>
                <a:lnTo>
                  <a:pt x="649351" y="144525"/>
                </a:lnTo>
                <a:lnTo>
                  <a:pt x="687202" y="144525"/>
                </a:lnTo>
                <a:lnTo>
                  <a:pt x="674878" y="137033"/>
                </a:lnTo>
                <a:lnTo>
                  <a:pt x="658943" y="128016"/>
                </a:lnTo>
                <a:close/>
              </a:path>
              <a:path w="987425" h="631825">
                <a:moveTo>
                  <a:pt x="580771" y="113411"/>
                </a:moveTo>
                <a:lnTo>
                  <a:pt x="616585" y="128270"/>
                </a:lnTo>
                <a:lnTo>
                  <a:pt x="616077" y="128016"/>
                </a:lnTo>
                <a:lnTo>
                  <a:pt x="658943" y="128016"/>
                </a:lnTo>
                <a:lnTo>
                  <a:pt x="658495" y="127762"/>
                </a:lnTo>
                <a:lnTo>
                  <a:pt x="629619" y="113537"/>
                </a:lnTo>
                <a:lnTo>
                  <a:pt x="581279" y="113537"/>
                </a:lnTo>
                <a:lnTo>
                  <a:pt x="580771" y="113411"/>
                </a:lnTo>
                <a:close/>
              </a:path>
              <a:path w="987425" h="631825">
                <a:moveTo>
                  <a:pt x="598779" y="100203"/>
                </a:moveTo>
                <a:lnTo>
                  <a:pt x="543560" y="100203"/>
                </a:lnTo>
                <a:lnTo>
                  <a:pt x="543941" y="100330"/>
                </a:lnTo>
                <a:lnTo>
                  <a:pt x="581279" y="113537"/>
                </a:lnTo>
                <a:lnTo>
                  <a:pt x="629619" y="113537"/>
                </a:lnTo>
                <a:lnTo>
                  <a:pt x="624205" y="110871"/>
                </a:lnTo>
                <a:lnTo>
                  <a:pt x="598779" y="100203"/>
                </a:lnTo>
                <a:close/>
              </a:path>
              <a:path w="987425" h="631825">
                <a:moveTo>
                  <a:pt x="543788" y="100283"/>
                </a:moveTo>
                <a:lnTo>
                  <a:pt x="543919" y="100330"/>
                </a:lnTo>
                <a:lnTo>
                  <a:pt x="543788" y="100283"/>
                </a:lnTo>
                <a:close/>
              </a:path>
              <a:path w="987425" h="631825">
                <a:moveTo>
                  <a:pt x="535474" y="77850"/>
                </a:moveTo>
                <a:lnTo>
                  <a:pt x="463931" y="77850"/>
                </a:lnTo>
                <a:lnTo>
                  <a:pt x="505079" y="88519"/>
                </a:lnTo>
                <a:lnTo>
                  <a:pt x="543788" y="100283"/>
                </a:lnTo>
                <a:lnTo>
                  <a:pt x="543560" y="100203"/>
                </a:lnTo>
                <a:lnTo>
                  <a:pt x="598779" y="100203"/>
                </a:lnTo>
                <a:lnTo>
                  <a:pt x="587883" y="95631"/>
                </a:lnTo>
                <a:lnTo>
                  <a:pt x="549656" y="82169"/>
                </a:lnTo>
                <a:lnTo>
                  <a:pt x="535474" y="77850"/>
                </a:lnTo>
                <a:close/>
              </a:path>
              <a:path w="987425" h="631825">
                <a:moveTo>
                  <a:pt x="504571" y="88392"/>
                </a:moveTo>
                <a:lnTo>
                  <a:pt x="504989" y="88519"/>
                </a:lnTo>
                <a:lnTo>
                  <a:pt x="504571" y="88392"/>
                </a:lnTo>
                <a:close/>
              </a:path>
              <a:path w="987425" h="631825">
                <a:moveTo>
                  <a:pt x="504099" y="68580"/>
                </a:moveTo>
                <a:lnTo>
                  <a:pt x="421894" y="68580"/>
                </a:lnTo>
                <a:lnTo>
                  <a:pt x="464312" y="77978"/>
                </a:lnTo>
                <a:lnTo>
                  <a:pt x="463931" y="77850"/>
                </a:lnTo>
                <a:lnTo>
                  <a:pt x="535474" y="77850"/>
                </a:lnTo>
                <a:lnTo>
                  <a:pt x="510032" y="70104"/>
                </a:lnTo>
                <a:lnTo>
                  <a:pt x="504099" y="68580"/>
                </a:lnTo>
                <a:close/>
              </a:path>
              <a:path w="987425" h="631825">
                <a:moveTo>
                  <a:pt x="439670" y="53086"/>
                </a:moveTo>
                <a:lnTo>
                  <a:pt x="333756" y="53086"/>
                </a:lnTo>
                <a:lnTo>
                  <a:pt x="378714" y="60451"/>
                </a:lnTo>
                <a:lnTo>
                  <a:pt x="378460" y="60451"/>
                </a:lnTo>
                <a:lnTo>
                  <a:pt x="422148" y="68707"/>
                </a:lnTo>
                <a:lnTo>
                  <a:pt x="421894" y="68580"/>
                </a:lnTo>
                <a:lnTo>
                  <a:pt x="504099" y="68580"/>
                </a:lnTo>
                <a:lnTo>
                  <a:pt x="468503" y="59436"/>
                </a:lnTo>
                <a:lnTo>
                  <a:pt x="439670" y="53086"/>
                </a:lnTo>
                <a:close/>
              </a:path>
              <a:path w="987425" h="631825">
                <a:moveTo>
                  <a:pt x="1524" y="0"/>
                </a:moveTo>
                <a:lnTo>
                  <a:pt x="0" y="19050"/>
                </a:lnTo>
                <a:lnTo>
                  <a:pt x="97662" y="26924"/>
                </a:lnTo>
                <a:lnTo>
                  <a:pt x="194183" y="35813"/>
                </a:lnTo>
                <a:lnTo>
                  <a:pt x="241554" y="41021"/>
                </a:lnTo>
                <a:lnTo>
                  <a:pt x="288163" y="46736"/>
                </a:lnTo>
                <a:lnTo>
                  <a:pt x="334010" y="53212"/>
                </a:lnTo>
                <a:lnTo>
                  <a:pt x="333756" y="53086"/>
                </a:lnTo>
                <a:lnTo>
                  <a:pt x="439670" y="53086"/>
                </a:lnTo>
                <a:lnTo>
                  <a:pt x="425831" y="50037"/>
                </a:lnTo>
                <a:lnTo>
                  <a:pt x="381889" y="41656"/>
                </a:lnTo>
                <a:lnTo>
                  <a:pt x="336677" y="34290"/>
                </a:lnTo>
                <a:lnTo>
                  <a:pt x="290576" y="27812"/>
                </a:lnTo>
                <a:lnTo>
                  <a:pt x="243712" y="22098"/>
                </a:lnTo>
                <a:lnTo>
                  <a:pt x="196087" y="16891"/>
                </a:lnTo>
                <a:lnTo>
                  <a:pt x="147955" y="12192"/>
                </a:lnTo>
                <a:lnTo>
                  <a:pt x="1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>
            <a:extLst>
              <a:ext uri="{FF2B5EF4-FFF2-40B4-BE49-F238E27FC236}">
                <a16:creationId xmlns:a16="http://schemas.microsoft.com/office/drawing/2014/main" id="{72335035-42C5-0844-5463-D1556D7D1D3C}"/>
              </a:ext>
            </a:extLst>
          </p:cNvPr>
          <p:cNvGrpSpPr/>
          <p:nvPr/>
        </p:nvGrpSpPr>
        <p:grpSpPr>
          <a:xfrm>
            <a:off x="6431026" y="2882645"/>
            <a:ext cx="722630" cy="476884"/>
            <a:chOff x="6431026" y="2882645"/>
            <a:chExt cx="722630" cy="476884"/>
          </a:xfrm>
        </p:grpSpPr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AD834400-771E-CC41-5634-A60736FA0439}"/>
                </a:ext>
              </a:extLst>
            </p:cNvPr>
            <p:cNvSpPr/>
            <p:nvPr/>
          </p:nvSpPr>
          <p:spPr>
            <a:xfrm>
              <a:off x="6437376" y="2951987"/>
              <a:ext cx="398145" cy="401320"/>
            </a:xfrm>
            <a:custGeom>
              <a:avLst/>
              <a:gdLst/>
              <a:ahLst/>
              <a:cxnLst/>
              <a:rect l="l" t="t" r="r" b="b"/>
              <a:pathLst>
                <a:path w="398145" h="401320">
                  <a:moveTo>
                    <a:pt x="0" y="200406"/>
                  </a:moveTo>
                  <a:lnTo>
                    <a:pt x="5251" y="154434"/>
                  </a:lnTo>
                  <a:lnTo>
                    <a:pt x="20211" y="112245"/>
                  </a:lnTo>
                  <a:lnTo>
                    <a:pt x="43687" y="75035"/>
                  </a:lnTo>
                  <a:lnTo>
                    <a:pt x="74484" y="44007"/>
                  </a:lnTo>
                  <a:lnTo>
                    <a:pt x="111411" y="20358"/>
                  </a:lnTo>
                  <a:lnTo>
                    <a:pt x="153275" y="5289"/>
                  </a:lnTo>
                  <a:lnTo>
                    <a:pt x="198881" y="0"/>
                  </a:lnTo>
                  <a:lnTo>
                    <a:pt x="244488" y="5289"/>
                  </a:lnTo>
                  <a:lnTo>
                    <a:pt x="286352" y="20358"/>
                  </a:lnTo>
                  <a:lnTo>
                    <a:pt x="323279" y="44007"/>
                  </a:lnTo>
                  <a:lnTo>
                    <a:pt x="354076" y="75035"/>
                  </a:lnTo>
                  <a:lnTo>
                    <a:pt x="377552" y="112245"/>
                  </a:lnTo>
                  <a:lnTo>
                    <a:pt x="392512" y="154434"/>
                  </a:lnTo>
                  <a:lnTo>
                    <a:pt x="397764" y="200406"/>
                  </a:lnTo>
                  <a:lnTo>
                    <a:pt x="392512" y="246377"/>
                  </a:lnTo>
                  <a:lnTo>
                    <a:pt x="377552" y="288566"/>
                  </a:lnTo>
                  <a:lnTo>
                    <a:pt x="354076" y="325776"/>
                  </a:lnTo>
                  <a:lnTo>
                    <a:pt x="323279" y="356804"/>
                  </a:lnTo>
                  <a:lnTo>
                    <a:pt x="286352" y="380453"/>
                  </a:lnTo>
                  <a:lnTo>
                    <a:pt x="244488" y="395522"/>
                  </a:lnTo>
                  <a:lnTo>
                    <a:pt x="198881" y="400812"/>
                  </a:lnTo>
                  <a:lnTo>
                    <a:pt x="153275" y="395522"/>
                  </a:lnTo>
                  <a:lnTo>
                    <a:pt x="111411" y="380453"/>
                  </a:lnTo>
                  <a:lnTo>
                    <a:pt x="74484" y="356804"/>
                  </a:lnTo>
                  <a:lnTo>
                    <a:pt x="43687" y="325776"/>
                  </a:lnTo>
                  <a:lnTo>
                    <a:pt x="20211" y="288566"/>
                  </a:lnTo>
                  <a:lnTo>
                    <a:pt x="5251" y="246377"/>
                  </a:lnTo>
                  <a:lnTo>
                    <a:pt x="0" y="200406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>
              <a:extLst>
                <a:ext uri="{FF2B5EF4-FFF2-40B4-BE49-F238E27FC236}">
                  <a16:creationId xmlns:a16="http://schemas.microsoft.com/office/drawing/2014/main" id="{B6E5802E-A237-6D13-6E6C-CEC2B69CB378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60861" y="3086099"/>
              <a:ext cx="166074" cy="167639"/>
            </a:xfrm>
            <a:prstGeom prst="rect">
              <a:avLst/>
            </a:prstGeom>
          </p:spPr>
        </p:pic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068918E1-6FD7-7A2C-B26B-E9AE2F7DD161}"/>
                </a:ext>
              </a:extLst>
            </p:cNvPr>
            <p:cNvSpPr/>
            <p:nvPr/>
          </p:nvSpPr>
          <p:spPr>
            <a:xfrm>
              <a:off x="6858381" y="2882645"/>
              <a:ext cx="295275" cy="278130"/>
            </a:xfrm>
            <a:custGeom>
              <a:avLst/>
              <a:gdLst/>
              <a:ahLst/>
              <a:cxnLst/>
              <a:rect l="l" t="t" r="r" b="b"/>
              <a:pathLst>
                <a:path w="295275" h="278130">
                  <a:moveTo>
                    <a:pt x="233224" y="45234"/>
                  </a:moveTo>
                  <a:lnTo>
                    <a:pt x="0" y="264287"/>
                  </a:lnTo>
                  <a:lnTo>
                    <a:pt x="12953" y="278129"/>
                  </a:lnTo>
                  <a:lnTo>
                    <a:pt x="246270" y="59105"/>
                  </a:lnTo>
                  <a:lnTo>
                    <a:pt x="233224" y="45234"/>
                  </a:lnTo>
                  <a:close/>
                </a:path>
                <a:path w="295275" h="278130">
                  <a:moveTo>
                    <a:pt x="281784" y="36575"/>
                  </a:moveTo>
                  <a:lnTo>
                    <a:pt x="242443" y="36575"/>
                  </a:lnTo>
                  <a:lnTo>
                    <a:pt x="255524" y="50418"/>
                  </a:lnTo>
                  <a:lnTo>
                    <a:pt x="246270" y="59105"/>
                  </a:lnTo>
                  <a:lnTo>
                    <a:pt x="265811" y="79882"/>
                  </a:lnTo>
                  <a:lnTo>
                    <a:pt x="281784" y="36575"/>
                  </a:lnTo>
                  <a:close/>
                </a:path>
                <a:path w="295275" h="278130">
                  <a:moveTo>
                    <a:pt x="242443" y="36575"/>
                  </a:moveTo>
                  <a:lnTo>
                    <a:pt x="233224" y="45234"/>
                  </a:lnTo>
                  <a:lnTo>
                    <a:pt x="246270" y="59105"/>
                  </a:lnTo>
                  <a:lnTo>
                    <a:pt x="255524" y="50418"/>
                  </a:lnTo>
                  <a:lnTo>
                    <a:pt x="242443" y="36575"/>
                  </a:lnTo>
                  <a:close/>
                </a:path>
                <a:path w="295275" h="278130">
                  <a:moveTo>
                    <a:pt x="295275" y="0"/>
                  </a:moveTo>
                  <a:lnTo>
                    <a:pt x="213614" y="24383"/>
                  </a:lnTo>
                  <a:lnTo>
                    <a:pt x="233224" y="45234"/>
                  </a:lnTo>
                  <a:lnTo>
                    <a:pt x="242443" y="36575"/>
                  </a:lnTo>
                  <a:lnTo>
                    <a:pt x="281784" y="36575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>
            <a:extLst>
              <a:ext uri="{FF2B5EF4-FFF2-40B4-BE49-F238E27FC236}">
                <a16:creationId xmlns:a16="http://schemas.microsoft.com/office/drawing/2014/main" id="{C68A58B8-ED19-61E9-B006-23F356BED7C3}"/>
              </a:ext>
            </a:extLst>
          </p:cNvPr>
          <p:cNvSpPr/>
          <p:nvPr/>
        </p:nvSpPr>
        <p:spPr>
          <a:xfrm>
            <a:off x="6427978" y="3429761"/>
            <a:ext cx="247650" cy="464820"/>
          </a:xfrm>
          <a:custGeom>
            <a:avLst/>
            <a:gdLst/>
            <a:ahLst/>
            <a:cxnLst/>
            <a:rect l="l" t="t" r="r" b="b"/>
            <a:pathLst>
              <a:path w="247650" h="464820">
                <a:moveTo>
                  <a:pt x="21589" y="440689"/>
                </a:moveTo>
                <a:lnTo>
                  <a:pt x="0" y="446531"/>
                </a:lnTo>
                <a:lnTo>
                  <a:pt x="5080" y="464819"/>
                </a:lnTo>
                <a:lnTo>
                  <a:pt x="26670" y="458977"/>
                </a:lnTo>
                <a:lnTo>
                  <a:pt x="48387" y="452374"/>
                </a:lnTo>
                <a:lnTo>
                  <a:pt x="69723" y="444119"/>
                </a:lnTo>
                <a:lnTo>
                  <a:pt x="77109" y="440817"/>
                </a:lnTo>
                <a:lnTo>
                  <a:pt x="21336" y="440817"/>
                </a:lnTo>
                <a:lnTo>
                  <a:pt x="21589" y="440689"/>
                </a:lnTo>
                <a:close/>
              </a:path>
              <a:path w="247650" h="464820">
                <a:moveTo>
                  <a:pt x="89543" y="434339"/>
                </a:moveTo>
                <a:lnTo>
                  <a:pt x="42545" y="434339"/>
                </a:lnTo>
                <a:lnTo>
                  <a:pt x="21336" y="440817"/>
                </a:lnTo>
                <a:lnTo>
                  <a:pt x="77109" y="440817"/>
                </a:lnTo>
                <a:lnTo>
                  <a:pt x="80518" y="439293"/>
                </a:lnTo>
                <a:lnTo>
                  <a:pt x="89543" y="434339"/>
                </a:lnTo>
                <a:close/>
              </a:path>
              <a:path w="247650" h="464820">
                <a:moveTo>
                  <a:pt x="62611" y="426465"/>
                </a:moveTo>
                <a:lnTo>
                  <a:pt x="41910" y="434467"/>
                </a:lnTo>
                <a:lnTo>
                  <a:pt x="42545" y="434339"/>
                </a:lnTo>
                <a:lnTo>
                  <a:pt x="89543" y="434339"/>
                </a:lnTo>
                <a:lnTo>
                  <a:pt x="90931" y="433577"/>
                </a:lnTo>
                <a:lnTo>
                  <a:pt x="101219" y="427100"/>
                </a:lnTo>
                <a:lnTo>
                  <a:pt x="101740" y="426719"/>
                </a:lnTo>
                <a:lnTo>
                  <a:pt x="62102" y="426719"/>
                </a:lnTo>
                <a:lnTo>
                  <a:pt x="62611" y="426465"/>
                </a:lnTo>
                <a:close/>
              </a:path>
              <a:path w="247650" h="464820">
                <a:moveTo>
                  <a:pt x="108170" y="422020"/>
                </a:moveTo>
                <a:lnTo>
                  <a:pt x="72262" y="422020"/>
                </a:lnTo>
                <a:lnTo>
                  <a:pt x="71755" y="422275"/>
                </a:lnTo>
                <a:lnTo>
                  <a:pt x="62102" y="426719"/>
                </a:lnTo>
                <a:lnTo>
                  <a:pt x="101740" y="426719"/>
                </a:lnTo>
                <a:lnTo>
                  <a:pt x="108170" y="422020"/>
                </a:lnTo>
                <a:close/>
              </a:path>
              <a:path w="247650" h="464820">
                <a:moveTo>
                  <a:pt x="72005" y="422139"/>
                </a:moveTo>
                <a:lnTo>
                  <a:pt x="71713" y="422275"/>
                </a:lnTo>
                <a:lnTo>
                  <a:pt x="72005" y="422139"/>
                </a:lnTo>
                <a:close/>
              </a:path>
              <a:path w="247650" h="464820">
                <a:moveTo>
                  <a:pt x="114495" y="416940"/>
                </a:moveTo>
                <a:lnTo>
                  <a:pt x="81661" y="416940"/>
                </a:lnTo>
                <a:lnTo>
                  <a:pt x="81025" y="417321"/>
                </a:lnTo>
                <a:lnTo>
                  <a:pt x="72005" y="422139"/>
                </a:lnTo>
                <a:lnTo>
                  <a:pt x="72262" y="422020"/>
                </a:lnTo>
                <a:lnTo>
                  <a:pt x="108170" y="422020"/>
                </a:lnTo>
                <a:lnTo>
                  <a:pt x="111125" y="419862"/>
                </a:lnTo>
                <a:lnTo>
                  <a:pt x="114495" y="416940"/>
                </a:lnTo>
                <a:close/>
              </a:path>
              <a:path w="247650" h="464820">
                <a:moveTo>
                  <a:pt x="81445" y="417056"/>
                </a:moveTo>
                <a:lnTo>
                  <a:pt x="80953" y="417321"/>
                </a:lnTo>
                <a:lnTo>
                  <a:pt x="81445" y="417056"/>
                </a:lnTo>
                <a:close/>
              </a:path>
              <a:path w="247650" h="464820">
                <a:moveTo>
                  <a:pt x="99441" y="404749"/>
                </a:moveTo>
                <a:lnTo>
                  <a:pt x="90170" y="411606"/>
                </a:lnTo>
                <a:lnTo>
                  <a:pt x="81445" y="417056"/>
                </a:lnTo>
                <a:lnTo>
                  <a:pt x="81661" y="416940"/>
                </a:lnTo>
                <a:lnTo>
                  <a:pt x="114495" y="416940"/>
                </a:lnTo>
                <a:lnTo>
                  <a:pt x="120650" y="411606"/>
                </a:lnTo>
                <a:lnTo>
                  <a:pt x="127088" y="405256"/>
                </a:lnTo>
                <a:lnTo>
                  <a:pt x="98932" y="405256"/>
                </a:lnTo>
                <a:lnTo>
                  <a:pt x="99441" y="404749"/>
                </a:lnTo>
                <a:close/>
              </a:path>
              <a:path w="247650" h="464820">
                <a:moveTo>
                  <a:pt x="90677" y="411225"/>
                </a:moveTo>
                <a:lnTo>
                  <a:pt x="90074" y="411606"/>
                </a:lnTo>
                <a:lnTo>
                  <a:pt x="90677" y="411225"/>
                </a:lnTo>
                <a:close/>
              </a:path>
              <a:path w="247650" h="464820">
                <a:moveTo>
                  <a:pt x="140679" y="389255"/>
                </a:moveTo>
                <a:lnTo>
                  <a:pt x="116077" y="389255"/>
                </a:lnTo>
                <a:lnTo>
                  <a:pt x="107442" y="397890"/>
                </a:lnTo>
                <a:lnTo>
                  <a:pt x="98932" y="405256"/>
                </a:lnTo>
                <a:lnTo>
                  <a:pt x="127088" y="405256"/>
                </a:lnTo>
                <a:lnTo>
                  <a:pt x="129921" y="402463"/>
                </a:lnTo>
                <a:lnTo>
                  <a:pt x="138683" y="392049"/>
                </a:lnTo>
                <a:lnTo>
                  <a:pt x="140679" y="389255"/>
                </a:lnTo>
                <a:close/>
              </a:path>
              <a:path w="247650" h="464820">
                <a:moveTo>
                  <a:pt x="107950" y="397382"/>
                </a:moveTo>
                <a:lnTo>
                  <a:pt x="107368" y="397890"/>
                </a:lnTo>
                <a:lnTo>
                  <a:pt x="107950" y="397382"/>
                </a:lnTo>
                <a:close/>
              </a:path>
              <a:path w="247650" h="464820">
                <a:moveTo>
                  <a:pt x="123825" y="379983"/>
                </a:moveTo>
                <a:lnTo>
                  <a:pt x="115570" y="389763"/>
                </a:lnTo>
                <a:lnTo>
                  <a:pt x="116077" y="389255"/>
                </a:lnTo>
                <a:lnTo>
                  <a:pt x="140679" y="389255"/>
                </a:lnTo>
                <a:lnTo>
                  <a:pt x="146848" y="380619"/>
                </a:lnTo>
                <a:lnTo>
                  <a:pt x="123444" y="380619"/>
                </a:lnTo>
                <a:lnTo>
                  <a:pt x="123825" y="379983"/>
                </a:lnTo>
                <a:close/>
              </a:path>
              <a:path w="247650" h="464820">
                <a:moveTo>
                  <a:pt x="165693" y="345058"/>
                </a:moveTo>
                <a:lnTo>
                  <a:pt x="144906" y="345058"/>
                </a:lnTo>
                <a:lnTo>
                  <a:pt x="138049" y="358520"/>
                </a:lnTo>
                <a:lnTo>
                  <a:pt x="130937" y="370205"/>
                </a:lnTo>
                <a:lnTo>
                  <a:pt x="123444" y="380619"/>
                </a:lnTo>
                <a:lnTo>
                  <a:pt x="146848" y="380619"/>
                </a:lnTo>
                <a:lnTo>
                  <a:pt x="154813" y="367538"/>
                </a:lnTo>
                <a:lnTo>
                  <a:pt x="162051" y="353440"/>
                </a:lnTo>
                <a:lnTo>
                  <a:pt x="165693" y="345058"/>
                </a:lnTo>
                <a:close/>
              </a:path>
              <a:path w="247650" h="464820">
                <a:moveTo>
                  <a:pt x="131318" y="369569"/>
                </a:moveTo>
                <a:lnTo>
                  <a:pt x="130865" y="370205"/>
                </a:lnTo>
                <a:lnTo>
                  <a:pt x="131318" y="369569"/>
                </a:lnTo>
                <a:close/>
              </a:path>
              <a:path w="247650" h="464820">
                <a:moveTo>
                  <a:pt x="138302" y="358013"/>
                </a:moveTo>
                <a:lnTo>
                  <a:pt x="137996" y="358520"/>
                </a:lnTo>
                <a:lnTo>
                  <a:pt x="138302" y="358013"/>
                </a:lnTo>
                <a:close/>
              </a:path>
              <a:path w="247650" h="464820">
                <a:moveTo>
                  <a:pt x="176920" y="314832"/>
                </a:moveTo>
                <a:lnTo>
                  <a:pt x="156972" y="314832"/>
                </a:lnTo>
                <a:lnTo>
                  <a:pt x="151002" y="331088"/>
                </a:lnTo>
                <a:lnTo>
                  <a:pt x="144679" y="345504"/>
                </a:lnTo>
                <a:lnTo>
                  <a:pt x="144906" y="345058"/>
                </a:lnTo>
                <a:lnTo>
                  <a:pt x="165693" y="345058"/>
                </a:lnTo>
                <a:lnTo>
                  <a:pt x="168782" y="337946"/>
                </a:lnTo>
                <a:lnTo>
                  <a:pt x="174878" y="321182"/>
                </a:lnTo>
                <a:lnTo>
                  <a:pt x="176920" y="314832"/>
                </a:lnTo>
                <a:close/>
              </a:path>
              <a:path w="247650" h="464820">
                <a:moveTo>
                  <a:pt x="151129" y="330581"/>
                </a:moveTo>
                <a:lnTo>
                  <a:pt x="150910" y="331088"/>
                </a:lnTo>
                <a:lnTo>
                  <a:pt x="151129" y="330581"/>
                </a:lnTo>
                <a:close/>
              </a:path>
              <a:path w="247650" h="464820">
                <a:moveTo>
                  <a:pt x="182121" y="297814"/>
                </a:moveTo>
                <a:lnTo>
                  <a:pt x="162305" y="297814"/>
                </a:lnTo>
                <a:lnTo>
                  <a:pt x="156920" y="314972"/>
                </a:lnTo>
                <a:lnTo>
                  <a:pt x="156972" y="314832"/>
                </a:lnTo>
                <a:lnTo>
                  <a:pt x="176920" y="314832"/>
                </a:lnTo>
                <a:lnTo>
                  <a:pt x="180594" y="303402"/>
                </a:lnTo>
                <a:lnTo>
                  <a:pt x="182121" y="297814"/>
                </a:lnTo>
                <a:close/>
              </a:path>
              <a:path w="247650" h="464820">
                <a:moveTo>
                  <a:pt x="186961" y="279526"/>
                </a:moveTo>
                <a:lnTo>
                  <a:pt x="167386" y="279526"/>
                </a:lnTo>
                <a:lnTo>
                  <a:pt x="162178" y="298195"/>
                </a:lnTo>
                <a:lnTo>
                  <a:pt x="162305" y="297814"/>
                </a:lnTo>
                <a:lnTo>
                  <a:pt x="182121" y="297814"/>
                </a:lnTo>
                <a:lnTo>
                  <a:pt x="185800" y="284352"/>
                </a:lnTo>
                <a:lnTo>
                  <a:pt x="186961" y="279526"/>
                </a:lnTo>
                <a:close/>
              </a:path>
              <a:path w="247650" h="464820">
                <a:moveTo>
                  <a:pt x="191548" y="259969"/>
                </a:moveTo>
                <a:lnTo>
                  <a:pt x="172085" y="259969"/>
                </a:lnTo>
                <a:lnTo>
                  <a:pt x="167258" y="279781"/>
                </a:lnTo>
                <a:lnTo>
                  <a:pt x="167386" y="279526"/>
                </a:lnTo>
                <a:lnTo>
                  <a:pt x="186961" y="279526"/>
                </a:lnTo>
                <a:lnTo>
                  <a:pt x="190626" y="264287"/>
                </a:lnTo>
                <a:lnTo>
                  <a:pt x="191548" y="259969"/>
                </a:lnTo>
                <a:close/>
              </a:path>
              <a:path w="247650" h="464820">
                <a:moveTo>
                  <a:pt x="203522" y="195961"/>
                </a:moveTo>
                <a:lnTo>
                  <a:pt x="184276" y="195961"/>
                </a:lnTo>
                <a:lnTo>
                  <a:pt x="180467" y="218312"/>
                </a:lnTo>
                <a:lnTo>
                  <a:pt x="176402" y="239775"/>
                </a:lnTo>
                <a:lnTo>
                  <a:pt x="171957" y="260223"/>
                </a:lnTo>
                <a:lnTo>
                  <a:pt x="172085" y="259969"/>
                </a:lnTo>
                <a:lnTo>
                  <a:pt x="191548" y="259969"/>
                </a:lnTo>
                <a:lnTo>
                  <a:pt x="195072" y="243458"/>
                </a:lnTo>
                <a:lnTo>
                  <a:pt x="199136" y="221614"/>
                </a:lnTo>
                <a:lnTo>
                  <a:pt x="203073" y="199008"/>
                </a:lnTo>
                <a:lnTo>
                  <a:pt x="203522" y="195961"/>
                </a:lnTo>
                <a:close/>
              </a:path>
              <a:path w="247650" h="464820">
                <a:moveTo>
                  <a:pt x="176402" y="239521"/>
                </a:moveTo>
                <a:lnTo>
                  <a:pt x="176348" y="239775"/>
                </a:lnTo>
                <a:lnTo>
                  <a:pt x="176402" y="239521"/>
                </a:lnTo>
                <a:close/>
              </a:path>
              <a:path w="247650" h="464820">
                <a:moveTo>
                  <a:pt x="180467" y="218186"/>
                </a:moveTo>
                <a:close/>
              </a:path>
              <a:path w="247650" h="464820">
                <a:moveTo>
                  <a:pt x="199791" y="74745"/>
                </a:moveTo>
                <a:lnTo>
                  <a:pt x="196976" y="100584"/>
                </a:lnTo>
                <a:lnTo>
                  <a:pt x="190880" y="149351"/>
                </a:lnTo>
                <a:lnTo>
                  <a:pt x="187705" y="173100"/>
                </a:lnTo>
                <a:lnTo>
                  <a:pt x="184150" y="196087"/>
                </a:lnTo>
                <a:lnTo>
                  <a:pt x="203522" y="195961"/>
                </a:lnTo>
                <a:lnTo>
                  <a:pt x="206501" y="175767"/>
                </a:lnTo>
                <a:lnTo>
                  <a:pt x="209803" y="151764"/>
                </a:lnTo>
                <a:lnTo>
                  <a:pt x="215900" y="102742"/>
                </a:lnTo>
                <a:lnTo>
                  <a:pt x="218806" y="76752"/>
                </a:lnTo>
                <a:lnTo>
                  <a:pt x="199791" y="74745"/>
                </a:lnTo>
                <a:close/>
              </a:path>
              <a:path w="247650" h="464820">
                <a:moveTo>
                  <a:pt x="187705" y="172974"/>
                </a:moveTo>
                <a:close/>
              </a:path>
              <a:path w="247650" h="464820">
                <a:moveTo>
                  <a:pt x="196976" y="100457"/>
                </a:moveTo>
                <a:close/>
              </a:path>
              <a:path w="247650" h="464820">
                <a:moveTo>
                  <a:pt x="240663" y="62102"/>
                </a:moveTo>
                <a:lnTo>
                  <a:pt x="201168" y="62102"/>
                </a:lnTo>
                <a:lnTo>
                  <a:pt x="220218" y="64135"/>
                </a:lnTo>
                <a:lnTo>
                  <a:pt x="218806" y="76752"/>
                </a:lnTo>
                <a:lnTo>
                  <a:pt x="247269" y="79755"/>
                </a:lnTo>
                <a:lnTo>
                  <a:pt x="240663" y="62102"/>
                </a:lnTo>
                <a:close/>
              </a:path>
              <a:path w="247650" h="464820">
                <a:moveTo>
                  <a:pt x="201168" y="62102"/>
                </a:moveTo>
                <a:lnTo>
                  <a:pt x="199791" y="74745"/>
                </a:lnTo>
                <a:lnTo>
                  <a:pt x="218806" y="76752"/>
                </a:lnTo>
                <a:lnTo>
                  <a:pt x="220218" y="64135"/>
                </a:lnTo>
                <a:lnTo>
                  <a:pt x="201168" y="62102"/>
                </a:lnTo>
                <a:close/>
              </a:path>
              <a:path w="247650" h="464820">
                <a:moveTo>
                  <a:pt x="217424" y="0"/>
                </a:moveTo>
                <a:lnTo>
                  <a:pt x="171450" y="71754"/>
                </a:lnTo>
                <a:lnTo>
                  <a:pt x="199791" y="74745"/>
                </a:lnTo>
                <a:lnTo>
                  <a:pt x="201168" y="62102"/>
                </a:lnTo>
                <a:lnTo>
                  <a:pt x="240663" y="62102"/>
                </a:lnTo>
                <a:lnTo>
                  <a:pt x="2174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8" name="object 48">
            <a:extLst>
              <a:ext uri="{FF2B5EF4-FFF2-40B4-BE49-F238E27FC236}">
                <a16:creationId xmlns:a16="http://schemas.microsoft.com/office/drawing/2014/main" id="{398010C7-9E9A-55B4-0626-D6789DA32786}"/>
              </a:ext>
            </a:extLst>
          </p:cNvPr>
          <p:cNvGrpSpPr/>
          <p:nvPr/>
        </p:nvGrpSpPr>
        <p:grpSpPr>
          <a:xfrm>
            <a:off x="7222108" y="2380360"/>
            <a:ext cx="221615" cy="829310"/>
            <a:chOff x="7222108" y="2380360"/>
            <a:chExt cx="221615" cy="829310"/>
          </a:xfrm>
        </p:grpSpPr>
        <p:pic>
          <p:nvPicPr>
            <p:cNvPr id="49" name="object 49">
              <a:extLst>
                <a:ext uri="{FF2B5EF4-FFF2-40B4-BE49-F238E27FC236}">
                  <a16:creationId xmlns:a16="http://schemas.microsoft.com/office/drawing/2014/main" id="{2F6A7CCD-FFB0-6BE5-E30D-E84199A17FE2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25283" y="2383535"/>
              <a:ext cx="214883" cy="822960"/>
            </a:xfrm>
            <a:prstGeom prst="rect">
              <a:avLst/>
            </a:prstGeom>
          </p:spPr>
        </p:pic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4CF7F8A8-1149-0B1D-14BE-802A242427F3}"/>
                </a:ext>
              </a:extLst>
            </p:cNvPr>
            <p:cNvSpPr/>
            <p:nvPr/>
          </p:nvSpPr>
          <p:spPr>
            <a:xfrm>
              <a:off x="7225283" y="2383535"/>
              <a:ext cx="215265" cy="822960"/>
            </a:xfrm>
            <a:custGeom>
              <a:avLst/>
              <a:gdLst/>
              <a:ahLst/>
              <a:cxnLst/>
              <a:rect l="l" t="t" r="r" b="b"/>
              <a:pathLst>
                <a:path w="215265" h="822960">
                  <a:moveTo>
                    <a:pt x="0" y="822960"/>
                  </a:moveTo>
                  <a:lnTo>
                    <a:pt x="214883" y="822960"/>
                  </a:lnTo>
                  <a:lnTo>
                    <a:pt x="214883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" name="object 51">
            <a:extLst>
              <a:ext uri="{FF2B5EF4-FFF2-40B4-BE49-F238E27FC236}">
                <a16:creationId xmlns:a16="http://schemas.microsoft.com/office/drawing/2014/main" id="{CDDE073E-2660-28AB-CDA4-0591F5150EE1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83328" y="2208276"/>
            <a:ext cx="103498" cy="114300"/>
          </a:xfrm>
          <a:prstGeom prst="rect">
            <a:avLst/>
          </a:prstGeom>
        </p:spPr>
      </p:pic>
      <p:sp>
        <p:nvSpPr>
          <p:cNvPr id="52" name="object 52">
            <a:extLst>
              <a:ext uri="{FF2B5EF4-FFF2-40B4-BE49-F238E27FC236}">
                <a16:creationId xmlns:a16="http://schemas.microsoft.com/office/drawing/2014/main" id="{F18E2160-8047-0382-7144-C5EA0CD45737}"/>
              </a:ext>
            </a:extLst>
          </p:cNvPr>
          <p:cNvSpPr txBox="1"/>
          <p:nvPr/>
        </p:nvSpPr>
        <p:spPr>
          <a:xfrm>
            <a:off x="7183628" y="3243452"/>
            <a:ext cx="2952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256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3" name="object 53">
            <a:extLst>
              <a:ext uri="{FF2B5EF4-FFF2-40B4-BE49-F238E27FC236}">
                <a16:creationId xmlns:a16="http://schemas.microsoft.com/office/drawing/2014/main" id="{3EF21E87-6278-117A-895D-732F646A4ED8}"/>
              </a:ext>
            </a:extLst>
          </p:cNvPr>
          <p:cNvGrpSpPr/>
          <p:nvPr/>
        </p:nvGrpSpPr>
        <p:grpSpPr>
          <a:xfrm>
            <a:off x="7489697" y="2337689"/>
            <a:ext cx="501015" cy="919480"/>
            <a:chOff x="7489697" y="2337689"/>
            <a:chExt cx="501015" cy="919480"/>
          </a:xfrm>
        </p:grpSpPr>
        <p:pic>
          <p:nvPicPr>
            <p:cNvPr id="54" name="object 54">
              <a:extLst>
                <a:ext uri="{FF2B5EF4-FFF2-40B4-BE49-F238E27FC236}">
                  <a16:creationId xmlns:a16="http://schemas.microsoft.com/office/drawing/2014/main" id="{CCAC75B2-6A27-5F3A-09B5-8ED3259DBAD6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72399" y="2340864"/>
              <a:ext cx="214883" cy="912876"/>
            </a:xfrm>
            <a:prstGeom prst="rect">
              <a:avLst/>
            </a:prstGeom>
          </p:spPr>
        </p:pic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5D285361-A4A0-6EA0-EBBB-DC7F119CD51C}"/>
                </a:ext>
              </a:extLst>
            </p:cNvPr>
            <p:cNvSpPr/>
            <p:nvPr/>
          </p:nvSpPr>
          <p:spPr>
            <a:xfrm>
              <a:off x="7772399" y="2340864"/>
              <a:ext cx="215265" cy="913130"/>
            </a:xfrm>
            <a:custGeom>
              <a:avLst/>
              <a:gdLst/>
              <a:ahLst/>
              <a:cxnLst/>
              <a:rect l="l" t="t" r="r" b="b"/>
              <a:pathLst>
                <a:path w="215265" h="913129">
                  <a:moveTo>
                    <a:pt x="0" y="912876"/>
                  </a:moveTo>
                  <a:lnTo>
                    <a:pt x="214883" y="912876"/>
                  </a:lnTo>
                  <a:lnTo>
                    <a:pt x="214883" y="0"/>
                  </a:lnTo>
                  <a:lnTo>
                    <a:pt x="0" y="0"/>
                  </a:lnTo>
                  <a:lnTo>
                    <a:pt x="0" y="912876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>
              <a:extLst>
                <a:ext uri="{FF2B5EF4-FFF2-40B4-BE49-F238E27FC236}">
                  <a16:creationId xmlns:a16="http://schemas.microsoft.com/office/drawing/2014/main" id="{03B0EB8F-900E-754E-B5FF-DD59C9BD5C7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89697" y="2785110"/>
              <a:ext cx="246252" cy="76200"/>
            </a:xfrm>
            <a:prstGeom prst="rect">
              <a:avLst/>
            </a:prstGeom>
          </p:spPr>
        </p:pic>
      </p:grpSp>
      <p:sp>
        <p:nvSpPr>
          <p:cNvPr id="57" name="object 57">
            <a:extLst>
              <a:ext uri="{FF2B5EF4-FFF2-40B4-BE49-F238E27FC236}">
                <a16:creationId xmlns:a16="http://schemas.microsoft.com/office/drawing/2014/main" id="{CAC06067-33F6-0996-2432-D20A87C69D91}"/>
              </a:ext>
            </a:extLst>
          </p:cNvPr>
          <p:cNvSpPr txBox="1"/>
          <p:nvPr/>
        </p:nvSpPr>
        <p:spPr>
          <a:xfrm>
            <a:off x="7685913" y="3274567"/>
            <a:ext cx="3854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latin typeface="Calibri"/>
                <a:cs typeface="Calibri"/>
              </a:rPr>
              <a:t>1024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8" name="object 58">
            <a:extLst>
              <a:ext uri="{FF2B5EF4-FFF2-40B4-BE49-F238E27FC236}">
                <a16:creationId xmlns:a16="http://schemas.microsoft.com/office/drawing/2014/main" id="{B8A201F9-C388-1861-83B1-8AE28A9B078E}"/>
              </a:ext>
            </a:extLst>
          </p:cNvPr>
          <p:cNvGrpSpPr/>
          <p:nvPr/>
        </p:nvGrpSpPr>
        <p:grpSpPr>
          <a:xfrm>
            <a:off x="8084057" y="1932432"/>
            <a:ext cx="3587750" cy="2188210"/>
            <a:chOff x="8084057" y="1932432"/>
            <a:chExt cx="3587750" cy="2188210"/>
          </a:xfrm>
        </p:grpSpPr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2B5FB60D-02ED-36FB-39C3-E60A3326E094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84057" y="2785110"/>
              <a:ext cx="246252" cy="76200"/>
            </a:xfrm>
            <a:prstGeom prst="rect">
              <a:avLst/>
            </a:prstGeom>
          </p:spPr>
        </p:pic>
        <p:pic>
          <p:nvPicPr>
            <p:cNvPr id="60" name="object 60">
              <a:extLst>
                <a:ext uri="{FF2B5EF4-FFF2-40B4-BE49-F238E27FC236}">
                  <a16:creationId xmlns:a16="http://schemas.microsoft.com/office/drawing/2014/main" id="{80B370DD-9975-6DBC-FB85-6032FC45BA2D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11311" y="2586228"/>
              <a:ext cx="716280" cy="455675"/>
            </a:xfrm>
            <a:prstGeom prst="rect">
              <a:avLst/>
            </a:prstGeom>
          </p:spPr>
        </p:pic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D00C4FB3-EC5B-F998-6B46-D9232234558D}"/>
                </a:ext>
              </a:extLst>
            </p:cNvPr>
            <p:cNvSpPr/>
            <p:nvPr/>
          </p:nvSpPr>
          <p:spPr>
            <a:xfrm>
              <a:off x="8211311" y="2586228"/>
              <a:ext cx="716280" cy="455930"/>
            </a:xfrm>
            <a:custGeom>
              <a:avLst/>
              <a:gdLst/>
              <a:ahLst/>
              <a:cxnLst/>
              <a:rect l="l" t="t" r="r" b="b"/>
              <a:pathLst>
                <a:path w="716279" h="455930">
                  <a:moveTo>
                    <a:pt x="0" y="176275"/>
                  </a:moveTo>
                  <a:lnTo>
                    <a:pt x="176276" y="0"/>
                  </a:lnTo>
                  <a:lnTo>
                    <a:pt x="716280" y="0"/>
                  </a:lnTo>
                  <a:lnTo>
                    <a:pt x="716280" y="279400"/>
                  </a:lnTo>
                  <a:lnTo>
                    <a:pt x="540004" y="455675"/>
                  </a:lnTo>
                  <a:lnTo>
                    <a:pt x="0" y="455675"/>
                  </a:lnTo>
                  <a:lnTo>
                    <a:pt x="0" y="176275"/>
                  </a:lnTo>
                  <a:close/>
                </a:path>
                <a:path w="716279" h="455930">
                  <a:moveTo>
                    <a:pt x="0" y="176275"/>
                  </a:moveTo>
                  <a:lnTo>
                    <a:pt x="540004" y="176275"/>
                  </a:lnTo>
                  <a:lnTo>
                    <a:pt x="716280" y="0"/>
                  </a:lnTo>
                </a:path>
                <a:path w="716279" h="455930">
                  <a:moveTo>
                    <a:pt x="540004" y="176275"/>
                  </a:moveTo>
                  <a:lnTo>
                    <a:pt x="540004" y="455675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8E0DEAE1-4D6D-5261-DDC4-D2A7E1320C02}"/>
                </a:ext>
              </a:extLst>
            </p:cNvPr>
            <p:cNvSpPr/>
            <p:nvPr/>
          </p:nvSpPr>
          <p:spPr>
            <a:xfrm>
              <a:off x="8846057" y="2785110"/>
              <a:ext cx="781685" cy="76200"/>
            </a:xfrm>
            <a:custGeom>
              <a:avLst/>
              <a:gdLst/>
              <a:ahLst/>
              <a:cxnLst/>
              <a:rect l="l" t="t" r="r" b="b"/>
              <a:pathLst>
                <a:path w="781684" h="76200">
                  <a:moveTo>
                    <a:pt x="705485" y="0"/>
                  </a:moveTo>
                  <a:lnTo>
                    <a:pt x="705485" y="76200"/>
                  </a:lnTo>
                  <a:lnTo>
                    <a:pt x="762635" y="47625"/>
                  </a:lnTo>
                  <a:lnTo>
                    <a:pt x="718185" y="47625"/>
                  </a:lnTo>
                  <a:lnTo>
                    <a:pt x="718185" y="28575"/>
                  </a:lnTo>
                  <a:lnTo>
                    <a:pt x="762635" y="28575"/>
                  </a:lnTo>
                  <a:lnTo>
                    <a:pt x="705485" y="0"/>
                  </a:lnTo>
                  <a:close/>
                </a:path>
                <a:path w="781684" h="76200">
                  <a:moveTo>
                    <a:pt x="705485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05485" y="47625"/>
                  </a:lnTo>
                  <a:lnTo>
                    <a:pt x="705485" y="28575"/>
                  </a:lnTo>
                  <a:close/>
                </a:path>
                <a:path w="781684" h="76200">
                  <a:moveTo>
                    <a:pt x="762635" y="28575"/>
                  </a:moveTo>
                  <a:lnTo>
                    <a:pt x="718185" y="28575"/>
                  </a:lnTo>
                  <a:lnTo>
                    <a:pt x="718185" y="47625"/>
                  </a:lnTo>
                  <a:lnTo>
                    <a:pt x="762635" y="47625"/>
                  </a:lnTo>
                  <a:lnTo>
                    <a:pt x="781685" y="38100"/>
                  </a:lnTo>
                  <a:lnTo>
                    <a:pt x="762635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>
              <a:extLst>
                <a:ext uri="{FF2B5EF4-FFF2-40B4-BE49-F238E27FC236}">
                  <a16:creationId xmlns:a16="http://schemas.microsoft.com/office/drawing/2014/main" id="{22180BB2-C586-9B4E-573D-0EC0AB7818B8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997695" y="2310384"/>
              <a:ext cx="877824" cy="911351"/>
            </a:xfrm>
            <a:prstGeom prst="rect">
              <a:avLst/>
            </a:prstGeom>
          </p:spPr>
        </p:pic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A526F3F6-ECF3-787E-9637-7F294D89748A}"/>
                </a:ext>
              </a:extLst>
            </p:cNvPr>
            <p:cNvSpPr/>
            <p:nvPr/>
          </p:nvSpPr>
          <p:spPr>
            <a:xfrm>
              <a:off x="8997695" y="2310384"/>
              <a:ext cx="878205" cy="911860"/>
            </a:xfrm>
            <a:custGeom>
              <a:avLst/>
              <a:gdLst/>
              <a:ahLst/>
              <a:cxnLst/>
              <a:rect l="l" t="t" r="r" b="b"/>
              <a:pathLst>
                <a:path w="878204" h="911860">
                  <a:moveTo>
                    <a:pt x="0" y="311530"/>
                  </a:moveTo>
                  <a:lnTo>
                    <a:pt x="311530" y="0"/>
                  </a:lnTo>
                  <a:lnTo>
                    <a:pt x="877824" y="0"/>
                  </a:lnTo>
                  <a:lnTo>
                    <a:pt x="877824" y="599820"/>
                  </a:lnTo>
                  <a:lnTo>
                    <a:pt x="566293" y="911351"/>
                  </a:lnTo>
                  <a:lnTo>
                    <a:pt x="0" y="911351"/>
                  </a:lnTo>
                  <a:lnTo>
                    <a:pt x="0" y="311530"/>
                  </a:lnTo>
                  <a:close/>
                </a:path>
                <a:path w="878204" h="911860">
                  <a:moveTo>
                    <a:pt x="0" y="311530"/>
                  </a:moveTo>
                  <a:lnTo>
                    <a:pt x="566293" y="311530"/>
                  </a:lnTo>
                  <a:lnTo>
                    <a:pt x="877824" y="0"/>
                  </a:lnTo>
                </a:path>
                <a:path w="878204" h="911860">
                  <a:moveTo>
                    <a:pt x="566293" y="311530"/>
                  </a:moveTo>
                  <a:lnTo>
                    <a:pt x="566293" y="911351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7DDD136D-5442-B5E5-C833-8F030AD361BD}"/>
                </a:ext>
              </a:extLst>
            </p:cNvPr>
            <p:cNvSpPr/>
            <p:nvPr/>
          </p:nvSpPr>
          <p:spPr>
            <a:xfrm>
              <a:off x="9708641" y="2743962"/>
              <a:ext cx="781685" cy="76200"/>
            </a:xfrm>
            <a:custGeom>
              <a:avLst/>
              <a:gdLst/>
              <a:ahLst/>
              <a:cxnLst/>
              <a:rect l="l" t="t" r="r" b="b"/>
              <a:pathLst>
                <a:path w="781684" h="76200">
                  <a:moveTo>
                    <a:pt x="705484" y="0"/>
                  </a:moveTo>
                  <a:lnTo>
                    <a:pt x="705484" y="76200"/>
                  </a:lnTo>
                  <a:lnTo>
                    <a:pt x="762634" y="47625"/>
                  </a:lnTo>
                  <a:lnTo>
                    <a:pt x="718184" y="47625"/>
                  </a:lnTo>
                  <a:lnTo>
                    <a:pt x="718184" y="28575"/>
                  </a:lnTo>
                  <a:lnTo>
                    <a:pt x="762634" y="28575"/>
                  </a:lnTo>
                  <a:lnTo>
                    <a:pt x="705484" y="0"/>
                  </a:lnTo>
                  <a:close/>
                </a:path>
                <a:path w="781684" h="76200">
                  <a:moveTo>
                    <a:pt x="70548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05484" y="47625"/>
                  </a:lnTo>
                  <a:lnTo>
                    <a:pt x="705484" y="28575"/>
                  </a:lnTo>
                  <a:close/>
                </a:path>
                <a:path w="781684" h="76200">
                  <a:moveTo>
                    <a:pt x="762634" y="28575"/>
                  </a:moveTo>
                  <a:lnTo>
                    <a:pt x="718184" y="28575"/>
                  </a:lnTo>
                  <a:lnTo>
                    <a:pt x="718184" y="47625"/>
                  </a:lnTo>
                  <a:lnTo>
                    <a:pt x="762634" y="47625"/>
                  </a:lnTo>
                  <a:lnTo>
                    <a:pt x="781684" y="38100"/>
                  </a:lnTo>
                  <a:lnTo>
                    <a:pt x="762634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>
              <a:extLst>
                <a:ext uri="{FF2B5EF4-FFF2-40B4-BE49-F238E27FC236}">
                  <a16:creationId xmlns:a16="http://schemas.microsoft.com/office/drawing/2014/main" id="{73410832-9AEA-9BFC-853E-0702FF7C78F3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000487" y="2103120"/>
              <a:ext cx="717803" cy="1325879"/>
            </a:xfrm>
            <a:prstGeom prst="rect">
              <a:avLst/>
            </a:prstGeom>
          </p:spPr>
        </p:pic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66446C8D-A01A-B319-9885-F9B32D5DDB83}"/>
                </a:ext>
              </a:extLst>
            </p:cNvPr>
            <p:cNvSpPr/>
            <p:nvPr/>
          </p:nvSpPr>
          <p:spPr>
            <a:xfrm>
              <a:off x="10000487" y="2103120"/>
              <a:ext cx="718185" cy="1325880"/>
            </a:xfrm>
            <a:custGeom>
              <a:avLst/>
              <a:gdLst/>
              <a:ahLst/>
              <a:cxnLst/>
              <a:rect l="l" t="t" r="r" b="b"/>
              <a:pathLst>
                <a:path w="718184" h="1325879">
                  <a:moveTo>
                    <a:pt x="0" y="442975"/>
                  </a:moveTo>
                  <a:lnTo>
                    <a:pt x="442975" y="0"/>
                  </a:lnTo>
                  <a:lnTo>
                    <a:pt x="717803" y="0"/>
                  </a:lnTo>
                  <a:lnTo>
                    <a:pt x="717803" y="882903"/>
                  </a:lnTo>
                  <a:lnTo>
                    <a:pt x="274827" y="1325879"/>
                  </a:lnTo>
                  <a:lnTo>
                    <a:pt x="0" y="1325879"/>
                  </a:lnTo>
                  <a:lnTo>
                    <a:pt x="0" y="442975"/>
                  </a:lnTo>
                  <a:close/>
                </a:path>
                <a:path w="718184" h="1325879">
                  <a:moveTo>
                    <a:pt x="0" y="442975"/>
                  </a:moveTo>
                  <a:lnTo>
                    <a:pt x="274827" y="442975"/>
                  </a:lnTo>
                  <a:lnTo>
                    <a:pt x="717803" y="0"/>
                  </a:lnTo>
                </a:path>
                <a:path w="718184" h="1325879">
                  <a:moveTo>
                    <a:pt x="274827" y="442975"/>
                  </a:moveTo>
                  <a:lnTo>
                    <a:pt x="274827" y="1325879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201893D-6ADD-61E1-28DF-E7D896EBEC98}"/>
                </a:ext>
              </a:extLst>
            </p:cNvPr>
            <p:cNvSpPr/>
            <p:nvPr/>
          </p:nvSpPr>
          <p:spPr>
            <a:xfrm>
              <a:off x="10490453" y="2725674"/>
              <a:ext cx="781685" cy="76200"/>
            </a:xfrm>
            <a:custGeom>
              <a:avLst/>
              <a:gdLst/>
              <a:ahLst/>
              <a:cxnLst/>
              <a:rect l="l" t="t" r="r" b="b"/>
              <a:pathLst>
                <a:path w="781684" h="76200">
                  <a:moveTo>
                    <a:pt x="705485" y="0"/>
                  </a:moveTo>
                  <a:lnTo>
                    <a:pt x="705485" y="76200"/>
                  </a:lnTo>
                  <a:lnTo>
                    <a:pt x="762635" y="47625"/>
                  </a:lnTo>
                  <a:lnTo>
                    <a:pt x="718185" y="47625"/>
                  </a:lnTo>
                  <a:lnTo>
                    <a:pt x="718185" y="28575"/>
                  </a:lnTo>
                  <a:lnTo>
                    <a:pt x="762635" y="28575"/>
                  </a:lnTo>
                  <a:lnTo>
                    <a:pt x="705485" y="0"/>
                  </a:lnTo>
                  <a:close/>
                </a:path>
                <a:path w="781684" h="76200">
                  <a:moveTo>
                    <a:pt x="705485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705485" y="47625"/>
                  </a:lnTo>
                  <a:lnTo>
                    <a:pt x="705485" y="28575"/>
                  </a:lnTo>
                  <a:close/>
                </a:path>
                <a:path w="781684" h="76200">
                  <a:moveTo>
                    <a:pt x="762635" y="28575"/>
                  </a:moveTo>
                  <a:lnTo>
                    <a:pt x="718185" y="28575"/>
                  </a:lnTo>
                  <a:lnTo>
                    <a:pt x="718185" y="47625"/>
                  </a:lnTo>
                  <a:lnTo>
                    <a:pt x="762635" y="47625"/>
                  </a:lnTo>
                  <a:lnTo>
                    <a:pt x="781685" y="38100"/>
                  </a:lnTo>
                  <a:lnTo>
                    <a:pt x="762635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>
              <a:extLst>
                <a:ext uri="{FF2B5EF4-FFF2-40B4-BE49-F238E27FC236}">
                  <a16:creationId xmlns:a16="http://schemas.microsoft.com/office/drawing/2014/main" id="{06855ECB-0E3F-72BA-0CB6-508538F2C35C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934699" y="1932432"/>
              <a:ext cx="736866" cy="1509522"/>
            </a:xfrm>
            <a:prstGeom prst="rect">
              <a:avLst/>
            </a:prstGeom>
          </p:spPr>
        </p:pic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207DA044-1C50-77C1-C54C-DCFF59565E8F}"/>
                </a:ext>
              </a:extLst>
            </p:cNvPr>
            <p:cNvSpPr/>
            <p:nvPr/>
          </p:nvSpPr>
          <p:spPr>
            <a:xfrm>
              <a:off x="11234165" y="3441954"/>
              <a:ext cx="76200" cy="678815"/>
            </a:xfrm>
            <a:custGeom>
              <a:avLst/>
              <a:gdLst/>
              <a:ahLst/>
              <a:cxnLst/>
              <a:rect l="l" t="t" r="r" b="b"/>
              <a:pathLst>
                <a:path w="76200" h="678814">
                  <a:moveTo>
                    <a:pt x="47625" y="63500"/>
                  </a:moveTo>
                  <a:lnTo>
                    <a:pt x="28575" y="63500"/>
                  </a:lnTo>
                  <a:lnTo>
                    <a:pt x="28575" y="678561"/>
                  </a:lnTo>
                  <a:lnTo>
                    <a:pt x="47625" y="678561"/>
                  </a:lnTo>
                  <a:lnTo>
                    <a:pt x="47625" y="63500"/>
                  </a:lnTo>
                  <a:close/>
                </a:path>
                <a:path w="76200" h="678814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678814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>
            <a:extLst>
              <a:ext uri="{FF2B5EF4-FFF2-40B4-BE49-F238E27FC236}">
                <a16:creationId xmlns:a16="http://schemas.microsoft.com/office/drawing/2014/main" id="{7AB978DE-9FC7-3646-FD18-647185FED62A}"/>
              </a:ext>
            </a:extLst>
          </p:cNvPr>
          <p:cNvSpPr txBox="1"/>
          <p:nvPr/>
        </p:nvSpPr>
        <p:spPr>
          <a:xfrm>
            <a:off x="927608" y="5126431"/>
            <a:ext cx="4804410" cy="8610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b="1" dirty="0">
                <a:latin typeface="Calibri"/>
                <a:cs typeface="Calibri"/>
              </a:rPr>
              <a:t>Question: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 we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fully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convolutional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VAE?</a:t>
            </a:r>
            <a:endParaRPr sz="1800">
              <a:latin typeface="Calibri"/>
              <a:cs typeface="Calibri"/>
            </a:endParaRPr>
          </a:p>
          <a:p>
            <a:pPr marL="283210">
              <a:lnSpc>
                <a:spcPct val="100000"/>
              </a:lnSpc>
              <a:spcBef>
                <a:spcPts val="1130"/>
              </a:spcBef>
            </a:pPr>
            <a:r>
              <a:rPr sz="1800" b="1" spc="-25" dirty="0">
                <a:latin typeface="Calibri"/>
                <a:cs typeface="Calibri"/>
              </a:rPr>
              <a:t>Yes,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careful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codes!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8CA3D555-056B-83EE-BB64-60E2906F7E6C}"/>
              </a:ext>
            </a:extLst>
          </p:cNvPr>
          <p:cNvSpPr txBox="1"/>
          <p:nvPr/>
        </p:nvSpPr>
        <p:spPr>
          <a:xfrm>
            <a:off x="8402828" y="3613480"/>
            <a:ext cx="2224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transpose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convolutions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3" name="object 73">
            <a:extLst>
              <a:ext uri="{FF2B5EF4-FFF2-40B4-BE49-F238E27FC236}">
                <a16:creationId xmlns:a16="http://schemas.microsoft.com/office/drawing/2014/main" id="{583C968B-A094-C1D3-B524-FDB7E54B89DD}"/>
              </a:ext>
            </a:extLst>
          </p:cNvPr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226819" y="6184391"/>
            <a:ext cx="1565147" cy="259079"/>
          </a:xfrm>
          <a:prstGeom prst="rect">
            <a:avLst/>
          </a:prstGeom>
        </p:spPr>
      </p:pic>
      <p:sp>
        <p:nvSpPr>
          <p:cNvPr id="74" name="object 74">
            <a:extLst>
              <a:ext uri="{FF2B5EF4-FFF2-40B4-BE49-F238E27FC236}">
                <a16:creationId xmlns:a16="http://schemas.microsoft.com/office/drawing/2014/main" id="{780EFA4E-3135-0ACD-9460-971C755A3FE4}"/>
              </a:ext>
            </a:extLst>
          </p:cNvPr>
          <p:cNvSpPr/>
          <p:nvPr/>
        </p:nvSpPr>
        <p:spPr>
          <a:xfrm>
            <a:off x="2942082" y="6265926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7625"/>
                </a:lnTo>
                <a:lnTo>
                  <a:pt x="63500" y="47625"/>
                </a:lnTo>
                <a:lnTo>
                  <a:pt x="63500" y="28575"/>
                </a:lnTo>
                <a:lnTo>
                  <a:pt x="76200" y="28575"/>
                </a:lnTo>
                <a:lnTo>
                  <a:pt x="76200" y="0"/>
                </a:lnTo>
                <a:close/>
              </a:path>
              <a:path w="803275" h="76200">
                <a:moveTo>
                  <a:pt x="76200" y="28575"/>
                </a:moveTo>
                <a:lnTo>
                  <a:pt x="63500" y="28575"/>
                </a:lnTo>
                <a:lnTo>
                  <a:pt x="63500" y="47625"/>
                </a:lnTo>
                <a:lnTo>
                  <a:pt x="76200" y="47625"/>
                </a:lnTo>
                <a:lnTo>
                  <a:pt x="76200" y="28575"/>
                </a:lnTo>
                <a:close/>
              </a:path>
              <a:path w="803275" h="76200">
                <a:moveTo>
                  <a:pt x="802894" y="28575"/>
                </a:moveTo>
                <a:lnTo>
                  <a:pt x="76200" y="28575"/>
                </a:lnTo>
                <a:lnTo>
                  <a:pt x="76200" y="47625"/>
                </a:lnTo>
                <a:lnTo>
                  <a:pt x="802894" y="47625"/>
                </a:lnTo>
                <a:lnTo>
                  <a:pt x="80289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5" name="object 75">
            <a:extLst>
              <a:ext uri="{FF2B5EF4-FFF2-40B4-BE49-F238E27FC236}">
                <a16:creationId xmlns:a16="http://schemas.microsoft.com/office/drawing/2014/main" id="{9E8776F5-4F1D-6CDC-33B2-10B47925D24B}"/>
              </a:ext>
            </a:extLst>
          </p:cNvPr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852671" y="6187440"/>
            <a:ext cx="4469891" cy="224028"/>
          </a:xfrm>
          <a:prstGeom prst="rect">
            <a:avLst/>
          </a:prstGeom>
        </p:spPr>
      </p:pic>
      <p:sp>
        <p:nvSpPr>
          <p:cNvPr id="76" name="object 76">
            <a:extLst>
              <a:ext uri="{FF2B5EF4-FFF2-40B4-BE49-F238E27FC236}">
                <a16:creationId xmlns:a16="http://schemas.microsoft.com/office/drawing/2014/main" id="{2024F9D3-BCAE-979B-31B7-A66491866071}"/>
              </a:ext>
            </a:extLst>
          </p:cNvPr>
          <p:cNvSpPr txBox="1"/>
          <p:nvPr/>
        </p:nvSpPr>
        <p:spPr>
          <a:xfrm>
            <a:off x="9931654" y="4185869"/>
            <a:ext cx="207391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(independent)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</a:t>
            </a:r>
            <a:endParaRPr sz="1600">
              <a:latin typeface="Calibri"/>
              <a:cs typeface="Calibri"/>
            </a:endParaRPr>
          </a:p>
          <a:p>
            <a:pPr marR="5715" algn="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variance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pixel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7" name="Date Placeholder 76">
            <a:extLst>
              <a:ext uri="{FF2B5EF4-FFF2-40B4-BE49-F238E27FC236}">
                <a16:creationId xmlns:a16="http://schemas.microsoft.com/office/drawing/2014/main" id="{A949C522-2F76-7F75-C0D6-16A1B728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D170-D10A-4646-9CE6-7944CBE62FB6}" type="datetime1">
              <a:rPr lang="en-US" smtClean="0"/>
              <a:t>10/1/2025</a:t>
            </a:fld>
            <a:endParaRPr lang="en-US"/>
          </a:p>
        </p:txBody>
      </p:sp>
      <p:sp>
        <p:nvSpPr>
          <p:cNvPr id="78" name="Footer Placeholder 77">
            <a:extLst>
              <a:ext uri="{FF2B5EF4-FFF2-40B4-BE49-F238E27FC236}">
                <a16:creationId xmlns:a16="http://schemas.microsoft.com/office/drawing/2014/main" id="{FBB4719C-E908-1B2D-D719-BDDEFBDB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B8416C3C-E2D6-8FAC-26D1-2A5C8B84B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664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9323" y="373846"/>
            <a:ext cx="10972800" cy="83820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Some </a:t>
            </a:r>
            <a:r>
              <a:rPr spc="-7" dirty="0"/>
              <a:t>background first: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692F531B-3E89-4855-B7A3-6A78FCAFD1AD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38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878441" y="4040075"/>
            <a:ext cx="2717800" cy="1713653"/>
            <a:chOff x="2908831" y="3030056"/>
            <a:chExt cx="2038350" cy="1285240"/>
          </a:xfrm>
        </p:grpSpPr>
        <p:sp>
          <p:nvSpPr>
            <p:cNvPr id="4" name="object 4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927742" y="3460392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86742" y="3364393"/>
              <a:ext cx="81999" cy="1055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41057" y="4679509"/>
            <a:ext cx="11675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Encoder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3968" y="5271441"/>
            <a:ext cx="13868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Input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6562" y="3985951"/>
            <a:ext cx="12352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43977" y="2927991"/>
            <a:ext cx="4322233" cy="2718647"/>
            <a:chOff x="2282982" y="2195993"/>
            <a:chExt cx="3241675" cy="2038985"/>
          </a:xfrm>
        </p:grpSpPr>
        <p:sp>
          <p:nvSpPr>
            <p:cNvPr id="14" name="object 14"/>
            <p:cNvSpPr/>
            <p:nvPr/>
          </p:nvSpPr>
          <p:spPr>
            <a:xfrm>
              <a:off x="3838492" y="4074735"/>
              <a:ext cx="178499" cy="1597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8492" y="3091768"/>
              <a:ext cx="178499" cy="178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826540" y="2758544"/>
              <a:ext cx="633095" cy="760095"/>
            </a:xfrm>
            <a:custGeom>
              <a:avLst/>
              <a:gdLst/>
              <a:ahLst/>
              <a:cxnLst/>
              <a:rect l="l" t="t" r="r" b="b"/>
              <a:pathLst>
                <a:path w="633095" h="760095">
                  <a:moveTo>
                    <a:pt x="0" y="759948"/>
                  </a:moveTo>
                  <a:lnTo>
                    <a:pt x="632773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425589" y="2682569"/>
              <a:ext cx="98549" cy="1056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2370855" y="2242062"/>
              <a:ext cx="1532890" cy="715010"/>
            </a:xfrm>
            <a:custGeom>
              <a:avLst/>
              <a:gdLst/>
              <a:ahLst/>
              <a:cxnLst/>
              <a:rect l="l" t="t" r="r" b="b"/>
              <a:pathLst>
                <a:path w="1532889" h="715010">
                  <a:moveTo>
                    <a:pt x="1532611" y="71488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2982" y="2195993"/>
              <a:ext cx="110699" cy="841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9199" y="1183061"/>
            <a:ext cx="9527540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Unsupervised approach for learning </a:t>
            </a:r>
            <a:r>
              <a:rPr sz="2133" dirty="0">
                <a:latin typeface="Arial"/>
                <a:cs typeface="Arial"/>
              </a:rPr>
              <a:t>a </a:t>
            </a:r>
            <a:r>
              <a:rPr sz="2133" spc="-7" dirty="0">
                <a:latin typeface="Arial"/>
                <a:cs typeface="Arial"/>
              </a:rPr>
              <a:t>lower-dimensional feature </a:t>
            </a:r>
            <a:r>
              <a:rPr sz="2133" dirty="0">
                <a:latin typeface="Arial"/>
                <a:cs typeface="Arial"/>
              </a:rPr>
              <a:t>representation  </a:t>
            </a:r>
            <a:r>
              <a:rPr sz="2133" spc="-7" dirty="0">
                <a:latin typeface="Arial"/>
                <a:cs typeface="Arial"/>
              </a:rPr>
              <a:t>from unlabeled training</a:t>
            </a:r>
            <a:r>
              <a:rPr sz="2133" spc="-13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</a:t>
            </a:r>
            <a:endParaRPr sz="2133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14791" y="2142528"/>
            <a:ext cx="3462867" cy="1337973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861038">
              <a:lnSpc>
                <a:spcPct val="101600"/>
              </a:lnSpc>
              <a:spcBef>
                <a:spcPts val="93"/>
              </a:spcBef>
            </a:pPr>
            <a:r>
              <a:rPr sz="2133" b="1" spc="-7" dirty="0">
                <a:latin typeface="Arial"/>
                <a:cs typeface="Arial"/>
              </a:rPr>
              <a:t>Originally</a:t>
            </a:r>
            <a:r>
              <a:rPr sz="2133" spc="-7" dirty="0">
                <a:latin typeface="Arial"/>
                <a:cs typeface="Arial"/>
              </a:rPr>
              <a:t>: Linear </a:t>
            </a:r>
            <a:r>
              <a:rPr sz="2133" dirty="0">
                <a:latin typeface="Arial"/>
                <a:cs typeface="Arial"/>
              </a:rPr>
              <a:t>+  </a:t>
            </a:r>
            <a:r>
              <a:rPr sz="2133" spc="-7" dirty="0">
                <a:latin typeface="Arial"/>
                <a:cs typeface="Arial"/>
              </a:rPr>
              <a:t>nonlinearity</a:t>
            </a:r>
            <a:r>
              <a:rPr sz="2133" spc="-12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(sigmoid)</a:t>
            </a:r>
            <a:endParaRPr sz="2133">
              <a:latin typeface="Arial"/>
              <a:cs typeface="Arial"/>
            </a:endParaRPr>
          </a:p>
          <a:p>
            <a:pPr marL="16933">
              <a:spcBef>
                <a:spcPts val="40"/>
              </a:spcBef>
            </a:pPr>
            <a:r>
              <a:rPr sz="2133" b="1" spc="-7" dirty="0">
                <a:latin typeface="Arial"/>
                <a:cs typeface="Arial"/>
              </a:rPr>
              <a:t>Later</a:t>
            </a:r>
            <a:r>
              <a:rPr sz="2133" spc="-7" dirty="0">
                <a:latin typeface="Arial"/>
                <a:cs typeface="Arial"/>
              </a:rPr>
              <a:t>: Deep,</a:t>
            </a:r>
            <a:r>
              <a:rPr sz="2133" spc="-10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fully-connected</a:t>
            </a:r>
            <a:endParaRPr sz="2133">
              <a:latin typeface="Arial"/>
              <a:cs typeface="Arial"/>
            </a:endParaRPr>
          </a:p>
          <a:p>
            <a:pPr marL="16933">
              <a:spcBef>
                <a:spcPts val="40"/>
              </a:spcBef>
            </a:pPr>
            <a:r>
              <a:rPr sz="2133" b="1" spc="-7" dirty="0">
                <a:latin typeface="Arial"/>
                <a:cs typeface="Arial"/>
              </a:rPr>
              <a:t>Later</a:t>
            </a:r>
            <a:r>
              <a:rPr sz="2133" spc="-7" dirty="0">
                <a:latin typeface="Arial"/>
                <a:cs typeface="Arial"/>
              </a:rPr>
              <a:t>: ReLU</a:t>
            </a:r>
            <a:r>
              <a:rPr sz="2133" spc="-2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CNN</a:t>
            </a:r>
            <a:endParaRPr sz="2133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2632" y="2132444"/>
            <a:ext cx="3120813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latin typeface="Arial"/>
                <a:cs typeface="Arial"/>
              </a:rPr>
              <a:t>z </a:t>
            </a:r>
            <a:r>
              <a:rPr sz="2133" spc="-7" dirty="0">
                <a:latin typeface="Arial"/>
                <a:cs typeface="Arial"/>
              </a:rPr>
              <a:t>usually </a:t>
            </a:r>
            <a:r>
              <a:rPr sz="2133" dirty="0">
                <a:latin typeface="Arial"/>
                <a:cs typeface="Arial"/>
              </a:rPr>
              <a:t>smaller </a:t>
            </a:r>
            <a:r>
              <a:rPr sz="2133" spc="-7" dirty="0">
                <a:latin typeface="Arial"/>
                <a:cs typeface="Arial"/>
              </a:rPr>
              <a:t>than</a:t>
            </a:r>
            <a:r>
              <a:rPr sz="2133" spc="-67" dirty="0">
                <a:latin typeface="Arial"/>
                <a:cs typeface="Arial"/>
              </a:rPr>
              <a:t> </a:t>
            </a:r>
            <a:r>
              <a:rPr sz="2133" b="1" dirty="0">
                <a:latin typeface="Arial"/>
                <a:cs typeface="Arial"/>
              </a:rPr>
              <a:t>x</a:t>
            </a:r>
            <a:endParaRPr sz="2133">
              <a:latin typeface="Arial"/>
              <a:cs typeface="Arial"/>
            </a:endParaRPr>
          </a:p>
          <a:p>
            <a:pPr marL="16933">
              <a:spcBef>
                <a:spcPts val="40"/>
              </a:spcBef>
            </a:pPr>
            <a:r>
              <a:rPr sz="2133" dirty="0">
                <a:latin typeface="Arial"/>
                <a:cs typeface="Arial"/>
              </a:rPr>
              <a:t>(dimensionality</a:t>
            </a:r>
            <a:r>
              <a:rPr sz="2133" spc="-12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reduction)</a:t>
            </a:r>
            <a:endParaRPr sz="2133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3632" y="3038609"/>
            <a:ext cx="2389293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Q: Why</a:t>
            </a:r>
            <a:r>
              <a:rPr sz="1867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dimensionality  </a:t>
            </a:r>
            <a:r>
              <a:rPr sz="1867" dirty="0">
                <a:solidFill>
                  <a:srgbClr val="0000FF"/>
                </a:solidFill>
                <a:latin typeface="Arial"/>
                <a:cs typeface="Arial"/>
              </a:rPr>
              <a:t>reduction?</a:t>
            </a:r>
            <a:endParaRPr sz="1867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3632" y="3876806"/>
            <a:ext cx="2218267" cy="1159292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A: Want features to  </a:t>
            </a:r>
            <a:r>
              <a:rPr sz="1867" dirty="0">
                <a:solidFill>
                  <a:srgbClr val="0000FF"/>
                </a:solidFill>
                <a:latin typeface="Arial"/>
                <a:cs typeface="Arial"/>
              </a:rPr>
              <a:t>capture meaningful  </a:t>
            </a: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factors of </a:t>
            </a:r>
            <a:r>
              <a:rPr sz="1867" dirty="0">
                <a:solidFill>
                  <a:srgbClr val="0000FF"/>
                </a:solidFill>
                <a:latin typeface="Arial"/>
                <a:cs typeface="Arial"/>
              </a:rPr>
              <a:t>variation</a:t>
            </a:r>
            <a:r>
              <a:rPr sz="1867" spc="-12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in  data</a:t>
            </a:r>
            <a:endParaRPr sz="1867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986015" y="3936826"/>
            <a:ext cx="2913293" cy="19708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Some </a:t>
            </a:r>
            <a:r>
              <a:rPr spc="-7" dirty="0"/>
              <a:t>background first: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5F484DD6-7A44-471C-863E-48A79548B200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39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878441" y="4040075"/>
            <a:ext cx="2717800" cy="1713653"/>
            <a:chOff x="2908831" y="3030056"/>
            <a:chExt cx="2038350" cy="1285240"/>
          </a:xfrm>
        </p:grpSpPr>
        <p:sp>
          <p:nvSpPr>
            <p:cNvPr id="4" name="object 4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927742" y="3460392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86742" y="3364393"/>
              <a:ext cx="81999" cy="1055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838492" y="4074735"/>
              <a:ext cx="178499" cy="1597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3838492" y="3091768"/>
              <a:ext cx="178499" cy="178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83968" y="3393980"/>
            <a:ext cx="4643120" cy="22946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473786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Decoder</a:t>
            </a:r>
            <a:endParaRPr sz="2400">
              <a:latin typeface="Arial"/>
              <a:cs typeface="Arial"/>
            </a:endParaRPr>
          </a:p>
          <a:p>
            <a:pPr marL="778914">
              <a:spcBef>
                <a:spcPts val="1780"/>
              </a:spcBef>
            </a:pPr>
            <a:r>
              <a:rPr sz="2400" spc="-7" dirty="0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2200">
              <a:latin typeface="Arial"/>
              <a:cs typeface="Arial"/>
            </a:endParaRPr>
          </a:p>
          <a:p>
            <a:pPr marL="3473786">
              <a:spcBef>
                <a:spcPts val="7"/>
              </a:spcBef>
            </a:pPr>
            <a:r>
              <a:rPr sz="2400" spc="-7" dirty="0">
                <a:latin typeface="Arial"/>
                <a:cs typeface="Arial"/>
              </a:rPr>
              <a:t>Encoder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1780"/>
              </a:spcBef>
            </a:pPr>
            <a:r>
              <a:rPr sz="2400" spc="-7" dirty="0">
                <a:latin typeface="Arial"/>
                <a:cs typeface="Arial"/>
              </a:rPr>
              <a:t>Input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199" y="1183061"/>
            <a:ext cx="9737512" cy="12841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How to learn this feature</a:t>
            </a:r>
            <a:r>
              <a:rPr sz="2133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representation?</a:t>
            </a:r>
            <a:endParaRPr sz="2133">
              <a:latin typeface="Arial"/>
              <a:cs typeface="Arial"/>
            </a:endParaRPr>
          </a:p>
          <a:p>
            <a:pPr marL="16933" marR="2055655">
              <a:lnSpc>
                <a:spcPct val="101600"/>
              </a:lnSpc>
            </a:pPr>
            <a:r>
              <a:rPr sz="2133" spc="-7" dirty="0">
                <a:latin typeface="Arial"/>
                <a:cs typeface="Arial"/>
              </a:rPr>
              <a:t>Train </a:t>
            </a:r>
            <a:r>
              <a:rPr sz="2133" dirty="0">
                <a:latin typeface="Arial"/>
                <a:cs typeface="Arial"/>
              </a:rPr>
              <a:t>such </a:t>
            </a:r>
            <a:r>
              <a:rPr sz="2133" spc="-7" dirty="0">
                <a:latin typeface="Arial"/>
                <a:cs typeface="Arial"/>
              </a:rPr>
              <a:t>that features </a:t>
            </a:r>
            <a:r>
              <a:rPr sz="2133" dirty="0">
                <a:latin typeface="Arial"/>
                <a:cs typeface="Arial"/>
              </a:rPr>
              <a:t>can </a:t>
            </a:r>
            <a:r>
              <a:rPr sz="2133" spc="-7" dirty="0">
                <a:latin typeface="Arial"/>
                <a:cs typeface="Arial"/>
              </a:rPr>
              <a:t>be used to </a:t>
            </a:r>
            <a:r>
              <a:rPr sz="2133" dirty="0">
                <a:latin typeface="Arial"/>
                <a:cs typeface="Arial"/>
              </a:rPr>
              <a:t>reconstruct </a:t>
            </a:r>
            <a:r>
              <a:rPr sz="2133" spc="-7" dirty="0">
                <a:latin typeface="Arial"/>
                <a:cs typeface="Arial"/>
              </a:rPr>
              <a:t>original data  </a:t>
            </a:r>
            <a:r>
              <a:rPr sz="2133" dirty="0">
                <a:latin typeface="Arial"/>
                <a:cs typeface="Arial"/>
              </a:rPr>
              <a:t>“Autoencoding” - </a:t>
            </a:r>
            <a:r>
              <a:rPr sz="2133" spc="-7" dirty="0">
                <a:latin typeface="Arial"/>
                <a:cs typeface="Arial"/>
              </a:rPr>
              <a:t>encoding</a:t>
            </a:r>
            <a:r>
              <a:rPr sz="2133" spc="-33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itself</a:t>
            </a:r>
            <a:endParaRPr sz="2133">
              <a:latin typeface="Arial"/>
              <a:cs typeface="Arial"/>
            </a:endParaRPr>
          </a:p>
          <a:p>
            <a:pPr marL="7334490">
              <a:lnSpc>
                <a:spcPts val="2100"/>
              </a:lnSpc>
            </a:pPr>
            <a:r>
              <a:rPr sz="2133" b="1" spc="-7" dirty="0">
                <a:latin typeface="Arial"/>
                <a:cs typeface="Arial"/>
              </a:rPr>
              <a:t>Originally</a:t>
            </a:r>
            <a:r>
              <a:rPr sz="2133" spc="-7" dirty="0">
                <a:latin typeface="Arial"/>
                <a:cs typeface="Arial"/>
              </a:rPr>
              <a:t>: Linear</a:t>
            </a:r>
            <a:r>
              <a:rPr sz="2133" spc="-93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+</a:t>
            </a:r>
            <a:endParaRPr sz="213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1998" y="2617906"/>
            <a:ext cx="1998133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329345" marR="6773" indent="-313259">
              <a:lnSpc>
                <a:spcPct val="100699"/>
              </a:lnSpc>
              <a:spcBef>
                <a:spcPts val="113"/>
              </a:spcBef>
            </a:pPr>
            <a:r>
              <a:rPr sz="2400" spc="-7" dirty="0">
                <a:latin typeface="Arial"/>
                <a:cs typeface="Arial"/>
              </a:rPr>
              <a:t>Reconstructed  input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986015" y="3936826"/>
            <a:ext cx="2913293" cy="19708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6" name="object 16"/>
          <p:cNvGrpSpPr/>
          <p:nvPr/>
        </p:nvGrpSpPr>
        <p:grpSpPr>
          <a:xfrm>
            <a:off x="3878441" y="2746527"/>
            <a:ext cx="2717800" cy="1300480"/>
            <a:chOff x="2908831" y="2059895"/>
            <a:chExt cx="2038350" cy="975360"/>
          </a:xfrm>
        </p:grpSpPr>
        <p:sp>
          <p:nvSpPr>
            <p:cNvPr id="17" name="object 17"/>
            <p:cNvSpPr/>
            <p:nvPr/>
          </p:nvSpPr>
          <p:spPr>
            <a:xfrm>
              <a:off x="3927742" y="2496319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6742" y="2400345"/>
              <a:ext cx="81999" cy="1054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3844842" y="2089495"/>
              <a:ext cx="165774" cy="2355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87112" y="2440394"/>
            <a:ext cx="3462867" cy="100179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Arial"/>
                <a:cs typeface="Arial"/>
              </a:rPr>
              <a:t>nonlinearity</a:t>
            </a:r>
            <a:r>
              <a:rPr sz="2133" spc="-2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(sigmoid)</a:t>
            </a:r>
            <a:endParaRPr sz="2133">
              <a:latin typeface="Arial"/>
              <a:cs typeface="Arial"/>
            </a:endParaRPr>
          </a:p>
          <a:p>
            <a:pPr marL="16933">
              <a:spcBef>
                <a:spcPts val="40"/>
              </a:spcBef>
            </a:pPr>
            <a:r>
              <a:rPr sz="2133" b="1" spc="-7" dirty="0">
                <a:latin typeface="Arial"/>
                <a:cs typeface="Arial"/>
              </a:rPr>
              <a:t>Later</a:t>
            </a:r>
            <a:r>
              <a:rPr sz="2133" spc="-7" dirty="0">
                <a:latin typeface="Arial"/>
                <a:cs typeface="Arial"/>
              </a:rPr>
              <a:t>: Deep,</a:t>
            </a:r>
            <a:r>
              <a:rPr sz="2133" spc="-10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fully-connected</a:t>
            </a:r>
            <a:endParaRPr sz="2133">
              <a:latin typeface="Arial"/>
              <a:cs typeface="Arial"/>
            </a:endParaRPr>
          </a:p>
          <a:p>
            <a:pPr marL="16933">
              <a:spcBef>
                <a:spcPts val="40"/>
              </a:spcBef>
            </a:pPr>
            <a:r>
              <a:rPr sz="2133" b="1" spc="-7" dirty="0">
                <a:latin typeface="Arial"/>
                <a:cs typeface="Arial"/>
              </a:rPr>
              <a:t>Later</a:t>
            </a:r>
            <a:r>
              <a:rPr sz="2133" spc="-7" dirty="0">
                <a:latin typeface="Arial"/>
                <a:cs typeface="Arial"/>
              </a:rPr>
              <a:t>: ReLU CNN</a:t>
            </a:r>
            <a:r>
              <a:rPr sz="2133" spc="-73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(upconv)</a:t>
            </a:r>
            <a:endParaRPr sz="2133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911853" y="2790574"/>
            <a:ext cx="734060" cy="659553"/>
            <a:chOff x="5183889" y="2092930"/>
            <a:chExt cx="550545" cy="494665"/>
          </a:xfrm>
        </p:grpSpPr>
        <p:sp>
          <p:nvSpPr>
            <p:cNvPr id="24" name="object 24"/>
            <p:cNvSpPr/>
            <p:nvPr/>
          </p:nvSpPr>
          <p:spPr>
            <a:xfrm>
              <a:off x="5193414" y="2160113"/>
              <a:ext cx="466725" cy="417830"/>
            </a:xfrm>
            <a:custGeom>
              <a:avLst/>
              <a:gdLst/>
              <a:ahLst/>
              <a:cxnLst/>
              <a:rect l="l" t="t" r="r" b="b"/>
              <a:pathLst>
                <a:path w="466725" h="417830">
                  <a:moveTo>
                    <a:pt x="0" y="417556"/>
                  </a:moveTo>
                  <a:lnTo>
                    <a:pt x="466524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629438" y="2092930"/>
              <a:ext cx="104449" cy="1001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Some </a:t>
            </a:r>
            <a:r>
              <a:rPr spc="-7" dirty="0"/>
              <a:t>background first: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A29D81AE-D7C6-484C-9F18-47F3EF45D552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40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878441" y="4040075"/>
            <a:ext cx="2717800" cy="1713653"/>
            <a:chOff x="2908831" y="3030056"/>
            <a:chExt cx="2038350" cy="1285240"/>
          </a:xfrm>
        </p:grpSpPr>
        <p:sp>
          <p:nvSpPr>
            <p:cNvPr id="4" name="object 4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927742" y="3460392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86742" y="3364393"/>
              <a:ext cx="81999" cy="1055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3968" y="3985951"/>
            <a:ext cx="4624493" cy="16944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78914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2200">
              <a:latin typeface="Arial"/>
              <a:cs typeface="Arial"/>
            </a:endParaRPr>
          </a:p>
          <a:p>
            <a:pPr marR="6773" algn="r"/>
            <a:r>
              <a:rPr sz="2400" spc="-7" dirty="0">
                <a:latin typeface="Arial"/>
                <a:cs typeface="Arial"/>
              </a:rPr>
              <a:t>Encoder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1787"/>
              </a:spcBef>
            </a:pPr>
            <a:r>
              <a:rPr sz="2400" spc="-7" dirty="0">
                <a:latin typeface="Arial"/>
                <a:cs typeface="Arial"/>
              </a:rPr>
              <a:t>Input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78441" y="2746528"/>
            <a:ext cx="2717800" cy="2899833"/>
            <a:chOff x="2908831" y="2059895"/>
            <a:chExt cx="2038350" cy="2174875"/>
          </a:xfrm>
        </p:grpSpPr>
        <p:sp>
          <p:nvSpPr>
            <p:cNvPr id="12" name="object 12"/>
            <p:cNvSpPr/>
            <p:nvPr/>
          </p:nvSpPr>
          <p:spPr>
            <a:xfrm>
              <a:off x="3838492" y="4074735"/>
              <a:ext cx="178499" cy="1597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8492" y="3091768"/>
              <a:ext cx="178499" cy="178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927742" y="2496319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86742" y="2400345"/>
              <a:ext cx="81999" cy="1054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4842" y="2089495"/>
              <a:ext cx="165774" cy="2355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9199" y="1183060"/>
            <a:ext cx="7687733" cy="99345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How to learn this feature</a:t>
            </a:r>
            <a:r>
              <a:rPr sz="2133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representation?</a:t>
            </a:r>
            <a:endParaRPr sz="2133">
              <a:latin typeface="Arial"/>
              <a:cs typeface="Arial"/>
            </a:endParaRPr>
          </a:p>
          <a:p>
            <a:pPr marL="16933" marR="6773">
              <a:lnSpc>
                <a:spcPct val="101600"/>
              </a:lnSpc>
            </a:pPr>
            <a:r>
              <a:rPr sz="2133" spc="-7" dirty="0">
                <a:latin typeface="Arial"/>
                <a:cs typeface="Arial"/>
              </a:rPr>
              <a:t>Train </a:t>
            </a:r>
            <a:r>
              <a:rPr sz="2133" dirty="0">
                <a:latin typeface="Arial"/>
                <a:cs typeface="Arial"/>
              </a:rPr>
              <a:t>such </a:t>
            </a:r>
            <a:r>
              <a:rPr sz="2133" spc="-7" dirty="0">
                <a:latin typeface="Arial"/>
                <a:cs typeface="Arial"/>
              </a:rPr>
              <a:t>that features </a:t>
            </a:r>
            <a:r>
              <a:rPr sz="2133" dirty="0">
                <a:latin typeface="Arial"/>
                <a:cs typeface="Arial"/>
              </a:rPr>
              <a:t>can </a:t>
            </a:r>
            <a:r>
              <a:rPr sz="2133" spc="-7" dirty="0">
                <a:latin typeface="Arial"/>
                <a:cs typeface="Arial"/>
              </a:rPr>
              <a:t>be used to </a:t>
            </a:r>
            <a:r>
              <a:rPr sz="2133" dirty="0">
                <a:latin typeface="Arial"/>
                <a:cs typeface="Arial"/>
              </a:rPr>
              <a:t>reconstruct </a:t>
            </a:r>
            <a:r>
              <a:rPr sz="2133" spc="-7" dirty="0">
                <a:latin typeface="Arial"/>
                <a:cs typeface="Arial"/>
              </a:rPr>
              <a:t>original data  </a:t>
            </a:r>
            <a:r>
              <a:rPr sz="2133" dirty="0">
                <a:latin typeface="Arial"/>
                <a:cs typeface="Arial"/>
              </a:rPr>
              <a:t>“Autoencoding” - </a:t>
            </a:r>
            <a:r>
              <a:rPr sz="2133" spc="-7" dirty="0">
                <a:latin typeface="Arial"/>
                <a:cs typeface="Arial"/>
              </a:rPr>
              <a:t>encoding</a:t>
            </a:r>
            <a:r>
              <a:rPr sz="2133" spc="-33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itself</a:t>
            </a:r>
            <a:endParaRPr sz="213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41057" y="3393979"/>
            <a:ext cx="11861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Decoder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91998" y="2617906"/>
            <a:ext cx="1998133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329345" marR="6773" indent="-313259">
              <a:lnSpc>
                <a:spcPct val="100699"/>
              </a:lnSpc>
              <a:spcBef>
                <a:spcPts val="113"/>
              </a:spcBef>
            </a:pPr>
            <a:r>
              <a:rPr sz="2400" spc="-7" dirty="0">
                <a:latin typeface="Arial"/>
                <a:cs typeface="Arial"/>
              </a:rPr>
              <a:t>Reconstructed  input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986015" y="3936826"/>
            <a:ext cx="2913293" cy="19708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9003482" y="651113"/>
            <a:ext cx="2855527" cy="18803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9244650" y="325995"/>
            <a:ext cx="2382519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Arial"/>
                <a:cs typeface="Arial"/>
              </a:rPr>
              <a:t>Reconstructed</a:t>
            </a:r>
            <a:r>
              <a:rPr sz="2133" spc="-10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</a:t>
            </a:r>
            <a:endParaRPr sz="2133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69835" y="3692755"/>
            <a:ext cx="1236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Arial"/>
                <a:cs typeface="Arial"/>
              </a:rPr>
              <a:t>Input</a:t>
            </a:r>
            <a:r>
              <a:rPr sz="2133" spc="-10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</a:t>
            </a:r>
            <a:endParaRPr sz="2133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99413" y="3490459"/>
            <a:ext cx="109332" cy="2659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9097405" y="2835341"/>
            <a:ext cx="2667847" cy="5813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48163">
              <a:lnSpc>
                <a:spcPts val="2219"/>
              </a:lnSpc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Encoder</a:t>
            </a:r>
            <a:r>
              <a:rPr sz="1867" spc="-7" dirty="0">
                <a:latin typeface="Arial"/>
                <a:cs typeface="Arial"/>
              </a:rPr>
              <a:t>: 4-layer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conv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b="1" spc="-7" dirty="0">
                <a:latin typeface="Arial"/>
                <a:cs typeface="Arial"/>
              </a:rPr>
              <a:t>Decoder</a:t>
            </a:r>
            <a:r>
              <a:rPr sz="1867" spc="-7" dirty="0">
                <a:latin typeface="Arial"/>
                <a:cs typeface="Arial"/>
              </a:rPr>
              <a:t>: 4-layer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upconv</a:t>
            </a:r>
            <a:endParaRPr sz="1867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387979" y="2564628"/>
            <a:ext cx="109332" cy="2659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Some </a:t>
            </a:r>
            <a:r>
              <a:rPr spc="-7" dirty="0"/>
              <a:t>background first: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36" name="object 36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124A35FF-A0FA-407B-BCFB-4C2AAEC2E4B6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41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884793" y="5331856"/>
            <a:ext cx="2705100" cy="415713"/>
            <a:chOff x="2913594" y="3998891"/>
            <a:chExt cx="2028825" cy="311785"/>
          </a:xfrm>
        </p:grpSpPr>
        <p:sp>
          <p:nvSpPr>
            <p:cNvPr id="4" name="object 4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838492" y="4074735"/>
              <a:ext cx="178499" cy="15973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422241" y="4040075"/>
            <a:ext cx="1629833" cy="428413"/>
            <a:chOff x="3316680" y="3030056"/>
            <a:chExt cx="1222375" cy="321310"/>
          </a:xfrm>
        </p:grpSpPr>
        <p:sp>
          <p:nvSpPr>
            <p:cNvPr id="7" name="object 7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38492" y="3091768"/>
              <a:ext cx="178499" cy="1784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/>
          <p:nvPr/>
        </p:nvSpPr>
        <p:spPr>
          <a:xfrm>
            <a:off x="5182323" y="4485857"/>
            <a:ext cx="109332" cy="14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2283968" y="5271441"/>
            <a:ext cx="13868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Input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46561" y="3985951"/>
            <a:ext cx="8128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Featu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91998" y="2617906"/>
            <a:ext cx="1998133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329345" marR="6773" indent="-313259">
              <a:lnSpc>
                <a:spcPct val="100699"/>
              </a:lnSpc>
              <a:spcBef>
                <a:spcPts val="113"/>
              </a:spcBef>
            </a:pPr>
            <a:r>
              <a:rPr sz="2400" spc="-7" dirty="0">
                <a:latin typeface="Arial"/>
                <a:cs typeface="Arial"/>
              </a:rPr>
              <a:t>Reconstructed  input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86015" y="3936826"/>
            <a:ext cx="2913293" cy="19708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pSp>
        <p:nvGrpSpPr>
          <p:cNvPr id="15" name="object 15"/>
          <p:cNvGrpSpPr/>
          <p:nvPr/>
        </p:nvGrpSpPr>
        <p:grpSpPr>
          <a:xfrm>
            <a:off x="3878441" y="2746527"/>
            <a:ext cx="2717800" cy="1300480"/>
            <a:chOff x="2908831" y="2059895"/>
            <a:chExt cx="2038350" cy="975360"/>
          </a:xfrm>
        </p:grpSpPr>
        <p:sp>
          <p:nvSpPr>
            <p:cNvPr id="16" name="object 16"/>
            <p:cNvSpPr/>
            <p:nvPr/>
          </p:nvSpPr>
          <p:spPr>
            <a:xfrm>
              <a:off x="3927742" y="2496319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3886742" y="2400345"/>
              <a:ext cx="81999" cy="1054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/>
          <p:nvPr/>
        </p:nvSpPr>
        <p:spPr>
          <a:xfrm>
            <a:off x="5126456" y="2785993"/>
            <a:ext cx="221032" cy="3140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9003482" y="651113"/>
            <a:ext cx="2855527" cy="18803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9244650" y="325995"/>
            <a:ext cx="2382519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Arial"/>
                <a:cs typeface="Arial"/>
              </a:rPr>
              <a:t>Reconstructed</a:t>
            </a:r>
            <a:r>
              <a:rPr sz="2133" spc="-10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</a:t>
            </a:r>
            <a:endParaRPr sz="2133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69835" y="3692755"/>
            <a:ext cx="1236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latin typeface="Arial"/>
                <a:cs typeface="Arial"/>
              </a:rPr>
              <a:t>Input</a:t>
            </a:r>
            <a:r>
              <a:rPr sz="2133" spc="-10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</a:t>
            </a:r>
            <a:endParaRPr sz="2133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399413" y="3490459"/>
            <a:ext cx="109332" cy="2659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9097405" y="2835341"/>
            <a:ext cx="2667847" cy="5813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48163">
              <a:lnSpc>
                <a:spcPts val="2219"/>
              </a:lnSpc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Encoder</a:t>
            </a:r>
            <a:r>
              <a:rPr sz="1867" spc="-7" dirty="0">
                <a:latin typeface="Arial"/>
                <a:cs typeface="Arial"/>
              </a:rPr>
              <a:t>: 4-layer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conv</a:t>
            </a:r>
            <a:endParaRPr sz="1867">
              <a:latin typeface="Arial"/>
              <a:cs typeface="Arial"/>
            </a:endParaRPr>
          </a:p>
          <a:p>
            <a:pPr marL="16933">
              <a:lnSpc>
                <a:spcPts val="2219"/>
              </a:lnSpc>
            </a:pPr>
            <a:r>
              <a:rPr sz="1867" b="1" spc="-7" dirty="0">
                <a:latin typeface="Arial"/>
                <a:cs typeface="Arial"/>
              </a:rPr>
              <a:t>Decoder</a:t>
            </a:r>
            <a:r>
              <a:rPr sz="1867" spc="-7" dirty="0">
                <a:latin typeface="Arial"/>
                <a:cs typeface="Arial"/>
              </a:rPr>
              <a:t>: 4-layer</a:t>
            </a:r>
            <a:r>
              <a:rPr sz="1867" spc="-107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upconv</a:t>
            </a:r>
            <a:endParaRPr sz="1867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387979" y="2564628"/>
            <a:ext cx="109332" cy="26596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4018067" y="1352921"/>
            <a:ext cx="23334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L2 Loss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function: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69024" y="1860663"/>
            <a:ext cx="1129531" cy="3589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5182356" y="2313862"/>
            <a:ext cx="109299" cy="44876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3872093" y="2057400"/>
          <a:ext cx="3599175" cy="36769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3757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L="1404620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Decoder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res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50">
                      <a:solidFill>
                        <a:srgbClr val="666666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9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666666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905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Encoder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82125" marB="0">
                    <a:lnL w="19050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99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19050">
                      <a:solidFill>
                        <a:srgbClr val="666666"/>
                      </a:solidFill>
                      <a:prstDash val="solid"/>
                    </a:lnR>
                    <a:lnB w="19050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999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R w="9525">
                      <a:solidFill>
                        <a:srgbClr val="666666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66666"/>
                      </a:solidFill>
                      <a:prstDash val="solid"/>
                    </a:lnL>
                    <a:lnT w="19050">
                      <a:solidFill>
                        <a:srgbClr val="66666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6060621" y="1960677"/>
            <a:ext cx="140665" cy="10930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 txBox="1"/>
          <p:nvPr/>
        </p:nvSpPr>
        <p:spPr>
          <a:xfrm>
            <a:off x="463932" y="1107760"/>
            <a:ext cx="287189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Train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such </a:t>
            </a: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that</a:t>
            </a:r>
            <a:r>
              <a:rPr sz="2133" spc="-12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features</a:t>
            </a:r>
            <a:endParaRPr sz="2133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3932" y="1437961"/>
            <a:ext cx="2924387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can </a:t>
            </a: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be used to 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reconstruct </a:t>
            </a: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original</a:t>
            </a:r>
            <a:r>
              <a:rPr sz="2133" spc="-13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endParaRPr sz="21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Some </a:t>
            </a:r>
            <a:r>
              <a:rPr spc="-7" dirty="0"/>
              <a:t>background first: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93E49E83-3776-41E9-9967-FC2A2A4E0F79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42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4284840" y="2234406"/>
            <a:ext cx="3059853" cy="3519593"/>
            <a:chOff x="3213630" y="1675804"/>
            <a:chExt cx="2294890" cy="2639695"/>
          </a:xfrm>
        </p:grpSpPr>
        <p:sp>
          <p:nvSpPr>
            <p:cNvPr id="4" name="object 4"/>
            <p:cNvSpPr/>
            <p:nvPr/>
          </p:nvSpPr>
          <p:spPr>
            <a:xfrm>
              <a:off x="3218393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3218393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4232541" y="3460393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626242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626242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4191541" y="3364393"/>
              <a:ext cx="81999" cy="1055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143291" y="4074735"/>
              <a:ext cx="178499" cy="1597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143291" y="3091768"/>
              <a:ext cx="178499" cy="178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2541" y="2496319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191541" y="2400345"/>
              <a:ext cx="81999" cy="1054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4028666" y="2070745"/>
              <a:ext cx="408305" cy="311785"/>
            </a:xfrm>
            <a:custGeom>
              <a:avLst/>
              <a:gdLst/>
              <a:ahLst/>
              <a:cxnLst/>
              <a:rect l="l" t="t" r="r" b="b"/>
              <a:pathLst>
                <a:path w="408304" h="311785">
                  <a:moveTo>
                    <a:pt x="4076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407699" y="0"/>
                  </a:lnTo>
                  <a:lnTo>
                    <a:pt x="407699" y="311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4028666" y="2070745"/>
              <a:ext cx="408305" cy="311785"/>
            </a:xfrm>
            <a:custGeom>
              <a:avLst/>
              <a:gdLst/>
              <a:ahLst/>
              <a:cxnLst/>
              <a:rect l="l" t="t" r="r" b="b"/>
              <a:pathLst>
                <a:path w="408304" h="311785">
                  <a:moveTo>
                    <a:pt x="0" y="0"/>
                  </a:moveTo>
                  <a:lnTo>
                    <a:pt x="407699" y="0"/>
                  </a:lnTo>
                  <a:lnTo>
                    <a:pt x="4076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154641" y="2089495"/>
              <a:ext cx="155713" cy="2355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095464" y="2070745"/>
              <a:ext cx="408305" cy="311785"/>
            </a:xfrm>
            <a:custGeom>
              <a:avLst/>
              <a:gdLst/>
              <a:ahLst/>
              <a:cxnLst/>
              <a:rect l="l" t="t" r="r" b="b"/>
              <a:pathLst>
                <a:path w="408304" h="311785">
                  <a:moveTo>
                    <a:pt x="4076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407699" y="0"/>
                  </a:lnTo>
                  <a:lnTo>
                    <a:pt x="407699" y="3113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5464" y="2070745"/>
              <a:ext cx="408305" cy="311785"/>
            </a:xfrm>
            <a:custGeom>
              <a:avLst/>
              <a:gdLst/>
              <a:ahLst/>
              <a:cxnLst/>
              <a:rect l="l" t="t" r="r" b="b"/>
              <a:pathLst>
                <a:path w="408304" h="311785">
                  <a:moveTo>
                    <a:pt x="0" y="0"/>
                  </a:moveTo>
                  <a:lnTo>
                    <a:pt x="407699" y="0"/>
                  </a:lnTo>
                  <a:lnTo>
                    <a:pt x="4076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5221464" y="2131115"/>
              <a:ext cx="155699" cy="1713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232516" y="1747051"/>
              <a:ext cx="317500" cy="323850"/>
            </a:xfrm>
            <a:custGeom>
              <a:avLst/>
              <a:gdLst/>
              <a:ahLst/>
              <a:cxnLst/>
              <a:rect l="l" t="t" r="r" b="b"/>
              <a:pathLst>
                <a:path w="317500" h="323850">
                  <a:moveTo>
                    <a:pt x="0" y="323694"/>
                  </a:moveTo>
                  <a:lnTo>
                    <a:pt x="31747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4517990" y="1675804"/>
              <a:ext cx="102049" cy="10280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4921115" y="1748451"/>
              <a:ext cx="366395" cy="322580"/>
            </a:xfrm>
            <a:custGeom>
              <a:avLst/>
              <a:gdLst/>
              <a:ahLst/>
              <a:cxnLst/>
              <a:rect l="l" t="t" r="r" b="b"/>
              <a:pathLst>
                <a:path w="366395" h="322580">
                  <a:moveTo>
                    <a:pt x="366299" y="32229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6690" y="1681819"/>
              <a:ext cx="104749" cy="997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147457" y="4679509"/>
            <a:ext cx="116755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Encoder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0367" y="5271441"/>
            <a:ext cx="13868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Input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52961" y="3985951"/>
            <a:ext cx="12352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47456" y="3393979"/>
            <a:ext cx="12869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Classifier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66469" y="2771588"/>
            <a:ext cx="21463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Predicted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Label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880617" y="2652128"/>
            <a:ext cx="110067" cy="3147907"/>
            <a:chOff x="5910463" y="1989096"/>
            <a:chExt cx="82550" cy="2360930"/>
          </a:xfrm>
        </p:grpSpPr>
        <p:sp>
          <p:nvSpPr>
            <p:cNvPr id="30" name="object 30"/>
            <p:cNvSpPr/>
            <p:nvPr/>
          </p:nvSpPr>
          <p:spPr>
            <a:xfrm>
              <a:off x="5951463" y="1989096"/>
              <a:ext cx="0" cy="2264410"/>
            </a:xfrm>
            <a:custGeom>
              <a:avLst/>
              <a:gdLst/>
              <a:ahLst/>
              <a:cxnLst/>
              <a:rect l="l" t="t" r="r" b="b"/>
              <a:pathLst>
                <a:path h="2264410">
                  <a:moveTo>
                    <a:pt x="0" y="0"/>
                  </a:moveTo>
                  <a:lnTo>
                    <a:pt x="0" y="2264395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5910463" y="4243966"/>
              <a:ext cx="81999" cy="10549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051754" y="3316553"/>
            <a:ext cx="1282700" cy="132963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Fine-tune  encoder  jointly</a:t>
            </a:r>
            <a:r>
              <a:rPr sz="2133" spc="-12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with  </a:t>
            </a:r>
            <a:r>
              <a:rPr sz="2133" dirty="0">
                <a:latin typeface="Arial"/>
                <a:cs typeface="Arial"/>
              </a:rPr>
              <a:t>classifier</a:t>
            </a:r>
            <a:endParaRPr sz="2133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33771" y="1413375"/>
            <a:ext cx="1930400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16933" marR="6773" indent="49952">
              <a:lnSpc>
                <a:spcPct val="100699"/>
              </a:lnSpc>
              <a:spcBef>
                <a:spcPts val="113"/>
              </a:spcBef>
            </a:pPr>
            <a:r>
              <a:rPr sz="2400" spc="-7" dirty="0">
                <a:latin typeface="Arial"/>
                <a:cs typeface="Arial"/>
              </a:rPr>
              <a:t>Loss function  </a:t>
            </a:r>
            <a:r>
              <a:rPr sz="2400" dirty="0">
                <a:latin typeface="Arial"/>
                <a:cs typeface="Arial"/>
              </a:rPr>
              <a:t>(Softmax,</a:t>
            </a:r>
            <a:r>
              <a:rPr sz="2400" spc="-1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etc)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4032" y="3704257"/>
            <a:ext cx="2277533" cy="99486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Encoder </a:t>
            </a:r>
            <a:r>
              <a:rPr sz="2133" dirty="0">
                <a:latin typeface="Arial"/>
                <a:cs typeface="Arial"/>
              </a:rPr>
              <a:t>can </a:t>
            </a:r>
            <a:r>
              <a:rPr sz="2133" spc="-7" dirty="0">
                <a:latin typeface="Arial"/>
                <a:cs typeface="Arial"/>
              </a:rPr>
              <a:t>be  used to initialize </a:t>
            </a:r>
            <a:r>
              <a:rPr sz="2133" dirty="0">
                <a:latin typeface="Arial"/>
                <a:cs typeface="Arial"/>
              </a:rPr>
              <a:t>a  </a:t>
            </a:r>
            <a:r>
              <a:rPr sz="2133" b="1" spc="-7" dirty="0">
                <a:latin typeface="Arial"/>
                <a:cs typeface="Arial"/>
              </a:rPr>
              <a:t>supervised</a:t>
            </a:r>
            <a:r>
              <a:rPr sz="2133" b="1" spc="-12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model</a:t>
            </a:r>
            <a:endParaRPr sz="2133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591347" y="5175023"/>
            <a:ext cx="2423628" cy="47670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 txBox="1"/>
          <p:nvPr/>
        </p:nvSpPr>
        <p:spPr>
          <a:xfrm>
            <a:off x="10935286" y="1789782"/>
            <a:ext cx="61383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plane</a:t>
            </a:r>
            <a:endParaRPr sz="1867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626251" y="2169218"/>
            <a:ext cx="43010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dog</a:t>
            </a:r>
            <a:endParaRPr sz="1867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538233" y="2169193"/>
            <a:ext cx="50884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deer</a:t>
            </a:r>
            <a:endParaRPr sz="1867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064809" y="1789782"/>
            <a:ext cx="4292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bird</a:t>
            </a:r>
            <a:endParaRPr sz="1867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377421" y="2169193"/>
            <a:ext cx="546945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7" dirty="0">
                <a:latin typeface="Arial"/>
                <a:cs typeface="Arial"/>
              </a:rPr>
              <a:t>truck</a:t>
            </a:r>
            <a:endParaRPr sz="1867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699019" y="3216109"/>
            <a:ext cx="2179319" cy="99486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086" marR="6773" algn="ctr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Train for final</a:t>
            </a:r>
            <a:r>
              <a:rPr sz="2133" spc="-12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task  </a:t>
            </a:r>
            <a:r>
              <a:rPr sz="2133" dirty="0">
                <a:latin typeface="Arial"/>
                <a:cs typeface="Arial"/>
              </a:rPr>
              <a:t>(sometimes </a:t>
            </a:r>
            <a:r>
              <a:rPr sz="2133" spc="-7" dirty="0">
                <a:latin typeface="Arial"/>
                <a:cs typeface="Arial"/>
              </a:rPr>
              <a:t>with  </a:t>
            </a:r>
            <a:r>
              <a:rPr sz="2133" dirty="0">
                <a:latin typeface="Arial"/>
                <a:cs typeface="Arial"/>
              </a:rPr>
              <a:t>small</a:t>
            </a:r>
            <a:r>
              <a:rPr sz="2133" spc="-33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data)</a:t>
            </a:r>
            <a:endParaRPr sz="21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Some </a:t>
            </a:r>
            <a:r>
              <a:rPr spc="-7" dirty="0"/>
              <a:t>background first: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473E349D-0AA4-43B8-897C-9444CD2FC3EA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43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878441" y="4040075"/>
            <a:ext cx="2717800" cy="1713653"/>
            <a:chOff x="2908831" y="3030056"/>
            <a:chExt cx="2038350" cy="1285240"/>
          </a:xfrm>
        </p:grpSpPr>
        <p:sp>
          <p:nvSpPr>
            <p:cNvPr id="4" name="object 4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/>
            <p:nvPr/>
          </p:nvSpPr>
          <p:spPr>
            <a:xfrm>
              <a:off x="2913594" y="3998891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3927742" y="3460392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7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3321443" y="303481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3886742" y="3364393"/>
              <a:ext cx="81999" cy="1055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3968" y="3985951"/>
            <a:ext cx="4624493" cy="16944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78914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2200">
              <a:latin typeface="Arial"/>
              <a:cs typeface="Arial"/>
            </a:endParaRPr>
          </a:p>
          <a:p>
            <a:pPr marR="6773" algn="r"/>
            <a:r>
              <a:rPr sz="2400" spc="-7" dirty="0">
                <a:latin typeface="Arial"/>
                <a:cs typeface="Arial"/>
              </a:rPr>
              <a:t>Encoder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1787"/>
              </a:spcBef>
            </a:pPr>
            <a:r>
              <a:rPr sz="2400" spc="-7" dirty="0">
                <a:latin typeface="Arial"/>
                <a:cs typeface="Arial"/>
              </a:rPr>
              <a:t>Input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78441" y="2746528"/>
            <a:ext cx="2717800" cy="2899833"/>
            <a:chOff x="2908831" y="2059895"/>
            <a:chExt cx="2038350" cy="2174875"/>
          </a:xfrm>
        </p:grpSpPr>
        <p:sp>
          <p:nvSpPr>
            <p:cNvPr id="12" name="object 12"/>
            <p:cNvSpPr/>
            <p:nvPr/>
          </p:nvSpPr>
          <p:spPr>
            <a:xfrm>
              <a:off x="3838492" y="4074735"/>
              <a:ext cx="178499" cy="1597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3838492" y="3091768"/>
              <a:ext cx="178499" cy="178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927742" y="2496319"/>
              <a:ext cx="0" cy="539115"/>
            </a:xfrm>
            <a:custGeom>
              <a:avLst/>
              <a:gdLst/>
              <a:ahLst/>
              <a:cxnLst/>
              <a:rect l="l" t="t" r="r" b="b"/>
              <a:pathLst>
                <a:path h="539114">
                  <a:moveTo>
                    <a:pt x="0" y="5384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3886742" y="2400345"/>
              <a:ext cx="81999" cy="1054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2913594" y="2064658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844842" y="2089495"/>
              <a:ext cx="165774" cy="23557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741057" y="3393979"/>
            <a:ext cx="11861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Decoder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91998" y="2617906"/>
            <a:ext cx="1998133" cy="737424"/>
          </a:xfrm>
          <a:prstGeom prst="rect">
            <a:avLst/>
          </a:prstGeom>
        </p:spPr>
        <p:txBody>
          <a:bodyPr vert="horz" wrap="square" lIns="0" tIns="14393" rIns="0" bIns="0" rtlCol="0">
            <a:spAutoFit/>
          </a:bodyPr>
          <a:lstStyle/>
          <a:p>
            <a:pPr marL="329345" marR="6773" indent="-313259">
              <a:lnSpc>
                <a:spcPct val="100699"/>
              </a:lnSpc>
              <a:spcBef>
                <a:spcPts val="113"/>
              </a:spcBef>
            </a:pPr>
            <a:r>
              <a:rPr sz="2400" spc="-7" dirty="0">
                <a:latin typeface="Arial"/>
                <a:cs typeface="Arial"/>
              </a:rPr>
              <a:t>Reconstructed  input</a:t>
            </a:r>
            <a:r>
              <a:rPr sz="2400" spc="-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67657" y="1421398"/>
            <a:ext cx="3702473" cy="99486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algn="just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Autoencoders </a:t>
            </a:r>
            <a:r>
              <a:rPr sz="2133" dirty="0">
                <a:latin typeface="Arial"/>
                <a:cs typeface="Arial"/>
              </a:rPr>
              <a:t>can reconstruct  </a:t>
            </a:r>
            <a:r>
              <a:rPr sz="2133" spc="-7" dirty="0">
                <a:latin typeface="Arial"/>
                <a:cs typeface="Arial"/>
              </a:rPr>
              <a:t>data, and </a:t>
            </a:r>
            <a:r>
              <a:rPr sz="2133" dirty="0">
                <a:latin typeface="Arial"/>
                <a:cs typeface="Arial"/>
              </a:rPr>
              <a:t>can </a:t>
            </a:r>
            <a:r>
              <a:rPr sz="2133" spc="-7" dirty="0">
                <a:latin typeface="Arial"/>
                <a:cs typeface="Arial"/>
              </a:rPr>
              <a:t>learn features</a:t>
            </a:r>
            <a:r>
              <a:rPr sz="2133" spc="-12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to  initialize </a:t>
            </a:r>
            <a:r>
              <a:rPr sz="2133" dirty="0">
                <a:latin typeface="Arial"/>
                <a:cs typeface="Arial"/>
              </a:rPr>
              <a:t>a supervised</a:t>
            </a:r>
            <a:r>
              <a:rPr sz="2133" spc="-73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model</a:t>
            </a:r>
            <a:endParaRPr sz="2133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67656" y="2742195"/>
            <a:ext cx="3974253" cy="132963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Features </a:t>
            </a:r>
            <a:r>
              <a:rPr sz="2133" dirty="0">
                <a:solidFill>
                  <a:srgbClr val="FF0000"/>
                </a:solidFill>
                <a:latin typeface="Arial"/>
                <a:cs typeface="Arial"/>
              </a:rPr>
              <a:t>capture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factors of  </a:t>
            </a:r>
            <a:r>
              <a:rPr sz="2133" dirty="0">
                <a:solidFill>
                  <a:srgbClr val="FF0000"/>
                </a:solidFill>
                <a:latin typeface="Arial"/>
                <a:cs typeface="Arial"/>
              </a:rPr>
              <a:t>variation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in training data. Can</a:t>
            </a:r>
            <a:r>
              <a:rPr sz="2133" spc="-1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we  generate new images from an  autoencoder?</a:t>
            </a:r>
            <a:endParaRPr sz="2133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366" y="4478321"/>
            <a:ext cx="1565487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Sample</a:t>
            </a:r>
            <a:r>
              <a:rPr sz="2133" spc="-12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from  true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prior</a:t>
            </a:r>
            <a:endParaRPr sz="213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8804" y="5212796"/>
            <a:ext cx="785507" cy="323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647950" y="3566225"/>
            <a:ext cx="1432783" cy="390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Variational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D3CEE87C-2909-4FED-859E-EC341059C2F5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44</a:t>
            </a:fld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3091746" y="1669029"/>
            <a:ext cx="1099711" cy="395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367533" y="1097960"/>
            <a:ext cx="10447020" cy="122428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4553">
              <a:spcBef>
                <a:spcPts val="133"/>
              </a:spcBef>
            </a:pPr>
            <a:r>
              <a:rPr sz="2133" spc="-7" dirty="0">
                <a:latin typeface="Arial"/>
                <a:cs typeface="Arial"/>
              </a:rPr>
              <a:t>Probabilistic </a:t>
            </a:r>
            <a:r>
              <a:rPr sz="2133" dirty="0">
                <a:latin typeface="Arial"/>
                <a:cs typeface="Arial"/>
              </a:rPr>
              <a:t>spin </a:t>
            </a:r>
            <a:r>
              <a:rPr sz="2133" spc="-7" dirty="0">
                <a:latin typeface="Arial"/>
                <a:cs typeface="Arial"/>
              </a:rPr>
              <a:t>on autoencoders </a:t>
            </a:r>
            <a:r>
              <a:rPr sz="2133" dirty="0">
                <a:latin typeface="Arial"/>
                <a:cs typeface="Arial"/>
              </a:rPr>
              <a:t>- </a:t>
            </a:r>
            <a:r>
              <a:rPr sz="2133" spc="-7" dirty="0">
                <a:latin typeface="Arial"/>
                <a:cs typeface="Arial"/>
              </a:rPr>
              <a:t>will let us </a:t>
            </a:r>
            <a:r>
              <a:rPr sz="2133" dirty="0">
                <a:latin typeface="Arial"/>
                <a:cs typeface="Arial"/>
              </a:rPr>
              <a:t>sample </a:t>
            </a:r>
            <a:r>
              <a:rPr sz="2133" spc="-7" dirty="0">
                <a:latin typeface="Arial"/>
                <a:cs typeface="Arial"/>
              </a:rPr>
              <a:t>from the </a:t>
            </a:r>
            <a:r>
              <a:rPr sz="2133" dirty="0">
                <a:latin typeface="Arial"/>
                <a:cs typeface="Arial"/>
              </a:rPr>
              <a:t>model </a:t>
            </a:r>
            <a:r>
              <a:rPr sz="2133" spc="-7" dirty="0">
                <a:latin typeface="Arial"/>
                <a:cs typeface="Arial"/>
              </a:rPr>
              <a:t>to generate</a:t>
            </a:r>
            <a:r>
              <a:rPr sz="2133" spc="-10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data!</a:t>
            </a:r>
            <a:endParaRPr sz="2133">
              <a:latin typeface="Arial"/>
              <a:cs typeface="Arial"/>
            </a:endParaRPr>
          </a:p>
          <a:p>
            <a:pPr marL="16933" marR="692556">
              <a:lnSpc>
                <a:spcPct val="101600"/>
              </a:lnSpc>
              <a:spcBef>
                <a:spcPts val="1820"/>
              </a:spcBef>
              <a:tabLst>
                <a:tab pos="3904729" algn="l"/>
              </a:tabLst>
            </a:pPr>
            <a:r>
              <a:rPr sz="2133" spc="-7" dirty="0">
                <a:latin typeface="Arial"/>
                <a:cs typeface="Arial"/>
              </a:rPr>
              <a:t>Assume training</a:t>
            </a:r>
            <a:r>
              <a:rPr sz="2133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	is generated from underlying unobserved </a:t>
            </a:r>
            <a:r>
              <a:rPr sz="2133" dirty="0">
                <a:latin typeface="Arial"/>
                <a:cs typeface="Arial"/>
              </a:rPr>
              <a:t>(latent)  representation</a:t>
            </a:r>
            <a:r>
              <a:rPr sz="2133" spc="-13" dirty="0">
                <a:latin typeface="Arial"/>
                <a:cs typeface="Arial"/>
              </a:rPr>
              <a:t> </a:t>
            </a:r>
            <a:r>
              <a:rPr sz="2133" b="1" dirty="0">
                <a:latin typeface="Arial"/>
                <a:cs typeface="Arial"/>
              </a:rPr>
              <a:t>z</a:t>
            </a:r>
            <a:endParaRPr sz="2133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26211" y="3145294"/>
            <a:ext cx="2717800" cy="2201333"/>
            <a:chOff x="1969658" y="2358970"/>
            <a:chExt cx="2038350" cy="1651000"/>
          </a:xfrm>
        </p:grpSpPr>
        <p:sp>
          <p:nvSpPr>
            <p:cNvPr id="9" name="object 9"/>
            <p:cNvSpPr/>
            <p:nvPr/>
          </p:nvSpPr>
          <p:spPr>
            <a:xfrm>
              <a:off x="1974420" y="2363732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411"/>
                  </a:moveTo>
                  <a:lnTo>
                    <a:pt x="0" y="311411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411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974420" y="2363732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411"/>
                  </a:lnTo>
                  <a:lnTo>
                    <a:pt x="0" y="31141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382270" y="3693567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382270" y="3693567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988568" y="2789369"/>
              <a:ext cx="0" cy="904240"/>
            </a:xfrm>
            <a:custGeom>
              <a:avLst/>
              <a:gdLst/>
              <a:ahLst/>
              <a:cxnLst/>
              <a:rect l="l" t="t" r="r" b="b"/>
              <a:pathLst>
                <a:path h="904239">
                  <a:moveTo>
                    <a:pt x="0" y="9041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947569" y="2693394"/>
              <a:ext cx="81999" cy="1054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899319" y="2439588"/>
              <a:ext cx="178499" cy="15973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899319" y="3769317"/>
              <a:ext cx="178499" cy="17849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3765" y="2852723"/>
            <a:ext cx="1869440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Sample from  true</a:t>
            </a:r>
            <a:r>
              <a:rPr sz="2133" spc="-133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conditional</a:t>
            </a:r>
            <a:endParaRPr sz="213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49781" y="5817074"/>
            <a:ext cx="6129867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900"/>
              </a:lnSpc>
            </a:pPr>
            <a:r>
              <a:rPr sz="1600" spc="-7" dirty="0">
                <a:latin typeface="Arial"/>
                <a:cs typeface="Arial"/>
              </a:rPr>
              <a:t>Kingma and Welling, </a:t>
            </a:r>
            <a:r>
              <a:rPr sz="1600" dirty="0">
                <a:latin typeface="Arial"/>
                <a:cs typeface="Arial"/>
              </a:rPr>
              <a:t>“Auto-Encoding </a:t>
            </a:r>
            <a:r>
              <a:rPr sz="1600" spc="-7" dirty="0">
                <a:latin typeface="Arial"/>
                <a:cs typeface="Arial"/>
              </a:rPr>
              <a:t>Variational Bayes”, ICLR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7" dirty="0">
                <a:latin typeface="Arial"/>
                <a:cs typeface="Arial"/>
              </a:rPr>
              <a:t>2014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29955" y="2399919"/>
            <a:ext cx="5074072" cy="99486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b="1" spc="-7" dirty="0">
                <a:solidFill>
                  <a:srgbClr val="FF0000"/>
                </a:solidFill>
                <a:latin typeface="Arial"/>
                <a:cs typeface="Arial"/>
              </a:rPr>
              <a:t>Intuition </a:t>
            </a:r>
            <a:r>
              <a:rPr sz="2133" dirty="0">
                <a:solidFill>
                  <a:srgbClr val="FF0000"/>
                </a:solidFill>
                <a:latin typeface="Arial"/>
                <a:cs typeface="Arial"/>
              </a:rPr>
              <a:t>(remember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from autoencoders!):  </a:t>
            </a:r>
            <a:r>
              <a:rPr sz="2133" b="1" dirty="0">
                <a:solidFill>
                  <a:srgbClr val="FF0000"/>
                </a:solidFill>
                <a:latin typeface="Arial"/>
                <a:cs typeface="Arial"/>
              </a:rPr>
              <a:t>x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is an image, </a:t>
            </a:r>
            <a:r>
              <a:rPr sz="2133" b="1" dirty="0">
                <a:solidFill>
                  <a:srgbClr val="FF0000"/>
                </a:solidFill>
                <a:latin typeface="Arial"/>
                <a:cs typeface="Arial"/>
              </a:rPr>
              <a:t>z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is latent factors used to  generate </a:t>
            </a:r>
            <a:r>
              <a:rPr sz="2133" b="1" spc="-7" dirty="0">
                <a:solidFill>
                  <a:srgbClr val="FF0000"/>
                </a:solidFill>
                <a:latin typeface="Arial"/>
                <a:cs typeface="Arial"/>
              </a:rPr>
              <a:t>x: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attributes, orientation,</a:t>
            </a:r>
            <a:r>
              <a:rPr sz="2133" spc="-4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33" spc="-7" dirty="0">
                <a:solidFill>
                  <a:srgbClr val="FF0000"/>
                </a:solidFill>
                <a:latin typeface="Arial"/>
                <a:cs typeface="Arial"/>
              </a:rPr>
              <a:t>etc.</a:t>
            </a:r>
            <a:endParaRPr sz="21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366" y="3868722"/>
            <a:ext cx="1565487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Sample</a:t>
            </a:r>
            <a:r>
              <a:rPr sz="2133" spc="-12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from  true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prior</a:t>
            </a:r>
            <a:endParaRPr sz="213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8804" y="4603197"/>
            <a:ext cx="785507" cy="323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647950" y="2956627"/>
            <a:ext cx="1432783" cy="390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Variational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45</a:t>
            </a:fld>
            <a:endParaRPr dirty="0"/>
          </a:p>
        </p:txBody>
      </p:sp>
      <p:grpSp>
        <p:nvGrpSpPr>
          <p:cNvPr id="6" name="object 6"/>
          <p:cNvGrpSpPr/>
          <p:nvPr/>
        </p:nvGrpSpPr>
        <p:grpSpPr>
          <a:xfrm>
            <a:off x="2626211" y="2535695"/>
            <a:ext cx="2717800" cy="2201333"/>
            <a:chOff x="1969658" y="1901771"/>
            <a:chExt cx="2038350" cy="1651000"/>
          </a:xfrm>
        </p:grpSpPr>
        <p:sp>
          <p:nvSpPr>
            <p:cNvPr id="7" name="object 7"/>
            <p:cNvSpPr/>
            <p:nvPr/>
          </p:nvSpPr>
          <p:spPr>
            <a:xfrm>
              <a:off x="1974420" y="1906533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974420" y="1906533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382270" y="323636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382270" y="323636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988568" y="2332170"/>
              <a:ext cx="0" cy="904240"/>
            </a:xfrm>
            <a:custGeom>
              <a:avLst/>
              <a:gdLst/>
              <a:ahLst/>
              <a:cxnLst/>
              <a:rect l="l" t="t" r="r" b="b"/>
              <a:pathLst>
                <a:path h="904239">
                  <a:moveTo>
                    <a:pt x="0" y="9041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947569" y="2236195"/>
              <a:ext cx="81999" cy="105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319" y="1982379"/>
              <a:ext cx="178499" cy="1597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9319" y="3312118"/>
              <a:ext cx="178499" cy="1784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3765" y="2243125"/>
            <a:ext cx="1869440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Sample from  true</a:t>
            </a:r>
            <a:r>
              <a:rPr sz="2133" spc="-133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conditional</a:t>
            </a:r>
            <a:endParaRPr sz="213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8589" y="1383895"/>
            <a:ext cx="4919980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We want to estimate the true parameters  of this generative</a:t>
            </a:r>
            <a:r>
              <a:rPr sz="2133" spc="-2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model.</a:t>
            </a:r>
            <a:endParaRPr sz="2133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18588" y="2374494"/>
            <a:ext cx="4549139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How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should </a:t>
            </a: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we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represent </a:t>
            </a: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this</a:t>
            </a:r>
            <a:r>
              <a:rPr sz="2133" spc="-12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model?</a:t>
            </a:r>
            <a:endParaRPr sz="213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18588" y="3034893"/>
            <a:ext cx="4879339" cy="1457877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23978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Choose prior p(z) to be </a:t>
            </a:r>
            <a:r>
              <a:rPr sz="2133" dirty="0">
                <a:latin typeface="Arial"/>
                <a:cs typeface="Arial"/>
              </a:rPr>
              <a:t>simple, </a:t>
            </a:r>
            <a:r>
              <a:rPr sz="2133" spc="-7" dirty="0">
                <a:latin typeface="Arial"/>
                <a:cs typeface="Arial"/>
              </a:rPr>
              <a:t>e.g.  Gaussian.</a:t>
            </a:r>
            <a:endParaRPr sz="2133">
              <a:latin typeface="Arial"/>
              <a:cs typeface="Arial"/>
            </a:endParaRPr>
          </a:p>
          <a:p>
            <a:pPr marL="16933" marR="6773">
              <a:lnSpc>
                <a:spcPct val="101600"/>
              </a:lnSpc>
              <a:spcBef>
                <a:spcPts val="993"/>
              </a:spcBef>
            </a:pPr>
            <a:r>
              <a:rPr sz="2133" spc="-7" dirty="0">
                <a:latin typeface="Arial"/>
                <a:cs typeface="Arial"/>
              </a:rPr>
              <a:t>Conditional p(x|z) is </a:t>
            </a:r>
            <a:r>
              <a:rPr sz="2133" dirty="0">
                <a:latin typeface="Arial"/>
                <a:cs typeface="Arial"/>
              </a:rPr>
              <a:t>complex (generates  </a:t>
            </a:r>
            <a:r>
              <a:rPr sz="2133" spc="-7" dirty="0">
                <a:latin typeface="Arial"/>
                <a:cs typeface="Arial"/>
              </a:rPr>
              <a:t>image) =&gt; </a:t>
            </a:r>
            <a:r>
              <a:rPr sz="2133" dirty="0">
                <a:latin typeface="Arial"/>
                <a:cs typeface="Arial"/>
              </a:rPr>
              <a:t>represent </a:t>
            </a:r>
            <a:r>
              <a:rPr sz="2133" spc="-7" dirty="0">
                <a:latin typeface="Arial"/>
                <a:cs typeface="Arial"/>
              </a:rPr>
              <a:t>with neural</a:t>
            </a:r>
            <a:r>
              <a:rPr sz="2133" spc="-120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network</a:t>
            </a:r>
            <a:endParaRPr sz="2133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224878" y="1484792"/>
            <a:ext cx="237999" cy="2221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4132985" y="3344195"/>
            <a:ext cx="92964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solidFill>
                  <a:srgbClr val="FF0000"/>
                </a:solidFill>
                <a:latin typeface="Arial"/>
                <a:cs typeface="Arial"/>
              </a:rPr>
              <a:t>Decoder  network</a:t>
            </a:r>
            <a:endParaRPr sz="1867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49781" y="5817074"/>
            <a:ext cx="6129867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900"/>
              </a:lnSpc>
            </a:pPr>
            <a:r>
              <a:rPr sz="1600" spc="-7" dirty="0">
                <a:latin typeface="Arial"/>
                <a:cs typeface="Arial"/>
              </a:rPr>
              <a:t>Kingma and Welling, </a:t>
            </a:r>
            <a:r>
              <a:rPr sz="1600" dirty="0">
                <a:latin typeface="Arial"/>
                <a:cs typeface="Arial"/>
              </a:rPr>
              <a:t>“Auto-Encoding </a:t>
            </a:r>
            <a:r>
              <a:rPr sz="1600" spc="-7" dirty="0">
                <a:latin typeface="Arial"/>
                <a:cs typeface="Arial"/>
              </a:rPr>
              <a:t>Variational Bayes”, ICLR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7" dirty="0">
                <a:latin typeface="Arial"/>
                <a:cs typeface="Arial"/>
              </a:rPr>
              <a:t>2014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A1AB142E-C06B-7511-E239-4ECA755B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FCAE8-9262-4764-870C-2EA6FCDE1BD8}" type="datetime1">
              <a:rPr lang="en-US" smtClean="0"/>
              <a:t>10/1/2025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366" y="3868722"/>
            <a:ext cx="1565487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Sample</a:t>
            </a:r>
            <a:r>
              <a:rPr sz="2133" spc="-12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from  true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prior</a:t>
            </a:r>
            <a:endParaRPr sz="2133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8804" y="4603197"/>
            <a:ext cx="785507" cy="3234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647950" y="2956627"/>
            <a:ext cx="1432783" cy="3907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Variational</a:t>
            </a:r>
            <a:r>
              <a:rPr spc="-113" dirty="0"/>
              <a:t> </a:t>
            </a:r>
            <a:r>
              <a:rPr spc="-7" dirty="0"/>
              <a:t>Autoencoders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0FC6B249-65BE-4E9D-806D-D83205553F72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46</a:t>
            </a:fld>
            <a:endParaRPr dirty="0"/>
          </a:p>
        </p:txBody>
      </p:sp>
      <p:grpSp>
        <p:nvGrpSpPr>
          <p:cNvPr id="6" name="object 6"/>
          <p:cNvGrpSpPr/>
          <p:nvPr/>
        </p:nvGrpSpPr>
        <p:grpSpPr>
          <a:xfrm>
            <a:off x="2626211" y="2535695"/>
            <a:ext cx="2717800" cy="2201333"/>
            <a:chOff x="1969658" y="1901771"/>
            <a:chExt cx="2038350" cy="1651000"/>
          </a:xfrm>
        </p:grpSpPr>
        <p:sp>
          <p:nvSpPr>
            <p:cNvPr id="7" name="object 7"/>
            <p:cNvSpPr/>
            <p:nvPr/>
          </p:nvSpPr>
          <p:spPr>
            <a:xfrm>
              <a:off x="1974420" y="1906533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5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5" y="0"/>
                  </a:lnTo>
                  <a:lnTo>
                    <a:pt x="2028295" y="311399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8"/>
            <p:cNvSpPr/>
            <p:nvPr/>
          </p:nvSpPr>
          <p:spPr>
            <a:xfrm>
              <a:off x="1974420" y="1906533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5" y="0"/>
                  </a:lnTo>
                  <a:lnTo>
                    <a:pt x="2028295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9"/>
            <p:cNvSpPr/>
            <p:nvPr/>
          </p:nvSpPr>
          <p:spPr>
            <a:xfrm>
              <a:off x="2382270" y="323636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1212597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212597" y="0"/>
                  </a:lnTo>
                  <a:lnTo>
                    <a:pt x="1212597" y="311399"/>
                  </a:lnTo>
                  <a:close/>
                </a:path>
              </a:pathLst>
            </a:custGeom>
            <a:solidFill>
              <a:srgbClr val="D8E9D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382270" y="3236368"/>
              <a:ext cx="1212850" cy="311785"/>
            </a:xfrm>
            <a:custGeom>
              <a:avLst/>
              <a:gdLst/>
              <a:ahLst/>
              <a:cxnLst/>
              <a:rect l="l" t="t" r="r" b="b"/>
              <a:pathLst>
                <a:path w="1212850" h="311785">
                  <a:moveTo>
                    <a:pt x="0" y="0"/>
                  </a:moveTo>
                  <a:lnTo>
                    <a:pt x="1212597" y="0"/>
                  </a:lnTo>
                  <a:lnTo>
                    <a:pt x="1212597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2988568" y="2332170"/>
              <a:ext cx="0" cy="904240"/>
            </a:xfrm>
            <a:custGeom>
              <a:avLst/>
              <a:gdLst/>
              <a:ahLst/>
              <a:cxnLst/>
              <a:rect l="l" t="t" r="r" b="b"/>
              <a:pathLst>
                <a:path h="904239">
                  <a:moveTo>
                    <a:pt x="0" y="904198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947569" y="2236195"/>
              <a:ext cx="81999" cy="105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319" y="1982379"/>
              <a:ext cx="178499" cy="15973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9319" y="3312118"/>
              <a:ext cx="178499" cy="1784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3765" y="2243125"/>
            <a:ext cx="1869440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Sample from  true</a:t>
            </a:r>
            <a:r>
              <a:rPr sz="2133" spc="-133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conditional</a:t>
            </a:r>
            <a:endParaRPr sz="213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8589" y="1383895"/>
            <a:ext cx="4919980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We want to estimate the true parameters  of this generative</a:t>
            </a:r>
            <a:r>
              <a:rPr sz="2133" spc="-2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model.</a:t>
            </a:r>
            <a:endParaRPr sz="2133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1224878" y="1484792"/>
            <a:ext cx="237999" cy="2221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6320189" y="2399894"/>
            <a:ext cx="288967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7" dirty="0">
                <a:solidFill>
                  <a:srgbClr val="0000FF"/>
                </a:solidFill>
                <a:latin typeface="Arial"/>
                <a:cs typeface="Arial"/>
              </a:rPr>
              <a:t>How to train the</a:t>
            </a:r>
            <a:r>
              <a:rPr sz="2133" spc="-10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0000FF"/>
                </a:solidFill>
                <a:latin typeface="Arial"/>
                <a:cs typeface="Arial"/>
              </a:rPr>
              <a:t>model?</a:t>
            </a:r>
            <a:endParaRPr sz="213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20189" y="3060293"/>
            <a:ext cx="5553287" cy="660095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1600"/>
              </a:lnSpc>
              <a:spcBef>
                <a:spcPts val="93"/>
              </a:spcBef>
            </a:pPr>
            <a:r>
              <a:rPr sz="2133" spc="-7" dirty="0">
                <a:latin typeface="Arial"/>
                <a:cs typeface="Arial"/>
              </a:rPr>
              <a:t>Learn </a:t>
            </a:r>
            <a:r>
              <a:rPr sz="2133" dirty="0">
                <a:latin typeface="Arial"/>
                <a:cs typeface="Arial"/>
              </a:rPr>
              <a:t>model </a:t>
            </a:r>
            <a:r>
              <a:rPr sz="2133" spc="-7" dirty="0">
                <a:latin typeface="Arial"/>
                <a:cs typeface="Arial"/>
              </a:rPr>
              <a:t>parameters  to </a:t>
            </a:r>
            <a:r>
              <a:rPr sz="2133" dirty="0">
                <a:latin typeface="Arial"/>
                <a:cs typeface="Arial"/>
              </a:rPr>
              <a:t>maximize </a:t>
            </a:r>
            <a:r>
              <a:rPr sz="2133" spc="-7" dirty="0">
                <a:latin typeface="Arial"/>
                <a:cs typeface="Arial"/>
              </a:rPr>
              <a:t>likelihood of training</a:t>
            </a:r>
            <a:r>
              <a:rPr sz="2133" spc="-47" dirty="0">
                <a:latin typeface="Arial"/>
                <a:cs typeface="Arial"/>
              </a:rPr>
              <a:t> </a:t>
            </a:r>
            <a:r>
              <a:rPr sz="2133" spc="-7" dirty="0">
                <a:latin typeface="Arial"/>
                <a:cs typeface="Arial"/>
              </a:rPr>
              <a:t>data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972485" y="4329658"/>
            <a:ext cx="3530659" cy="3811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4132985" y="3344195"/>
            <a:ext cx="929640" cy="5950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6933" marR="6773">
              <a:lnSpc>
                <a:spcPts val="2200"/>
              </a:lnSpc>
              <a:spcBef>
                <a:spcPts val="240"/>
              </a:spcBef>
            </a:pPr>
            <a:r>
              <a:rPr sz="1867" spc="-7" dirty="0">
                <a:latin typeface="Arial"/>
                <a:cs typeface="Arial"/>
              </a:rPr>
              <a:t>Decoder  network</a:t>
            </a:r>
            <a:endParaRPr sz="1867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49781" y="5817074"/>
            <a:ext cx="6129867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900"/>
              </a:lnSpc>
            </a:pPr>
            <a:r>
              <a:rPr sz="1600" spc="-7" dirty="0">
                <a:latin typeface="Arial"/>
                <a:cs typeface="Arial"/>
              </a:rPr>
              <a:t>Kingma and Welling, </a:t>
            </a:r>
            <a:r>
              <a:rPr sz="1600" dirty="0">
                <a:latin typeface="Arial"/>
                <a:cs typeface="Arial"/>
              </a:rPr>
              <a:t>“Auto-Encoding </a:t>
            </a:r>
            <a:r>
              <a:rPr sz="1600" spc="-7" dirty="0">
                <a:latin typeface="Arial"/>
                <a:cs typeface="Arial"/>
              </a:rPr>
              <a:t>Variational Bayes”, ICLR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7" dirty="0">
                <a:latin typeface="Arial"/>
                <a:cs typeface="Arial"/>
              </a:rPr>
              <a:t>2014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7732">
              <a:spcBef>
                <a:spcPts val="133"/>
              </a:spcBef>
            </a:pPr>
            <a:r>
              <a:rPr spc="-7" dirty="0"/>
              <a:t>Posterior density also</a:t>
            </a:r>
            <a:r>
              <a:rPr spc="-20" dirty="0"/>
              <a:t> </a:t>
            </a:r>
            <a:r>
              <a:rPr spc="-7" dirty="0"/>
              <a:t>intractable:</a:t>
            </a:r>
          </a:p>
          <a:p>
            <a:pPr>
              <a:spcBef>
                <a:spcPts val="73"/>
              </a:spcBef>
            </a:pPr>
            <a:endParaRPr sz="3667" dirty="0"/>
          </a:p>
          <a:p>
            <a:pPr marL="67732" marR="625671">
              <a:lnSpc>
                <a:spcPct val="101600"/>
              </a:lnSpc>
            </a:pPr>
            <a:r>
              <a:rPr sz="2133" spc="-7" dirty="0">
                <a:solidFill>
                  <a:srgbClr val="0000FF"/>
                </a:solidFill>
              </a:rPr>
              <a:t>Solution: In addition to decoder network </a:t>
            </a:r>
            <a:r>
              <a:rPr sz="2133" dirty="0">
                <a:solidFill>
                  <a:srgbClr val="0000FF"/>
                </a:solidFill>
              </a:rPr>
              <a:t>modeling </a:t>
            </a:r>
            <a:r>
              <a:rPr sz="2133" spc="7" dirty="0">
                <a:solidFill>
                  <a:srgbClr val="0000FF"/>
                </a:solidFill>
              </a:rPr>
              <a:t>p</a:t>
            </a:r>
            <a:r>
              <a:rPr sz="2100" spc="9" baseline="-31746" dirty="0">
                <a:solidFill>
                  <a:srgbClr val="0000FF"/>
                </a:solidFill>
              </a:rPr>
              <a:t>θ</a:t>
            </a:r>
            <a:r>
              <a:rPr sz="2133" spc="7" dirty="0">
                <a:solidFill>
                  <a:srgbClr val="0000FF"/>
                </a:solidFill>
              </a:rPr>
              <a:t>(x|z), </a:t>
            </a:r>
            <a:r>
              <a:rPr sz="2133" spc="-7" dirty="0">
                <a:solidFill>
                  <a:srgbClr val="0000FF"/>
                </a:solidFill>
              </a:rPr>
              <a:t>define additional  encoder network </a:t>
            </a:r>
            <a:r>
              <a:rPr sz="2133" spc="-53" dirty="0">
                <a:solidFill>
                  <a:srgbClr val="0000FF"/>
                </a:solidFill>
              </a:rPr>
              <a:t>q</a:t>
            </a:r>
            <a:r>
              <a:rPr sz="2100" spc="-80" baseline="-31746" dirty="0">
                <a:solidFill>
                  <a:srgbClr val="0000FF"/>
                </a:solidFill>
              </a:rPr>
              <a:t>ɸ</a:t>
            </a:r>
            <a:r>
              <a:rPr sz="2133" spc="-53" dirty="0">
                <a:solidFill>
                  <a:srgbClr val="0000FF"/>
                </a:solidFill>
              </a:rPr>
              <a:t>(z|x) </a:t>
            </a:r>
            <a:r>
              <a:rPr sz="2133" spc="-7" dirty="0">
                <a:solidFill>
                  <a:srgbClr val="0000FF"/>
                </a:solidFill>
              </a:rPr>
              <a:t>that approximates</a:t>
            </a:r>
            <a:r>
              <a:rPr sz="2133" spc="27" dirty="0">
                <a:solidFill>
                  <a:srgbClr val="0000FF"/>
                </a:solidFill>
              </a:rPr>
              <a:t> </a:t>
            </a:r>
            <a:r>
              <a:rPr sz="2133" dirty="0">
                <a:solidFill>
                  <a:srgbClr val="0000FF"/>
                </a:solidFill>
              </a:rPr>
              <a:t>p</a:t>
            </a:r>
            <a:r>
              <a:rPr sz="2100" baseline="-31746" dirty="0">
                <a:solidFill>
                  <a:srgbClr val="0000FF"/>
                </a:solidFill>
              </a:rPr>
              <a:t>θ</a:t>
            </a:r>
            <a:r>
              <a:rPr sz="2133" dirty="0">
                <a:solidFill>
                  <a:srgbClr val="0000FF"/>
                </a:solidFill>
              </a:rPr>
              <a:t>(z|x)</a:t>
            </a:r>
            <a:endParaRPr sz="2133" dirty="0"/>
          </a:p>
          <a:p>
            <a:pPr marL="67732" marR="57572">
              <a:lnSpc>
                <a:spcPct val="101600"/>
              </a:lnSpc>
              <a:spcBef>
                <a:spcPts val="2600"/>
              </a:spcBef>
            </a:pPr>
            <a:r>
              <a:rPr sz="2133" spc="-7" dirty="0">
                <a:solidFill>
                  <a:srgbClr val="0000FF"/>
                </a:solidFill>
              </a:rPr>
              <a:t>Will </a:t>
            </a:r>
            <a:r>
              <a:rPr sz="2133" dirty="0">
                <a:solidFill>
                  <a:srgbClr val="0000FF"/>
                </a:solidFill>
              </a:rPr>
              <a:t>see </a:t>
            </a:r>
            <a:r>
              <a:rPr sz="2133" spc="-7" dirty="0">
                <a:solidFill>
                  <a:srgbClr val="0000FF"/>
                </a:solidFill>
              </a:rPr>
              <a:t>that this allows us to derive </a:t>
            </a:r>
            <a:r>
              <a:rPr sz="2133" dirty="0">
                <a:solidFill>
                  <a:srgbClr val="0000FF"/>
                </a:solidFill>
              </a:rPr>
              <a:t>a </a:t>
            </a:r>
            <a:r>
              <a:rPr sz="2133" spc="-7" dirty="0">
                <a:solidFill>
                  <a:srgbClr val="0000FF"/>
                </a:solidFill>
              </a:rPr>
              <a:t>lower bound on the data likelihood that is  tractable, which we </a:t>
            </a:r>
            <a:r>
              <a:rPr sz="2133" dirty="0">
                <a:solidFill>
                  <a:srgbClr val="0000FF"/>
                </a:solidFill>
              </a:rPr>
              <a:t>can</a:t>
            </a:r>
            <a:r>
              <a:rPr sz="2133" spc="-13" dirty="0">
                <a:solidFill>
                  <a:srgbClr val="0000FF"/>
                </a:solidFill>
              </a:rPr>
              <a:t> </a:t>
            </a:r>
            <a:r>
              <a:rPr sz="2133" spc="-7" dirty="0">
                <a:solidFill>
                  <a:srgbClr val="0000FF"/>
                </a:solidFill>
              </a:rPr>
              <a:t>optimize</a:t>
            </a:r>
            <a:endParaRPr sz="2133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Variational Autoencoders:</a:t>
            </a:r>
            <a:r>
              <a:rPr spc="-113" dirty="0"/>
              <a:t> </a:t>
            </a:r>
            <a:r>
              <a:rPr spc="-7" dirty="0"/>
              <a:t>Intractability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4294967295"/>
          </p:nvPr>
        </p:nvSpPr>
        <p:spPr>
          <a:xfrm>
            <a:off x="10628313" y="4705350"/>
            <a:ext cx="1563687" cy="3095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3080"/>
              </a:lnSpc>
            </a:pPr>
            <a:r>
              <a:rPr lang="en-US"/>
              <a:t>Presented by Dr. Muhammad Nouman Noor</a:t>
            </a:r>
            <a:endParaRPr spc="-7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4294967295"/>
          </p:nvPr>
        </p:nvSpPr>
        <p:spPr>
          <a:xfrm>
            <a:off x="0" y="4710113"/>
            <a:ext cx="4514850" cy="280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33">
              <a:lnSpc>
                <a:spcPts val="2787"/>
              </a:lnSpc>
            </a:pPr>
            <a:fld id="{424F4F4A-2DBC-42F1-B782-750DFA605AA7}" type="datetime1">
              <a:rPr lang="en-US" spc="-7" smtClean="0"/>
              <a:t>10/1/2025</a:t>
            </a:fld>
            <a:endParaRPr spc="-7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11858625" y="4560888"/>
            <a:ext cx="333375" cy="61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7598" y="1288505"/>
            <a:ext cx="211751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Arial"/>
                <a:cs typeface="Arial"/>
              </a:rPr>
              <a:t>Data</a:t>
            </a:r>
            <a:r>
              <a:rPr sz="2400" spc="-10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likelihood: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49574" y="1304931"/>
            <a:ext cx="3530645" cy="381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3873652" y="840442"/>
            <a:ext cx="4402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1900" dirty="0">
                <a:latin typeface="DejaVu Sans"/>
                <a:cs typeface="DejaVu Sans"/>
              </a:rPr>
              <a:t>ʰ</a:t>
            </a:r>
            <a:endParaRPr sz="3200"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8289" y="863642"/>
            <a:ext cx="13546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930463" algn="l"/>
              </a:tabLst>
            </a:pPr>
            <a:r>
              <a:rPr sz="3200" dirty="0">
                <a:solidFill>
                  <a:srgbClr val="69A84F"/>
                </a:solidFill>
                <a:latin typeface="AoyagiKouzanFontT"/>
                <a:cs typeface="AoyagiKouzanFontT"/>
              </a:rPr>
              <a:t>✔	✔</a:t>
            </a:r>
            <a:endParaRPr sz="3200">
              <a:latin typeface="AoyagiKouzanFontT"/>
              <a:cs typeface="AoyagiKouzanFont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08522" y="2103195"/>
            <a:ext cx="4504391" cy="381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9154315" y="1620437"/>
            <a:ext cx="4402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spc="1900" dirty="0">
                <a:latin typeface="DejaVu Sans"/>
                <a:cs typeface="DejaVu Sans"/>
              </a:rPr>
              <a:t>ʰ</a:t>
            </a:r>
            <a:endParaRPr sz="3200">
              <a:latin typeface="DejaVu Sans"/>
              <a:cs typeface="DejaVu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9781" y="5817074"/>
            <a:ext cx="6129867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1900"/>
              </a:lnSpc>
            </a:pPr>
            <a:r>
              <a:rPr sz="1600" spc="-7" dirty="0">
                <a:latin typeface="Arial"/>
                <a:cs typeface="Arial"/>
              </a:rPr>
              <a:t>Kingma and Welling, </a:t>
            </a:r>
            <a:r>
              <a:rPr sz="1600" dirty="0">
                <a:latin typeface="Arial"/>
                <a:cs typeface="Arial"/>
              </a:rPr>
              <a:t>“Auto-Encoding </a:t>
            </a:r>
            <a:r>
              <a:rPr sz="1600" spc="-7" dirty="0">
                <a:latin typeface="Arial"/>
                <a:cs typeface="Arial"/>
              </a:rPr>
              <a:t>Variational Bayes”, ICLR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7" dirty="0">
                <a:latin typeface="Arial"/>
                <a:cs typeface="Arial"/>
              </a:rPr>
              <a:t>2014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95625" y="6273191"/>
            <a:ext cx="1839807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080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667" spc="-1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4454" y="1637238"/>
            <a:ext cx="142155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997348" algn="l"/>
              </a:tabLst>
            </a:pPr>
            <a:r>
              <a:rPr sz="3200" dirty="0">
                <a:solidFill>
                  <a:srgbClr val="69A84F"/>
                </a:solidFill>
                <a:latin typeface="AoyagiKouzanFontT"/>
                <a:cs typeface="AoyagiKouzanFontT"/>
              </a:rPr>
              <a:t>✔	✔</a:t>
            </a:r>
            <a:endParaRPr sz="3200">
              <a:latin typeface="AoyagiKouzanFontT"/>
              <a:cs typeface="AoyagiKouzanFont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96389" y="2139642"/>
            <a:ext cx="3891279" cy="3199130"/>
            <a:chOff x="5072387" y="1282392"/>
            <a:chExt cx="3891279" cy="3199130"/>
          </a:xfrm>
        </p:grpSpPr>
        <p:sp>
          <p:nvSpPr>
            <p:cNvPr id="3" name="object 3"/>
            <p:cNvSpPr/>
            <p:nvPr/>
          </p:nvSpPr>
          <p:spPr>
            <a:xfrm>
              <a:off x="6625325" y="2451749"/>
              <a:ext cx="909955" cy="311785"/>
            </a:xfrm>
            <a:custGeom>
              <a:avLst/>
              <a:gdLst/>
              <a:ahLst/>
              <a:cxnLst/>
              <a:rect l="l" t="t" r="r" b="b"/>
              <a:pathLst>
                <a:path w="909954" h="311785">
                  <a:moveTo>
                    <a:pt x="9098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909899" y="0"/>
                  </a:lnTo>
                  <a:lnTo>
                    <a:pt x="909899" y="31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5325" y="2451749"/>
              <a:ext cx="909955" cy="311785"/>
            </a:xfrm>
            <a:custGeom>
              <a:avLst/>
              <a:gdLst/>
              <a:ahLst/>
              <a:cxnLst/>
              <a:rect l="l" t="t" r="r" b="b"/>
              <a:pathLst>
                <a:path w="909954" h="311785">
                  <a:moveTo>
                    <a:pt x="0" y="0"/>
                  </a:moveTo>
                  <a:lnTo>
                    <a:pt x="909899" y="0"/>
                  </a:lnTo>
                  <a:lnTo>
                    <a:pt x="9098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84725" y="2518209"/>
              <a:ext cx="178499" cy="178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242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8657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865799" y="0"/>
                  </a:lnTo>
                  <a:lnTo>
                    <a:pt x="865799" y="31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242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0" y="0"/>
                  </a:moveTo>
                  <a:lnTo>
                    <a:pt x="865799" y="0"/>
                  </a:lnTo>
                  <a:lnTo>
                    <a:pt x="8657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76575" y="4165162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9" y="0"/>
                  </a:lnTo>
                  <a:lnTo>
                    <a:pt x="20282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76575" y="4165162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9" y="0"/>
                  </a:lnTo>
                  <a:lnTo>
                    <a:pt x="20282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51151" y="3716542"/>
              <a:ext cx="739775" cy="448945"/>
            </a:xfrm>
            <a:custGeom>
              <a:avLst/>
              <a:gdLst/>
              <a:ahLst/>
              <a:cxnLst/>
              <a:rect l="l" t="t" r="r" b="b"/>
              <a:pathLst>
                <a:path w="739775" h="448945">
                  <a:moveTo>
                    <a:pt x="739573" y="44861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240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8657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865799" y="0"/>
                  </a:lnTo>
                  <a:lnTo>
                    <a:pt x="865799" y="31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240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0" y="0"/>
                  </a:moveTo>
                  <a:lnTo>
                    <a:pt x="865799" y="0"/>
                  </a:lnTo>
                  <a:lnTo>
                    <a:pt x="8657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67711" y="3662181"/>
              <a:ext cx="109284" cy="907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01472" y="4241008"/>
              <a:ext cx="178499" cy="1597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90725" y="3708749"/>
              <a:ext cx="655955" cy="456565"/>
            </a:xfrm>
            <a:custGeom>
              <a:avLst/>
              <a:gdLst/>
              <a:ahLst/>
              <a:cxnLst/>
              <a:rect l="l" t="t" r="r" b="b"/>
              <a:pathLst>
                <a:path w="655954" h="456564">
                  <a:moveTo>
                    <a:pt x="0" y="456412"/>
                  </a:moveTo>
                  <a:lnTo>
                    <a:pt x="65588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19107" y="3649844"/>
              <a:ext cx="107982" cy="9425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56975" y="3108457"/>
              <a:ext cx="563245" cy="228600"/>
            </a:xfrm>
            <a:custGeom>
              <a:avLst/>
              <a:gdLst/>
              <a:ahLst/>
              <a:cxnLst/>
              <a:rect l="l" t="t" r="r" b="b"/>
              <a:pathLst>
                <a:path w="563245" h="228600">
                  <a:moveTo>
                    <a:pt x="0" y="228242"/>
                  </a:moveTo>
                  <a:lnTo>
                    <a:pt x="56277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98404" y="3066441"/>
              <a:ext cx="110988" cy="806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03150" y="3112823"/>
              <a:ext cx="554355" cy="224154"/>
            </a:xfrm>
            <a:custGeom>
              <a:avLst/>
              <a:gdLst/>
              <a:ahLst/>
              <a:cxnLst/>
              <a:rect l="l" t="t" r="r" b="b"/>
              <a:pathLst>
                <a:path w="554354" h="224154">
                  <a:moveTo>
                    <a:pt x="554024" y="22387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13471" y="3070908"/>
              <a:ext cx="110992" cy="806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23075" y="1623274"/>
              <a:ext cx="1835785" cy="311785"/>
            </a:xfrm>
            <a:custGeom>
              <a:avLst/>
              <a:gdLst/>
              <a:ahLst/>
              <a:cxnLst/>
              <a:rect l="l" t="t" r="r" b="b"/>
              <a:pathLst>
                <a:path w="1835784" h="311785">
                  <a:moveTo>
                    <a:pt x="18353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835399" y="0"/>
                  </a:lnTo>
                  <a:lnTo>
                    <a:pt x="18353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23075" y="1623274"/>
              <a:ext cx="1835785" cy="311785"/>
            </a:xfrm>
            <a:custGeom>
              <a:avLst/>
              <a:gdLst/>
              <a:ahLst/>
              <a:cxnLst/>
              <a:rect l="l" t="t" r="r" b="b"/>
              <a:pathLst>
                <a:path w="1835784" h="311785">
                  <a:moveTo>
                    <a:pt x="0" y="0"/>
                  </a:moveTo>
                  <a:lnTo>
                    <a:pt x="1835399" y="0"/>
                  </a:lnTo>
                  <a:lnTo>
                    <a:pt x="18353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82154" y="1337287"/>
              <a:ext cx="558800" cy="286385"/>
            </a:xfrm>
            <a:custGeom>
              <a:avLst/>
              <a:gdLst/>
              <a:ahLst/>
              <a:cxnLst/>
              <a:rect l="l" t="t" r="r" b="b"/>
              <a:pathLst>
                <a:path w="558800" h="286384">
                  <a:moveTo>
                    <a:pt x="558270" y="28598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95686" y="1288347"/>
              <a:ext cx="110338" cy="8647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77150" y="1623274"/>
              <a:ext cx="1880235" cy="311785"/>
            </a:xfrm>
            <a:custGeom>
              <a:avLst/>
              <a:gdLst/>
              <a:ahLst/>
              <a:cxnLst/>
              <a:rect l="l" t="t" r="r" b="b"/>
              <a:pathLst>
                <a:path w="1880234" h="311785">
                  <a:moveTo>
                    <a:pt x="18800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880099" y="0"/>
                  </a:lnTo>
                  <a:lnTo>
                    <a:pt x="18800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7150" y="1623274"/>
              <a:ext cx="1880235" cy="311785"/>
            </a:xfrm>
            <a:custGeom>
              <a:avLst/>
              <a:gdLst/>
              <a:ahLst/>
              <a:cxnLst/>
              <a:rect l="l" t="t" r="r" b="b"/>
              <a:pathLst>
                <a:path w="1880234" h="311785">
                  <a:moveTo>
                    <a:pt x="0" y="0"/>
                  </a:moveTo>
                  <a:lnTo>
                    <a:pt x="1880099" y="0"/>
                  </a:lnTo>
                  <a:lnTo>
                    <a:pt x="18800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40225" y="1331473"/>
              <a:ext cx="567690" cy="292100"/>
            </a:xfrm>
            <a:custGeom>
              <a:avLst/>
              <a:gdLst/>
              <a:ahLst/>
              <a:cxnLst/>
              <a:rect l="l" t="t" r="r" b="b"/>
              <a:pathLst>
                <a:path w="567690" h="292100">
                  <a:moveTo>
                    <a:pt x="0" y="291801"/>
                  </a:moveTo>
                  <a:lnTo>
                    <a:pt x="56706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83369" y="1282392"/>
              <a:ext cx="110317" cy="8658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6096002" y="4724222"/>
            <a:ext cx="778199" cy="2836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820425" y="2832425"/>
            <a:ext cx="13690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Decoder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network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49702" y="3624000"/>
            <a:ext cx="11690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Sample </a:t>
            </a:r>
            <a:r>
              <a:rPr sz="1400" dirty="0">
                <a:latin typeface="Arial"/>
                <a:cs typeface="Arial"/>
              </a:rPr>
              <a:t>z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from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80552" y="1834375"/>
            <a:ext cx="1303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Sample </a:t>
            </a:r>
            <a:r>
              <a:rPr sz="1400" dirty="0">
                <a:latin typeface="Arial"/>
                <a:cs typeface="Arial"/>
              </a:rPr>
              <a:t>x|z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from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068399" y="1833825"/>
            <a:ext cx="4124325" cy="2669540"/>
            <a:chOff x="4544397" y="976575"/>
            <a:chExt cx="4124325" cy="2669540"/>
          </a:xfrm>
        </p:grpSpPr>
        <p:sp>
          <p:nvSpPr>
            <p:cNvPr id="34" name="object 34"/>
            <p:cNvSpPr/>
            <p:nvPr/>
          </p:nvSpPr>
          <p:spPr>
            <a:xfrm>
              <a:off x="6723825" y="2778674"/>
              <a:ext cx="1944340" cy="2712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26025" y="3391411"/>
              <a:ext cx="461920" cy="22546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10563" y="3362324"/>
              <a:ext cx="493236" cy="28364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44187" y="2003316"/>
              <a:ext cx="736600" cy="448945"/>
            </a:xfrm>
            <a:custGeom>
              <a:avLst/>
              <a:gdLst/>
              <a:ahLst/>
              <a:cxnLst/>
              <a:rect l="l" t="t" r="r" b="b"/>
              <a:pathLst>
                <a:path w="736600" h="448944">
                  <a:moveTo>
                    <a:pt x="736087" y="44843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05250" y="976575"/>
              <a:ext cx="1950776" cy="27130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80662" y="1665094"/>
              <a:ext cx="461919" cy="22767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22414" y="1659925"/>
              <a:ext cx="493235" cy="28643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60833" y="1948813"/>
              <a:ext cx="109249" cy="9089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80274" y="1995126"/>
              <a:ext cx="659765" cy="457200"/>
            </a:xfrm>
            <a:custGeom>
              <a:avLst/>
              <a:gdLst/>
              <a:ahLst/>
              <a:cxnLst/>
              <a:rect l="l" t="t" r="r" b="b"/>
              <a:pathLst>
                <a:path w="659765" h="457200">
                  <a:moveTo>
                    <a:pt x="0" y="456623"/>
                  </a:moveTo>
                  <a:lnTo>
                    <a:pt x="65933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12169" y="1936380"/>
              <a:ext cx="108035" cy="9413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44397" y="2260663"/>
              <a:ext cx="778199" cy="27129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581750" y="5078588"/>
            <a:ext cx="89344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Input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545262" y="1424924"/>
            <a:ext cx="2038350" cy="321310"/>
            <a:chOff x="6021262" y="567674"/>
            <a:chExt cx="2038350" cy="321310"/>
          </a:xfrm>
        </p:grpSpPr>
        <p:sp>
          <p:nvSpPr>
            <p:cNvPr id="47" name="object 47"/>
            <p:cNvSpPr/>
            <p:nvPr/>
          </p:nvSpPr>
          <p:spPr>
            <a:xfrm>
              <a:off x="6026024" y="572437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4">
                  <a:moveTo>
                    <a:pt x="20282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9" y="0"/>
                  </a:lnTo>
                  <a:lnTo>
                    <a:pt x="20282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26024" y="572437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4">
                  <a:moveTo>
                    <a:pt x="0" y="0"/>
                  </a:moveTo>
                  <a:lnTo>
                    <a:pt x="2028299" y="0"/>
                  </a:lnTo>
                  <a:lnTo>
                    <a:pt x="20282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57297" y="610362"/>
              <a:ext cx="165774" cy="23557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2029588" y="519397"/>
            <a:ext cx="830897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Variational</a:t>
            </a:r>
            <a:r>
              <a:rPr spc="-85" dirty="0"/>
              <a:t> </a:t>
            </a:r>
            <a:r>
              <a:rPr spc="-5" dirty="0"/>
              <a:t>Autoencoders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806127" y="1730921"/>
            <a:ext cx="3338195" cy="4952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Putting it all together: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maximizing</a:t>
            </a:r>
            <a:r>
              <a:rPr sz="1600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the  likelihood lower</a:t>
            </a:r>
            <a:r>
              <a:rPr sz="16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bound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750249" y="2463204"/>
            <a:ext cx="3512972" cy="63366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16324" y="3775588"/>
            <a:ext cx="3717290" cy="90537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9677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6AA84F"/>
                </a:solidFill>
                <a:latin typeface="Arial"/>
                <a:cs typeface="Arial"/>
              </a:rPr>
              <a:t>Make </a:t>
            </a:r>
            <a:r>
              <a:rPr sz="1400" spc="-5" dirty="0">
                <a:solidFill>
                  <a:srgbClr val="6AA84F"/>
                </a:solidFill>
                <a:latin typeface="Arial"/>
                <a:cs typeface="Arial"/>
              </a:rPr>
              <a:t>approximate  posterior distribution  </a:t>
            </a:r>
            <a:r>
              <a:rPr sz="1400" dirty="0">
                <a:solidFill>
                  <a:srgbClr val="6AA84F"/>
                </a:solidFill>
                <a:latin typeface="Arial"/>
                <a:cs typeface="Arial"/>
              </a:rPr>
              <a:t>close </a:t>
            </a:r>
            <a:r>
              <a:rPr sz="1400" spc="-5" dirty="0">
                <a:solidFill>
                  <a:srgbClr val="6AA84F"/>
                </a:solidFill>
                <a:latin typeface="Arial"/>
                <a:cs typeface="Arial"/>
              </a:rPr>
              <a:t>to</a:t>
            </a:r>
            <a:r>
              <a:rPr sz="1400" spc="-25" dirty="0">
                <a:solidFill>
                  <a:srgbClr val="6AA84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6AA84F"/>
                </a:solidFill>
                <a:latin typeface="Arial"/>
                <a:cs typeface="Arial"/>
              </a:rPr>
              <a:t>prior</a:t>
            </a:r>
            <a:endParaRPr sz="1400">
              <a:latin typeface="Arial"/>
              <a:cs typeface="Arial"/>
            </a:endParaRPr>
          </a:p>
          <a:p>
            <a:pPr marL="2372995">
              <a:spcBef>
                <a:spcPts val="114"/>
              </a:spcBef>
            </a:pPr>
            <a:r>
              <a:rPr sz="1400" spc="-5" dirty="0">
                <a:latin typeface="Arial"/>
                <a:cs typeface="Arial"/>
              </a:rPr>
              <a:t>Encoder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network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666722" y="2958363"/>
            <a:ext cx="2478405" cy="1412240"/>
            <a:chOff x="3142720" y="2101113"/>
            <a:chExt cx="2478405" cy="1412240"/>
          </a:xfrm>
        </p:grpSpPr>
        <p:sp>
          <p:nvSpPr>
            <p:cNvPr id="55" name="object 55"/>
            <p:cNvSpPr/>
            <p:nvPr/>
          </p:nvSpPr>
          <p:spPr>
            <a:xfrm>
              <a:off x="3191343" y="2187742"/>
              <a:ext cx="2420620" cy="1315720"/>
            </a:xfrm>
            <a:custGeom>
              <a:avLst/>
              <a:gdLst/>
              <a:ahLst/>
              <a:cxnLst/>
              <a:rect l="l" t="t" r="r" b="b"/>
              <a:pathLst>
                <a:path w="2420620" h="1315720">
                  <a:moveTo>
                    <a:pt x="2420006" y="1315557"/>
                  </a:moveTo>
                  <a:lnTo>
                    <a:pt x="2350990" y="1315099"/>
                  </a:lnTo>
                  <a:lnTo>
                    <a:pt x="2282787" y="1313737"/>
                  </a:lnTo>
                  <a:lnTo>
                    <a:pt x="2215410" y="1311490"/>
                  </a:lnTo>
                  <a:lnTo>
                    <a:pt x="2148866" y="1308379"/>
                  </a:lnTo>
                  <a:lnTo>
                    <a:pt x="2083168" y="1304422"/>
                  </a:lnTo>
                  <a:lnTo>
                    <a:pt x="2018323" y="1299638"/>
                  </a:lnTo>
                  <a:lnTo>
                    <a:pt x="1954344" y="1294046"/>
                  </a:lnTo>
                  <a:lnTo>
                    <a:pt x="1891238" y="1287666"/>
                  </a:lnTo>
                  <a:lnTo>
                    <a:pt x="1829017" y="1280517"/>
                  </a:lnTo>
                  <a:lnTo>
                    <a:pt x="1767691" y="1272619"/>
                  </a:lnTo>
                  <a:lnTo>
                    <a:pt x="1707268" y="1263989"/>
                  </a:lnTo>
                  <a:lnTo>
                    <a:pt x="1647760" y="1254649"/>
                  </a:lnTo>
                  <a:lnTo>
                    <a:pt x="1589176" y="1244616"/>
                  </a:lnTo>
                  <a:lnTo>
                    <a:pt x="1531527" y="1233910"/>
                  </a:lnTo>
                  <a:lnTo>
                    <a:pt x="1474822" y="1222551"/>
                  </a:lnTo>
                  <a:lnTo>
                    <a:pt x="1419071" y="1210557"/>
                  </a:lnTo>
                  <a:lnTo>
                    <a:pt x="1364284" y="1197948"/>
                  </a:lnTo>
                  <a:lnTo>
                    <a:pt x="1310471" y="1184743"/>
                  </a:lnTo>
                  <a:lnTo>
                    <a:pt x="1257642" y="1170961"/>
                  </a:lnTo>
                  <a:lnTo>
                    <a:pt x="1205808" y="1156621"/>
                  </a:lnTo>
                  <a:lnTo>
                    <a:pt x="1154977" y="1141743"/>
                  </a:lnTo>
                  <a:lnTo>
                    <a:pt x="1105161" y="1126347"/>
                  </a:lnTo>
                  <a:lnTo>
                    <a:pt x="1056368" y="1110450"/>
                  </a:lnTo>
                  <a:lnTo>
                    <a:pt x="1008610" y="1094072"/>
                  </a:lnTo>
                  <a:lnTo>
                    <a:pt x="961896" y="1077234"/>
                  </a:lnTo>
                  <a:lnTo>
                    <a:pt x="916235" y="1059952"/>
                  </a:lnTo>
                  <a:lnTo>
                    <a:pt x="871639" y="1042248"/>
                  </a:lnTo>
                  <a:lnTo>
                    <a:pt x="828116" y="1024141"/>
                  </a:lnTo>
                  <a:lnTo>
                    <a:pt x="785677" y="1005648"/>
                  </a:lnTo>
                  <a:lnTo>
                    <a:pt x="744332" y="986791"/>
                  </a:lnTo>
                  <a:lnTo>
                    <a:pt x="704091" y="967587"/>
                  </a:lnTo>
                  <a:lnTo>
                    <a:pt x="664964" y="948057"/>
                  </a:lnTo>
                  <a:lnTo>
                    <a:pt x="626960" y="928219"/>
                  </a:lnTo>
                  <a:lnTo>
                    <a:pt x="590091" y="908092"/>
                  </a:lnTo>
                  <a:lnTo>
                    <a:pt x="554364" y="887696"/>
                  </a:lnTo>
                  <a:lnTo>
                    <a:pt x="519792" y="867051"/>
                  </a:lnTo>
                  <a:lnTo>
                    <a:pt x="486383" y="846175"/>
                  </a:lnTo>
                  <a:lnTo>
                    <a:pt x="454148" y="825087"/>
                  </a:lnTo>
                  <a:lnTo>
                    <a:pt x="393239" y="782354"/>
                  </a:lnTo>
                  <a:lnTo>
                    <a:pt x="337143" y="739005"/>
                  </a:lnTo>
                  <a:lnTo>
                    <a:pt x="285942" y="695195"/>
                  </a:lnTo>
                  <a:lnTo>
                    <a:pt x="239715" y="651078"/>
                  </a:lnTo>
                  <a:lnTo>
                    <a:pt x="198541" y="606807"/>
                  </a:lnTo>
                  <a:lnTo>
                    <a:pt x="159389" y="558516"/>
                  </a:lnTo>
                  <a:lnTo>
                    <a:pt x="125895" y="510425"/>
                  </a:lnTo>
                  <a:lnTo>
                    <a:pt x="97606" y="462734"/>
                  </a:lnTo>
                  <a:lnTo>
                    <a:pt x="74071" y="415641"/>
                  </a:lnTo>
                  <a:lnTo>
                    <a:pt x="54838" y="369348"/>
                  </a:lnTo>
                  <a:lnTo>
                    <a:pt x="39455" y="324052"/>
                  </a:lnTo>
                  <a:lnTo>
                    <a:pt x="27470" y="279955"/>
                  </a:lnTo>
                  <a:lnTo>
                    <a:pt x="18433" y="237256"/>
                  </a:lnTo>
                  <a:lnTo>
                    <a:pt x="11890" y="196154"/>
                  </a:lnTo>
                  <a:lnTo>
                    <a:pt x="7390" y="156849"/>
                  </a:lnTo>
                  <a:lnTo>
                    <a:pt x="3171" y="95154"/>
                  </a:lnTo>
                  <a:lnTo>
                    <a:pt x="1577" y="49754"/>
                  </a:lnTo>
                  <a:lnTo>
                    <a:pt x="1001" y="28871"/>
                  </a:lnTo>
                  <a:lnTo>
                    <a:pt x="809" y="22122"/>
                  </a:lnTo>
                  <a:lnTo>
                    <a:pt x="609" y="15590"/>
                  </a:lnTo>
                  <a:lnTo>
                    <a:pt x="376" y="9286"/>
                  </a:lnTo>
                  <a:lnTo>
                    <a:pt x="260" y="6133"/>
                  </a:lnTo>
                  <a:lnTo>
                    <a:pt x="135" y="303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42720" y="2101113"/>
              <a:ext cx="86211" cy="11038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439527" y="1633613"/>
            <a:ext cx="7766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Maximize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39527" y="1843163"/>
            <a:ext cx="1102995" cy="8814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likelihood of  original input  being 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reconstructed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519636" y="1559452"/>
            <a:ext cx="4935220" cy="850265"/>
            <a:chOff x="995636" y="702200"/>
            <a:chExt cx="4935220" cy="850265"/>
          </a:xfrm>
        </p:grpSpPr>
        <p:sp>
          <p:nvSpPr>
            <p:cNvPr id="60" name="object 60"/>
            <p:cNvSpPr/>
            <p:nvPr/>
          </p:nvSpPr>
          <p:spPr>
            <a:xfrm>
              <a:off x="1030962" y="711725"/>
              <a:ext cx="4890770" cy="745490"/>
            </a:xfrm>
            <a:custGeom>
              <a:avLst/>
              <a:gdLst/>
              <a:ahLst/>
              <a:cxnLst/>
              <a:rect l="l" t="t" r="r" b="b"/>
              <a:pathLst>
                <a:path w="4890770" h="745490">
                  <a:moveTo>
                    <a:pt x="4890287" y="0"/>
                  </a:moveTo>
                  <a:lnTo>
                    <a:pt x="4815524" y="77"/>
                  </a:lnTo>
                  <a:lnTo>
                    <a:pt x="4741208" y="308"/>
                  </a:lnTo>
                  <a:lnTo>
                    <a:pt x="4667343" y="692"/>
                  </a:lnTo>
                  <a:lnTo>
                    <a:pt x="4593932" y="1225"/>
                  </a:lnTo>
                  <a:lnTo>
                    <a:pt x="4520980" y="1908"/>
                  </a:lnTo>
                  <a:lnTo>
                    <a:pt x="4448488" y="2737"/>
                  </a:lnTo>
                  <a:lnTo>
                    <a:pt x="4376461" y="3712"/>
                  </a:lnTo>
                  <a:lnTo>
                    <a:pt x="4304903" y="4830"/>
                  </a:lnTo>
                  <a:lnTo>
                    <a:pt x="4233816" y="6091"/>
                  </a:lnTo>
                  <a:lnTo>
                    <a:pt x="4163204" y="7491"/>
                  </a:lnTo>
                  <a:lnTo>
                    <a:pt x="4093071" y="9030"/>
                  </a:lnTo>
                  <a:lnTo>
                    <a:pt x="4023421" y="10705"/>
                  </a:lnTo>
                  <a:lnTo>
                    <a:pt x="3954256" y="12516"/>
                  </a:lnTo>
                  <a:lnTo>
                    <a:pt x="3885580" y="14459"/>
                  </a:lnTo>
                  <a:lnTo>
                    <a:pt x="3817396" y="16535"/>
                  </a:lnTo>
                  <a:lnTo>
                    <a:pt x="3749709" y="18740"/>
                  </a:lnTo>
                  <a:lnTo>
                    <a:pt x="3682521" y="21073"/>
                  </a:lnTo>
                  <a:lnTo>
                    <a:pt x="3615836" y="23533"/>
                  </a:lnTo>
                  <a:lnTo>
                    <a:pt x="3549657" y="26118"/>
                  </a:lnTo>
                  <a:lnTo>
                    <a:pt x="3483989" y="28826"/>
                  </a:lnTo>
                  <a:lnTo>
                    <a:pt x="3418834" y="31655"/>
                  </a:lnTo>
                  <a:lnTo>
                    <a:pt x="3354196" y="34603"/>
                  </a:lnTo>
                  <a:lnTo>
                    <a:pt x="3290078" y="37670"/>
                  </a:lnTo>
                  <a:lnTo>
                    <a:pt x="3226484" y="40853"/>
                  </a:lnTo>
                  <a:lnTo>
                    <a:pt x="3163418" y="44150"/>
                  </a:lnTo>
                  <a:lnTo>
                    <a:pt x="3100882" y="47560"/>
                  </a:lnTo>
                  <a:lnTo>
                    <a:pt x="3038880" y="51082"/>
                  </a:lnTo>
                  <a:lnTo>
                    <a:pt x="2977417" y="54712"/>
                  </a:lnTo>
                  <a:lnTo>
                    <a:pt x="2916494" y="58451"/>
                  </a:lnTo>
                  <a:lnTo>
                    <a:pt x="2856116" y="62295"/>
                  </a:lnTo>
                  <a:lnTo>
                    <a:pt x="2796287" y="66243"/>
                  </a:lnTo>
                  <a:lnTo>
                    <a:pt x="2737009" y="70294"/>
                  </a:lnTo>
                  <a:lnTo>
                    <a:pt x="2678286" y="74446"/>
                  </a:lnTo>
                  <a:lnTo>
                    <a:pt x="2620122" y="78697"/>
                  </a:lnTo>
                  <a:lnTo>
                    <a:pt x="2562520" y="83046"/>
                  </a:lnTo>
                  <a:lnTo>
                    <a:pt x="2505483" y="87490"/>
                  </a:lnTo>
                  <a:lnTo>
                    <a:pt x="2449016" y="92028"/>
                  </a:lnTo>
                  <a:lnTo>
                    <a:pt x="2393121" y="96658"/>
                  </a:lnTo>
                  <a:lnTo>
                    <a:pt x="2337802" y="101379"/>
                  </a:lnTo>
                  <a:lnTo>
                    <a:pt x="2283063" y="106189"/>
                  </a:lnTo>
                  <a:lnTo>
                    <a:pt x="2228906" y="111086"/>
                  </a:lnTo>
                  <a:lnTo>
                    <a:pt x="2175336" y="116069"/>
                  </a:lnTo>
                  <a:lnTo>
                    <a:pt x="2122356" y="121135"/>
                  </a:lnTo>
                  <a:lnTo>
                    <a:pt x="2069969" y="126283"/>
                  </a:lnTo>
                  <a:lnTo>
                    <a:pt x="2018179" y="131512"/>
                  </a:lnTo>
                  <a:lnTo>
                    <a:pt x="1966989" y="136819"/>
                  </a:lnTo>
                  <a:lnTo>
                    <a:pt x="1916404" y="142203"/>
                  </a:lnTo>
                  <a:lnTo>
                    <a:pt x="1866425" y="147663"/>
                  </a:lnTo>
                  <a:lnTo>
                    <a:pt x="1817057" y="153195"/>
                  </a:lnTo>
                  <a:lnTo>
                    <a:pt x="1768304" y="158800"/>
                  </a:lnTo>
                  <a:lnTo>
                    <a:pt x="1720168" y="164475"/>
                  </a:lnTo>
                  <a:lnTo>
                    <a:pt x="1672653" y="170218"/>
                  </a:lnTo>
                  <a:lnTo>
                    <a:pt x="1625763" y="176027"/>
                  </a:lnTo>
                  <a:lnTo>
                    <a:pt x="1579501" y="181902"/>
                  </a:lnTo>
                  <a:lnTo>
                    <a:pt x="1533871" y="187840"/>
                  </a:lnTo>
                  <a:lnTo>
                    <a:pt x="1488875" y="193839"/>
                  </a:lnTo>
                  <a:lnTo>
                    <a:pt x="1444519" y="199898"/>
                  </a:lnTo>
                  <a:lnTo>
                    <a:pt x="1400804" y="206016"/>
                  </a:lnTo>
                  <a:lnTo>
                    <a:pt x="1357735" y="212189"/>
                  </a:lnTo>
                  <a:lnTo>
                    <a:pt x="1315315" y="218418"/>
                  </a:lnTo>
                  <a:lnTo>
                    <a:pt x="1273547" y="224699"/>
                  </a:lnTo>
                  <a:lnTo>
                    <a:pt x="1232435" y="231032"/>
                  </a:lnTo>
                  <a:lnTo>
                    <a:pt x="1191983" y="237414"/>
                  </a:lnTo>
                  <a:lnTo>
                    <a:pt x="1152193" y="243844"/>
                  </a:lnTo>
                  <a:lnTo>
                    <a:pt x="1113070" y="250320"/>
                  </a:lnTo>
                  <a:lnTo>
                    <a:pt x="1074617" y="256841"/>
                  </a:lnTo>
                  <a:lnTo>
                    <a:pt x="1036837" y="263404"/>
                  </a:lnTo>
                  <a:lnTo>
                    <a:pt x="963311" y="276652"/>
                  </a:lnTo>
                  <a:lnTo>
                    <a:pt x="892520" y="290051"/>
                  </a:lnTo>
                  <a:lnTo>
                    <a:pt x="824492" y="303586"/>
                  </a:lnTo>
                  <a:lnTo>
                    <a:pt x="759254" y="317244"/>
                  </a:lnTo>
                  <a:lnTo>
                    <a:pt x="696835" y="331012"/>
                  </a:lnTo>
                  <a:lnTo>
                    <a:pt x="637262" y="344875"/>
                  </a:lnTo>
                  <a:lnTo>
                    <a:pt x="580563" y="358821"/>
                  </a:lnTo>
                  <a:lnTo>
                    <a:pt x="526765" y="372834"/>
                  </a:lnTo>
                  <a:lnTo>
                    <a:pt x="475898" y="386903"/>
                  </a:lnTo>
                  <a:lnTo>
                    <a:pt x="427988" y="401012"/>
                  </a:lnTo>
                  <a:lnTo>
                    <a:pt x="383063" y="415149"/>
                  </a:lnTo>
                  <a:lnTo>
                    <a:pt x="341151" y="429299"/>
                  </a:lnTo>
                  <a:lnTo>
                    <a:pt x="256911" y="461470"/>
                  </a:lnTo>
                  <a:lnTo>
                    <a:pt x="187163" y="493480"/>
                  </a:lnTo>
                  <a:lnTo>
                    <a:pt x="130660" y="525168"/>
                  </a:lnTo>
                  <a:lnTo>
                    <a:pt x="86157" y="556372"/>
                  </a:lnTo>
                  <a:lnTo>
                    <a:pt x="52406" y="586933"/>
                  </a:lnTo>
                  <a:lnTo>
                    <a:pt x="28161" y="616689"/>
                  </a:lnTo>
                  <a:lnTo>
                    <a:pt x="3204" y="673142"/>
                  </a:lnTo>
                  <a:lnTo>
                    <a:pt x="0" y="699517"/>
                  </a:lnTo>
                  <a:lnTo>
                    <a:pt x="1315" y="724443"/>
                  </a:lnTo>
                  <a:lnTo>
                    <a:pt x="1974" y="729474"/>
                  </a:lnTo>
                  <a:lnTo>
                    <a:pt x="2845" y="734400"/>
                  </a:lnTo>
                  <a:lnTo>
                    <a:pt x="3879" y="739215"/>
                  </a:lnTo>
                  <a:lnTo>
                    <a:pt x="4138" y="740418"/>
                  </a:lnTo>
                  <a:lnTo>
                    <a:pt x="4406" y="741615"/>
                  </a:lnTo>
                  <a:lnTo>
                    <a:pt x="4684" y="742805"/>
                  </a:lnTo>
                  <a:lnTo>
                    <a:pt x="5336" y="745489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5636" y="1443161"/>
              <a:ext cx="81325" cy="10912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784952" y="4587897"/>
            <a:ext cx="2530475" cy="7645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For every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minibatch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600" spc="-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input  data: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compute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this forward  pass, and then</a:t>
            </a:r>
            <a:r>
              <a:rPr sz="16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backprop!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70727" y="5562152"/>
            <a:ext cx="137985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xfrm>
            <a:off x="8980525" y="4704901"/>
            <a:ext cx="1564004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/>
              <a:t>Presented by Dr. Muhammad Nouman Noor</a:t>
            </a:r>
            <a:endParaRPr spc="-5" dirty="0"/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xfrm>
            <a:off x="8347551" y="4561051"/>
            <a:ext cx="3333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48</a:t>
            </a:fld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043665-5B3D-A6EB-99A9-89C3F289F6DE}"/>
              </a:ext>
            </a:extLst>
          </p:cNvPr>
          <p:cNvSpPr txBox="1"/>
          <p:nvPr/>
        </p:nvSpPr>
        <p:spPr>
          <a:xfrm>
            <a:off x="2538889" y="3222697"/>
            <a:ext cx="29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Kulback-Leibler</a:t>
            </a:r>
            <a:r>
              <a:rPr lang="en-US" dirty="0"/>
              <a:t> Divergence</a:t>
            </a:r>
          </a:p>
        </p:txBody>
      </p:sp>
      <p:sp>
        <p:nvSpPr>
          <p:cNvPr id="65" name="Date Placeholder 64">
            <a:extLst>
              <a:ext uri="{FF2B5EF4-FFF2-40B4-BE49-F238E27FC236}">
                <a16:creationId xmlns:a16="http://schemas.microsoft.com/office/drawing/2014/main" id="{EE410591-32C0-DD8E-BB43-CD381249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A2E77-78A8-47CA-A4EA-B223FF827AAD}" type="datetime1">
              <a:rPr lang="en-US" smtClean="0"/>
              <a:t>10/1/2025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AB207D-2898-4AA6-B6CE-EBF9F4385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61F8-A9C6-4258-B7B3-22B2E041989A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FA182-C259-4028-B569-61CC16CAE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1E625-7BC4-4102-A35F-475CA471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2C8B541-05F4-432C-8FEE-EA391ACC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Variational</a:t>
            </a:r>
            <a:r>
              <a:rPr lang="en-US" spc="-85" dirty="0"/>
              <a:t> </a:t>
            </a:r>
            <a:r>
              <a:rPr lang="en-US" spc="-5" dirty="0"/>
              <a:t>Autoencoders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EB908C-ACF9-4569-B788-81F14C3BB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86753"/>
            <a:ext cx="8686800" cy="421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788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8330-6026-4EEE-8E0A-78BA2151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Variational Autoencoder Likelihood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9C484-384A-4EF5-8A41-3DB5598A1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9F54C-6BA7-4B85-BC96-D3BFA13A5A42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6BCAD-5FD9-4648-89A7-1F4726F8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0CCA1-F7D4-488F-83E0-C19AA39A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7A115BA-AB78-4F88-9EFD-16DD40057B49}"/>
              </a:ext>
            </a:extLst>
          </p:cNvPr>
          <p:cNvSpPr/>
          <p:nvPr/>
        </p:nvSpPr>
        <p:spPr>
          <a:xfrm>
            <a:off x="3050076" y="1777114"/>
            <a:ext cx="5636724" cy="40140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D68CED91-B063-4CED-8B5D-AE91D33B7D9E}"/>
              </a:ext>
            </a:extLst>
          </p:cNvPr>
          <p:cNvSpPr txBox="1"/>
          <p:nvPr/>
        </p:nvSpPr>
        <p:spPr>
          <a:xfrm>
            <a:off x="4513729" y="5973800"/>
            <a:ext cx="29970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solidFill>
                  <a:srgbClr val="0070C0"/>
                </a:solidFill>
                <a:latin typeface="Arial"/>
                <a:cs typeface="Arial"/>
              </a:rPr>
              <a:t>Labeled Faces in the</a:t>
            </a:r>
            <a:r>
              <a:rPr sz="2000" spc="-8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Arial"/>
                <a:cs typeface="Arial"/>
              </a:rPr>
              <a:t>Wild</a:t>
            </a:r>
            <a:endParaRPr sz="2000" dirty="0">
              <a:solidFill>
                <a:srgbClr val="0070C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51874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0E32-7C56-2533-6EFF-D8BBB560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231944-6FC8-CF6A-07E5-52D2632D1B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The</a:t>
            </a:r>
            <a:r>
              <a:rPr sz="4400" spc="-15" dirty="0"/>
              <a:t> </a:t>
            </a:r>
            <a:r>
              <a:rPr sz="4400" i="1" dirty="0">
                <a:latin typeface="Calibri Light"/>
                <a:cs typeface="Calibri Light"/>
              </a:rPr>
              <a:t>variational</a:t>
            </a:r>
            <a:r>
              <a:rPr sz="4400" i="1" spc="-35" dirty="0">
                <a:latin typeface="Calibri Light"/>
                <a:cs typeface="Calibri Light"/>
              </a:rPr>
              <a:t> </a:t>
            </a:r>
            <a:r>
              <a:rPr sz="4400" spc="-10" dirty="0"/>
              <a:t>autoencoder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D774FA6-A4C9-CE4E-A3FB-13FBF3BFA1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5464" y="1951684"/>
            <a:ext cx="905801" cy="1751169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28732B07-E946-1903-353A-988659E593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508" y="2700527"/>
            <a:ext cx="752855" cy="26365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06A5C6F-D472-111E-3749-76A8D9150B3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1139" y="2694432"/>
            <a:ext cx="2033016" cy="269748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189E7E70-21F6-5F17-39E3-6C075D2A57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3271" y="2686811"/>
            <a:ext cx="2834639" cy="259079"/>
          </a:xfrm>
          <a:prstGeom prst="rect">
            <a:avLst/>
          </a:prstGeom>
        </p:spPr>
      </p:pic>
      <p:grpSp>
        <p:nvGrpSpPr>
          <p:cNvPr id="7" name="object 7">
            <a:extLst>
              <a:ext uri="{FF2B5EF4-FFF2-40B4-BE49-F238E27FC236}">
                <a16:creationId xmlns:a16="http://schemas.microsoft.com/office/drawing/2014/main" id="{B84EE2B3-C807-FE2C-2E3B-9A9777F0616D}"/>
              </a:ext>
            </a:extLst>
          </p:cNvPr>
          <p:cNvGrpSpPr/>
          <p:nvPr/>
        </p:nvGrpSpPr>
        <p:grpSpPr>
          <a:xfrm>
            <a:off x="9526210" y="1339605"/>
            <a:ext cx="2030282" cy="2236756"/>
            <a:chOff x="8341626" y="262127"/>
            <a:chExt cx="2296160" cy="2360930"/>
          </a:xfrm>
        </p:grpSpPr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BC4918C-9FE4-E6A2-ABFB-07590EE3E04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1626" y="262127"/>
              <a:ext cx="2065195" cy="198015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19814A4-E1F1-F182-B07B-57A6CA9DA03B}"/>
                </a:ext>
              </a:extLst>
            </p:cNvPr>
            <p:cNvSpPr/>
            <p:nvPr/>
          </p:nvSpPr>
          <p:spPr>
            <a:xfrm>
              <a:off x="10018014" y="1418081"/>
              <a:ext cx="619760" cy="1205230"/>
            </a:xfrm>
            <a:custGeom>
              <a:avLst/>
              <a:gdLst/>
              <a:ahLst/>
              <a:cxnLst/>
              <a:rect l="l" t="t" r="r" b="b"/>
              <a:pathLst>
                <a:path w="619759" h="1205230">
                  <a:moveTo>
                    <a:pt x="556369" y="1160879"/>
                  </a:moveTo>
                  <a:lnTo>
                    <a:pt x="537209" y="1181989"/>
                  </a:lnTo>
                  <a:lnTo>
                    <a:pt x="619251" y="1204976"/>
                  </a:lnTo>
                  <a:lnTo>
                    <a:pt x="605426" y="1169415"/>
                  </a:lnTo>
                  <a:lnTo>
                    <a:pt x="565784" y="1169415"/>
                  </a:lnTo>
                  <a:lnTo>
                    <a:pt x="556369" y="1160879"/>
                  </a:lnTo>
                  <a:close/>
                </a:path>
                <a:path w="619759" h="1205230">
                  <a:moveTo>
                    <a:pt x="569227" y="1146809"/>
                  </a:moveTo>
                  <a:lnTo>
                    <a:pt x="556369" y="1160879"/>
                  </a:lnTo>
                  <a:lnTo>
                    <a:pt x="565784" y="1169415"/>
                  </a:lnTo>
                  <a:lnTo>
                    <a:pt x="578611" y="1155318"/>
                  </a:lnTo>
                  <a:lnTo>
                    <a:pt x="569227" y="1146809"/>
                  </a:lnTo>
                  <a:close/>
                </a:path>
                <a:path w="619759" h="1205230">
                  <a:moveTo>
                    <a:pt x="588390" y="1125601"/>
                  </a:moveTo>
                  <a:lnTo>
                    <a:pt x="569255" y="1146682"/>
                  </a:lnTo>
                  <a:lnTo>
                    <a:pt x="578611" y="1155318"/>
                  </a:lnTo>
                  <a:lnTo>
                    <a:pt x="565784" y="1169415"/>
                  </a:lnTo>
                  <a:lnTo>
                    <a:pt x="605426" y="1169415"/>
                  </a:lnTo>
                  <a:lnTo>
                    <a:pt x="588390" y="1125601"/>
                  </a:lnTo>
                  <a:close/>
                </a:path>
                <a:path w="619759" h="1205230">
                  <a:moveTo>
                    <a:pt x="18668" y="0"/>
                  </a:moveTo>
                  <a:lnTo>
                    <a:pt x="19811" y="102869"/>
                  </a:lnTo>
                  <a:lnTo>
                    <a:pt x="40131" y="201294"/>
                  </a:lnTo>
                  <a:lnTo>
                    <a:pt x="61721" y="298322"/>
                  </a:lnTo>
                  <a:lnTo>
                    <a:pt x="73151" y="346075"/>
                  </a:lnTo>
                  <a:lnTo>
                    <a:pt x="85089" y="393191"/>
                  </a:lnTo>
                  <a:lnTo>
                    <a:pt x="97535" y="439546"/>
                  </a:lnTo>
                  <a:lnTo>
                    <a:pt x="110743" y="485139"/>
                  </a:lnTo>
                  <a:lnTo>
                    <a:pt x="124586" y="529716"/>
                  </a:lnTo>
                  <a:lnTo>
                    <a:pt x="139191" y="573404"/>
                  </a:lnTo>
                  <a:lnTo>
                    <a:pt x="154812" y="615822"/>
                  </a:lnTo>
                  <a:lnTo>
                    <a:pt x="171322" y="657225"/>
                  </a:lnTo>
                  <a:lnTo>
                    <a:pt x="188849" y="697356"/>
                  </a:lnTo>
                  <a:lnTo>
                    <a:pt x="207517" y="735964"/>
                  </a:lnTo>
                  <a:lnTo>
                    <a:pt x="227329" y="773176"/>
                  </a:lnTo>
                  <a:lnTo>
                    <a:pt x="248157" y="808863"/>
                  </a:lnTo>
                  <a:lnTo>
                    <a:pt x="270128" y="843406"/>
                  </a:lnTo>
                  <a:lnTo>
                    <a:pt x="292988" y="876553"/>
                  </a:lnTo>
                  <a:lnTo>
                    <a:pt x="316610" y="908557"/>
                  </a:lnTo>
                  <a:lnTo>
                    <a:pt x="341121" y="939545"/>
                  </a:lnTo>
                  <a:lnTo>
                    <a:pt x="366394" y="969644"/>
                  </a:lnTo>
                  <a:lnTo>
                    <a:pt x="392175" y="998854"/>
                  </a:lnTo>
                  <a:lnTo>
                    <a:pt x="418591" y="1027176"/>
                  </a:lnTo>
                  <a:lnTo>
                    <a:pt x="445388" y="1054862"/>
                  </a:lnTo>
                  <a:lnTo>
                    <a:pt x="500379" y="1108582"/>
                  </a:lnTo>
                  <a:lnTo>
                    <a:pt x="556369" y="1160879"/>
                  </a:lnTo>
                  <a:lnTo>
                    <a:pt x="569140" y="1146809"/>
                  </a:lnTo>
                  <a:lnTo>
                    <a:pt x="513596" y="1094866"/>
                  </a:lnTo>
                  <a:lnTo>
                    <a:pt x="459110" y="1041526"/>
                  </a:lnTo>
                  <a:lnTo>
                    <a:pt x="458977" y="1041526"/>
                  </a:lnTo>
                  <a:lnTo>
                    <a:pt x="432316" y="1013967"/>
                  </a:lnTo>
                  <a:lnTo>
                    <a:pt x="406382" y="986154"/>
                  </a:lnTo>
                  <a:lnTo>
                    <a:pt x="380857" y="957326"/>
                  </a:lnTo>
                  <a:lnTo>
                    <a:pt x="355960" y="927607"/>
                  </a:lnTo>
                  <a:lnTo>
                    <a:pt x="331924" y="897127"/>
                  </a:lnTo>
                  <a:lnTo>
                    <a:pt x="308355" y="865377"/>
                  </a:lnTo>
                  <a:lnTo>
                    <a:pt x="285876" y="832738"/>
                  </a:lnTo>
                  <a:lnTo>
                    <a:pt x="264575" y="799083"/>
                  </a:lnTo>
                  <a:lnTo>
                    <a:pt x="243839" y="763651"/>
                  </a:lnTo>
                  <a:lnTo>
                    <a:pt x="224408" y="727201"/>
                  </a:lnTo>
                  <a:lnTo>
                    <a:pt x="224539" y="727201"/>
                  </a:lnTo>
                  <a:lnTo>
                    <a:pt x="206244" y="689482"/>
                  </a:lnTo>
                  <a:lnTo>
                    <a:pt x="188960" y="649985"/>
                  </a:lnTo>
                  <a:lnTo>
                    <a:pt x="188874" y="649731"/>
                  </a:lnTo>
                  <a:lnTo>
                    <a:pt x="172694" y="609218"/>
                  </a:lnTo>
                  <a:lnTo>
                    <a:pt x="172626" y="608964"/>
                  </a:lnTo>
                  <a:lnTo>
                    <a:pt x="157192" y="567181"/>
                  </a:lnTo>
                  <a:lnTo>
                    <a:pt x="157140" y="566927"/>
                  </a:lnTo>
                  <a:lnTo>
                    <a:pt x="142706" y="524001"/>
                  </a:lnTo>
                  <a:lnTo>
                    <a:pt x="142668" y="523747"/>
                  </a:lnTo>
                  <a:lnTo>
                    <a:pt x="128944" y="479678"/>
                  </a:lnTo>
                  <a:lnTo>
                    <a:pt x="115897" y="434593"/>
                  </a:lnTo>
                  <a:lnTo>
                    <a:pt x="103538" y="388492"/>
                  </a:lnTo>
                  <a:lnTo>
                    <a:pt x="91599" y="341629"/>
                  </a:lnTo>
                  <a:lnTo>
                    <a:pt x="80294" y="294131"/>
                  </a:lnTo>
                  <a:lnTo>
                    <a:pt x="58730" y="197484"/>
                  </a:lnTo>
                  <a:lnTo>
                    <a:pt x="58748" y="197230"/>
                  </a:lnTo>
                  <a:lnTo>
                    <a:pt x="38480" y="99059"/>
                  </a:lnTo>
                  <a:lnTo>
                    <a:pt x="18668" y="0"/>
                  </a:lnTo>
                  <a:close/>
                </a:path>
                <a:path w="619759" h="1205230">
                  <a:moveTo>
                    <a:pt x="569174" y="1146772"/>
                  </a:moveTo>
                  <a:close/>
                </a:path>
                <a:path w="619759" h="1205230">
                  <a:moveTo>
                    <a:pt x="569179" y="1146766"/>
                  </a:moveTo>
                  <a:close/>
                </a:path>
                <a:path w="619759" h="1205230">
                  <a:moveTo>
                    <a:pt x="513460" y="1094739"/>
                  </a:moveTo>
                  <a:lnTo>
                    <a:pt x="513596" y="1094866"/>
                  </a:lnTo>
                  <a:lnTo>
                    <a:pt x="513460" y="1094739"/>
                  </a:lnTo>
                  <a:close/>
                </a:path>
                <a:path w="619759" h="1205230">
                  <a:moveTo>
                    <a:pt x="458850" y="1041272"/>
                  </a:moveTo>
                  <a:lnTo>
                    <a:pt x="458977" y="1041526"/>
                  </a:lnTo>
                  <a:lnTo>
                    <a:pt x="459110" y="1041526"/>
                  </a:lnTo>
                  <a:lnTo>
                    <a:pt x="458850" y="1041272"/>
                  </a:lnTo>
                  <a:close/>
                </a:path>
                <a:path w="619759" h="1205230">
                  <a:moveTo>
                    <a:pt x="432316" y="1013967"/>
                  </a:moveTo>
                  <a:close/>
                </a:path>
                <a:path w="619759" h="1205230">
                  <a:moveTo>
                    <a:pt x="406145" y="985901"/>
                  </a:moveTo>
                  <a:lnTo>
                    <a:pt x="406272" y="986154"/>
                  </a:lnTo>
                  <a:lnTo>
                    <a:pt x="406145" y="985901"/>
                  </a:lnTo>
                  <a:close/>
                </a:path>
                <a:path w="619759" h="1205230">
                  <a:moveTo>
                    <a:pt x="380766" y="957198"/>
                  </a:moveTo>
                  <a:lnTo>
                    <a:pt x="380872" y="957326"/>
                  </a:lnTo>
                  <a:lnTo>
                    <a:pt x="380766" y="957198"/>
                  </a:lnTo>
                  <a:close/>
                </a:path>
                <a:path w="619759" h="1205230">
                  <a:moveTo>
                    <a:pt x="355880" y="927480"/>
                  </a:moveTo>
                  <a:close/>
                </a:path>
                <a:path w="619759" h="1205230">
                  <a:moveTo>
                    <a:pt x="331724" y="896873"/>
                  </a:moveTo>
                  <a:lnTo>
                    <a:pt x="331850" y="897127"/>
                  </a:lnTo>
                  <a:lnTo>
                    <a:pt x="331724" y="896873"/>
                  </a:lnTo>
                  <a:close/>
                </a:path>
                <a:path w="619759" h="1205230">
                  <a:moveTo>
                    <a:pt x="308434" y="865377"/>
                  </a:moveTo>
                  <a:lnTo>
                    <a:pt x="308609" y="865631"/>
                  </a:lnTo>
                  <a:lnTo>
                    <a:pt x="308434" y="865377"/>
                  </a:lnTo>
                  <a:close/>
                </a:path>
                <a:path w="619759" h="1205230">
                  <a:moveTo>
                    <a:pt x="285969" y="832738"/>
                  </a:moveTo>
                  <a:lnTo>
                    <a:pt x="286130" y="832992"/>
                  </a:lnTo>
                  <a:lnTo>
                    <a:pt x="285969" y="832738"/>
                  </a:lnTo>
                  <a:close/>
                </a:path>
                <a:path w="619759" h="1205230">
                  <a:moveTo>
                    <a:pt x="264413" y="798829"/>
                  </a:moveTo>
                  <a:lnTo>
                    <a:pt x="264540" y="799083"/>
                  </a:lnTo>
                  <a:lnTo>
                    <a:pt x="264413" y="798829"/>
                  </a:lnTo>
                  <a:close/>
                </a:path>
                <a:path w="619759" h="1205230">
                  <a:moveTo>
                    <a:pt x="243890" y="763651"/>
                  </a:moveTo>
                  <a:lnTo>
                    <a:pt x="244093" y="764031"/>
                  </a:lnTo>
                  <a:lnTo>
                    <a:pt x="243890" y="763651"/>
                  </a:lnTo>
                  <a:close/>
                </a:path>
                <a:path w="619759" h="1205230">
                  <a:moveTo>
                    <a:pt x="224539" y="727201"/>
                  </a:moveTo>
                  <a:lnTo>
                    <a:pt x="224408" y="727201"/>
                  </a:lnTo>
                  <a:lnTo>
                    <a:pt x="224662" y="727455"/>
                  </a:lnTo>
                  <a:lnTo>
                    <a:pt x="224539" y="727201"/>
                  </a:lnTo>
                  <a:close/>
                </a:path>
                <a:path w="619759" h="1205230">
                  <a:moveTo>
                    <a:pt x="206136" y="689228"/>
                  </a:moveTo>
                  <a:lnTo>
                    <a:pt x="206247" y="689482"/>
                  </a:lnTo>
                  <a:lnTo>
                    <a:pt x="206136" y="689228"/>
                  </a:lnTo>
                  <a:close/>
                </a:path>
                <a:path w="619759" h="1205230">
                  <a:moveTo>
                    <a:pt x="188874" y="649731"/>
                  </a:moveTo>
                  <a:lnTo>
                    <a:pt x="188975" y="649985"/>
                  </a:lnTo>
                  <a:lnTo>
                    <a:pt x="188874" y="649731"/>
                  </a:lnTo>
                  <a:close/>
                </a:path>
                <a:path w="619759" h="1205230">
                  <a:moveTo>
                    <a:pt x="172626" y="608964"/>
                  </a:moveTo>
                  <a:lnTo>
                    <a:pt x="172719" y="609218"/>
                  </a:lnTo>
                  <a:lnTo>
                    <a:pt x="172626" y="608964"/>
                  </a:lnTo>
                  <a:close/>
                </a:path>
                <a:path w="619759" h="1205230">
                  <a:moveTo>
                    <a:pt x="157140" y="566927"/>
                  </a:moveTo>
                  <a:lnTo>
                    <a:pt x="157225" y="567181"/>
                  </a:lnTo>
                  <a:lnTo>
                    <a:pt x="157140" y="566927"/>
                  </a:lnTo>
                  <a:close/>
                </a:path>
                <a:path w="619759" h="1205230">
                  <a:moveTo>
                    <a:pt x="142668" y="523747"/>
                  </a:moveTo>
                  <a:lnTo>
                    <a:pt x="142747" y="524001"/>
                  </a:lnTo>
                  <a:lnTo>
                    <a:pt x="142668" y="523747"/>
                  </a:lnTo>
                  <a:close/>
                </a:path>
                <a:path w="619759" h="1205230">
                  <a:moveTo>
                    <a:pt x="128995" y="479551"/>
                  </a:moveTo>
                  <a:close/>
                </a:path>
                <a:path w="619759" h="1205230">
                  <a:moveTo>
                    <a:pt x="115824" y="434339"/>
                  </a:moveTo>
                  <a:lnTo>
                    <a:pt x="115824" y="434593"/>
                  </a:lnTo>
                  <a:lnTo>
                    <a:pt x="115824" y="434339"/>
                  </a:lnTo>
                  <a:close/>
                </a:path>
                <a:path w="619759" h="1205230">
                  <a:moveTo>
                    <a:pt x="103504" y="388365"/>
                  </a:moveTo>
                  <a:close/>
                </a:path>
                <a:path w="619759" h="1205230">
                  <a:moveTo>
                    <a:pt x="91663" y="341502"/>
                  </a:moveTo>
                  <a:close/>
                </a:path>
                <a:path w="619759" h="1205230">
                  <a:moveTo>
                    <a:pt x="80263" y="294004"/>
                  </a:moveTo>
                  <a:close/>
                </a:path>
                <a:path w="619759" h="1205230">
                  <a:moveTo>
                    <a:pt x="58748" y="197230"/>
                  </a:moveTo>
                  <a:lnTo>
                    <a:pt x="58800" y="197484"/>
                  </a:lnTo>
                  <a:lnTo>
                    <a:pt x="58748" y="1972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26B7F216-7879-677F-75B1-68A960D56D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04476" y="1228344"/>
              <a:ext cx="108202" cy="114300"/>
            </a:xfrm>
            <a:prstGeom prst="rect">
              <a:avLst/>
            </a:prstGeom>
          </p:spPr>
        </p:pic>
      </p:grpSp>
      <p:pic>
        <p:nvPicPr>
          <p:cNvPr id="11" name="object 11">
            <a:extLst>
              <a:ext uri="{FF2B5EF4-FFF2-40B4-BE49-F238E27FC236}">
                <a16:creationId xmlns:a16="http://schemas.microsoft.com/office/drawing/2014/main" id="{973CC1C7-C3DF-F153-72AC-3E459780107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49000" y="3576361"/>
            <a:ext cx="765048" cy="252984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F9D1F2CC-B403-DE2A-C9C5-206AB55AE92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34264" y="4107434"/>
            <a:ext cx="2077211" cy="2077212"/>
          </a:xfrm>
          <a:prstGeom prst="rect">
            <a:avLst/>
          </a:prstGeom>
        </p:spPr>
      </p:pic>
      <p:pic>
        <p:nvPicPr>
          <p:cNvPr id="13" name="object 13">
            <a:extLst>
              <a:ext uri="{FF2B5EF4-FFF2-40B4-BE49-F238E27FC236}">
                <a16:creationId xmlns:a16="http://schemas.microsoft.com/office/drawing/2014/main" id="{ECFF5770-A524-ECC0-E067-2314C4D0957D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81583" y="4863084"/>
            <a:ext cx="199644" cy="150875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B69D42B6-4851-A2BB-D470-70DE1FF4788B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2387" y="4524755"/>
            <a:ext cx="1384514" cy="827532"/>
          </a:xfrm>
          <a:prstGeom prst="rect">
            <a:avLst/>
          </a:prstGeom>
        </p:spPr>
      </p:pic>
      <p:sp>
        <p:nvSpPr>
          <p:cNvPr id="15" name="object 15">
            <a:extLst>
              <a:ext uri="{FF2B5EF4-FFF2-40B4-BE49-F238E27FC236}">
                <a16:creationId xmlns:a16="http://schemas.microsoft.com/office/drawing/2014/main" id="{4A10ABF8-4C8C-2F31-02C5-C24D903F923B}"/>
              </a:ext>
            </a:extLst>
          </p:cNvPr>
          <p:cNvSpPr/>
          <p:nvPr/>
        </p:nvSpPr>
        <p:spPr>
          <a:xfrm>
            <a:off x="2302510" y="4640453"/>
            <a:ext cx="431800" cy="145415"/>
          </a:xfrm>
          <a:custGeom>
            <a:avLst/>
            <a:gdLst/>
            <a:ahLst/>
            <a:cxnLst/>
            <a:rect l="l" t="t" r="r" b="b"/>
            <a:pathLst>
              <a:path w="431800" h="145414">
                <a:moveTo>
                  <a:pt x="355878" y="27442"/>
                </a:moveTo>
                <a:lnTo>
                  <a:pt x="0" y="127000"/>
                </a:lnTo>
                <a:lnTo>
                  <a:pt x="5079" y="145415"/>
                </a:lnTo>
                <a:lnTo>
                  <a:pt x="361003" y="45844"/>
                </a:lnTo>
                <a:lnTo>
                  <a:pt x="355878" y="27442"/>
                </a:lnTo>
                <a:close/>
              </a:path>
              <a:path w="431800" h="145414">
                <a:moveTo>
                  <a:pt x="423122" y="24003"/>
                </a:moveTo>
                <a:lnTo>
                  <a:pt x="368172" y="24003"/>
                </a:lnTo>
                <a:lnTo>
                  <a:pt x="373252" y="42418"/>
                </a:lnTo>
                <a:lnTo>
                  <a:pt x="361003" y="45844"/>
                </a:lnTo>
                <a:lnTo>
                  <a:pt x="368681" y="73406"/>
                </a:lnTo>
                <a:lnTo>
                  <a:pt x="423122" y="24003"/>
                </a:lnTo>
                <a:close/>
              </a:path>
              <a:path w="431800" h="145414">
                <a:moveTo>
                  <a:pt x="368172" y="24003"/>
                </a:moveTo>
                <a:lnTo>
                  <a:pt x="355878" y="27442"/>
                </a:lnTo>
                <a:lnTo>
                  <a:pt x="361003" y="45844"/>
                </a:lnTo>
                <a:lnTo>
                  <a:pt x="373252" y="42418"/>
                </a:lnTo>
                <a:lnTo>
                  <a:pt x="368172" y="24003"/>
                </a:lnTo>
                <a:close/>
              </a:path>
              <a:path w="431800" h="145414">
                <a:moveTo>
                  <a:pt x="348233" y="0"/>
                </a:moveTo>
                <a:lnTo>
                  <a:pt x="355878" y="27442"/>
                </a:lnTo>
                <a:lnTo>
                  <a:pt x="368172" y="24003"/>
                </a:lnTo>
                <a:lnTo>
                  <a:pt x="423122" y="24003"/>
                </a:lnTo>
                <a:lnTo>
                  <a:pt x="431800" y="16129"/>
                </a:lnTo>
                <a:lnTo>
                  <a:pt x="3482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53B0A39-A391-49AD-2802-D0B19FC4A1A7}"/>
              </a:ext>
            </a:extLst>
          </p:cNvPr>
          <p:cNvSpPr/>
          <p:nvPr/>
        </p:nvSpPr>
        <p:spPr>
          <a:xfrm>
            <a:off x="2302129" y="5066665"/>
            <a:ext cx="432434" cy="158750"/>
          </a:xfrm>
          <a:custGeom>
            <a:avLst/>
            <a:gdLst/>
            <a:ahLst/>
            <a:cxnLst/>
            <a:rect l="l" t="t" r="r" b="b"/>
            <a:pathLst>
              <a:path w="432435" h="158750">
                <a:moveTo>
                  <a:pt x="356729" y="131293"/>
                </a:moveTo>
                <a:lnTo>
                  <a:pt x="348106" y="158496"/>
                </a:lnTo>
                <a:lnTo>
                  <a:pt x="432181" y="145287"/>
                </a:lnTo>
                <a:lnTo>
                  <a:pt x="421716" y="135128"/>
                </a:lnTo>
                <a:lnTo>
                  <a:pt x="368807" y="135128"/>
                </a:lnTo>
                <a:lnTo>
                  <a:pt x="356729" y="131293"/>
                </a:lnTo>
                <a:close/>
              </a:path>
              <a:path w="432435" h="158750">
                <a:moveTo>
                  <a:pt x="362493" y="113111"/>
                </a:moveTo>
                <a:lnTo>
                  <a:pt x="356729" y="131293"/>
                </a:lnTo>
                <a:lnTo>
                  <a:pt x="368807" y="135128"/>
                </a:lnTo>
                <a:lnTo>
                  <a:pt x="374650" y="116967"/>
                </a:lnTo>
                <a:lnTo>
                  <a:pt x="362493" y="113111"/>
                </a:lnTo>
                <a:close/>
              </a:path>
              <a:path w="432435" h="158750">
                <a:moveTo>
                  <a:pt x="371094" y="85979"/>
                </a:moveTo>
                <a:lnTo>
                  <a:pt x="362493" y="113111"/>
                </a:lnTo>
                <a:lnTo>
                  <a:pt x="374650" y="116967"/>
                </a:lnTo>
                <a:lnTo>
                  <a:pt x="368807" y="135128"/>
                </a:lnTo>
                <a:lnTo>
                  <a:pt x="421716" y="135128"/>
                </a:lnTo>
                <a:lnTo>
                  <a:pt x="371094" y="85979"/>
                </a:lnTo>
                <a:close/>
              </a:path>
              <a:path w="432435" h="158750">
                <a:moveTo>
                  <a:pt x="5841" y="0"/>
                </a:moveTo>
                <a:lnTo>
                  <a:pt x="0" y="18034"/>
                </a:lnTo>
                <a:lnTo>
                  <a:pt x="356729" y="131293"/>
                </a:lnTo>
                <a:lnTo>
                  <a:pt x="362493" y="113111"/>
                </a:lnTo>
                <a:lnTo>
                  <a:pt x="58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>
            <a:extLst>
              <a:ext uri="{FF2B5EF4-FFF2-40B4-BE49-F238E27FC236}">
                <a16:creationId xmlns:a16="http://schemas.microsoft.com/office/drawing/2014/main" id="{D227AEE8-1B62-4006-AD67-BF61590D674D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99137" y="5417820"/>
            <a:ext cx="130958" cy="227075"/>
          </a:xfrm>
          <a:prstGeom prst="rect">
            <a:avLst/>
          </a:prstGeom>
        </p:spPr>
      </p:pic>
      <p:pic>
        <p:nvPicPr>
          <p:cNvPr id="18" name="object 18">
            <a:extLst>
              <a:ext uri="{FF2B5EF4-FFF2-40B4-BE49-F238E27FC236}">
                <a16:creationId xmlns:a16="http://schemas.microsoft.com/office/drawing/2014/main" id="{A4728F51-CAA1-5DC0-7478-B558BF813818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49879" y="4512564"/>
            <a:ext cx="681228" cy="263651"/>
          </a:xfrm>
          <a:prstGeom prst="rect">
            <a:avLst/>
          </a:prstGeom>
        </p:spPr>
      </p:pic>
      <p:pic>
        <p:nvPicPr>
          <p:cNvPr id="19" name="object 19">
            <a:extLst>
              <a:ext uri="{FF2B5EF4-FFF2-40B4-BE49-F238E27FC236}">
                <a16:creationId xmlns:a16="http://schemas.microsoft.com/office/drawing/2014/main" id="{C2B4CA3C-08A2-A770-582B-56532EEE4D89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49879" y="5114544"/>
            <a:ext cx="669035" cy="263652"/>
          </a:xfrm>
          <a:prstGeom prst="rect">
            <a:avLst/>
          </a:prstGeom>
        </p:spPr>
      </p:pic>
      <p:pic>
        <p:nvPicPr>
          <p:cNvPr id="20" name="object 20">
            <a:extLst>
              <a:ext uri="{FF2B5EF4-FFF2-40B4-BE49-F238E27FC236}">
                <a16:creationId xmlns:a16="http://schemas.microsoft.com/office/drawing/2014/main" id="{7063AF40-C8BC-514D-02D2-59F1B0497914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09694" y="5515355"/>
            <a:ext cx="1213103" cy="259080"/>
          </a:xfrm>
          <a:prstGeom prst="rect">
            <a:avLst/>
          </a:prstGeom>
        </p:spPr>
      </p:pic>
      <p:pic>
        <p:nvPicPr>
          <p:cNvPr id="21" name="object 21">
            <a:extLst>
              <a:ext uri="{FF2B5EF4-FFF2-40B4-BE49-F238E27FC236}">
                <a16:creationId xmlns:a16="http://schemas.microsoft.com/office/drawing/2014/main" id="{F4B93FEA-0F88-FBC4-A54D-957DB0E177C3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012691" y="4799076"/>
            <a:ext cx="2278380" cy="263651"/>
          </a:xfrm>
          <a:prstGeom prst="rect">
            <a:avLst/>
          </a:prstGeom>
        </p:spPr>
      </p:pic>
      <p:sp>
        <p:nvSpPr>
          <p:cNvPr id="22" name="object 22">
            <a:extLst>
              <a:ext uri="{FF2B5EF4-FFF2-40B4-BE49-F238E27FC236}">
                <a16:creationId xmlns:a16="http://schemas.microsoft.com/office/drawing/2014/main" id="{845C7FB0-8CF7-C3EC-DFB2-4523698B76EF}"/>
              </a:ext>
            </a:extLst>
          </p:cNvPr>
          <p:cNvSpPr/>
          <p:nvPr/>
        </p:nvSpPr>
        <p:spPr>
          <a:xfrm>
            <a:off x="3586353" y="5134228"/>
            <a:ext cx="355600" cy="151130"/>
          </a:xfrm>
          <a:custGeom>
            <a:avLst/>
            <a:gdLst/>
            <a:ahLst/>
            <a:cxnLst/>
            <a:rect l="l" t="t" r="r" b="b"/>
            <a:pathLst>
              <a:path w="355600" h="151129">
                <a:moveTo>
                  <a:pt x="280654" y="26718"/>
                </a:moveTo>
                <a:lnTo>
                  <a:pt x="0" y="133350"/>
                </a:lnTo>
                <a:lnTo>
                  <a:pt x="6858" y="151130"/>
                </a:lnTo>
                <a:lnTo>
                  <a:pt x="287418" y="44534"/>
                </a:lnTo>
                <a:lnTo>
                  <a:pt x="280654" y="26718"/>
                </a:lnTo>
                <a:close/>
              </a:path>
              <a:path w="355600" h="151129">
                <a:moveTo>
                  <a:pt x="342613" y="22225"/>
                </a:moveTo>
                <a:lnTo>
                  <a:pt x="292481" y="22225"/>
                </a:lnTo>
                <a:lnTo>
                  <a:pt x="299338" y="40005"/>
                </a:lnTo>
                <a:lnTo>
                  <a:pt x="287418" y="44534"/>
                </a:lnTo>
                <a:lnTo>
                  <a:pt x="297561" y="71247"/>
                </a:lnTo>
                <a:lnTo>
                  <a:pt x="342613" y="22225"/>
                </a:lnTo>
                <a:close/>
              </a:path>
              <a:path w="355600" h="151129">
                <a:moveTo>
                  <a:pt x="292481" y="22225"/>
                </a:moveTo>
                <a:lnTo>
                  <a:pt x="280654" y="26718"/>
                </a:lnTo>
                <a:lnTo>
                  <a:pt x="287418" y="44534"/>
                </a:lnTo>
                <a:lnTo>
                  <a:pt x="299338" y="40005"/>
                </a:lnTo>
                <a:lnTo>
                  <a:pt x="292481" y="22225"/>
                </a:lnTo>
                <a:close/>
              </a:path>
              <a:path w="355600" h="151129">
                <a:moveTo>
                  <a:pt x="270510" y="0"/>
                </a:moveTo>
                <a:lnTo>
                  <a:pt x="280654" y="26718"/>
                </a:lnTo>
                <a:lnTo>
                  <a:pt x="292481" y="22225"/>
                </a:lnTo>
                <a:lnTo>
                  <a:pt x="342613" y="22225"/>
                </a:lnTo>
                <a:lnTo>
                  <a:pt x="355219" y="8509"/>
                </a:lnTo>
                <a:lnTo>
                  <a:pt x="2705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249BA14-EBA8-8633-0D36-8E14289E2F08}"/>
              </a:ext>
            </a:extLst>
          </p:cNvPr>
          <p:cNvSpPr/>
          <p:nvPr/>
        </p:nvSpPr>
        <p:spPr>
          <a:xfrm>
            <a:off x="3585717" y="4594605"/>
            <a:ext cx="356235" cy="175260"/>
          </a:xfrm>
          <a:custGeom>
            <a:avLst/>
            <a:gdLst/>
            <a:ahLst/>
            <a:cxnLst/>
            <a:rect l="l" t="t" r="r" b="b"/>
            <a:pathLst>
              <a:path w="356235" h="175260">
                <a:moveTo>
                  <a:pt x="282835" y="149050"/>
                </a:moveTo>
                <a:lnTo>
                  <a:pt x="270764" y="175006"/>
                </a:lnTo>
                <a:lnTo>
                  <a:pt x="355854" y="172720"/>
                </a:lnTo>
                <a:lnTo>
                  <a:pt x="341355" y="154432"/>
                </a:lnTo>
                <a:lnTo>
                  <a:pt x="294386" y="154432"/>
                </a:lnTo>
                <a:lnTo>
                  <a:pt x="282835" y="149050"/>
                </a:lnTo>
                <a:close/>
              </a:path>
              <a:path w="356235" h="175260">
                <a:moveTo>
                  <a:pt x="290863" y="131788"/>
                </a:moveTo>
                <a:lnTo>
                  <a:pt x="282835" y="149050"/>
                </a:lnTo>
                <a:lnTo>
                  <a:pt x="294386" y="154432"/>
                </a:lnTo>
                <a:lnTo>
                  <a:pt x="302387" y="137160"/>
                </a:lnTo>
                <a:lnTo>
                  <a:pt x="290863" y="131788"/>
                </a:lnTo>
                <a:close/>
              </a:path>
              <a:path w="356235" h="175260">
                <a:moveTo>
                  <a:pt x="302895" y="105918"/>
                </a:moveTo>
                <a:lnTo>
                  <a:pt x="290863" y="131788"/>
                </a:lnTo>
                <a:lnTo>
                  <a:pt x="302387" y="137160"/>
                </a:lnTo>
                <a:lnTo>
                  <a:pt x="294386" y="154432"/>
                </a:lnTo>
                <a:lnTo>
                  <a:pt x="341355" y="154432"/>
                </a:lnTo>
                <a:lnTo>
                  <a:pt x="302895" y="105918"/>
                </a:lnTo>
                <a:close/>
              </a:path>
              <a:path w="356235" h="175260">
                <a:moveTo>
                  <a:pt x="8128" y="0"/>
                </a:moveTo>
                <a:lnTo>
                  <a:pt x="0" y="17272"/>
                </a:lnTo>
                <a:lnTo>
                  <a:pt x="282835" y="149050"/>
                </a:lnTo>
                <a:lnTo>
                  <a:pt x="290863" y="131788"/>
                </a:lnTo>
                <a:lnTo>
                  <a:pt x="81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1EEA9412-D7B7-EEDA-B055-7D53192AF845}"/>
              </a:ext>
            </a:extLst>
          </p:cNvPr>
          <p:cNvSpPr/>
          <p:nvPr/>
        </p:nvSpPr>
        <p:spPr>
          <a:xfrm>
            <a:off x="5010346" y="5154396"/>
            <a:ext cx="76200" cy="275590"/>
          </a:xfrm>
          <a:custGeom>
            <a:avLst/>
            <a:gdLst/>
            <a:ahLst/>
            <a:cxnLst/>
            <a:rect l="l" t="t" r="r" b="b"/>
            <a:pathLst>
              <a:path w="76200" h="275589">
                <a:moveTo>
                  <a:pt x="47625" y="63500"/>
                </a:moveTo>
                <a:lnTo>
                  <a:pt x="28575" y="63500"/>
                </a:lnTo>
                <a:lnTo>
                  <a:pt x="28575" y="275209"/>
                </a:lnTo>
                <a:lnTo>
                  <a:pt x="47625" y="275209"/>
                </a:lnTo>
                <a:lnTo>
                  <a:pt x="47625" y="63500"/>
                </a:lnTo>
                <a:close/>
              </a:path>
              <a:path w="76200" h="275589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75589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>
            <a:extLst>
              <a:ext uri="{FF2B5EF4-FFF2-40B4-BE49-F238E27FC236}">
                <a16:creationId xmlns:a16="http://schemas.microsoft.com/office/drawing/2014/main" id="{AB7D65F3-B70B-E1B5-2464-0BC352C3933C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92652" y="4512564"/>
            <a:ext cx="1385843" cy="827532"/>
          </a:xfrm>
          <a:prstGeom prst="rect">
            <a:avLst/>
          </a:prstGeom>
        </p:spPr>
      </p:pic>
      <p:pic>
        <p:nvPicPr>
          <p:cNvPr id="26" name="object 26">
            <a:extLst>
              <a:ext uri="{FF2B5EF4-FFF2-40B4-BE49-F238E27FC236}">
                <a16:creationId xmlns:a16="http://schemas.microsoft.com/office/drawing/2014/main" id="{5F655B26-8194-0F93-A020-DB09E6DD0122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056327" y="5426964"/>
            <a:ext cx="100374" cy="181356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0EFBB596-5142-7585-CAF7-4B44CF083DFA}"/>
              </a:ext>
            </a:extLst>
          </p:cNvPr>
          <p:cNvSpPr/>
          <p:nvPr/>
        </p:nvSpPr>
        <p:spPr>
          <a:xfrm>
            <a:off x="7911845" y="4921758"/>
            <a:ext cx="429259" cy="76200"/>
          </a:xfrm>
          <a:custGeom>
            <a:avLst/>
            <a:gdLst/>
            <a:ahLst/>
            <a:cxnLst/>
            <a:rect l="l" t="t" r="r" b="b"/>
            <a:pathLst>
              <a:path w="429259" h="76200">
                <a:moveTo>
                  <a:pt x="353059" y="0"/>
                </a:moveTo>
                <a:lnTo>
                  <a:pt x="353059" y="76200"/>
                </a:lnTo>
                <a:lnTo>
                  <a:pt x="410209" y="47625"/>
                </a:lnTo>
                <a:lnTo>
                  <a:pt x="365759" y="47625"/>
                </a:lnTo>
                <a:lnTo>
                  <a:pt x="365759" y="28575"/>
                </a:lnTo>
                <a:lnTo>
                  <a:pt x="410209" y="28575"/>
                </a:lnTo>
                <a:lnTo>
                  <a:pt x="353059" y="0"/>
                </a:lnTo>
                <a:close/>
              </a:path>
              <a:path w="429259" h="76200">
                <a:moveTo>
                  <a:pt x="353059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53059" y="47625"/>
                </a:lnTo>
                <a:lnTo>
                  <a:pt x="353059" y="28575"/>
                </a:lnTo>
                <a:close/>
              </a:path>
              <a:path w="429259" h="76200">
                <a:moveTo>
                  <a:pt x="410209" y="28575"/>
                </a:moveTo>
                <a:lnTo>
                  <a:pt x="365759" y="28575"/>
                </a:lnTo>
                <a:lnTo>
                  <a:pt x="365759" y="47625"/>
                </a:lnTo>
                <a:lnTo>
                  <a:pt x="410209" y="47625"/>
                </a:lnTo>
                <a:lnTo>
                  <a:pt x="429259" y="38100"/>
                </a:lnTo>
                <a:lnTo>
                  <a:pt x="41020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>
            <a:extLst>
              <a:ext uri="{FF2B5EF4-FFF2-40B4-BE49-F238E27FC236}">
                <a16:creationId xmlns:a16="http://schemas.microsoft.com/office/drawing/2014/main" id="{E3FD4DF8-AFA2-6F5E-4320-F4527DF484B0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439911" y="4821935"/>
            <a:ext cx="766572" cy="252983"/>
          </a:xfrm>
          <a:prstGeom prst="rect">
            <a:avLst/>
          </a:prstGeom>
        </p:spPr>
      </p:pic>
      <p:pic>
        <p:nvPicPr>
          <p:cNvPr id="29" name="object 29">
            <a:extLst>
              <a:ext uri="{FF2B5EF4-FFF2-40B4-BE49-F238E27FC236}">
                <a16:creationId xmlns:a16="http://schemas.microsoft.com/office/drawing/2014/main" id="{57D6FE0A-5E0D-B0E4-13E8-9ABA2053AB33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00200" y="6022847"/>
            <a:ext cx="6617208" cy="640079"/>
          </a:xfrm>
          <a:prstGeom prst="rect">
            <a:avLst/>
          </a:prstGeom>
        </p:spPr>
      </p:pic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3784F29F-D311-A580-917B-DF4A6777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490F7-1599-4BAE-B943-3EFD756842A7}" type="datetime1">
              <a:rPr lang="en-US" smtClean="0"/>
              <a:t>10/1/2025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45B76D31-D0B5-9F66-A77E-F690E8BB4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87954A9-69DD-BB58-2226-A0E0F7DE7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995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6E4F9-3BC4-AB48-92F8-BB48B043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274DF1-608C-A637-372F-DDEC8F486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125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VAEs</a:t>
            </a:r>
            <a:r>
              <a:rPr sz="4400" spc="-140" dirty="0"/>
              <a:t> </a:t>
            </a:r>
            <a:r>
              <a:rPr sz="4400" dirty="0"/>
              <a:t>in</a:t>
            </a:r>
            <a:r>
              <a:rPr sz="4400" spc="-114" dirty="0"/>
              <a:t> </a:t>
            </a:r>
            <a:r>
              <a:rPr sz="4400" spc="-10" dirty="0"/>
              <a:t>practice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43E4B84-86F8-7275-5FE5-5C7ED021491F}"/>
              </a:ext>
            </a:extLst>
          </p:cNvPr>
          <p:cNvSpPr/>
          <p:nvPr/>
        </p:nvSpPr>
        <p:spPr>
          <a:xfrm>
            <a:off x="7331202" y="1768601"/>
            <a:ext cx="76200" cy="277495"/>
          </a:xfrm>
          <a:custGeom>
            <a:avLst/>
            <a:gdLst/>
            <a:ahLst/>
            <a:cxnLst/>
            <a:rect l="l" t="t" r="r" b="b"/>
            <a:pathLst>
              <a:path w="76200" h="277494">
                <a:moveTo>
                  <a:pt x="47625" y="63500"/>
                </a:moveTo>
                <a:lnTo>
                  <a:pt x="28575" y="63500"/>
                </a:lnTo>
                <a:lnTo>
                  <a:pt x="28575" y="277240"/>
                </a:lnTo>
                <a:lnTo>
                  <a:pt x="47625" y="277240"/>
                </a:lnTo>
                <a:lnTo>
                  <a:pt x="47625" y="63500"/>
                </a:lnTo>
                <a:close/>
              </a:path>
              <a:path w="76200" h="277494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77494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43863A8-53ED-4154-29CE-0CDF32A66E50}"/>
              </a:ext>
            </a:extLst>
          </p:cNvPr>
          <p:cNvSpPr txBox="1"/>
          <p:nvPr/>
        </p:nvSpPr>
        <p:spPr>
          <a:xfrm>
            <a:off x="437489" y="1416558"/>
            <a:ext cx="1129474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Common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issue: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tempting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(especially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conditional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VAEs)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ignore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samples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800">
              <a:latin typeface="Calibri"/>
              <a:cs typeface="Calibri"/>
            </a:endParaRPr>
          </a:p>
          <a:p>
            <a:pPr marL="2562225" algn="ctr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why?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B0F35FC-9D1E-75E0-7DA1-FFD60EBA468D}"/>
              </a:ext>
            </a:extLst>
          </p:cNvPr>
          <p:cNvSpPr txBox="1"/>
          <p:nvPr/>
        </p:nvSpPr>
        <p:spPr>
          <a:xfrm>
            <a:off x="1691132" y="2649982"/>
            <a:ext cx="3111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Problem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1: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ignored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CD261A8-07E2-CF7E-CCB6-9063F77843C4}"/>
              </a:ext>
            </a:extLst>
          </p:cNvPr>
          <p:cNvSpPr txBox="1"/>
          <p:nvPr/>
        </p:nvSpPr>
        <p:spPr>
          <a:xfrm>
            <a:off x="774903" y="3506216"/>
            <a:ext cx="236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what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does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look</a:t>
            </a:r>
            <a:r>
              <a:rPr sz="1800" b="1" spc="-20" dirty="0">
                <a:latin typeface="Calibri"/>
                <a:cs typeface="Calibri"/>
              </a:rPr>
              <a:t> like?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67A4DBA-F362-2420-D067-DC087B782C7C}"/>
              </a:ext>
            </a:extLst>
          </p:cNvPr>
          <p:cNvSpPr txBox="1"/>
          <p:nvPr/>
        </p:nvSpPr>
        <p:spPr>
          <a:xfrm>
            <a:off x="3512058" y="3439553"/>
            <a:ext cx="2164080" cy="7080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800" dirty="0">
                <a:latin typeface="Calibri"/>
                <a:cs typeface="Calibri"/>
              </a:rPr>
              <a:t>blurry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“average”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Calibri"/>
                <a:cs typeface="Calibri"/>
              </a:rPr>
              <a:t>when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reconstructing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C645CB3-E798-8BB1-C4A0-E3AA85CD6314}"/>
              </a:ext>
            </a:extLst>
          </p:cNvPr>
          <p:cNvSpPr txBox="1"/>
          <p:nvPr/>
        </p:nvSpPr>
        <p:spPr>
          <a:xfrm>
            <a:off x="7097014" y="2649982"/>
            <a:ext cx="38722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Problem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2: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compressed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985B4EF2-BAA0-B4BD-96A0-00E80657B4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9067" y="3099816"/>
            <a:ext cx="1630680" cy="252984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A370B9C1-97C5-9C70-21AA-7D6206AFF23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6764" y="3089148"/>
            <a:ext cx="2831592" cy="263651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A7CC4DAC-7ABF-408A-CCF6-E7156905692F}"/>
              </a:ext>
            </a:extLst>
          </p:cNvPr>
          <p:cNvSpPr txBox="1"/>
          <p:nvPr/>
        </p:nvSpPr>
        <p:spPr>
          <a:xfrm>
            <a:off x="6493002" y="3506216"/>
            <a:ext cx="2361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what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does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look</a:t>
            </a:r>
            <a:r>
              <a:rPr sz="1800" b="1" spc="-20" dirty="0">
                <a:latin typeface="Calibri"/>
                <a:cs typeface="Calibri"/>
              </a:rPr>
              <a:t> like?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object 12">
            <a:extLst>
              <a:ext uri="{FF2B5EF4-FFF2-40B4-BE49-F238E27FC236}">
                <a16:creationId xmlns:a16="http://schemas.microsoft.com/office/drawing/2014/main" id="{56B7B01E-0298-C511-2989-688475F848E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2261" y="4276344"/>
            <a:ext cx="2666745" cy="263651"/>
          </a:xfrm>
          <a:prstGeom prst="rect">
            <a:avLst/>
          </a:prstGeom>
        </p:spPr>
      </p:pic>
      <p:sp>
        <p:nvSpPr>
          <p:cNvPr id="13" name="object 13">
            <a:extLst>
              <a:ext uri="{FF2B5EF4-FFF2-40B4-BE49-F238E27FC236}">
                <a16:creationId xmlns:a16="http://schemas.microsoft.com/office/drawing/2014/main" id="{7EED0014-D227-AED6-E8A4-4D5681806641}"/>
              </a:ext>
            </a:extLst>
          </p:cNvPr>
          <p:cNvSpPr txBox="1"/>
          <p:nvPr/>
        </p:nvSpPr>
        <p:spPr>
          <a:xfrm>
            <a:off x="9291573" y="3439553"/>
            <a:ext cx="1475740" cy="70802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800" dirty="0">
                <a:latin typeface="Calibri"/>
                <a:cs typeface="Calibri"/>
              </a:rPr>
              <a:t>garbage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800" dirty="0">
                <a:latin typeface="Calibri"/>
                <a:cs typeface="Calibri"/>
              </a:rPr>
              <a:t>when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sampling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E666FB08-4B77-0F4F-BDC8-0AF4DB50C3B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1016" y="4276344"/>
            <a:ext cx="2331720" cy="252984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961E9198-6285-9878-E380-F70B58CA21B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3147" y="4917947"/>
            <a:ext cx="2031492" cy="263651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BFA7E2F0-2BA9-C909-12D3-376F289A0AA3}"/>
              </a:ext>
            </a:extLst>
          </p:cNvPr>
          <p:cNvSpPr txBox="1"/>
          <p:nvPr/>
        </p:nvSpPr>
        <p:spPr>
          <a:xfrm>
            <a:off x="1691132" y="4836032"/>
            <a:ext cx="748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too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low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>
            <a:extLst>
              <a:ext uri="{FF2B5EF4-FFF2-40B4-BE49-F238E27FC236}">
                <a16:creationId xmlns:a16="http://schemas.microsoft.com/office/drawing/2014/main" id="{403BB48D-BA0F-4BCC-3911-C21A8BA06F4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08148" y="4888991"/>
            <a:ext cx="1257300" cy="181356"/>
          </a:xfrm>
          <a:prstGeom prst="rect">
            <a:avLst/>
          </a:prstGeom>
        </p:spPr>
      </p:pic>
      <p:sp>
        <p:nvSpPr>
          <p:cNvPr id="18" name="object 18">
            <a:extLst>
              <a:ext uri="{FF2B5EF4-FFF2-40B4-BE49-F238E27FC236}">
                <a16:creationId xmlns:a16="http://schemas.microsoft.com/office/drawing/2014/main" id="{2DFB605B-EC15-1759-60F6-7C525A62809F}"/>
              </a:ext>
            </a:extLst>
          </p:cNvPr>
          <p:cNvSpPr txBox="1"/>
          <p:nvPr/>
        </p:nvSpPr>
        <p:spPr>
          <a:xfrm>
            <a:off x="7230618" y="4855209"/>
            <a:ext cx="809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too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9" name="object 19">
            <a:extLst>
              <a:ext uri="{FF2B5EF4-FFF2-40B4-BE49-F238E27FC236}">
                <a16:creationId xmlns:a16="http://schemas.microsoft.com/office/drawing/2014/main" id="{472501DE-046E-2004-2CD4-6D5E9CC5125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52688" y="4908803"/>
            <a:ext cx="2026920" cy="181356"/>
          </a:xfrm>
          <a:prstGeom prst="rect">
            <a:avLst/>
          </a:prstGeom>
        </p:spPr>
      </p:pic>
      <p:sp>
        <p:nvSpPr>
          <p:cNvPr id="20" name="object 20">
            <a:extLst>
              <a:ext uri="{FF2B5EF4-FFF2-40B4-BE49-F238E27FC236}">
                <a16:creationId xmlns:a16="http://schemas.microsoft.com/office/drawing/2014/main" id="{60C92B63-1B6E-367E-FE57-1077BD498E44}"/>
              </a:ext>
            </a:extLst>
          </p:cNvPr>
          <p:cNvSpPr/>
          <p:nvPr/>
        </p:nvSpPr>
        <p:spPr>
          <a:xfrm>
            <a:off x="5567934" y="5308853"/>
            <a:ext cx="76200" cy="387350"/>
          </a:xfrm>
          <a:custGeom>
            <a:avLst/>
            <a:gdLst/>
            <a:ahLst/>
            <a:cxnLst/>
            <a:rect l="l" t="t" r="r" b="b"/>
            <a:pathLst>
              <a:path w="76200" h="387350">
                <a:moveTo>
                  <a:pt x="47625" y="63500"/>
                </a:moveTo>
                <a:lnTo>
                  <a:pt x="28575" y="63500"/>
                </a:lnTo>
                <a:lnTo>
                  <a:pt x="28575" y="387273"/>
                </a:lnTo>
                <a:lnTo>
                  <a:pt x="47625" y="387273"/>
                </a:lnTo>
                <a:lnTo>
                  <a:pt x="47625" y="63500"/>
                </a:lnTo>
                <a:close/>
              </a:path>
              <a:path w="76200" h="387350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87350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3B1E11B-BB9D-6564-D386-7CED26916FA4}"/>
              </a:ext>
            </a:extLst>
          </p:cNvPr>
          <p:cNvSpPr txBox="1"/>
          <p:nvPr/>
        </p:nvSpPr>
        <p:spPr>
          <a:xfrm>
            <a:off x="4266057" y="5714187"/>
            <a:ext cx="26784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quantity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carefully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FC05B06C-E9ED-0680-17F3-E92370A7A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7CB9F-4301-4EE1-A53D-3924E3578EEB}" type="datetime1">
              <a:rPr lang="en-US" smtClean="0"/>
              <a:t>10/1/2025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8040C7E8-5373-B4CB-62A2-5DF3B1861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9709C67-375A-C36A-D935-54BBF28B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4904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DB668-5678-BBE1-C54B-E008D516D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AFF721-B7A0-777C-6B46-4007447972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125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VAEs</a:t>
            </a:r>
            <a:r>
              <a:rPr sz="4400" spc="-140" dirty="0"/>
              <a:t> </a:t>
            </a:r>
            <a:r>
              <a:rPr sz="4400" dirty="0"/>
              <a:t>in</a:t>
            </a:r>
            <a:r>
              <a:rPr sz="4400" spc="-114" dirty="0"/>
              <a:t> </a:t>
            </a:r>
            <a:r>
              <a:rPr sz="4400" spc="-10" dirty="0"/>
              <a:t>practice</a:t>
            </a:r>
            <a:endParaRPr sz="44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CF60757-4497-05B2-DDCC-6860D705EEBE}"/>
              </a:ext>
            </a:extLst>
          </p:cNvPr>
          <p:cNvSpPr txBox="1"/>
          <p:nvPr/>
        </p:nvSpPr>
        <p:spPr>
          <a:xfrm>
            <a:off x="7043419" y="1563878"/>
            <a:ext cx="3871595" cy="81026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800" b="1" dirty="0">
                <a:latin typeface="Calibri"/>
                <a:cs typeface="Calibri"/>
              </a:rPr>
              <a:t>Problem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2: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compressed</a:t>
            </a:r>
            <a:endParaRPr sz="18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93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too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high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CF65ECE-209C-CD79-4FA3-5AB823E5B9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4944" y="2136648"/>
            <a:ext cx="2031492" cy="263651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BDEB161-395C-F21E-6B3F-3E4C12D10382}"/>
              </a:ext>
            </a:extLst>
          </p:cNvPr>
          <p:cNvSpPr txBox="1"/>
          <p:nvPr/>
        </p:nvSpPr>
        <p:spPr>
          <a:xfrm>
            <a:off x="1583816" y="1583055"/>
            <a:ext cx="3165475" cy="77152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875"/>
              </a:spcBef>
            </a:pPr>
            <a:r>
              <a:rPr sz="1800" b="1" dirty="0">
                <a:latin typeface="Calibri"/>
                <a:cs typeface="Calibri"/>
              </a:rPr>
              <a:t>Problem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1: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latent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ignored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too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low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AF6349D4-6FE4-6821-6322-B0A5E3C7BCD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1467" y="2109216"/>
            <a:ext cx="1255776" cy="18135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5968A70F-63CA-3239-2AA7-55156DCB600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4483" y="2127504"/>
            <a:ext cx="2026920" cy="181355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B19780B6-F4BD-9DD4-FA6D-D7006221E45D}"/>
              </a:ext>
            </a:extLst>
          </p:cNvPr>
          <p:cNvSpPr/>
          <p:nvPr/>
        </p:nvSpPr>
        <p:spPr>
          <a:xfrm>
            <a:off x="5461253" y="2527554"/>
            <a:ext cx="76200" cy="387350"/>
          </a:xfrm>
          <a:custGeom>
            <a:avLst/>
            <a:gdLst/>
            <a:ahLst/>
            <a:cxnLst/>
            <a:rect l="l" t="t" r="r" b="b"/>
            <a:pathLst>
              <a:path w="76200" h="387350">
                <a:moveTo>
                  <a:pt x="47625" y="63500"/>
                </a:moveTo>
                <a:lnTo>
                  <a:pt x="28575" y="63500"/>
                </a:lnTo>
                <a:lnTo>
                  <a:pt x="28575" y="387223"/>
                </a:lnTo>
                <a:lnTo>
                  <a:pt x="47625" y="387223"/>
                </a:lnTo>
                <a:lnTo>
                  <a:pt x="47625" y="63500"/>
                </a:lnTo>
                <a:close/>
              </a:path>
              <a:path w="76200" h="387350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87350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6DB6157-D814-FB2F-0DE5-CF1CFCBE48F8}"/>
              </a:ext>
            </a:extLst>
          </p:cNvPr>
          <p:cNvSpPr txBox="1"/>
          <p:nvPr/>
        </p:nvSpPr>
        <p:spPr>
          <a:xfrm>
            <a:off x="4158488" y="2933191"/>
            <a:ext cx="2677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need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quantity </a:t>
            </a:r>
            <a:r>
              <a:rPr sz="1800" dirty="0">
                <a:latin typeface="Calibri"/>
                <a:cs typeface="Calibri"/>
              </a:rPr>
              <a:t>carefully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results!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979953B1-CFD2-E2E8-C34B-90D0A3641CAB}"/>
              </a:ext>
            </a:extLst>
          </p:cNvPr>
          <p:cNvGrpSpPr/>
          <p:nvPr/>
        </p:nvGrpSpPr>
        <p:grpSpPr>
          <a:xfrm>
            <a:off x="2002535" y="3785615"/>
            <a:ext cx="8468995" cy="908685"/>
            <a:chOff x="2002535" y="3785615"/>
            <a:chExt cx="8468995" cy="908685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14F93E24-E46D-1AF5-9B09-C1F60D42390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2535" y="3785615"/>
              <a:ext cx="8468867" cy="800100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E9A9FAF-891C-406D-C206-AA571CD82EB8}"/>
                </a:ext>
              </a:extLst>
            </p:cNvPr>
            <p:cNvSpPr/>
            <p:nvPr/>
          </p:nvSpPr>
          <p:spPr>
            <a:xfrm>
              <a:off x="7675626" y="4371593"/>
              <a:ext cx="76200" cy="323215"/>
            </a:xfrm>
            <a:custGeom>
              <a:avLst/>
              <a:gdLst/>
              <a:ahLst/>
              <a:cxnLst/>
              <a:rect l="l" t="t" r="r" b="b"/>
              <a:pathLst>
                <a:path w="76200" h="323214">
                  <a:moveTo>
                    <a:pt x="47625" y="63499"/>
                  </a:moveTo>
                  <a:lnTo>
                    <a:pt x="28575" y="63499"/>
                  </a:lnTo>
                  <a:lnTo>
                    <a:pt x="28575" y="322706"/>
                  </a:lnTo>
                  <a:lnTo>
                    <a:pt x="47625" y="322706"/>
                  </a:lnTo>
                  <a:lnTo>
                    <a:pt x="47625" y="63499"/>
                  </a:lnTo>
                  <a:close/>
                </a:path>
                <a:path w="76200" h="323214">
                  <a:moveTo>
                    <a:pt x="38100" y="0"/>
                  </a:moveTo>
                  <a:lnTo>
                    <a:pt x="0" y="76199"/>
                  </a:lnTo>
                  <a:lnTo>
                    <a:pt x="28575" y="76199"/>
                  </a:lnTo>
                  <a:lnTo>
                    <a:pt x="28575" y="63499"/>
                  </a:lnTo>
                  <a:lnTo>
                    <a:pt x="69850" y="63499"/>
                  </a:lnTo>
                  <a:lnTo>
                    <a:pt x="38100" y="0"/>
                  </a:lnTo>
                  <a:close/>
                </a:path>
                <a:path w="76200" h="323214">
                  <a:moveTo>
                    <a:pt x="69850" y="63499"/>
                  </a:moveTo>
                  <a:lnTo>
                    <a:pt x="47625" y="63499"/>
                  </a:lnTo>
                  <a:lnTo>
                    <a:pt x="47625" y="76199"/>
                  </a:lnTo>
                  <a:lnTo>
                    <a:pt x="76200" y="76199"/>
                  </a:lnTo>
                  <a:lnTo>
                    <a:pt x="69850" y="63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F4CFAA44-DB11-FDF2-449E-65F6B57B495F}"/>
              </a:ext>
            </a:extLst>
          </p:cNvPr>
          <p:cNvSpPr txBox="1"/>
          <p:nvPr/>
        </p:nvSpPr>
        <p:spPr>
          <a:xfrm>
            <a:off x="5854953" y="4774438"/>
            <a:ext cx="3668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multiplier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adjust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regularizer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strength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>
            <a:extLst>
              <a:ext uri="{FF2B5EF4-FFF2-40B4-BE49-F238E27FC236}">
                <a16:creationId xmlns:a16="http://schemas.microsoft.com/office/drawing/2014/main" id="{3A5A3EF5-112A-088E-8720-F3E4DA8BDA3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9668" y="5269991"/>
            <a:ext cx="7229703" cy="230124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D6FF036A-E3F5-3B79-BACB-885BB313A93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9516" y="5681471"/>
            <a:ext cx="1967484" cy="227075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65266C67-8F23-F23B-3BBD-8F962850875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9731" y="6085332"/>
            <a:ext cx="5076228" cy="252984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969AEC45-2972-1160-AF78-2F2EA42865A9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9782" y="6513574"/>
            <a:ext cx="4073385" cy="252984"/>
          </a:xfrm>
          <a:prstGeom prst="rect">
            <a:avLst/>
          </a:pr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1782221A-0EEF-2A6C-B09C-7A20AC95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61F5-94BF-4A38-A668-FBF7DA580042}" type="datetime1">
              <a:rPr lang="en-US" smtClean="0"/>
              <a:t>10/1/2025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54631564-E35F-46B1-7D44-8CD243E5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CAF782B-4968-BF7D-E53F-8BA137DF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3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54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9CCED-B4E1-4231-879F-A253E896D7E0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26512</TotalTime>
  <Words>2890</Words>
  <Application>Microsoft Office PowerPoint</Application>
  <PresentationFormat>Widescreen</PresentationFormat>
  <Paragraphs>524</Paragraphs>
  <Slides>54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71" baseType="lpstr">
      <vt:lpstr>AoyagiKouzanFontT</vt:lpstr>
      <vt:lpstr>Arial MT</vt:lpstr>
      <vt:lpstr>DejaVu Sans</vt:lpstr>
      <vt:lpstr>SimSun</vt:lpstr>
      <vt:lpstr>Söhne</vt:lpstr>
      <vt:lpstr>source-code-pro</vt:lpstr>
      <vt:lpstr>source-serif-pro</vt:lpstr>
      <vt:lpstr>Arial</vt:lpstr>
      <vt:lpstr>Arial</vt:lpstr>
      <vt:lpstr>Calibri</vt:lpstr>
      <vt:lpstr>Calibri Light</vt:lpstr>
      <vt:lpstr>Cambria Math</vt:lpstr>
      <vt:lpstr>Tahoma</vt:lpstr>
      <vt:lpstr>Times New Roman</vt:lpstr>
      <vt:lpstr>Trebuchet MS</vt:lpstr>
      <vt:lpstr>Wingdings</vt:lpstr>
      <vt:lpstr>Office Theme</vt:lpstr>
      <vt:lpstr>PowerPoint Presentation</vt:lpstr>
      <vt:lpstr>Goals</vt:lpstr>
      <vt:lpstr>Probabilistic models</vt:lpstr>
      <vt:lpstr>Generative models</vt:lpstr>
      <vt:lpstr>Can we “language model” images?</vt:lpstr>
      <vt:lpstr>Types of Variables</vt:lpstr>
      <vt:lpstr>Latent Variable Models </vt:lpstr>
      <vt:lpstr>Latent variable models</vt:lpstr>
      <vt:lpstr>Latent variable models in general</vt:lpstr>
      <vt:lpstr>Latent variable models in general</vt:lpstr>
      <vt:lpstr>An Example (Goersch 2016)</vt:lpstr>
      <vt:lpstr>Latent variable models in deep learning</vt:lpstr>
      <vt:lpstr>Representing latent variable models</vt:lpstr>
      <vt:lpstr>Representing latent variable models</vt:lpstr>
      <vt:lpstr>Training latent variable models</vt:lpstr>
      <vt:lpstr>How do we train latent variable models?</vt:lpstr>
      <vt:lpstr>Estimating the log-likelihood</vt:lpstr>
      <vt:lpstr>Entropy</vt:lpstr>
      <vt:lpstr>KL-Divergence</vt:lpstr>
      <vt:lpstr>Autoencoders</vt:lpstr>
      <vt:lpstr>Autoencoders</vt:lpstr>
      <vt:lpstr>Autoencoders</vt:lpstr>
      <vt:lpstr>Autoencoders</vt:lpstr>
      <vt:lpstr>Autoencoders: Applications</vt:lpstr>
      <vt:lpstr>Autoencoders: Applications</vt:lpstr>
      <vt:lpstr>Autoencoders</vt:lpstr>
      <vt:lpstr>Autoencoders</vt:lpstr>
      <vt:lpstr>Autoencoders</vt:lpstr>
      <vt:lpstr>Autoencoders</vt:lpstr>
      <vt:lpstr>Autoencoders</vt:lpstr>
      <vt:lpstr>Deeper Autoencoders</vt:lpstr>
      <vt:lpstr>Variational Autoencoders</vt:lpstr>
      <vt:lpstr>Variational  Autoencoders (VAE)</vt:lpstr>
      <vt:lpstr>Common VAE Architecture</vt:lpstr>
      <vt:lpstr>Common VAE Architecture</vt:lpstr>
      <vt:lpstr>Common VAE Architecture</vt:lpstr>
      <vt:lpstr>VAEs with convolutions</vt:lpstr>
      <vt:lpstr>Some background first: Autoencoders</vt:lpstr>
      <vt:lpstr>Some background first: Autoencoders</vt:lpstr>
      <vt:lpstr>Some background first: Autoencoders</vt:lpstr>
      <vt:lpstr>Some background first: Autoencoders</vt:lpstr>
      <vt:lpstr>Some background first: Autoencoders</vt:lpstr>
      <vt:lpstr>Some background first: Autoencoders</vt:lpstr>
      <vt:lpstr>Variational Autoencoders</vt:lpstr>
      <vt:lpstr>Variational Autoencoders</vt:lpstr>
      <vt:lpstr>Variational Autoencoders</vt:lpstr>
      <vt:lpstr>Variational Autoencoders: Intractability</vt:lpstr>
      <vt:lpstr>Variational Autoencoders</vt:lpstr>
      <vt:lpstr>Variational Autoencoders</vt:lpstr>
      <vt:lpstr>Variational Autoencoder Likelihood</vt:lpstr>
      <vt:lpstr>The variational autoencoder</vt:lpstr>
      <vt:lpstr>VAEs in practice</vt:lpstr>
      <vt:lpstr>VAEs in practice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1714</cp:revision>
  <dcterms:created xsi:type="dcterms:W3CDTF">2006-08-16T00:00:00Z</dcterms:created>
  <dcterms:modified xsi:type="dcterms:W3CDTF">2025-10-01T11:30:53Z</dcterms:modified>
</cp:coreProperties>
</file>