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58"/>
  </p:notesMasterIdLst>
  <p:sldIdLst>
    <p:sldId id="352" r:id="rId2"/>
    <p:sldId id="421" r:id="rId3"/>
    <p:sldId id="1936" r:id="rId4"/>
    <p:sldId id="1937" r:id="rId5"/>
    <p:sldId id="409" r:id="rId6"/>
    <p:sldId id="1938" r:id="rId7"/>
    <p:sldId id="1948" r:id="rId8"/>
    <p:sldId id="1939" r:id="rId9"/>
    <p:sldId id="1942" r:id="rId10"/>
    <p:sldId id="1943" r:id="rId11"/>
    <p:sldId id="1944" r:id="rId12"/>
    <p:sldId id="1952" r:id="rId13"/>
    <p:sldId id="1949" r:id="rId14"/>
    <p:sldId id="1950" r:id="rId15"/>
    <p:sldId id="1953" r:id="rId16"/>
    <p:sldId id="1954" r:id="rId17"/>
    <p:sldId id="1951" r:id="rId18"/>
    <p:sldId id="1945" r:id="rId19"/>
    <p:sldId id="1946" r:id="rId20"/>
    <p:sldId id="1955" r:id="rId21"/>
    <p:sldId id="1956" r:id="rId22"/>
    <p:sldId id="282" r:id="rId23"/>
    <p:sldId id="256" r:id="rId24"/>
    <p:sldId id="358" r:id="rId25"/>
    <p:sldId id="1923" r:id="rId26"/>
    <p:sldId id="1924" r:id="rId27"/>
    <p:sldId id="1925" r:id="rId28"/>
    <p:sldId id="1926" r:id="rId29"/>
    <p:sldId id="1927" r:id="rId30"/>
    <p:sldId id="1957" r:id="rId31"/>
    <p:sldId id="1928" r:id="rId32"/>
    <p:sldId id="1929" r:id="rId33"/>
    <p:sldId id="1930" r:id="rId34"/>
    <p:sldId id="1931" r:id="rId35"/>
    <p:sldId id="1932" r:id="rId36"/>
    <p:sldId id="1933" r:id="rId37"/>
    <p:sldId id="1934" r:id="rId38"/>
    <p:sldId id="1935" r:id="rId39"/>
    <p:sldId id="1958" r:id="rId40"/>
    <p:sldId id="1959" r:id="rId41"/>
    <p:sldId id="1914" r:id="rId42"/>
    <p:sldId id="1915" r:id="rId43"/>
    <p:sldId id="1916" r:id="rId44"/>
    <p:sldId id="1917" r:id="rId45"/>
    <p:sldId id="1918" r:id="rId46"/>
    <p:sldId id="1919" r:id="rId47"/>
    <p:sldId id="356" r:id="rId48"/>
    <p:sldId id="297" r:id="rId49"/>
    <p:sldId id="308" r:id="rId50"/>
    <p:sldId id="298" r:id="rId51"/>
    <p:sldId id="305" r:id="rId52"/>
    <p:sldId id="301" r:id="rId53"/>
    <p:sldId id="364" r:id="rId54"/>
    <p:sldId id="332" r:id="rId55"/>
    <p:sldId id="354" r:id="rId56"/>
    <p:sldId id="1288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F2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2" d="100"/>
          <a:sy n="112" d="100"/>
        </p:scale>
        <p:origin x="55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Data related hallucinations: misinformation and inherent biases within data sources; tend to capture spurious correlations and demonstrate difficulties in knowledge recalling</a:t>
            </a:r>
          </a:p>
          <a:p>
            <a:pPr marL="228600" indent="-228600">
              <a:buAutoNum type="arabicPeriod"/>
            </a:pPr>
            <a:r>
              <a:rPr lang="en-US"/>
              <a:t>Training LLMs: inadequate unidirectional representation and attention glitches in architecture design; in the alignment phase, capability misalignment and belief misalignment</a:t>
            </a:r>
          </a:p>
          <a:p>
            <a:pPr marL="228600" indent="-228600">
              <a:buAutoNum type="arabicPeriod"/>
            </a:pPr>
            <a:r>
              <a:rPr lang="en-US"/>
              <a:t>Decoding strategy: over-reliance on nearby content and the </a:t>
            </a:r>
            <a:r>
              <a:rPr lang="en-US" err="1"/>
              <a:t>softmax</a:t>
            </a:r>
            <a:r>
              <a:rPr lang="en-US"/>
              <a:t> bottleneck can limit the model’s ability to express diverse output probabilities</a:t>
            </a:r>
          </a:p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AD0C2-C254-6340-AE95-5F3F67128C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27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FAD0C2-C254-6340-AE95-5F3F67128C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47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It is significant in communicating effectively with LLMs.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It's all about designing. coming up with proper questions to get answers you are looking for from the LLMs.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>
                <a:ea typeface="Calibri" panose="020F0502020204030204"/>
                <a:cs typeface="Calibri" panose="020F0502020204030204"/>
              </a:rPr>
              <a:t>In today's presentation, we are going to discuss some practical prompt engineering techniques. OK, now lets dive right into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09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Chain of thought prompting is the most commonly used and important prompting methods and all the subsequent prompting method will be based on the chain of thought  prompting</a:t>
            </a:r>
          </a:p>
          <a:p>
            <a:endParaRPr lang="en-US"/>
          </a:p>
          <a:p>
            <a:r>
              <a:rPr lang="en-US"/>
              <a:t>So, </a:t>
            </a:r>
            <a:r>
              <a:rPr lang="en-US" err="1"/>
              <a:t>whats</a:t>
            </a:r>
            <a:r>
              <a:rPr lang="en-US"/>
              <a:t> is Chain of thought prompting? It’s an approach to improve the reasoning ability of LLMs in arithmetic reasoning, commonsense reasoning and symbolic reasoning.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90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Chain of thought prompting will give you a very structured answer and stepwise answer, which will be very easy to follow and understand.</a:t>
            </a:r>
          </a:p>
          <a:p>
            <a:endParaRPr lang="en-US"/>
          </a:p>
          <a:p>
            <a:r>
              <a:rPr lang="en-US"/>
              <a:t>From the human perspective this is very intuitive as it is how the humans think – we never reach the final answer from the beginning, in stead we iterate through our thinking procedure. </a:t>
            </a:r>
          </a:p>
          <a:p>
            <a:endParaRPr lang="en-US"/>
          </a:p>
          <a:p>
            <a:r>
              <a:rPr lang="en-US"/>
              <a:t>In traditional prompting or standard prompting, the exemplars only contain the final answer. They perform poorly on tasks that require reasoning abilities [compare the two pictures] Moreover, as we can see in the next few slides, </a:t>
            </a:r>
            <a:r>
              <a:rPr lang="en-CA" b="0" i="0">
                <a:solidFill>
                  <a:srgbClr val="0D0D0D"/>
                </a:solidFill>
                <a:effectLst/>
                <a:latin typeface="Söhne"/>
              </a:rPr>
              <a:t>we observe a significant enhancement in the efficacy of Chain of Thought Prompting relative to standard prompting methods, particularly as the scale of the model expands.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44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Chain of Thought does not fit into every problem you have. It’s more likely to work on problems with the kind of like step by step thinking, I think you can easily identify them when you see them. </a:t>
            </a:r>
          </a:p>
          <a:p>
            <a:endParaRPr lang="en-US"/>
          </a:p>
          <a:p>
            <a:r>
              <a:rPr lang="en-US"/>
              <a:t>The strategy is simple divide and conquer; you split a big task into many sub-tasks and solve them one by one. When all the intermediate steps are solved we basically solve the main problem.</a:t>
            </a:r>
          </a:p>
          <a:p>
            <a:endParaRPr lang="en-US"/>
          </a:p>
          <a:p>
            <a:r>
              <a:rPr lang="en-US"/>
              <a:t>Here are some </a:t>
            </a:r>
            <a:r>
              <a:rPr lang="en-US" err="1"/>
              <a:t>CoT</a:t>
            </a:r>
            <a:r>
              <a:rPr lang="en-US"/>
              <a:t> principals that you can use in </a:t>
            </a:r>
            <a:r>
              <a:rPr lang="en-US" err="1"/>
              <a:t>chatgpt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23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 here are some reasons why people are using </a:t>
            </a:r>
            <a:r>
              <a:rPr lang="en-US" err="1"/>
              <a:t>CoT</a:t>
            </a:r>
            <a:endParaRPr lang="en-US"/>
          </a:p>
          <a:p>
            <a:endParaRPr lang="en-US"/>
          </a:p>
          <a:p>
            <a:pPr marL="228600" indent="-228600">
              <a:buAutoNum type="arabicPeriod"/>
            </a:pPr>
            <a:r>
              <a:rPr lang="en-US"/>
              <a:t>First, it decompose hard problems into simpler and more intuitive sub problems. </a:t>
            </a:r>
          </a:p>
          <a:p>
            <a:pPr marL="228600" indent="-228600">
              <a:buAutoNum type="arabicPeriod"/>
            </a:pPr>
            <a:endParaRPr lang="en-US"/>
          </a:p>
          <a:p>
            <a:pPr marL="228600" indent="-228600">
              <a:buAutoNum type="arabicPeriod"/>
            </a:pPr>
            <a:r>
              <a:rPr lang="en-US"/>
              <a:t>Second, it provide some level of interpretation to the LLM reasoning path</a:t>
            </a:r>
          </a:p>
          <a:p>
            <a:pPr marL="228600" indent="-228600">
              <a:buAutoNum type="arabicPeriod"/>
            </a:pPr>
            <a:endParaRPr lang="en-US"/>
          </a:p>
          <a:p>
            <a:pPr marL="228600" indent="-228600">
              <a:buAutoNum type="arabicPeriod"/>
            </a:pPr>
            <a:r>
              <a:rPr lang="en-US"/>
              <a:t>Third, it is broadly applicable across diverse reasoning tasks, theoretically we can apply it to any langue solvable problems</a:t>
            </a:r>
          </a:p>
          <a:p>
            <a:pPr marL="228600" indent="-228600">
              <a:buAutoNum type="arabicPeriod"/>
            </a:pPr>
            <a:endParaRPr lang="en-US"/>
          </a:p>
          <a:p>
            <a:pPr marL="228600" indent="-228600">
              <a:buAutoNum type="arabicPeriod"/>
            </a:pPr>
            <a:r>
              <a:rPr lang="en-US"/>
              <a:t>Last, it is simple and off the shelf, does not require any additional training or fine tuning, you can apply </a:t>
            </a:r>
            <a:r>
              <a:rPr lang="en-US" err="1"/>
              <a:t>CoTs</a:t>
            </a:r>
            <a:r>
              <a:rPr lang="en-US"/>
              <a:t> with just a bunch of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81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 we discussed before, the </a:t>
            </a:r>
            <a:r>
              <a:rPr lang="en-US" err="1"/>
              <a:t>CoT</a:t>
            </a:r>
            <a:r>
              <a:rPr lang="en-US"/>
              <a:t> approach mainly focus on improving the reasoning on three areas: the arithmetic reasoning, common sense reasoning and symbolic reasoning. In the evaluation section, we will discuss them one by one. </a:t>
            </a:r>
          </a:p>
          <a:p>
            <a:endParaRPr lang="en-US"/>
          </a:p>
          <a:p>
            <a:r>
              <a:rPr lang="en-US"/>
              <a:t>The first one is the Arithmetic reasoning, </a:t>
            </a:r>
          </a:p>
          <a:p>
            <a:endParaRPr lang="en-US"/>
          </a:p>
          <a:p>
            <a:r>
              <a:rPr lang="en-US"/>
              <a:t>The baseline we are using is the standard prompt with some in-context exemplars. The </a:t>
            </a:r>
            <a:r>
              <a:rPr lang="en-US" err="1"/>
              <a:t>CoT</a:t>
            </a:r>
            <a:r>
              <a:rPr lang="en-US"/>
              <a:t> approach augment each input with 8 few shot </a:t>
            </a:r>
            <a:r>
              <a:rPr lang="en-US" err="1"/>
              <a:t>examplars</a:t>
            </a:r>
            <a:r>
              <a:rPr lang="en-US"/>
              <a:t> with chain of thought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480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are the evaluation results. </a:t>
            </a:r>
          </a:p>
          <a:p>
            <a:r>
              <a:rPr lang="en-US"/>
              <a:t>The y-axis represent the problem solve rate and the x-axis represent the model scale.</a:t>
            </a:r>
          </a:p>
          <a:p>
            <a:endParaRPr lang="en-US"/>
          </a:p>
          <a:p>
            <a:pPr marL="228600" indent="-228600">
              <a:buAutoNum type="arabicPeriod"/>
            </a:pPr>
            <a:r>
              <a:rPr lang="en-US"/>
              <a:t>First, The </a:t>
            </a:r>
            <a:r>
              <a:rPr lang="en-US" err="1"/>
              <a:t>CoT</a:t>
            </a:r>
            <a:r>
              <a:rPr lang="en-US"/>
              <a:t> prompting des not increase the performance for small models, and only yields performance gain when used on models larger than 100B parameters. </a:t>
            </a:r>
          </a:p>
          <a:p>
            <a:pPr marL="228600" indent="-228600">
              <a:buAutoNum type="arabicPeriod"/>
            </a:pPr>
            <a:endParaRPr lang="en-US"/>
          </a:p>
          <a:p>
            <a:pPr marL="228600" indent="-228600">
              <a:buAutoNum type="arabicPeriod"/>
            </a:pPr>
            <a:r>
              <a:rPr lang="en-US"/>
              <a:t>Second, chain-of-thought prompting has larger performance gains for more-complicated problems.</a:t>
            </a:r>
          </a:p>
          <a:p>
            <a:pPr marL="228600" indent="-228600">
              <a:buAutoNum type="arabicPeriod"/>
            </a:pPr>
            <a:endParaRPr lang="en-US"/>
          </a:p>
          <a:p>
            <a:pPr marL="228600" indent="-228600">
              <a:buAutoNum type="arabicPeriod"/>
            </a:pPr>
            <a:r>
              <a:rPr lang="en-US"/>
              <a:t>The author randomly examined  50 samples for which the model gave the wrong answer, 46% of them were minor errors such as calculator error, symbol mapping errors or one reasoning step missing and the rest 54% are semantic misunderstanding. When Scaling the </a:t>
            </a:r>
            <a:r>
              <a:rPr lang="en-US" err="1"/>
              <a:t>PaLM</a:t>
            </a:r>
            <a:r>
              <a:rPr lang="en-US"/>
              <a:t> from 62B to 540B, a large portion of the semantic understanding errors are fixed.</a:t>
            </a:r>
          </a:p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28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Although chain of thoughts emulates the thought processes of human reasoners, this does not answer the question whether the neural network is actually reasoning. </a:t>
            </a:r>
          </a:p>
          <a:p>
            <a:pPr marL="228600" indent="-228600">
              <a:buAutoNum type="arabicPeriod"/>
            </a:pPr>
            <a:endParaRPr lang="en-US"/>
          </a:p>
          <a:p>
            <a:pPr marL="228600" indent="-228600">
              <a:buAutoNum type="arabicPeriod"/>
            </a:pPr>
            <a:r>
              <a:rPr lang="en-US"/>
              <a:t>Although the cost of manually augmenting exemplars with chains of thoughts is minimal in the few-shot settings, such annotation costs could cause big problems when finetuning</a:t>
            </a:r>
          </a:p>
          <a:p>
            <a:pPr marL="228600" indent="-228600">
              <a:buAutoNum type="arabicPeriod"/>
            </a:pPr>
            <a:endParaRPr lang="en-US"/>
          </a:p>
          <a:p>
            <a:pPr marL="228600" indent="-228600">
              <a:buAutoNum type="arabicPeriod"/>
            </a:pPr>
            <a:r>
              <a:rPr lang="en-US"/>
              <a:t>The emergence of </a:t>
            </a:r>
            <a:r>
              <a:rPr lang="en-US" err="1"/>
              <a:t>CoT</a:t>
            </a:r>
            <a:r>
              <a:rPr lang="en-US"/>
              <a:t> reasoning capability only at large model scale makes it costly to serve in real world applications, some future work could be how to adapt it to smaller models.</a:t>
            </a:r>
          </a:p>
          <a:p>
            <a:pPr marL="228600" indent="-228600">
              <a:buAutoNum type="arabicPeriod"/>
            </a:pPr>
            <a:endParaRPr lang="en-US"/>
          </a:p>
          <a:p>
            <a:pPr marL="228600" indent="-228600">
              <a:buAutoNum type="arabicPeriod"/>
            </a:pPr>
            <a:r>
              <a:rPr lang="en-US"/>
              <a:t>There’s no guarantee of correct reasoning paths, which can lead to both correct and incorrect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30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48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Another example of how the self consistency works. In greedy decode, which is the naïve </a:t>
            </a:r>
            <a:r>
              <a:rPr lang="en-US" err="1"/>
              <a:t>CoT</a:t>
            </a:r>
            <a:r>
              <a:rPr lang="en-US"/>
              <a:t>, once the decoder output an answer, it is what it is with no other options. With self-consistency, more reasoning paths could be generated, even if the problem is hard and some of the arguments are wrong, we still have chance that the final answer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69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need to decompose the decoder output into two part, the reasoning path </a:t>
            </a:r>
            <a:r>
              <a:rPr lang="en-US" err="1"/>
              <a:t>ri</a:t>
            </a:r>
            <a:r>
              <a:rPr lang="en-US"/>
              <a:t> and the final answer ai. </a:t>
            </a:r>
          </a:p>
          <a:p>
            <a:endParaRPr lang="en-US"/>
          </a:p>
          <a:p>
            <a:r>
              <a:rPr lang="en-US"/>
              <a:t>The parser is task dependent.</a:t>
            </a:r>
          </a:p>
          <a:p>
            <a:r>
              <a:rPr lang="en-US"/>
              <a:t>For arithmetic reasoning, we parse the first numerical part as the final answer after the model generates “The answer is ”. </a:t>
            </a:r>
          </a:p>
          <a:p>
            <a:r>
              <a:rPr lang="en-US"/>
              <a:t>For commonsense reasoning, we parse the full string answer as the final answer after the model generates “The answer is ”. </a:t>
            </a:r>
          </a:p>
          <a:p>
            <a:r>
              <a:rPr lang="en-US"/>
              <a:t>Most generated outputs have a consistent format of “{Reasoning paths}. The answer is X.” if we prompt the language model in this format.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609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SELF-REFINE improves its outputs through a process of iterative feedback, where it takes its initial responses and refines them based on evaluations or corrections. </a:t>
            </a:r>
          </a:p>
          <a:p>
            <a:endParaRPr lang="en-US"/>
          </a:p>
          <a:p>
            <a:r>
              <a:rPr lang="en-US"/>
              <a:t>This method involves generating an initial set of answers and then selecting one to enhance further, rather than producing multiple answers without subsequent improvement. 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So we have an initial input (0), then SELF-REFINE starts by generating an output and passing it back to the same </a:t>
            </a:r>
            <a:r>
              <a:rPr lang="en-US" b="1">
                <a:ea typeface="Calibri" panose="020F0502020204030204"/>
                <a:cs typeface="Calibri"/>
              </a:rPr>
              <a:t>Model M</a:t>
            </a:r>
            <a:r>
              <a:rPr lang="en-US">
                <a:ea typeface="Calibri" panose="020F0502020204030204"/>
                <a:cs typeface="Calibri"/>
              </a:rPr>
              <a:t> to get feedback(1). The feedback is then passed back to M, which refines the previously generated output (2). Steps (1) and (2) iterate until a stopping condition is met. 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r>
              <a:rPr lang="en-US">
                <a:ea typeface="Calibri" panose="020F0502020204030204"/>
                <a:cs typeface="Calibri"/>
              </a:rPr>
              <a:t>It is instantiated with a LM such as GPT-3.5 and does not involve human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24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1CBD1-57D8-6A4F-8089-633800E170A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09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0567B37-8A72-4684-8932-695EAC0670CD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191C-F36C-4CD9-9AA3-E328A27099A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89B3-CA2C-4856-BD8C-0A78DC65806E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486B-7E10-46D0-B097-ADE80FD9CC32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C2EF2-24F6-4F85-850B-9021D0058F45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14D3-E82C-4B92-AF6D-59CBE484E630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F66AE-27CC-40D2-A963-61EDF7379543}" type="datetime1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5A34-F50D-4953-86CD-261EA849618D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63793-30C5-4884-9642-5A827B5B622F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575B-CC8D-435E-B436-4A313655D287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7841-93AE-41BD-92DA-36AFF8749BEA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0" y="85367"/>
            <a:ext cx="12192000" cy="763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6261533"/>
            <a:ext cx="12192000" cy="596400"/>
          </a:xfrm>
          <a:prstGeom prst="rect">
            <a:avLst/>
          </a:prstGeom>
          <a:solidFill>
            <a:srgbClr val="333399">
              <a:alpha val="426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UC Berkeley -- Spring 2024 -- Deep Unsupervised Learning -- Pieter Abbeel, Kevin Frans, Philipp Wu, Wilson Yan  -- L6 Diffusion Models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210495" y="1052520"/>
            <a:ext cx="11118000" cy="47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426709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Calibri"/>
              <a:buChar char="■"/>
              <a:defRPr sz="32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marR="0" lvl="1" indent="-397923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Calibri"/>
              <a:buChar char="■"/>
              <a:defRPr sz="2667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388609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99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38099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Char char="■"/>
              <a:defRPr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770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8236" y="307924"/>
            <a:ext cx="10955527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CAB8C-4C6B-43C8-8D3B-E9FB891A385F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633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532E592-3E52-453F-9B47-8F0B723CD01D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mteb/leaderboar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huggingface.co/spaces/mteb/leaderboard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ature.com/articles/d41586-023-00400-x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501901" y="2430404"/>
            <a:ext cx="7658099" cy="1412349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RAG and Prompt Engineering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00600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Muhammad Nouman Noor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Artificial Intelligence and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700" y="4020186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AI-5004 Adv. Topics in Generative AI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6D3671-E154-B3DA-D836-8B1E2979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DACDD-DB1B-41C2-8DA2-74E2C8A64F95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B347CB-686B-83C4-DBEA-48C54528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7E803A-A619-3ACB-0639-B2041098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sz="2400" spc="-3" dirty="0"/>
              <a:t>Retrieval Augmented Generation (RAG)</a:t>
            </a:r>
          </a:p>
          <a:p>
            <a:pPr lvl="1"/>
            <a:r>
              <a:rPr lang="en-US" spc="-3" dirty="0"/>
              <a:t>Prompt Engineering</a:t>
            </a:r>
            <a:endParaRPr lang="en-US" sz="2400" spc="-3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882101-8825-B1AF-25AC-A42CBA88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224A9-201E-4F1D-8D5E-BCA92CEE0ABC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5F800-3D41-BE6D-B17B-D178FBDC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8DCF9-FCA7-7BE3-78B3-2BD48C04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D5E68E-E051-1C1A-7E68-7566DE488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Retrieval-Augmented Generation (RAG) is a technique that </a:t>
            </a:r>
            <a:r>
              <a:rPr lang="en-US" sz="3200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ource-serif-pro"/>
              </a:rPr>
              <a:t>enhances language model generation by incorporating external knowledge</a:t>
            </a:r>
            <a:r>
              <a:rPr lang="en-US" sz="3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Retrieving relevant information from an external database and using that information to </a:t>
            </a:r>
            <a:r>
              <a:rPr lang="en-US" sz="3200" b="0" i="0" dirty="0">
                <a:solidFill>
                  <a:srgbClr val="C00000"/>
                </a:solidFill>
                <a:effectLst/>
                <a:highlight>
                  <a:srgbClr val="FFFFFF"/>
                </a:highlight>
                <a:latin typeface="source-serif-pro"/>
              </a:rPr>
              <a:t>inform the generation process</a:t>
            </a:r>
            <a:r>
              <a:rPr lang="en-US" sz="3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Useful for Generative AI applications over private or custom datasets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-apple-system"/>
              </a:rPr>
              <a:t>U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se-cases like </a:t>
            </a:r>
            <a:r>
              <a:rPr lang="en-US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-apple-system"/>
              </a:rPr>
              <a:t>chatbots, question-answering, as well as research and analysis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.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1191AF-3A76-CC95-567D-C5A118D5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C5201-ED21-4111-AD63-950E3D1CB684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69B56-A72E-9E57-F1B0-F15A1EF4D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C4503-A3DC-295C-5732-732C4189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351514-F881-6FF7-1A70-957C15D23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Retrieval-Augmented Generation (RAG)</a:t>
            </a:r>
          </a:p>
        </p:txBody>
      </p:sp>
    </p:spTree>
    <p:extLst>
      <p:ext uri="{BB962C8B-B14F-4D97-AF65-F5344CB8AC3E}">
        <p14:creationId xmlns:p14="http://schemas.microsoft.com/office/powerpoint/2010/main" val="20675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4DCB85-1F81-1CC0-970B-6787995AB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LLMs are trained on a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-apple-system"/>
              </a:rPr>
              <a:t>vast amount of textual data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-apple-system"/>
              </a:rPr>
              <a:t>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heir capabilities are based on the knowledge they acquire from this data. 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highlight>
                  <a:srgbClr val="FFFFFF"/>
                </a:highlight>
                <a:latin typeface="-apple-system"/>
              </a:rPr>
              <a:t>Knowledge Cut-off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Can’t answer a question about data that is not part of their training set</a:t>
            </a:r>
          </a:p>
          <a:p>
            <a:pPr lvl="1"/>
            <a:r>
              <a:rPr lang="en-US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-apple-system"/>
              </a:rPr>
              <a:t>May not be able to respond accurately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May give a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-apple-system"/>
              </a:rPr>
              <a:t>refusal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 (where the LLM responds with “I don’t know”)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-apple-system"/>
              </a:rPr>
              <a:t>O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r worse, a </a:t>
            </a:r>
            <a:r>
              <a:rPr lang="en-US" b="0" i="0" u="none" strike="noStrike" dirty="0">
                <a:solidFill>
                  <a:srgbClr val="6900FF"/>
                </a:solidFill>
                <a:effectLst/>
                <a:highlight>
                  <a:srgbClr val="FFFFFF"/>
                </a:highlight>
                <a:latin typeface="-apple-system"/>
              </a:rPr>
              <a:t>hallucination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3DAFD0-B419-923F-06A4-B0AB6C1A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366F-DCF9-4E9E-AAEB-ABC7B2797F6F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03BCB-F36C-2E18-8ABA-49D50ED1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577E6-EF1D-7F6C-01B2-1D9D8286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AAFBCF-FD19-7D4B-E2F5-41F5B9C4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Retrieval-Augmented Generation (RAG)</a:t>
            </a:r>
          </a:p>
        </p:txBody>
      </p:sp>
    </p:spTree>
    <p:extLst>
      <p:ext uri="{BB962C8B-B14F-4D97-AF65-F5344CB8AC3E}">
        <p14:creationId xmlns:p14="http://schemas.microsoft.com/office/powerpoint/2010/main" val="3203148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8615-17C7-0C13-FDC4-B2CFB026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32" y="229956"/>
            <a:ext cx="10108474" cy="719278"/>
          </a:xfrm>
        </p:spPr>
        <p:txBody>
          <a:bodyPr>
            <a:normAutofit/>
          </a:bodyPr>
          <a:lstStyle/>
          <a:p>
            <a:r>
              <a:rPr lang="en-US" sz="3000"/>
              <a:t>Limitations of current LMMs: </a:t>
            </a:r>
            <a:r>
              <a:rPr lang="en-US" sz="3200" b="1">
                <a:solidFill>
                  <a:schemeClr val="accent1"/>
                </a:solidFill>
              </a:rPr>
              <a:t>Hallucination</a:t>
            </a:r>
            <a:endParaRPr lang="en-US" sz="3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9145E-1E50-8742-88CA-40FE771FA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2" y="970832"/>
            <a:ext cx="11194868" cy="54648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What’s a Hallucination?</a:t>
            </a:r>
          </a:p>
          <a:p>
            <a:pPr marL="0" indent="0">
              <a:buNone/>
            </a:pPr>
            <a:r>
              <a:rPr lang="en-US" sz="1800" dirty="0"/>
              <a:t>     </a:t>
            </a:r>
            <a:r>
              <a:rPr lang="en-US" sz="1800" dirty="0">
                <a:solidFill>
                  <a:srgbClr val="0070C0"/>
                </a:solidFill>
              </a:rPr>
              <a:t>Model can generate text that is factually incorrect or nonsensical to the provided source content</a:t>
            </a:r>
            <a:endParaRPr lang="en-US" sz="1800" dirty="0">
              <a:solidFill>
                <a:srgbClr val="0070C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Possible Hallucination causes: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/>
              <a:t>     - </a:t>
            </a:r>
            <a:r>
              <a:rPr lang="en-US" sz="1800" b="1" dirty="0">
                <a:solidFill>
                  <a:schemeClr val="accent1"/>
                </a:solidFill>
              </a:rPr>
              <a:t>Data</a:t>
            </a:r>
            <a:r>
              <a:rPr lang="en-US" sz="1800" dirty="0"/>
              <a:t>: flawed data sources and the inferior utilization of factual knowledge captured in the data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/>
              <a:t>     - </a:t>
            </a:r>
            <a:r>
              <a:rPr lang="en-US" sz="1800" b="1" dirty="0">
                <a:solidFill>
                  <a:schemeClr val="accent1"/>
                </a:solidFill>
              </a:rPr>
              <a:t>Training</a:t>
            </a:r>
            <a:r>
              <a:rPr lang="en-US" sz="1800" dirty="0"/>
              <a:t>: architecture flaw and misalignment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     </a:t>
            </a:r>
            <a:r>
              <a:rPr lang="en-US" sz="1800" dirty="0"/>
              <a:t>-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b="1" dirty="0">
                <a:solidFill>
                  <a:schemeClr val="accent1"/>
                </a:solidFill>
              </a:rPr>
              <a:t>Inference</a:t>
            </a:r>
            <a:r>
              <a:rPr lang="en-US" sz="1800" dirty="0"/>
              <a:t>: inherent randomness of decoding strategies and imperfect decoding representation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66A09-4818-0DEF-192D-6A4BEC62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2B0-F208-46E9-BDDB-6E07F7285129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7BE9F-4032-8A42-08F8-5B9EB2CC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FF13E-66C2-3ACB-A891-5FDFE131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1E9378-2C21-3532-DFD7-395B77FB8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532" y="1697748"/>
            <a:ext cx="7772400" cy="290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53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636A91-1365-1E58-1290-520530089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S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teps of RAG: </a:t>
            </a:r>
            <a:endParaRPr lang="en-US" b="0" i="0" dirty="0">
              <a:solidFill>
                <a:srgbClr val="0070C0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20654-AC80-C868-1E90-31D2EBFAF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37EDB-978F-4D70-BC80-5607D0A84A50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B4995-BB37-C671-5339-61400CF1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95A2E-AF6D-FA16-71F2-146721DE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64BA5B7-FDF4-DACD-609D-CBDDB9AA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Pipeline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118B21-9F91-F632-AA5C-D33F0D85E3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15"/>
          <a:stretch/>
        </p:blipFill>
        <p:spPr>
          <a:xfrm>
            <a:off x="2273527" y="2330141"/>
            <a:ext cx="6453187" cy="413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44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6109" y="348377"/>
            <a:ext cx="10972800" cy="83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25" dirty="0"/>
              <a:t>QA</a:t>
            </a:r>
            <a:r>
              <a:rPr sz="3600" spc="25" dirty="0"/>
              <a:t> </a:t>
            </a:r>
            <a:r>
              <a:rPr sz="3600" spc="-175" dirty="0"/>
              <a:t>with</a:t>
            </a:r>
            <a:r>
              <a:rPr sz="3600" spc="15" dirty="0"/>
              <a:t> </a:t>
            </a:r>
            <a:r>
              <a:rPr sz="3600" spc="-195" dirty="0"/>
              <a:t>Retrieval</a:t>
            </a:r>
            <a:r>
              <a:rPr sz="3600" spc="30" dirty="0"/>
              <a:t> </a:t>
            </a:r>
            <a:r>
              <a:rPr sz="3600" spc="-240" dirty="0"/>
              <a:t>Augmented</a:t>
            </a:r>
            <a:r>
              <a:rPr sz="3600" spc="30" dirty="0"/>
              <a:t> </a:t>
            </a:r>
            <a:r>
              <a:rPr sz="3600" spc="-160" dirty="0"/>
              <a:t>Generation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3477767" y="1556003"/>
            <a:ext cx="1365885" cy="474345"/>
          </a:xfrm>
          <a:prstGeom prst="rect">
            <a:avLst/>
          </a:prstGeom>
          <a:solidFill>
            <a:srgbClr val="C096F8"/>
          </a:solidFill>
          <a:ln w="12700">
            <a:solidFill>
              <a:srgbClr val="4F3C69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428625">
              <a:lnSpc>
                <a:spcPct val="100000"/>
              </a:lnSpc>
              <a:spcBef>
                <a:spcPts val="955"/>
              </a:spcBef>
            </a:pPr>
            <a:r>
              <a:rPr sz="1400" spc="50" dirty="0">
                <a:solidFill>
                  <a:srgbClr val="FFFFFF"/>
                </a:solidFill>
                <a:latin typeface="Tahoma"/>
                <a:cs typeface="Tahoma"/>
              </a:rPr>
              <a:t>Query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7767" y="3765803"/>
            <a:ext cx="1365885" cy="1534795"/>
          </a:xfrm>
          <a:prstGeom prst="rect">
            <a:avLst/>
          </a:prstGeom>
          <a:solidFill>
            <a:srgbClr val="FF9413"/>
          </a:solidFill>
          <a:ln w="12700">
            <a:solidFill>
              <a:srgbClr val="6C3B0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76225">
              <a:lnSpc>
                <a:spcPct val="100000"/>
              </a:lnSpc>
              <a:spcBef>
                <a:spcPts val="123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1400" spc="60" dirty="0">
                <a:solidFill>
                  <a:srgbClr val="FFFFFF"/>
                </a:solidFill>
                <a:latin typeface="Tahoma"/>
                <a:cs typeface="Tahoma"/>
              </a:rPr>
              <a:t>ec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400" spc="65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8883" y="2084832"/>
            <a:ext cx="1365885" cy="260985"/>
          </a:xfrm>
          <a:prstGeom prst="rect">
            <a:avLst/>
          </a:prstGeom>
          <a:solidFill>
            <a:srgbClr val="FF9413"/>
          </a:solidFill>
          <a:ln w="12700">
            <a:solidFill>
              <a:srgbClr val="6C3B03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250"/>
              </a:spcBef>
            </a:pP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W</a:t>
            </a:r>
            <a:r>
              <a:rPr sz="1200" spc="75" dirty="0">
                <a:solidFill>
                  <a:srgbClr val="FFFFFF"/>
                </a:solidFill>
                <a:latin typeface="Tahoma"/>
                <a:cs typeface="Tahoma"/>
              </a:rPr>
              <a:t>eb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200" spc="75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871" y="2074164"/>
            <a:ext cx="1365885" cy="260985"/>
          </a:xfrm>
          <a:prstGeom prst="rect">
            <a:avLst/>
          </a:prstGeom>
          <a:solidFill>
            <a:srgbClr val="FF9413"/>
          </a:solidFill>
          <a:ln w="12700">
            <a:solidFill>
              <a:srgbClr val="6C3B03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250"/>
              </a:spcBef>
            </a:pP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Documents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90759" y="2391155"/>
            <a:ext cx="1365885" cy="1534795"/>
          </a:xfrm>
          <a:prstGeom prst="rect">
            <a:avLst/>
          </a:prstGeom>
          <a:solidFill>
            <a:srgbClr val="4E91EF"/>
          </a:solidFill>
          <a:ln w="12700">
            <a:solidFill>
              <a:srgbClr val="1C396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1225"/>
              </a:spcBef>
            </a:pPr>
            <a:r>
              <a:rPr sz="1400" spc="65" dirty="0">
                <a:solidFill>
                  <a:srgbClr val="FFFFFF"/>
                </a:solidFill>
                <a:latin typeface="Tahoma"/>
                <a:cs typeface="Tahoma"/>
              </a:rPr>
              <a:t>LLM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191311" y="2116391"/>
            <a:ext cx="2233930" cy="692785"/>
            <a:chOff x="7191311" y="2116391"/>
            <a:chExt cx="2233930" cy="69278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7501" y="2190133"/>
              <a:ext cx="2150319" cy="5727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196073" y="2121154"/>
              <a:ext cx="2224405" cy="683260"/>
            </a:xfrm>
            <a:custGeom>
              <a:avLst/>
              <a:gdLst/>
              <a:ahLst/>
              <a:cxnLst/>
              <a:rect l="l" t="t" r="r" b="b"/>
              <a:pathLst>
                <a:path w="2224404" h="683260">
                  <a:moveTo>
                    <a:pt x="0" y="683133"/>
                  </a:moveTo>
                  <a:lnTo>
                    <a:pt x="2223897" y="683133"/>
                  </a:lnTo>
                  <a:lnTo>
                    <a:pt x="2223897" y="0"/>
                  </a:lnTo>
                  <a:lnTo>
                    <a:pt x="0" y="0"/>
                  </a:lnTo>
                  <a:lnTo>
                    <a:pt x="0" y="683133"/>
                  </a:lnTo>
                  <a:close/>
                </a:path>
              </a:pathLst>
            </a:custGeom>
            <a:ln w="9524">
              <a:solidFill>
                <a:srgbClr val="550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563367" y="1159763"/>
            <a:ext cx="3195955" cy="277495"/>
          </a:xfrm>
          <a:prstGeom prst="rect">
            <a:avLst/>
          </a:prstGeom>
          <a:ln w="9525">
            <a:solidFill>
              <a:srgbClr val="550DBA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sz="1200" spc="45" dirty="0">
                <a:latin typeface="Tahoma"/>
                <a:cs typeface="Tahoma"/>
              </a:rPr>
              <a:t>How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many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parameters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are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there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25" dirty="0">
                <a:latin typeface="Tahoma"/>
                <a:cs typeface="Tahoma"/>
              </a:rPr>
              <a:t>in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Grok-0?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4571" y="2921507"/>
            <a:ext cx="1365885" cy="474345"/>
          </a:xfrm>
          <a:prstGeom prst="rect">
            <a:avLst/>
          </a:prstGeom>
          <a:solidFill>
            <a:srgbClr val="C096F8"/>
          </a:solidFill>
          <a:ln w="12700">
            <a:solidFill>
              <a:srgbClr val="4F3C69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388620">
              <a:lnSpc>
                <a:spcPct val="100000"/>
              </a:lnSpc>
              <a:spcBef>
                <a:spcPts val="120"/>
              </a:spcBef>
            </a:pP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Prompt</a:t>
            </a:r>
            <a:endParaRPr sz="1400">
              <a:latin typeface="Tahoma"/>
              <a:cs typeface="Tahoma"/>
            </a:endParaRPr>
          </a:p>
          <a:p>
            <a:pPr marL="307340">
              <a:lnSpc>
                <a:spcPct val="100000"/>
              </a:lnSpc>
            </a:pPr>
            <a:r>
              <a:rPr sz="1400" spc="15" dirty="0">
                <a:solidFill>
                  <a:srgbClr val="FFFFFF"/>
                </a:solidFill>
                <a:latin typeface="Tahoma"/>
                <a:cs typeface="Tahoma"/>
              </a:rPr>
              <a:t>Template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72684" y="4326635"/>
            <a:ext cx="1290955" cy="413384"/>
          </a:xfrm>
          <a:prstGeom prst="rect">
            <a:avLst/>
          </a:prstGeom>
          <a:solidFill>
            <a:srgbClr val="C096F8"/>
          </a:solidFill>
          <a:ln w="12700">
            <a:solidFill>
              <a:srgbClr val="4F3C69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327025">
              <a:lnSpc>
                <a:spcPct val="100000"/>
              </a:lnSpc>
              <a:spcBef>
                <a:spcPts val="720"/>
              </a:spcBef>
            </a:pP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Context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72684" y="4808220"/>
            <a:ext cx="3886200" cy="1015365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0"/>
              </a:spcBef>
            </a:pPr>
            <a:r>
              <a:rPr sz="1000" spc="-60" dirty="0">
                <a:latin typeface="Tahoma"/>
                <a:cs typeface="Tahoma"/>
              </a:rPr>
              <a:t>[...]</a:t>
            </a:r>
            <a:endParaRPr sz="1000">
              <a:latin typeface="Tahoma"/>
              <a:cs typeface="Tahoma"/>
            </a:endParaRPr>
          </a:p>
          <a:p>
            <a:pPr marL="92710" marR="121285">
              <a:lnSpc>
                <a:spcPct val="100000"/>
              </a:lnSpc>
            </a:pPr>
            <a:r>
              <a:rPr sz="1000" spc="10" dirty="0">
                <a:latin typeface="Tahoma"/>
                <a:cs typeface="Tahoma"/>
              </a:rPr>
              <a:t>After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25" dirty="0">
                <a:latin typeface="Tahoma"/>
                <a:cs typeface="Tahoma"/>
              </a:rPr>
              <a:t>announcing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xAI,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15" dirty="0">
                <a:latin typeface="Tahoma"/>
                <a:cs typeface="Tahoma"/>
              </a:rPr>
              <a:t>we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15" dirty="0">
                <a:latin typeface="Tahoma"/>
                <a:cs typeface="Tahoma"/>
              </a:rPr>
              <a:t>trained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5" dirty="0">
                <a:latin typeface="Tahoma"/>
                <a:cs typeface="Tahoma"/>
              </a:rPr>
              <a:t>a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25" dirty="0">
                <a:latin typeface="Tahoma"/>
                <a:cs typeface="Tahoma"/>
              </a:rPr>
              <a:t>prototype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40" dirty="0">
                <a:latin typeface="Tahoma"/>
                <a:cs typeface="Tahoma"/>
              </a:rPr>
              <a:t>LLM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(Grok-0)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5" dirty="0">
                <a:latin typeface="Tahoma"/>
                <a:cs typeface="Tahoma"/>
              </a:rPr>
              <a:t>with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25" dirty="0">
                <a:latin typeface="Tahoma"/>
                <a:cs typeface="Tahoma"/>
              </a:rPr>
              <a:t>33 </a:t>
            </a:r>
            <a:r>
              <a:rPr sz="1000" spc="35" dirty="0">
                <a:latin typeface="Tahoma"/>
                <a:cs typeface="Tahoma"/>
              </a:rPr>
              <a:t>billion </a:t>
            </a:r>
            <a:r>
              <a:rPr sz="1000" spc="5" dirty="0">
                <a:latin typeface="Tahoma"/>
                <a:cs typeface="Tahoma"/>
              </a:rPr>
              <a:t>parameters. </a:t>
            </a:r>
            <a:r>
              <a:rPr sz="1000" dirty="0">
                <a:latin typeface="Tahoma"/>
                <a:cs typeface="Tahoma"/>
              </a:rPr>
              <a:t>This </a:t>
            </a:r>
            <a:r>
              <a:rPr sz="1000" spc="5" dirty="0">
                <a:latin typeface="Tahoma"/>
                <a:cs typeface="Tahoma"/>
              </a:rPr>
              <a:t>early </a:t>
            </a:r>
            <a:r>
              <a:rPr sz="1000" spc="45" dirty="0">
                <a:latin typeface="Tahoma"/>
                <a:cs typeface="Tahoma"/>
              </a:rPr>
              <a:t>model </a:t>
            </a:r>
            <a:r>
              <a:rPr sz="1000" spc="30" dirty="0">
                <a:latin typeface="Tahoma"/>
                <a:cs typeface="Tahoma"/>
              </a:rPr>
              <a:t>approaches </a:t>
            </a:r>
            <a:r>
              <a:rPr sz="1000" spc="40" dirty="0">
                <a:latin typeface="Tahoma"/>
                <a:cs typeface="Tahoma"/>
              </a:rPr>
              <a:t>LLaMA </a:t>
            </a:r>
            <a:r>
              <a:rPr sz="1000" spc="30" dirty="0">
                <a:latin typeface="Tahoma"/>
                <a:cs typeface="Tahoma"/>
              </a:rPr>
              <a:t>2 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(70B) </a:t>
            </a:r>
            <a:r>
              <a:rPr sz="1000" spc="20" dirty="0">
                <a:latin typeface="Tahoma"/>
                <a:cs typeface="Tahoma"/>
              </a:rPr>
              <a:t>capabilities </a:t>
            </a:r>
            <a:r>
              <a:rPr sz="1000" spc="40" dirty="0">
                <a:latin typeface="Tahoma"/>
                <a:cs typeface="Tahoma"/>
              </a:rPr>
              <a:t>on </a:t>
            </a:r>
            <a:r>
              <a:rPr sz="1000" spc="15" dirty="0">
                <a:latin typeface="Tahoma"/>
                <a:cs typeface="Tahoma"/>
              </a:rPr>
              <a:t>standard </a:t>
            </a:r>
            <a:r>
              <a:rPr sz="1000" spc="55" dirty="0">
                <a:latin typeface="Tahoma"/>
                <a:cs typeface="Tahoma"/>
              </a:rPr>
              <a:t>LM </a:t>
            </a:r>
            <a:r>
              <a:rPr sz="1000" spc="20" dirty="0">
                <a:latin typeface="Tahoma"/>
                <a:cs typeface="Tahoma"/>
              </a:rPr>
              <a:t>benchmarks but </a:t>
            </a:r>
            <a:r>
              <a:rPr sz="1000" spc="5" dirty="0">
                <a:latin typeface="Tahoma"/>
                <a:cs typeface="Tahoma"/>
              </a:rPr>
              <a:t>uses </a:t>
            </a:r>
            <a:r>
              <a:rPr sz="1000" spc="20" dirty="0">
                <a:latin typeface="Tahoma"/>
                <a:cs typeface="Tahoma"/>
              </a:rPr>
              <a:t>only 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half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20" dirty="0">
                <a:latin typeface="Tahoma"/>
                <a:cs typeface="Tahoma"/>
              </a:rPr>
              <a:t>of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its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15" dirty="0">
                <a:latin typeface="Tahoma"/>
                <a:cs typeface="Tahoma"/>
              </a:rPr>
              <a:t>training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resources.</a:t>
            </a:r>
            <a:endParaRPr sz="1000">
              <a:latin typeface="Tahoma"/>
              <a:cs typeface="Tahoma"/>
            </a:endParaRPr>
          </a:p>
          <a:p>
            <a:pPr marL="92710">
              <a:lnSpc>
                <a:spcPct val="100000"/>
              </a:lnSpc>
            </a:pPr>
            <a:r>
              <a:rPr sz="1000" spc="-60" dirty="0">
                <a:latin typeface="Tahoma"/>
                <a:cs typeface="Tahoma"/>
              </a:rPr>
              <a:t>[...]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22420" y="2029967"/>
            <a:ext cx="76200" cy="683260"/>
          </a:xfrm>
          <a:custGeom>
            <a:avLst/>
            <a:gdLst/>
            <a:ahLst/>
            <a:cxnLst/>
            <a:rect l="l" t="t" r="r" b="b"/>
            <a:pathLst>
              <a:path w="76200" h="683260">
                <a:moveTo>
                  <a:pt x="31750" y="607060"/>
                </a:moveTo>
                <a:lnTo>
                  <a:pt x="0" y="607060"/>
                </a:lnTo>
                <a:lnTo>
                  <a:pt x="38100" y="683260"/>
                </a:lnTo>
                <a:lnTo>
                  <a:pt x="69850" y="619760"/>
                </a:lnTo>
                <a:lnTo>
                  <a:pt x="31750" y="619760"/>
                </a:lnTo>
                <a:lnTo>
                  <a:pt x="31750" y="607060"/>
                </a:lnTo>
                <a:close/>
              </a:path>
              <a:path w="76200" h="683260">
                <a:moveTo>
                  <a:pt x="44450" y="0"/>
                </a:moveTo>
                <a:lnTo>
                  <a:pt x="31750" y="0"/>
                </a:lnTo>
                <a:lnTo>
                  <a:pt x="31750" y="619760"/>
                </a:lnTo>
                <a:lnTo>
                  <a:pt x="44450" y="619760"/>
                </a:lnTo>
                <a:lnTo>
                  <a:pt x="44450" y="0"/>
                </a:lnTo>
                <a:close/>
              </a:path>
              <a:path w="76200" h="683260">
                <a:moveTo>
                  <a:pt x="76200" y="607060"/>
                </a:moveTo>
                <a:lnTo>
                  <a:pt x="44450" y="607060"/>
                </a:lnTo>
                <a:lnTo>
                  <a:pt x="44450" y="619760"/>
                </a:lnTo>
                <a:lnTo>
                  <a:pt x="69850" y="619760"/>
                </a:lnTo>
                <a:lnTo>
                  <a:pt x="76200" y="60706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12509" y="3395471"/>
            <a:ext cx="2214880" cy="931544"/>
          </a:xfrm>
          <a:custGeom>
            <a:avLst/>
            <a:gdLst/>
            <a:ahLst/>
            <a:cxnLst/>
            <a:rect l="l" t="t" r="r" b="b"/>
            <a:pathLst>
              <a:path w="2214879" h="931545">
                <a:moveTo>
                  <a:pt x="1641474" y="386333"/>
                </a:moveTo>
                <a:lnTo>
                  <a:pt x="1595628" y="398398"/>
                </a:lnTo>
                <a:lnTo>
                  <a:pt x="1549018" y="409320"/>
                </a:lnTo>
                <a:lnTo>
                  <a:pt x="1501520" y="419353"/>
                </a:lnTo>
                <a:lnTo>
                  <a:pt x="1453134" y="428370"/>
                </a:lnTo>
                <a:lnTo>
                  <a:pt x="1453388" y="428370"/>
                </a:lnTo>
                <a:lnTo>
                  <a:pt x="1404112" y="436244"/>
                </a:lnTo>
                <a:lnTo>
                  <a:pt x="1354455" y="443102"/>
                </a:lnTo>
                <a:lnTo>
                  <a:pt x="1304289" y="448817"/>
                </a:lnTo>
                <a:lnTo>
                  <a:pt x="1253743" y="453389"/>
                </a:lnTo>
                <a:lnTo>
                  <a:pt x="1202943" y="456564"/>
                </a:lnTo>
                <a:lnTo>
                  <a:pt x="1152016" y="458596"/>
                </a:lnTo>
                <a:lnTo>
                  <a:pt x="1049146" y="459866"/>
                </a:lnTo>
                <a:lnTo>
                  <a:pt x="997838" y="461771"/>
                </a:lnTo>
                <a:lnTo>
                  <a:pt x="946785" y="465073"/>
                </a:lnTo>
                <a:lnTo>
                  <a:pt x="895858" y="469645"/>
                </a:lnTo>
                <a:lnTo>
                  <a:pt x="845438" y="475360"/>
                </a:lnTo>
                <a:lnTo>
                  <a:pt x="795655" y="482219"/>
                </a:lnTo>
                <a:lnTo>
                  <a:pt x="746251" y="490219"/>
                </a:lnTo>
                <a:lnTo>
                  <a:pt x="697738" y="499236"/>
                </a:lnTo>
                <a:lnTo>
                  <a:pt x="649859" y="509396"/>
                </a:lnTo>
                <a:lnTo>
                  <a:pt x="602868" y="520445"/>
                </a:lnTo>
                <a:lnTo>
                  <a:pt x="557021" y="532510"/>
                </a:lnTo>
                <a:lnTo>
                  <a:pt x="512190" y="545464"/>
                </a:lnTo>
                <a:lnTo>
                  <a:pt x="468630" y="559180"/>
                </a:lnTo>
                <a:lnTo>
                  <a:pt x="426212" y="573658"/>
                </a:lnTo>
                <a:lnTo>
                  <a:pt x="385317" y="589152"/>
                </a:lnTo>
                <a:lnTo>
                  <a:pt x="345948" y="605154"/>
                </a:lnTo>
                <a:lnTo>
                  <a:pt x="307975" y="622045"/>
                </a:lnTo>
                <a:lnTo>
                  <a:pt x="271906" y="639444"/>
                </a:lnTo>
                <a:lnTo>
                  <a:pt x="237489" y="657478"/>
                </a:lnTo>
                <a:lnTo>
                  <a:pt x="174625" y="695325"/>
                </a:lnTo>
                <a:lnTo>
                  <a:pt x="132841" y="724915"/>
                </a:lnTo>
                <a:lnTo>
                  <a:pt x="96138" y="755522"/>
                </a:lnTo>
                <a:lnTo>
                  <a:pt x="64769" y="787019"/>
                </a:lnTo>
                <a:lnTo>
                  <a:pt x="39115" y="819403"/>
                </a:lnTo>
                <a:lnTo>
                  <a:pt x="19557" y="852296"/>
                </a:lnTo>
                <a:lnTo>
                  <a:pt x="3682" y="897127"/>
                </a:lnTo>
                <a:lnTo>
                  <a:pt x="0" y="930909"/>
                </a:lnTo>
                <a:lnTo>
                  <a:pt x="12700" y="931417"/>
                </a:lnTo>
                <a:lnTo>
                  <a:pt x="13063" y="920876"/>
                </a:lnTo>
                <a:lnTo>
                  <a:pt x="13202" y="919733"/>
                </a:lnTo>
                <a:lnTo>
                  <a:pt x="14183" y="910463"/>
                </a:lnTo>
                <a:lnTo>
                  <a:pt x="14290" y="910082"/>
                </a:lnTo>
                <a:lnTo>
                  <a:pt x="16040" y="900048"/>
                </a:lnTo>
                <a:lnTo>
                  <a:pt x="18698" y="889507"/>
                </a:lnTo>
                <a:lnTo>
                  <a:pt x="22098" y="878585"/>
                </a:lnTo>
                <a:lnTo>
                  <a:pt x="26187" y="868552"/>
                </a:lnTo>
                <a:lnTo>
                  <a:pt x="30998" y="858011"/>
                </a:lnTo>
                <a:lnTo>
                  <a:pt x="36378" y="847597"/>
                </a:lnTo>
                <a:lnTo>
                  <a:pt x="42644" y="837183"/>
                </a:lnTo>
                <a:lnTo>
                  <a:pt x="49572" y="826642"/>
                </a:lnTo>
                <a:lnTo>
                  <a:pt x="57092" y="816228"/>
                </a:lnTo>
                <a:lnTo>
                  <a:pt x="65304" y="805814"/>
                </a:lnTo>
                <a:lnTo>
                  <a:pt x="74185" y="795527"/>
                </a:lnTo>
                <a:lnTo>
                  <a:pt x="83700" y="785367"/>
                </a:lnTo>
                <a:lnTo>
                  <a:pt x="93854" y="775080"/>
                </a:lnTo>
                <a:lnTo>
                  <a:pt x="104775" y="764794"/>
                </a:lnTo>
                <a:lnTo>
                  <a:pt x="116204" y="754760"/>
                </a:lnTo>
                <a:lnTo>
                  <a:pt x="128142" y="744727"/>
                </a:lnTo>
                <a:lnTo>
                  <a:pt x="140715" y="734948"/>
                </a:lnTo>
                <a:lnTo>
                  <a:pt x="153627" y="725169"/>
                </a:lnTo>
                <a:lnTo>
                  <a:pt x="181737" y="705738"/>
                </a:lnTo>
                <a:lnTo>
                  <a:pt x="181886" y="705738"/>
                </a:lnTo>
                <a:lnTo>
                  <a:pt x="211709" y="686942"/>
                </a:lnTo>
                <a:lnTo>
                  <a:pt x="243492" y="668654"/>
                </a:lnTo>
                <a:lnTo>
                  <a:pt x="277505" y="650875"/>
                </a:lnTo>
                <a:lnTo>
                  <a:pt x="313436" y="633476"/>
                </a:lnTo>
                <a:lnTo>
                  <a:pt x="313594" y="633476"/>
                </a:lnTo>
                <a:lnTo>
                  <a:pt x="351027" y="616838"/>
                </a:lnTo>
                <a:lnTo>
                  <a:pt x="390016" y="600963"/>
                </a:lnTo>
                <a:lnTo>
                  <a:pt x="430657" y="585596"/>
                </a:lnTo>
                <a:lnTo>
                  <a:pt x="472693" y="571245"/>
                </a:lnTo>
                <a:lnTo>
                  <a:pt x="516000" y="557529"/>
                </a:lnTo>
                <a:lnTo>
                  <a:pt x="516185" y="557529"/>
                </a:lnTo>
                <a:lnTo>
                  <a:pt x="560450" y="544702"/>
                </a:lnTo>
                <a:lnTo>
                  <a:pt x="560805" y="544702"/>
                </a:lnTo>
                <a:lnTo>
                  <a:pt x="606043" y="532764"/>
                </a:lnTo>
                <a:lnTo>
                  <a:pt x="652653" y="521715"/>
                </a:lnTo>
                <a:lnTo>
                  <a:pt x="653122" y="521715"/>
                </a:lnTo>
                <a:lnTo>
                  <a:pt x="700278" y="511682"/>
                </a:lnTo>
                <a:lnTo>
                  <a:pt x="700023" y="511682"/>
                </a:lnTo>
                <a:lnTo>
                  <a:pt x="748538" y="502792"/>
                </a:lnTo>
                <a:lnTo>
                  <a:pt x="797560" y="494791"/>
                </a:lnTo>
                <a:lnTo>
                  <a:pt x="847089" y="487933"/>
                </a:lnTo>
                <a:lnTo>
                  <a:pt x="897255" y="482219"/>
                </a:lnTo>
                <a:lnTo>
                  <a:pt x="898535" y="482219"/>
                </a:lnTo>
                <a:lnTo>
                  <a:pt x="947800" y="477773"/>
                </a:lnTo>
                <a:lnTo>
                  <a:pt x="998600" y="474471"/>
                </a:lnTo>
                <a:lnTo>
                  <a:pt x="1049528" y="472439"/>
                </a:lnTo>
                <a:lnTo>
                  <a:pt x="1057952" y="472439"/>
                </a:lnTo>
                <a:lnTo>
                  <a:pt x="1152397" y="471296"/>
                </a:lnTo>
                <a:lnTo>
                  <a:pt x="1203706" y="469264"/>
                </a:lnTo>
                <a:lnTo>
                  <a:pt x="1254760" y="465963"/>
                </a:lnTo>
                <a:lnTo>
                  <a:pt x="1305687" y="461390"/>
                </a:lnTo>
                <a:lnTo>
                  <a:pt x="1356106" y="455675"/>
                </a:lnTo>
                <a:lnTo>
                  <a:pt x="1406016" y="448817"/>
                </a:lnTo>
                <a:lnTo>
                  <a:pt x="1455419" y="440944"/>
                </a:lnTo>
                <a:lnTo>
                  <a:pt x="1504061" y="431800"/>
                </a:lnTo>
                <a:lnTo>
                  <a:pt x="1551813" y="421639"/>
                </a:lnTo>
                <a:lnTo>
                  <a:pt x="1598803" y="410717"/>
                </a:lnTo>
                <a:lnTo>
                  <a:pt x="1644649" y="398652"/>
                </a:lnTo>
                <a:lnTo>
                  <a:pt x="1686843" y="386460"/>
                </a:lnTo>
                <a:lnTo>
                  <a:pt x="1641220" y="386460"/>
                </a:lnTo>
                <a:lnTo>
                  <a:pt x="1641474" y="386333"/>
                </a:lnTo>
                <a:close/>
              </a:path>
              <a:path w="2214879" h="931545">
                <a:moveTo>
                  <a:pt x="13134" y="920369"/>
                </a:moveTo>
                <a:lnTo>
                  <a:pt x="13080" y="920876"/>
                </a:lnTo>
                <a:lnTo>
                  <a:pt x="13134" y="920369"/>
                </a:lnTo>
                <a:close/>
              </a:path>
              <a:path w="2214879" h="931545">
                <a:moveTo>
                  <a:pt x="14290" y="910082"/>
                </a:moveTo>
                <a:lnTo>
                  <a:pt x="14224" y="910463"/>
                </a:lnTo>
                <a:lnTo>
                  <a:pt x="14290" y="910082"/>
                </a:lnTo>
                <a:close/>
              </a:path>
              <a:path w="2214879" h="931545">
                <a:moveTo>
                  <a:pt x="16122" y="899577"/>
                </a:moveTo>
                <a:lnTo>
                  <a:pt x="16001" y="900048"/>
                </a:lnTo>
                <a:lnTo>
                  <a:pt x="16122" y="899577"/>
                </a:lnTo>
                <a:close/>
              </a:path>
              <a:path w="2214879" h="931545">
                <a:moveTo>
                  <a:pt x="18795" y="889126"/>
                </a:moveTo>
                <a:lnTo>
                  <a:pt x="18668" y="889507"/>
                </a:lnTo>
                <a:lnTo>
                  <a:pt x="18795" y="889126"/>
                </a:lnTo>
                <a:close/>
              </a:path>
              <a:path w="2214879" h="931545">
                <a:moveTo>
                  <a:pt x="22174" y="878585"/>
                </a:moveTo>
                <a:lnTo>
                  <a:pt x="21970" y="879094"/>
                </a:lnTo>
                <a:lnTo>
                  <a:pt x="22174" y="878585"/>
                </a:lnTo>
                <a:close/>
              </a:path>
              <a:path w="2214879" h="931545">
                <a:moveTo>
                  <a:pt x="26288" y="868298"/>
                </a:moveTo>
                <a:lnTo>
                  <a:pt x="26162" y="868552"/>
                </a:lnTo>
                <a:lnTo>
                  <a:pt x="26288" y="868298"/>
                </a:lnTo>
                <a:close/>
              </a:path>
              <a:path w="2214879" h="931545">
                <a:moveTo>
                  <a:pt x="36575" y="847216"/>
                </a:moveTo>
                <a:lnTo>
                  <a:pt x="36322" y="847597"/>
                </a:lnTo>
                <a:lnTo>
                  <a:pt x="36575" y="847216"/>
                </a:lnTo>
                <a:close/>
              </a:path>
              <a:path w="2214879" h="931545">
                <a:moveTo>
                  <a:pt x="42799" y="836929"/>
                </a:moveTo>
                <a:lnTo>
                  <a:pt x="42544" y="837183"/>
                </a:lnTo>
                <a:lnTo>
                  <a:pt x="42799" y="836929"/>
                </a:lnTo>
                <a:close/>
              </a:path>
              <a:path w="2214879" h="931545">
                <a:moveTo>
                  <a:pt x="49656" y="826515"/>
                </a:moveTo>
                <a:close/>
              </a:path>
              <a:path w="2214879" h="931545">
                <a:moveTo>
                  <a:pt x="57276" y="815975"/>
                </a:moveTo>
                <a:lnTo>
                  <a:pt x="57023" y="816228"/>
                </a:lnTo>
                <a:lnTo>
                  <a:pt x="57276" y="815975"/>
                </a:lnTo>
                <a:close/>
              </a:path>
              <a:path w="2214879" h="931545">
                <a:moveTo>
                  <a:pt x="65404" y="805688"/>
                </a:moveTo>
                <a:close/>
              </a:path>
              <a:path w="2214879" h="931545">
                <a:moveTo>
                  <a:pt x="116228" y="754760"/>
                </a:moveTo>
                <a:lnTo>
                  <a:pt x="116077" y="754888"/>
                </a:lnTo>
                <a:lnTo>
                  <a:pt x="116228" y="754760"/>
                </a:lnTo>
                <a:close/>
              </a:path>
              <a:path w="2214879" h="931545">
                <a:moveTo>
                  <a:pt x="128178" y="744727"/>
                </a:moveTo>
                <a:lnTo>
                  <a:pt x="128015" y="744854"/>
                </a:lnTo>
                <a:lnTo>
                  <a:pt x="128178" y="744727"/>
                </a:lnTo>
                <a:close/>
              </a:path>
              <a:path w="2214879" h="931545">
                <a:moveTo>
                  <a:pt x="153797" y="725042"/>
                </a:moveTo>
                <a:lnTo>
                  <a:pt x="153542" y="725169"/>
                </a:lnTo>
                <a:lnTo>
                  <a:pt x="153797" y="725042"/>
                </a:lnTo>
                <a:close/>
              </a:path>
              <a:path w="2214879" h="931545">
                <a:moveTo>
                  <a:pt x="181886" y="705738"/>
                </a:moveTo>
                <a:lnTo>
                  <a:pt x="181737" y="705738"/>
                </a:lnTo>
                <a:lnTo>
                  <a:pt x="181482" y="705992"/>
                </a:lnTo>
                <a:lnTo>
                  <a:pt x="181886" y="705738"/>
                </a:lnTo>
                <a:close/>
              </a:path>
              <a:path w="2214879" h="931545">
                <a:moveTo>
                  <a:pt x="211802" y="686942"/>
                </a:moveTo>
                <a:lnTo>
                  <a:pt x="211581" y="687069"/>
                </a:lnTo>
                <a:lnTo>
                  <a:pt x="211802" y="686942"/>
                </a:lnTo>
                <a:close/>
              </a:path>
              <a:path w="2214879" h="931545">
                <a:moveTo>
                  <a:pt x="243712" y="668527"/>
                </a:moveTo>
                <a:lnTo>
                  <a:pt x="243459" y="668654"/>
                </a:lnTo>
                <a:lnTo>
                  <a:pt x="243712" y="668527"/>
                </a:lnTo>
                <a:close/>
              </a:path>
              <a:path w="2214879" h="931545">
                <a:moveTo>
                  <a:pt x="313594" y="633476"/>
                </a:moveTo>
                <a:lnTo>
                  <a:pt x="313436" y="633476"/>
                </a:lnTo>
                <a:lnTo>
                  <a:pt x="313594" y="633476"/>
                </a:lnTo>
                <a:close/>
              </a:path>
              <a:path w="2214879" h="931545">
                <a:moveTo>
                  <a:pt x="351085" y="616838"/>
                </a:moveTo>
                <a:lnTo>
                  <a:pt x="350774" y="616965"/>
                </a:lnTo>
                <a:lnTo>
                  <a:pt x="351085" y="616838"/>
                </a:lnTo>
                <a:close/>
              </a:path>
              <a:path w="2214879" h="931545">
                <a:moveTo>
                  <a:pt x="430773" y="585596"/>
                </a:moveTo>
                <a:lnTo>
                  <a:pt x="430403" y="585723"/>
                </a:lnTo>
                <a:lnTo>
                  <a:pt x="430773" y="585596"/>
                </a:lnTo>
                <a:close/>
              </a:path>
              <a:path w="2214879" h="931545">
                <a:moveTo>
                  <a:pt x="516185" y="557529"/>
                </a:moveTo>
                <a:lnTo>
                  <a:pt x="516000" y="557529"/>
                </a:lnTo>
                <a:lnTo>
                  <a:pt x="515746" y="557657"/>
                </a:lnTo>
                <a:lnTo>
                  <a:pt x="516185" y="557529"/>
                </a:lnTo>
                <a:close/>
              </a:path>
              <a:path w="2214879" h="931545">
                <a:moveTo>
                  <a:pt x="560805" y="544702"/>
                </a:moveTo>
                <a:lnTo>
                  <a:pt x="560450" y="544702"/>
                </a:lnTo>
                <a:lnTo>
                  <a:pt x="560805" y="544702"/>
                </a:lnTo>
                <a:close/>
              </a:path>
              <a:path w="2214879" h="931545">
                <a:moveTo>
                  <a:pt x="653122" y="521715"/>
                </a:moveTo>
                <a:lnTo>
                  <a:pt x="652653" y="521715"/>
                </a:lnTo>
                <a:lnTo>
                  <a:pt x="652525" y="521842"/>
                </a:lnTo>
                <a:lnTo>
                  <a:pt x="653122" y="521715"/>
                </a:lnTo>
                <a:close/>
              </a:path>
              <a:path w="2214879" h="931545">
                <a:moveTo>
                  <a:pt x="898535" y="482219"/>
                </a:moveTo>
                <a:lnTo>
                  <a:pt x="897255" y="482219"/>
                </a:lnTo>
                <a:lnTo>
                  <a:pt x="898535" y="482219"/>
                </a:lnTo>
                <a:close/>
              </a:path>
              <a:path w="2214879" h="931545">
                <a:moveTo>
                  <a:pt x="1057952" y="472439"/>
                </a:moveTo>
                <a:lnTo>
                  <a:pt x="1049528" y="472439"/>
                </a:lnTo>
                <a:lnTo>
                  <a:pt x="1049400" y="472566"/>
                </a:lnTo>
                <a:lnTo>
                  <a:pt x="1057952" y="472439"/>
                </a:lnTo>
                <a:close/>
              </a:path>
              <a:path w="2214879" h="931545">
                <a:moveTo>
                  <a:pt x="1685924" y="373506"/>
                </a:moveTo>
                <a:lnTo>
                  <a:pt x="1641220" y="386460"/>
                </a:lnTo>
                <a:lnTo>
                  <a:pt x="1686843" y="386460"/>
                </a:lnTo>
                <a:lnTo>
                  <a:pt x="1689481" y="385698"/>
                </a:lnTo>
                <a:lnTo>
                  <a:pt x="1727910" y="373633"/>
                </a:lnTo>
                <a:lnTo>
                  <a:pt x="1685797" y="373633"/>
                </a:lnTo>
                <a:close/>
              </a:path>
              <a:path w="2214879" h="931545">
                <a:moveTo>
                  <a:pt x="1771268" y="345313"/>
                </a:moveTo>
                <a:lnTo>
                  <a:pt x="1729105" y="359917"/>
                </a:lnTo>
                <a:lnTo>
                  <a:pt x="1685797" y="373633"/>
                </a:lnTo>
                <a:lnTo>
                  <a:pt x="1727910" y="373633"/>
                </a:lnTo>
                <a:lnTo>
                  <a:pt x="1733168" y="371982"/>
                </a:lnTo>
                <a:lnTo>
                  <a:pt x="1775460" y="357377"/>
                </a:lnTo>
                <a:lnTo>
                  <a:pt x="1807228" y="345439"/>
                </a:lnTo>
                <a:lnTo>
                  <a:pt x="1771141" y="345439"/>
                </a:lnTo>
                <a:close/>
              </a:path>
              <a:path w="2214879" h="931545">
                <a:moveTo>
                  <a:pt x="1924176" y="280288"/>
                </a:moveTo>
                <a:lnTo>
                  <a:pt x="1888236" y="297688"/>
                </a:lnTo>
                <a:lnTo>
                  <a:pt x="1850770" y="314197"/>
                </a:lnTo>
                <a:lnTo>
                  <a:pt x="1811655" y="330200"/>
                </a:lnTo>
                <a:lnTo>
                  <a:pt x="1811909" y="330200"/>
                </a:lnTo>
                <a:lnTo>
                  <a:pt x="1771141" y="345439"/>
                </a:lnTo>
                <a:lnTo>
                  <a:pt x="1807228" y="345439"/>
                </a:lnTo>
                <a:lnTo>
                  <a:pt x="1855850" y="325881"/>
                </a:lnTo>
                <a:lnTo>
                  <a:pt x="1893696" y="309117"/>
                </a:lnTo>
                <a:lnTo>
                  <a:pt x="1929764" y="291719"/>
                </a:lnTo>
                <a:lnTo>
                  <a:pt x="1951336" y="280415"/>
                </a:lnTo>
                <a:lnTo>
                  <a:pt x="1924049" y="280415"/>
                </a:lnTo>
                <a:close/>
              </a:path>
              <a:path w="2214879" h="931545">
                <a:moveTo>
                  <a:pt x="1888489" y="297560"/>
                </a:moveTo>
                <a:lnTo>
                  <a:pt x="1888202" y="297688"/>
                </a:lnTo>
                <a:lnTo>
                  <a:pt x="1888489" y="297560"/>
                </a:lnTo>
                <a:close/>
              </a:path>
              <a:path w="2214879" h="931545">
                <a:moveTo>
                  <a:pt x="1983778" y="262508"/>
                </a:moveTo>
                <a:lnTo>
                  <a:pt x="1958213" y="262508"/>
                </a:lnTo>
                <a:lnTo>
                  <a:pt x="1924049" y="280415"/>
                </a:lnTo>
                <a:lnTo>
                  <a:pt x="1951336" y="280415"/>
                </a:lnTo>
                <a:lnTo>
                  <a:pt x="1964182" y="273684"/>
                </a:lnTo>
                <a:lnTo>
                  <a:pt x="1983778" y="262508"/>
                </a:lnTo>
                <a:close/>
              </a:path>
              <a:path w="2214879" h="931545">
                <a:moveTo>
                  <a:pt x="2014255" y="244094"/>
                </a:moveTo>
                <a:lnTo>
                  <a:pt x="1990216" y="244094"/>
                </a:lnTo>
                <a:lnTo>
                  <a:pt x="1957959" y="262635"/>
                </a:lnTo>
                <a:lnTo>
                  <a:pt x="1958213" y="262508"/>
                </a:lnTo>
                <a:lnTo>
                  <a:pt x="1983778" y="262508"/>
                </a:lnTo>
                <a:lnTo>
                  <a:pt x="1996693" y="255142"/>
                </a:lnTo>
                <a:lnTo>
                  <a:pt x="2014255" y="244094"/>
                </a:lnTo>
                <a:close/>
              </a:path>
              <a:path w="2214879" h="931545">
                <a:moveTo>
                  <a:pt x="2020315" y="225170"/>
                </a:moveTo>
                <a:lnTo>
                  <a:pt x="1989963" y="244220"/>
                </a:lnTo>
                <a:lnTo>
                  <a:pt x="1990216" y="244094"/>
                </a:lnTo>
                <a:lnTo>
                  <a:pt x="2014255" y="244094"/>
                </a:lnTo>
                <a:lnTo>
                  <a:pt x="2027173" y="235965"/>
                </a:lnTo>
                <a:lnTo>
                  <a:pt x="2042339" y="225425"/>
                </a:lnTo>
                <a:lnTo>
                  <a:pt x="2020062" y="225425"/>
                </a:lnTo>
                <a:lnTo>
                  <a:pt x="2020315" y="225170"/>
                </a:lnTo>
                <a:close/>
              </a:path>
              <a:path w="2214879" h="931545">
                <a:moveTo>
                  <a:pt x="2104938" y="176275"/>
                </a:moveTo>
                <a:lnTo>
                  <a:pt x="2085847" y="176275"/>
                </a:lnTo>
                <a:lnTo>
                  <a:pt x="2073656" y="186308"/>
                </a:lnTo>
                <a:lnTo>
                  <a:pt x="2061083" y="196341"/>
                </a:lnTo>
                <a:lnTo>
                  <a:pt x="2048001" y="206120"/>
                </a:lnTo>
                <a:lnTo>
                  <a:pt x="2020062" y="225425"/>
                </a:lnTo>
                <a:lnTo>
                  <a:pt x="2042339" y="225425"/>
                </a:lnTo>
                <a:lnTo>
                  <a:pt x="2055494" y="216280"/>
                </a:lnTo>
                <a:lnTo>
                  <a:pt x="2068830" y="206248"/>
                </a:lnTo>
                <a:lnTo>
                  <a:pt x="2081657" y="196214"/>
                </a:lnTo>
                <a:lnTo>
                  <a:pt x="2093975" y="185927"/>
                </a:lnTo>
                <a:lnTo>
                  <a:pt x="2104938" y="176275"/>
                </a:lnTo>
                <a:close/>
              </a:path>
              <a:path w="2214879" h="931545">
                <a:moveTo>
                  <a:pt x="2048129" y="205993"/>
                </a:moveTo>
                <a:lnTo>
                  <a:pt x="2047945" y="206120"/>
                </a:lnTo>
                <a:lnTo>
                  <a:pt x="2048129" y="205993"/>
                </a:lnTo>
                <a:close/>
              </a:path>
              <a:path w="2214879" h="931545">
                <a:moveTo>
                  <a:pt x="2061210" y="196214"/>
                </a:moveTo>
                <a:lnTo>
                  <a:pt x="2061040" y="196341"/>
                </a:lnTo>
                <a:lnTo>
                  <a:pt x="2061210" y="196214"/>
                </a:lnTo>
                <a:close/>
              </a:path>
              <a:path w="2214879" h="931545">
                <a:moveTo>
                  <a:pt x="2125742" y="156082"/>
                </a:moveTo>
                <a:lnTo>
                  <a:pt x="2107818" y="156082"/>
                </a:lnTo>
                <a:lnTo>
                  <a:pt x="2097023" y="166369"/>
                </a:lnTo>
                <a:lnTo>
                  <a:pt x="2085593" y="176402"/>
                </a:lnTo>
                <a:lnTo>
                  <a:pt x="2085847" y="176275"/>
                </a:lnTo>
                <a:lnTo>
                  <a:pt x="2104938" y="176275"/>
                </a:lnTo>
                <a:lnTo>
                  <a:pt x="2105660" y="175640"/>
                </a:lnTo>
                <a:lnTo>
                  <a:pt x="2116709" y="165226"/>
                </a:lnTo>
                <a:lnTo>
                  <a:pt x="2125742" y="156082"/>
                </a:lnTo>
                <a:close/>
              </a:path>
              <a:path w="2214879" h="931545">
                <a:moveTo>
                  <a:pt x="2135370" y="145795"/>
                </a:moveTo>
                <a:lnTo>
                  <a:pt x="2117979" y="145795"/>
                </a:lnTo>
                <a:lnTo>
                  <a:pt x="2107792" y="156108"/>
                </a:lnTo>
                <a:lnTo>
                  <a:pt x="2125742" y="156082"/>
                </a:lnTo>
                <a:lnTo>
                  <a:pt x="2127122" y="154686"/>
                </a:lnTo>
                <a:lnTo>
                  <a:pt x="2135370" y="145795"/>
                </a:lnTo>
                <a:close/>
              </a:path>
              <a:path w="2214879" h="931545">
                <a:moveTo>
                  <a:pt x="2144296" y="135636"/>
                </a:moveTo>
                <a:lnTo>
                  <a:pt x="2127631" y="135636"/>
                </a:lnTo>
                <a:lnTo>
                  <a:pt x="2117851" y="145923"/>
                </a:lnTo>
                <a:lnTo>
                  <a:pt x="2117979" y="145795"/>
                </a:lnTo>
                <a:lnTo>
                  <a:pt x="2135370" y="145795"/>
                </a:lnTo>
                <a:lnTo>
                  <a:pt x="2136901" y="144144"/>
                </a:lnTo>
                <a:lnTo>
                  <a:pt x="2144296" y="135636"/>
                </a:lnTo>
                <a:close/>
              </a:path>
              <a:path w="2214879" h="931545">
                <a:moveTo>
                  <a:pt x="2152579" y="125349"/>
                </a:moveTo>
                <a:lnTo>
                  <a:pt x="2136520" y="125349"/>
                </a:lnTo>
                <a:lnTo>
                  <a:pt x="2127376" y="135762"/>
                </a:lnTo>
                <a:lnTo>
                  <a:pt x="2127631" y="135636"/>
                </a:lnTo>
                <a:lnTo>
                  <a:pt x="2144296" y="135636"/>
                </a:lnTo>
                <a:lnTo>
                  <a:pt x="2146172" y="133476"/>
                </a:lnTo>
                <a:lnTo>
                  <a:pt x="2152579" y="125349"/>
                </a:lnTo>
                <a:close/>
              </a:path>
              <a:path w="2214879" h="931545">
                <a:moveTo>
                  <a:pt x="2167410" y="104520"/>
                </a:moveTo>
                <a:lnTo>
                  <a:pt x="2152268" y="104520"/>
                </a:lnTo>
                <a:lnTo>
                  <a:pt x="2144521" y="115188"/>
                </a:lnTo>
                <a:lnTo>
                  <a:pt x="2136266" y="125475"/>
                </a:lnTo>
                <a:lnTo>
                  <a:pt x="2136520" y="125349"/>
                </a:lnTo>
                <a:lnTo>
                  <a:pt x="2152579" y="125349"/>
                </a:lnTo>
                <a:lnTo>
                  <a:pt x="2154682" y="122681"/>
                </a:lnTo>
                <a:lnTo>
                  <a:pt x="2162556" y="111760"/>
                </a:lnTo>
                <a:lnTo>
                  <a:pt x="2167410" y="104520"/>
                </a:lnTo>
                <a:close/>
              </a:path>
              <a:path w="2214879" h="931545">
                <a:moveTo>
                  <a:pt x="2144648" y="114935"/>
                </a:moveTo>
                <a:lnTo>
                  <a:pt x="2144447" y="115188"/>
                </a:lnTo>
                <a:lnTo>
                  <a:pt x="2144648" y="114935"/>
                </a:lnTo>
                <a:close/>
              </a:path>
              <a:path w="2214879" h="931545">
                <a:moveTo>
                  <a:pt x="2170471" y="73807"/>
                </a:moveTo>
                <a:lnTo>
                  <a:pt x="2165222" y="83947"/>
                </a:lnTo>
                <a:lnTo>
                  <a:pt x="2158999" y="94233"/>
                </a:lnTo>
                <a:lnTo>
                  <a:pt x="2152141" y="104648"/>
                </a:lnTo>
                <a:lnTo>
                  <a:pt x="2152268" y="104520"/>
                </a:lnTo>
                <a:lnTo>
                  <a:pt x="2167410" y="104520"/>
                </a:lnTo>
                <a:lnTo>
                  <a:pt x="2169794" y="100964"/>
                </a:lnTo>
                <a:lnTo>
                  <a:pt x="2176398" y="89915"/>
                </a:lnTo>
                <a:lnTo>
                  <a:pt x="2182367" y="78486"/>
                </a:lnTo>
                <a:lnTo>
                  <a:pt x="2183205" y="75466"/>
                </a:lnTo>
                <a:lnTo>
                  <a:pt x="2178915" y="74422"/>
                </a:lnTo>
                <a:lnTo>
                  <a:pt x="2170303" y="74422"/>
                </a:lnTo>
                <a:lnTo>
                  <a:pt x="2170471" y="73807"/>
                </a:lnTo>
                <a:close/>
              </a:path>
              <a:path w="2214879" h="931545">
                <a:moveTo>
                  <a:pt x="2159126" y="93979"/>
                </a:moveTo>
                <a:lnTo>
                  <a:pt x="2158960" y="94233"/>
                </a:lnTo>
                <a:lnTo>
                  <a:pt x="2159126" y="93979"/>
                </a:lnTo>
                <a:close/>
              </a:path>
              <a:path w="2214879" h="931545">
                <a:moveTo>
                  <a:pt x="2165349" y="83565"/>
                </a:moveTo>
                <a:lnTo>
                  <a:pt x="2165123" y="83947"/>
                </a:lnTo>
                <a:lnTo>
                  <a:pt x="2165349" y="83565"/>
                </a:lnTo>
                <a:close/>
              </a:path>
              <a:path w="2214879" h="931545">
                <a:moveTo>
                  <a:pt x="2209099" y="60070"/>
                </a:moveTo>
                <a:lnTo>
                  <a:pt x="2174240" y="60070"/>
                </a:lnTo>
                <a:lnTo>
                  <a:pt x="2186559" y="63373"/>
                </a:lnTo>
                <a:lnTo>
                  <a:pt x="2183205" y="75466"/>
                </a:lnTo>
                <a:lnTo>
                  <a:pt x="2214371" y="83057"/>
                </a:lnTo>
                <a:lnTo>
                  <a:pt x="2209099" y="60070"/>
                </a:lnTo>
                <a:close/>
              </a:path>
              <a:path w="2214879" h="931545">
                <a:moveTo>
                  <a:pt x="2174240" y="60070"/>
                </a:moveTo>
                <a:lnTo>
                  <a:pt x="2170842" y="72455"/>
                </a:lnTo>
                <a:lnTo>
                  <a:pt x="2183205" y="75466"/>
                </a:lnTo>
                <a:lnTo>
                  <a:pt x="2186559" y="63373"/>
                </a:lnTo>
                <a:lnTo>
                  <a:pt x="2174240" y="60070"/>
                </a:lnTo>
                <a:close/>
              </a:path>
              <a:path w="2214879" h="931545">
                <a:moveTo>
                  <a:pt x="2170811" y="73151"/>
                </a:moveTo>
                <a:lnTo>
                  <a:pt x="2170471" y="73807"/>
                </a:lnTo>
                <a:lnTo>
                  <a:pt x="2170303" y="74422"/>
                </a:lnTo>
                <a:lnTo>
                  <a:pt x="2170811" y="73151"/>
                </a:lnTo>
                <a:close/>
              </a:path>
              <a:path w="2214879" h="931545">
                <a:moveTo>
                  <a:pt x="2173701" y="73151"/>
                </a:moveTo>
                <a:lnTo>
                  <a:pt x="2170811" y="73151"/>
                </a:lnTo>
                <a:lnTo>
                  <a:pt x="2170303" y="74422"/>
                </a:lnTo>
                <a:lnTo>
                  <a:pt x="2178915" y="74422"/>
                </a:lnTo>
                <a:lnTo>
                  <a:pt x="2173701" y="73151"/>
                </a:lnTo>
                <a:close/>
              </a:path>
              <a:path w="2214879" h="931545">
                <a:moveTo>
                  <a:pt x="2170842" y="72455"/>
                </a:moveTo>
                <a:lnTo>
                  <a:pt x="2170471" y="73807"/>
                </a:lnTo>
                <a:lnTo>
                  <a:pt x="2170811" y="73151"/>
                </a:lnTo>
                <a:lnTo>
                  <a:pt x="2173701" y="73151"/>
                </a:lnTo>
                <a:lnTo>
                  <a:pt x="2170842" y="72455"/>
                </a:lnTo>
                <a:close/>
              </a:path>
              <a:path w="2214879" h="931545">
                <a:moveTo>
                  <a:pt x="2195321" y="0"/>
                </a:moveTo>
                <a:lnTo>
                  <a:pt x="2140331" y="65024"/>
                </a:lnTo>
                <a:lnTo>
                  <a:pt x="2170842" y="72455"/>
                </a:lnTo>
                <a:lnTo>
                  <a:pt x="2174240" y="60070"/>
                </a:lnTo>
                <a:lnTo>
                  <a:pt x="2209099" y="60070"/>
                </a:lnTo>
                <a:lnTo>
                  <a:pt x="2195321" y="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43145" y="1797303"/>
            <a:ext cx="5047615" cy="1398905"/>
          </a:xfrm>
          <a:custGeom>
            <a:avLst/>
            <a:gdLst/>
            <a:ahLst/>
            <a:cxnLst/>
            <a:rect l="l" t="t" r="r" b="b"/>
            <a:pathLst>
              <a:path w="5047615" h="1398905">
                <a:moveTo>
                  <a:pt x="2780919" y="1371600"/>
                </a:moveTo>
                <a:lnTo>
                  <a:pt x="2762059" y="1358900"/>
                </a:lnTo>
                <a:lnTo>
                  <a:pt x="2705481" y="1320800"/>
                </a:lnTo>
                <a:lnTo>
                  <a:pt x="2704782" y="1358900"/>
                </a:lnTo>
                <a:lnTo>
                  <a:pt x="2651252" y="1358900"/>
                </a:lnTo>
                <a:lnTo>
                  <a:pt x="2586482" y="1346200"/>
                </a:lnTo>
                <a:lnTo>
                  <a:pt x="2522474" y="1346200"/>
                </a:lnTo>
                <a:lnTo>
                  <a:pt x="2458593" y="1333500"/>
                </a:lnTo>
                <a:lnTo>
                  <a:pt x="2458720" y="1333500"/>
                </a:lnTo>
                <a:lnTo>
                  <a:pt x="2395474" y="1320800"/>
                </a:lnTo>
                <a:lnTo>
                  <a:pt x="2333371" y="1320800"/>
                </a:lnTo>
                <a:lnTo>
                  <a:pt x="2271903" y="1308100"/>
                </a:lnTo>
                <a:lnTo>
                  <a:pt x="2272030" y="1308100"/>
                </a:lnTo>
                <a:lnTo>
                  <a:pt x="2211451" y="1282700"/>
                </a:lnTo>
                <a:lnTo>
                  <a:pt x="2211578" y="1282700"/>
                </a:lnTo>
                <a:lnTo>
                  <a:pt x="2152142" y="1270000"/>
                </a:lnTo>
                <a:lnTo>
                  <a:pt x="2152269" y="1270000"/>
                </a:lnTo>
                <a:lnTo>
                  <a:pt x="2094230" y="1257300"/>
                </a:lnTo>
                <a:lnTo>
                  <a:pt x="2094357" y="1257300"/>
                </a:lnTo>
                <a:lnTo>
                  <a:pt x="2037588" y="1231900"/>
                </a:lnTo>
                <a:lnTo>
                  <a:pt x="2037842" y="1231900"/>
                </a:lnTo>
                <a:lnTo>
                  <a:pt x="1982597" y="1219200"/>
                </a:lnTo>
                <a:lnTo>
                  <a:pt x="1982724" y="1219200"/>
                </a:lnTo>
                <a:lnTo>
                  <a:pt x="1929257" y="1193800"/>
                </a:lnTo>
                <a:lnTo>
                  <a:pt x="1929384" y="1193800"/>
                </a:lnTo>
                <a:lnTo>
                  <a:pt x="1877568" y="1168400"/>
                </a:lnTo>
                <a:lnTo>
                  <a:pt x="1877695" y="1168400"/>
                </a:lnTo>
                <a:lnTo>
                  <a:pt x="1827911" y="1143000"/>
                </a:lnTo>
                <a:lnTo>
                  <a:pt x="1828038" y="1143000"/>
                </a:lnTo>
                <a:lnTo>
                  <a:pt x="1780159" y="1117600"/>
                </a:lnTo>
                <a:lnTo>
                  <a:pt x="1780286" y="1117600"/>
                </a:lnTo>
                <a:lnTo>
                  <a:pt x="1757299" y="1104900"/>
                </a:lnTo>
                <a:lnTo>
                  <a:pt x="1757426" y="1104900"/>
                </a:lnTo>
                <a:lnTo>
                  <a:pt x="1734820" y="1092200"/>
                </a:lnTo>
                <a:lnTo>
                  <a:pt x="1734947" y="1092200"/>
                </a:lnTo>
                <a:lnTo>
                  <a:pt x="1712976" y="1079500"/>
                </a:lnTo>
                <a:lnTo>
                  <a:pt x="1691627" y="1066800"/>
                </a:lnTo>
                <a:lnTo>
                  <a:pt x="1670926" y="1054100"/>
                </a:lnTo>
                <a:lnTo>
                  <a:pt x="1671053" y="1054100"/>
                </a:lnTo>
                <a:lnTo>
                  <a:pt x="1650873" y="1041400"/>
                </a:lnTo>
                <a:lnTo>
                  <a:pt x="1651000" y="1041400"/>
                </a:lnTo>
                <a:lnTo>
                  <a:pt x="1631442" y="1028700"/>
                </a:lnTo>
                <a:lnTo>
                  <a:pt x="1631569" y="1028700"/>
                </a:lnTo>
                <a:lnTo>
                  <a:pt x="1612646" y="1016000"/>
                </a:lnTo>
                <a:lnTo>
                  <a:pt x="1612773" y="1016000"/>
                </a:lnTo>
                <a:lnTo>
                  <a:pt x="1594612" y="1003300"/>
                </a:lnTo>
                <a:lnTo>
                  <a:pt x="1594739" y="1003300"/>
                </a:lnTo>
                <a:lnTo>
                  <a:pt x="1577213" y="990600"/>
                </a:lnTo>
                <a:lnTo>
                  <a:pt x="1577340" y="990600"/>
                </a:lnTo>
                <a:lnTo>
                  <a:pt x="1560449" y="977900"/>
                </a:lnTo>
                <a:lnTo>
                  <a:pt x="1560576" y="977900"/>
                </a:lnTo>
                <a:lnTo>
                  <a:pt x="1544447" y="965200"/>
                </a:lnTo>
                <a:lnTo>
                  <a:pt x="1544574" y="965200"/>
                </a:lnTo>
                <a:lnTo>
                  <a:pt x="1529207" y="939800"/>
                </a:lnTo>
                <a:lnTo>
                  <a:pt x="1529334" y="939800"/>
                </a:lnTo>
                <a:lnTo>
                  <a:pt x="1514602" y="927100"/>
                </a:lnTo>
                <a:lnTo>
                  <a:pt x="1514856" y="927100"/>
                </a:lnTo>
                <a:lnTo>
                  <a:pt x="1501013" y="914400"/>
                </a:lnTo>
                <a:lnTo>
                  <a:pt x="1501140" y="914400"/>
                </a:lnTo>
                <a:lnTo>
                  <a:pt x="1487932" y="901700"/>
                </a:lnTo>
                <a:lnTo>
                  <a:pt x="1488186" y="901700"/>
                </a:lnTo>
                <a:lnTo>
                  <a:pt x="1475867" y="889000"/>
                </a:lnTo>
                <a:lnTo>
                  <a:pt x="1475994" y="889000"/>
                </a:lnTo>
                <a:lnTo>
                  <a:pt x="1464564" y="876300"/>
                </a:lnTo>
                <a:lnTo>
                  <a:pt x="1464691" y="876300"/>
                </a:lnTo>
                <a:lnTo>
                  <a:pt x="1454023" y="850900"/>
                </a:lnTo>
                <a:lnTo>
                  <a:pt x="1454150" y="850900"/>
                </a:lnTo>
                <a:lnTo>
                  <a:pt x="1444371" y="838200"/>
                </a:lnTo>
                <a:lnTo>
                  <a:pt x="1444498" y="838200"/>
                </a:lnTo>
                <a:lnTo>
                  <a:pt x="1435481" y="825500"/>
                </a:lnTo>
                <a:lnTo>
                  <a:pt x="1435608" y="825500"/>
                </a:lnTo>
                <a:lnTo>
                  <a:pt x="1427607" y="812800"/>
                </a:lnTo>
                <a:lnTo>
                  <a:pt x="1427734" y="812800"/>
                </a:lnTo>
                <a:lnTo>
                  <a:pt x="1420495" y="787400"/>
                </a:lnTo>
                <a:lnTo>
                  <a:pt x="1420622" y="787400"/>
                </a:lnTo>
                <a:lnTo>
                  <a:pt x="1414272" y="774700"/>
                </a:lnTo>
                <a:lnTo>
                  <a:pt x="1414399" y="774700"/>
                </a:lnTo>
                <a:lnTo>
                  <a:pt x="1409065" y="762000"/>
                </a:lnTo>
                <a:lnTo>
                  <a:pt x="1409192" y="762000"/>
                </a:lnTo>
                <a:lnTo>
                  <a:pt x="1404747" y="749300"/>
                </a:lnTo>
                <a:lnTo>
                  <a:pt x="1404874" y="749300"/>
                </a:lnTo>
                <a:lnTo>
                  <a:pt x="1401318" y="736600"/>
                </a:lnTo>
                <a:lnTo>
                  <a:pt x="1401445" y="736600"/>
                </a:lnTo>
                <a:lnTo>
                  <a:pt x="1398905" y="711200"/>
                </a:lnTo>
                <a:lnTo>
                  <a:pt x="1399032" y="711200"/>
                </a:lnTo>
                <a:lnTo>
                  <a:pt x="1397508" y="698500"/>
                </a:lnTo>
                <a:lnTo>
                  <a:pt x="1396492" y="673100"/>
                </a:lnTo>
                <a:lnTo>
                  <a:pt x="1394968" y="647700"/>
                </a:lnTo>
                <a:lnTo>
                  <a:pt x="1392301" y="635000"/>
                </a:lnTo>
                <a:lnTo>
                  <a:pt x="1388872" y="622300"/>
                </a:lnTo>
                <a:lnTo>
                  <a:pt x="1384427" y="596900"/>
                </a:lnTo>
                <a:lnTo>
                  <a:pt x="1378839" y="584200"/>
                </a:lnTo>
                <a:lnTo>
                  <a:pt x="1372489" y="571500"/>
                </a:lnTo>
                <a:lnTo>
                  <a:pt x="1365123" y="558800"/>
                </a:lnTo>
                <a:lnTo>
                  <a:pt x="1356868" y="533400"/>
                </a:lnTo>
                <a:lnTo>
                  <a:pt x="1347851" y="520700"/>
                </a:lnTo>
                <a:lnTo>
                  <a:pt x="1337945" y="508000"/>
                </a:lnTo>
                <a:lnTo>
                  <a:pt x="1327023" y="495300"/>
                </a:lnTo>
                <a:lnTo>
                  <a:pt x="1315466" y="469900"/>
                </a:lnTo>
                <a:lnTo>
                  <a:pt x="1303020" y="457200"/>
                </a:lnTo>
                <a:lnTo>
                  <a:pt x="1289812" y="444500"/>
                </a:lnTo>
                <a:lnTo>
                  <a:pt x="1275715" y="431800"/>
                </a:lnTo>
                <a:lnTo>
                  <a:pt x="1260983" y="419100"/>
                </a:lnTo>
                <a:lnTo>
                  <a:pt x="1245489" y="393700"/>
                </a:lnTo>
                <a:lnTo>
                  <a:pt x="1212215" y="368300"/>
                </a:lnTo>
                <a:lnTo>
                  <a:pt x="1176274" y="342900"/>
                </a:lnTo>
                <a:lnTo>
                  <a:pt x="1137666" y="317500"/>
                </a:lnTo>
                <a:lnTo>
                  <a:pt x="1117346" y="304800"/>
                </a:lnTo>
                <a:lnTo>
                  <a:pt x="1096391" y="279400"/>
                </a:lnTo>
                <a:lnTo>
                  <a:pt x="1052830" y="254000"/>
                </a:lnTo>
                <a:lnTo>
                  <a:pt x="1006983" y="228600"/>
                </a:lnTo>
                <a:lnTo>
                  <a:pt x="958977" y="203200"/>
                </a:lnTo>
                <a:lnTo>
                  <a:pt x="908812" y="190500"/>
                </a:lnTo>
                <a:lnTo>
                  <a:pt x="856996" y="165100"/>
                </a:lnTo>
                <a:lnTo>
                  <a:pt x="803148" y="139700"/>
                </a:lnTo>
                <a:lnTo>
                  <a:pt x="747776" y="127000"/>
                </a:lnTo>
                <a:lnTo>
                  <a:pt x="690753" y="101600"/>
                </a:lnTo>
                <a:lnTo>
                  <a:pt x="632587" y="88900"/>
                </a:lnTo>
                <a:lnTo>
                  <a:pt x="572897" y="63500"/>
                </a:lnTo>
                <a:lnTo>
                  <a:pt x="324358" y="12700"/>
                </a:lnTo>
                <a:lnTo>
                  <a:pt x="260223" y="12700"/>
                </a:lnTo>
                <a:lnTo>
                  <a:pt x="195707" y="0"/>
                </a:lnTo>
                <a:lnTo>
                  <a:pt x="254" y="0"/>
                </a:lnTo>
                <a:lnTo>
                  <a:pt x="0" y="12700"/>
                </a:lnTo>
                <a:lnTo>
                  <a:pt x="194437" y="12700"/>
                </a:lnTo>
                <a:lnTo>
                  <a:pt x="258826" y="25400"/>
                </a:lnTo>
                <a:lnTo>
                  <a:pt x="322453" y="25400"/>
                </a:lnTo>
                <a:lnTo>
                  <a:pt x="385699" y="38100"/>
                </a:lnTo>
                <a:lnTo>
                  <a:pt x="385445" y="38100"/>
                </a:lnTo>
                <a:lnTo>
                  <a:pt x="447929" y="50800"/>
                </a:lnTo>
                <a:lnTo>
                  <a:pt x="447802" y="50800"/>
                </a:lnTo>
                <a:lnTo>
                  <a:pt x="509397" y="63500"/>
                </a:lnTo>
                <a:lnTo>
                  <a:pt x="509270" y="63500"/>
                </a:lnTo>
                <a:lnTo>
                  <a:pt x="569849" y="76200"/>
                </a:lnTo>
                <a:lnTo>
                  <a:pt x="569722" y="76200"/>
                </a:lnTo>
                <a:lnTo>
                  <a:pt x="629158" y="101600"/>
                </a:lnTo>
                <a:lnTo>
                  <a:pt x="628904" y="101600"/>
                </a:lnTo>
                <a:lnTo>
                  <a:pt x="687070" y="114300"/>
                </a:lnTo>
                <a:lnTo>
                  <a:pt x="686816" y="114300"/>
                </a:lnTo>
                <a:lnTo>
                  <a:pt x="743585" y="127000"/>
                </a:lnTo>
                <a:lnTo>
                  <a:pt x="743458" y="127000"/>
                </a:lnTo>
                <a:lnTo>
                  <a:pt x="798703" y="152400"/>
                </a:lnTo>
                <a:lnTo>
                  <a:pt x="798576" y="152400"/>
                </a:lnTo>
                <a:lnTo>
                  <a:pt x="852170" y="177800"/>
                </a:lnTo>
                <a:lnTo>
                  <a:pt x="852043" y="177800"/>
                </a:lnTo>
                <a:lnTo>
                  <a:pt x="903732" y="203200"/>
                </a:lnTo>
                <a:lnTo>
                  <a:pt x="903478" y="203200"/>
                </a:lnTo>
                <a:lnTo>
                  <a:pt x="953389" y="215900"/>
                </a:lnTo>
                <a:lnTo>
                  <a:pt x="953262" y="215900"/>
                </a:lnTo>
                <a:lnTo>
                  <a:pt x="1001014" y="241300"/>
                </a:lnTo>
                <a:lnTo>
                  <a:pt x="1000887" y="241300"/>
                </a:lnTo>
                <a:lnTo>
                  <a:pt x="1024128" y="254000"/>
                </a:lnTo>
                <a:lnTo>
                  <a:pt x="1024001" y="254000"/>
                </a:lnTo>
                <a:lnTo>
                  <a:pt x="1046607" y="266700"/>
                </a:lnTo>
                <a:lnTo>
                  <a:pt x="1046480" y="266700"/>
                </a:lnTo>
                <a:lnTo>
                  <a:pt x="1068451" y="279400"/>
                </a:lnTo>
                <a:lnTo>
                  <a:pt x="1068324" y="279400"/>
                </a:lnTo>
                <a:lnTo>
                  <a:pt x="1089660" y="292100"/>
                </a:lnTo>
                <a:lnTo>
                  <a:pt x="1089533" y="292100"/>
                </a:lnTo>
                <a:lnTo>
                  <a:pt x="1110488" y="304800"/>
                </a:lnTo>
                <a:lnTo>
                  <a:pt x="1110361" y="304800"/>
                </a:lnTo>
                <a:lnTo>
                  <a:pt x="1130554" y="317500"/>
                </a:lnTo>
                <a:lnTo>
                  <a:pt x="1130427" y="317500"/>
                </a:lnTo>
                <a:lnTo>
                  <a:pt x="1149985" y="342900"/>
                </a:lnTo>
                <a:lnTo>
                  <a:pt x="1149858" y="342900"/>
                </a:lnTo>
                <a:lnTo>
                  <a:pt x="1168654" y="355600"/>
                </a:lnTo>
                <a:lnTo>
                  <a:pt x="1168527" y="355600"/>
                </a:lnTo>
                <a:lnTo>
                  <a:pt x="1186688" y="368300"/>
                </a:lnTo>
                <a:lnTo>
                  <a:pt x="1204214" y="381000"/>
                </a:lnTo>
                <a:lnTo>
                  <a:pt x="1204087" y="381000"/>
                </a:lnTo>
                <a:lnTo>
                  <a:pt x="1220851" y="393700"/>
                </a:lnTo>
                <a:lnTo>
                  <a:pt x="1220724" y="393700"/>
                </a:lnTo>
                <a:lnTo>
                  <a:pt x="1236853" y="406400"/>
                </a:lnTo>
                <a:lnTo>
                  <a:pt x="1236726" y="406400"/>
                </a:lnTo>
                <a:lnTo>
                  <a:pt x="1252220" y="419100"/>
                </a:lnTo>
                <a:lnTo>
                  <a:pt x="1251966" y="419100"/>
                </a:lnTo>
                <a:lnTo>
                  <a:pt x="1266571" y="431800"/>
                </a:lnTo>
                <a:lnTo>
                  <a:pt x="1266444" y="431800"/>
                </a:lnTo>
                <a:lnTo>
                  <a:pt x="1280414" y="457200"/>
                </a:lnTo>
                <a:lnTo>
                  <a:pt x="1280287" y="457200"/>
                </a:lnTo>
                <a:lnTo>
                  <a:pt x="1293368" y="469900"/>
                </a:lnTo>
                <a:lnTo>
                  <a:pt x="1293241" y="469900"/>
                </a:lnTo>
                <a:lnTo>
                  <a:pt x="1305560" y="482600"/>
                </a:lnTo>
                <a:lnTo>
                  <a:pt x="1305433" y="482600"/>
                </a:lnTo>
                <a:lnTo>
                  <a:pt x="1316863" y="495300"/>
                </a:lnTo>
                <a:lnTo>
                  <a:pt x="1316736" y="495300"/>
                </a:lnTo>
                <a:lnTo>
                  <a:pt x="1327404" y="508000"/>
                </a:lnTo>
                <a:lnTo>
                  <a:pt x="1327150" y="508000"/>
                </a:lnTo>
                <a:lnTo>
                  <a:pt x="1337056" y="533400"/>
                </a:lnTo>
                <a:lnTo>
                  <a:pt x="1336929" y="533400"/>
                </a:lnTo>
                <a:lnTo>
                  <a:pt x="1345819" y="546100"/>
                </a:lnTo>
                <a:lnTo>
                  <a:pt x="1345692" y="546100"/>
                </a:lnTo>
                <a:lnTo>
                  <a:pt x="1353820" y="558800"/>
                </a:lnTo>
                <a:lnTo>
                  <a:pt x="1353693" y="558800"/>
                </a:lnTo>
                <a:lnTo>
                  <a:pt x="1360805" y="571500"/>
                </a:lnTo>
                <a:lnTo>
                  <a:pt x="1360678" y="571500"/>
                </a:lnTo>
                <a:lnTo>
                  <a:pt x="1366901" y="596900"/>
                </a:lnTo>
                <a:lnTo>
                  <a:pt x="1366901" y="584200"/>
                </a:lnTo>
                <a:lnTo>
                  <a:pt x="1372235" y="609600"/>
                </a:lnTo>
                <a:lnTo>
                  <a:pt x="1376553" y="622300"/>
                </a:lnTo>
                <a:lnTo>
                  <a:pt x="1376426" y="622300"/>
                </a:lnTo>
                <a:lnTo>
                  <a:pt x="1379855" y="635000"/>
                </a:lnTo>
                <a:lnTo>
                  <a:pt x="1382395" y="647700"/>
                </a:lnTo>
                <a:lnTo>
                  <a:pt x="1383792" y="673100"/>
                </a:lnTo>
                <a:lnTo>
                  <a:pt x="1384808" y="698500"/>
                </a:lnTo>
                <a:lnTo>
                  <a:pt x="1386332" y="711200"/>
                </a:lnTo>
                <a:lnTo>
                  <a:pt x="1388872" y="736600"/>
                </a:lnTo>
                <a:lnTo>
                  <a:pt x="1392555" y="749300"/>
                </a:lnTo>
                <a:lnTo>
                  <a:pt x="1397000" y="762000"/>
                </a:lnTo>
                <a:lnTo>
                  <a:pt x="1402461" y="787400"/>
                </a:lnTo>
                <a:lnTo>
                  <a:pt x="1408811" y="800100"/>
                </a:lnTo>
                <a:lnTo>
                  <a:pt x="1416177" y="812800"/>
                </a:lnTo>
                <a:lnTo>
                  <a:pt x="1424432" y="825500"/>
                </a:lnTo>
                <a:lnTo>
                  <a:pt x="1433576" y="850900"/>
                </a:lnTo>
                <a:lnTo>
                  <a:pt x="1443482" y="863600"/>
                </a:lnTo>
                <a:lnTo>
                  <a:pt x="1454277" y="876300"/>
                </a:lnTo>
                <a:lnTo>
                  <a:pt x="1465834" y="889000"/>
                </a:lnTo>
                <a:lnTo>
                  <a:pt x="1478280" y="914400"/>
                </a:lnTo>
                <a:lnTo>
                  <a:pt x="1520317" y="952500"/>
                </a:lnTo>
                <a:lnTo>
                  <a:pt x="1552067" y="977900"/>
                </a:lnTo>
                <a:lnTo>
                  <a:pt x="1569085" y="1003300"/>
                </a:lnTo>
                <a:lnTo>
                  <a:pt x="1605026" y="1028700"/>
                </a:lnTo>
                <a:lnTo>
                  <a:pt x="1643634" y="1054100"/>
                </a:lnTo>
                <a:lnTo>
                  <a:pt x="1684909" y="1079500"/>
                </a:lnTo>
                <a:lnTo>
                  <a:pt x="1728470" y="1104900"/>
                </a:lnTo>
                <a:lnTo>
                  <a:pt x="1774304" y="1130300"/>
                </a:lnTo>
                <a:lnTo>
                  <a:pt x="1822450" y="1155700"/>
                </a:lnTo>
                <a:lnTo>
                  <a:pt x="1872361" y="1181100"/>
                </a:lnTo>
                <a:lnTo>
                  <a:pt x="1924431" y="1206500"/>
                </a:lnTo>
                <a:lnTo>
                  <a:pt x="1978152" y="1231900"/>
                </a:lnTo>
                <a:lnTo>
                  <a:pt x="2033524" y="1244600"/>
                </a:lnTo>
                <a:lnTo>
                  <a:pt x="2090420" y="1270000"/>
                </a:lnTo>
                <a:lnTo>
                  <a:pt x="2269109" y="1308100"/>
                </a:lnTo>
                <a:lnTo>
                  <a:pt x="2330831" y="1333500"/>
                </a:lnTo>
                <a:lnTo>
                  <a:pt x="2393442" y="1333500"/>
                </a:lnTo>
                <a:lnTo>
                  <a:pt x="2520950" y="1358900"/>
                </a:lnTo>
                <a:lnTo>
                  <a:pt x="2585466" y="1358900"/>
                </a:lnTo>
                <a:lnTo>
                  <a:pt x="2650363" y="1371600"/>
                </a:lnTo>
                <a:lnTo>
                  <a:pt x="2704541" y="1371600"/>
                </a:lnTo>
                <a:lnTo>
                  <a:pt x="2704084" y="1397000"/>
                </a:lnTo>
                <a:lnTo>
                  <a:pt x="2780919" y="1371600"/>
                </a:lnTo>
                <a:close/>
              </a:path>
              <a:path w="5047615" h="1398905">
                <a:moveTo>
                  <a:pt x="5047234" y="1360424"/>
                </a:moveTo>
                <a:lnTo>
                  <a:pt x="5034534" y="1354074"/>
                </a:lnTo>
                <a:lnTo>
                  <a:pt x="4971034" y="1322324"/>
                </a:lnTo>
                <a:lnTo>
                  <a:pt x="4971034" y="1354074"/>
                </a:lnTo>
                <a:lnTo>
                  <a:pt x="4146931" y="1354074"/>
                </a:lnTo>
                <a:lnTo>
                  <a:pt x="4146931" y="1366774"/>
                </a:lnTo>
                <a:lnTo>
                  <a:pt x="4971034" y="1366774"/>
                </a:lnTo>
                <a:lnTo>
                  <a:pt x="4971034" y="1398524"/>
                </a:lnTo>
                <a:lnTo>
                  <a:pt x="5034534" y="1366774"/>
                </a:lnTo>
                <a:lnTo>
                  <a:pt x="5047234" y="1360424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63524" y="2334767"/>
            <a:ext cx="1664970" cy="456565"/>
          </a:xfrm>
          <a:custGeom>
            <a:avLst/>
            <a:gdLst/>
            <a:ahLst/>
            <a:cxnLst/>
            <a:rect l="l" t="t" r="r" b="b"/>
            <a:pathLst>
              <a:path w="1664970" h="456564">
                <a:moveTo>
                  <a:pt x="1664716" y="11049"/>
                </a:moveTo>
                <a:lnTo>
                  <a:pt x="1652016" y="10287"/>
                </a:lnTo>
                <a:lnTo>
                  <a:pt x="1651762" y="15608"/>
                </a:lnTo>
                <a:lnTo>
                  <a:pt x="1651127" y="19304"/>
                </a:lnTo>
                <a:lnTo>
                  <a:pt x="1650898" y="20066"/>
                </a:lnTo>
                <a:lnTo>
                  <a:pt x="1649603" y="24511"/>
                </a:lnTo>
                <a:lnTo>
                  <a:pt x="1649857" y="24003"/>
                </a:lnTo>
                <a:lnTo>
                  <a:pt x="1647913" y="28981"/>
                </a:lnTo>
                <a:lnTo>
                  <a:pt x="1647786" y="29210"/>
                </a:lnTo>
                <a:lnTo>
                  <a:pt x="1642681" y="38519"/>
                </a:lnTo>
                <a:lnTo>
                  <a:pt x="1642414" y="38862"/>
                </a:lnTo>
                <a:lnTo>
                  <a:pt x="1635518" y="47866"/>
                </a:lnTo>
                <a:lnTo>
                  <a:pt x="1635010" y="48387"/>
                </a:lnTo>
                <a:lnTo>
                  <a:pt x="1625727" y="58039"/>
                </a:lnTo>
                <a:lnTo>
                  <a:pt x="1626235" y="57658"/>
                </a:lnTo>
                <a:lnTo>
                  <a:pt x="1614297" y="67691"/>
                </a:lnTo>
                <a:lnTo>
                  <a:pt x="1614678" y="67437"/>
                </a:lnTo>
                <a:lnTo>
                  <a:pt x="1600835" y="77470"/>
                </a:lnTo>
                <a:lnTo>
                  <a:pt x="1601089" y="77216"/>
                </a:lnTo>
                <a:lnTo>
                  <a:pt x="1585341" y="87122"/>
                </a:lnTo>
                <a:lnTo>
                  <a:pt x="1585722" y="86995"/>
                </a:lnTo>
                <a:lnTo>
                  <a:pt x="1568196" y="96647"/>
                </a:lnTo>
                <a:lnTo>
                  <a:pt x="1568577" y="96520"/>
                </a:lnTo>
                <a:lnTo>
                  <a:pt x="1549273" y="106045"/>
                </a:lnTo>
                <a:lnTo>
                  <a:pt x="1528699" y="115316"/>
                </a:lnTo>
                <a:lnTo>
                  <a:pt x="1528826" y="115189"/>
                </a:lnTo>
                <a:lnTo>
                  <a:pt x="1506474" y="124206"/>
                </a:lnTo>
                <a:lnTo>
                  <a:pt x="1506601" y="124206"/>
                </a:lnTo>
                <a:lnTo>
                  <a:pt x="1482852" y="132969"/>
                </a:lnTo>
                <a:lnTo>
                  <a:pt x="1482979" y="132969"/>
                </a:lnTo>
                <a:lnTo>
                  <a:pt x="1457706" y="141478"/>
                </a:lnTo>
                <a:lnTo>
                  <a:pt x="1457833" y="141478"/>
                </a:lnTo>
                <a:lnTo>
                  <a:pt x="1431290" y="149733"/>
                </a:lnTo>
                <a:lnTo>
                  <a:pt x="1431417" y="149733"/>
                </a:lnTo>
                <a:lnTo>
                  <a:pt x="1403477" y="157734"/>
                </a:lnTo>
                <a:lnTo>
                  <a:pt x="1403604" y="157734"/>
                </a:lnTo>
                <a:lnTo>
                  <a:pt x="1374521" y="165354"/>
                </a:lnTo>
                <a:lnTo>
                  <a:pt x="1374648" y="165354"/>
                </a:lnTo>
                <a:lnTo>
                  <a:pt x="1344422" y="172720"/>
                </a:lnTo>
                <a:lnTo>
                  <a:pt x="1344676" y="172720"/>
                </a:lnTo>
                <a:lnTo>
                  <a:pt x="1313434" y="179578"/>
                </a:lnTo>
                <a:lnTo>
                  <a:pt x="1313561" y="179578"/>
                </a:lnTo>
                <a:lnTo>
                  <a:pt x="1281430" y="186055"/>
                </a:lnTo>
                <a:lnTo>
                  <a:pt x="1248410" y="192278"/>
                </a:lnTo>
                <a:lnTo>
                  <a:pt x="1248537" y="192278"/>
                </a:lnTo>
                <a:lnTo>
                  <a:pt x="1214628" y="197993"/>
                </a:lnTo>
                <a:lnTo>
                  <a:pt x="1214755" y="197993"/>
                </a:lnTo>
                <a:lnTo>
                  <a:pt x="1180084" y="203327"/>
                </a:lnTo>
                <a:lnTo>
                  <a:pt x="1180211" y="203200"/>
                </a:lnTo>
                <a:lnTo>
                  <a:pt x="1144905" y="208026"/>
                </a:lnTo>
                <a:lnTo>
                  <a:pt x="1145032" y="208026"/>
                </a:lnTo>
                <a:lnTo>
                  <a:pt x="1109091" y="212344"/>
                </a:lnTo>
                <a:lnTo>
                  <a:pt x="1109218" y="212344"/>
                </a:lnTo>
                <a:lnTo>
                  <a:pt x="1072769" y="216154"/>
                </a:lnTo>
                <a:lnTo>
                  <a:pt x="1072896" y="216027"/>
                </a:lnTo>
                <a:lnTo>
                  <a:pt x="998982" y="222123"/>
                </a:lnTo>
                <a:lnTo>
                  <a:pt x="961517" y="224282"/>
                </a:lnTo>
                <a:lnTo>
                  <a:pt x="923925" y="225933"/>
                </a:lnTo>
                <a:lnTo>
                  <a:pt x="886066" y="226822"/>
                </a:lnTo>
                <a:lnTo>
                  <a:pt x="810133" y="227330"/>
                </a:lnTo>
                <a:lnTo>
                  <a:pt x="772287" y="228346"/>
                </a:lnTo>
                <a:lnTo>
                  <a:pt x="696722" y="232156"/>
                </a:lnTo>
                <a:lnTo>
                  <a:pt x="622554" y="238125"/>
                </a:lnTo>
                <a:lnTo>
                  <a:pt x="550037" y="246253"/>
                </a:lnTo>
                <a:lnTo>
                  <a:pt x="479920" y="256413"/>
                </a:lnTo>
                <a:lnTo>
                  <a:pt x="412737" y="268351"/>
                </a:lnTo>
                <a:lnTo>
                  <a:pt x="349084" y="281940"/>
                </a:lnTo>
                <a:lnTo>
                  <a:pt x="289598" y="296926"/>
                </a:lnTo>
                <a:lnTo>
                  <a:pt x="234823" y="313309"/>
                </a:lnTo>
                <a:lnTo>
                  <a:pt x="185343" y="330835"/>
                </a:lnTo>
                <a:lnTo>
                  <a:pt x="141693" y="349377"/>
                </a:lnTo>
                <a:lnTo>
                  <a:pt x="104495" y="368935"/>
                </a:lnTo>
                <a:lnTo>
                  <a:pt x="76923" y="390588"/>
                </a:lnTo>
                <a:lnTo>
                  <a:pt x="72390" y="387591"/>
                </a:lnTo>
                <a:lnTo>
                  <a:pt x="76200" y="379984"/>
                </a:lnTo>
                <a:lnTo>
                  <a:pt x="60960" y="379984"/>
                </a:lnTo>
                <a:lnTo>
                  <a:pt x="48539" y="371729"/>
                </a:lnTo>
                <a:lnTo>
                  <a:pt x="47510" y="379984"/>
                </a:lnTo>
                <a:lnTo>
                  <a:pt x="44450" y="379984"/>
                </a:lnTo>
                <a:lnTo>
                  <a:pt x="44450" y="0"/>
                </a:lnTo>
                <a:lnTo>
                  <a:pt x="31750" y="0"/>
                </a:lnTo>
                <a:lnTo>
                  <a:pt x="31750" y="379984"/>
                </a:lnTo>
                <a:lnTo>
                  <a:pt x="0" y="379984"/>
                </a:lnTo>
                <a:lnTo>
                  <a:pt x="38100" y="456184"/>
                </a:lnTo>
                <a:lnTo>
                  <a:pt x="112001" y="413893"/>
                </a:lnTo>
                <a:lnTo>
                  <a:pt x="102819" y="407797"/>
                </a:lnTo>
                <a:lnTo>
                  <a:pt x="87668" y="397738"/>
                </a:lnTo>
                <a:lnTo>
                  <a:pt x="95529" y="389763"/>
                </a:lnTo>
                <a:lnTo>
                  <a:pt x="95732" y="389559"/>
                </a:lnTo>
                <a:lnTo>
                  <a:pt x="97002" y="388747"/>
                </a:lnTo>
                <a:lnTo>
                  <a:pt x="110909" y="379984"/>
                </a:lnTo>
                <a:lnTo>
                  <a:pt x="111112" y="379857"/>
                </a:lnTo>
                <a:lnTo>
                  <a:pt x="110807" y="379984"/>
                </a:lnTo>
                <a:lnTo>
                  <a:pt x="128333" y="370205"/>
                </a:lnTo>
                <a:lnTo>
                  <a:pt x="128079" y="370459"/>
                </a:lnTo>
                <a:lnTo>
                  <a:pt x="128587" y="370205"/>
                </a:lnTo>
                <a:lnTo>
                  <a:pt x="147231" y="360934"/>
                </a:lnTo>
                <a:lnTo>
                  <a:pt x="146977" y="360934"/>
                </a:lnTo>
                <a:lnTo>
                  <a:pt x="167830" y="351790"/>
                </a:lnTo>
                <a:lnTo>
                  <a:pt x="167665" y="351790"/>
                </a:lnTo>
                <a:lnTo>
                  <a:pt x="190042" y="342646"/>
                </a:lnTo>
                <a:lnTo>
                  <a:pt x="189852" y="342773"/>
                </a:lnTo>
                <a:lnTo>
                  <a:pt x="190182" y="342646"/>
                </a:lnTo>
                <a:lnTo>
                  <a:pt x="213753" y="333883"/>
                </a:lnTo>
                <a:lnTo>
                  <a:pt x="213588" y="334010"/>
                </a:lnTo>
                <a:lnTo>
                  <a:pt x="213956" y="333883"/>
                </a:lnTo>
                <a:lnTo>
                  <a:pt x="238836" y="325374"/>
                </a:lnTo>
                <a:lnTo>
                  <a:pt x="238683" y="325374"/>
                </a:lnTo>
                <a:lnTo>
                  <a:pt x="265252" y="317119"/>
                </a:lnTo>
                <a:lnTo>
                  <a:pt x="265112" y="317246"/>
                </a:lnTo>
                <a:lnTo>
                  <a:pt x="265544" y="317119"/>
                </a:lnTo>
                <a:lnTo>
                  <a:pt x="293027" y="309245"/>
                </a:lnTo>
                <a:lnTo>
                  <a:pt x="292887" y="309245"/>
                </a:lnTo>
                <a:lnTo>
                  <a:pt x="321932" y="301625"/>
                </a:lnTo>
                <a:lnTo>
                  <a:pt x="352018" y="294259"/>
                </a:lnTo>
                <a:lnTo>
                  <a:pt x="351904" y="294386"/>
                </a:lnTo>
                <a:lnTo>
                  <a:pt x="352463" y="294259"/>
                </a:lnTo>
                <a:lnTo>
                  <a:pt x="383146" y="287401"/>
                </a:lnTo>
                <a:lnTo>
                  <a:pt x="415226" y="280797"/>
                </a:lnTo>
                <a:lnTo>
                  <a:pt x="448183" y="274701"/>
                </a:lnTo>
                <a:lnTo>
                  <a:pt x="481977" y="268986"/>
                </a:lnTo>
                <a:lnTo>
                  <a:pt x="516382" y="263779"/>
                </a:lnTo>
                <a:lnTo>
                  <a:pt x="551688" y="258953"/>
                </a:lnTo>
                <a:lnTo>
                  <a:pt x="551561" y="258953"/>
                </a:lnTo>
                <a:lnTo>
                  <a:pt x="587375" y="254635"/>
                </a:lnTo>
                <a:lnTo>
                  <a:pt x="587248" y="254635"/>
                </a:lnTo>
                <a:lnTo>
                  <a:pt x="623824" y="250825"/>
                </a:lnTo>
                <a:lnTo>
                  <a:pt x="697611" y="244856"/>
                </a:lnTo>
                <a:lnTo>
                  <a:pt x="772795" y="241046"/>
                </a:lnTo>
                <a:lnTo>
                  <a:pt x="886333" y="239522"/>
                </a:lnTo>
                <a:lnTo>
                  <a:pt x="924306" y="238506"/>
                </a:lnTo>
                <a:lnTo>
                  <a:pt x="999744" y="234696"/>
                </a:lnTo>
                <a:lnTo>
                  <a:pt x="1074039" y="228727"/>
                </a:lnTo>
                <a:lnTo>
                  <a:pt x="1146556" y="220599"/>
                </a:lnTo>
                <a:lnTo>
                  <a:pt x="1179182" y="216154"/>
                </a:lnTo>
                <a:lnTo>
                  <a:pt x="1181989" y="215773"/>
                </a:lnTo>
                <a:lnTo>
                  <a:pt x="1216660" y="210439"/>
                </a:lnTo>
                <a:lnTo>
                  <a:pt x="1250696" y="204724"/>
                </a:lnTo>
                <a:lnTo>
                  <a:pt x="1258125" y="203327"/>
                </a:lnTo>
                <a:lnTo>
                  <a:pt x="1283843" y="198501"/>
                </a:lnTo>
                <a:lnTo>
                  <a:pt x="1347470" y="185039"/>
                </a:lnTo>
                <a:lnTo>
                  <a:pt x="1406906" y="169926"/>
                </a:lnTo>
                <a:lnTo>
                  <a:pt x="1461643" y="153543"/>
                </a:lnTo>
                <a:lnTo>
                  <a:pt x="1511173" y="136017"/>
                </a:lnTo>
                <a:lnTo>
                  <a:pt x="1554861" y="117475"/>
                </a:lnTo>
                <a:lnTo>
                  <a:pt x="1559204" y="115316"/>
                </a:lnTo>
                <a:lnTo>
                  <a:pt x="1574292" y="107823"/>
                </a:lnTo>
                <a:lnTo>
                  <a:pt x="1592072" y="97917"/>
                </a:lnTo>
                <a:lnTo>
                  <a:pt x="1594294" y="96520"/>
                </a:lnTo>
                <a:lnTo>
                  <a:pt x="1608074" y="87884"/>
                </a:lnTo>
                <a:lnTo>
                  <a:pt x="1609293" y="86995"/>
                </a:lnTo>
                <a:lnTo>
                  <a:pt x="1622298" y="77597"/>
                </a:lnTo>
                <a:lnTo>
                  <a:pt x="1622437" y="77470"/>
                </a:lnTo>
                <a:lnTo>
                  <a:pt x="1634159" y="67437"/>
                </a:lnTo>
                <a:lnTo>
                  <a:pt x="1634617" y="67056"/>
                </a:lnTo>
                <a:lnTo>
                  <a:pt x="1643786" y="57658"/>
                </a:lnTo>
                <a:lnTo>
                  <a:pt x="1645031" y="56388"/>
                </a:lnTo>
                <a:lnTo>
                  <a:pt x="1651571" y="47752"/>
                </a:lnTo>
                <a:lnTo>
                  <a:pt x="1653413" y="45339"/>
                </a:lnTo>
                <a:lnTo>
                  <a:pt x="1657350" y="38100"/>
                </a:lnTo>
                <a:lnTo>
                  <a:pt x="1659509" y="34163"/>
                </a:lnTo>
                <a:lnTo>
                  <a:pt x="1661744" y="28448"/>
                </a:lnTo>
                <a:lnTo>
                  <a:pt x="1663039" y="24003"/>
                </a:lnTo>
                <a:lnTo>
                  <a:pt x="1663446" y="22606"/>
                </a:lnTo>
                <a:lnTo>
                  <a:pt x="1664462" y="16637"/>
                </a:lnTo>
                <a:lnTo>
                  <a:pt x="1664538" y="14859"/>
                </a:lnTo>
                <a:lnTo>
                  <a:pt x="1664716" y="11049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43271" y="4494276"/>
            <a:ext cx="629920" cy="76200"/>
          </a:xfrm>
          <a:custGeom>
            <a:avLst/>
            <a:gdLst/>
            <a:ahLst/>
            <a:cxnLst/>
            <a:rect l="l" t="t" r="r" b="b"/>
            <a:pathLst>
              <a:path w="629920" h="76200">
                <a:moveTo>
                  <a:pt x="553212" y="0"/>
                </a:moveTo>
                <a:lnTo>
                  <a:pt x="553212" y="76200"/>
                </a:lnTo>
                <a:lnTo>
                  <a:pt x="616712" y="44450"/>
                </a:lnTo>
                <a:lnTo>
                  <a:pt x="565912" y="44450"/>
                </a:lnTo>
                <a:lnTo>
                  <a:pt x="565912" y="31750"/>
                </a:lnTo>
                <a:lnTo>
                  <a:pt x="616712" y="31750"/>
                </a:lnTo>
                <a:lnTo>
                  <a:pt x="553212" y="0"/>
                </a:lnTo>
                <a:close/>
              </a:path>
              <a:path w="629920" h="76200">
                <a:moveTo>
                  <a:pt x="55321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53212" y="44450"/>
                </a:lnTo>
                <a:lnTo>
                  <a:pt x="553212" y="31750"/>
                </a:lnTo>
                <a:close/>
              </a:path>
              <a:path w="629920" h="76200">
                <a:moveTo>
                  <a:pt x="616712" y="31750"/>
                </a:moveTo>
                <a:lnTo>
                  <a:pt x="565912" y="31750"/>
                </a:lnTo>
                <a:lnTo>
                  <a:pt x="565912" y="44450"/>
                </a:lnTo>
                <a:lnTo>
                  <a:pt x="616712" y="44450"/>
                </a:lnTo>
                <a:lnTo>
                  <a:pt x="629412" y="38100"/>
                </a:lnTo>
                <a:lnTo>
                  <a:pt x="616712" y="31750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890759" y="4216908"/>
            <a:ext cx="1365885" cy="474345"/>
          </a:xfrm>
          <a:prstGeom prst="rect">
            <a:avLst/>
          </a:prstGeom>
          <a:solidFill>
            <a:srgbClr val="C096F8"/>
          </a:solidFill>
          <a:ln w="12700">
            <a:solidFill>
              <a:srgbClr val="4F3C69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965"/>
              </a:spcBef>
            </a:pPr>
            <a:r>
              <a:rPr sz="1400" spc="40" dirty="0">
                <a:solidFill>
                  <a:srgbClr val="FFFFFF"/>
                </a:solidFill>
                <a:latin typeface="Tahoma"/>
                <a:cs typeface="Tahoma"/>
              </a:rPr>
              <a:t>Answer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535411" y="3925823"/>
            <a:ext cx="76200" cy="291465"/>
          </a:xfrm>
          <a:custGeom>
            <a:avLst/>
            <a:gdLst/>
            <a:ahLst/>
            <a:cxnLst/>
            <a:rect l="l" t="t" r="r" b="b"/>
            <a:pathLst>
              <a:path w="76200" h="291464">
                <a:moveTo>
                  <a:pt x="31750" y="215264"/>
                </a:moveTo>
                <a:lnTo>
                  <a:pt x="0" y="215264"/>
                </a:lnTo>
                <a:lnTo>
                  <a:pt x="38100" y="291464"/>
                </a:lnTo>
                <a:lnTo>
                  <a:pt x="69850" y="227964"/>
                </a:lnTo>
                <a:lnTo>
                  <a:pt x="31750" y="227964"/>
                </a:lnTo>
                <a:lnTo>
                  <a:pt x="31750" y="215264"/>
                </a:lnTo>
                <a:close/>
              </a:path>
              <a:path w="76200" h="291464">
                <a:moveTo>
                  <a:pt x="44450" y="0"/>
                </a:moveTo>
                <a:lnTo>
                  <a:pt x="31750" y="0"/>
                </a:lnTo>
                <a:lnTo>
                  <a:pt x="31750" y="227964"/>
                </a:lnTo>
                <a:lnTo>
                  <a:pt x="44450" y="227964"/>
                </a:lnTo>
                <a:lnTo>
                  <a:pt x="44450" y="0"/>
                </a:lnTo>
                <a:close/>
              </a:path>
              <a:path w="76200" h="291464">
                <a:moveTo>
                  <a:pt x="76200" y="215264"/>
                </a:moveTo>
                <a:lnTo>
                  <a:pt x="44450" y="215264"/>
                </a:lnTo>
                <a:lnTo>
                  <a:pt x="44450" y="227964"/>
                </a:lnTo>
                <a:lnTo>
                  <a:pt x="69850" y="227964"/>
                </a:lnTo>
                <a:lnTo>
                  <a:pt x="76200" y="215264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890759" y="4808220"/>
            <a:ext cx="2186940" cy="70866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710" marR="113664">
              <a:lnSpc>
                <a:spcPct val="100000"/>
              </a:lnSpc>
              <a:spcBef>
                <a:spcPts val="320"/>
              </a:spcBef>
            </a:pPr>
            <a:r>
              <a:rPr sz="1000" spc="105" dirty="0">
                <a:latin typeface="Tahoma"/>
                <a:cs typeface="Tahoma"/>
              </a:rPr>
              <a:t>G</a:t>
            </a:r>
            <a:r>
              <a:rPr sz="1000" spc="-20" dirty="0">
                <a:latin typeface="Tahoma"/>
                <a:cs typeface="Tahoma"/>
              </a:rPr>
              <a:t>r</a:t>
            </a:r>
            <a:r>
              <a:rPr sz="1000" spc="65" dirty="0">
                <a:latin typeface="Tahoma"/>
                <a:cs typeface="Tahoma"/>
              </a:rPr>
              <a:t>o</a:t>
            </a:r>
            <a:r>
              <a:rPr sz="1000" spc="-20" dirty="0">
                <a:latin typeface="Tahoma"/>
                <a:cs typeface="Tahoma"/>
              </a:rPr>
              <a:t>k</a:t>
            </a:r>
            <a:r>
              <a:rPr sz="1000" spc="-40" dirty="0">
                <a:latin typeface="Tahoma"/>
                <a:cs typeface="Tahoma"/>
              </a:rPr>
              <a:t>-</a:t>
            </a:r>
            <a:r>
              <a:rPr sz="1000" spc="25" dirty="0">
                <a:latin typeface="Tahoma"/>
                <a:cs typeface="Tahoma"/>
              </a:rPr>
              <a:t>0</a:t>
            </a:r>
            <a:r>
              <a:rPr sz="1000" spc="-45" dirty="0">
                <a:latin typeface="Tahoma"/>
                <a:cs typeface="Tahoma"/>
              </a:rPr>
              <a:t>,</a:t>
            </a:r>
            <a:r>
              <a:rPr sz="1000" spc="-10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</a:t>
            </a:r>
            <a:r>
              <a:rPr sz="1000" spc="15" dirty="0">
                <a:latin typeface="Tahoma"/>
                <a:cs typeface="Tahoma"/>
              </a:rPr>
              <a:t>h</a:t>
            </a:r>
            <a:r>
              <a:rPr sz="1000" spc="40" dirty="0">
                <a:latin typeface="Tahoma"/>
                <a:cs typeface="Tahoma"/>
              </a:rPr>
              <a:t>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p</a:t>
            </a:r>
            <a:r>
              <a:rPr sz="1000" spc="-20" dirty="0">
                <a:latin typeface="Tahoma"/>
                <a:cs typeface="Tahoma"/>
              </a:rPr>
              <a:t>r</a:t>
            </a:r>
            <a:r>
              <a:rPr sz="1000" spc="65" dirty="0">
                <a:latin typeface="Tahoma"/>
                <a:cs typeface="Tahoma"/>
              </a:rPr>
              <a:t>o</a:t>
            </a:r>
            <a:r>
              <a:rPr sz="1000" spc="-25" dirty="0">
                <a:latin typeface="Tahoma"/>
                <a:cs typeface="Tahoma"/>
              </a:rPr>
              <a:t>t</a:t>
            </a:r>
            <a:r>
              <a:rPr sz="1000" spc="65" dirty="0">
                <a:latin typeface="Tahoma"/>
                <a:cs typeface="Tahoma"/>
              </a:rPr>
              <a:t>o</a:t>
            </a:r>
            <a:r>
              <a:rPr sz="1000" spc="-25" dirty="0">
                <a:latin typeface="Tahoma"/>
                <a:cs typeface="Tahoma"/>
              </a:rPr>
              <a:t>ty</a:t>
            </a:r>
            <a:r>
              <a:rPr sz="1000" spc="75" dirty="0">
                <a:latin typeface="Tahoma"/>
                <a:cs typeface="Tahoma"/>
              </a:rPr>
              <a:t>p</a:t>
            </a:r>
            <a:r>
              <a:rPr sz="1000" spc="40" dirty="0">
                <a:latin typeface="Tahoma"/>
                <a:cs typeface="Tahoma"/>
              </a:rPr>
              <a:t>e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5" dirty="0">
                <a:latin typeface="Tahoma"/>
                <a:cs typeface="Tahoma"/>
              </a:rPr>
              <a:t>LL</a:t>
            </a:r>
            <a:r>
              <a:rPr sz="1000" spc="65" dirty="0">
                <a:latin typeface="Tahoma"/>
                <a:cs typeface="Tahoma"/>
              </a:rPr>
              <a:t>M  </a:t>
            </a:r>
            <a:r>
              <a:rPr sz="1000" spc="30" dirty="0">
                <a:latin typeface="Tahoma"/>
                <a:cs typeface="Tahoma"/>
              </a:rPr>
              <a:t>mentioned </a:t>
            </a:r>
            <a:r>
              <a:rPr sz="1000" spc="20" dirty="0">
                <a:latin typeface="Tahoma"/>
                <a:cs typeface="Tahoma"/>
              </a:rPr>
              <a:t>in </a:t>
            </a:r>
            <a:r>
              <a:rPr sz="1000" spc="10" dirty="0">
                <a:latin typeface="Tahoma"/>
                <a:cs typeface="Tahoma"/>
              </a:rPr>
              <a:t>the </a:t>
            </a:r>
            <a:r>
              <a:rPr sz="1000" spc="40" dirty="0">
                <a:latin typeface="Tahoma"/>
                <a:cs typeface="Tahoma"/>
              </a:rPr>
              <a:t>provided 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40" dirty="0">
                <a:latin typeface="Tahoma"/>
                <a:cs typeface="Tahoma"/>
              </a:rPr>
              <a:t>c</a:t>
            </a:r>
            <a:r>
              <a:rPr sz="1000" spc="65" dirty="0">
                <a:latin typeface="Tahoma"/>
                <a:cs typeface="Tahoma"/>
              </a:rPr>
              <a:t>o</a:t>
            </a:r>
            <a:r>
              <a:rPr sz="1000" spc="-5" dirty="0">
                <a:latin typeface="Tahoma"/>
                <a:cs typeface="Tahoma"/>
              </a:rPr>
              <a:t>n</a:t>
            </a:r>
            <a:r>
              <a:rPr sz="1000" spc="-10" dirty="0">
                <a:latin typeface="Tahoma"/>
                <a:cs typeface="Tahoma"/>
              </a:rPr>
              <a:t>t</a:t>
            </a:r>
            <a:r>
              <a:rPr sz="1000" spc="30" dirty="0">
                <a:latin typeface="Tahoma"/>
                <a:cs typeface="Tahoma"/>
              </a:rPr>
              <a:t>e</a:t>
            </a:r>
            <a:r>
              <a:rPr sz="1000" spc="-20" dirty="0">
                <a:latin typeface="Tahoma"/>
                <a:cs typeface="Tahoma"/>
              </a:rPr>
              <a:t>x</a:t>
            </a:r>
            <a:r>
              <a:rPr sz="1000" spc="-25" dirty="0">
                <a:latin typeface="Tahoma"/>
                <a:cs typeface="Tahoma"/>
              </a:rPr>
              <a:t>t</a:t>
            </a:r>
            <a:r>
              <a:rPr sz="1000" spc="-45" dirty="0">
                <a:latin typeface="Tahoma"/>
                <a:cs typeface="Tahoma"/>
              </a:rPr>
              <a:t>,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spc="20" dirty="0">
                <a:latin typeface="Tahoma"/>
                <a:cs typeface="Tahoma"/>
              </a:rPr>
              <a:t>i</a:t>
            </a:r>
            <a:r>
              <a:rPr sz="1000" spc="-5" dirty="0">
                <a:latin typeface="Tahoma"/>
                <a:cs typeface="Tahoma"/>
              </a:rPr>
              <a:t>s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st</a:t>
            </a:r>
            <a:r>
              <a:rPr sz="1000" spc="-30" dirty="0">
                <a:latin typeface="Tahoma"/>
                <a:cs typeface="Tahoma"/>
              </a:rPr>
              <a:t>a</a:t>
            </a:r>
            <a:r>
              <a:rPr sz="1000" spc="-25" dirty="0">
                <a:latin typeface="Tahoma"/>
                <a:cs typeface="Tahoma"/>
              </a:rPr>
              <a:t>t</a:t>
            </a:r>
            <a:r>
              <a:rPr sz="1000" spc="30" dirty="0">
                <a:latin typeface="Tahoma"/>
                <a:cs typeface="Tahoma"/>
              </a:rPr>
              <a:t>e</a:t>
            </a:r>
            <a:r>
              <a:rPr sz="1000" spc="80" dirty="0">
                <a:latin typeface="Tahoma"/>
                <a:cs typeface="Tahoma"/>
              </a:rPr>
              <a:t>d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</a:t>
            </a:r>
            <a:r>
              <a:rPr sz="1000" spc="65" dirty="0">
                <a:latin typeface="Tahoma"/>
                <a:cs typeface="Tahoma"/>
              </a:rPr>
              <a:t>o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15" dirty="0">
                <a:latin typeface="Tahoma"/>
                <a:cs typeface="Tahoma"/>
              </a:rPr>
              <a:t>h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5" dirty="0">
                <a:latin typeface="Tahoma"/>
                <a:cs typeface="Tahoma"/>
              </a:rPr>
              <a:t>v</a:t>
            </a:r>
            <a:r>
              <a:rPr sz="1000" spc="40" dirty="0">
                <a:latin typeface="Tahoma"/>
                <a:cs typeface="Tahoma"/>
              </a:rPr>
              <a:t>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55" dirty="0">
                <a:latin typeface="Tahoma"/>
                <a:cs typeface="Tahoma"/>
              </a:rPr>
              <a:t>be</a:t>
            </a:r>
            <a:r>
              <a:rPr sz="1000" spc="30" dirty="0">
                <a:latin typeface="Tahoma"/>
                <a:cs typeface="Tahoma"/>
              </a:rPr>
              <a:t>e</a:t>
            </a:r>
            <a:r>
              <a:rPr sz="1000" spc="10" dirty="0">
                <a:latin typeface="Tahoma"/>
                <a:cs typeface="Tahoma"/>
              </a:rPr>
              <a:t>n  </a:t>
            </a:r>
            <a:r>
              <a:rPr sz="1000" spc="-25" dirty="0">
                <a:latin typeface="Tahoma"/>
                <a:cs typeface="Tahoma"/>
              </a:rPr>
              <a:t>t</a:t>
            </a:r>
            <a:r>
              <a:rPr sz="1000" spc="-20" dirty="0">
                <a:latin typeface="Tahoma"/>
                <a:cs typeface="Tahoma"/>
              </a:rPr>
              <a:t>r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20" dirty="0">
                <a:latin typeface="Tahoma"/>
                <a:cs typeface="Tahoma"/>
              </a:rPr>
              <a:t>i</a:t>
            </a:r>
            <a:r>
              <a:rPr sz="1000" spc="25" dirty="0">
                <a:latin typeface="Tahoma"/>
                <a:cs typeface="Tahoma"/>
              </a:rPr>
              <a:t>n</a:t>
            </a:r>
            <a:r>
              <a:rPr sz="1000" spc="20" dirty="0">
                <a:latin typeface="Tahoma"/>
                <a:cs typeface="Tahoma"/>
              </a:rPr>
              <a:t>e</a:t>
            </a:r>
            <a:r>
              <a:rPr sz="1000" spc="80" dirty="0">
                <a:latin typeface="Tahoma"/>
                <a:cs typeface="Tahoma"/>
              </a:rPr>
              <a:t>d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w</a:t>
            </a:r>
            <a:r>
              <a:rPr sz="1000" spc="5" dirty="0">
                <a:latin typeface="Tahoma"/>
                <a:cs typeface="Tahoma"/>
              </a:rPr>
              <a:t>i</a:t>
            </a:r>
            <a:r>
              <a:rPr sz="1000" spc="-25" dirty="0">
                <a:latin typeface="Tahoma"/>
                <a:cs typeface="Tahoma"/>
              </a:rPr>
              <a:t>t</a:t>
            </a:r>
            <a:r>
              <a:rPr sz="1000" spc="20" dirty="0">
                <a:latin typeface="Tahoma"/>
                <a:cs typeface="Tahoma"/>
              </a:rPr>
              <a:t>h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25" dirty="0">
                <a:latin typeface="Tahoma"/>
                <a:cs typeface="Tahoma"/>
              </a:rPr>
              <a:t>3</a:t>
            </a:r>
            <a:r>
              <a:rPr sz="1000" spc="30" dirty="0">
                <a:latin typeface="Tahoma"/>
                <a:cs typeface="Tahoma"/>
              </a:rPr>
              <a:t>3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spc="65" dirty="0">
                <a:latin typeface="Tahoma"/>
                <a:cs typeface="Tahoma"/>
              </a:rPr>
              <a:t>b</a:t>
            </a:r>
            <a:r>
              <a:rPr sz="1000" spc="30" dirty="0">
                <a:latin typeface="Tahoma"/>
                <a:cs typeface="Tahoma"/>
              </a:rPr>
              <a:t>i</a:t>
            </a:r>
            <a:r>
              <a:rPr sz="1000" spc="20" dirty="0">
                <a:latin typeface="Tahoma"/>
                <a:cs typeface="Tahoma"/>
              </a:rPr>
              <a:t>lli</a:t>
            </a:r>
            <a:r>
              <a:rPr sz="1000" spc="65" dirty="0">
                <a:latin typeface="Tahoma"/>
                <a:cs typeface="Tahoma"/>
              </a:rPr>
              <a:t>o</a:t>
            </a:r>
            <a:r>
              <a:rPr sz="1000" spc="20" dirty="0">
                <a:latin typeface="Tahoma"/>
                <a:cs typeface="Tahoma"/>
              </a:rPr>
              <a:t>n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p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0" dirty="0">
                <a:latin typeface="Tahoma"/>
                <a:cs typeface="Tahoma"/>
              </a:rPr>
              <a:t>r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30" dirty="0">
                <a:latin typeface="Tahoma"/>
                <a:cs typeface="Tahoma"/>
              </a:rPr>
              <a:t>me</a:t>
            </a:r>
            <a:r>
              <a:rPr sz="1000" spc="-25" dirty="0">
                <a:latin typeface="Tahoma"/>
                <a:cs typeface="Tahoma"/>
              </a:rPr>
              <a:t>t</a:t>
            </a:r>
            <a:r>
              <a:rPr sz="1000" spc="30" dirty="0">
                <a:latin typeface="Tahoma"/>
                <a:cs typeface="Tahoma"/>
              </a:rPr>
              <a:t>e</a:t>
            </a:r>
            <a:r>
              <a:rPr sz="1000" spc="-5" dirty="0">
                <a:latin typeface="Tahoma"/>
                <a:cs typeface="Tahoma"/>
              </a:rPr>
              <a:t>rs</a:t>
            </a:r>
            <a:r>
              <a:rPr sz="1000" spc="-45" dirty="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8871" y="2790444"/>
            <a:ext cx="1365885" cy="260985"/>
          </a:xfrm>
          <a:prstGeom prst="rect">
            <a:avLst/>
          </a:prstGeom>
          <a:solidFill>
            <a:srgbClr val="FF9413"/>
          </a:solidFill>
          <a:ln w="12700">
            <a:solidFill>
              <a:srgbClr val="6C3B03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254"/>
              </a:spcBef>
            </a:pP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Split</a:t>
            </a:r>
            <a:r>
              <a:rPr sz="12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into</a:t>
            </a:r>
            <a:r>
              <a:rPr sz="12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chunks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29511" y="3759708"/>
            <a:ext cx="1365885" cy="1533525"/>
          </a:xfrm>
          <a:prstGeom prst="rect">
            <a:avLst/>
          </a:prstGeom>
          <a:solidFill>
            <a:srgbClr val="2CC3B4"/>
          </a:solidFill>
          <a:ln w="12700">
            <a:solidFill>
              <a:srgbClr val="0C514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  <a:spcBef>
                <a:spcPts val="1230"/>
              </a:spcBef>
            </a:pPr>
            <a:r>
              <a:rPr sz="1400" spc="70" dirty="0">
                <a:solidFill>
                  <a:srgbClr val="FFFFFF"/>
                </a:solidFill>
                <a:latin typeface="Tahoma"/>
                <a:cs typeface="Tahoma"/>
              </a:rPr>
              <a:t>Embeddings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273" y="3050920"/>
            <a:ext cx="634365" cy="1499235"/>
          </a:xfrm>
          <a:custGeom>
            <a:avLst/>
            <a:gdLst/>
            <a:ahLst/>
            <a:cxnLst/>
            <a:rect l="l" t="t" r="r" b="b"/>
            <a:pathLst>
              <a:path w="634365" h="1499235">
                <a:moveTo>
                  <a:pt x="558166" y="1466789"/>
                </a:moveTo>
                <a:lnTo>
                  <a:pt x="552196" y="1499108"/>
                </a:lnTo>
                <a:lnTo>
                  <a:pt x="633984" y="1475485"/>
                </a:lnTo>
                <a:lnTo>
                  <a:pt x="626920" y="1470152"/>
                </a:lnTo>
                <a:lnTo>
                  <a:pt x="569849" y="1470152"/>
                </a:lnTo>
                <a:lnTo>
                  <a:pt x="558166" y="1466789"/>
                </a:lnTo>
                <a:close/>
              </a:path>
              <a:path w="634365" h="1499235">
                <a:moveTo>
                  <a:pt x="560491" y="1454206"/>
                </a:moveTo>
                <a:lnTo>
                  <a:pt x="558166" y="1466789"/>
                </a:lnTo>
                <a:lnTo>
                  <a:pt x="569849" y="1470152"/>
                </a:lnTo>
                <a:lnTo>
                  <a:pt x="573278" y="1457833"/>
                </a:lnTo>
                <a:lnTo>
                  <a:pt x="560491" y="1454206"/>
                </a:lnTo>
                <a:close/>
              </a:path>
              <a:path w="634365" h="1499235">
                <a:moveTo>
                  <a:pt x="566039" y="1424177"/>
                </a:moveTo>
                <a:lnTo>
                  <a:pt x="560491" y="1454206"/>
                </a:lnTo>
                <a:lnTo>
                  <a:pt x="573278" y="1457833"/>
                </a:lnTo>
                <a:lnTo>
                  <a:pt x="569849" y="1470152"/>
                </a:lnTo>
                <a:lnTo>
                  <a:pt x="626920" y="1470152"/>
                </a:lnTo>
                <a:lnTo>
                  <a:pt x="566039" y="1424177"/>
                </a:lnTo>
                <a:close/>
              </a:path>
              <a:path w="634365" h="1499235">
                <a:moveTo>
                  <a:pt x="12700" y="0"/>
                </a:moveTo>
                <a:lnTo>
                  <a:pt x="0" y="253"/>
                </a:lnTo>
                <a:lnTo>
                  <a:pt x="952" y="69468"/>
                </a:lnTo>
                <a:lnTo>
                  <a:pt x="3632" y="138556"/>
                </a:lnTo>
                <a:lnTo>
                  <a:pt x="8013" y="207517"/>
                </a:lnTo>
                <a:lnTo>
                  <a:pt x="14135" y="275970"/>
                </a:lnTo>
                <a:lnTo>
                  <a:pt x="21856" y="343915"/>
                </a:lnTo>
                <a:lnTo>
                  <a:pt x="31114" y="411225"/>
                </a:lnTo>
                <a:lnTo>
                  <a:pt x="41910" y="477646"/>
                </a:lnTo>
                <a:lnTo>
                  <a:pt x="54038" y="543178"/>
                </a:lnTo>
                <a:lnTo>
                  <a:pt x="67691" y="607567"/>
                </a:lnTo>
                <a:lnTo>
                  <a:pt x="82575" y="670813"/>
                </a:lnTo>
                <a:lnTo>
                  <a:pt x="98717" y="732535"/>
                </a:lnTo>
                <a:lnTo>
                  <a:pt x="116192" y="792987"/>
                </a:lnTo>
                <a:lnTo>
                  <a:pt x="134721" y="851788"/>
                </a:lnTo>
                <a:lnTo>
                  <a:pt x="154393" y="908811"/>
                </a:lnTo>
                <a:lnTo>
                  <a:pt x="175031" y="963929"/>
                </a:lnTo>
                <a:lnTo>
                  <a:pt x="196710" y="1016888"/>
                </a:lnTo>
                <a:lnTo>
                  <a:pt x="219278" y="1067815"/>
                </a:lnTo>
                <a:lnTo>
                  <a:pt x="242811" y="1116583"/>
                </a:lnTo>
                <a:lnTo>
                  <a:pt x="267106" y="1162811"/>
                </a:lnTo>
                <a:lnTo>
                  <a:pt x="292074" y="1206499"/>
                </a:lnTo>
                <a:lnTo>
                  <a:pt x="317855" y="1247520"/>
                </a:lnTo>
                <a:lnTo>
                  <a:pt x="344297" y="1285620"/>
                </a:lnTo>
                <a:lnTo>
                  <a:pt x="371373" y="1320927"/>
                </a:lnTo>
                <a:lnTo>
                  <a:pt x="398945" y="1353058"/>
                </a:lnTo>
                <a:lnTo>
                  <a:pt x="427050" y="1381886"/>
                </a:lnTo>
                <a:lnTo>
                  <a:pt x="455587" y="1407540"/>
                </a:lnTo>
                <a:lnTo>
                  <a:pt x="499237" y="1439164"/>
                </a:lnTo>
                <a:lnTo>
                  <a:pt x="543814" y="1462658"/>
                </a:lnTo>
                <a:lnTo>
                  <a:pt x="558166" y="1466789"/>
                </a:lnTo>
                <a:lnTo>
                  <a:pt x="560491" y="1454206"/>
                </a:lnTo>
                <a:lnTo>
                  <a:pt x="549094" y="1450974"/>
                </a:lnTo>
                <a:lnTo>
                  <a:pt x="548640" y="1450974"/>
                </a:lnTo>
                <a:lnTo>
                  <a:pt x="547868" y="1450644"/>
                </a:lnTo>
                <a:lnTo>
                  <a:pt x="534162" y="1444243"/>
                </a:lnTo>
                <a:lnTo>
                  <a:pt x="534299" y="1444243"/>
                </a:lnTo>
                <a:lnTo>
                  <a:pt x="520424" y="1437004"/>
                </a:lnTo>
                <a:lnTo>
                  <a:pt x="520192" y="1437004"/>
                </a:lnTo>
                <a:lnTo>
                  <a:pt x="505841" y="1428368"/>
                </a:lnTo>
                <a:lnTo>
                  <a:pt x="491744" y="1418970"/>
                </a:lnTo>
                <a:lnTo>
                  <a:pt x="477520" y="1408810"/>
                </a:lnTo>
                <a:lnTo>
                  <a:pt x="463613" y="1397634"/>
                </a:lnTo>
                <a:lnTo>
                  <a:pt x="449592" y="1385570"/>
                </a:lnTo>
                <a:lnTo>
                  <a:pt x="435775" y="1372742"/>
                </a:lnTo>
                <a:lnTo>
                  <a:pt x="421919" y="1358899"/>
                </a:lnTo>
                <a:lnTo>
                  <a:pt x="408281" y="1344421"/>
                </a:lnTo>
                <a:lnTo>
                  <a:pt x="394790" y="1329181"/>
                </a:lnTo>
                <a:lnTo>
                  <a:pt x="381178" y="1312798"/>
                </a:lnTo>
                <a:lnTo>
                  <a:pt x="367854" y="1296034"/>
                </a:lnTo>
                <a:lnTo>
                  <a:pt x="354532" y="1278127"/>
                </a:lnTo>
                <a:lnTo>
                  <a:pt x="341477" y="1259712"/>
                </a:lnTo>
                <a:lnTo>
                  <a:pt x="328483" y="1240535"/>
                </a:lnTo>
                <a:lnTo>
                  <a:pt x="315715" y="1220723"/>
                </a:lnTo>
                <a:lnTo>
                  <a:pt x="303010" y="1200022"/>
                </a:lnTo>
                <a:lnTo>
                  <a:pt x="290611" y="1178686"/>
                </a:lnTo>
                <a:lnTo>
                  <a:pt x="278201" y="1156715"/>
                </a:lnTo>
                <a:lnTo>
                  <a:pt x="266145" y="1134109"/>
                </a:lnTo>
                <a:lnTo>
                  <a:pt x="254192" y="1110868"/>
                </a:lnTo>
                <a:lnTo>
                  <a:pt x="242345" y="1086992"/>
                </a:lnTo>
                <a:lnTo>
                  <a:pt x="230777" y="1062481"/>
                </a:lnTo>
                <a:lnTo>
                  <a:pt x="219494" y="1037589"/>
                </a:lnTo>
                <a:lnTo>
                  <a:pt x="208393" y="1011935"/>
                </a:lnTo>
                <a:lnTo>
                  <a:pt x="186868" y="959357"/>
                </a:lnTo>
                <a:lnTo>
                  <a:pt x="186845" y="959230"/>
                </a:lnTo>
                <a:lnTo>
                  <a:pt x="166326" y="904366"/>
                </a:lnTo>
                <a:lnTo>
                  <a:pt x="146759" y="847724"/>
                </a:lnTo>
                <a:lnTo>
                  <a:pt x="128360" y="789431"/>
                </a:lnTo>
                <a:lnTo>
                  <a:pt x="110971" y="729233"/>
                </a:lnTo>
                <a:lnTo>
                  <a:pt x="110952" y="729106"/>
                </a:lnTo>
                <a:lnTo>
                  <a:pt x="94889" y="667638"/>
                </a:lnTo>
                <a:lnTo>
                  <a:pt x="80071" y="604773"/>
                </a:lnTo>
                <a:lnTo>
                  <a:pt x="66498" y="540765"/>
                </a:lnTo>
                <a:lnTo>
                  <a:pt x="54411" y="475361"/>
                </a:lnTo>
                <a:lnTo>
                  <a:pt x="43716" y="409448"/>
                </a:lnTo>
                <a:lnTo>
                  <a:pt x="34453" y="342264"/>
                </a:lnTo>
                <a:lnTo>
                  <a:pt x="26760" y="274574"/>
                </a:lnTo>
                <a:lnTo>
                  <a:pt x="20680" y="206501"/>
                </a:lnTo>
                <a:lnTo>
                  <a:pt x="16309" y="137794"/>
                </a:lnTo>
                <a:lnTo>
                  <a:pt x="13650" y="69087"/>
                </a:lnTo>
                <a:lnTo>
                  <a:pt x="12700" y="0"/>
                </a:lnTo>
                <a:close/>
              </a:path>
              <a:path w="634365" h="1499235">
                <a:moveTo>
                  <a:pt x="547751" y="1450593"/>
                </a:moveTo>
                <a:lnTo>
                  <a:pt x="548640" y="1450974"/>
                </a:lnTo>
                <a:lnTo>
                  <a:pt x="547929" y="1450644"/>
                </a:lnTo>
                <a:lnTo>
                  <a:pt x="547751" y="1450593"/>
                </a:lnTo>
                <a:close/>
              </a:path>
              <a:path w="634365" h="1499235">
                <a:moveTo>
                  <a:pt x="547929" y="1450644"/>
                </a:moveTo>
                <a:lnTo>
                  <a:pt x="548640" y="1450974"/>
                </a:lnTo>
                <a:lnTo>
                  <a:pt x="549094" y="1450974"/>
                </a:lnTo>
                <a:lnTo>
                  <a:pt x="547929" y="1450644"/>
                </a:lnTo>
                <a:close/>
              </a:path>
              <a:path w="634365" h="1499235">
                <a:moveTo>
                  <a:pt x="547820" y="1450593"/>
                </a:moveTo>
                <a:close/>
              </a:path>
              <a:path w="634365" h="1499235">
                <a:moveTo>
                  <a:pt x="534299" y="1444243"/>
                </a:moveTo>
                <a:lnTo>
                  <a:pt x="534162" y="1444243"/>
                </a:lnTo>
                <a:lnTo>
                  <a:pt x="534543" y="1444370"/>
                </a:lnTo>
                <a:lnTo>
                  <a:pt x="534299" y="1444243"/>
                </a:lnTo>
                <a:close/>
              </a:path>
              <a:path w="634365" h="1499235">
                <a:moveTo>
                  <a:pt x="519938" y="1436751"/>
                </a:moveTo>
                <a:lnTo>
                  <a:pt x="520192" y="1437004"/>
                </a:lnTo>
                <a:lnTo>
                  <a:pt x="520424" y="1437004"/>
                </a:lnTo>
                <a:lnTo>
                  <a:pt x="519938" y="1436751"/>
                </a:lnTo>
                <a:close/>
              </a:path>
              <a:path w="634365" h="1499235">
                <a:moveTo>
                  <a:pt x="505903" y="1428368"/>
                </a:moveTo>
                <a:lnTo>
                  <a:pt x="506095" y="1428495"/>
                </a:lnTo>
                <a:lnTo>
                  <a:pt x="505903" y="1428368"/>
                </a:lnTo>
                <a:close/>
              </a:path>
              <a:path w="634365" h="1499235">
                <a:moveTo>
                  <a:pt x="491819" y="1418970"/>
                </a:moveTo>
                <a:lnTo>
                  <a:pt x="491998" y="1419097"/>
                </a:lnTo>
                <a:lnTo>
                  <a:pt x="491819" y="1418970"/>
                </a:lnTo>
                <a:close/>
              </a:path>
              <a:path w="634365" h="1499235">
                <a:moveTo>
                  <a:pt x="477614" y="1408810"/>
                </a:moveTo>
                <a:lnTo>
                  <a:pt x="477773" y="1408937"/>
                </a:lnTo>
                <a:lnTo>
                  <a:pt x="477614" y="1408810"/>
                </a:lnTo>
                <a:close/>
              </a:path>
              <a:path w="634365" h="1499235">
                <a:moveTo>
                  <a:pt x="463630" y="1397634"/>
                </a:moveTo>
                <a:lnTo>
                  <a:pt x="463778" y="1397761"/>
                </a:lnTo>
                <a:lnTo>
                  <a:pt x="463630" y="1397634"/>
                </a:lnTo>
                <a:close/>
              </a:path>
              <a:path w="634365" h="1499235">
                <a:moveTo>
                  <a:pt x="449645" y="1385570"/>
                </a:moveTo>
                <a:lnTo>
                  <a:pt x="449783" y="1385696"/>
                </a:lnTo>
                <a:lnTo>
                  <a:pt x="449645" y="1385570"/>
                </a:lnTo>
                <a:close/>
              </a:path>
              <a:path w="634365" h="1499235">
                <a:moveTo>
                  <a:pt x="435800" y="1372742"/>
                </a:moveTo>
                <a:lnTo>
                  <a:pt x="435927" y="1372870"/>
                </a:lnTo>
                <a:lnTo>
                  <a:pt x="435800" y="1372742"/>
                </a:lnTo>
                <a:close/>
              </a:path>
              <a:path w="634365" h="1499235">
                <a:moveTo>
                  <a:pt x="421951" y="1358899"/>
                </a:moveTo>
                <a:lnTo>
                  <a:pt x="422071" y="1359027"/>
                </a:lnTo>
                <a:lnTo>
                  <a:pt x="421951" y="1358899"/>
                </a:lnTo>
                <a:close/>
              </a:path>
              <a:path w="634365" h="1499235">
                <a:moveTo>
                  <a:pt x="408281" y="1344421"/>
                </a:moveTo>
                <a:close/>
              </a:path>
              <a:path w="634365" h="1499235">
                <a:moveTo>
                  <a:pt x="394699" y="1329054"/>
                </a:moveTo>
                <a:close/>
              </a:path>
              <a:path w="634365" h="1499235">
                <a:moveTo>
                  <a:pt x="381192" y="1312816"/>
                </a:moveTo>
                <a:close/>
              </a:path>
              <a:path w="634365" h="1499235">
                <a:moveTo>
                  <a:pt x="381178" y="1312798"/>
                </a:moveTo>
                <a:close/>
              </a:path>
              <a:path w="634365" h="1499235">
                <a:moveTo>
                  <a:pt x="367773" y="1295908"/>
                </a:moveTo>
                <a:close/>
              </a:path>
              <a:path w="634365" h="1499235">
                <a:moveTo>
                  <a:pt x="354533" y="1278127"/>
                </a:moveTo>
                <a:close/>
              </a:path>
              <a:path w="634365" h="1499235">
                <a:moveTo>
                  <a:pt x="328416" y="1240408"/>
                </a:moveTo>
                <a:close/>
              </a:path>
              <a:path w="634365" h="1499235">
                <a:moveTo>
                  <a:pt x="315633" y="1220596"/>
                </a:moveTo>
                <a:close/>
              </a:path>
              <a:path w="634365" h="1499235">
                <a:moveTo>
                  <a:pt x="302948" y="1199895"/>
                </a:moveTo>
                <a:close/>
              </a:path>
              <a:path w="634365" h="1499235">
                <a:moveTo>
                  <a:pt x="290537" y="1178559"/>
                </a:moveTo>
                <a:close/>
              </a:path>
              <a:path w="634365" h="1499235">
                <a:moveTo>
                  <a:pt x="278206" y="1156715"/>
                </a:moveTo>
                <a:close/>
              </a:path>
              <a:path w="634365" h="1499235">
                <a:moveTo>
                  <a:pt x="266077" y="1133983"/>
                </a:moveTo>
                <a:close/>
              </a:path>
              <a:path w="634365" h="1499235">
                <a:moveTo>
                  <a:pt x="254126" y="1110741"/>
                </a:moveTo>
                <a:close/>
              </a:path>
              <a:path w="634365" h="1499235">
                <a:moveTo>
                  <a:pt x="242354" y="1086992"/>
                </a:moveTo>
                <a:lnTo>
                  <a:pt x="242404" y="1087120"/>
                </a:lnTo>
                <a:lnTo>
                  <a:pt x="242354" y="1086992"/>
                </a:lnTo>
                <a:close/>
              </a:path>
              <a:path w="634365" h="1499235">
                <a:moveTo>
                  <a:pt x="230784" y="1062481"/>
                </a:moveTo>
                <a:lnTo>
                  <a:pt x="230835" y="1062608"/>
                </a:lnTo>
                <a:lnTo>
                  <a:pt x="230784" y="1062481"/>
                </a:lnTo>
                <a:close/>
              </a:path>
              <a:path w="634365" h="1499235">
                <a:moveTo>
                  <a:pt x="208394" y="1011935"/>
                </a:moveTo>
                <a:close/>
              </a:path>
              <a:path w="634365" h="1499235">
                <a:moveTo>
                  <a:pt x="186845" y="959230"/>
                </a:moveTo>
                <a:lnTo>
                  <a:pt x="186893" y="959357"/>
                </a:lnTo>
                <a:lnTo>
                  <a:pt x="186845" y="959230"/>
                </a:lnTo>
                <a:close/>
              </a:path>
              <a:path w="634365" h="1499235">
                <a:moveTo>
                  <a:pt x="166326" y="904366"/>
                </a:moveTo>
                <a:close/>
              </a:path>
              <a:path w="634365" h="1499235">
                <a:moveTo>
                  <a:pt x="146759" y="847724"/>
                </a:moveTo>
                <a:lnTo>
                  <a:pt x="146799" y="847851"/>
                </a:lnTo>
                <a:lnTo>
                  <a:pt x="146759" y="847724"/>
                </a:lnTo>
                <a:close/>
              </a:path>
              <a:path w="634365" h="1499235">
                <a:moveTo>
                  <a:pt x="128334" y="789304"/>
                </a:moveTo>
                <a:close/>
              </a:path>
              <a:path w="634365" h="1499235">
                <a:moveTo>
                  <a:pt x="110952" y="729106"/>
                </a:moveTo>
                <a:lnTo>
                  <a:pt x="110985" y="729233"/>
                </a:lnTo>
                <a:lnTo>
                  <a:pt x="110952" y="729106"/>
                </a:lnTo>
                <a:close/>
              </a:path>
              <a:path w="634365" h="1499235">
                <a:moveTo>
                  <a:pt x="94889" y="667638"/>
                </a:moveTo>
                <a:close/>
              </a:path>
              <a:path w="634365" h="1499235">
                <a:moveTo>
                  <a:pt x="80071" y="604773"/>
                </a:moveTo>
                <a:lnTo>
                  <a:pt x="80098" y="604901"/>
                </a:lnTo>
                <a:lnTo>
                  <a:pt x="80071" y="604773"/>
                </a:lnTo>
                <a:close/>
              </a:path>
              <a:path w="634365" h="1499235">
                <a:moveTo>
                  <a:pt x="66486" y="540638"/>
                </a:moveTo>
                <a:close/>
              </a:path>
              <a:path w="634365" h="1499235">
                <a:moveTo>
                  <a:pt x="54411" y="475361"/>
                </a:moveTo>
                <a:close/>
              </a:path>
              <a:path w="634365" h="1499235">
                <a:moveTo>
                  <a:pt x="43675" y="409193"/>
                </a:moveTo>
                <a:lnTo>
                  <a:pt x="43688" y="409448"/>
                </a:lnTo>
                <a:lnTo>
                  <a:pt x="43675" y="409193"/>
                </a:lnTo>
                <a:close/>
              </a:path>
              <a:path w="634365" h="1499235">
                <a:moveTo>
                  <a:pt x="34455" y="342264"/>
                </a:moveTo>
                <a:close/>
              </a:path>
              <a:path w="634365" h="1499235">
                <a:moveTo>
                  <a:pt x="26765" y="274629"/>
                </a:moveTo>
                <a:close/>
              </a:path>
              <a:path w="634365" h="1499235">
                <a:moveTo>
                  <a:pt x="26760" y="274574"/>
                </a:moveTo>
                <a:close/>
              </a:path>
              <a:path w="634365" h="1499235">
                <a:moveTo>
                  <a:pt x="20680" y="206501"/>
                </a:moveTo>
                <a:close/>
              </a:path>
              <a:path w="634365" h="1499235">
                <a:moveTo>
                  <a:pt x="16314" y="137910"/>
                </a:moveTo>
                <a:lnTo>
                  <a:pt x="16319" y="138049"/>
                </a:lnTo>
                <a:lnTo>
                  <a:pt x="16314" y="137910"/>
                </a:lnTo>
                <a:close/>
              </a:path>
              <a:path w="634365" h="1499235">
                <a:moveTo>
                  <a:pt x="16309" y="137794"/>
                </a:move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95016" y="4493767"/>
            <a:ext cx="683260" cy="76200"/>
          </a:xfrm>
          <a:custGeom>
            <a:avLst/>
            <a:gdLst/>
            <a:ahLst/>
            <a:cxnLst/>
            <a:rect l="l" t="t" r="r" b="b"/>
            <a:pathLst>
              <a:path w="683260" h="76200">
                <a:moveTo>
                  <a:pt x="607059" y="0"/>
                </a:moveTo>
                <a:lnTo>
                  <a:pt x="606796" y="31635"/>
                </a:lnTo>
                <a:lnTo>
                  <a:pt x="619506" y="31749"/>
                </a:lnTo>
                <a:lnTo>
                  <a:pt x="619379" y="44449"/>
                </a:lnTo>
                <a:lnTo>
                  <a:pt x="606689" y="44449"/>
                </a:lnTo>
                <a:lnTo>
                  <a:pt x="606424" y="76199"/>
                </a:lnTo>
                <a:lnTo>
                  <a:pt x="671216" y="44449"/>
                </a:lnTo>
                <a:lnTo>
                  <a:pt x="619379" y="44449"/>
                </a:lnTo>
                <a:lnTo>
                  <a:pt x="671450" y="44335"/>
                </a:lnTo>
                <a:lnTo>
                  <a:pt x="682879" y="38734"/>
                </a:lnTo>
                <a:lnTo>
                  <a:pt x="607059" y="0"/>
                </a:lnTo>
                <a:close/>
              </a:path>
              <a:path w="683260" h="76200">
                <a:moveTo>
                  <a:pt x="606796" y="31635"/>
                </a:moveTo>
                <a:lnTo>
                  <a:pt x="606690" y="44335"/>
                </a:lnTo>
                <a:lnTo>
                  <a:pt x="619379" y="44449"/>
                </a:lnTo>
                <a:lnTo>
                  <a:pt x="619506" y="31749"/>
                </a:lnTo>
                <a:lnTo>
                  <a:pt x="606796" y="31635"/>
                </a:lnTo>
                <a:close/>
              </a:path>
              <a:path w="683260" h="76200">
                <a:moveTo>
                  <a:pt x="0" y="26161"/>
                </a:moveTo>
                <a:lnTo>
                  <a:pt x="0" y="38861"/>
                </a:lnTo>
                <a:lnTo>
                  <a:pt x="606690" y="44335"/>
                </a:lnTo>
                <a:lnTo>
                  <a:pt x="606796" y="31635"/>
                </a:lnTo>
                <a:lnTo>
                  <a:pt x="0" y="26161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477767" y="2712720"/>
            <a:ext cx="1365885" cy="373380"/>
          </a:xfrm>
          <a:prstGeom prst="rect">
            <a:avLst/>
          </a:prstGeom>
          <a:solidFill>
            <a:srgbClr val="2CC3B4"/>
          </a:solidFill>
          <a:ln w="12700">
            <a:solidFill>
              <a:srgbClr val="0C5149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565"/>
              </a:spcBef>
            </a:pPr>
            <a:r>
              <a:rPr sz="1400" spc="70" dirty="0">
                <a:solidFill>
                  <a:srgbClr val="FFFFFF"/>
                </a:solidFill>
                <a:latin typeface="Tahoma"/>
                <a:cs typeface="Tahoma"/>
              </a:rPr>
              <a:t>Embeddings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22420" y="3086100"/>
            <a:ext cx="76200" cy="680720"/>
          </a:xfrm>
          <a:custGeom>
            <a:avLst/>
            <a:gdLst/>
            <a:ahLst/>
            <a:cxnLst/>
            <a:rect l="l" t="t" r="r" b="b"/>
            <a:pathLst>
              <a:path w="76200" h="680720">
                <a:moveTo>
                  <a:pt x="31750" y="604393"/>
                </a:moveTo>
                <a:lnTo>
                  <a:pt x="0" y="604393"/>
                </a:lnTo>
                <a:lnTo>
                  <a:pt x="38100" y="680593"/>
                </a:lnTo>
                <a:lnTo>
                  <a:pt x="69850" y="617093"/>
                </a:lnTo>
                <a:lnTo>
                  <a:pt x="31750" y="617093"/>
                </a:lnTo>
                <a:lnTo>
                  <a:pt x="31750" y="604393"/>
                </a:lnTo>
                <a:close/>
              </a:path>
              <a:path w="76200" h="680720">
                <a:moveTo>
                  <a:pt x="44450" y="0"/>
                </a:moveTo>
                <a:lnTo>
                  <a:pt x="31750" y="0"/>
                </a:lnTo>
                <a:lnTo>
                  <a:pt x="31750" y="617093"/>
                </a:lnTo>
                <a:lnTo>
                  <a:pt x="44450" y="617093"/>
                </a:lnTo>
                <a:lnTo>
                  <a:pt x="44450" y="0"/>
                </a:lnTo>
                <a:close/>
              </a:path>
              <a:path w="76200" h="680720">
                <a:moveTo>
                  <a:pt x="76200" y="604393"/>
                </a:moveTo>
                <a:lnTo>
                  <a:pt x="44450" y="604393"/>
                </a:lnTo>
                <a:lnTo>
                  <a:pt x="44450" y="617093"/>
                </a:lnTo>
                <a:lnTo>
                  <a:pt x="69850" y="617093"/>
                </a:lnTo>
                <a:lnTo>
                  <a:pt x="76200" y="604393"/>
                </a:lnTo>
                <a:close/>
              </a:path>
            </a:pathLst>
          </a:custGeom>
          <a:solidFill>
            <a:srgbClr val="ED76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951733" y="4291329"/>
            <a:ext cx="3651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15" dirty="0">
                <a:latin typeface="Tahoma"/>
                <a:cs typeface="Tahoma"/>
              </a:rPr>
              <a:t>Sto</a:t>
            </a:r>
            <a:r>
              <a:rPr sz="1100" spc="5" dirty="0">
                <a:latin typeface="Tahoma"/>
                <a:cs typeface="Tahoma"/>
              </a:rPr>
              <a:t>r</a:t>
            </a:r>
            <a:r>
              <a:rPr sz="1100" spc="50" dirty="0">
                <a:latin typeface="Tahoma"/>
                <a:cs typeface="Tahoma"/>
              </a:rPr>
              <a:t>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40148" y="3289172"/>
            <a:ext cx="4629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30" dirty="0">
                <a:latin typeface="Tahoma"/>
                <a:cs typeface="Tahoma"/>
              </a:rPr>
              <a:t>Se</a:t>
            </a:r>
            <a:r>
              <a:rPr sz="1100" spc="15" dirty="0">
                <a:latin typeface="Tahoma"/>
                <a:cs typeface="Tahoma"/>
              </a:rPr>
              <a:t>arch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50714" y="4290821"/>
            <a:ext cx="4114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50" dirty="0">
                <a:latin typeface="Tahoma"/>
                <a:cs typeface="Tahoma"/>
              </a:rPr>
              <a:t>To</a:t>
            </a:r>
            <a:r>
              <a:rPr sz="1100" spc="35" dirty="0">
                <a:latin typeface="Tahoma"/>
                <a:cs typeface="Tahoma"/>
              </a:rPr>
              <a:t>p</a:t>
            </a:r>
            <a:r>
              <a:rPr sz="1100" spc="-60" dirty="0">
                <a:latin typeface="Tahoma"/>
                <a:cs typeface="Tahoma"/>
              </a:rPr>
              <a:t>-</a:t>
            </a:r>
            <a:r>
              <a:rPr sz="1100" spc="45" dirty="0">
                <a:latin typeface="Tahoma"/>
                <a:cs typeface="Tahoma"/>
              </a:rPr>
              <a:t>K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05D750DC-DAAA-648C-39ED-BD7C4328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032DA-7734-4F8E-91F7-5F1AD188693A}" type="datetime1">
              <a:rPr lang="en-US" smtClean="0"/>
              <a:t>12/1/2025</a:t>
            </a:fld>
            <a:endParaRPr lang="en-US"/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B84EFC38-5E3F-E69F-79FB-D7B9CE9D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4FF6208C-2111-C262-E1F5-D9880435E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1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FA9117-D122-668F-AAC2-88ACC0482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  <a:t>Chunking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Chunking is the process of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urce-serif-pro"/>
              </a:rPr>
              <a:t>dividing the prompts and/or the documents to be retrieved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, into smaller, manageable segments or chunks.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These chunks can be defined either by a </a:t>
            </a:r>
            <a:r>
              <a:rPr lang="en-US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ource-serif-pro"/>
              </a:rPr>
              <a:t>fixed size, such as a specific number of characters, sentences or paragraphs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Each chunk is encoded into an </a:t>
            </a:r>
            <a:r>
              <a:rPr lang="en-US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ource-serif-pro"/>
              </a:rPr>
              <a:t>embedding vector for retrieval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Smaller, more </a:t>
            </a:r>
            <a:r>
              <a:rPr lang="en-US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ource-serif-pro"/>
              </a:rPr>
              <a:t>precise chunks lead to a finer match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 between the user’s query and the content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E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nhancing the accuracy and relevance of the information retrieved.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CA53E6-1FEF-432A-8A08-5B867593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AF3DC-95AB-4B65-A5E4-3A4B2593288E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18B26F-DF64-A564-0EF9-793A281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41B16-6244-CD2E-4E72-ECD73EDE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905D55-010F-B4D1-81FE-2CE63429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pc="-195" dirty="0"/>
              <a:t>Retrieval</a:t>
            </a:r>
            <a:r>
              <a:rPr lang="en-US" sz="3600" spc="30" dirty="0"/>
              <a:t> </a:t>
            </a:r>
            <a:r>
              <a:rPr lang="en-US" sz="3600" spc="-240" dirty="0"/>
              <a:t>Augmented</a:t>
            </a:r>
            <a:r>
              <a:rPr lang="en-US" sz="3600" spc="30" dirty="0"/>
              <a:t> </a:t>
            </a:r>
            <a:r>
              <a:rPr lang="en-US" sz="3600" spc="-160" dirty="0"/>
              <a:t>Generation: Ingestion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94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7856E4-058E-2A42-1021-51983B206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  <a:t>Embeddings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Transforming both the </a:t>
            </a:r>
            <a:r>
              <a:rPr lang="en-US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ource-serif-pro"/>
              </a:rPr>
              <a:t>user’s query (prompt) and the documents 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in the knowledge base into a format that can be effectively compared for relevance.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This is called </a:t>
            </a:r>
            <a:r>
              <a:rPr lang="en-US" b="1" dirty="0">
                <a:solidFill>
                  <a:srgbClr val="0070C0"/>
                </a:solidFill>
                <a:highlight>
                  <a:srgbClr val="FFFFFF"/>
                </a:highlight>
                <a:latin typeface="source-serif-pro"/>
              </a:rPr>
              <a:t>Embeddings</a:t>
            </a:r>
            <a:endParaRPr lang="en-US" b="1" i="0" dirty="0">
              <a:solidFill>
                <a:srgbClr val="0070C0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Important to retrieve the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source-serif-pro"/>
              </a:rPr>
              <a:t>most relevant information from its knowledge 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base in response to a user query. 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Many embedding models; select the one that best suited for your task</a:t>
            </a:r>
          </a:p>
          <a:p>
            <a:pPr lvl="1"/>
            <a:r>
              <a:rPr lang="en-US" b="0" i="0" u="sng" dirty="0" err="1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  <a:hlinkClick r:id="rId2"/>
              </a:rPr>
              <a:t>HuggingFace’s</a:t>
            </a:r>
            <a:r>
              <a:rPr lang="en-US" b="0" i="0" u="sng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  <a:hlinkClick r:id="rId2"/>
              </a:rPr>
              <a:t> Massive Text Embedding Benchmark (MTEB) leaderboard.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F39083-A4C4-B3BA-7B63-B16E3EC1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9E3B-FF08-4044-943B-4BF2609E3F05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BC487D-307A-6EF0-1F7A-E71F39A2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FF0D7-BCFC-E50D-1656-E729DE77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8C5655A-E770-DE9C-31DD-EA6986F7D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pc="-195" dirty="0"/>
              <a:t>Retrieval</a:t>
            </a:r>
            <a:r>
              <a:rPr lang="en-US" sz="3600" spc="30" dirty="0"/>
              <a:t> </a:t>
            </a:r>
            <a:r>
              <a:rPr lang="en-US" sz="3600" spc="-240" dirty="0"/>
              <a:t>Augmented</a:t>
            </a:r>
            <a:r>
              <a:rPr lang="en-US" sz="3600" spc="30" dirty="0"/>
              <a:t> </a:t>
            </a:r>
            <a:r>
              <a:rPr lang="en-US" sz="3600" spc="-160" dirty="0"/>
              <a:t>Generation: Ingestion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231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D37A55-73F8-F046-DFFB-88B27D5E7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Sparse embedding: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It refers to a method of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representing words or phrases in a high-dimensional space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where most of the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vector elements are zeros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</a:t>
            </a:r>
            <a:endParaRPr lang="en-US" dirty="0">
              <a:solidFill>
                <a:srgbClr val="242424"/>
              </a:solidFill>
              <a:highlight>
                <a:srgbClr val="FFFFFF"/>
              </a:highlight>
              <a:latin typeface="source-serif-pr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E.G. TF-IDF are great for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urce-serif-pro"/>
              </a:rPr>
              <a:t>lexical (word) matching 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the prompt with the documents.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It’s computationally less intensive but may not capture the deeper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source-serif-pro"/>
              </a:rPr>
              <a:t>semantic meanings in the text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CFD14-ACF1-FD4F-367D-7EE8057E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C224-5B5C-40F8-9567-4FAEA8D79A53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570E3-0484-5CC0-6A5E-EE8735A8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7E9421-056C-9D91-0FDC-9A759F0D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B5A320-EF3D-0EE0-7EAD-B1CA3789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pc="-195" dirty="0"/>
              <a:t>Retrieval</a:t>
            </a:r>
            <a:r>
              <a:rPr lang="en-US" sz="3600" spc="30" dirty="0"/>
              <a:t> </a:t>
            </a:r>
            <a:r>
              <a:rPr lang="en-US" sz="3600" spc="-240" dirty="0"/>
              <a:t>Augmented</a:t>
            </a:r>
            <a:r>
              <a:rPr lang="en-US" sz="3600" spc="30" dirty="0"/>
              <a:t> </a:t>
            </a:r>
            <a:r>
              <a:rPr lang="en-US" sz="3600" spc="-160" dirty="0"/>
              <a:t>Generation: Ingestion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322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057D61-7D33-285E-0B49-101D06F5D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Semantic embedding:</a:t>
            </a:r>
            <a:r>
              <a:rPr lang="en-US" sz="3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 Semantic embeddings, such </a:t>
            </a:r>
            <a:r>
              <a:rPr lang="en-US" sz="3200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source-serif-pro"/>
              </a:rPr>
              <a:t>as BERT or </a:t>
            </a:r>
            <a:r>
              <a:rPr lang="en-US" sz="3200" b="0" i="0" dirty="0" err="1">
                <a:solidFill>
                  <a:srgbClr val="0099CC"/>
                </a:solidFill>
                <a:effectLst/>
                <a:highlight>
                  <a:srgbClr val="FFFFFF"/>
                </a:highlight>
                <a:latin typeface="source-serif-pro"/>
              </a:rPr>
              <a:t>SentenceBERT</a:t>
            </a:r>
            <a:r>
              <a:rPr lang="en-US" sz="3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 are more suitable for RAG use cases.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BERT:</a:t>
            </a:r>
            <a:r>
              <a:rPr lang="en-US" sz="3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 Suitable for </a:t>
            </a:r>
            <a:r>
              <a:rPr lang="en-US" sz="3200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source-serif-pro"/>
              </a:rPr>
              <a:t>capturing contextual information </a:t>
            </a:r>
            <a:r>
              <a:rPr lang="en-US" sz="3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in both the documents and queries.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Requires </a:t>
            </a:r>
            <a:r>
              <a:rPr lang="en-US" sz="3200" b="0" i="0" dirty="0">
                <a:solidFill>
                  <a:srgbClr val="FFC000"/>
                </a:solidFill>
                <a:effectLst/>
                <a:highlight>
                  <a:srgbClr val="FFFFFF"/>
                </a:highlight>
                <a:latin typeface="source-serif-pro"/>
              </a:rPr>
              <a:t>more computational resources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O</a:t>
            </a:r>
            <a:r>
              <a:rPr lang="en-US" sz="3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ffers more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urce-serif-pro"/>
              </a:rPr>
              <a:t>semantically rich embeddings</a:t>
            </a:r>
            <a:r>
              <a:rPr lang="en-US" sz="3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.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7FD49-1940-6D73-78C7-DA44FD4D9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32235-A74B-4C90-8EBC-191251F64646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E766F-BFFD-A3EC-FEEB-95AA8B17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DC2C4-C632-5518-1348-407EB1B6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3F972C-0C63-9E03-6D63-FDDA23B4F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pc="-195" dirty="0"/>
              <a:t>Retrieval</a:t>
            </a:r>
            <a:r>
              <a:rPr lang="en-US" sz="3600" spc="30" dirty="0"/>
              <a:t> </a:t>
            </a:r>
            <a:r>
              <a:rPr lang="en-US" sz="3600" spc="-240" dirty="0"/>
              <a:t>Augmented</a:t>
            </a:r>
            <a:r>
              <a:rPr lang="en-US" sz="3600" spc="30" dirty="0"/>
              <a:t> </a:t>
            </a:r>
            <a:r>
              <a:rPr lang="en-US" sz="3600" spc="-160" dirty="0"/>
              <a:t>Generation: Ingestion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592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DADCC4-6F49-C66A-6A7C-AA9065DFB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SentenceBERT</a:t>
            </a:r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: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 Ideal for scenarios where the context and meaning at the sentence level are important.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This is usually the </a:t>
            </a:r>
            <a:r>
              <a:rPr lang="en-US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source-serif-pro"/>
              </a:rPr>
              <a:t>preferred for RAG application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For example: </a:t>
            </a:r>
            <a:r>
              <a:rPr lang="en-US" b="1" i="0" dirty="0">
                <a:effectLst/>
                <a:highlight>
                  <a:srgbClr val="FFFFFF"/>
                </a:highlight>
                <a:latin typeface="-apple-system"/>
              </a:rPr>
              <a:t>BERT</a:t>
            </a:r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 may not easily distinguish between sentences like "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-apple-system"/>
              </a:rPr>
              <a:t>Polar bears endangered as glaciers melt</a:t>
            </a:r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" and "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-apple-system"/>
              </a:rPr>
              <a:t>Polar bears feed on fish</a:t>
            </a:r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" </a:t>
            </a:r>
          </a:p>
          <a:p>
            <a:r>
              <a:rPr lang="en-US" b="1" dirty="0" err="1">
                <a:highlight>
                  <a:srgbClr val="FFFFFF"/>
                </a:highlight>
                <a:latin typeface="-apple-system"/>
              </a:rPr>
              <a:t>SentenceBERT</a:t>
            </a:r>
            <a:r>
              <a:rPr lang="en-US" dirty="0">
                <a:highlight>
                  <a:srgbClr val="FFFFFF"/>
                </a:highlight>
                <a:latin typeface="-apple-system"/>
              </a:rPr>
              <a:t> can</a:t>
            </a:r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 better understands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-apple-system"/>
              </a:rPr>
              <a:t>sentence meanings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9FFBB-1EB5-FB27-7596-A24DE61C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D5F6C-FBCA-4A49-9220-E5514D973AAC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19B68-E3CE-DC3E-C2BE-CDCCBB38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9B269-C213-09AD-7C0F-3CFDDD18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146DB1-3289-0A24-3C5A-ECA05009A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 BERT</a:t>
            </a:r>
          </a:p>
        </p:txBody>
      </p:sp>
    </p:spTree>
    <p:extLst>
      <p:ext uri="{BB962C8B-B14F-4D97-AF65-F5344CB8AC3E}">
        <p14:creationId xmlns:p14="http://schemas.microsoft.com/office/powerpoint/2010/main" val="12448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B97768-4B99-9CB1-A391-F0C71897B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BERT as a powerful </a:t>
            </a:r>
            <a:r>
              <a:rPr lang="en-US" dirty="0">
                <a:solidFill>
                  <a:srgbClr val="FF0000"/>
                </a:solidFill>
              </a:rPr>
              <a:t>pre-trained network for Mask Language Prediction or Sentence prediction</a:t>
            </a:r>
            <a:r>
              <a:rPr lang="en-US" dirty="0"/>
              <a:t>. </a:t>
            </a:r>
          </a:p>
          <a:p>
            <a:r>
              <a:rPr lang="en-US" dirty="0"/>
              <a:t>BERT faces a challenge in creating detailed </a:t>
            </a:r>
            <a:r>
              <a:rPr lang="en-US" dirty="0">
                <a:solidFill>
                  <a:srgbClr val="FFC000"/>
                </a:solidFill>
              </a:rPr>
              <a:t>sentence embeddings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00B050"/>
                </a:solidFill>
              </a:rPr>
              <a:t>Sentence-BERT</a:t>
            </a:r>
            <a:r>
              <a:rPr lang="en-US" dirty="0"/>
              <a:t> is making sentence embedding generation more straightforward. </a:t>
            </a:r>
          </a:p>
          <a:p>
            <a:r>
              <a:rPr lang="en-US" dirty="0"/>
              <a:t>Uses </a:t>
            </a:r>
            <a:r>
              <a:rPr lang="en-US" dirty="0">
                <a:solidFill>
                  <a:srgbClr val="00B0F0"/>
                </a:solidFill>
              </a:rPr>
              <a:t>Siamese architectures</a:t>
            </a:r>
            <a:r>
              <a:rPr lang="en-US" dirty="0"/>
              <a:t>, which effectively produce deeply </a:t>
            </a:r>
            <a:r>
              <a:rPr lang="en-US" dirty="0">
                <a:solidFill>
                  <a:srgbClr val="00B0F0"/>
                </a:solidFill>
              </a:rPr>
              <a:t>meaningful sentence embeddings</a:t>
            </a:r>
            <a:r>
              <a:rPr lang="en-US" dirty="0"/>
              <a:t>, boosting its performance.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Uses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-apple-system"/>
              </a:rPr>
              <a:t>Siamese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-apple-system"/>
              </a:rPr>
              <a:t>Network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-apple-system"/>
              </a:rPr>
              <a:t>and triplet loss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D0672-2D0C-AE48-5AF0-D24AAFCEF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73162-9224-4D7D-A3E4-0DD03D61CB25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9BD8A-5614-F5EE-2CC3-ED2D8186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1D2F6-BFCD-AA7A-2AEC-A334C062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EC2F8-9004-4801-CEBB-55BA0577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 BERT</a:t>
            </a:r>
          </a:p>
        </p:txBody>
      </p:sp>
    </p:spTree>
    <p:extLst>
      <p:ext uri="{BB962C8B-B14F-4D97-AF65-F5344CB8AC3E}">
        <p14:creationId xmlns:p14="http://schemas.microsoft.com/office/powerpoint/2010/main" val="131967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7E3F74-537C-CCEA-B5A2-730C9A9F6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578-1391-45A4-839C-5D930317B0FB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8CDA1-81B9-0E43-4145-6CC8610D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04CC68-0A4F-7848-F5CA-313C790C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CC53919-5BF6-C1F7-61B7-1D098DC1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SentenceBERT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8EF44B-234C-4F95-C6A2-071F6EA57C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89388"/>
            <a:ext cx="5161093" cy="498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174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6499AB-0515-BCD9-0333-7FBDAABFF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Bi-Encoder: </a:t>
            </a:r>
            <a:r>
              <a:rPr lang="en-US" dirty="0"/>
              <a:t>This encoder </a:t>
            </a:r>
            <a:r>
              <a:rPr lang="en-US" dirty="0">
                <a:solidFill>
                  <a:srgbClr val="FFC000"/>
                </a:solidFill>
              </a:rPr>
              <a:t>processes sentences independently, </a:t>
            </a:r>
            <a:r>
              <a:rPr lang="en-US" dirty="0"/>
              <a:t>resulting in two distinct embeddings</a:t>
            </a:r>
          </a:p>
          <a:p>
            <a:r>
              <a:rPr lang="en-US" dirty="0"/>
              <a:t>Embeddings are then compared to determine sentence similarity</a:t>
            </a:r>
          </a:p>
          <a:p>
            <a:pPr lvl="1"/>
            <a:r>
              <a:rPr lang="en-US" dirty="0"/>
              <a:t>Cosi</a:t>
            </a:r>
            <a:r>
              <a:rPr lang="en-US" dirty="0">
                <a:solidFill>
                  <a:srgbClr val="00B0F0"/>
                </a:solidFill>
              </a:rPr>
              <a:t>ne similarity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Cross-Encoder: </a:t>
            </a:r>
            <a:r>
              <a:rPr lang="en-US" dirty="0"/>
              <a:t>This encoder processes </a:t>
            </a:r>
            <a:r>
              <a:rPr lang="en-US" dirty="0">
                <a:solidFill>
                  <a:srgbClr val="FFC000"/>
                </a:solidFill>
              </a:rPr>
              <a:t>sentences together</a:t>
            </a:r>
            <a:r>
              <a:rPr lang="en-US" dirty="0"/>
              <a:t> through the Transformer network. 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It outputs a similarity score ranging from 0 to 1.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0E0722-2135-2DAD-609B-294B1605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5C4D-461C-4C6B-9AAE-23DCA248D11E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680EDA-0179-76D0-EFD0-BE4AF73A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7B8AC4-4EA6-5CA6-1EAE-774E34EE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3916CA4-8538-BBCF-440A-EF8BE1FF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 BERT</a:t>
            </a:r>
          </a:p>
        </p:txBody>
      </p:sp>
    </p:spTree>
    <p:extLst>
      <p:ext uri="{BB962C8B-B14F-4D97-AF65-F5344CB8AC3E}">
        <p14:creationId xmlns:p14="http://schemas.microsoft.com/office/powerpoint/2010/main" val="4142639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44FD9-95FD-0F14-4215-45BEB86FF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CB50-EE56-42D6-A477-EC1B087B6398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A402-708C-F098-2A5F-D9D3DDEE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ABB39-AA91-F631-4F58-FB3324FBA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B2A3BB4-0378-EF9A-1DA0-8D70737A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 BERT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C244924-C15F-5DF4-B2CE-CEF9A9671E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38595"/>
            <a:ext cx="8372475" cy="4776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885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891F50-ECAA-9614-4712-238BCF6AE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Sentence-BERT improves upon the original BERT model by integrating a 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-apple-system"/>
              </a:rPr>
              <a:t>pooling step </a:t>
            </a:r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with its outputs. 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This addition transforms the outputs into 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-apple-system"/>
              </a:rPr>
              <a:t>consistent-sized sentence embeddings</a:t>
            </a:r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505DC-4979-D2FB-F753-D9329FA8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0CED-920E-4608-A23D-D9D98A0705B3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2B1F4-8EF0-4E2B-B09F-D70896BA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AD81E-13DF-3619-C350-33E67643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839B1B3-5B88-FD8F-CA69-E3E9629A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 BERT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48EC4C-CA21-1CA9-AF9F-2DF8CABA1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408350"/>
            <a:ext cx="4743450" cy="271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57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98DABA-BBBF-84BA-B922-6364BC2C0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check the best suited Model e.g. from </a:t>
            </a:r>
            <a:r>
              <a:rPr lang="en-US" dirty="0" err="1"/>
              <a:t>HuggingFace’s</a:t>
            </a:r>
            <a:r>
              <a:rPr lang="en-US" dirty="0"/>
              <a:t> MTEB:</a:t>
            </a:r>
          </a:p>
          <a:p>
            <a:r>
              <a:rPr lang="en-US" b="0" i="0" dirty="0">
                <a:solidFill>
                  <a:srgbClr val="1F2937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  <a:hlinkClick r:id="rId2"/>
              </a:rPr>
              <a:t>Massive Text Embedding Benchmark (MTEB) Leaderboard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7450C-8F53-C0D8-C63C-7B5F364A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66F3-8C9B-46BF-BE26-39802B584E39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2BB19-EF70-EA6A-1A2F-BCD86AE3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17E21-6F85-124F-DFC8-8E3237FD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37B07B-91E5-4C23-14D2-6E3C0D97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Tokenizer to use?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45E434-DFDA-62FC-57A6-3197AD05B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063518"/>
            <a:ext cx="8733297" cy="343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11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1BB2EA-80F8-45E1-47A9-700FD9513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Response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The 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model 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ource-serif-pro"/>
              </a:rPr>
              <a:t>synthesizes the retrieved information 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with its pre-trained knowledge to generate coherent and contextually relevant responses.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This process involves a </a:t>
            </a:r>
            <a:r>
              <a:rPr lang="en-US" b="0" i="0" dirty="0">
                <a:solidFill>
                  <a:srgbClr val="FFC000"/>
                </a:solidFill>
                <a:effectLst/>
                <a:highlight>
                  <a:srgbClr val="FFFFFF"/>
                </a:highlight>
                <a:latin typeface="source-serif-pro"/>
              </a:rPr>
              <a:t>generative relevant response that is not only informative but also aligns with the user’s original query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, maintaining a natural and conversational tone.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Creating an expanded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urce-serif-pro"/>
              </a:rPr>
              <a:t>prompt (with the retrieved top-k chunks) for an LLM could enhance the RAG system’s effectiveness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Make the system more performant. 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93DB82-839A-B566-51C9-8C9F3FDFF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5B860-B98A-42AC-B94E-0A5C6D345939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DFF2D-686A-F076-3369-8103D42C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733E8-A47E-21E9-C758-0B62AB66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E6FB7D-7236-B2BB-5796-7EB98AAB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pc="-195" dirty="0"/>
              <a:t>Retrieval</a:t>
            </a:r>
            <a:r>
              <a:rPr lang="en-US" sz="3600" spc="30" dirty="0"/>
              <a:t> </a:t>
            </a:r>
            <a:r>
              <a:rPr lang="en-US" sz="3600" spc="-240" dirty="0"/>
              <a:t>Augmented</a:t>
            </a:r>
            <a:r>
              <a:rPr lang="en-US" sz="3600" spc="30" dirty="0"/>
              <a:t> </a:t>
            </a:r>
            <a:r>
              <a:rPr lang="en-US" sz="3600" spc="-160" dirty="0"/>
              <a:t>Generation: Ingestion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886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45DF6A-370F-2856-143A-3B06CE98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pc="155" dirty="0">
                <a:latin typeface="Tahoma"/>
                <a:cs typeface="Tahoma"/>
              </a:rPr>
              <a:t>A</a:t>
            </a:r>
            <a:r>
              <a:rPr lang="en-US" sz="2800" spc="-120" dirty="0">
                <a:latin typeface="Tahoma"/>
                <a:cs typeface="Tahoma"/>
              </a:rPr>
              <a:t> </a:t>
            </a:r>
            <a:r>
              <a:rPr lang="en-US" sz="2800" spc="30" dirty="0">
                <a:solidFill>
                  <a:srgbClr val="FF0000"/>
                </a:solidFill>
                <a:latin typeface="Tahoma"/>
                <a:cs typeface="Tahoma"/>
              </a:rPr>
              <a:t>vector</a:t>
            </a:r>
            <a:r>
              <a:rPr lang="en-US" sz="2800" spc="-1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800" spc="35" dirty="0">
                <a:solidFill>
                  <a:srgbClr val="FF0000"/>
                </a:solidFill>
                <a:latin typeface="Tahoma"/>
                <a:cs typeface="Tahoma"/>
              </a:rPr>
              <a:t>database</a:t>
            </a:r>
            <a:r>
              <a:rPr lang="en-US" sz="2800" spc="-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800" spc="15" dirty="0">
                <a:solidFill>
                  <a:srgbClr val="FF0000"/>
                </a:solidFill>
                <a:latin typeface="Tahoma"/>
                <a:cs typeface="Tahoma"/>
              </a:rPr>
              <a:t>stores</a:t>
            </a:r>
            <a:r>
              <a:rPr lang="en-US" sz="2800" spc="-9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800" spc="25" dirty="0">
                <a:solidFill>
                  <a:srgbClr val="FF0000"/>
                </a:solidFill>
                <a:latin typeface="Tahoma"/>
                <a:cs typeface="Tahoma"/>
              </a:rPr>
              <a:t>vectors</a:t>
            </a:r>
            <a:r>
              <a:rPr lang="en-US" sz="2800" spc="-9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800" spc="3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lang="en-US" sz="28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800" spc="25" dirty="0">
                <a:solidFill>
                  <a:srgbClr val="FF0000"/>
                </a:solidFill>
                <a:latin typeface="Tahoma"/>
                <a:cs typeface="Tahoma"/>
              </a:rPr>
              <a:t>fixed</a:t>
            </a:r>
            <a:r>
              <a:rPr lang="en-US" sz="2800" spc="-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800" spc="45" dirty="0">
                <a:solidFill>
                  <a:srgbClr val="FF0000"/>
                </a:solidFill>
                <a:latin typeface="Tahoma"/>
                <a:cs typeface="Tahoma"/>
              </a:rPr>
              <a:t>dimensions</a:t>
            </a:r>
            <a:r>
              <a:rPr lang="en-US" sz="2800" spc="-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800" spc="30" dirty="0">
                <a:latin typeface="Tahoma"/>
                <a:cs typeface="Tahoma"/>
              </a:rPr>
              <a:t>(called</a:t>
            </a:r>
            <a:r>
              <a:rPr lang="en-US" sz="2800" spc="-110" dirty="0">
                <a:latin typeface="Tahoma"/>
                <a:cs typeface="Tahoma"/>
              </a:rPr>
              <a:t> </a:t>
            </a:r>
            <a:r>
              <a:rPr lang="en-US" sz="2800" spc="55" dirty="0">
                <a:latin typeface="Tahoma"/>
                <a:cs typeface="Tahoma"/>
              </a:rPr>
              <a:t>embeddings)</a:t>
            </a:r>
            <a:r>
              <a:rPr lang="en-US" sz="2800" spc="-70" dirty="0">
                <a:latin typeface="Tahoma"/>
                <a:cs typeface="Tahoma"/>
              </a:rPr>
              <a:t> </a:t>
            </a:r>
          </a:p>
          <a:p>
            <a:r>
              <a:rPr lang="en-US" sz="2800" spc="30" dirty="0">
                <a:latin typeface="Tahoma"/>
                <a:cs typeface="Tahoma"/>
              </a:rPr>
              <a:t>We can</a:t>
            </a:r>
            <a:r>
              <a:rPr lang="en-US" sz="2800" spc="-105" dirty="0">
                <a:latin typeface="Tahoma"/>
                <a:cs typeface="Tahoma"/>
              </a:rPr>
              <a:t> </a:t>
            </a:r>
            <a:r>
              <a:rPr lang="en-US" sz="2800" spc="25" dirty="0">
                <a:latin typeface="Tahoma"/>
                <a:cs typeface="Tahoma"/>
              </a:rPr>
              <a:t>then</a:t>
            </a:r>
            <a:r>
              <a:rPr lang="en-US" sz="2800" spc="-80" dirty="0">
                <a:latin typeface="Tahoma"/>
                <a:cs typeface="Tahoma"/>
              </a:rPr>
              <a:t> </a:t>
            </a:r>
            <a:r>
              <a:rPr lang="en-US" sz="2800" spc="35" dirty="0">
                <a:solidFill>
                  <a:srgbClr val="FFC000"/>
                </a:solidFill>
                <a:latin typeface="Tahoma"/>
                <a:cs typeface="Tahoma"/>
              </a:rPr>
              <a:t>query</a:t>
            </a:r>
            <a:r>
              <a:rPr lang="en-US" sz="2800" spc="-100" dirty="0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lang="en-US" sz="2800" spc="20" dirty="0">
                <a:solidFill>
                  <a:srgbClr val="FFC000"/>
                </a:solidFill>
                <a:latin typeface="Tahoma"/>
                <a:cs typeface="Tahoma"/>
              </a:rPr>
              <a:t>the </a:t>
            </a:r>
            <a:r>
              <a:rPr lang="en-US" sz="2800" spc="-484" dirty="0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lang="en-US" sz="2800" spc="40" dirty="0">
                <a:solidFill>
                  <a:srgbClr val="FFC000"/>
                </a:solidFill>
                <a:latin typeface="Tahoma"/>
                <a:cs typeface="Tahoma"/>
              </a:rPr>
              <a:t>database</a:t>
            </a:r>
            <a:r>
              <a:rPr lang="en-US" sz="2800" spc="-95" dirty="0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lang="en-US" sz="2800" spc="35" dirty="0">
                <a:solidFill>
                  <a:srgbClr val="FFC000"/>
                </a:solidFill>
                <a:latin typeface="Tahoma"/>
                <a:cs typeface="Tahoma"/>
              </a:rPr>
              <a:t>to</a:t>
            </a:r>
            <a:r>
              <a:rPr lang="en-US" sz="2800" spc="-85" dirty="0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lang="en-US" sz="2800" spc="35" dirty="0">
                <a:solidFill>
                  <a:srgbClr val="FFC000"/>
                </a:solidFill>
                <a:latin typeface="Tahoma"/>
                <a:cs typeface="Tahoma"/>
              </a:rPr>
              <a:t>search </a:t>
            </a:r>
            <a:r>
              <a:rPr lang="en-US" sz="2800" spc="35" dirty="0">
                <a:latin typeface="Tahoma"/>
                <a:cs typeface="Tahoma"/>
              </a:rPr>
              <a:t>the closest </a:t>
            </a:r>
            <a:r>
              <a:rPr lang="en-US" sz="2800" spc="75" dirty="0">
                <a:latin typeface="Tahoma"/>
                <a:cs typeface="Tahoma"/>
              </a:rPr>
              <a:t>embeddings</a:t>
            </a:r>
            <a:r>
              <a:rPr lang="en-US" sz="2800" spc="-70" dirty="0">
                <a:latin typeface="Tahoma"/>
                <a:cs typeface="Tahoma"/>
              </a:rPr>
              <a:t> </a:t>
            </a:r>
            <a:r>
              <a:rPr lang="en-US" sz="2800" spc="35" dirty="0">
                <a:latin typeface="Tahoma"/>
                <a:cs typeface="Tahoma"/>
              </a:rPr>
              <a:t>to</a:t>
            </a:r>
            <a:r>
              <a:rPr lang="en-US" sz="2800" spc="-95" dirty="0">
                <a:latin typeface="Tahoma"/>
                <a:cs typeface="Tahoma"/>
              </a:rPr>
              <a:t> </a:t>
            </a:r>
            <a:r>
              <a:rPr lang="en-US" sz="2800" spc="10" dirty="0">
                <a:latin typeface="Tahoma"/>
                <a:cs typeface="Tahoma"/>
              </a:rPr>
              <a:t>a</a:t>
            </a:r>
            <a:r>
              <a:rPr lang="en-US" sz="2800" spc="-95" dirty="0">
                <a:latin typeface="Tahoma"/>
                <a:cs typeface="Tahoma"/>
              </a:rPr>
              <a:t> </a:t>
            </a:r>
            <a:r>
              <a:rPr lang="en-US" sz="2800" spc="45" dirty="0">
                <a:latin typeface="Tahoma"/>
                <a:cs typeface="Tahoma"/>
              </a:rPr>
              <a:t>given</a:t>
            </a:r>
            <a:r>
              <a:rPr lang="en-US" sz="2800" spc="-105" dirty="0">
                <a:latin typeface="Tahoma"/>
                <a:cs typeface="Tahoma"/>
              </a:rPr>
              <a:t> </a:t>
            </a:r>
            <a:r>
              <a:rPr lang="en-US" sz="2800" spc="35" dirty="0">
                <a:latin typeface="Tahoma"/>
                <a:cs typeface="Tahoma"/>
              </a:rPr>
              <a:t>query</a:t>
            </a:r>
            <a:r>
              <a:rPr lang="en-US" sz="2800" spc="-90" dirty="0">
                <a:latin typeface="Tahoma"/>
                <a:cs typeface="Tahoma"/>
              </a:rPr>
              <a:t> </a:t>
            </a:r>
            <a:r>
              <a:rPr lang="en-US" sz="2800" spc="30" dirty="0">
                <a:latin typeface="Tahoma"/>
                <a:cs typeface="Tahoma"/>
              </a:rPr>
              <a:t>vector</a:t>
            </a:r>
          </a:p>
          <a:p>
            <a:pPr lvl="1"/>
            <a:r>
              <a:rPr lang="en-US" spc="-105" dirty="0">
                <a:latin typeface="Tahoma"/>
                <a:cs typeface="Tahoma"/>
              </a:rPr>
              <a:t>Employ </a:t>
            </a:r>
            <a:r>
              <a:rPr lang="en-US" spc="10" dirty="0">
                <a:latin typeface="Tahoma"/>
                <a:cs typeface="Tahoma"/>
              </a:rPr>
              <a:t>a</a:t>
            </a:r>
            <a:r>
              <a:rPr lang="en-US" spc="-100" dirty="0">
                <a:latin typeface="Tahoma"/>
                <a:cs typeface="Tahoma"/>
              </a:rPr>
              <a:t> </a:t>
            </a:r>
            <a:r>
              <a:rPr lang="en-US" spc="30" dirty="0">
                <a:latin typeface="Tahoma"/>
                <a:cs typeface="Tahoma"/>
              </a:rPr>
              <a:t>distance </a:t>
            </a:r>
            <a:r>
              <a:rPr lang="en-US" spc="-484" dirty="0">
                <a:latin typeface="Tahoma"/>
                <a:cs typeface="Tahoma"/>
              </a:rPr>
              <a:t> </a:t>
            </a:r>
            <a:r>
              <a:rPr lang="en-US" spc="15" dirty="0">
                <a:latin typeface="Tahoma"/>
                <a:cs typeface="Tahoma"/>
              </a:rPr>
              <a:t>metric (such as </a:t>
            </a:r>
            <a:r>
              <a:rPr lang="en-US" spc="45" dirty="0">
                <a:solidFill>
                  <a:srgbClr val="00B0F0"/>
                </a:solidFill>
                <a:latin typeface="Tahoma"/>
                <a:cs typeface="Tahoma"/>
              </a:rPr>
              <a:t>cosine</a:t>
            </a:r>
            <a:r>
              <a:rPr lang="en-US" spc="-90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00B0F0"/>
                </a:solidFill>
                <a:latin typeface="Tahoma"/>
                <a:cs typeface="Tahoma"/>
              </a:rPr>
              <a:t>similarity,</a:t>
            </a:r>
            <a:r>
              <a:rPr lang="en-US" spc="-135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lang="en-US" spc="45" dirty="0">
                <a:solidFill>
                  <a:srgbClr val="00B0F0"/>
                </a:solidFill>
                <a:latin typeface="Tahoma"/>
                <a:cs typeface="Tahoma"/>
              </a:rPr>
              <a:t>Euclidean</a:t>
            </a:r>
            <a:r>
              <a:rPr lang="en-US" spc="-95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lang="en-US" spc="20" dirty="0">
                <a:solidFill>
                  <a:srgbClr val="00B0F0"/>
                </a:solidFill>
                <a:latin typeface="Tahoma"/>
                <a:cs typeface="Tahoma"/>
              </a:rPr>
              <a:t>distance</a:t>
            </a:r>
            <a:r>
              <a:rPr lang="en-US" spc="20" dirty="0">
                <a:latin typeface="Tahoma"/>
                <a:cs typeface="Tahoma"/>
              </a:rPr>
              <a:t>)</a:t>
            </a:r>
          </a:p>
          <a:p>
            <a:r>
              <a:rPr lang="en-US" spc="15" dirty="0">
                <a:latin typeface="Tahoma"/>
                <a:cs typeface="Tahoma"/>
              </a:rPr>
              <a:t>Can use </a:t>
            </a:r>
            <a:r>
              <a:rPr lang="en-US" spc="114" dirty="0">
                <a:solidFill>
                  <a:srgbClr val="00B0F0"/>
                </a:solidFill>
                <a:latin typeface="Tahoma"/>
                <a:cs typeface="Tahoma"/>
              </a:rPr>
              <a:t>KNN</a:t>
            </a:r>
            <a:r>
              <a:rPr lang="en-US" spc="-85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lang="en-US" spc="-40" dirty="0">
                <a:solidFill>
                  <a:srgbClr val="00B0F0"/>
                </a:solidFill>
                <a:latin typeface="Tahoma"/>
                <a:cs typeface="Tahoma"/>
              </a:rPr>
              <a:t>(K</a:t>
            </a:r>
            <a:r>
              <a:rPr lang="en-US" spc="-120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lang="en-US" spc="30" dirty="0">
                <a:solidFill>
                  <a:srgbClr val="00B0F0"/>
                </a:solidFill>
                <a:latin typeface="Tahoma"/>
                <a:cs typeface="Tahoma"/>
              </a:rPr>
              <a:t>Nearest</a:t>
            </a:r>
            <a:r>
              <a:rPr lang="en-US" spc="-90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lang="en-US" spc="50" dirty="0">
                <a:solidFill>
                  <a:srgbClr val="00B0F0"/>
                </a:solidFill>
                <a:latin typeface="Tahoma"/>
                <a:cs typeface="Tahoma"/>
              </a:rPr>
              <a:t>Neighbor)</a:t>
            </a:r>
            <a:r>
              <a:rPr lang="en-US" spc="-90" dirty="0">
                <a:solidFill>
                  <a:srgbClr val="00B0F0"/>
                </a:solidFill>
                <a:latin typeface="Tahoma"/>
                <a:cs typeface="Tahoma"/>
              </a:rPr>
              <a:t> </a:t>
            </a:r>
            <a:r>
              <a:rPr lang="en-US" spc="40" dirty="0">
                <a:latin typeface="Tahoma"/>
                <a:cs typeface="Tahoma"/>
              </a:rPr>
              <a:t>algorithm</a:t>
            </a:r>
            <a:r>
              <a:rPr lang="en-US" spc="-75" dirty="0">
                <a:latin typeface="Tahoma"/>
                <a:cs typeface="Tahoma"/>
              </a:rPr>
              <a:t> </a:t>
            </a:r>
            <a:r>
              <a:rPr lang="en-US" spc="50" dirty="0">
                <a:latin typeface="Tahoma"/>
                <a:cs typeface="Tahoma"/>
              </a:rPr>
              <a:t>or</a:t>
            </a:r>
            <a:r>
              <a:rPr lang="en-US" spc="-85" dirty="0">
                <a:latin typeface="Tahoma"/>
                <a:cs typeface="Tahoma"/>
              </a:rPr>
              <a:t> </a:t>
            </a:r>
            <a:r>
              <a:rPr lang="en-US" spc="30" dirty="0">
                <a:latin typeface="Tahoma"/>
                <a:cs typeface="Tahoma"/>
              </a:rPr>
              <a:t>another</a:t>
            </a:r>
            <a:r>
              <a:rPr lang="en-US" spc="-85" dirty="0">
                <a:latin typeface="Tahoma"/>
                <a:cs typeface="Tahoma"/>
              </a:rPr>
              <a:t> </a:t>
            </a:r>
            <a:r>
              <a:rPr lang="en-US" spc="10" dirty="0">
                <a:latin typeface="Tahoma"/>
                <a:cs typeface="Tahoma"/>
              </a:rPr>
              <a:t>similarity</a:t>
            </a:r>
            <a:r>
              <a:rPr lang="en-US" spc="-75" dirty="0">
                <a:latin typeface="Tahoma"/>
                <a:cs typeface="Tahoma"/>
              </a:rPr>
              <a:t> </a:t>
            </a:r>
            <a:r>
              <a:rPr lang="en-US" spc="20" dirty="0">
                <a:latin typeface="Tahoma"/>
                <a:cs typeface="Tahoma"/>
              </a:rPr>
              <a:t>search</a:t>
            </a:r>
            <a:r>
              <a:rPr lang="en-US" spc="-90" dirty="0">
                <a:latin typeface="Tahoma"/>
                <a:cs typeface="Tahoma"/>
              </a:rPr>
              <a:t> </a:t>
            </a:r>
            <a:r>
              <a:rPr lang="en-US" spc="25" dirty="0">
                <a:latin typeface="Tahoma"/>
                <a:cs typeface="Tahoma"/>
              </a:rPr>
              <a:t>algorithm.</a:t>
            </a:r>
            <a:r>
              <a:rPr lang="en-US" spc="-160" dirty="0">
                <a:latin typeface="Tahoma"/>
                <a:cs typeface="Tahoma"/>
              </a:rPr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7CF07-5F4E-11D7-AE61-20689199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A5D8-0343-4292-A874-264991312AAC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BFBD3-C315-8E7F-3BF5-BB6A46D60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9B9D7-6A43-8706-CB4C-C287E17F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317CBD-967B-07DA-7C1D-D6B9FDBC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Vector DB: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32646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06FD01-6E4F-45B6-5E83-9CD8559BF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6834" y="1600200"/>
            <a:ext cx="7598332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9E698-A3B8-4865-482C-77C3A1073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C8B05-6598-4B30-B661-8D8E3F085D95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D559F-027F-EDE1-1E83-AB6ECB02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0A60-0123-F005-94BB-17F49CA8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3A5F528-EF38-1F3F-F117-82324B94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DB: introduction</a:t>
            </a:r>
          </a:p>
        </p:txBody>
      </p:sp>
    </p:spTree>
    <p:extLst>
      <p:ext uri="{BB962C8B-B14F-4D97-AF65-F5344CB8AC3E}">
        <p14:creationId xmlns:p14="http://schemas.microsoft.com/office/powerpoint/2010/main" val="1333273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745290"/>
            <a:ext cx="10972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Vector DB: introduction</a:t>
            </a:r>
            <a:endParaRPr spc="-265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87D9E6-1F7D-170D-88F9-1A29C0E98F10}"/>
              </a:ext>
            </a:extLst>
          </p:cNvPr>
          <p:cNvGrpSpPr/>
          <p:nvPr/>
        </p:nvGrpSpPr>
        <p:grpSpPr>
          <a:xfrm>
            <a:off x="685800" y="1981200"/>
            <a:ext cx="10272140" cy="3682493"/>
            <a:chOff x="1283208" y="3076955"/>
            <a:chExt cx="10272140" cy="3682493"/>
          </a:xfrm>
        </p:grpSpPr>
        <p:sp>
          <p:nvSpPr>
            <p:cNvPr id="4" name="object 4"/>
            <p:cNvSpPr txBox="1"/>
            <p:nvPr/>
          </p:nvSpPr>
          <p:spPr>
            <a:xfrm>
              <a:off x="4643628" y="3450335"/>
              <a:ext cx="1365885" cy="474345"/>
            </a:xfrm>
            <a:prstGeom prst="rect">
              <a:avLst/>
            </a:prstGeom>
            <a:solidFill>
              <a:srgbClr val="C096F8"/>
            </a:solidFill>
            <a:ln w="12700">
              <a:solidFill>
                <a:srgbClr val="4F3C69"/>
              </a:solidFill>
            </a:ln>
          </p:spPr>
          <p:txBody>
            <a:bodyPr vert="horz" wrap="square" lIns="0" tIns="121920" rIns="0" bIns="0" rtlCol="0">
              <a:spAutoFit/>
            </a:bodyPr>
            <a:lstStyle/>
            <a:p>
              <a:pPr marL="427990">
                <a:lnSpc>
                  <a:spcPct val="100000"/>
                </a:lnSpc>
                <a:spcBef>
                  <a:spcPts val="960"/>
                </a:spcBef>
              </a:pPr>
              <a:r>
                <a:rPr sz="1400" spc="50" dirty="0">
                  <a:solidFill>
                    <a:srgbClr val="FFFFFF"/>
                  </a:solidFill>
                  <a:latin typeface="Tahoma"/>
                  <a:cs typeface="Tahoma"/>
                </a:rPr>
                <a:t>Query</a:t>
              </a:r>
              <a:endParaRPr sz="1400">
                <a:latin typeface="Tahoma"/>
                <a:cs typeface="Tahom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4643628" y="5193791"/>
              <a:ext cx="1365885" cy="1534795"/>
            </a:xfrm>
            <a:prstGeom prst="rect">
              <a:avLst/>
            </a:prstGeom>
            <a:solidFill>
              <a:srgbClr val="FF9413"/>
            </a:solidFill>
            <a:ln w="12700">
              <a:solidFill>
                <a:srgbClr val="6C3B03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endParaRPr sz="1700">
                <a:latin typeface="Times New Roman"/>
                <a:cs typeface="Times New Roman"/>
              </a:endParaRPr>
            </a:p>
            <a:p>
              <a:pPr>
                <a:lnSpc>
                  <a:spcPct val="100000"/>
                </a:lnSpc>
              </a:pPr>
              <a:endParaRPr sz="1700">
                <a:latin typeface="Times New Roman"/>
                <a:cs typeface="Times New Roman"/>
              </a:endParaRPr>
            </a:p>
            <a:p>
              <a:pPr marL="275590">
                <a:lnSpc>
                  <a:spcPct val="100000"/>
                </a:lnSpc>
                <a:spcBef>
                  <a:spcPts val="1230"/>
                </a:spcBef>
              </a:pPr>
              <a:r>
                <a:rPr sz="1400" spc="-25" dirty="0">
                  <a:solidFill>
                    <a:srgbClr val="FFFFFF"/>
                  </a:solidFill>
                  <a:latin typeface="Tahoma"/>
                  <a:cs typeface="Tahoma"/>
                </a:rPr>
                <a:t>V</a:t>
              </a:r>
              <a:r>
                <a:rPr sz="1400" spc="60" dirty="0">
                  <a:solidFill>
                    <a:srgbClr val="FFFFFF"/>
                  </a:solidFill>
                  <a:latin typeface="Tahoma"/>
                  <a:cs typeface="Tahoma"/>
                </a:rPr>
                <a:t>ec</a:t>
              </a:r>
              <a:r>
                <a:rPr sz="1400" spc="25" dirty="0">
                  <a:solidFill>
                    <a:srgbClr val="FFFFFF"/>
                  </a:solidFill>
                  <a:latin typeface="Tahoma"/>
                  <a:cs typeface="Tahoma"/>
                </a:rPr>
                <a:t>t</a:t>
              </a:r>
              <a:r>
                <a:rPr sz="1400" spc="35" dirty="0">
                  <a:solidFill>
                    <a:srgbClr val="FFFFFF"/>
                  </a:solidFill>
                  <a:latin typeface="Tahoma"/>
                  <a:cs typeface="Tahoma"/>
                </a:rPr>
                <a:t>o</a:t>
              </a:r>
              <a:r>
                <a:rPr sz="1400" dirty="0">
                  <a:solidFill>
                    <a:srgbClr val="FFFFFF"/>
                  </a:solidFill>
                  <a:latin typeface="Tahoma"/>
                  <a:cs typeface="Tahoma"/>
                </a:rPr>
                <a:t>r</a:t>
              </a:r>
              <a:r>
                <a:rPr sz="1400" spc="-114" dirty="0">
                  <a:solidFill>
                    <a:srgbClr val="FFFFFF"/>
                  </a:solidFill>
                  <a:latin typeface="Tahoma"/>
                  <a:cs typeface="Tahoma"/>
                </a:rPr>
                <a:t> </a:t>
              </a:r>
              <a:r>
                <a:rPr sz="1400" spc="110" dirty="0">
                  <a:solidFill>
                    <a:srgbClr val="FFFFFF"/>
                  </a:solidFill>
                  <a:latin typeface="Tahoma"/>
                  <a:cs typeface="Tahoma"/>
                </a:rPr>
                <a:t>D</a:t>
              </a:r>
              <a:r>
                <a:rPr sz="1400" spc="65" dirty="0">
                  <a:solidFill>
                    <a:srgbClr val="FFFFFF"/>
                  </a:solidFill>
                  <a:latin typeface="Tahoma"/>
                  <a:cs typeface="Tahoma"/>
                </a:rPr>
                <a:t>B</a:t>
              </a:r>
              <a:endParaRPr sz="1400">
                <a:latin typeface="Tahoma"/>
                <a:cs typeface="Tahom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2903220" y="3512820"/>
              <a:ext cx="1367155" cy="260985"/>
            </a:xfrm>
            <a:prstGeom prst="rect">
              <a:avLst/>
            </a:prstGeom>
            <a:solidFill>
              <a:srgbClr val="FF9413"/>
            </a:solidFill>
            <a:ln w="12700">
              <a:solidFill>
                <a:srgbClr val="6C3B03"/>
              </a:solidFill>
            </a:ln>
          </p:spPr>
          <p:txBody>
            <a:bodyPr vert="horz" wrap="square" lIns="0" tIns="31750" rIns="0" bIns="0" rtlCol="0">
              <a:spAutoFit/>
            </a:bodyPr>
            <a:lstStyle/>
            <a:p>
              <a:pPr marL="296545">
                <a:lnSpc>
                  <a:spcPct val="100000"/>
                </a:lnSpc>
                <a:spcBef>
                  <a:spcPts val="250"/>
                </a:spcBef>
              </a:pPr>
              <a:r>
                <a:rPr sz="1200" spc="25" dirty="0">
                  <a:solidFill>
                    <a:srgbClr val="FFFFFF"/>
                  </a:solidFill>
                  <a:latin typeface="Tahoma"/>
                  <a:cs typeface="Tahoma"/>
                </a:rPr>
                <a:t>W</a:t>
              </a:r>
              <a:r>
                <a:rPr sz="1200" spc="75" dirty="0">
                  <a:solidFill>
                    <a:srgbClr val="FFFFFF"/>
                  </a:solidFill>
                  <a:latin typeface="Tahoma"/>
                  <a:cs typeface="Tahoma"/>
                </a:rPr>
                <a:t>eb</a:t>
              </a:r>
              <a:r>
                <a:rPr sz="1200" spc="-75" dirty="0">
                  <a:solidFill>
                    <a:srgbClr val="FFFFFF"/>
                  </a:solidFill>
                  <a:latin typeface="Tahoma"/>
                  <a:cs typeface="Tahoma"/>
                </a:rPr>
                <a:t> </a:t>
              </a:r>
              <a:r>
                <a:rPr sz="1200" spc="-45" dirty="0">
                  <a:solidFill>
                    <a:srgbClr val="FFFFFF"/>
                  </a:solidFill>
                  <a:latin typeface="Tahoma"/>
                  <a:cs typeface="Tahoma"/>
                </a:rPr>
                <a:t>P</a:t>
              </a:r>
              <a:r>
                <a:rPr sz="1200" spc="5" dirty="0">
                  <a:solidFill>
                    <a:srgbClr val="FFFFFF"/>
                  </a:solidFill>
                  <a:latin typeface="Tahoma"/>
                  <a:cs typeface="Tahoma"/>
                </a:rPr>
                <a:t>a</a:t>
              </a:r>
              <a:r>
                <a:rPr sz="1200" spc="75" dirty="0">
                  <a:solidFill>
                    <a:srgbClr val="FFFFFF"/>
                  </a:solidFill>
                  <a:latin typeface="Tahoma"/>
                  <a:cs typeface="Tahoma"/>
                </a:rPr>
                <a:t>g</a:t>
              </a:r>
              <a:r>
                <a:rPr sz="1200" spc="65" dirty="0">
                  <a:solidFill>
                    <a:srgbClr val="FFFFFF"/>
                  </a:solidFill>
                  <a:latin typeface="Tahoma"/>
                  <a:cs typeface="Tahoma"/>
                </a:rPr>
                <a:t>e</a:t>
              </a:r>
              <a:r>
                <a:rPr sz="1200" spc="-5" dirty="0">
                  <a:solidFill>
                    <a:srgbClr val="FFFFFF"/>
                  </a:solidFill>
                  <a:latin typeface="Tahoma"/>
                  <a:cs typeface="Tahoma"/>
                </a:rPr>
                <a:t>s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1283208" y="3502152"/>
              <a:ext cx="1365885" cy="260985"/>
            </a:xfrm>
            <a:prstGeom prst="rect">
              <a:avLst/>
            </a:prstGeom>
            <a:solidFill>
              <a:srgbClr val="FF9413"/>
            </a:solidFill>
            <a:ln w="12700">
              <a:solidFill>
                <a:srgbClr val="6C3B03"/>
              </a:solidFill>
            </a:ln>
          </p:spPr>
          <p:txBody>
            <a:bodyPr vert="horz" wrap="square" lIns="0" tIns="31750" rIns="0" bIns="0" rtlCol="0">
              <a:spAutoFit/>
            </a:bodyPr>
            <a:lstStyle/>
            <a:p>
              <a:pPr marL="283845">
                <a:lnSpc>
                  <a:spcPct val="100000"/>
                </a:lnSpc>
                <a:spcBef>
                  <a:spcPts val="250"/>
                </a:spcBef>
              </a:pPr>
              <a:r>
                <a:rPr sz="1200" spc="35" dirty="0">
                  <a:solidFill>
                    <a:srgbClr val="FFFFFF"/>
                  </a:solidFill>
                  <a:latin typeface="Tahoma"/>
                  <a:cs typeface="Tahoma"/>
                </a:rPr>
                <a:t>Documents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352544" y="3076955"/>
              <a:ext cx="1946275" cy="201295"/>
            </a:xfrm>
            <a:prstGeom prst="rect">
              <a:avLst/>
            </a:prstGeom>
            <a:ln w="9525">
              <a:solidFill>
                <a:srgbClr val="550DBA"/>
              </a:solidFill>
            </a:ln>
          </p:spPr>
          <p:txBody>
            <a:bodyPr vert="horz" wrap="square" lIns="0" tIns="43180" rIns="0" bIns="0" rtlCol="0">
              <a:spAutoFit/>
            </a:bodyPr>
            <a:lstStyle/>
            <a:p>
              <a:pPr marL="92075">
                <a:lnSpc>
                  <a:spcPct val="100000"/>
                </a:lnSpc>
                <a:spcBef>
                  <a:spcPts val="340"/>
                </a:spcBef>
              </a:pPr>
              <a:r>
                <a:rPr sz="700" spc="20" dirty="0">
                  <a:latin typeface="Tahoma"/>
                  <a:cs typeface="Tahoma"/>
                </a:rPr>
                <a:t>How</a:t>
              </a:r>
              <a:r>
                <a:rPr sz="700" spc="-50" dirty="0">
                  <a:latin typeface="Tahoma"/>
                  <a:cs typeface="Tahoma"/>
                </a:rPr>
                <a:t> </a:t>
              </a:r>
              <a:r>
                <a:rPr sz="700" spc="5" dirty="0">
                  <a:latin typeface="Tahoma"/>
                  <a:cs typeface="Tahoma"/>
                </a:rPr>
                <a:t>many</a:t>
              </a:r>
              <a:r>
                <a:rPr sz="700" spc="-35" dirty="0">
                  <a:latin typeface="Tahoma"/>
                  <a:cs typeface="Tahoma"/>
                </a:rPr>
                <a:t> </a:t>
              </a:r>
              <a:r>
                <a:rPr sz="700" spc="5" dirty="0">
                  <a:latin typeface="Tahoma"/>
                  <a:cs typeface="Tahoma"/>
                </a:rPr>
                <a:t>parameters</a:t>
              </a:r>
              <a:r>
                <a:rPr sz="700" spc="-25" dirty="0">
                  <a:latin typeface="Tahoma"/>
                  <a:cs typeface="Tahoma"/>
                </a:rPr>
                <a:t> </a:t>
              </a:r>
              <a:r>
                <a:rPr sz="700" dirty="0">
                  <a:latin typeface="Tahoma"/>
                  <a:cs typeface="Tahoma"/>
                </a:rPr>
                <a:t>are</a:t>
              </a:r>
              <a:r>
                <a:rPr sz="700" spc="-45" dirty="0">
                  <a:latin typeface="Tahoma"/>
                  <a:cs typeface="Tahoma"/>
                </a:rPr>
                <a:t> </a:t>
              </a:r>
              <a:r>
                <a:rPr sz="700" spc="5" dirty="0">
                  <a:latin typeface="Tahoma"/>
                  <a:cs typeface="Tahoma"/>
                </a:rPr>
                <a:t>there</a:t>
              </a:r>
              <a:r>
                <a:rPr sz="700" spc="-20" dirty="0">
                  <a:latin typeface="Tahoma"/>
                  <a:cs typeface="Tahoma"/>
                </a:rPr>
                <a:t> </a:t>
              </a:r>
              <a:r>
                <a:rPr sz="700" spc="15" dirty="0">
                  <a:latin typeface="Tahoma"/>
                  <a:cs typeface="Tahoma"/>
                </a:rPr>
                <a:t>in</a:t>
              </a:r>
              <a:r>
                <a:rPr sz="700" spc="-55" dirty="0">
                  <a:latin typeface="Tahoma"/>
                  <a:cs typeface="Tahoma"/>
                </a:rPr>
                <a:t> </a:t>
              </a:r>
              <a:r>
                <a:rPr sz="700" spc="10" dirty="0">
                  <a:latin typeface="Tahoma"/>
                  <a:cs typeface="Tahoma"/>
                </a:rPr>
                <a:t>Grok-0?</a:t>
              </a:r>
              <a:endParaRPr sz="700">
                <a:latin typeface="Tahoma"/>
                <a:cs typeface="Tahoma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638543" y="5754623"/>
              <a:ext cx="1290955" cy="413384"/>
            </a:xfrm>
            <a:prstGeom prst="rect">
              <a:avLst/>
            </a:prstGeom>
            <a:solidFill>
              <a:srgbClr val="C096F8"/>
            </a:solidFill>
            <a:ln w="12700">
              <a:solidFill>
                <a:srgbClr val="4F3C69"/>
              </a:solidFill>
            </a:ln>
          </p:spPr>
          <p:txBody>
            <a:bodyPr vert="horz" wrap="square" lIns="0" tIns="92075" rIns="0" bIns="0" rtlCol="0">
              <a:spAutoFit/>
            </a:bodyPr>
            <a:lstStyle/>
            <a:p>
              <a:pPr marL="326390">
                <a:lnSpc>
                  <a:spcPct val="100000"/>
                </a:lnSpc>
                <a:spcBef>
                  <a:spcPts val="725"/>
                </a:spcBef>
              </a:pPr>
              <a:r>
                <a:rPr sz="1400" spc="35" dirty="0">
                  <a:solidFill>
                    <a:srgbClr val="FFFFFF"/>
                  </a:solidFill>
                  <a:latin typeface="Tahoma"/>
                  <a:cs typeface="Tahoma"/>
                </a:rPr>
                <a:t>Context</a:t>
              </a:r>
              <a:endParaRPr sz="1400"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6638543" y="6236208"/>
              <a:ext cx="4916805" cy="523240"/>
            </a:xfrm>
            <a:prstGeom prst="rect">
              <a:avLst/>
            </a:prstGeom>
            <a:ln w="9525">
              <a:solidFill>
                <a:srgbClr val="6F2F9F"/>
              </a:solidFill>
            </a:ln>
          </p:spPr>
          <p:txBody>
            <a:bodyPr vert="horz" wrap="square" lIns="0" tIns="43180" rIns="0" bIns="0" rtlCol="0">
              <a:spAutoFit/>
            </a:bodyPr>
            <a:lstStyle/>
            <a:p>
              <a:pPr marL="92075">
                <a:lnSpc>
                  <a:spcPct val="100000"/>
                </a:lnSpc>
                <a:spcBef>
                  <a:spcPts val="340"/>
                </a:spcBef>
              </a:pPr>
              <a:r>
                <a:rPr sz="700" spc="-45" dirty="0">
                  <a:latin typeface="Tahoma"/>
                  <a:cs typeface="Tahoma"/>
                </a:rPr>
                <a:t>[...]</a:t>
              </a:r>
              <a:endParaRPr sz="700">
                <a:latin typeface="Tahoma"/>
                <a:cs typeface="Tahoma"/>
              </a:endParaRPr>
            </a:p>
            <a:p>
              <a:pPr marL="92075" marR="146050">
                <a:lnSpc>
                  <a:spcPct val="100000"/>
                </a:lnSpc>
              </a:pPr>
              <a:r>
                <a:rPr sz="700" spc="5" dirty="0">
                  <a:latin typeface="Tahoma"/>
                  <a:cs typeface="Tahoma"/>
                </a:rPr>
                <a:t>After</a:t>
              </a:r>
              <a:r>
                <a:rPr sz="700" spc="-20" dirty="0">
                  <a:latin typeface="Tahoma"/>
                  <a:cs typeface="Tahoma"/>
                </a:rPr>
                <a:t> </a:t>
              </a:r>
              <a:r>
                <a:rPr sz="700" spc="20" dirty="0">
                  <a:latin typeface="Tahoma"/>
                  <a:cs typeface="Tahoma"/>
                </a:rPr>
                <a:t>announcing</a:t>
              </a:r>
              <a:r>
                <a:rPr sz="700" spc="-10" dirty="0">
                  <a:latin typeface="Tahoma"/>
                  <a:cs typeface="Tahoma"/>
                </a:rPr>
                <a:t> </a:t>
              </a:r>
              <a:r>
                <a:rPr sz="700" spc="-15" dirty="0">
                  <a:latin typeface="Tahoma"/>
                  <a:cs typeface="Tahoma"/>
                </a:rPr>
                <a:t>xAI,</a:t>
              </a:r>
              <a:r>
                <a:rPr sz="700" spc="-20" dirty="0">
                  <a:latin typeface="Tahoma"/>
                  <a:cs typeface="Tahoma"/>
                </a:rPr>
                <a:t> </a:t>
              </a:r>
              <a:r>
                <a:rPr sz="700" spc="10" dirty="0">
                  <a:latin typeface="Tahoma"/>
                  <a:cs typeface="Tahoma"/>
                </a:rPr>
                <a:t>we</a:t>
              </a:r>
              <a:r>
                <a:rPr sz="700" spc="-40" dirty="0">
                  <a:latin typeface="Tahoma"/>
                  <a:cs typeface="Tahoma"/>
                </a:rPr>
                <a:t> </a:t>
              </a:r>
              <a:r>
                <a:rPr sz="700" spc="10" dirty="0">
                  <a:latin typeface="Tahoma"/>
                  <a:cs typeface="Tahoma"/>
                </a:rPr>
                <a:t>trained</a:t>
              </a:r>
              <a:r>
                <a:rPr sz="700" spc="-5" dirty="0">
                  <a:latin typeface="Tahoma"/>
                  <a:cs typeface="Tahoma"/>
                </a:rPr>
                <a:t> </a:t>
              </a:r>
              <a:r>
                <a:rPr sz="700" dirty="0">
                  <a:latin typeface="Tahoma"/>
                  <a:cs typeface="Tahoma"/>
                </a:rPr>
                <a:t>a</a:t>
              </a:r>
              <a:r>
                <a:rPr sz="700" spc="-50" dirty="0">
                  <a:latin typeface="Tahoma"/>
                  <a:cs typeface="Tahoma"/>
                </a:rPr>
                <a:t> </a:t>
              </a:r>
              <a:r>
                <a:rPr sz="700" spc="15" dirty="0">
                  <a:latin typeface="Tahoma"/>
                  <a:cs typeface="Tahoma"/>
                </a:rPr>
                <a:t>prototype</a:t>
              </a:r>
              <a:r>
                <a:rPr sz="700" spc="20" dirty="0">
                  <a:latin typeface="Tahoma"/>
                  <a:cs typeface="Tahoma"/>
                </a:rPr>
                <a:t> </a:t>
              </a:r>
              <a:r>
                <a:rPr sz="700" spc="30" dirty="0">
                  <a:latin typeface="Tahoma"/>
                  <a:cs typeface="Tahoma"/>
                </a:rPr>
                <a:t>LLM</a:t>
              </a:r>
              <a:r>
                <a:rPr sz="700" spc="-25" dirty="0">
                  <a:latin typeface="Tahoma"/>
                  <a:cs typeface="Tahoma"/>
                </a:rPr>
                <a:t> </a:t>
              </a:r>
              <a:r>
                <a:rPr sz="700" spc="-5" dirty="0">
                  <a:latin typeface="Tahoma"/>
                  <a:cs typeface="Tahoma"/>
                </a:rPr>
                <a:t>(Grok-0)</a:t>
              </a:r>
              <a:r>
                <a:rPr sz="700" spc="-25" dirty="0">
                  <a:latin typeface="Tahoma"/>
                  <a:cs typeface="Tahoma"/>
                </a:rPr>
                <a:t> </a:t>
              </a:r>
              <a:r>
                <a:rPr sz="700" dirty="0">
                  <a:latin typeface="Tahoma"/>
                  <a:cs typeface="Tahoma"/>
                </a:rPr>
                <a:t>with</a:t>
              </a:r>
              <a:r>
                <a:rPr sz="700" spc="-20" dirty="0">
                  <a:latin typeface="Tahoma"/>
                  <a:cs typeface="Tahoma"/>
                </a:rPr>
                <a:t> </a:t>
              </a:r>
              <a:r>
                <a:rPr sz="700" spc="20" dirty="0">
                  <a:latin typeface="Tahoma"/>
                  <a:cs typeface="Tahoma"/>
                </a:rPr>
                <a:t>33</a:t>
              </a:r>
              <a:r>
                <a:rPr sz="700" spc="-55" dirty="0">
                  <a:latin typeface="Tahoma"/>
                  <a:cs typeface="Tahoma"/>
                </a:rPr>
                <a:t> </a:t>
              </a:r>
              <a:r>
                <a:rPr sz="700" spc="20" dirty="0">
                  <a:latin typeface="Tahoma"/>
                  <a:cs typeface="Tahoma"/>
                </a:rPr>
                <a:t>billion</a:t>
              </a:r>
              <a:r>
                <a:rPr sz="700" spc="-30" dirty="0">
                  <a:latin typeface="Tahoma"/>
                  <a:cs typeface="Tahoma"/>
                </a:rPr>
                <a:t> </a:t>
              </a:r>
              <a:r>
                <a:rPr sz="700" spc="5" dirty="0">
                  <a:latin typeface="Tahoma"/>
                  <a:cs typeface="Tahoma"/>
                </a:rPr>
                <a:t>parameters.</a:t>
              </a:r>
              <a:r>
                <a:rPr sz="700" spc="-10" dirty="0">
                  <a:latin typeface="Tahoma"/>
                  <a:cs typeface="Tahoma"/>
                </a:rPr>
                <a:t> </a:t>
              </a:r>
              <a:r>
                <a:rPr sz="700" dirty="0">
                  <a:latin typeface="Tahoma"/>
                  <a:cs typeface="Tahoma"/>
                </a:rPr>
                <a:t>This</a:t>
              </a:r>
              <a:r>
                <a:rPr sz="700" spc="-30" dirty="0">
                  <a:latin typeface="Tahoma"/>
                  <a:cs typeface="Tahoma"/>
                </a:rPr>
                <a:t> </a:t>
              </a:r>
              <a:r>
                <a:rPr sz="700" spc="5" dirty="0">
                  <a:latin typeface="Tahoma"/>
                  <a:cs typeface="Tahoma"/>
                </a:rPr>
                <a:t>early</a:t>
              </a:r>
              <a:r>
                <a:rPr sz="700" spc="-35" dirty="0">
                  <a:latin typeface="Tahoma"/>
                  <a:cs typeface="Tahoma"/>
                </a:rPr>
                <a:t> </a:t>
              </a:r>
              <a:r>
                <a:rPr sz="700" spc="30" dirty="0">
                  <a:latin typeface="Tahoma"/>
                  <a:cs typeface="Tahoma"/>
                </a:rPr>
                <a:t>model</a:t>
              </a:r>
              <a:r>
                <a:rPr sz="700" spc="-30" dirty="0">
                  <a:latin typeface="Tahoma"/>
                  <a:cs typeface="Tahoma"/>
                </a:rPr>
                <a:t> </a:t>
              </a:r>
              <a:r>
                <a:rPr sz="700" spc="15" dirty="0">
                  <a:latin typeface="Tahoma"/>
                  <a:cs typeface="Tahoma"/>
                </a:rPr>
                <a:t>approaches </a:t>
              </a:r>
              <a:r>
                <a:rPr sz="700" spc="20" dirty="0">
                  <a:latin typeface="Tahoma"/>
                  <a:cs typeface="Tahoma"/>
                </a:rPr>
                <a:t> </a:t>
              </a:r>
              <a:r>
                <a:rPr sz="700" spc="30" dirty="0">
                  <a:latin typeface="Tahoma"/>
                  <a:cs typeface="Tahoma"/>
                </a:rPr>
                <a:t>LLaMA</a:t>
              </a:r>
              <a:r>
                <a:rPr sz="700" spc="-25" dirty="0">
                  <a:latin typeface="Tahoma"/>
                  <a:cs typeface="Tahoma"/>
                </a:rPr>
                <a:t> </a:t>
              </a:r>
              <a:r>
                <a:rPr sz="700" spc="20" dirty="0">
                  <a:latin typeface="Tahoma"/>
                  <a:cs typeface="Tahoma"/>
                </a:rPr>
                <a:t>2</a:t>
              </a:r>
              <a:r>
                <a:rPr sz="700" spc="-45" dirty="0">
                  <a:latin typeface="Tahoma"/>
                  <a:cs typeface="Tahoma"/>
                </a:rPr>
                <a:t> </a:t>
              </a:r>
              <a:r>
                <a:rPr sz="700" spc="-15" dirty="0">
                  <a:latin typeface="Tahoma"/>
                  <a:cs typeface="Tahoma"/>
                </a:rPr>
                <a:t>(70B)</a:t>
              </a:r>
              <a:r>
                <a:rPr sz="700" spc="-45" dirty="0">
                  <a:latin typeface="Tahoma"/>
                  <a:cs typeface="Tahoma"/>
                </a:rPr>
                <a:t> </a:t>
              </a:r>
              <a:r>
                <a:rPr sz="700" spc="15" dirty="0">
                  <a:latin typeface="Tahoma"/>
                  <a:cs typeface="Tahoma"/>
                </a:rPr>
                <a:t>capabilities</a:t>
              </a:r>
              <a:r>
                <a:rPr sz="700" spc="-25" dirty="0">
                  <a:latin typeface="Tahoma"/>
                  <a:cs typeface="Tahoma"/>
                </a:rPr>
                <a:t> </a:t>
              </a:r>
              <a:r>
                <a:rPr sz="700" spc="20" dirty="0">
                  <a:latin typeface="Tahoma"/>
                  <a:cs typeface="Tahoma"/>
                </a:rPr>
                <a:t>on</a:t>
              </a:r>
              <a:r>
                <a:rPr sz="700" spc="-40" dirty="0">
                  <a:latin typeface="Tahoma"/>
                  <a:cs typeface="Tahoma"/>
                </a:rPr>
                <a:t> </a:t>
              </a:r>
              <a:r>
                <a:rPr sz="700" spc="10" dirty="0">
                  <a:latin typeface="Tahoma"/>
                  <a:cs typeface="Tahoma"/>
                </a:rPr>
                <a:t>standard</a:t>
              </a:r>
              <a:r>
                <a:rPr sz="700" spc="-15" dirty="0">
                  <a:latin typeface="Tahoma"/>
                  <a:cs typeface="Tahoma"/>
                </a:rPr>
                <a:t> </a:t>
              </a:r>
              <a:r>
                <a:rPr sz="700" spc="40" dirty="0">
                  <a:latin typeface="Tahoma"/>
                  <a:cs typeface="Tahoma"/>
                </a:rPr>
                <a:t>LM</a:t>
              </a:r>
              <a:r>
                <a:rPr sz="700" spc="-35" dirty="0">
                  <a:latin typeface="Tahoma"/>
                  <a:cs typeface="Tahoma"/>
                </a:rPr>
                <a:t> </a:t>
              </a:r>
              <a:r>
                <a:rPr sz="700" spc="15" dirty="0">
                  <a:latin typeface="Tahoma"/>
                  <a:cs typeface="Tahoma"/>
                </a:rPr>
                <a:t>benchmarks</a:t>
              </a:r>
              <a:r>
                <a:rPr sz="700" spc="-10" dirty="0">
                  <a:latin typeface="Tahoma"/>
                  <a:cs typeface="Tahoma"/>
                </a:rPr>
                <a:t> </a:t>
              </a:r>
              <a:r>
                <a:rPr sz="700" spc="15" dirty="0">
                  <a:latin typeface="Tahoma"/>
                  <a:cs typeface="Tahoma"/>
                </a:rPr>
                <a:t>but</a:t>
              </a:r>
              <a:r>
                <a:rPr sz="700" spc="-35" dirty="0">
                  <a:latin typeface="Tahoma"/>
                  <a:cs typeface="Tahoma"/>
                </a:rPr>
                <a:t> </a:t>
              </a:r>
              <a:r>
                <a:rPr sz="700" spc="5" dirty="0">
                  <a:latin typeface="Tahoma"/>
                  <a:cs typeface="Tahoma"/>
                </a:rPr>
                <a:t>uses</a:t>
              </a:r>
              <a:r>
                <a:rPr sz="700" spc="-35" dirty="0">
                  <a:latin typeface="Tahoma"/>
                  <a:cs typeface="Tahoma"/>
                </a:rPr>
                <a:t> </a:t>
              </a:r>
              <a:r>
                <a:rPr sz="700" spc="10" dirty="0">
                  <a:latin typeface="Tahoma"/>
                  <a:cs typeface="Tahoma"/>
                </a:rPr>
                <a:t>only</a:t>
              </a:r>
              <a:r>
                <a:rPr sz="700" spc="-45" dirty="0">
                  <a:latin typeface="Tahoma"/>
                  <a:cs typeface="Tahoma"/>
                </a:rPr>
                <a:t> </a:t>
              </a:r>
              <a:r>
                <a:rPr sz="700" dirty="0">
                  <a:latin typeface="Tahoma"/>
                  <a:cs typeface="Tahoma"/>
                </a:rPr>
                <a:t>half</a:t>
              </a:r>
              <a:r>
                <a:rPr sz="700" spc="-25" dirty="0">
                  <a:latin typeface="Tahoma"/>
                  <a:cs typeface="Tahoma"/>
                </a:rPr>
                <a:t> </a:t>
              </a:r>
              <a:r>
                <a:rPr sz="700" spc="5" dirty="0">
                  <a:latin typeface="Tahoma"/>
                  <a:cs typeface="Tahoma"/>
                </a:rPr>
                <a:t>of</a:t>
              </a:r>
              <a:r>
                <a:rPr sz="700" spc="-30" dirty="0">
                  <a:latin typeface="Tahoma"/>
                  <a:cs typeface="Tahoma"/>
                </a:rPr>
                <a:t> </a:t>
              </a:r>
              <a:r>
                <a:rPr sz="700" spc="-5" dirty="0">
                  <a:latin typeface="Tahoma"/>
                  <a:cs typeface="Tahoma"/>
                </a:rPr>
                <a:t>its</a:t>
              </a:r>
              <a:r>
                <a:rPr sz="700" spc="-35" dirty="0">
                  <a:latin typeface="Tahoma"/>
                  <a:cs typeface="Tahoma"/>
                </a:rPr>
                <a:t> </a:t>
              </a:r>
              <a:r>
                <a:rPr sz="700" spc="10" dirty="0">
                  <a:latin typeface="Tahoma"/>
                  <a:cs typeface="Tahoma"/>
                </a:rPr>
                <a:t>training</a:t>
              </a:r>
              <a:r>
                <a:rPr sz="700" spc="-50" dirty="0">
                  <a:latin typeface="Tahoma"/>
                  <a:cs typeface="Tahoma"/>
                </a:rPr>
                <a:t> </a:t>
              </a:r>
              <a:r>
                <a:rPr sz="700" spc="5" dirty="0">
                  <a:latin typeface="Tahoma"/>
                  <a:cs typeface="Tahoma"/>
                </a:rPr>
                <a:t>resources.</a:t>
              </a:r>
              <a:endParaRPr sz="700">
                <a:latin typeface="Tahoma"/>
                <a:cs typeface="Tahoma"/>
              </a:endParaRPr>
            </a:p>
            <a:p>
              <a:pPr marL="92075">
                <a:lnSpc>
                  <a:spcPct val="100000"/>
                </a:lnSpc>
              </a:pPr>
              <a:r>
                <a:rPr sz="700" spc="-45" dirty="0">
                  <a:latin typeface="Tahoma"/>
                  <a:cs typeface="Tahoma"/>
                </a:rPr>
                <a:t>[...]</a:t>
              </a:r>
              <a:endParaRPr sz="700">
                <a:latin typeface="Tahoma"/>
                <a:cs typeface="Tahoma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8279" y="3924300"/>
              <a:ext cx="76200" cy="2171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27860" y="3762755"/>
              <a:ext cx="1664970" cy="456565"/>
            </a:xfrm>
            <a:custGeom>
              <a:avLst/>
              <a:gdLst/>
              <a:ahLst/>
              <a:cxnLst/>
              <a:rect l="l" t="t" r="r" b="b"/>
              <a:pathLst>
                <a:path w="1664970" h="456564">
                  <a:moveTo>
                    <a:pt x="1664716" y="11049"/>
                  </a:moveTo>
                  <a:lnTo>
                    <a:pt x="1652016" y="10287"/>
                  </a:lnTo>
                  <a:lnTo>
                    <a:pt x="1651762" y="15608"/>
                  </a:lnTo>
                  <a:lnTo>
                    <a:pt x="1651127" y="19304"/>
                  </a:lnTo>
                  <a:lnTo>
                    <a:pt x="1650898" y="20066"/>
                  </a:lnTo>
                  <a:lnTo>
                    <a:pt x="1649603" y="24511"/>
                  </a:lnTo>
                  <a:lnTo>
                    <a:pt x="1649857" y="24003"/>
                  </a:lnTo>
                  <a:lnTo>
                    <a:pt x="1647913" y="28981"/>
                  </a:lnTo>
                  <a:lnTo>
                    <a:pt x="1647786" y="29210"/>
                  </a:lnTo>
                  <a:lnTo>
                    <a:pt x="1642681" y="38519"/>
                  </a:lnTo>
                  <a:lnTo>
                    <a:pt x="1642414" y="38862"/>
                  </a:lnTo>
                  <a:lnTo>
                    <a:pt x="1635518" y="47866"/>
                  </a:lnTo>
                  <a:lnTo>
                    <a:pt x="1635010" y="48387"/>
                  </a:lnTo>
                  <a:lnTo>
                    <a:pt x="1625727" y="58039"/>
                  </a:lnTo>
                  <a:lnTo>
                    <a:pt x="1626235" y="57658"/>
                  </a:lnTo>
                  <a:lnTo>
                    <a:pt x="1614297" y="67691"/>
                  </a:lnTo>
                  <a:lnTo>
                    <a:pt x="1614678" y="67437"/>
                  </a:lnTo>
                  <a:lnTo>
                    <a:pt x="1600835" y="77470"/>
                  </a:lnTo>
                  <a:lnTo>
                    <a:pt x="1601089" y="77216"/>
                  </a:lnTo>
                  <a:lnTo>
                    <a:pt x="1585341" y="87122"/>
                  </a:lnTo>
                  <a:lnTo>
                    <a:pt x="1585722" y="86995"/>
                  </a:lnTo>
                  <a:lnTo>
                    <a:pt x="1568196" y="96647"/>
                  </a:lnTo>
                  <a:lnTo>
                    <a:pt x="1568577" y="96520"/>
                  </a:lnTo>
                  <a:lnTo>
                    <a:pt x="1549273" y="106045"/>
                  </a:lnTo>
                  <a:lnTo>
                    <a:pt x="1528699" y="115316"/>
                  </a:lnTo>
                  <a:lnTo>
                    <a:pt x="1528826" y="115189"/>
                  </a:lnTo>
                  <a:lnTo>
                    <a:pt x="1506474" y="124206"/>
                  </a:lnTo>
                  <a:lnTo>
                    <a:pt x="1506601" y="124206"/>
                  </a:lnTo>
                  <a:lnTo>
                    <a:pt x="1482852" y="132969"/>
                  </a:lnTo>
                  <a:lnTo>
                    <a:pt x="1482979" y="132969"/>
                  </a:lnTo>
                  <a:lnTo>
                    <a:pt x="1457706" y="141478"/>
                  </a:lnTo>
                  <a:lnTo>
                    <a:pt x="1457833" y="141478"/>
                  </a:lnTo>
                  <a:lnTo>
                    <a:pt x="1431290" y="149733"/>
                  </a:lnTo>
                  <a:lnTo>
                    <a:pt x="1431417" y="149733"/>
                  </a:lnTo>
                  <a:lnTo>
                    <a:pt x="1403477" y="157734"/>
                  </a:lnTo>
                  <a:lnTo>
                    <a:pt x="1403604" y="157734"/>
                  </a:lnTo>
                  <a:lnTo>
                    <a:pt x="1374508" y="165354"/>
                  </a:lnTo>
                  <a:lnTo>
                    <a:pt x="1374648" y="165354"/>
                  </a:lnTo>
                  <a:lnTo>
                    <a:pt x="1344422" y="172720"/>
                  </a:lnTo>
                  <a:lnTo>
                    <a:pt x="1344676" y="172720"/>
                  </a:lnTo>
                  <a:lnTo>
                    <a:pt x="1313434" y="179578"/>
                  </a:lnTo>
                  <a:lnTo>
                    <a:pt x="1313561" y="179578"/>
                  </a:lnTo>
                  <a:lnTo>
                    <a:pt x="1281430" y="186055"/>
                  </a:lnTo>
                  <a:lnTo>
                    <a:pt x="1248410" y="192278"/>
                  </a:lnTo>
                  <a:lnTo>
                    <a:pt x="1248537" y="192278"/>
                  </a:lnTo>
                  <a:lnTo>
                    <a:pt x="1214628" y="197993"/>
                  </a:lnTo>
                  <a:lnTo>
                    <a:pt x="1214755" y="197993"/>
                  </a:lnTo>
                  <a:lnTo>
                    <a:pt x="1180084" y="203327"/>
                  </a:lnTo>
                  <a:lnTo>
                    <a:pt x="1180211" y="203200"/>
                  </a:lnTo>
                  <a:lnTo>
                    <a:pt x="1144905" y="208026"/>
                  </a:lnTo>
                  <a:lnTo>
                    <a:pt x="1145032" y="208026"/>
                  </a:lnTo>
                  <a:lnTo>
                    <a:pt x="1109091" y="212344"/>
                  </a:lnTo>
                  <a:lnTo>
                    <a:pt x="1109218" y="212344"/>
                  </a:lnTo>
                  <a:lnTo>
                    <a:pt x="1072769" y="216154"/>
                  </a:lnTo>
                  <a:lnTo>
                    <a:pt x="1072896" y="216027"/>
                  </a:lnTo>
                  <a:lnTo>
                    <a:pt x="998982" y="222123"/>
                  </a:lnTo>
                  <a:lnTo>
                    <a:pt x="961517" y="224282"/>
                  </a:lnTo>
                  <a:lnTo>
                    <a:pt x="923925" y="225933"/>
                  </a:lnTo>
                  <a:lnTo>
                    <a:pt x="886079" y="226822"/>
                  </a:lnTo>
                  <a:lnTo>
                    <a:pt x="810133" y="227330"/>
                  </a:lnTo>
                  <a:lnTo>
                    <a:pt x="772287" y="228346"/>
                  </a:lnTo>
                  <a:lnTo>
                    <a:pt x="696722" y="232156"/>
                  </a:lnTo>
                  <a:lnTo>
                    <a:pt x="622554" y="238125"/>
                  </a:lnTo>
                  <a:lnTo>
                    <a:pt x="550037" y="246253"/>
                  </a:lnTo>
                  <a:lnTo>
                    <a:pt x="479933" y="256413"/>
                  </a:lnTo>
                  <a:lnTo>
                    <a:pt x="412750" y="268351"/>
                  </a:lnTo>
                  <a:lnTo>
                    <a:pt x="349123" y="281940"/>
                  </a:lnTo>
                  <a:lnTo>
                    <a:pt x="289560" y="296926"/>
                  </a:lnTo>
                  <a:lnTo>
                    <a:pt x="234823" y="313309"/>
                  </a:lnTo>
                  <a:lnTo>
                    <a:pt x="185293" y="330835"/>
                  </a:lnTo>
                  <a:lnTo>
                    <a:pt x="141732" y="349377"/>
                  </a:lnTo>
                  <a:lnTo>
                    <a:pt x="104521" y="368935"/>
                  </a:lnTo>
                  <a:lnTo>
                    <a:pt x="76911" y="390601"/>
                  </a:lnTo>
                  <a:lnTo>
                    <a:pt x="72390" y="387604"/>
                  </a:lnTo>
                  <a:lnTo>
                    <a:pt x="76200" y="379984"/>
                  </a:lnTo>
                  <a:lnTo>
                    <a:pt x="60934" y="379984"/>
                  </a:lnTo>
                  <a:lnTo>
                    <a:pt x="48514" y="371729"/>
                  </a:lnTo>
                  <a:lnTo>
                    <a:pt x="47485" y="379984"/>
                  </a:lnTo>
                  <a:lnTo>
                    <a:pt x="44450" y="379984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379984"/>
                  </a:lnTo>
                  <a:lnTo>
                    <a:pt x="0" y="379984"/>
                  </a:lnTo>
                  <a:lnTo>
                    <a:pt x="38100" y="456184"/>
                  </a:lnTo>
                  <a:lnTo>
                    <a:pt x="112014" y="413893"/>
                  </a:lnTo>
                  <a:lnTo>
                    <a:pt x="102831" y="407797"/>
                  </a:lnTo>
                  <a:lnTo>
                    <a:pt x="87655" y="397725"/>
                  </a:lnTo>
                  <a:lnTo>
                    <a:pt x="95516" y="389763"/>
                  </a:lnTo>
                  <a:lnTo>
                    <a:pt x="95745" y="389534"/>
                  </a:lnTo>
                  <a:lnTo>
                    <a:pt x="96989" y="388747"/>
                  </a:lnTo>
                  <a:lnTo>
                    <a:pt x="110921" y="379984"/>
                  </a:lnTo>
                  <a:lnTo>
                    <a:pt x="111125" y="379857"/>
                  </a:lnTo>
                  <a:lnTo>
                    <a:pt x="110744" y="379984"/>
                  </a:lnTo>
                  <a:lnTo>
                    <a:pt x="128397" y="370205"/>
                  </a:lnTo>
                  <a:lnTo>
                    <a:pt x="128143" y="370459"/>
                  </a:lnTo>
                  <a:lnTo>
                    <a:pt x="128638" y="370205"/>
                  </a:lnTo>
                  <a:lnTo>
                    <a:pt x="147193" y="360934"/>
                  </a:lnTo>
                  <a:lnTo>
                    <a:pt x="146939" y="360934"/>
                  </a:lnTo>
                  <a:lnTo>
                    <a:pt x="167894" y="351790"/>
                  </a:lnTo>
                  <a:lnTo>
                    <a:pt x="167640" y="351790"/>
                  </a:lnTo>
                  <a:lnTo>
                    <a:pt x="189992" y="342646"/>
                  </a:lnTo>
                  <a:lnTo>
                    <a:pt x="189865" y="342773"/>
                  </a:lnTo>
                  <a:lnTo>
                    <a:pt x="190195" y="342646"/>
                  </a:lnTo>
                  <a:lnTo>
                    <a:pt x="213741" y="333883"/>
                  </a:lnTo>
                  <a:lnTo>
                    <a:pt x="213614" y="334010"/>
                  </a:lnTo>
                  <a:lnTo>
                    <a:pt x="213982" y="333883"/>
                  </a:lnTo>
                  <a:lnTo>
                    <a:pt x="238887" y="325374"/>
                  </a:lnTo>
                  <a:lnTo>
                    <a:pt x="238633" y="325374"/>
                  </a:lnTo>
                  <a:lnTo>
                    <a:pt x="265303" y="317119"/>
                  </a:lnTo>
                  <a:lnTo>
                    <a:pt x="265176" y="317246"/>
                  </a:lnTo>
                  <a:lnTo>
                    <a:pt x="265607" y="317119"/>
                  </a:lnTo>
                  <a:lnTo>
                    <a:pt x="292989" y="309245"/>
                  </a:lnTo>
                  <a:lnTo>
                    <a:pt x="292862" y="309245"/>
                  </a:lnTo>
                  <a:lnTo>
                    <a:pt x="321945" y="301625"/>
                  </a:lnTo>
                  <a:lnTo>
                    <a:pt x="321818" y="301625"/>
                  </a:lnTo>
                  <a:lnTo>
                    <a:pt x="352044" y="294259"/>
                  </a:lnTo>
                  <a:lnTo>
                    <a:pt x="351917" y="294386"/>
                  </a:lnTo>
                  <a:lnTo>
                    <a:pt x="352475" y="294259"/>
                  </a:lnTo>
                  <a:lnTo>
                    <a:pt x="383159" y="287401"/>
                  </a:lnTo>
                  <a:lnTo>
                    <a:pt x="383032" y="287401"/>
                  </a:lnTo>
                  <a:lnTo>
                    <a:pt x="415290" y="280797"/>
                  </a:lnTo>
                  <a:lnTo>
                    <a:pt x="415163" y="280797"/>
                  </a:lnTo>
                  <a:lnTo>
                    <a:pt x="448183" y="274701"/>
                  </a:lnTo>
                  <a:lnTo>
                    <a:pt x="448056" y="274701"/>
                  </a:lnTo>
                  <a:lnTo>
                    <a:pt x="481965" y="268986"/>
                  </a:lnTo>
                  <a:lnTo>
                    <a:pt x="481838" y="268986"/>
                  </a:lnTo>
                  <a:lnTo>
                    <a:pt x="516382" y="263779"/>
                  </a:lnTo>
                  <a:lnTo>
                    <a:pt x="551688" y="258953"/>
                  </a:lnTo>
                  <a:lnTo>
                    <a:pt x="551561" y="258953"/>
                  </a:lnTo>
                  <a:lnTo>
                    <a:pt x="587375" y="254635"/>
                  </a:lnTo>
                  <a:lnTo>
                    <a:pt x="587248" y="254635"/>
                  </a:lnTo>
                  <a:lnTo>
                    <a:pt x="623824" y="250825"/>
                  </a:lnTo>
                  <a:lnTo>
                    <a:pt x="697611" y="244856"/>
                  </a:lnTo>
                  <a:lnTo>
                    <a:pt x="772795" y="241046"/>
                  </a:lnTo>
                  <a:lnTo>
                    <a:pt x="886333" y="239522"/>
                  </a:lnTo>
                  <a:lnTo>
                    <a:pt x="924306" y="238506"/>
                  </a:lnTo>
                  <a:lnTo>
                    <a:pt x="999744" y="234696"/>
                  </a:lnTo>
                  <a:lnTo>
                    <a:pt x="1074039" y="228727"/>
                  </a:lnTo>
                  <a:lnTo>
                    <a:pt x="1146556" y="220599"/>
                  </a:lnTo>
                  <a:lnTo>
                    <a:pt x="1179182" y="216154"/>
                  </a:lnTo>
                  <a:lnTo>
                    <a:pt x="1181989" y="215773"/>
                  </a:lnTo>
                  <a:lnTo>
                    <a:pt x="1216660" y="210439"/>
                  </a:lnTo>
                  <a:lnTo>
                    <a:pt x="1250696" y="204724"/>
                  </a:lnTo>
                  <a:lnTo>
                    <a:pt x="1258125" y="203327"/>
                  </a:lnTo>
                  <a:lnTo>
                    <a:pt x="1283843" y="198501"/>
                  </a:lnTo>
                  <a:lnTo>
                    <a:pt x="1347457" y="185039"/>
                  </a:lnTo>
                  <a:lnTo>
                    <a:pt x="1406906" y="169926"/>
                  </a:lnTo>
                  <a:lnTo>
                    <a:pt x="1461643" y="153543"/>
                  </a:lnTo>
                  <a:lnTo>
                    <a:pt x="1511173" y="136017"/>
                  </a:lnTo>
                  <a:lnTo>
                    <a:pt x="1554861" y="117475"/>
                  </a:lnTo>
                  <a:lnTo>
                    <a:pt x="1559204" y="115316"/>
                  </a:lnTo>
                  <a:lnTo>
                    <a:pt x="1574292" y="107823"/>
                  </a:lnTo>
                  <a:lnTo>
                    <a:pt x="1592072" y="97917"/>
                  </a:lnTo>
                  <a:lnTo>
                    <a:pt x="1594294" y="96520"/>
                  </a:lnTo>
                  <a:lnTo>
                    <a:pt x="1608074" y="87884"/>
                  </a:lnTo>
                  <a:lnTo>
                    <a:pt x="1609293" y="86995"/>
                  </a:lnTo>
                  <a:lnTo>
                    <a:pt x="1622298" y="77597"/>
                  </a:lnTo>
                  <a:lnTo>
                    <a:pt x="1622437" y="77470"/>
                  </a:lnTo>
                  <a:lnTo>
                    <a:pt x="1634159" y="67437"/>
                  </a:lnTo>
                  <a:lnTo>
                    <a:pt x="1634617" y="67056"/>
                  </a:lnTo>
                  <a:lnTo>
                    <a:pt x="1643786" y="57658"/>
                  </a:lnTo>
                  <a:lnTo>
                    <a:pt x="1645031" y="56388"/>
                  </a:lnTo>
                  <a:lnTo>
                    <a:pt x="1651571" y="47752"/>
                  </a:lnTo>
                  <a:lnTo>
                    <a:pt x="1653413" y="45339"/>
                  </a:lnTo>
                  <a:lnTo>
                    <a:pt x="1657350" y="38100"/>
                  </a:lnTo>
                  <a:lnTo>
                    <a:pt x="1659509" y="34163"/>
                  </a:lnTo>
                  <a:lnTo>
                    <a:pt x="1661744" y="28448"/>
                  </a:lnTo>
                  <a:lnTo>
                    <a:pt x="1663039" y="24003"/>
                  </a:lnTo>
                  <a:lnTo>
                    <a:pt x="1663446" y="22606"/>
                  </a:lnTo>
                  <a:lnTo>
                    <a:pt x="1664462" y="16637"/>
                  </a:lnTo>
                  <a:lnTo>
                    <a:pt x="1664538" y="14859"/>
                  </a:lnTo>
                  <a:lnTo>
                    <a:pt x="1664716" y="11049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09132" y="5922264"/>
              <a:ext cx="629920" cy="76200"/>
            </a:xfrm>
            <a:custGeom>
              <a:avLst/>
              <a:gdLst/>
              <a:ahLst/>
              <a:cxnLst/>
              <a:rect l="l" t="t" r="r" b="b"/>
              <a:pathLst>
                <a:path w="629920" h="76200">
                  <a:moveTo>
                    <a:pt x="553212" y="0"/>
                  </a:moveTo>
                  <a:lnTo>
                    <a:pt x="553212" y="76200"/>
                  </a:lnTo>
                  <a:lnTo>
                    <a:pt x="616712" y="44450"/>
                  </a:lnTo>
                  <a:lnTo>
                    <a:pt x="565912" y="44450"/>
                  </a:lnTo>
                  <a:lnTo>
                    <a:pt x="565912" y="31750"/>
                  </a:lnTo>
                  <a:lnTo>
                    <a:pt x="616712" y="31750"/>
                  </a:lnTo>
                  <a:lnTo>
                    <a:pt x="553212" y="0"/>
                  </a:lnTo>
                  <a:close/>
                </a:path>
                <a:path w="629920" h="76200">
                  <a:moveTo>
                    <a:pt x="553212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53212" y="44450"/>
                  </a:lnTo>
                  <a:lnTo>
                    <a:pt x="553212" y="31750"/>
                  </a:lnTo>
                  <a:close/>
                </a:path>
                <a:path w="629920" h="76200">
                  <a:moveTo>
                    <a:pt x="616712" y="31750"/>
                  </a:moveTo>
                  <a:lnTo>
                    <a:pt x="565912" y="31750"/>
                  </a:lnTo>
                  <a:lnTo>
                    <a:pt x="565912" y="44450"/>
                  </a:lnTo>
                  <a:lnTo>
                    <a:pt x="616712" y="44450"/>
                  </a:lnTo>
                  <a:lnTo>
                    <a:pt x="629412" y="38100"/>
                  </a:lnTo>
                  <a:lnTo>
                    <a:pt x="616712" y="31750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1283208" y="4218432"/>
              <a:ext cx="1365885" cy="260985"/>
            </a:xfrm>
            <a:prstGeom prst="rect">
              <a:avLst/>
            </a:prstGeom>
            <a:solidFill>
              <a:srgbClr val="FF9413"/>
            </a:solidFill>
            <a:ln w="12700">
              <a:solidFill>
                <a:srgbClr val="6C3B03"/>
              </a:solidFill>
            </a:ln>
          </p:spPr>
          <p:txBody>
            <a:bodyPr vert="horz" wrap="square" lIns="0" tIns="32384" rIns="0" bIns="0" rtlCol="0">
              <a:spAutoFit/>
            </a:bodyPr>
            <a:lstStyle/>
            <a:p>
              <a:pPr marL="114300">
                <a:lnSpc>
                  <a:spcPct val="100000"/>
                </a:lnSpc>
                <a:spcBef>
                  <a:spcPts val="254"/>
                </a:spcBef>
              </a:pPr>
              <a:r>
                <a:rPr sz="1200" spc="20" dirty="0">
                  <a:solidFill>
                    <a:srgbClr val="FFFFFF"/>
                  </a:solidFill>
                  <a:latin typeface="Tahoma"/>
                  <a:cs typeface="Tahoma"/>
                </a:rPr>
                <a:t>Split</a:t>
              </a:r>
              <a:r>
                <a:rPr sz="1200" spc="-90" dirty="0">
                  <a:solidFill>
                    <a:srgbClr val="FFFFFF"/>
                  </a:solidFill>
                  <a:latin typeface="Tahoma"/>
                  <a:cs typeface="Tahoma"/>
                </a:rPr>
                <a:t> </a:t>
              </a:r>
              <a:r>
                <a:rPr sz="1200" spc="25" dirty="0">
                  <a:solidFill>
                    <a:srgbClr val="FFFFFF"/>
                  </a:solidFill>
                  <a:latin typeface="Tahoma"/>
                  <a:cs typeface="Tahoma"/>
                </a:rPr>
                <a:t>into</a:t>
              </a:r>
              <a:r>
                <a:rPr sz="1200" spc="-85" dirty="0">
                  <a:solidFill>
                    <a:srgbClr val="FFFFFF"/>
                  </a:solidFill>
                  <a:latin typeface="Tahoma"/>
                  <a:cs typeface="Tahoma"/>
                </a:rPr>
                <a:t> </a:t>
              </a:r>
              <a:r>
                <a:rPr sz="1200" spc="15" dirty="0">
                  <a:solidFill>
                    <a:srgbClr val="FFFFFF"/>
                  </a:solidFill>
                  <a:latin typeface="Tahoma"/>
                  <a:cs typeface="Tahoma"/>
                </a:rPr>
                <a:t>chunks</a:t>
              </a:r>
              <a:endParaRPr sz="1200">
                <a:latin typeface="Tahoma"/>
                <a:cs typeface="Tahoma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2593848" y="5187696"/>
              <a:ext cx="1365885" cy="1533525"/>
            </a:xfrm>
            <a:prstGeom prst="rect">
              <a:avLst/>
            </a:prstGeom>
            <a:solidFill>
              <a:srgbClr val="2CC3B4"/>
            </a:solidFill>
            <a:ln w="12700">
              <a:solidFill>
                <a:srgbClr val="0C5149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endParaRPr sz="1700" dirty="0">
                <a:latin typeface="Times New Roman"/>
                <a:cs typeface="Times New Roman"/>
              </a:endParaRPr>
            </a:p>
            <a:p>
              <a:pPr>
                <a:lnSpc>
                  <a:spcPct val="100000"/>
                </a:lnSpc>
              </a:pPr>
              <a:endParaRPr sz="1700" dirty="0">
                <a:latin typeface="Times New Roman"/>
                <a:cs typeface="Times New Roman"/>
              </a:endParaRPr>
            </a:p>
            <a:p>
              <a:pPr marL="160655">
                <a:lnSpc>
                  <a:spcPct val="100000"/>
                </a:lnSpc>
                <a:spcBef>
                  <a:spcPts val="1230"/>
                </a:spcBef>
              </a:pPr>
              <a:r>
                <a:rPr sz="1400" spc="70" dirty="0">
                  <a:solidFill>
                    <a:srgbClr val="FFFFFF"/>
                  </a:solidFill>
                  <a:latin typeface="Tahoma"/>
                  <a:cs typeface="Tahoma"/>
                </a:rPr>
                <a:t>Embeddings</a:t>
              </a:r>
              <a:endParaRPr sz="1400" dirty="0">
                <a:latin typeface="Tahoma"/>
                <a:cs typeface="Tahoma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959610" y="4478909"/>
              <a:ext cx="634365" cy="1499235"/>
            </a:xfrm>
            <a:custGeom>
              <a:avLst/>
              <a:gdLst/>
              <a:ahLst/>
              <a:cxnLst/>
              <a:rect l="l" t="t" r="r" b="b"/>
              <a:pathLst>
                <a:path w="634364" h="1499235">
                  <a:moveTo>
                    <a:pt x="558182" y="1466759"/>
                  </a:moveTo>
                  <a:lnTo>
                    <a:pt x="552195" y="1499171"/>
                  </a:lnTo>
                  <a:lnTo>
                    <a:pt x="633983" y="1475460"/>
                  </a:lnTo>
                  <a:lnTo>
                    <a:pt x="626861" y="1470088"/>
                  </a:lnTo>
                  <a:lnTo>
                    <a:pt x="569848" y="1470088"/>
                  </a:lnTo>
                  <a:lnTo>
                    <a:pt x="558182" y="1466759"/>
                  </a:lnTo>
                  <a:close/>
                </a:path>
                <a:path w="634364" h="1499235">
                  <a:moveTo>
                    <a:pt x="560496" y="1454227"/>
                  </a:moveTo>
                  <a:lnTo>
                    <a:pt x="558182" y="1466759"/>
                  </a:lnTo>
                  <a:lnTo>
                    <a:pt x="569848" y="1470088"/>
                  </a:lnTo>
                  <a:lnTo>
                    <a:pt x="573277" y="1457883"/>
                  </a:lnTo>
                  <a:lnTo>
                    <a:pt x="560496" y="1454227"/>
                  </a:lnTo>
                  <a:close/>
                </a:path>
                <a:path w="634364" h="1499235">
                  <a:moveTo>
                    <a:pt x="566038" y="1424216"/>
                  </a:moveTo>
                  <a:lnTo>
                    <a:pt x="560496" y="1454227"/>
                  </a:lnTo>
                  <a:lnTo>
                    <a:pt x="573277" y="1457883"/>
                  </a:lnTo>
                  <a:lnTo>
                    <a:pt x="569848" y="1470088"/>
                  </a:lnTo>
                  <a:lnTo>
                    <a:pt x="626861" y="1470088"/>
                  </a:lnTo>
                  <a:lnTo>
                    <a:pt x="566038" y="1424216"/>
                  </a:lnTo>
                  <a:close/>
                </a:path>
                <a:path w="634364" h="1499235">
                  <a:moveTo>
                    <a:pt x="12700" y="0"/>
                  </a:moveTo>
                  <a:lnTo>
                    <a:pt x="0" y="254"/>
                  </a:lnTo>
                  <a:lnTo>
                    <a:pt x="1015" y="69469"/>
                  </a:lnTo>
                  <a:lnTo>
                    <a:pt x="3682" y="138557"/>
                  </a:lnTo>
                  <a:lnTo>
                    <a:pt x="8000" y="207518"/>
                  </a:lnTo>
                  <a:lnTo>
                    <a:pt x="14096" y="275971"/>
                  </a:lnTo>
                  <a:lnTo>
                    <a:pt x="21843" y="343916"/>
                  </a:lnTo>
                  <a:lnTo>
                    <a:pt x="31114" y="411226"/>
                  </a:lnTo>
                  <a:lnTo>
                    <a:pt x="41909" y="477647"/>
                  </a:lnTo>
                  <a:lnTo>
                    <a:pt x="53975" y="543179"/>
                  </a:lnTo>
                  <a:lnTo>
                    <a:pt x="67690" y="607568"/>
                  </a:lnTo>
                  <a:lnTo>
                    <a:pt x="82550" y="670814"/>
                  </a:lnTo>
                  <a:lnTo>
                    <a:pt x="98678" y="732536"/>
                  </a:lnTo>
                  <a:lnTo>
                    <a:pt x="116204" y="792988"/>
                  </a:lnTo>
                  <a:lnTo>
                    <a:pt x="134746" y="851789"/>
                  </a:lnTo>
                  <a:lnTo>
                    <a:pt x="154431" y="908812"/>
                  </a:lnTo>
                  <a:lnTo>
                    <a:pt x="175006" y="963930"/>
                  </a:lnTo>
                  <a:lnTo>
                    <a:pt x="196722" y="1016889"/>
                  </a:lnTo>
                  <a:lnTo>
                    <a:pt x="219328" y="1067816"/>
                  </a:lnTo>
                  <a:lnTo>
                    <a:pt x="242823" y="1116558"/>
                  </a:lnTo>
                  <a:lnTo>
                    <a:pt x="267081" y="1162850"/>
                  </a:lnTo>
                  <a:lnTo>
                    <a:pt x="292100" y="1206487"/>
                  </a:lnTo>
                  <a:lnTo>
                    <a:pt x="317881" y="1247495"/>
                  </a:lnTo>
                  <a:lnTo>
                    <a:pt x="344296" y="1285633"/>
                  </a:lnTo>
                  <a:lnTo>
                    <a:pt x="371347" y="1320863"/>
                  </a:lnTo>
                  <a:lnTo>
                    <a:pt x="398906" y="1353045"/>
                  </a:lnTo>
                  <a:lnTo>
                    <a:pt x="427100" y="1381925"/>
                  </a:lnTo>
                  <a:lnTo>
                    <a:pt x="455548" y="1407477"/>
                  </a:lnTo>
                  <a:lnTo>
                    <a:pt x="499237" y="1439202"/>
                  </a:lnTo>
                  <a:lnTo>
                    <a:pt x="543813" y="1462659"/>
                  </a:lnTo>
                  <a:lnTo>
                    <a:pt x="558182" y="1466759"/>
                  </a:lnTo>
                  <a:lnTo>
                    <a:pt x="560496" y="1454227"/>
                  </a:lnTo>
                  <a:lnTo>
                    <a:pt x="548949" y="1450924"/>
                  </a:lnTo>
                  <a:lnTo>
                    <a:pt x="548639" y="1450924"/>
                  </a:lnTo>
                  <a:lnTo>
                    <a:pt x="547751" y="1450581"/>
                  </a:lnTo>
                  <a:lnTo>
                    <a:pt x="547895" y="1450581"/>
                  </a:lnTo>
                  <a:lnTo>
                    <a:pt x="534162" y="1444256"/>
                  </a:lnTo>
                  <a:lnTo>
                    <a:pt x="520254" y="1436941"/>
                  </a:lnTo>
                  <a:lnTo>
                    <a:pt x="505846" y="1428369"/>
                  </a:lnTo>
                  <a:lnTo>
                    <a:pt x="491744" y="1419009"/>
                  </a:lnTo>
                  <a:lnTo>
                    <a:pt x="477519" y="1408772"/>
                  </a:lnTo>
                  <a:lnTo>
                    <a:pt x="463550" y="1397622"/>
                  </a:lnTo>
                  <a:lnTo>
                    <a:pt x="449579" y="1385582"/>
                  </a:lnTo>
                  <a:lnTo>
                    <a:pt x="435887" y="1372844"/>
                  </a:lnTo>
                  <a:lnTo>
                    <a:pt x="422047" y="1359090"/>
                  </a:lnTo>
                  <a:lnTo>
                    <a:pt x="408308" y="1344422"/>
                  </a:lnTo>
                  <a:lnTo>
                    <a:pt x="394726" y="1329042"/>
                  </a:lnTo>
                  <a:lnTo>
                    <a:pt x="381222" y="1312913"/>
                  </a:lnTo>
                  <a:lnTo>
                    <a:pt x="367805" y="1295869"/>
                  </a:lnTo>
                  <a:lnTo>
                    <a:pt x="354678" y="1278242"/>
                  </a:lnTo>
                  <a:lnTo>
                    <a:pt x="341574" y="1259763"/>
                  </a:lnTo>
                  <a:lnTo>
                    <a:pt x="328516" y="1240561"/>
                  </a:lnTo>
                  <a:lnTo>
                    <a:pt x="328458" y="1240421"/>
                  </a:lnTo>
                  <a:lnTo>
                    <a:pt x="315669" y="1220673"/>
                  </a:lnTo>
                  <a:lnTo>
                    <a:pt x="302973" y="1200035"/>
                  </a:lnTo>
                  <a:lnTo>
                    <a:pt x="302948" y="1199908"/>
                  </a:lnTo>
                  <a:lnTo>
                    <a:pt x="290627" y="1178687"/>
                  </a:lnTo>
                  <a:lnTo>
                    <a:pt x="278320" y="1156792"/>
                  </a:lnTo>
                  <a:lnTo>
                    <a:pt x="266112" y="1134122"/>
                  </a:lnTo>
                  <a:lnTo>
                    <a:pt x="254172" y="1110881"/>
                  </a:lnTo>
                  <a:lnTo>
                    <a:pt x="242378" y="1087120"/>
                  </a:lnTo>
                  <a:lnTo>
                    <a:pt x="230819" y="1062609"/>
                  </a:lnTo>
                  <a:lnTo>
                    <a:pt x="230827" y="1062482"/>
                  </a:lnTo>
                  <a:lnTo>
                    <a:pt x="219456" y="1037590"/>
                  </a:lnTo>
                  <a:lnTo>
                    <a:pt x="208462" y="1012063"/>
                  </a:lnTo>
                  <a:lnTo>
                    <a:pt x="186868" y="959358"/>
                  </a:lnTo>
                  <a:lnTo>
                    <a:pt x="166417" y="904494"/>
                  </a:lnTo>
                  <a:lnTo>
                    <a:pt x="146855" y="847852"/>
                  </a:lnTo>
                  <a:lnTo>
                    <a:pt x="128310" y="789432"/>
                  </a:lnTo>
                  <a:lnTo>
                    <a:pt x="128360" y="789305"/>
                  </a:lnTo>
                  <a:lnTo>
                    <a:pt x="111034" y="729234"/>
                  </a:lnTo>
                  <a:lnTo>
                    <a:pt x="94902" y="667766"/>
                  </a:lnTo>
                  <a:lnTo>
                    <a:pt x="80039" y="604901"/>
                  </a:lnTo>
                  <a:lnTo>
                    <a:pt x="80109" y="604774"/>
                  </a:lnTo>
                  <a:lnTo>
                    <a:pt x="66448" y="540766"/>
                  </a:lnTo>
                  <a:lnTo>
                    <a:pt x="54379" y="475488"/>
                  </a:lnTo>
                  <a:lnTo>
                    <a:pt x="54462" y="475361"/>
                  </a:lnTo>
                  <a:lnTo>
                    <a:pt x="43729" y="409448"/>
                  </a:lnTo>
                  <a:lnTo>
                    <a:pt x="34434" y="342392"/>
                  </a:lnTo>
                  <a:lnTo>
                    <a:pt x="26811" y="274701"/>
                  </a:lnTo>
                  <a:lnTo>
                    <a:pt x="20692" y="206502"/>
                  </a:lnTo>
                  <a:lnTo>
                    <a:pt x="16246" y="137795"/>
                  </a:lnTo>
                  <a:lnTo>
                    <a:pt x="13587" y="69088"/>
                  </a:lnTo>
                  <a:lnTo>
                    <a:pt x="12700" y="0"/>
                  </a:lnTo>
                  <a:close/>
                </a:path>
                <a:path w="634364" h="1499235">
                  <a:moveTo>
                    <a:pt x="547751" y="1450581"/>
                  </a:moveTo>
                  <a:lnTo>
                    <a:pt x="548639" y="1450924"/>
                  </a:lnTo>
                  <a:lnTo>
                    <a:pt x="548132" y="1450690"/>
                  </a:lnTo>
                  <a:lnTo>
                    <a:pt x="547751" y="1450581"/>
                  </a:lnTo>
                  <a:close/>
                </a:path>
                <a:path w="634364" h="1499235">
                  <a:moveTo>
                    <a:pt x="548132" y="1450690"/>
                  </a:moveTo>
                  <a:lnTo>
                    <a:pt x="548639" y="1450924"/>
                  </a:lnTo>
                  <a:lnTo>
                    <a:pt x="548949" y="1450924"/>
                  </a:lnTo>
                  <a:lnTo>
                    <a:pt x="548132" y="1450690"/>
                  </a:lnTo>
                  <a:close/>
                </a:path>
                <a:path w="634364" h="1499235">
                  <a:moveTo>
                    <a:pt x="547895" y="1450581"/>
                  </a:moveTo>
                  <a:lnTo>
                    <a:pt x="547751" y="1450581"/>
                  </a:lnTo>
                  <a:lnTo>
                    <a:pt x="548132" y="1450690"/>
                  </a:lnTo>
                  <a:lnTo>
                    <a:pt x="547895" y="1450581"/>
                  </a:lnTo>
                  <a:close/>
                </a:path>
                <a:path w="634364" h="1499235">
                  <a:moveTo>
                    <a:pt x="534275" y="1444256"/>
                  </a:moveTo>
                  <a:lnTo>
                    <a:pt x="534542" y="1444396"/>
                  </a:lnTo>
                  <a:lnTo>
                    <a:pt x="534275" y="1444256"/>
                  </a:lnTo>
                  <a:close/>
                </a:path>
                <a:path w="634364" h="1499235">
                  <a:moveTo>
                    <a:pt x="519938" y="1436776"/>
                  </a:moveTo>
                  <a:lnTo>
                    <a:pt x="520191" y="1436941"/>
                  </a:lnTo>
                  <a:lnTo>
                    <a:pt x="519938" y="1436776"/>
                  </a:lnTo>
                  <a:close/>
                </a:path>
                <a:path w="634364" h="1499235">
                  <a:moveTo>
                    <a:pt x="505893" y="1428400"/>
                  </a:moveTo>
                  <a:lnTo>
                    <a:pt x="506094" y="1428534"/>
                  </a:lnTo>
                  <a:lnTo>
                    <a:pt x="505893" y="1428400"/>
                  </a:lnTo>
                  <a:close/>
                </a:path>
                <a:path w="634364" h="1499235">
                  <a:moveTo>
                    <a:pt x="505846" y="1428369"/>
                  </a:moveTo>
                  <a:close/>
                </a:path>
                <a:path w="634364" h="1499235">
                  <a:moveTo>
                    <a:pt x="491785" y="1419009"/>
                  </a:moveTo>
                  <a:lnTo>
                    <a:pt x="491997" y="1419161"/>
                  </a:lnTo>
                  <a:lnTo>
                    <a:pt x="491785" y="1419009"/>
                  </a:lnTo>
                  <a:close/>
                </a:path>
                <a:path w="634364" h="1499235">
                  <a:moveTo>
                    <a:pt x="477670" y="1408881"/>
                  </a:moveTo>
                  <a:close/>
                </a:path>
                <a:path w="634364" h="1499235">
                  <a:moveTo>
                    <a:pt x="477535" y="1408772"/>
                  </a:moveTo>
                  <a:lnTo>
                    <a:pt x="477670" y="1408881"/>
                  </a:lnTo>
                  <a:lnTo>
                    <a:pt x="477535" y="1408772"/>
                  </a:lnTo>
                  <a:close/>
                </a:path>
                <a:path w="634364" h="1499235">
                  <a:moveTo>
                    <a:pt x="463626" y="1397622"/>
                  </a:moveTo>
                  <a:lnTo>
                    <a:pt x="463803" y="1397774"/>
                  </a:lnTo>
                  <a:lnTo>
                    <a:pt x="463626" y="1397622"/>
                  </a:lnTo>
                  <a:close/>
                </a:path>
                <a:path w="634364" h="1499235">
                  <a:moveTo>
                    <a:pt x="449655" y="1385582"/>
                  </a:moveTo>
                  <a:lnTo>
                    <a:pt x="449833" y="1385747"/>
                  </a:lnTo>
                  <a:lnTo>
                    <a:pt x="449655" y="1385582"/>
                  </a:lnTo>
                  <a:close/>
                </a:path>
                <a:path w="634364" h="1499235">
                  <a:moveTo>
                    <a:pt x="435737" y="1372704"/>
                  </a:moveTo>
                  <a:lnTo>
                    <a:pt x="435863" y="1372844"/>
                  </a:lnTo>
                  <a:lnTo>
                    <a:pt x="435737" y="1372704"/>
                  </a:lnTo>
                  <a:close/>
                </a:path>
                <a:path w="634364" h="1499235">
                  <a:moveTo>
                    <a:pt x="421894" y="1358938"/>
                  </a:moveTo>
                  <a:lnTo>
                    <a:pt x="422020" y="1359090"/>
                  </a:lnTo>
                  <a:lnTo>
                    <a:pt x="421894" y="1358938"/>
                  </a:lnTo>
                  <a:close/>
                </a:path>
                <a:path w="634364" h="1499235">
                  <a:moveTo>
                    <a:pt x="408369" y="1344490"/>
                  </a:moveTo>
                  <a:close/>
                </a:path>
                <a:path w="634364" h="1499235">
                  <a:moveTo>
                    <a:pt x="408308" y="1344422"/>
                  </a:moveTo>
                  <a:close/>
                </a:path>
                <a:path w="634364" h="1499235">
                  <a:moveTo>
                    <a:pt x="394726" y="1329042"/>
                  </a:moveTo>
                  <a:lnTo>
                    <a:pt x="394842" y="1329182"/>
                  </a:lnTo>
                  <a:lnTo>
                    <a:pt x="394726" y="1329042"/>
                  </a:lnTo>
                  <a:close/>
                </a:path>
                <a:path w="634364" h="1499235">
                  <a:moveTo>
                    <a:pt x="381163" y="1312799"/>
                  </a:moveTo>
                  <a:close/>
                </a:path>
                <a:path w="634364" h="1499235">
                  <a:moveTo>
                    <a:pt x="367805" y="1295869"/>
                  </a:moveTo>
                  <a:lnTo>
                    <a:pt x="367919" y="1296022"/>
                  </a:lnTo>
                  <a:lnTo>
                    <a:pt x="367805" y="1295869"/>
                  </a:lnTo>
                  <a:close/>
                </a:path>
                <a:path w="634364" h="1499235">
                  <a:moveTo>
                    <a:pt x="354583" y="1278115"/>
                  </a:moveTo>
                  <a:lnTo>
                    <a:pt x="354583" y="1278242"/>
                  </a:lnTo>
                  <a:lnTo>
                    <a:pt x="354583" y="1278115"/>
                  </a:lnTo>
                  <a:close/>
                </a:path>
                <a:path w="634364" h="1499235">
                  <a:moveTo>
                    <a:pt x="341502" y="1259662"/>
                  </a:moveTo>
                  <a:close/>
                </a:path>
                <a:path w="634364" h="1499235">
                  <a:moveTo>
                    <a:pt x="328458" y="1240421"/>
                  </a:moveTo>
                  <a:lnTo>
                    <a:pt x="328548" y="1240561"/>
                  </a:lnTo>
                  <a:lnTo>
                    <a:pt x="328458" y="1240421"/>
                  </a:lnTo>
                  <a:close/>
                </a:path>
                <a:path w="634364" h="1499235">
                  <a:moveTo>
                    <a:pt x="315651" y="1220558"/>
                  </a:moveTo>
                  <a:close/>
                </a:path>
                <a:path w="634364" h="1499235">
                  <a:moveTo>
                    <a:pt x="302948" y="1199908"/>
                  </a:moveTo>
                  <a:lnTo>
                    <a:pt x="303021" y="1200035"/>
                  </a:lnTo>
                  <a:lnTo>
                    <a:pt x="302948" y="1199908"/>
                  </a:lnTo>
                  <a:close/>
                </a:path>
                <a:path w="634364" h="1499235">
                  <a:moveTo>
                    <a:pt x="290575" y="1178598"/>
                  </a:moveTo>
                  <a:close/>
                </a:path>
                <a:path w="634364" h="1499235">
                  <a:moveTo>
                    <a:pt x="278256" y="1156677"/>
                  </a:moveTo>
                  <a:close/>
                </a:path>
                <a:path w="634364" h="1499235">
                  <a:moveTo>
                    <a:pt x="266064" y="1134033"/>
                  </a:moveTo>
                  <a:close/>
                </a:path>
                <a:path w="634364" h="1499235">
                  <a:moveTo>
                    <a:pt x="254126" y="1110792"/>
                  </a:moveTo>
                  <a:close/>
                </a:path>
                <a:path w="634364" h="1499235">
                  <a:moveTo>
                    <a:pt x="242382" y="1086993"/>
                  </a:moveTo>
                  <a:close/>
                </a:path>
                <a:path w="634364" h="1499235">
                  <a:moveTo>
                    <a:pt x="230827" y="1062482"/>
                  </a:moveTo>
                  <a:lnTo>
                    <a:pt x="230885" y="1062609"/>
                  </a:lnTo>
                  <a:lnTo>
                    <a:pt x="230827" y="1062482"/>
                  </a:lnTo>
                  <a:close/>
                </a:path>
                <a:path w="634364" h="1499235">
                  <a:moveTo>
                    <a:pt x="208406" y="1011936"/>
                  </a:moveTo>
                  <a:lnTo>
                    <a:pt x="208406" y="1012063"/>
                  </a:lnTo>
                  <a:lnTo>
                    <a:pt x="208406" y="1011936"/>
                  </a:lnTo>
                  <a:close/>
                </a:path>
                <a:path w="634364" h="1499235">
                  <a:moveTo>
                    <a:pt x="186896" y="959231"/>
                  </a:moveTo>
                  <a:close/>
                </a:path>
                <a:path w="634364" h="1499235">
                  <a:moveTo>
                    <a:pt x="166369" y="904367"/>
                  </a:moveTo>
                  <a:lnTo>
                    <a:pt x="166369" y="904494"/>
                  </a:lnTo>
                  <a:lnTo>
                    <a:pt x="166369" y="904367"/>
                  </a:lnTo>
                  <a:close/>
                </a:path>
                <a:path w="634364" h="1499235">
                  <a:moveTo>
                    <a:pt x="146812" y="847725"/>
                  </a:moveTo>
                  <a:lnTo>
                    <a:pt x="146812" y="847852"/>
                  </a:lnTo>
                  <a:lnTo>
                    <a:pt x="146812" y="847725"/>
                  </a:lnTo>
                  <a:close/>
                </a:path>
                <a:path w="634364" h="1499235">
                  <a:moveTo>
                    <a:pt x="128360" y="789305"/>
                  </a:moveTo>
                  <a:lnTo>
                    <a:pt x="128396" y="789432"/>
                  </a:lnTo>
                  <a:lnTo>
                    <a:pt x="128360" y="789305"/>
                  </a:lnTo>
                  <a:close/>
                </a:path>
                <a:path w="634364" h="1499235">
                  <a:moveTo>
                    <a:pt x="110997" y="729107"/>
                  </a:moveTo>
                  <a:close/>
                </a:path>
                <a:path w="634364" h="1499235">
                  <a:moveTo>
                    <a:pt x="94868" y="667639"/>
                  </a:moveTo>
                  <a:close/>
                </a:path>
                <a:path w="634364" h="1499235">
                  <a:moveTo>
                    <a:pt x="80109" y="604774"/>
                  </a:moveTo>
                  <a:lnTo>
                    <a:pt x="80137" y="604901"/>
                  </a:lnTo>
                  <a:lnTo>
                    <a:pt x="80109" y="604774"/>
                  </a:lnTo>
                  <a:close/>
                </a:path>
                <a:path w="634364" h="1499235">
                  <a:moveTo>
                    <a:pt x="66524" y="540639"/>
                  </a:moveTo>
                  <a:close/>
                </a:path>
                <a:path w="634364" h="1499235">
                  <a:moveTo>
                    <a:pt x="54462" y="475361"/>
                  </a:moveTo>
                  <a:lnTo>
                    <a:pt x="54482" y="475488"/>
                  </a:lnTo>
                  <a:lnTo>
                    <a:pt x="54462" y="475361"/>
                  </a:lnTo>
                  <a:close/>
                </a:path>
                <a:path w="634364" h="1499235">
                  <a:moveTo>
                    <a:pt x="43687" y="409194"/>
                  </a:moveTo>
                  <a:lnTo>
                    <a:pt x="43687" y="409448"/>
                  </a:lnTo>
                  <a:lnTo>
                    <a:pt x="43687" y="409194"/>
                  </a:lnTo>
                  <a:close/>
                </a:path>
                <a:path w="634364" h="1499235">
                  <a:moveTo>
                    <a:pt x="34416" y="342265"/>
                  </a:moveTo>
                  <a:close/>
                </a:path>
                <a:path w="634364" h="1499235">
                  <a:moveTo>
                    <a:pt x="26796" y="274574"/>
                  </a:moveTo>
                  <a:lnTo>
                    <a:pt x="26796" y="274701"/>
                  </a:lnTo>
                  <a:lnTo>
                    <a:pt x="26796" y="274574"/>
                  </a:lnTo>
                  <a:close/>
                </a:path>
                <a:path w="634364" h="1499235">
                  <a:moveTo>
                    <a:pt x="16256" y="137795"/>
                  </a:moveTo>
                  <a:lnTo>
                    <a:pt x="16256" y="138049"/>
                  </a:lnTo>
                  <a:lnTo>
                    <a:pt x="16256" y="137795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59352" y="5921705"/>
              <a:ext cx="683260" cy="76200"/>
            </a:xfrm>
            <a:custGeom>
              <a:avLst/>
              <a:gdLst/>
              <a:ahLst/>
              <a:cxnLst/>
              <a:rect l="l" t="t" r="r" b="b"/>
              <a:pathLst>
                <a:path w="683260" h="76200">
                  <a:moveTo>
                    <a:pt x="607060" y="0"/>
                  </a:moveTo>
                  <a:lnTo>
                    <a:pt x="606742" y="31747"/>
                  </a:lnTo>
                  <a:lnTo>
                    <a:pt x="619506" y="31864"/>
                  </a:lnTo>
                  <a:lnTo>
                    <a:pt x="619378" y="44564"/>
                  </a:lnTo>
                  <a:lnTo>
                    <a:pt x="606614" y="44564"/>
                  </a:lnTo>
                  <a:lnTo>
                    <a:pt x="606298" y="76199"/>
                  </a:lnTo>
                  <a:lnTo>
                    <a:pt x="671051" y="44564"/>
                  </a:lnTo>
                  <a:lnTo>
                    <a:pt x="619378" y="44564"/>
                  </a:lnTo>
                  <a:lnTo>
                    <a:pt x="671289" y="44447"/>
                  </a:lnTo>
                  <a:lnTo>
                    <a:pt x="682878" y="38785"/>
                  </a:lnTo>
                  <a:lnTo>
                    <a:pt x="607060" y="0"/>
                  </a:lnTo>
                  <a:close/>
                </a:path>
                <a:path w="683260" h="76200">
                  <a:moveTo>
                    <a:pt x="606742" y="31747"/>
                  </a:moveTo>
                  <a:lnTo>
                    <a:pt x="606615" y="44447"/>
                  </a:lnTo>
                  <a:lnTo>
                    <a:pt x="619378" y="44564"/>
                  </a:lnTo>
                  <a:lnTo>
                    <a:pt x="619506" y="31864"/>
                  </a:lnTo>
                  <a:lnTo>
                    <a:pt x="606742" y="31747"/>
                  </a:lnTo>
                  <a:close/>
                </a:path>
                <a:path w="683260" h="76200">
                  <a:moveTo>
                    <a:pt x="0" y="26212"/>
                  </a:moveTo>
                  <a:lnTo>
                    <a:pt x="0" y="38912"/>
                  </a:lnTo>
                  <a:lnTo>
                    <a:pt x="606615" y="44447"/>
                  </a:lnTo>
                  <a:lnTo>
                    <a:pt x="606742" y="31747"/>
                  </a:lnTo>
                  <a:lnTo>
                    <a:pt x="0" y="26212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643628" y="4140708"/>
              <a:ext cx="1365885" cy="373380"/>
            </a:xfrm>
            <a:prstGeom prst="rect">
              <a:avLst/>
            </a:prstGeom>
            <a:solidFill>
              <a:srgbClr val="2CC3B4"/>
            </a:solidFill>
            <a:ln w="12700">
              <a:solidFill>
                <a:srgbClr val="0C5149"/>
              </a:solidFill>
            </a:ln>
          </p:spPr>
          <p:txBody>
            <a:bodyPr vert="horz" wrap="square" lIns="0" tIns="71755" rIns="0" bIns="0" rtlCol="0">
              <a:spAutoFit/>
            </a:bodyPr>
            <a:lstStyle/>
            <a:p>
              <a:pPr marL="160020">
                <a:lnSpc>
                  <a:spcPct val="100000"/>
                </a:lnSpc>
                <a:spcBef>
                  <a:spcPts val="565"/>
                </a:spcBef>
              </a:pPr>
              <a:r>
                <a:rPr sz="1400" spc="65" dirty="0">
                  <a:solidFill>
                    <a:srgbClr val="FFFFFF"/>
                  </a:solidFill>
                  <a:latin typeface="Tahoma"/>
                  <a:cs typeface="Tahoma"/>
                </a:rPr>
                <a:t>Embeddings</a:t>
              </a:r>
              <a:endParaRPr sz="1400">
                <a:latin typeface="Tahoma"/>
                <a:cs typeface="Tahoma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288279" y="4514088"/>
              <a:ext cx="76200" cy="680720"/>
            </a:xfrm>
            <a:custGeom>
              <a:avLst/>
              <a:gdLst/>
              <a:ahLst/>
              <a:cxnLst/>
              <a:rect l="l" t="t" r="r" b="b"/>
              <a:pathLst>
                <a:path w="76200" h="680720">
                  <a:moveTo>
                    <a:pt x="31750" y="604393"/>
                  </a:moveTo>
                  <a:lnTo>
                    <a:pt x="0" y="604393"/>
                  </a:lnTo>
                  <a:lnTo>
                    <a:pt x="38100" y="680593"/>
                  </a:lnTo>
                  <a:lnTo>
                    <a:pt x="69850" y="617093"/>
                  </a:lnTo>
                  <a:lnTo>
                    <a:pt x="31750" y="617093"/>
                  </a:lnTo>
                  <a:lnTo>
                    <a:pt x="31750" y="604393"/>
                  </a:lnTo>
                  <a:close/>
                </a:path>
                <a:path w="76200" h="680720">
                  <a:moveTo>
                    <a:pt x="44450" y="0"/>
                  </a:moveTo>
                  <a:lnTo>
                    <a:pt x="31750" y="0"/>
                  </a:lnTo>
                  <a:lnTo>
                    <a:pt x="31750" y="617093"/>
                  </a:lnTo>
                  <a:lnTo>
                    <a:pt x="44450" y="617093"/>
                  </a:lnTo>
                  <a:lnTo>
                    <a:pt x="44450" y="0"/>
                  </a:lnTo>
                  <a:close/>
                </a:path>
                <a:path w="76200" h="680720">
                  <a:moveTo>
                    <a:pt x="76200" y="604393"/>
                  </a:moveTo>
                  <a:lnTo>
                    <a:pt x="44450" y="604393"/>
                  </a:lnTo>
                  <a:lnTo>
                    <a:pt x="44450" y="617093"/>
                  </a:lnTo>
                  <a:lnTo>
                    <a:pt x="69850" y="617093"/>
                  </a:lnTo>
                  <a:lnTo>
                    <a:pt x="76200" y="604393"/>
                  </a:lnTo>
                  <a:close/>
                </a:path>
              </a:pathLst>
            </a:custGeom>
            <a:solidFill>
              <a:srgbClr val="ED7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4117085" y="5719673"/>
              <a:ext cx="365125" cy="1936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100" spc="15" dirty="0">
                  <a:latin typeface="Tahoma"/>
                  <a:cs typeface="Tahoma"/>
                </a:rPr>
                <a:t>Sto</a:t>
              </a:r>
              <a:r>
                <a:rPr sz="1100" spc="5" dirty="0">
                  <a:latin typeface="Tahoma"/>
                  <a:cs typeface="Tahoma"/>
                </a:rPr>
                <a:t>r</a:t>
              </a:r>
              <a:r>
                <a:rPr sz="1100" spc="50" dirty="0">
                  <a:latin typeface="Tahoma"/>
                  <a:cs typeface="Tahoma"/>
                </a:rPr>
                <a:t>e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405373" y="4717541"/>
              <a:ext cx="457834" cy="1936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100" spc="30" dirty="0">
                  <a:latin typeface="Tahoma"/>
                  <a:cs typeface="Tahoma"/>
                </a:rPr>
                <a:t>S</a:t>
              </a:r>
              <a:r>
                <a:rPr sz="1100" spc="20" dirty="0">
                  <a:latin typeface="Tahoma"/>
                  <a:cs typeface="Tahoma"/>
                </a:rPr>
                <a:t>e</a:t>
              </a:r>
              <a:r>
                <a:rPr sz="1100" dirty="0">
                  <a:latin typeface="Tahoma"/>
                  <a:cs typeface="Tahoma"/>
                </a:rPr>
                <a:t>a</a:t>
              </a:r>
              <a:r>
                <a:rPr sz="1100" spc="-25" dirty="0">
                  <a:latin typeface="Tahoma"/>
                  <a:cs typeface="Tahoma"/>
                </a:rPr>
                <a:t>r</a:t>
              </a:r>
              <a:r>
                <a:rPr sz="1100" spc="35" dirty="0">
                  <a:latin typeface="Tahoma"/>
                  <a:cs typeface="Tahoma"/>
                </a:rPr>
                <a:t>ch</a:t>
              </a:r>
              <a:endParaRPr sz="1100">
                <a:latin typeface="Tahoma"/>
                <a:cs typeface="Tahoma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6115939" y="5719064"/>
              <a:ext cx="397510" cy="1936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100" spc="-130" dirty="0">
                  <a:latin typeface="Tahoma"/>
                  <a:cs typeface="Tahoma"/>
                </a:rPr>
                <a:t>T</a:t>
              </a:r>
              <a:r>
                <a:rPr sz="1100" spc="80" dirty="0">
                  <a:latin typeface="Tahoma"/>
                  <a:cs typeface="Tahoma"/>
                </a:rPr>
                <a:t>o</a:t>
              </a:r>
              <a:r>
                <a:rPr sz="1100" spc="75" dirty="0">
                  <a:latin typeface="Tahoma"/>
                  <a:cs typeface="Tahoma"/>
                </a:rPr>
                <a:t>p</a:t>
              </a:r>
              <a:r>
                <a:rPr sz="1100" spc="-60" dirty="0">
                  <a:latin typeface="Tahoma"/>
                  <a:cs typeface="Tahoma"/>
                </a:rPr>
                <a:t>-</a:t>
              </a:r>
              <a:r>
                <a:rPr sz="1100" spc="45" dirty="0">
                  <a:latin typeface="Tahoma"/>
                  <a:cs typeface="Tahoma"/>
                </a:rPr>
                <a:t>K</a:t>
              </a:r>
              <a:endParaRPr sz="1100">
                <a:latin typeface="Tahoma"/>
                <a:cs typeface="Tahoma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A6A93F-1849-4198-A137-F1C35779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E1077-AA97-4021-BABB-97F5F1E1CDF8}" type="datetime1">
              <a:rPr lang="en-US" smtClean="0"/>
              <a:t>12/1/2025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0A438683-BE92-EAD7-A12B-932A1F63D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95BC118-F080-B0C8-CCB2-2899C436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6545-4BD3-ADE2-7347-2745EA200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Prompt Engineering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E8768-9981-3CD1-8F7A-8B5BCFEB3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1111-876B-4745-B864-8E6F6E1FEF38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77313-CC70-4200-D588-5C5D0C1EA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691B4-0CB0-B405-DE13-C26E8F58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79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4B40-C5D5-1115-8C83-4A8BAC01E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0080"/>
            <a:ext cx="6324600" cy="28651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/>
              <a:t>What is prompt engineering?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FFC4E-92BF-9451-A63C-9D31B3F68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3962400"/>
            <a:ext cx="3734014" cy="1572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 Find an effective way to communicate with AI tools</a:t>
            </a:r>
          </a:p>
        </p:txBody>
      </p:sp>
      <p:pic>
        <p:nvPicPr>
          <p:cNvPr id="9" name="Picture 8" descr="A chatbot and a person&#10;&#10;Description automatically generated">
            <a:extLst>
              <a:ext uri="{FF2B5EF4-FFF2-40B4-BE49-F238E27FC236}">
                <a16:creationId xmlns:a16="http://schemas.microsoft.com/office/drawing/2014/main" id="{B6B6DA7B-266A-2673-93C1-2F2D5E8F69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58"/>
          <a:stretch/>
        </p:blipFill>
        <p:spPr>
          <a:xfrm>
            <a:off x="6781800" y="886375"/>
            <a:ext cx="5100661" cy="5085249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01136-2AA3-766F-366F-4AB332C7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1BB91-FDEC-44EC-8F0A-0067D68D4E52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8C616-8879-22F2-54D0-E98B9A7D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50E3D-AA8E-CB0A-5195-00703B33E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35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441798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39" dirty="0"/>
              <a:t>What</a:t>
            </a:r>
            <a:r>
              <a:rPr spc="-169" dirty="0"/>
              <a:t> </a:t>
            </a:r>
            <a:r>
              <a:rPr spc="-42" dirty="0"/>
              <a:t>are</a:t>
            </a:r>
            <a:r>
              <a:rPr spc="-169" dirty="0"/>
              <a:t> </a:t>
            </a:r>
            <a:r>
              <a:rPr spc="-56" dirty="0"/>
              <a:t>prompts?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600" y="1021386"/>
            <a:ext cx="9144000" cy="2613746"/>
          </a:xfrm>
          <a:prstGeom prst="rect">
            <a:avLst/>
          </a:prstGeom>
        </p:spPr>
        <p:txBody>
          <a:bodyPr vert="horz" wrap="square" lIns="0" tIns="61168" rIns="0" bIns="0" rtlCol="0">
            <a:spAutoFit/>
          </a:bodyPr>
          <a:lstStyle/>
          <a:p>
            <a:pPr marL="312528" marR="195107" indent="-303599">
              <a:lnSpc>
                <a:spcPts val="2475"/>
              </a:lnSpc>
              <a:spcBef>
                <a:spcPts val="482"/>
              </a:spcBef>
              <a:buClr>
                <a:srgbClr val="7571FF"/>
              </a:buClr>
              <a:buFont typeface="Arial MT"/>
              <a:buChar char="•"/>
              <a:tabLst>
                <a:tab pos="312528" algn="l"/>
              </a:tabLst>
            </a:pPr>
            <a:r>
              <a:rPr sz="2391" b="1" dirty="0">
                <a:solidFill>
                  <a:srgbClr val="5E5E5E"/>
                </a:solidFill>
                <a:latin typeface="Arial"/>
                <a:cs typeface="Arial"/>
              </a:rPr>
              <a:t>Prompts</a:t>
            </a:r>
            <a:r>
              <a:rPr sz="2391" b="1" spc="-28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involve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00B0F0"/>
                </a:solidFill>
                <a:latin typeface="Arial MT"/>
                <a:cs typeface="Arial MT"/>
              </a:rPr>
              <a:t>instructions</a:t>
            </a:r>
            <a:r>
              <a:rPr sz="2391" spc="-32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00B0F0"/>
                </a:solidFill>
                <a:latin typeface="Arial MT"/>
                <a:cs typeface="Arial MT"/>
              </a:rPr>
              <a:t>and</a:t>
            </a:r>
            <a:r>
              <a:rPr sz="2391" spc="-2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00B0F0"/>
                </a:solidFill>
                <a:latin typeface="Arial MT"/>
                <a:cs typeface="Arial MT"/>
              </a:rPr>
              <a:t>context</a:t>
            </a:r>
            <a:r>
              <a:rPr sz="2391" spc="-32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00B0F0"/>
                </a:solidFill>
                <a:latin typeface="Arial MT"/>
                <a:cs typeface="Arial MT"/>
              </a:rPr>
              <a:t>passed</a:t>
            </a:r>
            <a:r>
              <a:rPr sz="2391" spc="-2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to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35" dirty="0">
                <a:solidFill>
                  <a:srgbClr val="5E5E5E"/>
                </a:solidFill>
                <a:latin typeface="Arial MT"/>
                <a:cs typeface="Arial MT"/>
              </a:rPr>
              <a:t>a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language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model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to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achieve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a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desired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task</a:t>
            </a:r>
            <a:endParaRPr sz="2391" dirty="0">
              <a:latin typeface="Arial MT"/>
              <a:cs typeface="Arial MT"/>
            </a:endParaRPr>
          </a:p>
          <a:p>
            <a:pPr marL="312528" marR="77239" indent="-303599">
              <a:lnSpc>
                <a:spcPts val="2475"/>
              </a:lnSpc>
              <a:spcBef>
                <a:spcPts val="1547"/>
              </a:spcBef>
              <a:buClr>
                <a:srgbClr val="7571FF"/>
              </a:buClr>
              <a:buFont typeface="Arial MT"/>
              <a:buChar char="•"/>
              <a:tabLst>
                <a:tab pos="312528" algn="l"/>
              </a:tabLst>
            </a:pPr>
            <a:r>
              <a:rPr sz="2391" b="1" dirty="0">
                <a:solidFill>
                  <a:srgbClr val="5E5E5E"/>
                </a:solidFill>
                <a:latin typeface="Arial"/>
                <a:cs typeface="Arial"/>
              </a:rPr>
              <a:t>Prompt</a:t>
            </a:r>
            <a:r>
              <a:rPr sz="2391" b="1" spc="-28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391" b="1" dirty="0">
                <a:solidFill>
                  <a:srgbClr val="5E5E5E"/>
                </a:solidFill>
                <a:latin typeface="Arial"/>
                <a:cs typeface="Arial"/>
              </a:rPr>
              <a:t>engineering</a:t>
            </a:r>
            <a:r>
              <a:rPr sz="2391" b="1" spc="-21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is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the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practice</a:t>
            </a:r>
            <a:r>
              <a:rPr sz="2391" spc="-2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of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developing</a:t>
            </a:r>
            <a:r>
              <a:rPr sz="2391" spc="-2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18" dirty="0">
                <a:solidFill>
                  <a:srgbClr val="5E5E5E"/>
                </a:solidFill>
                <a:latin typeface="Arial MT"/>
                <a:cs typeface="Arial MT"/>
              </a:rPr>
              <a:t>and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optimizing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prompts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to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efficiently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use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language</a:t>
            </a:r>
            <a:r>
              <a:rPr sz="2391" spc="-28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7" dirty="0">
                <a:solidFill>
                  <a:srgbClr val="5E5E5E"/>
                </a:solidFill>
                <a:latin typeface="Arial MT"/>
                <a:cs typeface="Arial MT"/>
              </a:rPr>
              <a:t>models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(LMs)</a:t>
            </a:r>
            <a:r>
              <a:rPr sz="2391" spc="-28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for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a</a:t>
            </a:r>
            <a:r>
              <a:rPr sz="2391" spc="-2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variety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of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7" dirty="0">
                <a:solidFill>
                  <a:srgbClr val="5E5E5E"/>
                </a:solidFill>
                <a:latin typeface="Arial MT"/>
                <a:cs typeface="Arial MT"/>
              </a:rPr>
              <a:t>applications</a:t>
            </a:r>
            <a:endParaRPr sz="2391" dirty="0">
              <a:latin typeface="Arial MT"/>
              <a:cs typeface="Arial MT"/>
            </a:endParaRPr>
          </a:p>
          <a:p>
            <a:pPr marL="167856" marR="3572" indent="-294669">
              <a:lnSpc>
                <a:spcPts val="2159"/>
              </a:lnSpc>
              <a:spcBef>
                <a:spcPts val="1519"/>
              </a:spcBef>
              <a:buClr>
                <a:srgbClr val="7571FF"/>
              </a:buClr>
              <a:buSzPct val="123333"/>
              <a:buChar char="•"/>
              <a:tabLst>
                <a:tab pos="625056" algn="l"/>
              </a:tabLst>
            </a:pP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Prompt</a:t>
            </a:r>
            <a:r>
              <a:rPr sz="2109" spc="-18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engineering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is</a:t>
            </a:r>
            <a:r>
              <a:rPr sz="2109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a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useful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skill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for</a:t>
            </a:r>
            <a:r>
              <a:rPr sz="2109" spc="-127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AI</a:t>
            </a:r>
            <a:r>
              <a:rPr sz="2109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engineers</a:t>
            </a:r>
            <a:r>
              <a:rPr sz="2109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spc="-18" dirty="0">
                <a:solidFill>
                  <a:srgbClr val="5E5E5E"/>
                </a:solidFill>
                <a:latin typeface="Arial MT"/>
                <a:cs typeface="Arial MT"/>
              </a:rPr>
              <a:t>and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researchers</a:t>
            </a:r>
            <a:r>
              <a:rPr sz="2109" spc="-2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to</a:t>
            </a:r>
            <a:r>
              <a:rPr sz="2109" spc="-18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improve</a:t>
            </a:r>
            <a:r>
              <a:rPr sz="2109" spc="-18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and</a:t>
            </a:r>
            <a:r>
              <a:rPr sz="2109" spc="-18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efficiently</a:t>
            </a:r>
            <a:r>
              <a:rPr sz="2109" spc="-2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use</a:t>
            </a:r>
            <a:r>
              <a:rPr sz="2109" spc="-18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language</a:t>
            </a:r>
            <a:r>
              <a:rPr sz="2109" spc="-18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models</a:t>
            </a:r>
            <a:endParaRPr sz="2109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2189" y="3930632"/>
            <a:ext cx="7667923" cy="2348954"/>
            <a:chOff x="1049869" y="5590232"/>
            <a:chExt cx="10905490" cy="3340735"/>
          </a:xfrm>
        </p:grpSpPr>
        <p:sp>
          <p:nvSpPr>
            <p:cNvPr id="5" name="object 5"/>
            <p:cNvSpPr/>
            <p:nvPr/>
          </p:nvSpPr>
          <p:spPr>
            <a:xfrm>
              <a:off x="1081724" y="5621982"/>
              <a:ext cx="10841355" cy="3277235"/>
            </a:xfrm>
            <a:custGeom>
              <a:avLst/>
              <a:gdLst/>
              <a:ahLst/>
              <a:cxnLst/>
              <a:rect l="l" t="t" r="r" b="b"/>
              <a:pathLst>
                <a:path w="10841355" h="3277234">
                  <a:moveTo>
                    <a:pt x="10705022" y="0"/>
                  </a:moveTo>
                  <a:lnTo>
                    <a:pt x="136329" y="0"/>
                  </a:lnTo>
                  <a:lnTo>
                    <a:pt x="109179" y="104"/>
                  </a:lnTo>
                  <a:lnTo>
                    <a:pt x="69894" y="2820"/>
                  </a:lnTo>
                  <a:lnTo>
                    <a:pt x="25912" y="26017"/>
                  </a:lnTo>
                  <a:lnTo>
                    <a:pt x="2716" y="69998"/>
                  </a:lnTo>
                  <a:lnTo>
                    <a:pt x="0" y="109284"/>
                  </a:lnTo>
                  <a:lnTo>
                    <a:pt x="0" y="3167433"/>
                  </a:lnTo>
                  <a:lnTo>
                    <a:pt x="731" y="3189328"/>
                  </a:lnTo>
                  <a:lnTo>
                    <a:pt x="14641" y="3236676"/>
                  </a:lnTo>
                  <a:lnTo>
                    <a:pt x="56256" y="3270032"/>
                  </a:lnTo>
                  <a:lnTo>
                    <a:pt x="109179" y="3276613"/>
                  </a:lnTo>
                  <a:lnTo>
                    <a:pt x="136329" y="3276717"/>
                  </a:lnTo>
                  <a:lnTo>
                    <a:pt x="10705022" y="3276717"/>
                  </a:lnTo>
                  <a:lnTo>
                    <a:pt x="10754067" y="3275882"/>
                  </a:lnTo>
                  <a:lnTo>
                    <a:pt x="10801414" y="3261971"/>
                  </a:lnTo>
                  <a:lnTo>
                    <a:pt x="10834770" y="3220356"/>
                  </a:lnTo>
                  <a:lnTo>
                    <a:pt x="10841351" y="3167433"/>
                  </a:lnTo>
                  <a:lnTo>
                    <a:pt x="10841351" y="109284"/>
                  </a:lnTo>
                  <a:lnTo>
                    <a:pt x="10838635" y="69998"/>
                  </a:lnTo>
                  <a:lnTo>
                    <a:pt x="10815438" y="26017"/>
                  </a:lnTo>
                  <a:lnTo>
                    <a:pt x="10771457" y="2820"/>
                  </a:lnTo>
                  <a:lnTo>
                    <a:pt x="10732172" y="104"/>
                  </a:lnTo>
                  <a:lnTo>
                    <a:pt x="1070502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6" name="object 6"/>
            <p:cNvSpPr/>
            <p:nvPr/>
          </p:nvSpPr>
          <p:spPr>
            <a:xfrm>
              <a:off x="1081619" y="5621982"/>
              <a:ext cx="10841990" cy="3277235"/>
            </a:xfrm>
            <a:custGeom>
              <a:avLst/>
              <a:gdLst/>
              <a:ahLst/>
              <a:cxnLst/>
              <a:rect l="l" t="t" r="r" b="b"/>
              <a:pathLst>
                <a:path w="10841990" h="3277234">
                  <a:moveTo>
                    <a:pt x="136433" y="0"/>
                  </a:moveTo>
                  <a:lnTo>
                    <a:pt x="10705127" y="0"/>
                  </a:lnTo>
                  <a:lnTo>
                    <a:pt x="10732276" y="104"/>
                  </a:lnTo>
                  <a:lnTo>
                    <a:pt x="10771561" y="2820"/>
                  </a:lnTo>
                  <a:lnTo>
                    <a:pt x="10815543" y="26017"/>
                  </a:lnTo>
                  <a:lnTo>
                    <a:pt x="10838740" y="69998"/>
                  </a:lnTo>
                  <a:lnTo>
                    <a:pt x="10841456" y="109284"/>
                  </a:lnTo>
                  <a:lnTo>
                    <a:pt x="10841560" y="136433"/>
                  </a:lnTo>
                  <a:lnTo>
                    <a:pt x="10841560" y="3140283"/>
                  </a:lnTo>
                  <a:lnTo>
                    <a:pt x="10840725" y="3189328"/>
                  </a:lnTo>
                  <a:lnTo>
                    <a:pt x="10826814" y="3236676"/>
                  </a:lnTo>
                  <a:lnTo>
                    <a:pt x="10785199" y="3270031"/>
                  </a:lnTo>
                  <a:lnTo>
                    <a:pt x="10732276" y="3276612"/>
                  </a:lnTo>
                  <a:lnTo>
                    <a:pt x="10705127" y="3276716"/>
                  </a:lnTo>
                  <a:lnTo>
                    <a:pt x="136433" y="3276716"/>
                  </a:lnTo>
                  <a:lnTo>
                    <a:pt x="87389" y="3275881"/>
                  </a:lnTo>
                  <a:lnTo>
                    <a:pt x="40041" y="3261971"/>
                  </a:lnTo>
                  <a:lnTo>
                    <a:pt x="6685" y="3220356"/>
                  </a:lnTo>
                  <a:lnTo>
                    <a:pt x="104" y="3167433"/>
                  </a:lnTo>
                  <a:lnTo>
                    <a:pt x="0" y="3140283"/>
                  </a:lnTo>
                  <a:lnTo>
                    <a:pt x="0" y="136433"/>
                  </a:lnTo>
                  <a:lnTo>
                    <a:pt x="835" y="87389"/>
                  </a:lnTo>
                  <a:lnTo>
                    <a:pt x="14745" y="40041"/>
                  </a:lnTo>
                  <a:lnTo>
                    <a:pt x="56361" y="6685"/>
                  </a:lnTo>
                  <a:lnTo>
                    <a:pt x="109284" y="104"/>
                  </a:lnTo>
                  <a:lnTo>
                    <a:pt x="136433" y="0"/>
                  </a:lnTo>
                  <a:close/>
                </a:path>
              </a:pathLst>
            </a:custGeom>
            <a:ln w="63500">
              <a:solidFill>
                <a:srgbClr val="6D6BE7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7" name="object 7"/>
            <p:cNvSpPr/>
            <p:nvPr/>
          </p:nvSpPr>
          <p:spPr>
            <a:xfrm>
              <a:off x="1469707" y="6533908"/>
              <a:ext cx="10396220" cy="1746250"/>
            </a:xfrm>
            <a:custGeom>
              <a:avLst/>
              <a:gdLst/>
              <a:ahLst/>
              <a:cxnLst/>
              <a:rect l="l" t="t" r="r" b="b"/>
              <a:pathLst>
                <a:path w="10396220" h="1746250">
                  <a:moveTo>
                    <a:pt x="10396195" y="285750"/>
                  </a:moveTo>
                  <a:lnTo>
                    <a:pt x="10300868" y="285750"/>
                  </a:lnTo>
                  <a:lnTo>
                    <a:pt x="10300868" y="0"/>
                  </a:lnTo>
                  <a:lnTo>
                    <a:pt x="0" y="0"/>
                  </a:lnTo>
                  <a:lnTo>
                    <a:pt x="0" y="1746250"/>
                  </a:lnTo>
                  <a:lnTo>
                    <a:pt x="9968573" y="1746250"/>
                  </a:lnTo>
                  <a:lnTo>
                    <a:pt x="9968573" y="1460500"/>
                  </a:lnTo>
                  <a:lnTo>
                    <a:pt x="10300868" y="1460500"/>
                  </a:lnTo>
                  <a:lnTo>
                    <a:pt x="10300868" y="1174750"/>
                  </a:lnTo>
                  <a:lnTo>
                    <a:pt x="10396195" y="1174750"/>
                  </a:lnTo>
                  <a:lnTo>
                    <a:pt x="10396195" y="857250"/>
                  </a:lnTo>
                  <a:lnTo>
                    <a:pt x="10300868" y="857250"/>
                  </a:lnTo>
                  <a:lnTo>
                    <a:pt x="10300868" y="603250"/>
                  </a:lnTo>
                  <a:lnTo>
                    <a:pt x="10396195" y="603250"/>
                  </a:lnTo>
                  <a:lnTo>
                    <a:pt x="10396195" y="285750"/>
                  </a:lnTo>
                  <a:close/>
                </a:path>
              </a:pathLst>
            </a:custGeom>
            <a:solidFill>
              <a:srgbClr val="9AE989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548458" y="4164053"/>
            <a:ext cx="7318772" cy="1687566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What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prompt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engineering?</a:t>
            </a:r>
            <a:endParaRPr sz="1512" dirty="0">
              <a:latin typeface="Courier New"/>
              <a:cs typeface="Courier New"/>
            </a:endParaRPr>
          </a:p>
          <a:p>
            <a:pPr marL="8929" marR="61613">
              <a:lnSpc>
                <a:spcPts val="1582"/>
              </a:lnSpc>
              <a:spcBef>
                <a:spcPts val="1596"/>
              </a:spcBef>
            </a:pPr>
            <a:r>
              <a:rPr sz="1512" dirty="0">
                <a:latin typeface="Courier New"/>
                <a:cs typeface="Courier New"/>
              </a:rPr>
              <a:t>Prompt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engineering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process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of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creating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set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of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prompts, </a:t>
            </a:r>
            <a:r>
              <a:rPr sz="1512" dirty="0">
                <a:latin typeface="Courier New"/>
                <a:cs typeface="Courier New"/>
              </a:rPr>
              <a:t>or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questions,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that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are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used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guide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user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toward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desired </a:t>
            </a:r>
            <a:r>
              <a:rPr sz="1512" dirty="0">
                <a:latin typeface="Courier New"/>
                <a:cs typeface="Courier New"/>
              </a:rPr>
              <a:t>outcome.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It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is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effective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tool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for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designers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create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spc="-14" dirty="0">
                <a:latin typeface="Courier New"/>
                <a:cs typeface="Courier New"/>
              </a:rPr>
              <a:t>user </a:t>
            </a:r>
            <a:r>
              <a:rPr sz="1512" dirty="0">
                <a:latin typeface="Courier New"/>
                <a:cs typeface="Courier New"/>
              </a:rPr>
              <a:t>experiences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that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are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easy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use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and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intuitive.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This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method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is </a:t>
            </a:r>
            <a:r>
              <a:rPr sz="1512" dirty="0">
                <a:latin typeface="Courier New"/>
                <a:cs typeface="Courier New"/>
              </a:rPr>
              <a:t>often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used</a:t>
            </a:r>
            <a:r>
              <a:rPr sz="1512" spc="7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interactive</a:t>
            </a:r>
            <a:r>
              <a:rPr sz="1512" spc="7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design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and</a:t>
            </a:r>
            <a:r>
              <a:rPr sz="1512" spc="7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software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development,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as </a:t>
            </a:r>
            <a:r>
              <a:rPr sz="1512" dirty="0">
                <a:latin typeface="Courier New"/>
                <a:cs typeface="Courier New"/>
              </a:rPr>
              <a:t>it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allows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users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easily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understand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how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interact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with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spc="-35" dirty="0">
                <a:latin typeface="Courier New"/>
                <a:cs typeface="Courier New"/>
              </a:rPr>
              <a:t>a</a:t>
            </a:r>
            <a:endParaRPr sz="1512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57388" y="5828233"/>
            <a:ext cx="2228850" cy="202428"/>
          </a:xfrm>
          <a:prstGeom prst="rect">
            <a:avLst/>
          </a:prstGeom>
          <a:solidFill>
            <a:srgbClr val="9AE98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9"/>
              </a:lnSpc>
            </a:pPr>
            <a:r>
              <a:rPr sz="1512" dirty="0">
                <a:latin typeface="Courier New"/>
                <a:cs typeface="Courier New"/>
              </a:rPr>
              <a:t>system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or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product..</a:t>
            </a:r>
            <a:endParaRPr sz="1512" dirty="0">
              <a:latin typeface="Courier New"/>
              <a:cs typeface="Courier New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2A8E8F-5F6F-D05C-D20B-2E184942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382E-5FEF-4914-9903-8473A5048D79}" type="datetime1">
              <a:rPr lang="en-US" smtClean="0"/>
              <a:t>12/1/2025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9D5015-4377-128E-16A0-D056C60B3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3E78333-CA67-C212-41AB-C2E74FF1A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441798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25" dirty="0"/>
              <a:t>Why</a:t>
            </a:r>
            <a:r>
              <a:rPr spc="-165" dirty="0"/>
              <a:t> </a:t>
            </a:r>
            <a:r>
              <a:rPr spc="-49" dirty="0"/>
              <a:t>Prompt</a:t>
            </a:r>
            <a:r>
              <a:rPr spc="-161" dirty="0"/>
              <a:t> </a:t>
            </a:r>
            <a:r>
              <a:rPr spc="-63" dirty="0"/>
              <a:t>Engineering?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943305"/>
            <a:ext cx="8763000" cy="1891228"/>
          </a:xfrm>
          <a:prstGeom prst="rect">
            <a:avLst/>
          </a:prstGeom>
        </p:spPr>
        <p:txBody>
          <a:bodyPr vert="horz" wrap="square" lIns="0" tIns="87064" rIns="0" bIns="0" rtlCol="0">
            <a:spAutoFit/>
          </a:bodyPr>
          <a:lstStyle/>
          <a:p>
            <a:pPr marL="312081" indent="-303152">
              <a:spcBef>
                <a:spcPts val="686"/>
              </a:spcBef>
              <a:buClr>
                <a:srgbClr val="7571FF"/>
              </a:buClr>
              <a:buChar char="•"/>
              <a:tabLst>
                <a:tab pos="312081" algn="l"/>
              </a:tabLst>
            </a:pP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Why</a:t>
            </a:r>
            <a:r>
              <a:rPr sz="2391" spc="-46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learn</a:t>
            </a:r>
            <a:r>
              <a:rPr sz="2391" spc="-39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prompt</a:t>
            </a:r>
            <a:r>
              <a:rPr sz="2391" spc="-4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7" dirty="0">
                <a:solidFill>
                  <a:srgbClr val="5E5E5E"/>
                </a:solidFill>
                <a:latin typeface="Arial MT"/>
                <a:cs typeface="Arial MT"/>
              </a:rPr>
              <a:t>engineering?</a:t>
            </a:r>
            <a:endParaRPr sz="2391" dirty="0">
              <a:latin typeface="Arial MT"/>
              <a:cs typeface="Arial MT"/>
            </a:endParaRPr>
          </a:p>
          <a:p>
            <a:pPr marL="624609" lvl="1" indent="-294223">
              <a:spcBef>
                <a:spcPts val="1150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Important</a:t>
            </a:r>
            <a:r>
              <a:rPr sz="2109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for</a:t>
            </a:r>
            <a:r>
              <a:rPr sz="2109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research,</a:t>
            </a:r>
            <a:r>
              <a:rPr sz="2109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discoveries,</a:t>
            </a:r>
            <a:r>
              <a:rPr sz="2109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and</a:t>
            </a:r>
            <a:r>
              <a:rPr sz="2109" spc="-2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advancement</a:t>
            </a:r>
            <a:endParaRPr sz="2109" dirty="0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Helps</a:t>
            </a:r>
            <a:r>
              <a:rPr sz="2109" spc="-18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to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test</a:t>
            </a:r>
            <a:r>
              <a:rPr sz="2109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and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evaluate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the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limitations</a:t>
            </a:r>
            <a:r>
              <a:rPr sz="2109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of</a:t>
            </a:r>
            <a:r>
              <a:rPr sz="2109" spc="-14" dirty="0">
                <a:solidFill>
                  <a:srgbClr val="5E5E5E"/>
                </a:solidFill>
                <a:latin typeface="Arial MT"/>
                <a:cs typeface="Arial MT"/>
              </a:rPr>
              <a:t> LLMs</a:t>
            </a:r>
            <a:endParaRPr sz="2109" dirty="0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Enables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all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kinds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of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innovative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applications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on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top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of</a:t>
            </a:r>
            <a:r>
              <a:rPr sz="2109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spc="-14" dirty="0">
                <a:solidFill>
                  <a:srgbClr val="5E5E5E"/>
                </a:solidFill>
                <a:latin typeface="Arial MT"/>
                <a:cs typeface="Arial MT"/>
              </a:rPr>
              <a:t>LLMs</a:t>
            </a:r>
            <a:endParaRPr sz="2109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19201" y="3048001"/>
            <a:ext cx="8913546" cy="3139796"/>
            <a:chOff x="889749" y="4836117"/>
            <a:chExt cx="11353800" cy="39643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749" y="4836117"/>
              <a:ext cx="5023001" cy="39640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5593" y="5707062"/>
              <a:ext cx="6587846" cy="303543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08775" y="6240005"/>
            <a:ext cx="5261372" cy="182142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125" i="1" dirty="0">
                <a:solidFill>
                  <a:srgbClr val="5E5E5E"/>
                </a:solidFill>
                <a:latin typeface="Arial"/>
                <a:cs typeface="Arial"/>
              </a:rPr>
              <a:t>Source:</a:t>
            </a:r>
            <a:r>
              <a:rPr sz="1125" i="1" spc="158" dirty="0">
                <a:solidFill>
                  <a:srgbClr val="5E5E5E"/>
                </a:solidFill>
                <a:latin typeface="Arial"/>
                <a:cs typeface="Arial"/>
              </a:rPr>
              <a:t>  </a:t>
            </a:r>
            <a:r>
              <a:rPr sz="1125" i="1" dirty="0">
                <a:solidFill>
                  <a:srgbClr val="5E5E5E"/>
                </a:solidFill>
                <a:latin typeface="Arial"/>
                <a:cs typeface="Arial"/>
              </a:rPr>
              <a:t>https://jobs.lever.co/Anthropic/e3cde481-d446-460f-b576-</a:t>
            </a:r>
            <a:r>
              <a:rPr sz="1125" i="1" spc="-7" dirty="0">
                <a:solidFill>
                  <a:srgbClr val="5E5E5E"/>
                </a:solidFill>
                <a:latin typeface="Arial"/>
                <a:cs typeface="Arial"/>
              </a:rPr>
              <a:t>93cab67bd1ed</a:t>
            </a:r>
            <a:endParaRPr sz="1125">
              <a:latin typeface="Arial"/>
              <a:cs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39C5687-B535-8547-1479-A57AE45A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5B82-8747-4945-B205-E962CCE85F3C}" type="datetime1">
              <a:rPr lang="en-US" smtClean="0"/>
              <a:t>12/1/2025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917D85A-155F-0520-2774-D79D75E6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857DCD-288C-B4E4-C2FE-7272592C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441798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60" dirty="0"/>
              <a:t>First</a:t>
            </a:r>
            <a:r>
              <a:rPr spc="-148" dirty="0"/>
              <a:t> </a:t>
            </a:r>
            <a:r>
              <a:rPr spc="-63" dirty="0"/>
              <a:t>Basic</a:t>
            </a:r>
            <a:r>
              <a:rPr spc="-148" dirty="0"/>
              <a:t> </a:t>
            </a:r>
            <a:r>
              <a:rPr spc="-39" dirty="0"/>
              <a:t>Prompt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83850" y="1670399"/>
            <a:ext cx="7024539" cy="2372171"/>
            <a:chOff x="1507342" y="2375679"/>
            <a:chExt cx="9990455" cy="3373754"/>
          </a:xfrm>
        </p:grpSpPr>
        <p:sp>
          <p:nvSpPr>
            <p:cNvPr id="4" name="object 4"/>
            <p:cNvSpPr/>
            <p:nvPr/>
          </p:nvSpPr>
          <p:spPr>
            <a:xfrm>
              <a:off x="1539194" y="2407429"/>
              <a:ext cx="9926955" cy="3310254"/>
            </a:xfrm>
            <a:custGeom>
              <a:avLst/>
              <a:gdLst/>
              <a:ahLst/>
              <a:cxnLst/>
              <a:rect l="l" t="t" r="r" b="b"/>
              <a:pathLst>
                <a:path w="9926955" h="3310254">
                  <a:moveTo>
                    <a:pt x="9794057" y="0"/>
                  </a:moveTo>
                  <a:lnTo>
                    <a:pt x="132354" y="0"/>
                  </a:lnTo>
                  <a:lnTo>
                    <a:pt x="105996" y="101"/>
                  </a:lnTo>
                  <a:lnTo>
                    <a:pt x="67856" y="2738"/>
                  </a:lnTo>
                  <a:lnTo>
                    <a:pt x="25156" y="25258"/>
                  </a:lnTo>
                  <a:lnTo>
                    <a:pt x="2636" y="67957"/>
                  </a:lnTo>
                  <a:lnTo>
                    <a:pt x="0" y="106097"/>
                  </a:lnTo>
                  <a:lnTo>
                    <a:pt x="0" y="3203732"/>
                  </a:lnTo>
                  <a:lnTo>
                    <a:pt x="2636" y="3241872"/>
                  </a:lnTo>
                  <a:lnTo>
                    <a:pt x="25156" y="3284571"/>
                  </a:lnTo>
                  <a:lnTo>
                    <a:pt x="67856" y="3307091"/>
                  </a:lnTo>
                  <a:lnTo>
                    <a:pt x="105996" y="3309728"/>
                  </a:lnTo>
                  <a:lnTo>
                    <a:pt x="132354" y="3309829"/>
                  </a:lnTo>
                  <a:lnTo>
                    <a:pt x="9794057" y="3309829"/>
                  </a:lnTo>
                  <a:lnTo>
                    <a:pt x="9841672" y="3309018"/>
                  </a:lnTo>
                  <a:lnTo>
                    <a:pt x="9887639" y="3295513"/>
                  </a:lnTo>
                  <a:lnTo>
                    <a:pt x="9920022" y="3255112"/>
                  </a:lnTo>
                  <a:lnTo>
                    <a:pt x="9926411" y="3203732"/>
                  </a:lnTo>
                  <a:lnTo>
                    <a:pt x="9926411" y="106097"/>
                  </a:lnTo>
                  <a:lnTo>
                    <a:pt x="9925701" y="84841"/>
                  </a:lnTo>
                  <a:lnTo>
                    <a:pt x="9912197" y="38873"/>
                  </a:lnTo>
                  <a:lnTo>
                    <a:pt x="9871795" y="6490"/>
                  </a:lnTo>
                  <a:lnTo>
                    <a:pt x="9820415" y="101"/>
                  </a:lnTo>
                  <a:lnTo>
                    <a:pt x="97940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5" name="object 5"/>
            <p:cNvSpPr/>
            <p:nvPr/>
          </p:nvSpPr>
          <p:spPr>
            <a:xfrm>
              <a:off x="1539092" y="2407429"/>
              <a:ext cx="9926955" cy="3310254"/>
            </a:xfrm>
            <a:custGeom>
              <a:avLst/>
              <a:gdLst/>
              <a:ahLst/>
              <a:cxnLst/>
              <a:rect l="l" t="t" r="r" b="b"/>
              <a:pathLst>
                <a:path w="9926955" h="3310254">
                  <a:moveTo>
                    <a:pt x="132455" y="0"/>
                  </a:moveTo>
                  <a:lnTo>
                    <a:pt x="9794159" y="0"/>
                  </a:lnTo>
                  <a:lnTo>
                    <a:pt x="9820517" y="101"/>
                  </a:lnTo>
                  <a:lnTo>
                    <a:pt x="9858657" y="2738"/>
                  </a:lnTo>
                  <a:lnTo>
                    <a:pt x="9901356" y="25258"/>
                  </a:lnTo>
                  <a:lnTo>
                    <a:pt x="9923876" y="67957"/>
                  </a:lnTo>
                  <a:lnTo>
                    <a:pt x="9926513" y="106097"/>
                  </a:lnTo>
                  <a:lnTo>
                    <a:pt x="9926614" y="132455"/>
                  </a:lnTo>
                  <a:lnTo>
                    <a:pt x="9926614" y="3177374"/>
                  </a:lnTo>
                  <a:lnTo>
                    <a:pt x="9925803" y="3224989"/>
                  </a:lnTo>
                  <a:lnTo>
                    <a:pt x="9912298" y="3270956"/>
                  </a:lnTo>
                  <a:lnTo>
                    <a:pt x="9871897" y="3303339"/>
                  </a:lnTo>
                  <a:lnTo>
                    <a:pt x="9820517" y="3309728"/>
                  </a:lnTo>
                  <a:lnTo>
                    <a:pt x="9794159" y="3309829"/>
                  </a:lnTo>
                  <a:lnTo>
                    <a:pt x="132455" y="3309829"/>
                  </a:lnTo>
                  <a:lnTo>
                    <a:pt x="84841" y="3309018"/>
                  </a:lnTo>
                  <a:lnTo>
                    <a:pt x="38873" y="3295514"/>
                  </a:lnTo>
                  <a:lnTo>
                    <a:pt x="6490" y="3255112"/>
                  </a:lnTo>
                  <a:lnTo>
                    <a:pt x="101" y="3203732"/>
                  </a:lnTo>
                  <a:lnTo>
                    <a:pt x="0" y="3177374"/>
                  </a:lnTo>
                  <a:lnTo>
                    <a:pt x="0" y="132455"/>
                  </a:lnTo>
                  <a:lnTo>
                    <a:pt x="811" y="84841"/>
                  </a:lnTo>
                  <a:lnTo>
                    <a:pt x="14316" y="38873"/>
                  </a:lnTo>
                  <a:lnTo>
                    <a:pt x="54717" y="6490"/>
                  </a:lnTo>
                  <a:lnTo>
                    <a:pt x="106097" y="101"/>
                  </a:lnTo>
                  <a:lnTo>
                    <a:pt x="132455" y="0"/>
                  </a:lnTo>
                  <a:close/>
                </a:path>
              </a:pathLst>
            </a:custGeom>
            <a:ln w="63500">
              <a:solidFill>
                <a:srgbClr val="6D6BE7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6" name="object 6"/>
            <p:cNvSpPr/>
            <p:nvPr/>
          </p:nvSpPr>
          <p:spPr>
            <a:xfrm>
              <a:off x="1927174" y="3910050"/>
              <a:ext cx="9304020" cy="1174750"/>
            </a:xfrm>
            <a:custGeom>
              <a:avLst/>
              <a:gdLst/>
              <a:ahLst/>
              <a:cxnLst/>
              <a:rect l="l" t="t" r="r" b="b"/>
              <a:pathLst>
                <a:path w="9304020" h="1174750">
                  <a:moveTo>
                    <a:pt x="9304007" y="571500"/>
                  </a:moveTo>
                  <a:lnTo>
                    <a:pt x="8805583" y="571500"/>
                  </a:lnTo>
                  <a:lnTo>
                    <a:pt x="8805583" y="317500"/>
                  </a:lnTo>
                  <a:lnTo>
                    <a:pt x="8971724" y="317500"/>
                  </a:lnTo>
                  <a:lnTo>
                    <a:pt x="8971724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0" y="317500"/>
                  </a:lnTo>
                  <a:lnTo>
                    <a:pt x="0" y="1174750"/>
                  </a:lnTo>
                  <a:lnTo>
                    <a:pt x="9137866" y="1174750"/>
                  </a:lnTo>
                  <a:lnTo>
                    <a:pt x="9137866" y="889000"/>
                  </a:lnTo>
                  <a:lnTo>
                    <a:pt x="9304007" y="889000"/>
                  </a:lnTo>
                  <a:lnTo>
                    <a:pt x="9304007" y="571500"/>
                  </a:lnTo>
                  <a:close/>
                </a:path>
              </a:pathLst>
            </a:custGeom>
            <a:solidFill>
              <a:srgbClr val="9AE989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70119" y="1917320"/>
            <a:ext cx="1186309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sky</a:t>
            </a:r>
            <a:r>
              <a:rPr sz="1512" spc="35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is</a:t>
            </a:r>
            <a:endParaRPr sz="1512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9049" y="2347416"/>
            <a:ext cx="584448" cy="221664"/>
          </a:xfrm>
          <a:prstGeom prst="rect">
            <a:avLst/>
          </a:prstGeom>
          <a:solidFill>
            <a:srgbClr val="9AE98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4"/>
              </a:lnSpc>
            </a:pPr>
            <a:r>
              <a:rPr sz="1512" spc="-14" dirty="0">
                <a:latin typeface="Courier New"/>
                <a:cs typeface="Courier New"/>
              </a:rPr>
              <a:t>blue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79048" y="2720991"/>
            <a:ext cx="6541889" cy="870880"/>
          </a:xfrm>
          <a:prstGeom prst="rect">
            <a:avLst/>
          </a:prstGeom>
        </p:spPr>
        <p:txBody>
          <a:bodyPr vert="horz" wrap="square" lIns="0" tIns="42863" rIns="0" bIns="0" rtlCol="0">
            <a:spAutoFit/>
          </a:bodyPr>
          <a:lstStyle/>
          <a:p>
            <a:pPr marR="111171">
              <a:lnSpc>
                <a:spcPts val="1582"/>
              </a:lnSpc>
              <a:spcBef>
                <a:spcPts val="337"/>
              </a:spcBef>
            </a:pP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sky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is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beautiful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blue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color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during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day.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The </a:t>
            </a:r>
            <a:r>
              <a:rPr sz="1512" dirty="0">
                <a:latin typeface="Courier New"/>
                <a:cs typeface="Courier New"/>
              </a:rPr>
              <a:t>blue</a:t>
            </a:r>
            <a:r>
              <a:rPr sz="1512" spc="35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of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sky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is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created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by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Earth’s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atmosphere </a:t>
            </a:r>
            <a:r>
              <a:rPr sz="1512" dirty="0">
                <a:latin typeface="Courier New"/>
                <a:cs typeface="Courier New"/>
              </a:rPr>
              <a:t>scattering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sun’s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light.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blue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result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of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the </a:t>
            </a:r>
            <a:r>
              <a:rPr sz="1512" dirty="0">
                <a:latin typeface="Courier New"/>
                <a:cs typeface="Courier New"/>
              </a:rPr>
              <a:t>air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molecules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atmosphere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reflecting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shorter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9049" y="3581499"/>
            <a:ext cx="4915346" cy="202428"/>
          </a:xfrm>
          <a:prstGeom prst="rect">
            <a:avLst/>
          </a:prstGeom>
          <a:solidFill>
            <a:srgbClr val="9AE98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9"/>
              </a:lnSpc>
            </a:pPr>
            <a:r>
              <a:rPr sz="1512" dirty="0">
                <a:latin typeface="Courier New"/>
                <a:cs typeface="Courier New"/>
              </a:rPr>
              <a:t>wavelength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of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blue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light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back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our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eyes.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3497" y="4796712"/>
            <a:ext cx="4000759" cy="995954"/>
          </a:xfrm>
          <a:prstGeom prst="rect">
            <a:avLst/>
          </a:prstGeom>
          <a:solidFill>
            <a:srgbClr val="8477FF"/>
          </a:solidFill>
        </p:spPr>
        <p:txBody>
          <a:bodyPr vert="horz" wrap="square" lIns="0" tIns="108942" rIns="0" bIns="0" rtlCol="0">
            <a:spAutoFit/>
          </a:bodyPr>
          <a:lstStyle/>
          <a:p>
            <a:pPr marL="81257" marR="192874">
              <a:lnSpc>
                <a:spcPct val="109400"/>
              </a:lnSpc>
              <a:spcBef>
                <a:spcPts val="858"/>
              </a:spcBef>
            </a:pPr>
            <a:r>
              <a:rPr sz="1758" dirty="0">
                <a:solidFill>
                  <a:srgbClr val="FFFFFF"/>
                </a:solidFill>
                <a:latin typeface="Arial MT"/>
                <a:cs typeface="Arial MT"/>
              </a:rPr>
              <a:t>Model:</a:t>
            </a:r>
            <a:r>
              <a:rPr sz="1758" spc="-7" dirty="0">
                <a:solidFill>
                  <a:srgbClr val="FFFFFF"/>
                </a:solidFill>
                <a:latin typeface="Arial MT"/>
                <a:cs typeface="Arial MT"/>
              </a:rPr>
              <a:t> “text-davinci-</a:t>
            </a:r>
            <a:r>
              <a:rPr sz="1758" spc="-14" dirty="0">
                <a:solidFill>
                  <a:srgbClr val="FFFFFF"/>
                </a:solidFill>
                <a:latin typeface="Arial MT"/>
                <a:cs typeface="Arial MT"/>
              </a:rPr>
              <a:t>003” </a:t>
            </a:r>
            <a:r>
              <a:rPr sz="1758" dirty="0">
                <a:solidFill>
                  <a:srgbClr val="FFFFFF"/>
                </a:solidFill>
                <a:latin typeface="Arial MT"/>
                <a:cs typeface="Arial MT"/>
              </a:rPr>
              <a:t>temperature:</a:t>
            </a:r>
            <a:r>
              <a:rPr sz="1758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8" spc="-18" dirty="0">
                <a:solidFill>
                  <a:srgbClr val="FFFFFF"/>
                </a:solidFill>
                <a:latin typeface="Arial MT"/>
                <a:cs typeface="Arial MT"/>
              </a:rPr>
              <a:t>0.7</a:t>
            </a:r>
            <a:endParaRPr sz="1758" dirty="0">
              <a:latin typeface="Arial MT"/>
              <a:cs typeface="Arial MT"/>
            </a:endParaRPr>
          </a:p>
          <a:p>
            <a:pPr marL="81257">
              <a:spcBef>
                <a:spcPts val="197"/>
              </a:spcBef>
            </a:pPr>
            <a:r>
              <a:rPr sz="1758" spc="-7" dirty="0">
                <a:solidFill>
                  <a:srgbClr val="FFFFFF"/>
                </a:solidFill>
                <a:latin typeface="Arial MT"/>
                <a:cs typeface="Arial MT"/>
              </a:rPr>
              <a:t>top-</a:t>
            </a:r>
            <a:r>
              <a:rPr sz="1758" dirty="0">
                <a:solidFill>
                  <a:srgbClr val="FFFFFF"/>
                </a:solidFill>
                <a:latin typeface="Arial MT"/>
                <a:cs typeface="Arial MT"/>
              </a:rPr>
              <a:t>p:</a:t>
            </a:r>
            <a:r>
              <a:rPr sz="1758" spc="-1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8" spc="-35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758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1846" y="1098274"/>
            <a:ext cx="692943" cy="182142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125" spc="-7" dirty="0">
                <a:solidFill>
                  <a:srgbClr val="5E5E5E"/>
                </a:solidFill>
                <a:latin typeface="Arial MT"/>
                <a:cs typeface="Arial MT"/>
              </a:rPr>
              <a:t>Instruction</a:t>
            </a:r>
            <a:endParaRPr sz="1125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04190" y="1329890"/>
            <a:ext cx="1026914" cy="2005608"/>
            <a:chOff x="1251826" y="1891399"/>
            <a:chExt cx="1460500" cy="2852420"/>
          </a:xfrm>
        </p:grpSpPr>
        <p:sp>
          <p:nvSpPr>
            <p:cNvPr id="14" name="object 14"/>
            <p:cNvSpPr/>
            <p:nvPr/>
          </p:nvSpPr>
          <p:spPr>
            <a:xfrm>
              <a:off x="2651270" y="1891399"/>
              <a:ext cx="0" cy="655320"/>
            </a:xfrm>
            <a:custGeom>
              <a:avLst/>
              <a:gdLst/>
              <a:ahLst/>
              <a:cxnLst/>
              <a:rect l="l" t="t" r="r" b="b"/>
              <a:pathLst>
                <a:path h="655319">
                  <a:moveTo>
                    <a:pt x="0" y="0"/>
                  </a:moveTo>
                  <a:lnTo>
                    <a:pt x="0" y="642433"/>
                  </a:lnTo>
                  <a:lnTo>
                    <a:pt x="0" y="655133"/>
                  </a:lnTo>
                </a:path>
              </a:pathLst>
            </a:custGeom>
            <a:ln w="25400">
              <a:solidFill>
                <a:srgbClr val="350F0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5" name="object 15"/>
            <p:cNvSpPr/>
            <p:nvPr/>
          </p:nvSpPr>
          <p:spPr>
            <a:xfrm>
              <a:off x="2590311" y="2533834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19" h="121919">
                  <a:moveTo>
                    <a:pt x="121919" y="0"/>
                  </a:moveTo>
                  <a:lnTo>
                    <a:pt x="0" y="0"/>
                  </a:lnTo>
                  <a:lnTo>
                    <a:pt x="60960" y="12192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350F0D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6" name="object 16"/>
            <p:cNvSpPr/>
            <p:nvPr/>
          </p:nvSpPr>
          <p:spPr>
            <a:xfrm>
              <a:off x="1251826" y="4682590"/>
              <a:ext cx="479425" cy="0"/>
            </a:xfrm>
            <a:custGeom>
              <a:avLst/>
              <a:gdLst/>
              <a:ahLst/>
              <a:cxnLst/>
              <a:rect l="l" t="t" r="r" b="b"/>
              <a:pathLst>
                <a:path w="479425">
                  <a:moveTo>
                    <a:pt x="0" y="42"/>
                  </a:moveTo>
                  <a:lnTo>
                    <a:pt x="466647" y="8"/>
                  </a:lnTo>
                  <a:lnTo>
                    <a:pt x="479347" y="7"/>
                  </a:lnTo>
                </a:path>
              </a:pathLst>
            </a:custGeom>
            <a:ln w="25400">
              <a:solidFill>
                <a:srgbClr val="350F0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7" name="object 17"/>
            <p:cNvSpPr/>
            <p:nvPr/>
          </p:nvSpPr>
          <p:spPr>
            <a:xfrm>
              <a:off x="1718473" y="4621631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19" h="121920">
                  <a:moveTo>
                    <a:pt x="0" y="0"/>
                  </a:moveTo>
                  <a:lnTo>
                    <a:pt x="0" y="121919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0F0D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81827" y="2963335"/>
            <a:ext cx="173124" cy="658564"/>
          </a:xfrm>
          <a:prstGeom prst="rect">
            <a:avLst/>
          </a:prstGeom>
        </p:spPr>
        <p:txBody>
          <a:bodyPr vert="vert270" wrap="square" lIns="0" tIns="1786" rIns="0" bIns="0" rtlCol="0">
            <a:spAutoFit/>
          </a:bodyPr>
          <a:lstStyle/>
          <a:p>
            <a:pPr marL="8929">
              <a:spcBef>
                <a:spcPts val="14"/>
              </a:spcBef>
            </a:pPr>
            <a:r>
              <a:rPr sz="1125" spc="-7" dirty="0">
                <a:solidFill>
                  <a:srgbClr val="5E5E5E"/>
                </a:solidFill>
                <a:latin typeface="Arial MT"/>
                <a:cs typeface="Arial MT"/>
              </a:rPr>
              <a:t>Response</a:t>
            </a:r>
            <a:endParaRPr sz="1125">
              <a:latin typeface="Arial MT"/>
              <a:cs typeface="Arial MT"/>
            </a:endParaRP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F7FD069-9B07-30D6-B62E-8BC0261F3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8A62-7E66-44D1-A81B-512A6C550D78}" type="datetime1">
              <a:rPr lang="en-US" smtClean="0"/>
              <a:t>12/1/2025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286E126-DA6E-E672-C445-D1627941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2E02568-4373-EEE2-2D67-F19147CA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441798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74" dirty="0"/>
              <a:t>Elements</a:t>
            </a:r>
            <a:r>
              <a:rPr spc="-143" dirty="0"/>
              <a:t> </a:t>
            </a:r>
            <a:r>
              <a:rPr dirty="0"/>
              <a:t>of</a:t>
            </a:r>
            <a:r>
              <a:rPr spc="-158" dirty="0"/>
              <a:t> </a:t>
            </a:r>
            <a:r>
              <a:rPr dirty="0"/>
              <a:t>a</a:t>
            </a:r>
            <a:r>
              <a:rPr spc="-151" dirty="0"/>
              <a:t> </a:t>
            </a:r>
            <a:r>
              <a:rPr spc="-35" dirty="0"/>
              <a:t>Prompt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6557" y="943305"/>
            <a:ext cx="7544693" cy="2369693"/>
          </a:xfrm>
          <a:prstGeom prst="rect">
            <a:avLst/>
          </a:prstGeom>
        </p:spPr>
        <p:txBody>
          <a:bodyPr vert="horz" wrap="square" lIns="0" tIns="87064" rIns="0" bIns="0" rtlCol="0">
            <a:spAutoFit/>
          </a:bodyPr>
          <a:lstStyle/>
          <a:p>
            <a:pPr marL="312081" indent="-303152">
              <a:spcBef>
                <a:spcPts val="686"/>
              </a:spcBef>
              <a:buClr>
                <a:srgbClr val="7571FF"/>
              </a:buClr>
              <a:buChar char="•"/>
              <a:tabLst>
                <a:tab pos="312081" algn="l"/>
              </a:tabLst>
            </a:pP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A</a:t>
            </a:r>
            <a:r>
              <a:rPr sz="2391" spc="-15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prompt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is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composed</a:t>
            </a:r>
            <a:r>
              <a:rPr sz="2391" spc="-2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with</a:t>
            </a:r>
            <a:r>
              <a:rPr sz="2391" spc="-2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the</a:t>
            </a:r>
            <a:r>
              <a:rPr sz="2391" spc="-2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following</a:t>
            </a:r>
            <a:r>
              <a:rPr sz="2391" spc="-2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7" dirty="0">
                <a:solidFill>
                  <a:srgbClr val="5E5E5E"/>
                </a:solidFill>
                <a:latin typeface="Arial MT"/>
                <a:cs typeface="Arial MT"/>
              </a:rPr>
              <a:t>components:</a:t>
            </a:r>
            <a:endParaRPr sz="2391">
              <a:latin typeface="Arial MT"/>
              <a:cs typeface="Arial MT"/>
            </a:endParaRPr>
          </a:p>
          <a:p>
            <a:pPr marL="624609" lvl="1" indent="-294223">
              <a:spcBef>
                <a:spcPts val="1150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spc="-7" dirty="0">
                <a:solidFill>
                  <a:srgbClr val="0C78F8"/>
                </a:solidFill>
                <a:latin typeface="Arial MT"/>
                <a:cs typeface="Arial MT"/>
              </a:rPr>
              <a:t>Instructions</a:t>
            </a:r>
            <a:endParaRPr sz="2109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Context</a:t>
            </a:r>
            <a:endParaRPr sz="2109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dirty="0">
                <a:solidFill>
                  <a:srgbClr val="D79911"/>
                </a:solidFill>
                <a:latin typeface="Arial MT"/>
                <a:cs typeface="Arial MT"/>
              </a:rPr>
              <a:t>Input</a:t>
            </a:r>
            <a:r>
              <a:rPr sz="2109" spc="-18" dirty="0">
                <a:solidFill>
                  <a:srgbClr val="D79911"/>
                </a:solidFill>
                <a:latin typeface="Arial MT"/>
                <a:cs typeface="Arial MT"/>
              </a:rPr>
              <a:t> </a:t>
            </a:r>
            <a:r>
              <a:rPr sz="2109" spc="-14" dirty="0">
                <a:solidFill>
                  <a:srgbClr val="D79911"/>
                </a:solidFill>
                <a:latin typeface="Arial MT"/>
                <a:cs typeface="Arial MT"/>
              </a:rPr>
              <a:t>data</a:t>
            </a:r>
            <a:endParaRPr sz="2109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dirty="0">
                <a:solidFill>
                  <a:srgbClr val="D112B8"/>
                </a:solidFill>
                <a:latin typeface="Arial MT"/>
                <a:cs typeface="Arial MT"/>
              </a:rPr>
              <a:t>Output</a:t>
            </a:r>
            <a:r>
              <a:rPr sz="2109" spc="-42" dirty="0">
                <a:solidFill>
                  <a:srgbClr val="D112B8"/>
                </a:solidFill>
                <a:latin typeface="Arial MT"/>
                <a:cs typeface="Arial MT"/>
              </a:rPr>
              <a:t> </a:t>
            </a:r>
            <a:r>
              <a:rPr sz="2109" spc="-7" dirty="0">
                <a:solidFill>
                  <a:srgbClr val="D112B8"/>
                </a:solidFill>
                <a:latin typeface="Arial MT"/>
                <a:cs typeface="Arial MT"/>
              </a:rPr>
              <a:t>indicator</a:t>
            </a:r>
            <a:endParaRPr sz="2109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83850" y="3681707"/>
            <a:ext cx="7024539" cy="2372171"/>
            <a:chOff x="1507342" y="5236206"/>
            <a:chExt cx="9990455" cy="3373754"/>
          </a:xfrm>
        </p:grpSpPr>
        <p:sp>
          <p:nvSpPr>
            <p:cNvPr id="5" name="object 5"/>
            <p:cNvSpPr/>
            <p:nvPr/>
          </p:nvSpPr>
          <p:spPr>
            <a:xfrm>
              <a:off x="1539194" y="5267956"/>
              <a:ext cx="9926955" cy="3310254"/>
            </a:xfrm>
            <a:custGeom>
              <a:avLst/>
              <a:gdLst/>
              <a:ahLst/>
              <a:cxnLst/>
              <a:rect l="l" t="t" r="r" b="b"/>
              <a:pathLst>
                <a:path w="9926955" h="3310254">
                  <a:moveTo>
                    <a:pt x="9794057" y="0"/>
                  </a:moveTo>
                  <a:lnTo>
                    <a:pt x="132354" y="0"/>
                  </a:lnTo>
                  <a:lnTo>
                    <a:pt x="105996" y="101"/>
                  </a:lnTo>
                  <a:lnTo>
                    <a:pt x="67856" y="2738"/>
                  </a:lnTo>
                  <a:lnTo>
                    <a:pt x="25156" y="25258"/>
                  </a:lnTo>
                  <a:lnTo>
                    <a:pt x="2636" y="67957"/>
                  </a:lnTo>
                  <a:lnTo>
                    <a:pt x="0" y="106097"/>
                  </a:lnTo>
                  <a:lnTo>
                    <a:pt x="0" y="3203732"/>
                  </a:lnTo>
                  <a:lnTo>
                    <a:pt x="2636" y="3241872"/>
                  </a:lnTo>
                  <a:lnTo>
                    <a:pt x="25156" y="3284571"/>
                  </a:lnTo>
                  <a:lnTo>
                    <a:pt x="67856" y="3307091"/>
                  </a:lnTo>
                  <a:lnTo>
                    <a:pt x="105996" y="3309728"/>
                  </a:lnTo>
                  <a:lnTo>
                    <a:pt x="132354" y="3309829"/>
                  </a:lnTo>
                  <a:lnTo>
                    <a:pt x="9794057" y="3309829"/>
                  </a:lnTo>
                  <a:lnTo>
                    <a:pt x="9841672" y="3309018"/>
                  </a:lnTo>
                  <a:lnTo>
                    <a:pt x="9887639" y="3295513"/>
                  </a:lnTo>
                  <a:lnTo>
                    <a:pt x="9920022" y="3255112"/>
                  </a:lnTo>
                  <a:lnTo>
                    <a:pt x="9926411" y="3203732"/>
                  </a:lnTo>
                  <a:lnTo>
                    <a:pt x="9926411" y="106097"/>
                  </a:lnTo>
                  <a:lnTo>
                    <a:pt x="9925701" y="84841"/>
                  </a:lnTo>
                  <a:lnTo>
                    <a:pt x="9912197" y="38873"/>
                  </a:lnTo>
                  <a:lnTo>
                    <a:pt x="9871795" y="6490"/>
                  </a:lnTo>
                  <a:lnTo>
                    <a:pt x="9820415" y="101"/>
                  </a:lnTo>
                  <a:lnTo>
                    <a:pt x="97940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6" name="object 6"/>
            <p:cNvSpPr/>
            <p:nvPr/>
          </p:nvSpPr>
          <p:spPr>
            <a:xfrm>
              <a:off x="1539092" y="5267956"/>
              <a:ext cx="9926955" cy="3310254"/>
            </a:xfrm>
            <a:custGeom>
              <a:avLst/>
              <a:gdLst/>
              <a:ahLst/>
              <a:cxnLst/>
              <a:rect l="l" t="t" r="r" b="b"/>
              <a:pathLst>
                <a:path w="9926955" h="3310254">
                  <a:moveTo>
                    <a:pt x="132455" y="0"/>
                  </a:moveTo>
                  <a:lnTo>
                    <a:pt x="9794159" y="0"/>
                  </a:lnTo>
                  <a:lnTo>
                    <a:pt x="9820517" y="101"/>
                  </a:lnTo>
                  <a:lnTo>
                    <a:pt x="9858657" y="2738"/>
                  </a:lnTo>
                  <a:lnTo>
                    <a:pt x="9901356" y="25258"/>
                  </a:lnTo>
                  <a:lnTo>
                    <a:pt x="9923876" y="67957"/>
                  </a:lnTo>
                  <a:lnTo>
                    <a:pt x="9926513" y="106097"/>
                  </a:lnTo>
                  <a:lnTo>
                    <a:pt x="9926614" y="132455"/>
                  </a:lnTo>
                  <a:lnTo>
                    <a:pt x="9926614" y="3177374"/>
                  </a:lnTo>
                  <a:lnTo>
                    <a:pt x="9925803" y="3224989"/>
                  </a:lnTo>
                  <a:lnTo>
                    <a:pt x="9912298" y="3270956"/>
                  </a:lnTo>
                  <a:lnTo>
                    <a:pt x="9871897" y="3303339"/>
                  </a:lnTo>
                  <a:lnTo>
                    <a:pt x="9820517" y="3309728"/>
                  </a:lnTo>
                  <a:lnTo>
                    <a:pt x="9794159" y="3309829"/>
                  </a:lnTo>
                  <a:lnTo>
                    <a:pt x="132455" y="3309829"/>
                  </a:lnTo>
                  <a:lnTo>
                    <a:pt x="84841" y="3309018"/>
                  </a:lnTo>
                  <a:lnTo>
                    <a:pt x="38873" y="3295514"/>
                  </a:lnTo>
                  <a:lnTo>
                    <a:pt x="6490" y="3255112"/>
                  </a:lnTo>
                  <a:lnTo>
                    <a:pt x="101" y="3203732"/>
                  </a:lnTo>
                  <a:lnTo>
                    <a:pt x="0" y="3177374"/>
                  </a:lnTo>
                  <a:lnTo>
                    <a:pt x="0" y="132455"/>
                  </a:lnTo>
                  <a:lnTo>
                    <a:pt x="811" y="84841"/>
                  </a:lnTo>
                  <a:lnTo>
                    <a:pt x="14316" y="38873"/>
                  </a:lnTo>
                  <a:lnTo>
                    <a:pt x="54717" y="6490"/>
                  </a:lnTo>
                  <a:lnTo>
                    <a:pt x="106097" y="101"/>
                  </a:lnTo>
                  <a:lnTo>
                    <a:pt x="132455" y="0"/>
                  </a:lnTo>
                  <a:close/>
                </a:path>
              </a:pathLst>
            </a:custGeom>
            <a:ln w="63500">
              <a:solidFill>
                <a:srgbClr val="6D6BE7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608352" y="4327324"/>
            <a:ext cx="2354311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solidFill>
                  <a:srgbClr val="0E5FF6"/>
                </a:solidFill>
                <a:latin typeface="Courier New"/>
                <a:cs typeface="Courier New"/>
              </a:rPr>
              <a:t>negative</a:t>
            </a:r>
            <a:r>
              <a:rPr sz="1512" spc="49" dirty="0">
                <a:solidFill>
                  <a:srgbClr val="0E5FF6"/>
                </a:solidFill>
                <a:latin typeface="Courier New"/>
                <a:cs typeface="Courier New"/>
              </a:rPr>
              <a:t> </a:t>
            </a:r>
            <a:r>
              <a:rPr sz="1512" dirty="0">
                <a:solidFill>
                  <a:srgbClr val="0E5FF6"/>
                </a:solidFill>
                <a:latin typeface="Courier New"/>
                <a:cs typeface="Courier New"/>
              </a:rPr>
              <a:t>or</a:t>
            </a:r>
            <a:r>
              <a:rPr sz="1512" spc="56" dirty="0">
                <a:solidFill>
                  <a:srgbClr val="0E5FF6"/>
                </a:solidFill>
                <a:latin typeface="Courier New"/>
                <a:cs typeface="Courier New"/>
              </a:rPr>
              <a:t> </a:t>
            </a:r>
            <a:r>
              <a:rPr sz="1512" spc="-7" dirty="0">
                <a:solidFill>
                  <a:srgbClr val="0E5FF6"/>
                </a:solidFill>
                <a:latin typeface="Courier New"/>
                <a:cs typeface="Courier New"/>
              </a:rPr>
              <a:t>positive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05593" y="4729160"/>
            <a:ext cx="952798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solidFill>
                  <a:srgbClr val="D99911"/>
                </a:solidFill>
                <a:latin typeface="Courier New"/>
                <a:cs typeface="Courier New"/>
              </a:rPr>
              <a:t>the</a:t>
            </a:r>
            <a:r>
              <a:rPr sz="1512" spc="32" dirty="0">
                <a:solidFill>
                  <a:srgbClr val="D99911"/>
                </a:solidFill>
                <a:latin typeface="Courier New"/>
                <a:cs typeface="Courier New"/>
              </a:rPr>
              <a:t> </a:t>
            </a:r>
            <a:r>
              <a:rPr sz="1512" spc="-14" dirty="0">
                <a:solidFill>
                  <a:srgbClr val="D99911"/>
                </a:solidFill>
                <a:latin typeface="Courier New"/>
                <a:cs typeface="Courier New"/>
              </a:rPr>
              <a:t>food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88776" y="4327324"/>
            <a:ext cx="2237780" cy="656643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solidFill>
                  <a:srgbClr val="0E5FF6"/>
                </a:solidFill>
                <a:latin typeface="Courier New"/>
                <a:cs typeface="Courier New"/>
              </a:rPr>
              <a:t>text</a:t>
            </a:r>
            <a:r>
              <a:rPr sz="1512" spc="39" dirty="0">
                <a:solidFill>
                  <a:srgbClr val="0E5FF6"/>
                </a:solidFill>
                <a:latin typeface="Courier New"/>
                <a:cs typeface="Courier New"/>
              </a:rPr>
              <a:t> </a:t>
            </a:r>
            <a:r>
              <a:rPr sz="1512" dirty="0">
                <a:solidFill>
                  <a:srgbClr val="0E5FF6"/>
                </a:solidFill>
                <a:latin typeface="Courier New"/>
                <a:cs typeface="Courier New"/>
              </a:rPr>
              <a:t>into</a:t>
            </a:r>
            <a:r>
              <a:rPr sz="1512" spc="49" dirty="0">
                <a:solidFill>
                  <a:srgbClr val="0E5FF6"/>
                </a:solidFill>
                <a:latin typeface="Courier New"/>
                <a:cs typeface="Courier New"/>
              </a:rPr>
              <a:t> </a:t>
            </a:r>
            <a:r>
              <a:rPr sz="1512" spc="-7" dirty="0">
                <a:solidFill>
                  <a:srgbClr val="0E5FF6"/>
                </a:solidFill>
                <a:latin typeface="Courier New"/>
                <a:cs typeface="Courier New"/>
              </a:rPr>
              <a:t>neutral,</a:t>
            </a:r>
            <a:endParaRPr sz="1512">
              <a:latin typeface="Courier New"/>
              <a:cs typeface="Courier New"/>
            </a:endParaRPr>
          </a:p>
          <a:p>
            <a:pPr marL="1176891">
              <a:spcBef>
                <a:spcPts val="1350"/>
              </a:spcBef>
            </a:pPr>
            <a:r>
              <a:rPr sz="1512" dirty="0">
                <a:solidFill>
                  <a:srgbClr val="D99911"/>
                </a:solidFill>
                <a:latin typeface="Courier New"/>
                <a:cs typeface="Courier New"/>
              </a:rPr>
              <a:t>was</a:t>
            </a:r>
            <a:r>
              <a:rPr sz="1512" spc="32" dirty="0">
                <a:solidFill>
                  <a:srgbClr val="D99911"/>
                </a:solidFill>
                <a:latin typeface="Courier New"/>
                <a:cs typeface="Courier New"/>
              </a:rPr>
              <a:t> </a:t>
            </a:r>
            <a:r>
              <a:rPr sz="1512" spc="-7" dirty="0">
                <a:solidFill>
                  <a:srgbClr val="D99911"/>
                </a:solidFill>
                <a:latin typeface="Courier New"/>
                <a:cs typeface="Courier New"/>
              </a:rPr>
              <a:t>okay.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0119" y="4327324"/>
            <a:ext cx="1536799" cy="1011099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solidFill>
                  <a:srgbClr val="0E5FF6"/>
                </a:solidFill>
                <a:latin typeface="Courier New"/>
                <a:cs typeface="Courier New"/>
              </a:rPr>
              <a:t>Classify</a:t>
            </a:r>
            <a:r>
              <a:rPr sz="1512" spc="77" dirty="0">
                <a:solidFill>
                  <a:srgbClr val="0E5FF6"/>
                </a:solidFill>
                <a:latin typeface="Courier New"/>
                <a:cs typeface="Courier New"/>
              </a:rPr>
              <a:t> </a:t>
            </a:r>
            <a:r>
              <a:rPr sz="1512" spc="-18" dirty="0">
                <a:solidFill>
                  <a:srgbClr val="0E5FF6"/>
                </a:solidFill>
                <a:latin typeface="Courier New"/>
                <a:cs typeface="Courier New"/>
              </a:rPr>
              <a:t>the</a:t>
            </a:r>
            <a:endParaRPr sz="1512">
              <a:latin typeface="Courier New"/>
              <a:cs typeface="Courier New"/>
            </a:endParaRPr>
          </a:p>
          <a:p>
            <a:pPr marL="8929" marR="3572">
              <a:lnSpc>
                <a:spcPct val="174400"/>
              </a:lnSpc>
            </a:pPr>
            <a:r>
              <a:rPr sz="1512" dirty="0">
                <a:latin typeface="Courier New"/>
                <a:cs typeface="Courier New"/>
              </a:rPr>
              <a:t>Text: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dirty="0">
                <a:solidFill>
                  <a:srgbClr val="D99911"/>
                </a:solidFill>
                <a:latin typeface="Courier New"/>
                <a:cs typeface="Courier New"/>
              </a:rPr>
              <a:t>I</a:t>
            </a:r>
            <a:r>
              <a:rPr sz="1512" spc="35" dirty="0">
                <a:solidFill>
                  <a:srgbClr val="D99911"/>
                </a:solidFill>
                <a:latin typeface="Courier New"/>
                <a:cs typeface="Courier New"/>
              </a:rPr>
              <a:t> </a:t>
            </a:r>
            <a:r>
              <a:rPr sz="1512" spc="-7" dirty="0">
                <a:solidFill>
                  <a:srgbClr val="D99911"/>
                </a:solidFill>
                <a:latin typeface="Courier New"/>
                <a:cs typeface="Courier New"/>
              </a:rPr>
              <a:t>think </a:t>
            </a:r>
            <a:r>
              <a:rPr sz="1512" spc="-7" dirty="0">
                <a:solidFill>
                  <a:srgbClr val="CB14B7"/>
                </a:solidFill>
                <a:latin typeface="Courier New"/>
                <a:cs typeface="Courier New"/>
              </a:rPr>
              <a:t>Sentiment:</a:t>
            </a:r>
            <a:endParaRPr sz="1512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81329" y="1704584"/>
            <a:ext cx="3695998" cy="3669209"/>
            <a:chOff x="1361535" y="2424297"/>
            <a:chExt cx="5256530" cy="5218430"/>
          </a:xfrm>
        </p:grpSpPr>
        <p:sp>
          <p:nvSpPr>
            <p:cNvPr id="12" name="object 12"/>
            <p:cNvSpPr/>
            <p:nvPr/>
          </p:nvSpPr>
          <p:spPr>
            <a:xfrm>
              <a:off x="3697571" y="2436997"/>
              <a:ext cx="2859405" cy="3683000"/>
            </a:xfrm>
            <a:custGeom>
              <a:avLst/>
              <a:gdLst/>
              <a:ahLst/>
              <a:cxnLst/>
              <a:rect l="l" t="t" r="r" b="b"/>
              <a:pathLst>
                <a:path w="2859404" h="3683000">
                  <a:moveTo>
                    <a:pt x="0" y="0"/>
                  </a:moveTo>
                  <a:lnTo>
                    <a:pt x="2836190" y="6669"/>
                  </a:lnTo>
                  <a:lnTo>
                    <a:pt x="2859211" y="3669817"/>
                  </a:lnTo>
                  <a:lnTo>
                    <a:pt x="2859291" y="3682517"/>
                  </a:lnTo>
                </a:path>
              </a:pathLst>
            </a:custGeom>
            <a:ln w="25400">
              <a:solidFill>
                <a:srgbClr val="350F0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3" name="object 13"/>
            <p:cNvSpPr/>
            <p:nvPr/>
          </p:nvSpPr>
          <p:spPr>
            <a:xfrm>
              <a:off x="6495825" y="6106431"/>
              <a:ext cx="121920" cy="122555"/>
            </a:xfrm>
            <a:custGeom>
              <a:avLst/>
              <a:gdLst/>
              <a:ahLst/>
              <a:cxnLst/>
              <a:rect l="l" t="t" r="r" b="b"/>
              <a:pathLst>
                <a:path w="121920" h="122554">
                  <a:moveTo>
                    <a:pt x="121917" y="0"/>
                  </a:moveTo>
                  <a:lnTo>
                    <a:pt x="0" y="765"/>
                  </a:lnTo>
                  <a:lnTo>
                    <a:pt x="61724" y="122300"/>
                  </a:lnTo>
                  <a:lnTo>
                    <a:pt x="121917" y="0"/>
                  </a:lnTo>
                  <a:close/>
                </a:path>
              </a:pathLst>
            </a:custGeom>
            <a:solidFill>
              <a:srgbClr val="350F0D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4" name="object 14"/>
            <p:cNvSpPr/>
            <p:nvPr/>
          </p:nvSpPr>
          <p:spPr>
            <a:xfrm>
              <a:off x="3386515" y="3768652"/>
              <a:ext cx="2689225" cy="2925445"/>
            </a:xfrm>
            <a:custGeom>
              <a:avLst/>
              <a:gdLst/>
              <a:ahLst/>
              <a:cxnLst/>
              <a:rect l="l" t="t" r="r" b="b"/>
              <a:pathLst>
                <a:path w="2689225" h="2925445">
                  <a:moveTo>
                    <a:pt x="0" y="0"/>
                  </a:moveTo>
                  <a:lnTo>
                    <a:pt x="2667586" y="5337"/>
                  </a:lnTo>
                  <a:lnTo>
                    <a:pt x="2689059" y="2912724"/>
                  </a:lnTo>
                  <a:lnTo>
                    <a:pt x="2689153" y="2925424"/>
                  </a:lnTo>
                </a:path>
              </a:pathLst>
            </a:custGeom>
            <a:ln w="25400">
              <a:solidFill>
                <a:srgbClr val="350F0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5" name="object 15"/>
            <p:cNvSpPr/>
            <p:nvPr/>
          </p:nvSpPr>
          <p:spPr>
            <a:xfrm>
              <a:off x="6014617" y="6680926"/>
              <a:ext cx="121920" cy="122555"/>
            </a:xfrm>
            <a:custGeom>
              <a:avLst/>
              <a:gdLst/>
              <a:ahLst/>
              <a:cxnLst/>
              <a:rect l="l" t="t" r="r" b="b"/>
              <a:pathLst>
                <a:path w="121920" h="122554">
                  <a:moveTo>
                    <a:pt x="121916" y="0"/>
                  </a:moveTo>
                  <a:lnTo>
                    <a:pt x="0" y="900"/>
                  </a:lnTo>
                  <a:lnTo>
                    <a:pt x="61859" y="122367"/>
                  </a:lnTo>
                  <a:lnTo>
                    <a:pt x="121916" y="0"/>
                  </a:lnTo>
                  <a:close/>
                </a:path>
              </a:pathLst>
            </a:custGeom>
            <a:solidFill>
              <a:srgbClr val="350F0D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6" name="object 16"/>
            <p:cNvSpPr/>
            <p:nvPr/>
          </p:nvSpPr>
          <p:spPr>
            <a:xfrm>
              <a:off x="1374235" y="4548361"/>
              <a:ext cx="243840" cy="3033395"/>
            </a:xfrm>
            <a:custGeom>
              <a:avLst/>
              <a:gdLst/>
              <a:ahLst/>
              <a:cxnLst/>
              <a:rect l="l" t="t" r="r" b="b"/>
              <a:pathLst>
                <a:path w="243840" h="3033395">
                  <a:moveTo>
                    <a:pt x="243476" y="3033016"/>
                  </a:moveTo>
                  <a:lnTo>
                    <a:pt x="230778" y="3032822"/>
                  </a:lnTo>
                  <a:lnTo>
                    <a:pt x="2933" y="3029344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350F0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17" name="object 17"/>
            <p:cNvSpPr/>
            <p:nvPr/>
          </p:nvSpPr>
          <p:spPr>
            <a:xfrm>
              <a:off x="1604082" y="7520231"/>
              <a:ext cx="123189" cy="121920"/>
            </a:xfrm>
            <a:custGeom>
              <a:avLst/>
              <a:gdLst/>
              <a:ahLst/>
              <a:cxnLst/>
              <a:rect l="l" t="t" r="r" b="b"/>
              <a:pathLst>
                <a:path w="123189" h="121920">
                  <a:moveTo>
                    <a:pt x="1860" y="0"/>
                  </a:moveTo>
                  <a:lnTo>
                    <a:pt x="0" y="121906"/>
                  </a:lnTo>
                  <a:lnTo>
                    <a:pt x="122835" y="62812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350F0D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19376606-72F1-4ECD-4C95-D4736DC1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F4EF-105B-4761-913C-6B8730AB265E}" type="datetime1">
              <a:rPr lang="en-US" smtClean="0"/>
              <a:t>12/1/2025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5798DE5-5101-F5E7-0586-BFBCDB570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2A6D97A-03A7-9851-4285-83CC4244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DAF2A-6E00-8063-74C6-431B2FD5F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prompting a language model you should keep in mind a few settings</a:t>
            </a:r>
          </a:p>
          <a:p>
            <a:r>
              <a:rPr lang="en-US" dirty="0"/>
              <a:t>You can get very </a:t>
            </a:r>
            <a:r>
              <a:rPr lang="en-US" dirty="0">
                <a:solidFill>
                  <a:srgbClr val="00B0F0"/>
                </a:solidFill>
              </a:rPr>
              <a:t>different results with prompts when using different settings</a:t>
            </a:r>
          </a:p>
          <a:p>
            <a:r>
              <a:rPr lang="en-US" dirty="0"/>
              <a:t>One important setting is </a:t>
            </a:r>
            <a:r>
              <a:rPr lang="en-US" dirty="0">
                <a:solidFill>
                  <a:srgbClr val="FF0000"/>
                </a:solidFill>
              </a:rPr>
              <a:t>controlling how deterministic the model is when generating completion for prompts</a:t>
            </a:r>
          </a:p>
          <a:p>
            <a:r>
              <a:rPr lang="en-US" dirty="0">
                <a:solidFill>
                  <a:srgbClr val="FF0000"/>
                </a:solidFill>
              </a:rPr>
              <a:t>Temperature and </a:t>
            </a:r>
            <a:r>
              <a:rPr lang="en-US" dirty="0" err="1">
                <a:solidFill>
                  <a:srgbClr val="FF0000"/>
                </a:solidFill>
              </a:rPr>
              <a:t>top_p</a:t>
            </a:r>
            <a:r>
              <a:rPr lang="en-US" dirty="0"/>
              <a:t> are two important parameters to keep in mind</a:t>
            </a:r>
          </a:p>
          <a:p>
            <a:r>
              <a:rPr lang="en-US" dirty="0"/>
              <a:t>Generally, keep these low if you are </a:t>
            </a:r>
            <a:r>
              <a:rPr lang="en-US" dirty="0">
                <a:solidFill>
                  <a:srgbClr val="00B0F0"/>
                </a:solidFill>
              </a:rPr>
              <a:t>looking for exact answers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70" dirty="0"/>
              <a:t>Settings</a:t>
            </a:r>
            <a:r>
              <a:rPr spc="-148" dirty="0"/>
              <a:t> </a:t>
            </a:r>
            <a:r>
              <a:rPr dirty="0"/>
              <a:t>to</a:t>
            </a:r>
            <a:r>
              <a:rPr spc="-211" dirty="0"/>
              <a:t> </a:t>
            </a:r>
            <a:r>
              <a:rPr spc="-56" dirty="0"/>
              <a:t>keep</a:t>
            </a:r>
            <a:r>
              <a:rPr spc="-158" dirty="0"/>
              <a:t> </a:t>
            </a:r>
            <a:r>
              <a:rPr dirty="0"/>
              <a:t>in</a:t>
            </a:r>
            <a:r>
              <a:rPr spc="-172" dirty="0"/>
              <a:t> </a:t>
            </a:r>
            <a:r>
              <a:rPr spc="-14" dirty="0"/>
              <a:t>mind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E7787-BDF6-D9EA-2BC3-BA0FFEB3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ADFC-8A33-4F04-AAFB-D959E8616303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08698-7F5D-6250-21D8-F22688336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10258-1C4F-14B7-A7A6-7C9E5C7A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4D70B6-BBBF-B9F4-05CD-E8C28D797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T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he term "</a:t>
            </a:r>
            <a:r>
              <a:rPr lang="en-US" b="0" i="0" dirty="0">
                <a:solidFill>
                  <a:srgbClr val="FFC000"/>
                </a:solidFill>
                <a:effectLst/>
                <a:highlight>
                  <a:srgbClr val="FFFFFF"/>
                </a:highlight>
                <a:latin typeface="Söhne"/>
              </a:rPr>
              <a:t>temperature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" refers to a parameter that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Söhne"/>
              </a:rPr>
              <a:t>controls the randomness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of the model's responses.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</a:t>
            </a:r>
            <a:r>
              <a:rPr lang="en-US" b="0" i="0" dirty="0">
                <a:solidFill>
                  <a:srgbClr val="0099CC"/>
                </a:solidFill>
                <a:effectLst/>
                <a:highlight>
                  <a:srgbClr val="FFFFFF"/>
                </a:highlight>
                <a:latin typeface="Söhne"/>
              </a:rPr>
              <a:t>scaling factor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applied to the logits</a:t>
            </a:r>
          </a:p>
          <a:p>
            <a:r>
              <a:rPr lang="en-US" dirty="0"/>
              <a:t>Keep them high if you are looking for </a:t>
            </a:r>
            <a:r>
              <a:rPr lang="en-US" dirty="0">
                <a:solidFill>
                  <a:srgbClr val="FF0000"/>
                </a:solidFill>
              </a:rPr>
              <a:t>more diverse responses</a:t>
            </a:r>
          </a:p>
          <a:p>
            <a:r>
              <a:rPr lang="en-US" b="1" dirty="0"/>
              <a:t>Zero Temperature: </a:t>
            </a:r>
            <a:r>
              <a:rPr lang="en-US" dirty="0"/>
              <a:t>Effectively turns the model into a greedy algorithm that always chooses the most likely next word based on the model's training.</a:t>
            </a:r>
          </a:p>
          <a:p>
            <a:r>
              <a:rPr lang="en-US" b="1" dirty="0"/>
              <a:t>Top-p (Nucleus Sampling)</a:t>
            </a:r>
            <a:r>
              <a:rPr lang="en-US" dirty="0"/>
              <a:t>: Focuses on randomness in a subset of the most likely next tokens. </a:t>
            </a:r>
          </a:p>
          <a:p>
            <a:pPr lvl="1"/>
            <a:r>
              <a:rPr lang="en-US" dirty="0"/>
              <a:t>Instead of sampling from the entire distribution, it selects the smallest set of words whose cumulative probability exceeds the threshold p, and then samples only from this set.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E1585-863A-6589-B0EB-E92DD10CF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49DA-959A-457F-9000-78C04F6F239C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447F9-0D10-9097-9329-DDB4E8E7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A6D22-CDC4-D094-997C-47E8DAF68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55FD57-C178-D316-6F55-F5B8318E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70" dirty="0"/>
              <a:t>Settings</a:t>
            </a:r>
            <a:r>
              <a:rPr lang="en-US" spc="-148" dirty="0"/>
              <a:t> </a:t>
            </a:r>
            <a:r>
              <a:rPr lang="en-US" dirty="0"/>
              <a:t>to</a:t>
            </a:r>
            <a:r>
              <a:rPr lang="en-US" spc="-211" dirty="0"/>
              <a:t> </a:t>
            </a:r>
            <a:r>
              <a:rPr lang="en-US" spc="-56" dirty="0"/>
              <a:t>keep</a:t>
            </a:r>
            <a:r>
              <a:rPr lang="en-US" spc="-158" dirty="0"/>
              <a:t> </a:t>
            </a:r>
            <a:r>
              <a:rPr lang="en-US" dirty="0"/>
              <a:t>in</a:t>
            </a:r>
            <a:r>
              <a:rPr lang="en-US" spc="-172" dirty="0"/>
              <a:t> </a:t>
            </a:r>
            <a:r>
              <a:rPr lang="en-US" spc="-14" dirty="0"/>
              <a:t>mind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18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441798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74" dirty="0"/>
              <a:t>Designing</a:t>
            </a:r>
            <a:r>
              <a:rPr spc="-143" dirty="0"/>
              <a:t> </a:t>
            </a:r>
            <a:r>
              <a:rPr spc="-74" dirty="0"/>
              <a:t>Prompts</a:t>
            </a:r>
            <a:r>
              <a:rPr spc="-141" dirty="0"/>
              <a:t> </a:t>
            </a:r>
            <a:r>
              <a:rPr spc="-18" dirty="0"/>
              <a:t>for</a:t>
            </a:r>
            <a:r>
              <a:rPr spc="-151" dirty="0"/>
              <a:t> </a:t>
            </a:r>
            <a:r>
              <a:rPr spc="-53" dirty="0"/>
              <a:t>Different</a:t>
            </a:r>
            <a:r>
              <a:rPr spc="-143" dirty="0"/>
              <a:t> </a:t>
            </a:r>
            <a:r>
              <a:rPr spc="-46" dirty="0"/>
              <a:t>Tasks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6557" y="1021386"/>
            <a:ext cx="7577733" cy="4082738"/>
          </a:xfrm>
          <a:prstGeom prst="rect">
            <a:avLst/>
          </a:prstGeom>
        </p:spPr>
        <p:txBody>
          <a:bodyPr vert="horz" wrap="square" lIns="0" tIns="61168" rIns="0" bIns="0" rtlCol="0">
            <a:spAutoFit/>
          </a:bodyPr>
          <a:lstStyle/>
          <a:p>
            <a:pPr marL="312528" marR="3572" indent="-303599">
              <a:lnSpc>
                <a:spcPts val="2475"/>
              </a:lnSpc>
              <a:spcBef>
                <a:spcPts val="482"/>
              </a:spcBef>
              <a:buClr>
                <a:srgbClr val="7571FF"/>
              </a:buClr>
              <a:buChar char="•"/>
              <a:tabLst>
                <a:tab pos="312528" algn="l"/>
              </a:tabLst>
            </a:pP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In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the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next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few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slides,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we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will</a:t>
            </a:r>
            <a:r>
              <a:rPr sz="2391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cover</a:t>
            </a:r>
            <a:r>
              <a:rPr sz="2391" spc="-18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a</a:t>
            </a:r>
            <a:r>
              <a:rPr sz="2391" spc="-11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few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examples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18" dirty="0">
                <a:solidFill>
                  <a:srgbClr val="5E5E5E"/>
                </a:solidFill>
                <a:latin typeface="Arial MT"/>
                <a:cs typeface="Arial MT"/>
              </a:rPr>
              <a:t>of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common</a:t>
            </a:r>
            <a:r>
              <a:rPr sz="2391" spc="-46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tasks</a:t>
            </a:r>
            <a:r>
              <a:rPr sz="2391" spc="-46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using</a:t>
            </a:r>
            <a:r>
              <a:rPr sz="2391" spc="-4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different</a:t>
            </a:r>
            <a:r>
              <a:rPr sz="2391" spc="-46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7" dirty="0">
                <a:solidFill>
                  <a:srgbClr val="5E5E5E"/>
                </a:solidFill>
                <a:latin typeface="Arial MT"/>
                <a:cs typeface="Arial MT"/>
              </a:rPr>
              <a:t>prompts</a:t>
            </a:r>
            <a:endParaRPr sz="2391">
              <a:latin typeface="Arial MT"/>
              <a:cs typeface="Arial MT"/>
            </a:endParaRPr>
          </a:p>
          <a:p>
            <a:pPr marL="312081" indent="-303152">
              <a:spcBef>
                <a:spcPts val="1135"/>
              </a:spcBef>
              <a:buClr>
                <a:srgbClr val="7571FF"/>
              </a:buClr>
              <a:buChar char="•"/>
              <a:tabLst>
                <a:tab pos="312081" algn="l"/>
              </a:tabLst>
            </a:pP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Tasks</a:t>
            </a:r>
            <a:r>
              <a:rPr sz="2391" spc="-11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7" dirty="0">
                <a:solidFill>
                  <a:srgbClr val="5E5E5E"/>
                </a:solidFill>
                <a:latin typeface="Arial MT"/>
                <a:cs typeface="Arial MT"/>
              </a:rPr>
              <a:t>covered:</a:t>
            </a:r>
            <a:endParaRPr sz="2391">
              <a:latin typeface="Arial MT"/>
              <a:cs typeface="Arial MT"/>
            </a:endParaRPr>
          </a:p>
          <a:p>
            <a:pPr marL="624609" lvl="1" indent="-294223">
              <a:spcBef>
                <a:spcPts val="1152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spc="-42" dirty="0">
                <a:solidFill>
                  <a:srgbClr val="5E5E5E"/>
                </a:solidFill>
                <a:latin typeface="Arial MT"/>
                <a:cs typeface="Arial MT"/>
              </a:rPr>
              <a:t>Text</a:t>
            </a:r>
            <a:r>
              <a:rPr sz="2109" spc="-10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Summarization</a:t>
            </a:r>
            <a:endParaRPr sz="2109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Question</a:t>
            </a:r>
            <a:r>
              <a:rPr sz="2109" spc="-10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Answering</a:t>
            </a:r>
            <a:endParaRPr sz="2109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spc="-42" dirty="0">
                <a:solidFill>
                  <a:srgbClr val="5E5E5E"/>
                </a:solidFill>
                <a:latin typeface="Arial MT"/>
                <a:cs typeface="Arial MT"/>
              </a:rPr>
              <a:t>Text</a:t>
            </a:r>
            <a:r>
              <a:rPr sz="2109" spc="-10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Classification</a:t>
            </a:r>
            <a:endParaRPr sz="2109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Role 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Playing</a:t>
            </a:r>
            <a:endParaRPr sz="2109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Code 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Generation</a:t>
            </a:r>
            <a:endParaRPr sz="2109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Reasoning</a:t>
            </a:r>
            <a:endParaRPr sz="2109">
              <a:latin typeface="Arial MT"/>
              <a:cs typeface="Arial M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85033-BE2F-83BE-348E-B244BC29C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490EF-3B4F-4BC5-B4E4-02EE3B57F612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C4A43-2F56-955B-B5EE-E7CECDF1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FEEA2-C53F-C845-8E69-655C4019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441798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123" dirty="0"/>
              <a:t>Text</a:t>
            </a:r>
            <a:r>
              <a:rPr spc="-112" dirty="0"/>
              <a:t> </a:t>
            </a:r>
            <a:r>
              <a:rPr spc="-56" dirty="0"/>
              <a:t>Summarization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83850" y="1526222"/>
            <a:ext cx="7024539" cy="4167932"/>
            <a:chOff x="1507342" y="2170626"/>
            <a:chExt cx="9990455" cy="5927725"/>
          </a:xfrm>
        </p:grpSpPr>
        <p:sp>
          <p:nvSpPr>
            <p:cNvPr id="4" name="object 4"/>
            <p:cNvSpPr/>
            <p:nvPr/>
          </p:nvSpPr>
          <p:spPr>
            <a:xfrm>
              <a:off x="1539194" y="2202376"/>
              <a:ext cx="9926955" cy="5864225"/>
            </a:xfrm>
            <a:custGeom>
              <a:avLst/>
              <a:gdLst/>
              <a:ahLst/>
              <a:cxnLst/>
              <a:rect l="l" t="t" r="r" b="b"/>
              <a:pathLst>
                <a:path w="9926955" h="5864225">
                  <a:moveTo>
                    <a:pt x="9794057" y="0"/>
                  </a:moveTo>
                  <a:lnTo>
                    <a:pt x="132354" y="0"/>
                  </a:lnTo>
                  <a:lnTo>
                    <a:pt x="105996" y="101"/>
                  </a:lnTo>
                  <a:lnTo>
                    <a:pt x="67856" y="2738"/>
                  </a:lnTo>
                  <a:lnTo>
                    <a:pt x="25156" y="25257"/>
                  </a:lnTo>
                  <a:lnTo>
                    <a:pt x="2636" y="67956"/>
                  </a:lnTo>
                  <a:lnTo>
                    <a:pt x="0" y="106097"/>
                  </a:lnTo>
                  <a:lnTo>
                    <a:pt x="0" y="5757920"/>
                  </a:lnTo>
                  <a:lnTo>
                    <a:pt x="2636" y="5796061"/>
                  </a:lnTo>
                  <a:lnTo>
                    <a:pt x="25156" y="5838760"/>
                  </a:lnTo>
                  <a:lnTo>
                    <a:pt x="67856" y="5861279"/>
                  </a:lnTo>
                  <a:lnTo>
                    <a:pt x="105996" y="5863916"/>
                  </a:lnTo>
                  <a:lnTo>
                    <a:pt x="132354" y="5864017"/>
                  </a:lnTo>
                  <a:lnTo>
                    <a:pt x="9794057" y="5864017"/>
                  </a:lnTo>
                  <a:lnTo>
                    <a:pt x="9841672" y="5863206"/>
                  </a:lnTo>
                  <a:lnTo>
                    <a:pt x="9887639" y="5849702"/>
                  </a:lnTo>
                  <a:lnTo>
                    <a:pt x="9920022" y="5809301"/>
                  </a:lnTo>
                  <a:lnTo>
                    <a:pt x="9926411" y="5757920"/>
                  </a:lnTo>
                  <a:lnTo>
                    <a:pt x="9926411" y="106097"/>
                  </a:lnTo>
                  <a:lnTo>
                    <a:pt x="9925701" y="84840"/>
                  </a:lnTo>
                  <a:lnTo>
                    <a:pt x="9912197" y="38873"/>
                  </a:lnTo>
                  <a:lnTo>
                    <a:pt x="9871795" y="6490"/>
                  </a:lnTo>
                  <a:lnTo>
                    <a:pt x="9820415" y="101"/>
                  </a:lnTo>
                  <a:lnTo>
                    <a:pt x="97940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5" name="object 5"/>
            <p:cNvSpPr/>
            <p:nvPr/>
          </p:nvSpPr>
          <p:spPr>
            <a:xfrm>
              <a:off x="1539092" y="2202376"/>
              <a:ext cx="9926955" cy="5864225"/>
            </a:xfrm>
            <a:custGeom>
              <a:avLst/>
              <a:gdLst/>
              <a:ahLst/>
              <a:cxnLst/>
              <a:rect l="l" t="t" r="r" b="b"/>
              <a:pathLst>
                <a:path w="9926955" h="5864225">
                  <a:moveTo>
                    <a:pt x="132455" y="0"/>
                  </a:moveTo>
                  <a:lnTo>
                    <a:pt x="9794159" y="0"/>
                  </a:lnTo>
                  <a:lnTo>
                    <a:pt x="9820517" y="101"/>
                  </a:lnTo>
                  <a:lnTo>
                    <a:pt x="9858657" y="2738"/>
                  </a:lnTo>
                  <a:lnTo>
                    <a:pt x="9901356" y="25258"/>
                  </a:lnTo>
                  <a:lnTo>
                    <a:pt x="9923876" y="67957"/>
                  </a:lnTo>
                  <a:lnTo>
                    <a:pt x="9926513" y="106097"/>
                  </a:lnTo>
                  <a:lnTo>
                    <a:pt x="9926614" y="132455"/>
                  </a:lnTo>
                  <a:lnTo>
                    <a:pt x="9926614" y="5731563"/>
                  </a:lnTo>
                  <a:lnTo>
                    <a:pt x="9925803" y="5779177"/>
                  </a:lnTo>
                  <a:lnTo>
                    <a:pt x="9912298" y="5825144"/>
                  </a:lnTo>
                  <a:lnTo>
                    <a:pt x="9871897" y="5857528"/>
                  </a:lnTo>
                  <a:lnTo>
                    <a:pt x="9820517" y="5863917"/>
                  </a:lnTo>
                  <a:lnTo>
                    <a:pt x="9794159" y="5864019"/>
                  </a:lnTo>
                  <a:lnTo>
                    <a:pt x="132455" y="5864019"/>
                  </a:lnTo>
                  <a:lnTo>
                    <a:pt x="84841" y="5863207"/>
                  </a:lnTo>
                  <a:lnTo>
                    <a:pt x="38873" y="5849702"/>
                  </a:lnTo>
                  <a:lnTo>
                    <a:pt x="6490" y="5809301"/>
                  </a:lnTo>
                  <a:lnTo>
                    <a:pt x="101" y="5757921"/>
                  </a:lnTo>
                  <a:lnTo>
                    <a:pt x="0" y="5731563"/>
                  </a:lnTo>
                  <a:lnTo>
                    <a:pt x="0" y="132455"/>
                  </a:lnTo>
                  <a:lnTo>
                    <a:pt x="811" y="84841"/>
                  </a:lnTo>
                  <a:lnTo>
                    <a:pt x="14316" y="38873"/>
                  </a:lnTo>
                  <a:lnTo>
                    <a:pt x="54717" y="6490"/>
                  </a:lnTo>
                  <a:lnTo>
                    <a:pt x="106097" y="101"/>
                  </a:lnTo>
                  <a:lnTo>
                    <a:pt x="132455" y="0"/>
                  </a:lnTo>
                  <a:close/>
                </a:path>
              </a:pathLst>
            </a:custGeom>
            <a:ln w="63500">
              <a:solidFill>
                <a:srgbClr val="6D6BE7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6" name="object 6"/>
            <p:cNvSpPr/>
            <p:nvPr/>
          </p:nvSpPr>
          <p:spPr>
            <a:xfrm>
              <a:off x="1927174" y="6145517"/>
              <a:ext cx="9481820" cy="889000"/>
            </a:xfrm>
            <a:custGeom>
              <a:avLst/>
              <a:gdLst/>
              <a:ahLst/>
              <a:cxnLst/>
              <a:rect l="l" t="t" r="r" b="b"/>
              <a:pathLst>
                <a:path w="9481820" h="889000">
                  <a:moveTo>
                    <a:pt x="9481401" y="571500"/>
                  </a:moveTo>
                  <a:lnTo>
                    <a:pt x="8971724" y="571500"/>
                  </a:lnTo>
                  <a:lnTo>
                    <a:pt x="8971724" y="285750"/>
                  </a:lnTo>
                  <a:lnTo>
                    <a:pt x="8639442" y="285750"/>
                  </a:lnTo>
                  <a:lnTo>
                    <a:pt x="8639442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0" y="317500"/>
                  </a:lnTo>
                  <a:lnTo>
                    <a:pt x="0" y="571500"/>
                  </a:lnTo>
                  <a:lnTo>
                    <a:pt x="0" y="603250"/>
                  </a:lnTo>
                  <a:lnTo>
                    <a:pt x="0" y="889000"/>
                  </a:lnTo>
                  <a:lnTo>
                    <a:pt x="9481401" y="889000"/>
                  </a:lnTo>
                  <a:lnTo>
                    <a:pt x="9481401" y="571500"/>
                  </a:lnTo>
                  <a:close/>
                </a:path>
              </a:pathLst>
            </a:custGeom>
            <a:solidFill>
              <a:srgbClr val="9AE989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70119" y="1680870"/>
            <a:ext cx="1770311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Antibiotics</a:t>
            </a:r>
            <a:r>
              <a:rPr sz="1512" spc="109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are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39235" y="1680870"/>
            <a:ext cx="718840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a</a:t>
            </a:r>
            <a:r>
              <a:rPr sz="1512" spc="14" dirty="0">
                <a:latin typeface="Courier New"/>
                <a:cs typeface="Courier New"/>
              </a:rPr>
              <a:t> </a:t>
            </a:r>
            <a:r>
              <a:rPr sz="1512" spc="-14" dirty="0">
                <a:latin typeface="Courier New"/>
                <a:cs typeface="Courier New"/>
              </a:rPr>
              <a:t>type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56974" y="1680870"/>
            <a:ext cx="3172271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of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medication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used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treat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8317" y="1881788"/>
            <a:ext cx="1303287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-7" dirty="0">
                <a:latin typeface="Courier New"/>
                <a:cs typeface="Courier New"/>
              </a:rPr>
              <a:t>infections.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70119" y="1881788"/>
            <a:ext cx="1303287" cy="460512"/>
          </a:xfrm>
          <a:prstGeom prst="rect">
            <a:avLst/>
          </a:prstGeom>
        </p:spPr>
        <p:txBody>
          <a:bodyPr vert="horz" wrap="square" lIns="0" tIns="42863" rIns="0" bIns="0" rtlCol="0">
            <a:spAutoFit/>
          </a:bodyPr>
          <a:lstStyle/>
          <a:p>
            <a:pPr marL="8929" marR="3572">
              <a:lnSpc>
                <a:spcPts val="1582"/>
              </a:lnSpc>
              <a:spcBef>
                <a:spcPts val="337"/>
              </a:spcBef>
            </a:pPr>
            <a:r>
              <a:rPr sz="1512" spc="-7" dirty="0">
                <a:latin typeface="Courier New"/>
                <a:cs typeface="Courier New"/>
              </a:rPr>
              <a:t>bacterial </a:t>
            </a:r>
            <a:r>
              <a:rPr sz="1512" dirty="0">
                <a:latin typeface="Courier New"/>
                <a:cs typeface="Courier New"/>
              </a:rPr>
              <a:t>bacteria</a:t>
            </a:r>
            <a:r>
              <a:rPr sz="1512" spc="77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or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71956" y="2082706"/>
            <a:ext cx="1770311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preventing</a:t>
            </a:r>
            <a:r>
              <a:rPr sz="1512" spc="95" dirty="0">
                <a:latin typeface="Courier New"/>
                <a:cs typeface="Courier New"/>
              </a:rPr>
              <a:t> </a:t>
            </a:r>
            <a:r>
              <a:rPr sz="1512" spc="-14" dirty="0">
                <a:latin typeface="Courier New"/>
                <a:cs typeface="Courier New"/>
              </a:rPr>
              <a:t>them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40154" y="1881788"/>
            <a:ext cx="3639294" cy="460512"/>
          </a:xfrm>
          <a:prstGeom prst="rect">
            <a:avLst/>
          </a:prstGeom>
        </p:spPr>
        <p:txBody>
          <a:bodyPr vert="horz" wrap="square" lIns="0" tIns="42863" rIns="0" bIns="0" rtlCol="0">
            <a:spAutoFit/>
          </a:bodyPr>
          <a:lstStyle/>
          <a:p>
            <a:pPr marL="709438" marR="3572" indent="-700956">
              <a:lnSpc>
                <a:spcPts val="1582"/>
              </a:lnSpc>
              <a:spcBef>
                <a:spcPts val="337"/>
              </a:spcBef>
            </a:pPr>
            <a:r>
              <a:rPr sz="1512" dirty="0">
                <a:latin typeface="Courier New"/>
                <a:cs typeface="Courier New"/>
              </a:rPr>
              <a:t>They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work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by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either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killing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the </a:t>
            </a:r>
            <a:r>
              <a:rPr sz="1512" spc="-14" dirty="0">
                <a:latin typeface="Courier New"/>
                <a:cs typeface="Courier New"/>
              </a:rPr>
              <a:t>from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25172" y="2082706"/>
            <a:ext cx="2471291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reproducing,</a:t>
            </a:r>
            <a:r>
              <a:rPr sz="1512" spc="112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allowing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70119" y="2283624"/>
            <a:ext cx="6092726" cy="665696"/>
          </a:xfrm>
          <a:prstGeom prst="rect">
            <a:avLst/>
          </a:prstGeom>
        </p:spPr>
        <p:txBody>
          <a:bodyPr vert="horz" wrap="square" lIns="0" tIns="42863" rIns="0" bIns="0" rtlCol="0">
            <a:spAutoFit/>
          </a:bodyPr>
          <a:lstStyle/>
          <a:p>
            <a:pPr marL="8929" marR="3572">
              <a:lnSpc>
                <a:spcPts val="1582"/>
              </a:lnSpc>
              <a:spcBef>
                <a:spcPts val="337"/>
              </a:spcBef>
            </a:pP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body’s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immune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system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fight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off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infection. </a:t>
            </a:r>
            <a:r>
              <a:rPr sz="1512" dirty="0">
                <a:latin typeface="Courier New"/>
                <a:cs typeface="Courier New"/>
              </a:rPr>
              <a:t>Antibiotics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are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usually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taken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orally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form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of </a:t>
            </a:r>
            <a:r>
              <a:rPr sz="1512" dirty="0">
                <a:latin typeface="Courier New"/>
                <a:cs typeface="Courier New"/>
              </a:rPr>
              <a:t>pills,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capsules,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or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liquid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solutions,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or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sometimes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0119" y="3087296"/>
            <a:ext cx="4690764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against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viral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infections,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and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using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spc="-14" dirty="0">
                <a:latin typeface="Courier New"/>
                <a:cs typeface="Courier New"/>
              </a:rPr>
              <a:t>them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70119" y="2886378"/>
            <a:ext cx="6560195" cy="45139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lnSpc>
                <a:spcPts val="1698"/>
              </a:lnSpc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administered</a:t>
            </a:r>
            <a:r>
              <a:rPr sz="1512" spc="7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intravenously.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They</a:t>
            </a:r>
            <a:r>
              <a:rPr sz="1512" spc="7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are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not</a:t>
            </a:r>
            <a:r>
              <a:rPr sz="1512" spc="77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effective</a:t>
            </a:r>
            <a:endParaRPr sz="1512">
              <a:latin typeface="Courier New"/>
              <a:cs typeface="Courier New"/>
            </a:endParaRPr>
          </a:p>
          <a:p>
            <a:pPr marL="4798197">
              <a:lnSpc>
                <a:spcPts val="1698"/>
              </a:lnSpc>
            </a:pPr>
            <a:r>
              <a:rPr sz="1512" spc="-7" dirty="0">
                <a:latin typeface="Courier New"/>
                <a:cs typeface="Courier New"/>
              </a:rPr>
              <a:t>inappropriately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70119" y="3288214"/>
            <a:ext cx="6675834" cy="1704109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can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lead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antibiotic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resistance.</a:t>
            </a:r>
            <a:endParaRPr sz="1512">
              <a:latin typeface="Courier New"/>
              <a:cs typeface="Courier New"/>
            </a:endParaRPr>
          </a:p>
          <a:p>
            <a:pPr marL="8929">
              <a:spcBef>
                <a:spcPts val="1350"/>
              </a:spcBef>
            </a:pPr>
            <a:r>
              <a:rPr sz="1512" dirty="0">
                <a:latin typeface="Courier New"/>
                <a:cs typeface="Courier New"/>
              </a:rPr>
              <a:t>Explain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above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one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sentence:</a:t>
            </a:r>
            <a:endParaRPr sz="1512">
              <a:latin typeface="Courier New"/>
              <a:cs typeface="Courier New"/>
            </a:endParaRPr>
          </a:p>
          <a:p>
            <a:pPr>
              <a:spcBef>
                <a:spcPts val="1462"/>
              </a:spcBef>
            </a:pPr>
            <a:endParaRPr sz="1512">
              <a:latin typeface="Courier New"/>
              <a:cs typeface="Courier New"/>
            </a:endParaRPr>
          </a:p>
          <a:p>
            <a:pPr marL="8929" marR="2232">
              <a:lnSpc>
                <a:spcPts val="1582"/>
              </a:lnSpc>
              <a:spcBef>
                <a:spcPts val="4"/>
              </a:spcBef>
            </a:pPr>
            <a:r>
              <a:rPr sz="1512" dirty="0">
                <a:latin typeface="Courier New"/>
                <a:cs typeface="Courier New"/>
              </a:rPr>
              <a:t>Antibiotics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are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medications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used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treat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bacterial </a:t>
            </a:r>
            <a:r>
              <a:rPr sz="1512" dirty="0">
                <a:latin typeface="Courier New"/>
                <a:cs typeface="Courier New"/>
              </a:rPr>
              <a:t>infections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by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either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killing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bacteria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or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stopping </a:t>
            </a:r>
            <a:r>
              <a:rPr sz="1512" dirty="0">
                <a:latin typeface="Courier New"/>
                <a:cs typeface="Courier New"/>
              </a:rPr>
              <a:t>them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from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reproducing,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but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they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are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not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effective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against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79049" y="4952394"/>
            <a:ext cx="6317307" cy="202428"/>
          </a:xfrm>
          <a:prstGeom prst="rect">
            <a:avLst/>
          </a:prstGeom>
          <a:solidFill>
            <a:srgbClr val="9AE98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9"/>
              </a:lnSpc>
            </a:pPr>
            <a:r>
              <a:rPr sz="1512" dirty="0">
                <a:latin typeface="Courier New"/>
                <a:cs typeface="Courier New"/>
              </a:rPr>
              <a:t>viruses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and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overuse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can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lead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antibiotic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resistance.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68393" y="2350661"/>
            <a:ext cx="173124" cy="523280"/>
          </a:xfrm>
          <a:prstGeom prst="rect">
            <a:avLst/>
          </a:prstGeom>
        </p:spPr>
        <p:txBody>
          <a:bodyPr vert="vert270" wrap="square" lIns="0" tIns="1786" rIns="0" bIns="0" rtlCol="0">
            <a:spAutoFit/>
          </a:bodyPr>
          <a:lstStyle/>
          <a:p>
            <a:pPr marL="8929">
              <a:spcBef>
                <a:spcPts val="14"/>
              </a:spcBef>
            </a:pPr>
            <a:r>
              <a:rPr sz="1125" spc="-7" dirty="0">
                <a:solidFill>
                  <a:srgbClr val="5E5E5E"/>
                </a:solidFill>
                <a:latin typeface="Arial MT"/>
                <a:cs typeface="Arial MT"/>
              </a:rPr>
              <a:t>Context</a:t>
            </a:r>
            <a:endParaRPr sz="1125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68393" y="3523521"/>
            <a:ext cx="173124" cy="692943"/>
          </a:xfrm>
          <a:prstGeom prst="rect">
            <a:avLst/>
          </a:prstGeom>
        </p:spPr>
        <p:txBody>
          <a:bodyPr vert="vert270" wrap="square" lIns="0" tIns="1786" rIns="0" bIns="0" rtlCol="0">
            <a:spAutoFit/>
          </a:bodyPr>
          <a:lstStyle/>
          <a:p>
            <a:pPr marL="8929">
              <a:spcBef>
                <a:spcPts val="14"/>
              </a:spcBef>
            </a:pPr>
            <a:r>
              <a:rPr sz="1125" spc="-7" dirty="0">
                <a:solidFill>
                  <a:srgbClr val="5E5E5E"/>
                </a:solidFill>
                <a:latin typeface="Arial MT"/>
                <a:cs typeface="Arial MT"/>
              </a:rPr>
              <a:t>Instruction</a:t>
            </a:r>
            <a:endParaRPr sz="1125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74714" y="2569403"/>
            <a:ext cx="422821" cy="1343471"/>
            <a:chOff x="1209904" y="3654262"/>
            <a:chExt cx="601345" cy="1910714"/>
          </a:xfrm>
        </p:grpSpPr>
        <p:sp>
          <p:nvSpPr>
            <p:cNvPr id="23" name="object 23"/>
            <p:cNvSpPr/>
            <p:nvPr/>
          </p:nvSpPr>
          <p:spPr>
            <a:xfrm>
              <a:off x="1209904" y="5503787"/>
              <a:ext cx="479425" cy="0"/>
            </a:xfrm>
            <a:custGeom>
              <a:avLst/>
              <a:gdLst/>
              <a:ahLst/>
              <a:cxnLst/>
              <a:rect l="l" t="t" r="r" b="b"/>
              <a:pathLst>
                <a:path w="479425">
                  <a:moveTo>
                    <a:pt x="0" y="42"/>
                  </a:moveTo>
                  <a:lnTo>
                    <a:pt x="466647" y="8"/>
                  </a:lnTo>
                  <a:lnTo>
                    <a:pt x="479347" y="7"/>
                  </a:lnTo>
                </a:path>
              </a:pathLst>
            </a:custGeom>
            <a:ln w="25400">
              <a:solidFill>
                <a:srgbClr val="350F0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24" name="object 24"/>
            <p:cNvSpPr/>
            <p:nvPr/>
          </p:nvSpPr>
          <p:spPr>
            <a:xfrm>
              <a:off x="1676552" y="5442827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19" h="121920">
                  <a:moveTo>
                    <a:pt x="0" y="0"/>
                  </a:move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0F0D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25" name="object 25"/>
            <p:cNvSpPr/>
            <p:nvPr/>
          </p:nvSpPr>
          <p:spPr>
            <a:xfrm>
              <a:off x="1222604" y="3715223"/>
              <a:ext cx="479425" cy="0"/>
            </a:xfrm>
            <a:custGeom>
              <a:avLst/>
              <a:gdLst/>
              <a:ahLst/>
              <a:cxnLst/>
              <a:rect l="l" t="t" r="r" b="b"/>
              <a:pathLst>
                <a:path w="479425">
                  <a:moveTo>
                    <a:pt x="0" y="42"/>
                  </a:moveTo>
                  <a:lnTo>
                    <a:pt x="466647" y="8"/>
                  </a:lnTo>
                  <a:lnTo>
                    <a:pt x="479347" y="7"/>
                  </a:lnTo>
                </a:path>
              </a:pathLst>
            </a:custGeom>
            <a:ln w="25400">
              <a:solidFill>
                <a:srgbClr val="350F0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26" name="object 26"/>
            <p:cNvSpPr/>
            <p:nvPr/>
          </p:nvSpPr>
          <p:spPr>
            <a:xfrm>
              <a:off x="1689252" y="365426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19" h="121920">
                  <a:moveTo>
                    <a:pt x="0" y="0"/>
                  </a:move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0F0D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D1100E99-1A8A-3A2D-5454-226826A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04A-8941-4E84-A0CA-669F143C5396}" type="datetime1">
              <a:rPr lang="en-US" smtClean="0"/>
              <a:t>12/1/2025</a:t>
            </a:fld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3FC1ADB1-52DB-FC9A-CFCB-7AA5468DD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9B93CC3-9BFD-0B76-16F3-67B36858C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441798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77" dirty="0"/>
              <a:t>Question</a:t>
            </a:r>
            <a:r>
              <a:rPr spc="-200" dirty="0"/>
              <a:t> </a:t>
            </a:r>
            <a:r>
              <a:rPr spc="-49" dirty="0"/>
              <a:t>Answering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83850" y="1526222"/>
            <a:ext cx="7024539" cy="4167932"/>
            <a:chOff x="1507342" y="2170626"/>
            <a:chExt cx="9990455" cy="5927725"/>
          </a:xfrm>
        </p:grpSpPr>
        <p:sp>
          <p:nvSpPr>
            <p:cNvPr id="4" name="object 4"/>
            <p:cNvSpPr/>
            <p:nvPr/>
          </p:nvSpPr>
          <p:spPr>
            <a:xfrm>
              <a:off x="1539194" y="2202376"/>
              <a:ext cx="9926955" cy="5864225"/>
            </a:xfrm>
            <a:custGeom>
              <a:avLst/>
              <a:gdLst/>
              <a:ahLst/>
              <a:cxnLst/>
              <a:rect l="l" t="t" r="r" b="b"/>
              <a:pathLst>
                <a:path w="9926955" h="5864225">
                  <a:moveTo>
                    <a:pt x="9794057" y="0"/>
                  </a:moveTo>
                  <a:lnTo>
                    <a:pt x="132354" y="0"/>
                  </a:lnTo>
                  <a:lnTo>
                    <a:pt x="105996" y="101"/>
                  </a:lnTo>
                  <a:lnTo>
                    <a:pt x="67856" y="2738"/>
                  </a:lnTo>
                  <a:lnTo>
                    <a:pt x="25156" y="25257"/>
                  </a:lnTo>
                  <a:lnTo>
                    <a:pt x="2636" y="67956"/>
                  </a:lnTo>
                  <a:lnTo>
                    <a:pt x="0" y="106097"/>
                  </a:lnTo>
                  <a:lnTo>
                    <a:pt x="0" y="5757920"/>
                  </a:lnTo>
                  <a:lnTo>
                    <a:pt x="2636" y="5796061"/>
                  </a:lnTo>
                  <a:lnTo>
                    <a:pt x="25156" y="5838760"/>
                  </a:lnTo>
                  <a:lnTo>
                    <a:pt x="67856" y="5861279"/>
                  </a:lnTo>
                  <a:lnTo>
                    <a:pt x="105996" y="5863916"/>
                  </a:lnTo>
                  <a:lnTo>
                    <a:pt x="132354" y="5864017"/>
                  </a:lnTo>
                  <a:lnTo>
                    <a:pt x="9794057" y="5864017"/>
                  </a:lnTo>
                  <a:lnTo>
                    <a:pt x="9841672" y="5863206"/>
                  </a:lnTo>
                  <a:lnTo>
                    <a:pt x="9887639" y="5849702"/>
                  </a:lnTo>
                  <a:lnTo>
                    <a:pt x="9920022" y="5809301"/>
                  </a:lnTo>
                  <a:lnTo>
                    <a:pt x="9926411" y="5757920"/>
                  </a:lnTo>
                  <a:lnTo>
                    <a:pt x="9926411" y="106097"/>
                  </a:lnTo>
                  <a:lnTo>
                    <a:pt x="9925701" y="84840"/>
                  </a:lnTo>
                  <a:lnTo>
                    <a:pt x="9912197" y="38873"/>
                  </a:lnTo>
                  <a:lnTo>
                    <a:pt x="9871795" y="6490"/>
                  </a:lnTo>
                  <a:lnTo>
                    <a:pt x="9820415" y="101"/>
                  </a:lnTo>
                  <a:lnTo>
                    <a:pt x="97940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5" name="object 5"/>
            <p:cNvSpPr/>
            <p:nvPr/>
          </p:nvSpPr>
          <p:spPr>
            <a:xfrm>
              <a:off x="1539092" y="2202376"/>
              <a:ext cx="9926955" cy="5864225"/>
            </a:xfrm>
            <a:custGeom>
              <a:avLst/>
              <a:gdLst/>
              <a:ahLst/>
              <a:cxnLst/>
              <a:rect l="l" t="t" r="r" b="b"/>
              <a:pathLst>
                <a:path w="9926955" h="5864225">
                  <a:moveTo>
                    <a:pt x="132455" y="0"/>
                  </a:moveTo>
                  <a:lnTo>
                    <a:pt x="9794159" y="0"/>
                  </a:lnTo>
                  <a:lnTo>
                    <a:pt x="9820517" y="101"/>
                  </a:lnTo>
                  <a:lnTo>
                    <a:pt x="9858657" y="2738"/>
                  </a:lnTo>
                  <a:lnTo>
                    <a:pt x="9901356" y="25258"/>
                  </a:lnTo>
                  <a:lnTo>
                    <a:pt x="9923876" y="67957"/>
                  </a:lnTo>
                  <a:lnTo>
                    <a:pt x="9926513" y="106097"/>
                  </a:lnTo>
                  <a:lnTo>
                    <a:pt x="9926614" y="132455"/>
                  </a:lnTo>
                  <a:lnTo>
                    <a:pt x="9926614" y="5731563"/>
                  </a:lnTo>
                  <a:lnTo>
                    <a:pt x="9925803" y="5779177"/>
                  </a:lnTo>
                  <a:lnTo>
                    <a:pt x="9912298" y="5825144"/>
                  </a:lnTo>
                  <a:lnTo>
                    <a:pt x="9871897" y="5857528"/>
                  </a:lnTo>
                  <a:lnTo>
                    <a:pt x="9820517" y="5863917"/>
                  </a:lnTo>
                  <a:lnTo>
                    <a:pt x="9794159" y="5864019"/>
                  </a:lnTo>
                  <a:lnTo>
                    <a:pt x="132455" y="5864019"/>
                  </a:lnTo>
                  <a:lnTo>
                    <a:pt x="84841" y="5863207"/>
                  </a:lnTo>
                  <a:lnTo>
                    <a:pt x="38873" y="5849702"/>
                  </a:lnTo>
                  <a:lnTo>
                    <a:pt x="6490" y="5809301"/>
                  </a:lnTo>
                  <a:lnTo>
                    <a:pt x="101" y="5757921"/>
                  </a:lnTo>
                  <a:lnTo>
                    <a:pt x="0" y="5731563"/>
                  </a:lnTo>
                  <a:lnTo>
                    <a:pt x="0" y="132455"/>
                  </a:lnTo>
                  <a:lnTo>
                    <a:pt x="811" y="84841"/>
                  </a:lnTo>
                  <a:lnTo>
                    <a:pt x="14316" y="38873"/>
                  </a:lnTo>
                  <a:lnTo>
                    <a:pt x="54717" y="6490"/>
                  </a:lnTo>
                  <a:lnTo>
                    <a:pt x="106097" y="101"/>
                  </a:lnTo>
                  <a:lnTo>
                    <a:pt x="132455" y="0"/>
                  </a:lnTo>
                  <a:close/>
                </a:path>
              </a:pathLst>
            </a:custGeom>
            <a:ln w="63500">
              <a:solidFill>
                <a:srgbClr val="6D6BE7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87858" y="1603041"/>
            <a:ext cx="1419820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32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question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8776" y="1803959"/>
            <a:ext cx="3289250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and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concise.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Respond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"Unsure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6515" y="1603041"/>
            <a:ext cx="4223742" cy="45139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lnSpc>
                <a:spcPts val="1698"/>
              </a:lnSpc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based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on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context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below.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Keep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the</a:t>
            </a:r>
            <a:endParaRPr sz="1512">
              <a:latin typeface="Courier New"/>
              <a:cs typeface="Courier New"/>
            </a:endParaRPr>
          </a:p>
          <a:p>
            <a:pPr marL="2578802">
              <a:lnSpc>
                <a:spcPts val="1698"/>
              </a:lnSpc>
            </a:pPr>
            <a:r>
              <a:rPr sz="1512" spc="-7" dirty="0">
                <a:latin typeface="Courier New"/>
                <a:cs typeface="Courier New"/>
              </a:rPr>
              <a:t>about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77468" y="1803959"/>
            <a:ext cx="835819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-7" dirty="0">
                <a:latin typeface="Courier New"/>
                <a:cs typeface="Courier New"/>
              </a:rPr>
              <a:t>answer"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0119" y="1603041"/>
            <a:ext cx="718840" cy="665696"/>
          </a:xfrm>
          <a:prstGeom prst="rect">
            <a:avLst/>
          </a:prstGeom>
        </p:spPr>
        <p:txBody>
          <a:bodyPr vert="horz" wrap="square" lIns="0" tIns="42863" rIns="0" bIns="0" rtlCol="0">
            <a:spAutoFit/>
          </a:bodyPr>
          <a:lstStyle/>
          <a:p>
            <a:pPr marL="8929" marR="3572" algn="just">
              <a:lnSpc>
                <a:spcPts val="1582"/>
              </a:lnSpc>
              <a:spcBef>
                <a:spcPts val="337"/>
              </a:spcBef>
            </a:pPr>
            <a:r>
              <a:rPr sz="1512" spc="-7" dirty="0">
                <a:latin typeface="Courier New"/>
                <a:cs typeface="Courier New"/>
              </a:rPr>
              <a:t>Answer answer </a:t>
            </a:r>
            <a:r>
              <a:rPr sz="1512" dirty="0">
                <a:latin typeface="Courier New"/>
                <a:cs typeface="Courier New"/>
              </a:rPr>
              <a:t>if</a:t>
            </a:r>
            <a:r>
              <a:rPr sz="1512" spc="28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not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7858" y="1803959"/>
            <a:ext cx="2588270" cy="45139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lnSpc>
                <a:spcPts val="1698"/>
              </a:lnSpc>
              <a:spcBef>
                <a:spcPts val="91"/>
              </a:spcBef>
            </a:pPr>
            <a:r>
              <a:rPr sz="1512" spc="-7" dirty="0">
                <a:latin typeface="Courier New"/>
                <a:cs typeface="Courier New"/>
              </a:rPr>
              <a:t>short</a:t>
            </a:r>
            <a:endParaRPr sz="1512">
              <a:latin typeface="Courier New"/>
              <a:cs typeface="Courier New"/>
            </a:endParaRPr>
          </a:p>
          <a:p>
            <a:pPr marL="8929">
              <a:lnSpc>
                <a:spcPts val="1698"/>
              </a:lnSpc>
            </a:pPr>
            <a:r>
              <a:rPr sz="1512" dirty="0">
                <a:latin typeface="Courier New"/>
                <a:cs typeface="Courier New"/>
              </a:rPr>
              <a:t>sure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about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answer.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21497" y="2406713"/>
            <a:ext cx="5625257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Teplizumab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traces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its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roots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New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Jersey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spc="-14" dirty="0">
                <a:latin typeface="Courier New"/>
                <a:cs typeface="Courier New"/>
              </a:rPr>
              <a:t>drug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70119" y="2406713"/>
            <a:ext cx="952798" cy="460512"/>
          </a:xfrm>
          <a:prstGeom prst="rect">
            <a:avLst/>
          </a:prstGeom>
        </p:spPr>
        <p:txBody>
          <a:bodyPr vert="horz" wrap="square" lIns="0" tIns="42863" rIns="0" bIns="0" rtlCol="0">
            <a:spAutoFit/>
          </a:bodyPr>
          <a:lstStyle/>
          <a:p>
            <a:pPr marL="8929" marR="3572">
              <a:lnSpc>
                <a:spcPts val="1582"/>
              </a:lnSpc>
              <a:spcBef>
                <a:spcPts val="337"/>
              </a:spcBef>
            </a:pPr>
            <a:r>
              <a:rPr sz="1512" spc="-7" dirty="0">
                <a:latin typeface="Courier New"/>
                <a:cs typeface="Courier New"/>
              </a:rPr>
              <a:t>Context: company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4678" y="2607631"/>
            <a:ext cx="3289250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called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Ortho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Pharmaceutical.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92451" y="2607631"/>
            <a:ext cx="2003822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There,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scientists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0119" y="2808549"/>
            <a:ext cx="3405783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generated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early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version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of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70119" y="3210385"/>
            <a:ext cx="2237780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bind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</a:t>
            </a:r>
            <a:r>
              <a:rPr sz="1512" spc="35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surface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70119" y="3009468"/>
            <a:ext cx="3522762" cy="45139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lnSpc>
                <a:spcPts val="1698"/>
              </a:lnSpc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Originally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sourced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from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mice,</a:t>
            </a:r>
            <a:endParaRPr sz="1512">
              <a:latin typeface="Courier New"/>
              <a:cs typeface="Courier New"/>
            </a:endParaRPr>
          </a:p>
          <a:p>
            <a:pPr marL="2344853">
              <a:lnSpc>
                <a:spcPts val="1698"/>
              </a:lnSpc>
            </a:pPr>
            <a:r>
              <a:rPr sz="1512" dirty="0">
                <a:latin typeface="Courier New"/>
                <a:cs typeface="Courier New"/>
              </a:rPr>
              <a:t>of</a:t>
            </a:r>
            <a:r>
              <a:rPr sz="1512" spc="18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</a:t>
            </a:r>
            <a:r>
              <a:rPr sz="1512" spc="25" dirty="0">
                <a:latin typeface="Courier New"/>
                <a:cs typeface="Courier New"/>
              </a:rPr>
              <a:t> </a:t>
            </a:r>
            <a:r>
              <a:rPr sz="1512" spc="-14" dirty="0">
                <a:latin typeface="Courier New"/>
                <a:cs typeface="Courier New"/>
              </a:rPr>
              <a:t>cells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74713" y="2808549"/>
            <a:ext cx="3055293" cy="870880"/>
          </a:xfrm>
          <a:prstGeom prst="rect">
            <a:avLst/>
          </a:prstGeom>
        </p:spPr>
        <p:txBody>
          <a:bodyPr vert="horz" wrap="square" lIns="0" tIns="42863" rIns="0" bIns="0" rtlCol="0">
            <a:spAutoFit/>
          </a:bodyPr>
          <a:lstStyle/>
          <a:p>
            <a:pPr marL="8929" marR="3572">
              <a:lnSpc>
                <a:spcPts val="1582"/>
              </a:lnSpc>
              <a:spcBef>
                <a:spcPts val="337"/>
              </a:spcBef>
            </a:pP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antibody,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dubbed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OKT3.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molecule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was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able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to</a:t>
            </a:r>
            <a:endParaRPr sz="1512">
              <a:latin typeface="Courier New"/>
              <a:cs typeface="Courier New"/>
            </a:endParaRPr>
          </a:p>
          <a:p>
            <a:pPr marL="125458" marR="2573444">
              <a:lnSpc>
                <a:spcPts val="1582"/>
              </a:lnSpc>
            </a:pPr>
            <a:r>
              <a:rPr sz="1512" spc="-18" dirty="0">
                <a:latin typeface="Courier New"/>
                <a:cs typeface="Courier New"/>
              </a:rPr>
              <a:t>and was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58811" y="3411303"/>
            <a:ext cx="1303287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approved</a:t>
            </a:r>
            <a:r>
              <a:rPr sz="1512" spc="77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to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58811" y="3210386"/>
            <a:ext cx="2003822" cy="45139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lnSpc>
                <a:spcPts val="1698"/>
              </a:lnSpc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limit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their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cell-</a:t>
            </a:r>
            <a:endParaRPr sz="1512">
              <a:latin typeface="Courier New"/>
              <a:cs typeface="Courier New"/>
            </a:endParaRPr>
          </a:p>
          <a:p>
            <a:pPr marL="1410393">
              <a:lnSpc>
                <a:spcPts val="1698"/>
              </a:lnSpc>
            </a:pPr>
            <a:r>
              <a:rPr sz="1512" spc="-14" dirty="0">
                <a:latin typeface="Courier New"/>
                <a:cs typeface="Courier New"/>
              </a:rPr>
              <a:t>help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70119" y="3411303"/>
            <a:ext cx="3522762" cy="460512"/>
          </a:xfrm>
          <a:prstGeom prst="rect">
            <a:avLst/>
          </a:prstGeom>
        </p:spPr>
        <p:txBody>
          <a:bodyPr vert="horz" wrap="square" lIns="0" tIns="42863" rIns="0" bIns="0" rtlCol="0">
            <a:spAutoFit/>
          </a:bodyPr>
          <a:lstStyle/>
          <a:p>
            <a:pPr marL="8929" marR="3572">
              <a:lnSpc>
                <a:spcPts val="1582"/>
              </a:lnSpc>
              <a:spcBef>
                <a:spcPts val="337"/>
              </a:spcBef>
            </a:pPr>
            <a:r>
              <a:rPr sz="1512" dirty="0">
                <a:latin typeface="Courier New"/>
                <a:cs typeface="Courier New"/>
              </a:rPr>
              <a:t>killing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potential.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1986,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it </a:t>
            </a:r>
            <a:r>
              <a:rPr sz="1512" dirty="0">
                <a:latin typeface="Courier New"/>
                <a:cs typeface="Courier New"/>
              </a:rPr>
              <a:t>prevent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organ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05596" y="3612221"/>
            <a:ext cx="4924723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rejection</a:t>
            </a:r>
            <a:r>
              <a:rPr sz="1512" spc="84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after</a:t>
            </a:r>
            <a:r>
              <a:rPr sz="1512" spc="8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kidney</a:t>
            </a:r>
            <a:r>
              <a:rPr sz="1512" spc="84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transplants,</a:t>
            </a:r>
            <a:r>
              <a:rPr sz="1512" spc="80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making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70119" y="3813139"/>
            <a:ext cx="6560195" cy="656643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it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first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therapeutic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antibody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allowed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for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human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spc="-14" dirty="0">
                <a:latin typeface="Courier New"/>
                <a:cs typeface="Courier New"/>
              </a:rPr>
              <a:t>use.</a:t>
            </a:r>
            <a:endParaRPr sz="1512">
              <a:latin typeface="Courier New"/>
              <a:cs typeface="Courier New"/>
            </a:endParaRPr>
          </a:p>
          <a:p>
            <a:pPr marL="8929">
              <a:spcBef>
                <a:spcPts val="1350"/>
              </a:spcBef>
            </a:pPr>
            <a:r>
              <a:rPr sz="1512" dirty="0">
                <a:latin typeface="Courier New"/>
                <a:cs typeface="Courier New"/>
              </a:rPr>
              <a:t>Question: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What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was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OKT3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originally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sourced</a:t>
            </a:r>
            <a:r>
              <a:rPr sz="1512" spc="67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from?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70119" y="4616810"/>
            <a:ext cx="835819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-7" dirty="0">
                <a:latin typeface="Courier New"/>
                <a:cs typeface="Courier New"/>
              </a:rPr>
              <a:t>Answer: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13604" y="4645071"/>
            <a:ext cx="593378" cy="221664"/>
          </a:xfrm>
          <a:prstGeom prst="rect">
            <a:avLst/>
          </a:prstGeom>
          <a:solidFill>
            <a:srgbClr val="AAEB9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4"/>
              </a:lnSpc>
            </a:pPr>
            <a:r>
              <a:rPr sz="1512" spc="-7" dirty="0">
                <a:latin typeface="Courier New"/>
                <a:cs typeface="Courier New"/>
              </a:rPr>
              <a:t>Mice.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27743" y="6117657"/>
            <a:ext cx="4961781" cy="182142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125" i="1" dirty="0">
                <a:solidFill>
                  <a:srgbClr val="5E5E5E"/>
                </a:solidFill>
                <a:latin typeface="Arial"/>
                <a:cs typeface="Arial"/>
              </a:rPr>
              <a:t>Context</a:t>
            </a:r>
            <a:r>
              <a:rPr sz="1125" i="1" spc="2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25" i="1" dirty="0">
                <a:solidFill>
                  <a:srgbClr val="5E5E5E"/>
                </a:solidFill>
                <a:latin typeface="Arial"/>
                <a:cs typeface="Arial"/>
              </a:rPr>
              <a:t>obtained</a:t>
            </a:r>
            <a:r>
              <a:rPr sz="1125" i="1" spc="218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25" i="1" dirty="0">
                <a:solidFill>
                  <a:srgbClr val="5E5E5E"/>
                </a:solidFill>
                <a:latin typeface="Arial"/>
                <a:cs typeface="Arial"/>
              </a:rPr>
              <a:t>from:</a:t>
            </a:r>
            <a:r>
              <a:rPr sz="1125" i="1" spc="2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25" i="1" dirty="0">
                <a:solidFill>
                  <a:srgbClr val="5E5E5E"/>
                </a:solidFill>
                <a:latin typeface="Arial"/>
                <a:cs typeface="Arial"/>
                <a:hlinkClick r:id="rId2"/>
              </a:rPr>
              <a:t>https://www</a:t>
            </a:r>
            <a:r>
              <a:rPr sz="1125" i="1" dirty="0">
                <a:solidFill>
                  <a:srgbClr val="5E5E5E"/>
                </a:solidFill>
                <a:latin typeface="Arial"/>
                <a:cs typeface="Arial"/>
              </a:rPr>
              <a:t>.natur</a:t>
            </a:r>
            <a:r>
              <a:rPr sz="1125" i="1" dirty="0">
                <a:solidFill>
                  <a:srgbClr val="5E5E5E"/>
                </a:solidFill>
                <a:latin typeface="Arial"/>
                <a:cs typeface="Arial"/>
                <a:hlinkClick r:id="rId2"/>
              </a:rPr>
              <a:t>e.com/articles/d41586-023-00400-</a:t>
            </a:r>
            <a:r>
              <a:rPr sz="1125" i="1" spc="-35" dirty="0">
                <a:solidFill>
                  <a:srgbClr val="5E5E5E"/>
                </a:solidFill>
                <a:latin typeface="Arial"/>
                <a:cs typeface="Arial"/>
                <a:hlinkClick r:id="rId2"/>
              </a:rPr>
              <a:t>x</a:t>
            </a:r>
            <a:endParaRPr sz="1125">
              <a:latin typeface="Arial"/>
              <a:cs typeface="Arial"/>
            </a:endParaRP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D503B212-95EB-1131-17A7-07C7A090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C4231-C019-4368-B3B2-1B60D3D5E84B}" type="datetime1">
              <a:rPr lang="en-US" smtClean="0"/>
              <a:t>12/1/2025</a:t>
            </a:fld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18A691AC-28FA-79F6-4542-88F8C5109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1FB614A0-9A05-2D17-13FB-180A3885E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441798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123" dirty="0"/>
              <a:t>Text</a:t>
            </a:r>
            <a:r>
              <a:rPr spc="-112" dirty="0"/>
              <a:t> </a:t>
            </a:r>
            <a:r>
              <a:rPr spc="-56" dirty="0"/>
              <a:t>Classification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83850" y="2408840"/>
            <a:ext cx="7024539" cy="2040434"/>
            <a:chOff x="1507342" y="3425906"/>
            <a:chExt cx="9990455" cy="2901950"/>
          </a:xfrm>
        </p:grpSpPr>
        <p:sp>
          <p:nvSpPr>
            <p:cNvPr id="4" name="object 4"/>
            <p:cNvSpPr/>
            <p:nvPr/>
          </p:nvSpPr>
          <p:spPr>
            <a:xfrm>
              <a:off x="1539194" y="3457656"/>
              <a:ext cx="9926955" cy="2838450"/>
            </a:xfrm>
            <a:custGeom>
              <a:avLst/>
              <a:gdLst/>
              <a:ahLst/>
              <a:cxnLst/>
              <a:rect l="l" t="t" r="r" b="b"/>
              <a:pathLst>
                <a:path w="9926955" h="2838450">
                  <a:moveTo>
                    <a:pt x="9794057" y="0"/>
                  </a:moveTo>
                  <a:lnTo>
                    <a:pt x="132354" y="0"/>
                  </a:lnTo>
                  <a:lnTo>
                    <a:pt x="105996" y="101"/>
                  </a:lnTo>
                  <a:lnTo>
                    <a:pt x="67856" y="2738"/>
                  </a:lnTo>
                  <a:lnTo>
                    <a:pt x="25156" y="25258"/>
                  </a:lnTo>
                  <a:lnTo>
                    <a:pt x="2636" y="67957"/>
                  </a:lnTo>
                  <a:lnTo>
                    <a:pt x="0" y="106097"/>
                  </a:lnTo>
                  <a:lnTo>
                    <a:pt x="0" y="2732189"/>
                  </a:lnTo>
                  <a:lnTo>
                    <a:pt x="2636" y="2770329"/>
                  </a:lnTo>
                  <a:lnTo>
                    <a:pt x="25156" y="2813028"/>
                  </a:lnTo>
                  <a:lnTo>
                    <a:pt x="67856" y="2835549"/>
                  </a:lnTo>
                  <a:lnTo>
                    <a:pt x="105996" y="2838186"/>
                  </a:lnTo>
                  <a:lnTo>
                    <a:pt x="132354" y="2838287"/>
                  </a:lnTo>
                  <a:lnTo>
                    <a:pt x="9794057" y="2838287"/>
                  </a:lnTo>
                  <a:lnTo>
                    <a:pt x="9841672" y="2837476"/>
                  </a:lnTo>
                  <a:lnTo>
                    <a:pt x="9887639" y="2823971"/>
                  </a:lnTo>
                  <a:lnTo>
                    <a:pt x="9920022" y="2783569"/>
                  </a:lnTo>
                  <a:lnTo>
                    <a:pt x="9926411" y="2732189"/>
                  </a:lnTo>
                  <a:lnTo>
                    <a:pt x="9926411" y="106097"/>
                  </a:lnTo>
                  <a:lnTo>
                    <a:pt x="9925701" y="84841"/>
                  </a:lnTo>
                  <a:lnTo>
                    <a:pt x="9912197" y="38873"/>
                  </a:lnTo>
                  <a:lnTo>
                    <a:pt x="9871795" y="6490"/>
                  </a:lnTo>
                  <a:lnTo>
                    <a:pt x="9820415" y="101"/>
                  </a:lnTo>
                  <a:lnTo>
                    <a:pt x="97940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5" name="object 5"/>
            <p:cNvSpPr/>
            <p:nvPr/>
          </p:nvSpPr>
          <p:spPr>
            <a:xfrm>
              <a:off x="1539092" y="3457656"/>
              <a:ext cx="9926955" cy="2838450"/>
            </a:xfrm>
            <a:custGeom>
              <a:avLst/>
              <a:gdLst/>
              <a:ahLst/>
              <a:cxnLst/>
              <a:rect l="l" t="t" r="r" b="b"/>
              <a:pathLst>
                <a:path w="9926955" h="2838450">
                  <a:moveTo>
                    <a:pt x="132455" y="0"/>
                  </a:moveTo>
                  <a:lnTo>
                    <a:pt x="9794159" y="0"/>
                  </a:lnTo>
                  <a:lnTo>
                    <a:pt x="9820517" y="101"/>
                  </a:lnTo>
                  <a:lnTo>
                    <a:pt x="9858657" y="2738"/>
                  </a:lnTo>
                  <a:lnTo>
                    <a:pt x="9901356" y="25258"/>
                  </a:lnTo>
                  <a:lnTo>
                    <a:pt x="9923876" y="67957"/>
                  </a:lnTo>
                  <a:lnTo>
                    <a:pt x="9926513" y="106097"/>
                  </a:lnTo>
                  <a:lnTo>
                    <a:pt x="9926614" y="132455"/>
                  </a:lnTo>
                  <a:lnTo>
                    <a:pt x="9926614" y="2705831"/>
                  </a:lnTo>
                  <a:lnTo>
                    <a:pt x="9925803" y="2753446"/>
                  </a:lnTo>
                  <a:lnTo>
                    <a:pt x="9912298" y="2799413"/>
                  </a:lnTo>
                  <a:lnTo>
                    <a:pt x="9871897" y="2831796"/>
                  </a:lnTo>
                  <a:lnTo>
                    <a:pt x="9820517" y="2838186"/>
                  </a:lnTo>
                  <a:lnTo>
                    <a:pt x="9794159" y="2838287"/>
                  </a:lnTo>
                  <a:lnTo>
                    <a:pt x="132455" y="2838287"/>
                  </a:lnTo>
                  <a:lnTo>
                    <a:pt x="84841" y="2837476"/>
                  </a:lnTo>
                  <a:lnTo>
                    <a:pt x="38873" y="2823971"/>
                  </a:lnTo>
                  <a:lnTo>
                    <a:pt x="6490" y="2783569"/>
                  </a:lnTo>
                  <a:lnTo>
                    <a:pt x="101" y="2732189"/>
                  </a:lnTo>
                  <a:lnTo>
                    <a:pt x="0" y="2705831"/>
                  </a:lnTo>
                  <a:lnTo>
                    <a:pt x="0" y="132455"/>
                  </a:lnTo>
                  <a:lnTo>
                    <a:pt x="811" y="84841"/>
                  </a:lnTo>
                  <a:lnTo>
                    <a:pt x="14316" y="38873"/>
                  </a:lnTo>
                  <a:lnTo>
                    <a:pt x="54717" y="6490"/>
                  </a:lnTo>
                  <a:lnTo>
                    <a:pt x="106097" y="101"/>
                  </a:lnTo>
                  <a:lnTo>
                    <a:pt x="132455" y="0"/>
                  </a:lnTo>
                  <a:close/>
                </a:path>
              </a:pathLst>
            </a:custGeom>
            <a:ln w="63500">
              <a:solidFill>
                <a:srgbClr val="6D6BE7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608352" y="2699624"/>
            <a:ext cx="2471291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negative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or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positive.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0119" y="2699624"/>
            <a:ext cx="952798" cy="656643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-7" dirty="0">
                <a:latin typeface="Courier New"/>
                <a:cs typeface="Courier New"/>
              </a:rPr>
              <a:t>Classify</a:t>
            </a:r>
            <a:endParaRPr sz="1512">
              <a:latin typeface="Courier New"/>
              <a:cs typeface="Courier New"/>
            </a:endParaRPr>
          </a:p>
          <a:p>
            <a:pPr marL="8929">
              <a:spcBef>
                <a:spcPts val="1350"/>
              </a:spcBef>
            </a:pPr>
            <a:r>
              <a:rPr sz="1512" dirty="0">
                <a:latin typeface="Courier New"/>
                <a:cs typeface="Courier New"/>
              </a:rPr>
              <a:t>Text: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35" dirty="0">
                <a:latin typeface="Courier New"/>
                <a:cs typeface="Courier New"/>
              </a:rPr>
              <a:t>I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2875" y="3101460"/>
            <a:ext cx="485329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-14" dirty="0">
                <a:latin typeface="Courier New"/>
                <a:cs typeface="Courier New"/>
              </a:rPr>
              <a:t>food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4677" y="2699624"/>
            <a:ext cx="2821781" cy="656643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algn="ctr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text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into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neutral,</a:t>
            </a:r>
            <a:endParaRPr sz="1512">
              <a:latin typeface="Courier New"/>
              <a:cs typeface="Courier New"/>
            </a:endParaRPr>
          </a:p>
          <a:p>
            <a:pPr algn="ctr">
              <a:spcBef>
                <a:spcPts val="1350"/>
              </a:spcBef>
              <a:tabLst>
                <a:tab pos="1751942" algn="l"/>
              </a:tabLst>
            </a:pPr>
            <a:r>
              <a:rPr sz="1512" dirty="0">
                <a:latin typeface="Courier New"/>
                <a:cs typeface="Courier New"/>
              </a:rPr>
              <a:t>think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the</a:t>
            </a:r>
            <a:r>
              <a:rPr sz="1512" dirty="0">
                <a:latin typeface="Courier New"/>
                <a:cs typeface="Courier New"/>
              </a:rPr>
              <a:t>	was</a:t>
            </a:r>
            <a:r>
              <a:rPr sz="1512" spc="32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okay.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0119" y="3503295"/>
            <a:ext cx="1186309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-7" dirty="0">
                <a:latin typeface="Courier New"/>
                <a:cs typeface="Courier New"/>
              </a:rPr>
              <a:t>Sentiment: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64061" y="3531556"/>
            <a:ext cx="826889" cy="221664"/>
          </a:xfrm>
          <a:prstGeom prst="rect">
            <a:avLst/>
          </a:prstGeom>
          <a:solidFill>
            <a:srgbClr val="A2EA9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4"/>
              </a:lnSpc>
            </a:pPr>
            <a:r>
              <a:rPr sz="1512" spc="-7" dirty="0">
                <a:latin typeface="Courier New"/>
                <a:cs typeface="Courier New"/>
              </a:rPr>
              <a:t>Neutral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09C37FE-2341-AEF4-7996-B7A87AEE2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6187-CE7E-4249-9F7A-96D8A640A5E9}" type="datetime1">
              <a:rPr lang="en-US" smtClean="0"/>
              <a:t>12/1/2025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E067BE-07FC-64A0-4C20-2B8A19B3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07912DD-981B-F5F0-3561-33D4F662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441798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56" dirty="0"/>
              <a:t>Role</a:t>
            </a:r>
            <a:r>
              <a:rPr spc="-158" dirty="0"/>
              <a:t> </a:t>
            </a:r>
            <a:r>
              <a:rPr spc="-53" dirty="0"/>
              <a:t>Playing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83850" y="1906874"/>
            <a:ext cx="7024539" cy="3480792"/>
            <a:chOff x="1507342" y="2711999"/>
            <a:chExt cx="9990455" cy="4950460"/>
          </a:xfrm>
        </p:grpSpPr>
        <p:sp>
          <p:nvSpPr>
            <p:cNvPr id="4" name="object 4"/>
            <p:cNvSpPr/>
            <p:nvPr/>
          </p:nvSpPr>
          <p:spPr>
            <a:xfrm>
              <a:off x="1539194" y="2743749"/>
              <a:ext cx="9926955" cy="4886960"/>
            </a:xfrm>
            <a:custGeom>
              <a:avLst/>
              <a:gdLst/>
              <a:ahLst/>
              <a:cxnLst/>
              <a:rect l="l" t="t" r="r" b="b"/>
              <a:pathLst>
                <a:path w="9926955" h="4886959">
                  <a:moveTo>
                    <a:pt x="9794057" y="0"/>
                  </a:moveTo>
                  <a:lnTo>
                    <a:pt x="132354" y="0"/>
                  </a:lnTo>
                  <a:lnTo>
                    <a:pt x="105996" y="101"/>
                  </a:lnTo>
                  <a:lnTo>
                    <a:pt x="67856" y="2738"/>
                  </a:lnTo>
                  <a:lnTo>
                    <a:pt x="25156" y="25258"/>
                  </a:lnTo>
                  <a:lnTo>
                    <a:pt x="2636" y="67957"/>
                  </a:lnTo>
                  <a:lnTo>
                    <a:pt x="0" y="106097"/>
                  </a:lnTo>
                  <a:lnTo>
                    <a:pt x="0" y="4780812"/>
                  </a:lnTo>
                  <a:lnTo>
                    <a:pt x="2636" y="4818952"/>
                  </a:lnTo>
                  <a:lnTo>
                    <a:pt x="25156" y="4861651"/>
                  </a:lnTo>
                  <a:lnTo>
                    <a:pt x="67856" y="4884172"/>
                  </a:lnTo>
                  <a:lnTo>
                    <a:pt x="105996" y="4886809"/>
                  </a:lnTo>
                  <a:lnTo>
                    <a:pt x="132354" y="4886910"/>
                  </a:lnTo>
                  <a:lnTo>
                    <a:pt x="9794057" y="4886910"/>
                  </a:lnTo>
                  <a:lnTo>
                    <a:pt x="9841672" y="4886099"/>
                  </a:lnTo>
                  <a:lnTo>
                    <a:pt x="9887639" y="4872593"/>
                  </a:lnTo>
                  <a:lnTo>
                    <a:pt x="9920022" y="4832192"/>
                  </a:lnTo>
                  <a:lnTo>
                    <a:pt x="9926411" y="4780812"/>
                  </a:lnTo>
                  <a:lnTo>
                    <a:pt x="9926411" y="106097"/>
                  </a:lnTo>
                  <a:lnTo>
                    <a:pt x="9925701" y="84841"/>
                  </a:lnTo>
                  <a:lnTo>
                    <a:pt x="9912197" y="38874"/>
                  </a:lnTo>
                  <a:lnTo>
                    <a:pt x="9871795" y="6490"/>
                  </a:lnTo>
                  <a:lnTo>
                    <a:pt x="9820415" y="101"/>
                  </a:lnTo>
                  <a:lnTo>
                    <a:pt x="97940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5" name="object 5"/>
            <p:cNvSpPr/>
            <p:nvPr/>
          </p:nvSpPr>
          <p:spPr>
            <a:xfrm>
              <a:off x="1539092" y="2743749"/>
              <a:ext cx="9926955" cy="4886960"/>
            </a:xfrm>
            <a:custGeom>
              <a:avLst/>
              <a:gdLst/>
              <a:ahLst/>
              <a:cxnLst/>
              <a:rect l="l" t="t" r="r" b="b"/>
              <a:pathLst>
                <a:path w="9926955" h="4886959">
                  <a:moveTo>
                    <a:pt x="132455" y="0"/>
                  </a:moveTo>
                  <a:lnTo>
                    <a:pt x="9794159" y="0"/>
                  </a:lnTo>
                  <a:lnTo>
                    <a:pt x="9820517" y="101"/>
                  </a:lnTo>
                  <a:lnTo>
                    <a:pt x="9858657" y="2738"/>
                  </a:lnTo>
                  <a:lnTo>
                    <a:pt x="9901356" y="25258"/>
                  </a:lnTo>
                  <a:lnTo>
                    <a:pt x="9923876" y="67957"/>
                  </a:lnTo>
                  <a:lnTo>
                    <a:pt x="9926513" y="106097"/>
                  </a:lnTo>
                  <a:lnTo>
                    <a:pt x="9926614" y="132455"/>
                  </a:lnTo>
                  <a:lnTo>
                    <a:pt x="9926614" y="4754454"/>
                  </a:lnTo>
                  <a:lnTo>
                    <a:pt x="9925803" y="4802068"/>
                  </a:lnTo>
                  <a:lnTo>
                    <a:pt x="9912298" y="4848036"/>
                  </a:lnTo>
                  <a:lnTo>
                    <a:pt x="9871897" y="4880419"/>
                  </a:lnTo>
                  <a:lnTo>
                    <a:pt x="9820517" y="4886809"/>
                  </a:lnTo>
                  <a:lnTo>
                    <a:pt x="9794159" y="4886910"/>
                  </a:lnTo>
                  <a:lnTo>
                    <a:pt x="132455" y="4886910"/>
                  </a:lnTo>
                  <a:lnTo>
                    <a:pt x="84841" y="4886099"/>
                  </a:lnTo>
                  <a:lnTo>
                    <a:pt x="38873" y="4872593"/>
                  </a:lnTo>
                  <a:lnTo>
                    <a:pt x="6490" y="4832192"/>
                  </a:lnTo>
                  <a:lnTo>
                    <a:pt x="101" y="4780812"/>
                  </a:lnTo>
                  <a:lnTo>
                    <a:pt x="0" y="4754454"/>
                  </a:lnTo>
                  <a:lnTo>
                    <a:pt x="0" y="132455"/>
                  </a:lnTo>
                  <a:lnTo>
                    <a:pt x="811" y="84841"/>
                  </a:lnTo>
                  <a:lnTo>
                    <a:pt x="14316" y="38873"/>
                  </a:lnTo>
                  <a:lnTo>
                    <a:pt x="54717" y="6490"/>
                  </a:lnTo>
                  <a:lnTo>
                    <a:pt x="106097" y="101"/>
                  </a:lnTo>
                  <a:lnTo>
                    <a:pt x="132455" y="0"/>
                  </a:lnTo>
                  <a:close/>
                </a:path>
              </a:pathLst>
            </a:custGeom>
            <a:ln w="63500">
              <a:solidFill>
                <a:srgbClr val="6D6BE7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6" name="object 6"/>
            <p:cNvSpPr/>
            <p:nvPr/>
          </p:nvSpPr>
          <p:spPr>
            <a:xfrm>
              <a:off x="1927180" y="5028658"/>
              <a:ext cx="166370" cy="317500"/>
            </a:xfrm>
            <a:custGeom>
              <a:avLst/>
              <a:gdLst/>
              <a:ahLst/>
              <a:cxnLst/>
              <a:rect l="l" t="t" r="r" b="b"/>
              <a:pathLst>
                <a:path w="166369" h="317500">
                  <a:moveTo>
                    <a:pt x="166143" y="0"/>
                  </a:moveTo>
                  <a:lnTo>
                    <a:pt x="0" y="0"/>
                  </a:lnTo>
                  <a:lnTo>
                    <a:pt x="0" y="317500"/>
                  </a:lnTo>
                  <a:lnTo>
                    <a:pt x="166143" y="317500"/>
                  </a:lnTo>
                  <a:lnTo>
                    <a:pt x="1661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7" name="object 7"/>
            <p:cNvSpPr/>
            <p:nvPr/>
          </p:nvSpPr>
          <p:spPr>
            <a:xfrm>
              <a:off x="1927174" y="5314416"/>
              <a:ext cx="9470390" cy="1746250"/>
            </a:xfrm>
            <a:custGeom>
              <a:avLst/>
              <a:gdLst/>
              <a:ahLst/>
              <a:cxnLst/>
              <a:rect l="l" t="t" r="r" b="b"/>
              <a:pathLst>
                <a:path w="9470390" h="1746250">
                  <a:moveTo>
                    <a:pt x="9470149" y="0"/>
                  </a:moveTo>
                  <a:lnTo>
                    <a:pt x="664578" y="0"/>
                  </a:lnTo>
                  <a:lnTo>
                    <a:pt x="664578" y="285750"/>
                  </a:lnTo>
                  <a:lnTo>
                    <a:pt x="0" y="285750"/>
                  </a:lnTo>
                  <a:lnTo>
                    <a:pt x="0" y="1746250"/>
                  </a:lnTo>
                  <a:lnTo>
                    <a:pt x="9137866" y="1746250"/>
                  </a:lnTo>
                  <a:lnTo>
                    <a:pt x="9137866" y="889000"/>
                  </a:lnTo>
                  <a:lnTo>
                    <a:pt x="9304007" y="889000"/>
                  </a:lnTo>
                  <a:lnTo>
                    <a:pt x="9304007" y="603250"/>
                  </a:lnTo>
                  <a:lnTo>
                    <a:pt x="9304007" y="571500"/>
                  </a:lnTo>
                  <a:lnTo>
                    <a:pt x="9304007" y="317500"/>
                  </a:lnTo>
                  <a:lnTo>
                    <a:pt x="9470149" y="317500"/>
                  </a:lnTo>
                  <a:lnTo>
                    <a:pt x="9470149" y="0"/>
                  </a:lnTo>
                  <a:close/>
                </a:path>
              </a:pathLst>
            </a:custGeom>
            <a:solidFill>
              <a:srgbClr val="A7EA9A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70119" y="2101088"/>
            <a:ext cx="1536799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32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following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70119" y="2302006"/>
            <a:ext cx="1653778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assistant.</a:t>
            </a:r>
            <a:r>
              <a:rPr sz="1512" spc="95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The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5596" y="2101088"/>
            <a:ext cx="3289250" cy="45139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lnSpc>
                <a:spcPts val="1698"/>
              </a:lnSpc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is</a:t>
            </a:r>
            <a:r>
              <a:rPr sz="1512" spc="18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</a:t>
            </a:r>
            <a:r>
              <a:rPr sz="1512" spc="25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conversation</a:t>
            </a:r>
            <a:endParaRPr sz="1512">
              <a:latin typeface="Courier New"/>
              <a:cs typeface="Courier New"/>
            </a:endParaRPr>
          </a:p>
          <a:p>
            <a:pPr marL="125458">
              <a:lnSpc>
                <a:spcPts val="1698"/>
              </a:lnSpc>
            </a:pPr>
            <a:r>
              <a:rPr sz="1512" dirty="0">
                <a:latin typeface="Courier New"/>
                <a:cs typeface="Courier New"/>
              </a:rPr>
              <a:t>assistant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tone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is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technical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08352" y="2101088"/>
            <a:ext cx="2237780" cy="45139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lnSpc>
                <a:spcPts val="1698"/>
              </a:lnSpc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with</a:t>
            </a:r>
            <a:r>
              <a:rPr sz="1512" spc="28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</a:t>
            </a:r>
            <a:r>
              <a:rPr sz="1512" spc="35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AI</a:t>
            </a:r>
            <a:r>
              <a:rPr sz="1512" spc="35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research</a:t>
            </a:r>
            <a:endParaRPr sz="1512">
              <a:latin typeface="Courier New"/>
              <a:cs typeface="Courier New"/>
            </a:endParaRPr>
          </a:p>
          <a:p>
            <a:pPr marL="1293866">
              <a:lnSpc>
                <a:spcPts val="1698"/>
              </a:lnSpc>
            </a:pPr>
            <a:r>
              <a:rPr sz="1512" spc="-18" dirty="0">
                <a:latin typeface="Courier New"/>
                <a:cs typeface="Courier New"/>
              </a:rPr>
              <a:t>and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70119" y="2502924"/>
            <a:ext cx="1303287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-7" dirty="0">
                <a:latin typeface="Courier New"/>
                <a:cs typeface="Courier New"/>
              </a:rPr>
              <a:t>scientific.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70119" y="2904760"/>
            <a:ext cx="1536799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Human: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Hello,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70119" y="2904760"/>
            <a:ext cx="6326237" cy="45139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1644343">
              <a:lnSpc>
                <a:spcPts val="1698"/>
              </a:lnSpc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who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are</a:t>
            </a:r>
            <a:r>
              <a:rPr sz="1512" spc="35" dirty="0">
                <a:latin typeface="Courier New"/>
                <a:cs typeface="Courier New"/>
              </a:rPr>
              <a:t> </a:t>
            </a:r>
            <a:r>
              <a:rPr sz="1512" spc="-14" dirty="0">
                <a:latin typeface="Courier New"/>
                <a:cs typeface="Courier New"/>
              </a:rPr>
              <a:t>you?</a:t>
            </a:r>
            <a:endParaRPr sz="1512">
              <a:latin typeface="Courier New"/>
              <a:cs typeface="Courier New"/>
            </a:endParaRPr>
          </a:p>
          <a:p>
            <a:pPr marL="8929">
              <a:lnSpc>
                <a:spcPts val="1698"/>
              </a:lnSpc>
            </a:pPr>
            <a:r>
              <a:rPr sz="1512" dirty="0">
                <a:latin typeface="Courier New"/>
                <a:cs typeface="Courier New"/>
              </a:rPr>
              <a:t>AI: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Greeting!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am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AI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research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assistant.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How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can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35" dirty="0">
                <a:latin typeface="Courier New"/>
                <a:cs typeface="Courier New"/>
              </a:rPr>
              <a:t>I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70119" y="3306596"/>
            <a:ext cx="6667798" cy="1685707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lnSpc>
                <a:spcPts val="1698"/>
              </a:lnSpc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help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you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today?</a:t>
            </a:r>
            <a:endParaRPr sz="1512">
              <a:latin typeface="Courier New"/>
              <a:cs typeface="Courier New"/>
            </a:endParaRPr>
          </a:p>
          <a:p>
            <a:pPr marL="8929" marR="111171">
              <a:lnSpc>
                <a:spcPts val="1582"/>
              </a:lnSpc>
              <a:spcBef>
                <a:spcPts val="130"/>
              </a:spcBef>
            </a:pPr>
            <a:r>
              <a:rPr sz="1512" dirty="0">
                <a:latin typeface="Courier New"/>
                <a:cs typeface="Courier New"/>
              </a:rPr>
              <a:t>Human: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Can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you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tell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me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about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creation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of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blackholes? </a:t>
            </a:r>
            <a:r>
              <a:rPr sz="1512" dirty="0">
                <a:latin typeface="Courier New"/>
                <a:cs typeface="Courier New"/>
              </a:rPr>
              <a:t>AI: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Sure!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Black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holes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are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regions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of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spacetime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where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the </a:t>
            </a:r>
            <a:r>
              <a:rPr sz="1512" dirty="0">
                <a:latin typeface="Courier New"/>
                <a:cs typeface="Courier New"/>
              </a:rPr>
              <a:t>gravitational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force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is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so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strong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that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nothing,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not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spc="-14" dirty="0">
                <a:latin typeface="Courier New"/>
                <a:cs typeface="Courier New"/>
              </a:rPr>
              <a:t>even </a:t>
            </a:r>
            <a:r>
              <a:rPr sz="1512" dirty="0">
                <a:latin typeface="Courier New"/>
                <a:cs typeface="Courier New"/>
              </a:rPr>
              <a:t>light,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can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escape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from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it.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They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are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created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when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14" dirty="0">
                <a:latin typeface="Courier New"/>
                <a:cs typeface="Courier New"/>
              </a:rPr>
              <a:t>very </a:t>
            </a:r>
            <a:r>
              <a:rPr sz="1512" dirty="0">
                <a:latin typeface="Courier New"/>
                <a:cs typeface="Courier New"/>
              </a:rPr>
              <a:t>massive</a:t>
            </a:r>
            <a:r>
              <a:rPr sz="1512" spc="4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star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dies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and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its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core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collapses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on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itself, </a:t>
            </a:r>
            <a:r>
              <a:rPr sz="1512" dirty="0">
                <a:latin typeface="Courier New"/>
                <a:cs typeface="Courier New"/>
              </a:rPr>
              <a:t>forming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singularity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of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infinite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density.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intense </a:t>
            </a:r>
            <a:r>
              <a:rPr sz="1512" dirty="0">
                <a:latin typeface="Courier New"/>
                <a:cs typeface="Courier New"/>
              </a:rPr>
              <a:t>gravity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of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singularity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pulls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all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matter</a:t>
            </a:r>
            <a:r>
              <a:rPr sz="1512" spc="53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and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9048" y="4970776"/>
            <a:ext cx="5265837" cy="202428"/>
          </a:xfrm>
          <a:prstGeom prst="rect">
            <a:avLst/>
          </a:prstGeom>
          <a:solidFill>
            <a:srgbClr val="A7EA9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9"/>
              </a:lnSpc>
            </a:pPr>
            <a:r>
              <a:rPr sz="1512" dirty="0">
                <a:latin typeface="Courier New"/>
                <a:cs typeface="Courier New"/>
              </a:rPr>
              <a:t>radiation</a:t>
            </a:r>
            <a:r>
              <a:rPr sz="1512" spc="5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around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it,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creating</a:t>
            </a:r>
            <a:r>
              <a:rPr sz="1512" spc="6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black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hole.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0FBAFCA-7889-E0E1-32E1-62D0FCC8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11B7B-CA34-4440-BC1A-1B66BFB6C8C0}" type="datetime1">
              <a:rPr lang="en-US" smtClean="0"/>
              <a:t>12/1/2025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DD997CE-5678-67BF-4E98-D0C3F844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4CA09E6-CC35-9E5C-08DE-EC19E239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441798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35" dirty="0"/>
              <a:t>Code</a:t>
            </a:r>
            <a:r>
              <a:rPr spc="-172" dirty="0"/>
              <a:t> </a:t>
            </a:r>
            <a:r>
              <a:rPr spc="-63" dirty="0"/>
              <a:t>Generation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83850" y="1857664"/>
            <a:ext cx="7024539" cy="3142804"/>
            <a:chOff x="1507342" y="2642011"/>
            <a:chExt cx="9990455" cy="4469765"/>
          </a:xfrm>
        </p:grpSpPr>
        <p:sp>
          <p:nvSpPr>
            <p:cNvPr id="4" name="object 4"/>
            <p:cNvSpPr/>
            <p:nvPr/>
          </p:nvSpPr>
          <p:spPr>
            <a:xfrm>
              <a:off x="1539194" y="2673761"/>
              <a:ext cx="9926955" cy="4406265"/>
            </a:xfrm>
            <a:custGeom>
              <a:avLst/>
              <a:gdLst/>
              <a:ahLst/>
              <a:cxnLst/>
              <a:rect l="l" t="t" r="r" b="b"/>
              <a:pathLst>
                <a:path w="9926955" h="4406265">
                  <a:moveTo>
                    <a:pt x="9794057" y="0"/>
                  </a:moveTo>
                  <a:lnTo>
                    <a:pt x="132354" y="0"/>
                  </a:lnTo>
                  <a:lnTo>
                    <a:pt x="105996" y="101"/>
                  </a:lnTo>
                  <a:lnTo>
                    <a:pt x="67856" y="2738"/>
                  </a:lnTo>
                  <a:lnTo>
                    <a:pt x="25156" y="25258"/>
                  </a:lnTo>
                  <a:lnTo>
                    <a:pt x="2636" y="67957"/>
                  </a:lnTo>
                  <a:lnTo>
                    <a:pt x="0" y="106097"/>
                  </a:lnTo>
                  <a:lnTo>
                    <a:pt x="0" y="4299979"/>
                  </a:lnTo>
                  <a:lnTo>
                    <a:pt x="2636" y="4338119"/>
                  </a:lnTo>
                  <a:lnTo>
                    <a:pt x="25156" y="4380818"/>
                  </a:lnTo>
                  <a:lnTo>
                    <a:pt x="67856" y="4403338"/>
                  </a:lnTo>
                  <a:lnTo>
                    <a:pt x="105996" y="4405975"/>
                  </a:lnTo>
                  <a:lnTo>
                    <a:pt x="132354" y="4406077"/>
                  </a:lnTo>
                  <a:lnTo>
                    <a:pt x="9794057" y="4406077"/>
                  </a:lnTo>
                  <a:lnTo>
                    <a:pt x="9841672" y="4405265"/>
                  </a:lnTo>
                  <a:lnTo>
                    <a:pt x="9887639" y="4391761"/>
                  </a:lnTo>
                  <a:lnTo>
                    <a:pt x="9920022" y="4351359"/>
                  </a:lnTo>
                  <a:lnTo>
                    <a:pt x="9926411" y="4299979"/>
                  </a:lnTo>
                  <a:lnTo>
                    <a:pt x="9926411" y="106097"/>
                  </a:lnTo>
                  <a:lnTo>
                    <a:pt x="9925701" y="84841"/>
                  </a:lnTo>
                  <a:lnTo>
                    <a:pt x="9912197" y="38873"/>
                  </a:lnTo>
                  <a:lnTo>
                    <a:pt x="9871795" y="6490"/>
                  </a:lnTo>
                  <a:lnTo>
                    <a:pt x="9820415" y="101"/>
                  </a:lnTo>
                  <a:lnTo>
                    <a:pt x="97940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5" name="object 5"/>
            <p:cNvSpPr/>
            <p:nvPr/>
          </p:nvSpPr>
          <p:spPr>
            <a:xfrm>
              <a:off x="1539092" y="2673761"/>
              <a:ext cx="9926955" cy="4406265"/>
            </a:xfrm>
            <a:custGeom>
              <a:avLst/>
              <a:gdLst/>
              <a:ahLst/>
              <a:cxnLst/>
              <a:rect l="l" t="t" r="r" b="b"/>
              <a:pathLst>
                <a:path w="9926955" h="4406265">
                  <a:moveTo>
                    <a:pt x="132455" y="0"/>
                  </a:moveTo>
                  <a:lnTo>
                    <a:pt x="9794159" y="0"/>
                  </a:lnTo>
                  <a:lnTo>
                    <a:pt x="9820517" y="101"/>
                  </a:lnTo>
                  <a:lnTo>
                    <a:pt x="9858657" y="2738"/>
                  </a:lnTo>
                  <a:lnTo>
                    <a:pt x="9901356" y="25258"/>
                  </a:lnTo>
                  <a:lnTo>
                    <a:pt x="9923876" y="67957"/>
                  </a:lnTo>
                  <a:lnTo>
                    <a:pt x="9926513" y="106097"/>
                  </a:lnTo>
                  <a:lnTo>
                    <a:pt x="9926614" y="132455"/>
                  </a:lnTo>
                  <a:lnTo>
                    <a:pt x="9926614" y="4273622"/>
                  </a:lnTo>
                  <a:lnTo>
                    <a:pt x="9925803" y="4321236"/>
                  </a:lnTo>
                  <a:lnTo>
                    <a:pt x="9912298" y="4367203"/>
                  </a:lnTo>
                  <a:lnTo>
                    <a:pt x="9871897" y="4399586"/>
                  </a:lnTo>
                  <a:lnTo>
                    <a:pt x="9820517" y="4405975"/>
                  </a:lnTo>
                  <a:lnTo>
                    <a:pt x="9794159" y="4406077"/>
                  </a:lnTo>
                  <a:lnTo>
                    <a:pt x="132455" y="4406077"/>
                  </a:lnTo>
                  <a:lnTo>
                    <a:pt x="84841" y="4405265"/>
                  </a:lnTo>
                  <a:lnTo>
                    <a:pt x="38873" y="4391761"/>
                  </a:lnTo>
                  <a:lnTo>
                    <a:pt x="6490" y="4351360"/>
                  </a:lnTo>
                  <a:lnTo>
                    <a:pt x="101" y="4299980"/>
                  </a:lnTo>
                  <a:lnTo>
                    <a:pt x="0" y="4273622"/>
                  </a:lnTo>
                  <a:lnTo>
                    <a:pt x="0" y="132455"/>
                  </a:lnTo>
                  <a:lnTo>
                    <a:pt x="811" y="84841"/>
                  </a:lnTo>
                  <a:lnTo>
                    <a:pt x="14316" y="38873"/>
                  </a:lnTo>
                  <a:lnTo>
                    <a:pt x="54717" y="6490"/>
                  </a:lnTo>
                  <a:lnTo>
                    <a:pt x="106097" y="101"/>
                  </a:lnTo>
                  <a:lnTo>
                    <a:pt x="132455" y="0"/>
                  </a:lnTo>
                  <a:close/>
                </a:path>
              </a:pathLst>
            </a:custGeom>
            <a:ln w="63500">
              <a:solidFill>
                <a:srgbClr val="6D6BE7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6" name="object 6"/>
            <p:cNvSpPr/>
            <p:nvPr/>
          </p:nvSpPr>
          <p:spPr>
            <a:xfrm>
              <a:off x="1927174" y="5430253"/>
              <a:ext cx="7974965" cy="889000"/>
            </a:xfrm>
            <a:custGeom>
              <a:avLst/>
              <a:gdLst/>
              <a:ahLst/>
              <a:cxnLst/>
              <a:rect l="l" t="t" r="r" b="b"/>
              <a:pathLst>
                <a:path w="7974965" h="889000">
                  <a:moveTo>
                    <a:pt x="7974863" y="571500"/>
                  </a:moveTo>
                  <a:lnTo>
                    <a:pt x="2326005" y="571500"/>
                  </a:lnTo>
                  <a:lnTo>
                    <a:pt x="2326005" y="317500"/>
                  </a:lnTo>
                  <a:lnTo>
                    <a:pt x="4984293" y="317500"/>
                  </a:lnTo>
                  <a:lnTo>
                    <a:pt x="4984293" y="0"/>
                  </a:lnTo>
                  <a:lnTo>
                    <a:pt x="0" y="0"/>
                  </a:lnTo>
                  <a:lnTo>
                    <a:pt x="0" y="285750"/>
                  </a:lnTo>
                  <a:lnTo>
                    <a:pt x="0" y="317500"/>
                  </a:lnTo>
                  <a:lnTo>
                    <a:pt x="0" y="571500"/>
                  </a:lnTo>
                  <a:lnTo>
                    <a:pt x="0" y="603250"/>
                  </a:lnTo>
                  <a:lnTo>
                    <a:pt x="0" y="889000"/>
                  </a:lnTo>
                  <a:lnTo>
                    <a:pt x="7974863" y="889000"/>
                  </a:lnTo>
                  <a:lnTo>
                    <a:pt x="7974863" y="571500"/>
                  </a:lnTo>
                  <a:close/>
                </a:path>
              </a:pathLst>
            </a:custGeom>
            <a:solidFill>
              <a:srgbClr val="AAEB9F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70119" y="1981617"/>
            <a:ext cx="602307" cy="45139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lnSpc>
                <a:spcPts val="1698"/>
              </a:lnSpc>
              <a:spcBef>
                <a:spcPts val="91"/>
              </a:spcBef>
            </a:pPr>
            <a:r>
              <a:rPr sz="1512" spc="-18" dirty="0">
                <a:latin typeface="Courier New"/>
                <a:cs typeface="Courier New"/>
              </a:rPr>
              <a:t>“””</a:t>
            </a:r>
            <a:endParaRPr sz="1512">
              <a:latin typeface="Courier New"/>
              <a:cs typeface="Courier New"/>
            </a:endParaRPr>
          </a:p>
          <a:p>
            <a:pPr marL="8929">
              <a:lnSpc>
                <a:spcPts val="1698"/>
              </a:lnSpc>
            </a:pPr>
            <a:r>
              <a:rPr sz="1512" spc="-7" dirty="0">
                <a:latin typeface="Courier New"/>
                <a:cs typeface="Courier New"/>
              </a:rPr>
              <a:t>Table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1038" y="2182535"/>
            <a:ext cx="4340275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departments,</a:t>
            </a:r>
            <a:r>
              <a:rPr sz="1512" spc="63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columns</a:t>
            </a:r>
            <a:r>
              <a:rPr sz="1512" spc="7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=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[DepartmentId,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70119" y="2383453"/>
            <a:ext cx="1770311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-7" dirty="0">
                <a:latin typeface="Courier New"/>
                <a:cs typeface="Courier New"/>
              </a:rPr>
              <a:t>DepartmentName]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0119" y="2584371"/>
            <a:ext cx="2938760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Table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students,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columns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spc="-35" dirty="0">
                <a:latin typeface="Courier New"/>
                <a:cs typeface="Courier New"/>
              </a:rPr>
              <a:t>=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70119" y="2785289"/>
            <a:ext cx="1419820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-7" dirty="0">
                <a:latin typeface="Courier New"/>
                <a:cs typeface="Courier New"/>
              </a:rPr>
              <a:t>StudentName]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70119" y="2584372"/>
            <a:ext cx="6209705" cy="656643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3045808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[DepartmentId,</a:t>
            </a:r>
            <a:r>
              <a:rPr sz="1512" spc="137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StudentId,</a:t>
            </a:r>
            <a:endParaRPr sz="1512">
              <a:latin typeface="Courier New"/>
              <a:cs typeface="Courier New"/>
            </a:endParaRPr>
          </a:p>
          <a:p>
            <a:pPr marL="8929">
              <a:spcBef>
                <a:spcPts val="1350"/>
              </a:spcBef>
            </a:pPr>
            <a:r>
              <a:rPr sz="1512" dirty="0">
                <a:latin typeface="Courier New"/>
                <a:cs typeface="Courier New"/>
              </a:rPr>
              <a:t>Create</a:t>
            </a:r>
            <a:r>
              <a:rPr sz="1512" spc="3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MySQL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query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for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all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students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the</a:t>
            </a:r>
            <a:r>
              <a:rPr sz="1512" spc="49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Computer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70119" y="3187125"/>
            <a:ext cx="5616327" cy="1281249"/>
          </a:xfrm>
          <a:prstGeom prst="rect">
            <a:avLst/>
          </a:prstGeom>
        </p:spPr>
        <p:txBody>
          <a:bodyPr vert="horz" wrap="square" lIns="0" tIns="42863" rIns="0" bIns="0" rtlCol="0">
            <a:spAutoFit/>
          </a:bodyPr>
          <a:lstStyle/>
          <a:p>
            <a:pPr marL="8929" marR="3498974">
              <a:lnSpc>
                <a:spcPts val="1582"/>
              </a:lnSpc>
              <a:spcBef>
                <a:spcPts val="337"/>
              </a:spcBef>
            </a:pPr>
            <a:r>
              <a:rPr sz="1512" dirty="0">
                <a:latin typeface="Courier New"/>
                <a:cs typeface="Courier New"/>
              </a:rPr>
              <a:t>Science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Department </a:t>
            </a:r>
            <a:r>
              <a:rPr sz="1512" spc="-18" dirty="0">
                <a:latin typeface="Courier New"/>
                <a:cs typeface="Courier New"/>
              </a:rPr>
              <a:t>“””</a:t>
            </a:r>
            <a:endParaRPr sz="1512">
              <a:latin typeface="Courier New"/>
              <a:cs typeface="Courier New"/>
            </a:endParaRPr>
          </a:p>
          <a:p>
            <a:pPr marL="8929" marR="2214037">
              <a:lnSpc>
                <a:spcPts val="1582"/>
              </a:lnSpc>
              <a:spcBef>
                <a:spcPts val="1582"/>
              </a:spcBef>
            </a:pPr>
            <a:r>
              <a:rPr sz="1512" dirty="0">
                <a:latin typeface="Courier New"/>
                <a:cs typeface="Courier New"/>
              </a:rPr>
              <a:t>SELECT</a:t>
            </a:r>
            <a:r>
              <a:rPr sz="1512" spc="84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StudentId,</a:t>
            </a:r>
            <a:r>
              <a:rPr sz="1512" spc="80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StudentName </a:t>
            </a:r>
            <a:r>
              <a:rPr sz="1512" dirty="0">
                <a:latin typeface="Courier New"/>
                <a:cs typeface="Courier New"/>
              </a:rPr>
              <a:t>FROM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students</a:t>
            </a:r>
            <a:endParaRPr sz="1512">
              <a:latin typeface="Courier New"/>
              <a:cs typeface="Courier New"/>
            </a:endParaRPr>
          </a:p>
          <a:p>
            <a:pPr marL="8929">
              <a:lnSpc>
                <a:spcPts val="1568"/>
              </a:lnSpc>
            </a:pPr>
            <a:r>
              <a:rPr sz="1512" dirty="0">
                <a:latin typeface="Courier New"/>
                <a:cs typeface="Courier New"/>
              </a:rPr>
              <a:t>WHERE</a:t>
            </a:r>
            <a:r>
              <a:rPr sz="1512" spc="74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DepartmentId</a:t>
            </a:r>
            <a:r>
              <a:rPr sz="1512" spc="7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IN</a:t>
            </a:r>
            <a:r>
              <a:rPr sz="1512" spc="8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(SELECT</a:t>
            </a:r>
            <a:r>
              <a:rPr sz="1512" spc="7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DepartmentId</a:t>
            </a:r>
            <a:r>
              <a:rPr sz="1512" spc="80" dirty="0">
                <a:latin typeface="Courier New"/>
                <a:cs typeface="Courier New"/>
              </a:rPr>
              <a:t> </a:t>
            </a:r>
            <a:r>
              <a:rPr sz="1512" spc="-14" dirty="0">
                <a:latin typeface="Courier New"/>
                <a:cs typeface="Courier New"/>
              </a:rPr>
              <a:t>FROM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79049" y="4443219"/>
            <a:ext cx="6434286" cy="202428"/>
          </a:xfrm>
          <a:prstGeom prst="rect">
            <a:avLst/>
          </a:prstGeom>
          <a:solidFill>
            <a:srgbClr val="AAEB9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8"/>
              </a:lnSpc>
            </a:pPr>
            <a:r>
              <a:rPr sz="1512" dirty="0">
                <a:latin typeface="Courier New"/>
                <a:cs typeface="Courier New"/>
              </a:rPr>
              <a:t>departments</a:t>
            </a:r>
            <a:r>
              <a:rPr sz="1512" spc="77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WHERE</a:t>
            </a:r>
            <a:r>
              <a:rPr sz="1512" spc="8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DepartmentName</a:t>
            </a:r>
            <a:r>
              <a:rPr sz="1512" spc="84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=</a:t>
            </a:r>
            <a:r>
              <a:rPr sz="1512" spc="80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'Computer</a:t>
            </a:r>
            <a:r>
              <a:rPr sz="1512" spc="84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Science');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1288C7B-629C-ED1C-A24B-52AD1A0F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D73E-8A93-4C73-BF27-C70024D6E1C3}" type="datetime1">
              <a:rPr lang="en-US" smtClean="0"/>
              <a:t>12/1/2025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8BDC36DF-0923-AE3A-9BCF-FF483E39B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E1E8AA8-028D-9F13-1A8F-B7FB542E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441798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63" dirty="0"/>
              <a:t>Reasoning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17278" y="1857664"/>
            <a:ext cx="7357616" cy="3142804"/>
            <a:chOff x="1270440" y="2642011"/>
            <a:chExt cx="10464165" cy="4469765"/>
          </a:xfrm>
        </p:grpSpPr>
        <p:sp>
          <p:nvSpPr>
            <p:cNvPr id="4" name="object 4"/>
            <p:cNvSpPr/>
            <p:nvPr/>
          </p:nvSpPr>
          <p:spPr>
            <a:xfrm>
              <a:off x="1302292" y="2673761"/>
              <a:ext cx="10400665" cy="4406265"/>
            </a:xfrm>
            <a:custGeom>
              <a:avLst/>
              <a:gdLst/>
              <a:ahLst/>
              <a:cxnLst/>
              <a:rect l="l" t="t" r="r" b="b"/>
              <a:pathLst>
                <a:path w="10400665" h="4406265">
                  <a:moveTo>
                    <a:pt x="10267862" y="0"/>
                  </a:moveTo>
                  <a:lnTo>
                    <a:pt x="132353" y="0"/>
                  </a:lnTo>
                  <a:lnTo>
                    <a:pt x="105995" y="101"/>
                  </a:lnTo>
                  <a:lnTo>
                    <a:pt x="67855" y="2738"/>
                  </a:lnTo>
                  <a:lnTo>
                    <a:pt x="25156" y="25258"/>
                  </a:lnTo>
                  <a:lnTo>
                    <a:pt x="2636" y="67957"/>
                  </a:lnTo>
                  <a:lnTo>
                    <a:pt x="0" y="106097"/>
                  </a:lnTo>
                  <a:lnTo>
                    <a:pt x="0" y="4299979"/>
                  </a:lnTo>
                  <a:lnTo>
                    <a:pt x="2636" y="4338119"/>
                  </a:lnTo>
                  <a:lnTo>
                    <a:pt x="25156" y="4380818"/>
                  </a:lnTo>
                  <a:lnTo>
                    <a:pt x="67855" y="4403338"/>
                  </a:lnTo>
                  <a:lnTo>
                    <a:pt x="105995" y="4405975"/>
                  </a:lnTo>
                  <a:lnTo>
                    <a:pt x="132353" y="4406077"/>
                  </a:lnTo>
                  <a:lnTo>
                    <a:pt x="10267862" y="4406077"/>
                  </a:lnTo>
                  <a:lnTo>
                    <a:pt x="10315476" y="4405265"/>
                  </a:lnTo>
                  <a:lnTo>
                    <a:pt x="10361444" y="4391761"/>
                  </a:lnTo>
                  <a:lnTo>
                    <a:pt x="10393826" y="4351359"/>
                  </a:lnTo>
                  <a:lnTo>
                    <a:pt x="10400215" y="4299979"/>
                  </a:lnTo>
                  <a:lnTo>
                    <a:pt x="10400215" y="106097"/>
                  </a:lnTo>
                  <a:lnTo>
                    <a:pt x="10399505" y="84841"/>
                  </a:lnTo>
                  <a:lnTo>
                    <a:pt x="10386001" y="38873"/>
                  </a:lnTo>
                  <a:lnTo>
                    <a:pt x="10345600" y="6490"/>
                  </a:lnTo>
                  <a:lnTo>
                    <a:pt x="10294220" y="101"/>
                  </a:lnTo>
                  <a:lnTo>
                    <a:pt x="1026786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5" name="object 5"/>
            <p:cNvSpPr/>
            <p:nvPr/>
          </p:nvSpPr>
          <p:spPr>
            <a:xfrm>
              <a:off x="1302190" y="2673761"/>
              <a:ext cx="10400665" cy="4406265"/>
            </a:xfrm>
            <a:custGeom>
              <a:avLst/>
              <a:gdLst/>
              <a:ahLst/>
              <a:cxnLst/>
              <a:rect l="l" t="t" r="r" b="b"/>
              <a:pathLst>
                <a:path w="10400665" h="4406265">
                  <a:moveTo>
                    <a:pt x="132455" y="0"/>
                  </a:moveTo>
                  <a:lnTo>
                    <a:pt x="10267963" y="0"/>
                  </a:lnTo>
                  <a:lnTo>
                    <a:pt x="10294321" y="101"/>
                  </a:lnTo>
                  <a:lnTo>
                    <a:pt x="10332462" y="2738"/>
                  </a:lnTo>
                  <a:lnTo>
                    <a:pt x="10375160" y="25258"/>
                  </a:lnTo>
                  <a:lnTo>
                    <a:pt x="10397681" y="67957"/>
                  </a:lnTo>
                  <a:lnTo>
                    <a:pt x="10400318" y="106097"/>
                  </a:lnTo>
                  <a:lnTo>
                    <a:pt x="10400419" y="132455"/>
                  </a:lnTo>
                  <a:lnTo>
                    <a:pt x="10400419" y="4273622"/>
                  </a:lnTo>
                  <a:lnTo>
                    <a:pt x="10399608" y="4321236"/>
                  </a:lnTo>
                  <a:lnTo>
                    <a:pt x="10386103" y="4367203"/>
                  </a:lnTo>
                  <a:lnTo>
                    <a:pt x="10345701" y="4399586"/>
                  </a:lnTo>
                  <a:lnTo>
                    <a:pt x="10294321" y="4405975"/>
                  </a:lnTo>
                  <a:lnTo>
                    <a:pt x="10267963" y="4406077"/>
                  </a:lnTo>
                  <a:lnTo>
                    <a:pt x="132455" y="4406077"/>
                  </a:lnTo>
                  <a:lnTo>
                    <a:pt x="84841" y="4405265"/>
                  </a:lnTo>
                  <a:lnTo>
                    <a:pt x="38873" y="4391761"/>
                  </a:lnTo>
                  <a:lnTo>
                    <a:pt x="6490" y="4351360"/>
                  </a:lnTo>
                  <a:lnTo>
                    <a:pt x="101" y="4299980"/>
                  </a:lnTo>
                  <a:lnTo>
                    <a:pt x="0" y="4273622"/>
                  </a:lnTo>
                  <a:lnTo>
                    <a:pt x="0" y="132455"/>
                  </a:lnTo>
                  <a:lnTo>
                    <a:pt x="811" y="84841"/>
                  </a:lnTo>
                  <a:lnTo>
                    <a:pt x="14316" y="38873"/>
                  </a:lnTo>
                  <a:lnTo>
                    <a:pt x="54717" y="6490"/>
                  </a:lnTo>
                  <a:lnTo>
                    <a:pt x="106097" y="101"/>
                  </a:lnTo>
                  <a:lnTo>
                    <a:pt x="132455" y="0"/>
                  </a:lnTo>
                  <a:close/>
                </a:path>
              </a:pathLst>
            </a:custGeom>
            <a:ln w="63500">
              <a:solidFill>
                <a:srgbClr val="6D6BE7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6" name="object 6"/>
            <p:cNvSpPr/>
            <p:nvPr/>
          </p:nvSpPr>
          <p:spPr>
            <a:xfrm>
              <a:off x="1690268" y="5428017"/>
              <a:ext cx="4652010" cy="889000"/>
            </a:xfrm>
            <a:custGeom>
              <a:avLst/>
              <a:gdLst/>
              <a:ahLst/>
              <a:cxnLst/>
              <a:rect l="l" t="t" r="r" b="b"/>
              <a:pathLst>
                <a:path w="4652010" h="889000">
                  <a:moveTo>
                    <a:pt x="465201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0" y="317500"/>
                  </a:lnTo>
                  <a:lnTo>
                    <a:pt x="0" y="571500"/>
                  </a:lnTo>
                  <a:lnTo>
                    <a:pt x="0" y="603250"/>
                  </a:lnTo>
                  <a:lnTo>
                    <a:pt x="0" y="889000"/>
                  </a:lnTo>
                  <a:lnTo>
                    <a:pt x="3322866" y="889000"/>
                  </a:lnTo>
                  <a:lnTo>
                    <a:pt x="3322866" y="571500"/>
                  </a:lnTo>
                  <a:lnTo>
                    <a:pt x="1329143" y="571500"/>
                  </a:lnTo>
                  <a:lnTo>
                    <a:pt x="1329143" y="317500"/>
                  </a:lnTo>
                  <a:lnTo>
                    <a:pt x="4652010" y="31750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AAEB9F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822543"/>
              </p:ext>
            </p:extLst>
          </p:nvPr>
        </p:nvGraphicFramePr>
        <p:xfrm>
          <a:off x="2690153" y="2438721"/>
          <a:ext cx="6942828" cy="19639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4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4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4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0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09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94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94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09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09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09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44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746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6746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3130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198239">
                <a:tc>
                  <a:txBody>
                    <a:bodyPr/>
                    <a:lstStyle/>
                    <a:p>
                      <a:pPr marL="31750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The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odd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ts val="2075"/>
                        </a:lnSpc>
                      </a:pPr>
                      <a:r>
                        <a:rPr sz="1500" spc="-10" dirty="0">
                          <a:latin typeface="Courier New"/>
                          <a:cs typeface="Courier New"/>
                        </a:rPr>
                        <a:t>numbers</a:t>
                      </a:r>
                      <a:endParaRPr sz="15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65735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in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65735">
                        <a:lnSpc>
                          <a:spcPts val="2075"/>
                        </a:lnSpc>
                      </a:pPr>
                      <a:r>
                        <a:rPr sz="1500" spc="-20" dirty="0">
                          <a:latin typeface="Courier New"/>
                          <a:cs typeface="Courier New"/>
                        </a:rPr>
                        <a:t>this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10" dirty="0">
                          <a:latin typeface="Courier New"/>
                          <a:cs typeface="Courier New"/>
                        </a:rPr>
                        <a:t>group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add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up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to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an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20" dirty="0">
                          <a:latin typeface="Courier New"/>
                          <a:cs typeface="Courier New"/>
                        </a:rPr>
                        <a:t>even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10" dirty="0">
                          <a:latin typeface="Courier New"/>
                          <a:cs typeface="Courier New"/>
                        </a:rPr>
                        <a:t>number: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15,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239">
                <a:tc>
                  <a:txBody>
                    <a:bodyPr/>
                    <a:lstStyle/>
                    <a:p>
                      <a:pPr marL="31750">
                        <a:lnSpc>
                          <a:spcPts val="2110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32,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ts val="2110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5,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110"/>
                        </a:lnSpc>
                      </a:pPr>
                      <a:r>
                        <a:rPr sz="1500" dirty="0">
                          <a:latin typeface="Courier New"/>
                          <a:cs typeface="Courier New"/>
                        </a:rPr>
                        <a:t>13,</a:t>
                      </a:r>
                      <a:r>
                        <a:rPr sz="150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25" dirty="0">
                          <a:latin typeface="Courier New"/>
                          <a:cs typeface="Courier New"/>
                        </a:rPr>
                        <a:t>82,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2110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7,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2110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1.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836">
                <a:tc gridSpan="17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500" dirty="0">
                          <a:latin typeface="Courier New"/>
                          <a:cs typeface="Courier New"/>
                        </a:rPr>
                        <a:t>Solve</a:t>
                      </a:r>
                      <a:r>
                        <a:rPr sz="1500" spc="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dirty="0">
                          <a:latin typeface="Courier New"/>
                          <a:cs typeface="Courier New"/>
                        </a:rPr>
                        <a:t>by</a:t>
                      </a:r>
                      <a:r>
                        <a:rPr sz="1500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dirty="0">
                          <a:latin typeface="Courier New"/>
                          <a:cs typeface="Courier New"/>
                        </a:rPr>
                        <a:t>breaking</a:t>
                      </a:r>
                      <a:r>
                        <a:rPr sz="1500" spc="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500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dirty="0">
                          <a:latin typeface="Courier New"/>
                          <a:cs typeface="Courier New"/>
                        </a:rPr>
                        <a:t>problem</a:t>
                      </a:r>
                      <a:r>
                        <a:rPr sz="1500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dirty="0">
                          <a:latin typeface="Courier New"/>
                          <a:cs typeface="Courier New"/>
                        </a:rPr>
                        <a:t>into</a:t>
                      </a:r>
                      <a:r>
                        <a:rPr sz="1500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dirty="0">
                          <a:latin typeface="Courier New"/>
                          <a:cs typeface="Courier New"/>
                        </a:rPr>
                        <a:t>steps.</a:t>
                      </a:r>
                      <a:r>
                        <a:rPr sz="1500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dirty="0">
                          <a:latin typeface="Courier New"/>
                          <a:cs typeface="Courier New"/>
                        </a:rPr>
                        <a:t>First,</a:t>
                      </a:r>
                      <a:r>
                        <a:rPr sz="1500" spc="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10" dirty="0">
                          <a:latin typeface="Courier New"/>
                          <a:cs typeface="Courier New"/>
                        </a:rPr>
                        <a:t>identify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161627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043">
                <a:tc>
                  <a:txBody>
                    <a:bodyPr/>
                    <a:lstStyle/>
                    <a:p>
                      <a:pPr marL="31750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the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odd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65735">
                        <a:lnSpc>
                          <a:spcPts val="2075"/>
                        </a:lnSpc>
                      </a:pPr>
                      <a:r>
                        <a:rPr sz="1500" spc="-10" dirty="0">
                          <a:latin typeface="Courier New"/>
                          <a:cs typeface="Courier New"/>
                        </a:rPr>
                        <a:t>numbers,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add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10" dirty="0">
                          <a:latin typeface="Courier New"/>
                          <a:cs typeface="Courier New"/>
                        </a:rPr>
                        <a:t>them,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and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65735">
                        <a:lnSpc>
                          <a:spcPts val="2075"/>
                        </a:lnSpc>
                      </a:pPr>
                      <a:r>
                        <a:rPr sz="1500" spc="-10" dirty="0">
                          <a:latin typeface="Courier New"/>
                          <a:cs typeface="Courier New"/>
                        </a:rPr>
                        <a:t>indicate</a:t>
                      </a:r>
                      <a:endParaRPr sz="15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10" dirty="0">
                          <a:latin typeface="Courier New"/>
                          <a:cs typeface="Courier New"/>
                        </a:rPr>
                        <a:t>whether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the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2550">
                        <a:lnSpc>
                          <a:spcPts val="2075"/>
                        </a:lnSpc>
                      </a:pPr>
                      <a:r>
                        <a:rPr sz="1500" spc="-10" dirty="0">
                          <a:latin typeface="Courier New"/>
                          <a:cs typeface="Courier New"/>
                        </a:rPr>
                        <a:t>result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239">
                <a:tc>
                  <a:txBody>
                    <a:bodyPr/>
                    <a:lstStyle/>
                    <a:p>
                      <a:pPr marL="31750">
                        <a:lnSpc>
                          <a:spcPts val="2110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is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110"/>
                        </a:lnSpc>
                      </a:pPr>
                      <a:r>
                        <a:rPr sz="1500" spc="-25" dirty="0">
                          <a:latin typeface="Courier New"/>
                          <a:cs typeface="Courier New"/>
                        </a:rPr>
                        <a:t>odd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2110"/>
                        </a:lnSpc>
                      </a:pPr>
                      <a:r>
                        <a:rPr sz="1500" dirty="0">
                          <a:latin typeface="Courier New"/>
                          <a:cs typeface="Courier New"/>
                        </a:rPr>
                        <a:t>or</a:t>
                      </a:r>
                      <a:r>
                        <a:rPr sz="1500" spc="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00" spc="-10" dirty="0">
                          <a:latin typeface="Courier New"/>
                          <a:cs typeface="Courier New"/>
                        </a:rPr>
                        <a:t>even.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703547" y="3788310"/>
            <a:ext cx="368350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-18" dirty="0">
                <a:latin typeface="Courier New"/>
                <a:cs typeface="Courier New"/>
              </a:rPr>
              <a:t>Odd</a:t>
            </a:r>
            <a:endParaRPr sz="1512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0826" y="3788310"/>
            <a:ext cx="952798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spc="-7" dirty="0">
                <a:latin typeface="Courier New"/>
                <a:cs typeface="Courier New"/>
              </a:rPr>
              <a:t>numbers: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9943" y="3788310"/>
            <a:ext cx="952798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13,</a:t>
            </a:r>
            <a:r>
              <a:rPr sz="1512" spc="25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7,</a:t>
            </a:r>
            <a:r>
              <a:rPr sz="1512" spc="35" dirty="0">
                <a:latin typeface="Courier New"/>
                <a:cs typeface="Courier New"/>
              </a:rPr>
              <a:t> </a:t>
            </a:r>
            <a:r>
              <a:rPr sz="1512" spc="-35" dirty="0">
                <a:latin typeface="Courier New"/>
                <a:cs typeface="Courier New"/>
              </a:rPr>
              <a:t>1</a:t>
            </a:r>
            <a:endParaRPr sz="1512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03547" y="3989228"/>
            <a:ext cx="835819" cy="24441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892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Sum:</a:t>
            </a:r>
            <a:r>
              <a:rPr sz="1512" spc="46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41</a:t>
            </a:r>
            <a:endParaRPr sz="1512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2398" y="3798355"/>
            <a:ext cx="2354311" cy="1020845"/>
          </a:xfrm>
          <a:prstGeom prst="rect">
            <a:avLst/>
          </a:prstGeom>
        </p:spPr>
        <p:txBody>
          <a:bodyPr vert="horz" wrap="square" lIns="0" tIns="11609" rIns="0" bIns="0" rtlCol="0">
            <a:spAutoFit/>
          </a:bodyPr>
          <a:lstStyle/>
          <a:p>
            <a:pPr marL="1527369">
              <a:spcBef>
                <a:spcPts val="91"/>
              </a:spcBef>
            </a:pPr>
            <a:r>
              <a:rPr sz="1512" dirty="0">
                <a:latin typeface="Courier New"/>
                <a:cs typeface="Courier New"/>
              </a:rPr>
              <a:t>15,</a:t>
            </a:r>
            <a:r>
              <a:rPr sz="1512" spc="32" dirty="0">
                <a:latin typeface="Courier New"/>
                <a:cs typeface="Courier New"/>
              </a:rPr>
              <a:t> </a:t>
            </a:r>
            <a:r>
              <a:rPr sz="1512" spc="-18" dirty="0">
                <a:latin typeface="Courier New"/>
                <a:cs typeface="Courier New"/>
              </a:rPr>
              <a:t>5,</a:t>
            </a:r>
            <a:endParaRPr sz="1512" dirty="0">
              <a:latin typeface="Courier New"/>
              <a:cs typeface="Courier New"/>
            </a:endParaRPr>
          </a:p>
          <a:p>
            <a:pPr marL="8929">
              <a:spcBef>
                <a:spcPts val="1350"/>
              </a:spcBef>
            </a:pPr>
            <a:endParaRPr lang="en-US" sz="1000" dirty="0">
              <a:latin typeface="Courier New"/>
              <a:cs typeface="Courier New"/>
            </a:endParaRPr>
          </a:p>
          <a:p>
            <a:pPr marL="8929">
              <a:spcBef>
                <a:spcPts val="1350"/>
              </a:spcBef>
            </a:pPr>
            <a:r>
              <a:rPr sz="1512" dirty="0">
                <a:latin typeface="Courier New"/>
                <a:cs typeface="Courier New"/>
              </a:rPr>
              <a:t>41</a:t>
            </a:r>
            <a:r>
              <a:rPr sz="1512" spc="3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is</a:t>
            </a:r>
            <a:r>
              <a:rPr sz="1512" spc="32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an</a:t>
            </a:r>
            <a:r>
              <a:rPr sz="1512" spc="28" dirty="0">
                <a:latin typeface="Courier New"/>
                <a:cs typeface="Courier New"/>
              </a:rPr>
              <a:t> </a:t>
            </a:r>
            <a:r>
              <a:rPr sz="1512" dirty="0">
                <a:latin typeface="Courier New"/>
                <a:cs typeface="Courier New"/>
              </a:rPr>
              <a:t>odd</a:t>
            </a:r>
            <a:r>
              <a:rPr sz="1512" spc="32" dirty="0">
                <a:latin typeface="Courier New"/>
                <a:cs typeface="Courier New"/>
              </a:rPr>
              <a:t> </a:t>
            </a:r>
            <a:r>
              <a:rPr sz="1512" spc="-7" dirty="0">
                <a:latin typeface="Courier New"/>
                <a:cs typeface="Courier New"/>
              </a:rPr>
              <a:t>number.</a:t>
            </a:r>
            <a:endParaRPr sz="1512" dirty="0">
              <a:latin typeface="Courier New"/>
              <a:cs typeface="Courier New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D369AF2-5073-1BFC-A2F1-377117CE9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2EC0-2BCD-42C8-A252-FF98B8F5E4E8}" type="datetime1">
              <a:rPr lang="en-US" smtClean="0"/>
              <a:t>12/1/2025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7C4BB59-E06C-5725-87D4-610D46D27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31D9F6D-4F38-8064-5697-DFBDB1F7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625" y="990600"/>
            <a:ext cx="7715250" cy="56301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pc="-49" dirty="0"/>
              <a:t>Prompt</a:t>
            </a:r>
            <a:r>
              <a:rPr spc="-120" dirty="0"/>
              <a:t> </a:t>
            </a:r>
            <a:r>
              <a:rPr spc="-77" dirty="0"/>
              <a:t>Engineering</a:t>
            </a:r>
            <a:r>
              <a:rPr spc="-112" dirty="0"/>
              <a:t> </a:t>
            </a:r>
            <a:r>
              <a:rPr spc="-67" dirty="0"/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2625" y="1981200"/>
            <a:ext cx="7274570" cy="2125535"/>
          </a:xfrm>
          <a:prstGeom prst="rect">
            <a:avLst/>
          </a:prstGeom>
        </p:spPr>
        <p:txBody>
          <a:bodyPr vert="horz" wrap="square" lIns="0" tIns="61168" rIns="0" bIns="0" rtlCol="0">
            <a:spAutoFit/>
          </a:bodyPr>
          <a:lstStyle/>
          <a:p>
            <a:pPr marL="312528" marR="3572" indent="-303599">
              <a:lnSpc>
                <a:spcPts val="2475"/>
              </a:lnSpc>
              <a:spcBef>
                <a:spcPts val="482"/>
              </a:spcBef>
              <a:buClr>
                <a:srgbClr val="7571FF"/>
              </a:buClr>
              <a:buChar char="•"/>
              <a:tabLst>
                <a:tab pos="312528" algn="l"/>
              </a:tabLst>
            </a:pP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Many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advanced</a:t>
            </a:r>
            <a:r>
              <a:rPr sz="2391" spc="-28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prompting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techniques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have</a:t>
            </a:r>
            <a:r>
              <a:rPr sz="2391" spc="-2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14" dirty="0">
                <a:solidFill>
                  <a:srgbClr val="5E5E5E"/>
                </a:solidFill>
                <a:latin typeface="Arial MT"/>
                <a:cs typeface="Arial MT"/>
              </a:rPr>
              <a:t>been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designed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to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improve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performance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on</a:t>
            </a:r>
            <a:r>
              <a:rPr sz="2391" spc="-32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dirty="0">
                <a:solidFill>
                  <a:srgbClr val="5E5E5E"/>
                </a:solidFill>
                <a:latin typeface="Arial MT"/>
                <a:cs typeface="Arial MT"/>
              </a:rPr>
              <a:t>complex</a:t>
            </a:r>
            <a:r>
              <a:rPr sz="2391" spc="-35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391" spc="-7" dirty="0">
                <a:solidFill>
                  <a:srgbClr val="5E5E5E"/>
                </a:solidFill>
                <a:latin typeface="Arial MT"/>
                <a:cs typeface="Arial MT"/>
              </a:rPr>
              <a:t>tasks</a:t>
            </a:r>
            <a:endParaRPr sz="2391" dirty="0">
              <a:latin typeface="Arial MT"/>
              <a:cs typeface="Arial MT"/>
            </a:endParaRPr>
          </a:p>
          <a:p>
            <a:pPr marL="624609" lvl="1" indent="-294223">
              <a:spcBef>
                <a:spcPts val="1135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Few-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shot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 prompts</a:t>
            </a:r>
            <a:endParaRPr sz="2109" dirty="0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Chain-of-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thought</a:t>
            </a:r>
            <a:r>
              <a:rPr sz="2109" spc="-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dirty="0">
                <a:solidFill>
                  <a:srgbClr val="5E5E5E"/>
                </a:solidFill>
                <a:latin typeface="Arial MT"/>
                <a:cs typeface="Arial MT"/>
              </a:rPr>
              <a:t>(CoT)</a:t>
            </a:r>
            <a:r>
              <a:rPr sz="2109" spc="-4" dirty="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prompting</a:t>
            </a:r>
            <a:endParaRPr sz="2109" dirty="0">
              <a:latin typeface="Arial MT"/>
              <a:cs typeface="Arial MT"/>
            </a:endParaRPr>
          </a:p>
          <a:p>
            <a:pPr marL="624609" lvl="1" indent="-294223">
              <a:spcBef>
                <a:spcPts val="1174"/>
              </a:spcBef>
              <a:buClr>
                <a:srgbClr val="7571FF"/>
              </a:buClr>
              <a:buSzPct val="123333"/>
              <a:buChar char="•"/>
              <a:tabLst>
                <a:tab pos="624609" algn="l"/>
              </a:tabLst>
            </a:pPr>
            <a:r>
              <a:rPr sz="2109" spc="-7" dirty="0">
                <a:solidFill>
                  <a:srgbClr val="5E5E5E"/>
                </a:solidFill>
                <a:latin typeface="Arial MT"/>
                <a:cs typeface="Arial MT"/>
              </a:rPr>
              <a:t>Self-Consistency</a:t>
            </a:r>
            <a:endParaRPr sz="2109" dirty="0">
              <a:latin typeface="Arial MT"/>
              <a:cs typeface="Arial M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62447-5685-3AA7-C38B-986AA83DF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5C59-0C99-4C69-824E-A23505C9427E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F5F78-D5FE-2265-3E1F-A2038A1C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DFC63-E8B0-697C-8F16-21839CE79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CFAC58-9331-93AB-9BA3-63469C923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Few-shot prompting is a method used with large language models (LLMs) like GPT-3</a:t>
            </a:r>
          </a:p>
          <a:p>
            <a:r>
              <a:rPr lang="en-US" dirty="0"/>
              <a:t>The model is provided with a </a:t>
            </a:r>
            <a:r>
              <a:rPr lang="en-US" dirty="0">
                <a:solidFill>
                  <a:srgbClr val="0099CC"/>
                </a:solidFill>
              </a:rPr>
              <a:t>few examples to demonstrate a task </a:t>
            </a:r>
            <a:r>
              <a:rPr lang="en-US" dirty="0"/>
              <a:t>before being asked to perform a </a:t>
            </a:r>
            <a:r>
              <a:rPr lang="en-US" dirty="0">
                <a:solidFill>
                  <a:srgbClr val="0099CC"/>
                </a:solidFill>
              </a:rPr>
              <a:t>similar task</a:t>
            </a:r>
            <a:r>
              <a:rPr lang="en-US" dirty="0"/>
              <a:t>. </a:t>
            </a:r>
          </a:p>
          <a:p>
            <a:r>
              <a:rPr lang="en-US" dirty="0"/>
              <a:t>It allows the model's pre-trained </a:t>
            </a:r>
            <a:r>
              <a:rPr lang="en-US" dirty="0">
                <a:solidFill>
                  <a:srgbClr val="FF0000"/>
                </a:solidFill>
              </a:rPr>
              <a:t>knowledge and its ability to generalize from a few examples</a:t>
            </a:r>
            <a:r>
              <a:rPr lang="en-US" dirty="0"/>
              <a:t>, to understand the task at hand and produce the desired output.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FED79-509C-236C-45D8-4240F92F6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FC5B-9CBE-4D4C-90AB-21AE7586E2EC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193FDF-7E5E-4C35-9F34-E5599A7A4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A7628-0768-50FD-ED58-BD3CED748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BFF2D6-BB6D-354F-A8CF-D74AC63CD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Few-shot prompts</a:t>
            </a:r>
          </a:p>
        </p:txBody>
      </p:sp>
    </p:spTree>
    <p:extLst>
      <p:ext uri="{BB962C8B-B14F-4D97-AF65-F5344CB8AC3E}">
        <p14:creationId xmlns:p14="http://schemas.microsoft.com/office/powerpoint/2010/main" val="35902468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E9F3B-0F6C-DEA9-111E-D7637E5C5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427F-9B20-4812-8B49-1F04A8D5ABAF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046B3-3EC4-8C32-011F-0BC1D5D00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41BA7-85BB-2237-E3C6-C35109D5C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40C0B6-2A95-096F-333F-81683D52B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Few-shot prompts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AD2D27A-1F8F-53C8-CBC1-D2CEE6E68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E63330-A5CD-7DB4-1ED5-5572DC21B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1756"/>
            <a:ext cx="1015365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000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3C93-DEB1-521A-6798-D6387D77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Chain-of-Thought Prompting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E7732-157C-FE13-A68E-4766E4235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Commonly used method</a:t>
            </a:r>
          </a:p>
          <a:p>
            <a:r>
              <a:rPr lang="en-US" dirty="0"/>
              <a:t>Introduces chain-of-thought prompting as a novel method.</a:t>
            </a:r>
          </a:p>
          <a:p>
            <a:r>
              <a:rPr lang="en-US" dirty="0"/>
              <a:t>Significantly improves LLMs' </a:t>
            </a:r>
            <a:r>
              <a:rPr lang="en-US" dirty="0">
                <a:solidFill>
                  <a:srgbClr val="FF0000"/>
                </a:solidFill>
              </a:rPr>
              <a:t>complex reasoning tasks </a:t>
            </a:r>
            <a:r>
              <a:rPr lang="en-US" dirty="0"/>
              <a:t>performance.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Arithmetic reasoning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Commonsense reasoning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symbolic reasoning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6A4D7-B13C-AF6E-3DB7-693E19C9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CFCE-7266-4B76-8E30-B1D276904DDF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8144D-79F5-7C07-DC59-19ED0876F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6181F-B484-5362-1EAC-870AA534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51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9A276-A40B-5FAD-E0A3-E051485E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Traditional Prompting vs Chain-of-Thought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8986C-B65D-4E71-292A-59827E400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57" y="1572525"/>
            <a:ext cx="10828743" cy="4779751"/>
          </a:xfrm>
        </p:spPr>
        <p:txBody>
          <a:bodyPr/>
          <a:lstStyle/>
          <a:p>
            <a:r>
              <a:rPr lang="en-US" dirty="0"/>
              <a:t>Traditional Prompting</a:t>
            </a:r>
          </a:p>
          <a:p>
            <a:pPr lvl="1"/>
            <a:r>
              <a:rPr lang="en-US" dirty="0"/>
              <a:t>In-context few-shot learners</a:t>
            </a:r>
          </a:p>
          <a:p>
            <a:pPr lvl="1"/>
            <a:r>
              <a:rPr lang="en-US" dirty="0"/>
              <a:t>Works poorly on tasks that require reasoning abilities</a:t>
            </a:r>
          </a:p>
          <a:p>
            <a:pPr lvl="1"/>
            <a:r>
              <a:rPr lang="en-US" dirty="0"/>
              <a:t>Not improving with increasing language model scale</a:t>
            </a:r>
          </a:p>
          <a:p>
            <a:r>
              <a:rPr lang="en-US" dirty="0"/>
              <a:t>Chain-of-thought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Series of intermediate reasoning steps</a:t>
            </a:r>
          </a:p>
          <a:p>
            <a:pPr lvl="1"/>
            <a:r>
              <a:rPr lang="en-US" dirty="0"/>
              <a:t>Mimic human step-by-step thought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CA63C-9B02-5BF3-BB24-21F81ABB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92435-B1A0-45F2-BD4E-141DC45A13C2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3C2BD-510F-678C-6686-CC811396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F6B95-CC58-8FDE-1DA1-7287531B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841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A055-1C69-6168-1DDE-A0FAC1CF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Chain-of-thought Prompting Principals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CBB96-CA6D-E433-BB78-CA7C32A22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0629"/>
            <a:ext cx="8559018" cy="4916334"/>
          </a:xfrm>
        </p:spPr>
        <p:txBody>
          <a:bodyPr>
            <a:normAutofit fontScale="92500" lnSpcReduction="20000"/>
          </a:bodyPr>
          <a:lstStyle/>
          <a:p>
            <a:r>
              <a:rPr lang="en-US" sz="2400"/>
              <a:t>Step-by-Step Guidance - </a:t>
            </a:r>
            <a:r>
              <a:rPr lang="en-US" sz="1600"/>
              <a:t>Breaking complex problems into smaller steps</a:t>
            </a:r>
            <a:endParaRPr lang="en-US" sz="2000"/>
          </a:p>
          <a:p>
            <a:pPr lvl="1"/>
            <a:r>
              <a:rPr lang="en-US" sz="2000"/>
              <a:t>“Let’s do it step by step.”</a:t>
            </a:r>
          </a:p>
          <a:p>
            <a:pPr lvl="1"/>
            <a:endParaRPr lang="en-US" sz="2000"/>
          </a:p>
          <a:p>
            <a:r>
              <a:rPr lang="en-US" sz="2400"/>
              <a:t>Explicit Reasoning Chains - </a:t>
            </a:r>
            <a:r>
              <a:rPr lang="en-US" sz="1600"/>
              <a:t>Creating prompts that detail the reasoning process step by step</a:t>
            </a:r>
            <a:endParaRPr lang="en-US" sz="2000"/>
          </a:p>
          <a:p>
            <a:pPr lvl="1"/>
            <a:r>
              <a:rPr lang="en-US" sz="2000"/>
              <a:t>“Consider the dangers of lightning. Next, evaluate the safety of being outdoors vs. indoors. Conclude with the safest option.”</a:t>
            </a:r>
          </a:p>
          <a:p>
            <a:pPr lvl="1"/>
            <a:endParaRPr lang="en-US" sz="2000"/>
          </a:p>
          <a:p>
            <a:r>
              <a:rPr lang="en-US" sz="2400"/>
              <a:t>Use of Examples - </a:t>
            </a:r>
            <a:r>
              <a:rPr lang="en-US" sz="1600"/>
              <a:t>Providing solved examples with detailed reasoning step</a:t>
            </a:r>
          </a:p>
          <a:p>
            <a:pPr lvl="1"/>
            <a:r>
              <a:rPr lang="en-US" sz="2000"/>
              <a:t>“If A is bigger than B and B is bigger than C, then A is the biggest. For example, if A = 5, B = 3, and C = 2, then 5 is the biggest.”</a:t>
            </a:r>
          </a:p>
          <a:p>
            <a:pPr lvl="1"/>
            <a:endParaRPr lang="en-US" sz="2000"/>
          </a:p>
          <a:p>
            <a:r>
              <a:rPr lang="en-US" sz="2400"/>
              <a:t>Iterative Refinement - </a:t>
            </a:r>
            <a:r>
              <a:rPr lang="en-US" sz="1600"/>
              <a:t>Refining prompts based on model output for clarity and effectiveness</a:t>
            </a:r>
            <a:endParaRPr lang="en-US" sz="2000"/>
          </a:p>
          <a:p>
            <a:pPr lvl="1"/>
            <a:r>
              <a:rPr lang="en-US" sz="2000"/>
              <a:t>"Consider the relationship between A, B, and C step by step, starting with comparing A and B.”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B28C4-F590-E3C1-975E-39C1FD38F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0FC6-6201-45A0-9167-10830BAE18AD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9BEA0-6599-1A72-543A-09B3621A3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C1220-0C94-4BD9-1226-1FF36355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43</a:t>
            </a:fld>
            <a:endParaRPr lang="en-US"/>
          </a:p>
        </p:txBody>
      </p:sp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1F067910-C60D-14A2-3E54-B7F676C85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218" y="1693585"/>
            <a:ext cx="2538254" cy="39037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A67BC0-18A6-DF9E-3833-9F174D57A008}"/>
              </a:ext>
            </a:extLst>
          </p:cNvPr>
          <p:cNvSpPr txBox="1"/>
          <p:nvPr/>
        </p:nvSpPr>
        <p:spPr>
          <a:xfrm>
            <a:off x="11419929" y="2963333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Step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6B23C4-A0DC-74DD-41CF-D85AAD54EC41}"/>
              </a:ext>
            </a:extLst>
          </p:cNvPr>
          <p:cNvSpPr txBox="1"/>
          <p:nvPr/>
        </p:nvSpPr>
        <p:spPr>
          <a:xfrm>
            <a:off x="11419929" y="3718796"/>
            <a:ext cx="77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Step n</a:t>
            </a:r>
          </a:p>
        </p:txBody>
      </p:sp>
    </p:spTree>
    <p:extLst>
      <p:ext uri="{BB962C8B-B14F-4D97-AF65-F5344CB8AC3E}">
        <p14:creationId xmlns:p14="http://schemas.microsoft.com/office/powerpoint/2010/main" val="31408221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7644-15C6-FB2E-5F9A-9747521F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Attractive Properties of </a:t>
            </a:r>
            <a:r>
              <a:rPr lang="en-US" err="1"/>
              <a:t>CoT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FE210-0230-BBD5-5F71-CFE09DE1D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Enables decomposition of multi-step problems.</a:t>
            </a:r>
          </a:p>
          <a:p>
            <a:endParaRPr lang="en-US" dirty="0"/>
          </a:p>
          <a:p>
            <a:r>
              <a:rPr lang="en-US" dirty="0"/>
              <a:t>Provides interpretable insights into LLM's reasoning.</a:t>
            </a:r>
          </a:p>
          <a:p>
            <a:pPr lvl="1"/>
            <a:r>
              <a:rPr lang="en-US" dirty="0"/>
              <a:t>How the answer was derived?</a:t>
            </a:r>
          </a:p>
          <a:p>
            <a:pPr lvl="1"/>
            <a:r>
              <a:rPr lang="en-US" dirty="0"/>
              <a:t>Easy to debug when reasoning path went wrong</a:t>
            </a:r>
          </a:p>
          <a:p>
            <a:pPr lvl="1"/>
            <a:endParaRPr lang="en-US" dirty="0"/>
          </a:p>
          <a:p>
            <a:r>
              <a:rPr lang="en-US" dirty="0"/>
              <a:t>Broad applicability across diverse reasoning tasks.</a:t>
            </a:r>
          </a:p>
          <a:p>
            <a:pPr lvl="1"/>
            <a:r>
              <a:rPr lang="en-US" dirty="0"/>
              <a:t>(Any) problems solvable via language.</a:t>
            </a:r>
          </a:p>
          <a:p>
            <a:pPr lvl="1"/>
            <a:endParaRPr lang="en-US" dirty="0"/>
          </a:p>
          <a:p>
            <a:r>
              <a:rPr lang="en-US" dirty="0"/>
              <a:t>Simple, off-the-shelf</a:t>
            </a:r>
          </a:p>
          <a:p>
            <a:pPr lvl="1"/>
            <a:r>
              <a:rPr lang="en-US" dirty="0"/>
              <a:t>No addition training or fine-tuning needed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18A1-6418-F621-463A-D067BF340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D8232-72D1-43A6-895E-8F8EAD9281E9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227BD-C81A-B9F9-53C7-88321B464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42770-4A25-C69C-88B1-18FA55F9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924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39E8-A5FD-E278-FEC8-FA21925A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</a:t>
            </a:r>
            <a:r>
              <a:rPr lang="zh-CN" altLang="en-US"/>
              <a:t> </a:t>
            </a:r>
            <a:r>
              <a:rPr lang="en-US" altLang="zh-CN"/>
              <a:t>- Arithmetic Reasoning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87CE7-A8C2-318D-B2B7-0C5C805D9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Benchmark:</a:t>
            </a:r>
          </a:p>
          <a:p>
            <a:pPr lvl="1"/>
            <a:r>
              <a:rPr lang="en-US" dirty="0"/>
              <a:t>Five math word problems: </a:t>
            </a:r>
            <a:r>
              <a:rPr lang="en-US" dirty="0">
                <a:solidFill>
                  <a:srgbClr val="FF0000"/>
                </a:solidFill>
              </a:rPr>
              <a:t>GSM8K, SVAMP, </a:t>
            </a:r>
            <a:r>
              <a:rPr lang="en-US" dirty="0" err="1">
                <a:solidFill>
                  <a:srgbClr val="FF0000"/>
                </a:solidFill>
              </a:rPr>
              <a:t>ASDiV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AQuA</a:t>
            </a:r>
            <a:r>
              <a:rPr lang="en-US" dirty="0">
                <a:solidFill>
                  <a:srgbClr val="FF0000"/>
                </a:solidFill>
              </a:rPr>
              <a:t>, MAWPS</a:t>
            </a:r>
          </a:p>
          <a:p>
            <a:pPr lvl="1"/>
            <a:r>
              <a:rPr lang="en-US" dirty="0"/>
              <a:t>“Josh decides to try flipping a house. He buys a house for $80,000 and then puts in $50,000 in repairs. This increased the value of the house by 150%. How much profit did he make?” (GSM8K)</a:t>
            </a:r>
          </a:p>
          <a:p>
            <a:r>
              <a:rPr lang="en-US" dirty="0"/>
              <a:t>Baseline: Standard prompting with in-context exemplars</a:t>
            </a:r>
          </a:p>
          <a:p>
            <a:r>
              <a:rPr lang="en-US" dirty="0" err="1"/>
              <a:t>CoT</a:t>
            </a:r>
            <a:r>
              <a:rPr lang="en-US" dirty="0"/>
              <a:t>: 8 few-shot exemplars with chains of thought for prompting</a:t>
            </a:r>
          </a:p>
          <a:p>
            <a:r>
              <a:rPr lang="en-US" dirty="0"/>
              <a:t>Language models:</a:t>
            </a:r>
          </a:p>
          <a:p>
            <a:pPr lvl="1"/>
            <a:r>
              <a:rPr lang="en-US" dirty="0"/>
              <a:t>GPT-4</a:t>
            </a:r>
          </a:p>
          <a:p>
            <a:pPr lvl="1"/>
            <a:r>
              <a:rPr lang="en-US" dirty="0"/>
              <a:t>LaMDA</a:t>
            </a:r>
          </a:p>
          <a:p>
            <a:pPr lvl="1"/>
            <a:r>
              <a:rPr lang="en-US" dirty="0" err="1"/>
              <a:t>PaLM</a:t>
            </a:r>
            <a:endParaRPr lang="en-US" dirty="0"/>
          </a:p>
          <a:p>
            <a:pPr lvl="1"/>
            <a:r>
              <a:rPr lang="en-US" dirty="0"/>
              <a:t>UL2 20B</a:t>
            </a:r>
          </a:p>
          <a:p>
            <a:pPr lvl="1"/>
            <a:r>
              <a:rPr lang="en-US" dirty="0"/>
              <a:t>Codex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7456C-64AC-CAAB-4C5A-F00694A39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1AB5C-3E55-43DC-936F-F2F9FAB19D06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BC219-5CA3-C5C5-DFDB-B1573976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5EBBE-0111-B287-7914-8DC8470D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677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A502-7732-B91C-DE92-9C328C958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- Arithmetic Reasoning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1C89D-7704-4844-0609-6A40AF4FF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9DF7-B9A2-4701-A712-33B4564B4B56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1AE22-FFEB-0509-4C26-7B1C2353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7453B-1679-D1BD-A5EA-CEE02B0C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46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262B974-29F7-0E87-86AC-62025CF99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CoT</a:t>
            </a:r>
            <a:r>
              <a:rPr lang="en-US" dirty="0"/>
              <a:t> is an emergent ability of the model scale</a:t>
            </a:r>
          </a:p>
          <a:p>
            <a:pPr lvl="1"/>
            <a:r>
              <a:rPr lang="en-US" dirty="0">
                <a:solidFill>
                  <a:srgbClr val="0099CC"/>
                </a:solidFill>
              </a:rPr>
              <a:t>No effect on small models</a:t>
            </a:r>
          </a:p>
          <a:p>
            <a:pPr lvl="1"/>
            <a:endParaRPr lang="en-US" dirty="0"/>
          </a:p>
          <a:p>
            <a:r>
              <a:rPr lang="en-US" dirty="0"/>
              <a:t>Harder problems have a greater improvement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Performance doubled on GSM8K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Error analysis on LaMDA 137B for GSM8K</a:t>
            </a:r>
          </a:p>
          <a:p>
            <a:pPr lvl="1"/>
            <a:r>
              <a:rPr lang="en-US" dirty="0"/>
              <a:t>46% - calculator errors, symbol mapping error</a:t>
            </a:r>
          </a:p>
          <a:p>
            <a:pPr lvl="1"/>
            <a:r>
              <a:rPr lang="en-US" dirty="0"/>
              <a:t>54% - semantic misunderstanding</a:t>
            </a:r>
          </a:p>
          <a:p>
            <a:pPr lvl="1"/>
            <a:endParaRPr lang="en-US" dirty="0"/>
          </a:p>
          <a:p>
            <a:r>
              <a:rPr lang="en-US" dirty="0" err="1"/>
              <a:t>PaLM</a:t>
            </a:r>
            <a:r>
              <a:rPr lang="en-US" dirty="0"/>
              <a:t> 62B -&gt; </a:t>
            </a:r>
            <a:r>
              <a:rPr lang="en-US" dirty="0" err="1"/>
              <a:t>PaLM</a:t>
            </a:r>
            <a:r>
              <a:rPr lang="en-US" dirty="0"/>
              <a:t> 540B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1" name="Content Placeholder 7" descr="A graph of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CBC1E23B-AF95-4AFD-02E7-865F90610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885" y="1558842"/>
            <a:ext cx="3157515" cy="491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31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4D1F-85F9-64D0-AD1C-DC1C581C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 of </a:t>
            </a:r>
            <a:r>
              <a:rPr lang="en-US" err="1"/>
              <a:t>CoT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62E4F-77F8-842E-F54D-4054918E6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Emulate the thought process, </a:t>
            </a:r>
            <a:r>
              <a:rPr lang="en-US" sz="3200" dirty="0">
                <a:solidFill>
                  <a:srgbClr val="00B0F0"/>
                </a:solidFill>
              </a:rPr>
              <a:t>but not necessarily reasoning</a:t>
            </a:r>
          </a:p>
          <a:p>
            <a:r>
              <a:rPr lang="en-US" sz="3200" dirty="0"/>
              <a:t>Cost of manually augmenting exemplars with </a:t>
            </a:r>
            <a:r>
              <a:rPr lang="en-US" sz="3200" dirty="0" err="1"/>
              <a:t>CoTs</a:t>
            </a:r>
            <a:endParaRPr lang="en-US" sz="3200" dirty="0"/>
          </a:p>
          <a:p>
            <a:r>
              <a:rPr lang="en-US" sz="3200" dirty="0"/>
              <a:t>Emergence of </a:t>
            </a:r>
            <a:r>
              <a:rPr lang="en-US" sz="3200" dirty="0" err="1"/>
              <a:t>CoT</a:t>
            </a:r>
            <a:r>
              <a:rPr lang="en-US" sz="3200" dirty="0"/>
              <a:t> reasoning only </a:t>
            </a:r>
            <a:r>
              <a:rPr lang="en-US" sz="3200" dirty="0">
                <a:solidFill>
                  <a:srgbClr val="00B0F0"/>
                </a:solidFill>
              </a:rPr>
              <a:t>at large model scale</a:t>
            </a:r>
          </a:p>
          <a:p>
            <a:r>
              <a:rPr lang="en-US" sz="3200" dirty="0">
                <a:solidFill>
                  <a:srgbClr val="FF0000"/>
                </a:solidFill>
              </a:rPr>
              <a:t>No guarantee of correct reasoning paths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D617-03FA-48D6-9773-AAAEB85FC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FF87-D3B0-486A-8BDD-C40857971B62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5C008-B208-48DF-BA8B-35C36CCE8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3710D-0ED3-FBF9-BD7D-BA35C4A2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165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05C9D-F3EF-5424-DE71-E96F67CC6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Analogous to the </a:t>
            </a:r>
            <a:r>
              <a:rPr lang="en-US" dirty="0">
                <a:solidFill>
                  <a:srgbClr val="FF0000"/>
                </a:solidFill>
              </a:rPr>
              <a:t>human way of thinking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rgbClr val="0099CC"/>
                </a:solidFill>
              </a:rPr>
              <a:t>multiple different ways of thinking lead to the same answer</a:t>
            </a:r>
            <a:r>
              <a:rPr lang="en-US" dirty="0"/>
              <a:t>, one has greater confidence that the final answer is correct.</a:t>
            </a:r>
          </a:p>
          <a:p>
            <a:pPr lvl="1"/>
            <a:r>
              <a:rPr lang="en-US" dirty="0">
                <a:solidFill>
                  <a:srgbClr val="0099CC"/>
                </a:solidFill>
              </a:rPr>
              <a:t>Complex reasoning tasks </a:t>
            </a:r>
            <a:r>
              <a:rPr lang="en-US" dirty="0"/>
              <a:t>typically admit multiple reasoning paths that reach a correct answer.</a:t>
            </a:r>
          </a:p>
          <a:p>
            <a:r>
              <a:rPr lang="en-US" dirty="0"/>
              <a:t>Correct reasoning processes tend to have greater agreement in their final answer than incorrect processes.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FA88D-971D-C212-8CC4-B7383B0D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Self-Consistency Improves Chain of Thought Reasoning in LLMs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91BD3-93E9-4642-07D7-4EA0C864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108B-1D05-4318-8AFC-CE6EC6A5F1CF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0114D-5DEF-816A-E18B-42DEAAE70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7CC3D-368E-9581-1B2F-F06D5A85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87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82A8-931D-58A9-4D9B-484000021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Traditional </a:t>
            </a:r>
            <a:r>
              <a:rPr lang="en-US" err="1"/>
              <a:t>CoT</a:t>
            </a:r>
            <a:r>
              <a:rPr lang="en-US"/>
              <a:t> vs </a:t>
            </a:r>
            <a:r>
              <a:rPr lang="en-US" err="1"/>
              <a:t>CoT</a:t>
            </a:r>
            <a:r>
              <a:rPr lang="en-US"/>
              <a:t> w/ Self Consistency</a:t>
            </a:r>
          </a:p>
        </p:txBody>
      </p:sp>
      <p:pic>
        <p:nvPicPr>
          <p:cNvPr id="8" name="Content Placeholder 7" descr="A diagram of a process&#10;&#10;Description automatically generated">
            <a:extLst>
              <a:ext uri="{FF2B5EF4-FFF2-40B4-BE49-F238E27FC236}">
                <a16:creationId xmlns:a16="http://schemas.microsoft.com/office/drawing/2014/main" id="{77F908C1-EBDA-342A-875B-B4A064F2E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0" y="1837204"/>
            <a:ext cx="5303416" cy="425039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B6F51-4794-5873-DD2B-36C71F6F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E25AA-5FDE-4EE6-A2C7-FBC42488417C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4E772-5CDE-1258-B452-F9E6DF363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3188F-04D1-B208-B855-B37AF3F0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436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84732-6BD3-A903-A54F-9EABFAD5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 steps of Self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FC11A-917E-A07A-B048-628CC5F55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/>
              <a:t>Prompting LLM with </a:t>
            </a:r>
            <a:r>
              <a:rPr lang="en-CA" err="1"/>
              <a:t>CoT</a:t>
            </a:r>
            <a:endParaRPr lang="en-CA"/>
          </a:p>
          <a:p>
            <a:pPr marL="514350" indent="-514350">
              <a:buFont typeface="+mj-lt"/>
              <a:buAutoNum type="arabicPeriod"/>
            </a:pPr>
            <a:r>
              <a:rPr lang="en-CA"/>
              <a:t>Sampling from the LLM decoder to get diverse reasoning paths</a:t>
            </a:r>
          </a:p>
          <a:p>
            <a:pPr marL="514350" indent="-514350">
              <a:buFont typeface="+mj-lt"/>
              <a:buAutoNum type="arabicPeriod"/>
            </a:pPr>
            <a:r>
              <a:rPr lang="en-CA"/>
              <a:t>Selecting the most consistent answers (e.g. majority voting)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3BA8-76C9-B33B-2C6B-37354FD2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32A5-B3E9-4BE8-8C1F-13BBA8122B05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42760-DF89-319D-FCB0-1DEDEC5F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EFF9C-304B-0DA3-9F8A-4D0856B99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50</a:t>
            </a:fld>
            <a:endParaRPr lang="en-US"/>
          </a:p>
        </p:txBody>
      </p:sp>
      <p:pic>
        <p:nvPicPr>
          <p:cNvPr id="8" name="Picture 7" descr="A diagram of a language model&#10;&#10;Description automatically generated">
            <a:extLst>
              <a:ext uri="{FF2B5EF4-FFF2-40B4-BE49-F238E27FC236}">
                <a16:creationId xmlns:a16="http://schemas.microsoft.com/office/drawing/2014/main" id="{B98EF2B8-16E5-C827-37A8-3B374524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" y="3143037"/>
            <a:ext cx="6858000" cy="31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18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F18C-E6CD-A436-0BF5-65D68E40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F23CA1-60DF-877B-0A25-F423D3EC4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8085" y="1500673"/>
            <a:ext cx="11356266" cy="385665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3D970-19F3-8019-626D-DAECD2AF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A55E-7ED9-4AF9-96B7-67A90BBB6944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87804-7A95-6F11-BD2C-5A061D34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5CEE4-D69D-8808-6B3A-323A31D8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596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2388-229E-AAEA-2799-C24B3F6CF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28947D-5D23-449F-50A6-B19312B636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Decomposition of decoder output into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Reasoning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CA" b="0" dirty="0"/>
              </a:p>
              <a:p>
                <a:pPr lvl="1"/>
                <a:r>
                  <a:rPr lang="en-CA" b="0" dirty="0"/>
                  <a:t>Final </a:t>
                </a:r>
                <a:r>
                  <a:rPr lang="en-CA" dirty="0"/>
                  <a:t>answer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CA" dirty="0"/>
              </a:p>
              <a:p>
                <a:r>
                  <a:rPr lang="en-CA" b="1" dirty="0"/>
                  <a:t>Example</a:t>
                </a:r>
              </a:p>
              <a:p>
                <a:pPr lvl="1"/>
                <a:r>
                  <a:rPr lang="en-CA" dirty="0"/>
                  <a:t>Common Sense reasoning</a:t>
                </a:r>
              </a:p>
              <a:p>
                <a:pPr lvl="2"/>
                <a:r>
                  <a:rPr lang="en-CA" dirty="0"/>
                  <a:t>Q: Yes or no: Would a pear sink in water?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: Considering that pears have a density less than water, we can infer that a pear would float in water. </a:t>
                </a:r>
                <a:endParaRPr lang="en-CA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: </a:t>
                </a:r>
                <a:r>
                  <a:rPr lang="en-CA" dirty="0">
                    <a:solidFill>
                      <a:srgbClr val="FF0000"/>
                    </a:solidFill>
                  </a:rPr>
                  <a:t>The answer is </a:t>
                </a:r>
                <a:r>
                  <a:rPr lang="en-CA" dirty="0"/>
                  <a:t>yes, a pear would float in water.</a:t>
                </a:r>
              </a:p>
              <a:p>
                <a:pPr lvl="1"/>
                <a:r>
                  <a:rPr lang="en-CA" dirty="0"/>
                  <a:t>Symbolic reasoning</a:t>
                </a:r>
              </a:p>
              <a:p>
                <a:pPr lvl="2"/>
                <a:r>
                  <a:rPr lang="en-CA" dirty="0"/>
                  <a:t>Q: Take the last letters of the words in “Lady Gaga” and concatenate them.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: The last letter of “Lady” is “y”. The last letter of “Gaga” is “a”.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b="0" dirty="0"/>
                  <a:t>: </a:t>
                </a:r>
                <a:r>
                  <a:rPr lang="en-CA" b="0" dirty="0">
                    <a:solidFill>
                      <a:srgbClr val="FF0000"/>
                    </a:solidFill>
                  </a:rPr>
                  <a:t>The answer is </a:t>
                </a:r>
                <a:r>
                  <a:rPr lang="en-CA" b="0" dirty="0"/>
                  <a:t>“</a:t>
                </a:r>
                <a:r>
                  <a:rPr lang="en-CA" b="0" dirty="0" err="1"/>
                  <a:t>ya</a:t>
                </a:r>
                <a:r>
                  <a:rPr lang="en-CA" b="0" dirty="0"/>
                  <a:t>”.</a:t>
                </a:r>
              </a:p>
              <a:p>
                <a:pPr lvl="2"/>
                <a:endParaRPr lang="en-CA" dirty="0"/>
              </a:p>
              <a:p>
                <a:pPr lvl="1"/>
                <a:endParaRPr lang="en-CA" b="0" dirty="0"/>
              </a:p>
              <a:p>
                <a:pPr lvl="2"/>
                <a:endParaRPr lang="en-CA" b="0" dirty="0"/>
              </a:p>
              <a:p>
                <a:endParaRPr lang="en-CA" b="0" dirty="0"/>
              </a:p>
              <a:p>
                <a:pPr lvl="1"/>
                <a:endParaRPr lang="en-CA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28947D-5D23-449F-50A6-B19312B636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33" t="-3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9D52F-0FB3-81BB-CED5-9F443B01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63EC-C5A9-48AA-B483-FFF5F001EA5E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B9793-3263-3D53-7F1B-2754CE28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9B988-2128-8E7C-0597-B6F45C8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990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7061-E4E0-370E-6F5E-BE0BB417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Consistency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53FA5D-DF44-C361-C301-2E1D53572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676400"/>
            <a:ext cx="6607113" cy="430567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8642D-1D66-D5E9-7401-7BA841B1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6CD0C-65B0-44F6-BF70-53C4D5552005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855DC-EBE4-9861-4545-62BE68EAB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848CE-0461-1568-31F5-0FD22FF4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791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82CB-D572-FF36-B416-5D6F34EE5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 Light"/>
                <a:ea typeface="Calibri Light"/>
                <a:cs typeface="Calibri Light"/>
              </a:rPr>
              <a:t>Self-Refine: Iterative Refinement with Self-Feedback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EA6E7-BCC7-0727-4184-CBC28DD3A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162340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Alternates between two generative steps–FEEDBACK and REFINE. </a:t>
            </a:r>
          </a:p>
          <a:p>
            <a:r>
              <a:rPr lang="en-US" dirty="0">
                <a:ea typeface="+mn-lt"/>
                <a:cs typeface="+mn-lt"/>
              </a:rPr>
              <a:t>3 prompts are needed during the entire process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initial generation, feedback, refinement 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139F3-DB7B-6F67-3028-F59DFFCBC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764F-A8F7-4C87-AB33-E4993247EEC2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0020E-9C06-E475-5053-A11E37BC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DB0A5-EEAF-04E5-4574-4DE10B46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54</a:t>
            </a:fld>
            <a:endParaRPr lang="en-US"/>
          </a:p>
        </p:txBody>
      </p:sp>
      <p:pic>
        <p:nvPicPr>
          <p:cNvPr id="14" name="Picture 13" descr="A diagram of a process&#10;&#10;Description automatically generated">
            <a:extLst>
              <a:ext uri="{FF2B5EF4-FFF2-40B4-BE49-F238E27FC236}">
                <a16:creationId xmlns:a16="http://schemas.microsoft.com/office/drawing/2014/main" id="{F76D966E-578A-B300-E051-C70C91091C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9" b="25044"/>
          <a:stretch/>
        </p:blipFill>
        <p:spPr>
          <a:xfrm>
            <a:off x="1600200" y="3680659"/>
            <a:ext cx="8332724" cy="278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010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82CB-D572-FF36-B416-5D6F34EE5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Self-Refine  - Big picture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139F3-DB7B-6F67-3028-F59DFFCBC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8A3D-4A2B-40FD-A3AE-D77DD924C80A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0020E-9C06-E475-5053-A11E37BC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DB0A5-EEAF-04E5-4574-4DE10B46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4A5E-B0D2-394D-9970-9AE06BCB59C1}" type="slidenum">
              <a:rPr lang="en-US" smtClean="0"/>
              <a:t>55</a:t>
            </a:fld>
            <a:endParaRPr lang="en-US"/>
          </a:p>
        </p:txBody>
      </p:sp>
      <p:pic>
        <p:nvPicPr>
          <p:cNvPr id="15" name="Picture 14" descr="A screenshot of a program&#10;&#10;Description automatically generated">
            <a:extLst>
              <a:ext uri="{FF2B5EF4-FFF2-40B4-BE49-F238E27FC236}">
                <a16:creationId xmlns:a16="http://schemas.microsoft.com/office/drawing/2014/main" id="{8903FC50-5EC1-1D24-C7CA-5C3FE6F11A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2" b="26043"/>
          <a:stretch/>
        </p:blipFill>
        <p:spPr>
          <a:xfrm>
            <a:off x="1295400" y="1427672"/>
            <a:ext cx="9424263" cy="506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08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A6B29-883E-F806-764B-A8E44F10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886E-4811-471D-B56B-2BFA0A271219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287918-2095-CD15-4D7C-9CBCC5F1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EFCE0-A09C-6EA2-32E0-22C91ABD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48092</TotalTime>
  <Words>4601</Words>
  <Application>Microsoft Office PowerPoint</Application>
  <PresentationFormat>Widescreen</PresentationFormat>
  <Paragraphs>706</Paragraphs>
  <Slides>56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72" baseType="lpstr">
      <vt:lpstr>-apple-system</vt:lpstr>
      <vt:lpstr>Arial MT</vt:lpstr>
      <vt:lpstr>sohne</vt:lpstr>
      <vt:lpstr>Söhne</vt:lpstr>
      <vt:lpstr>source-serif-pro</vt:lpstr>
      <vt:lpstr>arial</vt:lpstr>
      <vt:lpstr>arial</vt:lpstr>
      <vt:lpstr>Calibri</vt:lpstr>
      <vt:lpstr>Calibri Light</vt:lpstr>
      <vt:lpstr>Cambria Math</vt:lpstr>
      <vt:lpstr>Courier New</vt:lpstr>
      <vt:lpstr>Source Sans Pro</vt:lpstr>
      <vt:lpstr>Tahoma</vt:lpstr>
      <vt:lpstr>Times New Roman</vt:lpstr>
      <vt:lpstr>Wingdings</vt:lpstr>
      <vt:lpstr>Office Theme</vt:lpstr>
      <vt:lpstr>PowerPoint Presentation</vt:lpstr>
      <vt:lpstr>Goals</vt:lpstr>
      <vt:lpstr>Retrieval-Augmented Generation (RAG)</vt:lpstr>
      <vt:lpstr>Retrieval-Augmented Generation (RAG)</vt:lpstr>
      <vt:lpstr>Limitations of current LMMs: Hallucination</vt:lpstr>
      <vt:lpstr>RAG Pipeline</vt:lpstr>
      <vt:lpstr>QA with Retrieval Augmented Generation</vt:lpstr>
      <vt:lpstr>Retrieval Augmented Generation: Ingestion</vt:lpstr>
      <vt:lpstr>Retrieval Augmented Generation: Ingestion</vt:lpstr>
      <vt:lpstr>Retrieval Augmented Generation: Ingestion</vt:lpstr>
      <vt:lpstr>Retrieval Augmented Generation: Ingestion</vt:lpstr>
      <vt:lpstr>Sentence BERT</vt:lpstr>
      <vt:lpstr>Sentence BERT</vt:lpstr>
      <vt:lpstr>SentenceBERT</vt:lpstr>
      <vt:lpstr>Sentence BERT</vt:lpstr>
      <vt:lpstr>Sentence BERT</vt:lpstr>
      <vt:lpstr>Sentence BERT</vt:lpstr>
      <vt:lpstr>Which Tokenizer to use?</vt:lpstr>
      <vt:lpstr>Retrieval Augmented Generation: Ingestion</vt:lpstr>
      <vt:lpstr>Vector DB: introduction</vt:lpstr>
      <vt:lpstr>Vector DB: introduction</vt:lpstr>
      <vt:lpstr>Vector DB: introduction</vt:lpstr>
      <vt:lpstr>Prompt Engineering</vt:lpstr>
      <vt:lpstr>What is prompt engineering? </vt:lpstr>
      <vt:lpstr>What are prompts?</vt:lpstr>
      <vt:lpstr>Why Prompt Engineering?</vt:lpstr>
      <vt:lpstr>First Basic Prompt</vt:lpstr>
      <vt:lpstr>Elements of a Prompt</vt:lpstr>
      <vt:lpstr>Settings to keep in mind</vt:lpstr>
      <vt:lpstr>Settings to keep in mind</vt:lpstr>
      <vt:lpstr>Designing Prompts for Different Tasks</vt:lpstr>
      <vt:lpstr>Text Summarization</vt:lpstr>
      <vt:lpstr>Question Answering</vt:lpstr>
      <vt:lpstr>Text Classification</vt:lpstr>
      <vt:lpstr>Role Playing</vt:lpstr>
      <vt:lpstr>Code Generation</vt:lpstr>
      <vt:lpstr>Reasoning</vt:lpstr>
      <vt:lpstr>Prompt Engineering Techniques</vt:lpstr>
      <vt:lpstr>Few-shot prompts</vt:lpstr>
      <vt:lpstr>Few-shot prompts</vt:lpstr>
      <vt:lpstr>Chain-of-Thought Prompting</vt:lpstr>
      <vt:lpstr>Traditional Prompting vs Chain-of-Thought</vt:lpstr>
      <vt:lpstr>Chain-of-thought Prompting Principals</vt:lpstr>
      <vt:lpstr>Attractive Properties of CoT</vt:lpstr>
      <vt:lpstr>Evaluation - Arithmetic Reasoning</vt:lpstr>
      <vt:lpstr>Evaluation - Arithmetic Reasoning</vt:lpstr>
      <vt:lpstr>Limitation of CoT</vt:lpstr>
      <vt:lpstr>Self-Consistency Improves Chain of Thought Reasoning in LLMs</vt:lpstr>
      <vt:lpstr>Traditional CoT vs CoT w/ Self Consistency</vt:lpstr>
      <vt:lpstr>3 steps of Self Consistency</vt:lpstr>
      <vt:lpstr>Another example</vt:lpstr>
      <vt:lpstr>Understanding the Consistency</vt:lpstr>
      <vt:lpstr>Understanding the Consistency</vt:lpstr>
      <vt:lpstr>Self-Refine: Iterative Refinement with Self-Feedback</vt:lpstr>
      <vt:lpstr>Self-Refine  - Big picture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01-243172-020</cp:lastModifiedBy>
  <cp:revision>2362</cp:revision>
  <dcterms:created xsi:type="dcterms:W3CDTF">2006-08-16T00:00:00Z</dcterms:created>
  <dcterms:modified xsi:type="dcterms:W3CDTF">2025-12-01T10:01:59Z</dcterms:modified>
</cp:coreProperties>
</file>