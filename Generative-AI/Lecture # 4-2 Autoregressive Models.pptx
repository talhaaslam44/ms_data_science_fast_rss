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39"/>
  </p:notesMasterIdLst>
  <p:sldIdLst>
    <p:sldId id="352" r:id="rId2"/>
    <p:sldId id="421" r:id="rId3"/>
    <p:sldId id="1623" r:id="rId4"/>
    <p:sldId id="1585" r:id="rId5"/>
    <p:sldId id="259" r:id="rId6"/>
    <p:sldId id="381" r:id="rId7"/>
    <p:sldId id="1551" r:id="rId8"/>
    <p:sldId id="1582" r:id="rId9"/>
    <p:sldId id="1586" r:id="rId10"/>
    <p:sldId id="643" r:id="rId11"/>
    <p:sldId id="1587" r:id="rId12"/>
    <p:sldId id="1589" r:id="rId13"/>
    <p:sldId id="1588" r:id="rId14"/>
    <p:sldId id="1590" r:id="rId15"/>
    <p:sldId id="1591" r:id="rId16"/>
    <p:sldId id="1592" r:id="rId17"/>
    <p:sldId id="1624" r:id="rId18"/>
    <p:sldId id="1593" r:id="rId19"/>
    <p:sldId id="1594" r:id="rId20"/>
    <p:sldId id="1595" r:id="rId21"/>
    <p:sldId id="1596" r:id="rId22"/>
    <p:sldId id="1597" r:id="rId23"/>
    <p:sldId id="1598" r:id="rId24"/>
    <p:sldId id="1625" r:id="rId25"/>
    <p:sldId id="1599" r:id="rId26"/>
    <p:sldId id="1600" r:id="rId27"/>
    <p:sldId id="1601" r:id="rId28"/>
    <p:sldId id="1603" r:id="rId29"/>
    <p:sldId id="1626" r:id="rId30"/>
    <p:sldId id="1604" r:id="rId31"/>
    <p:sldId id="1627" r:id="rId32"/>
    <p:sldId id="1605" r:id="rId33"/>
    <p:sldId id="1628" r:id="rId34"/>
    <p:sldId id="1606" r:id="rId35"/>
    <p:sldId id="1621" r:id="rId36"/>
    <p:sldId id="1287" r:id="rId37"/>
    <p:sldId id="128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2B1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70" d="100"/>
          <a:sy n="70" d="100"/>
        </p:scale>
        <p:origin x="738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6F49EA2-954A-420D-83A6-6E4BCAC7CADB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03B0F-24E2-401E-A97B-ACD3E06E12E3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225FD-4643-4C07-B6B5-B9D4D1B0017D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D3B77-45D8-4D19-9109-D6D484FC07F6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391BB-7CCD-4BE1-A6DC-847CF0FB41C8}" type="datetime1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ED18-D621-493C-991C-D7C7D377058C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49143-0998-4E43-91CA-6D6C9C5A85F2}" type="datetime1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124D2-5D15-4261-AEDF-3B99B2A96703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9BF53-CED8-4C63-A327-4F64403CAC96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37584-9B80-424B-A850-0DC59FE4B269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2828B-FAF7-48D1-A013-70A65A429E1D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2AA15DC-3710-4A4C-8217-D2078D51EFA9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toronto.edu/~hinton/absps/JMLRdropout.pdf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ublication/365138478_State_of_Health_Estimation_using_a_Temporal_Convolutional_Network_for_an_Efficient_Use_of_Retired_Electric_Vehicle_Batteries_within_Second-Life_Applications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A5F54-BF4F-4196-BC00-42A568E86A7C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52700" y="457200"/>
            <a:ext cx="6329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National University of Computer and Emerging Sciences</a:t>
            </a:r>
            <a:endParaRPr lang="en-US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400301" y="2589242"/>
            <a:ext cx="73913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Autoregressive Models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 err="1">
                <a:solidFill>
                  <a:srgbClr val="002060"/>
                </a:solidFill>
                <a:latin typeface="Arial" charset="0"/>
              </a:rPr>
              <a:t>Dr.</a:t>
            </a: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 Muhammad Nouman Noor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AI &amp; DS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AI-4009 Generative AI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49478"/>
            <a:ext cx="954108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Review of Previous Lecture</a:t>
            </a:r>
          </a:p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dirty="0">
                <a:ea typeface="SimSun" panose="02010600030101010101" pitchFamily="2" charset="-122"/>
              </a:rPr>
              <a:t>Autoregressive Models</a:t>
            </a:r>
          </a:p>
          <a:p>
            <a:pPr lvl="1"/>
            <a:r>
              <a:rPr lang="en-US" dirty="0">
                <a:ea typeface="SimSun" panose="02010600030101010101" pitchFamily="2" charset="-122"/>
              </a:rPr>
              <a:t>Causal Convolution</a:t>
            </a:r>
          </a:p>
          <a:p>
            <a:pPr lvl="1"/>
            <a:r>
              <a:rPr lang="en-US" dirty="0">
                <a:ea typeface="SimSun" panose="02010600030101010101" pitchFamily="2" charset="-122"/>
              </a:rPr>
              <a:t>Dilated Convolutions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8922E-258C-4E5D-A808-EA4DFA12E8C4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24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7D865-2304-C540-D1E5-74CD4F850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23E94-11D4-D5E4-B563-0BD978BA8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C616D-D71D-4324-A7B3-2DBD8B0A1FA8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C462B-1597-4177-40B1-E730E80B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3B8636-36E5-9790-061E-91FF3C2C1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D89FF9E-9362-9EA1-1719-7DC1E20E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009900"/>
            <a:ext cx="7239000" cy="838200"/>
          </a:xfrm>
        </p:spPr>
        <p:txBody>
          <a:bodyPr/>
          <a:lstStyle/>
          <a:p>
            <a:r>
              <a:rPr lang="en-US" dirty="0"/>
              <a:t>Review of 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1142479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BA380-4420-C78C-1D59-5C9A2EFF1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C3C08D9-4226-BFC4-7C01-82ECE61D19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600200"/>
            <a:ext cx="8512296" cy="41148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031EAF-E2C0-98B5-2A76-28A9AD10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4EDAC-07F3-4A38-84D6-DE61B59D4448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A9B787-19CB-30F5-DA20-F73381136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8D97F-BF0D-4CA3-CDF2-50615922D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B2E9AB1-E3AC-EBF5-5248-B86393356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Operation</a:t>
            </a:r>
          </a:p>
        </p:txBody>
      </p:sp>
    </p:spTree>
    <p:extLst>
      <p:ext uri="{BB962C8B-B14F-4D97-AF65-F5344CB8AC3E}">
        <p14:creationId xmlns:p14="http://schemas.microsoft.com/office/powerpoint/2010/main" val="395581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35221" y="1040053"/>
            <a:ext cx="4928235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35" dirty="0">
                <a:solidFill>
                  <a:srgbClr val="0070C0"/>
                </a:solidFill>
              </a:rPr>
              <a:t>CNN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D80BF5-958C-478B-A3E5-A0B76C26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4CB46-1A4A-41ED-A068-4972AC6B7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6DE7DF-6B65-4D90-99AA-7F5C4D349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A6F21-92A7-45E2-BC8C-6A9CAA520DD7}" type="datetime1">
              <a:rPr lang="en-US" smtClean="0"/>
              <a:t>9/2/2025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AB5712F-01BE-2131-09E9-1BBC32556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3600"/>
            <a:ext cx="12192000" cy="404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標題 1">
            <a:extLst>
              <a:ext uri="{FF2B5EF4-FFF2-40B4-BE49-F238E27FC236}">
                <a16:creationId xmlns:a16="http://schemas.microsoft.com/office/drawing/2014/main" id="{05F0431E-FBDD-DD73-43AF-516FBD293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325563"/>
          </a:xfrm>
        </p:spPr>
        <p:txBody>
          <a:bodyPr/>
          <a:lstStyle/>
          <a:p>
            <a:r>
              <a:rPr lang="en-US" altLang="zh-TW"/>
              <a:t>The whole CNN</a:t>
            </a:r>
            <a:endParaRPr lang="zh-TW" altLang="en-US"/>
          </a:p>
        </p:txBody>
      </p:sp>
      <p:grpSp>
        <p:nvGrpSpPr>
          <p:cNvPr id="27650" name="群組 3">
            <a:extLst>
              <a:ext uri="{FF2B5EF4-FFF2-40B4-BE49-F238E27FC236}">
                <a16:creationId xmlns:a16="http://schemas.microsoft.com/office/drawing/2014/main" id="{B8BCD149-788A-A7B8-291D-700A1DC10273}"/>
              </a:ext>
            </a:extLst>
          </p:cNvPr>
          <p:cNvGrpSpPr>
            <a:grpSpLocks/>
          </p:cNvGrpSpPr>
          <p:nvPr/>
        </p:nvGrpSpPr>
        <p:grpSpPr bwMode="auto">
          <a:xfrm>
            <a:off x="2273301" y="2274888"/>
            <a:ext cx="2906713" cy="3200400"/>
            <a:chOff x="-1626455" y="3999117"/>
            <a:chExt cx="2906568" cy="3201477"/>
          </a:xfrm>
        </p:grpSpPr>
        <p:pic>
          <p:nvPicPr>
            <p:cNvPr id="27678" name="圖片 4">
              <a:extLst>
                <a:ext uri="{FF2B5EF4-FFF2-40B4-BE49-F238E27FC236}">
                  <a16:creationId xmlns:a16="http://schemas.microsoft.com/office/drawing/2014/main" id="{FA74C2FB-BE9F-973E-B25D-27840D670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H="1">
              <a:off x="-1736746" y="4748962"/>
              <a:ext cx="3201477" cy="1701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文字方塊 5">
              <a:extLst>
                <a:ext uri="{FF2B5EF4-FFF2-40B4-BE49-F238E27FC236}">
                  <a16:creationId xmlns:a16="http://schemas.microsoft.com/office/drawing/2014/main" id="{A9A72F25-9F6D-4D68-91BE-8A1ECA0483AF}"/>
                </a:ext>
              </a:extLst>
            </p:cNvPr>
            <p:cNvSpPr txBox="1"/>
            <p:nvPr/>
          </p:nvSpPr>
          <p:spPr>
            <a:xfrm>
              <a:off x="-1626455" y="5442856"/>
              <a:ext cx="2906568" cy="70788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TW" sz="2000" dirty="0">
                  <a:solidFill>
                    <a:srgbClr val="000000"/>
                  </a:solidFill>
                </a:rPr>
                <a:t>Fully Connected </a:t>
              </a:r>
              <a:r>
                <a:rPr lang="en-US" altLang="zh-TW" sz="2000" dirty="0" err="1">
                  <a:solidFill>
                    <a:srgbClr val="000000"/>
                  </a:solidFill>
                </a:rPr>
                <a:t>Feedforward</a:t>
              </a:r>
              <a:r>
                <a:rPr lang="en-US" altLang="zh-TW" sz="2000" dirty="0">
                  <a:solidFill>
                    <a:srgbClr val="000000"/>
                  </a:solidFill>
                </a:rPr>
                <a:t> network</a:t>
              </a:r>
              <a:endParaRPr lang="zh-TW" altLang="en-US" sz="20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651" name="Picture 2" descr="http://s.hswstatic.com/gif/whiskers-sam.jpg">
            <a:extLst>
              <a:ext uri="{FF2B5EF4-FFF2-40B4-BE49-F238E27FC236}">
                <a16:creationId xmlns:a16="http://schemas.microsoft.com/office/drawing/2014/main" id="{5863E84B-B97E-BD0A-B57B-6A1B30ACB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938" y="192089"/>
            <a:ext cx="1771650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文字方塊 8">
            <a:extLst>
              <a:ext uri="{FF2B5EF4-FFF2-40B4-BE49-F238E27FC236}">
                <a16:creationId xmlns:a16="http://schemas.microsoft.com/office/drawing/2014/main" id="{9919F024-E85E-2D86-5DBF-CC5A8F7EF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1939" y="1706564"/>
            <a:ext cx="2046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cat dog ……</a:t>
            </a:r>
            <a:endParaRPr lang="zh-TW" altLang="en-US"/>
          </a:p>
        </p:txBody>
      </p:sp>
      <p:sp>
        <p:nvSpPr>
          <p:cNvPr id="10" name="矩形 10">
            <a:extLst>
              <a:ext uri="{FF2B5EF4-FFF2-40B4-BE49-F238E27FC236}">
                <a16:creationId xmlns:a16="http://schemas.microsoft.com/office/drawing/2014/main" id="{978EAF48-772C-B12E-3069-942FD34F52B9}"/>
              </a:ext>
            </a:extLst>
          </p:cNvPr>
          <p:cNvSpPr/>
          <p:nvPr/>
        </p:nvSpPr>
        <p:spPr>
          <a:xfrm>
            <a:off x="6773923" y="1929505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chemeClr val="tx1"/>
                </a:solidFill>
              </a:rPr>
              <a:t>Convolution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1" name="矩形 12">
            <a:extLst>
              <a:ext uri="{FF2B5EF4-FFF2-40B4-BE49-F238E27FC236}">
                <a16:creationId xmlns:a16="http://schemas.microsoft.com/office/drawing/2014/main" id="{B95E169A-D2BF-77E1-9D0D-258E1B0EF5F7}"/>
              </a:ext>
            </a:extLst>
          </p:cNvPr>
          <p:cNvSpPr/>
          <p:nvPr/>
        </p:nvSpPr>
        <p:spPr>
          <a:xfrm>
            <a:off x="6773923" y="3029517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2" name="矩形 13">
            <a:extLst>
              <a:ext uri="{FF2B5EF4-FFF2-40B4-BE49-F238E27FC236}">
                <a16:creationId xmlns:a16="http://schemas.microsoft.com/office/drawing/2014/main" id="{4DE690BE-FC53-FE15-4E1E-8D477FB8A395}"/>
              </a:ext>
            </a:extLst>
          </p:cNvPr>
          <p:cNvSpPr/>
          <p:nvPr/>
        </p:nvSpPr>
        <p:spPr>
          <a:xfrm>
            <a:off x="6773923" y="4097730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3" name="矩形 14">
            <a:extLst>
              <a:ext uri="{FF2B5EF4-FFF2-40B4-BE49-F238E27FC236}">
                <a16:creationId xmlns:a16="http://schemas.microsoft.com/office/drawing/2014/main" id="{10664587-5F16-1EBA-5A2F-7E4E2DA00BE2}"/>
              </a:ext>
            </a:extLst>
          </p:cNvPr>
          <p:cNvSpPr/>
          <p:nvPr/>
        </p:nvSpPr>
        <p:spPr>
          <a:xfrm>
            <a:off x="6773923" y="5130982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4" name="文字方塊 15">
            <a:extLst>
              <a:ext uri="{FF2B5EF4-FFF2-40B4-BE49-F238E27FC236}">
                <a16:creationId xmlns:a16="http://schemas.microsoft.com/office/drawing/2014/main" id="{8BA09434-ED09-CDCD-6DAB-2EA99A902C04}"/>
              </a:ext>
            </a:extLst>
          </p:cNvPr>
          <p:cNvSpPr txBox="1"/>
          <p:nvPr/>
        </p:nvSpPr>
        <p:spPr>
          <a:xfrm>
            <a:off x="4848219" y="6055666"/>
            <a:ext cx="1556991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Flattened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5" name="向下箭號 11">
            <a:extLst>
              <a:ext uri="{FF2B5EF4-FFF2-40B4-BE49-F238E27FC236}">
                <a16:creationId xmlns:a16="http://schemas.microsoft.com/office/drawing/2014/main" id="{B49D1D6C-EAD9-D15E-23B2-2434B9ECFB3C}"/>
              </a:ext>
            </a:extLst>
          </p:cNvPr>
          <p:cNvSpPr/>
          <p:nvPr/>
        </p:nvSpPr>
        <p:spPr>
          <a:xfrm>
            <a:off x="7392988" y="1450976"/>
            <a:ext cx="546100" cy="44291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6" name="向下箭號 17">
            <a:extLst>
              <a:ext uri="{FF2B5EF4-FFF2-40B4-BE49-F238E27FC236}">
                <a16:creationId xmlns:a16="http://schemas.microsoft.com/office/drawing/2014/main" id="{C5B7330A-9993-D3AF-7E69-7C428B47958A}"/>
              </a:ext>
            </a:extLst>
          </p:cNvPr>
          <p:cNvSpPr/>
          <p:nvPr/>
        </p:nvSpPr>
        <p:spPr>
          <a:xfrm>
            <a:off x="7392988" y="2562226"/>
            <a:ext cx="546100" cy="44291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7" name="向下箭號 18">
            <a:extLst>
              <a:ext uri="{FF2B5EF4-FFF2-40B4-BE49-F238E27FC236}">
                <a16:creationId xmlns:a16="http://schemas.microsoft.com/office/drawing/2014/main" id="{A0B00DE3-5D26-2876-3B29-E00642B051A9}"/>
              </a:ext>
            </a:extLst>
          </p:cNvPr>
          <p:cNvSpPr/>
          <p:nvPr/>
        </p:nvSpPr>
        <p:spPr>
          <a:xfrm>
            <a:off x="7392988" y="3654426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8" name="向下箭號 19">
            <a:extLst>
              <a:ext uri="{FF2B5EF4-FFF2-40B4-BE49-F238E27FC236}">
                <a16:creationId xmlns:a16="http://schemas.microsoft.com/office/drawing/2014/main" id="{E16DB56F-7D4D-5424-2408-D2DDED52D321}"/>
              </a:ext>
            </a:extLst>
          </p:cNvPr>
          <p:cNvSpPr/>
          <p:nvPr/>
        </p:nvSpPr>
        <p:spPr>
          <a:xfrm>
            <a:off x="7392988" y="4689476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9" name="右彎箭號 16">
            <a:extLst>
              <a:ext uri="{FF2B5EF4-FFF2-40B4-BE49-F238E27FC236}">
                <a16:creationId xmlns:a16="http://schemas.microsoft.com/office/drawing/2014/main" id="{0D81172B-ACB1-E3B0-32C9-059DAE9ACC99}"/>
              </a:ext>
            </a:extLst>
          </p:cNvPr>
          <p:cNvSpPr/>
          <p:nvPr/>
        </p:nvSpPr>
        <p:spPr>
          <a:xfrm rot="10800000">
            <a:off x="6405563" y="5753101"/>
            <a:ext cx="1377950" cy="752475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右彎箭號 21">
            <a:extLst>
              <a:ext uri="{FF2B5EF4-FFF2-40B4-BE49-F238E27FC236}">
                <a16:creationId xmlns:a16="http://schemas.microsoft.com/office/drawing/2014/main" id="{A4AC8ED1-AD78-CF0C-CA03-925762FCB7D8}"/>
              </a:ext>
            </a:extLst>
          </p:cNvPr>
          <p:cNvSpPr/>
          <p:nvPr/>
        </p:nvSpPr>
        <p:spPr>
          <a:xfrm rot="16200000">
            <a:off x="3678238" y="5340351"/>
            <a:ext cx="968375" cy="1238250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7674" name="文字方塊 20">
            <a:extLst>
              <a:ext uri="{FF2B5EF4-FFF2-40B4-BE49-F238E27FC236}">
                <a16:creationId xmlns:a16="http://schemas.microsoft.com/office/drawing/2014/main" id="{8D9BD540-4A50-E888-B946-38F85F599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8739" y="3414713"/>
            <a:ext cx="1690687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Can repeat many times</a:t>
            </a:r>
            <a:endParaRPr lang="zh-TW" altLang="en-US"/>
          </a:p>
        </p:txBody>
      </p:sp>
      <p:sp>
        <p:nvSpPr>
          <p:cNvPr id="22" name="左大括弧 22">
            <a:extLst>
              <a:ext uri="{FF2B5EF4-FFF2-40B4-BE49-F238E27FC236}">
                <a16:creationId xmlns:a16="http://schemas.microsoft.com/office/drawing/2014/main" id="{AF20D98C-A541-E1D4-163B-71DC3F561AB4}"/>
              </a:ext>
            </a:extLst>
          </p:cNvPr>
          <p:cNvSpPr/>
          <p:nvPr/>
        </p:nvSpPr>
        <p:spPr>
          <a:xfrm flipH="1">
            <a:off x="8550276" y="1806576"/>
            <a:ext cx="334963" cy="4048125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3" name="矩形 23">
            <a:extLst>
              <a:ext uri="{FF2B5EF4-FFF2-40B4-BE49-F238E27FC236}">
                <a16:creationId xmlns:a16="http://schemas.microsoft.com/office/drawing/2014/main" id="{8981B4AD-FC24-E3BF-596E-575D03AAB45C}"/>
              </a:ext>
            </a:extLst>
          </p:cNvPr>
          <p:cNvSpPr/>
          <p:nvPr/>
        </p:nvSpPr>
        <p:spPr>
          <a:xfrm>
            <a:off x="6692901" y="2976563"/>
            <a:ext cx="1857375" cy="6969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4" name="矩形 25">
            <a:extLst>
              <a:ext uri="{FF2B5EF4-FFF2-40B4-BE49-F238E27FC236}">
                <a16:creationId xmlns:a16="http://schemas.microsoft.com/office/drawing/2014/main" id="{1E99F5C7-60BB-6087-9DD7-21708E692864}"/>
              </a:ext>
            </a:extLst>
          </p:cNvPr>
          <p:cNvSpPr/>
          <p:nvPr/>
        </p:nvSpPr>
        <p:spPr>
          <a:xfrm>
            <a:off x="6692901" y="5080001"/>
            <a:ext cx="1857375" cy="6969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8125FE-D5B4-39B6-269C-CDF6741E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D734-701E-4F14-8646-4312727AAF91}" type="datetime1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F116DC-E7C3-6D1F-D460-DFB8E6A97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87957-4426-0A78-5378-790D3912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733801" y="2133600"/>
            <a:ext cx="5137081" cy="41752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7C251-048D-44C9-B953-14E209AB8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2E0ED-518D-4F18-A56B-5C38D754E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27C721A2-2E4F-4A02-9D2B-CCC50EE76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09601"/>
            <a:ext cx="8229600" cy="8382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Pooling Layer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7ADC5A-6A3B-44D6-83EB-53CE7FB84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16CE-346B-4998-B917-0521D3946B8B}" type="datetime1">
              <a:rPr lang="en-US" smtClean="0"/>
              <a:t>9/2/2025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4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570E40-AF95-438B-9239-BF1B255C0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3810000"/>
          </a:xfrm>
        </p:spPr>
        <p:txBody>
          <a:bodyPr/>
          <a:lstStyle/>
          <a:p>
            <a:r>
              <a:rPr lang="en-US" i="1" dirty="0"/>
              <a:t>The term “dropout” refers to </a:t>
            </a:r>
            <a:r>
              <a:rPr lang="en-US" i="1" dirty="0">
                <a:solidFill>
                  <a:srgbClr val="00B050"/>
                </a:solidFill>
              </a:rPr>
              <a:t>dropping out units (both hidden and visible)</a:t>
            </a:r>
            <a:r>
              <a:rPr lang="en-US" i="1" dirty="0"/>
              <a:t> in a neural network.</a:t>
            </a:r>
            <a:endParaRPr lang="en-US" dirty="0"/>
          </a:p>
          <a:p>
            <a:r>
              <a:rPr lang="en-US" dirty="0"/>
              <a:t>It is a way to preventing overfitting problem</a:t>
            </a:r>
          </a:p>
          <a:p>
            <a:r>
              <a:rPr lang="en-US" dirty="0"/>
              <a:t>These units are not considered during a </a:t>
            </a:r>
            <a:r>
              <a:rPr lang="en-US" dirty="0">
                <a:solidFill>
                  <a:srgbClr val="00B0F0"/>
                </a:solidFill>
              </a:rPr>
              <a:t>particular forward or backward pass</a:t>
            </a:r>
          </a:p>
          <a:p>
            <a:r>
              <a:rPr lang="en-US" dirty="0"/>
              <a:t>A new </a:t>
            </a:r>
            <a:r>
              <a:rPr lang="en-US" dirty="0">
                <a:solidFill>
                  <a:srgbClr val="FF0000"/>
                </a:solidFill>
              </a:rPr>
              <a:t>hyperparameter is introduced that specifies the probability </a:t>
            </a:r>
            <a:r>
              <a:rPr lang="en-US" dirty="0"/>
              <a:t>at which outputs of the layer are dropped out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9B5C8-D0C2-41F1-A62F-F064BE743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39506-7141-4532-B50F-F32D3FACA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8A1DE9-54A1-40A5-A42E-E8ED3EBAF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Dropout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945893-E78D-46C0-98C9-819044881AE8}"/>
              </a:ext>
            </a:extLst>
          </p:cNvPr>
          <p:cNvSpPr txBox="1"/>
          <p:nvPr/>
        </p:nvSpPr>
        <p:spPr>
          <a:xfrm>
            <a:off x="2362200" y="5825877"/>
            <a:ext cx="7391400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hlinkClick r:id="rId2"/>
              </a:rPr>
              <a:t>Dropout: A Simple Way to Prevent Neural Networks from Overfitting</a:t>
            </a:r>
            <a:endParaRPr lang="en-US" sz="2000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9EC82D2-88B4-4663-AC0A-E20AA773C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0FC85-517C-42AC-BE20-3E0E024E9003}" type="datetime1">
              <a:rPr lang="en-US" smtClean="0"/>
              <a:t>9/2/2025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83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8DF20-1938-07A3-3B63-C4DCC12A3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C2CB-1C31-4143-AFC8-8E00DFB10876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EF2814-2AA5-6599-A63F-C1F4FED79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0CDC2F-B2EC-D816-3E5A-9F061622D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ADEB649-D30B-8B4D-5E46-4E8C7087E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Dropout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DEA6C6D-6699-B3BA-AD93-9EE41AF77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14600"/>
            <a:ext cx="7121455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Learning curves of LSTM networks when training without and with 0.25... |  Download Scientific Diagram">
            <a:extLst>
              <a:ext uri="{FF2B5EF4-FFF2-40B4-BE49-F238E27FC236}">
                <a16:creationId xmlns:a16="http://schemas.microsoft.com/office/drawing/2014/main" id="{FA5DF6A0-9B34-BDDF-D151-190E6D813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1456" y="1752600"/>
            <a:ext cx="5250544" cy="3937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5852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2FB545-A9E7-ED6D-B0FC-CCE77B567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EC74-0E78-4F42-BA28-798F365ABFD5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454EB9-50ED-91FD-B968-6CEA2044F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E8FF4-1E2E-6612-B48C-A4BF725B9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02646E-4814-5BCF-22E9-6E28753C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009900"/>
            <a:ext cx="7239000" cy="838200"/>
          </a:xfrm>
        </p:spPr>
        <p:txBody>
          <a:bodyPr/>
          <a:lstStyle/>
          <a:p>
            <a:r>
              <a:rPr lang="en-US" dirty="0"/>
              <a:t>Today’s Lecture</a:t>
            </a:r>
          </a:p>
        </p:txBody>
      </p:sp>
    </p:spTree>
    <p:extLst>
      <p:ext uri="{BB962C8B-B14F-4D97-AF65-F5344CB8AC3E}">
        <p14:creationId xmlns:p14="http://schemas.microsoft.com/office/powerpoint/2010/main" val="700271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C7B153-E242-AA5B-C6CE-8ECDCFD07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probability theory rules: 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product rule </a:t>
            </a:r>
            <a:r>
              <a:rPr lang="en-US" dirty="0"/>
              <a:t>and </a:t>
            </a:r>
            <a:r>
              <a:rPr lang="en-US" b="1" dirty="0"/>
              <a:t>sum rule </a:t>
            </a:r>
          </a:p>
          <a:p>
            <a:r>
              <a:rPr lang="en-US" dirty="0"/>
              <a:t>Consider two random variables x and y and their </a:t>
            </a:r>
            <a:r>
              <a:rPr lang="en-US" dirty="0">
                <a:solidFill>
                  <a:srgbClr val="FF0000"/>
                </a:solidFill>
              </a:rPr>
              <a:t>joint distribution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FF0000"/>
                </a:solidFill>
              </a:rPr>
              <a:t>is </a:t>
            </a:r>
            <a:r>
              <a:rPr lang="en-US" b="1" dirty="0">
                <a:solidFill>
                  <a:srgbClr val="FF0000"/>
                </a:solidFill>
              </a:rPr>
              <a:t>p(x, y)</a:t>
            </a:r>
            <a:r>
              <a:rPr lang="en-US" dirty="0"/>
              <a:t>. </a:t>
            </a:r>
          </a:p>
          <a:p>
            <a:r>
              <a:rPr lang="en-US" dirty="0"/>
              <a:t>The product rule allows us to </a:t>
            </a:r>
            <a:r>
              <a:rPr lang="en-US" dirty="0">
                <a:solidFill>
                  <a:srgbClr val="FF0000"/>
                </a:solidFill>
              </a:rPr>
              <a:t>factorize</a:t>
            </a:r>
            <a:r>
              <a:rPr lang="en-US" dirty="0"/>
              <a:t> the joint distribution :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FB1123-DEBB-F909-B1DD-45F09D71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2A6FF-9FC6-4E2E-987A-FCA32A187D55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ABF56-9285-22FC-7E50-AE77EF3DB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A2569-40E9-5ADE-1D04-74D7CAC48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9D83A47-9E7B-3604-AA95-F46010220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B8D531-2969-A3B8-2577-03687F5F4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4146310"/>
            <a:ext cx="3930997" cy="1447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DC8F38-AE5A-213E-4CB7-026B686D9DA1}"/>
              </a:ext>
            </a:extLst>
          </p:cNvPr>
          <p:cNvSpPr txBox="1"/>
          <p:nvPr/>
        </p:nvSpPr>
        <p:spPr>
          <a:xfrm>
            <a:off x="3727580" y="5988218"/>
            <a:ext cx="307340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sz="2000" i="0" u="none" strike="noStrike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-Roman"/>
              </a:rPr>
              <a:t>Conditional distribution.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DCC8D0-508F-93E8-D959-FCF7D8547578}"/>
              </a:ext>
            </a:extLst>
          </p:cNvPr>
          <p:cNvSpPr txBox="1"/>
          <p:nvPr/>
        </p:nvSpPr>
        <p:spPr>
          <a:xfrm>
            <a:off x="7467600" y="5029200"/>
            <a:ext cx="251460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-Roman"/>
              </a:rPr>
              <a:t>M</a:t>
            </a:r>
            <a:r>
              <a:rPr lang="en-US" sz="2000" i="0" u="none" strike="noStrike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-Roman"/>
              </a:rPr>
              <a:t>arginal distribution.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811362-5492-7ABE-063C-77834C488132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6571903" y="5229255"/>
            <a:ext cx="89569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358DD8-43B8-2319-6A71-A2E030E656FA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5264280" y="5457854"/>
            <a:ext cx="0" cy="5303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033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95DE27-3B7B-FAFE-C6C4-F4C45BEA3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Sum rule </a:t>
            </a:r>
          </a:p>
          <a:p>
            <a:r>
              <a:rPr lang="en-US" dirty="0"/>
              <a:t>To calculate the </a:t>
            </a:r>
            <a:r>
              <a:rPr lang="en-US" dirty="0">
                <a:solidFill>
                  <a:srgbClr val="FF0000"/>
                </a:solidFill>
              </a:rPr>
              <a:t>marginal distribution </a:t>
            </a:r>
            <a:r>
              <a:rPr lang="en-US" dirty="0"/>
              <a:t>over one of the variables, we must sum over all the other variable: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These two rules will play a crucial role in formulating </a:t>
            </a:r>
            <a:r>
              <a:rPr lang="en-US" dirty="0">
                <a:solidFill>
                  <a:srgbClr val="FF0000"/>
                </a:solidFill>
              </a:rPr>
              <a:t>deep generative models</a:t>
            </a:r>
            <a:r>
              <a:rPr lang="en-US" dirty="0"/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CFC6B8-9C5E-C75C-EFC9-D7F18E159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A7760-C855-46E4-9071-C385781ECDD5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854275-5A51-F3F0-A8F7-3361422D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9A8D9-4C50-7443-2100-115565258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8597B57-B98C-A824-E3C2-3D00802CE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2EE317-533C-6720-F2DC-B7047FA97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00" y="3124200"/>
            <a:ext cx="3048264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0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0FD0DA-4684-2189-B92F-35170CFF8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FE5A0A-B257-74C8-6063-69061184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C12F2-0887-4A3A-94B0-60041DD587DA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0AC74-E6E4-1D1D-35B4-2BBB9DB86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292C5-485A-F508-8902-FEC710BD9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BBC4214-DCDA-0574-FE70-C5DE3DE2A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3A4596-83F9-EEC9-AE7A-71628E99E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599" y="1930367"/>
            <a:ext cx="7549663" cy="22606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4673C2A-D190-BD0E-1B6F-2B2A3DF8D8B8}"/>
                  </a:ext>
                </a:extLst>
              </p:cNvPr>
              <p:cNvSpPr txBox="1"/>
              <p:nvPr/>
            </p:nvSpPr>
            <p:spPr>
              <a:xfrm>
                <a:off x="762000" y="2362200"/>
                <a:ext cx="6097554" cy="33321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1. Marginal Probabilities: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   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𝐵𝑃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=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𝐻</m:t>
                        </m:r>
                      </m:e>
                    </m:d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3</m:t>
                        </m:r>
                      </m:num>
                      <m:den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5</m:t>
                        </m:r>
                      </m:den>
                    </m:f>
                    <m:r>
                      <m:rPr>
                        <m:lit/>
                      </m:rP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    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𝐷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=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𝑌</m:t>
                        </m:r>
                      </m:e>
                    </m:d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3</m:t>
                        </m:r>
                      </m:num>
                      <m:den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5</m:t>
                        </m:r>
                      </m:den>
                    </m:f>
                    <m:r>
                      <m:rPr>
                        <m:lit/>
                      </m:rP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 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2. Conditional Probability: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  -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𝐷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=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𝑌</m:t>
                        </m:r>
                      </m:e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𝐵𝑃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=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𝐻</m:t>
                        </m:r>
                      </m:e>
                    </m:d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𝐷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=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𝑌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,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𝐵𝑃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=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𝐻</m:t>
                            </m:r>
                          </m:e>
                        </m:d>
                      </m:num>
                      <m:den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𝐵𝑃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=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𝐻</m:t>
                            </m:r>
                          </m:e>
                        </m:d>
                      </m:den>
                    </m:f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.</m:t>
                    </m:r>
                  </m:oMath>
                </a14:m>
                <a:endParaRPr lang="en-US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  -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𝐷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=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𝑌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,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𝐵𝑃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=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𝐻</m:t>
                        </m:r>
                      </m:e>
                    </m:d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num>
                      <m:den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5</m:t>
                        </m:r>
                      </m:den>
                    </m:f>
                  </m:oMath>
                </a14:m>
                <a:endParaRPr lang="en-US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4673C2A-D190-BD0E-1B6F-2B2A3DF8D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362200"/>
                <a:ext cx="6097554" cy="3332131"/>
              </a:xfrm>
              <a:prstGeom prst="rect">
                <a:avLst/>
              </a:prstGeom>
              <a:blipFill>
                <a:blip r:embed="rId3"/>
                <a:stretch>
                  <a:fillRect l="-800" t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9434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DC5D9E-68AA-27EC-B927-C4ED9A744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</a:t>
            </a:r>
            <a:r>
              <a:rPr lang="en-US" dirty="0">
                <a:solidFill>
                  <a:srgbClr val="FF0000"/>
                </a:solidFill>
              </a:rPr>
              <a:t>high-dimensional random variable </a:t>
            </a:r>
            <a:r>
              <a:rPr lang="en-US" dirty="0"/>
              <a:t>x ∈ X</a:t>
            </a:r>
            <a:r>
              <a:rPr lang="en-US" baseline="30000" dirty="0"/>
              <a:t>D</a:t>
            </a:r>
            <a:r>
              <a:rPr lang="en-US" dirty="0"/>
              <a:t> where X = {0, 1, . . . , 255}. </a:t>
            </a:r>
          </a:p>
          <a:p>
            <a:r>
              <a:rPr lang="en-US" dirty="0"/>
              <a:t>Goal is to </a:t>
            </a:r>
            <a:r>
              <a:rPr lang="en-US" dirty="0">
                <a:solidFill>
                  <a:srgbClr val="FF0000"/>
                </a:solidFill>
              </a:rPr>
              <a:t>model p(x). </a:t>
            </a:r>
          </a:p>
          <a:p>
            <a:r>
              <a:rPr lang="en-US" dirty="0"/>
              <a:t>Apply the </a:t>
            </a:r>
            <a:r>
              <a:rPr lang="en-US" dirty="0">
                <a:solidFill>
                  <a:srgbClr val="FF0000"/>
                </a:solidFill>
              </a:rPr>
              <a:t>product rule</a:t>
            </a:r>
            <a:r>
              <a:rPr lang="en-US" dirty="0"/>
              <a:t>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18EB79-D10B-D3CF-606B-82E4A339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DE47C-39E4-4CBF-985B-05E5D9DEA378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D32D1-2DD9-DC08-51C7-FF24362A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9EE20-DBA2-C44F-07D4-59A53673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6DBFF7A-F87A-4231-1977-3B95D42AE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D70F73-FFAE-3942-E450-803CAA63D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3600449"/>
            <a:ext cx="5057419" cy="1600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B73C79-C1F0-7EB6-FE5A-1A932ADE2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421396"/>
            <a:ext cx="4724809" cy="5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14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F84415-4426-D1B1-CB28-E7B10015B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latin typeface="Times-Roman"/>
            </a:endParaRPr>
          </a:p>
          <a:p>
            <a:pPr algn="l"/>
            <a:endParaRPr lang="en-US" sz="1800" dirty="0">
              <a:latin typeface="Times-Roman"/>
            </a:endParaRPr>
          </a:p>
          <a:p>
            <a:pPr algn="l"/>
            <a:endParaRPr lang="en-US" sz="1800" b="0" i="0" u="none" strike="noStrike" baseline="0" dirty="0">
              <a:latin typeface="Times-Roman"/>
            </a:endParaRPr>
          </a:p>
          <a:p>
            <a:pPr algn="l"/>
            <a:r>
              <a:rPr lang="en-US" sz="3200" dirty="0">
                <a:latin typeface="Times-Roman"/>
              </a:rPr>
              <a:t>M</a:t>
            </a:r>
            <a:r>
              <a:rPr lang="en-US" sz="3200" b="0" i="0" u="none" strike="noStrike" baseline="0" dirty="0">
                <a:latin typeface="Times-Roman"/>
              </a:rPr>
              <a:t>odeling all conditional probabilities </a:t>
            </a:r>
            <a:r>
              <a:rPr lang="en-US" sz="3200" b="0" i="1" u="none" strike="noStrike" baseline="0" dirty="0">
                <a:latin typeface="MTMI"/>
              </a:rPr>
              <a:t>p(</a:t>
            </a:r>
            <a:r>
              <a:rPr lang="en-US" sz="3200" b="0" i="1" u="none" strike="noStrike" baseline="0" dirty="0" err="1">
                <a:latin typeface="MTMI"/>
              </a:rPr>
              <a:t>x</a:t>
            </a:r>
            <a:r>
              <a:rPr lang="en-US" sz="3200" b="0" i="1" u="none" strike="noStrike" baseline="-25000" dirty="0" err="1">
                <a:latin typeface="MTMI"/>
              </a:rPr>
              <a:t>d</a:t>
            </a:r>
            <a:r>
              <a:rPr lang="en-US" sz="3200" b="0" i="1" u="none" strike="noStrike" baseline="0" dirty="0">
                <a:latin typeface="MTMI"/>
              </a:rPr>
              <a:t> </a:t>
            </a:r>
            <a:r>
              <a:rPr lang="en-US" sz="3200" b="0" i="0" u="none" strike="noStrike" baseline="0" dirty="0">
                <a:latin typeface="MTSYN"/>
              </a:rPr>
              <a:t>|</a:t>
            </a:r>
            <a:r>
              <a:rPr lang="en-US" sz="3200" b="1" i="0" u="none" strike="noStrike" baseline="0" dirty="0">
                <a:latin typeface="Times-Bold"/>
              </a:rPr>
              <a:t>x</a:t>
            </a:r>
            <a:r>
              <a:rPr lang="en-US" sz="3200" b="0" i="1" u="none" strike="noStrike" baseline="-25000" dirty="0">
                <a:latin typeface="MTMI"/>
              </a:rPr>
              <a:t>&lt;d</a:t>
            </a:r>
            <a:r>
              <a:rPr lang="en-US" sz="3200" b="0" i="1" u="none" strike="noStrike" baseline="0" dirty="0">
                <a:latin typeface="MTMI"/>
              </a:rPr>
              <a:t>) </a:t>
            </a:r>
            <a:r>
              <a:rPr lang="en-US" sz="3200" b="0" i="0" u="none" strike="noStrike" baseline="0" dirty="0">
                <a:latin typeface="Times-Roman"/>
              </a:rPr>
              <a:t>separately is </a:t>
            </a:r>
            <a:r>
              <a:rPr lang="en-US" sz="3200" b="1" i="0" u="none" strike="noStrike" baseline="0" dirty="0">
                <a:latin typeface="Times-Roman"/>
              </a:rPr>
              <a:t>NOT Feasible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latin typeface="Times-Roman"/>
              </a:rPr>
              <a:t>C</a:t>
            </a:r>
            <a:r>
              <a:rPr lang="en-US" sz="2800" b="0" i="0" u="none" strike="noStrike" baseline="0" dirty="0">
                <a:solidFill>
                  <a:srgbClr val="FF0000"/>
                </a:solidFill>
                <a:latin typeface="Times-Roman"/>
              </a:rPr>
              <a:t>omplexity</a:t>
            </a:r>
            <a:r>
              <a:rPr lang="en-US" sz="2800" b="0" i="0" u="none" strike="noStrike" baseline="0" dirty="0">
                <a:latin typeface="Times-Roman"/>
              </a:rPr>
              <a:t> would grow due to varying conditioning.</a:t>
            </a:r>
          </a:p>
          <a:p>
            <a:endParaRPr lang="en-US" sz="1800" b="0" i="0" u="none" strike="noStrike" baseline="0" dirty="0">
              <a:latin typeface="Times-Roman"/>
            </a:endParaRPr>
          </a:p>
          <a:p>
            <a:r>
              <a:rPr lang="en-US" dirty="0">
                <a:solidFill>
                  <a:srgbClr val="FF0000"/>
                </a:solidFill>
              </a:rPr>
              <a:t>Autoregressive Models Parameterized by Neural Networks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5A5DF-8C37-DF8C-0D34-89BE84902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7E23A-BF53-4EB2-955A-BA88C3F5D3DF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218778-0D49-6094-E69C-AF5761660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F68EC-5D67-5616-F59F-7B736DDBD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2143A8-E94D-BBA4-F20E-892A4EF1F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E39A73-06D4-ABBE-C03D-005A266219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872"/>
          <a:stretch/>
        </p:blipFill>
        <p:spPr>
          <a:xfrm>
            <a:off x="4038600" y="1834404"/>
            <a:ext cx="6209473" cy="533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D65B69-8495-1ECD-F171-92BECDA21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1798637"/>
            <a:ext cx="2514600" cy="55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78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2799A8E-F912-184D-E200-406C6CC300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Autoregressive models are a class of </a:t>
                </a:r>
                <a:r>
                  <a:rPr lang="en-US" dirty="0">
                    <a:solidFill>
                      <a:srgbClr val="FF0000"/>
                    </a:solidFill>
                  </a:rPr>
                  <a:t>statistical models</a:t>
                </a:r>
              </a:p>
              <a:p>
                <a:r>
                  <a:rPr lang="en-US" dirty="0"/>
                  <a:t>Used for modeling </a:t>
                </a:r>
                <a:r>
                  <a:rPr lang="en-US" dirty="0">
                    <a:solidFill>
                      <a:srgbClr val="0070C0"/>
                    </a:solidFill>
                  </a:rPr>
                  <a:t>time series data</a:t>
                </a:r>
              </a:p>
              <a:p>
                <a:pPr lvl="1"/>
                <a:r>
                  <a:rPr lang="en-US" dirty="0"/>
                  <a:t>The future value of a variable is assumed to be a </a:t>
                </a:r>
                <a:r>
                  <a:rPr lang="en-US" dirty="0">
                    <a:solidFill>
                      <a:srgbClr val="0070C0"/>
                    </a:solidFill>
                  </a:rPr>
                  <a:t>linear function of </a:t>
                </a:r>
                <a:r>
                  <a:rPr lang="en-US" dirty="0"/>
                  <a:t>a set of past values plus a stochastic error term.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…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ε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2799A8E-F912-184D-E200-406C6CC300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BD8A6C-A398-08E0-527B-A0BFF673D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320A-98FE-47E6-83F0-B23064DA870C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7AC90-84C9-7D89-B2B4-4EC07CEE2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AAE87-45D7-2D04-25A3-D50D1967A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9A2E880-75FA-5C39-6A32-8089D37EF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139751-3F8C-DA6D-EBD5-2FB0A5A3D6A1}"/>
                  </a:ext>
                </a:extLst>
              </p:cNvPr>
              <p:cNvSpPr txBox="1"/>
              <p:nvPr/>
            </p:nvSpPr>
            <p:spPr>
              <a:xfrm>
                <a:off x="914400" y="4477970"/>
                <a:ext cx="6097554" cy="1559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𝑖𝑠𝑡h𝑒𝑓𝑢𝑡𝑢𝑟𝑒𝑣𝑎𝑙𝑢𝑒𝑜𝑓𝑡h𝑒𝑣𝑎𝑟𝑖𝑎𝑏𝑙𝑒𝑎𝑡𝑡𝑖𝑚𝑒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𝑖𝑠𝑎𝑐𝑜𝑛𝑠𝑡𝑎𝑛𝑡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𝑖𝑛𝑡𝑒𝑟𝑐𝑒𝑝𝑡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sepChr m:val=",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𝑎𝑟𝑒𝑡h𝑒𝑐𝑜𝑒𝑓𝑓𝑖𝑐𝑖𝑒𝑛𝑡𝑠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sepChr m:val=",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e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𝑎𝑟𝑒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𝑝𝑎𝑠𝑡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𝑣𝑎𝑙𝑢𝑒𝑠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𝑣𝑎𝑟𝑖𝑎𝑏𝑙𝑒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𝑠𝑡𝑜𝑐h𝑎𝑠𝑡𝑖𝑐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𝑒𝑟𝑟𝑜𝑟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𝑡𝑖𝑚𝑒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139751-3F8C-DA6D-EBD5-2FB0A5A3D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477970"/>
                <a:ext cx="6097554" cy="15596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184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17413C-045A-27E2-B7FF-220966107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models are widely used in various fields such as </a:t>
            </a:r>
            <a:r>
              <a:rPr lang="en-US" dirty="0">
                <a:solidFill>
                  <a:srgbClr val="0070C0"/>
                </a:solidFill>
              </a:rPr>
              <a:t>economics, finance, </a:t>
            </a:r>
            <a:r>
              <a:rPr lang="en-US" dirty="0">
                <a:solidFill>
                  <a:srgbClr val="FF0000"/>
                </a:solidFill>
              </a:rPr>
              <a:t>natural language processing (NLP) and image generation</a:t>
            </a:r>
            <a:r>
              <a:rPr lang="en-US" dirty="0"/>
              <a:t>. </a:t>
            </a:r>
          </a:p>
          <a:p>
            <a:r>
              <a:rPr lang="en-US" dirty="0"/>
              <a:t>The past values in the series can provide information about the </a:t>
            </a:r>
            <a:r>
              <a:rPr lang="en-US" dirty="0">
                <a:solidFill>
                  <a:srgbClr val="FF0000"/>
                </a:solidFill>
              </a:rPr>
              <a:t>direction and magnitude of future values</a:t>
            </a:r>
            <a:r>
              <a:rPr lang="en-US" dirty="0"/>
              <a:t>.</a:t>
            </a:r>
          </a:p>
          <a:p>
            <a:r>
              <a:rPr lang="en-US" dirty="0"/>
              <a:t>Need modeling the joint distribution p(x) using conditional distributions.</a:t>
            </a:r>
          </a:p>
          <a:p>
            <a:pPr lvl="1"/>
            <a:r>
              <a:rPr lang="en-US" dirty="0"/>
              <a:t>Help understand the distributions</a:t>
            </a:r>
          </a:p>
          <a:p>
            <a:pPr lvl="1"/>
            <a:r>
              <a:rPr lang="en-US" dirty="0"/>
              <a:t>Generate new data from the same distribution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4633BF-8C75-0937-6B3B-A8C666A53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EF95-B07F-4FB1-93B7-DB67B1BB97C3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DBB91-5FA2-96B8-0480-29D9A0D0E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0E7E4-FD85-4523-D022-89703238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489917F-95FC-66DF-42E3-9BA76CB44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247470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EB1200-C48B-74C1-2893-AFCFD74E6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 issue: Need </a:t>
            </a:r>
            <a:r>
              <a:rPr lang="en-US" dirty="0">
                <a:solidFill>
                  <a:srgbClr val="FF0000"/>
                </a:solidFill>
              </a:rPr>
              <a:t>D separate models</a:t>
            </a:r>
            <a:r>
              <a:rPr lang="en-US" dirty="0"/>
              <a:t>??</a:t>
            </a:r>
          </a:p>
          <a:p>
            <a:r>
              <a:rPr lang="en-US" dirty="0"/>
              <a:t>An autoregressive model (ARM) can be used with some assumptions. </a:t>
            </a:r>
          </a:p>
          <a:p>
            <a:pPr lvl="1"/>
            <a:r>
              <a:rPr lang="en-US" sz="2800" dirty="0"/>
              <a:t>ARMs parameterized with various neural networks.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5B62EB-DCCB-CCE9-D2CC-B7F1B28B2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48E4-DA89-4680-8FDC-1AA502EBE862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122C59-13CC-8E31-BCD4-8A48C6493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FA9AED-3384-386C-32A3-DF4C4F36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E68E11F-E70A-A4E8-7A6D-237BE0FA3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3806010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41DB89-C5EB-B44D-E9EE-979231F4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i="1" u="none" strike="noStrike" baseline="0" dirty="0">
                <a:latin typeface="Times-BoldItalic"/>
              </a:rPr>
              <a:t>1. Finite Memory</a:t>
            </a:r>
            <a:endParaRPr lang="en-US" sz="3200" b="0" i="0" u="none" strike="noStrike" baseline="0" dirty="0">
              <a:latin typeface="Times-BoldItalic"/>
            </a:endParaRP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Limit the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-Roman"/>
              </a:rPr>
              <a:t>complexity of a conditional model</a:t>
            </a:r>
            <a:r>
              <a:rPr lang="en-US" sz="2400" b="0" i="0" u="none" strike="noStrike" baseline="0" dirty="0">
                <a:latin typeface="Times-Roman"/>
              </a:rPr>
              <a:t>:  Assume a </a:t>
            </a:r>
            <a:r>
              <a:rPr lang="en-US" sz="2400" b="0" i="1" u="none" strike="noStrike" baseline="0" dirty="0">
                <a:latin typeface="Times-Italic"/>
              </a:rPr>
              <a:t>finite memory</a:t>
            </a:r>
            <a:r>
              <a:rPr lang="en-US" sz="2400" b="0" i="0" u="none" strike="noStrike" baseline="0" dirty="0">
                <a:latin typeface="Times-Roman"/>
              </a:rPr>
              <a:t>. 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Example: assume that each variable is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-Roman"/>
              </a:rPr>
              <a:t>dependent on no more than two past variables</a:t>
            </a:r>
            <a:r>
              <a:rPr lang="en-US" sz="2400" b="0" i="0" u="none" strike="noStrike" baseline="0" dirty="0">
                <a:latin typeface="Times-Roman"/>
              </a:rPr>
              <a:t>:</a:t>
            </a:r>
          </a:p>
          <a:p>
            <a:pPr algn="l"/>
            <a:endParaRPr lang="en-US" sz="2400" dirty="0">
              <a:latin typeface="Times-Roman"/>
            </a:endParaRPr>
          </a:p>
          <a:p>
            <a:pPr algn="l"/>
            <a:endParaRPr lang="en-US" sz="2400" b="0" i="0" u="none" strike="noStrike" baseline="0" dirty="0">
              <a:latin typeface="Times-Roman"/>
            </a:endParaRPr>
          </a:p>
          <a:p>
            <a:pPr algn="l"/>
            <a:endParaRPr lang="en-US" sz="2400" dirty="0">
              <a:latin typeface="Times-Roman"/>
            </a:endParaRPr>
          </a:p>
          <a:p>
            <a:pPr algn="l"/>
            <a:endParaRPr lang="en-US" sz="2400" b="0" i="0" u="none" strike="noStrike" baseline="0" dirty="0">
              <a:latin typeface="Times-Roman"/>
            </a:endParaRP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Need a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-Roman"/>
              </a:rPr>
              <a:t>small neural network</a:t>
            </a:r>
            <a:r>
              <a:rPr lang="en-US" sz="2400" b="0" i="0" u="none" strike="noStrike" baseline="0" dirty="0">
                <a:latin typeface="Times-Roman"/>
              </a:rPr>
              <a:t>, to predict the distribution of </a:t>
            </a:r>
            <a:r>
              <a:rPr lang="en-US" sz="2400" b="0" i="1" u="none" strike="noStrike" baseline="0" dirty="0">
                <a:latin typeface="MTMI"/>
              </a:rPr>
              <a:t>x</a:t>
            </a:r>
            <a:r>
              <a:rPr lang="en-US" sz="2400" b="0" i="1" u="none" strike="noStrike" baseline="-25000" dirty="0">
                <a:latin typeface="MTMI"/>
              </a:rPr>
              <a:t>d</a:t>
            </a:r>
            <a:r>
              <a:rPr lang="en-US" sz="2400" b="0" i="0" u="none" strike="noStrike" baseline="0" dirty="0">
                <a:latin typeface="Times-Roman"/>
              </a:rPr>
              <a:t>. </a:t>
            </a:r>
            <a:endParaRPr lang="en-US" sz="36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AAFBF4-4EFC-2BAA-CAD7-C17417A7C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68B68-3802-40DA-B4DE-4B5802BE16FE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EB053B-9ABE-5D58-004F-332DA98D5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78DEA-41A2-4E12-FDAE-729816C9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150FB08-F15A-7F3D-37D1-05E8E7BA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AD77C3-75E3-12A4-483D-949AE654E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3280201"/>
            <a:ext cx="6940254" cy="129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48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718745-1D02-7EAD-C695-C66718802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800" b="0" i="0" u="none" strike="noStrike" baseline="0" dirty="0">
                <a:latin typeface="Times-Roman"/>
              </a:rPr>
              <a:t>If </a:t>
            </a:r>
            <a:r>
              <a:rPr lang="en-US" sz="2800" b="0" i="0" u="none" strike="noStrike" baseline="0" dirty="0">
                <a:latin typeface="txsy"/>
              </a:rPr>
              <a:t>X </a:t>
            </a:r>
            <a:r>
              <a:rPr lang="en-US" sz="2800" b="0" i="0" u="none" strike="noStrike" baseline="0" dirty="0">
                <a:latin typeface="MTSYN"/>
              </a:rPr>
              <a:t>= {</a:t>
            </a:r>
            <a:r>
              <a:rPr lang="en-US" sz="2800" b="0" i="0" u="none" strike="noStrike" baseline="0" dirty="0">
                <a:latin typeface="Times-Roman"/>
              </a:rPr>
              <a:t>0</a:t>
            </a:r>
            <a:r>
              <a:rPr lang="en-US" sz="2800" b="0" i="1" u="none" strike="noStrike" baseline="0" dirty="0">
                <a:latin typeface="MTMI"/>
              </a:rPr>
              <a:t>, </a:t>
            </a:r>
            <a:r>
              <a:rPr lang="en-US" sz="2800" b="0" i="0" u="none" strike="noStrike" baseline="0" dirty="0">
                <a:latin typeface="Times-Roman"/>
              </a:rPr>
              <a:t>1</a:t>
            </a:r>
            <a:r>
              <a:rPr lang="en-US" sz="2800" b="0" i="1" u="none" strike="noStrike" baseline="0" dirty="0">
                <a:latin typeface="MTMI"/>
              </a:rPr>
              <a:t>, . . . , </a:t>
            </a:r>
            <a:r>
              <a:rPr lang="en-US" sz="2800" b="0" i="0" u="none" strike="noStrike" baseline="0" dirty="0">
                <a:latin typeface="Times-Roman"/>
              </a:rPr>
              <a:t>255</a:t>
            </a:r>
            <a:r>
              <a:rPr lang="en-US" sz="2800" b="0" i="0" u="none" strike="noStrike" baseline="0" dirty="0">
                <a:latin typeface="MTSYN"/>
              </a:rPr>
              <a:t>}</a:t>
            </a:r>
            <a:r>
              <a:rPr lang="en-US" sz="2800" b="0" i="0" u="none" strike="noStrike" baseline="0" dirty="0">
                <a:latin typeface="Times-Roman"/>
              </a:rPr>
              <a:t>, the MLP takes </a:t>
            </a:r>
            <a:r>
              <a:rPr lang="en-US" sz="2800" b="0" i="1" u="none" strike="noStrike" baseline="0" dirty="0">
                <a:latin typeface="MTMI"/>
              </a:rPr>
              <a:t>x</a:t>
            </a:r>
            <a:r>
              <a:rPr lang="en-US" sz="2800" b="0" i="1" u="none" strike="noStrike" baseline="-25000" dirty="0">
                <a:latin typeface="MTMI"/>
              </a:rPr>
              <a:t>d</a:t>
            </a:r>
            <a:r>
              <a:rPr lang="en-US" sz="2800" b="0" i="0" u="none" strike="noStrike" baseline="-25000" dirty="0">
                <a:latin typeface="MTSYN"/>
              </a:rPr>
              <a:t>−</a:t>
            </a:r>
            <a:r>
              <a:rPr lang="en-US" sz="2800" b="0" i="0" u="none" strike="noStrike" baseline="-25000" dirty="0">
                <a:latin typeface="Times-Roman"/>
              </a:rPr>
              <a:t>1</a:t>
            </a:r>
            <a:r>
              <a:rPr lang="en-US" sz="2800" b="0" i="1" u="none" strike="noStrike" baseline="0" dirty="0">
                <a:latin typeface="MTMI"/>
              </a:rPr>
              <a:t>, x</a:t>
            </a:r>
            <a:r>
              <a:rPr lang="en-US" sz="2800" b="0" i="1" u="none" strike="noStrike" baseline="-25000" dirty="0">
                <a:latin typeface="MTMI"/>
              </a:rPr>
              <a:t>d</a:t>
            </a:r>
            <a:r>
              <a:rPr lang="en-US" sz="2800" b="0" i="0" u="none" strike="noStrike" baseline="-25000" dirty="0">
                <a:latin typeface="MTSYN"/>
              </a:rPr>
              <a:t>−</a:t>
            </a:r>
            <a:r>
              <a:rPr lang="en-US" sz="2800" b="0" i="0" u="none" strike="noStrike" baseline="-25000" dirty="0">
                <a:latin typeface="Times-Roman"/>
              </a:rPr>
              <a:t>2 </a:t>
            </a:r>
            <a:r>
              <a:rPr lang="en-US" sz="2800" b="0" i="0" u="none" strike="noStrike" baseline="0" dirty="0">
                <a:latin typeface="Times-Roman"/>
              </a:rPr>
              <a:t>and outputs probabilities for the categorical distribution of </a:t>
            </a:r>
            <a:r>
              <a:rPr lang="en-US" sz="2800" b="0" i="1" u="none" strike="noStrike" baseline="0" dirty="0" err="1">
                <a:latin typeface="MTMI"/>
              </a:rPr>
              <a:t>x</a:t>
            </a:r>
            <a:r>
              <a:rPr lang="en-US" sz="2800" b="0" i="1" u="none" strike="noStrike" baseline="-25000" dirty="0" err="1">
                <a:latin typeface="MTMI"/>
              </a:rPr>
              <a:t>d</a:t>
            </a:r>
            <a:r>
              <a:rPr lang="en-US" sz="2800" b="0" i="1" u="none" strike="noStrike" baseline="0" dirty="0">
                <a:latin typeface="MTMI"/>
              </a:rPr>
              <a:t> </a:t>
            </a:r>
            <a:r>
              <a:rPr lang="en-US" sz="2800" b="0" i="0" u="none" strike="noStrike" baseline="0" dirty="0">
                <a:latin typeface="Times-Roman"/>
              </a:rPr>
              <a:t>, </a:t>
            </a:r>
            <a:r>
              <a:rPr lang="en-US" sz="2800" b="0" i="1" u="none" strike="noStrike" baseline="0" dirty="0" err="1">
                <a:latin typeface="MTMI"/>
              </a:rPr>
              <a:t>θ</a:t>
            </a:r>
            <a:r>
              <a:rPr lang="en-US" sz="2800" b="0" i="1" u="none" strike="noStrike" baseline="-25000" dirty="0" err="1">
                <a:latin typeface="MTMI"/>
              </a:rPr>
              <a:t>d</a:t>
            </a:r>
            <a:r>
              <a:rPr lang="en-US" sz="2800" b="0" i="1" u="none" strike="noStrike" baseline="0" dirty="0">
                <a:latin typeface="MTMI"/>
              </a:rPr>
              <a:t> </a:t>
            </a:r>
            <a:r>
              <a:rPr lang="en-US" sz="2800" b="0" i="0" u="none" strike="noStrike" baseline="0" dirty="0">
                <a:latin typeface="Times-Roman"/>
              </a:rPr>
              <a:t>. </a:t>
            </a:r>
          </a:p>
          <a:p>
            <a:pPr algn="l"/>
            <a:r>
              <a:rPr lang="en-US" sz="2800" b="0" i="0" u="none" strike="noStrike" baseline="0" dirty="0">
                <a:latin typeface="Times-Roman"/>
              </a:rPr>
              <a:t>The MLP could be of the following form: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66F9C-CA2A-C3D2-287C-3E907F357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ADEA1-80A5-458C-8BE3-3D6006E8E481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220B2-9A19-09E1-6705-8E65474C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4E9EC-D0D2-43DC-1201-E90D25D8A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936551-182D-8642-5835-B6FE9D6FD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4517A2-AB69-7E73-E895-A480654C0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390701"/>
            <a:ext cx="10348857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717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3EA158-7EA2-1AC0-C0B9-4C405E6C4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sfsdf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50EA4E-6F5B-0821-DAB9-183E8CB70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4BA49-E5F8-4578-ADBA-CAA0D4D148BB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814EC7-2F2F-53B0-A71C-326DD1C4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E6295-1889-F0F3-1F1F-8229608D3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C8DC100-6650-4888-015B-876D29E0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AB1160-1BD6-3AFC-5D7B-E12D1D8BE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76400"/>
            <a:ext cx="10996613" cy="41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82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279800-98C0-3694-A43A-1B6B4E44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latin typeface="Times-Roman"/>
              </a:rPr>
              <a:t>Non-linear and also its </a:t>
            </a:r>
            <a:r>
              <a:rPr lang="en-US" b="0" i="0" u="none" strike="noStrike" baseline="0" dirty="0">
                <a:solidFill>
                  <a:srgbClr val="FF0000"/>
                </a:solidFill>
                <a:latin typeface="Times-Roman"/>
              </a:rPr>
              <a:t>parameterization is convenient</a:t>
            </a:r>
            <a:r>
              <a:rPr lang="en-US" b="0" i="0" u="none" strike="noStrike" baseline="0" dirty="0">
                <a:latin typeface="Times-Roman"/>
              </a:rPr>
              <a:t> due to a relatively small number of weights to be trained.</a:t>
            </a:r>
          </a:p>
          <a:p>
            <a:pPr algn="l"/>
            <a:r>
              <a:rPr lang="en-US" b="0" i="0" u="none" strike="noStrike" baseline="0" dirty="0">
                <a:latin typeface="Times-Roman"/>
              </a:rPr>
              <a:t>Drawback of this approach is a </a:t>
            </a:r>
            <a:r>
              <a:rPr lang="en-US" b="1" i="0" u="none" strike="noStrike" baseline="0" dirty="0">
                <a:latin typeface="Times-Bold"/>
              </a:rPr>
              <a:t>limited memory </a:t>
            </a:r>
          </a:p>
          <a:p>
            <a:pPr lvl="1"/>
            <a:r>
              <a:rPr lang="en-US" sz="2800" dirty="0">
                <a:latin typeface="Times-Roman"/>
              </a:rPr>
              <a:t>Only two last variables </a:t>
            </a:r>
            <a:r>
              <a:rPr lang="en-US" sz="2800" b="0" i="0" u="none" strike="noStrike" baseline="0" dirty="0">
                <a:latin typeface="Times-Roman"/>
              </a:rPr>
              <a:t>in our example. </a:t>
            </a:r>
          </a:p>
          <a:p>
            <a:r>
              <a:rPr lang="en-US" sz="3200" b="0" i="0" u="none" strike="noStrike" baseline="0" dirty="0">
                <a:latin typeface="Times-Roman"/>
              </a:rPr>
              <a:t>It is unclear a 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Times-Roman"/>
              </a:rPr>
              <a:t>priori how many variables </a:t>
            </a:r>
            <a:r>
              <a:rPr lang="en-US" sz="3200" b="0" i="0" u="none" strike="noStrike" baseline="0" dirty="0">
                <a:latin typeface="Times-Roman"/>
              </a:rPr>
              <a:t>we </a:t>
            </a:r>
            <a:r>
              <a:rPr lang="en-US" b="0" i="0" u="none" strike="noStrike" baseline="0" dirty="0">
                <a:latin typeface="Times-Roman"/>
              </a:rPr>
              <a:t>should use in conditioning. </a:t>
            </a:r>
          </a:p>
          <a:p>
            <a:r>
              <a:rPr lang="en-US" b="0" i="0" u="none" strike="noStrike" baseline="0" dirty="0">
                <a:latin typeface="Times-Roman"/>
              </a:rPr>
              <a:t>In many problems, e.g., </a:t>
            </a:r>
            <a:r>
              <a:rPr lang="en-US" b="0" i="0" u="none" strike="noStrike" baseline="0" dirty="0">
                <a:solidFill>
                  <a:srgbClr val="0070C0"/>
                </a:solidFill>
                <a:latin typeface="Times-Roman"/>
              </a:rPr>
              <a:t>image processing, learning </a:t>
            </a:r>
            <a:r>
              <a:rPr lang="en-US" b="0" i="1" u="none" strike="noStrike" baseline="0" dirty="0">
                <a:solidFill>
                  <a:srgbClr val="0070C0"/>
                </a:solidFill>
                <a:latin typeface="Times-Italic"/>
              </a:rPr>
              <a:t>long-range statistics </a:t>
            </a:r>
            <a:r>
              <a:rPr lang="en-US" b="0" i="0" u="none" strike="noStrike" baseline="0" dirty="0">
                <a:solidFill>
                  <a:srgbClr val="0070C0"/>
                </a:solidFill>
                <a:latin typeface="Times-Roman"/>
              </a:rPr>
              <a:t>is crucial to understand complex patterns in data</a:t>
            </a:r>
            <a:r>
              <a:rPr lang="en-US" b="0" i="0" u="none" strike="noStrike" baseline="0" dirty="0">
                <a:latin typeface="Times-Roman"/>
              </a:rPr>
              <a:t>; </a:t>
            </a:r>
          </a:p>
          <a:p>
            <a:r>
              <a:rPr lang="en-US" b="0" i="0" u="none" strike="noStrike" baseline="0" dirty="0">
                <a:latin typeface="Times-Roman"/>
              </a:rPr>
              <a:t>Having </a:t>
            </a:r>
            <a:r>
              <a:rPr lang="en-US" b="0" i="0" u="none" strike="noStrike" baseline="0" dirty="0">
                <a:solidFill>
                  <a:srgbClr val="00B050"/>
                </a:solidFill>
                <a:latin typeface="Times-Roman"/>
              </a:rPr>
              <a:t>long-range memory</a:t>
            </a:r>
            <a:r>
              <a:rPr lang="en-US" b="0" i="0" u="none" strike="noStrike" baseline="0" dirty="0">
                <a:latin typeface="Times-Roman"/>
              </a:rPr>
              <a:t> is essential.</a:t>
            </a:r>
          </a:p>
          <a:p>
            <a:endParaRPr lang="en-US" sz="4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A91553-1F32-CD7B-4482-882252DC2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F1E0C-2BEE-4164-8E16-D76946A97FEA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EC507-428F-35DC-E01C-DBC031FC3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D3C38-4122-383A-41DB-31D40FCD8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4FD40E-23E8-8BAE-46D1-7D34F76F0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3784708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1FC586-5D99-DD43-442B-36A4D1E38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i="1" u="none" strike="noStrike" baseline="0" dirty="0">
                <a:latin typeface="Times-BoldItalic"/>
              </a:rPr>
              <a:t>Long-Range Memory Through RNNs</a:t>
            </a:r>
            <a:endParaRPr lang="en-US" sz="2400" b="0" i="0" u="none" strike="noStrike" baseline="0" dirty="0">
              <a:latin typeface="Times-BoldItalic"/>
            </a:endParaRP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-Roman"/>
              </a:rPr>
              <a:t>Use recurrent neural network (RNN) instead of MLP 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-Roman"/>
              </a:rPr>
              <a:t>The conditional distributions can be modeled as follows</a:t>
            </a:r>
          </a:p>
          <a:p>
            <a:pPr algn="l"/>
            <a:endParaRPr lang="en-US" sz="2400" dirty="0">
              <a:solidFill>
                <a:srgbClr val="000000"/>
              </a:solidFill>
              <a:latin typeface="Times-Roman"/>
            </a:endParaRPr>
          </a:p>
          <a:p>
            <a:pPr algn="l"/>
            <a:endParaRPr lang="en-US" sz="2400" b="0" i="0" u="none" strike="noStrike" baseline="0" dirty="0">
              <a:solidFill>
                <a:srgbClr val="000000"/>
              </a:solidFill>
              <a:latin typeface="Times-Roman"/>
            </a:endParaRPr>
          </a:p>
          <a:p>
            <a:pPr algn="l"/>
            <a:endParaRPr lang="en-US" sz="2400" dirty="0">
              <a:solidFill>
                <a:srgbClr val="000000"/>
              </a:solidFill>
              <a:latin typeface="Times-Roman"/>
            </a:endParaRP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where </a:t>
            </a:r>
            <a:r>
              <a:rPr lang="en-US" sz="2400" b="0" i="1" u="none" strike="noStrike" baseline="0" dirty="0" err="1">
                <a:latin typeface="MTMI"/>
              </a:rPr>
              <a:t>hd</a:t>
            </a:r>
            <a:r>
              <a:rPr lang="en-US" sz="2400" b="0" i="1" u="none" strike="noStrike" baseline="0" dirty="0">
                <a:latin typeface="MTMI"/>
              </a:rPr>
              <a:t> </a:t>
            </a:r>
            <a:r>
              <a:rPr lang="en-US" sz="2400" b="0" i="0" u="none" strike="noStrike" baseline="0" dirty="0">
                <a:latin typeface="MTSYN"/>
              </a:rPr>
              <a:t>= </a:t>
            </a:r>
            <a:r>
              <a:rPr lang="en-US" sz="2400" b="0" i="0" u="none" strike="noStrike" baseline="0" dirty="0">
                <a:latin typeface="Times-Roman"/>
              </a:rPr>
              <a:t>RNN</a:t>
            </a:r>
            <a:r>
              <a:rPr lang="en-US" sz="2400" b="0" i="1" u="none" strike="noStrike" baseline="0" dirty="0">
                <a:latin typeface="MTMI"/>
              </a:rPr>
              <a:t>(xd</a:t>
            </a:r>
            <a:r>
              <a:rPr lang="en-US" sz="2400" b="0" i="0" u="none" strike="noStrike" baseline="0" dirty="0">
                <a:latin typeface="MTSYN"/>
              </a:rPr>
              <a:t>−</a:t>
            </a:r>
            <a:r>
              <a:rPr lang="en-US" sz="2400" b="0" i="0" u="none" strike="noStrike" baseline="0" dirty="0">
                <a:latin typeface="Times-Roman"/>
              </a:rPr>
              <a:t>1</a:t>
            </a:r>
            <a:r>
              <a:rPr lang="en-US" sz="2400" b="0" i="1" u="none" strike="noStrike" baseline="0" dirty="0">
                <a:latin typeface="MTMI"/>
              </a:rPr>
              <a:t>, hd</a:t>
            </a:r>
            <a:r>
              <a:rPr lang="en-US" sz="2400" b="0" i="0" u="none" strike="noStrike" baseline="0" dirty="0">
                <a:latin typeface="MTSYN"/>
              </a:rPr>
              <a:t>−</a:t>
            </a:r>
            <a:r>
              <a:rPr lang="en-US" sz="2400" b="0" i="0" u="none" strike="noStrike" baseline="0" dirty="0">
                <a:latin typeface="Times-Roman"/>
              </a:rPr>
              <a:t>1</a:t>
            </a:r>
            <a:r>
              <a:rPr lang="en-US" sz="2400" b="0" i="1" u="none" strike="noStrike" baseline="0" dirty="0">
                <a:latin typeface="MTMI"/>
              </a:rPr>
              <a:t>)</a:t>
            </a:r>
            <a:r>
              <a:rPr lang="en-US" sz="2400" b="0" i="0" u="none" strike="noStrike" baseline="0" dirty="0">
                <a:latin typeface="Times-Roman"/>
              </a:rPr>
              <a:t>, and </a:t>
            </a:r>
            <a:r>
              <a:rPr lang="en-US" sz="2400" b="0" i="1" u="none" strike="noStrike" baseline="0" dirty="0" err="1">
                <a:latin typeface="MTMI"/>
              </a:rPr>
              <a:t>h</a:t>
            </a:r>
            <a:r>
              <a:rPr lang="en-US" sz="2400" b="0" i="1" u="none" strike="noStrike" baseline="-25000" dirty="0" err="1">
                <a:latin typeface="MTMI"/>
              </a:rPr>
              <a:t>d</a:t>
            </a:r>
            <a:r>
              <a:rPr lang="en-US" sz="2400" b="0" i="1" u="none" strike="noStrike" baseline="0" dirty="0">
                <a:latin typeface="MTMI"/>
              </a:rPr>
              <a:t> </a:t>
            </a:r>
            <a:r>
              <a:rPr lang="en-US" sz="2400" b="0" i="0" u="none" strike="noStrike" baseline="0" dirty="0">
                <a:latin typeface="Times-Roman"/>
              </a:rPr>
              <a:t>is a hidden context, which acts as a </a:t>
            </a:r>
            <a:r>
              <a:rPr lang="en-US" sz="2400" b="0" i="1" u="none" strike="noStrike" baseline="0" dirty="0">
                <a:latin typeface="Times-Italic"/>
              </a:rPr>
              <a:t>memory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Learning long-range dependencies.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A single parameterization, =&gt; efficient 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Solves the problem of a finite memory.</a:t>
            </a:r>
          </a:p>
          <a:p>
            <a:pPr algn="l"/>
            <a:endParaRPr lang="en-US" sz="2400" b="0" i="0" u="none" strike="noStrike" baseline="0" dirty="0">
              <a:solidFill>
                <a:srgbClr val="000000"/>
              </a:solidFill>
              <a:latin typeface="Times-Roman"/>
            </a:endParaRPr>
          </a:p>
          <a:p>
            <a:endParaRPr lang="en-US" sz="36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0AB8B-F740-B053-FAFC-319C1B8CA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5B9F5-169E-441A-BD04-A0AA534FA908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3D941-C9DD-6DA6-AA0D-CDB989B9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0320C4-A984-E1E8-BD2E-92F719C5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D756D64-6C09-9CD0-EE00-18A7E8C8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2B9432-2352-B002-CDB2-0DEE3F0CA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3000361"/>
            <a:ext cx="6928825" cy="85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45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12870B-C98F-55D0-CFE4-25763320E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FFA35-85C6-4A01-8DE9-0460F0876B22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89360-9BA7-FC4A-A299-C5878FEC7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4AE56-AFE9-3289-5BDB-0F52C7AFE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5EE9215-0AEE-F603-78C8-4447395D1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models: RNN Architecture</a:t>
            </a:r>
          </a:p>
        </p:txBody>
      </p:sp>
      <p:pic>
        <p:nvPicPr>
          <p:cNvPr id="7170" name="Picture 2" descr="What are Recurrent Neural Networks?">
            <a:extLst>
              <a:ext uri="{FF2B5EF4-FFF2-40B4-BE49-F238E27FC236}">
                <a16:creationId xmlns:a16="http://schemas.microsoft.com/office/drawing/2014/main" id="{8D25C06C-79D5-BE13-CCF1-DB82354C34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2320131"/>
            <a:ext cx="1042035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39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D94534-88F1-92EA-94AC-E490B1D21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BA838-2FA2-7738-F22A-4BDB15727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FDF0-C1CE-4BB8-B64F-2E525C14B7F5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FB2FF-DB9E-D4BA-DAF2-35DB0EAF9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74ECD9-EDCD-7DCD-A812-616CB3879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69185C-91CB-893C-1A47-628037394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8873BB-4D65-6216-49C9-2FE64310B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81200"/>
            <a:ext cx="10844200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526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6AC3D0-D517-D141-E48B-E82D7B005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latin typeface="Times-Roman"/>
              </a:rPr>
              <a:t>Issues with RNNs:</a:t>
            </a:r>
          </a:p>
          <a:p>
            <a:pPr lvl="1"/>
            <a:r>
              <a:rPr lang="en-US" b="0" i="0" u="none" strike="noStrike" baseline="0" dirty="0">
                <a:latin typeface="Times-Roman"/>
              </a:rPr>
              <a:t>They are sequential, hence, </a:t>
            </a:r>
            <a:r>
              <a:rPr lang="en-US" b="0" i="0" u="none" strike="noStrike" baseline="0" dirty="0">
                <a:solidFill>
                  <a:srgbClr val="00B0F0"/>
                </a:solidFill>
                <a:latin typeface="Times-Roman"/>
              </a:rPr>
              <a:t>slow</a:t>
            </a:r>
            <a:r>
              <a:rPr lang="en-US" b="0" i="0" u="none" strike="noStrike" baseline="0" dirty="0">
                <a:latin typeface="Times-Roman"/>
              </a:rPr>
              <a:t>.</a:t>
            </a:r>
          </a:p>
          <a:p>
            <a:pPr lvl="1"/>
            <a:r>
              <a:rPr lang="en-US" dirty="0">
                <a:latin typeface="Times-Roman"/>
              </a:rPr>
              <a:t>T</a:t>
            </a:r>
            <a:r>
              <a:rPr lang="en-US" b="0" i="0" u="none" strike="noStrike" baseline="0" dirty="0">
                <a:latin typeface="Times-Roman"/>
              </a:rPr>
              <a:t>hey suffer from </a:t>
            </a:r>
            <a:r>
              <a:rPr lang="en-US" b="0" i="0" u="none" strike="noStrike" baseline="0" dirty="0">
                <a:solidFill>
                  <a:srgbClr val="00B0F0"/>
                </a:solidFill>
                <a:latin typeface="Times-Roman"/>
              </a:rPr>
              <a:t>exploding or vanishing gradients </a:t>
            </a:r>
          </a:p>
          <a:p>
            <a:r>
              <a:rPr lang="en-US" b="1" dirty="0">
                <a:latin typeface="Times-Roman"/>
              </a:rPr>
              <a:t>Issues Cause</a:t>
            </a:r>
            <a:r>
              <a:rPr lang="en-US" dirty="0">
                <a:latin typeface="Times-Roman"/>
              </a:rPr>
              <a:t>: the network to </a:t>
            </a:r>
            <a:r>
              <a:rPr lang="en-US" dirty="0">
                <a:solidFill>
                  <a:srgbClr val="00B050"/>
                </a:solidFill>
                <a:latin typeface="Times-Roman"/>
              </a:rPr>
              <a:t>become unstable</a:t>
            </a:r>
          </a:p>
          <a:p>
            <a:pPr lvl="1"/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 model might </a:t>
            </a:r>
            <a:r>
              <a:rPr lang="en-US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fail to learn or even converge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</a:p>
          <a:p>
            <a:pPr lvl="1"/>
            <a:endParaRPr lang="en-US" dirty="0">
              <a:latin typeface="Times-Roman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373F3D-868D-9324-F55D-E2C39675C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9ABC-5977-40D9-9EEC-CB425F7627B8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BAAD9-090E-B156-1007-E585C996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05EB0F-8881-3F5E-B7E6-F62341F99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957F242-5336-A3FB-BCF3-C4F47D731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14460592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112BF2-1765-9EFC-510B-A712AE961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800" b="0" i="0" u="none" strike="noStrike" baseline="0" dirty="0">
                <a:solidFill>
                  <a:srgbClr val="000000"/>
                </a:solidFill>
                <a:latin typeface="Times-Roman"/>
              </a:rPr>
              <a:t>Proposed solutions to the above problems: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Times-Roman"/>
              </a:rPr>
              <a:t>Gradient clipping or, more generally gradient regularization 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Times-Roman"/>
              </a:rPr>
              <a:t>Orthogonal weights (weight initialization is crucial)</a:t>
            </a:r>
          </a:p>
          <a:p>
            <a:pPr algn="l"/>
            <a:r>
              <a:rPr lang="en-US" dirty="0">
                <a:solidFill>
                  <a:srgbClr val="FF0000"/>
                </a:solidFill>
                <a:latin typeface="Times-Roman"/>
              </a:rPr>
              <a:t>Exploding and vanishing gradient problems occur due to the nature of backpropagation through time in RNNs, where gradients are computed through several timesteps.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CA98E-0E6C-2B5E-9002-8A8758C0C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CDD93-5C98-4279-89A9-0C7CCDCEC4CC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FEEB9-1911-31EF-14BA-0BD766F6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01BA49-BB2B-38CF-2056-AC284AF33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4B870CC-E1CD-BA87-28D5-2765B8E6A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35040642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786270-16F6-DCE1-9420-1CAF04794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1. Gradient Clipping: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Exploding gradients: These occur when </a:t>
            </a:r>
            <a:r>
              <a:rPr lang="en-US" sz="2400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large error gradients accumulate,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resulting in very </a:t>
            </a:r>
            <a:r>
              <a:rPr lang="en-US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large updates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to the neural network's weights during training.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Gradient clipping is a technique to prevent exploding gradients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by setting a threshold value</a:t>
            </a:r>
          </a:p>
          <a:p>
            <a:pPr marL="40005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</a:rPr>
              <a:t>If the gradients exceed this threshold, they are scaled down uniformly such that their </a:t>
            </a:r>
            <a:r>
              <a:rPr lang="en-US" kern="100" dirty="0">
                <a:solidFill>
                  <a:srgbClr val="0070C0"/>
                </a:solidFill>
                <a:latin typeface="Times New Roman" panose="02020603050405020304" pitchFamily="18" charset="0"/>
              </a:rPr>
              <a:t>norm (magnitude) does not exceed the threshold</a:t>
            </a:r>
            <a:r>
              <a:rPr lang="en-US" kern="100" dirty="0">
                <a:latin typeface="Times New Roman" panose="02020603050405020304" pitchFamily="18" charset="0"/>
              </a:rPr>
              <a:t>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latin typeface="Times New Roman" panose="02020603050405020304" pitchFamily="18" charset="0"/>
              </a:rPr>
              <a:t>The direction of the gradient is preserved, but the magnitude is controlled. </a:t>
            </a:r>
          </a:p>
          <a:p>
            <a:endParaRPr lang="en-US" sz="36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508428-620C-5099-5DFA-E97F9A30B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09542-DFCB-475D-A0BD-CE32C7DE19BA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7563C-79F3-19AC-2948-46C064B5C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3ED8A-C09A-6463-1F5A-02927F343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E512477-7657-42D9-3D55-5410F0C3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1826250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9613473-7598-8F1F-69F5-E670BC49A0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How it works:</a:t>
                </a:r>
              </a:p>
              <a:p>
                <a:pPr marL="400050" lvl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Calculate the gradients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𝑔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of the loss function with respect to the parameters.</a:t>
                </a:r>
              </a:p>
              <a:p>
                <a:pPr marL="400050" lvl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Determine the threshold ( t ).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- If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  <m:r>
                      <m:rPr>
                        <m:lit/>
                      </m:rP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𝑔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  <m:r>
                      <m:rPr>
                        <m:lit/>
                      </m:rP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&gt;</m:t>
                    </m:r>
                    <m:r>
                      <m:rPr>
                        <m:sty m:val="p"/>
                      </m:rPr>
                      <a:rPr lang="en-US" sz="2400" b="0" i="0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t</m:t>
                    </m:r>
                    <m:r>
                      <m:rPr>
                        <m:lit/>
                      </m:rP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</m:oMath>
                </a14:m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(where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m:rPr>
                        <m:lit/>
                      </m:rP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𝑔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  <m:r>
                      <m:rPr>
                        <m:lit/>
                      </m:rP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m:rPr>
                        <m:lit/>
                      </m:rP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</m:oMath>
                </a14:m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is the norm of the gradient vector), then scale down the gradients:</a:t>
                </a: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𝑔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𝑔</m:t>
                      </m:r>
                      <m:r>
                        <a:rPr lang="en-US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×</m:t>
                      </m:r>
                      <m:f>
                        <m:fPr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t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 kern="10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kern="100" smtClean="0">
                                  <a:effectLst/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 This ensures that the </a:t>
                </a:r>
                <a:r>
                  <a:rPr lang="en-US" sz="2400" kern="10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updates to the parameters are not too large</a:t>
                </a: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, helping maintain the stability of the learning process.</a:t>
                </a:r>
              </a:p>
              <a:p>
                <a:endParaRPr lang="en-US" sz="36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9613473-7598-8F1F-69F5-E670BC49A0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C45350-3B37-F3CB-9E6E-60FE6801A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BF87-F267-4D39-BFB5-4600083FB2AC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FA9BAC-7CF2-9E2B-3CAC-729E6B3B4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A04A42-9114-B998-AAB3-C5D1C005F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CD31CA9-1171-BBA4-959D-448AB468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525600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7B3185-2D89-8B33-2188-87D676D48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2.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Gradient Regularization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Vanishing gradients: It occurs when the gradients of the loss function become too small</a:t>
            </a:r>
          </a:p>
          <a:p>
            <a:pPr marL="40005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Preventing the 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weights from updating</a:t>
            </a:r>
          </a:p>
          <a:p>
            <a:pPr marL="40005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Stops neural network from further learning.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 Gradient regularization:  It can refer to several techniques that modify the learning process to maintain stable gradients. </a:t>
            </a:r>
          </a:p>
          <a:p>
            <a:pPr marL="40005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Helps in </a:t>
            </a:r>
            <a:r>
              <a:rPr lang="en-US" sz="20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exploding gradients issue</a:t>
            </a:r>
          </a:p>
          <a:p>
            <a:pPr marL="40005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One common form is adding a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regularization term to the loss function, such as L1 or L2 regularization</a:t>
            </a:r>
          </a:p>
          <a:p>
            <a:pPr marL="40005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Help in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keeping the weights from growing too large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</a:t>
            </a:r>
          </a:p>
          <a:p>
            <a:pPr mar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It doesn’t directly solve the exploding gradient problem but can contribute to a more stable and generalizable model.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0B6F31-9664-CFE7-A9D5-D76E025C5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9DCF6-D983-4994-AA65-5EC8E2D3413E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F3E81-E7EB-3D08-132C-DEB286078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8DE04-E4AB-E0A1-933D-2887A3AA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CDC2808-8A16-C48C-93A5-16BB5DAC0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5606130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C65B87-FA95-ECD8-F757-FE6DB8798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L1 regularization</a:t>
            </a:r>
            <a:endParaRPr lang="en-US" sz="3200" b="0" i="0" kern="100" dirty="0">
              <a:solidFill>
                <a:srgbClr val="0D0D0D"/>
              </a:solidFill>
              <a:latin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200" kern="100" dirty="0">
              <a:solidFill>
                <a:srgbClr val="0D0D0D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L2 regularization</a:t>
            </a:r>
            <a:endParaRPr lang="en-US" sz="32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b="0" i="1" dirty="0">
              <a:solidFill>
                <a:srgbClr val="0D0D0D"/>
              </a:solidFill>
              <a:effectLst/>
              <a:latin typeface="KaTeX_Math"/>
            </a:endParaRPr>
          </a:p>
          <a:p>
            <a:r>
              <a:rPr lang="en-US" b="0" i="1" dirty="0">
                <a:solidFill>
                  <a:srgbClr val="0D0D0D"/>
                </a:solidFill>
                <a:effectLst/>
                <a:latin typeface="KaTeX_Math"/>
              </a:rPr>
              <a:t>λ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is the regularization strength hyperparameter that controls the amount of regularization applied.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Choosing the right value of </a:t>
            </a:r>
            <a:r>
              <a:rPr lang="en-US" b="0" i="1" dirty="0">
                <a:solidFill>
                  <a:srgbClr val="0D0D0D"/>
                </a:solidFill>
                <a:effectLst/>
                <a:latin typeface="KaTeX_Math"/>
              </a:rPr>
              <a:t>λ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is critical because a value too high will lead to underfitting, while a value too low will not sufficiently regularize the parameters.</a:t>
            </a:r>
            <a:endParaRPr lang="en-US" dirty="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33BFB8-9C95-D0B1-120D-81B6F54A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4739-91E5-4802-8A1E-1493FC7C6586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ED343-E056-C898-2367-9ED233BBC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92772-FFA7-8207-3FF4-FE25C968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365D0E7-702F-058E-DBE7-7F990C482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F78E51-3053-1AA4-10A0-026BB798D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509" y="1441580"/>
            <a:ext cx="4333390" cy="9968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881096-872E-1B02-216E-490F51A6B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399" y="2789234"/>
            <a:ext cx="4229777" cy="86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3037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5BE1D27-5468-6A77-3C70-D6C5266D9B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sz="2000" b="1" dirty="0"/>
                  <a:t>Orthogonal Weight initialization</a:t>
                </a:r>
                <a:r>
                  <a:rPr lang="en-US" sz="2000" dirty="0"/>
                  <a:t>:</a:t>
                </a:r>
              </a:p>
              <a:p>
                <a:r>
                  <a:rPr lang="en-US" sz="2000" dirty="0"/>
                  <a:t>It is a technique used to address both exploding and vanishing gradients. </a:t>
                </a:r>
              </a:p>
              <a:p>
                <a:r>
                  <a:rPr lang="en-US" sz="2000" dirty="0"/>
                  <a:t>The concept is to initialize the weight matrices at the start of training such that they are orthogonal. </a:t>
                </a:r>
              </a:p>
              <a:p>
                <a:r>
                  <a:rPr lang="en-US" sz="2000" dirty="0"/>
                  <a:t>An orthogonal matrix is a square matrix whose columns and rows are orthogonal unit vectors (i.e., orthonormal vectors).</a:t>
                </a:r>
              </a:p>
              <a:p>
                <a:r>
                  <a:rPr lang="en-US" sz="2000" dirty="0"/>
                  <a:t>One of the key properties of an orthogonal matrix is that its inverse is equal to its transpose.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Mathematically, an orthogonal matrix (Q ) has the property: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3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US" sz="3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US" sz="3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3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sz="5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3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US" sz="3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3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𝐼</m:t>
                      </m:r>
                    </m:oMath>
                  </m:oMathPara>
                </a14:m>
                <a:endParaRPr lang="en-US" sz="5400" dirty="0"/>
              </a:p>
              <a:p>
                <a:endParaRPr lang="en-US" sz="2000" dirty="0"/>
              </a:p>
              <a:p>
                <a:r>
                  <a:rPr lang="en-US" sz="2000" dirty="0"/>
                  <a:t>Help train RNNs more effectively, potentially leading to better performance and more reliable convergence during training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5BE1D27-5468-6A77-3C70-D6C5266D9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89" t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42F6B9-15C9-AFEC-6E4F-A986FF0EB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23F15-88B0-4048-A199-DFB8C64E2DBD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A7D70-1D55-B092-5570-BCDE9C702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A7A0C-FE2B-741C-156A-19D18BAD6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6C54A7-C711-C05D-1A9B-0EA18BE1C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10356161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876FFC-6B48-9555-CCED-C2A8BD9FA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orthogonal weights can help?</a:t>
            </a:r>
          </a:p>
          <a:p>
            <a:r>
              <a:rPr lang="en-US" dirty="0">
                <a:solidFill>
                  <a:srgbClr val="FF0000"/>
                </a:solidFill>
              </a:rPr>
              <a:t>During backpropagation, when the gradient is passed through the network, an orthogonal matrix will preserve the norm of the gradient.</a:t>
            </a:r>
            <a:r>
              <a:rPr lang="en-US" dirty="0"/>
              <a:t> </a:t>
            </a:r>
          </a:p>
          <a:p>
            <a:r>
              <a:rPr lang="en-US" dirty="0"/>
              <a:t>Not amplifies nor diminishes the magnitude of the gradient, thus mitigating the risk of exploding or vanishing gradients.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3346FC-48EB-3FFC-293D-929F89F36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2405-1C43-4B7E-9711-67AF918C20AF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FEDA03-4648-F880-1723-D1723662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3225E-CED0-4D07-A3AC-EE1A06DF3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81D1AF-5C5D-ECDE-6E97-593CA239E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28332583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193ABB3-C5FF-A163-4389-02C02FE623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𝑇𝑟𝑎𝑛𝑠𝑙𝑎𝑡𝑖𝑛𝑔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𝑡h𝑖𝑠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𝑡𝑜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𝑡h𝑒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𝑐𝑜𝑛𝑡𝑒𝑥𝑡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𝑜𝑓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𝑛𝑒𝑢𝑟𝑎𝑙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𝑛𝑒𝑡𝑤𝑜𝑟𝑘𝑠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𝑎𝑛𝑑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𝑔𝑟𝑎𝑑𝑖𝑒𝑛𝑡𝑠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:</m:t>
                    </m:r>
                  </m:oMath>
                </a14:m>
                <a:endParaRPr lang="en-US" sz="20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i="1" kern="100" dirty="0">
                    <a:effectLst/>
                    <a:latin typeface="Cambria Math" panose="02040503050406030204" pitchFamily="18" charset="0"/>
                    <a:ea typeface="Aptos" panose="020B0004020202020204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𝐼𝑚𝑎𝑔𝑖𝑛𝑒</m:t>
                    </m:r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𝑥</m:t>
                    </m:r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𝑟𝑒𝑝𝑟𝑒𝑠𝑒𝑛𝑡𝑠𝑡h𝑒𝑔𝑟𝑎𝑑𝑖𝑒𝑛𝑡𝑣𝑒𝑐𝑡𝑜𝑟𝑎𝑡𝑎𝑐𝑒𝑟𝑡𝑎𝑖𝑛𝑙𝑎𝑦𝑒𝑟𝑖𝑛𝑡h𝑒𝑛𝑒𝑢𝑟𝑎𝑙𝑛𝑒𝑡𝑤𝑜𝑟𝑘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.</m:t>
                    </m:r>
                  </m:oMath>
                </a14:m>
                <a:endParaRPr lang="en-US" sz="20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𝑇h𝑒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𝑤𝑒𝑖𝑔h𝑡𝑠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𝑜𝑓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𝑙𝑎𝑦𝑒𝑟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𝑎𝑟𝑒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𝑟𝑒𝑝𝑟𝑒𝑠𝑒𝑛𝑡𝑒𝑑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𝑏𝑦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𝑜𝑟𝑡h𝑜𝑔𝑜𝑛𝑎𝑙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𝑚𝑎𝑡𝑟𝑖𝑥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𝑄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.</m:t>
                    </m:r>
                  </m:oMath>
                </a14:m>
                <a:endParaRPr lang="en-US" sz="20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𝐷𝑢𝑟𝑖𝑛𝑔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𝑏𝑎𝑐𝑘𝑝𝑟𝑜𝑝𝑎𝑔𝑎𝑡𝑖𝑜𝑛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,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𝑡h𝑖𝑠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𝑔𝑟𝑎𝑑𝑖𝑒𝑛𝑡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𝑣𝑒𝑐𝑡𝑜𝑟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𝑚𝑢𝑙𝑡𝑖𝑝𝑙𝑖𝑒𝑑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𝑏𝑦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𝑡𝑟𝑎𝑛𝑠𝑝𝑜𝑠𝑒𝑑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 </m:t>
                    </m:r>
                  </m:oMath>
                </a14:m>
                <a:endParaRPr lang="en-US" sz="2000" b="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2000" kern="100" dirty="0">
                    <a:effectLst/>
                    <a:ea typeface="Aptos" panose="020B0004020202020204" pitchFamily="34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𝑤𝑒𝑖𝑔h𝑡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𝑚𝑎𝑡𝑟𝑖𝑥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𝑎𝑠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𝑝𝑎𝑟𝑡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𝑜𝑓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𝑐h𝑎𝑖𝑛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𝑟𝑢𝑙𝑒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.</m:t>
                    </m:r>
                  </m:oMath>
                </a14:m>
                <a:endParaRPr lang="en-US" sz="20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𝑆𝑖𝑛𝑐𝑒</m:t>
                    </m:r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𝑄</m:t>
                    </m:r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𝑖𝑠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𝑜𝑟𝑡h𝑜𝑔𝑜𝑛𝑎𝑙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,</m:t>
                    </m:r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p>
                      <m:sSup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𝑄</m:t>
                        </m:r>
                      </m:e>
                      <m:sup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⊤</m:t>
                        </m:r>
                      </m:sup>
                    </m:sSup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𝑖𝑠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𝑎𝑙𝑠𝑜𝑜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𝑟𝑡h𝑜𝑔𝑜𝑛𝑎𝑙</m:t>
                    </m:r>
                    <m:d>
                      <m:d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dPr>
                      <m:e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𝑎𝑝𝑟𝑜𝑝𝑒𝑟𝑡𝑦𝑜𝑓𝑜𝑟𝑡h𝑜𝑔𝑜𝑛𝑎𝑙𝑚𝑎𝑡𝑟𝑖𝑐𝑒𝑠</m:t>
                        </m:r>
                      </m:e>
                    </m:d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.</m:t>
                    </m:r>
                  </m:oMath>
                </a14:m>
                <a:endParaRPr lang="en-US" sz="20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𝑇h𝑒𝑟𝑒𝑠𝑢𝑙𝑡𝑖𝑛𝑔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𝑔𝑟𝑎𝑑𝑖𝑒𝑛𝑡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𝑣𝑒𝑐𝑡𝑜𝑟</m:t>
                    </m:r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𝑦</m:t>
                    </m:r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𝑎𝑓𝑡𝑒𝑟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𝑡h𝑖𝑠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𝑚𝑢𝑙𝑡𝑖𝑝𝑙𝑖𝑐𝑎𝑡𝑖𝑜𝑛h𝑎𝑠𝑡h𝑒𝑠𝑎𝑚𝑒𝑛𝑜𝑟𝑚</m:t>
                    </m:r>
                  </m:oMath>
                </a14:m>
                <a:endParaRPr lang="en-US" sz="20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𝑎𝑠𝑡h𝑒𝑜𝑟𝑖𝑔𝑖𝑛𝑎𝑙𝑔𝑟𝑎𝑑𝑖𝑒𝑛𝑡𝑣𝑒𝑐𝑡𝑜𝑟</m:t>
                      </m:r>
                      <m:r>
                        <m:rPr>
                          <m:lit/>
                        </m:rP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(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𝑥</m:t>
                      </m:r>
                      <m:r>
                        <m:rPr>
                          <m:lit/>
                        </m:rP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)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en-US" sz="20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193ABB3-C5FF-A163-4389-02C02FE623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0" t="-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A604CE-3CC7-B1DA-895E-A5E0E10A7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3AFDB-F278-40F0-8CAF-9446600F25CD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EC42AE-F286-F21E-61F4-E08992029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5AD0F-8B71-57F3-170D-2A7D407A7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2240915-CED9-B49F-DE33-244B37E6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3414988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6929B0-D82D-F3CF-A7B3-D1D9F7675E7E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Keras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Causal Convolution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causal_conv_layer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tf.keras.layers.Conv1D(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'causal'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input_sequence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Keras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Dilated Convolution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dilated_conv_layer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tf.keras.layers.Conv2D(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dilation_rate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'same'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input_tensor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PyTorch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Dilated Convolution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dilated_conv_layer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torch.nn.Conv2d(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in_channels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out_channels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dilation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PyTorch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Causal Convolution (for Conv1D)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input_sequence_padded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torch.nn.functional.pad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input_sequence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Pad 2 zeros on the left for a kernel size of 3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causal_conv_layer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torch.nn.Conv1d(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in_channels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out_channels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input_sequence_padded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BDF25E-0E68-3237-80F6-EE4E6C2D2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B8F2-FA88-4AE2-97D7-545A97794CD1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41AFFC-76F0-2617-8DD6-6E525EF4B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7A6E5-B575-02E6-5B7F-66888664C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65F981-4C53-FBF3-BA65-20B197EEB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39200101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14EBE-4493-381C-BBC2-7F9075815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F3DE3D-2EC0-FF0E-D6DD-5BB94039B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131314"/>
                </a:solidFill>
                <a:effectLst/>
                <a:latin typeface="Manrope Var"/>
                <a:hlinkClick r:id="rId2"/>
              </a:rPr>
              <a:t>State of Health Estimation using a Temporal Convolutional Network for an Efficient Use of Retired Electric Vehicle Batteries within Second-Life Applications</a:t>
            </a:r>
            <a:endParaRPr lang="en-US" b="1" i="0" dirty="0">
              <a:solidFill>
                <a:srgbClr val="131314"/>
              </a:solidFill>
              <a:effectLst/>
              <a:latin typeface="Manrope Var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8D9B8A-BB10-B81C-7B73-476E2C3B4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F6474-F1DF-4113-963F-8CC0AAFC60D7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7BA1F-DFA4-266A-F989-5A0D454C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46DEE-39B1-81A4-1855-C5DE6D447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748668A-B5B6-EFD2-4E01-0316F2D78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0112845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C232-B888-0EB2-61B2-BEB4A983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C1AA-A3FB-9995-AC6E-943FF959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62930-1E6D-DB8B-BF0D-190341163676}"/>
              </a:ext>
            </a:extLst>
          </p:cNvPr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9C136B-6D9E-DD01-551C-E8A7BE12B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37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4BC09-5E7A-E3EF-EDF4-FBE56520E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62CFB-7629-417D-8FF1-80A2D15001DA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D263B-13BE-7E81-C490-6BF84DA2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30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22603</TotalTime>
  <Words>2065</Words>
  <Application>Microsoft Office PowerPoint</Application>
  <PresentationFormat>Widescreen</PresentationFormat>
  <Paragraphs>311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57" baseType="lpstr">
      <vt:lpstr>KaTeX_Math</vt:lpstr>
      <vt:lpstr>Manrope Var</vt:lpstr>
      <vt:lpstr>MTMI</vt:lpstr>
      <vt:lpstr>MTSYN</vt:lpstr>
      <vt:lpstr>SimSun</vt:lpstr>
      <vt:lpstr>Söhne</vt:lpstr>
      <vt:lpstr>Times-Bold</vt:lpstr>
      <vt:lpstr>Times-BoldItalic</vt:lpstr>
      <vt:lpstr>Times-Italic</vt:lpstr>
      <vt:lpstr>Times-Roman</vt:lpstr>
      <vt:lpstr>txsy</vt:lpstr>
      <vt:lpstr>Aptos</vt:lpstr>
      <vt:lpstr>Arial</vt:lpstr>
      <vt:lpstr>Arial</vt:lpstr>
      <vt:lpstr>Calibri</vt:lpstr>
      <vt:lpstr>Cambria Math</vt:lpstr>
      <vt:lpstr>Consolas</vt:lpstr>
      <vt:lpstr>Times New Roman</vt:lpstr>
      <vt:lpstr>Wingdings</vt:lpstr>
      <vt:lpstr>Office Theme</vt:lpstr>
      <vt:lpstr>PowerPoint Presentation</vt:lpstr>
      <vt:lpstr>Goals</vt:lpstr>
      <vt:lpstr>Review of Previous Lecture</vt:lpstr>
      <vt:lpstr>Convolution Operation</vt:lpstr>
      <vt:lpstr>CNN architecture</vt:lpstr>
      <vt:lpstr>The whole CNN</vt:lpstr>
      <vt:lpstr>Pooling Layer</vt:lpstr>
      <vt:lpstr>Dropout</vt:lpstr>
      <vt:lpstr>Dropout</vt:lpstr>
      <vt:lpstr>Today’s Lecture</vt:lpstr>
      <vt:lpstr>Introduction</vt:lpstr>
      <vt:lpstr>Introduction</vt:lpstr>
      <vt:lpstr>Introduction</vt:lpstr>
      <vt:lpstr>Introduction</vt:lpstr>
      <vt:lpstr>Introduction</vt:lpstr>
      <vt:lpstr>Autoregressive models</vt:lpstr>
      <vt:lpstr>Autoregressive models</vt:lpstr>
      <vt:lpstr>Autoregressive models</vt:lpstr>
      <vt:lpstr>Autoregressive models</vt:lpstr>
      <vt:lpstr>Autoregressive models</vt:lpstr>
      <vt:lpstr>Autoregressive models</vt:lpstr>
      <vt:lpstr>Autoregressive models</vt:lpstr>
      <vt:lpstr>Autoregressive models</vt:lpstr>
      <vt:lpstr>Autoregressive models: RNN Architecture</vt:lpstr>
      <vt:lpstr>Autoregressive models</vt:lpstr>
      <vt:lpstr>Autoregressive models</vt:lpstr>
      <vt:lpstr>Autoregressive models</vt:lpstr>
      <vt:lpstr>Autoregressive models</vt:lpstr>
      <vt:lpstr>Autoregressive models</vt:lpstr>
      <vt:lpstr>Autoregressive models</vt:lpstr>
      <vt:lpstr>Autoregressive models</vt:lpstr>
      <vt:lpstr>Autoregressive models</vt:lpstr>
      <vt:lpstr>Autoregressive models</vt:lpstr>
      <vt:lpstr>Autoregressive models</vt:lpstr>
      <vt:lpstr>Autoregressive models</vt:lpstr>
      <vt:lpstr>References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01-243172-020</cp:lastModifiedBy>
  <cp:revision>1570</cp:revision>
  <dcterms:created xsi:type="dcterms:W3CDTF">2006-08-16T00:00:00Z</dcterms:created>
  <dcterms:modified xsi:type="dcterms:W3CDTF">2025-09-02T05:02:23Z</dcterms:modified>
</cp:coreProperties>
</file>