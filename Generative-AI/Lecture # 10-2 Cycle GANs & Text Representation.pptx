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25.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39"/>
  </p:notesMasterIdLst>
  <p:sldIdLst>
    <p:sldId id="352" r:id="rId2"/>
    <p:sldId id="421" r:id="rId3"/>
    <p:sldId id="1756" r:id="rId4"/>
    <p:sldId id="1838" r:id="rId5"/>
    <p:sldId id="1839" r:id="rId6"/>
    <p:sldId id="1840" r:id="rId7"/>
    <p:sldId id="1841" r:id="rId8"/>
    <p:sldId id="1842" r:id="rId9"/>
    <p:sldId id="1843" r:id="rId10"/>
    <p:sldId id="1844" r:id="rId11"/>
    <p:sldId id="1845" r:id="rId12"/>
    <p:sldId id="256" r:id="rId13"/>
    <p:sldId id="257" r:id="rId14"/>
    <p:sldId id="1846" r:id="rId15"/>
    <p:sldId id="1847" r:id="rId16"/>
    <p:sldId id="1848" r:id="rId17"/>
    <p:sldId id="1849" r:id="rId18"/>
    <p:sldId id="258" r:id="rId19"/>
    <p:sldId id="259" r:id="rId20"/>
    <p:sldId id="261" r:id="rId21"/>
    <p:sldId id="262" r:id="rId22"/>
    <p:sldId id="1850" r:id="rId23"/>
    <p:sldId id="1851" r:id="rId24"/>
    <p:sldId id="1853" r:id="rId25"/>
    <p:sldId id="1854" r:id="rId26"/>
    <p:sldId id="1852" r:id="rId27"/>
    <p:sldId id="1855" r:id="rId28"/>
    <p:sldId id="272" r:id="rId29"/>
    <p:sldId id="278" r:id="rId30"/>
    <p:sldId id="279" r:id="rId31"/>
    <p:sldId id="1857" r:id="rId32"/>
    <p:sldId id="1858" r:id="rId33"/>
    <p:sldId id="1859" r:id="rId34"/>
    <p:sldId id="1860" r:id="rId35"/>
    <p:sldId id="275" r:id="rId36"/>
    <p:sldId id="1837" r:id="rId37"/>
    <p:sldId id="128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v" initials="C" lastIdx="1" clrIdx="0">
    <p:extLst>
      <p:ext uri="{19B8F6BF-5375-455C-9EA6-DF929625EA0E}">
        <p15:presenceInfo xmlns:p15="http://schemas.microsoft.com/office/powerpoint/2012/main" userId="C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0F22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12" d="100"/>
          <a:sy n="112" d="100"/>
        </p:scale>
        <p:origin x="552" y="5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28C82-CA69-4C24-80B0-668ACBAF35BA}" type="datetimeFigureOut">
              <a:rPr lang="en-US" smtClean="0"/>
              <a:pPr/>
              <a:t>10/22/2025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D1793F-0F1D-49B1-A0BA-855CC243B45D}" type="slidenum">
              <a:rPr lang="en-US" smtClean="0"/>
              <a:pPr/>
              <a:t>‹#›</a:t>
            </a:fld>
            <a:endParaRPr lang="en-US"/>
          </a:p>
        </p:txBody>
      </p:sp>
    </p:spTree>
    <p:extLst>
      <p:ext uri="{BB962C8B-B14F-4D97-AF65-F5344CB8AC3E}">
        <p14:creationId xmlns:p14="http://schemas.microsoft.com/office/powerpoint/2010/main" val="1722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492876"/>
            <a:ext cx="2844800" cy="365125"/>
          </a:xfrm>
        </p:spPr>
        <p:txBody>
          <a:bodyPr/>
          <a:lstStyle>
            <a:lvl1pPr>
              <a:defRPr>
                <a:solidFill>
                  <a:schemeClr val="bg1">
                    <a:lumMod val="95000"/>
                  </a:schemeClr>
                </a:solidFill>
              </a:defRPr>
            </a:lvl1pPr>
          </a:lstStyle>
          <a:p>
            <a:fld id="{CFD0AFF7-0B40-4C86-B5B1-5BB6CB485D34}" type="datetime1">
              <a:rPr lang="en-US" smtClean="0"/>
              <a:t>10/22/2025</a:t>
            </a:fld>
            <a:endParaRPr lang="en-US"/>
          </a:p>
        </p:txBody>
      </p:sp>
      <p:sp>
        <p:nvSpPr>
          <p:cNvPr id="5" name="Footer Placeholder 4"/>
          <p:cNvSpPr>
            <a:spLocks noGrp="1"/>
          </p:cNvSpPr>
          <p:nvPr>
            <p:ph type="ftr" sz="quarter" idx="11"/>
          </p:nvPr>
        </p:nvSpPr>
        <p:spPr>
          <a:xfrm>
            <a:off x="4165600" y="6492876"/>
            <a:ext cx="3860800" cy="365125"/>
          </a:xfrm>
        </p:spPr>
        <p:txBody>
          <a:bodyPr/>
          <a:lstStyle>
            <a:lvl1pPr>
              <a:defRPr>
                <a:solidFill>
                  <a:schemeClr val="bg1">
                    <a:lumMod val="95000"/>
                  </a:schemeClr>
                </a:solidFill>
              </a:defRPr>
            </a:lvl1pPr>
          </a:lstStyle>
          <a:p>
            <a:r>
              <a:rPr lang="en-US"/>
              <a:t>Presented by Dr. Muhammad Nouman Noor</a:t>
            </a:r>
          </a:p>
        </p:txBody>
      </p:sp>
      <p:sp>
        <p:nvSpPr>
          <p:cNvPr id="6" name="Slide Number Placeholder 5"/>
          <p:cNvSpPr>
            <a:spLocks noGrp="1"/>
          </p:cNvSpPr>
          <p:nvPr>
            <p:ph type="sldNum" sz="quarter" idx="12"/>
          </p:nvPr>
        </p:nvSpPr>
        <p:spPr>
          <a:xfrm>
            <a:off x="8737600" y="6477001"/>
            <a:ext cx="2844800" cy="365125"/>
          </a:xfrm>
        </p:spPr>
        <p:txBody>
          <a:bodyPr/>
          <a:lstStyle>
            <a:lvl1pPr>
              <a:defRPr>
                <a:solidFill>
                  <a:schemeClr val="bg1">
                    <a:lumMod val="9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1"/>
            <a:ext cx="10972800"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6F01C9C-A96E-4369-8BE6-223E15E4DD90}" type="datetime1">
              <a:rPr lang="en-US" smtClean="0"/>
              <a:t>10/22/2025</a:t>
            </a:fld>
            <a:endParaRPr lang="en-US"/>
          </a:p>
        </p:txBody>
      </p:sp>
      <p:sp>
        <p:nvSpPr>
          <p:cNvPr id="5" name="Footer Placeholder 4"/>
          <p:cNvSpPr>
            <a:spLocks noGrp="1"/>
          </p:cNvSpPr>
          <p:nvPr>
            <p:ph type="ftr" sz="quarter" idx="11"/>
          </p:nvPr>
        </p:nvSpPr>
        <p:spPr/>
        <p:txBody>
          <a:bodyPr/>
          <a:lstStyle>
            <a:lvl1pPr>
              <a:defRPr>
                <a:solidFill>
                  <a:schemeClr val="bg1">
                    <a:lumMod val="95000"/>
                  </a:schemeClr>
                </a:solidFill>
              </a:defRPr>
            </a:lvl1p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a:xfrm>
            <a:off x="609600" y="609601"/>
            <a:ext cx="10972800" cy="838200"/>
          </a:xfrm>
        </p:spPr>
        <p:txBody>
          <a:bodyPr>
            <a:noAutofit/>
          </a:bodyPr>
          <a:lstStyle>
            <a:lvl1pPr>
              <a:defRPr sz="3600" b="0">
                <a:solidFill>
                  <a:srgbClr val="0070C0"/>
                </a:solidFill>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02870C-C746-48AA-AEB8-256B2F12CFAA}" type="datetime1">
              <a:rPr lang="en-US" smtClean="0"/>
              <a:t>10/22/2025</a:t>
            </a:fld>
            <a:endParaRPr lang="en-US"/>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109C64-C86B-4D98-BAD4-2FC48C35FFED}" type="datetime1">
              <a:rPr lang="en-US" smtClean="0"/>
              <a:t>10/22/2025</a:t>
            </a:fld>
            <a:endParaRPr lang="en-US"/>
          </a:p>
        </p:txBody>
      </p:sp>
      <p:sp>
        <p:nvSpPr>
          <p:cNvPr id="6" name="Footer Placeholder 5"/>
          <p:cNvSpPr>
            <a:spLocks noGrp="1"/>
          </p:cNvSpPr>
          <p:nvPr>
            <p:ph type="ftr" sz="quarter" idx="11"/>
          </p:nvPr>
        </p:nvSpPr>
        <p:spPr/>
        <p:txBody>
          <a:bodyPr/>
          <a:lstStyle/>
          <a:p>
            <a:r>
              <a:rPr lang="en-US"/>
              <a:t>Presented by Dr. Muhammad Nouman Noor</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DE5F0C-ABDB-4A0D-8895-579A3598A527}" type="datetime1">
              <a:rPr lang="en-US" smtClean="0"/>
              <a:t>10/22/2025</a:t>
            </a:fld>
            <a:endParaRPr lang="en-US"/>
          </a:p>
        </p:txBody>
      </p:sp>
      <p:sp>
        <p:nvSpPr>
          <p:cNvPr id="8" name="Footer Placeholder 7"/>
          <p:cNvSpPr>
            <a:spLocks noGrp="1"/>
          </p:cNvSpPr>
          <p:nvPr>
            <p:ph type="ftr" sz="quarter" idx="11"/>
          </p:nvPr>
        </p:nvSpPr>
        <p:spPr/>
        <p:txBody>
          <a:bodyPr/>
          <a:lstStyle/>
          <a:p>
            <a:r>
              <a:rPr lang="en-US"/>
              <a:t>Presented by Dr. Muhammad Nouman Noor</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C6D2E3D-FE49-4894-BBCC-4533791634DF}" type="datetime1">
              <a:rPr lang="en-US" smtClean="0"/>
              <a:t>10/22/2025</a:t>
            </a:fld>
            <a:endParaRPr lang="en-US"/>
          </a:p>
        </p:txBody>
      </p:sp>
      <p:sp>
        <p:nvSpPr>
          <p:cNvPr id="4" name="Footer Placeholder 3"/>
          <p:cNvSpPr>
            <a:spLocks noGrp="1"/>
          </p:cNvSpPr>
          <p:nvPr>
            <p:ph type="ftr" sz="quarter" idx="11"/>
          </p:nvPr>
        </p:nvSpPr>
        <p:spPr/>
        <p:txBody>
          <a:bodyPr/>
          <a:lstStyle>
            <a:lvl1pPr>
              <a:defRPr>
                <a:solidFill>
                  <a:schemeClr val="bg1">
                    <a:lumMod val="95000"/>
                  </a:schemeClr>
                </a:solidFill>
              </a:defRPr>
            </a:lvl1pPr>
          </a:lstStyle>
          <a:p>
            <a:r>
              <a:rPr lang="en-US"/>
              <a:t>Presented by Dr. Muhammad Nouman Noor</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609600" y="1524000"/>
            <a:ext cx="1097280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1F8C74-0FC1-4785-B0BC-4F959BF790A7}" type="datetime1">
              <a:rPr lang="en-US" smtClean="0"/>
              <a:t>10/22/2025</a:t>
            </a:fld>
            <a:endParaRPr lang="en-US"/>
          </a:p>
        </p:txBody>
      </p:sp>
      <p:sp>
        <p:nvSpPr>
          <p:cNvPr id="3" name="Footer Placeholder 2"/>
          <p:cNvSpPr>
            <a:spLocks noGrp="1"/>
          </p:cNvSpPr>
          <p:nvPr>
            <p:ph type="ftr" sz="quarter" idx="11"/>
          </p:nvPr>
        </p:nvSpPr>
        <p:spPr/>
        <p:txBody>
          <a:bodyPr/>
          <a:lstStyle/>
          <a:p>
            <a:r>
              <a:rPr lang="en-US"/>
              <a:t>Presented by Dr. Muhammad Nouman Noor</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EFD13-4BE1-4564-B84B-26F215504331}" type="datetime1">
              <a:rPr lang="en-US" smtClean="0"/>
              <a:t>10/22/2025</a:t>
            </a:fld>
            <a:endParaRPr lang="en-US"/>
          </a:p>
        </p:txBody>
      </p:sp>
      <p:sp>
        <p:nvSpPr>
          <p:cNvPr id="6" name="Footer Placeholder 5"/>
          <p:cNvSpPr>
            <a:spLocks noGrp="1"/>
          </p:cNvSpPr>
          <p:nvPr>
            <p:ph type="ftr" sz="quarter" idx="11"/>
          </p:nvPr>
        </p:nvSpPr>
        <p:spPr/>
        <p:txBody>
          <a:bodyPr/>
          <a:lstStyle/>
          <a:p>
            <a:r>
              <a:rPr lang="en-US"/>
              <a:t>Presented by Dr. Muhammad Nouman Noor</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C8C268-A4DF-4228-9E17-2CE167DEDA0C}" type="datetime1">
              <a:rPr lang="en-US" smtClean="0"/>
              <a:t>10/22/2025</a:t>
            </a:fld>
            <a:endParaRPr lang="en-US"/>
          </a:p>
        </p:txBody>
      </p:sp>
      <p:sp>
        <p:nvSpPr>
          <p:cNvPr id="6" name="Footer Placeholder 5"/>
          <p:cNvSpPr>
            <a:spLocks noGrp="1"/>
          </p:cNvSpPr>
          <p:nvPr>
            <p:ph type="ftr" sz="quarter" idx="11"/>
          </p:nvPr>
        </p:nvSpPr>
        <p:spPr/>
        <p:txBody>
          <a:bodyPr/>
          <a:lstStyle/>
          <a:p>
            <a:r>
              <a:rPr lang="en-US"/>
              <a:t>Presented by Dr. Muhammad Nouman Noor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13581C-52F0-4483-A533-BEF4F362D610}" type="datetime1">
              <a:rPr lang="en-US" smtClean="0"/>
              <a:t>10/22/2025</a:t>
            </a:fld>
            <a:endParaRPr lang="en-US"/>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5AF1AE-3561-4256-B342-A92AF3550193}" type="datetime1">
              <a:rPr lang="en-US" smtClean="0"/>
              <a:t>10/22/2025</a:t>
            </a:fld>
            <a:endParaRPr lang="en-US"/>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1D6CDA-11BC-4FB9-AD2D-41970D93B461}"/>
              </a:ext>
            </a:extLst>
          </p:cNvPr>
          <p:cNvSpPr/>
          <p:nvPr userDrawn="1"/>
        </p:nvSpPr>
        <p:spPr>
          <a:xfrm>
            <a:off x="14400" y="182564"/>
            <a:ext cx="12158400" cy="3508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Placeholder 1"/>
          <p:cNvSpPr>
            <a:spLocks noGrp="1"/>
          </p:cNvSpPr>
          <p:nvPr>
            <p:ph type="title"/>
          </p:nvPr>
        </p:nvSpPr>
        <p:spPr>
          <a:xfrm>
            <a:off x="609600" y="533400"/>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828801"/>
            <a:ext cx="10972800" cy="4297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77000"/>
            <a:ext cx="2844800" cy="457200"/>
          </a:xfrm>
          <a:prstGeom prst="rect">
            <a:avLst/>
          </a:prstGeom>
        </p:spPr>
        <p:txBody>
          <a:bodyPr vert="horz" lIns="91440" tIns="45720" rIns="91440" bIns="45720" rtlCol="0" anchor="ctr"/>
          <a:lstStyle>
            <a:lvl1pPr algn="l">
              <a:defRPr sz="1200">
                <a:solidFill>
                  <a:schemeClr val="bg1">
                    <a:lumMod val="95000"/>
                  </a:schemeClr>
                </a:solidFill>
              </a:defRPr>
            </a:lvl1pPr>
          </a:lstStyle>
          <a:p>
            <a:fld id="{71B40A10-2FF8-4986-8271-91CF6C6C8FF9}" type="datetime1">
              <a:rPr lang="en-US" smtClean="0"/>
              <a:t>10/22/2025</a:t>
            </a:fld>
            <a:endParaRPr lang="en-US"/>
          </a:p>
        </p:txBody>
      </p:sp>
      <p:sp>
        <p:nvSpPr>
          <p:cNvPr id="5" name="Footer Placeholder 4"/>
          <p:cNvSpPr>
            <a:spLocks noGrp="1"/>
          </p:cNvSpPr>
          <p:nvPr>
            <p:ph type="ftr" sz="quarter" idx="3"/>
          </p:nvPr>
        </p:nvSpPr>
        <p:spPr>
          <a:xfrm>
            <a:off x="4165600" y="6477000"/>
            <a:ext cx="3860800" cy="457200"/>
          </a:xfrm>
          <a:prstGeom prst="rect">
            <a:avLst/>
          </a:prstGeom>
        </p:spPr>
        <p:txBody>
          <a:bodyPr vert="horz" lIns="91440" tIns="45720" rIns="91440" bIns="45720" rtlCol="0" anchor="ctr"/>
          <a:lstStyle>
            <a:lvl1pPr algn="ctr">
              <a:defRPr sz="1200">
                <a:solidFill>
                  <a:schemeClr val="bg1">
                    <a:lumMod val="95000"/>
                  </a:schemeClr>
                </a:solidFill>
              </a:defRPr>
            </a:lvl1pPr>
          </a:lstStyle>
          <a:p>
            <a:r>
              <a:rPr lang="en-US"/>
              <a:t>Presented by Dr. Muhammad Nouman Noor</a:t>
            </a:r>
          </a:p>
        </p:txBody>
      </p:sp>
      <p:sp>
        <p:nvSpPr>
          <p:cNvPr id="6" name="Slide Number Placeholder 5"/>
          <p:cNvSpPr>
            <a:spLocks noGrp="1"/>
          </p:cNvSpPr>
          <p:nvPr>
            <p:ph type="sldNum" sz="quarter" idx="4"/>
          </p:nvPr>
        </p:nvSpPr>
        <p:spPr>
          <a:xfrm>
            <a:off x="8737600" y="6477000"/>
            <a:ext cx="2844800" cy="457200"/>
          </a:xfrm>
          <a:prstGeom prst="rect">
            <a:avLst/>
          </a:prstGeom>
        </p:spPr>
        <p:txBody>
          <a:bodyPr vert="horz" lIns="91440" tIns="45720" rIns="91440" bIns="45720" rtlCol="0" anchor="ctr"/>
          <a:lstStyle>
            <a:lvl1pPr algn="r">
              <a:defRPr sz="1200">
                <a:solidFill>
                  <a:schemeClr val="bg1">
                    <a:lumMod val="9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3600"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junyanz/pytorch-CycleGAN-and-pix2pix" TargetMode="Externa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78122D-0883-4279-9BD4-589A1384DB02}" type="datetime1">
              <a:rPr lang="en-US" smtClean="0"/>
              <a:t>10/22/2025</a:t>
            </a:fld>
            <a:endParaRPr lang="en-US" dirty="0"/>
          </a:p>
        </p:txBody>
      </p:sp>
      <p:sp>
        <p:nvSpPr>
          <p:cNvPr id="5" name="Footer Placeholder 4"/>
          <p:cNvSpPr>
            <a:spLocks noGrp="1"/>
          </p:cNvSpPr>
          <p:nvPr>
            <p:ph type="ftr" sz="quarter" idx="11"/>
          </p:nvPr>
        </p:nvSpPr>
        <p:spPr/>
        <p:txBody>
          <a:bodyPr/>
          <a:lstStyle/>
          <a:p>
            <a:r>
              <a:rPr lang="en-US"/>
              <a:t>Presented by Dr. Muhammad Nouman Noor</a:t>
            </a:r>
            <a:endParaRPr lang="en-US" dirty="0"/>
          </a:p>
        </p:txBody>
      </p:sp>
      <p:sp>
        <p:nvSpPr>
          <p:cNvPr id="8" name="TextBox 7"/>
          <p:cNvSpPr txBox="1"/>
          <p:nvPr/>
        </p:nvSpPr>
        <p:spPr>
          <a:xfrm>
            <a:off x="2552700" y="457200"/>
            <a:ext cx="6329218" cy="369332"/>
          </a:xfrm>
          <a:prstGeom prst="rect">
            <a:avLst/>
          </a:prstGeom>
          <a:noFill/>
        </p:spPr>
        <p:txBody>
          <a:bodyPr wrap="square" rtlCol="0">
            <a:spAutoFit/>
          </a:bodyPr>
          <a:lstStyle/>
          <a:p>
            <a:pPr algn="r"/>
            <a:r>
              <a:rPr lang="en-US" b="1" dirty="0">
                <a:solidFill>
                  <a:srgbClr val="0099CC"/>
                </a:solidFill>
                <a:latin typeface="arial" panose="020B0604020202020204" pitchFamily="34" charset="0"/>
              </a:rPr>
              <a:t>National University of Computer and Emerging Sciences</a:t>
            </a:r>
            <a:endParaRPr lang="en-US" b="1" dirty="0">
              <a:solidFill>
                <a:srgbClr val="0099CC"/>
              </a:solidFill>
            </a:endParaRPr>
          </a:p>
        </p:txBody>
      </p:sp>
      <p:sp>
        <p:nvSpPr>
          <p:cNvPr id="9" name="AutoShape 8"/>
          <p:cNvSpPr>
            <a:spLocks noChangeArrowheads="1"/>
          </p:cNvSpPr>
          <p:nvPr/>
        </p:nvSpPr>
        <p:spPr bwMode="auto">
          <a:xfrm>
            <a:off x="2400301" y="2589242"/>
            <a:ext cx="7658099" cy="838201"/>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3200" dirty="0">
                <a:solidFill>
                  <a:schemeClr val="bg1"/>
                </a:solidFill>
              </a:rPr>
              <a:t>CycleGANs &amp; Text Representation</a:t>
            </a:r>
          </a:p>
        </p:txBody>
      </p:sp>
      <p:sp>
        <p:nvSpPr>
          <p:cNvPr id="10" name="Text Box 10"/>
          <p:cNvSpPr txBox="1">
            <a:spLocks noChangeArrowheads="1"/>
          </p:cNvSpPr>
          <p:nvPr/>
        </p:nvSpPr>
        <p:spPr bwMode="auto">
          <a:xfrm>
            <a:off x="2552700" y="4829633"/>
            <a:ext cx="7086600" cy="861774"/>
          </a:xfrm>
          <a:prstGeom prst="rect">
            <a:avLst/>
          </a:prstGeom>
          <a:noFill/>
          <a:ln w="9525">
            <a:noFill/>
            <a:miter lim="800000"/>
            <a:headEnd/>
            <a:tailEnd/>
          </a:ln>
          <a:effectLst/>
        </p:spPr>
        <p:txBody>
          <a:bodyPr>
            <a:spAutoFit/>
          </a:bodyPr>
          <a:lstStyle/>
          <a:p>
            <a:pPr algn="ctr">
              <a:spcBef>
                <a:spcPct val="50000"/>
              </a:spcBef>
            </a:pPr>
            <a:r>
              <a:rPr lang="en-GB" sz="2000" b="1" dirty="0">
                <a:solidFill>
                  <a:srgbClr val="002060"/>
                </a:solidFill>
                <a:latin typeface="Arial" charset="0"/>
              </a:rPr>
              <a:t>Dr. Muhammad Nouman Noor</a:t>
            </a:r>
          </a:p>
          <a:p>
            <a:pPr algn="ctr">
              <a:spcBef>
                <a:spcPct val="50000"/>
              </a:spcBef>
            </a:pPr>
            <a:r>
              <a:rPr lang="en-GB" sz="2000" b="1" dirty="0">
                <a:solidFill>
                  <a:srgbClr val="002060"/>
                </a:solidFill>
                <a:latin typeface="Arial" charset="0"/>
              </a:rPr>
              <a:t>Department of Artificial Intelligence &amp; Data Science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2514600" y="3842753"/>
            <a:ext cx="7391400" cy="523220"/>
          </a:xfrm>
          <a:prstGeom prst="rect">
            <a:avLst/>
          </a:prstGeom>
          <a:noFill/>
        </p:spPr>
        <p:txBody>
          <a:bodyPr wrap="square" rtlCol="0">
            <a:spAutoFit/>
          </a:bodyPr>
          <a:lstStyle/>
          <a:p>
            <a:pPr algn="ctr">
              <a:spcBef>
                <a:spcPct val="50000"/>
              </a:spcBef>
            </a:pPr>
            <a:r>
              <a:rPr lang="en-US" sz="2800" b="1" dirty="0"/>
              <a:t>AI-5004 Adv. Topics in Generative AI</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49478"/>
            <a:ext cx="954108" cy="954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20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00B050"/>
                </a:solidFill>
              </a:rPr>
              <a:t>Today’s Lecture</a:t>
            </a:r>
          </a:p>
          <a:p>
            <a:pPr lvl="1"/>
            <a:r>
              <a:rPr lang="en-US" dirty="0">
                <a:solidFill>
                  <a:srgbClr val="FF0000"/>
                </a:solidFill>
                <a:ea typeface="SimSun" panose="02010600030101010101" pitchFamily="2" charset="-122"/>
              </a:rPr>
              <a:t>CycleGANs</a:t>
            </a:r>
          </a:p>
          <a:p>
            <a:pPr lvl="1"/>
            <a:r>
              <a:rPr lang="en-US" dirty="0" err="1">
                <a:solidFill>
                  <a:srgbClr val="0070C0"/>
                </a:solidFill>
                <a:ea typeface="SimSun" panose="02010600030101010101" pitchFamily="2" charset="-122"/>
              </a:rPr>
              <a:t>StyleGANs</a:t>
            </a:r>
            <a:endParaRPr lang="en-US" dirty="0">
              <a:solidFill>
                <a:srgbClr val="0070C0"/>
              </a:solidFill>
              <a:ea typeface="SimSun" panose="02010600030101010101" pitchFamily="2" charset="-122"/>
            </a:endParaRPr>
          </a:p>
          <a:p>
            <a:pPr lvl="1"/>
            <a:r>
              <a:rPr lang="en-US" dirty="0" err="1">
                <a:solidFill>
                  <a:srgbClr val="0070C0"/>
                </a:solidFill>
                <a:ea typeface="SimSun" panose="02010600030101010101" pitchFamily="2" charset="-122"/>
              </a:rPr>
              <a:t>BigGANs</a:t>
            </a:r>
            <a:endParaRPr lang="en-US" dirty="0">
              <a:solidFill>
                <a:srgbClr val="0070C0"/>
              </a:solidFill>
              <a:ea typeface="SimSun" panose="02010600030101010101" pitchFamily="2" charset="-122"/>
            </a:endParaRPr>
          </a:p>
          <a:p>
            <a:pPr lvl="1"/>
            <a:r>
              <a:rPr lang="en-US" dirty="0">
                <a:solidFill>
                  <a:srgbClr val="0070C0"/>
                </a:solidFill>
                <a:ea typeface="SimSun" panose="02010600030101010101" pitchFamily="2" charset="-122"/>
              </a:rPr>
              <a:t>WGANs</a:t>
            </a:r>
          </a:p>
          <a:p>
            <a:pPr lvl="1"/>
            <a:r>
              <a:rPr lang="en-US" dirty="0" err="1">
                <a:solidFill>
                  <a:srgbClr val="0070C0"/>
                </a:solidFill>
                <a:ea typeface="SimSun" panose="02010600030101010101" pitchFamily="2" charset="-122"/>
              </a:rPr>
              <a:t>Superresolution</a:t>
            </a:r>
            <a:r>
              <a:rPr lang="en-US" dirty="0">
                <a:solidFill>
                  <a:srgbClr val="0070C0"/>
                </a:solidFill>
                <a:ea typeface="SimSun" panose="02010600030101010101" pitchFamily="2" charset="-122"/>
              </a:rPr>
              <a:t> GAN (SRGAN)</a:t>
            </a:r>
          </a:p>
          <a:p>
            <a:pPr lvl="1"/>
            <a:r>
              <a:rPr lang="en-US" dirty="0">
                <a:solidFill>
                  <a:srgbClr val="FF0000"/>
                </a:solidFill>
                <a:ea typeface="SimSun" panose="02010600030101010101" pitchFamily="2" charset="-122"/>
              </a:rPr>
              <a:t>Methods for Text Representation</a:t>
            </a:r>
          </a:p>
          <a:p>
            <a:pPr lvl="1"/>
            <a:endParaRPr lang="en-US" dirty="0">
              <a:solidFill>
                <a:srgbClr val="00B050"/>
              </a:solidFill>
            </a:endParaRPr>
          </a:p>
        </p:txBody>
      </p:sp>
      <p:sp>
        <p:nvSpPr>
          <p:cNvPr id="3" name="Date Placeholder 2"/>
          <p:cNvSpPr>
            <a:spLocks noGrp="1"/>
          </p:cNvSpPr>
          <p:nvPr>
            <p:ph type="dt" sz="half" idx="10"/>
          </p:nvPr>
        </p:nvSpPr>
        <p:spPr/>
        <p:txBody>
          <a:bodyPr/>
          <a:lstStyle/>
          <a:p>
            <a:fld id="{360DADA0-5ED1-43DD-BE36-7F33376617A9}" type="datetime1">
              <a:rPr lang="en-US" smtClean="0"/>
              <a:t>10/22/2025</a:t>
            </a:fld>
            <a:endParaRPr lang="en-US"/>
          </a:p>
        </p:txBody>
      </p:sp>
      <p:sp>
        <p:nvSpPr>
          <p:cNvPr id="4" name="Footer Placeholder 3"/>
          <p:cNvSpPr>
            <a:spLocks noGrp="1"/>
          </p:cNvSpPr>
          <p:nvPr>
            <p:ph type="ftr" sz="quarter" idx="11"/>
          </p:nvPr>
        </p:nvSpPr>
        <p:spPr/>
        <p:txBody>
          <a:bodyPr/>
          <a:lstStyle/>
          <a:p>
            <a:r>
              <a:rPr lang="en-US"/>
              <a:t>Presented by Dr. Muhammad Nouman Noor</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Title 5"/>
          <p:cNvSpPr>
            <a:spLocks noGrp="1"/>
          </p:cNvSpPr>
          <p:nvPr>
            <p:ph type="title"/>
          </p:nvPr>
        </p:nvSpPr>
        <p:spPr/>
        <p:txBody>
          <a:bodyPr/>
          <a:lstStyle/>
          <a:p>
            <a:r>
              <a:rPr lang="tr-TR" dirty="0" err="1"/>
              <a:t>Goals</a:t>
            </a:r>
            <a:endParaRPr lang="en-US" dirty="0"/>
          </a:p>
        </p:txBody>
      </p:sp>
    </p:spTree>
    <p:extLst>
      <p:ext uri="{BB962C8B-B14F-4D97-AF65-F5344CB8AC3E}">
        <p14:creationId xmlns:p14="http://schemas.microsoft.com/office/powerpoint/2010/main" val="262324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07F76DB-CFF6-2554-B208-C8A036B6C97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810ECB84-5728-5F81-D7B5-57039645C4C8}"/>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6" name="Title 5">
            <a:extLst>
              <a:ext uri="{FF2B5EF4-FFF2-40B4-BE49-F238E27FC236}">
                <a16:creationId xmlns:a16="http://schemas.microsoft.com/office/drawing/2014/main" id="{8A4F9D59-4269-74EC-4309-B36575E239AB}"/>
              </a:ext>
            </a:extLst>
          </p:cNvPr>
          <p:cNvSpPr>
            <a:spLocks noGrp="1"/>
          </p:cNvSpPr>
          <p:nvPr>
            <p:ph type="title"/>
          </p:nvPr>
        </p:nvSpPr>
        <p:spPr>
          <a:xfrm>
            <a:off x="625151" y="3009900"/>
            <a:ext cx="10972800" cy="838200"/>
          </a:xfrm>
        </p:spPr>
        <p:txBody>
          <a:bodyPr/>
          <a:lstStyle/>
          <a:p>
            <a:r>
              <a:rPr lang="en-US" dirty="0"/>
              <a:t>Today’s Lecture</a:t>
            </a:r>
          </a:p>
        </p:txBody>
      </p:sp>
      <p:sp>
        <p:nvSpPr>
          <p:cNvPr id="3" name="Date Placeholder 2">
            <a:extLst>
              <a:ext uri="{FF2B5EF4-FFF2-40B4-BE49-F238E27FC236}">
                <a16:creationId xmlns:a16="http://schemas.microsoft.com/office/drawing/2014/main" id="{63A554DD-48D1-DEF1-CB6B-D6A04845B630}"/>
              </a:ext>
            </a:extLst>
          </p:cNvPr>
          <p:cNvSpPr>
            <a:spLocks noGrp="1"/>
          </p:cNvSpPr>
          <p:nvPr>
            <p:ph type="dt" sz="half" idx="10"/>
          </p:nvPr>
        </p:nvSpPr>
        <p:spPr/>
        <p:txBody>
          <a:bodyPr/>
          <a:lstStyle/>
          <a:p>
            <a:fld id="{67E3E620-B3AF-40FE-8AF6-EDF3CE9C1696}" type="datetime1">
              <a:rPr lang="en-US" smtClean="0"/>
              <a:t>10/22/2025</a:t>
            </a:fld>
            <a:endParaRPr lang="en-US"/>
          </a:p>
        </p:txBody>
      </p:sp>
    </p:spTree>
    <p:extLst>
      <p:ext uri="{BB962C8B-B14F-4D97-AF65-F5344CB8AC3E}">
        <p14:creationId xmlns:p14="http://schemas.microsoft.com/office/powerpoint/2010/main" val="627420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CA1289-932B-3DC5-5290-1FE53D7DC509}"/>
              </a:ext>
            </a:extLst>
          </p:cNvPr>
          <p:cNvSpPr>
            <a:spLocks noGrp="1"/>
          </p:cNvSpPr>
          <p:nvPr>
            <p:ph idx="1"/>
          </p:nvPr>
        </p:nvSpPr>
        <p:spPr/>
        <p:txBody>
          <a:bodyPr/>
          <a:lstStyle/>
          <a:p>
            <a:r>
              <a:rPr lang="en-US" dirty="0"/>
              <a:t>Image-to-image translation learns the mapping between an input image and an output image using a training set of aligned image pairs.</a:t>
            </a:r>
          </a:p>
          <a:p>
            <a:r>
              <a:rPr lang="en-US" dirty="0"/>
              <a:t>For many tasks, paired training data will not be available.</a:t>
            </a:r>
          </a:p>
        </p:txBody>
      </p:sp>
      <p:sp>
        <p:nvSpPr>
          <p:cNvPr id="3" name="Date Placeholder 2">
            <a:extLst>
              <a:ext uri="{FF2B5EF4-FFF2-40B4-BE49-F238E27FC236}">
                <a16:creationId xmlns:a16="http://schemas.microsoft.com/office/drawing/2014/main" id="{8FA8985B-2604-496F-7996-05D82677EEE2}"/>
              </a:ext>
            </a:extLst>
          </p:cNvPr>
          <p:cNvSpPr>
            <a:spLocks noGrp="1"/>
          </p:cNvSpPr>
          <p:nvPr>
            <p:ph type="dt" sz="half" idx="10"/>
          </p:nvPr>
        </p:nvSpPr>
        <p:spPr/>
        <p:txBody>
          <a:bodyPr/>
          <a:lstStyle/>
          <a:p>
            <a:fld id="{0EE995B6-0E2E-4DE6-A8F0-61D4E8610803}" type="datetime1">
              <a:rPr lang="en-US" smtClean="0"/>
              <a:t>10/22/2025</a:t>
            </a:fld>
            <a:endParaRPr lang="en-US"/>
          </a:p>
        </p:txBody>
      </p:sp>
      <p:sp>
        <p:nvSpPr>
          <p:cNvPr id="4" name="Footer Placeholder 3">
            <a:extLst>
              <a:ext uri="{FF2B5EF4-FFF2-40B4-BE49-F238E27FC236}">
                <a16:creationId xmlns:a16="http://schemas.microsoft.com/office/drawing/2014/main" id="{AAFB0541-A2DC-7456-A134-3E78E4D3909E}"/>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A5D90206-4521-9210-0199-811AA1828EDE}"/>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Title 5">
            <a:extLst>
              <a:ext uri="{FF2B5EF4-FFF2-40B4-BE49-F238E27FC236}">
                <a16:creationId xmlns:a16="http://schemas.microsoft.com/office/drawing/2014/main" id="{03EE1D19-32B9-9702-994D-B320FDBC7839}"/>
              </a:ext>
            </a:extLst>
          </p:cNvPr>
          <p:cNvSpPr>
            <a:spLocks noGrp="1"/>
          </p:cNvSpPr>
          <p:nvPr>
            <p:ph type="title"/>
          </p:nvPr>
        </p:nvSpPr>
        <p:spPr/>
        <p:txBody>
          <a:bodyPr/>
          <a:lstStyle/>
          <a:p>
            <a:r>
              <a:rPr lang="en-US" dirty="0"/>
              <a:t>Unpaired Image-to-Image Translation using Cycle-Consistent Adversarial Networks</a:t>
            </a:r>
          </a:p>
        </p:txBody>
      </p:sp>
      <p:pic>
        <p:nvPicPr>
          <p:cNvPr id="8" name="Picture 7">
            <a:extLst>
              <a:ext uri="{FF2B5EF4-FFF2-40B4-BE49-F238E27FC236}">
                <a16:creationId xmlns:a16="http://schemas.microsoft.com/office/drawing/2014/main" id="{E99809ED-27A2-5ED4-F76A-AAF576A1D7C0}"/>
              </a:ext>
            </a:extLst>
          </p:cNvPr>
          <p:cNvPicPr>
            <a:picLocks noChangeAspect="1"/>
          </p:cNvPicPr>
          <p:nvPr/>
        </p:nvPicPr>
        <p:blipFill>
          <a:blip r:embed="rId2"/>
          <a:stretch>
            <a:fillRect/>
          </a:stretch>
        </p:blipFill>
        <p:spPr>
          <a:xfrm>
            <a:off x="3200400" y="3552746"/>
            <a:ext cx="4701947" cy="2903472"/>
          </a:xfrm>
          <a:prstGeom prst="rect">
            <a:avLst/>
          </a:prstGeom>
        </p:spPr>
      </p:pic>
    </p:spTree>
    <p:extLst>
      <p:ext uri="{BB962C8B-B14F-4D97-AF65-F5344CB8AC3E}">
        <p14:creationId xmlns:p14="http://schemas.microsoft.com/office/powerpoint/2010/main" val="2274798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ECE078-9249-B387-D8E3-5CC56BEA7854}"/>
              </a:ext>
            </a:extLst>
          </p:cNvPr>
          <p:cNvSpPr>
            <a:spLocks noGrp="1"/>
          </p:cNvSpPr>
          <p:nvPr>
            <p:ph idx="1"/>
          </p:nvPr>
        </p:nvSpPr>
        <p:spPr/>
        <p:txBody>
          <a:bodyPr/>
          <a:lstStyle/>
          <a:p>
            <a:r>
              <a:rPr lang="en-US" dirty="0"/>
              <a:t>Unpaired Image-to-Image Translation</a:t>
            </a:r>
          </a:p>
          <a:p>
            <a:pPr lvl="1"/>
            <a:r>
              <a:rPr lang="en-US" dirty="0"/>
              <a:t>The goal is to relate two data domains: X and Y</a:t>
            </a:r>
          </a:p>
          <a:p>
            <a:r>
              <a:rPr lang="en-US" dirty="0"/>
              <a:t>Cycle Consistency: </a:t>
            </a:r>
            <a:r>
              <a:rPr lang="en-US" sz="2400" dirty="0"/>
              <a:t>A way of using transitivity to supervise CNN training</a:t>
            </a:r>
          </a:p>
          <a:p>
            <a:pPr lvl="1"/>
            <a:endParaRPr lang="en-US" dirty="0"/>
          </a:p>
        </p:txBody>
      </p:sp>
      <p:sp>
        <p:nvSpPr>
          <p:cNvPr id="3" name="Date Placeholder 2">
            <a:extLst>
              <a:ext uri="{FF2B5EF4-FFF2-40B4-BE49-F238E27FC236}">
                <a16:creationId xmlns:a16="http://schemas.microsoft.com/office/drawing/2014/main" id="{D8825752-F88A-63B9-1B91-001BFF168E0A}"/>
              </a:ext>
            </a:extLst>
          </p:cNvPr>
          <p:cNvSpPr>
            <a:spLocks noGrp="1"/>
          </p:cNvSpPr>
          <p:nvPr>
            <p:ph type="dt" sz="half" idx="10"/>
          </p:nvPr>
        </p:nvSpPr>
        <p:spPr/>
        <p:txBody>
          <a:bodyPr/>
          <a:lstStyle/>
          <a:p>
            <a:fld id="{A2242FCD-A4EC-408A-9F22-73062FEFAC7C}" type="datetime1">
              <a:rPr lang="en-US" smtClean="0"/>
              <a:t>10/22/2025</a:t>
            </a:fld>
            <a:endParaRPr lang="en-US"/>
          </a:p>
        </p:txBody>
      </p:sp>
      <p:sp>
        <p:nvSpPr>
          <p:cNvPr id="4" name="Footer Placeholder 3">
            <a:extLst>
              <a:ext uri="{FF2B5EF4-FFF2-40B4-BE49-F238E27FC236}">
                <a16:creationId xmlns:a16="http://schemas.microsoft.com/office/drawing/2014/main" id="{D26DF5F7-73EB-0830-9CA9-311C61F9EC2F}"/>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F0376A0E-D4D0-62BA-E583-C069192AADBE}"/>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6" name="Title 5">
            <a:extLst>
              <a:ext uri="{FF2B5EF4-FFF2-40B4-BE49-F238E27FC236}">
                <a16:creationId xmlns:a16="http://schemas.microsoft.com/office/drawing/2014/main" id="{F4370671-0280-4CC3-7EC7-363EBA56F4E8}"/>
              </a:ext>
            </a:extLst>
          </p:cNvPr>
          <p:cNvSpPr>
            <a:spLocks noGrp="1"/>
          </p:cNvSpPr>
          <p:nvPr>
            <p:ph type="title"/>
          </p:nvPr>
        </p:nvSpPr>
        <p:spPr/>
        <p:txBody>
          <a:bodyPr/>
          <a:lstStyle/>
          <a:p>
            <a:r>
              <a:rPr lang="en-US" dirty="0"/>
              <a:t>CycleGANs</a:t>
            </a:r>
          </a:p>
        </p:txBody>
      </p:sp>
      <p:pic>
        <p:nvPicPr>
          <p:cNvPr id="8" name="Picture 7">
            <a:extLst>
              <a:ext uri="{FF2B5EF4-FFF2-40B4-BE49-F238E27FC236}">
                <a16:creationId xmlns:a16="http://schemas.microsoft.com/office/drawing/2014/main" id="{3DF8FD51-DBA6-96FD-4619-95CDC0B87E08}"/>
              </a:ext>
            </a:extLst>
          </p:cNvPr>
          <p:cNvPicPr>
            <a:picLocks noChangeAspect="1"/>
          </p:cNvPicPr>
          <p:nvPr/>
        </p:nvPicPr>
        <p:blipFill>
          <a:blip r:embed="rId2"/>
          <a:stretch>
            <a:fillRect/>
          </a:stretch>
        </p:blipFill>
        <p:spPr>
          <a:xfrm>
            <a:off x="420441" y="3200400"/>
            <a:ext cx="10776714" cy="2590800"/>
          </a:xfrm>
          <a:prstGeom prst="rect">
            <a:avLst/>
          </a:prstGeom>
        </p:spPr>
      </p:pic>
    </p:spTree>
    <p:extLst>
      <p:ext uri="{BB962C8B-B14F-4D97-AF65-F5344CB8AC3E}">
        <p14:creationId xmlns:p14="http://schemas.microsoft.com/office/powerpoint/2010/main" val="436626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25D1CCF-F0C6-46C2-0493-03B83DA908FA}"/>
              </a:ext>
            </a:extLst>
          </p:cNvPr>
          <p:cNvPicPr>
            <a:picLocks noGrp="1" noChangeAspect="1"/>
          </p:cNvPicPr>
          <p:nvPr>
            <p:ph idx="1"/>
          </p:nvPr>
        </p:nvPicPr>
        <p:blipFill>
          <a:blip r:embed="rId2"/>
          <a:stretch>
            <a:fillRect/>
          </a:stretch>
        </p:blipFill>
        <p:spPr>
          <a:xfrm>
            <a:off x="1828800" y="1447801"/>
            <a:ext cx="8534400" cy="4474485"/>
          </a:xfrm>
        </p:spPr>
      </p:pic>
      <p:sp>
        <p:nvSpPr>
          <p:cNvPr id="3" name="Date Placeholder 2">
            <a:extLst>
              <a:ext uri="{FF2B5EF4-FFF2-40B4-BE49-F238E27FC236}">
                <a16:creationId xmlns:a16="http://schemas.microsoft.com/office/drawing/2014/main" id="{FE159D11-4546-377D-0000-CC5C716E460D}"/>
              </a:ext>
            </a:extLst>
          </p:cNvPr>
          <p:cNvSpPr>
            <a:spLocks noGrp="1"/>
          </p:cNvSpPr>
          <p:nvPr>
            <p:ph type="dt" sz="half" idx="10"/>
          </p:nvPr>
        </p:nvSpPr>
        <p:spPr/>
        <p:txBody>
          <a:bodyPr/>
          <a:lstStyle/>
          <a:p>
            <a:fld id="{9C6662A5-EDDB-48AA-B506-3F237D171916}" type="datetime1">
              <a:rPr lang="en-US" smtClean="0"/>
              <a:t>10/22/2025</a:t>
            </a:fld>
            <a:endParaRPr lang="en-US"/>
          </a:p>
        </p:txBody>
      </p:sp>
      <p:sp>
        <p:nvSpPr>
          <p:cNvPr id="4" name="Footer Placeholder 3">
            <a:extLst>
              <a:ext uri="{FF2B5EF4-FFF2-40B4-BE49-F238E27FC236}">
                <a16:creationId xmlns:a16="http://schemas.microsoft.com/office/drawing/2014/main" id="{FC9E7204-8E62-ED47-1553-881F1A4EFB0E}"/>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E426A2BC-FE2B-8C10-1073-63B8B8DED1C3}"/>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itle 5">
            <a:extLst>
              <a:ext uri="{FF2B5EF4-FFF2-40B4-BE49-F238E27FC236}">
                <a16:creationId xmlns:a16="http://schemas.microsoft.com/office/drawing/2014/main" id="{852AFB33-CBD7-01CD-92B4-A5DA937E49DE}"/>
              </a:ext>
            </a:extLst>
          </p:cNvPr>
          <p:cNvSpPr>
            <a:spLocks noGrp="1"/>
          </p:cNvSpPr>
          <p:nvPr>
            <p:ph type="title"/>
          </p:nvPr>
        </p:nvSpPr>
        <p:spPr/>
        <p:txBody>
          <a:bodyPr/>
          <a:lstStyle/>
          <a:p>
            <a:r>
              <a:rPr lang="en-US" dirty="0"/>
              <a:t>CycleGANs</a:t>
            </a:r>
          </a:p>
        </p:txBody>
      </p:sp>
    </p:spTree>
    <p:extLst>
      <p:ext uri="{BB962C8B-B14F-4D97-AF65-F5344CB8AC3E}">
        <p14:creationId xmlns:p14="http://schemas.microsoft.com/office/powerpoint/2010/main" val="4240030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7D98F1-3AEF-FA0C-322A-087C52CCFC4E}"/>
              </a:ext>
            </a:extLst>
          </p:cNvPr>
          <p:cNvSpPr>
            <a:spLocks noGrp="1"/>
          </p:cNvSpPr>
          <p:nvPr>
            <p:ph idx="1"/>
          </p:nvPr>
        </p:nvSpPr>
        <p:spPr/>
        <p:txBody>
          <a:bodyPr>
            <a:normAutofit/>
          </a:bodyPr>
          <a:lstStyle/>
          <a:p>
            <a:pPr marL="0" marR="0">
              <a:lnSpc>
                <a:spcPct val="107000"/>
              </a:lnSpc>
              <a:spcBef>
                <a:spcPts val="0"/>
              </a:spcBef>
              <a:spcAft>
                <a:spcPts val="800"/>
              </a:spcAft>
            </a:pPr>
            <a:r>
              <a:rPr lang="en-US" sz="2400" kern="100" dirty="0">
                <a:effectLst/>
                <a:latin typeface="Times New Roman" panose="02020603050405020304" pitchFamily="18" charset="0"/>
                <a:ea typeface="Aptos" panose="020B0004020202020204" pitchFamily="34" charset="0"/>
              </a:rPr>
              <a:t>The goal is to learn functions that map between two domains, X and Y. </a:t>
            </a:r>
          </a:p>
          <a:p>
            <a:pPr marL="0" marR="0">
              <a:lnSpc>
                <a:spcPct val="107000"/>
              </a:lnSpc>
              <a:spcBef>
                <a:spcPts val="0"/>
              </a:spcBef>
              <a:spcAft>
                <a:spcPts val="800"/>
              </a:spcAft>
            </a:pPr>
            <a:r>
              <a:rPr lang="en-US" sz="2400" kern="100" dirty="0">
                <a:effectLst/>
                <a:latin typeface="Times New Roman" panose="02020603050405020304" pitchFamily="18" charset="0"/>
                <a:ea typeface="Aptos" panose="020B0004020202020204" pitchFamily="34" charset="0"/>
              </a:rPr>
              <a:t>These domains are represented by training samples: {xᵢ} and {yⱼ}. </a:t>
            </a:r>
          </a:p>
          <a:p>
            <a:pPr marL="0" marR="0">
              <a:lnSpc>
                <a:spcPct val="107000"/>
              </a:lnSpc>
              <a:spcBef>
                <a:spcPts val="0"/>
              </a:spcBef>
              <a:spcAft>
                <a:spcPts val="800"/>
              </a:spcAft>
            </a:pPr>
            <a:r>
              <a:rPr lang="en-US" sz="2400" kern="100" dirty="0">
                <a:effectLst/>
                <a:latin typeface="Times New Roman" panose="02020603050405020304" pitchFamily="18" charset="0"/>
                <a:ea typeface="Aptos" panose="020B0004020202020204" pitchFamily="34" charset="0"/>
              </a:rPr>
              <a:t>The model includes two mappings. G maps from domain X to domain Y (G: X → Y), and F does the opposite, mapping from domain Y to domain X (F: Y → X).</a:t>
            </a:r>
          </a:p>
          <a:p>
            <a:pPr marL="0" marR="0">
              <a:lnSpc>
                <a:spcPct val="107000"/>
              </a:lnSpc>
              <a:spcBef>
                <a:spcPts val="0"/>
              </a:spcBef>
              <a:spcAft>
                <a:spcPts val="800"/>
              </a:spcAft>
            </a:pPr>
            <a:r>
              <a:rPr lang="en-US" sz="2400" kern="100" dirty="0">
                <a:effectLst/>
                <a:latin typeface="Times New Roman" panose="02020603050405020304" pitchFamily="18" charset="0"/>
                <a:ea typeface="Aptos" panose="020B0004020202020204" pitchFamily="34" charset="0"/>
              </a:rPr>
              <a:t>There are also two adversarial discriminators. </a:t>
            </a:r>
          </a:p>
          <a:p>
            <a:pPr marL="0" marR="0">
              <a:lnSpc>
                <a:spcPct val="107000"/>
              </a:lnSpc>
              <a:spcBef>
                <a:spcPts val="0"/>
              </a:spcBef>
              <a:spcAft>
                <a:spcPts val="800"/>
              </a:spcAft>
            </a:pPr>
            <a:r>
              <a:rPr lang="en-US" sz="2400" kern="100" dirty="0">
                <a:effectLst/>
                <a:latin typeface="Times New Roman" panose="02020603050405020304" pitchFamily="18" charset="0"/>
                <a:ea typeface="Aptos" panose="020B0004020202020204" pitchFamily="34" charset="0"/>
              </a:rPr>
              <a:t>Dₓ tries to differentiate between real images from domain X and fake images translated from domain Y to X by F</a:t>
            </a:r>
          </a:p>
          <a:p>
            <a:pPr marL="0" marR="0">
              <a:lnSpc>
                <a:spcPct val="107000"/>
              </a:lnSpc>
              <a:spcBef>
                <a:spcPts val="0"/>
              </a:spcBef>
              <a:spcAft>
                <a:spcPts val="800"/>
              </a:spcAft>
            </a:pPr>
            <a:r>
              <a:rPr lang="en-US" sz="2400" kern="100" dirty="0">
                <a:effectLst/>
                <a:latin typeface="Times New Roman" panose="02020603050405020304" pitchFamily="18" charset="0"/>
                <a:ea typeface="Aptos" panose="020B0004020202020204" pitchFamily="34" charset="0"/>
              </a:rPr>
              <a:t>Dᵧ tries to differentiate between real images from domain Y and fake images translated from domain X to Y by G.</a:t>
            </a:r>
          </a:p>
          <a:p>
            <a:endParaRPr lang="en-US" sz="3600" dirty="0"/>
          </a:p>
        </p:txBody>
      </p:sp>
      <p:sp>
        <p:nvSpPr>
          <p:cNvPr id="3" name="Date Placeholder 2">
            <a:extLst>
              <a:ext uri="{FF2B5EF4-FFF2-40B4-BE49-F238E27FC236}">
                <a16:creationId xmlns:a16="http://schemas.microsoft.com/office/drawing/2014/main" id="{3E7C24B3-6D5F-BF0A-2F83-8F77AE9EF953}"/>
              </a:ext>
            </a:extLst>
          </p:cNvPr>
          <p:cNvSpPr>
            <a:spLocks noGrp="1"/>
          </p:cNvSpPr>
          <p:nvPr>
            <p:ph type="dt" sz="half" idx="10"/>
          </p:nvPr>
        </p:nvSpPr>
        <p:spPr/>
        <p:txBody>
          <a:bodyPr/>
          <a:lstStyle/>
          <a:p>
            <a:fld id="{440D9EAE-2994-47B5-AE3B-2DA7B68C64BD}" type="datetime1">
              <a:rPr lang="en-US" smtClean="0"/>
              <a:t>10/22/2025</a:t>
            </a:fld>
            <a:endParaRPr lang="en-US"/>
          </a:p>
        </p:txBody>
      </p:sp>
      <p:sp>
        <p:nvSpPr>
          <p:cNvPr id="4" name="Footer Placeholder 3">
            <a:extLst>
              <a:ext uri="{FF2B5EF4-FFF2-40B4-BE49-F238E27FC236}">
                <a16:creationId xmlns:a16="http://schemas.microsoft.com/office/drawing/2014/main" id="{B2B6C768-A49A-9D88-E58B-E1185BC81263}"/>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624606A7-47B5-7A05-79CC-535A8200C324}"/>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Title 5">
            <a:extLst>
              <a:ext uri="{FF2B5EF4-FFF2-40B4-BE49-F238E27FC236}">
                <a16:creationId xmlns:a16="http://schemas.microsoft.com/office/drawing/2014/main" id="{8D16AF66-31D5-7D54-E0E7-D2D360A3A177}"/>
              </a:ext>
            </a:extLst>
          </p:cNvPr>
          <p:cNvSpPr>
            <a:spLocks noGrp="1"/>
          </p:cNvSpPr>
          <p:nvPr>
            <p:ph type="title"/>
          </p:nvPr>
        </p:nvSpPr>
        <p:spPr/>
        <p:txBody>
          <a:bodyPr/>
          <a:lstStyle/>
          <a:p>
            <a:r>
              <a:rPr lang="en-US" dirty="0"/>
              <a:t>CycleGANs</a:t>
            </a:r>
          </a:p>
        </p:txBody>
      </p:sp>
    </p:spTree>
    <p:extLst>
      <p:ext uri="{BB962C8B-B14F-4D97-AF65-F5344CB8AC3E}">
        <p14:creationId xmlns:p14="http://schemas.microsoft.com/office/powerpoint/2010/main" val="294663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4A5AC8-E143-3D54-6E60-EF2977C77209}"/>
              </a:ext>
            </a:extLst>
          </p:cNvPr>
          <p:cNvSpPr>
            <a:spLocks noGrp="1"/>
          </p:cNvSpPr>
          <p:nvPr>
            <p:ph idx="1"/>
          </p:nvPr>
        </p:nvSpPr>
        <p:spPr/>
        <p:txBody>
          <a:bodyPr>
            <a:normAutofit/>
          </a:bodyPr>
          <a:lstStyle/>
          <a:p>
            <a:pPr marL="0" marR="0">
              <a:lnSpc>
                <a:spcPct val="107000"/>
              </a:lnSpc>
              <a:spcBef>
                <a:spcPts val="0"/>
              </a:spcBef>
              <a:spcAft>
                <a:spcPts val="800"/>
              </a:spcAft>
            </a:pPr>
            <a:r>
              <a:rPr lang="en-US" sz="3200" kern="100" dirty="0">
                <a:effectLst/>
                <a:latin typeface="Times New Roman" panose="02020603050405020304" pitchFamily="18" charset="0"/>
                <a:ea typeface="Aptos" panose="020B0004020202020204" pitchFamily="34" charset="0"/>
              </a:rPr>
              <a:t>Adversarial Losses: </a:t>
            </a:r>
          </a:p>
          <a:p>
            <a:pPr marL="400050" lvl="1">
              <a:lnSpc>
                <a:spcPct val="107000"/>
              </a:lnSpc>
              <a:spcBef>
                <a:spcPts val="0"/>
              </a:spcBef>
              <a:spcAft>
                <a:spcPts val="800"/>
              </a:spcAft>
            </a:pPr>
            <a:r>
              <a:rPr lang="en-US" kern="100" dirty="0">
                <a:effectLst/>
                <a:latin typeface="Times New Roman" panose="02020603050405020304" pitchFamily="18" charset="0"/>
                <a:ea typeface="Aptos" panose="020B0004020202020204" pitchFamily="34" charset="0"/>
              </a:rPr>
              <a:t>The translated images (by G and F) are indistinguishable from real images in their respective target domains. </a:t>
            </a:r>
          </a:p>
          <a:p>
            <a:pPr marL="400050" lvl="1">
              <a:lnSpc>
                <a:spcPct val="107000"/>
              </a:lnSpc>
              <a:spcBef>
                <a:spcPts val="0"/>
              </a:spcBef>
              <a:spcAft>
                <a:spcPts val="800"/>
              </a:spcAft>
            </a:pPr>
            <a:r>
              <a:rPr lang="en-US" kern="100" dirty="0">
                <a:effectLst/>
                <a:latin typeface="Times New Roman" panose="02020603050405020304" pitchFamily="18" charset="0"/>
                <a:ea typeface="Aptos" panose="020B0004020202020204" pitchFamily="34" charset="0"/>
              </a:rPr>
              <a:t>This encourages the generators to produce realistic images.</a:t>
            </a:r>
          </a:p>
          <a:p>
            <a:pPr marL="400050" lvl="1">
              <a:lnSpc>
                <a:spcPct val="107000"/>
              </a:lnSpc>
              <a:spcBef>
                <a:spcPts val="0"/>
              </a:spcBef>
              <a:spcAft>
                <a:spcPts val="800"/>
              </a:spcAft>
            </a:pPr>
            <a:r>
              <a:rPr lang="en-US" dirty="0"/>
              <a:t>For the mapping function G : X → Y and its discriminator </a:t>
            </a:r>
            <a:r>
              <a:rPr lang="en-US" kern="100" dirty="0">
                <a:latin typeface="Times New Roman" panose="02020603050405020304" pitchFamily="18" charset="0"/>
              </a:rPr>
              <a:t>D</a:t>
            </a:r>
            <a:r>
              <a:rPr lang="en-US" sz="2400" kern="100" baseline="-25000" dirty="0">
                <a:effectLst/>
                <a:latin typeface="Times New Roman" panose="02020603050405020304" pitchFamily="18" charset="0"/>
                <a:ea typeface="Aptos" panose="020B0004020202020204" pitchFamily="34" charset="0"/>
              </a:rPr>
              <a:t>Y</a:t>
            </a:r>
          </a:p>
          <a:p>
            <a:pPr marL="400050" lvl="1">
              <a:lnSpc>
                <a:spcPct val="107000"/>
              </a:lnSpc>
              <a:spcBef>
                <a:spcPts val="0"/>
              </a:spcBef>
              <a:spcAft>
                <a:spcPts val="800"/>
              </a:spcAft>
            </a:pPr>
            <a:endParaRPr lang="en-US" kern="100" baseline="-25000" dirty="0">
              <a:latin typeface="Times New Roman" panose="02020603050405020304" pitchFamily="18" charset="0"/>
              <a:ea typeface="Aptos" panose="020B0004020202020204" pitchFamily="34" charset="0"/>
            </a:endParaRPr>
          </a:p>
          <a:p>
            <a:pPr marL="400050" lvl="1">
              <a:lnSpc>
                <a:spcPct val="107000"/>
              </a:lnSpc>
              <a:spcBef>
                <a:spcPts val="0"/>
              </a:spcBef>
              <a:spcAft>
                <a:spcPts val="800"/>
              </a:spcAft>
            </a:pPr>
            <a:endParaRPr lang="en-US" kern="100" baseline="-25000" dirty="0">
              <a:effectLst/>
              <a:latin typeface="Times New Roman" panose="02020603050405020304" pitchFamily="18" charset="0"/>
              <a:ea typeface="Aptos" panose="020B0004020202020204" pitchFamily="34" charset="0"/>
            </a:endParaRPr>
          </a:p>
          <a:p>
            <a:pPr marL="400050" lvl="1">
              <a:lnSpc>
                <a:spcPct val="107000"/>
              </a:lnSpc>
              <a:spcBef>
                <a:spcPts val="0"/>
              </a:spcBef>
              <a:spcAft>
                <a:spcPts val="800"/>
              </a:spcAft>
            </a:pPr>
            <a:r>
              <a:rPr lang="en-US" sz="2000" dirty="0"/>
              <a:t>Similar adversarial loss for the mapping function F : Y → X and its discriminator D</a:t>
            </a:r>
            <a:r>
              <a:rPr lang="en-US" sz="2000" baseline="-25000" dirty="0"/>
              <a:t>X</a:t>
            </a:r>
            <a:endParaRPr lang="en-US" sz="2800" kern="100" baseline="-25000" dirty="0">
              <a:solidFill>
                <a:srgbClr val="0D0D0D"/>
              </a:solidFill>
              <a:effectLst/>
              <a:latin typeface="KaTeX_Caligraphic"/>
              <a:ea typeface="Aptos" panose="020B0004020202020204" pitchFamily="34" charset="0"/>
            </a:endParaRPr>
          </a:p>
          <a:p>
            <a:pPr marL="400050" lvl="1">
              <a:lnSpc>
                <a:spcPct val="107000"/>
              </a:lnSpc>
              <a:spcBef>
                <a:spcPts val="0"/>
              </a:spcBef>
              <a:spcAft>
                <a:spcPts val="800"/>
              </a:spcAft>
            </a:pPr>
            <a:endParaRPr lang="en-US" kern="100" baseline="-25000" dirty="0">
              <a:effectLst/>
              <a:latin typeface="Times New Roman" panose="02020603050405020304" pitchFamily="18" charset="0"/>
              <a:ea typeface="Aptos" panose="020B0004020202020204" pitchFamily="34" charset="0"/>
            </a:endParaRPr>
          </a:p>
          <a:p>
            <a:endParaRPr lang="en-US" sz="4400" dirty="0"/>
          </a:p>
        </p:txBody>
      </p:sp>
      <p:sp>
        <p:nvSpPr>
          <p:cNvPr id="3" name="Date Placeholder 2">
            <a:extLst>
              <a:ext uri="{FF2B5EF4-FFF2-40B4-BE49-F238E27FC236}">
                <a16:creationId xmlns:a16="http://schemas.microsoft.com/office/drawing/2014/main" id="{A3A92B38-ECF8-6305-0E00-8C933D7969C6}"/>
              </a:ext>
            </a:extLst>
          </p:cNvPr>
          <p:cNvSpPr>
            <a:spLocks noGrp="1"/>
          </p:cNvSpPr>
          <p:nvPr>
            <p:ph type="dt" sz="half" idx="10"/>
          </p:nvPr>
        </p:nvSpPr>
        <p:spPr/>
        <p:txBody>
          <a:bodyPr/>
          <a:lstStyle/>
          <a:p>
            <a:fld id="{6729B5FB-012C-4EFE-B917-5DB1B5A23584}" type="datetime1">
              <a:rPr lang="en-US" smtClean="0"/>
              <a:t>10/22/2025</a:t>
            </a:fld>
            <a:endParaRPr lang="en-US"/>
          </a:p>
        </p:txBody>
      </p:sp>
      <p:sp>
        <p:nvSpPr>
          <p:cNvPr id="4" name="Footer Placeholder 3">
            <a:extLst>
              <a:ext uri="{FF2B5EF4-FFF2-40B4-BE49-F238E27FC236}">
                <a16:creationId xmlns:a16="http://schemas.microsoft.com/office/drawing/2014/main" id="{3BE1296D-BF42-939D-EBC2-ACBBA18FBC9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35B8232E-7A42-05F5-1931-DE23D3684086}"/>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Title 5">
            <a:extLst>
              <a:ext uri="{FF2B5EF4-FFF2-40B4-BE49-F238E27FC236}">
                <a16:creationId xmlns:a16="http://schemas.microsoft.com/office/drawing/2014/main" id="{1C35D756-A7E3-0FF0-391E-71BCC0371358}"/>
              </a:ext>
            </a:extLst>
          </p:cNvPr>
          <p:cNvSpPr>
            <a:spLocks noGrp="1"/>
          </p:cNvSpPr>
          <p:nvPr>
            <p:ph type="title"/>
          </p:nvPr>
        </p:nvSpPr>
        <p:spPr/>
        <p:txBody>
          <a:bodyPr/>
          <a:lstStyle/>
          <a:p>
            <a:r>
              <a:rPr lang="en-US" dirty="0"/>
              <a:t>CycleGANs</a:t>
            </a:r>
          </a:p>
        </p:txBody>
      </p:sp>
      <p:pic>
        <p:nvPicPr>
          <p:cNvPr id="12" name="Picture 11">
            <a:extLst>
              <a:ext uri="{FF2B5EF4-FFF2-40B4-BE49-F238E27FC236}">
                <a16:creationId xmlns:a16="http://schemas.microsoft.com/office/drawing/2014/main" id="{8D5FB3BC-E637-BDBF-9BB7-58A3B5553A49}"/>
              </a:ext>
            </a:extLst>
          </p:cNvPr>
          <p:cNvPicPr>
            <a:picLocks noChangeAspect="1"/>
          </p:cNvPicPr>
          <p:nvPr/>
        </p:nvPicPr>
        <p:blipFill>
          <a:blip r:embed="rId2"/>
          <a:stretch>
            <a:fillRect/>
          </a:stretch>
        </p:blipFill>
        <p:spPr>
          <a:xfrm>
            <a:off x="1676400" y="4091164"/>
            <a:ext cx="8467385" cy="642415"/>
          </a:xfrm>
          <a:prstGeom prst="rect">
            <a:avLst/>
          </a:prstGeom>
        </p:spPr>
      </p:pic>
      <p:pic>
        <p:nvPicPr>
          <p:cNvPr id="11" name="Picture 10">
            <a:extLst>
              <a:ext uri="{FF2B5EF4-FFF2-40B4-BE49-F238E27FC236}">
                <a16:creationId xmlns:a16="http://schemas.microsoft.com/office/drawing/2014/main" id="{B1C9297C-4991-3A62-D26D-F464EB19D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5372739"/>
            <a:ext cx="10210800" cy="756356"/>
          </a:xfrm>
          <a:prstGeom prst="rect">
            <a:avLst/>
          </a:prstGeom>
        </p:spPr>
      </p:pic>
    </p:spTree>
    <p:extLst>
      <p:ext uri="{BB962C8B-B14F-4D97-AF65-F5344CB8AC3E}">
        <p14:creationId xmlns:p14="http://schemas.microsoft.com/office/powerpoint/2010/main" val="278730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F4EE6A-F4EE-36F3-9616-80D1D2CE6180}"/>
              </a:ext>
            </a:extLst>
          </p:cNvPr>
          <p:cNvSpPr>
            <a:spLocks noGrp="1"/>
          </p:cNvSpPr>
          <p:nvPr>
            <p:ph idx="1"/>
          </p:nvPr>
        </p:nvSpPr>
        <p:spPr/>
        <p:txBody>
          <a:bodyPr/>
          <a:lstStyle/>
          <a:p>
            <a:pPr marL="0" marR="0">
              <a:lnSpc>
                <a:spcPct val="107000"/>
              </a:lnSpc>
              <a:spcBef>
                <a:spcPts val="0"/>
              </a:spcBef>
              <a:spcAft>
                <a:spcPts val="800"/>
              </a:spcAft>
            </a:pPr>
            <a:r>
              <a:rPr lang="en-US" sz="3200" kern="100" dirty="0">
                <a:effectLst/>
                <a:latin typeface="Times New Roman" panose="02020603050405020304" pitchFamily="18" charset="0"/>
                <a:ea typeface="Aptos" panose="020B0004020202020204" pitchFamily="34" charset="0"/>
              </a:rPr>
              <a:t>Cycle Consistency Losses: </a:t>
            </a:r>
          </a:p>
          <a:p>
            <a:pPr marL="400050" lvl="1">
              <a:lnSpc>
                <a:spcPct val="107000"/>
              </a:lnSpc>
              <a:spcBef>
                <a:spcPts val="0"/>
              </a:spcBef>
              <a:spcAft>
                <a:spcPts val="800"/>
              </a:spcAft>
            </a:pPr>
            <a:r>
              <a:rPr lang="en-US" kern="100" dirty="0">
                <a:effectLst/>
                <a:latin typeface="Times New Roman" panose="02020603050405020304" pitchFamily="18" charset="0"/>
                <a:ea typeface="Aptos" panose="020B0004020202020204" pitchFamily="34" charset="0"/>
              </a:rPr>
              <a:t>These losses ensure that if you start with an image from one domain and translate it to the other domain and back again, you should end up with something similar to what you started with. </a:t>
            </a:r>
          </a:p>
          <a:p>
            <a:pPr marL="400050" lvl="1">
              <a:lnSpc>
                <a:spcPct val="107000"/>
              </a:lnSpc>
              <a:spcBef>
                <a:spcPts val="0"/>
              </a:spcBef>
              <a:spcAft>
                <a:spcPts val="800"/>
              </a:spcAft>
            </a:pPr>
            <a:r>
              <a:rPr lang="en-US" kern="100" dirty="0">
                <a:effectLst/>
                <a:latin typeface="Times New Roman" panose="02020603050405020304" pitchFamily="18" charset="0"/>
                <a:ea typeface="Aptos" panose="020B0004020202020204" pitchFamily="34" charset="0"/>
              </a:rPr>
              <a:t>This prevents the learned mappings G and F from contradicting each other (e.g., translating a dog into a cat and then back into a different animal would be a contradiction).</a:t>
            </a:r>
          </a:p>
          <a:p>
            <a:endParaRPr lang="en-US" dirty="0"/>
          </a:p>
        </p:txBody>
      </p:sp>
      <p:sp>
        <p:nvSpPr>
          <p:cNvPr id="3" name="Date Placeholder 2">
            <a:extLst>
              <a:ext uri="{FF2B5EF4-FFF2-40B4-BE49-F238E27FC236}">
                <a16:creationId xmlns:a16="http://schemas.microsoft.com/office/drawing/2014/main" id="{0C44403F-9577-6485-F622-BDE2321212F4}"/>
              </a:ext>
            </a:extLst>
          </p:cNvPr>
          <p:cNvSpPr>
            <a:spLocks noGrp="1"/>
          </p:cNvSpPr>
          <p:nvPr>
            <p:ph type="dt" sz="half" idx="10"/>
          </p:nvPr>
        </p:nvSpPr>
        <p:spPr/>
        <p:txBody>
          <a:bodyPr/>
          <a:lstStyle/>
          <a:p>
            <a:fld id="{580F093B-46F6-4CA2-AA44-6ACB483E8D32}" type="datetime1">
              <a:rPr lang="en-US" smtClean="0"/>
              <a:t>10/22/2025</a:t>
            </a:fld>
            <a:endParaRPr lang="en-US"/>
          </a:p>
        </p:txBody>
      </p:sp>
      <p:sp>
        <p:nvSpPr>
          <p:cNvPr id="4" name="Footer Placeholder 3">
            <a:extLst>
              <a:ext uri="{FF2B5EF4-FFF2-40B4-BE49-F238E27FC236}">
                <a16:creationId xmlns:a16="http://schemas.microsoft.com/office/drawing/2014/main" id="{62C44F84-B80C-E7E0-A10F-729F4BD989BA}"/>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11C14633-0964-5E4D-90C2-7E94D3943BBD}"/>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6" name="Title 5">
            <a:extLst>
              <a:ext uri="{FF2B5EF4-FFF2-40B4-BE49-F238E27FC236}">
                <a16:creationId xmlns:a16="http://schemas.microsoft.com/office/drawing/2014/main" id="{73E1A5BF-D43A-2074-A7A9-DD1CF7D18AB2}"/>
              </a:ext>
            </a:extLst>
          </p:cNvPr>
          <p:cNvSpPr>
            <a:spLocks noGrp="1"/>
          </p:cNvSpPr>
          <p:nvPr>
            <p:ph type="title"/>
          </p:nvPr>
        </p:nvSpPr>
        <p:spPr/>
        <p:txBody>
          <a:bodyPr/>
          <a:lstStyle/>
          <a:p>
            <a:r>
              <a:rPr lang="en-US" dirty="0"/>
              <a:t>CycleGANs</a:t>
            </a:r>
          </a:p>
        </p:txBody>
      </p:sp>
      <p:pic>
        <p:nvPicPr>
          <p:cNvPr id="8" name="Picture 7">
            <a:extLst>
              <a:ext uri="{FF2B5EF4-FFF2-40B4-BE49-F238E27FC236}">
                <a16:creationId xmlns:a16="http://schemas.microsoft.com/office/drawing/2014/main" id="{F7556C2C-BC4F-4067-3FCF-E1C5A1001256}"/>
              </a:ext>
            </a:extLst>
          </p:cNvPr>
          <p:cNvPicPr>
            <a:picLocks noChangeAspect="1"/>
          </p:cNvPicPr>
          <p:nvPr/>
        </p:nvPicPr>
        <p:blipFill>
          <a:blip r:embed="rId2"/>
          <a:stretch>
            <a:fillRect/>
          </a:stretch>
        </p:blipFill>
        <p:spPr>
          <a:xfrm>
            <a:off x="3010516" y="4953000"/>
            <a:ext cx="5015884" cy="1055403"/>
          </a:xfrm>
          <a:prstGeom prst="rect">
            <a:avLst/>
          </a:prstGeom>
        </p:spPr>
      </p:pic>
    </p:spTree>
    <p:extLst>
      <p:ext uri="{BB962C8B-B14F-4D97-AF65-F5344CB8AC3E}">
        <p14:creationId xmlns:p14="http://schemas.microsoft.com/office/powerpoint/2010/main" val="1139772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1A7B6C-AC48-6C88-C85C-5E7F85A7A777}"/>
              </a:ext>
            </a:extLst>
          </p:cNvPr>
          <p:cNvSpPr>
            <a:spLocks noGrp="1"/>
          </p:cNvSpPr>
          <p:nvPr>
            <p:ph idx="1"/>
          </p:nvPr>
        </p:nvSpPr>
        <p:spPr/>
        <p:txBody>
          <a:bodyPr/>
          <a:lstStyle/>
          <a:p>
            <a:r>
              <a:rPr lang="en-US" dirty="0"/>
              <a:t>Full Objective</a:t>
            </a:r>
          </a:p>
          <a:p>
            <a:endParaRPr lang="en-US" dirty="0"/>
          </a:p>
          <a:p>
            <a:endParaRPr lang="en-US" dirty="0"/>
          </a:p>
          <a:p>
            <a:endParaRPr lang="en-US" dirty="0"/>
          </a:p>
          <a:p>
            <a:r>
              <a:rPr lang="en-US" dirty="0"/>
              <a:t>where λ controls the relative importance of the two objectives. </a:t>
            </a:r>
          </a:p>
          <a:p>
            <a:endParaRPr lang="en-US" dirty="0"/>
          </a:p>
        </p:txBody>
      </p:sp>
      <p:sp>
        <p:nvSpPr>
          <p:cNvPr id="3" name="Date Placeholder 2">
            <a:extLst>
              <a:ext uri="{FF2B5EF4-FFF2-40B4-BE49-F238E27FC236}">
                <a16:creationId xmlns:a16="http://schemas.microsoft.com/office/drawing/2014/main" id="{FB7A953B-3924-DF69-190D-24807AC80F42}"/>
              </a:ext>
            </a:extLst>
          </p:cNvPr>
          <p:cNvSpPr>
            <a:spLocks noGrp="1"/>
          </p:cNvSpPr>
          <p:nvPr>
            <p:ph type="dt" sz="half" idx="10"/>
          </p:nvPr>
        </p:nvSpPr>
        <p:spPr/>
        <p:txBody>
          <a:bodyPr/>
          <a:lstStyle/>
          <a:p>
            <a:fld id="{FDC06A9D-2DAF-4F0B-949F-9DB23A47C67B}" type="datetime1">
              <a:rPr lang="en-US" smtClean="0"/>
              <a:t>10/22/2025</a:t>
            </a:fld>
            <a:endParaRPr lang="en-US"/>
          </a:p>
        </p:txBody>
      </p:sp>
      <p:sp>
        <p:nvSpPr>
          <p:cNvPr id="4" name="Footer Placeholder 3">
            <a:extLst>
              <a:ext uri="{FF2B5EF4-FFF2-40B4-BE49-F238E27FC236}">
                <a16:creationId xmlns:a16="http://schemas.microsoft.com/office/drawing/2014/main" id="{63CE27B3-621A-DB65-F8B7-65CA3BEABA7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6B70AB20-8E1F-C7B2-4D64-0DF90E995994}"/>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Title 5">
            <a:extLst>
              <a:ext uri="{FF2B5EF4-FFF2-40B4-BE49-F238E27FC236}">
                <a16:creationId xmlns:a16="http://schemas.microsoft.com/office/drawing/2014/main" id="{E0062E2D-58FC-90B1-54C6-A54B8BC6528A}"/>
              </a:ext>
            </a:extLst>
          </p:cNvPr>
          <p:cNvSpPr>
            <a:spLocks noGrp="1"/>
          </p:cNvSpPr>
          <p:nvPr>
            <p:ph type="title"/>
          </p:nvPr>
        </p:nvSpPr>
        <p:spPr/>
        <p:txBody>
          <a:bodyPr/>
          <a:lstStyle/>
          <a:p>
            <a:r>
              <a:rPr lang="en-US" dirty="0"/>
              <a:t>CycleGANs</a:t>
            </a:r>
          </a:p>
        </p:txBody>
      </p:sp>
      <p:pic>
        <p:nvPicPr>
          <p:cNvPr id="8" name="Picture 7">
            <a:extLst>
              <a:ext uri="{FF2B5EF4-FFF2-40B4-BE49-F238E27FC236}">
                <a16:creationId xmlns:a16="http://schemas.microsoft.com/office/drawing/2014/main" id="{2F969147-9DF9-13EB-ED0D-4089F15D5563}"/>
              </a:ext>
            </a:extLst>
          </p:cNvPr>
          <p:cNvPicPr>
            <a:picLocks noChangeAspect="1"/>
          </p:cNvPicPr>
          <p:nvPr/>
        </p:nvPicPr>
        <p:blipFill>
          <a:blip r:embed="rId2"/>
          <a:stretch>
            <a:fillRect/>
          </a:stretch>
        </p:blipFill>
        <p:spPr>
          <a:xfrm>
            <a:off x="3124200" y="2362200"/>
            <a:ext cx="5078436" cy="1447800"/>
          </a:xfrm>
          <a:prstGeom prst="rect">
            <a:avLst/>
          </a:prstGeom>
        </p:spPr>
      </p:pic>
      <p:pic>
        <p:nvPicPr>
          <p:cNvPr id="10" name="Picture 9">
            <a:extLst>
              <a:ext uri="{FF2B5EF4-FFF2-40B4-BE49-F238E27FC236}">
                <a16:creationId xmlns:a16="http://schemas.microsoft.com/office/drawing/2014/main" id="{6346004D-85BF-4725-6C40-F25ED6519420}"/>
              </a:ext>
            </a:extLst>
          </p:cNvPr>
          <p:cNvPicPr>
            <a:picLocks noChangeAspect="1"/>
          </p:cNvPicPr>
          <p:nvPr/>
        </p:nvPicPr>
        <p:blipFill>
          <a:blip r:embed="rId3"/>
          <a:stretch>
            <a:fillRect/>
          </a:stretch>
        </p:blipFill>
        <p:spPr>
          <a:xfrm>
            <a:off x="3276600" y="4457497"/>
            <a:ext cx="5518496" cy="800301"/>
          </a:xfrm>
          <a:prstGeom prst="rect">
            <a:avLst/>
          </a:prstGeom>
        </p:spPr>
      </p:pic>
    </p:spTree>
    <p:extLst>
      <p:ext uri="{BB962C8B-B14F-4D97-AF65-F5344CB8AC3E}">
        <p14:creationId xmlns:p14="http://schemas.microsoft.com/office/powerpoint/2010/main" val="1251511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07C721-545F-2850-C80C-5C8FCD7012BB}"/>
              </a:ext>
            </a:extLst>
          </p:cNvPr>
          <p:cNvSpPr>
            <a:spLocks noGrp="1"/>
          </p:cNvSpPr>
          <p:nvPr>
            <p:ph idx="1"/>
          </p:nvPr>
        </p:nvSpPr>
        <p:spPr/>
        <p:txBody>
          <a:bodyPr/>
          <a:lstStyle/>
          <a:p>
            <a:r>
              <a:rPr lang="en-US" dirty="0"/>
              <a:t>Read and understand the limitations of this paper “Unpaired Image-to-Image Translation using Cycle-Consistent Adversarial Networks”</a:t>
            </a:r>
          </a:p>
          <a:p>
            <a:r>
              <a:rPr lang="en-US" dirty="0"/>
              <a:t>Check the </a:t>
            </a:r>
            <a:r>
              <a:rPr lang="en-US" b="1" dirty="0"/>
              <a:t>Network architectures</a:t>
            </a:r>
            <a:r>
              <a:rPr lang="en-US" dirty="0"/>
              <a:t> </a:t>
            </a:r>
          </a:p>
          <a:p>
            <a:r>
              <a:rPr lang="en-US" dirty="0">
                <a:hlinkClick r:id="rId2"/>
              </a:rPr>
              <a:t>Explore </a:t>
            </a:r>
            <a:r>
              <a:rPr lang="en-US" dirty="0" err="1">
                <a:hlinkClick r:id="rId2"/>
              </a:rPr>
              <a:t>Pytorch</a:t>
            </a:r>
            <a:r>
              <a:rPr lang="en-US" dirty="0">
                <a:hlinkClick r:id="rId2"/>
              </a:rPr>
              <a:t> Implementation of </a:t>
            </a:r>
            <a:r>
              <a:rPr lang="en-US" dirty="0" err="1">
                <a:hlinkClick r:id="rId2"/>
              </a:rPr>
              <a:t>CycleGAN</a:t>
            </a:r>
            <a:r>
              <a:rPr lang="en-US" dirty="0">
                <a:hlinkClick r:id="rId2"/>
              </a:rPr>
              <a:t> and Pix2Pix</a:t>
            </a:r>
            <a:endParaRPr lang="en-US" dirty="0"/>
          </a:p>
        </p:txBody>
      </p:sp>
      <p:sp>
        <p:nvSpPr>
          <p:cNvPr id="3" name="Date Placeholder 2">
            <a:extLst>
              <a:ext uri="{FF2B5EF4-FFF2-40B4-BE49-F238E27FC236}">
                <a16:creationId xmlns:a16="http://schemas.microsoft.com/office/drawing/2014/main" id="{953EE5AE-AB96-FA68-58EC-447EDF219293}"/>
              </a:ext>
            </a:extLst>
          </p:cNvPr>
          <p:cNvSpPr>
            <a:spLocks noGrp="1"/>
          </p:cNvSpPr>
          <p:nvPr>
            <p:ph type="dt" sz="half" idx="10"/>
          </p:nvPr>
        </p:nvSpPr>
        <p:spPr/>
        <p:txBody>
          <a:bodyPr/>
          <a:lstStyle/>
          <a:p>
            <a:fld id="{CCF6074E-3C5A-4B2B-B0F1-B52C988B2005}" type="datetime1">
              <a:rPr lang="en-US" smtClean="0"/>
              <a:t>10/22/2025</a:t>
            </a:fld>
            <a:endParaRPr lang="en-US"/>
          </a:p>
        </p:txBody>
      </p:sp>
      <p:sp>
        <p:nvSpPr>
          <p:cNvPr id="4" name="Footer Placeholder 3">
            <a:extLst>
              <a:ext uri="{FF2B5EF4-FFF2-40B4-BE49-F238E27FC236}">
                <a16:creationId xmlns:a16="http://schemas.microsoft.com/office/drawing/2014/main" id="{BAB79E4B-AF38-D1B0-3AE7-FCC3351BF8AE}"/>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46AB83D-A519-DF45-7C41-A13C5A5A3BCB}"/>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6" name="Title 5">
            <a:extLst>
              <a:ext uri="{FF2B5EF4-FFF2-40B4-BE49-F238E27FC236}">
                <a16:creationId xmlns:a16="http://schemas.microsoft.com/office/drawing/2014/main" id="{B746AE1D-245D-C450-97C6-3D21817D6396}"/>
              </a:ext>
            </a:extLst>
          </p:cNvPr>
          <p:cNvSpPr>
            <a:spLocks noGrp="1"/>
          </p:cNvSpPr>
          <p:nvPr>
            <p:ph type="title"/>
          </p:nvPr>
        </p:nvSpPr>
        <p:spPr/>
        <p:txBody>
          <a:bodyPr/>
          <a:lstStyle/>
          <a:p>
            <a:r>
              <a:rPr lang="en-US" dirty="0"/>
              <a:t>Home Task</a:t>
            </a:r>
          </a:p>
        </p:txBody>
      </p:sp>
      <p:pic>
        <p:nvPicPr>
          <p:cNvPr id="8" name="Picture 7">
            <a:extLst>
              <a:ext uri="{FF2B5EF4-FFF2-40B4-BE49-F238E27FC236}">
                <a16:creationId xmlns:a16="http://schemas.microsoft.com/office/drawing/2014/main" id="{A7E7E3F4-4D65-12F4-EBD5-2BC660F7775A}"/>
              </a:ext>
            </a:extLst>
          </p:cNvPr>
          <p:cNvPicPr>
            <a:picLocks noChangeAspect="1"/>
          </p:cNvPicPr>
          <p:nvPr/>
        </p:nvPicPr>
        <p:blipFill>
          <a:blip r:embed="rId3"/>
          <a:stretch>
            <a:fillRect/>
          </a:stretch>
        </p:blipFill>
        <p:spPr>
          <a:xfrm>
            <a:off x="1101394" y="4030872"/>
            <a:ext cx="3147333" cy="2453853"/>
          </a:xfrm>
          <a:prstGeom prst="rect">
            <a:avLst/>
          </a:prstGeom>
        </p:spPr>
      </p:pic>
      <p:pic>
        <p:nvPicPr>
          <p:cNvPr id="10" name="Picture 9">
            <a:extLst>
              <a:ext uri="{FF2B5EF4-FFF2-40B4-BE49-F238E27FC236}">
                <a16:creationId xmlns:a16="http://schemas.microsoft.com/office/drawing/2014/main" id="{DD01764F-2CED-D42F-9A96-925C23F58112}"/>
              </a:ext>
            </a:extLst>
          </p:cNvPr>
          <p:cNvPicPr>
            <a:picLocks noChangeAspect="1"/>
          </p:cNvPicPr>
          <p:nvPr/>
        </p:nvPicPr>
        <p:blipFill>
          <a:blip r:embed="rId4"/>
          <a:stretch>
            <a:fillRect/>
          </a:stretch>
        </p:blipFill>
        <p:spPr>
          <a:xfrm>
            <a:off x="4496550" y="4054854"/>
            <a:ext cx="1996613" cy="2461473"/>
          </a:xfrm>
          <a:prstGeom prst="rect">
            <a:avLst/>
          </a:prstGeom>
        </p:spPr>
      </p:pic>
      <p:pic>
        <p:nvPicPr>
          <p:cNvPr id="12" name="Picture 11">
            <a:extLst>
              <a:ext uri="{FF2B5EF4-FFF2-40B4-BE49-F238E27FC236}">
                <a16:creationId xmlns:a16="http://schemas.microsoft.com/office/drawing/2014/main" id="{27EADFBA-C7B1-A156-61B0-D55ADD1ACE19}"/>
              </a:ext>
            </a:extLst>
          </p:cNvPr>
          <p:cNvPicPr>
            <a:picLocks noChangeAspect="1"/>
          </p:cNvPicPr>
          <p:nvPr/>
        </p:nvPicPr>
        <p:blipFill>
          <a:blip r:embed="rId5"/>
          <a:stretch>
            <a:fillRect/>
          </a:stretch>
        </p:blipFill>
        <p:spPr>
          <a:xfrm>
            <a:off x="6921067" y="4054854"/>
            <a:ext cx="1988992" cy="2438611"/>
          </a:xfrm>
          <a:prstGeom prst="rect">
            <a:avLst/>
          </a:prstGeom>
        </p:spPr>
      </p:pic>
    </p:spTree>
    <p:extLst>
      <p:ext uri="{BB962C8B-B14F-4D97-AF65-F5344CB8AC3E}">
        <p14:creationId xmlns:p14="http://schemas.microsoft.com/office/powerpoint/2010/main" val="3640543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3429000" y="3124200"/>
            <a:ext cx="4343400" cy="500232"/>
          </a:xfrm>
          <a:prstGeom prst="rect">
            <a:avLst/>
          </a:prstGeom>
        </p:spPr>
        <p:txBody>
          <a:bodyPr vert="horz" wrap="square" lIns="0" tIns="11206" rIns="0" bIns="0" rtlCol="0" anchor="ctr">
            <a:spAutoFit/>
          </a:bodyPr>
          <a:lstStyle/>
          <a:p>
            <a:pPr marL="11206">
              <a:spcBef>
                <a:spcPts val="88"/>
              </a:spcBef>
            </a:pPr>
            <a:r>
              <a:rPr lang="en-US" sz="3200" dirty="0"/>
              <a:t>Text Processing</a:t>
            </a:r>
            <a:endParaRPr sz="3177" dirty="0"/>
          </a:p>
        </p:txBody>
      </p:sp>
      <p:pic>
        <p:nvPicPr>
          <p:cNvPr id="8" name="object 8"/>
          <p:cNvPicPr/>
          <p:nvPr/>
        </p:nvPicPr>
        <p:blipFill>
          <a:blip r:embed="rId2" cstate="print"/>
          <a:stretch>
            <a:fillRect/>
          </a:stretch>
        </p:blipFill>
        <p:spPr>
          <a:xfrm>
            <a:off x="9710827" y="5739344"/>
            <a:ext cx="240971" cy="371096"/>
          </a:xfrm>
          <a:prstGeom prst="rect">
            <a:avLst/>
          </a:prstGeom>
        </p:spPr>
      </p:pic>
      <p:sp>
        <p:nvSpPr>
          <p:cNvPr id="11" name="object 11"/>
          <p:cNvSpPr txBox="1">
            <a:spLocks noGrp="1"/>
          </p:cNvSpPr>
          <p:nvPr>
            <p:ph type="sldNum" sz="quarter" idx="7"/>
          </p:nvPr>
        </p:nvSpPr>
        <p:spPr>
          <a:xfrm>
            <a:off x="9192758" y="7045449"/>
            <a:ext cx="255270" cy="20383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12</a:t>
            </a:fld>
            <a:endParaRPr dirty="0"/>
          </a:p>
        </p:txBody>
      </p:sp>
      <p:sp>
        <p:nvSpPr>
          <p:cNvPr id="12" name="object 12"/>
          <p:cNvSpPr txBox="1">
            <a:spLocks noGrp="1"/>
          </p:cNvSpPr>
          <p:nvPr>
            <p:ph type="dt" sz="half" idx="6"/>
          </p:nvPr>
        </p:nvSpPr>
        <p:spPr>
          <a:xfrm>
            <a:off x="558793" y="7137703"/>
            <a:ext cx="140081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5495840B-57D2-45D3-BA81-57690D0EEEF6}" type="datetime1">
              <a:rPr lang="en-US" spc="-9" smtClean="0"/>
              <a:t>10/22/2025</a:t>
            </a:fld>
            <a:endParaRPr spc="-9" dirty="0"/>
          </a:p>
        </p:txBody>
      </p:sp>
      <p:sp>
        <p:nvSpPr>
          <p:cNvPr id="13" name="object 13"/>
          <p:cNvSpPr txBox="1">
            <a:spLocks noGrp="1"/>
          </p:cNvSpPr>
          <p:nvPr>
            <p:ph type="ftr" sz="quarter" idx="5"/>
          </p:nvPr>
        </p:nvSpPr>
        <p:spPr>
          <a:xfrm>
            <a:off x="3190741" y="7137703"/>
            <a:ext cx="173418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DBC73582-F08A-DAEC-B6E3-D47E46199C93}"/>
              </a:ext>
            </a:extLst>
          </p:cNvPr>
          <p:cNvSpPr>
            <a:spLocks noGrp="1"/>
          </p:cNvSpPr>
          <p:nvPr>
            <p:ph idx="1"/>
          </p:nvPr>
        </p:nvSpPr>
        <p:spPr/>
        <p:txBody>
          <a:bodyPr>
            <a:normAutofit/>
          </a:bodyPr>
          <a:lstStyle/>
          <a:p>
            <a:pPr marL="263913" marR="4483" indent="-253266">
              <a:spcBef>
                <a:spcPts val="84"/>
              </a:spcBef>
              <a:buChar char="•"/>
              <a:tabLst>
                <a:tab pos="263913" algn="l"/>
                <a:tab pos="264473" algn="l"/>
              </a:tabLst>
            </a:pPr>
            <a:r>
              <a:rPr lang="en-US" sz="2800" spc="-13" dirty="0">
                <a:latin typeface="Arial MT"/>
                <a:cs typeface="Arial MT"/>
              </a:rPr>
              <a:t>Taxonomy of generative models. </a:t>
            </a:r>
          </a:p>
          <a:p>
            <a:pPr marL="263913" marR="4483" indent="-253266">
              <a:spcBef>
                <a:spcPts val="84"/>
              </a:spcBef>
              <a:buChar char="•"/>
              <a:tabLst>
                <a:tab pos="263913" algn="l"/>
                <a:tab pos="264473" algn="l"/>
              </a:tabLst>
            </a:pPr>
            <a:r>
              <a:rPr lang="en-US" sz="2800" spc="-13" dirty="0">
                <a:latin typeface="Arial MT"/>
                <a:cs typeface="Arial MT"/>
              </a:rPr>
              <a:t>Image Generation with </a:t>
            </a:r>
            <a:r>
              <a:rPr lang="en-US" sz="2800" spc="-13" dirty="0" err="1">
                <a:solidFill>
                  <a:srgbClr val="00B0F0"/>
                </a:solidFill>
                <a:latin typeface="Arial MT"/>
                <a:cs typeface="Arial MT"/>
              </a:rPr>
              <a:t>Flowbased</a:t>
            </a:r>
            <a:r>
              <a:rPr lang="en-US" sz="2800" spc="-13" dirty="0">
                <a:solidFill>
                  <a:srgbClr val="00B0F0"/>
                </a:solidFill>
                <a:latin typeface="Arial MT"/>
                <a:cs typeface="Arial MT"/>
              </a:rPr>
              <a:t> Model, VAEs, GANs</a:t>
            </a:r>
          </a:p>
          <a:p>
            <a:pPr marL="263913" marR="4483" indent="-253266">
              <a:spcBef>
                <a:spcPts val="84"/>
              </a:spcBef>
              <a:buChar char="•"/>
              <a:tabLst>
                <a:tab pos="263913" algn="l"/>
                <a:tab pos="264473" algn="l"/>
              </a:tabLst>
            </a:pPr>
            <a:r>
              <a:rPr lang="en-US" sz="2800" spc="-13" dirty="0">
                <a:latin typeface="Arial MT"/>
                <a:cs typeface="Arial MT"/>
              </a:rPr>
              <a:t>Deep learning for </a:t>
            </a:r>
            <a:r>
              <a:rPr lang="en-US" sz="2800" spc="-13" dirty="0">
                <a:solidFill>
                  <a:srgbClr val="FF0000"/>
                </a:solidFill>
                <a:latin typeface="Arial MT"/>
                <a:cs typeface="Arial MT"/>
              </a:rPr>
              <a:t>computer vision </a:t>
            </a:r>
            <a:r>
              <a:rPr lang="en-US" sz="2800" spc="-13" dirty="0">
                <a:latin typeface="Arial MT"/>
                <a:cs typeface="Arial MT"/>
              </a:rPr>
              <a:t>has vast application</a:t>
            </a:r>
          </a:p>
          <a:p>
            <a:pPr marL="263913" marR="4483" indent="-253266">
              <a:spcBef>
                <a:spcPts val="84"/>
              </a:spcBef>
              <a:buChar char="•"/>
              <a:tabLst>
                <a:tab pos="263913" algn="l"/>
                <a:tab pos="264473" algn="l"/>
              </a:tabLst>
            </a:pPr>
            <a:r>
              <a:rPr lang="en-US" sz="2800" spc="-13" dirty="0">
                <a:latin typeface="Arial MT"/>
                <a:cs typeface="Arial MT"/>
              </a:rPr>
              <a:t>Natural Language Processing (NLP) or processing of </a:t>
            </a:r>
            <a:r>
              <a:rPr lang="en-US" sz="2800" spc="-13" dirty="0">
                <a:solidFill>
                  <a:srgbClr val="FF0000"/>
                </a:solidFill>
                <a:latin typeface="Arial MT"/>
                <a:cs typeface="Arial MT"/>
              </a:rPr>
              <a:t>textual data </a:t>
            </a:r>
            <a:r>
              <a:rPr lang="en-US" sz="2800" spc="-13" dirty="0">
                <a:latin typeface="Arial MT"/>
                <a:cs typeface="Arial MT"/>
              </a:rPr>
              <a:t>has seen great interest and research. </a:t>
            </a:r>
          </a:p>
          <a:p>
            <a:pPr marL="263913" marR="4483" indent="-253266">
              <a:spcBef>
                <a:spcPts val="84"/>
              </a:spcBef>
              <a:buChar char="•"/>
              <a:tabLst>
                <a:tab pos="263913" algn="l"/>
                <a:tab pos="264473" algn="l"/>
              </a:tabLst>
            </a:pPr>
            <a:r>
              <a:rPr lang="en-US" sz="2800" spc="-13" dirty="0">
                <a:latin typeface="Arial MT"/>
                <a:cs typeface="Arial MT"/>
              </a:rPr>
              <a:t>Text is not just </a:t>
            </a:r>
            <a:r>
              <a:rPr lang="en-US" sz="2800" spc="-13" dirty="0">
                <a:solidFill>
                  <a:srgbClr val="00B050"/>
                </a:solidFill>
                <a:latin typeface="Arial MT"/>
                <a:cs typeface="Arial MT"/>
              </a:rPr>
              <a:t>another unstructured type of data</a:t>
            </a:r>
            <a:r>
              <a:rPr lang="en-US" sz="2800" spc="-13" dirty="0">
                <a:latin typeface="Arial MT"/>
                <a:cs typeface="Arial MT"/>
              </a:rPr>
              <a:t>; there's a lot more to it than what meets the eye. </a:t>
            </a:r>
          </a:p>
          <a:p>
            <a:pPr marL="663963" marR="4483" lvl="1" indent="-253266">
              <a:spcBef>
                <a:spcPts val="84"/>
              </a:spcBef>
              <a:buChar char="•"/>
              <a:tabLst>
                <a:tab pos="263913" algn="l"/>
                <a:tab pos="264473" algn="l"/>
              </a:tabLst>
            </a:pPr>
            <a:r>
              <a:rPr lang="en-US" spc="-13" dirty="0">
                <a:latin typeface="Arial MT"/>
                <a:cs typeface="Arial MT"/>
              </a:rPr>
              <a:t>Textual data is a representation of our thoughts, ideas, knowledge, and communication.</a:t>
            </a:r>
          </a:p>
          <a:p>
            <a:pPr marL="263913" marR="4483" indent="-253266">
              <a:spcBef>
                <a:spcPts val="84"/>
              </a:spcBef>
              <a:tabLst>
                <a:tab pos="263913" algn="l"/>
                <a:tab pos="264473" algn="l"/>
              </a:tabLst>
            </a:pPr>
            <a:r>
              <a:rPr lang="en-US" spc="-13" dirty="0">
                <a:latin typeface="Arial MT"/>
                <a:cs typeface="Arial MT"/>
              </a:rPr>
              <a:t>Concepts related to NLP and generative models for textual data.</a:t>
            </a:r>
          </a:p>
          <a:p>
            <a:endParaRPr lang="en-US" dirty="0"/>
          </a:p>
        </p:txBody>
      </p:sp>
      <p:sp>
        <p:nvSpPr>
          <p:cNvPr id="5" name="object 5"/>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lang="en-US" spc="-4" dirty="0"/>
              <a:t>Key</a:t>
            </a:r>
            <a:r>
              <a:rPr lang="en-US" spc="-57" dirty="0"/>
              <a:t> </a:t>
            </a:r>
            <a:r>
              <a:rPr lang="en-US" spc="-4" dirty="0"/>
              <a:t>Concepts</a:t>
            </a:r>
          </a:p>
        </p:txBody>
      </p:sp>
      <p:sp>
        <p:nvSpPr>
          <p:cNvPr id="10" name="object 10"/>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13</a:t>
            </a:fld>
            <a:endParaRPr dirty="0"/>
          </a:p>
        </p:txBody>
      </p:sp>
      <p:sp>
        <p:nvSpPr>
          <p:cNvPr id="11" name="object 11"/>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0B7EF64B-C0DD-4D37-BB3C-01A6465174FC}" type="datetime1">
              <a:rPr lang="en-US" spc="-9" smtClean="0"/>
              <a:t>10/22/2025</a:t>
            </a:fld>
            <a:endParaRPr spc="-9" dirty="0"/>
          </a:p>
        </p:txBody>
      </p:sp>
      <p:sp>
        <p:nvSpPr>
          <p:cNvPr id="12" name="object 12"/>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5741B1-CC27-EBBE-F080-F9B75EED544D}"/>
              </a:ext>
            </a:extLst>
          </p:cNvPr>
          <p:cNvSpPr>
            <a:spLocks noGrp="1"/>
          </p:cNvSpPr>
          <p:nvPr>
            <p:ph idx="1"/>
          </p:nvPr>
        </p:nvSpPr>
        <p:spPr/>
        <p:txBody>
          <a:bodyPr/>
          <a:lstStyle/>
          <a:p>
            <a:r>
              <a:rPr lang="en-US" dirty="0"/>
              <a:t> Every language is defined with a list of characters called the alphabet, a vocabulary, and a set of rules called grammar. </a:t>
            </a:r>
          </a:p>
          <a:p>
            <a:r>
              <a:rPr lang="en-US" dirty="0"/>
              <a:t>Human Language is not a trivial task to understand and learn it.</a:t>
            </a:r>
          </a:p>
          <a:p>
            <a:r>
              <a:rPr lang="en-US" dirty="0"/>
              <a:t>Languages are complex and have fuzzy grammatical rules and structures.</a:t>
            </a:r>
          </a:p>
        </p:txBody>
      </p:sp>
      <p:sp>
        <p:nvSpPr>
          <p:cNvPr id="3" name="Date Placeholder 2">
            <a:extLst>
              <a:ext uri="{FF2B5EF4-FFF2-40B4-BE49-F238E27FC236}">
                <a16:creationId xmlns:a16="http://schemas.microsoft.com/office/drawing/2014/main" id="{045382A2-DC77-1BD1-FB72-72A391372AF0}"/>
              </a:ext>
            </a:extLst>
          </p:cNvPr>
          <p:cNvSpPr>
            <a:spLocks noGrp="1"/>
          </p:cNvSpPr>
          <p:nvPr>
            <p:ph type="dt" sz="half" idx="10"/>
          </p:nvPr>
        </p:nvSpPr>
        <p:spPr/>
        <p:txBody>
          <a:bodyPr/>
          <a:lstStyle/>
          <a:p>
            <a:fld id="{8C548C2F-BB0A-42BB-81DE-94EE48AC7F05}" type="datetime1">
              <a:rPr lang="en-US" smtClean="0"/>
              <a:t>10/22/2025</a:t>
            </a:fld>
            <a:endParaRPr lang="en-US"/>
          </a:p>
        </p:txBody>
      </p:sp>
      <p:sp>
        <p:nvSpPr>
          <p:cNvPr id="4" name="Footer Placeholder 3">
            <a:extLst>
              <a:ext uri="{FF2B5EF4-FFF2-40B4-BE49-F238E27FC236}">
                <a16:creationId xmlns:a16="http://schemas.microsoft.com/office/drawing/2014/main" id="{0F13D548-E175-27BF-F464-FC64E27473B5}"/>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46D76198-69FF-B9A1-175F-BE533A9DDAB6}"/>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Title 5">
            <a:extLst>
              <a:ext uri="{FF2B5EF4-FFF2-40B4-BE49-F238E27FC236}">
                <a16:creationId xmlns:a16="http://schemas.microsoft.com/office/drawing/2014/main" id="{9CB95C76-5D5C-EF54-BEFD-09E93A3ADD86}"/>
              </a:ext>
            </a:extLst>
          </p:cNvPr>
          <p:cNvSpPr>
            <a:spLocks noGrp="1"/>
          </p:cNvSpPr>
          <p:nvPr>
            <p:ph type="title"/>
          </p:nvPr>
        </p:nvSpPr>
        <p:spPr/>
        <p:txBody>
          <a:bodyPr/>
          <a:lstStyle/>
          <a:p>
            <a:r>
              <a:rPr lang="en-US" dirty="0"/>
              <a:t>Representing text</a:t>
            </a:r>
          </a:p>
        </p:txBody>
      </p:sp>
    </p:spTree>
    <p:extLst>
      <p:ext uri="{BB962C8B-B14F-4D97-AF65-F5344CB8AC3E}">
        <p14:creationId xmlns:p14="http://schemas.microsoft.com/office/powerpoint/2010/main" val="2765197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9384E8-F6D3-4E97-AC41-53A1A953B9CD}"/>
              </a:ext>
            </a:extLst>
          </p:cNvPr>
          <p:cNvSpPr>
            <a:spLocks noGrp="1"/>
          </p:cNvSpPr>
          <p:nvPr>
            <p:ph idx="1"/>
          </p:nvPr>
        </p:nvSpPr>
        <p:spPr/>
        <p:txBody>
          <a:bodyPr>
            <a:normAutofit/>
          </a:bodyPr>
          <a:lstStyle/>
          <a:p>
            <a:r>
              <a:rPr lang="en-US" dirty="0"/>
              <a:t>Text is a representation of language that helps us communicate and share. </a:t>
            </a:r>
          </a:p>
          <a:p>
            <a:r>
              <a:rPr lang="en-US" dirty="0"/>
              <a:t>Text is a type of unstructured data that cannot directly be used by any of the known algorithms. </a:t>
            </a:r>
          </a:p>
          <a:p>
            <a:r>
              <a:rPr lang="en-US" dirty="0"/>
              <a:t>Machine learning and deep learning algorithms in general work with numbers, matrices, vectors, and so on. </a:t>
            </a:r>
          </a:p>
          <a:p>
            <a:r>
              <a:rPr lang="en-US" dirty="0"/>
              <a:t>How can we represent text for different language-related tasks to work with machine learning model?</a:t>
            </a:r>
          </a:p>
        </p:txBody>
      </p:sp>
      <p:sp>
        <p:nvSpPr>
          <p:cNvPr id="3" name="Date Placeholder 2">
            <a:extLst>
              <a:ext uri="{FF2B5EF4-FFF2-40B4-BE49-F238E27FC236}">
                <a16:creationId xmlns:a16="http://schemas.microsoft.com/office/drawing/2014/main" id="{839C965B-6070-DAE4-287F-24C16E65EC93}"/>
              </a:ext>
            </a:extLst>
          </p:cNvPr>
          <p:cNvSpPr>
            <a:spLocks noGrp="1"/>
          </p:cNvSpPr>
          <p:nvPr>
            <p:ph type="dt" sz="half" idx="10"/>
          </p:nvPr>
        </p:nvSpPr>
        <p:spPr/>
        <p:txBody>
          <a:bodyPr/>
          <a:lstStyle/>
          <a:p>
            <a:fld id="{E836BD39-330E-443C-AE54-2BD22314F77F}" type="datetime1">
              <a:rPr lang="en-US" smtClean="0"/>
              <a:t>10/22/2025</a:t>
            </a:fld>
            <a:endParaRPr lang="en-US"/>
          </a:p>
        </p:txBody>
      </p:sp>
      <p:sp>
        <p:nvSpPr>
          <p:cNvPr id="4" name="Footer Placeholder 3">
            <a:extLst>
              <a:ext uri="{FF2B5EF4-FFF2-40B4-BE49-F238E27FC236}">
                <a16:creationId xmlns:a16="http://schemas.microsoft.com/office/drawing/2014/main" id="{5AC4D0ED-2352-79F3-7473-B3C72F12A19B}"/>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A333BF3F-B400-D28C-B80B-090672F2F619}"/>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6" name="Title 5">
            <a:extLst>
              <a:ext uri="{FF2B5EF4-FFF2-40B4-BE49-F238E27FC236}">
                <a16:creationId xmlns:a16="http://schemas.microsoft.com/office/drawing/2014/main" id="{881BF362-30F0-E2AA-9AE4-4E0DC5B5ED04}"/>
              </a:ext>
            </a:extLst>
          </p:cNvPr>
          <p:cNvSpPr>
            <a:spLocks noGrp="1"/>
          </p:cNvSpPr>
          <p:nvPr>
            <p:ph type="title"/>
          </p:nvPr>
        </p:nvSpPr>
        <p:spPr/>
        <p:txBody>
          <a:bodyPr/>
          <a:lstStyle/>
          <a:p>
            <a:r>
              <a:rPr lang="en-US" dirty="0"/>
              <a:t>Representing text</a:t>
            </a:r>
          </a:p>
        </p:txBody>
      </p:sp>
    </p:spTree>
    <p:extLst>
      <p:ext uri="{BB962C8B-B14F-4D97-AF65-F5344CB8AC3E}">
        <p14:creationId xmlns:p14="http://schemas.microsoft.com/office/powerpoint/2010/main" val="179522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082CEC-AE80-CAA0-D8B4-846A10CB0996}"/>
              </a:ext>
            </a:extLst>
          </p:cNvPr>
          <p:cNvSpPr>
            <a:spLocks noGrp="1"/>
          </p:cNvSpPr>
          <p:nvPr>
            <p:ph idx="1"/>
          </p:nvPr>
        </p:nvSpPr>
        <p:spPr/>
        <p:txBody>
          <a:bodyPr>
            <a:normAutofit/>
          </a:bodyPr>
          <a:lstStyle/>
          <a:p>
            <a:pPr marL="263913" marR="4483" indent="-253266">
              <a:spcBef>
                <a:spcPts val="84"/>
              </a:spcBef>
              <a:buChar char="•"/>
              <a:tabLst>
                <a:tab pos="263913" algn="l"/>
                <a:tab pos="264473" algn="l"/>
              </a:tabLst>
            </a:pPr>
            <a:r>
              <a:rPr lang="en-US" sz="2800" spc="-13" dirty="0">
                <a:latin typeface="Arial MT"/>
                <a:cs typeface="Arial MT"/>
              </a:rPr>
              <a:t>Word</a:t>
            </a:r>
            <a:r>
              <a:rPr lang="en-US" sz="2800" spc="4" dirty="0">
                <a:latin typeface="Arial MT"/>
                <a:cs typeface="Arial MT"/>
              </a:rPr>
              <a:t> </a:t>
            </a:r>
            <a:r>
              <a:rPr lang="en-US" sz="2800" spc="-4" dirty="0">
                <a:latin typeface="Arial MT"/>
                <a:cs typeface="Arial MT"/>
              </a:rPr>
              <a:t>Embeddings</a:t>
            </a:r>
            <a:r>
              <a:rPr lang="en-US" sz="2800" spc="18" dirty="0">
                <a:latin typeface="Arial MT"/>
                <a:cs typeface="Arial MT"/>
              </a:rPr>
              <a:t> </a:t>
            </a:r>
            <a:r>
              <a:rPr lang="en-US" sz="2800" spc="-4" dirty="0">
                <a:latin typeface="Arial MT"/>
                <a:cs typeface="Arial MT"/>
              </a:rPr>
              <a:t>are</a:t>
            </a:r>
            <a:r>
              <a:rPr lang="en-US" sz="2800" spc="4" dirty="0">
                <a:latin typeface="Arial MT"/>
                <a:cs typeface="Arial MT"/>
              </a:rPr>
              <a:t> </a:t>
            </a:r>
            <a:r>
              <a:rPr lang="en-US" sz="2800" spc="-4" dirty="0">
                <a:latin typeface="Arial MT"/>
                <a:cs typeface="Arial MT"/>
              </a:rPr>
              <a:t>the</a:t>
            </a:r>
            <a:r>
              <a:rPr lang="en-US" sz="2800" spc="9" dirty="0">
                <a:latin typeface="Arial MT"/>
                <a:cs typeface="Arial MT"/>
              </a:rPr>
              <a:t> </a:t>
            </a:r>
            <a:r>
              <a:rPr lang="en-US" sz="2800" dirty="0">
                <a:latin typeface="Arial MT"/>
                <a:cs typeface="Arial MT"/>
              </a:rPr>
              <a:t>texts</a:t>
            </a:r>
            <a:r>
              <a:rPr lang="en-US" sz="2800" spc="-18" dirty="0">
                <a:latin typeface="Arial MT"/>
                <a:cs typeface="Arial MT"/>
              </a:rPr>
              <a:t> </a:t>
            </a:r>
            <a:r>
              <a:rPr lang="en-US" sz="2800" dirty="0">
                <a:latin typeface="Arial MT"/>
                <a:cs typeface="Arial MT"/>
              </a:rPr>
              <a:t>converted</a:t>
            </a:r>
            <a:r>
              <a:rPr lang="en-US" sz="2800" spc="4" dirty="0">
                <a:latin typeface="Arial MT"/>
                <a:cs typeface="Arial MT"/>
              </a:rPr>
              <a:t> </a:t>
            </a:r>
            <a:r>
              <a:rPr lang="en-US" sz="2800" spc="-4" dirty="0">
                <a:latin typeface="Arial MT"/>
                <a:cs typeface="Arial MT"/>
              </a:rPr>
              <a:t>into some </a:t>
            </a:r>
            <a:r>
              <a:rPr lang="en-US" sz="2800" spc="-675" dirty="0">
                <a:latin typeface="Arial MT"/>
                <a:cs typeface="Arial MT"/>
              </a:rPr>
              <a:t> </a:t>
            </a:r>
            <a:r>
              <a:rPr lang="en-US" sz="2800" spc="-4" dirty="0">
                <a:latin typeface="Arial MT"/>
                <a:cs typeface="Arial MT"/>
              </a:rPr>
              <a:t>number representation</a:t>
            </a:r>
          </a:p>
          <a:p>
            <a:pPr marL="663963" marR="4483" lvl="1" indent="-253266">
              <a:spcBef>
                <a:spcPts val="84"/>
              </a:spcBef>
              <a:buFont typeface="Arial" pitchFamily="34" charset="0"/>
              <a:buChar char="•"/>
              <a:tabLst>
                <a:tab pos="263913" algn="l"/>
                <a:tab pos="264473" algn="l"/>
              </a:tabLst>
            </a:pPr>
            <a:r>
              <a:rPr lang="en-US" dirty="0"/>
              <a:t>words or phrases from the vocabulary are mapped to vectors of real numbers in a low-dimensional space relative to the vocabulary size</a:t>
            </a:r>
          </a:p>
          <a:p>
            <a:pPr marL="663963" marR="4483" lvl="1" indent="-253266">
              <a:spcBef>
                <a:spcPts val="84"/>
              </a:spcBef>
              <a:buFont typeface="Arial" pitchFamily="34" charset="0"/>
              <a:buChar char="•"/>
              <a:tabLst>
                <a:tab pos="263913" algn="l"/>
                <a:tab pos="264473" algn="l"/>
              </a:tabLst>
            </a:pPr>
            <a:r>
              <a:rPr lang="en-US" dirty="0"/>
              <a:t>Referred to as an embedding space.</a:t>
            </a:r>
          </a:p>
          <a:p>
            <a:r>
              <a:rPr lang="en-US" dirty="0"/>
              <a:t>It allows words with similar meanings to have a similar representation. </a:t>
            </a:r>
          </a:p>
          <a:p>
            <a:r>
              <a:rPr lang="en-US" b="0" i="0" dirty="0">
                <a:solidFill>
                  <a:srgbClr val="111111"/>
                </a:solidFill>
                <a:effectLst/>
                <a:latin typeface="open sans" panose="020B0606030504020204" pitchFamily="34" charset="0"/>
              </a:rPr>
              <a:t>Word embeddings aim to capture the semantic meaning of words in a sequence of text.</a:t>
            </a:r>
            <a:endParaRPr lang="en-US" dirty="0"/>
          </a:p>
        </p:txBody>
      </p:sp>
      <p:sp>
        <p:nvSpPr>
          <p:cNvPr id="3" name="Date Placeholder 2">
            <a:extLst>
              <a:ext uri="{FF2B5EF4-FFF2-40B4-BE49-F238E27FC236}">
                <a16:creationId xmlns:a16="http://schemas.microsoft.com/office/drawing/2014/main" id="{926D76A9-425F-5BF0-0B1B-017F19652B14}"/>
              </a:ext>
            </a:extLst>
          </p:cNvPr>
          <p:cNvSpPr>
            <a:spLocks noGrp="1"/>
          </p:cNvSpPr>
          <p:nvPr>
            <p:ph type="dt" sz="half" idx="10"/>
          </p:nvPr>
        </p:nvSpPr>
        <p:spPr/>
        <p:txBody>
          <a:bodyPr/>
          <a:lstStyle/>
          <a:p>
            <a:fld id="{028028EF-BBE8-4101-BABB-C7182592F525}" type="datetime1">
              <a:rPr lang="en-US" smtClean="0"/>
              <a:t>10/22/2025</a:t>
            </a:fld>
            <a:endParaRPr lang="en-US"/>
          </a:p>
        </p:txBody>
      </p:sp>
      <p:sp>
        <p:nvSpPr>
          <p:cNvPr id="4" name="Footer Placeholder 3">
            <a:extLst>
              <a:ext uri="{FF2B5EF4-FFF2-40B4-BE49-F238E27FC236}">
                <a16:creationId xmlns:a16="http://schemas.microsoft.com/office/drawing/2014/main" id="{7BAC1E96-76FF-DEEE-C214-E0ED010B51E5}"/>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DC82E347-6B29-2E67-6C18-C9978B0DCD59}"/>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Title 5">
            <a:extLst>
              <a:ext uri="{FF2B5EF4-FFF2-40B4-BE49-F238E27FC236}">
                <a16:creationId xmlns:a16="http://schemas.microsoft.com/office/drawing/2014/main" id="{5C53AF30-03BC-4A50-4C47-9A93E1852C9A}"/>
              </a:ext>
            </a:extLst>
          </p:cNvPr>
          <p:cNvSpPr>
            <a:spLocks noGrp="1"/>
          </p:cNvSpPr>
          <p:nvPr>
            <p:ph type="title"/>
          </p:nvPr>
        </p:nvSpPr>
        <p:spPr/>
        <p:txBody>
          <a:bodyPr/>
          <a:lstStyle/>
          <a:p>
            <a:r>
              <a:rPr lang="en-US" sz="3600" spc="-13" dirty="0">
                <a:latin typeface="Arial MT"/>
                <a:cs typeface="Arial MT"/>
              </a:rPr>
              <a:t>Word</a:t>
            </a:r>
            <a:r>
              <a:rPr lang="en-US" sz="3600" spc="4" dirty="0">
                <a:latin typeface="Arial MT"/>
                <a:cs typeface="Arial MT"/>
              </a:rPr>
              <a:t> </a:t>
            </a:r>
            <a:r>
              <a:rPr lang="en-US" sz="3600" spc="-4" dirty="0">
                <a:latin typeface="Arial MT"/>
                <a:cs typeface="Arial MT"/>
              </a:rPr>
              <a:t>Embeddings</a:t>
            </a:r>
            <a:endParaRPr lang="en-US" dirty="0"/>
          </a:p>
        </p:txBody>
      </p:sp>
    </p:spTree>
    <p:extLst>
      <p:ext uri="{BB962C8B-B14F-4D97-AF65-F5344CB8AC3E}">
        <p14:creationId xmlns:p14="http://schemas.microsoft.com/office/powerpoint/2010/main" val="565948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FB63B0-0B64-8C82-C0AB-0C6E74367044}"/>
              </a:ext>
            </a:extLst>
          </p:cNvPr>
          <p:cNvSpPr>
            <a:spLocks noGrp="1"/>
          </p:cNvSpPr>
          <p:nvPr>
            <p:ph idx="1"/>
          </p:nvPr>
        </p:nvSpPr>
        <p:spPr/>
        <p:txBody>
          <a:bodyPr>
            <a:normAutofit/>
          </a:bodyPr>
          <a:lstStyle/>
          <a:p>
            <a:r>
              <a:rPr lang="en-US" dirty="0"/>
              <a:t>The input text needs to be tokenized.</a:t>
            </a:r>
          </a:p>
          <a:p>
            <a:r>
              <a:rPr lang="en-US" dirty="0"/>
              <a:t>Tokenization is the process of converting a sequence (sentence) into tokens (word). </a:t>
            </a:r>
          </a:p>
          <a:p>
            <a:r>
              <a:rPr lang="en-US" dirty="0"/>
              <a:t>These tokens can be words, </a:t>
            </a:r>
            <a:r>
              <a:rPr lang="en-US" dirty="0" err="1"/>
              <a:t>subwords</a:t>
            </a:r>
            <a:r>
              <a:rPr lang="en-US" dirty="0"/>
              <a:t>, or even characters, depending on the level of tokenization applied. </a:t>
            </a:r>
          </a:p>
          <a:p>
            <a:r>
              <a:rPr lang="en-US" dirty="0"/>
              <a:t>For example, the sentence </a:t>
            </a:r>
            <a:r>
              <a:rPr lang="en-US" b="0" i="0" dirty="0">
                <a:solidFill>
                  <a:srgbClr val="0D0D0D"/>
                </a:solidFill>
                <a:effectLst/>
                <a:latin typeface="Söhne"/>
              </a:rPr>
              <a:t>"Cats love fish.“ This can be converted into token: ["Cats", "love", "fish"]</a:t>
            </a:r>
          </a:p>
          <a:p>
            <a:r>
              <a:rPr lang="en-US" b="0" i="0" dirty="0">
                <a:solidFill>
                  <a:srgbClr val="0D0D0D"/>
                </a:solidFill>
                <a:effectLst/>
                <a:latin typeface="Söhne"/>
              </a:rPr>
              <a:t>These tokens are then converted into a numerical representation.</a:t>
            </a:r>
            <a:endParaRPr lang="en-US" dirty="0"/>
          </a:p>
        </p:txBody>
      </p:sp>
      <p:sp>
        <p:nvSpPr>
          <p:cNvPr id="3" name="Date Placeholder 2">
            <a:extLst>
              <a:ext uri="{FF2B5EF4-FFF2-40B4-BE49-F238E27FC236}">
                <a16:creationId xmlns:a16="http://schemas.microsoft.com/office/drawing/2014/main" id="{F4C4CA2C-882C-6D8D-33A0-71D26742FE5B}"/>
              </a:ext>
            </a:extLst>
          </p:cNvPr>
          <p:cNvSpPr>
            <a:spLocks noGrp="1"/>
          </p:cNvSpPr>
          <p:nvPr>
            <p:ph type="dt" sz="half" idx="10"/>
          </p:nvPr>
        </p:nvSpPr>
        <p:spPr/>
        <p:txBody>
          <a:bodyPr/>
          <a:lstStyle/>
          <a:p>
            <a:fld id="{3A998D54-AA3B-47CB-B551-5D8C70A0D0F9}" type="datetime1">
              <a:rPr lang="en-US" smtClean="0"/>
              <a:t>10/22/2025</a:t>
            </a:fld>
            <a:endParaRPr lang="en-US"/>
          </a:p>
        </p:txBody>
      </p:sp>
      <p:sp>
        <p:nvSpPr>
          <p:cNvPr id="4" name="Footer Placeholder 3">
            <a:extLst>
              <a:ext uri="{FF2B5EF4-FFF2-40B4-BE49-F238E27FC236}">
                <a16:creationId xmlns:a16="http://schemas.microsoft.com/office/drawing/2014/main" id="{E2446E11-D4FD-B342-C91C-232ED95FA00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B5893B01-3C72-F79A-1221-2D594B9B1073}"/>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6" name="Title 5">
            <a:extLst>
              <a:ext uri="{FF2B5EF4-FFF2-40B4-BE49-F238E27FC236}">
                <a16:creationId xmlns:a16="http://schemas.microsoft.com/office/drawing/2014/main" id="{69601479-FD5F-FDC1-EB03-B369AC1D9119}"/>
              </a:ext>
            </a:extLst>
          </p:cNvPr>
          <p:cNvSpPr>
            <a:spLocks noGrp="1"/>
          </p:cNvSpPr>
          <p:nvPr>
            <p:ph type="title"/>
          </p:nvPr>
        </p:nvSpPr>
        <p:spPr/>
        <p:txBody>
          <a:bodyPr/>
          <a:lstStyle/>
          <a:p>
            <a:r>
              <a:rPr lang="en-US" sz="3600" spc="-13" dirty="0">
                <a:latin typeface="Arial MT"/>
                <a:cs typeface="Arial MT"/>
              </a:rPr>
              <a:t>Word</a:t>
            </a:r>
            <a:r>
              <a:rPr lang="en-US" sz="3600" spc="4" dirty="0">
                <a:latin typeface="Arial MT"/>
                <a:cs typeface="Arial MT"/>
              </a:rPr>
              <a:t> </a:t>
            </a:r>
            <a:r>
              <a:rPr lang="en-US" sz="3600" spc="-4" dirty="0">
                <a:latin typeface="Arial MT"/>
                <a:cs typeface="Arial MT"/>
              </a:rPr>
              <a:t>Embeddings</a:t>
            </a:r>
            <a:endParaRPr lang="en-US" dirty="0"/>
          </a:p>
        </p:txBody>
      </p:sp>
    </p:spTree>
    <p:extLst>
      <p:ext uri="{BB962C8B-B14F-4D97-AF65-F5344CB8AC3E}">
        <p14:creationId xmlns:p14="http://schemas.microsoft.com/office/powerpoint/2010/main" val="288244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F8427B6E-41DF-0364-7748-0C0E49081568}"/>
              </a:ext>
            </a:extLst>
          </p:cNvPr>
          <p:cNvSpPr>
            <a:spLocks noGrp="1"/>
          </p:cNvSpPr>
          <p:nvPr>
            <p:ph idx="1"/>
          </p:nvPr>
        </p:nvSpPr>
        <p:spPr/>
        <p:txBody>
          <a:bodyPr/>
          <a:lstStyle/>
          <a:p>
            <a:pPr marL="313781" indent="-302575">
              <a:spcBef>
                <a:spcPts val="507"/>
              </a:spcBef>
              <a:buChar char="•"/>
              <a:tabLst>
                <a:tab pos="313221" algn="l"/>
                <a:tab pos="313781" algn="l"/>
              </a:tabLst>
            </a:pPr>
            <a:r>
              <a:rPr lang="en-US" sz="2118" spc="-4" dirty="0">
                <a:latin typeface="Arial MT"/>
                <a:cs typeface="Arial MT"/>
              </a:rPr>
              <a:t> Frequency-based</a:t>
            </a:r>
            <a:r>
              <a:rPr lang="en-US" sz="2118" spc="-9" dirty="0">
                <a:latin typeface="Arial MT"/>
                <a:cs typeface="Arial MT"/>
              </a:rPr>
              <a:t> </a:t>
            </a:r>
            <a:r>
              <a:rPr lang="en-US" sz="2118" spc="-4" dirty="0">
                <a:latin typeface="Arial MT"/>
                <a:cs typeface="Arial MT"/>
              </a:rPr>
              <a:t>Embedding</a:t>
            </a:r>
            <a:endParaRPr lang="en-US" sz="2118" dirty="0">
              <a:latin typeface="Arial MT"/>
              <a:cs typeface="Arial MT"/>
            </a:endParaRPr>
          </a:p>
          <a:p>
            <a:pPr marL="667346" lvl="1" indent="-253827">
              <a:spcBef>
                <a:spcPts val="507"/>
              </a:spcBef>
              <a:buChar char="–"/>
              <a:tabLst>
                <a:tab pos="667906" algn="l"/>
              </a:tabLst>
            </a:pPr>
            <a:r>
              <a:rPr lang="en-US" sz="2118" spc="-4" dirty="0">
                <a:latin typeface="Arial MT"/>
                <a:cs typeface="Arial MT"/>
              </a:rPr>
              <a:t>Count</a:t>
            </a:r>
            <a:r>
              <a:rPr lang="en-US" sz="2118" spc="-13" dirty="0">
                <a:latin typeface="Arial MT"/>
                <a:cs typeface="Arial MT"/>
              </a:rPr>
              <a:t> </a:t>
            </a:r>
            <a:r>
              <a:rPr lang="en-US" sz="2118" spc="-26" dirty="0">
                <a:latin typeface="Arial MT"/>
                <a:cs typeface="Arial MT"/>
              </a:rPr>
              <a:t>Vector</a:t>
            </a:r>
            <a:endParaRPr lang="en-US" sz="2118" dirty="0">
              <a:latin typeface="Arial MT"/>
              <a:cs typeface="Arial MT"/>
            </a:endParaRPr>
          </a:p>
          <a:p>
            <a:pPr marL="667346" lvl="1" indent="-253827">
              <a:spcBef>
                <a:spcPts val="507"/>
              </a:spcBef>
              <a:buChar char="–"/>
              <a:tabLst>
                <a:tab pos="667906" algn="l"/>
              </a:tabLst>
            </a:pPr>
            <a:r>
              <a:rPr lang="en-US" sz="2118" spc="-4" dirty="0">
                <a:latin typeface="Arial MT"/>
                <a:cs typeface="Arial MT"/>
              </a:rPr>
              <a:t>TF-IDF</a:t>
            </a:r>
            <a:r>
              <a:rPr lang="en-US" sz="2118" spc="-44" dirty="0">
                <a:latin typeface="Arial MT"/>
                <a:cs typeface="Arial MT"/>
              </a:rPr>
              <a:t> </a:t>
            </a:r>
            <a:r>
              <a:rPr lang="en-US" sz="2118" spc="-26" dirty="0">
                <a:latin typeface="Arial MT"/>
                <a:cs typeface="Arial MT"/>
              </a:rPr>
              <a:t>Vector</a:t>
            </a:r>
            <a:endParaRPr lang="en-US" sz="2118" dirty="0">
              <a:latin typeface="Arial MT"/>
              <a:cs typeface="Arial MT"/>
            </a:endParaRPr>
          </a:p>
          <a:p>
            <a:pPr marL="667346" lvl="1" indent="-253827">
              <a:spcBef>
                <a:spcPts val="507"/>
              </a:spcBef>
              <a:buChar char="–"/>
              <a:tabLst>
                <a:tab pos="667906" algn="l"/>
              </a:tabLst>
            </a:pPr>
            <a:r>
              <a:rPr lang="en-US" sz="2118" spc="-4" dirty="0">
                <a:latin typeface="Arial MT"/>
                <a:cs typeface="Arial MT"/>
              </a:rPr>
              <a:t>Co-occurrence</a:t>
            </a:r>
            <a:r>
              <a:rPr lang="en-US" sz="2118" spc="13" dirty="0">
                <a:latin typeface="Arial MT"/>
                <a:cs typeface="Arial MT"/>
              </a:rPr>
              <a:t> </a:t>
            </a:r>
            <a:r>
              <a:rPr lang="en-US" sz="2118" spc="-26" dirty="0">
                <a:latin typeface="Arial MT"/>
                <a:cs typeface="Arial MT"/>
              </a:rPr>
              <a:t>Vector</a:t>
            </a:r>
            <a:r>
              <a:rPr lang="en-US" sz="2118" spc="-9" dirty="0">
                <a:latin typeface="Arial MT"/>
                <a:cs typeface="Arial MT"/>
              </a:rPr>
              <a:t> </a:t>
            </a:r>
            <a:r>
              <a:rPr lang="en-US" sz="2118" spc="-4" dirty="0">
                <a:latin typeface="Arial MT"/>
                <a:cs typeface="Arial MT"/>
              </a:rPr>
              <a:t>(Matrix)</a:t>
            </a:r>
            <a:endParaRPr lang="en-US" sz="2118" dirty="0">
              <a:latin typeface="Arial MT"/>
              <a:cs typeface="Arial MT"/>
            </a:endParaRPr>
          </a:p>
          <a:p>
            <a:pPr marL="313781" indent="-302575">
              <a:spcBef>
                <a:spcPts val="512"/>
              </a:spcBef>
              <a:buChar char="•"/>
              <a:tabLst>
                <a:tab pos="313221" algn="l"/>
                <a:tab pos="313781" algn="l"/>
              </a:tabLst>
            </a:pPr>
            <a:r>
              <a:rPr lang="en-US" sz="2118" spc="-4" dirty="0">
                <a:latin typeface="Arial MT"/>
                <a:cs typeface="Arial MT"/>
              </a:rPr>
              <a:t> Prediction-based</a:t>
            </a:r>
            <a:r>
              <a:rPr lang="en-US" sz="2118" spc="-9" dirty="0">
                <a:latin typeface="Arial MT"/>
                <a:cs typeface="Arial MT"/>
              </a:rPr>
              <a:t> </a:t>
            </a:r>
            <a:r>
              <a:rPr lang="en-US" sz="2118" spc="-4" dirty="0">
                <a:latin typeface="Arial MT"/>
                <a:cs typeface="Arial MT"/>
              </a:rPr>
              <a:t>Embedding</a:t>
            </a:r>
            <a:endParaRPr lang="en-US" sz="2118" dirty="0">
              <a:latin typeface="Arial MT"/>
              <a:cs typeface="Arial MT"/>
            </a:endParaRPr>
          </a:p>
          <a:p>
            <a:pPr marL="667346" lvl="1" indent="-253827">
              <a:spcBef>
                <a:spcPts val="507"/>
              </a:spcBef>
              <a:buChar char="–"/>
              <a:tabLst>
                <a:tab pos="667906" algn="l"/>
              </a:tabLst>
            </a:pPr>
            <a:r>
              <a:rPr lang="en-US" sz="2118" spc="-26" dirty="0">
                <a:latin typeface="Arial MT"/>
                <a:cs typeface="Arial MT"/>
              </a:rPr>
              <a:t>Word2Vec</a:t>
            </a:r>
            <a:r>
              <a:rPr lang="en-US" sz="2118" spc="-4" dirty="0">
                <a:latin typeface="Arial MT"/>
                <a:cs typeface="Arial MT"/>
              </a:rPr>
              <a:t> </a:t>
            </a:r>
            <a:r>
              <a:rPr lang="en-US" sz="2118" dirty="0">
                <a:latin typeface="Arial MT"/>
                <a:cs typeface="Arial MT"/>
              </a:rPr>
              <a:t>-</a:t>
            </a:r>
            <a:r>
              <a:rPr lang="en-US" sz="2118" spc="-22" dirty="0">
                <a:latin typeface="Arial MT"/>
                <a:cs typeface="Arial MT"/>
              </a:rPr>
              <a:t> </a:t>
            </a:r>
            <a:r>
              <a:rPr lang="en-US" sz="2118" spc="-4" dirty="0">
                <a:latin typeface="Arial MT"/>
                <a:cs typeface="Arial MT"/>
              </a:rPr>
              <a:t>Google</a:t>
            </a:r>
            <a:endParaRPr lang="en-US" sz="2118" dirty="0">
              <a:latin typeface="Arial MT"/>
              <a:cs typeface="Arial MT"/>
            </a:endParaRPr>
          </a:p>
          <a:p>
            <a:pPr marL="667346" lvl="1" indent="-253827">
              <a:spcBef>
                <a:spcPts val="507"/>
              </a:spcBef>
              <a:buChar char="–"/>
              <a:tabLst>
                <a:tab pos="667906" algn="l"/>
              </a:tabLst>
            </a:pPr>
            <a:r>
              <a:rPr lang="en-US" sz="2118" spc="-4" dirty="0">
                <a:latin typeface="Arial MT"/>
                <a:cs typeface="Arial MT"/>
              </a:rPr>
              <a:t>Glove(Global</a:t>
            </a:r>
            <a:r>
              <a:rPr lang="en-US" sz="2118" spc="18" dirty="0">
                <a:latin typeface="Arial MT"/>
                <a:cs typeface="Arial MT"/>
              </a:rPr>
              <a:t> </a:t>
            </a:r>
            <a:r>
              <a:rPr lang="en-US" sz="2118" spc="-22" dirty="0">
                <a:latin typeface="Arial MT"/>
                <a:cs typeface="Arial MT"/>
              </a:rPr>
              <a:t>Vectors</a:t>
            </a:r>
            <a:r>
              <a:rPr lang="en-US" sz="2118" spc="-9" dirty="0">
                <a:latin typeface="Arial MT"/>
                <a:cs typeface="Arial MT"/>
              </a:rPr>
              <a:t> </a:t>
            </a:r>
            <a:r>
              <a:rPr lang="en-US" sz="2118" spc="-4" dirty="0">
                <a:latin typeface="Arial MT"/>
                <a:cs typeface="Arial MT"/>
              </a:rPr>
              <a:t>for</a:t>
            </a:r>
            <a:r>
              <a:rPr lang="en-US" sz="2118" dirty="0">
                <a:latin typeface="Arial MT"/>
                <a:cs typeface="Arial MT"/>
              </a:rPr>
              <a:t> </a:t>
            </a:r>
            <a:r>
              <a:rPr lang="en-US" sz="2118" spc="-4" dirty="0">
                <a:latin typeface="Arial MT"/>
                <a:cs typeface="Arial MT"/>
              </a:rPr>
              <a:t>word</a:t>
            </a:r>
            <a:r>
              <a:rPr lang="en-US" sz="2118" dirty="0">
                <a:latin typeface="Arial MT"/>
                <a:cs typeface="Arial MT"/>
              </a:rPr>
              <a:t> </a:t>
            </a:r>
            <a:r>
              <a:rPr lang="en-US" sz="2118" spc="-4" dirty="0">
                <a:latin typeface="Arial MT"/>
                <a:cs typeface="Arial MT"/>
              </a:rPr>
              <a:t>representation)</a:t>
            </a:r>
            <a:r>
              <a:rPr lang="en-US" sz="2118" spc="22" dirty="0">
                <a:latin typeface="Arial MT"/>
                <a:cs typeface="Arial MT"/>
              </a:rPr>
              <a:t> </a:t>
            </a:r>
            <a:r>
              <a:rPr lang="en-US" sz="2118" dirty="0">
                <a:latin typeface="Arial MT"/>
                <a:cs typeface="Arial MT"/>
              </a:rPr>
              <a:t>-</a:t>
            </a:r>
            <a:r>
              <a:rPr lang="en-US" sz="2118" spc="-4" dirty="0">
                <a:latin typeface="Arial MT"/>
                <a:cs typeface="Arial MT"/>
              </a:rPr>
              <a:t> Stanford</a:t>
            </a:r>
            <a:endParaRPr lang="en-US" sz="2118" dirty="0">
              <a:latin typeface="Arial MT"/>
              <a:cs typeface="Arial MT"/>
            </a:endParaRPr>
          </a:p>
          <a:p>
            <a:endParaRPr lang="en-US" dirty="0"/>
          </a:p>
        </p:txBody>
      </p:sp>
      <p:sp>
        <p:nvSpPr>
          <p:cNvPr id="15" name="object 15"/>
          <p:cNvSpPr txBox="1">
            <a:spLocks noGrp="1"/>
          </p:cNvSpPr>
          <p:nvPr>
            <p:ph type="dt" sz="half" idx="10"/>
          </p:nvPr>
        </p:nvSpPr>
        <p:spPr>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AED7E3C5-823C-4D4E-A881-4134D116B645}" type="datetime1">
              <a:rPr lang="en-US" spc="-9" smtClean="0"/>
              <a:t>10/22/2025</a:t>
            </a:fld>
            <a:endParaRPr spc="-9" dirty="0"/>
          </a:p>
        </p:txBody>
      </p:sp>
      <p:sp>
        <p:nvSpPr>
          <p:cNvPr id="16" name="object 16"/>
          <p:cNvSpPr txBox="1">
            <a:spLocks noGrp="1"/>
          </p:cNvSpPr>
          <p:nvPr>
            <p:ph type="ftr" sz="quarter" idx="11"/>
          </p:nvPr>
        </p:nvSpPr>
        <p:spPr>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
        <p:nvSpPr>
          <p:cNvPr id="14" name="object 14"/>
          <p:cNvSpPr txBox="1">
            <a:spLocks noGrp="1"/>
          </p:cNvSpPr>
          <p:nvPr>
            <p:ph type="sldNum" sz="quarter" idx="12"/>
          </p:nvPr>
        </p:nvSpPr>
        <p:spPr>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18</a:t>
            </a:fld>
            <a:endParaRPr dirty="0"/>
          </a:p>
        </p:txBody>
      </p:sp>
      <p:sp>
        <p:nvSpPr>
          <p:cNvPr id="11" name="object 11"/>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35" dirty="0"/>
              <a:t>Types </a:t>
            </a:r>
            <a:r>
              <a:rPr spc="-4" dirty="0"/>
              <a:t>of</a:t>
            </a:r>
            <a:r>
              <a:rPr spc="-31" dirty="0"/>
              <a:t> </a:t>
            </a:r>
            <a:r>
              <a:rPr spc="-18" dirty="0"/>
              <a:t>Word</a:t>
            </a:r>
            <a:r>
              <a:rPr spc="-31" dirty="0"/>
              <a:t> </a:t>
            </a:r>
            <a:r>
              <a:rPr spc="-4" dirty="0"/>
              <a:t>Embeddings</a:t>
            </a:r>
          </a:p>
        </p:txBody>
      </p:sp>
      <p:sp>
        <p:nvSpPr>
          <p:cNvPr id="12" name="object 12"/>
          <p:cNvSpPr txBox="1"/>
          <p:nvPr/>
        </p:nvSpPr>
        <p:spPr>
          <a:xfrm>
            <a:off x="2162281" y="973247"/>
            <a:ext cx="7408209" cy="402302"/>
          </a:xfrm>
          <a:prstGeom prst="rect">
            <a:avLst/>
          </a:prstGeom>
        </p:spPr>
        <p:txBody>
          <a:bodyPr vert="horz" wrap="square" lIns="0" tIns="75640" rIns="0" bIns="0" rtlCol="0">
            <a:spAutoFit/>
          </a:bodyPr>
          <a:lstStyle/>
          <a:p>
            <a:pPr marL="313781" indent="-302575">
              <a:spcBef>
                <a:spcPts val="596"/>
              </a:spcBef>
              <a:buChar char="•"/>
              <a:tabLst>
                <a:tab pos="313221" algn="l"/>
                <a:tab pos="313781" algn="l"/>
              </a:tabLst>
            </a:pPr>
            <a:endParaRPr sz="2118"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51055A88-D798-1DCB-5DDF-717635DD3EF3}"/>
              </a:ext>
            </a:extLst>
          </p:cNvPr>
          <p:cNvSpPr>
            <a:spLocks noGrp="1"/>
          </p:cNvSpPr>
          <p:nvPr>
            <p:ph idx="1"/>
          </p:nvPr>
        </p:nvSpPr>
        <p:spPr/>
        <p:txBody>
          <a:bodyPr/>
          <a:lstStyle/>
          <a:p>
            <a:pPr marL="313781" indent="-302575">
              <a:spcBef>
                <a:spcPts val="552"/>
              </a:spcBef>
              <a:buChar char="•"/>
              <a:tabLst>
                <a:tab pos="313221" algn="l"/>
                <a:tab pos="313781" algn="l"/>
              </a:tabLst>
            </a:pPr>
            <a:r>
              <a:rPr lang="en-US" sz="2800" spc="-4" dirty="0">
                <a:latin typeface="Arial MT"/>
                <a:cs typeface="Arial MT"/>
              </a:rPr>
              <a:t>Define</a:t>
            </a:r>
            <a:r>
              <a:rPr lang="en-US" sz="2800" spc="-13" dirty="0">
                <a:latin typeface="Arial MT"/>
                <a:cs typeface="Arial MT"/>
              </a:rPr>
              <a:t> </a:t>
            </a:r>
            <a:r>
              <a:rPr lang="en-US" sz="2800" spc="-4" dirty="0">
                <a:latin typeface="Arial MT"/>
                <a:cs typeface="Arial MT"/>
              </a:rPr>
              <a:t>a</a:t>
            </a:r>
            <a:r>
              <a:rPr lang="en-US" sz="2800" spc="-13" dirty="0">
                <a:latin typeface="Arial MT"/>
                <a:cs typeface="Arial MT"/>
              </a:rPr>
              <a:t> Vocabulary</a:t>
            </a:r>
            <a:r>
              <a:rPr lang="en-US" sz="2800" spc="-4" dirty="0">
                <a:latin typeface="Arial MT"/>
                <a:cs typeface="Arial MT"/>
              </a:rPr>
              <a:t> of</a:t>
            </a:r>
            <a:r>
              <a:rPr lang="en-US" sz="2800" spc="-13" dirty="0">
                <a:latin typeface="Arial MT"/>
                <a:cs typeface="Arial MT"/>
              </a:rPr>
              <a:t> </a:t>
            </a:r>
            <a:r>
              <a:rPr lang="en-US" sz="2800" spc="-9" dirty="0">
                <a:latin typeface="Arial MT"/>
                <a:cs typeface="Arial MT"/>
              </a:rPr>
              <a:t>Words</a:t>
            </a:r>
            <a:endParaRPr lang="en-US" sz="2800" dirty="0">
              <a:latin typeface="Arial MT"/>
              <a:cs typeface="Arial MT"/>
            </a:endParaRPr>
          </a:p>
          <a:p>
            <a:pPr marL="313781" indent="-302575">
              <a:spcBef>
                <a:spcPts val="468"/>
              </a:spcBef>
              <a:buChar char="•"/>
              <a:tabLst>
                <a:tab pos="313221" algn="l"/>
                <a:tab pos="313781" algn="l"/>
              </a:tabLst>
            </a:pPr>
            <a:r>
              <a:rPr lang="en-US" sz="2800" spc="-4" dirty="0">
                <a:latin typeface="Arial MT"/>
                <a:cs typeface="Arial MT"/>
              </a:rPr>
              <a:t>Use</a:t>
            </a:r>
            <a:r>
              <a:rPr lang="en-US" sz="2800" spc="-13" dirty="0">
                <a:latin typeface="Arial MT"/>
                <a:cs typeface="Arial MT"/>
              </a:rPr>
              <a:t> </a:t>
            </a:r>
            <a:r>
              <a:rPr lang="en-US" sz="2800" spc="-4" dirty="0">
                <a:solidFill>
                  <a:srgbClr val="FF0000"/>
                </a:solidFill>
                <a:latin typeface="Arial MT"/>
                <a:cs typeface="Arial MT"/>
              </a:rPr>
              <a:t>One-hot</a:t>
            </a:r>
            <a:r>
              <a:rPr lang="en-US" sz="2800" spc="13" dirty="0">
                <a:solidFill>
                  <a:srgbClr val="FF0000"/>
                </a:solidFill>
                <a:latin typeface="Arial MT"/>
                <a:cs typeface="Arial MT"/>
              </a:rPr>
              <a:t> </a:t>
            </a:r>
            <a:r>
              <a:rPr lang="en-US" sz="2800" spc="-4" dirty="0">
                <a:solidFill>
                  <a:srgbClr val="FF0000"/>
                </a:solidFill>
                <a:latin typeface="Arial MT"/>
                <a:cs typeface="Arial MT"/>
              </a:rPr>
              <a:t>Representation</a:t>
            </a:r>
            <a:endParaRPr lang="en-US" sz="2800" dirty="0">
              <a:solidFill>
                <a:srgbClr val="FF0000"/>
              </a:solidFill>
              <a:latin typeface="Arial MT"/>
              <a:cs typeface="Arial MT"/>
            </a:endParaRPr>
          </a:p>
          <a:p>
            <a:pPr marL="313781" indent="-302575">
              <a:spcBef>
                <a:spcPts val="463"/>
              </a:spcBef>
              <a:tabLst>
                <a:tab pos="313221" algn="l"/>
                <a:tab pos="313781" algn="l"/>
              </a:tabLst>
            </a:pPr>
            <a:r>
              <a:rPr lang="en-US" sz="2800" spc="-4" dirty="0">
                <a:latin typeface="Arial MT"/>
                <a:cs typeface="Arial MT"/>
              </a:rPr>
              <a:t>Does</a:t>
            </a:r>
            <a:r>
              <a:rPr lang="en-US" sz="2800" spc="9" dirty="0">
                <a:latin typeface="Arial MT"/>
                <a:cs typeface="Arial MT"/>
              </a:rPr>
              <a:t> </a:t>
            </a:r>
            <a:r>
              <a:rPr lang="en-US" sz="2800" spc="-4" dirty="0">
                <a:latin typeface="Arial MT"/>
                <a:cs typeface="Arial MT"/>
              </a:rPr>
              <a:t>not</a:t>
            </a:r>
            <a:r>
              <a:rPr lang="en-US" sz="2800" spc="4" dirty="0">
                <a:latin typeface="Arial MT"/>
                <a:cs typeface="Arial MT"/>
              </a:rPr>
              <a:t> </a:t>
            </a:r>
            <a:r>
              <a:rPr lang="en-US" sz="2800" spc="-4" dirty="0">
                <a:latin typeface="Arial MT"/>
                <a:cs typeface="Arial MT"/>
              </a:rPr>
              <a:t>allow</a:t>
            </a:r>
            <a:r>
              <a:rPr lang="en-US" sz="2800" dirty="0">
                <a:latin typeface="Arial MT"/>
                <a:cs typeface="Arial MT"/>
              </a:rPr>
              <a:t> </a:t>
            </a:r>
            <a:r>
              <a:rPr lang="en-US" sz="2800" spc="-4" dirty="0">
                <a:latin typeface="Arial MT"/>
                <a:cs typeface="Arial MT"/>
              </a:rPr>
              <a:t>algorithms</a:t>
            </a:r>
            <a:r>
              <a:rPr lang="en-US" sz="2800" spc="18" dirty="0">
                <a:latin typeface="Arial MT"/>
                <a:cs typeface="Arial MT"/>
              </a:rPr>
              <a:t> </a:t>
            </a:r>
            <a:r>
              <a:rPr lang="en-US" sz="2800" spc="-4" dirty="0">
                <a:latin typeface="Arial MT"/>
                <a:cs typeface="Arial MT"/>
              </a:rPr>
              <a:t>generalize</a:t>
            </a:r>
            <a:r>
              <a:rPr lang="en-US" sz="2800" spc="4" dirty="0">
                <a:latin typeface="Arial MT"/>
                <a:cs typeface="Arial MT"/>
              </a:rPr>
              <a:t> </a:t>
            </a:r>
            <a:r>
              <a:rPr lang="en-US" sz="2800" spc="-4" dirty="0">
                <a:latin typeface="Arial MT"/>
                <a:cs typeface="Arial MT"/>
              </a:rPr>
              <a:t>easily across words</a:t>
            </a:r>
          </a:p>
          <a:p>
            <a:pPr marL="313781" indent="-302575">
              <a:spcBef>
                <a:spcPts val="463"/>
              </a:spcBef>
              <a:tabLst>
                <a:tab pos="313221" algn="l"/>
                <a:tab pos="313781" algn="l"/>
              </a:tabLst>
            </a:pPr>
            <a:r>
              <a:rPr lang="en-US" b="0" i="0" dirty="0">
                <a:solidFill>
                  <a:srgbClr val="0D0D0D"/>
                </a:solidFill>
                <a:effectLst/>
                <a:latin typeface="Söhne"/>
              </a:rPr>
              <a:t>["Cats", "love", "fish"]</a:t>
            </a:r>
          </a:p>
          <a:p>
            <a:pPr marL="313781" indent="-302575">
              <a:spcBef>
                <a:spcPts val="463"/>
              </a:spcBef>
              <a:tabLst>
                <a:tab pos="313221" algn="l"/>
                <a:tab pos="313781" algn="l"/>
              </a:tabLst>
            </a:pPr>
            <a:r>
              <a:rPr lang="en-US" sz="2800" b="1" spc="-9" dirty="0">
                <a:latin typeface="Arial MT"/>
                <a:cs typeface="Arial MT"/>
              </a:rPr>
              <a:t>Weakness</a:t>
            </a:r>
            <a:r>
              <a:rPr lang="en-US" sz="2800" spc="-9" dirty="0">
                <a:latin typeface="Arial MT"/>
                <a:cs typeface="Arial MT"/>
              </a:rPr>
              <a:t> </a:t>
            </a:r>
            <a:r>
              <a:rPr lang="en-US" sz="2800" spc="-4" dirty="0">
                <a:latin typeface="Arial MT"/>
                <a:cs typeface="Arial MT"/>
              </a:rPr>
              <a:t>–</a:t>
            </a:r>
            <a:r>
              <a:rPr lang="en-US" sz="2800" spc="-26" dirty="0">
                <a:latin typeface="Arial MT"/>
                <a:cs typeface="Arial MT"/>
              </a:rPr>
              <a:t> </a:t>
            </a:r>
            <a:r>
              <a:rPr lang="en-US" sz="2800" spc="-18" dirty="0">
                <a:latin typeface="Arial MT"/>
                <a:cs typeface="Arial MT"/>
              </a:rPr>
              <a:t>Treat</a:t>
            </a:r>
            <a:r>
              <a:rPr lang="en-US" sz="2800" spc="9" dirty="0">
                <a:latin typeface="Arial MT"/>
                <a:cs typeface="Arial MT"/>
              </a:rPr>
              <a:t> </a:t>
            </a:r>
            <a:r>
              <a:rPr lang="en-US" sz="2800" spc="-4" dirty="0">
                <a:latin typeface="Arial MT"/>
                <a:cs typeface="Arial MT"/>
              </a:rPr>
              <a:t>each</a:t>
            </a:r>
            <a:r>
              <a:rPr lang="en-US" sz="2800" spc="4" dirty="0">
                <a:latin typeface="Arial MT"/>
                <a:cs typeface="Arial MT"/>
              </a:rPr>
              <a:t> </a:t>
            </a:r>
            <a:r>
              <a:rPr lang="en-US" sz="2800" spc="-4" dirty="0">
                <a:latin typeface="Arial MT"/>
                <a:cs typeface="Arial MT"/>
              </a:rPr>
              <a:t>word</a:t>
            </a:r>
            <a:r>
              <a:rPr lang="en-US" sz="2800" spc="13" dirty="0">
                <a:latin typeface="Arial MT"/>
                <a:cs typeface="Arial MT"/>
              </a:rPr>
              <a:t> </a:t>
            </a:r>
            <a:r>
              <a:rPr lang="en-US" sz="2800" spc="-4" dirty="0">
                <a:latin typeface="Arial MT"/>
                <a:cs typeface="Arial MT"/>
              </a:rPr>
              <a:t>as</a:t>
            </a:r>
            <a:r>
              <a:rPr lang="en-US" sz="2800" spc="9" dirty="0">
                <a:latin typeface="Arial MT"/>
                <a:cs typeface="Arial MT"/>
              </a:rPr>
              <a:t> </a:t>
            </a:r>
            <a:r>
              <a:rPr lang="en-US" sz="2800" spc="-4" dirty="0">
                <a:latin typeface="Arial MT"/>
                <a:cs typeface="Arial MT"/>
              </a:rPr>
              <a:t>a</a:t>
            </a:r>
            <a:r>
              <a:rPr lang="en-US" sz="2800" dirty="0">
                <a:latin typeface="Arial MT"/>
                <a:cs typeface="Arial MT"/>
              </a:rPr>
              <a:t> </a:t>
            </a:r>
            <a:r>
              <a:rPr lang="en-US" sz="2800" spc="-4" dirty="0">
                <a:latin typeface="Arial MT"/>
                <a:cs typeface="Arial MT"/>
              </a:rPr>
              <a:t>separate</a:t>
            </a:r>
            <a:r>
              <a:rPr lang="en-US" sz="2800" spc="18" dirty="0">
                <a:latin typeface="Arial MT"/>
                <a:cs typeface="Arial MT"/>
              </a:rPr>
              <a:t> </a:t>
            </a:r>
            <a:r>
              <a:rPr lang="en-US" sz="2800" spc="-4" dirty="0">
                <a:latin typeface="Arial MT"/>
                <a:cs typeface="Arial MT"/>
              </a:rPr>
              <a:t>entity</a:t>
            </a:r>
            <a:r>
              <a:rPr lang="en-US" sz="2800" spc="-9" dirty="0">
                <a:latin typeface="Arial MT"/>
                <a:cs typeface="Arial MT"/>
              </a:rPr>
              <a:t> </a:t>
            </a:r>
            <a:r>
              <a:rPr lang="en-US" sz="2800" spc="-4" dirty="0">
                <a:latin typeface="Arial MT"/>
                <a:cs typeface="Arial MT"/>
              </a:rPr>
              <a:t>–</a:t>
            </a:r>
            <a:r>
              <a:rPr lang="en-US" sz="2800" spc="4" dirty="0">
                <a:latin typeface="Arial MT"/>
                <a:cs typeface="Arial MT"/>
              </a:rPr>
              <a:t> </a:t>
            </a:r>
            <a:r>
              <a:rPr lang="en-US" sz="2800" spc="-4" dirty="0">
                <a:latin typeface="Arial MT"/>
                <a:cs typeface="Arial MT"/>
              </a:rPr>
              <a:t>no </a:t>
            </a:r>
            <a:r>
              <a:rPr lang="en-US" sz="2800" spc="-525" dirty="0">
                <a:latin typeface="Arial MT"/>
                <a:cs typeface="Arial MT"/>
              </a:rPr>
              <a:t> </a:t>
            </a:r>
            <a:r>
              <a:rPr lang="en-US" sz="2800" spc="-4" dirty="0">
                <a:latin typeface="Arial MT"/>
                <a:cs typeface="Arial MT"/>
              </a:rPr>
              <a:t>relationship between</a:t>
            </a:r>
            <a:r>
              <a:rPr lang="en-US" sz="2800" dirty="0">
                <a:latin typeface="Arial MT"/>
                <a:cs typeface="Arial MT"/>
              </a:rPr>
              <a:t> </a:t>
            </a:r>
            <a:r>
              <a:rPr lang="en-US" sz="2800" spc="-4" dirty="0">
                <a:latin typeface="Arial MT"/>
                <a:cs typeface="Arial MT"/>
              </a:rPr>
              <a:t>various</a:t>
            </a:r>
            <a:r>
              <a:rPr lang="en-US" sz="2800" spc="13" dirty="0">
                <a:latin typeface="Arial MT"/>
                <a:cs typeface="Arial MT"/>
              </a:rPr>
              <a:t> </a:t>
            </a:r>
            <a:r>
              <a:rPr lang="en-US" sz="2800" spc="-4" dirty="0">
                <a:latin typeface="Arial MT"/>
                <a:cs typeface="Arial MT"/>
              </a:rPr>
              <a:t>words</a:t>
            </a:r>
            <a:endParaRPr lang="en-US" sz="2800" dirty="0">
              <a:latin typeface="Arial MT"/>
              <a:cs typeface="Arial MT"/>
            </a:endParaRPr>
          </a:p>
          <a:p>
            <a:pPr marL="313781" indent="-302575">
              <a:spcBef>
                <a:spcPts val="463"/>
              </a:spcBef>
              <a:buChar char="•"/>
              <a:tabLst>
                <a:tab pos="313221" algn="l"/>
                <a:tab pos="313781" algn="l"/>
              </a:tabLst>
            </a:pPr>
            <a:endParaRPr lang="en-US" sz="2800" dirty="0">
              <a:latin typeface="Arial MT"/>
              <a:cs typeface="Arial MT"/>
            </a:endParaRPr>
          </a:p>
          <a:p>
            <a:endParaRPr lang="en-US" dirty="0"/>
          </a:p>
        </p:txBody>
      </p:sp>
      <p:sp>
        <p:nvSpPr>
          <p:cNvPr id="11" name="object 11"/>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Introduction:</a:t>
            </a:r>
            <a:r>
              <a:rPr spc="-31" dirty="0"/>
              <a:t> </a:t>
            </a:r>
            <a:r>
              <a:rPr spc="-18" dirty="0"/>
              <a:t>Word</a:t>
            </a:r>
            <a:r>
              <a:rPr spc="-9" dirty="0"/>
              <a:t> </a:t>
            </a:r>
            <a:r>
              <a:rPr spc="-4" dirty="0"/>
              <a:t>Representation</a:t>
            </a:r>
          </a:p>
        </p:txBody>
      </p:sp>
      <p:sp>
        <p:nvSpPr>
          <p:cNvPr id="14" name="object 14"/>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19</a:t>
            </a:fld>
            <a:endParaRPr dirty="0"/>
          </a:p>
        </p:txBody>
      </p:sp>
      <p:sp>
        <p:nvSpPr>
          <p:cNvPr id="15" name="object 15"/>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ED501C9B-CFF3-4411-AB6D-9277018D03C1}" type="datetime1">
              <a:rPr lang="en-US" spc="-9" smtClean="0"/>
              <a:t>10/22/2025</a:t>
            </a:fld>
            <a:endParaRPr spc="-9" dirty="0"/>
          </a:p>
        </p:txBody>
      </p:sp>
      <p:sp>
        <p:nvSpPr>
          <p:cNvPr id="16" name="object 16"/>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pic>
        <p:nvPicPr>
          <p:cNvPr id="19" name="Picture 18">
            <a:extLst>
              <a:ext uri="{FF2B5EF4-FFF2-40B4-BE49-F238E27FC236}">
                <a16:creationId xmlns:a16="http://schemas.microsoft.com/office/drawing/2014/main" id="{85DD1837-59B4-47F8-439B-C18B0FB15111}"/>
              </a:ext>
            </a:extLst>
          </p:cNvPr>
          <p:cNvPicPr>
            <a:picLocks noChangeAspect="1"/>
          </p:cNvPicPr>
          <p:nvPr/>
        </p:nvPicPr>
        <p:blipFill>
          <a:blip r:embed="rId2"/>
          <a:stretch>
            <a:fillRect/>
          </a:stretch>
        </p:blipFill>
        <p:spPr>
          <a:xfrm>
            <a:off x="7010400" y="4158343"/>
            <a:ext cx="4572000" cy="218342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E430FAEB-B173-AB50-C552-FD797CDD3702}"/>
              </a:ext>
            </a:extLst>
          </p:cNvPr>
          <p:cNvSpPr>
            <a:spLocks noGrp="1"/>
          </p:cNvSpPr>
          <p:nvPr>
            <p:ph idx="1"/>
          </p:nvPr>
        </p:nvSpPr>
        <p:spPr/>
        <p:txBody>
          <a:bodyPr>
            <a:normAutofit/>
          </a:bodyPr>
          <a:lstStyle/>
          <a:p>
            <a:pPr marL="313781" indent="-302575">
              <a:spcBef>
                <a:spcPts val="552"/>
              </a:spcBef>
              <a:buFont typeface="Arial MT"/>
              <a:buChar char="•"/>
              <a:tabLst>
                <a:tab pos="313221" algn="l"/>
                <a:tab pos="313781" algn="l"/>
              </a:tabLst>
            </a:pPr>
            <a:r>
              <a:rPr lang="en-US" b="1" spc="-4" dirty="0">
                <a:latin typeface="Arial"/>
                <a:cs typeface="Arial"/>
              </a:rPr>
              <a:t>Example</a:t>
            </a:r>
            <a:r>
              <a:rPr lang="en-US" spc="-4" dirty="0">
                <a:latin typeface="Arial MT"/>
                <a:cs typeface="Arial MT"/>
              </a:rPr>
              <a:t>:</a:t>
            </a:r>
            <a:r>
              <a:rPr lang="en-US" spc="-106" dirty="0">
                <a:latin typeface="Arial MT"/>
                <a:cs typeface="Arial MT"/>
              </a:rPr>
              <a:t> </a:t>
            </a:r>
            <a:r>
              <a:rPr lang="en-US" spc="-4" dirty="0">
                <a:latin typeface="Arial MT"/>
                <a:cs typeface="Arial MT"/>
              </a:rPr>
              <a:t>A</a:t>
            </a:r>
            <a:r>
              <a:rPr lang="en-US" spc="-106" dirty="0">
                <a:latin typeface="Arial MT"/>
                <a:cs typeface="Arial MT"/>
              </a:rPr>
              <a:t> </a:t>
            </a:r>
            <a:r>
              <a:rPr lang="en-US" spc="-4" dirty="0">
                <a:latin typeface="Arial MT"/>
                <a:cs typeface="Arial MT"/>
              </a:rPr>
              <a:t>language</a:t>
            </a:r>
            <a:r>
              <a:rPr lang="en-US" dirty="0">
                <a:latin typeface="Arial MT"/>
                <a:cs typeface="Arial MT"/>
              </a:rPr>
              <a:t> </a:t>
            </a:r>
            <a:r>
              <a:rPr lang="en-US" spc="-4" dirty="0">
                <a:latin typeface="Arial MT"/>
                <a:cs typeface="Arial MT"/>
              </a:rPr>
              <a:t>model</a:t>
            </a:r>
            <a:r>
              <a:rPr lang="en-US" spc="13" dirty="0">
                <a:latin typeface="Arial MT"/>
                <a:cs typeface="Arial MT"/>
              </a:rPr>
              <a:t> </a:t>
            </a:r>
            <a:r>
              <a:rPr lang="en-US" spc="-4" dirty="0">
                <a:latin typeface="Arial MT"/>
                <a:cs typeface="Arial MT"/>
              </a:rPr>
              <a:t>to</a:t>
            </a:r>
            <a:r>
              <a:rPr lang="en-US" spc="9" dirty="0">
                <a:latin typeface="Arial MT"/>
                <a:cs typeface="Arial MT"/>
              </a:rPr>
              <a:t> </a:t>
            </a:r>
            <a:r>
              <a:rPr lang="en-US" spc="-4" dirty="0">
                <a:latin typeface="Arial MT"/>
                <a:cs typeface="Arial MT"/>
              </a:rPr>
              <a:t>predict</a:t>
            </a:r>
            <a:r>
              <a:rPr lang="en-US" dirty="0">
                <a:latin typeface="Arial MT"/>
                <a:cs typeface="Arial MT"/>
              </a:rPr>
              <a:t> </a:t>
            </a:r>
            <a:r>
              <a:rPr lang="en-US" spc="-4" dirty="0">
                <a:latin typeface="Arial MT"/>
                <a:cs typeface="Arial MT"/>
              </a:rPr>
              <a:t>next</a:t>
            </a:r>
            <a:r>
              <a:rPr lang="en-US" spc="9" dirty="0">
                <a:latin typeface="Arial MT"/>
                <a:cs typeface="Arial MT"/>
              </a:rPr>
              <a:t> </a:t>
            </a:r>
            <a:r>
              <a:rPr lang="en-US" spc="-4" dirty="0">
                <a:latin typeface="Arial MT"/>
                <a:cs typeface="Arial MT"/>
              </a:rPr>
              <a:t>word:</a:t>
            </a:r>
            <a:endParaRPr lang="en-US" dirty="0">
              <a:latin typeface="Arial MT"/>
              <a:cs typeface="Arial MT"/>
            </a:endParaRPr>
          </a:p>
          <a:p>
            <a:pPr marL="667346" lvl="1" indent="-253827">
              <a:spcBef>
                <a:spcPts val="468"/>
              </a:spcBef>
              <a:buFont typeface="Arial MT"/>
              <a:buChar char="–"/>
              <a:tabLst>
                <a:tab pos="667346" algn="l"/>
                <a:tab pos="667906" algn="l"/>
                <a:tab pos="4973436" algn="l"/>
              </a:tabLst>
            </a:pPr>
            <a:r>
              <a:rPr lang="en-US" sz="2800" b="1" i="1" spc="-4" dirty="0">
                <a:solidFill>
                  <a:srgbClr val="FF0000"/>
                </a:solidFill>
                <a:latin typeface="Arial"/>
                <a:cs typeface="Arial"/>
              </a:rPr>
              <a:t>I</a:t>
            </a:r>
            <a:r>
              <a:rPr lang="en-US" sz="2800" b="1" i="1" spc="4" dirty="0">
                <a:solidFill>
                  <a:srgbClr val="FF0000"/>
                </a:solidFill>
                <a:latin typeface="Arial"/>
                <a:cs typeface="Arial"/>
              </a:rPr>
              <a:t> </a:t>
            </a:r>
            <a:r>
              <a:rPr lang="en-US" sz="2800" b="1" i="1" spc="-4" dirty="0">
                <a:solidFill>
                  <a:srgbClr val="FF0000"/>
                </a:solidFill>
                <a:latin typeface="Arial"/>
                <a:cs typeface="Arial"/>
              </a:rPr>
              <a:t>want</a:t>
            </a:r>
            <a:r>
              <a:rPr lang="en-US" sz="2800" b="1" i="1" spc="26" dirty="0">
                <a:solidFill>
                  <a:srgbClr val="FF0000"/>
                </a:solidFill>
                <a:latin typeface="Arial"/>
                <a:cs typeface="Arial"/>
              </a:rPr>
              <a:t> </a:t>
            </a:r>
            <a:r>
              <a:rPr lang="en-US" sz="2800" b="1" i="1" spc="-4" dirty="0">
                <a:solidFill>
                  <a:srgbClr val="FF0000"/>
                </a:solidFill>
                <a:latin typeface="Arial"/>
                <a:cs typeface="Arial"/>
              </a:rPr>
              <a:t>a</a:t>
            </a:r>
            <a:r>
              <a:rPr lang="en-US" sz="2800" b="1" i="1" spc="9" dirty="0">
                <a:solidFill>
                  <a:srgbClr val="FF0000"/>
                </a:solidFill>
                <a:latin typeface="Arial"/>
                <a:cs typeface="Arial"/>
              </a:rPr>
              <a:t> </a:t>
            </a:r>
            <a:r>
              <a:rPr lang="en-US" sz="2800" b="1" i="1" spc="-4" dirty="0">
                <a:solidFill>
                  <a:srgbClr val="FF0000"/>
                </a:solidFill>
                <a:latin typeface="Arial"/>
                <a:cs typeface="Arial"/>
              </a:rPr>
              <a:t>glass</a:t>
            </a:r>
            <a:r>
              <a:rPr lang="en-US" sz="2800" b="1" i="1" spc="18" dirty="0">
                <a:solidFill>
                  <a:srgbClr val="FF0000"/>
                </a:solidFill>
                <a:latin typeface="Arial"/>
                <a:cs typeface="Arial"/>
              </a:rPr>
              <a:t> </a:t>
            </a:r>
            <a:r>
              <a:rPr lang="en-US" sz="2800" b="1" i="1" spc="-4" dirty="0">
                <a:solidFill>
                  <a:srgbClr val="FF0000"/>
                </a:solidFill>
                <a:latin typeface="Arial"/>
                <a:cs typeface="Arial"/>
              </a:rPr>
              <a:t>of</a:t>
            </a:r>
            <a:r>
              <a:rPr lang="en-US" sz="2800" b="1" i="1" spc="13" dirty="0">
                <a:solidFill>
                  <a:srgbClr val="FF0000"/>
                </a:solidFill>
                <a:latin typeface="Arial"/>
                <a:cs typeface="Arial"/>
              </a:rPr>
              <a:t> </a:t>
            </a:r>
            <a:r>
              <a:rPr lang="en-US" sz="2800" b="1" i="1" spc="-4" dirty="0">
                <a:solidFill>
                  <a:srgbClr val="FF0000"/>
                </a:solidFill>
                <a:latin typeface="Arial"/>
                <a:cs typeface="Arial"/>
              </a:rPr>
              <a:t>orange</a:t>
            </a:r>
            <a:r>
              <a:rPr lang="en-US" sz="2800" b="1" i="1" u="heavy" spc="-4" dirty="0">
                <a:solidFill>
                  <a:srgbClr val="FF0000"/>
                </a:solidFill>
                <a:uFill>
                  <a:solidFill>
                    <a:srgbClr val="FE0000"/>
                  </a:solidFill>
                </a:uFill>
                <a:latin typeface="Arial"/>
                <a:cs typeface="Arial"/>
              </a:rPr>
              <a:t>	</a:t>
            </a:r>
            <a:r>
              <a:rPr lang="en-US" sz="2800" b="1" i="1" spc="-4" dirty="0">
                <a:solidFill>
                  <a:srgbClr val="00B04F"/>
                </a:solidFill>
                <a:latin typeface="Arial"/>
                <a:cs typeface="Arial"/>
              </a:rPr>
              <a:t>(juice)</a:t>
            </a:r>
            <a:endParaRPr lang="en-US" sz="2800" dirty="0">
              <a:latin typeface="Arial"/>
              <a:cs typeface="Arial"/>
            </a:endParaRPr>
          </a:p>
          <a:p>
            <a:pPr marL="313221" marR="19051" indent="-302575">
              <a:spcBef>
                <a:spcPts val="468"/>
              </a:spcBef>
              <a:buChar char="•"/>
              <a:tabLst>
                <a:tab pos="313221" algn="l"/>
                <a:tab pos="313781" algn="l"/>
              </a:tabLst>
            </a:pPr>
            <a:r>
              <a:rPr lang="en-US" spc="-4" dirty="0">
                <a:latin typeface="Arial MT"/>
                <a:cs typeface="Arial MT"/>
              </a:rPr>
              <a:t>The</a:t>
            </a:r>
            <a:r>
              <a:rPr lang="en-US" spc="18" dirty="0">
                <a:latin typeface="Arial MT"/>
                <a:cs typeface="Arial MT"/>
              </a:rPr>
              <a:t> </a:t>
            </a:r>
            <a:r>
              <a:rPr lang="en-US" spc="-4" dirty="0">
                <a:latin typeface="Arial MT"/>
                <a:cs typeface="Arial MT"/>
              </a:rPr>
              <a:t>algorithm</a:t>
            </a:r>
            <a:r>
              <a:rPr lang="en-US" spc="9" dirty="0">
                <a:latin typeface="Arial MT"/>
                <a:cs typeface="Arial MT"/>
              </a:rPr>
              <a:t> </a:t>
            </a:r>
            <a:r>
              <a:rPr lang="en-US" spc="-4" dirty="0">
                <a:latin typeface="Arial MT"/>
                <a:cs typeface="Arial MT"/>
              </a:rPr>
              <a:t>has</a:t>
            </a:r>
            <a:r>
              <a:rPr lang="en-US" spc="9" dirty="0">
                <a:latin typeface="Arial MT"/>
                <a:cs typeface="Arial MT"/>
              </a:rPr>
              <a:t> </a:t>
            </a:r>
            <a:r>
              <a:rPr lang="en-US" spc="-4" dirty="0">
                <a:latin typeface="Arial MT"/>
                <a:cs typeface="Arial MT"/>
              </a:rPr>
              <a:t>learned</a:t>
            </a:r>
            <a:r>
              <a:rPr lang="en-US" spc="4" dirty="0">
                <a:latin typeface="Arial MT"/>
                <a:cs typeface="Arial MT"/>
              </a:rPr>
              <a:t> </a:t>
            </a:r>
            <a:r>
              <a:rPr lang="en-US" spc="-4" dirty="0">
                <a:latin typeface="Arial MT"/>
                <a:cs typeface="Arial MT"/>
              </a:rPr>
              <a:t>that</a:t>
            </a:r>
            <a:r>
              <a:rPr lang="en-US" spc="13" dirty="0">
                <a:latin typeface="Arial MT"/>
                <a:cs typeface="Arial MT"/>
              </a:rPr>
              <a:t> </a:t>
            </a:r>
            <a:r>
              <a:rPr lang="en-US" spc="-4" dirty="0">
                <a:latin typeface="Arial MT"/>
                <a:cs typeface="Arial MT"/>
              </a:rPr>
              <a:t>“</a:t>
            </a:r>
            <a:r>
              <a:rPr lang="en-US" i="1" spc="-4" dirty="0">
                <a:latin typeface="Arial"/>
                <a:cs typeface="Arial"/>
              </a:rPr>
              <a:t>I</a:t>
            </a:r>
            <a:r>
              <a:rPr lang="en-US" i="1" spc="4" dirty="0">
                <a:latin typeface="Arial"/>
                <a:cs typeface="Arial"/>
              </a:rPr>
              <a:t> </a:t>
            </a:r>
            <a:r>
              <a:rPr lang="en-US" i="1" spc="-4" dirty="0">
                <a:latin typeface="Arial"/>
                <a:cs typeface="Arial"/>
              </a:rPr>
              <a:t>want</a:t>
            </a:r>
            <a:r>
              <a:rPr lang="en-US" i="1" spc="13" dirty="0">
                <a:latin typeface="Arial"/>
                <a:cs typeface="Arial"/>
              </a:rPr>
              <a:t> </a:t>
            </a:r>
            <a:r>
              <a:rPr lang="en-US" i="1" spc="-4" dirty="0">
                <a:latin typeface="Arial"/>
                <a:cs typeface="Arial"/>
              </a:rPr>
              <a:t>a</a:t>
            </a:r>
            <a:r>
              <a:rPr lang="en-US" i="1" spc="4" dirty="0">
                <a:latin typeface="Arial"/>
                <a:cs typeface="Arial"/>
              </a:rPr>
              <a:t> </a:t>
            </a:r>
            <a:r>
              <a:rPr lang="en-US" i="1" spc="-4" dirty="0">
                <a:latin typeface="Arial"/>
                <a:cs typeface="Arial"/>
              </a:rPr>
              <a:t>glass of</a:t>
            </a:r>
            <a:r>
              <a:rPr lang="en-US" i="1" spc="4" dirty="0">
                <a:latin typeface="Arial"/>
                <a:cs typeface="Arial"/>
              </a:rPr>
              <a:t> </a:t>
            </a:r>
            <a:r>
              <a:rPr lang="en-US" i="1" spc="-4" dirty="0">
                <a:latin typeface="Arial"/>
                <a:cs typeface="Arial"/>
              </a:rPr>
              <a:t>orange</a:t>
            </a:r>
            <a:r>
              <a:rPr lang="en-US" i="1" spc="18" dirty="0">
                <a:latin typeface="Arial"/>
                <a:cs typeface="Arial"/>
              </a:rPr>
              <a:t> </a:t>
            </a:r>
            <a:r>
              <a:rPr lang="en-US" i="1" spc="-4" dirty="0">
                <a:latin typeface="Arial"/>
                <a:cs typeface="Arial"/>
              </a:rPr>
              <a:t>juice</a:t>
            </a:r>
            <a:r>
              <a:rPr lang="en-US" spc="-4" dirty="0">
                <a:latin typeface="Arial MT"/>
                <a:cs typeface="Arial MT"/>
              </a:rPr>
              <a:t>”</a:t>
            </a:r>
            <a:r>
              <a:rPr lang="en-US" spc="4" dirty="0">
                <a:latin typeface="Arial MT"/>
                <a:cs typeface="Arial MT"/>
              </a:rPr>
              <a:t> </a:t>
            </a:r>
            <a:r>
              <a:rPr lang="en-US" spc="-4" dirty="0">
                <a:latin typeface="Arial MT"/>
                <a:cs typeface="Arial MT"/>
              </a:rPr>
              <a:t>is a </a:t>
            </a:r>
            <a:r>
              <a:rPr lang="en-US" spc="-529" dirty="0">
                <a:latin typeface="Arial MT"/>
                <a:cs typeface="Arial MT"/>
              </a:rPr>
              <a:t> </a:t>
            </a:r>
            <a:r>
              <a:rPr lang="en-US" spc="-4" dirty="0">
                <a:latin typeface="Arial MT"/>
                <a:cs typeface="Arial MT"/>
              </a:rPr>
              <a:t>likely</a:t>
            </a:r>
            <a:r>
              <a:rPr lang="en-US" spc="-22" dirty="0">
                <a:latin typeface="Arial MT"/>
                <a:cs typeface="Arial MT"/>
              </a:rPr>
              <a:t> </a:t>
            </a:r>
            <a:r>
              <a:rPr lang="en-US" spc="-4" dirty="0">
                <a:latin typeface="Arial MT"/>
                <a:cs typeface="Arial MT"/>
              </a:rPr>
              <a:t>sentence,</a:t>
            </a:r>
            <a:r>
              <a:rPr lang="en-US" dirty="0">
                <a:latin typeface="Arial MT"/>
                <a:cs typeface="Arial MT"/>
              </a:rPr>
              <a:t> </a:t>
            </a:r>
            <a:r>
              <a:rPr lang="en-US" spc="-4" dirty="0">
                <a:latin typeface="Arial MT"/>
                <a:cs typeface="Arial MT"/>
              </a:rPr>
              <a:t>but</a:t>
            </a:r>
            <a:r>
              <a:rPr lang="en-US" dirty="0">
                <a:latin typeface="Arial MT"/>
                <a:cs typeface="Arial MT"/>
              </a:rPr>
              <a:t> </a:t>
            </a:r>
            <a:r>
              <a:rPr lang="en-US" spc="-4" dirty="0">
                <a:latin typeface="Arial MT"/>
                <a:cs typeface="Arial MT"/>
              </a:rPr>
              <a:t>if</a:t>
            </a:r>
            <a:r>
              <a:rPr lang="en-US" dirty="0">
                <a:latin typeface="Arial MT"/>
                <a:cs typeface="Arial MT"/>
              </a:rPr>
              <a:t> </a:t>
            </a:r>
            <a:r>
              <a:rPr lang="en-US" spc="-4" dirty="0">
                <a:latin typeface="Arial MT"/>
                <a:cs typeface="Arial MT"/>
              </a:rPr>
              <a:t>it</a:t>
            </a:r>
            <a:r>
              <a:rPr lang="en-US" dirty="0">
                <a:latin typeface="Arial MT"/>
                <a:cs typeface="Arial MT"/>
              </a:rPr>
              <a:t> sees:</a:t>
            </a:r>
          </a:p>
          <a:p>
            <a:pPr marL="667346" lvl="1" indent="-253827">
              <a:spcBef>
                <a:spcPts val="463"/>
              </a:spcBef>
              <a:buFont typeface="Arial MT"/>
              <a:buChar char="–"/>
              <a:tabLst>
                <a:tab pos="667346" algn="l"/>
                <a:tab pos="667906" algn="l"/>
                <a:tab pos="4795813" algn="l"/>
              </a:tabLst>
            </a:pPr>
            <a:r>
              <a:rPr lang="en-US" sz="2800" b="1" i="1" spc="-4" dirty="0">
                <a:solidFill>
                  <a:srgbClr val="FF0000"/>
                </a:solidFill>
                <a:latin typeface="Arial"/>
                <a:cs typeface="Arial"/>
              </a:rPr>
              <a:t>I</a:t>
            </a:r>
            <a:r>
              <a:rPr lang="en-US" sz="2800" b="1" i="1" spc="-9" dirty="0">
                <a:solidFill>
                  <a:srgbClr val="FF0000"/>
                </a:solidFill>
                <a:latin typeface="Arial"/>
                <a:cs typeface="Arial"/>
              </a:rPr>
              <a:t> </a:t>
            </a:r>
            <a:r>
              <a:rPr lang="en-US" sz="2800" b="1" i="1" spc="-4" dirty="0">
                <a:solidFill>
                  <a:srgbClr val="FF0000"/>
                </a:solidFill>
                <a:latin typeface="Arial"/>
                <a:cs typeface="Arial"/>
              </a:rPr>
              <a:t>want</a:t>
            </a:r>
            <a:r>
              <a:rPr lang="en-US" sz="2800" b="1" i="1" spc="13" dirty="0">
                <a:solidFill>
                  <a:srgbClr val="FF0000"/>
                </a:solidFill>
                <a:latin typeface="Arial"/>
                <a:cs typeface="Arial"/>
              </a:rPr>
              <a:t> </a:t>
            </a:r>
            <a:r>
              <a:rPr lang="en-US" sz="2800" b="1" i="1" spc="-4" dirty="0">
                <a:solidFill>
                  <a:srgbClr val="FF0000"/>
                </a:solidFill>
                <a:latin typeface="Arial"/>
                <a:cs typeface="Arial"/>
              </a:rPr>
              <a:t>a glass</a:t>
            </a:r>
            <a:r>
              <a:rPr lang="en-US" sz="2800" b="1" i="1" spc="4" dirty="0">
                <a:solidFill>
                  <a:srgbClr val="FF0000"/>
                </a:solidFill>
                <a:latin typeface="Arial"/>
                <a:cs typeface="Arial"/>
              </a:rPr>
              <a:t> </a:t>
            </a:r>
            <a:r>
              <a:rPr lang="en-US" sz="2800" b="1" i="1" spc="-4" dirty="0">
                <a:solidFill>
                  <a:srgbClr val="FF0000"/>
                </a:solidFill>
                <a:latin typeface="Arial"/>
                <a:cs typeface="Arial"/>
              </a:rPr>
              <a:t>of</a:t>
            </a:r>
            <a:r>
              <a:rPr lang="en-US" sz="2800" b="1" i="1" dirty="0">
                <a:solidFill>
                  <a:srgbClr val="FF0000"/>
                </a:solidFill>
                <a:latin typeface="Arial"/>
                <a:cs typeface="Arial"/>
              </a:rPr>
              <a:t> </a:t>
            </a:r>
            <a:r>
              <a:rPr lang="en-US" sz="2800" b="1" i="1" spc="-4" dirty="0">
                <a:solidFill>
                  <a:srgbClr val="FF0000"/>
                </a:solidFill>
                <a:latin typeface="Arial"/>
                <a:cs typeface="Arial"/>
              </a:rPr>
              <a:t>apple</a:t>
            </a:r>
            <a:r>
              <a:rPr lang="en-US" sz="2800" b="1" i="1" spc="13" dirty="0">
                <a:solidFill>
                  <a:srgbClr val="FF0000"/>
                </a:solidFill>
                <a:latin typeface="Arial"/>
                <a:cs typeface="Arial"/>
              </a:rPr>
              <a:t> </a:t>
            </a:r>
            <a:r>
              <a:rPr lang="en-US" sz="2800" b="1" i="1" u="heavy" spc="-4" dirty="0">
                <a:solidFill>
                  <a:srgbClr val="FF0000"/>
                </a:solidFill>
                <a:uFill>
                  <a:solidFill>
                    <a:srgbClr val="FE0000"/>
                  </a:solidFill>
                </a:uFill>
                <a:latin typeface="Arial"/>
                <a:cs typeface="Arial"/>
              </a:rPr>
              <a:t> </a:t>
            </a:r>
            <a:r>
              <a:rPr lang="en-US" sz="2800" b="1" i="1" u="heavy" dirty="0">
                <a:solidFill>
                  <a:srgbClr val="FF0000"/>
                </a:solidFill>
                <a:uFill>
                  <a:solidFill>
                    <a:srgbClr val="FE0000"/>
                  </a:solidFill>
                </a:uFill>
                <a:latin typeface="Arial"/>
                <a:cs typeface="Arial"/>
              </a:rPr>
              <a:t>	</a:t>
            </a:r>
            <a:endParaRPr lang="en-US" sz="2800" dirty="0">
              <a:latin typeface="Arial"/>
              <a:cs typeface="Arial"/>
            </a:endParaRPr>
          </a:p>
          <a:p>
            <a:pPr marL="313221" marR="132236" indent="-302575">
              <a:spcBef>
                <a:spcPts val="468"/>
              </a:spcBef>
              <a:buChar char="•"/>
              <a:tabLst>
                <a:tab pos="313221" algn="l"/>
                <a:tab pos="313781" algn="l"/>
              </a:tabLst>
            </a:pPr>
            <a:r>
              <a:rPr lang="en-US" spc="-4" dirty="0">
                <a:latin typeface="Arial MT"/>
                <a:cs typeface="Arial MT"/>
              </a:rPr>
              <a:t>The</a:t>
            </a:r>
            <a:r>
              <a:rPr lang="en-US" spc="18" dirty="0">
                <a:latin typeface="Arial MT"/>
                <a:cs typeface="Arial MT"/>
              </a:rPr>
              <a:t> </a:t>
            </a:r>
            <a:r>
              <a:rPr lang="en-US" spc="-4" dirty="0">
                <a:latin typeface="Arial MT"/>
                <a:cs typeface="Arial MT"/>
              </a:rPr>
              <a:t>relationship between</a:t>
            </a:r>
            <a:r>
              <a:rPr lang="en-US" spc="18" dirty="0">
                <a:latin typeface="Arial MT"/>
                <a:cs typeface="Arial MT"/>
              </a:rPr>
              <a:t> </a:t>
            </a:r>
            <a:r>
              <a:rPr lang="en-US" spc="-4" dirty="0">
                <a:latin typeface="Arial MT"/>
                <a:cs typeface="Arial MT"/>
              </a:rPr>
              <a:t>“apple”</a:t>
            </a:r>
            <a:r>
              <a:rPr lang="en-US" spc="13" dirty="0">
                <a:latin typeface="Arial MT"/>
                <a:cs typeface="Arial MT"/>
              </a:rPr>
              <a:t> </a:t>
            </a:r>
            <a:r>
              <a:rPr lang="en-US" spc="-4" dirty="0">
                <a:latin typeface="Arial MT"/>
                <a:cs typeface="Arial MT"/>
              </a:rPr>
              <a:t>and</a:t>
            </a:r>
            <a:r>
              <a:rPr lang="en-US" spc="4" dirty="0">
                <a:latin typeface="Arial MT"/>
                <a:cs typeface="Arial MT"/>
              </a:rPr>
              <a:t> </a:t>
            </a:r>
            <a:r>
              <a:rPr lang="en-US" spc="-4" dirty="0">
                <a:latin typeface="Arial MT"/>
                <a:cs typeface="Arial MT"/>
              </a:rPr>
              <a:t>“orange”</a:t>
            </a:r>
            <a:r>
              <a:rPr lang="en-US" spc="26" dirty="0">
                <a:latin typeface="Arial MT"/>
                <a:cs typeface="Arial MT"/>
              </a:rPr>
              <a:t> </a:t>
            </a:r>
            <a:r>
              <a:rPr lang="en-US" spc="-4" dirty="0">
                <a:latin typeface="Arial MT"/>
                <a:cs typeface="Arial MT"/>
              </a:rPr>
              <a:t>is not</a:t>
            </a:r>
            <a:r>
              <a:rPr lang="en-US" spc="13" dirty="0">
                <a:latin typeface="Arial MT"/>
                <a:cs typeface="Arial MT"/>
              </a:rPr>
              <a:t> </a:t>
            </a:r>
            <a:r>
              <a:rPr lang="en-US" spc="-4" dirty="0">
                <a:latin typeface="Arial MT"/>
                <a:cs typeface="Arial MT"/>
              </a:rPr>
              <a:t>disclosed</a:t>
            </a:r>
          </a:p>
          <a:p>
            <a:pPr marL="313221" marR="132236" indent="-302575">
              <a:spcBef>
                <a:spcPts val="468"/>
              </a:spcBef>
              <a:buChar char="•"/>
              <a:tabLst>
                <a:tab pos="313221" algn="l"/>
                <a:tab pos="313781" algn="l"/>
              </a:tabLst>
            </a:pPr>
            <a:r>
              <a:rPr lang="en-US" spc="-4" dirty="0">
                <a:latin typeface="Arial MT"/>
                <a:cs typeface="Arial MT"/>
              </a:rPr>
              <a:t>It</a:t>
            </a:r>
            <a:r>
              <a:rPr lang="en-US" dirty="0">
                <a:latin typeface="Arial MT"/>
                <a:cs typeface="Arial MT"/>
              </a:rPr>
              <a:t> </a:t>
            </a:r>
            <a:r>
              <a:rPr lang="en-US" spc="-4" dirty="0">
                <a:latin typeface="Arial MT"/>
                <a:cs typeface="Arial MT"/>
              </a:rPr>
              <a:t>is not</a:t>
            </a:r>
            <a:r>
              <a:rPr lang="en-US" spc="13" dirty="0">
                <a:latin typeface="Arial MT"/>
                <a:cs typeface="Arial MT"/>
              </a:rPr>
              <a:t> </a:t>
            </a:r>
            <a:r>
              <a:rPr lang="en-US" spc="-4" dirty="0">
                <a:latin typeface="Arial MT"/>
                <a:cs typeface="Arial MT"/>
              </a:rPr>
              <a:t>easy</a:t>
            </a:r>
            <a:r>
              <a:rPr lang="en-US" spc="-9" dirty="0">
                <a:latin typeface="Arial MT"/>
                <a:cs typeface="Arial MT"/>
              </a:rPr>
              <a:t> </a:t>
            </a:r>
            <a:r>
              <a:rPr lang="en-US" spc="-4" dirty="0">
                <a:latin typeface="Arial MT"/>
                <a:cs typeface="Arial MT"/>
              </a:rPr>
              <a:t>for</a:t>
            </a:r>
            <a:r>
              <a:rPr lang="en-US" spc="13" dirty="0">
                <a:latin typeface="Arial MT"/>
                <a:cs typeface="Arial MT"/>
              </a:rPr>
              <a:t> </a:t>
            </a:r>
            <a:r>
              <a:rPr lang="en-US" spc="-4" dirty="0">
                <a:latin typeface="Arial MT"/>
                <a:cs typeface="Arial MT"/>
              </a:rPr>
              <a:t>the</a:t>
            </a:r>
            <a:r>
              <a:rPr lang="en-US" spc="4" dirty="0">
                <a:latin typeface="Arial MT"/>
                <a:cs typeface="Arial MT"/>
              </a:rPr>
              <a:t> </a:t>
            </a:r>
            <a:r>
              <a:rPr lang="en-US" spc="-4" dirty="0">
                <a:latin typeface="Arial MT"/>
                <a:cs typeface="Arial MT"/>
              </a:rPr>
              <a:t>learning</a:t>
            </a:r>
            <a:r>
              <a:rPr lang="en-US" spc="4" dirty="0">
                <a:latin typeface="Arial MT"/>
                <a:cs typeface="Arial MT"/>
              </a:rPr>
              <a:t> </a:t>
            </a:r>
            <a:r>
              <a:rPr lang="en-US" spc="-4" dirty="0">
                <a:latin typeface="Arial MT"/>
                <a:cs typeface="Arial MT"/>
              </a:rPr>
              <a:t>algorithm</a:t>
            </a:r>
            <a:r>
              <a:rPr lang="en-US" spc="13" dirty="0">
                <a:latin typeface="Arial MT"/>
                <a:cs typeface="Arial MT"/>
              </a:rPr>
              <a:t> </a:t>
            </a:r>
            <a:r>
              <a:rPr lang="en-US" spc="-4" dirty="0">
                <a:latin typeface="Arial MT"/>
                <a:cs typeface="Arial MT"/>
              </a:rPr>
              <a:t>to</a:t>
            </a:r>
            <a:r>
              <a:rPr lang="en-US" spc="4" dirty="0">
                <a:latin typeface="Arial MT"/>
                <a:cs typeface="Arial MT"/>
              </a:rPr>
              <a:t> </a:t>
            </a:r>
            <a:r>
              <a:rPr lang="en-US" spc="-4" dirty="0">
                <a:latin typeface="Arial MT"/>
                <a:cs typeface="Arial MT"/>
              </a:rPr>
              <a:t>generalize</a:t>
            </a:r>
            <a:r>
              <a:rPr lang="en-US" spc="4" dirty="0">
                <a:latin typeface="Arial MT"/>
                <a:cs typeface="Arial MT"/>
              </a:rPr>
              <a:t> </a:t>
            </a:r>
          </a:p>
          <a:p>
            <a:pPr marL="713271" marR="4483" lvl="1" indent="-302575">
              <a:spcBef>
                <a:spcPts val="463"/>
              </a:spcBef>
              <a:buChar char="•"/>
              <a:tabLst>
                <a:tab pos="313221" algn="l"/>
                <a:tab pos="313781" algn="l"/>
              </a:tabLst>
            </a:pPr>
            <a:r>
              <a:rPr lang="en-US" sz="2800" spc="-4" dirty="0">
                <a:latin typeface="Arial MT"/>
                <a:cs typeface="Arial MT"/>
              </a:rPr>
              <a:t>Knowing </a:t>
            </a:r>
            <a:r>
              <a:rPr lang="en-US" sz="2800" dirty="0">
                <a:latin typeface="Arial MT"/>
                <a:cs typeface="Arial MT"/>
              </a:rPr>
              <a:t> </a:t>
            </a:r>
            <a:r>
              <a:rPr lang="en-US" sz="2800" spc="-4" dirty="0">
                <a:latin typeface="Arial MT"/>
                <a:cs typeface="Arial MT"/>
              </a:rPr>
              <a:t>that</a:t>
            </a:r>
            <a:r>
              <a:rPr lang="en-US" sz="2800" spc="4" dirty="0">
                <a:latin typeface="Arial MT"/>
                <a:cs typeface="Arial MT"/>
              </a:rPr>
              <a:t> </a:t>
            </a:r>
            <a:r>
              <a:rPr lang="en-US" sz="2800" spc="-4" dirty="0">
                <a:latin typeface="Arial MT"/>
                <a:cs typeface="Arial MT"/>
              </a:rPr>
              <a:t>“</a:t>
            </a:r>
            <a:r>
              <a:rPr lang="en-US" sz="2800" i="1" spc="-4" dirty="0">
                <a:solidFill>
                  <a:srgbClr val="FF0000"/>
                </a:solidFill>
                <a:latin typeface="Arial"/>
                <a:cs typeface="Arial"/>
              </a:rPr>
              <a:t>orange</a:t>
            </a:r>
            <a:r>
              <a:rPr lang="en-US" sz="2800" i="1" spc="31" dirty="0">
                <a:solidFill>
                  <a:srgbClr val="FF0000"/>
                </a:solidFill>
                <a:latin typeface="Arial"/>
                <a:cs typeface="Arial"/>
              </a:rPr>
              <a:t> </a:t>
            </a:r>
            <a:r>
              <a:rPr lang="en-US" sz="2800" i="1" spc="-4" dirty="0">
                <a:solidFill>
                  <a:srgbClr val="FF0000"/>
                </a:solidFill>
                <a:latin typeface="Arial"/>
                <a:cs typeface="Arial"/>
              </a:rPr>
              <a:t>juice</a:t>
            </a:r>
            <a:r>
              <a:rPr lang="en-US" sz="2800" spc="-4" dirty="0">
                <a:latin typeface="Arial MT"/>
                <a:cs typeface="Arial MT"/>
              </a:rPr>
              <a:t>” related to “</a:t>
            </a:r>
            <a:r>
              <a:rPr lang="en-US" sz="2800" i="1" spc="-4" dirty="0">
                <a:solidFill>
                  <a:srgbClr val="FF0000"/>
                </a:solidFill>
                <a:latin typeface="Arial"/>
                <a:cs typeface="Arial"/>
              </a:rPr>
              <a:t>apple</a:t>
            </a:r>
            <a:r>
              <a:rPr lang="en-US" sz="2800" i="1" spc="9" dirty="0">
                <a:solidFill>
                  <a:srgbClr val="FF0000"/>
                </a:solidFill>
                <a:latin typeface="Arial"/>
                <a:cs typeface="Arial"/>
              </a:rPr>
              <a:t> </a:t>
            </a:r>
            <a:r>
              <a:rPr lang="en-US" sz="2800" i="1" spc="-4" dirty="0">
                <a:solidFill>
                  <a:srgbClr val="FF0000"/>
                </a:solidFill>
                <a:latin typeface="Arial"/>
                <a:cs typeface="Arial"/>
              </a:rPr>
              <a:t>juice</a:t>
            </a:r>
            <a:r>
              <a:rPr lang="en-US" sz="2800" spc="-4" dirty="0">
                <a:latin typeface="Arial MT"/>
                <a:cs typeface="Arial MT"/>
              </a:rPr>
              <a:t>”</a:t>
            </a:r>
            <a:endParaRPr lang="en-US" sz="2800" dirty="0">
              <a:latin typeface="Arial MT"/>
              <a:cs typeface="Arial MT"/>
            </a:endParaRPr>
          </a:p>
          <a:p>
            <a:endParaRPr lang="en-US" sz="4000" dirty="0"/>
          </a:p>
        </p:txBody>
      </p:sp>
      <p:sp>
        <p:nvSpPr>
          <p:cNvPr id="5" name="object 5"/>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Introduction:</a:t>
            </a:r>
            <a:r>
              <a:rPr spc="-31" dirty="0"/>
              <a:t> </a:t>
            </a:r>
            <a:r>
              <a:rPr spc="-18" dirty="0"/>
              <a:t>Word</a:t>
            </a:r>
            <a:r>
              <a:rPr spc="-9" dirty="0"/>
              <a:t> </a:t>
            </a:r>
            <a:r>
              <a:rPr spc="-4" dirty="0"/>
              <a:t>Representation</a:t>
            </a:r>
          </a:p>
        </p:txBody>
      </p:sp>
      <p:sp>
        <p:nvSpPr>
          <p:cNvPr id="7" name="object 7"/>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20</a:t>
            </a:fld>
            <a:endParaRPr dirty="0"/>
          </a:p>
        </p:txBody>
      </p:sp>
      <p:sp>
        <p:nvSpPr>
          <p:cNvPr id="8" name="object 8"/>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39AAFC98-6C7D-42B6-BCCC-9D9041D54DDC}" type="datetime1">
              <a:rPr lang="en-US" spc="-9" smtClean="0"/>
              <a:t>10/22/2025</a:t>
            </a:fld>
            <a:endParaRPr spc="-9" dirty="0"/>
          </a:p>
        </p:txBody>
      </p:sp>
      <p:sp>
        <p:nvSpPr>
          <p:cNvPr id="9" name="object 9"/>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Introdu</a:t>
            </a:r>
            <a:r>
              <a:rPr lang="en-US" spc="-4" dirty="0"/>
              <a:t>c</a:t>
            </a:r>
            <a:r>
              <a:rPr spc="-4" dirty="0"/>
              <a:t>tion:</a:t>
            </a:r>
            <a:r>
              <a:rPr spc="-31" dirty="0"/>
              <a:t> </a:t>
            </a:r>
            <a:r>
              <a:rPr spc="-18" dirty="0"/>
              <a:t>Word</a:t>
            </a:r>
            <a:r>
              <a:rPr spc="-9" dirty="0"/>
              <a:t> </a:t>
            </a:r>
            <a:r>
              <a:rPr spc="-4" dirty="0"/>
              <a:t>Representation</a:t>
            </a:r>
          </a:p>
        </p:txBody>
      </p:sp>
      <p:sp>
        <p:nvSpPr>
          <p:cNvPr id="22" name="Content Placeholder 21">
            <a:extLst>
              <a:ext uri="{FF2B5EF4-FFF2-40B4-BE49-F238E27FC236}">
                <a16:creationId xmlns:a16="http://schemas.microsoft.com/office/drawing/2014/main" id="{46895CC5-D3AB-A759-6E66-B7296A780B4B}"/>
              </a:ext>
            </a:extLst>
          </p:cNvPr>
          <p:cNvSpPr>
            <a:spLocks noGrp="1"/>
          </p:cNvSpPr>
          <p:nvPr>
            <p:ph idx="1"/>
          </p:nvPr>
        </p:nvSpPr>
        <p:spPr/>
        <p:txBody>
          <a:bodyPr/>
          <a:lstStyle/>
          <a:p>
            <a:pPr marL="313781" indent="-302575">
              <a:spcBef>
                <a:spcPts val="84"/>
              </a:spcBef>
              <a:buChar char="•"/>
              <a:tabLst>
                <a:tab pos="313221" algn="l"/>
                <a:tab pos="313781" algn="l"/>
              </a:tabLst>
            </a:pPr>
            <a:r>
              <a:rPr lang="en-US" sz="2800" spc="-4" dirty="0">
                <a:latin typeface="Arial MT"/>
                <a:cs typeface="Arial MT"/>
              </a:rPr>
              <a:t>The</a:t>
            </a:r>
            <a:r>
              <a:rPr lang="en-US" sz="2800" spc="13" dirty="0">
                <a:latin typeface="Arial MT"/>
                <a:cs typeface="Arial MT"/>
              </a:rPr>
              <a:t> </a:t>
            </a:r>
            <a:r>
              <a:rPr lang="en-US" sz="2800" b="1" i="1" spc="-4" dirty="0">
                <a:latin typeface="Arial"/>
                <a:cs typeface="Arial"/>
              </a:rPr>
              <a:t>inner</a:t>
            </a:r>
            <a:r>
              <a:rPr lang="en-US" sz="2800" b="1" i="1" spc="13" dirty="0">
                <a:latin typeface="Arial"/>
                <a:cs typeface="Arial"/>
              </a:rPr>
              <a:t> </a:t>
            </a:r>
            <a:r>
              <a:rPr lang="en-US" sz="2800" b="1" i="1" spc="-4" dirty="0">
                <a:latin typeface="Arial"/>
                <a:cs typeface="Arial"/>
              </a:rPr>
              <a:t>product</a:t>
            </a:r>
            <a:r>
              <a:rPr lang="en-US" sz="2800" b="1" i="1" spc="26" dirty="0">
                <a:latin typeface="Arial"/>
                <a:cs typeface="Arial"/>
              </a:rPr>
              <a:t> </a:t>
            </a:r>
            <a:r>
              <a:rPr lang="en-US" sz="2800" spc="-4" dirty="0">
                <a:latin typeface="Arial MT"/>
                <a:cs typeface="Arial MT"/>
              </a:rPr>
              <a:t>of</a:t>
            </a:r>
            <a:r>
              <a:rPr lang="en-US" sz="2800" dirty="0">
                <a:latin typeface="Arial MT"/>
                <a:cs typeface="Arial MT"/>
              </a:rPr>
              <a:t> </a:t>
            </a:r>
            <a:r>
              <a:rPr lang="en-US" sz="2800" spc="-4" dirty="0">
                <a:latin typeface="Arial MT"/>
                <a:cs typeface="Arial MT"/>
              </a:rPr>
              <a:t>two</a:t>
            </a:r>
            <a:r>
              <a:rPr lang="en-US" sz="2800" spc="18" dirty="0">
                <a:latin typeface="Arial MT"/>
                <a:cs typeface="Arial MT"/>
              </a:rPr>
              <a:t> </a:t>
            </a:r>
            <a:r>
              <a:rPr lang="en-US" sz="2800" spc="-4" dirty="0">
                <a:latin typeface="Arial MT"/>
                <a:cs typeface="Arial MT"/>
              </a:rPr>
              <a:t>representations</a:t>
            </a:r>
            <a:r>
              <a:rPr lang="en-US" sz="2800" spc="4" dirty="0">
                <a:latin typeface="Arial MT"/>
                <a:cs typeface="Arial MT"/>
              </a:rPr>
              <a:t> </a:t>
            </a:r>
            <a:r>
              <a:rPr lang="en-US" sz="2800" spc="-4" dirty="0">
                <a:latin typeface="Arial MT"/>
                <a:cs typeface="Arial MT"/>
              </a:rPr>
              <a:t>of</a:t>
            </a:r>
            <a:r>
              <a:rPr lang="en-US" sz="2800" spc="13" dirty="0">
                <a:latin typeface="Arial MT"/>
                <a:cs typeface="Arial MT"/>
              </a:rPr>
              <a:t> </a:t>
            </a:r>
            <a:r>
              <a:rPr lang="en-US" sz="2800" spc="-4" dirty="0">
                <a:latin typeface="Arial MT"/>
                <a:cs typeface="Arial MT"/>
              </a:rPr>
              <a:t>words</a:t>
            </a:r>
            <a:r>
              <a:rPr lang="en-US" sz="2800" spc="9" dirty="0">
                <a:latin typeface="Arial MT"/>
                <a:cs typeface="Arial MT"/>
              </a:rPr>
              <a:t> </a:t>
            </a:r>
            <a:r>
              <a:rPr lang="en-US" sz="2800" spc="-4" dirty="0">
                <a:latin typeface="Arial MT"/>
                <a:cs typeface="Arial MT"/>
              </a:rPr>
              <a:t>is</a:t>
            </a:r>
            <a:r>
              <a:rPr lang="en-US" sz="2800" spc="4" dirty="0">
                <a:latin typeface="Arial MT"/>
                <a:cs typeface="Arial MT"/>
              </a:rPr>
              <a:t> </a:t>
            </a:r>
            <a:r>
              <a:rPr lang="en-US" sz="2800" spc="-4" dirty="0">
                <a:latin typeface="Arial MT"/>
                <a:cs typeface="Arial MT"/>
              </a:rPr>
              <a:t>always</a:t>
            </a:r>
            <a:r>
              <a:rPr lang="en-US" sz="2800" spc="9" dirty="0">
                <a:latin typeface="Arial MT"/>
                <a:cs typeface="Arial MT"/>
              </a:rPr>
              <a:t> </a:t>
            </a:r>
            <a:r>
              <a:rPr lang="en-US" sz="2800" b="1" i="1" spc="-4" dirty="0">
                <a:latin typeface="Arial"/>
                <a:cs typeface="Arial"/>
              </a:rPr>
              <a:t>zero </a:t>
            </a:r>
            <a:r>
              <a:rPr lang="en-US" sz="2800" spc="-4" dirty="0">
                <a:latin typeface="Arial MT"/>
                <a:cs typeface="Arial MT"/>
              </a:rPr>
              <a:t>in</a:t>
            </a:r>
            <a:r>
              <a:rPr lang="en-US" sz="2800" spc="-13" dirty="0">
                <a:latin typeface="Arial MT"/>
                <a:cs typeface="Arial MT"/>
              </a:rPr>
              <a:t> </a:t>
            </a:r>
            <a:r>
              <a:rPr lang="en-US" sz="2800" spc="-4" dirty="0">
                <a:solidFill>
                  <a:srgbClr val="FF0000"/>
                </a:solidFill>
                <a:latin typeface="Arial MT"/>
                <a:cs typeface="Arial MT"/>
              </a:rPr>
              <a:t>one-hot encoding</a:t>
            </a:r>
            <a:endParaRPr lang="en-US" sz="2800" dirty="0">
              <a:solidFill>
                <a:srgbClr val="FF0000"/>
              </a:solidFill>
              <a:latin typeface="Arial MT"/>
              <a:cs typeface="Arial MT"/>
            </a:endParaRPr>
          </a:p>
          <a:p>
            <a:pPr marL="313221" marR="4483" indent="-302575">
              <a:spcBef>
                <a:spcPts val="84"/>
              </a:spcBef>
              <a:buChar char="•"/>
              <a:tabLst>
                <a:tab pos="313221" algn="l"/>
                <a:tab pos="313781" algn="l"/>
              </a:tabLst>
            </a:pPr>
            <a:r>
              <a:rPr lang="en-US" sz="2800" spc="-4" dirty="0">
                <a:solidFill>
                  <a:srgbClr val="00B0F0"/>
                </a:solidFill>
                <a:latin typeface="Arial MT"/>
                <a:cs typeface="Arial MT"/>
              </a:rPr>
              <a:t>Euclidean</a:t>
            </a:r>
            <a:r>
              <a:rPr lang="en-US" sz="2800" spc="-9" dirty="0">
                <a:solidFill>
                  <a:srgbClr val="00B0F0"/>
                </a:solidFill>
                <a:latin typeface="Arial MT"/>
                <a:cs typeface="Arial MT"/>
              </a:rPr>
              <a:t> </a:t>
            </a:r>
            <a:r>
              <a:rPr lang="en-US" sz="2800" spc="-4" dirty="0">
                <a:solidFill>
                  <a:srgbClr val="00B0F0"/>
                </a:solidFill>
                <a:latin typeface="Arial MT"/>
                <a:cs typeface="Arial MT"/>
              </a:rPr>
              <a:t>distance</a:t>
            </a:r>
            <a:r>
              <a:rPr lang="en-US" sz="2800" spc="4" dirty="0">
                <a:latin typeface="Arial MT"/>
                <a:cs typeface="Arial MT"/>
              </a:rPr>
              <a:t> </a:t>
            </a:r>
            <a:r>
              <a:rPr lang="en-US" sz="2800" spc="-4" dirty="0">
                <a:latin typeface="Arial MT"/>
                <a:cs typeface="Arial MT"/>
              </a:rPr>
              <a:t>between</a:t>
            </a:r>
            <a:r>
              <a:rPr lang="en-US" sz="2800" dirty="0">
                <a:latin typeface="Arial MT"/>
                <a:cs typeface="Arial MT"/>
              </a:rPr>
              <a:t> </a:t>
            </a:r>
            <a:r>
              <a:rPr lang="en-US" sz="2800" spc="-4" dirty="0">
                <a:latin typeface="Arial MT"/>
                <a:cs typeface="Arial MT"/>
              </a:rPr>
              <a:t>any</a:t>
            </a:r>
            <a:r>
              <a:rPr lang="en-US" sz="2800" spc="9" dirty="0">
                <a:latin typeface="Arial MT"/>
                <a:cs typeface="Arial MT"/>
              </a:rPr>
              <a:t> </a:t>
            </a:r>
            <a:r>
              <a:rPr lang="en-US" sz="2800" spc="-4" dirty="0">
                <a:latin typeface="Arial MT"/>
                <a:cs typeface="Arial MT"/>
              </a:rPr>
              <a:t>two</a:t>
            </a:r>
            <a:r>
              <a:rPr lang="en-US" sz="2800" spc="18" dirty="0">
                <a:latin typeface="Arial MT"/>
                <a:cs typeface="Arial MT"/>
              </a:rPr>
              <a:t> </a:t>
            </a:r>
            <a:r>
              <a:rPr lang="en-US" sz="2800" spc="-4" dirty="0" err="1">
                <a:latin typeface="Arial MT"/>
                <a:cs typeface="Arial MT"/>
              </a:rPr>
              <a:t>paris</a:t>
            </a:r>
            <a:r>
              <a:rPr lang="en-US" sz="2800" spc="4" dirty="0">
                <a:latin typeface="Arial MT"/>
                <a:cs typeface="Arial MT"/>
              </a:rPr>
              <a:t> </a:t>
            </a:r>
            <a:r>
              <a:rPr lang="en-US" sz="2800" spc="-4" dirty="0">
                <a:latin typeface="Arial MT"/>
                <a:cs typeface="Arial MT"/>
              </a:rPr>
              <a:t>of</a:t>
            </a:r>
            <a:r>
              <a:rPr lang="en-US" sz="2800" spc="4" dirty="0">
                <a:latin typeface="Arial MT"/>
                <a:cs typeface="Arial MT"/>
              </a:rPr>
              <a:t> </a:t>
            </a:r>
            <a:r>
              <a:rPr lang="en-US" sz="2800" spc="-4" dirty="0">
                <a:latin typeface="Arial MT"/>
                <a:cs typeface="Arial MT"/>
              </a:rPr>
              <a:t>words</a:t>
            </a:r>
            <a:r>
              <a:rPr lang="en-US" sz="2800" spc="13" dirty="0">
                <a:latin typeface="Arial MT"/>
                <a:cs typeface="Arial MT"/>
              </a:rPr>
              <a:t> </a:t>
            </a:r>
            <a:r>
              <a:rPr lang="en-US" sz="2800" spc="-4" dirty="0">
                <a:latin typeface="Arial MT"/>
                <a:cs typeface="Arial MT"/>
              </a:rPr>
              <a:t>is always</a:t>
            </a:r>
            <a:r>
              <a:rPr lang="en-US" sz="2800" spc="9" dirty="0">
                <a:latin typeface="Arial MT"/>
                <a:cs typeface="Arial MT"/>
              </a:rPr>
              <a:t> </a:t>
            </a:r>
            <a:r>
              <a:rPr lang="en-US" sz="2800" spc="-4" dirty="0">
                <a:latin typeface="Arial MT"/>
                <a:cs typeface="Arial MT"/>
              </a:rPr>
              <a:t>the </a:t>
            </a:r>
            <a:r>
              <a:rPr lang="en-US" sz="2800" spc="-529" dirty="0">
                <a:latin typeface="Arial MT"/>
                <a:cs typeface="Arial MT"/>
              </a:rPr>
              <a:t> </a:t>
            </a:r>
            <a:r>
              <a:rPr lang="en-US" sz="2800" spc="-4" dirty="0">
                <a:latin typeface="Arial MT"/>
                <a:cs typeface="Arial MT"/>
              </a:rPr>
              <a:t>same</a:t>
            </a:r>
            <a:endParaRPr lang="en-US" sz="2800" dirty="0">
              <a:latin typeface="Arial MT"/>
              <a:cs typeface="Arial MT"/>
            </a:endParaRPr>
          </a:p>
          <a:p>
            <a:pPr marL="313221" marR="328350" indent="-302575">
              <a:spcBef>
                <a:spcPts val="463"/>
              </a:spcBef>
              <a:buChar char="•"/>
              <a:tabLst>
                <a:tab pos="313221" algn="l"/>
                <a:tab pos="313781" algn="l"/>
              </a:tabLst>
            </a:pPr>
            <a:r>
              <a:rPr lang="en-US" sz="2800" spc="-4" dirty="0">
                <a:latin typeface="Arial MT"/>
                <a:cs typeface="Arial MT"/>
              </a:rPr>
              <a:t>Hence,</a:t>
            </a:r>
            <a:r>
              <a:rPr lang="en-US" sz="2800" spc="4" dirty="0">
                <a:latin typeface="Arial MT"/>
                <a:cs typeface="Arial MT"/>
              </a:rPr>
              <a:t> </a:t>
            </a:r>
            <a:r>
              <a:rPr lang="en-US" sz="2800" spc="-4" dirty="0">
                <a:latin typeface="Arial MT"/>
                <a:cs typeface="Arial MT"/>
              </a:rPr>
              <a:t>algorithm</a:t>
            </a:r>
            <a:r>
              <a:rPr lang="en-US" sz="2800" spc="18" dirty="0">
                <a:latin typeface="Arial MT"/>
                <a:cs typeface="Arial MT"/>
              </a:rPr>
              <a:t> </a:t>
            </a:r>
            <a:r>
              <a:rPr lang="en-US" sz="2800" spc="-4" dirty="0">
                <a:latin typeface="Arial MT"/>
                <a:cs typeface="Arial MT"/>
              </a:rPr>
              <a:t>does</a:t>
            </a:r>
            <a:r>
              <a:rPr lang="en-US" sz="2800" spc="9" dirty="0">
                <a:latin typeface="Arial MT"/>
                <a:cs typeface="Arial MT"/>
              </a:rPr>
              <a:t> </a:t>
            </a:r>
            <a:r>
              <a:rPr lang="en-US" sz="2800" spc="-4" dirty="0">
                <a:latin typeface="Arial MT"/>
                <a:cs typeface="Arial MT"/>
              </a:rPr>
              <a:t>not</a:t>
            </a:r>
            <a:r>
              <a:rPr lang="en-US" sz="2800" spc="4" dirty="0">
                <a:latin typeface="Arial MT"/>
                <a:cs typeface="Arial MT"/>
              </a:rPr>
              <a:t> </a:t>
            </a:r>
            <a:r>
              <a:rPr lang="en-US" sz="2800" spc="-4" dirty="0">
                <a:latin typeface="Arial MT"/>
                <a:cs typeface="Arial MT"/>
              </a:rPr>
              <a:t>know</a:t>
            </a:r>
            <a:r>
              <a:rPr lang="en-US" sz="2800" dirty="0">
                <a:latin typeface="Arial MT"/>
                <a:cs typeface="Arial MT"/>
              </a:rPr>
              <a:t> </a:t>
            </a:r>
            <a:r>
              <a:rPr lang="en-US" sz="2800" spc="-4" dirty="0">
                <a:latin typeface="Arial MT"/>
                <a:cs typeface="Arial MT"/>
              </a:rPr>
              <a:t>that</a:t>
            </a:r>
            <a:r>
              <a:rPr lang="en-US" sz="2800" spc="4" dirty="0">
                <a:latin typeface="Arial MT"/>
                <a:cs typeface="Arial MT"/>
              </a:rPr>
              <a:t> </a:t>
            </a:r>
            <a:r>
              <a:rPr lang="en-US" sz="2800" spc="-4" dirty="0">
                <a:solidFill>
                  <a:srgbClr val="FFC000"/>
                </a:solidFill>
                <a:latin typeface="Arial MT"/>
                <a:cs typeface="Arial MT"/>
              </a:rPr>
              <a:t>“apple”</a:t>
            </a:r>
            <a:r>
              <a:rPr lang="en-US" sz="2800" spc="13" dirty="0">
                <a:solidFill>
                  <a:srgbClr val="FFC000"/>
                </a:solidFill>
                <a:latin typeface="Arial MT"/>
                <a:cs typeface="Arial MT"/>
              </a:rPr>
              <a:t> </a:t>
            </a:r>
            <a:r>
              <a:rPr lang="en-US" sz="2800" spc="-4" dirty="0">
                <a:solidFill>
                  <a:srgbClr val="FFC000"/>
                </a:solidFill>
                <a:latin typeface="Arial MT"/>
                <a:cs typeface="Arial MT"/>
              </a:rPr>
              <a:t>and</a:t>
            </a:r>
            <a:r>
              <a:rPr lang="en-US" sz="2800" spc="4" dirty="0">
                <a:solidFill>
                  <a:srgbClr val="FFC000"/>
                </a:solidFill>
                <a:latin typeface="Arial MT"/>
                <a:cs typeface="Arial MT"/>
              </a:rPr>
              <a:t> </a:t>
            </a:r>
            <a:r>
              <a:rPr lang="en-US" sz="2800" spc="-4" dirty="0">
                <a:solidFill>
                  <a:srgbClr val="FFC000"/>
                </a:solidFill>
                <a:latin typeface="Arial MT"/>
                <a:cs typeface="Arial MT"/>
              </a:rPr>
              <a:t>“orange”</a:t>
            </a:r>
            <a:r>
              <a:rPr lang="en-US" sz="2800" spc="26" dirty="0">
                <a:solidFill>
                  <a:srgbClr val="FFC000"/>
                </a:solidFill>
                <a:latin typeface="Arial MT"/>
                <a:cs typeface="Arial MT"/>
              </a:rPr>
              <a:t> </a:t>
            </a:r>
            <a:r>
              <a:rPr lang="en-US" sz="2800" spc="-4" dirty="0">
                <a:solidFill>
                  <a:srgbClr val="FFC000"/>
                </a:solidFill>
                <a:latin typeface="Arial MT"/>
                <a:cs typeface="Arial MT"/>
              </a:rPr>
              <a:t>are </a:t>
            </a:r>
            <a:r>
              <a:rPr lang="en-US" sz="2800" spc="-525" dirty="0">
                <a:solidFill>
                  <a:srgbClr val="FFC000"/>
                </a:solidFill>
                <a:latin typeface="Arial MT"/>
                <a:cs typeface="Arial MT"/>
              </a:rPr>
              <a:t> </a:t>
            </a:r>
            <a:r>
              <a:rPr lang="en-US" sz="2800" spc="-4" dirty="0">
                <a:solidFill>
                  <a:srgbClr val="FFC000"/>
                </a:solidFill>
                <a:latin typeface="Arial MT"/>
                <a:cs typeface="Arial MT"/>
              </a:rPr>
              <a:t>more</a:t>
            </a:r>
            <a:r>
              <a:rPr lang="en-US" sz="2800" spc="22" dirty="0">
                <a:solidFill>
                  <a:srgbClr val="FFC000"/>
                </a:solidFill>
                <a:latin typeface="Arial MT"/>
                <a:cs typeface="Arial MT"/>
              </a:rPr>
              <a:t> </a:t>
            </a:r>
            <a:r>
              <a:rPr lang="en-US" sz="2800" spc="-4" dirty="0">
                <a:solidFill>
                  <a:srgbClr val="FFC000"/>
                </a:solidFill>
                <a:latin typeface="Arial MT"/>
                <a:cs typeface="Arial MT"/>
              </a:rPr>
              <a:t>similar</a:t>
            </a:r>
            <a:r>
              <a:rPr lang="en-US" sz="2800" dirty="0">
                <a:solidFill>
                  <a:srgbClr val="FFC000"/>
                </a:solidFill>
                <a:latin typeface="Arial MT"/>
                <a:cs typeface="Arial MT"/>
              </a:rPr>
              <a:t> </a:t>
            </a:r>
            <a:r>
              <a:rPr lang="en-US" sz="2800" spc="-4" dirty="0">
                <a:solidFill>
                  <a:srgbClr val="FFC000"/>
                </a:solidFill>
                <a:latin typeface="Arial MT"/>
                <a:cs typeface="Arial MT"/>
              </a:rPr>
              <a:t>than</a:t>
            </a:r>
            <a:r>
              <a:rPr lang="en-US" sz="2800" dirty="0">
                <a:solidFill>
                  <a:srgbClr val="FFC000"/>
                </a:solidFill>
                <a:latin typeface="Arial MT"/>
                <a:cs typeface="Arial MT"/>
              </a:rPr>
              <a:t> </a:t>
            </a:r>
            <a:r>
              <a:rPr lang="en-US" sz="2800" spc="-4" dirty="0">
                <a:solidFill>
                  <a:srgbClr val="FFC000"/>
                </a:solidFill>
                <a:latin typeface="Arial MT"/>
                <a:cs typeface="Arial MT"/>
              </a:rPr>
              <a:t>“apple”</a:t>
            </a:r>
            <a:r>
              <a:rPr lang="en-US" sz="2800" spc="9" dirty="0">
                <a:solidFill>
                  <a:srgbClr val="FFC000"/>
                </a:solidFill>
                <a:latin typeface="Arial MT"/>
                <a:cs typeface="Arial MT"/>
              </a:rPr>
              <a:t> </a:t>
            </a:r>
            <a:r>
              <a:rPr lang="en-US" sz="2800" spc="-4" dirty="0">
                <a:solidFill>
                  <a:srgbClr val="FFC000"/>
                </a:solidFill>
                <a:latin typeface="Arial MT"/>
                <a:cs typeface="Arial MT"/>
              </a:rPr>
              <a:t>and</a:t>
            </a:r>
            <a:r>
              <a:rPr lang="en-US" sz="2800" spc="13" dirty="0">
                <a:solidFill>
                  <a:srgbClr val="FFC000"/>
                </a:solidFill>
                <a:latin typeface="Arial MT"/>
                <a:cs typeface="Arial MT"/>
              </a:rPr>
              <a:t> </a:t>
            </a:r>
            <a:r>
              <a:rPr lang="en-US" sz="2800" spc="-4" dirty="0">
                <a:solidFill>
                  <a:srgbClr val="FFC000"/>
                </a:solidFill>
                <a:latin typeface="Arial MT"/>
                <a:cs typeface="Arial MT"/>
              </a:rPr>
              <a:t>“chair”</a:t>
            </a:r>
            <a:r>
              <a:rPr lang="en-US" sz="2800" dirty="0">
                <a:solidFill>
                  <a:srgbClr val="FFC000"/>
                </a:solidFill>
                <a:latin typeface="Arial MT"/>
                <a:cs typeface="Arial MT"/>
              </a:rPr>
              <a:t> </a:t>
            </a:r>
            <a:r>
              <a:rPr lang="en-US" sz="2800" spc="-4" dirty="0">
                <a:solidFill>
                  <a:srgbClr val="FFC000"/>
                </a:solidFill>
                <a:latin typeface="Arial MT"/>
                <a:cs typeface="Arial MT"/>
              </a:rPr>
              <a:t>etc</a:t>
            </a:r>
            <a:r>
              <a:rPr lang="en-US" sz="2800" spc="-4" dirty="0">
                <a:latin typeface="Arial MT"/>
                <a:cs typeface="Arial MT"/>
              </a:rPr>
              <a:t>.</a:t>
            </a:r>
            <a:endParaRPr lang="en-US" sz="2800" dirty="0">
              <a:latin typeface="Arial MT"/>
              <a:cs typeface="Arial MT"/>
            </a:endParaRPr>
          </a:p>
          <a:p>
            <a:pPr marL="313221" marR="163054" indent="-302575">
              <a:spcBef>
                <a:spcPts val="468"/>
              </a:spcBef>
              <a:buChar char="•"/>
              <a:tabLst>
                <a:tab pos="313221" algn="l"/>
                <a:tab pos="313781" algn="l"/>
              </a:tabLst>
            </a:pPr>
            <a:r>
              <a:rPr lang="en-US" sz="2800" spc="-4" dirty="0">
                <a:solidFill>
                  <a:srgbClr val="00B0F0"/>
                </a:solidFill>
                <a:latin typeface="Arial MT"/>
                <a:cs typeface="Arial MT"/>
              </a:rPr>
              <a:t>Solution:</a:t>
            </a:r>
            <a:r>
              <a:rPr lang="en-US" sz="2800" spc="9" dirty="0">
                <a:solidFill>
                  <a:srgbClr val="00B0F0"/>
                </a:solidFill>
                <a:latin typeface="Arial MT"/>
                <a:cs typeface="Arial MT"/>
              </a:rPr>
              <a:t> </a:t>
            </a:r>
            <a:r>
              <a:rPr lang="en-US" sz="2800" spc="-4" dirty="0">
                <a:latin typeface="Arial MT"/>
                <a:cs typeface="Arial MT"/>
              </a:rPr>
              <a:t>Instead</a:t>
            </a:r>
            <a:r>
              <a:rPr lang="en-US" sz="2800" spc="9" dirty="0">
                <a:latin typeface="Arial MT"/>
                <a:cs typeface="Arial MT"/>
              </a:rPr>
              <a:t> </a:t>
            </a:r>
            <a:r>
              <a:rPr lang="en-US" sz="2800" spc="-4" dirty="0">
                <a:latin typeface="Arial MT"/>
                <a:cs typeface="Arial MT"/>
              </a:rPr>
              <a:t>of</a:t>
            </a:r>
            <a:r>
              <a:rPr lang="en-US" sz="2800" spc="9" dirty="0">
                <a:latin typeface="Arial MT"/>
                <a:cs typeface="Arial MT"/>
              </a:rPr>
              <a:t> </a:t>
            </a:r>
            <a:r>
              <a:rPr lang="en-US" sz="2800" spc="-4" dirty="0">
                <a:latin typeface="Arial MT"/>
                <a:cs typeface="Arial MT"/>
              </a:rPr>
              <a:t>a</a:t>
            </a:r>
            <a:r>
              <a:rPr lang="en-US" sz="2800" spc="9" dirty="0">
                <a:latin typeface="Arial MT"/>
                <a:cs typeface="Arial MT"/>
              </a:rPr>
              <a:t> </a:t>
            </a:r>
            <a:r>
              <a:rPr lang="en-US" sz="2800" spc="-4" dirty="0">
                <a:latin typeface="Arial MT"/>
                <a:cs typeface="Arial MT"/>
              </a:rPr>
              <a:t>one-hot</a:t>
            </a:r>
            <a:r>
              <a:rPr lang="en-US" sz="2800" spc="18" dirty="0">
                <a:latin typeface="Arial MT"/>
                <a:cs typeface="Arial MT"/>
              </a:rPr>
              <a:t> </a:t>
            </a:r>
            <a:r>
              <a:rPr lang="en-US" sz="2800" spc="-4" dirty="0">
                <a:latin typeface="Arial MT"/>
                <a:cs typeface="Arial MT"/>
              </a:rPr>
              <a:t>representation;</a:t>
            </a:r>
            <a:r>
              <a:rPr lang="en-US" sz="2800" spc="18" dirty="0">
                <a:latin typeface="Arial MT"/>
                <a:cs typeface="Arial MT"/>
              </a:rPr>
              <a:t> </a:t>
            </a:r>
            <a:r>
              <a:rPr lang="en-US" sz="2800" spc="-4" dirty="0">
                <a:solidFill>
                  <a:srgbClr val="00B050"/>
                </a:solidFill>
                <a:latin typeface="Arial MT"/>
                <a:cs typeface="Arial MT"/>
              </a:rPr>
              <a:t>learn</a:t>
            </a:r>
            <a:r>
              <a:rPr lang="en-US" sz="2800" spc="9" dirty="0">
                <a:solidFill>
                  <a:srgbClr val="00B050"/>
                </a:solidFill>
                <a:latin typeface="Arial MT"/>
                <a:cs typeface="Arial MT"/>
              </a:rPr>
              <a:t> </a:t>
            </a:r>
            <a:r>
              <a:rPr lang="en-US" sz="2800" spc="-4" dirty="0">
                <a:solidFill>
                  <a:srgbClr val="00B050"/>
                </a:solidFill>
                <a:latin typeface="Arial MT"/>
                <a:cs typeface="Arial MT"/>
              </a:rPr>
              <a:t>a</a:t>
            </a:r>
            <a:r>
              <a:rPr lang="en-US" sz="2800" spc="22" dirty="0">
                <a:solidFill>
                  <a:srgbClr val="00B050"/>
                </a:solidFill>
                <a:latin typeface="Arial MT"/>
                <a:cs typeface="Arial MT"/>
              </a:rPr>
              <a:t> </a:t>
            </a:r>
            <a:r>
              <a:rPr lang="en-US" sz="2800" spc="-4" dirty="0" err="1">
                <a:solidFill>
                  <a:srgbClr val="00B050"/>
                </a:solidFill>
                <a:latin typeface="Arial MT"/>
                <a:cs typeface="Arial MT"/>
              </a:rPr>
              <a:t>featurized</a:t>
            </a:r>
            <a:r>
              <a:rPr lang="en-US" sz="2800" spc="-4" dirty="0">
                <a:solidFill>
                  <a:srgbClr val="00B050"/>
                </a:solidFill>
                <a:latin typeface="Arial MT"/>
                <a:cs typeface="Arial MT"/>
              </a:rPr>
              <a:t> </a:t>
            </a:r>
            <a:r>
              <a:rPr lang="en-US" sz="2800" spc="-529" dirty="0">
                <a:solidFill>
                  <a:srgbClr val="00B050"/>
                </a:solidFill>
                <a:latin typeface="Arial MT"/>
                <a:cs typeface="Arial MT"/>
              </a:rPr>
              <a:t> </a:t>
            </a:r>
            <a:r>
              <a:rPr lang="en-US" sz="2800" spc="-4" dirty="0">
                <a:solidFill>
                  <a:srgbClr val="00B050"/>
                </a:solidFill>
                <a:latin typeface="Arial MT"/>
                <a:cs typeface="Arial MT"/>
              </a:rPr>
              <a:t>representation</a:t>
            </a:r>
            <a:r>
              <a:rPr lang="en-US" sz="2800" spc="9" dirty="0">
                <a:latin typeface="Arial MT"/>
                <a:cs typeface="Arial MT"/>
              </a:rPr>
              <a:t> </a:t>
            </a:r>
            <a:r>
              <a:rPr lang="en-US" sz="2800" spc="-4" dirty="0">
                <a:latin typeface="Arial MT"/>
                <a:cs typeface="Arial MT"/>
              </a:rPr>
              <a:t>(</a:t>
            </a:r>
            <a:r>
              <a:rPr lang="en-US" sz="2800" i="1" spc="-4" dirty="0">
                <a:solidFill>
                  <a:srgbClr val="FF0000"/>
                </a:solidFill>
                <a:latin typeface="Arial"/>
                <a:cs typeface="Arial"/>
              </a:rPr>
              <a:t>Word</a:t>
            </a:r>
            <a:r>
              <a:rPr lang="en-US" sz="2800" i="1" spc="13" dirty="0">
                <a:solidFill>
                  <a:srgbClr val="FF0000"/>
                </a:solidFill>
                <a:latin typeface="Arial"/>
                <a:cs typeface="Arial"/>
              </a:rPr>
              <a:t> </a:t>
            </a:r>
            <a:r>
              <a:rPr lang="en-US" sz="2800" i="1" spc="-4" dirty="0">
                <a:solidFill>
                  <a:srgbClr val="FF0000"/>
                </a:solidFill>
                <a:latin typeface="Arial"/>
                <a:cs typeface="Arial"/>
              </a:rPr>
              <a:t>Embeddings</a:t>
            </a:r>
            <a:r>
              <a:rPr lang="en-US" sz="2800" spc="-4" dirty="0">
                <a:latin typeface="Arial MT"/>
                <a:cs typeface="Arial MT"/>
              </a:rPr>
              <a:t>)</a:t>
            </a:r>
            <a:endParaRPr lang="en-US" sz="2800" dirty="0">
              <a:latin typeface="Arial MT"/>
              <a:cs typeface="Arial MT"/>
            </a:endParaRPr>
          </a:p>
          <a:p>
            <a:endParaRPr lang="en-US" dirty="0"/>
          </a:p>
        </p:txBody>
      </p:sp>
      <p:sp>
        <p:nvSpPr>
          <p:cNvPr id="19" name="object 19"/>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21</a:t>
            </a:fld>
            <a:endParaRPr dirty="0"/>
          </a:p>
        </p:txBody>
      </p:sp>
      <p:sp>
        <p:nvSpPr>
          <p:cNvPr id="20" name="object 20"/>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557D4B5B-3E49-48CE-9805-3550483CB9C0}" type="datetime1">
              <a:rPr lang="en-US" spc="-9" smtClean="0"/>
              <a:t>10/22/2025</a:t>
            </a:fld>
            <a:endParaRPr spc="-9" dirty="0"/>
          </a:p>
        </p:txBody>
      </p:sp>
      <p:sp>
        <p:nvSpPr>
          <p:cNvPr id="21" name="object 21"/>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6D518F-7A31-BE29-CB68-6C7F15A6B834}"/>
              </a:ext>
            </a:extLst>
          </p:cNvPr>
          <p:cNvSpPr>
            <a:spLocks noGrp="1"/>
          </p:cNvSpPr>
          <p:nvPr>
            <p:ph idx="1"/>
          </p:nvPr>
        </p:nvSpPr>
        <p:spPr/>
        <p:txBody>
          <a:bodyPr>
            <a:normAutofit/>
          </a:bodyPr>
          <a:lstStyle/>
          <a:p>
            <a:r>
              <a:rPr lang="en-US" dirty="0"/>
              <a:t>Traditionally, </a:t>
            </a:r>
            <a:r>
              <a:rPr lang="en-US" b="1" dirty="0"/>
              <a:t>Bag of Words (</a:t>
            </a:r>
            <a:r>
              <a:rPr lang="en-US" b="1" dirty="0" err="1"/>
              <a:t>BoW</a:t>
            </a:r>
            <a:r>
              <a:rPr lang="en-US" b="1" dirty="0"/>
              <a:t>)</a:t>
            </a:r>
            <a:r>
              <a:rPr lang="en-US" dirty="0"/>
              <a:t> has been one of the most popular methods for </a:t>
            </a:r>
            <a:r>
              <a:rPr lang="en-US" dirty="0">
                <a:solidFill>
                  <a:srgbClr val="FFC000"/>
                </a:solidFill>
              </a:rPr>
              <a:t>representing textual information</a:t>
            </a:r>
            <a:r>
              <a:rPr lang="en-US" dirty="0"/>
              <a:t>.</a:t>
            </a:r>
          </a:p>
          <a:p>
            <a:r>
              <a:rPr lang="en-US" dirty="0" err="1"/>
              <a:t>BoW</a:t>
            </a:r>
            <a:r>
              <a:rPr lang="en-US" dirty="0"/>
              <a:t> is a simple and flexible approach to </a:t>
            </a:r>
            <a:r>
              <a:rPr lang="en-US" dirty="0">
                <a:solidFill>
                  <a:srgbClr val="FF0000"/>
                </a:solidFill>
              </a:rPr>
              <a:t>transforming text into vector form</a:t>
            </a:r>
          </a:p>
          <a:p>
            <a:r>
              <a:rPr lang="en-US" dirty="0"/>
              <a:t>Extracting features from raw text, suitable for different algorithms </a:t>
            </a:r>
          </a:p>
          <a:p>
            <a:r>
              <a:rPr lang="en-US" dirty="0" err="1"/>
              <a:t>BoW</a:t>
            </a:r>
            <a:r>
              <a:rPr lang="en-US" dirty="0"/>
              <a:t> model of representation utilizes each </a:t>
            </a:r>
            <a:r>
              <a:rPr lang="en-US" dirty="0">
                <a:solidFill>
                  <a:srgbClr val="00B0F0"/>
                </a:solidFill>
              </a:rPr>
              <a:t>word as a basic unit of measurement</a:t>
            </a:r>
            <a:r>
              <a:rPr lang="en-US" dirty="0"/>
              <a:t>. </a:t>
            </a:r>
          </a:p>
          <a:p>
            <a:r>
              <a:rPr lang="en-US" dirty="0"/>
              <a:t>A </a:t>
            </a:r>
            <a:r>
              <a:rPr lang="en-US" dirty="0" err="1"/>
              <a:t>BoW</a:t>
            </a:r>
            <a:r>
              <a:rPr lang="en-US" dirty="0"/>
              <a:t> model describes the </a:t>
            </a:r>
            <a:r>
              <a:rPr lang="en-US" dirty="0">
                <a:solidFill>
                  <a:srgbClr val="00B0F0"/>
                </a:solidFill>
              </a:rPr>
              <a:t>occurrence of words within a given corpus of text</a:t>
            </a:r>
            <a:r>
              <a:rPr lang="en-US" dirty="0"/>
              <a:t>. </a:t>
            </a:r>
          </a:p>
        </p:txBody>
      </p:sp>
      <p:sp>
        <p:nvSpPr>
          <p:cNvPr id="3" name="Date Placeholder 2">
            <a:extLst>
              <a:ext uri="{FF2B5EF4-FFF2-40B4-BE49-F238E27FC236}">
                <a16:creationId xmlns:a16="http://schemas.microsoft.com/office/drawing/2014/main" id="{932591D7-A55B-EBD9-F108-D3A737B3ADD1}"/>
              </a:ext>
            </a:extLst>
          </p:cNvPr>
          <p:cNvSpPr>
            <a:spLocks noGrp="1"/>
          </p:cNvSpPr>
          <p:nvPr>
            <p:ph type="dt" sz="half" idx="10"/>
          </p:nvPr>
        </p:nvSpPr>
        <p:spPr/>
        <p:txBody>
          <a:bodyPr/>
          <a:lstStyle/>
          <a:p>
            <a:fld id="{F6445058-0B4D-4E69-8AD7-FDEE0632EB4A}" type="datetime1">
              <a:rPr lang="en-US" smtClean="0"/>
              <a:t>10/22/2025</a:t>
            </a:fld>
            <a:endParaRPr lang="en-US"/>
          </a:p>
        </p:txBody>
      </p:sp>
      <p:sp>
        <p:nvSpPr>
          <p:cNvPr id="4" name="Footer Placeholder 3">
            <a:extLst>
              <a:ext uri="{FF2B5EF4-FFF2-40B4-BE49-F238E27FC236}">
                <a16:creationId xmlns:a16="http://schemas.microsoft.com/office/drawing/2014/main" id="{7187FA2F-F4A7-693E-F748-6E89299DD53B}"/>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194A78C9-A88B-E16C-BAC3-20BA721C6A61}"/>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6" name="Title 5">
            <a:extLst>
              <a:ext uri="{FF2B5EF4-FFF2-40B4-BE49-F238E27FC236}">
                <a16:creationId xmlns:a16="http://schemas.microsoft.com/office/drawing/2014/main" id="{929C9AA4-C360-A749-1BE0-A9A447A5A3B7}"/>
              </a:ext>
            </a:extLst>
          </p:cNvPr>
          <p:cNvSpPr>
            <a:spLocks noGrp="1"/>
          </p:cNvSpPr>
          <p:nvPr>
            <p:ph type="title"/>
          </p:nvPr>
        </p:nvSpPr>
        <p:spPr/>
        <p:txBody>
          <a:bodyPr/>
          <a:lstStyle/>
          <a:p>
            <a:r>
              <a:rPr lang="en-US" dirty="0"/>
              <a:t>Bag of Words</a:t>
            </a:r>
          </a:p>
        </p:txBody>
      </p:sp>
    </p:spTree>
    <p:extLst>
      <p:ext uri="{BB962C8B-B14F-4D97-AF65-F5344CB8AC3E}">
        <p14:creationId xmlns:p14="http://schemas.microsoft.com/office/powerpoint/2010/main" val="895608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02691-5ADD-5B9F-CD19-46AB250ED912}"/>
              </a:ext>
            </a:extLst>
          </p:cNvPr>
          <p:cNvSpPr>
            <a:spLocks noGrp="1"/>
          </p:cNvSpPr>
          <p:nvPr>
            <p:ph idx="1"/>
          </p:nvPr>
        </p:nvSpPr>
        <p:spPr/>
        <p:txBody>
          <a:bodyPr/>
          <a:lstStyle/>
          <a:p>
            <a:r>
              <a:rPr lang="en-US" dirty="0"/>
              <a:t>To build a </a:t>
            </a:r>
            <a:r>
              <a:rPr lang="en-US" dirty="0" err="1"/>
              <a:t>BoW</a:t>
            </a:r>
            <a:r>
              <a:rPr lang="en-US" dirty="0"/>
              <a:t> model for representation, we require two major things:</a:t>
            </a:r>
          </a:p>
          <a:p>
            <a:r>
              <a:rPr lang="en-US" b="1" dirty="0"/>
              <a:t>A vocabulary</a:t>
            </a:r>
            <a:r>
              <a:rPr lang="en-US" dirty="0"/>
              <a:t>: A collection of known words from the corpus of text to be analyzed.</a:t>
            </a:r>
          </a:p>
          <a:p>
            <a:r>
              <a:rPr lang="en-US" b="1" dirty="0"/>
              <a:t>A measure of occurrence</a:t>
            </a:r>
            <a:r>
              <a:rPr lang="en-US" dirty="0"/>
              <a:t>: Counting the occurrence of each word, known as term frequency</a:t>
            </a:r>
          </a:p>
          <a:p>
            <a:pPr lvl="1"/>
            <a:r>
              <a:rPr lang="en-US" dirty="0"/>
              <a:t>Other measure are also possible</a:t>
            </a:r>
          </a:p>
          <a:p>
            <a:pPr lvl="1"/>
            <a:r>
              <a:rPr lang="en-US" dirty="0"/>
              <a:t>An example of metric </a:t>
            </a:r>
            <a:r>
              <a:rPr lang="en-US" dirty="0">
                <a:solidFill>
                  <a:srgbClr val="00B0F0"/>
                </a:solidFill>
              </a:rPr>
              <a:t>is TF-IDF</a:t>
            </a:r>
          </a:p>
        </p:txBody>
      </p:sp>
      <p:sp>
        <p:nvSpPr>
          <p:cNvPr id="3" name="Date Placeholder 2">
            <a:extLst>
              <a:ext uri="{FF2B5EF4-FFF2-40B4-BE49-F238E27FC236}">
                <a16:creationId xmlns:a16="http://schemas.microsoft.com/office/drawing/2014/main" id="{1BDF90C1-9161-E387-3FF6-EB28D8E97E9F}"/>
              </a:ext>
            </a:extLst>
          </p:cNvPr>
          <p:cNvSpPr>
            <a:spLocks noGrp="1"/>
          </p:cNvSpPr>
          <p:nvPr>
            <p:ph type="dt" sz="half" idx="10"/>
          </p:nvPr>
        </p:nvSpPr>
        <p:spPr/>
        <p:txBody>
          <a:bodyPr/>
          <a:lstStyle/>
          <a:p>
            <a:fld id="{D049F6A4-063D-4B41-ADA4-93094405DD86}" type="datetime1">
              <a:rPr lang="en-US" smtClean="0"/>
              <a:t>10/22/2025</a:t>
            </a:fld>
            <a:endParaRPr lang="en-US"/>
          </a:p>
        </p:txBody>
      </p:sp>
      <p:sp>
        <p:nvSpPr>
          <p:cNvPr id="4" name="Footer Placeholder 3">
            <a:extLst>
              <a:ext uri="{FF2B5EF4-FFF2-40B4-BE49-F238E27FC236}">
                <a16:creationId xmlns:a16="http://schemas.microsoft.com/office/drawing/2014/main" id="{1F718F1B-ACEA-04C8-018C-3ED62BE65D6E}"/>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C6F085E8-B53C-C4E3-217F-169941C45908}"/>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6" name="Title 5">
            <a:extLst>
              <a:ext uri="{FF2B5EF4-FFF2-40B4-BE49-F238E27FC236}">
                <a16:creationId xmlns:a16="http://schemas.microsoft.com/office/drawing/2014/main" id="{7FE083D0-15A2-18AB-1CD6-7A3F04D404EE}"/>
              </a:ext>
            </a:extLst>
          </p:cNvPr>
          <p:cNvSpPr>
            <a:spLocks noGrp="1"/>
          </p:cNvSpPr>
          <p:nvPr>
            <p:ph type="title"/>
          </p:nvPr>
        </p:nvSpPr>
        <p:spPr/>
        <p:txBody>
          <a:bodyPr/>
          <a:lstStyle/>
          <a:p>
            <a:r>
              <a:rPr lang="en-US" dirty="0"/>
              <a:t>Bag of Words</a:t>
            </a:r>
          </a:p>
        </p:txBody>
      </p:sp>
    </p:spTree>
    <p:extLst>
      <p:ext uri="{BB962C8B-B14F-4D97-AF65-F5344CB8AC3E}">
        <p14:creationId xmlns:p14="http://schemas.microsoft.com/office/powerpoint/2010/main" val="1357618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E9DBD7-1738-3C51-62E1-70A6DE76175E}"/>
              </a:ext>
            </a:extLst>
          </p:cNvPr>
          <p:cNvSpPr>
            <a:spLocks noGrp="1"/>
          </p:cNvSpPr>
          <p:nvPr>
            <p:ph idx="1"/>
          </p:nvPr>
        </p:nvSpPr>
        <p:spPr/>
        <p:txBody>
          <a:bodyPr/>
          <a:lstStyle/>
          <a:p>
            <a:r>
              <a:rPr lang="en-US" b="1" i="0" dirty="0">
                <a:solidFill>
                  <a:srgbClr val="0D0D0D"/>
                </a:solidFill>
                <a:effectLst/>
                <a:latin typeface="Söhne"/>
              </a:rPr>
              <a:t>Term Frequency-Inverse Document Frequency (TF-IDF) </a:t>
            </a:r>
            <a:r>
              <a:rPr lang="en-US" b="0" i="0" dirty="0">
                <a:solidFill>
                  <a:srgbClr val="0D0D0D"/>
                </a:solidFill>
                <a:effectLst/>
                <a:latin typeface="Söhne"/>
              </a:rPr>
              <a:t>is a numerical statistic that reflects how important a word is to a document in a collection or corpus. </a:t>
            </a:r>
          </a:p>
          <a:p>
            <a:r>
              <a:rPr lang="en-US" b="1" i="0" dirty="0">
                <a:solidFill>
                  <a:srgbClr val="0D0D0D"/>
                </a:solidFill>
                <a:effectLst/>
                <a:latin typeface="Söhne"/>
              </a:rPr>
              <a:t>Term Frequency (TF)</a:t>
            </a:r>
            <a:r>
              <a:rPr lang="en-US" b="0" i="0" dirty="0">
                <a:solidFill>
                  <a:srgbClr val="0D0D0D"/>
                </a:solidFill>
                <a:effectLst/>
                <a:latin typeface="Söhne"/>
              </a:rPr>
              <a:t>: This measures how frequently a term occurs in a document.</a:t>
            </a:r>
          </a:p>
          <a:p>
            <a:endParaRPr lang="en-US" dirty="0">
              <a:solidFill>
                <a:srgbClr val="0D0D0D"/>
              </a:solidFill>
              <a:latin typeface="Söhne"/>
            </a:endParaRPr>
          </a:p>
          <a:p>
            <a:endParaRPr lang="en-US" dirty="0">
              <a:solidFill>
                <a:srgbClr val="0D0D0D"/>
              </a:solidFill>
              <a:latin typeface="Söhne"/>
            </a:endParaRPr>
          </a:p>
        </p:txBody>
      </p:sp>
      <p:sp>
        <p:nvSpPr>
          <p:cNvPr id="3" name="Date Placeholder 2">
            <a:extLst>
              <a:ext uri="{FF2B5EF4-FFF2-40B4-BE49-F238E27FC236}">
                <a16:creationId xmlns:a16="http://schemas.microsoft.com/office/drawing/2014/main" id="{F31666E9-19E9-2F8D-CD39-083291A93466}"/>
              </a:ext>
            </a:extLst>
          </p:cNvPr>
          <p:cNvSpPr>
            <a:spLocks noGrp="1"/>
          </p:cNvSpPr>
          <p:nvPr>
            <p:ph type="dt" sz="half" idx="10"/>
          </p:nvPr>
        </p:nvSpPr>
        <p:spPr/>
        <p:txBody>
          <a:bodyPr/>
          <a:lstStyle/>
          <a:p>
            <a:fld id="{37ECF36A-19CF-4BF2-847B-ACC9E19F1310}" type="datetime1">
              <a:rPr lang="en-US" smtClean="0"/>
              <a:t>10/22/2025</a:t>
            </a:fld>
            <a:endParaRPr lang="en-US"/>
          </a:p>
        </p:txBody>
      </p:sp>
      <p:sp>
        <p:nvSpPr>
          <p:cNvPr id="4" name="Footer Placeholder 3">
            <a:extLst>
              <a:ext uri="{FF2B5EF4-FFF2-40B4-BE49-F238E27FC236}">
                <a16:creationId xmlns:a16="http://schemas.microsoft.com/office/drawing/2014/main" id="{D50BFE2C-E0C2-E034-556C-34FC91C87FE0}"/>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74100275-167A-CFDA-B978-E6078B598E1D}"/>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6" name="Title 5">
            <a:extLst>
              <a:ext uri="{FF2B5EF4-FFF2-40B4-BE49-F238E27FC236}">
                <a16:creationId xmlns:a16="http://schemas.microsoft.com/office/drawing/2014/main" id="{4A13705C-8BC0-DE13-6F2E-83A42C39AB5C}"/>
              </a:ext>
            </a:extLst>
          </p:cNvPr>
          <p:cNvSpPr>
            <a:spLocks noGrp="1"/>
          </p:cNvSpPr>
          <p:nvPr>
            <p:ph type="title"/>
          </p:nvPr>
        </p:nvSpPr>
        <p:spPr/>
        <p:txBody>
          <a:bodyPr/>
          <a:lstStyle/>
          <a:p>
            <a:r>
              <a:rPr lang="en-US" dirty="0"/>
              <a:t>Bag of Words</a:t>
            </a:r>
          </a:p>
        </p:txBody>
      </p:sp>
      <p:pic>
        <p:nvPicPr>
          <p:cNvPr id="8" name="Picture 7">
            <a:extLst>
              <a:ext uri="{FF2B5EF4-FFF2-40B4-BE49-F238E27FC236}">
                <a16:creationId xmlns:a16="http://schemas.microsoft.com/office/drawing/2014/main" id="{065CF649-278C-33D1-D643-FA68C2A62BB0}"/>
              </a:ext>
            </a:extLst>
          </p:cNvPr>
          <p:cNvPicPr>
            <a:picLocks noChangeAspect="1"/>
          </p:cNvPicPr>
          <p:nvPr/>
        </p:nvPicPr>
        <p:blipFill>
          <a:blip r:embed="rId2"/>
          <a:stretch>
            <a:fillRect/>
          </a:stretch>
        </p:blipFill>
        <p:spPr>
          <a:xfrm>
            <a:off x="2286000" y="4191000"/>
            <a:ext cx="7315200" cy="914400"/>
          </a:xfrm>
          <a:prstGeom prst="rect">
            <a:avLst/>
          </a:prstGeom>
        </p:spPr>
      </p:pic>
    </p:spTree>
    <p:extLst>
      <p:ext uri="{BB962C8B-B14F-4D97-AF65-F5344CB8AC3E}">
        <p14:creationId xmlns:p14="http://schemas.microsoft.com/office/powerpoint/2010/main" val="3517050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2E5A58-9672-98B8-4A29-0C58EBA85C30}"/>
              </a:ext>
            </a:extLst>
          </p:cNvPr>
          <p:cNvSpPr>
            <a:spLocks noGrp="1"/>
          </p:cNvSpPr>
          <p:nvPr>
            <p:ph idx="1"/>
          </p:nvPr>
        </p:nvSpPr>
        <p:spPr/>
        <p:txBody>
          <a:bodyPr/>
          <a:lstStyle/>
          <a:p>
            <a:r>
              <a:rPr lang="en-US" b="1" i="0" dirty="0">
                <a:solidFill>
                  <a:srgbClr val="0D0D0D"/>
                </a:solidFill>
                <a:effectLst/>
                <a:latin typeface="Söhne"/>
              </a:rPr>
              <a:t>Inverse Document Frequency (IDF)</a:t>
            </a:r>
            <a:r>
              <a:rPr lang="en-US" b="0" i="0" dirty="0">
                <a:solidFill>
                  <a:srgbClr val="0D0D0D"/>
                </a:solidFill>
                <a:effectLst/>
                <a:latin typeface="Söhne"/>
              </a:rPr>
              <a:t>: This measures how important a term is within the entire corpus.</a:t>
            </a:r>
          </a:p>
          <a:p>
            <a:endParaRPr lang="en-US" dirty="0">
              <a:solidFill>
                <a:srgbClr val="0D0D0D"/>
              </a:solidFill>
              <a:latin typeface="Söhne"/>
            </a:endParaRPr>
          </a:p>
          <a:p>
            <a:endParaRPr lang="en-US" dirty="0">
              <a:solidFill>
                <a:srgbClr val="0D0D0D"/>
              </a:solidFill>
              <a:latin typeface="Söhne"/>
            </a:endParaRPr>
          </a:p>
          <a:p>
            <a:r>
              <a:rPr lang="en-US" b="0" i="0" dirty="0">
                <a:solidFill>
                  <a:srgbClr val="0D0D0D"/>
                </a:solidFill>
                <a:effectLst/>
                <a:latin typeface="Söhne"/>
              </a:rPr>
              <a:t>TF-IDF score for a term in a document is calculated as:</a:t>
            </a:r>
            <a:endParaRPr lang="en-US" dirty="0"/>
          </a:p>
          <a:p>
            <a:endParaRPr lang="en-US" dirty="0"/>
          </a:p>
        </p:txBody>
      </p:sp>
      <p:sp>
        <p:nvSpPr>
          <p:cNvPr id="3" name="Date Placeholder 2">
            <a:extLst>
              <a:ext uri="{FF2B5EF4-FFF2-40B4-BE49-F238E27FC236}">
                <a16:creationId xmlns:a16="http://schemas.microsoft.com/office/drawing/2014/main" id="{BF7F43B0-E931-D9FE-B1C8-7385936B522D}"/>
              </a:ext>
            </a:extLst>
          </p:cNvPr>
          <p:cNvSpPr>
            <a:spLocks noGrp="1"/>
          </p:cNvSpPr>
          <p:nvPr>
            <p:ph type="dt" sz="half" idx="10"/>
          </p:nvPr>
        </p:nvSpPr>
        <p:spPr/>
        <p:txBody>
          <a:bodyPr/>
          <a:lstStyle/>
          <a:p>
            <a:fld id="{B9C958A3-35EA-455B-86F2-E97A95F0B4A7}" type="datetime1">
              <a:rPr lang="en-US" smtClean="0"/>
              <a:t>10/22/2025</a:t>
            </a:fld>
            <a:endParaRPr lang="en-US"/>
          </a:p>
        </p:txBody>
      </p:sp>
      <p:sp>
        <p:nvSpPr>
          <p:cNvPr id="4" name="Footer Placeholder 3">
            <a:extLst>
              <a:ext uri="{FF2B5EF4-FFF2-40B4-BE49-F238E27FC236}">
                <a16:creationId xmlns:a16="http://schemas.microsoft.com/office/drawing/2014/main" id="{593C1CD0-2817-6D1E-4A0A-2EC7A3606560}"/>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DD573B2C-2285-1B66-2047-98E88C861575}"/>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6" name="Title 5">
            <a:extLst>
              <a:ext uri="{FF2B5EF4-FFF2-40B4-BE49-F238E27FC236}">
                <a16:creationId xmlns:a16="http://schemas.microsoft.com/office/drawing/2014/main" id="{B266D7E4-AD4B-4F93-1C35-5A79D1D76137}"/>
              </a:ext>
            </a:extLst>
          </p:cNvPr>
          <p:cNvSpPr>
            <a:spLocks noGrp="1"/>
          </p:cNvSpPr>
          <p:nvPr>
            <p:ph type="title"/>
          </p:nvPr>
        </p:nvSpPr>
        <p:spPr/>
        <p:txBody>
          <a:bodyPr/>
          <a:lstStyle/>
          <a:p>
            <a:r>
              <a:rPr lang="en-US" dirty="0"/>
              <a:t>Bag of Words</a:t>
            </a:r>
          </a:p>
        </p:txBody>
      </p:sp>
      <p:pic>
        <p:nvPicPr>
          <p:cNvPr id="8" name="Picture 7">
            <a:extLst>
              <a:ext uri="{FF2B5EF4-FFF2-40B4-BE49-F238E27FC236}">
                <a16:creationId xmlns:a16="http://schemas.microsoft.com/office/drawing/2014/main" id="{9DA93FF4-9648-A7F4-ADC1-F715A475B1D5}"/>
              </a:ext>
            </a:extLst>
          </p:cNvPr>
          <p:cNvPicPr>
            <a:picLocks noChangeAspect="1"/>
          </p:cNvPicPr>
          <p:nvPr/>
        </p:nvPicPr>
        <p:blipFill>
          <a:blip r:embed="rId2"/>
          <a:stretch>
            <a:fillRect/>
          </a:stretch>
        </p:blipFill>
        <p:spPr>
          <a:xfrm>
            <a:off x="2438400" y="2514600"/>
            <a:ext cx="6661354" cy="762000"/>
          </a:xfrm>
          <a:prstGeom prst="rect">
            <a:avLst/>
          </a:prstGeom>
        </p:spPr>
      </p:pic>
      <p:pic>
        <p:nvPicPr>
          <p:cNvPr id="10" name="Picture 9">
            <a:extLst>
              <a:ext uri="{FF2B5EF4-FFF2-40B4-BE49-F238E27FC236}">
                <a16:creationId xmlns:a16="http://schemas.microsoft.com/office/drawing/2014/main" id="{38F3BC6E-5889-9A42-BCBD-A54A6D5DB476}"/>
              </a:ext>
            </a:extLst>
          </p:cNvPr>
          <p:cNvPicPr>
            <a:picLocks noChangeAspect="1"/>
          </p:cNvPicPr>
          <p:nvPr/>
        </p:nvPicPr>
        <p:blipFill>
          <a:blip r:embed="rId3"/>
          <a:stretch>
            <a:fillRect/>
          </a:stretch>
        </p:blipFill>
        <p:spPr>
          <a:xfrm>
            <a:off x="3124200" y="4495428"/>
            <a:ext cx="5429896" cy="647886"/>
          </a:xfrm>
          <a:prstGeom prst="rect">
            <a:avLst/>
          </a:prstGeom>
        </p:spPr>
      </p:pic>
    </p:spTree>
    <p:extLst>
      <p:ext uri="{BB962C8B-B14F-4D97-AF65-F5344CB8AC3E}">
        <p14:creationId xmlns:p14="http://schemas.microsoft.com/office/powerpoint/2010/main" val="35186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675A27A9-063E-39AD-5334-C9FD8AC2C619}"/>
              </a:ext>
            </a:extLst>
          </p:cNvPr>
          <p:cNvPicPr>
            <a:picLocks noGrp="1" noChangeAspect="1"/>
          </p:cNvPicPr>
          <p:nvPr>
            <p:ph idx="1"/>
          </p:nvPr>
        </p:nvPicPr>
        <p:blipFill>
          <a:blip r:embed="rId2"/>
          <a:stretch>
            <a:fillRect/>
          </a:stretch>
        </p:blipFill>
        <p:spPr>
          <a:xfrm>
            <a:off x="641251" y="1600200"/>
            <a:ext cx="2781498" cy="959987"/>
          </a:xfrm>
        </p:spPr>
      </p:pic>
      <p:sp>
        <p:nvSpPr>
          <p:cNvPr id="3" name="Date Placeholder 2">
            <a:extLst>
              <a:ext uri="{FF2B5EF4-FFF2-40B4-BE49-F238E27FC236}">
                <a16:creationId xmlns:a16="http://schemas.microsoft.com/office/drawing/2014/main" id="{AE350953-926B-8624-F353-60559FB7B220}"/>
              </a:ext>
            </a:extLst>
          </p:cNvPr>
          <p:cNvSpPr>
            <a:spLocks noGrp="1"/>
          </p:cNvSpPr>
          <p:nvPr>
            <p:ph type="dt" sz="half" idx="10"/>
          </p:nvPr>
        </p:nvSpPr>
        <p:spPr/>
        <p:txBody>
          <a:bodyPr/>
          <a:lstStyle/>
          <a:p>
            <a:fld id="{20F7829B-C3D4-4DD2-9AFB-7E4B1A93E46D}" type="datetime1">
              <a:rPr lang="en-US" smtClean="0"/>
              <a:t>10/22/2025</a:t>
            </a:fld>
            <a:endParaRPr lang="en-US"/>
          </a:p>
        </p:txBody>
      </p:sp>
      <p:sp>
        <p:nvSpPr>
          <p:cNvPr id="4" name="Footer Placeholder 3">
            <a:extLst>
              <a:ext uri="{FF2B5EF4-FFF2-40B4-BE49-F238E27FC236}">
                <a16:creationId xmlns:a16="http://schemas.microsoft.com/office/drawing/2014/main" id="{1BA09F5F-21D9-E4FB-AB80-B39F0A11F21A}"/>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8F525853-1471-A978-7D6F-739ED4C98C24}"/>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6" name="Title 5">
            <a:extLst>
              <a:ext uri="{FF2B5EF4-FFF2-40B4-BE49-F238E27FC236}">
                <a16:creationId xmlns:a16="http://schemas.microsoft.com/office/drawing/2014/main" id="{8AFFCBC5-A754-19CA-00A1-C2C08AE27010}"/>
              </a:ext>
            </a:extLst>
          </p:cNvPr>
          <p:cNvSpPr>
            <a:spLocks noGrp="1"/>
          </p:cNvSpPr>
          <p:nvPr>
            <p:ph type="title"/>
          </p:nvPr>
        </p:nvSpPr>
        <p:spPr/>
        <p:txBody>
          <a:bodyPr/>
          <a:lstStyle/>
          <a:p>
            <a:r>
              <a:rPr lang="en-US" dirty="0"/>
              <a:t>Bag of Words</a:t>
            </a:r>
          </a:p>
        </p:txBody>
      </p:sp>
      <p:pic>
        <p:nvPicPr>
          <p:cNvPr id="12" name="Picture 11">
            <a:extLst>
              <a:ext uri="{FF2B5EF4-FFF2-40B4-BE49-F238E27FC236}">
                <a16:creationId xmlns:a16="http://schemas.microsoft.com/office/drawing/2014/main" id="{3F7BFEAB-6C18-969E-D142-987A259E7BF3}"/>
              </a:ext>
            </a:extLst>
          </p:cNvPr>
          <p:cNvPicPr>
            <a:picLocks noChangeAspect="1"/>
          </p:cNvPicPr>
          <p:nvPr/>
        </p:nvPicPr>
        <p:blipFill>
          <a:blip r:embed="rId3"/>
          <a:stretch>
            <a:fillRect/>
          </a:stretch>
        </p:blipFill>
        <p:spPr>
          <a:xfrm>
            <a:off x="641251" y="2819400"/>
            <a:ext cx="4337786" cy="2971800"/>
          </a:xfrm>
          <a:prstGeom prst="rect">
            <a:avLst/>
          </a:prstGeom>
        </p:spPr>
      </p:pic>
      <p:pic>
        <p:nvPicPr>
          <p:cNvPr id="14" name="Picture 13">
            <a:extLst>
              <a:ext uri="{FF2B5EF4-FFF2-40B4-BE49-F238E27FC236}">
                <a16:creationId xmlns:a16="http://schemas.microsoft.com/office/drawing/2014/main" id="{A17560D2-F8A5-B30E-8766-909B21BF8143}"/>
              </a:ext>
            </a:extLst>
          </p:cNvPr>
          <p:cNvPicPr>
            <a:picLocks noChangeAspect="1"/>
          </p:cNvPicPr>
          <p:nvPr/>
        </p:nvPicPr>
        <p:blipFill>
          <a:blip r:embed="rId4"/>
          <a:stretch>
            <a:fillRect/>
          </a:stretch>
        </p:blipFill>
        <p:spPr>
          <a:xfrm>
            <a:off x="5943600" y="1724804"/>
            <a:ext cx="5434230" cy="1094596"/>
          </a:xfrm>
          <a:prstGeom prst="rect">
            <a:avLst/>
          </a:prstGeom>
        </p:spPr>
      </p:pic>
      <p:pic>
        <p:nvPicPr>
          <p:cNvPr id="16" name="Picture 15">
            <a:extLst>
              <a:ext uri="{FF2B5EF4-FFF2-40B4-BE49-F238E27FC236}">
                <a16:creationId xmlns:a16="http://schemas.microsoft.com/office/drawing/2014/main" id="{0BAAB6E9-F775-CD92-723E-9087E76C790D}"/>
              </a:ext>
            </a:extLst>
          </p:cNvPr>
          <p:cNvPicPr>
            <a:picLocks noChangeAspect="1"/>
          </p:cNvPicPr>
          <p:nvPr/>
        </p:nvPicPr>
        <p:blipFill>
          <a:blip r:embed="rId5"/>
          <a:stretch>
            <a:fillRect/>
          </a:stretch>
        </p:blipFill>
        <p:spPr>
          <a:xfrm>
            <a:off x="5951376" y="3036491"/>
            <a:ext cx="4297275" cy="773509"/>
          </a:xfrm>
          <a:prstGeom prst="rect">
            <a:avLst/>
          </a:prstGeom>
        </p:spPr>
      </p:pic>
    </p:spTree>
    <p:extLst>
      <p:ext uri="{BB962C8B-B14F-4D97-AF65-F5344CB8AC3E}">
        <p14:creationId xmlns:p14="http://schemas.microsoft.com/office/powerpoint/2010/main" val="3295496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0582F6-3F69-D8A5-BBEE-768547904B4E}"/>
              </a:ext>
            </a:extLst>
          </p:cNvPr>
          <p:cNvSpPr>
            <a:spLocks noGrp="1"/>
          </p:cNvSpPr>
          <p:nvPr>
            <p:ph idx="1"/>
          </p:nvPr>
        </p:nvSpPr>
        <p:spPr/>
        <p:txBody>
          <a:bodyPr>
            <a:normAutofit/>
          </a:bodyPr>
          <a:lstStyle/>
          <a:p>
            <a:r>
              <a:rPr lang="en-US" dirty="0"/>
              <a:t>The Bag of Words model is an easy-to-understand way of transforming words into vector form. </a:t>
            </a:r>
          </a:p>
          <a:p>
            <a:r>
              <a:rPr lang="en-US" dirty="0"/>
              <a:t>This process is generally termed </a:t>
            </a:r>
            <a:r>
              <a:rPr lang="en-US" dirty="0">
                <a:solidFill>
                  <a:srgbClr val="00B0F0"/>
                </a:solidFill>
              </a:rPr>
              <a:t>vectorization</a:t>
            </a:r>
            <a:r>
              <a:rPr lang="en-US" dirty="0"/>
              <a:t>. </a:t>
            </a:r>
          </a:p>
          <a:p>
            <a:r>
              <a:rPr lang="en-US" dirty="0" err="1"/>
              <a:t>BoW</a:t>
            </a:r>
            <a:r>
              <a:rPr lang="en-US" dirty="0"/>
              <a:t> model has its limitations when it comes to capturing context:</a:t>
            </a:r>
          </a:p>
          <a:p>
            <a:pPr lvl="1"/>
            <a:r>
              <a:rPr lang="en-US" dirty="0"/>
              <a:t>sparsity-related issues: Many zero in the representation</a:t>
            </a:r>
          </a:p>
          <a:p>
            <a:pPr lvl="1"/>
            <a:r>
              <a:rPr lang="en-US" dirty="0"/>
              <a:t>Large (wide) vectors.</a:t>
            </a:r>
          </a:p>
          <a:p>
            <a:r>
              <a:rPr lang="en-US" dirty="0"/>
              <a:t>Better vectorization techniques that try to capture context while limiting the sparsity of the vectors.</a:t>
            </a:r>
          </a:p>
        </p:txBody>
      </p:sp>
      <p:sp>
        <p:nvSpPr>
          <p:cNvPr id="3" name="Date Placeholder 2">
            <a:extLst>
              <a:ext uri="{FF2B5EF4-FFF2-40B4-BE49-F238E27FC236}">
                <a16:creationId xmlns:a16="http://schemas.microsoft.com/office/drawing/2014/main" id="{74D28059-8D04-6436-5116-BC3EF9F21E22}"/>
              </a:ext>
            </a:extLst>
          </p:cNvPr>
          <p:cNvSpPr>
            <a:spLocks noGrp="1"/>
          </p:cNvSpPr>
          <p:nvPr>
            <p:ph type="dt" sz="half" idx="10"/>
          </p:nvPr>
        </p:nvSpPr>
        <p:spPr/>
        <p:txBody>
          <a:bodyPr/>
          <a:lstStyle/>
          <a:p>
            <a:fld id="{9292391E-7D6A-4054-894F-E4B170608F85}" type="datetime1">
              <a:rPr lang="en-US" smtClean="0"/>
              <a:t>10/22/2025</a:t>
            </a:fld>
            <a:endParaRPr lang="en-US"/>
          </a:p>
        </p:txBody>
      </p:sp>
      <p:sp>
        <p:nvSpPr>
          <p:cNvPr id="4" name="Footer Placeholder 3">
            <a:extLst>
              <a:ext uri="{FF2B5EF4-FFF2-40B4-BE49-F238E27FC236}">
                <a16:creationId xmlns:a16="http://schemas.microsoft.com/office/drawing/2014/main" id="{6DBA3B41-E52A-CA7B-7481-97EE48B9DF50}"/>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0CAD6D0C-9CC3-91B2-26AF-BB8CE3E89BF0}"/>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6" name="Title 5">
            <a:extLst>
              <a:ext uri="{FF2B5EF4-FFF2-40B4-BE49-F238E27FC236}">
                <a16:creationId xmlns:a16="http://schemas.microsoft.com/office/drawing/2014/main" id="{164C49A2-8278-192D-2729-87519B5314AB}"/>
              </a:ext>
            </a:extLst>
          </p:cNvPr>
          <p:cNvSpPr>
            <a:spLocks noGrp="1"/>
          </p:cNvSpPr>
          <p:nvPr>
            <p:ph type="title"/>
          </p:nvPr>
        </p:nvSpPr>
        <p:spPr/>
        <p:txBody>
          <a:bodyPr/>
          <a:lstStyle/>
          <a:p>
            <a:r>
              <a:rPr lang="en-US" dirty="0"/>
              <a:t>Bag of Words</a:t>
            </a:r>
          </a:p>
        </p:txBody>
      </p:sp>
    </p:spTree>
    <p:extLst>
      <p:ext uri="{BB962C8B-B14F-4D97-AF65-F5344CB8AC3E}">
        <p14:creationId xmlns:p14="http://schemas.microsoft.com/office/powerpoint/2010/main" val="2514039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9960F58B-1719-296E-65F1-F8D8C37642BE}"/>
              </a:ext>
            </a:extLst>
          </p:cNvPr>
          <p:cNvSpPr>
            <a:spLocks noGrp="1"/>
          </p:cNvSpPr>
          <p:nvPr>
            <p:ph idx="1"/>
          </p:nvPr>
        </p:nvSpPr>
        <p:spPr/>
        <p:txBody>
          <a:bodyPr>
            <a:normAutofit/>
          </a:bodyPr>
          <a:lstStyle/>
          <a:p>
            <a:pPr marL="313781" indent="-302575">
              <a:spcBef>
                <a:spcPts val="649"/>
              </a:spcBef>
              <a:buChar char="•"/>
              <a:tabLst>
                <a:tab pos="313221" algn="l"/>
                <a:tab pos="313781" algn="l"/>
              </a:tabLst>
            </a:pPr>
            <a:r>
              <a:rPr lang="en-US" sz="2400" spc="-22" dirty="0">
                <a:latin typeface="Arial MT"/>
                <a:cs typeface="Arial MT"/>
              </a:rPr>
              <a:t>Word2Vec</a:t>
            </a:r>
            <a:endParaRPr lang="en-US" sz="2400" dirty="0">
              <a:latin typeface="Arial MT"/>
              <a:cs typeface="Arial MT"/>
            </a:endParaRPr>
          </a:p>
          <a:p>
            <a:pPr marL="667346" lvl="1" indent="-253827">
              <a:spcBef>
                <a:spcPts val="516"/>
              </a:spcBef>
              <a:buFont typeface="Arial MT"/>
              <a:buChar char="–"/>
              <a:tabLst>
                <a:tab pos="667906" algn="l"/>
              </a:tabLst>
            </a:pPr>
            <a:r>
              <a:rPr lang="en-US" i="1" spc="-18" dirty="0">
                <a:solidFill>
                  <a:srgbClr val="FF0000"/>
                </a:solidFill>
                <a:latin typeface="Arial"/>
                <a:cs typeface="Arial"/>
              </a:rPr>
              <a:t>Vector</a:t>
            </a:r>
            <a:r>
              <a:rPr lang="en-US" i="1" spc="-13" dirty="0">
                <a:solidFill>
                  <a:srgbClr val="FF0000"/>
                </a:solidFill>
                <a:latin typeface="Arial"/>
                <a:cs typeface="Arial"/>
              </a:rPr>
              <a:t> </a:t>
            </a:r>
            <a:r>
              <a:rPr lang="en-US" i="1" spc="-4" dirty="0">
                <a:solidFill>
                  <a:srgbClr val="FF0000"/>
                </a:solidFill>
                <a:latin typeface="Arial"/>
                <a:cs typeface="Arial"/>
              </a:rPr>
              <a:t>representations</a:t>
            </a:r>
            <a:r>
              <a:rPr lang="en-US" i="1" spc="4" dirty="0">
                <a:solidFill>
                  <a:srgbClr val="FF0000"/>
                </a:solidFill>
                <a:latin typeface="Arial"/>
                <a:cs typeface="Arial"/>
              </a:rPr>
              <a:t> </a:t>
            </a:r>
            <a:r>
              <a:rPr lang="en-US" i="1" spc="-4" dirty="0">
                <a:solidFill>
                  <a:srgbClr val="FF0000"/>
                </a:solidFill>
                <a:latin typeface="Arial"/>
                <a:cs typeface="Arial"/>
              </a:rPr>
              <a:t>of</a:t>
            </a:r>
            <a:r>
              <a:rPr lang="en-US" i="1" spc="-13" dirty="0">
                <a:solidFill>
                  <a:srgbClr val="FF0000"/>
                </a:solidFill>
                <a:latin typeface="Arial"/>
                <a:cs typeface="Arial"/>
              </a:rPr>
              <a:t> </a:t>
            </a:r>
            <a:r>
              <a:rPr lang="en-US" i="1" spc="-4" dirty="0">
                <a:solidFill>
                  <a:srgbClr val="FF0000"/>
                </a:solidFill>
                <a:latin typeface="Arial"/>
                <a:cs typeface="Arial"/>
              </a:rPr>
              <a:t>words</a:t>
            </a:r>
            <a:endParaRPr lang="en-US" dirty="0">
              <a:latin typeface="Arial"/>
              <a:cs typeface="Arial"/>
            </a:endParaRPr>
          </a:p>
          <a:p>
            <a:pPr marL="667346" marR="4483" lvl="1" indent="-253266">
              <a:spcBef>
                <a:spcPts val="543"/>
              </a:spcBef>
              <a:buChar char="–"/>
              <a:tabLst>
                <a:tab pos="667906" algn="l"/>
              </a:tabLst>
            </a:pPr>
            <a:r>
              <a:rPr lang="en-US" dirty="0">
                <a:latin typeface="Arial MT"/>
                <a:cs typeface="Arial MT"/>
              </a:rPr>
              <a:t>One of the most popular representations of document </a:t>
            </a:r>
            <a:r>
              <a:rPr lang="en-US" spc="-627" dirty="0">
                <a:latin typeface="Arial MT"/>
                <a:cs typeface="Arial MT"/>
              </a:rPr>
              <a:t> </a:t>
            </a:r>
            <a:r>
              <a:rPr lang="en-US" spc="-18" dirty="0">
                <a:latin typeface="Arial MT"/>
                <a:cs typeface="Arial MT"/>
              </a:rPr>
              <a:t>vocabulary.</a:t>
            </a:r>
            <a:endParaRPr lang="en-US" dirty="0">
              <a:latin typeface="Arial MT"/>
              <a:cs typeface="Arial MT"/>
            </a:endParaRPr>
          </a:p>
          <a:p>
            <a:pPr marL="667346" marR="213483" lvl="1" indent="-253266">
              <a:spcBef>
                <a:spcPts val="552"/>
              </a:spcBef>
              <a:buChar char="–"/>
              <a:tabLst>
                <a:tab pos="667906" algn="l"/>
              </a:tabLst>
            </a:pPr>
            <a:r>
              <a:rPr lang="en-US" dirty="0">
                <a:latin typeface="Arial MT"/>
                <a:cs typeface="Arial MT"/>
              </a:rPr>
              <a:t>Capable of capturing </a:t>
            </a:r>
            <a:r>
              <a:rPr lang="en-US" dirty="0">
                <a:solidFill>
                  <a:srgbClr val="00B0F0"/>
                </a:solidFill>
                <a:latin typeface="Arial MT"/>
                <a:cs typeface="Arial MT"/>
              </a:rPr>
              <a:t>context of a word </a:t>
            </a:r>
            <a:r>
              <a:rPr lang="en-US" spc="-4" dirty="0">
                <a:latin typeface="Arial MT"/>
                <a:cs typeface="Arial MT"/>
              </a:rPr>
              <a:t>in </a:t>
            </a:r>
            <a:r>
              <a:rPr lang="en-US" dirty="0">
                <a:latin typeface="Arial MT"/>
                <a:cs typeface="Arial MT"/>
              </a:rPr>
              <a:t>a </a:t>
            </a:r>
            <a:r>
              <a:rPr lang="en-US" spc="4" dirty="0">
                <a:latin typeface="Arial MT"/>
                <a:cs typeface="Arial MT"/>
              </a:rPr>
              <a:t> </a:t>
            </a:r>
            <a:r>
              <a:rPr lang="en-US" dirty="0">
                <a:latin typeface="Arial MT"/>
                <a:cs typeface="Arial MT"/>
              </a:rPr>
              <a:t>document, semantic and syntactic </a:t>
            </a:r>
            <a:r>
              <a:rPr lang="en-US" spc="-18" dirty="0">
                <a:latin typeface="Arial MT"/>
                <a:cs typeface="Arial MT"/>
              </a:rPr>
              <a:t>similarity, </a:t>
            </a:r>
            <a:r>
              <a:rPr lang="en-US" spc="-4" dirty="0">
                <a:latin typeface="Arial MT"/>
                <a:cs typeface="Arial MT"/>
              </a:rPr>
              <a:t>relation </a:t>
            </a:r>
            <a:r>
              <a:rPr lang="en-US" spc="-627" dirty="0">
                <a:latin typeface="Arial MT"/>
                <a:cs typeface="Arial MT"/>
              </a:rPr>
              <a:t> </a:t>
            </a:r>
            <a:r>
              <a:rPr lang="en-US" spc="-4" dirty="0">
                <a:latin typeface="Arial MT"/>
                <a:cs typeface="Arial MT"/>
              </a:rPr>
              <a:t>with </a:t>
            </a:r>
            <a:r>
              <a:rPr lang="en-US" dirty="0">
                <a:latin typeface="Arial MT"/>
                <a:cs typeface="Arial MT"/>
              </a:rPr>
              <a:t>other</a:t>
            </a:r>
            <a:r>
              <a:rPr lang="en-US" spc="-9" dirty="0">
                <a:latin typeface="Arial MT"/>
                <a:cs typeface="Arial MT"/>
              </a:rPr>
              <a:t> </a:t>
            </a:r>
            <a:r>
              <a:rPr lang="en-US" dirty="0">
                <a:latin typeface="Arial MT"/>
                <a:cs typeface="Arial MT"/>
              </a:rPr>
              <a:t>words,</a:t>
            </a:r>
            <a:r>
              <a:rPr lang="en-US" spc="-18" dirty="0">
                <a:latin typeface="Arial MT"/>
                <a:cs typeface="Arial MT"/>
              </a:rPr>
              <a:t> </a:t>
            </a:r>
            <a:r>
              <a:rPr lang="en-US" dirty="0">
                <a:latin typeface="Arial MT"/>
                <a:cs typeface="Arial MT"/>
              </a:rPr>
              <a:t>etc.</a:t>
            </a:r>
          </a:p>
          <a:p>
            <a:pPr marL="313221" marR="1875404" indent="-302575">
              <a:spcBef>
                <a:spcPts val="84"/>
              </a:spcBef>
              <a:buChar char="•"/>
              <a:tabLst>
                <a:tab pos="313221" algn="l"/>
                <a:tab pos="313781" algn="l"/>
              </a:tabLst>
            </a:pPr>
            <a:r>
              <a:rPr lang="en-US" spc="-4" dirty="0">
                <a:latin typeface="Arial MT"/>
                <a:cs typeface="Arial MT"/>
              </a:rPr>
              <a:t>In</a:t>
            </a:r>
            <a:r>
              <a:rPr lang="en-US" spc="4" dirty="0">
                <a:latin typeface="Arial MT"/>
                <a:cs typeface="Arial MT"/>
              </a:rPr>
              <a:t> </a:t>
            </a:r>
            <a:r>
              <a:rPr lang="en-US" spc="-4" dirty="0">
                <a:latin typeface="Arial MT"/>
                <a:cs typeface="Arial MT"/>
              </a:rPr>
              <a:t>one</a:t>
            </a:r>
            <a:r>
              <a:rPr lang="en-US" spc="4" dirty="0">
                <a:latin typeface="Arial MT"/>
                <a:cs typeface="Arial MT"/>
              </a:rPr>
              <a:t> </a:t>
            </a:r>
            <a:r>
              <a:rPr lang="en-US" spc="-4" dirty="0">
                <a:latin typeface="Arial MT"/>
                <a:cs typeface="Arial MT"/>
              </a:rPr>
              <a:t>hot</a:t>
            </a:r>
            <a:r>
              <a:rPr lang="en-US" spc="13" dirty="0">
                <a:latin typeface="Arial MT"/>
                <a:cs typeface="Arial MT"/>
              </a:rPr>
              <a:t> </a:t>
            </a:r>
            <a:r>
              <a:rPr lang="en-US" spc="-4" dirty="0">
                <a:latin typeface="Arial MT"/>
                <a:cs typeface="Arial MT"/>
              </a:rPr>
              <a:t>encoding</a:t>
            </a:r>
            <a:r>
              <a:rPr lang="en-US" spc="4" dirty="0">
                <a:latin typeface="Arial MT"/>
                <a:cs typeface="Arial MT"/>
              </a:rPr>
              <a:t> </a:t>
            </a:r>
            <a:r>
              <a:rPr lang="en-US" spc="-4" dirty="0">
                <a:latin typeface="Arial MT"/>
                <a:cs typeface="Arial MT"/>
              </a:rPr>
              <a:t>representations,</a:t>
            </a:r>
            <a:r>
              <a:rPr lang="en-US" spc="4" dirty="0">
                <a:latin typeface="Arial MT"/>
                <a:cs typeface="Arial MT"/>
              </a:rPr>
              <a:t> </a:t>
            </a:r>
            <a:r>
              <a:rPr lang="en-US" spc="-4" dirty="0">
                <a:latin typeface="Arial MT"/>
                <a:cs typeface="Arial MT"/>
              </a:rPr>
              <a:t>all</a:t>
            </a:r>
            <a:r>
              <a:rPr lang="en-US" spc="9" dirty="0">
                <a:latin typeface="Arial MT"/>
                <a:cs typeface="Arial MT"/>
              </a:rPr>
              <a:t> </a:t>
            </a:r>
            <a:r>
              <a:rPr lang="en-US" spc="-4" dirty="0">
                <a:latin typeface="Arial MT"/>
                <a:cs typeface="Arial MT"/>
              </a:rPr>
              <a:t>the</a:t>
            </a:r>
            <a:r>
              <a:rPr lang="en-US" spc="4" dirty="0">
                <a:latin typeface="Arial MT"/>
                <a:cs typeface="Arial MT"/>
              </a:rPr>
              <a:t> </a:t>
            </a:r>
            <a:r>
              <a:rPr lang="en-US" spc="-4" dirty="0">
                <a:latin typeface="Arial MT"/>
                <a:cs typeface="Arial MT"/>
              </a:rPr>
              <a:t>words </a:t>
            </a:r>
            <a:r>
              <a:rPr lang="en-US" spc="-529" dirty="0">
                <a:latin typeface="Arial MT"/>
                <a:cs typeface="Arial MT"/>
              </a:rPr>
              <a:t> </a:t>
            </a:r>
            <a:r>
              <a:rPr lang="en-US" spc="-4" dirty="0">
                <a:latin typeface="Arial MT"/>
                <a:cs typeface="Arial MT"/>
              </a:rPr>
              <a:t>are</a:t>
            </a:r>
            <a:r>
              <a:rPr lang="en-US" spc="9" dirty="0">
                <a:latin typeface="Arial MT"/>
                <a:cs typeface="Arial MT"/>
              </a:rPr>
              <a:t> </a:t>
            </a:r>
            <a:r>
              <a:rPr lang="en-US" i="1" spc="-4" dirty="0">
                <a:solidFill>
                  <a:srgbClr val="FF0000"/>
                </a:solidFill>
                <a:latin typeface="Arial"/>
                <a:cs typeface="Arial"/>
              </a:rPr>
              <a:t>independent</a:t>
            </a:r>
            <a:r>
              <a:rPr lang="en-US" i="1" dirty="0">
                <a:solidFill>
                  <a:srgbClr val="FF0000"/>
                </a:solidFill>
                <a:latin typeface="Arial"/>
                <a:cs typeface="Arial"/>
              </a:rPr>
              <a:t> </a:t>
            </a:r>
            <a:r>
              <a:rPr lang="en-US" spc="-4" dirty="0">
                <a:latin typeface="Arial MT"/>
                <a:cs typeface="Arial MT"/>
              </a:rPr>
              <a:t>of</a:t>
            </a:r>
            <a:r>
              <a:rPr lang="en-US" dirty="0">
                <a:latin typeface="Arial MT"/>
                <a:cs typeface="Arial MT"/>
              </a:rPr>
              <a:t> </a:t>
            </a:r>
            <a:r>
              <a:rPr lang="en-US" spc="-4" dirty="0">
                <a:latin typeface="Arial MT"/>
                <a:cs typeface="Arial MT"/>
              </a:rPr>
              <a:t>each</a:t>
            </a:r>
            <a:r>
              <a:rPr lang="en-US" dirty="0">
                <a:latin typeface="Arial MT"/>
                <a:cs typeface="Arial MT"/>
              </a:rPr>
              <a:t> </a:t>
            </a:r>
            <a:r>
              <a:rPr lang="en-US" spc="-4" dirty="0">
                <a:latin typeface="Arial MT"/>
                <a:cs typeface="Arial MT"/>
              </a:rPr>
              <a:t>other</a:t>
            </a:r>
            <a:r>
              <a:rPr lang="en-US" i="1" spc="-4" dirty="0">
                <a:latin typeface="Arial"/>
                <a:cs typeface="Arial"/>
              </a:rPr>
              <a:t>.</a:t>
            </a:r>
            <a:endParaRPr lang="en-US" dirty="0">
              <a:latin typeface="Arial"/>
              <a:cs typeface="Arial"/>
            </a:endParaRPr>
          </a:p>
          <a:p>
            <a:pPr marL="313781" marR="103660" indent="-302575">
              <a:spcBef>
                <a:spcPts val="463"/>
              </a:spcBef>
              <a:buChar char="•"/>
              <a:tabLst>
                <a:tab pos="313221" algn="l"/>
                <a:tab pos="313781" algn="l"/>
              </a:tabLst>
            </a:pPr>
            <a:r>
              <a:rPr lang="en-US" spc="-4" dirty="0">
                <a:latin typeface="Arial MT"/>
                <a:cs typeface="Arial MT"/>
              </a:rPr>
              <a:t>It</a:t>
            </a:r>
            <a:r>
              <a:rPr lang="en-US" dirty="0">
                <a:latin typeface="Arial MT"/>
                <a:cs typeface="Arial MT"/>
              </a:rPr>
              <a:t> </a:t>
            </a:r>
            <a:r>
              <a:rPr lang="en-US" spc="-4" dirty="0">
                <a:latin typeface="Arial MT"/>
                <a:cs typeface="Arial MT"/>
              </a:rPr>
              <a:t>makes</a:t>
            </a:r>
            <a:r>
              <a:rPr lang="en-US" spc="18" dirty="0">
                <a:latin typeface="Arial MT"/>
                <a:cs typeface="Arial MT"/>
              </a:rPr>
              <a:t> </a:t>
            </a:r>
            <a:r>
              <a:rPr lang="en-US" spc="-4" dirty="0">
                <a:latin typeface="Arial MT"/>
                <a:cs typeface="Arial MT"/>
              </a:rPr>
              <a:t>sense to</a:t>
            </a:r>
            <a:r>
              <a:rPr lang="en-US" spc="18" dirty="0">
                <a:latin typeface="Arial MT"/>
                <a:cs typeface="Arial MT"/>
              </a:rPr>
              <a:t> </a:t>
            </a:r>
            <a:r>
              <a:rPr lang="en-US" spc="-4" dirty="0">
                <a:latin typeface="Arial MT"/>
                <a:cs typeface="Arial MT"/>
              </a:rPr>
              <a:t>introduce</a:t>
            </a:r>
            <a:r>
              <a:rPr lang="en-US" spc="4" dirty="0">
                <a:latin typeface="Arial MT"/>
                <a:cs typeface="Arial MT"/>
              </a:rPr>
              <a:t> </a:t>
            </a:r>
            <a:r>
              <a:rPr lang="en-US" spc="-4" dirty="0">
                <a:latin typeface="Arial MT"/>
                <a:cs typeface="Arial MT"/>
              </a:rPr>
              <a:t>some</a:t>
            </a:r>
            <a:r>
              <a:rPr lang="en-US" spc="13" dirty="0">
                <a:latin typeface="Arial MT"/>
                <a:cs typeface="Arial MT"/>
              </a:rPr>
              <a:t> </a:t>
            </a:r>
            <a:r>
              <a:rPr lang="en-US" i="1" spc="-4" dirty="0">
                <a:solidFill>
                  <a:srgbClr val="FF0000"/>
                </a:solidFill>
                <a:latin typeface="Arial"/>
                <a:cs typeface="Arial"/>
              </a:rPr>
              <a:t>dependence</a:t>
            </a:r>
            <a:r>
              <a:rPr lang="en-US" i="1" spc="4" dirty="0">
                <a:solidFill>
                  <a:srgbClr val="FF0000"/>
                </a:solidFill>
                <a:latin typeface="Arial"/>
                <a:cs typeface="Arial"/>
              </a:rPr>
              <a:t> </a:t>
            </a:r>
            <a:r>
              <a:rPr lang="en-US" spc="-4" dirty="0">
                <a:latin typeface="Arial MT"/>
                <a:cs typeface="Arial MT"/>
              </a:rPr>
              <a:t>of</a:t>
            </a:r>
            <a:r>
              <a:rPr lang="en-US" spc="4" dirty="0">
                <a:latin typeface="Arial MT"/>
                <a:cs typeface="Arial MT"/>
              </a:rPr>
              <a:t> </a:t>
            </a:r>
            <a:r>
              <a:rPr lang="en-US" spc="-4" dirty="0">
                <a:latin typeface="Arial MT"/>
                <a:cs typeface="Arial MT"/>
              </a:rPr>
              <a:t>one</a:t>
            </a:r>
            <a:r>
              <a:rPr lang="en-US" spc="18" dirty="0">
                <a:latin typeface="Arial MT"/>
                <a:cs typeface="Arial MT"/>
              </a:rPr>
              <a:t> </a:t>
            </a:r>
            <a:r>
              <a:rPr lang="en-US" spc="-4" dirty="0">
                <a:latin typeface="Arial MT"/>
                <a:cs typeface="Arial MT"/>
              </a:rPr>
              <a:t>word</a:t>
            </a:r>
            <a:r>
              <a:rPr lang="en-US" spc="18" dirty="0">
                <a:latin typeface="Arial MT"/>
                <a:cs typeface="Arial MT"/>
              </a:rPr>
              <a:t> </a:t>
            </a:r>
            <a:r>
              <a:rPr lang="en-US" spc="-4" dirty="0">
                <a:latin typeface="Arial MT"/>
                <a:cs typeface="Arial MT"/>
              </a:rPr>
              <a:t>on</a:t>
            </a:r>
            <a:r>
              <a:rPr lang="en-US" dirty="0">
                <a:latin typeface="Arial MT"/>
                <a:cs typeface="Arial MT"/>
              </a:rPr>
              <a:t> </a:t>
            </a:r>
            <a:r>
              <a:rPr lang="en-US" spc="-4" dirty="0">
                <a:latin typeface="Arial MT"/>
                <a:cs typeface="Arial MT"/>
              </a:rPr>
              <a:t>the </a:t>
            </a:r>
            <a:r>
              <a:rPr lang="en-US" spc="-525" dirty="0">
                <a:latin typeface="Arial MT"/>
                <a:cs typeface="Arial MT"/>
              </a:rPr>
              <a:t> </a:t>
            </a:r>
            <a:r>
              <a:rPr lang="en-US" spc="-4" dirty="0">
                <a:latin typeface="Arial MT"/>
                <a:cs typeface="Arial MT"/>
              </a:rPr>
              <a:t>other</a:t>
            </a:r>
            <a:r>
              <a:rPr lang="en-US" spc="4" dirty="0">
                <a:latin typeface="Arial MT"/>
                <a:cs typeface="Arial MT"/>
              </a:rPr>
              <a:t> </a:t>
            </a:r>
            <a:r>
              <a:rPr lang="en-US" spc="-4" dirty="0">
                <a:latin typeface="Arial MT"/>
                <a:cs typeface="Arial MT"/>
              </a:rPr>
              <a:t>words.</a:t>
            </a:r>
            <a:endParaRPr lang="en-US" dirty="0">
              <a:latin typeface="Arial MT"/>
              <a:cs typeface="Arial MT"/>
            </a:endParaRPr>
          </a:p>
          <a:p>
            <a:pPr marL="667346" marR="213483" lvl="1" indent="-253266">
              <a:spcBef>
                <a:spcPts val="552"/>
              </a:spcBef>
              <a:buChar char="–"/>
              <a:tabLst>
                <a:tab pos="667906" algn="l"/>
              </a:tabLst>
            </a:pPr>
            <a:endParaRPr lang="en-US" dirty="0">
              <a:latin typeface="Arial MT"/>
              <a:cs typeface="Arial MT"/>
            </a:endParaRPr>
          </a:p>
          <a:p>
            <a:endParaRPr lang="en-US" sz="3200" dirty="0"/>
          </a:p>
        </p:txBody>
      </p:sp>
      <p:sp>
        <p:nvSpPr>
          <p:cNvPr id="13" name="object 13"/>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Introduction:</a:t>
            </a:r>
            <a:r>
              <a:rPr spc="-53" dirty="0"/>
              <a:t> </a:t>
            </a:r>
            <a:r>
              <a:rPr spc="-35" dirty="0"/>
              <a:t>Word2Vec</a:t>
            </a:r>
          </a:p>
        </p:txBody>
      </p:sp>
      <p:sp>
        <p:nvSpPr>
          <p:cNvPr id="15" name="object 15"/>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28</a:t>
            </a:fld>
            <a:endParaRPr dirty="0"/>
          </a:p>
        </p:txBody>
      </p:sp>
      <p:sp>
        <p:nvSpPr>
          <p:cNvPr id="16" name="object 16"/>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691B336F-9163-483F-8902-D1B7D3516B15}" type="datetime1">
              <a:rPr lang="en-US" spc="-9" smtClean="0"/>
              <a:t>10/22/2025</a:t>
            </a:fld>
            <a:endParaRPr spc="-9" dirty="0"/>
          </a:p>
        </p:txBody>
      </p:sp>
      <p:sp>
        <p:nvSpPr>
          <p:cNvPr id="17" name="object 17"/>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a:t>
            </a:r>
            <a:r>
              <a:rPr lang="en-US" spc="-4" dirty="0"/>
              <a:t>n</a:t>
            </a:r>
            <a:r>
              <a:rPr spc="-4" dirty="0"/>
              <a:t>troduction:</a:t>
            </a:r>
            <a:r>
              <a:rPr spc="-53" dirty="0"/>
              <a:t> </a:t>
            </a:r>
            <a:r>
              <a:rPr spc="-35" dirty="0"/>
              <a:t>Word2Vec</a:t>
            </a:r>
          </a:p>
        </p:txBody>
      </p:sp>
      <p:sp>
        <p:nvSpPr>
          <p:cNvPr id="21" name="Content Placeholder 20">
            <a:extLst>
              <a:ext uri="{FF2B5EF4-FFF2-40B4-BE49-F238E27FC236}">
                <a16:creationId xmlns:a16="http://schemas.microsoft.com/office/drawing/2014/main" id="{20DFBACB-2A82-9916-C6F6-3E88F45C5025}"/>
              </a:ext>
            </a:extLst>
          </p:cNvPr>
          <p:cNvSpPr>
            <a:spLocks noGrp="1"/>
          </p:cNvSpPr>
          <p:nvPr>
            <p:ph idx="1"/>
          </p:nvPr>
        </p:nvSpPr>
        <p:spPr/>
        <p:txBody>
          <a:bodyPr>
            <a:normAutofit/>
          </a:bodyPr>
          <a:lstStyle/>
          <a:p>
            <a:pPr marL="313781" indent="-302575">
              <a:spcBef>
                <a:spcPts val="468"/>
              </a:spcBef>
              <a:buFont typeface="Arial MT"/>
              <a:buChar char="•"/>
              <a:tabLst>
                <a:tab pos="313221" algn="l"/>
                <a:tab pos="313781" algn="l"/>
              </a:tabLst>
            </a:pPr>
            <a:r>
              <a:rPr lang="en-US" i="1" spc="-13" dirty="0">
                <a:solidFill>
                  <a:srgbClr val="FF0000"/>
                </a:solidFill>
                <a:latin typeface="Arial"/>
                <a:cs typeface="Arial"/>
              </a:rPr>
              <a:t>Word2Vec</a:t>
            </a:r>
            <a:r>
              <a:rPr lang="en-US" i="1" spc="4" dirty="0">
                <a:solidFill>
                  <a:srgbClr val="FF0000"/>
                </a:solidFill>
                <a:latin typeface="Arial"/>
                <a:cs typeface="Arial"/>
              </a:rPr>
              <a:t> </a:t>
            </a:r>
            <a:r>
              <a:rPr lang="en-US" spc="-4" dirty="0">
                <a:latin typeface="Arial MT"/>
                <a:cs typeface="Arial MT"/>
              </a:rPr>
              <a:t>learns</a:t>
            </a:r>
            <a:r>
              <a:rPr lang="en-US" spc="18" dirty="0">
                <a:latin typeface="Arial MT"/>
                <a:cs typeface="Arial MT"/>
              </a:rPr>
              <a:t> </a:t>
            </a:r>
            <a:r>
              <a:rPr lang="en-US" spc="-4" dirty="0">
                <a:latin typeface="Arial MT"/>
                <a:cs typeface="Arial MT"/>
              </a:rPr>
              <a:t>word</a:t>
            </a:r>
            <a:r>
              <a:rPr lang="en-US" spc="18" dirty="0">
                <a:latin typeface="Arial MT"/>
                <a:cs typeface="Arial MT"/>
              </a:rPr>
              <a:t> </a:t>
            </a:r>
            <a:r>
              <a:rPr lang="en-US" spc="-4" dirty="0">
                <a:latin typeface="Arial MT"/>
                <a:cs typeface="Arial MT"/>
              </a:rPr>
              <a:t>embeddings</a:t>
            </a:r>
            <a:r>
              <a:rPr lang="en-US" spc="18" dirty="0">
                <a:latin typeface="Arial MT"/>
                <a:cs typeface="Arial MT"/>
              </a:rPr>
              <a:t> </a:t>
            </a:r>
            <a:r>
              <a:rPr lang="en-US" spc="-4" dirty="0">
                <a:latin typeface="Arial MT"/>
                <a:cs typeface="Arial MT"/>
              </a:rPr>
              <a:t>using </a:t>
            </a:r>
            <a:r>
              <a:rPr lang="en-US" i="1" spc="-4" dirty="0">
                <a:solidFill>
                  <a:srgbClr val="FF0000"/>
                </a:solidFill>
                <a:latin typeface="Arial"/>
                <a:cs typeface="Arial"/>
              </a:rPr>
              <a:t>shallow</a:t>
            </a:r>
            <a:r>
              <a:rPr lang="en-US" i="1" dirty="0">
                <a:solidFill>
                  <a:srgbClr val="FF0000"/>
                </a:solidFill>
                <a:latin typeface="Arial"/>
                <a:cs typeface="Arial"/>
              </a:rPr>
              <a:t> </a:t>
            </a:r>
            <a:r>
              <a:rPr lang="en-US" i="1" spc="-4" dirty="0">
                <a:solidFill>
                  <a:srgbClr val="FF0000"/>
                </a:solidFill>
                <a:latin typeface="Arial"/>
                <a:cs typeface="Arial"/>
              </a:rPr>
              <a:t>neural</a:t>
            </a:r>
            <a:r>
              <a:rPr lang="en-US" i="1" spc="9" dirty="0">
                <a:solidFill>
                  <a:srgbClr val="FF0000"/>
                </a:solidFill>
                <a:latin typeface="Arial"/>
                <a:cs typeface="Arial"/>
              </a:rPr>
              <a:t> </a:t>
            </a:r>
            <a:r>
              <a:rPr lang="en-US" i="1" spc="-4" dirty="0">
                <a:solidFill>
                  <a:srgbClr val="FF0000"/>
                </a:solidFill>
                <a:latin typeface="Arial"/>
                <a:cs typeface="Arial"/>
              </a:rPr>
              <a:t>networks</a:t>
            </a:r>
            <a:endParaRPr lang="en-US" dirty="0">
              <a:latin typeface="Arial"/>
              <a:cs typeface="Arial"/>
            </a:endParaRPr>
          </a:p>
          <a:p>
            <a:pPr marL="667346" marR="535109" lvl="1" indent="-253266" algn="just">
              <a:spcBef>
                <a:spcPts val="468"/>
              </a:spcBef>
              <a:buChar char="–"/>
              <a:tabLst>
                <a:tab pos="667906" algn="l"/>
              </a:tabLst>
            </a:pPr>
            <a:r>
              <a:rPr lang="en-US" sz="2800" spc="-4" dirty="0">
                <a:latin typeface="Arial MT"/>
                <a:cs typeface="Arial MT"/>
              </a:rPr>
              <a:t>A </a:t>
            </a:r>
            <a:r>
              <a:rPr lang="en-US" sz="2800" i="1" spc="-4" dirty="0">
                <a:solidFill>
                  <a:srgbClr val="FF0000"/>
                </a:solidFill>
                <a:latin typeface="Arial"/>
                <a:cs typeface="Arial"/>
              </a:rPr>
              <a:t>two-layer neural net </a:t>
            </a:r>
            <a:r>
              <a:rPr lang="en-US" sz="2800" spc="-4" dirty="0">
                <a:latin typeface="Arial MT"/>
                <a:cs typeface="Arial MT"/>
              </a:rPr>
              <a:t>that processes text. </a:t>
            </a:r>
          </a:p>
          <a:p>
            <a:pPr marL="667346" marR="535109" lvl="1" indent="-253266" algn="just">
              <a:spcBef>
                <a:spcPts val="468"/>
              </a:spcBef>
              <a:buChar char="–"/>
              <a:tabLst>
                <a:tab pos="667906" algn="l"/>
              </a:tabLst>
            </a:pPr>
            <a:r>
              <a:rPr lang="en-US" sz="2800" spc="-4" dirty="0">
                <a:latin typeface="Arial MT"/>
                <a:cs typeface="Arial MT"/>
              </a:rPr>
              <a:t>Its input is a text corpus and its output is a set of vectors: feature vectors for words</a:t>
            </a:r>
            <a:r>
              <a:rPr lang="en-US" sz="2800" spc="9" dirty="0">
                <a:latin typeface="Arial MT"/>
                <a:cs typeface="Arial MT"/>
              </a:rPr>
              <a:t> </a:t>
            </a:r>
            <a:r>
              <a:rPr lang="en-US" sz="2800" spc="-4" dirty="0">
                <a:latin typeface="Arial MT"/>
                <a:cs typeface="Arial MT"/>
              </a:rPr>
              <a:t>in</a:t>
            </a:r>
            <a:r>
              <a:rPr lang="en-US" sz="2800" spc="-9" dirty="0">
                <a:latin typeface="Arial MT"/>
                <a:cs typeface="Arial MT"/>
              </a:rPr>
              <a:t> </a:t>
            </a:r>
            <a:r>
              <a:rPr lang="en-US" sz="2800" spc="-4" dirty="0">
                <a:latin typeface="Arial MT"/>
                <a:cs typeface="Arial MT"/>
              </a:rPr>
              <a:t>that</a:t>
            </a:r>
            <a:r>
              <a:rPr lang="en-US" sz="2800" spc="9" dirty="0">
                <a:latin typeface="Arial MT"/>
                <a:cs typeface="Arial MT"/>
              </a:rPr>
              <a:t> </a:t>
            </a:r>
            <a:r>
              <a:rPr lang="en-US" sz="2800" spc="-4" dirty="0">
                <a:latin typeface="Arial MT"/>
                <a:cs typeface="Arial MT"/>
              </a:rPr>
              <a:t>corpus.</a:t>
            </a:r>
            <a:endParaRPr lang="en-US" sz="2800" dirty="0">
              <a:latin typeface="Arial MT"/>
              <a:cs typeface="Arial MT"/>
            </a:endParaRPr>
          </a:p>
          <a:p>
            <a:pPr marL="667346" marR="4483" lvl="1" indent="-253266" algn="just">
              <a:spcBef>
                <a:spcPts val="463"/>
              </a:spcBef>
              <a:buChar char="–"/>
              <a:tabLst>
                <a:tab pos="667906" algn="l"/>
              </a:tabLst>
            </a:pPr>
            <a:r>
              <a:rPr lang="en-US" sz="2800" spc="-4" dirty="0">
                <a:latin typeface="Arial MT"/>
                <a:cs typeface="Arial MT"/>
              </a:rPr>
              <a:t>While </a:t>
            </a:r>
            <a:r>
              <a:rPr lang="en-US" sz="2800" spc="-9" dirty="0">
                <a:latin typeface="Arial MT"/>
                <a:cs typeface="Arial MT"/>
              </a:rPr>
              <a:t>Word2vec </a:t>
            </a:r>
            <a:r>
              <a:rPr lang="en-US" sz="2800" i="1" spc="-4" dirty="0">
                <a:solidFill>
                  <a:srgbClr val="FF0000"/>
                </a:solidFill>
                <a:latin typeface="Arial"/>
                <a:cs typeface="Arial"/>
              </a:rPr>
              <a:t>is not a deep neural network</a:t>
            </a:r>
            <a:r>
              <a:rPr lang="en-US" sz="2800" spc="-4" dirty="0">
                <a:latin typeface="Arial MT"/>
                <a:cs typeface="Arial MT"/>
              </a:rPr>
              <a:t>, it turns text into a </a:t>
            </a:r>
            <a:r>
              <a:rPr lang="en-US" sz="2800" spc="-529" dirty="0">
                <a:latin typeface="Arial MT"/>
                <a:cs typeface="Arial MT"/>
              </a:rPr>
              <a:t> </a:t>
            </a:r>
            <a:r>
              <a:rPr lang="en-US" sz="2800" spc="-4" dirty="0">
                <a:latin typeface="Arial MT"/>
                <a:cs typeface="Arial MT"/>
              </a:rPr>
              <a:t>numerical</a:t>
            </a:r>
            <a:r>
              <a:rPr lang="en-US" sz="2800" spc="13" dirty="0">
                <a:latin typeface="Arial MT"/>
                <a:cs typeface="Arial MT"/>
              </a:rPr>
              <a:t> </a:t>
            </a:r>
            <a:r>
              <a:rPr lang="en-US" sz="2800" spc="-4" dirty="0">
                <a:latin typeface="Arial MT"/>
                <a:cs typeface="Arial MT"/>
              </a:rPr>
              <a:t>form</a:t>
            </a:r>
            <a:r>
              <a:rPr lang="en-US" sz="2800" spc="13" dirty="0">
                <a:latin typeface="Arial MT"/>
                <a:cs typeface="Arial MT"/>
              </a:rPr>
              <a:t> </a:t>
            </a:r>
            <a:r>
              <a:rPr lang="en-US" sz="2800" spc="-4" dirty="0">
                <a:latin typeface="Arial MT"/>
                <a:cs typeface="Arial MT"/>
              </a:rPr>
              <a:t>that</a:t>
            </a:r>
            <a:r>
              <a:rPr lang="en-US" sz="2800" dirty="0">
                <a:latin typeface="Arial MT"/>
                <a:cs typeface="Arial MT"/>
              </a:rPr>
              <a:t> </a:t>
            </a:r>
            <a:r>
              <a:rPr lang="en-US" sz="2800" spc="-4" dirty="0">
                <a:latin typeface="Arial MT"/>
                <a:cs typeface="Arial MT"/>
              </a:rPr>
              <a:t>deep</a:t>
            </a:r>
            <a:r>
              <a:rPr lang="en-US" sz="2800" dirty="0">
                <a:latin typeface="Arial MT"/>
                <a:cs typeface="Arial MT"/>
              </a:rPr>
              <a:t> </a:t>
            </a:r>
            <a:r>
              <a:rPr lang="en-US" sz="2800" spc="-4" dirty="0">
                <a:latin typeface="Arial MT"/>
                <a:cs typeface="Arial MT"/>
              </a:rPr>
              <a:t>nets</a:t>
            </a:r>
            <a:r>
              <a:rPr lang="en-US" sz="2800" spc="4" dirty="0">
                <a:latin typeface="Arial MT"/>
                <a:cs typeface="Arial MT"/>
              </a:rPr>
              <a:t> </a:t>
            </a:r>
            <a:r>
              <a:rPr lang="en-US" sz="2800" spc="-4" dirty="0">
                <a:latin typeface="Arial MT"/>
                <a:cs typeface="Arial MT"/>
              </a:rPr>
              <a:t>can</a:t>
            </a:r>
            <a:r>
              <a:rPr lang="en-US" sz="2800" dirty="0">
                <a:latin typeface="Arial MT"/>
                <a:cs typeface="Arial MT"/>
              </a:rPr>
              <a:t> </a:t>
            </a:r>
            <a:r>
              <a:rPr lang="en-US" sz="2800" spc="-4" dirty="0">
                <a:latin typeface="Arial MT"/>
                <a:cs typeface="Arial MT"/>
              </a:rPr>
              <a:t>understand</a:t>
            </a:r>
            <a:endParaRPr lang="en-US" sz="2800" dirty="0">
              <a:latin typeface="Arial MT"/>
              <a:cs typeface="Arial MT"/>
            </a:endParaRPr>
          </a:p>
          <a:p>
            <a:endParaRPr lang="en-US" sz="4000" dirty="0"/>
          </a:p>
        </p:txBody>
      </p:sp>
      <p:sp>
        <p:nvSpPr>
          <p:cNvPr id="18" name="object 18"/>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29</a:t>
            </a:fld>
            <a:endParaRPr dirty="0"/>
          </a:p>
        </p:txBody>
      </p:sp>
      <p:sp>
        <p:nvSpPr>
          <p:cNvPr id="19" name="object 19"/>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CB8F666A-18EA-4F36-B906-D7B21992D2C4}" type="datetime1">
              <a:rPr lang="en-US" spc="-9" smtClean="0"/>
              <a:t>10/22/2025</a:t>
            </a:fld>
            <a:endParaRPr spc="-9" dirty="0"/>
          </a:p>
        </p:txBody>
      </p:sp>
      <p:sp>
        <p:nvSpPr>
          <p:cNvPr id="20" name="object 20"/>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478293ED-2D21-75F2-2479-C0B4847E355D}"/>
              </a:ext>
            </a:extLst>
          </p:cNvPr>
          <p:cNvSpPr>
            <a:spLocks noGrp="1"/>
          </p:cNvSpPr>
          <p:nvPr>
            <p:ph idx="1"/>
          </p:nvPr>
        </p:nvSpPr>
        <p:spPr/>
        <p:txBody>
          <a:bodyPr/>
          <a:lstStyle/>
          <a:p>
            <a:pPr marL="313221" marR="163054" indent="-302575">
              <a:spcBef>
                <a:spcPts val="88"/>
              </a:spcBef>
              <a:buChar char="•"/>
              <a:tabLst>
                <a:tab pos="313221" algn="l"/>
                <a:tab pos="313781" algn="l"/>
              </a:tabLst>
            </a:pPr>
            <a:r>
              <a:rPr lang="en-US" sz="2118" spc="-9" dirty="0">
                <a:latin typeface="Arial MT"/>
                <a:cs typeface="Arial MT"/>
              </a:rPr>
              <a:t>Word2vec</a:t>
            </a:r>
            <a:r>
              <a:rPr lang="en-US" sz="2118" spc="9" dirty="0">
                <a:latin typeface="Arial MT"/>
                <a:cs typeface="Arial MT"/>
              </a:rPr>
              <a:t> </a:t>
            </a:r>
            <a:r>
              <a:rPr lang="en-US" sz="2118" spc="-4" dirty="0">
                <a:latin typeface="Arial MT"/>
                <a:cs typeface="Arial MT"/>
              </a:rPr>
              <a:t>trains</a:t>
            </a:r>
            <a:r>
              <a:rPr lang="en-US" sz="2118" spc="-13" dirty="0">
                <a:latin typeface="Arial MT"/>
                <a:cs typeface="Arial MT"/>
              </a:rPr>
              <a:t> </a:t>
            </a:r>
            <a:r>
              <a:rPr lang="en-US" sz="2118" spc="-4" dirty="0">
                <a:latin typeface="Arial MT"/>
                <a:cs typeface="Arial MT"/>
              </a:rPr>
              <a:t>words</a:t>
            </a:r>
            <a:r>
              <a:rPr lang="en-US" sz="2118" spc="9" dirty="0">
                <a:latin typeface="Arial MT"/>
                <a:cs typeface="Arial MT"/>
              </a:rPr>
              <a:t> </a:t>
            </a:r>
            <a:r>
              <a:rPr lang="en-US" sz="2118" spc="-4" dirty="0">
                <a:latin typeface="Arial MT"/>
                <a:cs typeface="Arial MT"/>
              </a:rPr>
              <a:t>against</a:t>
            </a:r>
            <a:r>
              <a:rPr lang="en-US" sz="2118" spc="13" dirty="0">
                <a:latin typeface="Arial MT"/>
                <a:cs typeface="Arial MT"/>
              </a:rPr>
              <a:t> </a:t>
            </a:r>
            <a:r>
              <a:rPr lang="en-US" sz="2118" spc="-4" dirty="0">
                <a:latin typeface="Arial MT"/>
                <a:cs typeface="Arial MT"/>
              </a:rPr>
              <a:t>other</a:t>
            </a:r>
            <a:r>
              <a:rPr lang="en-US" sz="2118" spc="9" dirty="0">
                <a:latin typeface="Arial MT"/>
                <a:cs typeface="Arial MT"/>
              </a:rPr>
              <a:t> </a:t>
            </a:r>
            <a:r>
              <a:rPr lang="en-US" sz="2118" spc="-4" dirty="0">
                <a:latin typeface="Arial MT"/>
                <a:cs typeface="Arial MT"/>
              </a:rPr>
              <a:t>words</a:t>
            </a:r>
            <a:r>
              <a:rPr lang="en-US" sz="2118" dirty="0">
                <a:latin typeface="Arial MT"/>
                <a:cs typeface="Arial MT"/>
              </a:rPr>
              <a:t> </a:t>
            </a:r>
            <a:r>
              <a:rPr lang="en-US" sz="2118" spc="-4" dirty="0">
                <a:latin typeface="Arial MT"/>
                <a:cs typeface="Arial MT"/>
              </a:rPr>
              <a:t>that</a:t>
            </a:r>
            <a:r>
              <a:rPr lang="en-US" sz="2118" spc="-9" dirty="0">
                <a:latin typeface="Arial MT"/>
                <a:cs typeface="Arial MT"/>
              </a:rPr>
              <a:t> </a:t>
            </a:r>
            <a:r>
              <a:rPr lang="en-US" sz="2118" spc="-4" dirty="0">
                <a:latin typeface="Arial MT"/>
                <a:cs typeface="Arial MT"/>
              </a:rPr>
              <a:t>neighbor </a:t>
            </a:r>
            <a:r>
              <a:rPr lang="en-US" sz="2118" spc="-574" dirty="0">
                <a:latin typeface="Arial MT"/>
                <a:cs typeface="Arial MT"/>
              </a:rPr>
              <a:t> </a:t>
            </a:r>
            <a:r>
              <a:rPr lang="en-US" sz="2118" spc="-4" dirty="0">
                <a:latin typeface="Arial MT"/>
                <a:cs typeface="Arial MT"/>
              </a:rPr>
              <a:t>them</a:t>
            </a:r>
            <a:r>
              <a:rPr lang="en-US" sz="2118" spc="-9" dirty="0">
                <a:latin typeface="Arial MT"/>
                <a:cs typeface="Arial MT"/>
              </a:rPr>
              <a:t> </a:t>
            </a:r>
            <a:r>
              <a:rPr lang="en-US" sz="2118" spc="-4" dirty="0">
                <a:latin typeface="Arial MT"/>
                <a:cs typeface="Arial MT"/>
              </a:rPr>
              <a:t>in</a:t>
            </a:r>
            <a:r>
              <a:rPr lang="en-US" sz="2118" dirty="0">
                <a:latin typeface="Arial MT"/>
                <a:cs typeface="Arial MT"/>
              </a:rPr>
              <a:t> </a:t>
            </a:r>
            <a:r>
              <a:rPr lang="en-US" sz="2118" spc="-4" dirty="0">
                <a:latin typeface="Arial MT"/>
                <a:cs typeface="Arial MT"/>
              </a:rPr>
              <a:t>the</a:t>
            </a:r>
            <a:r>
              <a:rPr lang="en-US" sz="2118" dirty="0">
                <a:latin typeface="Arial MT"/>
                <a:cs typeface="Arial MT"/>
              </a:rPr>
              <a:t> </a:t>
            </a:r>
            <a:r>
              <a:rPr lang="en-US" sz="2118" spc="-4" dirty="0">
                <a:latin typeface="Arial MT"/>
                <a:cs typeface="Arial MT"/>
              </a:rPr>
              <a:t>input</a:t>
            </a:r>
            <a:r>
              <a:rPr lang="en-US" sz="2118" spc="9" dirty="0">
                <a:latin typeface="Arial MT"/>
                <a:cs typeface="Arial MT"/>
              </a:rPr>
              <a:t> </a:t>
            </a:r>
            <a:r>
              <a:rPr lang="en-US" sz="2118" spc="-4" dirty="0">
                <a:latin typeface="Arial MT"/>
                <a:cs typeface="Arial MT"/>
              </a:rPr>
              <a:t>corpus.</a:t>
            </a:r>
            <a:endParaRPr lang="en-US" sz="2118" dirty="0">
              <a:latin typeface="Arial MT"/>
              <a:cs typeface="Arial MT"/>
            </a:endParaRPr>
          </a:p>
          <a:p>
            <a:pPr marL="313781" indent="-302575">
              <a:spcBef>
                <a:spcPts val="507"/>
              </a:spcBef>
              <a:buChar char="•"/>
              <a:tabLst>
                <a:tab pos="313221" algn="l"/>
                <a:tab pos="313781" algn="l"/>
              </a:tabLst>
            </a:pPr>
            <a:r>
              <a:rPr lang="en-US" sz="2118" spc="-26" dirty="0">
                <a:latin typeface="Arial MT"/>
                <a:cs typeface="Arial MT"/>
              </a:rPr>
              <a:t>Word2Vec</a:t>
            </a:r>
            <a:r>
              <a:rPr lang="en-US" sz="2118" spc="9" dirty="0">
                <a:latin typeface="Arial MT"/>
                <a:cs typeface="Arial MT"/>
              </a:rPr>
              <a:t> </a:t>
            </a:r>
            <a:r>
              <a:rPr lang="en-US" sz="2118" spc="-4" dirty="0">
                <a:latin typeface="Arial MT"/>
                <a:cs typeface="Arial MT"/>
              </a:rPr>
              <a:t>employs</a:t>
            </a:r>
            <a:r>
              <a:rPr lang="en-US" sz="2118" spc="13" dirty="0">
                <a:latin typeface="Arial MT"/>
                <a:cs typeface="Arial MT"/>
              </a:rPr>
              <a:t> </a:t>
            </a:r>
            <a:r>
              <a:rPr lang="en-US" sz="2118" spc="-4" dirty="0">
                <a:latin typeface="Arial MT"/>
                <a:cs typeface="Arial MT"/>
              </a:rPr>
              <a:t>one</a:t>
            </a:r>
            <a:r>
              <a:rPr lang="en-US" sz="2118" spc="9" dirty="0">
                <a:latin typeface="Arial MT"/>
                <a:cs typeface="Arial MT"/>
              </a:rPr>
              <a:t> </a:t>
            </a:r>
            <a:r>
              <a:rPr lang="en-US" sz="2118" spc="-4" dirty="0">
                <a:latin typeface="Arial MT"/>
                <a:cs typeface="Arial MT"/>
              </a:rPr>
              <a:t>of</a:t>
            </a:r>
            <a:r>
              <a:rPr lang="en-US" sz="2118" spc="-13" dirty="0">
                <a:latin typeface="Arial MT"/>
                <a:cs typeface="Arial MT"/>
              </a:rPr>
              <a:t> </a:t>
            </a:r>
            <a:r>
              <a:rPr lang="en-US" sz="2118" spc="-4" dirty="0">
                <a:latin typeface="Arial MT"/>
                <a:cs typeface="Arial MT"/>
              </a:rPr>
              <a:t>the</a:t>
            </a:r>
            <a:r>
              <a:rPr lang="en-US" sz="2118" dirty="0">
                <a:latin typeface="Arial MT"/>
                <a:cs typeface="Arial MT"/>
              </a:rPr>
              <a:t> </a:t>
            </a:r>
            <a:r>
              <a:rPr lang="en-US" sz="2118" spc="-4" dirty="0">
                <a:latin typeface="Arial MT"/>
                <a:cs typeface="Arial MT"/>
              </a:rPr>
              <a:t>two</a:t>
            </a:r>
            <a:r>
              <a:rPr lang="en-US" sz="2118" spc="-9" dirty="0">
                <a:latin typeface="Arial MT"/>
                <a:cs typeface="Arial MT"/>
              </a:rPr>
              <a:t> </a:t>
            </a:r>
            <a:r>
              <a:rPr lang="en-US" sz="2118" spc="-4" dirty="0">
                <a:latin typeface="Arial MT"/>
                <a:cs typeface="Arial MT"/>
              </a:rPr>
              <a:t>algorithms:</a:t>
            </a:r>
            <a:endParaRPr lang="en-US" sz="2118" dirty="0">
              <a:latin typeface="Arial MT"/>
              <a:cs typeface="Arial MT"/>
            </a:endParaRPr>
          </a:p>
          <a:p>
            <a:pPr marL="667346" marR="170338" lvl="1" indent="-253266">
              <a:spcBef>
                <a:spcPts val="507"/>
              </a:spcBef>
              <a:buFont typeface="Arial MT"/>
              <a:buChar char="–"/>
              <a:tabLst>
                <a:tab pos="667906" algn="l"/>
              </a:tabLst>
            </a:pPr>
            <a:r>
              <a:rPr lang="en-US" sz="2118" b="1" spc="-4" dirty="0">
                <a:solidFill>
                  <a:srgbClr val="FF0000"/>
                </a:solidFill>
                <a:latin typeface="Arial"/>
                <a:cs typeface="Arial"/>
              </a:rPr>
              <a:t>Continuous bag of </a:t>
            </a:r>
            <a:r>
              <a:rPr lang="en-US" sz="2118" b="1" dirty="0">
                <a:solidFill>
                  <a:srgbClr val="FF0000"/>
                </a:solidFill>
                <a:latin typeface="Arial"/>
                <a:cs typeface="Arial"/>
              </a:rPr>
              <a:t>words </a:t>
            </a:r>
            <a:r>
              <a:rPr lang="en-US" sz="2118" b="1" spc="-4" dirty="0">
                <a:solidFill>
                  <a:srgbClr val="FF0000"/>
                </a:solidFill>
                <a:latin typeface="Arial"/>
                <a:cs typeface="Arial"/>
              </a:rPr>
              <a:t>(CBOW): </a:t>
            </a:r>
            <a:r>
              <a:rPr lang="en-US" sz="2118" spc="-4" dirty="0">
                <a:latin typeface="Arial MT"/>
                <a:cs typeface="Arial MT"/>
              </a:rPr>
              <a:t>Using context </a:t>
            </a:r>
            <a:r>
              <a:rPr lang="en-US" sz="2118" dirty="0">
                <a:latin typeface="Arial MT"/>
                <a:cs typeface="Arial MT"/>
              </a:rPr>
              <a:t>to </a:t>
            </a:r>
            <a:r>
              <a:rPr lang="en-US" sz="2118" spc="-578" dirty="0">
                <a:latin typeface="Arial MT"/>
                <a:cs typeface="Arial MT"/>
              </a:rPr>
              <a:t> </a:t>
            </a:r>
            <a:r>
              <a:rPr lang="en-US" sz="2118" spc="-4" dirty="0">
                <a:latin typeface="Arial MT"/>
                <a:cs typeface="Arial MT"/>
              </a:rPr>
              <a:t>predict</a:t>
            </a:r>
            <a:r>
              <a:rPr lang="en-US" sz="2118" spc="4" dirty="0">
                <a:latin typeface="Arial MT"/>
                <a:cs typeface="Arial MT"/>
              </a:rPr>
              <a:t> </a:t>
            </a:r>
            <a:r>
              <a:rPr lang="en-US" sz="2118" spc="-4" dirty="0">
                <a:latin typeface="Arial MT"/>
                <a:cs typeface="Arial MT"/>
              </a:rPr>
              <a:t>a</a:t>
            </a:r>
            <a:r>
              <a:rPr lang="en-US" sz="2118" dirty="0">
                <a:latin typeface="Arial MT"/>
                <a:cs typeface="Arial MT"/>
              </a:rPr>
              <a:t> </a:t>
            </a:r>
            <a:r>
              <a:rPr lang="en-US" sz="2118" spc="-4" dirty="0">
                <a:latin typeface="Arial MT"/>
                <a:cs typeface="Arial MT"/>
              </a:rPr>
              <a:t>target word</a:t>
            </a:r>
            <a:r>
              <a:rPr lang="en-US" sz="2118" dirty="0">
                <a:latin typeface="Arial MT"/>
                <a:cs typeface="Arial MT"/>
              </a:rPr>
              <a:t> </a:t>
            </a:r>
            <a:r>
              <a:rPr lang="en-US" sz="2118" spc="-4" dirty="0">
                <a:latin typeface="Arial MT"/>
                <a:cs typeface="Arial MT"/>
              </a:rPr>
              <a:t>(a</a:t>
            </a:r>
            <a:r>
              <a:rPr lang="en-US" sz="2118" dirty="0">
                <a:latin typeface="Arial MT"/>
                <a:cs typeface="Arial MT"/>
              </a:rPr>
              <a:t> </a:t>
            </a:r>
            <a:r>
              <a:rPr lang="en-US" sz="2118" spc="-4" dirty="0">
                <a:latin typeface="Arial MT"/>
                <a:cs typeface="Arial MT"/>
              </a:rPr>
              <a:t>method</a:t>
            </a:r>
            <a:r>
              <a:rPr lang="en-US" sz="2118" spc="-9" dirty="0">
                <a:latin typeface="Arial MT"/>
                <a:cs typeface="Arial MT"/>
              </a:rPr>
              <a:t> </a:t>
            </a:r>
            <a:r>
              <a:rPr lang="en-US" sz="2118" spc="-4" dirty="0">
                <a:latin typeface="Arial MT"/>
                <a:cs typeface="Arial MT"/>
              </a:rPr>
              <a:t>known</a:t>
            </a:r>
            <a:r>
              <a:rPr lang="en-US" sz="2118" spc="22" dirty="0">
                <a:latin typeface="Arial MT"/>
                <a:cs typeface="Arial MT"/>
              </a:rPr>
              <a:t> </a:t>
            </a:r>
            <a:r>
              <a:rPr lang="en-US" sz="2118" spc="-4" dirty="0">
                <a:latin typeface="Arial MT"/>
                <a:cs typeface="Arial MT"/>
              </a:rPr>
              <a:t>as),</a:t>
            </a:r>
            <a:endParaRPr lang="en-US" sz="2118" dirty="0">
              <a:latin typeface="Arial MT"/>
              <a:cs typeface="Arial MT"/>
            </a:endParaRPr>
          </a:p>
          <a:p>
            <a:pPr marL="667346" lvl="1" indent="-253827">
              <a:spcBef>
                <a:spcPts val="503"/>
              </a:spcBef>
              <a:buFont typeface="Arial MT"/>
              <a:buChar char="–"/>
              <a:tabLst>
                <a:tab pos="667906" algn="l"/>
              </a:tabLst>
            </a:pPr>
            <a:r>
              <a:rPr lang="en-US" sz="2118" b="1" spc="-4" dirty="0">
                <a:solidFill>
                  <a:srgbClr val="FF0000"/>
                </a:solidFill>
                <a:latin typeface="Arial"/>
                <a:cs typeface="Arial"/>
              </a:rPr>
              <a:t>Skip-gram:</a:t>
            </a:r>
            <a:r>
              <a:rPr lang="en-US" sz="2118" b="1" spc="-9" dirty="0">
                <a:solidFill>
                  <a:srgbClr val="FF0000"/>
                </a:solidFill>
                <a:latin typeface="Arial"/>
                <a:cs typeface="Arial"/>
              </a:rPr>
              <a:t> </a:t>
            </a:r>
            <a:r>
              <a:rPr lang="en-US" sz="2118" spc="-4" dirty="0">
                <a:latin typeface="Arial MT"/>
                <a:cs typeface="Arial MT"/>
              </a:rPr>
              <a:t>Using</a:t>
            </a:r>
            <a:r>
              <a:rPr lang="en-US" sz="2118" spc="22" dirty="0">
                <a:latin typeface="Arial MT"/>
                <a:cs typeface="Arial MT"/>
              </a:rPr>
              <a:t> </a:t>
            </a:r>
            <a:r>
              <a:rPr lang="en-US" sz="2118" spc="-4" dirty="0">
                <a:latin typeface="Arial MT"/>
                <a:cs typeface="Arial MT"/>
              </a:rPr>
              <a:t>a</a:t>
            </a:r>
            <a:r>
              <a:rPr lang="en-US" sz="2118" spc="-13" dirty="0">
                <a:latin typeface="Arial MT"/>
                <a:cs typeface="Arial MT"/>
              </a:rPr>
              <a:t> </a:t>
            </a:r>
            <a:r>
              <a:rPr lang="en-US" sz="2118" spc="-4" dirty="0">
                <a:latin typeface="Arial MT"/>
                <a:cs typeface="Arial MT"/>
              </a:rPr>
              <a:t>word</a:t>
            </a:r>
            <a:r>
              <a:rPr lang="en-US" sz="2118" spc="9" dirty="0">
                <a:latin typeface="Arial MT"/>
                <a:cs typeface="Arial MT"/>
              </a:rPr>
              <a:t> </a:t>
            </a:r>
            <a:r>
              <a:rPr lang="en-US" sz="2118" dirty="0">
                <a:latin typeface="Arial MT"/>
                <a:cs typeface="Arial MT"/>
              </a:rPr>
              <a:t>to</a:t>
            </a:r>
            <a:r>
              <a:rPr lang="en-US" sz="2118" spc="-9" dirty="0">
                <a:latin typeface="Arial MT"/>
                <a:cs typeface="Arial MT"/>
              </a:rPr>
              <a:t> </a:t>
            </a:r>
            <a:r>
              <a:rPr lang="en-US" sz="2118" spc="-4" dirty="0">
                <a:latin typeface="Arial MT"/>
                <a:cs typeface="Arial MT"/>
              </a:rPr>
              <a:t>predict</a:t>
            </a:r>
            <a:r>
              <a:rPr lang="en-US" sz="2118" spc="4" dirty="0">
                <a:latin typeface="Arial MT"/>
                <a:cs typeface="Arial MT"/>
              </a:rPr>
              <a:t> </a:t>
            </a:r>
            <a:r>
              <a:rPr lang="en-US" sz="2118" spc="-4" dirty="0">
                <a:latin typeface="Arial MT"/>
                <a:cs typeface="Arial MT"/>
              </a:rPr>
              <a:t>a</a:t>
            </a:r>
            <a:r>
              <a:rPr lang="en-US" sz="2118" dirty="0">
                <a:latin typeface="Arial MT"/>
                <a:cs typeface="Arial MT"/>
              </a:rPr>
              <a:t> </a:t>
            </a:r>
            <a:r>
              <a:rPr lang="en-US" sz="2118" spc="-4" dirty="0">
                <a:latin typeface="Arial MT"/>
                <a:cs typeface="Arial MT"/>
              </a:rPr>
              <a:t>target</a:t>
            </a:r>
            <a:r>
              <a:rPr lang="en-US" sz="2118" spc="-13" dirty="0">
                <a:latin typeface="Arial MT"/>
                <a:cs typeface="Arial MT"/>
              </a:rPr>
              <a:t> </a:t>
            </a:r>
            <a:r>
              <a:rPr lang="en-US" sz="2118" spc="-4" dirty="0">
                <a:latin typeface="Arial MT"/>
                <a:cs typeface="Arial MT"/>
              </a:rPr>
              <a:t>context</a:t>
            </a:r>
            <a:endParaRPr lang="en-US" sz="2118" dirty="0">
              <a:latin typeface="Arial MT"/>
              <a:cs typeface="Arial MT"/>
            </a:endParaRPr>
          </a:p>
          <a:p>
            <a:pPr marL="1019790" marR="310980" lvl="2" indent="-201717">
              <a:spcBef>
                <a:spcPts val="427"/>
              </a:spcBef>
              <a:buChar char="•"/>
              <a:tabLst>
                <a:tab pos="1019229" algn="l"/>
                <a:tab pos="1019790" algn="l"/>
              </a:tabLst>
            </a:pPr>
            <a:r>
              <a:rPr lang="en-US" sz="1765" spc="-4" dirty="0">
                <a:latin typeface="Arial MT"/>
                <a:cs typeface="Arial MT"/>
              </a:rPr>
              <a:t>Example: Given</a:t>
            </a:r>
            <a:r>
              <a:rPr lang="en-US" sz="1765" spc="-9" dirty="0">
                <a:latin typeface="Arial MT"/>
                <a:cs typeface="Arial MT"/>
              </a:rPr>
              <a:t> </a:t>
            </a:r>
            <a:r>
              <a:rPr lang="en-US" sz="1765" spc="-4" dirty="0">
                <a:latin typeface="Arial MT"/>
                <a:cs typeface="Arial MT"/>
              </a:rPr>
              <a:t>the </a:t>
            </a:r>
            <a:r>
              <a:rPr lang="en-US" sz="1765" dirty="0">
                <a:latin typeface="Arial MT"/>
                <a:cs typeface="Arial MT"/>
              </a:rPr>
              <a:t>word</a:t>
            </a:r>
            <a:r>
              <a:rPr lang="en-US" sz="1765" spc="-22" dirty="0">
                <a:latin typeface="Arial MT"/>
                <a:cs typeface="Arial MT"/>
              </a:rPr>
              <a:t> </a:t>
            </a:r>
            <a:r>
              <a:rPr lang="en-US" sz="1765" spc="-4" dirty="0">
                <a:latin typeface="Arial MT"/>
                <a:cs typeface="Arial MT"/>
              </a:rPr>
              <a:t>‘</a:t>
            </a:r>
            <a:r>
              <a:rPr lang="en-US" sz="1765" i="1" spc="-4" dirty="0">
                <a:solidFill>
                  <a:srgbClr val="C00000"/>
                </a:solidFill>
                <a:latin typeface="Arial"/>
                <a:cs typeface="Arial"/>
              </a:rPr>
              <a:t>delightful</a:t>
            </a:r>
            <a:r>
              <a:rPr lang="en-US" sz="1765" spc="-4" dirty="0">
                <a:latin typeface="Arial MT"/>
                <a:cs typeface="Arial MT"/>
              </a:rPr>
              <a:t>’</a:t>
            </a:r>
            <a:r>
              <a:rPr lang="en-US" sz="1765" spc="-49" dirty="0">
                <a:latin typeface="Arial MT"/>
                <a:cs typeface="Arial MT"/>
              </a:rPr>
              <a:t> </a:t>
            </a:r>
            <a:r>
              <a:rPr lang="en-US" sz="1765" dirty="0">
                <a:latin typeface="Arial MT"/>
                <a:cs typeface="Arial MT"/>
              </a:rPr>
              <a:t>,</a:t>
            </a:r>
            <a:r>
              <a:rPr lang="en-US" sz="1765" spc="-18" dirty="0">
                <a:latin typeface="Arial MT"/>
                <a:cs typeface="Arial MT"/>
              </a:rPr>
              <a:t> </a:t>
            </a:r>
            <a:r>
              <a:rPr lang="en-US" sz="1765" dirty="0">
                <a:latin typeface="Arial MT"/>
                <a:cs typeface="Arial MT"/>
              </a:rPr>
              <a:t>most</a:t>
            </a:r>
            <a:r>
              <a:rPr lang="en-US" sz="1765" spc="-18" dirty="0">
                <a:latin typeface="Arial MT"/>
                <a:cs typeface="Arial MT"/>
              </a:rPr>
              <a:t> </a:t>
            </a:r>
            <a:r>
              <a:rPr lang="en-US" sz="1765" dirty="0">
                <a:latin typeface="Arial MT"/>
                <a:cs typeface="Arial MT"/>
              </a:rPr>
              <a:t>probable</a:t>
            </a:r>
            <a:r>
              <a:rPr lang="en-US" sz="1765" spc="-26" dirty="0">
                <a:latin typeface="Arial MT"/>
                <a:cs typeface="Arial MT"/>
              </a:rPr>
              <a:t> </a:t>
            </a:r>
            <a:r>
              <a:rPr lang="en-US" sz="1765" spc="-4" dirty="0">
                <a:latin typeface="Arial MT"/>
                <a:cs typeface="Arial MT"/>
              </a:rPr>
              <a:t>context </a:t>
            </a:r>
            <a:r>
              <a:rPr lang="en-US" sz="1765" spc="-476" dirty="0">
                <a:latin typeface="Arial MT"/>
                <a:cs typeface="Arial MT"/>
              </a:rPr>
              <a:t> </a:t>
            </a:r>
            <a:r>
              <a:rPr lang="en-US" sz="1765" dirty="0">
                <a:latin typeface="Arial MT"/>
                <a:cs typeface="Arial MT"/>
              </a:rPr>
              <a:t>would</a:t>
            </a:r>
            <a:r>
              <a:rPr lang="en-US" sz="1765" spc="-18" dirty="0">
                <a:latin typeface="Arial MT"/>
                <a:cs typeface="Arial MT"/>
              </a:rPr>
              <a:t> </a:t>
            </a:r>
            <a:r>
              <a:rPr lang="en-US" sz="1765" dirty="0">
                <a:latin typeface="Arial MT"/>
                <a:cs typeface="Arial MT"/>
              </a:rPr>
              <a:t>be</a:t>
            </a:r>
            <a:r>
              <a:rPr lang="en-US" sz="1765" spc="-4" dirty="0">
                <a:latin typeface="Arial MT"/>
                <a:cs typeface="Arial MT"/>
              </a:rPr>
              <a:t> </a:t>
            </a:r>
            <a:r>
              <a:rPr lang="en-US" sz="1765" dirty="0">
                <a:latin typeface="Arial MT"/>
                <a:cs typeface="Arial MT"/>
              </a:rPr>
              <a:t>‘</a:t>
            </a:r>
            <a:r>
              <a:rPr lang="en-US" sz="1765" i="1" dirty="0">
                <a:solidFill>
                  <a:srgbClr val="C00000"/>
                </a:solidFill>
                <a:latin typeface="Arial"/>
                <a:cs typeface="Arial"/>
              </a:rPr>
              <a:t>yesterday</a:t>
            </a:r>
            <a:r>
              <a:rPr lang="en-US" sz="1765" i="1" spc="-44" dirty="0">
                <a:solidFill>
                  <a:srgbClr val="C00000"/>
                </a:solidFill>
                <a:latin typeface="Arial"/>
                <a:cs typeface="Arial"/>
              </a:rPr>
              <a:t> </a:t>
            </a:r>
            <a:r>
              <a:rPr lang="en-US" sz="1765" i="1" dirty="0">
                <a:solidFill>
                  <a:srgbClr val="C00000"/>
                </a:solidFill>
                <a:latin typeface="Arial"/>
                <a:cs typeface="Arial"/>
              </a:rPr>
              <a:t>was</a:t>
            </a:r>
            <a:r>
              <a:rPr lang="en-US" sz="1765" i="1" spc="-22" dirty="0">
                <a:solidFill>
                  <a:srgbClr val="C00000"/>
                </a:solidFill>
                <a:latin typeface="Arial"/>
                <a:cs typeface="Arial"/>
              </a:rPr>
              <a:t> </a:t>
            </a:r>
            <a:r>
              <a:rPr lang="en-US" sz="1765" i="1" spc="-4" dirty="0">
                <a:solidFill>
                  <a:srgbClr val="C00000"/>
                </a:solidFill>
                <a:latin typeface="Arial"/>
                <a:cs typeface="Arial"/>
              </a:rPr>
              <a:t>really</a:t>
            </a:r>
            <a:r>
              <a:rPr lang="en-US" sz="1765" i="1" spc="-9" dirty="0">
                <a:solidFill>
                  <a:srgbClr val="C00000"/>
                </a:solidFill>
                <a:latin typeface="Arial"/>
                <a:cs typeface="Arial"/>
              </a:rPr>
              <a:t> [...]</a:t>
            </a:r>
            <a:r>
              <a:rPr lang="en-US" sz="1765" i="1" spc="-22" dirty="0">
                <a:solidFill>
                  <a:srgbClr val="C00000"/>
                </a:solidFill>
                <a:latin typeface="Arial"/>
                <a:cs typeface="Arial"/>
              </a:rPr>
              <a:t> </a:t>
            </a:r>
            <a:r>
              <a:rPr lang="en-US" sz="1765" i="1" dirty="0">
                <a:solidFill>
                  <a:srgbClr val="C00000"/>
                </a:solidFill>
                <a:latin typeface="Arial"/>
                <a:cs typeface="Arial"/>
              </a:rPr>
              <a:t>day’</a:t>
            </a:r>
            <a:endParaRPr lang="en-US" sz="1765" dirty="0">
              <a:latin typeface="Arial"/>
              <a:cs typeface="Arial"/>
            </a:endParaRPr>
          </a:p>
          <a:p>
            <a:pPr lvl="2">
              <a:lnSpc>
                <a:spcPct val="100000"/>
              </a:lnSpc>
              <a:buFont typeface="Arial MT"/>
              <a:buChar char="•"/>
            </a:pPr>
            <a:endParaRPr lang="en-US" sz="1765" dirty="0">
              <a:latin typeface="Arial"/>
              <a:cs typeface="Arial"/>
            </a:endParaRPr>
          </a:p>
          <a:p>
            <a:pPr marL="313221" marR="4483" indent="-302575">
              <a:spcBef>
                <a:spcPts val="1227"/>
              </a:spcBef>
              <a:buChar char="•"/>
              <a:tabLst>
                <a:tab pos="313221" algn="l"/>
                <a:tab pos="313781" algn="l"/>
              </a:tabLst>
            </a:pPr>
            <a:r>
              <a:rPr lang="en-US" sz="2400" spc="-4" dirty="0">
                <a:latin typeface="Arial MT"/>
                <a:cs typeface="Arial MT"/>
              </a:rPr>
              <a:t>For</a:t>
            </a:r>
            <a:r>
              <a:rPr lang="en-US" sz="2400" spc="9" dirty="0">
                <a:latin typeface="Arial MT"/>
                <a:cs typeface="Arial MT"/>
              </a:rPr>
              <a:t> </a:t>
            </a:r>
            <a:r>
              <a:rPr lang="en-US" sz="2400" spc="-4" dirty="0">
                <a:latin typeface="Arial MT"/>
                <a:cs typeface="Arial MT"/>
              </a:rPr>
              <a:t>a</a:t>
            </a:r>
            <a:r>
              <a:rPr lang="en-US" sz="2400" spc="4" dirty="0">
                <a:latin typeface="Arial MT"/>
                <a:cs typeface="Arial MT"/>
              </a:rPr>
              <a:t> </a:t>
            </a:r>
            <a:r>
              <a:rPr lang="en-US" sz="2400" spc="-4" dirty="0">
                <a:latin typeface="Arial MT"/>
                <a:cs typeface="Arial MT"/>
              </a:rPr>
              <a:t>small</a:t>
            </a:r>
            <a:r>
              <a:rPr lang="en-US" sz="2400" spc="9" dirty="0">
                <a:latin typeface="Arial MT"/>
                <a:cs typeface="Arial MT"/>
              </a:rPr>
              <a:t> </a:t>
            </a:r>
            <a:r>
              <a:rPr lang="en-US" sz="2400" spc="-4" dirty="0">
                <a:latin typeface="Arial MT"/>
                <a:cs typeface="Arial MT"/>
              </a:rPr>
              <a:t>dataset,</a:t>
            </a:r>
            <a:r>
              <a:rPr lang="en-US" sz="2400" spc="9" dirty="0">
                <a:latin typeface="Arial MT"/>
                <a:cs typeface="Arial MT"/>
              </a:rPr>
              <a:t> </a:t>
            </a:r>
            <a:r>
              <a:rPr lang="en-US" sz="2400" spc="-4" dirty="0">
                <a:latin typeface="Arial MT"/>
                <a:cs typeface="Arial MT"/>
              </a:rPr>
              <a:t>its better</a:t>
            </a:r>
            <a:r>
              <a:rPr lang="en-US" sz="2400" spc="13" dirty="0">
                <a:latin typeface="Arial MT"/>
                <a:cs typeface="Arial MT"/>
              </a:rPr>
              <a:t> </a:t>
            </a:r>
            <a:r>
              <a:rPr lang="en-US" sz="2400" spc="-4" dirty="0">
                <a:latin typeface="Arial MT"/>
                <a:cs typeface="Arial MT"/>
              </a:rPr>
              <a:t>to</a:t>
            </a:r>
            <a:r>
              <a:rPr lang="en-US" sz="2400" dirty="0">
                <a:latin typeface="Arial MT"/>
                <a:cs typeface="Arial MT"/>
              </a:rPr>
              <a:t> </a:t>
            </a:r>
            <a:r>
              <a:rPr lang="en-US" sz="2400" spc="-4" dirty="0">
                <a:latin typeface="Arial MT"/>
                <a:cs typeface="Arial MT"/>
              </a:rPr>
              <a:t>use</a:t>
            </a:r>
            <a:r>
              <a:rPr lang="en-US" sz="2400" spc="4" dirty="0">
                <a:latin typeface="Arial MT"/>
                <a:cs typeface="Arial MT"/>
              </a:rPr>
              <a:t> </a:t>
            </a:r>
            <a:r>
              <a:rPr lang="en-US" sz="2400" spc="-4" dirty="0">
                <a:latin typeface="Arial MT"/>
                <a:cs typeface="Arial MT"/>
              </a:rPr>
              <a:t>the</a:t>
            </a:r>
            <a:r>
              <a:rPr lang="en-US" sz="2400" spc="4" dirty="0">
                <a:latin typeface="Arial MT"/>
                <a:cs typeface="Arial MT"/>
              </a:rPr>
              <a:t> </a:t>
            </a:r>
            <a:r>
              <a:rPr lang="en-US" sz="2400" spc="-9" dirty="0">
                <a:latin typeface="Arial MT"/>
                <a:cs typeface="Arial MT"/>
              </a:rPr>
              <a:t>CBOW</a:t>
            </a:r>
            <a:r>
              <a:rPr lang="en-US" sz="2400" spc="18" dirty="0">
                <a:latin typeface="Arial MT"/>
                <a:cs typeface="Arial MT"/>
              </a:rPr>
              <a:t> </a:t>
            </a:r>
            <a:r>
              <a:rPr lang="en-US" sz="2400" spc="-4" dirty="0">
                <a:latin typeface="Arial MT"/>
                <a:cs typeface="Arial MT"/>
              </a:rPr>
              <a:t>model</a:t>
            </a:r>
            <a:r>
              <a:rPr lang="en-US" sz="2400" spc="13" dirty="0">
                <a:latin typeface="Arial MT"/>
                <a:cs typeface="Arial MT"/>
              </a:rPr>
              <a:t> </a:t>
            </a:r>
            <a:r>
              <a:rPr lang="en-US" sz="2400" spc="-4" dirty="0">
                <a:latin typeface="Arial MT"/>
                <a:cs typeface="Arial MT"/>
              </a:rPr>
              <a:t>and</a:t>
            </a:r>
            <a:r>
              <a:rPr lang="en-US" sz="2400" spc="4" dirty="0">
                <a:latin typeface="Arial MT"/>
                <a:cs typeface="Arial MT"/>
              </a:rPr>
              <a:t> </a:t>
            </a:r>
            <a:r>
              <a:rPr lang="en-US" sz="2400" spc="-4" dirty="0">
                <a:latin typeface="Arial MT"/>
                <a:cs typeface="Arial MT"/>
              </a:rPr>
              <a:t>for</a:t>
            </a:r>
            <a:r>
              <a:rPr lang="en-US" sz="2400" spc="13" dirty="0">
                <a:latin typeface="Arial MT"/>
                <a:cs typeface="Arial MT"/>
              </a:rPr>
              <a:t> </a:t>
            </a:r>
            <a:r>
              <a:rPr lang="en-US" sz="2400" spc="-4" dirty="0">
                <a:latin typeface="Arial MT"/>
                <a:cs typeface="Arial MT"/>
              </a:rPr>
              <a:t>a </a:t>
            </a:r>
            <a:r>
              <a:rPr lang="en-US" sz="2400" spc="-529" dirty="0">
                <a:latin typeface="Arial MT"/>
                <a:cs typeface="Arial MT"/>
              </a:rPr>
              <a:t> </a:t>
            </a:r>
            <a:r>
              <a:rPr lang="en-US" sz="2400" spc="-4" dirty="0">
                <a:latin typeface="Arial MT"/>
                <a:cs typeface="Arial MT"/>
              </a:rPr>
              <a:t>large</a:t>
            </a:r>
            <a:r>
              <a:rPr lang="en-US" sz="2400" dirty="0">
                <a:latin typeface="Arial MT"/>
                <a:cs typeface="Arial MT"/>
              </a:rPr>
              <a:t> </a:t>
            </a:r>
            <a:r>
              <a:rPr lang="en-US" sz="2400" spc="-4" dirty="0">
                <a:latin typeface="Arial MT"/>
                <a:cs typeface="Arial MT"/>
              </a:rPr>
              <a:t>dataset</a:t>
            </a:r>
            <a:r>
              <a:rPr lang="en-US" sz="2400" spc="9" dirty="0">
                <a:latin typeface="Arial MT"/>
                <a:cs typeface="Arial MT"/>
              </a:rPr>
              <a:t> </a:t>
            </a:r>
            <a:r>
              <a:rPr lang="en-US" sz="2400" spc="-4" dirty="0">
                <a:latin typeface="Arial MT"/>
                <a:cs typeface="Arial MT"/>
              </a:rPr>
              <a:t>better</a:t>
            </a:r>
            <a:r>
              <a:rPr lang="en-US" sz="2400" dirty="0">
                <a:latin typeface="Arial MT"/>
                <a:cs typeface="Arial MT"/>
              </a:rPr>
              <a:t> </a:t>
            </a:r>
            <a:r>
              <a:rPr lang="en-US" sz="2400" spc="-4" dirty="0">
                <a:latin typeface="Arial MT"/>
                <a:cs typeface="Arial MT"/>
              </a:rPr>
              <a:t>use</a:t>
            </a:r>
            <a:r>
              <a:rPr lang="en-US" sz="2400" dirty="0">
                <a:latin typeface="Arial MT"/>
                <a:cs typeface="Arial MT"/>
              </a:rPr>
              <a:t> </a:t>
            </a:r>
            <a:r>
              <a:rPr lang="en-US" sz="2400" spc="-4" dirty="0">
                <a:latin typeface="Arial MT"/>
                <a:cs typeface="Arial MT"/>
              </a:rPr>
              <a:t>the</a:t>
            </a:r>
            <a:r>
              <a:rPr lang="en-US" sz="2400" dirty="0">
                <a:latin typeface="Arial MT"/>
                <a:cs typeface="Arial MT"/>
              </a:rPr>
              <a:t> </a:t>
            </a:r>
            <a:r>
              <a:rPr lang="en-US" sz="2400" spc="-4" dirty="0">
                <a:latin typeface="Arial MT"/>
                <a:cs typeface="Arial MT"/>
              </a:rPr>
              <a:t>skip-gram</a:t>
            </a:r>
            <a:r>
              <a:rPr lang="en-US" sz="2400" spc="13" dirty="0">
                <a:latin typeface="Arial MT"/>
                <a:cs typeface="Arial MT"/>
              </a:rPr>
              <a:t> </a:t>
            </a:r>
            <a:r>
              <a:rPr lang="en-US" sz="2400" spc="-4" dirty="0">
                <a:latin typeface="Arial MT"/>
                <a:cs typeface="Arial MT"/>
              </a:rPr>
              <a:t>model.</a:t>
            </a:r>
            <a:endParaRPr lang="en-US" sz="2400" dirty="0">
              <a:latin typeface="Arial MT"/>
              <a:cs typeface="Arial MT"/>
            </a:endParaRPr>
          </a:p>
          <a:p>
            <a:endParaRPr lang="en-US" dirty="0"/>
          </a:p>
        </p:txBody>
      </p:sp>
      <p:sp>
        <p:nvSpPr>
          <p:cNvPr id="5" name="object 5"/>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Introduction:</a:t>
            </a:r>
            <a:r>
              <a:rPr spc="-53" dirty="0"/>
              <a:t> </a:t>
            </a:r>
            <a:r>
              <a:rPr spc="-35" dirty="0"/>
              <a:t>Word2Vec</a:t>
            </a:r>
          </a:p>
        </p:txBody>
      </p:sp>
      <p:sp>
        <p:nvSpPr>
          <p:cNvPr id="7" name="object 7"/>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30</a:t>
            </a:fld>
            <a:endParaRPr dirty="0"/>
          </a:p>
        </p:txBody>
      </p:sp>
      <p:sp>
        <p:nvSpPr>
          <p:cNvPr id="8" name="object 8"/>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7387C999-0FE5-48F0-AAE1-EE3ED0BC1578}" type="datetime1">
              <a:rPr lang="en-US" spc="-9" smtClean="0"/>
              <a:t>10/22/2025</a:t>
            </a:fld>
            <a:endParaRPr spc="-9" dirty="0"/>
          </a:p>
        </p:txBody>
      </p:sp>
      <p:sp>
        <p:nvSpPr>
          <p:cNvPr id="9" name="object 9"/>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99D6D6-61ED-7626-04BD-7E70FC461CB4}"/>
              </a:ext>
            </a:extLst>
          </p:cNvPr>
          <p:cNvSpPr>
            <a:spLocks noGrp="1"/>
          </p:cNvSpPr>
          <p:nvPr>
            <p:ph idx="1"/>
          </p:nvPr>
        </p:nvSpPr>
        <p:spPr/>
        <p:txBody>
          <a:bodyPr>
            <a:normAutofit/>
          </a:bodyPr>
          <a:lstStyle/>
          <a:p>
            <a:r>
              <a:rPr lang="en-US" dirty="0"/>
              <a:t>The Continuous Bag of Words model is an </a:t>
            </a:r>
            <a:r>
              <a:rPr lang="en-US" dirty="0">
                <a:solidFill>
                  <a:srgbClr val="00B0F0"/>
                </a:solidFill>
              </a:rPr>
              <a:t>extension</a:t>
            </a:r>
            <a:r>
              <a:rPr lang="en-US" dirty="0"/>
              <a:t> of the Bag of Words model</a:t>
            </a:r>
          </a:p>
          <a:p>
            <a:r>
              <a:rPr lang="en-US" dirty="0"/>
              <a:t>The key aspect of this model is the </a:t>
            </a:r>
            <a:r>
              <a:rPr lang="en-US" dirty="0">
                <a:solidFill>
                  <a:srgbClr val="FF0000"/>
                </a:solidFill>
              </a:rPr>
              <a:t>context window. </a:t>
            </a:r>
          </a:p>
          <a:p>
            <a:r>
              <a:rPr lang="en-US" dirty="0"/>
              <a:t>A context window is defined as a </a:t>
            </a:r>
            <a:r>
              <a:rPr lang="en-US" dirty="0">
                <a:solidFill>
                  <a:srgbClr val="FFC000"/>
                </a:solidFill>
              </a:rPr>
              <a:t>sliding window of a fixed size </a:t>
            </a:r>
            <a:r>
              <a:rPr lang="en-US" dirty="0"/>
              <a:t>moving along a sentence. </a:t>
            </a:r>
          </a:p>
          <a:p>
            <a:r>
              <a:rPr lang="en-US" dirty="0"/>
              <a:t>The </a:t>
            </a:r>
            <a:r>
              <a:rPr lang="en-US" dirty="0">
                <a:solidFill>
                  <a:srgbClr val="FF0000"/>
                </a:solidFill>
              </a:rPr>
              <a:t>word in the middle is termed the target</a:t>
            </a:r>
            <a:r>
              <a:rPr lang="en-US" dirty="0"/>
              <a:t>, and the terms to its </a:t>
            </a:r>
            <a:r>
              <a:rPr lang="en-US" dirty="0">
                <a:solidFill>
                  <a:srgbClr val="FF0000"/>
                </a:solidFill>
              </a:rPr>
              <a:t>left and right within the window are the context terms</a:t>
            </a:r>
            <a:r>
              <a:rPr lang="en-US" dirty="0"/>
              <a:t>. </a:t>
            </a:r>
          </a:p>
          <a:p>
            <a:r>
              <a:rPr lang="en-US" dirty="0"/>
              <a:t>The CBOW model works by </a:t>
            </a:r>
            <a:r>
              <a:rPr lang="en-US" dirty="0">
                <a:solidFill>
                  <a:srgbClr val="00B0F0"/>
                </a:solidFill>
              </a:rPr>
              <a:t>predicting the target term</a:t>
            </a:r>
            <a:r>
              <a:rPr lang="en-US" dirty="0"/>
              <a:t>, given its context terms.</a:t>
            </a:r>
          </a:p>
        </p:txBody>
      </p:sp>
      <p:sp>
        <p:nvSpPr>
          <p:cNvPr id="3" name="Date Placeholder 2">
            <a:extLst>
              <a:ext uri="{FF2B5EF4-FFF2-40B4-BE49-F238E27FC236}">
                <a16:creationId xmlns:a16="http://schemas.microsoft.com/office/drawing/2014/main" id="{F0BBA589-0643-F4E4-8851-2A0F604B0417}"/>
              </a:ext>
            </a:extLst>
          </p:cNvPr>
          <p:cNvSpPr>
            <a:spLocks noGrp="1"/>
          </p:cNvSpPr>
          <p:nvPr>
            <p:ph type="dt" sz="half" idx="10"/>
          </p:nvPr>
        </p:nvSpPr>
        <p:spPr/>
        <p:txBody>
          <a:bodyPr/>
          <a:lstStyle/>
          <a:p>
            <a:fld id="{035F2337-8F1C-4A6D-B9E7-366650EA6754}" type="datetime1">
              <a:rPr lang="en-US" smtClean="0"/>
              <a:t>10/22/2025</a:t>
            </a:fld>
            <a:endParaRPr lang="en-US"/>
          </a:p>
        </p:txBody>
      </p:sp>
      <p:sp>
        <p:nvSpPr>
          <p:cNvPr id="4" name="Footer Placeholder 3">
            <a:extLst>
              <a:ext uri="{FF2B5EF4-FFF2-40B4-BE49-F238E27FC236}">
                <a16:creationId xmlns:a16="http://schemas.microsoft.com/office/drawing/2014/main" id="{84800815-E04A-88DF-6951-B7DA8148B0C7}"/>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34A94930-F387-7F5B-2B18-E124EEBACD12}"/>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Title 5">
            <a:extLst>
              <a:ext uri="{FF2B5EF4-FFF2-40B4-BE49-F238E27FC236}">
                <a16:creationId xmlns:a16="http://schemas.microsoft.com/office/drawing/2014/main" id="{1BE90FE7-D051-CE2B-B9D9-1BA8CD6A25F7}"/>
              </a:ext>
            </a:extLst>
          </p:cNvPr>
          <p:cNvSpPr>
            <a:spLocks noGrp="1"/>
          </p:cNvSpPr>
          <p:nvPr>
            <p:ph type="title"/>
          </p:nvPr>
        </p:nvSpPr>
        <p:spPr/>
        <p:txBody>
          <a:bodyPr/>
          <a:lstStyle/>
          <a:p>
            <a:r>
              <a:rPr lang="en-US" dirty="0"/>
              <a:t>Continuous Bag of Words (CBOW) Mode</a:t>
            </a:r>
          </a:p>
        </p:txBody>
      </p:sp>
    </p:spTree>
    <p:extLst>
      <p:ext uri="{BB962C8B-B14F-4D97-AF65-F5344CB8AC3E}">
        <p14:creationId xmlns:p14="http://schemas.microsoft.com/office/powerpoint/2010/main" val="1447214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98021A-8AA4-F937-9F44-2B7E9E53F1B3}"/>
              </a:ext>
            </a:extLst>
          </p:cNvPr>
          <p:cNvSpPr>
            <a:spLocks noGrp="1"/>
          </p:cNvSpPr>
          <p:nvPr>
            <p:ph idx="1"/>
          </p:nvPr>
        </p:nvSpPr>
        <p:spPr/>
        <p:txBody>
          <a:bodyPr/>
          <a:lstStyle/>
          <a:p>
            <a:r>
              <a:rPr lang="en-US" dirty="0"/>
              <a:t> Example: "</a:t>
            </a:r>
            <a:r>
              <a:rPr lang="en-US" b="1" dirty="0"/>
              <a:t>some say the world will end in fire</a:t>
            </a:r>
            <a:r>
              <a:rPr lang="en-US" dirty="0"/>
              <a:t>". </a:t>
            </a:r>
          </a:p>
          <a:p>
            <a:r>
              <a:rPr lang="en-US" dirty="0"/>
              <a:t>Consider a window size of </a:t>
            </a:r>
            <a:r>
              <a:rPr lang="en-US" b="1" dirty="0"/>
              <a:t>4</a:t>
            </a:r>
            <a:r>
              <a:rPr lang="en-US" dirty="0"/>
              <a:t> and a target term = “</a:t>
            </a:r>
            <a:r>
              <a:rPr lang="en-US" b="1" dirty="0"/>
              <a:t>world</a:t>
            </a:r>
            <a:r>
              <a:rPr lang="en-US" dirty="0"/>
              <a:t>”, the context terms would be </a:t>
            </a:r>
            <a:r>
              <a:rPr lang="en-US" b="1" dirty="0"/>
              <a:t>{say, the}</a:t>
            </a:r>
            <a:r>
              <a:rPr lang="en-US" dirty="0"/>
              <a:t> and </a:t>
            </a:r>
            <a:r>
              <a:rPr lang="en-US" b="1" dirty="0"/>
              <a:t>{will, end}</a:t>
            </a:r>
            <a:r>
              <a:rPr lang="en-US" dirty="0"/>
              <a:t>.</a:t>
            </a:r>
          </a:p>
          <a:p>
            <a:r>
              <a:rPr lang="en-US" dirty="0"/>
              <a:t>The model inputs are tuples of the form (context terms, target term)</a:t>
            </a:r>
          </a:p>
          <a:p>
            <a:pPr lvl="1"/>
            <a:r>
              <a:rPr lang="en-US" dirty="0"/>
              <a:t>Passed through a neural network to learn the embeddings.</a:t>
            </a:r>
          </a:p>
        </p:txBody>
      </p:sp>
      <p:sp>
        <p:nvSpPr>
          <p:cNvPr id="3" name="Date Placeholder 2">
            <a:extLst>
              <a:ext uri="{FF2B5EF4-FFF2-40B4-BE49-F238E27FC236}">
                <a16:creationId xmlns:a16="http://schemas.microsoft.com/office/drawing/2014/main" id="{573426EE-3D10-208D-6B2C-877BB26B8C2E}"/>
              </a:ext>
            </a:extLst>
          </p:cNvPr>
          <p:cNvSpPr>
            <a:spLocks noGrp="1"/>
          </p:cNvSpPr>
          <p:nvPr>
            <p:ph type="dt" sz="half" idx="10"/>
          </p:nvPr>
        </p:nvSpPr>
        <p:spPr/>
        <p:txBody>
          <a:bodyPr/>
          <a:lstStyle/>
          <a:p>
            <a:fld id="{9975076C-CE42-4E1E-8474-D58F9AF38889}" type="datetime1">
              <a:rPr lang="en-US" smtClean="0"/>
              <a:t>10/22/2025</a:t>
            </a:fld>
            <a:endParaRPr lang="en-US"/>
          </a:p>
        </p:txBody>
      </p:sp>
      <p:sp>
        <p:nvSpPr>
          <p:cNvPr id="4" name="Footer Placeholder 3">
            <a:extLst>
              <a:ext uri="{FF2B5EF4-FFF2-40B4-BE49-F238E27FC236}">
                <a16:creationId xmlns:a16="http://schemas.microsoft.com/office/drawing/2014/main" id="{2CCBB060-5EEB-7345-93CF-570EC2B28475}"/>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CDC5BF76-7F1B-1868-BAE9-2F45E6EFA2C1}"/>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6" name="Title 5">
            <a:extLst>
              <a:ext uri="{FF2B5EF4-FFF2-40B4-BE49-F238E27FC236}">
                <a16:creationId xmlns:a16="http://schemas.microsoft.com/office/drawing/2014/main" id="{BDBA3DFA-79F9-461F-8B9F-8A2A8D6050C3}"/>
              </a:ext>
            </a:extLst>
          </p:cNvPr>
          <p:cNvSpPr>
            <a:spLocks noGrp="1"/>
          </p:cNvSpPr>
          <p:nvPr>
            <p:ph type="title"/>
          </p:nvPr>
        </p:nvSpPr>
        <p:spPr/>
        <p:txBody>
          <a:bodyPr/>
          <a:lstStyle/>
          <a:p>
            <a:r>
              <a:rPr lang="en-US" dirty="0"/>
              <a:t>Continuous bag of words (CBOW)</a:t>
            </a:r>
          </a:p>
        </p:txBody>
      </p:sp>
    </p:spTree>
    <p:extLst>
      <p:ext uri="{BB962C8B-B14F-4D97-AF65-F5344CB8AC3E}">
        <p14:creationId xmlns:p14="http://schemas.microsoft.com/office/powerpoint/2010/main" val="2019773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8D69647-58FB-D7D1-2D04-5FF56945C448}"/>
              </a:ext>
            </a:extLst>
          </p:cNvPr>
          <p:cNvPicPr>
            <a:picLocks noGrp="1" noChangeAspect="1"/>
          </p:cNvPicPr>
          <p:nvPr>
            <p:ph idx="1"/>
          </p:nvPr>
        </p:nvPicPr>
        <p:blipFill>
          <a:blip r:embed="rId2"/>
          <a:stretch>
            <a:fillRect/>
          </a:stretch>
        </p:blipFill>
        <p:spPr>
          <a:xfrm>
            <a:off x="2590800" y="1695300"/>
            <a:ext cx="5181600" cy="4641000"/>
          </a:xfrm>
        </p:spPr>
      </p:pic>
      <p:sp>
        <p:nvSpPr>
          <p:cNvPr id="3" name="Date Placeholder 2">
            <a:extLst>
              <a:ext uri="{FF2B5EF4-FFF2-40B4-BE49-F238E27FC236}">
                <a16:creationId xmlns:a16="http://schemas.microsoft.com/office/drawing/2014/main" id="{036E6880-2BF1-F21F-1C39-33D1CE1E04D4}"/>
              </a:ext>
            </a:extLst>
          </p:cNvPr>
          <p:cNvSpPr>
            <a:spLocks noGrp="1"/>
          </p:cNvSpPr>
          <p:nvPr>
            <p:ph type="dt" sz="half" idx="10"/>
          </p:nvPr>
        </p:nvSpPr>
        <p:spPr/>
        <p:txBody>
          <a:bodyPr/>
          <a:lstStyle/>
          <a:p>
            <a:fld id="{1290033C-7E1F-48FF-91E8-270DB60EDF6F}" type="datetime1">
              <a:rPr lang="en-US" smtClean="0"/>
              <a:t>10/22/2025</a:t>
            </a:fld>
            <a:endParaRPr lang="en-US"/>
          </a:p>
        </p:txBody>
      </p:sp>
      <p:sp>
        <p:nvSpPr>
          <p:cNvPr id="4" name="Footer Placeholder 3">
            <a:extLst>
              <a:ext uri="{FF2B5EF4-FFF2-40B4-BE49-F238E27FC236}">
                <a16:creationId xmlns:a16="http://schemas.microsoft.com/office/drawing/2014/main" id="{0D11B0C5-FD46-7563-BA7F-69A9CD853A98}"/>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19B34535-BFEE-3042-5069-16F7D40A2CA7}"/>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6" name="Title 5">
            <a:extLst>
              <a:ext uri="{FF2B5EF4-FFF2-40B4-BE49-F238E27FC236}">
                <a16:creationId xmlns:a16="http://schemas.microsoft.com/office/drawing/2014/main" id="{A9501A5C-4162-8DC0-09C5-A604E927351B}"/>
              </a:ext>
            </a:extLst>
          </p:cNvPr>
          <p:cNvSpPr>
            <a:spLocks noGrp="1"/>
          </p:cNvSpPr>
          <p:nvPr>
            <p:ph type="title"/>
          </p:nvPr>
        </p:nvSpPr>
        <p:spPr/>
        <p:txBody>
          <a:bodyPr/>
          <a:lstStyle/>
          <a:p>
            <a:r>
              <a:rPr lang="en-US" dirty="0"/>
              <a:t>Continuous bag of words (CBOW)</a:t>
            </a:r>
          </a:p>
        </p:txBody>
      </p:sp>
    </p:spTree>
    <p:extLst>
      <p:ext uri="{BB962C8B-B14F-4D97-AF65-F5344CB8AC3E}">
        <p14:creationId xmlns:p14="http://schemas.microsoft.com/office/powerpoint/2010/main" val="450667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57853D6-6847-4386-A65D-22B3862FBD7C}"/>
              </a:ext>
            </a:extLst>
          </p:cNvPr>
          <p:cNvPicPr>
            <a:picLocks noGrp="1" noChangeAspect="1"/>
          </p:cNvPicPr>
          <p:nvPr>
            <p:ph idx="1"/>
          </p:nvPr>
        </p:nvPicPr>
        <p:blipFill>
          <a:blip r:embed="rId2"/>
          <a:stretch>
            <a:fillRect/>
          </a:stretch>
        </p:blipFill>
        <p:spPr>
          <a:xfrm>
            <a:off x="609600" y="1600200"/>
            <a:ext cx="11165690" cy="4191000"/>
          </a:xfrm>
        </p:spPr>
      </p:pic>
      <p:sp>
        <p:nvSpPr>
          <p:cNvPr id="3" name="Date Placeholder 2">
            <a:extLst>
              <a:ext uri="{FF2B5EF4-FFF2-40B4-BE49-F238E27FC236}">
                <a16:creationId xmlns:a16="http://schemas.microsoft.com/office/drawing/2014/main" id="{60BFA777-909C-8092-DC77-78A8B37B1C8D}"/>
              </a:ext>
            </a:extLst>
          </p:cNvPr>
          <p:cNvSpPr>
            <a:spLocks noGrp="1"/>
          </p:cNvSpPr>
          <p:nvPr>
            <p:ph type="dt" sz="half" idx="10"/>
          </p:nvPr>
        </p:nvSpPr>
        <p:spPr/>
        <p:txBody>
          <a:bodyPr/>
          <a:lstStyle/>
          <a:p>
            <a:fld id="{CEA7457C-03DE-41A7-B3B4-8867E989E799}" type="datetime1">
              <a:rPr lang="en-US" smtClean="0"/>
              <a:t>10/22/2025</a:t>
            </a:fld>
            <a:endParaRPr lang="en-US"/>
          </a:p>
        </p:txBody>
      </p:sp>
      <p:sp>
        <p:nvSpPr>
          <p:cNvPr id="4" name="Footer Placeholder 3">
            <a:extLst>
              <a:ext uri="{FF2B5EF4-FFF2-40B4-BE49-F238E27FC236}">
                <a16:creationId xmlns:a16="http://schemas.microsoft.com/office/drawing/2014/main" id="{71C27B3F-F38F-BF55-F0CB-48FFA8527331}"/>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477402D8-DCF7-6297-460B-DA7E3799C779}"/>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6" name="Title 5">
            <a:extLst>
              <a:ext uri="{FF2B5EF4-FFF2-40B4-BE49-F238E27FC236}">
                <a16:creationId xmlns:a16="http://schemas.microsoft.com/office/drawing/2014/main" id="{DD5EA1F7-3123-FC33-34CE-2DBFAA0960DB}"/>
              </a:ext>
            </a:extLst>
          </p:cNvPr>
          <p:cNvSpPr>
            <a:spLocks noGrp="1"/>
          </p:cNvSpPr>
          <p:nvPr>
            <p:ph type="title"/>
          </p:nvPr>
        </p:nvSpPr>
        <p:spPr/>
        <p:txBody>
          <a:bodyPr/>
          <a:lstStyle/>
          <a:p>
            <a:r>
              <a:rPr lang="en-US" dirty="0"/>
              <a:t>Continuous bag of words (CBOW)</a:t>
            </a:r>
          </a:p>
        </p:txBody>
      </p:sp>
    </p:spTree>
    <p:extLst>
      <p:ext uri="{BB962C8B-B14F-4D97-AF65-F5344CB8AC3E}">
        <p14:creationId xmlns:p14="http://schemas.microsoft.com/office/powerpoint/2010/main" val="1709187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a:extLst>
              <a:ext uri="{FF2B5EF4-FFF2-40B4-BE49-F238E27FC236}">
                <a16:creationId xmlns:a16="http://schemas.microsoft.com/office/drawing/2014/main" id="{3EB3C2CD-8376-16A6-62A3-615F9F0060F9}"/>
              </a:ext>
            </a:extLst>
          </p:cNvPr>
          <p:cNvSpPr>
            <a:spLocks noGrp="1"/>
          </p:cNvSpPr>
          <p:nvPr>
            <p:ph idx="1"/>
          </p:nvPr>
        </p:nvSpPr>
        <p:spPr/>
        <p:txBody>
          <a:bodyPr>
            <a:normAutofit/>
          </a:bodyPr>
          <a:lstStyle/>
          <a:p>
            <a:pPr marL="313781" indent="-302575">
              <a:spcBef>
                <a:spcPts val="468"/>
              </a:spcBef>
              <a:buChar char="•"/>
              <a:tabLst>
                <a:tab pos="313221" algn="l"/>
                <a:tab pos="313781" algn="l"/>
              </a:tabLst>
            </a:pPr>
            <a:r>
              <a:rPr lang="en-US" sz="2000" spc="-9" dirty="0">
                <a:latin typeface="Arial MT"/>
                <a:cs typeface="Arial MT"/>
              </a:rPr>
              <a:t>Word2vec</a:t>
            </a:r>
            <a:r>
              <a:rPr lang="en-US" sz="2000" spc="18" dirty="0">
                <a:latin typeface="Arial MT"/>
                <a:cs typeface="Arial MT"/>
              </a:rPr>
              <a:t> </a:t>
            </a:r>
            <a:r>
              <a:rPr lang="en-US" sz="2000" spc="-4" dirty="0">
                <a:latin typeface="Arial MT"/>
                <a:cs typeface="Arial MT"/>
              </a:rPr>
              <a:t>groups</a:t>
            </a:r>
            <a:r>
              <a:rPr lang="en-US" sz="2000" spc="18" dirty="0">
                <a:latin typeface="Arial MT"/>
                <a:cs typeface="Arial MT"/>
              </a:rPr>
              <a:t> </a:t>
            </a:r>
            <a:r>
              <a:rPr lang="en-US" sz="2000" spc="-4" dirty="0">
                <a:latin typeface="Arial MT"/>
                <a:cs typeface="Arial MT"/>
              </a:rPr>
              <a:t>the</a:t>
            </a:r>
            <a:r>
              <a:rPr lang="en-US" sz="2000" dirty="0">
                <a:latin typeface="Arial MT"/>
                <a:cs typeface="Arial MT"/>
              </a:rPr>
              <a:t> </a:t>
            </a:r>
            <a:r>
              <a:rPr lang="en-US" sz="2000" spc="-4" dirty="0">
                <a:latin typeface="Arial MT"/>
                <a:cs typeface="Arial MT"/>
              </a:rPr>
              <a:t>vectors</a:t>
            </a:r>
            <a:r>
              <a:rPr lang="en-US" sz="2000" spc="4" dirty="0">
                <a:latin typeface="Arial MT"/>
                <a:cs typeface="Arial MT"/>
              </a:rPr>
              <a:t> </a:t>
            </a:r>
            <a:r>
              <a:rPr lang="en-US" sz="2000" spc="-4" dirty="0">
                <a:latin typeface="Arial MT"/>
                <a:cs typeface="Arial MT"/>
              </a:rPr>
              <a:t>of</a:t>
            </a:r>
            <a:r>
              <a:rPr lang="en-US" sz="2000" spc="9" dirty="0">
                <a:latin typeface="Arial MT"/>
                <a:cs typeface="Arial MT"/>
              </a:rPr>
              <a:t> </a:t>
            </a:r>
            <a:r>
              <a:rPr lang="en-US" sz="2000" spc="-4" dirty="0">
                <a:solidFill>
                  <a:srgbClr val="00B0F0"/>
                </a:solidFill>
                <a:latin typeface="Arial MT"/>
                <a:cs typeface="Arial MT"/>
              </a:rPr>
              <a:t>similar</a:t>
            </a:r>
            <a:r>
              <a:rPr lang="en-US" sz="2000" spc="18" dirty="0">
                <a:solidFill>
                  <a:srgbClr val="00B0F0"/>
                </a:solidFill>
                <a:latin typeface="Arial MT"/>
                <a:cs typeface="Arial MT"/>
              </a:rPr>
              <a:t> </a:t>
            </a:r>
            <a:r>
              <a:rPr lang="en-US" sz="2000" spc="-13" dirty="0">
                <a:solidFill>
                  <a:srgbClr val="00B0F0"/>
                </a:solidFill>
                <a:latin typeface="Arial MT"/>
                <a:cs typeface="Arial MT"/>
              </a:rPr>
              <a:t>words</a:t>
            </a:r>
            <a:r>
              <a:rPr lang="en-US" sz="2000" spc="35" dirty="0">
                <a:solidFill>
                  <a:srgbClr val="00B0F0"/>
                </a:solidFill>
                <a:latin typeface="Arial MT"/>
                <a:cs typeface="Arial MT"/>
              </a:rPr>
              <a:t> </a:t>
            </a:r>
            <a:r>
              <a:rPr lang="en-US" sz="2000" spc="-4" dirty="0">
                <a:solidFill>
                  <a:srgbClr val="00B0F0"/>
                </a:solidFill>
                <a:latin typeface="Arial MT"/>
                <a:cs typeface="Arial MT"/>
              </a:rPr>
              <a:t>together</a:t>
            </a:r>
            <a:r>
              <a:rPr lang="en-US" sz="2000" spc="22" dirty="0">
                <a:solidFill>
                  <a:srgbClr val="00B0F0"/>
                </a:solidFill>
                <a:latin typeface="Arial MT"/>
                <a:cs typeface="Arial MT"/>
              </a:rPr>
              <a:t> </a:t>
            </a:r>
            <a:r>
              <a:rPr lang="en-US" sz="2000" spc="-4" dirty="0">
                <a:solidFill>
                  <a:srgbClr val="00B0F0"/>
                </a:solidFill>
                <a:latin typeface="Arial MT"/>
                <a:cs typeface="Arial MT"/>
              </a:rPr>
              <a:t>in</a:t>
            </a:r>
            <a:r>
              <a:rPr lang="en-US" sz="2000" dirty="0">
                <a:solidFill>
                  <a:srgbClr val="00B0F0"/>
                </a:solidFill>
                <a:latin typeface="Arial MT"/>
                <a:cs typeface="Arial MT"/>
              </a:rPr>
              <a:t> </a:t>
            </a:r>
            <a:r>
              <a:rPr lang="en-US" sz="2000" spc="-4" dirty="0">
                <a:solidFill>
                  <a:srgbClr val="00B0F0"/>
                </a:solidFill>
                <a:latin typeface="Arial MT"/>
                <a:cs typeface="Arial MT"/>
              </a:rPr>
              <a:t>vector</a:t>
            </a:r>
            <a:r>
              <a:rPr lang="en-US" sz="2000" spc="4" dirty="0">
                <a:solidFill>
                  <a:srgbClr val="00B0F0"/>
                </a:solidFill>
                <a:latin typeface="Arial MT"/>
                <a:cs typeface="Arial MT"/>
              </a:rPr>
              <a:t> </a:t>
            </a:r>
            <a:r>
              <a:rPr lang="en-US" sz="2000" spc="-4" dirty="0">
                <a:solidFill>
                  <a:srgbClr val="00B0F0"/>
                </a:solidFill>
                <a:latin typeface="Arial MT"/>
                <a:cs typeface="Arial MT"/>
              </a:rPr>
              <a:t>space</a:t>
            </a:r>
            <a:r>
              <a:rPr lang="en-US" sz="2000" spc="-4" dirty="0">
                <a:latin typeface="Arial MT"/>
                <a:cs typeface="Arial MT"/>
              </a:rPr>
              <a:t>.</a:t>
            </a:r>
            <a:endParaRPr lang="en-US" sz="2000" dirty="0">
              <a:latin typeface="Arial MT"/>
              <a:cs typeface="Arial MT"/>
            </a:endParaRPr>
          </a:p>
          <a:p>
            <a:pPr marL="313781" indent="-302575">
              <a:spcBef>
                <a:spcPts val="379"/>
              </a:spcBef>
              <a:buChar char="•"/>
              <a:tabLst>
                <a:tab pos="313221" algn="l"/>
                <a:tab pos="313781" algn="l"/>
              </a:tabLst>
            </a:pPr>
            <a:r>
              <a:rPr lang="en-US" sz="2000" spc="-9" dirty="0">
                <a:latin typeface="Arial MT"/>
                <a:cs typeface="Arial MT"/>
              </a:rPr>
              <a:t>Words</a:t>
            </a:r>
            <a:r>
              <a:rPr lang="en-US" sz="2000" spc="-4" dirty="0">
                <a:latin typeface="Arial MT"/>
                <a:cs typeface="Arial MT"/>
              </a:rPr>
              <a:t> that</a:t>
            </a:r>
            <a:r>
              <a:rPr lang="en-US" sz="2000" spc="4" dirty="0">
                <a:latin typeface="Arial MT"/>
                <a:cs typeface="Arial MT"/>
              </a:rPr>
              <a:t> </a:t>
            </a:r>
            <a:r>
              <a:rPr lang="en-US" sz="2000" spc="-4" dirty="0">
                <a:latin typeface="Arial MT"/>
                <a:cs typeface="Arial MT"/>
              </a:rPr>
              <a:t>appear</a:t>
            </a:r>
            <a:r>
              <a:rPr lang="en-US" sz="2000" spc="9" dirty="0">
                <a:latin typeface="Arial MT"/>
                <a:cs typeface="Arial MT"/>
              </a:rPr>
              <a:t> </a:t>
            </a:r>
            <a:r>
              <a:rPr lang="en-US" sz="2000" spc="-4" dirty="0">
                <a:latin typeface="Arial MT"/>
                <a:cs typeface="Arial MT"/>
              </a:rPr>
              <a:t>in</a:t>
            </a:r>
            <a:r>
              <a:rPr lang="en-US" sz="2000" spc="9" dirty="0">
                <a:latin typeface="Arial MT"/>
                <a:cs typeface="Arial MT"/>
              </a:rPr>
              <a:t> </a:t>
            </a:r>
            <a:r>
              <a:rPr lang="en-US" sz="2000" spc="-4" dirty="0">
                <a:latin typeface="Arial MT"/>
                <a:cs typeface="Arial MT"/>
              </a:rPr>
              <a:t>similar</a:t>
            </a:r>
            <a:r>
              <a:rPr lang="en-US" sz="2000" spc="9" dirty="0">
                <a:latin typeface="Arial MT"/>
                <a:cs typeface="Arial MT"/>
              </a:rPr>
              <a:t> </a:t>
            </a:r>
            <a:r>
              <a:rPr lang="en-US" sz="2000" spc="-4" dirty="0">
                <a:latin typeface="Arial MT"/>
                <a:cs typeface="Arial MT"/>
              </a:rPr>
              <a:t>contexts</a:t>
            </a:r>
            <a:r>
              <a:rPr lang="en-US" sz="2000" spc="13" dirty="0">
                <a:latin typeface="Arial MT"/>
                <a:cs typeface="Arial MT"/>
              </a:rPr>
              <a:t> </a:t>
            </a:r>
            <a:r>
              <a:rPr lang="en-US" sz="2000" spc="-4" dirty="0">
                <a:latin typeface="Arial MT"/>
                <a:cs typeface="Arial MT"/>
              </a:rPr>
              <a:t>have</a:t>
            </a:r>
            <a:r>
              <a:rPr lang="en-US" sz="2000" spc="-9" dirty="0">
                <a:latin typeface="Arial MT"/>
                <a:cs typeface="Arial MT"/>
              </a:rPr>
              <a:t> </a:t>
            </a:r>
            <a:r>
              <a:rPr lang="en-US" sz="2000" spc="-4" dirty="0">
                <a:latin typeface="Arial MT"/>
                <a:cs typeface="Arial MT"/>
              </a:rPr>
              <a:t>similar</a:t>
            </a:r>
            <a:r>
              <a:rPr lang="en-US" sz="2000" spc="13" dirty="0">
                <a:latin typeface="Arial MT"/>
                <a:cs typeface="Arial MT"/>
              </a:rPr>
              <a:t> </a:t>
            </a:r>
            <a:r>
              <a:rPr lang="en-US" sz="2000" spc="-4" dirty="0">
                <a:latin typeface="Arial MT"/>
                <a:cs typeface="Arial MT"/>
              </a:rPr>
              <a:t>embeddings</a:t>
            </a:r>
            <a:endParaRPr lang="en-US" sz="2000" dirty="0">
              <a:latin typeface="Arial MT"/>
              <a:cs typeface="Arial MT"/>
            </a:endParaRPr>
          </a:p>
          <a:p>
            <a:pPr marL="667346" lvl="1" indent="-253827">
              <a:spcBef>
                <a:spcPts val="300"/>
              </a:spcBef>
              <a:buChar char="–"/>
              <a:tabLst>
                <a:tab pos="667346" algn="l"/>
                <a:tab pos="667906" algn="l"/>
              </a:tabLst>
            </a:pPr>
            <a:r>
              <a:rPr lang="en-US" sz="1800" spc="-4" dirty="0">
                <a:latin typeface="Arial MT"/>
                <a:cs typeface="Arial MT"/>
              </a:rPr>
              <a:t>The</a:t>
            </a:r>
            <a:r>
              <a:rPr lang="en-US" sz="1800" spc="-22" dirty="0">
                <a:solidFill>
                  <a:srgbClr val="FF0000"/>
                </a:solidFill>
                <a:latin typeface="Arial MT"/>
                <a:cs typeface="Arial MT"/>
              </a:rPr>
              <a:t> </a:t>
            </a:r>
            <a:r>
              <a:rPr lang="en-US" sz="1800" b="1" u="heavy" dirty="0">
                <a:solidFill>
                  <a:srgbClr val="FF0000"/>
                </a:solidFill>
                <a:uFill>
                  <a:solidFill>
                    <a:srgbClr val="FF0000"/>
                  </a:solidFill>
                </a:uFill>
                <a:latin typeface="Arial"/>
                <a:cs typeface="Arial"/>
              </a:rPr>
              <a:t>kid</a:t>
            </a:r>
            <a:r>
              <a:rPr lang="en-US" sz="1800" b="1" spc="-22" dirty="0">
                <a:solidFill>
                  <a:srgbClr val="FF0000"/>
                </a:solidFill>
                <a:latin typeface="Arial"/>
                <a:cs typeface="Arial"/>
              </a:rPr>
              <a:t> </a:t>
            </a:r>
            <a:r>
              <a:rPr lang="en-US" sz="1800" dirty="0">
                <a:latin typeface="Arial MT"/>
                <a:cs typeface="Arial MT"/>
              </a:rPr>
              <a:t>said</a:t>
            </a:r>
            <a:r>
              <a:rPr lang="en-US" sz="1800" spc="-18" dirty="0">
                <a:latin typeface="Arial MT"/>
                <a:cs typeface="Arial MT"/>
              </a:rPr>
              <a:t> </a:t>
            </a:r>
            <a:r>
              <a:rPr lang="en-US" sz="1800" spc="-4" dirty="0">
                <a:latin typeface="Arial MT"/>
                <a:cs typeface="Arial MT"/>
              </a:rPr>
              <a:t>he</a:t>
            </a:r>
            <a:r>
              <a:rPr lang="en-US" sz="1800" spc="-9" dirty="0">
                <a:latin typeface="Arial MT"/>
                <a:cs typeface="Arial MT"/>
              </a:rPr>
              <a:t> </a:t>
            </a:r>
            <a:r>
              <a:rPr lang="en-US" sz="1800" spc="-4" dirty="0">
                <a:latin typeface="Arial MT"/>
                <a:cs typeface="Arial MT"/>
              </a:rPr>
              <a:t>wants</a:t>
            </a:r>
            <a:r>
              <a:rPr lang="en-US" sz="1800" spc="-18" dirty="0">
                <a:latin typeface="Arial MT"/>
                <a:cs typeface="Arial MT"/>
              </a:rPr>
              <a:t> </a:t>
            </a:r>
            <a:r>
              <a:rPr lang="en-US" sz="1800" dirty="0">
                <a:latin typeface="Arial MT"/>
                <a:cs typeface="Arial MT"/>
              </a:rPr>
              <a:t>to</a:t>
            </a:r>
            <a:r>
              <a:rPr lang="en-US" sz="1800" spc="-18" dirty="0">
                <a:latin typeface="Arial MT"/>
                <a:cs typeface="Arial MT"/>
              </a:rPr>
              <a:t> </a:t>
            </a:r>
            <a:r>
              <a:rPr lang="en-US" sz="1800" spc="-4" dirty="0">
                <a:latin typeface="Arial MT"/>
                <a:cs typeface="Arial MT"/>
              </a:rPr>
              <a:t>be</a:t>
            </a:r>
            <a:r>
              <a:rPr lang="en-US" sz="1800" spc="-9" dirty="0">
                <a:latin typeface="Arial MT"/>
                <a:cs typeface="Arial MT"/>
              </a:rPr>
              <a:t> </a:t>
            </a:r>
            <a:r>
              <a:rPr lang="en-US" sz="1800" dirty="0">
                <a:latin typeface="Arial MT"/>
                <a:cs typeface="Arial MT"/>
              </a:rPr>
              <a:t>a</a:t>
            </a:r>
            <a:r>
              <a:rPr lang="en-US" sz="1800" spc="-9" dirty="0">
                <a:latin typeface="Arial MT"/>
                <a:cs typeface="Arial MT"/>
              </a:rPr>
              <a:t> </a:t>
            </a:r>
            <a:r>
              <a:rPr lang="en-US" sz="1800" spc="-4" dirty="0">
                <a:latin typeface="Arial MT"/>
                <a:cs typeface="Arial MT"/>
              </a:rPr>
              <a:t>superman</a:t>
            </a:r>
            <a:endParaRPr lang="en-US" sz="1800" dirty="0">
              <a:latin typeface="Arial MT"/>
              <a:cs typeface="Arial MT"/>
            </a:endParaRPr>
          </a:p>
          <a:p>
            <a:pPr marL="667346" lvl="1" indent="-253827">
              <a:spcBef>
                <a:spcPts val="300"/>
              </a:spcBef>
              <a:buChar char="–"/>
              <a:tabLst>
                <a:tab pos="667346" algn="l"/>
                <a:tab pos="667906" algn="l"/>
              </a:tabLst>
            </a:pPr>
            <a:r>
              <a:rPr lang="en-US" sz="1800" spc="-4" dirty="0">
                <a:latin typeface="Arial MT"/>
                <a:cs typeface="Arial MT"/>
              </a:rPr>
              <a:t>The</a:t>
            </a:r>
            <a:r>
              <a:rPr lang="en-US" sz="1800" spc="-22" dirty="0">
                <a:solidFill>
                  <a:srgbClr val="FF0000"/>
                </a:solidFill>
                <a:latin typeface="Arial MT"/>
                <a:cs typeface="Arial MT"/>
              </a:rPr>
              <a:t> </a:t>
            </a:r>
            <a:r>
              <a:rPr lang="en-US" sz="1800" b="1" u="heavy" dirty="0">
                <a:solidFill>
                  <a:srgbClr val="FF0000"/>
                </a:solidFill>
                <a:uFill>
                  <a:solidFill>
                    <a:srgbClr val="FF0000"/>
                  </a:solidFill>
                </a:uFill>
                <a:latin typeface="Arial"/>
                <a:cs typeface="Arial"/>
              </a:rPr>
              <a:t>child</a:t>
            </a:r>
            <a:r>
              <a:rPr lang="en-US" sz="1800" b="1" spc="-31" dirty="0">
                <a:solidFill>
                  <a:srgbClr val="FF0000"/>
                </a:solidFill>
                <a:latin typeface="Arial"/>
                <a:cs typeface="Arial"/>
              </a:rPr>
              <a:t> </a:t>
            </a:r>
            <a:r>
              <a:rPr lang="en-US" sz="1800" dirty="0">
                <a:latin typeface="Arial MT"/>
                <a:cs typeface="Arial MT"/>
              </a:rPr>
              <a:t>said</a:t>
            </a:r>
            <a:r>
              <a:rPr lang="en-US" sz="1800" spc="-18" dirty="0">
                <a:latin typeface="Arial MT"/>
                <a:cs typeface="Arial MT"/>
              </a:rPr>
              <a:t> </a:t>
            </a:r>
            <a:r>
              <a:rPr lang="en-US" sz="1800" spc="-4" dirty="0">
                <a:latin typeface="Arial MT"/>
                <a:cs typeface="Arial MT"/>
              </a:rPr>
              <a:t>he</a:t>
            </a:r>
            <a:r>
              <a:rPr lang="en-US" sz="1800" spc="-9" dirty="0">
                <a:latin typeface="Arial MT"/>
                <a:cs typeface="Arial MT"/>
              </a:rPr>
              <a:t> </a:t>
            </a:r>
            <a:r>
              <a:rPr lang="en-US" sz="1800" spc="-4" dirty="0">
                <a:latin typeface="Arial MT"/>
                <a:cs typeface="Arial MT"/>
              </a:rPr>
              <a:t>wants</a:t>
            </a:r>
            <a:r>
              <a:rPr lang="en-US" sz="1800" spc="-18" dirty="0">
                <a:latin typeface="Arial MT"/>
                <a:cs typeface="Arial MT"/>
              </a:rPr>
              <a:t> </a:t>
            </a:r>
            <a:r>
              <a:rPr lang="en-US" sz="1800" dirty="0">
                <a:latin typeface="Arial MT"/>
                <a:cs typeface="Arial MT"/>
              </a:rPr>
              <a:t>to</a:t>
            </a:r>
            <a:r>
              <a:rPr lang="en-US" sz="1800" spc="-18" dirty="0">
                <a:latin typeface="Arial MT"/>
                <a:cs typeface="Arial MT"/>
              </a:rPr>
              <a:t> </a:t>
            </a:r>
            <a:r>
              <a:rPr lang="en-US" sz="1800" spc="-4" dirty="0">
                <a:latin typeface="Arial MT"/>
                <a:cs typeface="Arial MT"/>
              </a:rPr>
              <a:t>be</a:t>
            </a:r>
            <a:r>
              <a:rPr lang="en-US" sz="1800" spc="-9" dirty="0">
                <a:latin typeface="Arial MT"/>
                <a:cs typeface="Arial MT"/>
              </a:rPr>
              <a:t> </a:t>
            </a:r>
            <a:r>
              <a:rPr lang="en-US" sz="1800" dirty="0">
                <a:latin typeface="Arial MT"/>
                <a:cs typeface="Arial MT"/>
              </a:rPr>
              <a:t>a</a:t>
            </a:r>
            <a:r>
              <a:rPr lang="en-US" sz="1800" spc="-9" dirty="0">
                <a:latin typeface="Arial MT"/>
                <a:cs typeface="Arial MT"/>
              </a:rPr>
              <a:t> </a:t>
            </a:r>
            <a:r>
              <a:rPr lang="en-US" sz="1800" spc="-4" dirty="0">
                <a:latin typeface="Arial MT"/>
                <a:cs typeface="Arial MT"/>
              </a:rPr>
              <a:t>superman</a:t>
            </a:r>
            <a:endParaRPr lang="en-US" sz="1800" dirty="0">
              <a:latin typeface="Arial MT"/>
              <a:cs typeface="Arial MT"/>
            </a:endParaRPr>
          </a:p>
          <a:p>
            <a:pPr marL="313221" marR="4483" indent="-302575">
              <a:spcBef>
                <a:spcPts val="737"/>
              </a:spcBef>
              <a:buChar char="•"/>
              <a:tabLst>
                <a:tab pos="313221" algn="l"/>
                <a:tab pos="313781" algn="l"/>
              </a:tabLst>
            </a:pPr>
            <a:r>
              <a:rPr lang="en-US" sz="2000" spc="-4" dirty="0">
                <a:latin typeface="Arial MT"/>
                <a:cs typeface="Arial MT"/>
              </a:rPr>
              <a:t>Creates</a:t>
            </a:r>
            <a:r>
              <a:rPr lang="en-US" sz="2000" spc="18" dirty="0">
                <a:latin typeface="Arial MT"/>
                <a:cs typeface="Arial MT"/>
              </a:rPr>
              <a:t> </a:t>
            </a:r>
            <a:r>
              <a:rPr lang="en-US" sz="2000" spc="-4" dirty="0">
                <a:latin typeface="Arial MT"/>
                <a:cs typeface="Arial MT"/>
              </a:rPr>
              <a:t>vectors</a:t>
            </a:r>
            <a:r>
              <a:rPr lang="en-US" sz="2000" spc="9" dirty="0">
                <a:latin typeface="Arial MT"/>
                <a:cs typeface="Arial MT"/>
              </a:rPr>
              <a:t> </a:t>
            </a:r>
            <a:r>
              <a:rPr lang="en-US" sz="2000" spc="-4" dirty="0">
                <a:latin typeface="Arial MT"/>
                <a:cs typeface="Arial MT"/>
              </a:rPr>
              <a:t>that</a:t>
            </a:r>
            <a:r>
              <a:rPr lang="en-US" sz="2000" dirty="0">
                <a:latin typeface="Arial MT"/>
                <a:cs typeface="Arial MT"/>
              </a:rPr>
              <a:t> </a:t>
            </a:r>
            <a:r>
              <a:rPr lang="en-US" sz="2000" spc="-4" dirty="0">
                <a:latin typeface="Arial MT"/>
                <a:cs typeface="Arial MT"/>
              </a:rPr>
              <a:t>are</a:t>
            </a:r>
            <a:r>
              <a:rPr lang="en-US" sz="2000" spc="18" dirty="0">
                <a:latin typeface="Arial MT"/>
                <a:cs typeface="Arial MT"/>
              </a:rPr>
              <a:t> </a:t>
            </a:r>
            <a:r>
              <a:rPr lang="en-US" sz="2000" spc="-4" dirty="0">
                <a:latin typeface="Arial MT"/>
                <a:cs typeface="Arial MT"/>
              </a:rPr>
              <a:t>distributed</a:t>
            </a:r>
            <a:r>
              <a:rPr lang="en-US" sz="2000" spc="13" dirty="0">
                <a:latin typeface="Arial MT"/>
                <a:cs typeface="Arial MT"/>
              </a:rPr>
              <a:t> </a:t>
            </a:r>
            <a:r>
              <a:rPr lang="en-US" sz="2000" spc="-4" dirty="0">
                <a:latin typeface="Arial MT"/>
                <a:cs typeface="Arial MT"/>
              </a:rPr>
              <a:t>numerical</a:t>
            </a:r>
            <a:r>
              <a:rPr lang="en-US" sz="2000" spc="26" dirty="0">
                <a:latin typeface="Arial MT"/>
                <a:cs typeface="Arial MT"/>
              </a:rPr>
              <a:t> </a:t>
            </a:r>
            <a:r>
              <a:rPr lang="en-US" sz="2000" spc="-4" dirty="0">
                <a:latin typeface="Arial MT"/>
                <a:cs typeface="Arial MT"/>
              </a:rPr>
              <a:t>representations</a:t>
            </a:r>
            <a:r>
              <a:rPr lang="en-US" sz="2000" spc="31" dirty="0">
                <a:latin typeface="Arial MT"/>
                <a:cs typeface="Arial MT"/>
              </a:rPr>
              <a:t> </a:t>
            </a:r>
            <a:r>
              <a:rPr lang="en-US" sz="2000" spc="-4" dirty="0">
                <a:latin typeface="Arial MT"/>
                <a:cs typeface="Arial MT"/>
              </a:rPr>
              <a:t>of</a:t>
            </a:r>
            <a:r>
              <a:rPr lang="en-US" sz="2000" dirty="0">
                <a:latin typeface="Arial MT"/>
                <a:cs typeface="Arial MT"/>
              </a:rPr>
              <a:t> </a:t>
            </a:r>
            <a:r>
              <a:rPr lang="en-US" sz="2000" spc="-13" dirty="0">
                <a:latin typeface="Arial MT"/>
                <a:cs typeface="Arial MT"/>
              </a:rPr>
              <a:t>word</a:t>
            </a:r>
            <a:r>
              <a:rPr lang="en-US" sz="2000" spc="49" dirty="0">
                <a:latin typeface="Arial MT"/>
                <a:cs typeface="Arial MT"/>
              </a:rPr>
              <a:t> </a:t>
            </a:r>
            <a:r>
              <a:rPr lang="en-US" sz="2000" spc="-4" dirty="0">
                <a:latin typeface="Arial MT"/>
                <a:cs typeface="Arial MT"/>
              </a:rPr>
              <a:t>features, </a:t>
            </a:r>
            <a:r>
              <a:rPr lang="en-US" sz="2000" spc="-427" dirty="0">
                <a:latin typeface="Arial MT"/>
                <a:cs typeface="Arial MT"/>
              </a:rPr>
              <a:t> </a:t>
            </a:r>
            <a:r>
              <a:rPr lang="en-US" sz="2000" spc="-4" dirty="0">
                <a:latin typeface="Arial MT"/>
                <a:cs typeface="Arial MT"/>
              </a:rPr>
              <a:t>features such</a:t>
            </a:r>
            <a:r>
              <a:rPr lang="en-US" sz="2000" spc="9" dirty="0">
                <a:latin typeface="Arial MT"/>
                <a:cs typeface="Arial MT"/>
              </a:rPr>
              <a:t> </a:t>
            </a:r>
            <a:r>
              <a:rPr lang="en-US" sz="2000" spc="-4" dirty="0">
                <a:latin typeface="Arial MT"/>
                <a:cs typeface="Arial MT"/>
              </a:rPr>
              <a:t>as</a:t>
            </a:r>
            <a:r>
              <a:rPr lang="en-US" sz="2000" dirty="0">
                <a:latin typeface="Arial MT"/>
                <a:cs typeface="Arial MT"/>
              </a:rPr>
              <a:t> </a:t>
            </a:r>
            <a:r>
              <a:rPr lang="en-US" sz="2000" spc="-4" dirty="0">
                <a:latin typeface="Arial MT"/>
                <a:cs typeface="Arial MT"/>
              </a:rPr>
              <a:t>the context</a:t>
            </a:r>
            <a:r>
              <a:rPr lang="en-US" sz="2000" spc="13" dirty="0">
                <a:latin typeface="Arial MT"/>
                <a:cs typeface="Arial MT"/>
              </a:rPr>
              <a:t> </a:t>
            </a:r>
            <a:r>
              <a:rPr lang="en-US" sz="2000" spc="-4" dirty="0">
                <a:latin typeface="Arial MT"/>
                <a:cs typeface="Arial MT"/>
              </a:rPr>
              <a:t>of individual</a:t>
            </a:r>
            <a:r>
              <a:rPr lang="en-US" sz="2000" spc="31" dirty="0">
                <a:latin typeface="Arial MT"/>
                <a:cs typeface="Arial MT"/>
              </a:rPr>
              <a:t> </a:t>
            </a:r>
            <a:r>
              <a:rPr lang="en-US" sz="2000" spc="-9" dirty="0">
                <a:latin typeface="Arial MT"/>
                <a:cs typeface="Arial MT"/>
              </a:rPr>
              <a:t>words.</a:t>
            </a:r>
            <a:endParaRPr lang="en-US" sz="2000" dirty="0">
              <a:latin typeface="Arial MT"/>
              <a:cs typeface="Arial MT"/>
            </a:endParaRPr>
          </a:p>
          <a:p>
            <a:pPr marL="313781" indent="-302575">
              <a:spcBef>
                <a:spcPts val="379"/>
              </a:spcBef>
              <a:buFont typeface="Arial MT"/>
              <a:buChar char="•"/>
              <a:tabLst>
                <a:tab pos="313221" algn="l"/>
                <a:tab pos="313781" algn="l"/>
              </a:tabLst>
            </a:pPr>
            <a:r>
              <a:rPr lang="en-US" sz="2000" b="1" i="1" spc="-9" dirty="0">
                <a:latin typeface="Arial"/>
                <a:cs typeface="Arial"/>
              </a:rPr>
              <a:t>Example</a:t>
            </a:r>
            <a:r>
              <a:rPr lang="en-US" sz="2000" i="1" spc="-4" dirty="0">
                <a:latin typeface="Arial"/>
                <a:cs typeface="Arial"/>
              </a:rPr>
              <a:t>:</a:t>
            </a:r>
            <a:r>
              <a:rPr lang="en-US" sz="2000" i="1" spc="4" dirty="0">
                <a:latin typeface="Arial"/>
                <a:cs typeface="Arial"/>
              </a:rPr>
              <a:t> </a:t>
            </a:r>
            <a:r>
              <a:rPr lang="en-US" sz="2000" i="1" spc="-4" dirty="0">
                <a:latin typeface="Arial"/>
                <a:cs typeface="Arial"/>
              </a:rPr>
              <a:t>List</a:t>
            </a:r>
            <a:r>
              <a:rPr lang="en-US" sz="2000" i="1" spc="9" dirty="0">
                <a:latin typeface="Arial"/>
                <a:cs typeface="Arial"/>
              </a:rPr>
              <a:t> </a:t>
            </a:r>
            <a:r>
              <a:rPr lang="en-US" sz="2000" i="1" spc="-4" dirty="0">
                <a:latin typeface="Arial"/>
                <a:cs typeface="Arial"/>
              </a:rPr>
              <a:t>of words</a:t>
            </a:r>
            <a:r>
              <a:rPr lang="en-US" sz="2000" i="1" spc="4" dirty="0">
                <a:latin typeface="Arial"/>
                <a:cs typeface="Arial"/>
              </a:rPr>
              <a:t> </a:t>
            </a:r>
            <a:r>
              <a:rPr lang="en-US" sz="2000" i="1" spc="-4" dirty="0">
                <a:latin typeface="Arial"/>
                <a:cs typeface="Arial"/>
              </a:rPr>
              <a:t>associated</a:t>
            </a:r>
            <a:r>
              <a:rPr lang="en-US" sz="2000" i="1" spc="9" dirty="0">
                <a:latin typeface="Arial"/>
                <a:cs typeface="Arial"/>
              </a:rPr>
              <a:t> </a:t>
            </a:r>
            <a:r>
              <a:rPr lang="en-US" sz="2000" i="1" spc="-4" dirty="0">
                <a:latin typeface="Arial"/>
                <a:cs typeface="Arial"/>
              </a:rPr>
              <a:t>with:</a:t>
            </a:r>
            <a:endParaRPr lang="en-US" sz="2000" dirty="0">
              <a:latin typeface="Arial"/>
              <a:cs typeface="Arial"/>
            </a:endParaRPr>
          </a:p>
          <a:p>
            <a:endParaRPr lang="en-US" sz="4000" dirty="0"/>
          </a:p>
        </p:txBody>
      </p:sp>
      <p:sp>
        <p:nvSpPr>
          <p:cNvPr id="11" name="object 11"/>
          <p:cNvSpPr txBox="1">
            <a:spLocks noGrp="1"/>
          </p:cNvSpPr>
          <p:nvPr>
            <p:ph type="title"/>
          </p:nvPr>
        </p:nvSpPr>
        <p:spPr>
          <a:prstGeom prst="rect">
            <a:avLst/>
          </a:prstGeom>
        </p:spPr>
        <p:txBody>
          <a:bodyPr vert="horz" wrap="square" lIns="0" tIns="11206" rIns="0" bIns="0" rtlCol="0" anchor="ctr">
            <a:spAutoFit/>
          </a:bodyPr>
          <a:lstStyle/>
          <a:p>
            <a:pPr marL="11206">
              <a:spcBef>
                <a:spcPts val="88"/>
              </a:spcBef>
            </a:pPr>
            <a:r>
              <a:rPr spc="-4" dirty="0"/>
              <a:t>Introduction:</a:t>
            </a:r>
            <a:r>
              <a:rPr spc="-53" dirty="0"/>
              <a:t> </a:t>
            </a:r>
            <a:r>
              <a:rPr spc="-35" dirty="0"/>
              <a:t>Word2Vec</a:t>
            </a:r>
          </a:p>
        </p:txBody>
      </p:sp>
      <p:sp>
        <p:nvSpPr>
          <p:cNvPr id="21" name="object 21"/>
          <p:cNvSpPr txBox="1">
            <a:spLocks noGrp="1"/>
          </p:cNvSpPr>
          <p:nvPr>
            <p:ph type="sldNum" sz="quarter" idx="4294967295"/>
          </p:nvPr>
        </p:nvSpPr>
        <p:spPr>
          <a:xfrm>
            <a:off x="11936413" y="7045325"/>
            <a:ext cx="255587" cy="203200"/>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530"/>
              </a:lnSpc>
              <a:spcBef>
                <a:spcPts val="75"/>
              </a:spcBef>
            </a:pPr>
            <a:fld id="{81D60167-4931-47E6-BA6A-407CBD079E47}" type="slidenum">
              <a:rPr lang="en-US" smtClean="0"/>
              <a:pPr marL="38100">
                <a:lnSpc>
                  <a:spcPts val="1530"/>
                </a:lnSpc>
                <a:spcBef>
                  <a:spcPts val="75"/>
                </a:spcBef>
              </a:pPr>
              <a:t>35</a:t>
            </a:fld>
            <a:endParaRPr dirty="0"/>
          </a:p>
        </p:txBody>
      </p:sp>
      <p:sp>
        <p:nvSpPr>
          <p:cNvPr id="22" name="object 22"/>
          <p:cNvSpPr txBox="1">
            <a:spLocks noGrp="1"/>
          </p:cNvSpPr>
          <p:nvPr>
            <p:ph type="dt" sz="half" idx="4294967295"/>
          </p:nvPr>
        </p:nvSpPr>
        <p:spPr>
          <a:xfrm>
            <a:off x="0" y="7137400"/>
            <a:ext cx="14001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fld id="{17243314-0E0B-4F0A-9334-9C17D274AA7B}" type="datetime1">
              <a:rPr lang="en-US" spc="-9" smtClean="0"/>
              <a:t>10/22/2025</a:t>
            </a:fld>
            <a:endParaRPr spc="-9" dirty="0"/>
          </a:p>
        </p:txBody>
      </p:sp>
      <p:sp>
        <p:nvSpPr>
          <p:cNvPr id="23" name="object 23"/>
          <p:cNvSpPr txBox="1">
            <a:spLocks noGrp="1"/>
          </p:cNvSpPr>
          <p:nvPr>
            <p:ph type="ftr" sz="quarter" idx="4294967295"/>
          </p:nvPr>
        </p:nvSpPr>
        <p:spPr>
          <a:xfrm>
            <a:off x="0" y="7137400"/>
            <a:ext cx="1733550"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1"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lnSpc>
                <a:spcPts val="944"/>
              </a:lnSpc>
            </a:pPr>
            <a:r>
              <a:rPr lang="en-US" spc="-10"/>
              <a:t>Presented by Dr. Muhammad Nouman Noor</a:t>
            </a:r>
            <a:endParaRPr spc="-9" dirty="0"/>
          </a:p>
        </p:txBody>
      </p:sp>
      <p:grpSp>
        <p:nvGrpSpPr>
          <p:cNvPr id="13" name="object 13"/>
          <p:cNvGrpSpPr/>
          <p:nvPr/>
        </p:nvGrpSpPr>
        <p:grpSpPr>
          <a:xfrm>
            <a:off x="2162144" y="4245769"/>
            <a:ext cx="4583828" cy="1835952"/>
            <a:chOff x="772661" y="3948684"/>
            <a:chExt cx="4482465" cy="1460500"/>
          </a:xfrm>
        </p:grpSpPr>
        <p:pic>
          <p:nvPicPr>
            <p:cNvPr id="14" name="object 14"/>
            <p:cNvPicPr/>
            <p:nvPr/>
          </p:nvPicPr>
          <p:blipFill>
            <a:blip r:embed="rId2" cstate="print"/>
            <a:stretch>
              <a:fillRect/>
            </a:stretch>
          </p:blipFill>
          <p:spPr>
            <a:xfrm>
              <a:off x="854684" y="3959352"/>
              <a:ext cx="4372698" cy="1385489"/>
            </a:xfrm>
            <a:prstGeom prst="rect">
              <a:avLst/>
            </a:prstGeom>
          </p:spPr>
        </p:pic>
        <p:sp>
          <p:nvSpPr>
            <p:cNvPr id="15" name="object 15"/>
            <p:cNvSpPr/>
            <p:nvPr/>
          </p:nvSpPr>
          <p:spPr>
            <a:xfrm>
              <a:off x="772661" y="3948684"/>
              <a:ext cx="4482465" cy="1460500"/>
            </a:xfrm>
            <a:custGeom>
              <a:avLst/>
              <a:gdLst/>
              <a:ahLst/>
              <a:cxnLst/>
              <a:rect l="l" t="t" r="r" b="b"/>
              <a:pathLst>
                <a:path w="4482465" h="1460500">
                  <a:moveTo>
                    <a:pt x="4482090" y="1458468"/>
                  </a:moveTo>
                  <a:lnTo>
                    <a:pt x="4482090" y="3048"/>
                  </a:lnTo>
                  <a:lnTo>
                    <a:pt x="4480566" y="0"/>
                  </a:lnTo>
                  <a:lnTo>
                    <a:pt x="1524" y="0"/>
                  </a:lnTo>
                  <a:lnTo>
                    <a:pt x="0" y="3048"/>
                  </a:lnTo>
                  <a:lnTo>
                    <a:pt x="0" y="1458468"/>
                  </a:lnTo>
                  <a:lnTo>
                    <a:pt x="1524" y="1459992"/>
                  </a:lnTo>
                  <a:lnTo>
                    <a:pt x="4572" y="1459992"/>
                  </a:lnTo>
                  <a:lnTo>
                    <a:pt x="4572" y="10668"/>
                  </a:lnTo>
                  <a:lnTo>
                    <a:pt x="9144" y="6096"/>
                  </a:lnTo>
                  <a:lnTo>
                    <a:pt x="9144" y="10668"/>
                  </a:lnTo>
                  <a:lnTo>
                    <a:pt x="4472946" y="10668"/>
                  </a:lnTo>
                  <a:lnTo>
                    <a:pt x="4472946" y="6096"/>
                  </a:lnTo>
                  <a:lnTo>
                    <a:pt x="4477518" y="10668"/>
                  </a:lnTo>
                  <a:lnTo>
                    <a:pt x="4477518" y="1459992"/>
                  </a:lnTo>
                  <a:lnTo>
                    <a:pt x="4480566" y="1459992"/>
                  </a:lnTo>
                  <a:lnTo>
                    <a:pt x="4482090" y="1458468"/>
                  </a:lnTo>
                  <a:close/>
                </a:path>
                <a:path w="4482465" h="1460500">
                  <a:moveTo>
                    <a:pt x="9144" y="10668"/>
                  </a:moveTo>
                  <a:lnTo>
                    <a:pt x="9144" y="6096"/>
                  </a:lnTo>
                  <a:lnTo>
                    <a:pt x="4572" y="10668"/>
                  </a:lnTo>
                  <a:lnTo>
                    <a:pt x="9144" y="10668"/>
                  </a:lnTo>
                  <a:close/>
                </a:path>
                <a:path w="4482465" h="1460500">
                  <a:moveTo>
                    <a:pt x="9144" y="1450848"/>
                  </a:moveTo>
                  <a:lnTo>
                    <a:pt x="9144" y="10668"/>
                  </a:lnTo>
                  <a:lnTo>
                    <a:pt x="4572" y="10668"/>
                  </a:lnTo>
                  <a:lnTo>
                    <a:pt x="4572" y="1450848"/>
                  </a:lnTo>
                  <a:lnTo>
                    <a:pt x="9144" y="1450848"/>
                  </a:lnTo>
                  <a:close/>
                </a:path>
                <a:path w="4482465" h="1460500">
                  <a:moveTo>
                    <a:pt x="4477518" y="1450848"/>
                  </a:moveTo>
                  <a:lnTo>
                    <a:pt x="4572" y="1450848"/>
                  </a:lnTo>
                  <a:lnTo>
                    <a:pt x="9144" y="1455420"/>
                  </a:lnTo>
                  <a:lnTo>
                    <a:pt x="9144" y="1459992"/>
                  </a:lnTo>
                  <a:lnTo>
                    <a:pt x="4472946" y="1459992"/>
                  </a:lnTo>
                  <a:lnTo>
                    <a:pt x="4472946" y="1455420"/>
                  </a:lnTo>
                  <a:lnTo>
                    <a:pt x="4477518" y="1450848"/>
                  </a:lnTo>
                  <a:close/>
                </a:path>
                <a:path w="4482465" h="1460500">
                  <a:moveTo>
                    <a:pt x="9144" y="1459992"/>
                  </a:moveTo>
                  <a:lnTo>
                    <a:pt x="9144" y="1455420"/>
                  </a:lnTo>
                  <a:lnTo>
                    <a:pt x="4572" y="1450848"/>
                  </a:lnTo>
                  <a:lnTo>
                    <a:pt x="4572" y="1459992"/>
                  </a:lnTo>
                  <a:lnTo>
                    <a:pt x="9144" y="1459992"/>
                  </a:lnTo>
                  <a:close/>
                </a:path>
                <a:path w="4482465" h="1460500">
                  <a:moveTo>
                    <a:pt x="4477518" y="10668"/>
                  </a:moveTo>
                  <a:lnTo>
                    <a:pt x="4472946" y="6096"/>
                  </a:lnTo>
                  <a:lnTo>
                    <a:pt x="4472946" y="10668"/>
                  </a:lnTo>
                  <a:lnTo>
                    <a:pt x="4477518" y="10668"/>
                  </a:lnTo>
                  <a:close/>
                </a:path>
                <a:path w="4482465" h="1460500">
                  <a:moveTo>
                    <a:pt x="4477518" y="1450848"/>
                  </a:moveTo>
                  <a:lnTo>
                    <a:pt x="4477518" y="10668"/>
                  </a:lnTo>
                  <a:lnTo>
                    <a:pt x="4472946" y="10668"/>
                  </a:lnTo>
                  <a:lnTo>
                    <a:pt x="4472946" y="1450848"/>
                  </a:lnTo>
                  <a:lnTo>
                    <a:pt x="4477518" y="1450848"/>
                  </a:lnTo>
                  <a:close/>
                </a:path>
                <a:path w="4482465" h="1460500">
                  <a:moveTo>
                    <a:pt x="4477518" y="1459992"/>
                  </a:moveTo>
                  <a:lnTo>
                    <a:pt x="4477518" y="1450848"/>
                  </a:lnTo>
                  <a:lnTo>
                    <a:pt x="4472946" y="1455420"/>
                  </a:lnTo>
                  <a:lnTo>
                    <a:pt x="4472946" y="1459992"/>
                  </a:lnTo>
                  <a:lnTo>
                    <a:pt x="4477518" y="1459992"/>
                  </a:lnTo>
                  <a:close/>
                </a:path>
              </a:pathLst>
            </a:custGeom>
            <a:solidFill>
              <a:srgbClr val="001F5F"/>
            </a:solidFill>
          </p:spPr>
          <p:txBody>
            <a:bodyPr wrap="square" lIns="0" tIns="0" rIns="0" bIns="0" rtlCol="0"/>
            <a:lstStyle/>
            <a:p>
              <a:endParaRPr sz="1588"/>
            </a:p>
          </p:txBody>
        </p:sp>
      </p:grpSp>
      <p:sp>
        <p:nvSpPr>
          <p:cNvPr id="16" name="object 16"/>
          <p:cNvSpPr txBox="1"/>
          <p:nvPr/>
        </p:nvSpPr>
        <p:spPr>
          <a:xfrm>
            <a:off x="4191000" y="6176896"/>
            <a:ext cx="526116" cy="255678"/>
          </a:xfrm>
          <a:prstGeom prst="rect">
            <a:avLst/>
          </a:prstGeom>
          <a:noFill/>
        </p:spPr>
        <p:txBody>
          <a:bodyPr vert="horz" wrap="square" lIns="0" tIns="11206" rIns="0" bIns="0" rtlCol="0">
            <a:spAutoFit/>
          </a:bodyPr>
          <a:lstStyle/>
          <a:p>
            <a:pPr marL="11206">
              <a:spcBef>
                <a:spcPts val="88"/>
              </a:spcBef>
            </a:pPr>
            <a:r>
              <a:rPr sz="1588" i="1" spc="-4" dirty="0">
                <a:solidFill>
                  <a:srgbClr val="FF0000"/>
                </a:solidFill>
                <a:latin typeface="Arial"/>
                <a:cs typeface="Arial"/>
              </a:rPr>
              <a:t>P</a:t>
            </a:r>
            <a:r>
              <a:rPr sz="1588" i="1" spc="-9" dirty="0">
                <a:solidFill>
                  <a:srgbClr val="FF0000"/>
                </a:solidFill>
                <a:latin typeface="Arial"/>
                <a:cs typeface="Arial"/>
              </a:rPr>
              <a:t>oli</a:t>
            </a:r>
            <a:r>
              <a:rPr sz="1588" i="1" dirty="0">
                <a:solidFill>
                  <a:srgbClr val="FF0000"/>
                </a:solidFill>
                <a:latin typeface="Arial"/>
                <a:cs typeface="Arial"/>
              </a:rPr>
              <a:t>t</a:t>
            </a:r>
            <a:r>
              <a:rPr sz="1588" i="1" spc="-4" dirty="0">
                <a:solidFill>
                  <a:srgbClr val="FF0000"/>
                </a:solidFill>
                <a:latin typeface="Arial"/>
                <a:cs typeface="Arial"/>
              </a:rPr>
              <a:t>e</a:t>
            </a:r>
            <a:endParaRPr sz="1588" dirty="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64A99-E2A5-65A9-5046-59A46A86FDBF}"/>
              </a:ext>
            </a:extLst>
          </p:cNvPr>
          <p:cNvSpPr>
            <a:spLocks noGrp="1"/>
          </p:cNvSpPr>
          <p:nvPr>
            <p:ph idx="1"/>
          </p:nvPr>
        </p:nvSpPr>
        <p:spPr/>
        <p:txBody>
          <a:bodyPr/>
          <a:lstStyle/>
          <a:p>
            <a:r>
              <a:rPr lang="en-US" dirty="0" err="1"/>
              <a:t>Mikolov</a:t>
            </a:r>
            <a:r>
              <a:rPr lang="en-US" dirty="0"/>
              <a:t>, Tomas; et al. (2013). "Efficient Estimation of Word  Representations in Vector Space". arXiv:1301.3781</a:t>
            </a:r>
          </a:p>
          <a:p>
            <a:r>
              <a:rPr lang="en-US" dirty="0"/>
              <a:t>Word2Vec by The Semicolon</a:t>
            </a:r>
          </a:p>
          <a:p>
            <a:r>
              <a:rPr lang="en-US" dirty="0"/>
              <a:t>Guide to Word2Vec and Neural Word Embeddings by </a:t>
            </a:r>
            <a:r>
              <a:rPr lang="en-US" dirty="0" err="1"/>
              <a:t>SkyMind</a:t>
            </a:r>
            <a:endParaRPr lang="en-US" dirty="0"/>
          </a:p>
          <a:p>
            <a:r>
              <a:rPr lang="en-US" dirty="0"/>
              <a:t>Introduction to Word Embedding and Word2Vec by </a:t>
            </a:r>
            <a:r>
              <a:rPr lang="en-US" dirty="0" err="1"/>
              <a:t>Dhruvil</a:t>
            </a:r>
            <a:r>
              <a:rPr lang="en-US" dirty="0"/>
              <a:t> </a:t>
            </a:r>
            <a:r>
              <a:rPr lang="en-US" dirty="0" err="1"/>
              <a:t>Karani</a:t>
            </a:r>
            <a:endParaRPr lang="en-US" dirty="0"/>
          </a:p>
        </p:txBody>
      </p:sp>
      <p:sp>
        <p:nvSpPr>
          <p:cNvPr id="3" name="Date Placeholder 2">
            <a:extLst>
              <a:ext uri="{FF2B5EF4-FFF2-40B4-BE49-F238E27FC236}">
                <a16:creationId xmlns:a16="http://schemas.microsoft.com/office/drawing/2014/main" id="{29BD7F66-4AA7-ECEF-3744-91EAB403B686}"/>
              </a:ext>
            </a:extLst>
          </p:cNvPr>
          <p:cNvSpPr>
            <a:spLocks noGrp="1"/>
          </p:cNvSpPr>
          <p:nvPr>
            <p:ph type="dt" sz="half" idx="10"/>
          </p:nvPr>
        </p:nvSpPr>
        <p:spPr/>
        <p:txBody>
          <a:bodyPr/>
          <a:lstStyle/>
          <a:p>
            <a:fld id="{5F6AC9D7-5757-4FEF-BFF4-6DBAE314C1B9}" type="datetime1">
              <a:rPr lang="en-US" smtClean="0"/>
              <a:t>10/22/2025</a:t>
            </a:fld>
            <a:endParaRPr lang="en-US"/>
          </a:p>
        </p:txBody>
      </p:sp>
      <p:sp>
        <p:nvSpPr>
          <p:cNvPr id="4" name="Footer Placeholder 3">
            <a:extLst>
              <a:ext uri="{FF2B5EF4-FFF2-40B4-BE49-F238E27FC236}">
                <a16:creationId xmlns:a16="http://schemas.microsoft.com/office/drawing/2014/main" id="{783C9986-0193-F303-832F-ECE139FE4719}"/>
              </a:ext>
            </a:extLst>
          </p:cNvPr>
          <p:cNvSpPr>
            <a:spLocks noGrp="1"/>
          </p:cNvSpPr>
          <p:nvPr>
            <p:ph type="ftr" sz="quarter" idx="11"/>
          </p:nvPr>
        </p:nvSpPr>
        <p:spPr/>
        <p:txBody>
          <a:bodyPr/>
          <a:lstStyle/>
          <a:p>
            <a:r>
              <a:rPr lang="en-US"/>
              <a:t>Presented by Dr. Muhammad Nouman Noor</a:t>
            </a:r>
            <a:endParaRPr lang="en-US" dirty="0"/>
          </a:p>
        </p:txBody>
      </p:sp>
      <p:sp>
        <p:nvSpPr>
          <p:cNvPr id="5" name="Slide Number Placeholder 4">
            <a:extLst>
              <a:ext uri="{FF2B5EF4-FFF2-40B4-BE49-F238E27FC236}">
                <a16:creationId xmlns:a16="http://schemas.microsoft.com/office/drawing/2014/main" id="{214F5F9D-9451-1ADF-BFB5-CB465896A1A6}"/>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6" name="Title 5">
            <a:extLst>
              <a:ext uri="{FF2B5EF4-FFF2-40B4-BE49-F238E27FC236}">
                <a16:creationId xmlns:a16="http://schemas.microsoft.com/office/drawing/2014/main" id="{8DD00614-A35C-F503-087C-61ED13924E9C}"/>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905557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9C232-B888-0EB2-61B2-BEB4A9839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AC1AA-A3FB-9995-AC6E-943FF959EA42}"/>
              </a:ext>
            </a:extLst>
          </p:cNvPr>
          <p:cNvSpPr>
            <a:spLocks noGrp="1"/>
          </p:cNvSpPr>
          <p:nvPr>
            <p:ph type="title"/>
          </p:nvPr>
        </p:nvSpPr>
        <p:spPr>
          <a:xfrm>
            <a:off x="1951152" y="2866672"/>
            <a:ext cx="7886700" cy="606423"/>
          </a:xfrm>
        </p:spPr>
        <p:txBody>
          <a:bodyPr>
            <a:noAutofit/>
          </a:bodyPr>
          <a:lstStyle/>
          <a:p>
            <a:pPr algn="ctr"/>
            <a:r>
              <a:rPr lang="en-US" sz="7200" dirty="0"/>
              <a:t>Thank You </a:t>
            </a:r>
            <a:r>
              <a:rPr lang="en-US" sz="7200" dirty="0">
                <a:sym typeface="Wingdings" panose="05000000000000000000" pitchFamily="2" charset="2"/>
              </a:rPr>
              <a:t> </a:t>
            </a:r>
            <a:endParaRPr lang="en-US" sz="7200" dirty="0"/>
          </a:p>
        </p:txBody>
      </p:sp>
      <p:sp>
        <p:nvSpPr>
          <p:cNvPr id="4" name="Rectangle 3">
            <a:extLst>
              <a:ext uri="{FF2B5EF4-FFF2-40B4-BE49-F238E27FC236}">
                <a16:creationId xmlns:a16="http://schemas.microsoft.com/office/drawing/2014/main" id="{2A662930-1E6D-DB8B-BF0D-190341163676}"/>
              </a:ext>
            </a:extLst>
          </p:cNvPr>
          <p:cNvSpPr/>
          <p:nvPr/>
        </p:nvSpPr>
        <p:spPr>
          <a:xfrm>
            <a:off x="1726676" y="762000"/>
            <a:ext cx="8484124" cy="1404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E29C136B-6D9E-DD01-551C-E8A7BE12BB25}"/>
              </a:ext>
            </a:extLst>
          </p:cNvPr>
          <p:cNvSpPr>
            <a:spLocks noGrp="1"/>
          </p:cNvSpPr>
          <p:nvPr>
            <p:ph type="sldNum" sz="quarter" idx="12"/>
          </p:nvPr>
        </p:nvSpPr>
        <p:spPr/>
        <p:txBody>
          <a:bodyPr/>
          <a:lstStyle/>
          <a:p>
            <a:fld id="{DDD12F37-302F-42F2-9029-E364DD370268}" type="slidenum">
              <a:rPr lang="en-US" smtClean="0"/>
              <a:t>37</a:t>
            </a:fld>
            <a:endParaRPr lang="en-US"/>
          </a:p>
        </p:txBody>
      </p:sp>
      <p:sp>
        <p:nvSpPr>
          <p:cNvPr id="5" name="Date Placeholder 4">
            <a:extLst>
              <a:ext uri="{FF2B5EF4-FFF2-40B4-BE49-F238E27FC236}">
                <a16:creationId xmlns:a16="http://schemas.microsoft.com/office/drawing/2014/main" id="{DE44BC09-5E7A-E3EF-EDF4-FBE56520E56B}"/>
              </a:ext>
            </a:extLst>
          </p:cNvPr>
          <p:cNvSpPr>
            <a:spLocks noGrp="1"/>
          </p:cNvSpPr>
          <p:nvPr>
            <p:ph type="dt" sz="half" idx="10"/>
          </p:nvPr>
        </p:nvSpPr>
        <p:spPr/>
        <p:txBody>
          <a:bodyPr/>
          <a:lstStyle/>
          <a:p>
            <a:fld id="{7648580C-72DF-4B5E-BCE0-D0AC745160FE}" type="datetime1">
              <a:rPr lang="en-US" smtClean="0"/>
              <a:t>10/22/2025</a:t>
            </a:fld>
            <a:endParaRPr lang="en-US"/>
          </a:p>
        </p:txBody>
      </p:sp>
      <p:sp>
        <p:nvSpPr>
          <p:cNvPr id="6" name="Footer Placeholder 5">
            <a:extLst>
              <a:ext uri="{FF2B5EF4-FFF2-40B4-BE49-F238E27FC236}">
                <a16:creationId xmlns:a16="http://schemas.microsoft.com/office/drawing/2014/main" id="{692D263B-13BE-7E81-C490-6BF84DA203AA}"/>
              </a:ext>
            </a:extLst>
          </p:cNvPr>
          <p:cNvSpPr>
            <a:spLocks noGrp="1"/>
          </p:cNvSpPr>
          <p:nvPr>
            <p:ph type="ftr" sz="quarter" idx="11"/>
          </p:nvPr>
        </p:nvSpPr>
        <p:spPr/>
        <p:txBody>
          <a:bodyPr/>
          <a:lstStyle/>
          <a:p>
            <a:r>
              <a:rPr lang="en-US"/>
              <a:t>Presented by Dr. Muhammad Nouman Noor</a:t>
            </a:r>
            <a:endParaRPr lang="en-US" dirty="0"/>
          </a:p>
        </p:txBody>
      </p:sp>
    </p:spTree>
    <p:extLst>
      <p:ext uri="{BB962C8B-B14F-4D97-AF65-F5344CB8AC3E}">
        <p14:creationId xmlns:p14="http://schemas.microsoft.com/office/powerpoint/2010/main" val="2451305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32669</TotalTime>
  <Words>2188</Words>
  <Application>Microsoft Office PowerPoint</Application>
  <PresentationFormat>Widescreen</PresentationFormat>
  <Paragraphs>295</Paragraphs>
  <Slides>37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 MT</vt:lpstr>
      <vt:lpstr>KaTeX_Caligraphic</vt:lpstr>
      <vt:lpstr>SimSun</vt:lpstr>
      <vt:lpstr>Söhne</vt:lpstr>
      <vt:lpstr>Arial</vt:lpstr>
      <vt:lpstr>Arial</vt:lpstr>
      <vt:lpstr>Calibri</vt:lpstr>
      <vt:lpstr>open sans</vt:lpstr>
      <vt:lpstr>Times New Roman</vt:lpstr>
      <vt:lpstr>Wingdings</vt:lpstr>
      <vt:lpstr>Office Theme</vt:lpstr>
      <vt:lpstr>PowerPoint Presentation</vt:lpstr>
      <vt:lpstr>Goals</vt:lpstr>
      <vt:lpstr>Today’s Lecture</vt:lpstr>
      <vt:lpstr>Unpaired Image-to-Image Translation using Cycle-Consistent Adversarial Networks</vt:lpstr>
      <vt:lpstr>CycleGANs</vt:lpstr>
      <vt:lpstr>CycleGANs</vt:lpstr>
      <vt:lpstr>CycleGANs</vt:lpstr>
      <vt:lpstr>CycleGANs</vt:lpstr>
      <vt:lpstr>CycleGANs</vt:lpstr>
      <vt:lpstr>CycleGANs</vt:lpstr>
      <vt:lpstr>Home Task</vt:lpstr>
      <vt:lpstr>Text Processing</vt:lpstr>
      <vt:lpstr>Key Concepts</vt:lpstr>
      <vt:lpstr>Representing text</vt:lpstr>
      <vt:lpstr>Representing text</vt:lpstr>
      <vt:lpstr>Word Embeddings</vt:lpstr>
      <vt:lpstr>Word Embeddings</vt:lpstr>
      <vt:lpstr>Types of Word Embeddings</vt:lpstr>
      <vt:lpstr>Introduction: Word Representation</vt:lpstr>
      <vt:lpstr>Introduction: Word Representation</vt:lpstr>
      <vt:lpstr>Introduction: Word Representation</vt:lpstr>
      <vt:lpstr>Bag of Words</vt:lpstr>
      <vt:lpstr>Bag of Words</vt:lpstr>
      <vt:lpstr>Bag of Words</vt:lpstr>
      <vt:lpstr>Bag of Words</vt:lpstr>
      <vt:lpstr>Bag of Words</vt:lpstr>
      <vt:lpstr>Bag of Words</vt:lpstr>
      <vt:lpstr>Introduction: Word2Vec</vt:lpstr>
      <vt:lpstr>Introduction: Word2Vec</vt:lpstr>
      <vt:lpstr>Introduction: Word2Vec</vt:lpstr>
      <vt:lpstr>Continuous Bag of Words (CBOW) Mode</vt:lpstr>
      <vt:lpstr>Continuous bag of words (CBOW)</vt:lpstr>
      <vt:lpstr>Continuous bag of words (CBOW)</vt:lpstr>
      <vt:lpstr>Continuous bag of words (CBOW)</vt:lpstr>
      <vt:lpstr>Introduction: Word2Vec</vt:lpstr>
      <vt:lpstr>References</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AKHTAR JAMIL</dc:creator>
  <cp:lastModifiedBy>01-243172-020</cp:lastModifiedBy>
  <cp:revision>1962</cp:revision>
  <dcterms:created xsi:type="dcterms:W3CDTF">2006-08-16T00:00:00Z</dcterms:created>
  <dcterms:modified xsi:type="dcterms:W3CDTF">2025-10-22T12:18:17Z</dcterms:modified>
</cp:coreProperties>
</file>