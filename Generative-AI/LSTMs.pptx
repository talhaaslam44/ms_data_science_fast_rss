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31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157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E77CC-63DA-4525-8B47-1E4A7D80D035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9026F-CD13-4584-812D-023F0559D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340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900"/>
              </a:lnSpc>
            </a:pPr>
            <a:r>
              <a:rPr spc="10" dirty="0"/>
              <a:t>Bahria</a:t>
            </a:r>
            <a:r>
              <a:rPr spc="-25" dirty="0"/>
              <a:t> </a:t>
            </a:r>
            <a:r>
              <a:rPr spc="10" dirty="0"/>
              <a:t>University,</a:t>
            </a:r>
            <a:r>
              <a:rPr spc="-45" dirty="0"/>
              <a:t> </a:t>
            </a:r>
            <a:r>
              <a:rPr spc="10" dirty="0"/>
              <a:t>Spring</a:t>
            </a:r>
            <a:r>
              <a:rPr spc="-25" dirty="0"/>
              <a:t> </a:t>
            </a:r>
            <a:r>
              <a:rPr spc="10" dirty="0"/>
              <a:t>2019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900"/>
              </a:lnSpc>
            </a:pPr>
            <a:fld id="{5291532F-475D-4CD6-8A20-31131E17B213}" type="datetime1">
              <a:rPr lang="en-US" spc="5" smtClean="0"/>
              <a:t>10/17/2024</a:t>
            </a:fld>
            <a:endParaRPr spc="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900"/>
              </a:lnSpc>
            </a:pPr>
            <a:r>
              <a:rPr spc="10" dirty="0"/>
              <a:t>Bahria</a:t>
            </a:r>
            <a:r>
              <a:rPr spc="-25" dirty="0"/>
              <a:t> </a:t>
            </a:r>
            <a:r>
              <a:rPr spc="10" dirty="0"/>
              <a:t>University,</a:t>
            </a:r>
            <a:r>
              <a:rPr spc="-45" dirty="0"/>
              <a:t> </a:t>
            </a:r>
            <a:r>
              <a:rPr spc="10" dirty="0"/>
              <a:t>Spring</a:t>
            </a:r>
            <a:r>
              <a:rPr spc="-25" dirty="0"/>
              <a:t> </a:t>
            </a:r>
            <a:r>
              <a:rPr spc="10" dirty="0"/>
              <a:t>2019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900"/>
              </a:lnSpc>
            </a:pPr>
            <a:fld id="{62B8CF73-B934-4B89-8FF1-AAC788F7EE5B}" type="datetime1">
              <a:rPr lang="en-US" spc="5" smtClean="0"/>
              <a:t>10/17/2024</a:t>
            </a:fld>
            <a:endParaRPr spc="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900"/>
              </a:lnSpc>
            </a:pPr>
            <a:r>
              <a:rPr spc="10" dirty="0"/>
              <a:t>Bahria</a:t>
            </a:r>
            <a:r>
              <a:rPr spc="-25" dirty="0"/>
              <a:t> </a:t>
            </a:r>
            <a:r>
              <a:rPr spc="10" dirty="0"/>
              <a:t>University,</a:t>
            </a:r>
            <a:r>
              <a:rPr spc="-45" dirty="0"/>
              <a:t> </a:t>
            </a:r>
            <a:r>
              <a:rPr spc="10" dirty="0"/>
              <a:t>Spring</a:t>
            </a:r>
            <a:r>
              <a:rPr spc="-25" dirty="0"/>
              <a:t> </a:t>
            </a:r>
            <a:r>
              <a:rPr spc="10" dirty="0"/>
              <a:t>2019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900"/>
              </a:lnSpc>
            </a:pPr>
            <a:fld id="{A5127C37-AA73-41AF-BD3C-5615A7C86D68}" type="datetime1">
              <a:rPr lang="en-US" spc="5" smtClean="0"/>
              <a:t>10/17/2024</a:t>
            </a:fld>
            <a:endParaRPr spc="5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900"/>
              </a:lnSpc>
            </a:pPr>
            <a:r>
              <a:rPr spc="10" dirty="0"/>
              <a:t>Bahria</a:t>
            </a:r>
            <a:r>
              <a:rPr spc="-25" dirty="0"/>
              <a:t> </a:t>
            </a:r>
            <a:r>
              <a:rPr spc="10" dirty="0"/>
              <a:t>University,</a:t>
            </a:r>
            <a:r>
              <a:rPr spc="-45" dirty="0"/>
              <a:t> </a:t>
            </a:r>
            <a:r>
              <a:rPr spc="10" dirty="0"/>
              <a:t>Spring</a:t>
            </a:r>
            <a:r>
              <a:rPr spc="-25" dirty="0"/>
              <a:t> </a:t>
            </a:r>
            <a:r>
              <a:rPr spc="10" dirty="0"/>
              <a:t>2019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900"/>
              </a:lnSpc>
            </a:pPr>
            <a:fld id="{8F693462-94DD-470E-BE44-39B52734AF31}" type="datetime1">
              <a:rPr lang="en-US" spc="5" smtClean="0"/>
              <a:t>10/17/2024</a:t>
            </a:fld>
            <a:endParaRPr spc="5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900"/>
              </a:lnSpc>
            </a:pPr>
            <a:r>
              <a:rPr spc="10" dirty="0"/>
              <a:t>Bahria</a:t>
            </a:r>
            <a:r>
              <a:rPr spc="-25" dirty="0"/>
              <a:t> </a:t>
            </a:r>
            <a:r>
              <a:rPr spc="10" dirty="0"/>
              <a:t>University,</a:t>
            </a:r>
            <a:r>
              <a:rPr spc="-45" dirty="0"/>
              <a:t> </a:t>
            </a:r>
            <a:r>
              <a:rPr spc="10" dirty="0"/>
              <a:t>Spring</a:t>
            </a:r>
            <a:r>
              <a:rPr spc="-25" dirty="0"/>
              <a:t> </a:t>
            </a:r>
            <a:r>
              <a:rPr spc="10" dirty="0"/>
              <a:t>2019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900"/>
              </a:lnSpc>
            </a:pPr>
            <a:fld id="{C91DD850-811B-424F-A19E-DAB5699A687A}" type="datetime1">
              <a:rPr lang="en-US" spc="5" smtClean="0"/>
              <a:t>10/17/2024</a:t>
            </a:fld>
            <a:endParaRPr spc="5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75488"/>
            <a:ext cx="5041900" cy="241300"/>
          </a:xfrm>
          <a:custGeom>
            <a:avLst/>
            <a:gdLst/>
            <a:ahLst/>
            <a:cxnLst/>
            <a:rect l="l" t="t" r="r" b="b"/>
            <a:pathLst>
              <a:path w="5041900" h="241300">
                <a:moveTo>
                  <a:pt x="5041392" y="0"/>
                </a:moveTo>
                <a:lnTo>
                  <a:pt x="0" y="0"/>
                </a:lnTo>
                <a:lnTo>
                  <a:pt x="0" y="4572"/>
                </a:lnTo>
                <a:lnTo>
                  <a:pt x="0" y="9144"/>
                </a:lnTo>
                <a:lnTo>
                  <a:pt x="0" y="240779"/>
                </a:lnTo>
                <a:lnTo>
                  <a:pt x="4559" y="240779"/>
                </a:lnTo>
                <a:lnTo>
                  <a:pt x="5032248" y="240779"/>
                </a:lnTo>
                <a:lnTo>
                  <a:pt x="5036820" y="240779"/>
                </a:lnTo>
                <a:lnTo>
                  <a:pt x="5041392" y="240779"/>
                </a:lnTo>
                <a:lnTo>
                  <a:pt x="50413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026152" y="6481572"/>
            <a:ext cx="5032375" cy="234950"/>
          </a:xfrm>
          <a:custGeom>
            <a:avLst/>
            <a:gdLst/>
            <a:ahLst/>
            <a:cxnLst/>
            <a:rect l="l" t="t" r="r" b="b"/>
            <a:pathLst>
              <a:path w="5032374" h="234950">
                <a:moveTo>
                  <a:pt x="0" y="0"/>
                </a:moveTo>
                <a:lnTo>
                  <a:pt x="0" y="234695"/>
                </a:lnTo>
                <a:lnTo>
                  <a:pt x="5032247" y="234695"/>
                </a:lnTo>
                <a:lnTo>
                  <a:pt x="503224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021580" y="6477012"/>
            <a:ext cx="5036820" cy="239395"/>
          </a:xfrm>
          <a:custGeom>
            <a:avLst/>
            <a:gdLst/>
            <a:ahLst/>
            <a:cxnLst/>
            <a:rect l="l" t="t" r="r" b="b"/>
            <a:pathLst>
              <a:path w="5036820" h="239395">
                <a:moveTo>
                  <a:pt x="5036820" y="0"/>
                </a:moveTo>
                <a:lnTo>
                  <a:pt x="5034280" y="0"/>
                </a:lnTo>
                <a:lnTo>
                  <a:pt x="7620" y="0"/>
                </a:lnTo>
                <a:lnTo>
                  <a:pt x="6350" y="0"/>
                </a:lnTo>
                <a:lnTo>
                  <a:pt x="6350" y="5842"/>
                </a:lnTo>
                <a:lnTo>
                  <a:pt x="5080" y="7112"/>
                </a:lnTo>
                <a:lnTo>
                  <a:pt x="5080" y="5842"/>
                </a:lnTo>
                <a:lnTo>
                  <a:pt x="6350" y="5842"/>
                </a:lnTo>
                <a:lnTo>
                  <a:pt x="6350" y="0"/>
                </a:lnTo>
                <a:lnTo>
                  <a:pt x="5080" y="0"/>
                </a:lnTo>
                <a:lnTo>
                  <a:pt x="0" y="0"/>
                </a:lnTo>
                <a:lnTo>
                  <a:pt x="0" y="239255"/>
                </a:lnTo>
                <a:lnTo>
                  <a:pt x="4572" y="239255"/>
                </a:lnTo>
                <a:lnTo>
                  <a:pt x="5080" y="239255"/>
                </a:lnTo>
                <a:lnTo>
                  <a:pt x="7620" y="239255"/>
                </a:lnTo>
                <a:lnTo>
                  <a:pt x="7620" y="7620"/>
                </a:lnTo>
                <a:lnTo>
                  <a:pt x="5033772" y="7620"/>
                </a:lnTo>
                <a:lnTo>
                  <a:pt x="5033772" y="239255"/>
                </a:lnTo>
                <a:lnTo>
                  <a:pt x="5036807" y="239255"/>
                </a:lnTo>
                <a:lnTo>
                  <a:pt x="5036807" y="7620"/>
                </a:lnTo>
                <a:lnTo>
                  <a:pt x="5035537" y="6350"/>
                </a:lnTo>
                <a:lnTo>
                  <a:pt x="5036820" y="6350"/>
                </a:lnTo>
                <a:lnTo>
                  <a:pt x="50368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3865" y="1558543"/>
            <a:ext cx="3710940" cy="579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3865" y="2118155"/>
            <a:ext cx="8257540" cy="1586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6292" y="6552209"/>
            <a:ext cx="1435735" cy="1308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900"/>
              </a:lnSpc>
            </a:pPr>
            <a:r>
              <a:rPr spc="10" dirty="0"/>
              <a:t>Bahria</a:t>
            </a:r>
            <a:r>
              <a:rPr spc="-25" dirty="0"/>
              <a:t> </a:t>
            </a:r>
            <a:r>
              <a:rPr spc="10" dirty="0"/>
              <a:t>University,</a:t>
            </a:r>
            <a:r>
              <a:rPr spc="-45" dirty="0"/>
              <a:t> </a:t>
            </a:r>
            <a:r>
              <a:rPr spc="10" dirty="0"/>
              <a:t>Spring</a:t>
            </a:r>
            <a:r>
              <a:rPr spc="-25" dirty="0"/>
              <a:t> </a:t>
            </a:r>
            <a:r>
              <a:rPr spc="10" dirty="0"/>
              <a:t>2019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1781" y="6552209"/>
            <a:ext cx="1161415" cy="1308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900"/>
              </a:lnSpc>
            </a:pPr>
            <a:fld id="{D373FA82-0D91-4E04-B422-4EB077CDC5C2}" type="datetime1">
              <a:rPr lang="en-US" spc="5" smtClean="0"/>
              <a:t>10/17/2024</a:t>
            </a:fld>
            <a:endParaRPr spc="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1488" y="6491599"/>
            <a:ext cx="222884" cy="1720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1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26" Type="http://schemas.openxmlformats.org/officeDocument/2006/relationships/image" Target="../media/image42.png"/><Relationship Id="rId39" Type="http://schemas.openxmlformats.org/officeDocument/2006/relationships/image" Target="../media/image55.png"/><Relationship Id="rId3" Type="http://schemas.openxmlformats.org/officeDocument/2006/relationships/image" Target="../media/image19.png"/><Relationship Id="rId21" Type="http://schemas.openxmlformats.org/officeDocument/2006/relationships/image" Target="../media/image37.png"/><Relationship Id="rId34" Type="http://schemas.openxmlformats.org/officeDocument/2006/relationships/image" Target="../media/image50.png"/><Relationship Id="rId42" Type="http://schemas.openxmlformats.org/officeDocument/2006/relationships/image" Target="../media/image58.png"/><Relationship Id="rId47" Type="http://schemas.openxmlformats.org/officeDocument/2006/relationships/image" Target="../media/image63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5" Type="http://schemas.openxmlformats.org/officeDocument/2006/relationships/image" Target="../media/image41.png"/><Relationship Id="rId33" Type="http://schemas.openxmlformats.org/officeDocument/2006/relationships/image" Target="../media/image49.png"/><Relationship Id="rId38" Type="http://schemas.openxmlformats.org/officeDocument/2006/relationships/image" Target="../media/image54.png"/><Relationship Id="rId46" Type="http://schemas.openxmlformats.org/officeDocument/2006/relationships/image" Target="../media/image62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29" Type="http://schemas.openxmlformats.org/officeDocument/2006/relationships/image" Target="../media/image45.png"/><Relationship Id="rId41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24" Type="http://schemas.openxmlformats.org/officeDocument/2006/relationships/image" Target="../media/image40.png"/><Relationship Id="rId32" Type="http://schemas.openxmlformats.org/officeDocument/2006/relationships/image" Target="../media/image48.png"/><Relationship Id="rId37" Type="http://schemas.openxmlformats.org/officeDocument/2006/relationships/image" Target="../media/image53.png"/><Relationship Id="rId40" Type="http://schemas.openxmlformats.org/officeDocument/2006/relationships/image" Target="../media/image56.png"/><Relationship Id="rId45" Type="http://schemas.openxmlformats.org/officeDocument/2006/relationships/image" Target="../media/image61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23" Type="http://schemas.openxmlformats.org/officeDocument/2006/relationships/image" Target="../media/image39.png"/><Relationship Id="rId28" Type="http://schemas.openxmlformats.org/officeDocument/2006/relationships/image" Target="../media/image44.png"/><Relationship Id="rId36" Type="http://schemas.openxmlformats.org/officeDocument/2006/relationships/image" Target="../media/image52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31" Type="http://schemas.openxmlformats.org/officeDocument/2006/relationships/image" Target="../media/image47.png"/><Relationship Id="rId44" Type="http://schemas.openxmlformats.org/officeDocument/2006/relationships/image" Target="../media/image60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Relationship Id="rId22" Type="http://schemas.openxmlformats.org/officeDocument/2006/relationships/image" Target="../media/image38.png"/><Relationship Id="rId27" Type="http://schemas.openxmlformats.org/officeDocument/2006/relationships/image" Target="../media/image43.png"/><Relationship Id="rId30" Type="http://schemas.openxmlformats.org/officeDocument/2006/relationships/image" Target="../media/image46.png"/><Relationship Id="rId35" Type="http://schemas.openxmlformats.org/officeDocument/2006/relationships/image" Target="../media/image51.png"/><Relationship Id="rId43" Type="http://schemas.openxmlformats.org/officeDocument/2006/relationships/image" Target="../media/image59.png"/><Relationship Id="rId48" Type="http://schemas.openxmlformats.org/officeDocument/2006/relationships/image" Target="../media/image6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81.jpg"/><Relationship Id="rId7" Type="http://schemas.openxmlformats.org/officeDocument/2006/relationships/image" Target="../media/image7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4.jpg"/><Relationship Id="rId5" Type="http://schemas.openxmlformats.org/officeDocument/2006/relationships/image" Target="../media/image83.jpg"/><Relationship Id="rId10" Type="http://schemas.openxmlformats.org/officeDocument/2006/relationships/image" Target="../media/image79.png"/><Relationship Id="rId4" Type="http://schemas.openxmlformats.org/officeDocument/2006/relationships/image" Target="../media/image82.jpg"/><Relationship Id="rId9" Type="http://schemas.openxmlformats.org/officeDocument/2006/relationships/image" Target="../media/image7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81.jpg"/><Relationship Id="rId7" Type="http://schemas.openxmlformats.org/officeDocument/2006/relationships/image" Target="../media/image70.png"/><Relationship Id="rId12" Type="http://schemas.openxmlformats.org/officeDocument/2006/relationships/image" Target="../media/image8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jpg"/><Relationship Id="rId11" Type="http://schemas.openxmlformats.org/officeDocument/2006/relationships/image" Target="../media/image88.png"/><Relationship Id="rId5" Type="http://schemas.openxmlformats.org/officeDocument/2006/relationships/image" Target="../media/image83.jpg"/><Relationship Id="rId10" Type="http://schemas.openxmlformats.org/officeDocument/2006/relationships/image" Target="../media/image87.png"/><Relationship Id="rId4" Type="http://schemas.openxmlformats.org/officeDocument/2006/relationships/image" Target="../media/image82.jpg"/><Relationship Id="rId9" Type="http://schemas.openxmlformats.org/officeDocument/2006/relationships/image" Target="../media/image8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1.jpg"/><Relationship Id="rId7" Type="http://schemas.openxmlformats.org/officeDocument/2006/relationships/image" Target="../media/image7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jpg"/><Relationship Id="rId5" Type="http://schemas.openxmlformats.org/officeDocument/2006/relationships/image" Target="../media/image83.jpg"/><Relationship Id="rId10" Type="http://schemas.openxmlformats.org/officeDocument/2006/relationships/image" Target="../media/image93.png"/><Relationship Id="rId4" Type="http://schemas.openxmlformats.org/officeDocument/2006/relationships/image" Target="../media/image82.jpg"/><Relationship Id="rId9" Type="http://schemas.openxmlformats.org/officeDocument/2006/relationships/image" Target="../media/image9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81.jpg"/><Relationship Id="rId7" Type="http://schemas.openxmlformats.org/officeDocument/2006/relationships/image" Target="../media/image7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jpg"/><Relationship Id="rId5" Type="http://schemas.openxmlformats.org/officeDocument/2006/relationships/image" Target="../media/image83.jpg"/><Relationship Id="rId4" Type="http://schemas.openxmlformats.org/officeDocument/2006/relationships/image" Target="../media/image82.jpg"/><Relationship Id="rId9" Type="http://schemas.openxmlformats.org/officeDocument/2006/relationships/image" Target="../media/image9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81.jpg"/><Relationship Id="rId7" Type="http://schemas.openxmlformats.org/officeDocument/2006/relationships/image" Target="../media/image7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jpg"/><Relationship Id="rId5" Type="http://schemas.openxmlformats.org/officeDocument/2006/relationships/image" Target="../media/image83.jpg"/><Relationship Id="rId10" Type="http://schemas.openxmlformats.org/officeDocument/2006/relationships/image" Target="../media/image79.png"/><Relationship Id="rId4" Type="http://schemas.openxmlformats.org/officeDocument/2006/relationships/image" Target="../media/image82.jpg"/><Relationship Id="rId9" Type="http://schemas.openxmlformats.org/officeDocument/2006/relationships/image" Target="../media/image7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g"/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g"/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jpg"/><Relationship Id="rId2" Type="http://schemas.openxmlformats.org/officeDocument/2006/relationships/image" Target="../media/image121.jp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38.png"/><Relationship Id="rId299" Type="http://schemas.openxmlformats.org/officeDocument/2006/relationships/image" Target="../media/image420.png"/><Relationship Id="rId21" Type="http://schemas.openxmlformats.org/officeDocument/2006/relationships/image" Target="../media/image142.png"/><Relationship Id="rId63" Type="http://schemas.openxmlformats.org/officeDocument/2006/relationships/image" Target="../media/image184.png"/><Relationship Id="rId159" Type="http://schemas.openxmlformats.org/officeDocument/2006/relationships/image" Target="../media/image280.png"/><Relationship Id="rId324" Type="http://schemas.openxmlformats.org/officeDocument/2006/relationships/image" Target="../media/image445.png"/><Relationship Id="rId366" Type="http://schemas.openxmlformats.org/officeDocument/2006/relationships/image" Target="../media/image487.png"/><Relationship Id="rId170" Type="http://schemas.openxmlformats.org/officeDocument/2006/relationships/image" Target="../media/image291.png"/><Relationship Id="rId226" Type="http://schemas.openxmlformats.org/officeDocument/2006/relationships/image" Target="../media/image347.png"/><Relationship Id="rId107" Type="http://schemas.openxmlformats.org/officeDocument/2006/relationships/image" Target="../media/image228.png"/><Relationship Id="rId268" Type="http://schemas.openxmlformats.org/officeDocument/2006/relationships/image" Target="../media/image389.png"/><Relationship Id="rId289" Type="http://schemas.openxmlformats.org/officeDocument/2006/relationships/image" Target="../media/image410.png"/><Relationship Id="rId11" Type="http://schemas.openxmlformats.org/officeDocument/2006/relationships/image" Target="../media/image132.png"/><Relationship Id="rId32" Type="http://schemas.openxmlformats.org/officeDocument/2006/relationships/image" Target="../media/image153.png"/><Relationship Id="rId53" Type="http://schemas.openxmlformats.org/officeDocument/2006/relationships/image" Target="../media/image174.png"/><Relationship Id="rId74" Type="http://schemas.openxmlformats.org/officeDocument/2006/relationships/image" Target="../media/image195.png"/><Relationship Id="rId128" Type="http://schemas.openxmlformats.org/officeDocument/2006/relationships/image" Target="../media/image249.png"/><Relationship Id="rId149" Type="http://schemas.openxmlformats.org/officeDocument/2006/relationships/image" Target="../media/image270.png"/><Relationship Id="rId314" Type="http://schemas.openxmlformats.org/officeDocument/2006/relationships/image" Target="../media/image435.png"/><Relationship Id="rId335" Type="http://schemas.openxmlformats.org/officeDocument/2006/relationships/image" Target="../media/image456.png"/><Relationship Id="rId356" Type="http://schemas.openxmlformats.org/officeDocument/2006/relationships/image" Target="../media/image477.png"/><Relationship Id="rId377" Type="http://schemas.openxmlformats.org/officeDocument/2006/relationships/image" Target="../media/image498.png"/><Relationship Id="rId398" Type="http://schemas.openxmlformats.org/officeDocument/2006/relationships/image" Target="../media/image519.png"/><Relationship Id="rId5" Type="http://schemas.openxmlformats.org/officeDocument/2006/relationships/image" Target="../media/image126.png"/><Relationship Id="rId95" Type="http://schemas.openxmlformats.org/officeDocument/2006/relationships/image" Target="../media/image216.png"/><Relationship Id="rId160" Type="http://schemas.openxmlformats.org/officeDocument/2006/relationships/image" Target="../media/image281.png"/><Relationship Id="rId181" Type="http://schemas.openxmlformats.org/officeDocument/2006/relationships/image" Target="../media/image302.png"/><Relationship Id="rId216" Type="http://schemas.openxmlformats.org/officeDocument/2006/relationships/image" Target="../media/image337.png"/><Relationship Id="rId237" Type="http://schemas.openxmlformats.org/officeDocument/2006/relationships/image" Target="../media/image358.png"/><Relationship Id="rId402" Type="http://schemas.openxmlformats.org/officeDocument/2006/relationships/image" Target="../media/image523.png"/><Relationship Id="rId258" Type="http://schemas.openxmlformats.org/officeDocument/2006/relationships/image" Target="../media/image379.png"/><Relationship Id="rId279" Type="http://schemas.openxmlformats.org/officeDocument/2006/relationships/image" Target="../media/image400.png"/><Relationship Id="rId22" Type="http://schemas.openxmlformats.org/officeDocument/2006/relationships/image" Target="../media/image143.png"/><Relationship Id="rId43" Type="http://schemas.openxmlformats.org/officeDocument/2006/relationships/image" Target="../media/image164.png"/><Relationship Id="rId64" Type="http://schemas.openxmlformats.org/officeDocument/2006/relationships/image" Target="../media/image185.png"/><Relationship Id="rId118" Type="http://schemas.openxmlformats.org/officeDocument/2006/relationships/image" Target="../media/image239.png"/><Relationship Id="rId139" Type="http://schemas.openxmlformats.org/officeDocument/2006/relationships/image" Target="../media/image260.png"/><Relationship Id="rId290" Type="http://schemas.openxmlformats.org/officeDocument/2006/relationships/image" Target="../media/image411.png"/><Relationship Id="rId304" Type="http://schemas.openxmlformats.org/officeDocument/2006/relationships/image" Target="../media/image425.png"/><Relationship Id="rId325" Type="http://schemas.openxmlformats.org/officeDocument/2006/relationships/image" Target="../media/image446.png"/><Relationship Id="rId346" Type="http://schemas.openxmlformats.org/officeDocument/2006/relationships/image" Target="../media/image467.png"/><Relationship Id="rId367" Type="http://schemas.openxmlformats.org/officeDocument/2006/relationships/image" Target="../media/image488.png"/><Relationship Id="rId388" Type="http://schemas.openxmlformats.org/officeDocument/2006/relationships/image" Target="../media/image509.png"/><Relationship Id="rId85" Type="http://schemas.openxmlformats.org/officeDocument/2006/relationships/image" Target="../media/image206.png"/><Relationship Id="rId150" Type="http://schemas.openxmlformats.org/officeDocument/2006/relationships/image" Target="../media/image271.png"/><Relationship Id="rId171" Type="http://schemas.openxmlformats.org/officeDocument/2006/relationships/image" Target="../media/image292.png"/><Relationship Id="rId192" Type="http://schemas.openxmlformats.org/officeDocument/2006/relationships/image" Target="../media/image313.png"/><Relationship Id="rId206" Type="http://schemas.openxmlformats.org/officeDocument/2006/relationships/image" Target="../media/image327.png"/><Relationship Id="rId227" Type="http://schemas.openxmlformats.org/officeDocument/2006/relationships/image" Target="../media/image348.png"/><Relationship Id="rId248" Type="http://schemas.openxmlformats.org/officeDocument/2006/relationships/image" Target="../media/image369.png"/><Relationship Id="rId269" Type="http://schemas.openxmlformats.org/officeDocument/2006/relationships/image" Target="../media/image390.png"/><Relationship Id="rId12" Type="http://schemas.openxmlformats.org/officeDocument/2006/relationships/image" Target="../media/image133.png"/><Relationship Id="rId33" Type="http://schemas.openxmlformats.org/officeDocument/2006/relationships/image" Target="../media/image154.png"/><Relationship Id="rId108" Type="http://schemas.openxmlformats.org/officeDocument/2006/relationships/image" Target="../media/image229.png"/><Relationship Id="rId129" Type="http://schemas.openxmlformats.org/officeDocument/2006/relationships/image" Target="../media/image250.png"/><Relationship Id="rId280" Type="http://schemas.openxmlformats.org/officeDocument/2006/relationships/image" Target="../media/image401.png"/><Relationship Id="rId315" Type="http://schemas.openxmlformats.org/officeDocument/2006/relationships/image" Target="../media/image436.png"/><Relationship Id="rId336" Type="http://schemas.openxmlformats.org/officeDocument/2006/relationships/image" Target="../media/image457.png"/><Relationship Id="rId357" Type="http://schemas.openxmlformats.org/officeDocument/2006/relationships/image" Target="../media/image478.png"/><Relationship Id="rId54" Type="http://schemas.openxmlformats.org/officeDocument/2006/relationships/image" Target="../media/image175.png"/><Relationship Id="rId75" Type="http://schemas.openxmlformats.org/officeDocument/2006/relationships/image" Target="../media/image196.png"/><Relationship Id="rId96" Type="http://schemas.openxmlformats.org/officeDocument/2006/relationships/image" Target="../media/image217.png"/><Relationship Id="rId140" Type="http://schemas.openxmlformats.org/officeDocument/2006/relationships/image" Target="../media/image261.png"/><Relationship Id="rId161" Type="http://schemas.openxmlformats.org/officeDocument/2006/relationships/image" Target="../media/image282.png"/><Relationship Id="rId182" Type="http://schemas.openxmlformats.org/officeDocument/2006/relationships/image" Target="../media/image303.png"/><Relationship Id="rId217" Type="http://schemas.openxmlformats.org/officeDocument/2006/relationships/image" Target="../media/image338.png"/><Relationship Id="rId378" Type="http://schemas.openxmlformats.org/officeDocument/2006/relationships/image" Target="../media/image499.png"/><Relationship Id="rId399" Type="http://schemas.openxmlformats.org/officeDocument/2006/relationships/image" Target="../media/image520.png"/><Relationship Id="rId6" Type="http://schemas.openxmlformats.org/officeDocument/2006/relationships/image" Target="../media/image127.png"/><Relationship Id="rId238" Type="http://schemas.openxmlformats.org/officeDocument/2006/relationships/image" Target="../media/image359.png"/><Relationship Id="rId259" Type="http://schemas.openxmlformats.org/officeDocument/2006/relationships/image" Target="../media/image380.png"/><Relationship Id="rId23" Type="http://schemas.openxmlformats.org/officeDocument/2006/relationships/image" Target="../media/image144.png"/><Relationship Id="rId119" Type="http://schemas.openxmlformats.org/officeDocument/2006/relationships/image" Target="../media/image240.png"/><Relationship Id="rId270" Type="http://schemas.openxmlformats.org/officeDocument/2006/relationships/image" Target="../media/image391.png"/><Relationship Id="rId291" Type="http://schemas.openxmlformats.org/officeDocument/2006/relationships/image" Target="../media/image412.png"/><Relationship Id="rId305" Type="http://schemas.openxmlformats.org/officeDocument/2006/relationships/image" Target="../media/image426.png"/><Relationship Id="rId326" Type="http://schemas.openxmlformats.org/officeDocument/2006/relationships/image" Target="../media/image447.png"/><Relationship Id="rId347" Type="http://schemas.openxmlformats.org/officeDocument/2006/relationships/image" Target="../media/image468.png"/><Relationship Id="rId44" Type="http://schemas.openxmlformats.org/officeDocument/2006/relationships/image" Target="../media/image165.png"/><Relationship Id="rId65" Type="http://schemas.openxmlformats.org/officeDocument/2006/relationships/image" Target="../media/image186.png"/><Relationship Id="rId86" Type="http://schemas.openxmlformats.org/officeDocument/2006/relationships/image" Target="../media/image207.png"/><Relationship Id="rId130" Type="http://schemas.openxmlformats.org/officeDocument/2006/relationships/image" Target="../media/image251.png"/><Relationship Id="rId151" Type="http://schemas.openxmlformats.org/officeDocument/2006/relationships/image" Target="../media/image272.png"/><Relationship Id="rId368" Type="http://schemas.openxmlformats.org/officeDocument/2006/relationships/image" Target="../media/image489.png"/><Relationship Id="rId389" Type="http://schemas.openxmlformats.org/officeDocument/2006/relationships/image" Target="../media/image510.png"/><Relationship Id="rId172" Type="http://schemas.openxmlformats.org/officeDocument/2006/relationships/image" Target="../media/image293.png"/><Relationship Id="rId193" Type="http://schemas.openxmlformats.org/officeDocument/2006/relationships/image" Target="../media/image314.png"/><Relationship Id="rId207" Type="http://schemas.openxmlformats.org/officeDocument/2006/relationships/image" Target="../media/image328.png"/><Relationship Id="rId228" Type="http://schemas.openxmlformats.org/officeDocument/2006/relationships/image" Target="../media/image349.png"/><Relationship Id="rId249" Type="http://schemas.openxmlformats.org/officeDocument/2006/relationships/image" Target="../media/image370.png"/><Relationship Id="rId13" Type="http://schemas.openxmlformats.org/officeDocument/2006/relationships/image" Target="../media/image134.png"/><Relationship Id="rId109" Type="http://schemas.openxmlformats.org/officeDocument/2006/relationships/image" Target="../media/image230.png"/><Relationship Id="rId260" Type="http://schemas.openxmlformats.org/officeDocument/2006/relationships/image" Target="../media/image381.png"/><Relationship Id="rId281" Type="http://schemas.openxmlformats.org/officeDocument/2006/relationships/image" Target="../media/image402.png"/><Relationship Id="rId316" Type="http://schemas.openxmlformats.org/officeDocument/2006/relationships/image" Target="../media/image437.png"/><Relationship Id="rId337" Type="http://schemas.openxmlformats.org/officeDocument/2006/relationships/image" Target="../media/image458.png"/><Relationship Id="rId34" Type="http://schemas.openxmlformats.org/officeDocument/2006/relationships/image" Target="../media/image155.png"/><Relationship Id="rId55" Type="http://schemas.openxmlformats.org/officeDocument/2006/relationships/image" Target="../media/image176.png"/><Relationship Id="rId76" Type="http://schemas.openxmlformats.org/officeDocument/2006/relationships/image" Target="../media/image197.png"/><Relationship Id="rId97" Type="http://schemas.openxmlformats.org/officeDocument/2006/relationships/image" Target="../media/image218.png"/><Relationship Id="rId120" Type="http://schemas.openxmlformats.org/officeDocument/2006/relationships/image" Target="../media/image241.png"/><Relationship Id="rId141" Type="http://schemas.openxmlformats.org/officeDocument/2006/relationships/image" Target="../media/image262.png"/><Relationship Id="rId358" Type="http://schemas.openxmlformats.org/officeDocument/2006/relationships/image" Target="../media/image479.png"/><Relationship Id="rId379" Type="http://schemas.openxmlformats.org/officeDocument/2006/relationships/image" Target="../media/image500.png"/><Relationship Id="rId7" Type="http://schemas.openxmlformats.org/officeDocument/2006/relationships/image" Target="../media/image128.png"/><Relationship Id="rId162" Type="http://schemas.openxmlformats.org/officeDocument/2006/relationships/image" Target="../media/image283.png"/><Relationship Id="rId183" Type="http://schemas.openxmlformats.org/officeDocument/2006/relationships/image" Target="../media/image304.png"/><Relationship Id="rId218" Type="http://schemas.openxmlformats.org/officeDocument/2006/relationships/image" Target="../media/image339.png"/><Relationship Id="rId239" Type="http://schemas.openxmlformats.org/officeDocument/2006/relationships/image" Target="../media/image360.png"/><Relationship Id="rId390" Type="http://schemas.openxmlformats.org/officeDocument/2006/relationships/image" Target="../media/image511.png"/><Relationship Id="rId250" Type="http://schemas.openxmlformats.org/officeDocument/2006/relationships/image" Target="../media/image371.png"/><Relationship Id="rId271" Type="http://schemas.openxmlformats.org/officeDocument/2006/relationships/image" Target="../media/image392.png"/><Relationship Id="rId292" Type="http://schemas.openxmlformats.org/officeDocument/2006/relationships/image" Target="../media/image413.png"/><Relationship Id="rId306" Type="http://schemas.openxmlformats.org/officeDocument/2006/relationships/image" Target="../media/image427.png"/><Relationship Id="rId24" Type="http://schemas.openxmlformats.org/officeDocument/2006/relationships/image" Target="../media/image145.png"/><Relationship Id="rId45" Type="http://schemas.openxmlformats.org/officeDocument/2006/relationships/image" Target="../media/image166.png"/><Relationship Id="rId66" Type="http://schemas.openxmlformats.org/officeDocument/2006/relationships/image" Target="../media/image187.png"/><Relationship Id="rId87" Type="http://schemas.openxmlformats.org/officeDocument/2006/relationships/image" Target="../media/image208.png"/><Relationship Id="rId110" Type="http://schemas.openxmlformats.org/officeDocument/2006/relationships/image" Target="../media/image231.png"/><Relationship Id="rId131" Type="http://schemas.openxmlformats.org/officeDocument/2006/relationships/image" Target="../media/image252.png"/><Relationship Id="rId327" Type="http://schemas.openxmlformats.org/officeDocument/2006/relationships/image" Target="../media/image448.png"/><Relationship Id="rId348" Type="http://schemas.openxmlformats.org/officeDocument/2006/relationships/image" Target="../media/image469.png"/><Relationship Id="rId369" Type="http://schemas.openxmlformats.org/officeDocument/2006/relationships/image" Target="../media/image490.png"/><Relationship Id="rId152" Type="http://schemas.openxmlformats.org/officeDocument/2006/relationships/image" Target="../media/image273.png"/><Relationship Id="rId173" Type="http://schemas.openxmlformats.org/officeDocument/2006/relationships/image" Target="../media/image294.png"/><Relationship Id="rId194" Type="http://schemas.openxmlformats.org/officeDocument/2006/relationships/image" Target="../media/image315.png"/><Relationship Id="rId208" Type="http://schemas.openxmlformats.org/officeDocument/2006/relationships/image" Target="../media/image329.png"/><Relationship Id="rId229" Type="http://schemas.openxmlformats.org/officeDocument/2006/relationships/image" Target="../media/image350.png"/><Relationship Id="rId380" Type="http://schemas.openxmlformats.org/officeDocument/2006/relationships/image" Target="../media/image501.png"/><Relationship Id="rId240" Type="http://schemas.openxmlformats.org/officeDocument/2006/relationships/image" Target="../media/image361.png"/><Relationship Id="rId261" Type="http://schemas.openxmlformats.org/officeDocument/2006/relationships/image" Target="../media/image382.png"/><Relationship Id="rId14" Type="http://schemas.openxmlformats.org/officeDocument/2006/relationships/image" Target="../media/image135.png"/><Relationship Id="rId35" Type="http://schemas.openxmlformats.org/officeDocument/2006/relationships/image" Target="../media/image156.png"/><Relationship Id="rId56" Type="http://schemas.openxmlformats.org/officeDocument/2006/relationships/image" Target="../media/image177.png"/><Relationship Id="rId77" Type="http://schemas.openxmlformats.org/officeDocument/2006/relationships/image" Target="../media/image198.png"/><Relationship Id="rId100" Type="http://schemas.openxmlformats.org/officeDocument/2006/relationships/image" Target="../media/image221.png"/><Relationship Id="rId282" Type="http://schemas.openxmlformats.org/officeDocument/2006/relationships/image" Target="../media/image403.png"/><Relationship Id="rId317" Type="http://schemas.openxmlformats.org/officeDocument/2006/relationships/image" Target="../media/image438.png"/><Relationship Id="rId338" Type="http://schemas.openxmlformats.org/officeDocument/2006/relationships/image" Target="../media/image459.png"/><Relationship Id="rId359" Type="http://schemas.openxmlformats.org/officeDocument/2006/relationships/image" Target="../media/image480.png"/><Relationship Id="rId8" Type="http://schemas.openxmlformats.org/officeDocument/2006/relationships/image" Target="../media/image129.png"/><Relationship Id="rId98" Type="http://schemas.openxmlformats.org/officeDocument/2006/relationships/image" Target="../media/image219.png"/><Relationship Id="rId121" Type="http://schemas.openxmlformats.org/officeDocument/2006/relationships/image" Target="../media/image242.png"/><Relationship Id="rId142" Type="http://schemas.openxmlformats.org/officeDocument/2006/relationships/image" Target="../media/image263.png"/><Relationship Id="rId163" Type="http://schemas.openxmlformats.org/officeDocument/2006/relationships/image" Target="../media/image284.png"/><Relationship Id="rId184" Type="http://schemas.openxmlformats.org/officeDocument/2006/relationships/image" Target="../media/image305.png"/><Relationship Id="rId219" Type="http://schemas.openxmlformats.org/officeDocument/2006/relationships/image" Target="../media/image340.png"/><Relationship Id="rId370" Type="http://schemas.openxmlformats.org/officeDocument/2006/relationships/image" Target="../media/image491.png"/><Relationship Id="rId391" Type="http://schemas.openxmlformats.org/officeDocument/2006/relationships/image" Target="../media/image512.png"/><Relationship Id="rId230" Type="http://schemas.openxmlformats.org/officeDocument/2006/relationships/image" Target="../media/image351.png"/><Relationship Id="rId251" Type="http://schemas.openxmlformats.org/officeDocument/2006/relationships/image" Target="../media/image372.png"/><Relationship Id="rId25" Type="http://schemas.openxmlformats.org/officeDocument/2006/relationships/image" Target="../media/image146.png"/><Relationship Id="rId46" Type="http://schemas.openxmlformats.org/officeDocument/2006/relationships/image" Target="../media/image167.png"/><Relationship Id="rId67" Type="http://schemas.openxmlformats.org/officeDocument/2006/relationships/image" Target="../media/image188.png"/><Relationship Id="rId272" Type="http://schemas.openxmlformats.org/officeDocument/2006/relationships/image" Target="../media/image393.png"/><Relationship Id="rId293" Type="http://schemas.openxmlformats.org/officeDocument/2006/relationships/image" Target="../media/image414.png"/><Relationship Id="rId307" Type="http://schemas.openxmlformats.org/officeDocument/2006/relationships/image" Target="../media/image428.png"/><Relationship Id="rId328" Type="http://schemas.openxmlformats.org/officeDocument/2006/relationships/image" Target="../media/image449.png"/><Relationship Id="rId349" Type="http://schemas.openxmlformats.org/officeDocument/2006/relationships/image" Target="../media/image470.png"/><Relationship Id="rId88" Type="http://schemas.openxmlformats.org/officeDocument/2006/relationships/image" Target="../media/image209.png"/><Relationship Id="rId111" Type="http://schemas.openxmlformats.org/officeDocument/2006/relationships/image" Target="../media/image232.png"/><Relationship Id="rId132" Type="http://schemas.openxmlformats.org/officeDocument/2006/relationships/image" Target="../media/image253.png"/><Relationship Id="rId153" Type="http://schemas.openxmlformats.org/officeDocument/2006/relationships/image" Target="../media/image274.png"/><Relationship Id="rId174" Type="http://schemas.openxmlformats.org/officeDocument/2006/relationships/image" Target="../media/image295.png"/><Relationship Id="rId195" Type="http://schemas.openxmlformats.org/officeDocument/2006/relationships/image" Target="../media/image316.png"/><Relationship Id="rId209" Type="http://schemas.openxmlformats.org/officeDocument/2006/relationships/image" Target="../media/image330.png"/><Relationship Id="rId360" Type="http://schemas.openxmlformats.org/officeDocument/2006/relationships/image" Target="../media/image481.png"/><Relationship Id="rId381" Type="http://schemas.openxmlformats.org/officeDocument/2006/relationships/image" Target="../media/image502.png"/><Relationship Id="rId220" Type="http://schemas.openxmlformats.org/officeDocument/2006/relationships/image" Target="../media/image341.png"/><Relationship Id="rId241" Type="http://schemas.openxmlformats.org/officeDocument/2006/relationships/image" Target="../media/image362.png"/><Relationship Id="rId15" Type="http://schemas.openxmlformats.org/officeDocument/2006/relationships/image" Target="../media/image136.png"/><Relationship Id="rId36" Type="http://schemas.openxmlformats.org/officeDocument/2006/relationships/image" Target="../media/image157.png"/><Relationship Id="rId57" Type="http://schemas.openxmlformats.org/officeDocument/2006/relationships/image" Target="../media/image178.png"/><Relationship Id="rId262" Type="http://schemas.openxmlformats.org/officeDocument/2006/relationships/image" Target="../media/image383.png"/><Relationship Id="rId283" Type="http://schemas.openxmlformats.org/officeDocument/2006/relationships/image" Target="../media/image404.png"/><Relationship Id="rId318" Type="http://schemas.openxmlformats.org/officeDocument/2006/relationships/image" Target="../media/image439.png"/><Relationship Id="rId339" Type="http://schemas.openxmlformats.org/officeDocument/2006/relationships/image" Target="../media/image460.png"/><Relationship Id="rId78" Type="http://schemas.openxmlformats.org/officeDocument/2006/relationships/image" Target="../media/image199.png"/><Relationship Id="rId99" Type="http://schemas.openxmlformats.org/officeDocument/2006/relationships/image" Target="../media/image220.png"/><Relationship Id="rId101" Type="http://schemas.openxmlformats.org/officeDocument/2006/relationships/image" Target="../media/image222.png"/><Relationship Id="rId122" Type="http://schemas.openxmlformats.org/officeDocument/2006/relationships/image" Target="../media/image243.png"/><Relationship Id="rId143" Type="http://schemas.openxmlformats.org/officeDocument/2006/relationships/image" Target="../media/image264.png"/><Relationship Id="rId164" Type="http://schemas.openxmlformats.org/officeDocument/2006/relationships/image" Target="../media/image285.png"/><Relationship Id="rId185" Type="http://schemas.openxmlformats.org/officeDocument/2006/relationships/image" Target="../media/image306.png"/><Relationship Id="rId350" Type="http://schemas.openxmlformats.org/officeDocument/2006/relationships/image" Target="../media/image471.png"/><Relationship Id="rId371" Type="http://schemas.openxmlformats.org/officeDocument/2006/relationships/image" Target="../media/image492.png"/><Relationship Id="rId9" Type="http://schemas.openxmlformats.org/officeDocument/2006/relationships/image" Target="../media/image130.png"/><Relationship Id="rId210" Type="http://schemas.openxmlformats.org/officeDocument/2006/relationships/image" Target="../media/image331.png"/><Relationship Id="rId392" Type="http://schemas.openxmlformats.org/officeDocument/2006/relationships/image" Target="../media/image513.png"/><Relationship Id="rId26" Type="http://schemas.openxmlformats.org/officeDocument/2006/relationships/image" Target="../media/image147.png"/><Relationship Id="rId231" Type="http://schemas.openxmlformats.org/officeDocument/2006/relationships/image" Target="../media/image352.png"/><Relationship Id="rId252" Type="http://schemas.openxmlformats.org/officeDocument/2006/relationships/image" Target="../media/image373.png"/><Relationship Id="rId273" Type="http://schemas.openxmlformats.org/officeDocument/2006/relationships/image" Target="../media/image394.png"/><Relationship Id="rId294" Type="http://schemas.openxmlformats.org/officeDocument/2006/relationships/image" Target="../media/image415.png"/><Relationship Id="rId308" Type="http://schemas.openxmlformats.org/officeDocument/2006/relationships/image" Target="../media/image429.png"/><Relationship Id="rId329" Type="http://schemas.openxmlformats.org/officeDocument/2006/relationships/image" Target="../media/image450.png"/><Relationship Id="rId47" Type="http://schemas.openxmlformats.org/officeDocument/2006/relationships/image" Target="../media/image168.png"/><Relationship Id="rId68" Type="http://schemas.openxmlformats.org/officeDocument/2006/relationships/image" Target="../media/image189.png"/><Relationship Id="rId89" Type="http://schemas.openxmlformats.org/officeDocument/2006/relationships/image" Target="../media/image210.png"/><Relationship Id="rId112" Type="http://schemas.openxmlformats.org/officeDocument/2006/relationships/image" Target="../media/image233.png"/><Relationship Id="rId133" Type="http://schemas.openxmlformats.org/officeDocument/2006/relationships/image" Target="../media/image254.png"/><Relationship Id="rId154" Type="http://schemas.openxmlformats.org/officeDocument/2006/relationships/image" Target="../media/image275.png"/><Relationship Id="rId175" Type="http://schemas.openxmlformats.org/officeDocument/2006/relationships/image" Target="../media/image296.png"/><Relationship Id="rId340" Type="http://schemas.openxmlformats.org/officeDocument/2006/relationships/image" Target="../media/image461.png"/><Relationship Id="rId361" Type="http://schemas.openxmlformats.org/officeDocument/2006/relationships/image" Target="../media/image482.png"/><Relationship Id="rId196" Type="http://schemas.openxmlformats.org/officeDocument/2006/relationships/image" Target="../media/image317.png"/><Relationship Id="rId200" Type="http://schemas.openxmlformats.org/officeDocument/2006/relationships/image" Target="../media/image321.png"/><Relationship Id="rId382" Type="http://schemas.openxmlformats.org/officeDocument/2006/relationships/image" Target="../media/image503.png"/><Relationship Id="rId16" Type="http://schemas.openxmlformats.org/officeDocument/2006/relationships/image" Target="../media/image137.png"/><Relationship Id="rId221" Type="http://schemas.openxmlformats.org/officeDocument/2006/relationships/image" Target="../media/image342.png"/><Relationship Id="rId242" Type="http://schemas.openxmlformats.org/officeDocument/2006/relationships/image" Target="../media/image363.png"/><Relationship Id="rId263" Type="http://schemas.openxmlformats.org/officeDocument/2006/relationships/image" Target="../media/image384.png"/><Relationship Id="rId284" Type="http://schemas.openxmlformats.org/officeDocument/2006/relationships/image" Target="../media/image405.png"/><Relationship Id="rId319" Type="http://schemas.openxmlformats.org/officeDocument/2006/relationships/image" Target="../media/image440.png"/><Relationship Id="rId37" Type="http://schemas.openxmlformats.org/officeDocument/2006/relationships/image" Target="../media/image158.png"/><Relationship Id="rId58" Type="http://schemas.openxmlformats.org/officeDocument/2006/relationships/image" Target="../media/image179.png"/><Relationship Id="rId79" Type="http://schemas.openxmlformats.org/officeDocument/2006/relationships/image" Target="../media/image200.png"/><Relationship Id="rId102" Type="http://schemas.openxmlformats.org/officeDocument/2006/relationships/image" Target="../media/image223.png"/><Relationship Id="rId123" Type="http://schemas.openxmlformats.org/officeDocument/2006/relationships/image" Target="../media/image244.png"/><Relationship Id="rId144" Type="http://schemas.openxmlformats.org/officeDocument/2006/relationships/image" Target="../media/image265.png"/><Relationship Id="rId330" Type="http://schemas.openxmlformats.org/officeDocument/2006/relationships/image" Target="../media/image451.png"/><Relationship Id="rId90" Type="http://schemas.openxmlformats.org/officeDocument/2006/relationships/image" Target="../media/image211.png"/><Relationship Id="rId165" Type="http://schemas.openxmlformats.org/officeDocument/2006/relationships/image" Target="../media/image286.png"/><Relationship Id="rId186" Type="http://schemas.openxmlformats.org/officeDocument/2006/relationships/image" Target="../media/image307.png"/><Relationship Id="rId351" Type="http://schemas.openxmlformats.org/officeDocument/2006/relationships/image" Target="../media/image472.png"/><Relationship Id="rId372" Type="http://schemas.openxmlformats.org/officeDocument/2006/relationships/image" Target="../media/image493.png"/><Relationship Id="rId393" Type="http://schemas.openxmlformats.org/officeDocument/2006/relationships/image" Target="../media/image514.png"/><Relationship Id="rId211" Type="http://schemas.openxmlformats.org/officeDocument/2006/relationships/image" Target="../media/image332.png"/><Relationship Id="rId232" Type="http://schemas.openxmlformats.org/officeDocument/2006/relationships/image" Target="../media/image353.png"/><Relationship Id="rId253" Type="http://schemas.openxmlformats.org/officeDocument/2006/relationships/image" Target="../media/image374.png"/><Relationship Id="rId274" Type="http://schemas.openxmlformats.org/officeDocument/2006/relationships/image" Target="../media/image395.png"/><Relationship Id="rId295" Type="http://schemas.openxmlformats.org/officeDocument/2006/relationships/image" Target="../media/image416.png"/><Relationship Id="rId309" Type="http://schemas.openxmlformats.org/officeDocument/2006/relationships/image" Target="../media/image430.png"/><Relationship Id="rId27" Type="http://schemas.openxmlformats.org/officeDocument/2006/relationships/image" Target="../media/image148.png"/><Relationship Id="rId48" Type="http://schemas.openxmlformats.org/officeDocument/2006/relationships/image" Target="../media/image169.png"/><Relationship Id="rId69" Type="http://schemas.openxmlformats.org/officeDocument/2006/relationships/image" Target="../media/image190.png"/><Relationship Id="rId113" Type="http://schemas.openxmlformats.org/officeDocument/2006/relationships/image" Target="../media/image234.png"/><Relationship Id="rId134" Type="http://schemas.openxmlformats.org/officeDocument/2006/relationships/image" Target="../media/image255.png"/><Relationship Id="rId320" Type="http://schemas.openxmlformats.org/officeDocument/2006/relationships/image" Target="../media/image441.png"/><Relationship Id="rId80" Type="http://schemas.openxmlformats.org/officeDocument/2006/relationships/image" Target="../media/image201.png"/><Relationship Id="rId155" Type="http://schemas.openxmlformats.org/officeDocument/2006/relationships/image" Target="../media/image276.png"/><Relationship Id="rId176" Type="http://schemas.openxmlformats.org/officeDocument/2006/relationships/image" Target="../media/image297.png"/><Relationship Id="rId197" Type="http://schemas.openxmlformats.org/officeDocument/2006/relationships/image" Target="../media/image318.png"/><Relationship Id="rId341" Type="http://schemas.openxmlformats.org/officeDocument/2006/relationships/image" Target="../media/image462.png"/><Relationship Id="rId362" Type="http://schemas.openxmlformats.org/officeDocument/2006/relationships/image" Target="../media/image483.png"/><Relationship Id="rId383" Type="http://schemas.openxmlformats.org/officeDocument/2006/relationships/image" Target="../media/image504.png"/><Relationship Id="rId201" Type="http://schemas.openxmlformats.org/officeDocument/2006/relationships/image" Target="../media/image322.png"/><Relationship Id="rId222" Type="http://schemas.openxmlformats.org/officeDocument/2006/relationships/image" Target="../media/image343.png"/><Relationship Id="rId243" Type="http://schemas.openxmlformats.org/officeDocument/2006/relationships/image" Target="../media/image364.png"/><Relationship Id="rId264" Type="http://schemas.openxmlformats.org/officeDocument/2006/relationships/image" Target="../media/image385.png"/><Relationship Id="rId285" Type="http://schemas.openxmlformats.org/officeDocument/2006/relationships/image" Target="../media/image406.png"/><Relationship Id="rId17" Type="http://schemas.openxmlformats.org/officeDocument/2006/relationships/image" Target="../media/image138.png"/><Relationship Id="rId38" Type="http://schemas.openxmlformats.org/officeDocument/2006/relationships/image" Target="../media/image159.png"/><Relationship Id="rId59" Type="http://schemas.openxmlformats.org/officeDocument/2006/relationships/image" Target="../media/image180.png"/><Relationship Id="rId103" Type="http://schemas.openxmlformats.org/officeDocument/2006/relationships/image" Target="../media/image224.png"/><Relationship Id="rId124" Type="http://schemas.openxmlformats.org/officeDocument/2006/relationships/image" Target="../media/image245.png"/><Relationship Id="rId310" Type="http://schemas.openxmlformats.org/officeDocument/2006/relationships/image" Target="../media/image431.png"/><Relationship Id="rId70" Type="http://schemas.openxmlformats.org/officeDocument/2006/relationships/image" Target="../media/image191.png"/><Relationship Id="rId91" Type="http://schemas.openxmlformats.org/officeDocument/2006/relationships/image" Target="../media/image212.png"/><Relationship Id="rId145" Type="http://schemas.openxmlformats.org/officeDocument/2006/relationships/image" Target="../media/image266.png"/><Relationship Id="rId166" Type="http://schemas.openxmlformats.org/officeDocument/2006/relationships/image" Target="../media/image287.png"/><Relationship Id="rId187" Type="http://schemas.openxmlformats.org/officeDocument/2006/relationships/image" Target="../media/image308.png"/><Relationship Id="rId331" Type="http://schemas.openxmlformats.org/officeDocument/2006/relationships/image" Target="../media/image452.png"/><Relationship Id="rId352" Type="http://schemas.openxmlformats.org/officeDocument/2006/relationships/image" Target="../media/image473.png"/><Relationship Id="rId373" Type="http://schemas.openxmlformats.org/officeDocument/2006/relationships/image" Target="../media/image494.png"/><Relationship Id="rId394" Type="http://schemas.openxmlformats.org/officeDocument/2006/relationships/image" Target="../media/image515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333.png"/><Relationship Id="rId233" Type="http://schemas.openxmlformats.org/officeDocument/2006/relationships/image" Target="../media/image354.png"/><Relationship Id="rId254" Type="http://schemas.openxmlformats.org/officeDocument/2006/relationships/image" Target="../media/image375.png"/><Relationship Id="rId28" Type="http://schemas.openxmlformats.org/officeDocument/2006/relationships/image" Target="../media/image149.png"/><Relationship Id="rId49" Type="http://schemas.openxmlformats.org/officeDocument/2006/relationships/image" Target="../media/image170.png"/><Relationship Id="rId114" Type="http://schemas.openxmlformats.org/officeDocument/2006/relationships/image" Target="../media/image235.png"/><Relationship Id="rId275" Type="http://schemas.openxmlformats.org/officeDocument/2006/relationships/image" Target="../media/image396.png"/><Relationship Id="rId296" Type="http://schemas.openxmlformats.org/officeDocument/2006/relationships/image" Target="../media/image417.png"/><Relationship Id="rId300" Type="http://schemas.openxmlformats.org/officeDocument/2006/relationships/image" Target="../media/image421.png"/><Relationship Id="rId60" Type="http://schemas.openxmlformats.org/officeDocument/2006/relationships/image" Target="../media/image181.png"/><Relationship Id="rId81" Type="http://schemas.openxmlformats.org/officeDocument/2006/relationships/image" Target="../media/image202.png"/><Relationship Id="rId135" Type="http://schemas.openxmlformats.org/officeDocument/2006/relationships/image" Target="../media/image256.png"/><Relationship Id="rId156" Type="http://schemas.openxmlformats.org/officeDocument/2006/relationships/image" Target="../media/image277.png"/><Relationship Id="rId177" Type="http://schemas.openxmlformats.org/officeDocument/2006/relationships/image" Target="../media/image298.png"/><Relationship Id="rId198" Type="http://schemas.openxmlformats.org/officeDocument/2006/relationships/image" Target="../media/image319.png"/><Relationship Id="rId321" Type="http://schemas.openxmlformats.org/officeDocument/2006/relationships/image" Target="../media/image442.png"/><Relationship Id="rId342" Type="http://schemas.openxmlformats.org/officeDocument/2006/relationships/image" Target="../media/image463.png"/><Relationship Id="rId363" Type="http://schemas.openxmlformats.org/officeDocument/2006/relationships/image" Target="../media/image484.png"/><Relationship Id="rId384" Type="http://schemas.openxmlformats.org/officeDocument/2006/relationships/image" Target="../media/image505.png"/><Relationship Id="rId202" Type="http://schemas.openxmlformats.org/officeDocument/2006/relationships/image" Target="../media/image323.png"/><Relationship Id="rId223" Type="http://schemas.openxmlformats.org/officeDocument/2006/relationships/image" Target="../media/image344.png"/><Relationship Id="rId244" Type="http://schemas.openxmlformats.org/officeDocument/2006/relationships/image" Target="../media/image365.png"/><Relationship Id="rId18" Type="http://schemas.openxmlformats.org/officeDocument/2006/relationships/image" Target="../media/image139.png"/><Relationship Id="rId39" Type="http://schemas.openxmlformats.org/officeDocument/2006/relationships/image" Target="../media/image160.png"/><Relationship Id="rId265" Type="http://schemas.openxmlformats.org/officeDocument/2006/relationships/image" Target="../media/image386.png"/><Relationship Id="rId286" Type="http://schemas.openxmlformats.org/officeDocument/2006/relationships/image" Target="../media/image407.png"/><Relationship Id="rId50" Type="http://schemas.openxmlformats.org/officeDocument/2006/relationships/image" Target="../media/image171.png"/><Relationship Id="rId104" Type="http://schemas.openxmlformats.org/officeDocument/2006/relationships/image" Target="../media/image225.png"/><Relationship Id="rId125" Type="http://schemas.openxmlformats.org/officeDocument/2006/relationships/image" Target="../media/image246.png"/><Relationship Id="rId146" Type="http://schemas.openxmlformats.org/officeDocument/2006/relationships/image" Target="../media/image267.png"/><Relationship Id="rId167" Type="http://schemas.openxmlformats.org/officeDocument/2006/relationships/image" Target="../media/image288.png"/><Relationship Id="rId188" Type="http://schemas.openxmlformats.org/officeDocument/2006/relationships/image" Target="../media/image309.png"/><Relationship Id="rId311" Type="http://schemas.openxmlformats.org/officeDocument/2006/relationships/image" Target="../media/image432.png"/><Relationship Id="rId332" Type="http://schemas.openxmlformats.org/officeDocument/2006/relationships/image" Target="../media/image453.png"/><Relationship Id="rId353" Type="http://schemas.openxmlformats.org/officeDocument/2006/relationships/image" Target="../media/image474.png"/><Relationship Id="rId374" Type="http://schemas.openxmlformats.org/officeDocument/2006/relationships/image" Target="../media/image495.png"/><Relationship Id="rId395" Type="http://schemas.openxmlformats.org/officeDocument/2006/relationships/image" Target="../media/image516.png"/><Relationship Id="rId71" Type="http://schemas.openxmlformats.org/officeDocument/2006/relationships/image" Target="../media/image192.png"/><Relationship Id="rId92" Type="http://schemas.openxmlformats.org/officeDocument/2006/relationships/image" Target="../media/image213.png"/><Relationship Id="rId213" Type="http://schemas.openxmlformats.org/officeDocument/2006/relationships/image" Target="../media/image334.png"/><Relationship Id="rId234" Type="http://schemas.openxmlformats.org/officeDocument/2006/relationships/image" Target="../media/image355.png"/><Relationship Id="rId2" Type="http://schemas.openxmlformats.org/officeDocument/2006/relationships/image" Target="../media/image123.png"/><Relationship Id="rId29" Type="http://schemas.openxmlformats.org/officeDocument/2006/relationships/image" Target="../media/image150.png"/><Relationship Id="rId255" Type="http://schemas.openxmlformats.org/officeDocument/2006/relationships/image" Target="../media/image376.png"/><Relationship Id="rId276" Type="http://schemas.openxmlformats.org/officeDocument/2006/relationships/image" Target="../media/image397.png"/><Relationship Id="rId297" Type="http://schemas.openxmlformats.org/officeDocument/2006/relationships/image" Target="../media/image418.png"/><Relationship Id="rId40" Type="http://schemas.openxmlformats.org/officeDocument/2006/relationships/image" Target="../media/image161.png"/><Relationship Id="rId115" Type="http://schemas.openxmlformats.org/officeDocument/2006/relationships/image" Target="../media/image236.png"/><Relationship Id="rId136" Type="http://schemas.openxmlformats.org/officeDocument/2006/relationships/image" Target="../media/image257.png"/><Relationship Id="rId157" Type="http://schemas.openxmlformats.org/officeDocument/2006/relationships/image" Target="../media/image278.png"/><Relationship Id="rId178" Type="http://schemas.openxmlformats.org/officeDocument/2006/relationships/image" Target="../media/image299.png"/><Relationship Id="rId301" Type="http://schemas.openxmlformats.org/officeDocument/2006/relationships/image" Target="../media/image422.png"/><Relationship Id="rId322" Type="http://schemas.openxmlformats.org/officeDocument/2006/relationships/image" Target="../media/image443.png"/><Relationship Id="rId343" Type="http://schemas.openxmlformats.org/officeDocument/2006/relationships/image" Target="../media/image464.png"/><Relationship Id="rId364" Type="http://schemas.openxmlformats.org/officeDocument/2006/relationships/image" Target="../media/image485.png"/><Relationship Id="rId61" Type="http://schemas.openxmlformats.org/officeDocument/2006/relationships/image" Target="../media/image182.png"/><Relationship Id="rId82" Type="http://schemas.openxmlformats.org/officeDocument/2006/relationships/image" Target="../media/image203.png"/><Relationship Id="rId199" Type="http://schemas.openxmlformats.org/officeDocument/2006/relationships/image" Target="../media/image320.png"/><Relationship Id="rId203" Type="http://schemas.openxmlformats.org/officeDocument/2006/relationships/image" Target="../media/image324.png"/><Relationship Id="rId385" Type="http://schemas.openxmlformats.org/officeDocument/2006/relationships/image" Target="../media/image506.png"/><Relationship Id="rId19" Type="http://schemas.openxmlformats.org/officeDocument/2006/relationships/image" Target="../media/image140.png"/><Relationship Id="rId224" Type="http://schemas.openxmlformats.org/officeDocument/2006/relationships/image" Target="../media/image345.png"/><Relationship Id="rId245" Type="http://schemas.openxmlformats.org/officeDocument/2006/relationships/image" Target="../media/image366.png"/><Relationship Id="rId266" Type="http://schemas.openxmlformats.org/officeDocument/2006/relationships/image" Target="../media/image387.png"/><Relationship Id="rId287" Type="http://schemas.openxmlformats.org/officeDocument/2006/relationships/image" Target="../media/image408.png"/><Relationship Id="rId30" Type="http://schemas.openxmlformats.org/officeDocument/2006/relationships/image" Target="../media/image151.png"/><Relationship Id="rId105" Type="http://schemas.openxmlformats.org/officeDocument/2006/relationships/image" Target="../media/image226.png"/><Relationship Id="rId126" Type="http://schemas.openxmlformats.org/officeDocument/2006/relationships/image" Target="../media/image247.png"/><Relationship Id="rId147" Type="http://schemas.openxmlformats.org/officeDocument/2006/relationships/image" Target="../media/image268.png"/><Relationship Id="rId168" Type="http://schemas.openxmlformats.org/officeDocument/2006/relationships/image" Target="../media/image289.png"/><Relationship Id="rId312" Type="http://schemas.openxmlformats.org/officeDocument/2006/relationships/image" Target="../media/image433.png"/><Relationship Id="rId333" Type="http://schemas.openxmlformats.org/officeDocument/2006/relationships/image" Target="../media/image454.png"/><Relationship Id="rId354" Type="http://schemas.openxmlformats.org/officeDocument/2006/relationships/image" Target="../media/image475.png"/><Relationship Id="rId51" Type="http://schemas.openxmlformats.org/officeDocument/2006/relationships/image" Target="../media/image172.png"/><Relationship Id="rId72" Type="http://schemas.openxmlformats.org/officeDocument/2006/relationships/image" Target="../media/image193.png"/><Relationship Id="rId93" Type="http://schemas.openxmlformats.org/officeDocument/2006/relationships/image" Target="../media/image214.png"/><Relationship Id="rId189" Type="http://schemas.openxmlformats.org/officeDocument/2006/relationships/image" Target="../media/image310.png"/><Relationship Id="rId375" Type="http://schemas.openxmlformats.org/officeDocument/2006/relationships/image" Target="../media/image496.png"/><Relationship Id="rId396" Type="http://schemas.openxmlformats.org/officeDocument/2006/relationships/image" Target="../media/image517.png"/><Relationship Id="rId3" Type="http://schemas.openxmlformats.org/officeDocument/2006/relationships/image" Target="../media/image124.png"/><Relationship Id="rId214" Type="http://schemas.openxmlformats.org/officeDocument/2006/relationships/image" Target="../media/image335.png"/><Relationship Id="rId235" Type="http://schemas.openxmlformats.org/officeDocument/2006/relationships/image" Target="../media/image356.png"/><Relationship Id="rId256" Type="http://schemas.openxmlformats.org/officeDocument/2006/relationships/image" Target="../media/image377.png"/><Relationship Id="rId277" Type="http://schemas.openxmlformats.org/officeDocument/2006/relationships/image" Target="../media/image398.png"/><Relationship Id="rId298" Type="http://schemas.openxmlformats.org/officeDocument/2006/relationships/image" Target="../media/image419.png"/><Relationship Id="rId400" Type="http://schemas.openxmlformats.org/officeDocument/2006/relationships/image" Target="../media/image521.png"/><Relationship Id="rId116" Type="http://schemas.openxmlformats.org/officeDocument/2006/relationships/image" Target="../media/image237.png"/><Relationship Id="rId137" Type="http://schemas.openxmlformats.org/officeDocument/2006/relationships/image" Target="../media/image258.png"/><Relationship Id="rId158" Type="http://schemas.openxmlformats.org/officeDocument/2006/relationships/image" Target="../media/image279.png"/><Relationship Id="rId302" Type="http://schemas.openxmlformats.org/officeDocument/2006/relationships/image" Target="../media/image423.png"/><Relationship Id="rId323" Type="http://schemas.openxmlformats.org/officeDocument/2006/relationships/image" Target="../media/image444.png"/><Relationship Id="rId344" Type="http://schemas.openxmlformats.org/officeDocument/2006/relationships/image" Target="../media/image465.png"/><Relationship Id="rId20" Type="http://schemas.openxmlformats.org/officeDocument/2006/relationships/image" Target="../media/image141.png"/><Relationship Id="rId41" Type="http://schemas.openxmlformats.org/officeDocument/2006/relationships/image" Target="../media/image162.png"/><Relationship Id="rId62" Type="http://schemas.openxmlformats.org/officeDocument/2006/relationships/image" Target="../media/image183.png"/><Relationship Id="rId83" Type="http://schemas.openxmlformats.org/officeDocument/2006/relationships/image" Target="../media/image204.png"/><Relationship Id="rId179" Type="http://schemas.openxmlformats.org/officeDocument/2006/relationships/image" Target="../media/image300.png"/><Relationship Id="rId365" Type="http://schemas.openxmlformats.org/officeDocument/2006/relationships/image" Target="../media/image486.png"/><Relationship Id="rId386" Type="http://schemas.openxmlformats.org/officeDocument/2006/relationships/image" Target="../media/image507.png"/><Relationship Id="rId190" Type="http://schemas.openxmlformats.org/officeDocument/2006/relationships/image" Target="../media/image311.png"/><Relationship Id="rId204" Type="http://schemas.openxmlformats.org/officeDocument/2006/relationships/image" Target="../media/image325.png"/><Relationship Id="rId225" Type="http://schemas.openxmlformats.org/officeDocument/2006/relationships/image" Target="../media/image346.png"/><Relationship Id="rId246" Type="http://schemas.openxmlformats.org/officeDocument/2006/relationships/image" Target="../media/image367.png"/><Relationship Id="rId267" Type="http://schemas.openxmlformats.org/officeDocument/2006/relationships/image" Target="../media/image388.png"/><Relationship Id="rId288" Type="http://schemas.openxmlformats.org/officeDocument/2006/relationships/image" Target="../media/image409.png"/><Relationship Id="rId106" Type="http://schemas.openxmlformats.org/officeDocument/2006/relationships/image" Target="../media/image227.png"/><Relationship Id="rId127" Type="http://schemas.openxmlformats.org/officeDocument/2006/relationships/image" Target="../media/image248.png"/><Relationship Id="rId313" Type="http://schemas.openxmlformats.org/officeDocument/2006/relationships/image" Target="../media/image434.png"/><Relationship Id="rId10" Type="http://schemas.openxmlformats.org/officeDocument/2006/relationships/image" Target="../media/image131.png"/><Relationship Id="rId31" Type="http://schemas.openxmlformats.org/officeDocument/2006/relationships/image" Target="../media/image152.png"/><Relationship Id="rId52" Type="http://schemas.openxmlformats.org/officeDocument/2006/relationships/image" Target="../media/image173.png"/><Relationship Id="rId73" Type="http://schemas.openxmlformats.org/officeDocument/2006/relationships/image" Target="../media/image194.png"/><Relationship Id="rId94" Type="http://schemas.openxmlformats.org/officeDocument/2006/relationships/image" Target="../media/image215.png"/><Relationship Id="rId148" Type="http://schemas.openxmlformats.org/officeDocument/2006/relationships/image" Target="../media/image269.png"/><Relationship Id="rId169" Type="http://schemas.openxmlformats.org/officeDocument/2006/relationships/image" Target="../media/image290.png"/><Relationship Id="rId334" Type="http://schemas.openxmlformats.org/officeDocument/2006/relationships/image" Target="../media/image455.png"/><Relationship Id="rId355" Type="http://schemas.openxmlformats.org/officeDocument/2006/relationships/image" Target="../media/image476.png"/><Relationship Id="rId376" Type="http://schemas.openxmlformats.org/officeDocument/2006/relationships/image" Target="../media/image497.png"/><Relationship Id="rId397" Type="http://schemas.openxmlformats.org/officeDocument/2006/relationships/image" Target="../media/image518.png"/><Relationship Id="rId4" Type="http://schemas.openxmlformats.org/officeDocument/2006/relationships/image" Target="../media/image125.png"/><Relationship Id="rId180" Type="http://schemas.openxmlformats.org/officeDocument/2006/relationships/image" Target="../media/image301.png"/><Relationship Id="rId215" Type="http://schemas.openxmlformats.org/officeDocument/2006/relationships/image" Target="../media/image336.png"/><Relationship Id="rId236" Type="http://schemas.openxmlformats.org/officeDocument/2006/relationships/image" Target="../media/image357.png"/><Relationship Id="rId257" Type="http://schemas.openxmlformats.org/officeDocument/2006/relationships/image" Target="../media/image378.png"/><Relationship Id="rId278" Type="http://schemas.openxmlformats.org/officeDocument/2006/relationships/image" Target="../media/image399.png"/><Relationship Id="rId401" Type="http://schemas.openxmlformats.org/officeDocument/2006/relationships/image" Target="../media/image522.png"/><Relationship Id="rId303" Type="http://schemas.openxmlformats.org/officeDocument/2006/relationships/image" Target="../media/image424.png"/><Relationship Id="rId42" Type="http://schemas.openxmlformats.org/officeDocument/2006/relationships/image" Target="../media/image163.png"/><Relationship Id="rId84" Type="http://schemas.openxmlformats.org/officeDocument/2006/relationships/image" Target="../media/image205.png"/><Relationship Id="rId138" Type="http://schemas.openxmlformats.org/officeDocument/2006/relationships/image" Target="../media/image259.png"/><Relationship Id="rId345" Type="http://schemas.openxmlformats.org/officeDocument/2006/relationships/image" Target="../media/image466.png"/><Relationship Id="rId387" Type="http://schemas.openxmlformats.org/officeDocument/2006/relationships/image" Target="../media/image508.png"/><Relationship Id="rId191" Type="http://schemas.openxmlformats.org/officeDocument/2006/relationships/image" Target="../media/image312.png"/><Relationship Id="rId205" Type="http://schemas.openxmlformats.org/officeDocument/2006/relationships/image" Target="../media/image326.png"/><Relationship Id="rId247" Type="http://schemas.openxmlformats.org/officeDocument/2006/relationships/image" Target="../media/image368.png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35.png"/><Relationship Id="rId18" Type="http://schemas.openxmlformats.org/officeDocument/2006/relationships/image" Target="../media/image540.png"/><Relationship Id="rId26" Type="http://schemas.openxmlformats.org/officeDocument/2006/relationships/image" Target="../media/image548.png"/><Relationship Id="rId39" Type="http://schemas.openxmlformats.org/officeDocument/2006/relationships/image" Target="../media/image561.png"/><Relationship Id="rId21" Type="http://schemas.openxmlformats.org/officeDocument/2006/relationships/image" Target="../media/image543.png"/><Relationship Id="rId34" Type="http://schemas.openxmlformats.org/officeDocument/2006/relationships/image" Target="../media/image556.png"/><Relationship Id="rId42" Type="http://schemas.openxmlformats.org/officeDocument/2006/relationships/image" Target="../media/image564.png"/><Relationship Id="rId47" Type="http://schemas.openxmlformats.org/officeDocument/2006/relationships/image" Target="../media/image569.png"/><Relationship Id="rId50" Type="http://schemas.openxmlformats.org/officeDocument/2006/relationships/image" Target="../media/image572.png"/><Relationship Id="rId55" Type="http://schemas.openxmlformats.org/officeDocument/2006/relationships/image" Target="../media/image577.png"/><Relationship Id="rId63" Type="http://schemas.openxmlformats.org/officeDocument/2006/relationships/image" Target="../media/image585.png"/><Relationship Id="rId7" Type="http://schemas.openxmlformats.org/officeDocument/2006/relationships/image" Target="../media/image529.png"/><Relationship Id="rId2" Type="http://schemas.openxmlformats.org/officeDocument/2006/relationships/image" Target="../media/image524.png"/><Relationship Id="rId16" Type="http://schemas.openxmlformats.org/officeDocument/2006/relationships/image" Target="../media/image538.png"/><Relationship Id="rId20" Type="http://schemas.openxmlformats.org/officeDocument/2006/relationships/image" Target="../media/image542.png"/><Relationship Id="rId29" Type="http://schemas.openxmlformats.org/officeDocument/2006/relationships/image" Target="../media/image551.png"/><Relationship Id="rId41" Type="http://schemas.openxmlformats.org/officeDocument/2006/relationships/image" Target="../media/image563.png"/><Relationship Id="rId54" Type="http://schemas.openxmlformats.org/officeDocument/2006/relationships/image" Target="../media/image576.png"/><Relationship Id="rId62" Type="http://schemas.openxmlformats.org/officeDocument/2006/relationships/image" Target="../media/image5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8.png"/><Relationship Id="rId11" Type="http://schemas.openxmlformats.org/officeDocument/2006/relationships/image" Target="../media/image533.png"/><Relationship Id="rId24" Type="http://schemas.openxmlformats.org/officeDocument/2006/relationships/image" Target="../media/image546.png"/><Relationship Id="rId32" Type="http://schemas.openxmlformats.org/officeDocument/2006/relationships/image" Target="../media/image554.png"/><Relationship Id="rId37" Type="http://schemas.openxmlformats.org/officeDocument/2006/relationships/image" Target="../media/image559.png"/><Relationship Id="rId40" Type="http://schemas.openxmlformats.org/officeDocument/2006/relationships/image" Target="../media/image562.png"/><Relationship Id="rId45" Type="http://schemas.openxmlformats.org/officeDocument/2006/relationships/image" Target="../media/image567.png"/><Relationship Id="rId53" Type="http://schemas.openxmlformats.org/officeDocument/2006/relationships/image" Target="../media/image575.png"/><Relationship Id="rId58" Type="http://schemas.openxmlformats.org/officeDocument/2006/relationships/image" Target="../media/image580.png"/><Relationship Id="rId5" Type="http://schemas.openxmlformats.org/officeDocument/2006/relationships/image" Target="../media/image527.png"/><Relationship Id="rId15" Type="http://schemas.openxmlformats.org/officeDocument/2006/relationships/image" Target="../media/image537.png"/><Relationship Id="rId23" Type="http://schemas.openxmlformats.org/officeDocument/2006/relationships/image" Target="../media/image545.png"/><Relationship Id="rId28" Type="http://schemas.openxmlformats.org/officeDocument/2006/relationships/image" Target="../media/image550.png"/><Relationship Id="rId36" Type="http://schemas.openxmlformats.org/officeDocument/2006/relationships/image" Target="../media/image558.png"/><Relationship Id="rId49" Type="http://schemas.openxmlformats.org/officeDocument/2006/relationships/image" Target="../media/image571.png"/><Relationship Id="rId57" Type="http://schemas.openxmlformats.org/officeDocument/2006/relationships/image" Target="../media/image579.png"/><Relationship Id="rId61" Type="http://schemas.openxmlformats.org/officeDocument/2006/relationships/image" Target="../media/image583.png"/><Relationship Id="rId10" Type="http://schemas.openxmlformats.org/officeDocument/2006/relationships/image" Target="../media/image532.png"/><Relationship Id="rId19" Type="http://schemas.openxmlformats.org/officeDocument/2006/relationships/image" Target="../media/image541.png"/><Relationship Id="rId31" Type="http://schemas.openxmlformats.org/officeDocument/2006/relationships/image" Target="../media/image553.png"/><Relationship Id="rId44" Type="http://schemas.openxmlformats.org/officeDocument/2006/relationships/image" Target="../media/image566.png"/><Relationship Id="rId52" Type="http://schemas.openxmlformats.org/officeDocument/2006/relationships/image" Target="../media/image574.png"/><Relationship Id="rId60" Type="http://schemas.openxmlformats.org/officeDocument/2006/relationships/image" Target="../media/image582.png"/><Relationship Id="rId4" Type="http://schemas.openxmlformats.org/officeDocument/2006/relationships/image" Target="../media/image526.png"/><Relationship Id="rId9" Type="http://schemas.openxmlformats.org/officeDocument/2006/relationships/image" Target="../media/image531.png"/><Relationship Id="rId14" Type="http://schemas.openxmlformats.org/officeDocument/2006/relationships/image" Target="../media/image536.png"/><Relationship Id="rId22" Type="http://schemas.openxmlformats.org/officeDocument/2006/relationships/image" Target="../media/image544.png"/><Relationship Id="rId27" Type="http://schemas.openxmlformats.org/officeDocument/2006/relationships/image" Target="../media/image549.png"/><Relationship Id="rId30" Type="http://schemas.openxmlformats.org/officeDocument/2006/relationships/image" Target="../media/image552.png"/><Relationship Id="rId35" Type="http://schemas.openxmlformats.org/officeDocument/2006/relationships/image" Target="../media/image557.png"/><Relationship Id="rId43" Type="http://schemas.openxmlformats.org/officeDocument/2006/relationships/image" Target="../media/image565.png"/><Relationship Id="rId48" Type="http://schemas.openxmlformats.org/officeDocument/2006/relationships/image" Target="../media/image570.png"/><Relationship Id="rId56" Type="http://schemas.openxmlformats.org/officeDocument/2006/relationships/image" Target="../media/image578.png"/><Relationship Id="rId8" Type="http://schemas.openxmlformats.org/officeDocument/2006/relationships/image" Target="../media/image530.png"/><Relationship Id="rId51" Type="http://schemas.openxmlformats.org/officeDocument/2006/relationships/image" Target="../media/image573.png"/><Relationship Id="rId3" Type="http://schemas.openxmlformats.org/officeDocument/2006/relationships/image" Target="../media/image525.png"/><Relationship Id="rId12" Type="http://schemas.openxmlformats.org/officeDocument/2006/relationships/image" Target="../media/image534.png"/><Relationship Id="rId17" Type="http://schemas.openxmlformats.org/officeDocument/2006/relationships/image" Target="../media/image539.png"/><Relationship Id="rId25" Type="http://schemas.openxmlformats.org/officeDocument/2006/relationships/image" Target="../media/image547.png"/><Relationship Id="rId33" Type="http://schemas.openxmlformats.org/officeDocument/2006/relationships/image" Target="../media/image555.png"/><Relationship Id="rId38" Type="http://schemas.openxmlformats.org/officeDocument/2006/relationships/image" Target="../media/image560.png"/><Relationship Id="rId46" Type="http://schemas.openxmlformats.org/officeDocument/2006/relationships/image" Target="../media/image568.png"/><Relationship Id="rId59" Type="http://schemas.openxmlformats.org/officeDocument/2006/relationships/image" Target="../media/image581.png"/></Relationships>
</file>

<file path=ppt/slides/_rels/slide4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01.png"/><Relationship Id="rId21" Type="http://schemas.openxmlformats.org/officeDocument/2006/relationships/image" Target="../media/image605.png"/><Relationship Id="rId42" Type="http://schemas.openxmlformats.org/officeDocument/2006/relationships/image" Target="../media/image626.png"/><Relationship Id="rId63" Type="http://schemas.openxmlformats.org/officeDocument/2006/relationships/image" Target="../media/image647.png"/><Relationship Id="rId84" Type="http://schemas.openxmlformats.org/officeDocument/2006/relationships/image" Target="../media/image668.png"/><Relationship Id="rId138" Type="http://schemas.openxmlformats.org/officeDocument/2006/relationships/image" Target="../media/image722.png"/><Relationship Id="rId159" Type="http://schemas.openxmlformats.org/officeDocument/2006/relationships/image" Target="../media/image743.png"/><Relationship Id="rId170" Type="http://schemas.openxmlformats.org/officeDocument/2006/relationships/image" Target="../media/image754.png"/><Relationship Id="rId191" Type="http://schemas.openxmlformats.org/officeDocument/2006/relationships/image" Target="../media/image775.png"/><Relationship Id="rId196" Type="http://schemas.openxmlformats.org/officeDocument/2006/relationships/image" Target="../media/image780.png"/><Relationship Id="rId200" Type="http://schemas.openxmlformats.org/officeDocument/2006/relationships/image" Target="../media/image784.png"/><Relationship Id="rId16" Type="http://schemas.openxmlformats.org/officeDocument/2006/relationships/image" Target="../media/image600.png"/><Relationship Id="rId107" Type="http://schemas.openxmlformats.org/officeDocument/2006/relationships/image" Target="../media/image691.png"/><Relationship Id="rId11" Type="http://schemas.openxmlformats.org/officeDocument/2006/relationships/image" Target="../media/image595.png"/><Relationship Id="rId32" Type="http://schemas.openxmlformats.org/officeDocument/2006/relationships/image" Target="../media/image616.png"/><Relationship Id="rId37" Type="http://schemas.openxmlformats.org/officeDocument/2006/relationships/image" Target="../media/image621.png"/><Relationship Id="rId53" Type="http://schemas.openxmlformats.org/officeDocument/2006/relationships/image" Target="../media/image637.png"/><Relationship Id="rId58" Type="http://schemas.openxmlformats.org/officeDocument/2006/relationships/image" Target="../media/image642.png"/><Relationship Id="rId74" Type="http://schemas.openxmlformats.org/officeDocument/2006/relationships/image" Target="../media/image658.png"/><Relationship Id="rId79" Type="http://schemas.openxmlformats.org/officeDocument/2006/relationships/image" Target="../media/image663.png"/><Relationship Id="rId102" Type="http://schemas.openxmlformats.org/officeDocument/2006/relationships/image" Target="../media/image686.png"/><Relationship Id="rId123" Type="http://schemas.openxmlformats.org/officeDocument/2006/relationships/image" Target="../media/image707.png"/><Relationship Id="rId128" Type="http://schemas.openxmlformats.org/officeDocument/2006/relationships/image" Target="../media/image712.png"/><Relationship Id="rId144" Type="http://schemas.openxmlformats.org/officeDocument/2006/relationships/image" Target="../media/image728.png"/><Relationship Id="rId149" Type="http://schemas.openxmlformats.org/officeDocument/2006/relationships/image" Target="../media/image733.png"/><Relationship Id="rId5" Type="http://schemas.openxmlformats.org/officeDocument/2006/relationships/image" Target="../media/image589.png"/><Relationship Id="rId90" Type="http://schemas.openxmlformats.org/officeDocument/2006/relationships/image" Target="../media/image674.png"/><Relationship Id="rId95" Type="http://schemas.openxmlformats.org/officeDocument/2006/relationships/image" Target="../media/image679.png"/><Relationship Id="rId160" Type="http://schemas.openxmlformats.org/officeDocument/2006/relationships/image" Target="../media/image744.png"/><Relationship Id="rId165" Type="http://schemas.openxmlformats.org/officeDocument/2006/relationships/image" Target="../media/image749.png"/><Relationship Id="rId181" Type="http://schemas.openxmlformats.org/officeDocument/2006/relationships/image" Target="../media/image765.png"/><Relationship Id="rId186" Type="http://schemas.openxmlformats.org/officeDocument/2006/relationships/image" Target="../media/image770.png"/><Relationship Id="rId22" Type="http://schemas.openxmlformats.org/officeDocument/2006/relationships/image" Target="../media/image606.png"/><Relationship Id="rId27" Type="http://schemas.openxmlformats.org/officeDocument/2006/relationships/image" Target="../media/image611.png"/><Relationship Id="rId43" Type="http://schemas.openxmlformats.org/officeDocument/2006/relationships/image" Target="../media/image627.png"/><Relationship Id="rId48" Type="http://schemas.openxmlformats.org/officeDocument/2006/relationships/image" Target="../media/image632.png"/><Relationship Id="rId64" Type="http://schemas.openxmlformats.org/officeDocument/2006/relationships/image" Target="../media/image648.png"/><Relationship Id="rId69" Type="http://schemas.openxmlformats.org/officeDocument/2006/relationships/image" Target="../media/image653.png"/><Relationship Id="rId113" Type="http://schemas.openxmlformats.org/officeDocument/2006/relationships/image" Target="../media/image697.png"/><Relationship Id="rId118" Type="http://schemas.openxmlformats.org/officeDocument/2006/relationships/image" Target="../media/image702.png"/><Relationship Id="rId134" Type="http://schemas.openxmlformats.org/officeDocument/2006/relationships/image" Target="../media/image718.png"/><Relationship Id="rId139" Type="http://schemas.openxmlformats.org/officeDocument/2006/relationships/image" Target="../media/image723.png"/><Relationship Id="rId80" Type="http://schemas.openxmlformats.org/officeDocument/2006/relationships/image" Target="../media/image664.png"/><Relationship Id="rId85" Type="http://schemas.openxmlformats.org/officeDocument/2006/relationships/image" Target="../media/image669.png"/><Relationship Id="rId150" Type="http://schemas.openxmlformats.org/officeDocument/2006/relationships/image" Target="../media/image734.png"/><Relationship Id="rId155" Type="http://schemas.openxmlformats.org/officeDocument/2006/relationships/image" Target="../media/image739.png"/><Relationship Id="rId171" Type="http://schemas.openxmlformats.org/officeDocument/2006/relationships/image" Target="../media/image755.png"/><Relationship Id="rId176" Type="http://schemas.openxmlformats.org/officeDocument/2006/relationships/image" Target="../media/image760.png"/><Relationship Id="rId192" Type="http://schemas.openxmlformats.org/officeDocument/2006/relationships/image" Target="../media/image776.png"/><Relationship Id="rId197" Type="http://schemas.openxmlformats.org/officeDocument/2006/relationships/image" Target="../media/image781.png"/><Relationship Id="rId201" Type="http://schemas.openxmlformats.org/officeDocument/2006/relationships/image" Target="../media/image785.png"/><Relationship Id="rId12" Type="http://schemas.openxmlformats.org/officeDocument/2006/relationships/image" Target="../media/image596.png"/><Relationship Id="rId17" Type="http://schemas.openxmlformats.org/officeDocument/2006/relationships/image" Target="../media/image601.png"/><Relationship Id="rId33" Type="http://schemas.openxmlformats.org/officeDocument/2006/relationships/image" Target="../media/image617.png"/><Relationship Id="rId38" Type="http://schemas.openxmlformats.org/officeDocument/2006/relationships/image" Target="../media/image622.png"/><Relationship Id="rId59" Type="http://schemas.openxmlformats.org/officeDocument/2006/relationships/image" Target="../media/image643.png"/><Relationship Id="rId103" Type="http://schemas.openxmlformats.org/officeDocument/2006/relationships/image" Target="../media/image687.png"/><Relationship Id="rId108" Type="http://schemas.openxmlformats.org/officeDocument/2006/relationships/image" Target="../media/image692.png"/><Relationship Id="rId124" Type="http://schemas.openxmlformats.org/officeDocument/2006/relationships/image" Target="../media/image708.png"/><Relationship Id="rId129" Type="http://schemas.openxmlformats.org/officeDocument/2006/relationships/image" Target="../media/image713.png"/><Relationship Id="rId54" Type="http://schemas.openxmlformats.org/officeDocument/2006/relationships/image" Target="../media/image638.png"/><Relationship Id="rId70" Type="http://schemas.openxmlformats.org/officeDocument/2006/relationships/image" Target="../media/image654.png"/><Relationship Id="rId75" Type="http://schemas.openxmlformats.org/officeDocument/2006/relationships/image" Target="../media/image659.png"/><Relationship Id="rId91" Type="http://schemas.openxmlformats.org/officeDocument/2006/relationships/image" Target="../media/image675.png"/><Relationship Id="rId96" Type="http://schemas.openxmlformats.org/officeDocument/2006/relationships/image" Target="../media/image680.png"/><Relationship Id="rId140" Type="http://schemas.openxmlformats.org/officeDocument/2006/relationships/image" Target="../media/image724.png"/><Relationship Id="rId145" Type="http://schemas.openxmlformats.org/officeDocument/2006/relationships/image" Target="../media/image729.png"/><Relationship Id="rId161" Type="http://schemas.openxmlformats.org/officeDocument/2006/relationships/image" Target="../media/image745.png"/><Relationship Id="rId166" Type="http://schemas.openxmlformats.org/officeDocument/2006/relationships/image" Target="../media/image750.png"/><Relationship Id="rId182" Type="http://schemas.openxmlformats.org/officeDocument/2006/relationships/image" Target="../media/image766.png"/><Relationship Id="rId187" Type="http://schemas.openxmlformats.org/officeDocument/2006/relationships/image" Target="../media/image7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0.png"/><Relationship Id="rId23" Type="http://schemas.openxmlformats.org/officeDocument/2006/relationships/image" Target="../media/image607.png"/><Relationship Id="rId28" Type="http://schemas.openxmlformats.org/officeDocument/2006/relationships/image" Target="../media/image612.png"/><Relationship Id="rId49" Type="http://schemas.openxmlformats.org/officeDocument/2006/relationships/image" Target="../media/image633.png"/><Relationship Id="rId114" Type="http://schemas.openxmlformats.org/officeDocument/2006/relationships/image" Target="../media/image698.png"/><Relationship Id="rId119" Type="http://schemas.openxmlformats.org/officeDocument/2006/relationships/image" Target="../media/image703.png"/><Relationship Id="rId44" Type="http://schemas.openxmlformats.org/officeDocument/2006/relationships/image" Target="../media/image628.png"/><Relationship Id="rId60" Type="http://schemas.openxmlformats.org/officeDocument/2006/relationships/image" Target="../media/image644.png"/><Relationship Id="rId65" Type="http://schemas.openxmlformats.org/officeDocument/2006/relationships/image" Target="../media/image649.png"/><Relationship Id="rId81" Type="http://schemas.openxmlformats.org/officeDocument/2006/relationships/image" Target="../media/image665.png"/><Relationship Id="rId86" Type="http://schemas.openxmlformats.org/officeDocument/2006/relationships/image" Target="../media/image670.png"/><Relationship Id="rId130" Type="http://schemas.openxmlformats.org/officeDocument/2006/relationships/image" Target="../media/image714.png"/><Relationship Id="rId135" Type="http://schemas.openxmlformats.org/officeDocument/2006/relationships/image" Target="../media/image719.png"/><Relationship Id="rId151" Type="http://schemas.openxmlformats.org/officeDocument/2006/relationships/image" Target="../media/image735.png"/><Relationship Id="rId156" Type="http://schemas.openxmlformats.org/officeDocument/2006/relationships/image" Target="../media/image740.png"/><Relationship Id="rId177" Type="http://schemas.openxmlformats.org/officeDocument/2006/relationships/image" Target="../media/image761.png"/><Relationship Id="rId198" Type="http://schemas.openxmlformats.org/officeDocument/2006/relationships/image" Target="../media/image782.png"/><Relationship Id="rId172" Type="http://schemas.openxmlformats.org/officeDocument/2006/relationships/image" Target="../media/image756.png"/><Relationship Id="rId193" Type="http://schemas.openxmlformats.org/officeDocument/2006/relationships/image" Target="../media/image777.png"/><Relationship Id="rId13" Type="http://schemas.openxmlformats.org/officeDocument/2006/relationships/image" Target="../media/image597.png"/><Relationship Id="rId18" Type="http://schemas.openxmlformats.org/officeDocument/2006/relationships/image" Target="../media/image602.png"/><Relationship Id="rId39" Type="http://schemas.openxmlformats.org/officeDocument/2006/relationships/image" Target="../media/image623.png"/><Relationship Id="rId109" Type="http://schemas.openxmlformats.org/officeDocument/2006/relationships/image" Target="../media/image693.png"/><Relationship Id="rId34" Type="http://schemas.openxmlformats.org/officeDocument/2006/relationships/image" Target="../media/image618.png"/><Relationship Id="rId50" Type="http://schemas.openxmlformats.org/officeDocument/2006/relationships/image" Target="../media/image634.png"/><Relationship Id="rId55" Type="http://schemas.openxmlformats.org/officeDocument/2006/relationships/image" Target="../media/image639.png"/><Relationship Id="rId76" Type="http://schemas.openxmlformats.org/officeDocument/2006/relationships/image" Target="../media/image660.png"/><Relationship Id="rId97" Type="http://schemas.openxmlformats.org/officeDocument/2006/relationships/image" Target="../media/image681.png"/><Relationship Id="rId104" Type="http://schemas.openxmlformats.org/officeDocument/2006/relationships/image" Target="../media/image688.png"/><Relationship Id="rId120" Type="http://schemas.openxmlformats.org/officeDocument/2006/relationships/image" Target="../media/image704.png"/><Relationship Id="rId125" Type="http://schemas.openxmlformats.org/officeDocument/2006/relationships/image" Target="../media/image709.png"/><Relationship Id="rId141" Type="http://schemas.openxmlformats.org/officeDocument/2006/relationships/image" Target="../media/image725.png"/><Relationship Id="rId146" Type="http://schemas.openxmlformats.org/officeDocument/2006/relationships/image" Target="../media/image730.png"/><Relationship Id="rId167" Type="http://schemas.openxmlformats.org/officeDocument/2006/relationships/image" Target="../media/image751.png"/><Relationship Id="rId188" Type="http://schemas.openxmlformats.org/officeDocument/2006/relationships/image" Target="../media/image772.png"/><Relationship Id="rId7" Type="http://schemas.openxmlformats.org/officeDocument/2006/relationships/image" Target="../media/image591.png"/><Relationship Id="rId71" Type="http://schemas.openxmlformats.org/officeDocument/2006/relationships/image" Target="../media/image655.png"/><Relationship Id="rId92" Type="http://schemas.openxmlformats.org/officeDocument/2006/relationships/image" Target="../media/image676.png"/><Relationship Id="rId162" Type="http://schemas.openxmlformats.org/officeDocument/2006/relationships/image" Target="../media/image746.png"/><Relationship Id="rId183" Type="http://schemas.openxmlformats.org/officeDocument/2006/relationships/image" Target="../media/image767.png"/><Relationship Id="rId2" Type="http://schemas.openxmlformats.org/officeDocument/2006/relationships/image" Target="../media/image586.png"/><Relationship Id="rId29" Type="http://schemas.openxmlformats.org/officeDocument/2006/relationships/image" Target="../media/image613.png"/><Relationship Id="rId24" Type="http://schemas.openxmlformats.org/officeDocument/2006/relationships/image" Target="../media/image608.png"/><Relationship Id="rId40" Type="http://schemas.openxmlformats.org/officeDocument/2006/relationships/image" Target="../media/image624.png"/><Relationship Id="rId45" Type="http://schemas.openxmlformats.org/officeDocument/2006/relationships/image" Target="../media/image629.png"/><Relationship Id="rId66" Type="http://schemas.openxmlformats.org/officeDocument/2006/relationships/image" Target="../media/image650.png"/><Relationship Id="rId87" Type="http://schemas.openxmlformats.org/officeDocument/2006/relationships/image" Target="../media/image671.png"/><Relationship Id="rId110" Type="http://schemas.openxmlformats.org/officeDocument/2006/relationships/image" Target="../media/image694.png"/><Relationship Id="rId115" Type="http://schemas.openxmlformats.org/officeDocument/2006/relationships/image" Target="../media/image699.png"/><Relationship Id="rId131" Type="http://schemas.openxmlformats.org/officeDocument/2006/relationships/image" Target="../media/image715.png"/><Relationship Id="rId136" Type="http://schemas.openxmlformats.org/officeDocument/2006/relationships/image" Target="../media/image720.png"/><Relationship Id="rId157" Type="http://schemas.openxmlformats.org/officeDocument/2006/relationships/image" Target="../media/image741.png"/><Relationship Id="rId178" Type="http://schemas.openxmlformats.org/officeDocument/2006/relationships/image" Target="../media/image762.png"/><Relationship Id="rId61" Type="http://schemas.openxmlformats.org/officeDocument/2006/relationships/image" Target="../media/image645.png"/><Relationship Id="rId82" Type="http://schemas.openxmlformats.org/officeDocument/2006/relationships/image" Target="../media/image666.png"/><Relationship Id="rId152" Type="http://schemas.openxmlformats.org/officeDocument/2006/relationships/image" Target="../media/image736.png"/><Relationship Id="rId173" Type="http://schemas.openxmlformats.org/officeDocument/2006/relationships/image" Target="../media/image757.png"/><Relationship Id="rId194" Type="http://schemas.openxmlformats.org/officeDocument/2006/relationships/image" Target="../media/image778.png"/><Relationship Id="rId199" Type="http://schemas.openxmlformats.org/officeDocument/2006/relationships/image" Target="../media/image783.png"/><Relationship Id="rId19" Type="http://schemas.openxmlformats.org/officeDocument/2006/relationships/image" Target="../media/image603.png"/><Relationship Id="rId14" Type="http://schemas.openxmlformats.org/officeDocument/2006/relationships/image" Target="../media/image598.png"/><Relationship Id="rId30" Type="http://schemas.openxmlformats.org/officeDocument/2006/relationships/image" Target="../media/image614.png"/><Relationship Id="rId35" Type="http://schemas.openxmlformats.org/officeDocument/2006/relationships/image" Target="../media/image619.png"/><Relationship Id="rId56" Type="http://schemas.openxmlformats.org/officeDocument/2006/relationships/image" Target="../media/image640.png"/><Relationship Id="rId77" Type="http://schemas.openxmlformats.org/officeDocument/2006/relationships/image" Target="../media/image661.png"/><Relationship Id="rId100" Type="http://schemas.openxmlformats.org/officeDocument/2006/relationships/image" Target="../media/image684.png"/><Relationship Id="rId105" Type="http://schemas.openxmlformats.org/officeDocument/2006/relationships/image" Target="../media/image689.png"/><Relationship Id="rId126" Type="http://schemas.openxmlformats.org/officeDocument/2006/relationships/image" Target="../media/image710.png"/><Relationship Id="rId147" Type="http://schemas.openxmlformats.org/officeDocument/2006/relationships/image" Target="../media/image731.png"/><Relationship Id="rId168" Type="http://schemas.openxmlformats.org/officeDocument/2006/relationships/image" Target="../media/image752.png"/><Relationship Id="rId8" Type="http://schemas.openxmlformats.org/officeDocument/2006/relationships/image" Target="../media/image592.png"/><Relationship Id="rId51" Type="http://schemas.openxmlformats.org/officeDocument/2006/relationships/image" Target="../media/image635.png"/><Relationship Id="rId72" Type="http://schemas.openxmlformats.org/officeDocument/2006/relationships/image" Target="../media/image656.png"/><Relationship Id="rId93" Type="http://schemas.openxmlformats.org/officeDocument/2006/relationships/image" Target="../media/image677.png"/><Relationship Id="rId98" Type="http://schemas.openxmlformats.org/officeDocument/2006/relationships/image" Target="../media/image682.png"/><Relationship Id="rId121" Type="http://schemas.openxmlformats.org/officeDocument/2006/relationships/image" Target="../media/image705.png"/><Relationship Id="rId142" Type="http://schemas.openxmlformats.org/officeDocument/2006/relationships/image" Target="../media/image726.png"/><Relationship Id="rId163" Type="http://schemas.openxmlformats.org/officeDocument/2006/relationships/image" Target="../media/image747.png"/><Relationship Id="rId184" Type="http://schemas.openxmlformats.org/officeDocument/2006/relationships/image" Target="../media/image768.png"/><Relationship Id="rId189" Type="http://schemas.openxmlformats.org/officeDocument/2006/relationships/image" Target="../media/image773.png"/><Relationship Id="rId3" Type="http://schemas.openxmlformats.org/officeDocument/2006/relationships/image" Target="../media/image587.png"/><Relationship Id="rId25" Type="http://schemas.openxmlformats.org/officeDocument/2006/relationships/image" Target="../media/image609.png"/><Relationship Id="rId46" Type="http://schemas.openxmlformats.org/officeDocument/2006/relationships/image" Target="../media/image630.png"/><Relationship Id="rId67" Type="http://schemas.openxmlformats.org/officeDocument/2006/relationships/image" Target="../media/image651.png"/><Relationship Id="rId116" Type="http://schemas.openxmlformats.org/officeDocument/2006/relationships/image" Target="../media/image700.png"/><Relationship Id="rId137" Type="http://schemas.openxmlformats.org/officeDocument/2006/relationships/image" Target="../media/image721.png"/><Relationship Id="rId158" Type="http://schemas.openxmlformats.org/officeDocument/2006/relationships/image" Target="../media/image742.png"/><Relationship Id="rId20" Type="http://schemas.openxmlformats.org/officeDocument/2006/relationships/image" Target="../media/image604.png"/><Relationship Id="rId41" Type="http://schemas.openxmlformats.org/officeDocument/2006/relationships/image" Target="../media/image625.png"/><Relationship Id="rId62" Type="http://schemas.openxmlformats.org/officeDocument/2006/relationships/image" Target="../media/image646.png"/><Relationship Id="rId83" Type="http://schemas.openxmlformats.org/officeDocument/2006/relationships/image" Target="../media/image667.png"/><Relationship Id="rId88" Type="http://schemas.openxmlformats.org/officeDocument/2006/relationships/image" Target="../media/image672.png"/><Relationship Id="rId111" Type="http://schemas.openxmlformats.org/officeDocument/2006/relationships/image" Target="../media/image695.png"/><Relationship Id="rId132" Type="http://schemas.openxmlformats.org/officeDocument/2006/relationships/image" Target="../media/image716.png"/><Relationship Id="rId153" Type="http://schemas.openxmlformats.org/officeDocument/2006/relationships/image" Target="../media/image737.png"/><Relationship Id="rId174" Type="http://schemas.openxmlformats.org/officeDocument/2006/relationships/image" Target="../media/image758.png"/><Relationship Id="rId179" Type="http://schemas.openxmlformats.org/officeDocument/2006/relationships/image" Target="../media/image763.png"/><Relationship Id="rId195" Type="http://schemas.openxmlformats.org/officeDocument/2006/relationships/image" Target="../media/image779.png"/><Relationship Id="rId190" Type="http://schemas.openxmlformats.org/officeDocument/2006/relationships/image" Target="../media/image774.png"/><Relationship Id="rId15" Type="http://schemas.openxmlformats.org/officeDocument/2006/relationships/image" Target="../media/image599.png"/><Relationship Id="rId36" Type="http://schemas.openxmlformats.org/officeDocument/2006/relationships/image" Target="../media/image620.png"/><Relationship Id="rId57" Type="http://schemas.openxmlformats.org/officeDocument/2006/relationships/image" Target="../media/image641.png"/><Relationship Id="rId106" Type="http://schemas.openxmlformats.org/officeDocument/2006/relationships/image" Target="../media/image690.png"/><Relationship Id="rId127" Type="http://schemas.openxmlformats.org/officeDocument/2006/relationships/image" Target="../media/image711.png"/><Relationship Id="rId10" Type="http://schemas.openxmlformats.org/officeDocument/2006/relationships/image" Target="../media/image594.png"/><Relationship Id="rId31" Type="http://schemas.openxmlformats.org/officeDocument/2006/relationships/image" Target="../media/image615.png"/><Relationship Id="rId52" Type="http://schemas.openxmlformats.org/officeDocument/2006/relationships/image" Target="../media/image636.png"/><Relationship Id="rId73" Type="http://schemas.openxmlformats.org/officeDocument/2006/relationships/image" Target="../media/image657.png"/><Relationship Id="rId78" Type="http://schemas.openxmlformats.org/officeDocument/2006/relationships/image" Target="../media/image662.png"/><Relationship Id="rId94" Type="http://schemas.openxmlformats.org/officeDocument/2006/relationships/image" Target="../media/image678.png"/><Relationship Id="rId99" Type="http://schemas.openxmlformats.org/officeDocument/2006/relationships/image" Target="../media/image683.png"/><Relationship Id="rId101" Type="http://schemas.openxmlformats.org/officeDocument/2006/relationships/image" Target="../media/image685.png"/><Relationship Id="rId122" Type="http://schemas.openxmlformats.org/officeDocument/2006/relationships/image" Target="../media/image706.png"/><Relationship Id="rId143" Type="http://schemas.openxmlformats.org/officeDocument/2006/relationships/image" Target="../media/image727.png"/><Relationship Id="rId148" Type="http://schemas.openxmlformats.org/officeDocument/2006/relationships/image" Target="../media/image732.png"/><Relationship Id="rId164" Type="http://schemas.openxmlformats.org/officeDocument/2006/relationships/image" Target="../media/image748.png"/><Relationship Id="rId169" Type="http://schemas.openxmlformats.org/officeDocument/2006/relationships/image" Target="../media/image753.png"/><Relationship Id="rId185" Type="http://schemas.openxmlformats.org/officeDocument/2006/relationships/image" Target="../media/image769.png"/><Relationship Id="rId4" Type="http://schemas.openxmlformats.org/officeDocument/2006/relationships/image" Target="../media/image588.png"/><Relationship Id="rId9" Type="http://schemas.openxmlformats.org/officeDocument/2006/relationships/image" Target="../media/image593.png"/><Relationship Id="rId180" Type="http://schemas.openxmlformats.org/officeDocument/2006/relationships/image" Target="../media/image764.png"/><Relationship Id="rId26" Type="http://schemas.openxmlformats.org/officeDocument/2006/relationships/image" Target="../media/image610.png"/><Relationship Id="rId47" Type="http://schemas.openxmlformats.org/officeDocument/2006/relationships/image" Target="../media/image631.png"/><Relationship Id="rId68" Type="http://schemas.openxmlformats.org/officeDocument/2006/relationships/image" Target="../media/image652.png"/><Relationship Id="rId89" Type="http://schemas.openxmlformats.org/officeDocument/2006/relationships/image" Target="../media/image673.png"/><Relationship Id="rId112" Type="http://schemas.openxmlformats.org/officeDocument/2006/relationships/image" Target="../media/image696.png"/><Relationship Id="rId133" Type="http://schemas.openxmlformats.org/officeDocument/2006/relationships/image" Target="../media/image717.png"/><Relationship Id="rId154" Type="http://schemas.openxmlformats.org/officeDocument/2006/relationships/image" Target="../media/image738.png"/><Relationship Id="rId175" Type="http://schemas.openxmlformats.org/officeDocument/2006/relationships/image" Target="../media/image759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6.pn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7.pn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13788" y="1767839"/>
            <a:ext cx="5919470" cy="1850389"/>
            <a:chOff x="2113788" y="1767839"/>
            <a:chExt cx="5919470" cy="185038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26922" y="2078579"/>
              <a:ext cx="1509" cy="124720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13788" y="1767839"/>
              <a:ext cx="5918200" cy="18455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113788" y="1767839"/>
              <a:ext cx="5919470" cy="1850389"/>
            </a:xfrm>
            <a:custGeom>
              <a:avLst/>
              <a:gdLst/>
              <a:ahLst/>
              <a:cxnLst/>
              <a:rect l="l" t="t" r="r" b="b"/>
              <a:pathLst>
                <a:path w="5919470" h="1850389">
                  <a:moveTo>
                    <a:pt x="5919216" y="1539240"/>
                  </a:moveTo>
                  <a:lnTo>
                    <a:pt x="5919216" y="310896"/>
                  </a:lnTo>
                  <a:lnTo>
                    <a:pt x="5914644" y="263652"/>
                  </a:lnTo>
                  <a:lnTo>
                    <a:pt x="5908548" y="233172"/>
                  </a:lnTo>
                  <a:lnTo>
                    <a:pt x="5903976" y="219456"/>
                  </a:lnTo>
                  <a:lnTo>
                    <a:pt x="5899404" y="204216"/>
                  </a:lnTo>
                  <a:lnTo>
                    <a:pt x="5881116" y="163068"/>
                  </a:lnTo>
                  <a:lnTo>
                    <a:pt x="5873496" y="150876"/>
                  </a:lnTo>
                  <a:lnTo>
                    <a:pt x="5865876" y="137160"/>
                  </a:lnTo>
                  <a:lnTo>
                    <a:pt x="5827776" y="91440"/>
                  </a:lnTo>
                  <a:lnTo>
                    <a:pt x="5794248" y="62484"/>
                  </a:lnTo>
                  <a:lnTo>
                    <a:pt x="5768340" y="45720"/>
                  </a:lnTo>
                  <a:lnTo>
                    <a:pt x="5756148" y="38100"/>
                  </a:lnTo>
                  <a:lnTo>
                    <a:pt x="5742432" y="30480"/>
                  </a:lnTo>
                  <a:lnTo>
                    <a:pt x="5728716" y="24384"/>
                  </a:lnTo>
                  <a:lnTo>
                    <a:pt x="5715000" y="19812"/>
                  </a:lnTo>
                  <a:lnTo>
                    <a:pt x="5699760" y="13716"/>
                  </a:lnTo>
                  <a:lnTo>
                    <a:pt x="5684520" y="10668"/>
                  </a:lnTo>
                  <a:lnTo>
                    <a:pt x="5670804" y="6096"/>
                  </a:lnTo>
                  <a:lnTo>
                    <a:pt x="5655564" y="4572"/>
                  </a:lnTo>
                  <a:lnTo>
                    <a:pt x="5638800" y="1524"/>
                  </a:lnTo>
                  <a:lnTo>
                    <a:pt x="5623560" y="1524"/>
                  </a:lnTo>
                  <a:lnTo>
                    <a:pt x="5608320" y="0"/>
                  </a:lnTo>
                  <a:lnTo>
                    <a:pt x="310896" y="0"/>
                  </a:lnTo>
                  <a:lnTo>
                    <a:pt x="294132" y="1524"/>
                  </a:lnTo>
                  <a:lnTo>
                    <a:pt x="278892" y="1524"/>
                  </a:lnTo>
                  <a:lnTo>
                    <a:pt x="263652" y="4572"/>
                  </a:lnTo>
                  <a:lnTo>
                    <a:pt x="248412" y="6096"/>
                  </a:lnTo>
                  <a:lnTo>
                    <a:pt x="217932" y="15240"/>
                  </a:lnTo>
                  <a:lnTo>
                    <a:pt x="176784" y="30480"/>
                  </a:lnTo>
                  <a:lnTo>
                    <a:pt x="137160" y="53340"/>
                  </a:lnTo>
                  <a:lnTo>
                    <a:pt x="91440" y="91440"/>
                  </a:lnTo>
                  <a:lnTo>
                    <a:pt x="71628" y="114300"/>
                  </a:lnTo>
                  <a:lnTo>
                    <a:pt x="60960" y="124968"/>
                  </a:lnTo>
                  <a:lnTo>
                    <a:pt x="53340" y="137160"/>
                  </a:lnTo>
                  <a:lnTo>
                    <a:pt x="45720" y="150876"/>
                  </a:lnTo>
                  <a:lnTo>
                    <a:pt x="38100" y="163068"/>
                  </a:lnTo>
                  <a:lnTo>
                    <a:pt x="30480" y="176784"/>
                  </a:lnTo>
                  <a:lnTo>
                    <a:pt x="18288" y="204216"/>
                  </a:lnTo>
                  <a:lnTo>
                    <a:pt x="13716" y="219456"/>
                  </a:lnTo>
                  <a:lnTo>
                    <a:pt x="9144" y="233172"/>
                  </a:lnTo>
                  <a:lnTo>
                    <a:pt x="3048" y="263652"/>
                  </a:lnTo>
                  <a:lnTo>
                    <a:pt x="0" y="295656"/>
                  </a:lnTo>
                  <a:lnTo>
                    <a:pt x="0" y="1554480"/>
                  </a:lnTo>
                  <a:lnTo>
                    <a:pt x="3048" y="1586484"/>
                  </a:lnTo>
                  <a:lnTo>
                    <a:pt x="7620" y="1609344"/>
                  </a:lnTo>
                  <a:lnTo>
                    <a:pt x="7620" y="295656"/>
                  </a:lnTo>
                  <a:lnTo>
                    <a:pt x="10668" y="265176"/>
                  </a:lnTo>
                  <a:lnTo>
                    <a:pt x="21336" y="220980"/>
                  </a:lnTo>
                  <a:lnTo>
                    <a:pt x="38100" y="179832"/>
                  </a:lnTo>
                  <a:lnTo>
                    <a:pt x="59436" y="141732"/>
                  </a:lnTo>
                  <a:lnTo>
                    <a:pt x="96012" y="97536"/>
                  </a:lnTo>
                  <a:lnTo>
                    <a:pt x="129540" y="68580"/>
                  </a:lnTo>
                  <a:lnTo>
                    <a:pt x="166116" y="44196"/>
                  </a:lnTo>
                  <a:lnTo>
                    <a:pt x="207264" y="27432"/>
                  </a:lnTo>
                  <a:lnTo>
                    <a:pt x="220980" y="21336"/>
                  </a:lnTo>
                  <a:lnTo>
                    <a:pt x="234696" y="18288"/>
                  </a:lnTo>
                  <a:lnTo>
                    <a:pt x="249936" y="13716"/>
                  </a:lnTo>
                  <a:lnTo>
                    <a:pt x="310896" y="7620"/>
                  </a:lnTo>
                  <a:lnTo>
                    <a:pt x="5608320" y="7620"/>
                  </a:lnTo>
                  <a:lnTo>
                    <a:pt x="5654040" y="12192"/>
                  </a:lnTo>
                  <a:lnTo>
                    <a:pt x="5669280" y="15240"/>
                  </a:lnTo>
                  <a:lnTo>
                    <a:pt x="5682996" y="18288"/>
                  </a:lnTo>
                  <a:lnTo>
                    <a:pt x="5698236" y="21336"/>
                  </a:lnTo>
                  <a:lnTo>
                    <a:pt x="5711952" y="27432"/>
                  </a:lnTo>
                  <a:lnTo>
                    <a:pt x="5725668" y="32004"/>
                  </a:lnTo>
                  <a:lnTo>
                    <a:pt x="5739384" y="38100"/>
                  </a:lnTo>
                  <a:lnTo>
                    <a:pt x="5751576" y="45720"/>
                  </a:lnTo>
                  <a:lnTo>
                    <a:pt x="5765292" y="51816"/>
                  </a:lnTo>
                  <a:lnTo>
                    <a:pt x="5777484" y="59436"/>
                  </a:lnTo>
                  <a:lnTo>
                    <a:pt x="5821680" y="97536"/>
                  </a:lnTo>
                  <a:lnTo>
                    <a:pt x="5850636" y="129540"/>
                  </a:lnTo>
                  <a:lnTo>
                    <a:pt x="5858256" y="141732"/>
                  </a:lnTo>
                  <a:lnTo>
                    <a:pt x="5867400" y="153924"/>
                  </a:lnTo>
                  <a:lnTo>
                    <a:pt x="5873496" y="167640"/>
                  </a:lnTo>
                  <a:lnTo>
                    <a:pt x="5881116" y="179832"/>
                  </a:lnTo>
                  <a:lnTo>
                    <a:pt x="5887212" y="193548"/>
                  </a:lnTo>
                  <a:lnTo>
                    <a:pt x="5900928" y="236220"/>
                  </a:lnTo>
                  <a:lnTo>
                    <a:pt x="5910072" y="295656"/>
                  </a:lnTo>
                  <a:lnTo>
                    <a:pt x="5910072" y="1609344"/>
                  </a:lnTo>
                  <a:lnTo>
                    <a:pt x="5914644" y="1586484"/>
                  </a:lnTo>
                  <a:lnTo>
                    <a:pt x="5919216" y="1539240"/>
                  </a:lnTo>
                  <a:close/>
                </a:path>
                <a:path w="5919470" h="1850389">
                  <a:moveTo>
                    <a:pt x="5910072" y="1609344"/>
                  </a:moveTo>
                  <a:lnTo>
                    <a:pt x="5910072" y="1554480"/>
                  </a:lnTo>
                  <a:lnTo>
                    <a:pt x="5907024" y="1584960"/>
                  </a:lnTo>
                  <a:lnTo>
                    <a:pt x="5900928" y="1615440"/>
                  </a:lnTo>
                  <a:lnTo>
                    <a:pt x="5887212" y="1656588"/>
                  </a:lnTo>
                  <a:lnTo>
                    <a:pt x="5881116" y="1670304"/>
                  </a:lnTo>
                  <a:lnTo>
                    <a:pt x="5873496" y="1684020"/>
                  </a:lnTo>
                  <a:lnTo>
                    <a:pt x="5867400" y="1696212"/>
                  </a:lnTo>
                  <a:lnTo>
                    <a:pt x="5858256" y="1708404"/>
                  </a:lnTo>
                  <a:lnTo>
                    <a:pt x="5850636" y="1720596"/>
                  </a:lnTo>
                  <a:lnTo>
                    <a:pt x="5841492" y="1731264"/>
                  </a:lnTo>
                  <a:lnTo>
                    <a:pt x="5821680" y="1752600"/>
                  </a:lnTo>
                  <a:lnTo>
                    <a:pt x="5800344" y="1772412"/>
                  </a:lnTo>
                  <a:lnTo>
                    <a:pt x="5788152" y="1781556"/>
                  </a:lnTo>
                  <a:lnTo>
                    <a:pt x="5777484" y="1790700"/>
                  </a:lnTo>
                  <a:lnTo>
                    <a:pt x="5739384" y="1812036"/>
                  </a:lnTo>
                  <a:lnTo>
                    <a:pt x="5698236" y="1828800"/>
                  </a:lnTo>
                  <a:lnTo>
                    <a:pt x="5682996" y="1831848"/>
                  </a:lnTo>
                  <a:lnTo>
                    <a:pt x="5669280" y="1836420"/>
                  </a:lnTo>
                  <a:lnTo>
                    <a:pt x="5654040" y="1837944"/>
                  </a:lnTo>
                  <a:lnTo>
                    <a:pt x="5638800" y="1840992"/>
                  </a:lnTo>
                  <a:lnTo>
                    <a:pt x="5623560" y="1840992"/>
                  </a:lnTo>
                  <a:lnTo>
                    <a:pt x="5608320" y="1842516"/>
                  </a:lnTo>
                  <a:lnTo>
                    <a:pt x="310896" y="1842516"/>
                  </a:lnTo>
                  <a:lnTo>
                    <a:pt x="295656" y="1840992"/>
                  </a:lnTo>
                  <a:lnTo>
                    <a:pt x="280416" y="1840992"/>
                  </a:lnTo>
                  <a:lnTo>
                    <a:pt x="265176" y="1837944"/>
                  </a:lnTo>
                  <a:lnTo>
                    <a:pt x="249936" y="1836420"/>
                  </a:lnTo>
                  <a:lnTo>
                    <a:pt x="234696" y="1831848"/>
                  </a:lnTo>
                  <a:lnTo>
                    <a:pt x="166116" y="1805940"/>
                  </a:lnTo>
                  <a:lnTo>
                    <a:pt x="117348" y="1772412"/>
                  </a:lnTo>
                  <a:lnTo>
                    <a:pt x="76200" y="1731264"/>
                  </a:lnTo>
                  <a:lnTo>
                    <a:pt x="68580" y="1720596"/>
                  </a:lnTo>
                  <a:lnTo>
                    <a:pt x="59436" y="1708404"/>
                  </a:lnTo>
                  <a:lnTo>
                    <a:pt x="38100" y="1670304"/>
                  </a:lnTo>
                  <a:lnTo>
                    <a:pt x="21336" y="1629156"/>
                  </a:lnTo>
                  <a:lnTo>
                    <a:pt x="10668" y="1584960"/>
                  </a:lnTo>
                  <a:lnTo>
                    <a:pt x="7620" y="1554480"/>
                  </a:lnTo>
                  <a:lnTo>
                    <a:pt x="7620" y="1609344"/>
                  </a:lnTo>
                  <a:lnTo>
                    <a:pt x="18288" y="1645920"/>
                  </a:lnTo>
                  <a:lnTo>
                    <a:pt x="45720" y="1700784"/>
                  </a:lnTo>
                  <a:lnTo>
                    <a:pt x="71628" y="1737360"/>
                  </a:lnTo>
                  <a:lnTo>
                    <a:pt x="112776" y="1778508"/>
                  </a:lnTo>
                  <a:lnTo>
                    <a:pt x="149352" y="1804416"/>
                  </a:lnTo>
                  <a:lnTo>
                    <a:pt x="190500" y="1825752"/>
                  </a:lnTo>
                  <a:lnTo>
                    <a:pt x="204216" y="1830324"/>
                  </a:lnTo>
                  <a:lnTo>
                    <a:pt x="217932" y="1836420"/>
                  </a:lnTo>
                  <a:lnTo>
                    <a:pt x="233172" y="1839468"/>
                  </a:lnTo>
                  <a:lnTo>
                    <a:pt x="248412" y="1844040"/>
                  </a:lnTo>
                  <a:lnTo>
                    <a:pt x="263652" y="1845564"/>
                  </a:lnTo>
                  <a:lnTo>
                    <a:pt x="278892" y="1848612"/>
                  </a:lnTo>
                  <a:lnTo>
                    <a:pt x="295656" y="1850136"/>
                  </a:lnTo>
                  <a:lnTo>
                    <a:pt x="5608320" y="1850136"/>
                  </a:lnTo>
                  <a:lnTo>
                    <a:pt x="5623560" y="1848612"/>
                  </a:lnTo>
                  <a:lnTo>
                    <a:pt x="5640324" y="1848612"/>
                  </a:lnTo>
                  <a:lnTo>
                    <a:pt x="5655564" y="1845564"/>
                  </a:lnTo>
                  <a:lnTo>
                    <a:pt x="5670804" y="1844040"/>
                  </a:lnTo>
                  <a:lnTo>
                    <a:pt x="5686044" y="1839468"/>
                  </a:lnTo>
                  <a:lnTo>
                    <a:pt x="5699760" y="1836420"/>
                  </a:lnTo>
                  <a:lnTo>
                    <a:pt x="5715000" y="1830324"/>
                  </a:lnTo>
                  <a:lnTo>
                    <a:pt x="5728716" y="1825752"/>
                  </a:lnTo>
                  <a:lnTo>
                    <a:pt x="5742432" y="1819656"/>
                  </a:lnTo>
                  <a:lnTo>
                    <a:pt x="5756148" y="1812036"/>
                  </a:lnTo>
                  <a:lnTo>
                    <a:pt x="5768340" y="1804416"/>
                  </a:lnTo>
                  <a:lnTo>
                    <a:pt x="5782056" y="1796796"/>
                  </a:lnTo>
                  <a:lnTo>
                    <a:pt x="5827776" y="1758696"/>
                  </a:lnTo>
                  <a:lnTo>
                    <a:pt x="5865876" y="1712976"/>
                  </a:lnTo>
                  <a:lnTo>
                    <a:pt x="5887212" y="1673352"/>
                  </a:lnTo>
                  <a:lnTo>
                    <a:pt x="5894832" y="1659636"/>
                  </a:lnTo>
                  <a:lnTo>
                    <a:pt x="5899404" y="1645920"/>
                  </a:lnTo>
                  <a:lnTo>
                    <a:pt x="5903976" y="1630680"/>
                  </a:lnTo>
                  <a:lnTo>
                    <a:pt x="5908548" y="1616964"/>
                  </a:lnTo>
                  <a:lnTo>
                    <a:pt x="5910072" y="1609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36238" y="2134005"/>
            <a:ext cx="4272915" cy="1080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63064" marR="5080" indent="-1651000">
              <a:lnSpc>
                <a:spcPct val="150400"/>
              </a:lnSpc>
              <a:spcBef>
                <a:spcPts val="95"/>
              </a:spcBef>
            </a:pPr>
            <a:r>
              <a:rPr sz="2300" dirty="0">
                <a:solidFill>
                  <a:srgbClr val="FFFFFF"/>
                </a:solidFill>
              </a:rPr>
              <a:t>Long Short </a:t>
            </a:r>
            <a:r>
              <a:rPr sz="2300" spc="-50" dirty="0">
                <a:solidFill>
                  <a:srgbClr val="FFFFFF"/>
                </a:solidFill>
              </a:rPr>
              <a:t>Term </a:t>
            </a:r>
            <a:r>
              <a:rPr sz="2300" spc="5" dirty="0">
                <a:solidFill>
                  <a:srgbClr val="FFFFFF"/>
                </a:solidFill>
              </a:rPr>
              <a:t>Memory </a:t>
            </a:r>
            <a:r>
              <a:rPr sz="2300" dirty="0">
                <a:solidFill>
                  <a:srgbClr val="FFFFFF"/>
                </a:solidFill>
              </a:rPr>
              <a:t>Networks </a:t>
            </a:r>
            <a:r>
              <a:rPr sz="2300" spc="-505" dirty="0">
                <a:solidFill>
                  <a:srgbClr val="FFFFFF"/>
                </a:solidFill>
              </a:rPr>
              <a:t> </a:t>
            </a:r>
            <a:r>
              <a:rPr sz="2300" dirty="0">
                <a:solidFill>
                  <a:srgbClr val="FFFFFF"/>
                </a:solidFill>
              </a:rPr>
              <a:t>(LSTMs)</a:t>
            </a:r>
            <a:endParaRPr sz="2300"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65939" y="5963046"/>
            <a:ext cx="225551" cy="34735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1</a:t>
            </a:fld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865" y="1558543"/>
            <a:ext cx="8160384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Long</a:t>
            </a:r>
            <a:r>
              <a:rPr spc="-5" dirty="0"/>
              <a:t> </a:t>
            </a:r>
            <a:r>
              <a:rPr spc="-10" dirty="0"/>
              <a:t>Short</a:t>
            </a:r>
            <a:r>
              <a:rPr spc="20" dirty="0"/>
              <a:t> </a:t>
            </a:r>
            <a:r>
              <a:rPr spc="-85" dirty="0"/>
              <a:t>Term</a:t>
            </a:r>
            <a:r>
              <a:rPr spc="-10" dirty="0"/>
              <a:t> Memory</a:t>
            </a:r>
            <a:r>
              <a:rPr spc="-20" dirty="0"/>
              <a:t> </a:t>
            </a:r>
            <a:r>
              <a:rPr spc="-25" dirty="0"/>
              <a:t>Networks</a:t>
            </a:r>
            <a:r>
              <a:rPr spc="-30" dirty="0"/>
              <a:t> </a:t>
            </a:r>
            <a:r>
              <a:rPr spc="10" dirty="0"/>
              <a:t>-</a:t>
            </a:r>
            <a:r>
              <a:rPr spc="15" dirty="0"/>
              <a:t> </a:t>
            </a:r>
            <a:r>
              <a:rPr spc="-10" dirty="0"/>
              <a:t>LSTMs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865" y="2477514"/>
            <a:ext cx="8539480" cy="111760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01295" marR="5080" indent="-189230">
              <a:lnSpc>
                <a:spcPts val="2500"/>
              </a:lnSpc>
              <a:spcBef>
                <a:spcPts val="415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dirty="0">
                <a:latin typeface="Calibri"/>
                <a:cs typeface="Calibri"/>
              </a:rPr>
              <a:t>Long Short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50" dirty="0">
                <a:latin typeface="Calibri"/>
                <a:cs typeface="Calibri"/>
              </a:rPr>
              <a:t>Term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Memory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networks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–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usually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just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called “LSTMs” </a:t>
            </a:r>
            <a:r>
              <a:rPr sz="2300" spc="5" dirty="0">
                <a:latin typeface="Calibri"/>
                <a:cs typeface="Calibri"/>
              </a:rPr>
              <a:t>–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are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a</a:t>
            </a:r>
            <a:r>
              <a:rPr sz="2300" dirty="0">
                <a:latin typeface="Calibri"/>
                <a:cs typeface="Calibri"/>
              </a:rPr>
              <a:t> special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kind</a:t>
            </a:r>
            <a:r>
              <a:rPr sz="2300" spc="5" dirty="0">
                <a:latin typeface="Calibri"/>
                <a:cs typeface="Calibri"/>
              </a:rPr>
              <a:t> of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RNN,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capable</a:t>
            </a:r>
            <a:r>
              <a:rPr sz="2300" spc="5" dirty="0">
                <a:latin typeface="Calibri"/>
                <a:cs typeface="Calibri"/>
              </a:rPr>
              <a:t> of</a:t>
            </a:r>
            <a:r>
              <a:rPr sz="2300" dirty="0">
                <a:latin typeface="Calibri"/>
                <a:cs typeface="Calibri"/>
              </a:rPr>
              <a:t> learning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long-term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dependencies.</a:t>
            </a:r>
            <a:endParaRPr sz="2300">
              <a:latin typeface="Calibri"/>
              <a:cs typeface="Calibri"/>
            </a:endParaRPr>
          </a:p>
          <a:p>
            <a:pPr marL="201295" indent="-189230">
              <a:lnSpc>
                <a:spcPct val="100000"/>
              </a:lnSpc>
              <a:spcBef>
                <a:spcPts val="520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spc="-5" dirty="0">
                <a:latin typeface="Calibri"/>
                <a:cs typeface="Calibri"/>
              </a:rPr>
              <a:t>Repeating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module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RNN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contains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a</a:t>
            </a:r>
            <a:r>
              <a:rPr sz="2300" dirty="0">
                <a:latin typeface="Calibri"/>
                <a:cs typeface="Calibri"/>
              </a:rPr>
              <a:t> single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layer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87879" y="3870959"/>
            <a:ext cx="5797550" cy="2170430"/>
            <a:chOff x="2087879" y="3870959"/>
            <a:chExt cx="5797550" cy="21704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17391" y="3870959"/>
              <a:ext cx="280416" cy="48767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645407" y="4162043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969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39311" y="4360163"/>
              <a:ext cx="21590" cy="70485"/>
            </a:xfrm>
            <a:custGeom>
              <a:avLst/>
              <a:gdLst/>
              <a:ahLst/>
              <a:cxnLst/>
              <a:rect l="l" t="t" r="r" b="b"/>
              <a:pathLst>
                <a:path w="21589" h="70485">
                  <a:moveTo>
                    <a:pt x="0" y="0"/>
                  </a:moveTo>
                  <a:lnTo>
                    <a:pt x="21335" y="0"/>
                  </a:lnTo>
                </a:path>
                <a:path w="21589" h="70485">
                  <a:moveTo>
                    <a:pt x="0" y="3048"/>
                  </a:moveTo>
                  <a:lnTo>
                    <a:pt x="21335" y="3048"/>
                  </a:lnTo>
                </a:path>
                <a:path w="21589" h="70485">
                  <a:moveTo>
                    <a:pt x="0" y="6095"/>
                  </a:moveTo>
                  <a:lnTo>
                    <a:pt x="21335" y="6095"/>
                  </a:lnTo>
                </a:path>
                <a:path w="21589" h="70485">
                  <a:moveTo>
                    <a:pt x="0" y="9143"/>
                  </a:moveTo>
                  <a:lnTo>
                    <a:pt x="21335" y="9143"/>
                  </a:lnTo>
                </a:path>
                <a:path w="21589" h="70485">
                  <a:moveTo>
                    <a:pt x="0" y="12191"/>
                  </a:moveTo>
                  <a:lnTo>
                    <a:pt x="21335" y="12191"/>
                  </a:lnTo>
                </a:path>
                <a:path w="21589" h="70485">
                  <a:moveTo>
                    <a:pt x="0" y="15239"/>
                  </a:moveTo>
                  <a:lnTo>
                    <a:pt x="21335" y="15239"/>
                  </a:lnTo>
                </a:path>
                <a:path w="21589" h="70485">
                  <a:moveTo>
                    <a:pt x="0" y="18287"/>
                  </a:moveTo>
                  <a:lnTo>
                    <a:pt x="21335" y="18287"/>
                  </a:lnTo>
                </a:path>
                <a:path w="21589" h="70485">
                  <a:moveTo>
                    <a:pt x="0" y="21336"/>
                  </a:moveTo>
                  <a:lnTo>
                    <a:pt x="21335" y="21336"/>
                  </a:lnTo>
                </a:path>
                <a:path w="21589" h="70485">
                  <a:moveTo>
                    <a:pt x="0" y="24384"/>
                  </a:moveTo>
                  <a:lnTo>
                    <a:pt x="21335" y="24384"/>
                  </a:lnTo>
                </a:path>
                <a:path w="21589" h="70485">
                  <a:moveTo>
                    <a:pt x="0" y="27431"/>
                  </a:moveTo>
                  <a:lnTo>
                    <a:pt x="21335" y="27431"/>
                  </a:lnTo>
                </a:path>
                <a:path w="21589" h="70485">
                  <a:moveTo>
                    <a:pt x="0" y="30479"/>
                  </a:moveTo>
                  <a:lnTo>
                    <a:pt x="21335" y="30479"/>
                  </a:lnTo>
                </a:path>
                <a:path w="21589" h="70485">
                  <a:moveTo>
                    <a:pt x="0" y="33527"/>
                  </a:moveTo>
                  <a:lnTo>
                    <a:pt x="21335" y="33527"/>
                  </a:lnTo>
                </a:path>
                <a:path w="21589" h="70485">
                  <a:moveTo>
                    <a:pt x="0" y="36575"/>
                  </a:moveTo>
                  <a:lnTo>
                    <a:pt x="21335" y="36575"/>
                  </a:lnTo>
                </a:path>
                <a:path w="21589" h="70485">
                  <a:moveTo>
                    <a:pt x="0" y="39624"/>
                  </a:moveTo>
                  <a:lnTo>
                    <a:pt x="21335" y="39624"/>
                  </a:lnTo>
                </a:path>
                <a:path w="21589" h="70485">
                  <a:moveTo>
                    <a:pt x="0" y="42672"/>
                  </a:moveTo>
                  <a:lnTo>
                    <a:pt x="21335" y="42672"/>
                  </a:lnTo>
                </a:path>
                <a:path w="21589" h="70485">
                  <a:moveTo>
                    <a:pt x="0" y="45719"/>
                  </a:moveTo>
                  <a:lnTo>
                    <a:pt x="21335" y="45719"/>
                  </a:lnTo>
                </a:path>
                <a:path w="21589" h="70485">
                  <a:moveTo>
                    <a:pt x="0" y="48767"/>
                  </a:moveTo>
                  <a:lnTo>
                    <a:pt x="21335" y="48767"/>
                  </a:lnTo>
                </a:path>
                <a:path w="21589" h="70485">
                  <a:moveTo>
                    <a:pt x="0" y="51815"/>
                  </a:moveTo>
                  <a:lnTo>
                    <a:pt x="21335" y="51815"/>
                  </a:lnTo>
                </a:path>
                <a:path w="21589" h="70485">
                  <a:moveTo>
                    <a:pt x="0" y="54863"/>
                  </a:moveTo>
                  <a:lnTo>
                    <a:pt x="21335" y="54863"/>
                  </a:lnTo>
                </a:path>
                <a:path w="21589" h="70485">
                  <a:moveTo>
                    <a:pt x="0" y="57912"/>
                  </a:moveTo>
                  <a:lnTo>
                    <a:pt x="21335" y="57912"/>
                  </a:lnTo>
                </a:path>
                <a:path w="21589" h="70485">
                  <a:moveTo>
                    <a:pt x="0" y="60960"/>
                  </a:moveTo>
                  <a:lnTo>
                    <a:pt x="21335" y="60960"/>
                  </a:lnTo>
                </a:path>
                <a:path w="21589" h="70485">
                  <a:moveTo>
                    <a:pt x="0" y="64007"/>
                  </a:moveTo>
                  <a:lnTo>
                    <a:pt x="21335" y="64007"/>
                  </a:lnTo>
                </a:path>
                <a:path w="21589" h="70485">
                  <a:moveTo>
                    <a:pt x="0" y="67055"/>
                  </a:moveTo>
                  <a:lnTo>
                    <a:pt x="21335" y="67055"/>
                  </a:lnTo>
                </a:path>
                <a:path w="21589" h="70485">
                  <a:moveTo>
                    <a:pt x="0" y="70103"/>
                  </a:moveTo>
                  <a:lnTo>
                    <a:pt x="21335" y="701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28488" y="3870959"/>
              <a:ext cx="283463" cy="48767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577839" y="4162043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4646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68695" y="4360163"/>
              <a:ext cx="21590" cy="64135"/>
            </a:xfrm>
            <a:custGeom>
              <a:avLst/>
              <a:gdLst/>
              <a:ahLst/>
              <a:cxnLst/>
              <a:rect l="l" t="t" r="r" b="b"/>
              <a:pathLst>
                <a:path w="21589" h="64135">
                  <a:moveTo>
                    <a:pt x="0" y="0"/>
                  </a:moveTo>
                  <a:lnTo>
                    <a:pt x="21335" y="0"/>
                  </a:lnTo>
                </a:path>
                <a:path w="21589" h="64135">
                  <a:moveTo>
                    <a:pt x="0" y="3048"/>
                  </a:moveTo>
                  <a:lnTo>
                    <a:pt x="21335" y="3048"/>
                  </a:lnTo>
                </a:path>
                <a:path w="21589" h="64135">
                  <a:moveTo>
                    <a:pt x="0" y="6095"/>
                  </a:moveTo>
                  <a:lnTo>
                    <a:pt x="21335" y="6095"/>
                  </a:lnTo>
                </a:path>
                <a:path w="21589" h="64135">
                  <a:moveTo>
                    <a:pt x="0" y="9143"/>
                  </a:moveTo>
                  <a:lnTo>
                    <a:pt x="21335" y="9143"/>
                  </a:lnTo>
                </a:path>
                <a:path w="21589" h="64135">
                  <a:moveTo>
                    <a:pt x="0" y="12191"/>
                  </a:moveTo>
                  <a:lnTo>
                    <a:pt x="21335" y="12191"/>
                  </a:lnTo>
                </a:path>
                <a:path w="21589" h="64135">
                  <a:moveTo>
                    <a:pt x="0" y="15239"/>
                  </a:moveTo>
                  <a:lnTo>
                    <a:pt x="21335" y="15239"/>
                  </a:lnTo>
                </a:path>
                <a:path w="21589" h="64135">
                  <a:moveTo>
                    <a:pt x="0" y="18287"/>
                  </a:moveTo>
                  <a:lnTo>
                    <a:pt x="21335" y="18287"/>
                  </a:lnTo>
                </a:path>
                <a:path w="21589" h="64135">
                  <a:moveTo>
                    <a:pt x="0" y="21336"/>
                  </a:moveTo>
                  <a:lnTo>
                    <a:pt x="21335" y="21336"/>
                  </a:lnTo>
                </a:path>
                <a:path w="21589" h="64135">
                  <a:moveTo>
                    <a:pt x="0" y="24384"/>
                  </a:moveTo>
                  <a:lnTo>
                    <a:pt x="21335" y="24384"/>
                  </a:lnTo>
                </a:path>
                <a:path w="21589" h="64135">
                  <a:moveTo>
                    <a:pt x="0" y="27431"/>
                  </a:moveTo>
                  <a:lnTo>
                    <a:pt x="21335" y="27431"/>
                  </a:lnTo>
                </a:path>
                <a:path w="21589" h="64135">
                  <a:moveTo>
                    <a:pt x="0" y="30479"/>
                  </a:moveTo>
                  <a:lnTo>
                    <a:pt x="21335" y="30479"/>
                  </a:lnTo>
                </a:path>
                <a:path w="21589" h="64135">
                  <a:moveTo>
                    <a:pt x="0" y="33527"/>
                  </a:moveTo>
                  <a:lnTo>
                    <a:pt x="21335" y="33527"/>
                  </a:lnTo>
                </a:path>
                <a:path w="21589" h="64135">
                  <a:moveTo>
                    <a:pt x="0" y="36575"/>
                  </a:moveTo>
                  <a:lnTo>
                    <a:pt x="21335" y="36575"/>
                  </a:lnTo>
                </a:path>
                <a:path w="21589" h="64135">
                  <a:moveTo>
                    <a:pt x="0" y="39624"/>
                  </a:moveTo>
                  <a:lnTo>
                    <a:pt x="21335" y="39624"/>
                  </a:lnTo>
                </a:path>
                <a:path w="21589" h="64135">
                  <a:moveTo>
                    <a:pt x="0" y="42672"/>
                  </a:moveTo>
                  <a:lnTo>
                    <a:pt x="21335" y="42672"/>
                  </a:lnTo>
                </a:path>
                <a:path w="21589" h="64135">
                  <a:moveTo>
                    <a:pt x="0" y="45719"/>
                  </a:moveTo>
                  <a:lnTo>
                    <a:pt x="21335" y="45719"/>
                  </a:lnTo>
                </a:path>
                <a:path w="21589" h="64135">
                  <a:moveTo>
                    <a:pt x="0" y="48767"/>
                  </a:moveTo>
                  <a:lnTo>
                    <a:pt x="21335" y="48767"/>
                  </a:lnTo>
                </a:path>
                <a:path w="21589" h="64135">
                  <a:moveTo>
                    <a:pt x="0" y="51815"/>
                  </a:moveTo>
                  <a:lnTo>
                    <a:pt x="21335" y="51815"/>
                  </a:lnTo>
                </a:path>
                <a:path w="21589" h="64135">
                  <a:moveTo>
                    <a:pt x="0" y="54863"/>
                  </a:moveTo>
                  <a:lnTo>
                    <a:pt x="21335" y="54863"/>
                  </a:lnTo>
                </a:path>
                <a:path w="21589" h="64135">
                  <a:moveTo>
                    <a:pt x="0" y="57912"/>
                  </a:moveTo>
                  <a:lnTo>
                    <a:pt x="21335" y="57912"/>
                  </a:lnTo>
                </a:path>
                <a:path w="21589" h="64135">
                  <a:moveTo>
                    <a:pt x="0" y="60960"/>
                  </a:moveTo>
                  <a:lnTo>
                    <a:pt x="21335" y="60960"/>
                  </a:lnTo>
                </a:path>
                <a:path w="21589" h="64135">
                  <a:moveTo>
                    <a:pt x="0" y="64007"/>
                  </a:moveTo>
                  <a:lnTo>
                    <a:pt x="21335" y="64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3975" y="3870959"/>
              <a:ext cx="5791199" cy="94183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928872" y="4811267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E6E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58255" y="4811267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D6D6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793735" y="4811267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5E5E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87879" y="4812791"/>
              <a:ext cx="1728216" cy="12283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17263" y="4809743"/>
              <a:ext cx="1725168" cy="123139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34455" y="4809743"/>
              <a:ext cx="1737360" cy="1231391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4535" y="2296667"/>
            <a:ext cx="4440935" cy="31912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8562" y="1538215"/>
            <a:ext cx="4296670" cy="62509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865" y="1558543"/>
            <a:ext cx="8160384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Long</a:t>
            </a:r>
            <a:r>
              <a:rPr spc="-5" dirty="0"/>
              <a:t> </a:t>
            </a:r>
            <a:r>
              <a:rPr spc="-10" dirty="0"/>
              <a:t>Short</a:t>
            </a:r>
            <a:r>
              <a:rPr spc="20" dirty="0"/>
              <a:t> </a:t>
            </a:r>
            <a:r>
              <a:rPr spc="-85" dirty="0"/>
              <a:t>Term</a:t>
            </a:r>
            <a:r>
              <a:rPr spc="-10" dirty="0"/>
              <a:t> Memory</a:t>
            </a:r>
            <a:r>
              <a:rPr spc="-20" dirty="0"/>
              <a:t> </a:t>
            </a:r>
            <a:r>
              <a:rPr spc="-25" dirty="0"/>
              <a:t>Networks</a:t>
            </a:r>
            <a:r>
              <a:rPr spc="-30" dirty="0"/>
              <a:t> </a:t>
            </a:r>
            <a:r>
              <a:rPr spc="10" dirty="0"/>
              <a:t>-</a:t>
            </a:r>
            <a:r>
              <a:rPr spc="15" dirty="0"/>
              <a:t> </a:t>
            </a:r>
            <a:r>
              <a:rPr spc="-10" dirty="0"/>
              <a:t>LSTMs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865" y="2375407"/>
            <a:ext cx="5539105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114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dirty="0">
                <a:latin typeface="Calibri"/>
                <a:cs typeface="Calibri"/>
              </a:rPr>
              <a:t>The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repeating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unit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5" dirty="0">
                <a:latin typeface="Calibri"/>
                <a:cs typeface="Calibri"/>
              </a:rPr>
              <a:t> more complex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LSTMs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05000" y="3060192"/>
            <a:ext cx="5968365" cy="2243455"/>
            <a:chOff x="1905000" y="3060192"/>
            <a:chExt cx="5968365" cy="2243455"/>
          </a:xfrm>
        </p:grpSpPr>
        <p:sp>
          <p:nvSpPr>
            <p:cNvPr id="5" name="object 5"/>
            <p:cNvSpPr/>
            <p:nvPr/>
          </p:nvSpPr>
          <p:spPr>
            <a:xfrm>
              <a:off x="7504176" y="336042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1C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08247" y="3387852"/>
              <a:ext cx="2033270" cy="24765"/>
            </a:xfrm>
            <a:custGeom>
              <a:avLst/>
              <a:gdLst/>
              <a:ahLst/>
              <a:cxnLst/>
              <a:rect l="l" t="t" r="r" b="b"/>
              <a:pathLst>
                <a:path w="2033270" h="24764">
                  <a:moveTo>
                    <a:pt x="0" y="0"/>
                  </a:moveTo>
                  <a:lnTo>
                    <a:pt x="33528" y="0"/>
                  </a:lnTo>
                </a:path>
                <a:path w="2033270" h="24764">
                  <a:moveTo>
                    <a:pt x="1984247" y="0"/>
                  </a:moveTo>
                  <a:lnTo>
                    <a:pt x="2020824" y="0"/>
                  </a:lnTo>
                </a:path>
                <a:path w="2033270" h="24764">
                  <a:moveTo>
                    <a:pt x="1972055" y="24384"/>
                  </a:moveTo>
                  <a:lnTo>
                    <a:pt x="2033016" y="243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7191" y="3060192"/>
              <a:ext cx="5955791" cy="90525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782055" y="39639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262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78496" y="39639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5151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7191" y="3962400"/>
              <a:ext cx="5952743" cy="68884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803904" y="453999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88152" y="453999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2C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03904" y="46497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5C5C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88152" y="46497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565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5000" y="4651248"/>
              <a:ext cx="1789175" cy="65227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98392" y="4648200"/>
              <a:ext cx="1780031" cy="65531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76544" y="4648200"/>
              <a:ext cx="1798320" cy="65531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036063" y="4820412"/>
              <a:ext cx="4002404" cy="125095"/>
            </a:xfrm>
            <a:custGeom>
              <a:avLst/>
              <a:gdLst/>
              <a:ahLst/>
              <a:cxnLst/>
              <a:rect l="l" t="t" r="r" b="b"/>
              <a:pathLst>
                <a:path w="4002404" h="125095">
                  <a:moveTo>
                    <a:pt x="0" y="0"/>
                  </a:moveTo>
                  <a:lnTo>
                    <a:pt x="21335" y="0"/>
                  </a:lnTo>
                </a:path>
                <a:path w="4002404" h="125095">
                  <a:moveTo>
                    <a:pt x="0" y="3047"/>
                  </a:moveTo>
                  <a:lnTo>
                    <a:pt x="21335" y="3047"/>
                  </a:lnTo>
                </a:path>
                <a:path w="4002404" h="125095">
                  <a:moveTo>
                    <a:pt x="0" y="6095"/>
                  </a:moveTo>
                  <a:lnTo>
                    <a:pt x="21335" y="6095"/>
                  </a:lnTo>
                </a:path>
                <a:path w="4002404" h="125095">
                  <a:moveTo>
                    <a:pt x="0" y="9143"/>
                  </a:moveTo>
                  <a:lnTo>
                    <a:pt x="21335" y="9143"/>
                  </a:lnTo>
                </a:path>
                <a:path w="4002404" h="125095">
                  <a:moveTo>
                    <a:pt x="1987295" y="9143"/>
                  </a:moveTo>
                  <a:lnTo>
                    <a:pt x="2005584" y="9143"/>
                  </a:lnTo>
                </a:path>
                <a:path w="4002404" h="125095">
                  <a:moveTo>
                    <a:pt x="0" y="12191"/>
                  </a:moveTo>
                  <a:lnTo>
                    <a:pt x="21335" y="12191"/>
                  </a:lnTo>
                </a:path>
                <a:path w="4002404" h="125095">
                  <a:moveTo>
                    <a:pt x="1987295" y="12191"/>
                  </a:moveTo>
                  <a:lnTo>
                    <a:pt x="2005584" y="12191"/>
                  </a:lnTo>
                </a:path>
                <a:path w="4002404" h="125095">
                  <a:moveTo>
                    <a:pt x="0" y="15239"/>
                  </a:moveTo>
                  <a:lnTo>
                    <a:pt x="21335" y="15239"/>
                  </a:lnTo>
                </a:path>
                <a:path w="4002404" h="125095">
                  <a:moveTo>
                    <a:pt x="1987295" y="15239"/>
                  </a:moveTo>
                  <a:lnTo>
                    <a:pt x="2005584" y="15239"/>
                  </a:lnTo>
                </a:path>
                <a:path w="4002404" h="125095">
                  <a:moveTo>
                    <a:pt x="0" y="18287"/>
                  </a:moveTo>
                  <a:lnTo>
                    <a:pt x="21335" y="18287"/>
                  </a:lnTo>
                </a:path>
                <a:path w="4002404" h="125095">
                  <a:moveTo>
                    <a:pt x="1987295" y="18287"/>
                  </a:moveTo>
                  <a:lnTo>
                    <a:pt x="2005584" y="18287"/>
                  </a:lnTo>
                </a:path>
                <a:path w="4002404" h="125095">
                  <a:moveTo>
                    <a:pt x="1987295" y="21336"/>
                  </a:moveTo>
                  <a:lnTo>
                    <a:pt x="2005584" y="21336"/>
                  </a:lnTo>
                </a:path>
                <a:path w="4002404" h="125095">
                  <a:moveTo>
                    <a:pt x="1987295" y="24383"/>
                  </a:moveTo>
                  <a:lnTo>
                    <a:pt x="2005584" y="24383"/>
                  </a:lnTo>
                </a:path>
                <a:path w="4002404" h="125095">
                  <a:moveTo>
                    <a:pt x="1987295" y="27431"/>
                  </a:moveTo>
                  <a:lnTo>
                    <a:pt x="2005584" y="27431"/>
                  </a:lnTo>
                </a:path>
                <a:path w="4002404" h="125095">
                  <a:moveTo>
                    <a:pt x="3980687" y="112775"/>
                  </a:moveTo>
                  <a:lnTo>
                    <a:pt x="4002023" y="112775"/>
                  </a:lnTo>
                </a:path>
                <a:path w="4002404" h="125095">
                  <a:moveTo>
                    <a:pt x="3980687" y="115823"/>
                  </a:moveTo>
                  <a:lnTo>
                    <a:pt x="4002023" y="115823"/>
                  </a:lnTo>
                </a:path>
                <a:path w="4002404" h="125095">
                  <a:moveTo>
                    <a:pt x="3980687" y="118871"/>
                  </a:moveTo>
                  <a:lnTo>
                    <a:pt x="4002023" y="118871"/>
                  </a:lnTo>
                </a:path>
                <a:path w="4002404" h="125095">
                  <a:moveTo>
                    <a:pt x="3980687" y="121919"/>
                  </a:moveTo>
                  <a:lnTo>
                    <a:pt x="4002023" y="121919"/>
                  </a:lnTo>
                </a:path>
                <a:path w="4002404" h="125095">
                  <a:moveTo>
                    <a:pt x="3980687" y="124967"/>
                  </a:moveTo>
                  <a:lnTo>
                    <a:pt x="4002023" y="1249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47914" y="5759695"/>
            <a:ext cx="4296670" cy="625098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865" y="1558543"/>
            <a:ext cx="1217930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" dirty="0"/>
              <a:t>L</a:t>
            </a:r>
            <a:r>
              <a:rPr spc="-25" dirty="0"/>
              <a:t>S</a:t>
            </a:r>
            <a:r>
              <a:rPr spc="-10" dirty="0"/>
              <a:t>TM</a:t>
            </a:r>
            <a:r>
              <a:rPr spc="-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865" y="2538475"/>
            <a:ext cx="4982845" cy="272605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01295" marR="175895" indent="-189230">
              <a:lnSpc>
                <a:spcPts val="2320"/>
              </a:lnSpc>
              <a:spcBef>
                <a:spcPts val="390"/>
              </a:spcBef>
              <a:buFont typeface="Arial MT"/>
              <a:buChar char="•"/>
              <a:tabLst>
                <a:tab pos="201930" algn="l"/>
              </a:tabLst>
            </a:pPr>
            <a:r>
              <a:rPr sz="2150" spc="-5" dirty="0">
                <a:latin typeface="Calibri"/>
                <a:cs typeface="Calibri"/>
              </a:rPr>
              <a:t>The</a:t>
            </a:r>
            <a:r>
              <a:rPr sz="2150" spc="-25" dirty="0">
                <a:latin typeface="Calibri"/>
                <a:cs typeface="Calibri"/>
              </a:rPr>
              <a:t> </a:t>
            </a:r>
            <a:r>
              <a:rPr sz="2150" spc="-35" dirty="0">
                <a:latin typeface="Calibri"/>
                <a:cs typeface="Calibri"/>
              </a:rPr>
              <a:t>key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15" dirty="0">
                <a:latin typeface="Calibri"/>
                <a:cs typeface="Calibri"/>
              </a:rPr>
              <a:t>to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LSTMs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is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the </a:t>
            </a:r>
            <a:r>
              <a:rPr sz="2150" i="1" spc="-10" dirty="0">
                <a:solidFill>
                  <a:srgbClr val="FF0000"/>
                </a:solidFill>
                <a:latin typeface="Calibri"/>
                <a:cs typeface="Calibri"/>
              </a:rPr>
              <a:t>cell</a:t>
            </a:r>
            <a:r>
              <a:rPr sz="2150" i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50" i="1" spc="-15" dirty="0">
                <a:solidFill>
                  <a:srgbClr val="FF0000"/>
                </a:solidFill>
                <a:latin typeface="Calibri"/>
                <a:cs typeface="Calibri"/>
              </a:rPr>
              <a:t>state</a:t>
            </a:r>
            <a:r>
              <a:rPr sz="2150" spc="-15" dirty="0">
                <a:latin typeface="Calibri"/>
                <a:cs typeface="Calibri"/>
              </a:rPr>
              <a:t>,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the 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15" dirty="0">
                <a:latin typeface="Calibri"/>
                <a:cs typeface="Calibri"/>
              </a:rPr>
              <a:t>horizontal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line</a:t>
            </a:r>
            <a:r>
              <a:rPr sz="2150" spc="-10" dirty="0">
                <a:latin typeface="Calibri"/>
                <a:cs typeface="Calibri"/>
              </a:rPr>
              <a:t> running </a:t>
            </a:r>
            <a:r>
              <a:rPr sz="2150" spc="-15" dirty="0">
                <a:latin typeface="Calibri"/>
                <a:cs typeface="Calibri"/>
              </a:rPr>
              <a:t>through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the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-15" dirty="0">
                <a:latin typeface="Calibri"/>
                <a:cs typeface="Calibri"/>
              </a:rPr>
              <a:t>top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of </a:t>
            </a:r>
            <a:r>
              <a:rPr sz="2150" spc="-47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the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diagram.</a:t>
            </a:r>
            <a:endParaRPr sz="2150">
              <a:latin typeface="Calibri"/>
              <a:cs typeface="Calibri"/>
            </a:endParaRPr>
          </a:p>
          <a:p>
            <a:pPr marL="201295" indent="-189230">
              <a:lnSpc>
                <a:spcPct val="100000"/>
              </a:lnSpc>
              <a:spcBef>
                <a:spcPts val="520"/>
              </a:spcBef>
              <a:buFont typeface="Arial MT"/>
              <a:buChar char="•"/>
              <a:tabLst>
                <a:tab pos="201930" algn="l"/>
              </a:tabLst>
            </a:pPr>
            <a:r>
              <a:rPr sz="2150" spc="-5" dirty="0">
                <a:latin typeface="Calibri"/>
                <a:cs typeface="Calibri"/>
              </a:rPr>
              <a:t>The</a:t>
            </a:r>
            <a:r>
              <a:rPr sz="2150" spc="-2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cell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state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is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kind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of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like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a </a:t>
            </a:r>
            <a:r>
              <a:rPr sz="2150" spc="-20" dirty="0">
                <a:latin typeface="Calibri"/>
                <a:cs typeface="Calibri"/>
              </a:rPr>
              <a:t>conveyor </a:t>
            </a:r>
            <a:r>
              <a:rPr sz="2150" spc="-5" dirty="0">
                <a:latin typeface="Calibri"/>
                <a:cs typeface="Calibri"/>
              </a:rPr>
              <a:t>belt.</a:t>
            </a:r>
            <a:endParaRPr sz="2150">
              <a:latin typeface="Calibri"/>
              <a:cs typeface="Calibri"/>
            </a:endParaRPr>
          </a:p>
          <a:p>
            <a:pPr marL="201295" marR="52069" indent="-189230">
              <a:lnSpc>
                <a:spcPts val="2320"/>
              </a:lnSpc>
              <a:spcBef>
                <a:spcPts val="860"/>
              </a:spcBef>
              <a:buFont typeface="Arial MT"/>
              <a:buChar char="•"/>
              <a:tabLst>
                <a:tab pos="201930" algn="l"/>
              </a:tabLst>
            </a:pPr>
            <a:r>
              <a:rPr sz="2150" spc="-5" dirty="0">
                <a:latin typeface="Calibri"/>
                <a:cs typeface="Calibri"/>
              </a:rPr>
              <a:t>It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runs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-20" dirty="0">
                <a:latin typeface="Calibri"/>
                <a:cs typeface="Calibri"/>
              </a:rPr>
              <a:t>straight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down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the</a:t>
            </a:r>
            <a:r>
              <a:rPr sz="2150" spc="-20" dirty="0">
                <a:latin typeface="Calibri"/>
                <a:cs typeface="Calibri"/>
              </a:rPr>
              <a:t> </a:t>
            </a:r>
            <a:r>
              <a:rPr sz="2150" spc="-15" dirty="0">
                <a:latin typeface="Calibri"/>
                <a:cs typeface="Calibri"/>
              </a:rPr>
              <a:t>entire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chain,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with </a:t>
            </a:r>
            <a:r>
              <a:rPr sz="2150" spc="-47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only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some</a:t>
            </a:r>
            <a:r>
              <a:rPr sz="2150" spc="-2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minor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linear</a:t>
            </a:r>
            <a:r>
              <a:rPr sz="2150" spc="-15" dirty="0">
                <a:latin typeface="Calibri"/>
                <a:cs typeface="Calibri"/>
              </a:rPr>
              <a:t> interactions.</a:t>
            </a:r>
            <a:endParaRPr sz="2150">
              <a:latin typeface="Calibri"/>
              <a:cs typeface="Calibri"/>
            </a:endParaRPr>
          </a:p>
          <a:p>
            <a:pPr marL="201295" marR="306705" indent="-189230">
              <a:lnSpc>
                <a:spcPts val="2320"/>
              </a:lnSpc>
              <a:spcBef>
                <a:spcPts val="810"/>
              </a:spcBef>
              <a:buFont typeface="Arial MT"/>
              <a:buChar char="•"/>
              <a:tabLst>
                <a:tab pos="201930" algn="l"/>
              </a:tabLst>
            </a:pPr>
            <a:r>
              <a:rPr sz="2150" spc="-20" dirty="0">
                <a:latin typeface="Calibri"/>
                <a:cs typeface="Calibri"/>
              </a:rPr>
              <a:t>It’s</a:t>
            </a:r>
            <a:r>
              <a:rPr sz="2150" spc="-10" dirty="0">
                <a:latin typeface="Calibri"/>
                <a:cs typeface="Calibri"/>
              </a:rPr>
              <a:t> very </a:t>
            </a:r>
            <a:r>
              <a:rPr sz="2150" spc="-15" dirty="0">
                <a:latin typeface="Calibri"/>
                <a:cs typeface="Calibri"/>
              </a:rPr>
              <a:t>easy</a:t>
            </a:r>
            <a:r>
              <a:rPr sz="2150" spc="-20" dirty="0">
                <a:latin typeface="Calibri"/>
                <a:cs typeface="Calibri"/>
              </a:rPr>
              <a:t> for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15" dirty="0">
                <a:latin typeface="Calibri"/>
                <a:cs typeface="Calibri"/>
              </a:rPr>
              <a:t>information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spc="-15" dirty="0">
                <a:latin typeface="Calibri"/>
                <a:cs typeface="Calibri"/>
              </a:rPr>
              <a:t>to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just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flow </a:t>
            </a:r>
            <a:r>
              <a:rPr sz="2150" spc="-47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along it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unchanged.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30111" y="2636520"/>
            <a:ext cx="3137916" cy="17236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865" y="1558543"/>
            <a:ext cx="2623185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LSTMs</a:t>
            </a:r>
            <a:r>
              <a:rPr spc="-55" dirty="0"/>
              <a:t> </a:t>
            </a:r>
            <a:r>
              <a:rPr spc="10" dirty="0"/>
              <a:t>-</a:t>
            </a:r>
            <a:r>
              <a:rPr spc="-10" dirty="0"/>
              <a:t> </a:t>
            </a:r>
            <a:r>
              <a:rPr spc="-20" dirty="0"/>
              <a:t>Gates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0149" y="2189479"/>
            <a:ext cx="6443980" cy="386080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01295" marR="222885" indent="-189230">
              <a:lnSpc>
                <a:spcPts val="2500"/>
              </a:lnSpc>
              <a:spcBef>
                <a:spcPts val="415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dirty="0">
                <a:latin typeface="Calibri"/>
                <a:cs typeface="Calibri"/>
              </a:rPr>
              <a:t>The LSTM </a:t>
            </a:r>
            <a:r>
              <a:rPr sz="2300" spc="5" dirty="0">
                <a:latin typeface="Calibri"/>
                <a:cs typeface="Calibri"/>
              </a:rPr>
              <a:t>does </a:t>
            </a:r>
            <a:r>
              <a:rPr sz="2300" spc="-15" dirty="0">
                <a:latin typeface="Calibri"/>
                <a:cs typeface="Calibri"/>
              </a:rPr>
              <a:t>have </a:t>
            </a:r>
            <a:r>
              <a:rPr sz="2300" dirty="0">
                <a:latin typeface="Calibri"/>
                <a:cs typeface="Calibri"/>
              </a:rPr>
              <a:t>the ability </a:t>
            </a:r>
            <a:r>
              <a:rPr sz="2300" spc="-5" dirty="0">
                <a:latin typeface="Calibri"/>
                <a:cs typeface="Calibri"/>
              </a:rPr>
              <a:t>to </a:t>
            </a:r>
            <a:r>
              <a:rPr sz="2300" spc="-10" dirty="0">
                <a:latin typeface="Calibri"/>
                <a:cs typeface="Calibri"/>
              </a:rPr>
              <a:t>remove </a:t>
            </a:r>
            <a:r>
              <a:rPr sz="2300" spc="5" dirty="0">
                <a:latin typeface="Calibri"/>
                <a:cs typeface="Calibri"/>
              </a:rPr>
              <a:t>or </a:t>
            </a:r>
            <a:r>
              <a:rPr sz="2300" dirty="0">
                <a:latin typeface="Calibri"/>
                <a:cs typeface="Calibri"/>
              </a:rPr>
              <a:t>add 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information to </a:t>
            </a:r>
            <a:r>
              <a:rPr sz="2300" dirty="0">
                <a:latin typeface="Calibri"/>
                <a:cs typeface="Calibri"/>
              </a:rPr>
              <a:t>the </a:t>
            </a:r>
            <a:r>
              <a:rPr sz="2300" i="1" spc="-5" dirty="0">
                <a:solidFill>
                  <a:srgbClr val="FF0000"/>
                </a:solidFill>
                <a:latin typeface="Calibri"/>
                <a:cs typeface="Calibri"/>
              </a:rPr>
              <a:t>cell </a:t>
            </a:r>
            <a:r>
              <a:rPr sz="2300" i="1" spc="-10" dirty="0">
                <a:solidFill>
                  <a:srgbClr val="FF0000"/>
                </a:solidFill>
                <a:latin typeface="Calibri"/>
                <a:cs typeface="Calibri"/>
              </a:rPr>
              <a:t>state</a:t>
            </a:r>
            <a:r>
              <a:rPr sz="2300" spc="-10" dirty="0">
                <a:latin typeface="Calibri"/>
                <a:cs typeface="Calibri"/>
              </a:rPr>
              <a:t>, carefully </a:t>
            </a:r>
            <a:r>
              <a:rPr sz="2300" spc="-5" dirty="0">
                <a:latin typeface="Calibri"/>
                <a:cs typeface="Calibri"/>
              </a:rPr>
              <a:t>regulated by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structures called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i="1" dirty="0">
                <a:solidFill>
                  <a:srgbClr val="FF0000"/>
                </a:solidFill>
                <a:latin typeface="Calibri"/>
                <a:cs typeface="Calibri"/>
              </a:rPr>
              <a:t>gates</a:t>
            </a:r>
            <a:r>
              <a:rPr sz="2300" dirty="0">
                <a:latin typeface="Calibri"/>
                <a:cs typeface="Calibri"/>
              </a:rPr>
              <a:t>.</a:t>
            </a:r>
            <a:endParaRPr sz="2300">
              <a:latin typeface="Calibri"/>
              <a:cs typeface="Calibri"/>
            </a:endParaRPr>
          </a:p>
          <a:p>
            <a:pPr marL="201295" marR="5080" indent="-189230">
              <a:lnSpc>
                <a:spcPct val="90200"/>
              </a:lnSpc>
              <a:spcBef>
                <a:spcPts val="785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spc="-5" dirty="0">
                <a:latin typeface="Calibri"/>
                <a:cs typeface="Calibri"/>
              </a:rPr>
              <a:t>Gates </a:t>
            </a:r>
            <a:r>
              <a:rPr sz="2300" spc="-10" dirty="0">
                <a:latin typeface="Calibri"/>
                <a:cs typeface="Calibri"/>
              </a:rPr>
              <a:t>are </a:t>
            </a:r>
            <a:r>
              <a:rPr sz="2300" spc="5" dirty="0">
                <a:latin typeface="Calibri"/>
                <a:cs typeface="Calibri"/>
              </a:rPr>
              <a:t>a </a:t>
            </a:r>
            <a:r>
              <a:rPr sz="2300" spc="-20" dirty="0">
                <a:latin typeface="Calibri"/>
                <a:cs typeface="Calibri"/>
              </a:rPr>
              <a:t>way </a:t>
            </a:r>
            <a:r>
              <a:rPr sz="2300" spc="-5" dirty="0">
                <a:latin typeface="Calibri"/>
                <a:cs typeface="Calibri"/>
              </a:rPr>
              <a:t>to </a:t>
            </a:r>
            <a:r>
              <a:rPr sz="2300" dirty="0">
                <a:latin typeface="Calibri"/>
                <a:cs typeface="Calibri"/>
              </a:rPr>
              <a:t>optionally </a:t>
            </a:r>
            <a:r>
              <a:rPr sz="2300" spc="-5" dirty="0">
                <a:latin typeface="Calibri"/>
                <a:cs typeface="Calibri"/>
              </a:rPr>
              <a:t>let information 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through. </a:t>
            </a:r>
            <a:r>
              <a:rPr sz="2300" dirty="0">
                <a:latin typeface="Calibri"/>
                <a:cs typeface="Calibri"/>
              </a:rPr>
              <a:t>They </a:t>
            </a:r>
            <a:r>
              <a:rPr sz="2300" spc="-10" dirty="0">
                <a:latin typeface="Calibri"/>
                <a:cs typeface="Calibri"/>
              </a:rPr>
              <a:t>are </a:t>
            </a:r>
            <a:r>
              <a:rPr sz="2300" dirty="0">
                <a:latin typeface="Calibri"/>
                <a:cs typeface="Calibri"/>
              </a:rPr>
              <a:t>composed out </a:t>
            </a:r>
            <a:r>
              <a:rPr sz="2300" spc="5" dirty="0">
                <a:latin typeface="Calibri"/>
                <a:cs typeface="Calibri"/>
              </a:rPr>
              <a:t>of a </a:t>
            </a:r>
            <a:r>
              <a:rPr sz="2300" dirty="0">
                <a:latin typeface="Calibri"/>
                <a:cs typeface="Calibri"/>
              </a:rPr>
              <a:t>sigmoid </a:t>
            </a:r>
            <a:r>
              <a:rPr sz="2300" spc="-10" dirty="0">
                <a:latin typeface="Calibri"/>
                <a:cs typeface="Calibri"/>
              </a:rPr>
              <a:t>neural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net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layer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a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point-wise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multiplication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operation.</a:t>
            </a:r>
            <a:endParaRPr sz="2300">
              <a:latin typeface="Calibri"/>
              <a:cs typeface="Calibri"/>
            </a:endParaRPr>
          </a:p>
          <a:p>
            <a:pPr marL="201295" marR="213995" indent="-189230">
              <a:lnSpc>
                <a:spcPts val="2500"/>
              </a:lnSpc>
              <a:spcBef>
                <a:spcPts val="865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dirty="0">
                <a:latin typeface="Calibri"/>
                <a:cs typeface="Calibri"/>
              </a:rPr>
              <a:t>The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sigmoid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layer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outputs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numbers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i="1" dirty="0">
                <a:solidFill>
                  <a:srgbClr val="FF0000"/>
                </a:solidFill>
                <a:latin typeface="Calibri"/>
                <a:cs typeface="Calibri"/>
              </a:rPr>
              <a:t>between</a:t>
            </a:r>
            <a:r>
              <a:rPr sz="2300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i="1" spc="-10" dirty="0">
                <a:solidFill>
                  <a:srgbClr val="FF0000"/>
                </a:solidFill>
                <a:latin typeface="Calibri"/>
                <a:cs typeface="Calibri"/>
              </a:rPr>
              <a:t>zero </a:t>
            </a:r>
            <a:r>
              <a:rPr sz="2300" i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i="1" dirty="0">
                <a:solidFill>
                  <a:srgbClr val="FF0000"/>
                </a:solidFill>
                <a:latin typeface="Calibri"/>
                <a:cs typeface="Calibri"/>
              </a:rPr>
              <a:t>and one</a:t>
            </a:r>
            <a:r>
              <a:rPr sz="2300" dirty="0">
                <a:latin typeface="Calibri"/>
                <a:cs typeface="Calibri"/>
              </a:rPr>
              <a:t>, describing how </a:t>
            </a:r>
            <a:r>
              <a:rPr sz="2300" spc="5" dirty="0">
                <a:latin typeface="Calibri"/>
                <a:cs typeface="Calibri"/>
              </a:rPr>
              <a:t>much of each </a:t>
            </a:r>
            <a:r>
              <a:rPr sz="2300" dirty="0">
                <a:latin typeface="Calibri"/>
                <a:cs typeface="Calibri"/>
              </a:rPr>
              <a:t>component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should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be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let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through.</a:t>
            </a:r>
            <a:endParaRPr sz="2300">
              <a:latin typeface="Calibri"/>
              <a:cs typeface="Calibri"/>
            </a:endParaRPr>
          </a:p>
          <a:p>
            <a:pPr marL="201295" marR="24765" indent="-189230">
              <a:lnSpc>
                <a:spcPts val="2500"/>
              </a:lnSpc>
              <a:spcBef>
                <a:spcPts val="805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spc="5" dirty="0">
                <a:latin typeface="Calibri"/>
                <a:cs typeface="Calibri"/>
              </a:rPr>
              <a:t>A </a:t>
            </a:r>
            <a:r>
              <a:rPr sz="2300" spc="-10" dirty="0">
                <a:latin typeface="Calibri"/>
                <a:cs typeface="Calibri"/>
              </a:rPr>
              <a:t>value </a:t>
            </a:r>
            <a:r>
              <a:rPr sz="2300" spc="5" dirty="0">
                <a:latin typeface="Calibri"/>
                <a:cs typeface="Calibri"/>
              </a:rPr>
              <a:t>of </a:t>
            </a:r>
            <a:r>
              <a:rPr sz="2300" spc="-20" dirty="0">
                <a:latin typeface="Calibri"/>
                <a:cs typeface="Calibri"/>
              </a:rPr>
              <a:t>zero </a:t>
            </a:r>
            <a:r>
              <a:rPr sz="2300" dirty="0">
                <a:latin typeface="Calibri"/>
                <a:cs typeface="Calibri"/>
              </a:rPr>
              <a:t>means “let nothing </a:t>
            </a:r>
            <a:r>
              <a:rPr sz="2300" spc="-20" dirty="0">
                <a:latin typeface="Calibri"/>
                <a:cs typeface="Calibri"/>
              </a:rPr>
              <a:t>through,” </a:t>
            </a:r>
            <a:r>
              <a:rPr sz="2300" dirty="0">
                <a:latin typeface="Calibri"/>
                <a:cs typeface="Calibri"/>
              </a:rPr>
              <a:t>while </a:t>
            </a:r>
            <a:r>
              <a:rPr sz="2300" spc="5" dirty="0">
                <a:latin typeface="Calibri"/>
                <a:cs typeface="Calibri"/>
              </a:rPr>
              <a:t>a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value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of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means “let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everything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through!”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50480" y="2948939"/>
            <a:ext cx="1553210" cy="1897380"/>
            <a:chOff x="7650480" y="2948939"/>
            <a:chExt cx="1553210" cy="18973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50480" y="2948939"/>
              <a:ext cx="1552955" cy="3581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442960" y="3348989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>
                  <a:moveTo>
                    <a:pt x="0" y="0"/>
                  </a:moveTo>
                  <a:lnTo>
                    <a:pt x="7620" y="0"/>
                  </a:lnTo>
                </a:path>
              </a:pathLst>
            </a:custGeom>
            <a:ln w="7620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38160" y="3352799"/>
              <a:ext cx="601980" cy="1493520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7144511" y="1303013"/>
            <a:ext cx="2646045" cy="1173480"/>
            <a:chOff x="7144511" y="1303013"/>
            <a:chExt cx="2646045" cy="117348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46619" y="1344161"/>
              <a:ext cx="2464308" cy="365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292339" y="1383023"/>
              <a:ext cx="608330" cy="5080"/>
            </a:xfrm>
            <a:custGeom>
              <a:avLst/>
              <a:gdLst/>
              <a:ahLst/>
              <a:cxnLst/>
              <a:rect l="l" t="t" r="r" b="b"/>
              <a:pathLst>
                <a:path w="608329" h="5080">
                  <a:moveTo>
                    <a:pt x="0" y="0"/>
                  </a:moveTo>
                  <a:lnTo>
                    <a:pt x="4572" y="0"/>
                  </a:lnTo>
                </a:path>
                <a:path w="608329" h="5080">
                  <a:moveTo>
                    <a:pt x="603504" y="0"/>
                  </a:moveTo>
                  <a:lnTo>
                    <a:pt x="608076" y="0"/>
                  </a:lnTo>
                </a:path>
                <a:path w="608329" h="5080">
                  <a:moveTo>
                    <a:pt x="0" y="4572"/>
                  </a:moveTo>
                  <a:lnTo>
                    <a:pt x="4572" y="4572"/>
                  </a:lnTo>
                </a:path>
                <a:path w="608329" h="5080">
                  <a:moveTo>
                    <a:pt x="603504" y="4572"/>
                  </a:moveTo>
                  <a:lnTo>
                    <a:pt x="608076" y="4572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24543" y="1380737"/>
              <a:ext cx="786384" cy="1828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292339" y="1392167"/>
              <a:ext cx="2418715" cy="13970"/>
            </a:xfrm>
            <a:custGeom>
              <a:avLst/>
              <a:gdLst/>
              <a:ahLst/>
              <a:cxnLst/>
              <a:rect l="l" t="t" r="r" b="b"/>
              <a:pathLst>
                <a:path w="2418715" h="13969">
                  <a:moveTo>
                    <a:pt x="0" y="0"/>
                  </a:moveTo>
                  <a:lnTo>
                    <a:pt x="4572" y="0"/>
                  </a:lnTo>
                </a:path>
                <a:path w="2418715" h="13969">
                  <a:moveTo>
                    <a:pt x="603504" y="0"/>
                  </a:moveTo>
                  <a:lnTo>
                    <a:pt x="608076" y="0"/>
                  </a:lnTo>
                </a:path>
                <a:path w="2418715" h="13969">
                  <a:moveTo>
                    <a:pt x="0" y="4572"/>
                  </a:moveTo>
                  <a:lnTo>
                    <a:pt x="4572" y="4572"/>
                  </a:lnTo>
                </a:path>
                <a:path w="2418715" h="13969">
                  <a:moveTo>
                    <a:pt x="603504" y="4572"/>
                  </a:moveTo>
                  <a:lnTo>
                    <a:pt x="608076" y="4572"/>
                  </a:lnTo>
                </a:path>
                <a:path w="2418715" h="13969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13969">
                  <a:moveTo>
                    <a:pt x="0" y="9144"/>
                  </a:moveTo>
                  <a:lnTo>
                    <a:pt x="4572" y="9144"/>
                  </a:lnTo>
                </a:path>
                <a:path w="2418715" h="13969">
                  <a:moveTo>
                    <a:pt x="603504" y="9144"/>
                  </a:moveTo>
                  <a:lnTo>
                    <a:pt x="608076" y="9144"/>
                  </a:lnTo>
                </a:path>
                <a:path w="2418715" h="13969">
                  <a:moveTo>
                    <a:pt x="2414016" y="9144"/>
                  </a:moveTo>
                  <a:lnTo>
                    <a:pt x="2418588" y="9144"/>
                  </a:lnTo>
                </a:path>
                <a:path w="2418715" h="13969">
                  <a:moveTo>
                    <a:pt x="0" y="13716"/>
                  </a:moveTo>
                  <a:lnTo>
                    <a:pt x="4572" y="13716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895843" y="1405883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92339" y="1405883"/>
              <a:ext cx="2418715" cy="45720"/>
            </a:xfrm>
            <a:custGeom>
              <a:avLst/>
              <a:gdLst/>
              <a:ahLst/>
              <a:cxnLst/>
              <a:rect l="l" t="t" r="r" b="b"/>
              <a:pathLst>
                <a:path w="2418715" h="45719">
                  <a:moveTo>
                    <a:pt x="2414016" y="0"/>
                  </a:moveTo>
                  <a:lnTo>
                    <a:pt x="2418588" y="0"/>
                  </a:lnTo>
                </a:path>
                <a:path w="2418715" h="45719">
                  <a:moveTo>
                    <a:pt x="0" y="4572"/>
                  </a:moveTo>
                  <a:lnTo>
                    <a:pt x="4572" y="4572"/>
                  </a:lnTo>
                </a:path>
                <a:path w="2418715" h="45719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45719">
                  <a:moveTo>
                    <a:pt x="0" y="9144"/>
                  </a:moveTo>
                  <a:lnTo>
                    <a:pt x="4572" y="9144"/>
                  </a:lnTo>
                </a:path>
                <a:path w="2418715" h="45719">
                  <a:moveTo>
                    <a:pt x="2414016" y="9144"/>
                  </a:moveTo>
                  <a:lnTo>
                    <a:pt x="2418588" y="9144"/>
                  </a:lnTo>
                </a:path>
                <a:path w="2418715" h="45719">
                  <a:moveTo>
                    <a:pt x="0" y="13716"/>
                  </a:moveTo>
                  <a:lnTo>
                    <a:pt x="4572" y="13716"/>
                  </a:lnTo>
                </a:path>
                <a:path w="2418715" h="45719">
                  <a:moveTo>
                    <a:pt x="2414016" y="13715"/>
                  </a:moveTo>
                  <a:lnTo>
                    <a:pt x="2418588" y="13715"/>
                  </a:lnTo>
                </a:path>
                <a:path w="2418715" h="45719">
                  <a:moveTo>
                    <a:pt x="0" y="18287"/>
                  </a:moveTo>
                  <a:lnTo>
                    <a:pt x="4572" y="18287"/>
                  </a:lnTo>
                </a:path>
                <a:path w="2418715" h="45719">
                  <a:moveTo>
                    <a:pt x="2414016" y="18287"/>
                  </a:moveTo>
                  <a:lnTo>
                    <a:pt x="2418588" y="18287"/>
                  </a:lnTo>
                </a:path>
                <a:path w="2418715" h="45719">
                  <a:moveTo>
                    <a:pt x="0" y="22860"/>
                  </a:moveTo>
                  <a:lnTo>
                    <a:pt x="4572" y="22860"/>
                  </a:lnTo>
                </a:path>
                <a:path w="2418715" h="45719">
                  <a:moveTo>
                    <a:pt x="2414016" y="22860"/>
                  </a:moveTo>
                  <a:lnTo>
                    <a:pt x="2418588" y="22860"/>
                  </a:lnTo>
                </a:path>
                <a:path w="2418715" h="45719">
                  <a:moveTo>
                    <a:pt x="0" y="27432"/>
                  </a:moveTo>
                  <a:lnTo>
                    <a:pt x="4572" y="27432"/>
                  </a:lnTo>
                </a:path>
                <a:path w="2418715" h="45719">
                  <a:moveTo>
                    <a:pt x="2414016" y="27431"/>
                  </a:moveTo>
                  <a:lnTo>
                    <a:pt x="2418588" y="27431"/>
                  </a:lnTo>
                </a:path>
                <a:path w="2418715" h="45719">
                  <a:moveTo>
                    <a:pt x="0" y="32003"/>
                  </a:moveTo>
                  <a:lnTo>
                    <a:pt x="4572" y="32003"/>
                  </a:lnTo>
                </a:path>
                <a:path w="2418715" h="45719">
                  <a:moveTo>
                    <a:pt x="2414016" y="32003"/>
                  </a:moveTo>
                  <a:lnTo>
                    <a:pt x="2418588" y="32003"/>
                  </a:lnTo>
                </a:path>
                <a:path w="2418715" h="45719">
                  <a:moveTo>
                    <a:pt x="0" y="36575"/>
                  </a:moveTo>
                  <a:lnTo>
                    <a:pt x="4572" y="36575"/>
                  </a:lnTo>
                </a:path>
                <a:path w="2418715" h="45719">
                  <a:moveTo>
                    <a:pt x="2414016" y="36575"/>
                  </a:moveTo>
                  <a:lnTo>
                    <a:pt x="2418588" y="36575"/>
                  </a:lnTo>
                </a:path>
                <a:path w="2418715" h="45719">
                  <a:moveTo>
                    <a:pt x="0" y="41148"/>
                  </a:moveTo>
                  <a:lnTo>
                    <a:pt x="4572" y="41148"/>
                  </a:lnTo>
                </a:path>
                <a:path w="2418715" h="45719">
                  <a:moveTo>
                    <a:pt x="2414016" y="41148"/>
                  </a:moveTo>
                  <a:lnTo>
                    <a:pt x="2418588" y="41148"/>
                  </a:lnTo>
                </a:path>
                <a:path w="2418715" h="45719">
                  <a:moveTo>
                    <a:pt x="0" y="45720"/>
                  </a:moveTo>
                  <a:lnTo>
                    <a:pt x="4572" y="4572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187183" y="144245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73467" y="1353305"/>
              <a:ext cx="150875" cy="13258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706355" y="1451603"/>
              <a:ext cx="5080" cy="22860"/>
            </a:xfrm>
            <a:custGeom>
              <a:avLst/>
              <a:gdLst/>
              <a:ahLst/>
              <a:cxnLst/>
              <a:rect l="l" t="t" r="r" b="b"/>
              <a:pathLst>
                <a:path w="5079" h="22859">
                  <a:moveTo>
                    <a:pt x="0" y="0"/>
                  </a:moveTo>
                  <a:lnTo>
                    <a:pt x="4572" y="0"/>
                  </a:lnTo>
                </a:path>
                <a:path w="5079" h="22859">
                  <a:moveTo>
                    <a:pt x="0" y="4571"/>
                  </a:moveTo>
                  <a:lnTo>
                    <a:pt x="4572" y="4571"/>
                  </a:lnTo>
                </a:path>
                <a:path w="5079" h="22859">
                  <a:moveTo>
                    <a:pt x="0" y="9143"/>
                  </a:moveTo>
                  <a:lnTo>
                    <a:pt x="4572" y="9143"/>
                  </a:lnTo>
                </a:path>
                <a:path w="5079" h="22859">
                  <a:moveTo>
                    <a:pt x="0" y="13715"/>
                  </a:moveTo>
                  <a:lnTo>
                    <a:pt x="4572" y="13715"/>
                  </a:lnTo>
                </a:path>
                <a:path w="5079" h="22859">
                  <a:moveTo>
                    <a:pt x="0" y="18287"/>
                  </a:moveTo>
                  <a:lnTo>
                    <a:pt x="4572" y="18287"/>
                  </a:lnTo>
                </a:path>
                <a:path w="5079" h="22859">
                  <a:moveTo>
                    <a:pt x="0" y="22859"/>
                  </a:moveTo>
                  <a:lnTo>
                    <a:pt x="4572" y="22859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88067" y="1476749"/>
              <a:ext cx="22859" cy="457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706355" y="1483607"/>
              <a:ext cx="5080" cy="5080"/>
            </a:xfrm>
            <a:custGeom>
              <a:avLst/>
              <a:gdLst/>
              <a:ahLst/>
              <a:cxnLst/>
              <a:rect l="l" t="t" r="r" b="b"/>
              <a:pathLst>
                <a:path w="5079" h="5080">
                  <a:moveTo>
                    <a:pt x="0" y="0"/>
                  </a:moveTo>
                  <a:lnTo>
                    <a:pt x="4572" y="0"/>
                  </a:lnTo>
                </a:path>
                <a:path w="5079" h="5080">
                  <a:moveTo>
                    <a:pt x="0" y="4572"/>
                  </a:moveTo>
                  <a:lnTo>
                    <a:pt x="4572" y="4572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78039" y="1453889"/>
              <a:ext cx="118872" cy="4572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219187" y="149275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764E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92339" y="1492751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19187" y="1497323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292339" y="1497323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19187" y="150189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292339" y="1501895"/>
              <a:ext cx="2418715" cy="55244"/>
            </a:xfrm>
            <a:custGeom>
              <a:avLst/>
              <a:gdLst/>
              <a:ahLst/>
              <a:cxnLst/>
              <a:rect l="l" t="t" r="r" b="b"/>
              <a:pathLst>
                <a:path w="2418715" h="55244">
                  <a:moveTo>
                    <a:pt x="0" y="0"/>
                  </a:moveTo>
                  <a:lnTo>
                    <a:pt x="4572" y="0"/>
                  </a:lnTo>
                </a:path>
                <a:path w="2418715" h="55244">
                  <a:moveTo>
                    <a:pt x="2414016" y="0"/>
                  </a:moveTo>
                  <a:lnTo>
                    <a:pt x="2418588" y="0"/>
                  </a:lnTo>
                </a:path>
                <a:path w="2418715" h="55244">
                  <a:moveTo>
                    <a:pt x="0" y="4572"/>
                  </a:moveTo>
                  <a:lnTo>
                    <a:pt x="4572" y="4572"/>
                  </a:lnTo>
                </a:path>
                <a:path w="2418715" h="55244">
                  <a:moveTo>
                    <a:pt x="2414016" y="4571"/>
                  </a:moveTo>
                  <a:lnTo>
                    <a:pt x="2418588" y="4571"/>
                  </a:lnTo>
                </a:path>
                <a:path w="2418715" h="55244">
                  <a:moveTo>
                    <a:pt x="0" y="9143"/>
                  </a:moveTo>
                  <a:lnTo>
                    <a:pt x="4572" y="9143"/>
                  </a:lnTo>
                </a:path>
                <a:path w="2418715" h="55244">
                  <a:moveTo>
                    <a:pt x="2414016" y="9143"/>
                  </a:moveTo>
                  <a:lnTo>
                    <a:pt x="2418588" y="9143"/>
                  </a:lnTo>
                </a:path>
                <a:path w="2418715" h="55244">
                  <a:moveTo>
                    <a:pt x="0" y="13715"/>
                  </a:moveTo>
                  <a:lnTo>
                    <a:pt x="4572" y="13715"/>
                  </a:lnTo>
                </a:path>
                <a:path w="2418715" h="55244">
                  <a:moveTo>
                    <a:pt x="2414016" y="13715"/>
                  </a:moveTo>
                  <a:lnTo>
                    <a:pt x="2418588" y="13715"/>
                  </a:lnTo>
                </a:path>
                <a:path w="2418715" h="55244">
                  <a:moveTo>
                    <a:pt x="0" y="18287"/>
                  </a:moveTo>
                  <a:lnTo>
                    <a:pt x="4572" y="18287"/>
                  </a:lnTo>
                </a:path>
                <a:path w="2418715" h="55244">
                  <a:moveTo>
                    <a:pt x="2414016" y="18287"/>
                  </a:moveTo>
                  <a:lnTo>
                    <a:pt x="2418588" y="18287"/>
                  </a:lnTo>
                </a:path>
                <a:path w="2418715" h="55244">
                  <a:moveTo>
                    <a:pt x="0" y="22866"/>
                  </a:moveTo>
                  <a:lnTo>
                    <a:pt x="4572" y="22866"/>
                  </a:lnTo>
                </a:path>
                <a:path w="2418715" h="55244">
                  <a:moveTo>
                    <a:pt x="2414016" y="22866"/>
                  </a:moveTo>
                  <a:lnTo>
                    <a:pt x="2418588" y="22866"/>
                  </a:lnTo>
                </a:path>
                <a:path w="2418715" h="55244">
                  <a:moveTo>
                    <a:pt x="0" y="27438"/>
                  </a:moveTo>
                  <a:lnTo>
                    <a:pt x="4572" y="27438"/>
                  </a:lnTo>
                </a:path>
                <a:path w="2418715" h="55244">
                  <a:moveTo>
                    <a:pt x="2414016" y="27438"/>
                  </a:moveTo>
                  <a:lnTo>
                    <a:pt x="2418588" y="27438"/>
                  </a:lnTo>
                </a:path>
                <a:path w="2418715" h="55244">
                  <a:moveTo>
                    <a:pt x="0" y="32010"/>
                  </a:moveTo>
                  <a:lnTo>
                    <a:pt x="4572" y="32010"/>
                  </a:lnTo>
                </a:path>
                <a:path w="2418715" h="55244">
                  <a:moveTo>
                    <a:pt x="2414016" y="32010"/>
                  </a:moveTo>
                  <a:lnTo>
                    <a:pt x="2418588" y="32010"/>
                  </a:lnTo>
                </a:path>
                <a:path w="2418715" h="55244">
                  <a:moveTo>
                    <a:pt x="0" y="36582"/>
                  </a:moveTo>
                  <a:lnTo>
                    <a:pt x="4572" y="36582"/>
                  </a:lnTo>
                </a:path>
                <a:path w="2418715" h="55244">
                  <a:moveTo>
                    <a:pt x="2414016" y="36582"/>
                  </a:moveTo>
                  <a:lnTo>
                    <a:pt x="2418588" y="36582"/>
                  </a:lnTo>
                </a:path>
                <a:path w="2418715" h="55244">
                  <a:moveTo>
                    <a:pt x="0" y="41154"/>
                  </a:moveTo>
                  <a:lnTo>
                    <a:pt x="4572" y="41154"/>
                  </a:lnTo>
                </a:path>
                <a:path w="2418715" h="55244">
                  <a:moveTo>
                    <a:pt x="2414016" y="41154"/>
                  </a:moveTo>
                  <a:lnTo>
                    <a:pt x="2418588" y="41154"/>
                  </a:lnTo>
                </a:path>
                <a:path w="2418715" h="55244">
                  <a:moveTo>
                    <a:pt x="0" y="45726"/>
                  </a:moveTo>
                  <a:lnTo>
                    <a:pt x="4572" y="45726"/>
                  </a:lnTo>
                </a:path>
                <a:path w="2418715" h="55244">
                  <a:moveTo>
                    <a:pt x="2414016" y="45726"/>
                  </a:moveTo>
                  <a:lnTo>
                    <a:pt x="2418588" y="45726"/>
                  </a:lnTo>
                </a:path>
                <a:path w="2418715" h="55244">
                  <a:moveTo>
                    <a:pt x="0" y="50298"/>
                  </a:moveTo>
                  <a:lnTo>
                    <a:pt x="4572" y="50298"/>
                  </a:lnTo>
                </a:path>
                <a:path w="2418715" h="55244">
                  <a:moveTo>
                    <a:pt x="2414016" y="50298"/>
                  </a:moveTo>
                  <a:lnTo>
                    <a:pt x="2418588" y="50298"/>
                  </a:lnTo>
                </a:path>
                <a:path w="2418715" h="55244">
                  <a:moveTo>
                    <a:pt x="0" y="54870"/>
                  </a:moveTo>
                  <a:lnTo>
                    <a:pt x="4572" y="54870"/>
                  </a:lnTo>
                </a:path>
                <a:path w="2418715" h="55244">
                  <a:moveTo>
                    <a:pt x="2414016" y="54870"/>
                  </a:moveTo>
                  <a:lnTo>
                    <a:pt x="2418588" y="5487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73467" y="1495037"/>
              <a:ext cx="150875" cy="9144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54211" y="1399025"/>
              <a:ext cx="800100" cy="33833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9706355" y="1561338"/>
              <a:ext cx="5080" cy="5080"/>
            </a:xfrm>
            <a:custGeom>
              <a:avLst/>
              <a:gdLst/>
              <a:ahLst/>
              <a:cxnLst/>
              <a:rect l="l" t="t" r="r" b="b"/>
              <a:pathLst>
                <a:path w="5079" h="5080">
                  <a:moveTo>
                    <a:pt x="0" y="0"/>
                  </a:moveTo>
                  <a:lnTo>
                    <a:pt x="4572" y="0"/>
                  </a:lnTo>
                </a:path>
                <a:path w="5079" h="5080">
                  <a:moveTo>
                    <a:pt x="0" y="4572"/>
                  </a:moveTo>
                  <a:lnTo>
                    <a:pt x="4572" y="4572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688067" y="1568196"/>
              <a:ext cx="22859" cy="1371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9706355" y="158419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78039" y="1559052"/>
              <a:ext cx="118872" cy="3657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9706355" y="1588770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219187" y="1586484"/>
              <a:ext cx="77724" cy="914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292339" y="1593342"/>
              <a:ext cx="2418715" cy="55244"/>
            </a:xfrm>
            <a:custGeom>
              <a:avLst/>
              <a:gdLst/>
              <a:ahLst/>
              <a:cxnLst/>
              <a:rect l="l" t="t" r="r" b="b"/>
              <a:pathLst>
                <a:path w="2418715" h="55244">
                  <a:moveTo>
                    <a:pt x="0" y="0"/>
                  </a:moveTo>
                  <a:lnTo>
                    <a:pt x="4572" y="0"/>
                  </a:lnTo>
                </a:path>
                <a:path w="2418715" h="55244">
                  <a:moveTo>
                    <a:pt x="2414016" y="0"/>
                  </a:moveTo>
                  <a:lnTo>
                    <a:pt x="2418588" y="0"/>
                  </a:lnTo>
                </a:path>
                <a:path w="2418715" h="55244">
                  <a:moveTo>
                    <a:pt x="0" y="4572"/>
                  </a:moveTo>
                  <a:lnTo>
                    <a:pt x="4572" y="4572"/>
                  </a:lnTo>
                </a:path>
                <a:path w="2418715" h="55244">
                  <a:moveTo>
                    <a:pt x="2414016" y="4571"/>
                  </a:moveTo>
                  <a:lnTo>
                    <a:pt x="2418588" y="4571"/>
                  </a:lnTo>
                </a:path>
                <a:path w="2418715" h="55244">
                  <a:moveTo>
                    <a:pt x="0" y="9143"/>
                  </a:moveTo>
                  <a:lnTo>
                    <a:pt x="4572" y="9143"/>
                  </a:lnTo>
                </a:path>
                <a:path w="2418715" h="55244">
                  <a:moveTo>
                    <a:pt x="2414016" y="9143"/>
                  </a:moveTo>
                  <a:lnTo>
                    <a:pt x="2418588" y="9143"/>
                  </a:lnTo>
                </a:path>
                <a:path w="2418715" h="55244">
                  <a:moveTo>
                    <a:pt x="0" y="13715"/>
                  </a:moveTo>
                  <a:lnTo>
                    <a:pt x="4572" y="13715"/>
                  </a:lnTo>
                </a:path>
                <a:path w="2418715" h="55244">
                  <a:moveTo>
                    <a:pt x="2414016" y="13715"/>
                  </a:moveTo>
                  <a:lnTo>
                    <a:pt x="2418588" y="13715"/>
                  </a:lnTo>
                </a:path>
                <a:path w="2418715" h="55244">
                  <a:moveTo>
                    <a:pt x="2414016" y="18287"/>
                  </a:moveTo>
                  <a:lnTo>
                    <a:pt x="2418588" y="18287"/>
                  </a:lnTo>
                </a:path>
                <a:path w="2418715" h="55244">
                  <a:moveTo>
                    <a:pt x="2414016" y="22859"/>
                  </a:moveTo>
                  <a:lnTo>
                    <a:pt x="2418588" y="22859"/>
                  </a:lnTo>
                </a:path>
                <a:path w="2418715" h="55244">
                  <a:moveTo>
                    <a:pt x="2414016" y="27431"/>
                  </a:moveTo>
                  <a:lnTo>
                    <a:pt x="2418588" y="27431"/>
                  </a:lnTo>
                </a:path>
                <a:path w="2418715" h="55244">
                  <a:moveTo>
                    <a:pt x="2414016" y="32003"/>
                  </a:moveTo>
                  <a:lnTo>
                    <a:pt x="2418588" y="32003"/>
                  </a:lnTo>
                </a:path>
                <a:path w="2418715" h="55244">
                  <a:moveTo>
                    <a:pt x="2414016" y="36575"/>
                  </a:moveTo>
                  <a:lnTo>
                    <a:pt x="2418588" y="36575"/>
                  </a:lnTo>
                </a:path>
                <a:path w="2418715" h="55244">
                  <a:moveTo>
                    <a:pt x="2414016" y="41147"/>
                  </a:moveTo>
                  <a:lnTo>
                    <a:pt x="2418588" y="41147"/>
                  </a:lnTo>
                </a:path>
                <a:path w="2418715" h="55244">
                  <a:moveTo>
                    <a:pt x="2414016" y="45719"/>
                  </a:moveTo>
                  <a:lnTo>
                    <a:pt x="2418588" y="45719"/>
                  </a:lnTo>
                </a:path>
                <a:path w="2418715" h="55244">
                  <a:moveTo>
                    <a:pt x="2414016" y="50291"/>
                  </a:moveTo>
                  <a:lnTo>
                    <a:pt x="2418588" y="50291"/>
                  </a:lnTo>
                </a:path>
                <a:path w="2418715" h="55244">
                  <a:moveTo>
                    <a:pt x="2414016" y="54863"/>
                  </a:moveTo>
                  <a:lnTo>
                    <a:pt x="2418588" y="54863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173467" y="1609344"/>
              <a:ext cx="150875" cy="6858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9706355" y="1652778"/>
              <a:ext cx="5080" cy="13970"/>
            </a:xfrm>
            <a:custGeom>
              <a:avLst/>
              <a:gdLst/>
              <a:ahLst/>
              <a:cxnLst/>
              <a:rect l="l" t="t" r="r" b="b"/>
              <a:pathLst>
                <a:path w="5079" h="13969">
                  <a:moveTo>
                    <a:pt x="0" y="0"/>
                  </a:moveTo>
                  <a:lnTo>
                    <a:pt x="4572" y="0"/>
                  </a:lnTo>
                </a:path>
                <a:path w="5079" h="13969">
                  <a:moveTo>
                    <a:pt x="0" y="4572"/>
                  </a:moveTo>
                  <a:lnTo>
                    <a:pt x="4572" y="4572"/>
                  </a:lnTo>
                </a:path>
                <a:path w="5079" h="13969">
                  <a:moveTo>
                    <a:pt x="0" y="9144"/>
                  </a:moveTo>
                  <a:lnTo>
                    <a:pt x="4572" y="9144"/>
                  </a:lnTo>
                </a:path>
                <a:path w="5079" h="13969">
                  <a:moveTo>
                    <a:pt x="0" y="13716"/>
                  </a:moveTo>
                  <a:lnTo>
                    <a:pt x="4572" y="13716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88067" y="1668780"/>
              <a:ext cx="22859" cy="457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9706355" y="1675638"/>
              <a:ext cx="5080" cy="5080"/>
            </a:xfrm>
            <a:custGeom>
              <a:avLst/>
              <a:gdLst/>
              <a:ahLst/>
              <a:cxnLst/>
              <a:rect l="l" t="t" r="r" b="b"/>
              <a:pathLst>
                <a:path w="5079" h="5080">
                  <a:moveTo>
                    <a:pt x="0" y="0"/>
                  </a:moveTo>
                  <a:lnTo>
                    <a:pt x="4572" y="0"/>
                  </a:lnTo>
                </a:path>
                <a:path w="5079" h="5080">
                  <a:moveTo>
                    <a:pt x="0" y="4571"/>
                  </a:moveTo>
                  <a:lnTo>
                    <a:pt x="4572" y="4571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73467" y="1655064"/>
              <a:ext cx="123444" cy="3657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9706355" y="168478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219187" y="1682496"/>
              <a:ext cx="77724" cy="9144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9706355" y="1689354"/>
              <a:ext cx="5080" cy="41275"/>
            </a:xfrm>
            <a:custGeom>
              <a:avLst/>
              <a:gdLst/>
              <a:ahLst/>
              <a:cxnLst/>
              <a:rect l="l" t="t" r="r" b="b"/>
              <a:pathLst>
                <a:path w="5079" h="41275">
                  <a:moveTo>
                    <a:pt x="0" y="0"/>
                  </a:moveTo>
                  <a:lnTo>
                    <a:pt x="4572" y="0"/>
                  </a:lnTo>
                </a:path>
                <a:path w="5079" h="41275">
                  <a:moveTo>
                    <a:pt x="0" y="4572"/>
                  </a:moveTo>
                  <a:lnTo>
                    <a:pt x="4572" y="4572"/>
                  </a:lnTo>
                </a:path>
                <a:path w="5079" h="41275">
                  <a:moveTo>
                    <a:pt x="0" y="9144"/>
                  </a:moveTo>
                  <a:lnTo>
                    <a:pt x="4572" y="9144"/>
                  </a:lnTo>
                </a:path>
                <a:path w="5079" h="41275">
                  <a:moveTo>
                    <a:pt x="0" y="13716"/>
                  </a:moveTo>
                  <a:lnTo>
                    <a:pt x="4572" y="13716"/>
                  </a:lnTo>
                </a:path>
                <a:path w="5079" h="41275">
                  <a:moveTo>
                    <a:pt x="0" y="18287"/>
                  </a:moveTo>
                  <a:lnTo>
                    <a:pt x="4572" y="18287"/>
                  </a:lnTo>
                </a:path>
                <a:path w="5079" h="41275">
                  <a:moveTo>
                    <a:pt x="0" y="22860"/>
                  </a:moveTo>
                  <a:lnTo>
                    <a:pt x="4572" y="22860"/>
                  </a:lnTo>
                </a:path>
                <a:path w="5079" h="41275">
                  <a:moveTo>
                    <a:pt x="0" y="27431"/>
                  </a:moveTo>
                  <a:lnTo>
                    <a:pt x="4572" y="27431"/>
                  </a:lnTo>
                </a:path>
                <a:path w="5079" h="41275">
                  <a:moveTo>
                    <a:pt x="0" y="32003"/>
                  </a:moveTo>
                  <a:lnTo>
                    <a:pt x="4572" y="32003"/>
                  </a:lnTo>
                </a:path>
                <a:path w="5079" h="41275">
                  <a:moveTo>
                    <a:pt x="0" y="36575"/>
                  </a:moveTo>
                  <a:lnTo>
                    <a:pt x="4572" y="36575"/>
                  </a:lnTo>
                </a:path>
                <a:path w="5079" h="41275">
                  <a:moveTo>
                    <a:pt x="0" y="41148"/>
                  </a:moveTo>
                  <a:lnTo>
                    <a:pt x="4572" y="41148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173467" y="1687068"/>
              <a:ext cx="123444" cy="64008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9706355" y="1735074"/>
              <a:ext cx="5080" cy="5080"/>
            </a:xfrm>
            <a:custGeom>
              <a:avLst/>
              <a:gdLst/>
              <a:ahLst/>
              <a:cxnLst/>
              <a:rect l="l" t="t" r="r" b="b"/>
              <a:pathLst>
                <a:path w="5079" h="5080">
                  <a:moveTo>
                    <a:pt x="0" y="0"/>
                  </a:moveTo>
                  <a:lnTo>
                    <a:pt x="4572" y="0"/>
                  </a:lnTo>
                </a:path>
                <a:path w="5079" h="5080">
                  <a:moveTo>
                    <a:pt x="0" y="4572"/>
                  </a:moveTo>
                  <a:lnTo>
                    <a:pt x="4572" y="4572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253727" y="1732788"/>
              <a:ext cx="50292" cy="1371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9706355" y="1744218"/>
              <a:ext cx="5080" cy="13970"/>
            </a:xfrm>
            <a:custGeom>
              <a:avLst/>
              <a:gdLst/>
              <a:ahLst/>
              <a:cxnLst/>
              <a:rect l="l" t="t" r="r" b="b"/>
              <a:pathLst>
                <a:path w="5079" h="13969">
                  <a:moveTo>
                    <a:pt x="0" y="0"/>
                  </a:moveTo>
                  <a:lnTo>
                    <a:pt x="4572" y="0"/>
                  </a:lnTo>
                </a:path>
                <a:path w="5079" h="13969">
                  <a:moveTo>
                    <a:pt x="0" y="4572"/>
                  </a:moveTo>
                  <a:lnTo>
                    <a:pt x="4572" y="4572"/>
                  </a:lnTo>
                </a:path>
                <a:path w="5079" h="13969">
                  <a:moveTo>
                    <a:pt x="0" y="9144"/>
                  </a:moveTo>
                  <a:lnTo>
                    <a:pt x="4572" y="9144"/>
                  </a:lnTo>
                </a:path>
                <a:path w="5079" h="13969">
                  <a:moveTo>
                    <a:pt x="0" y="13715"/>
                  </a:moveTo>
                  <a:lnTo>
                    <a:pt x="4572" y="13715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942831" y="1737360"/>
              <a:ext cx="118871" cy="7772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173467" y="1737360"/>
              <a:ext cx="150875" cy="41148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9706355" y="1762506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688067" y="1764792"/>
              <a:ext cx="22859" cy="914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107423" y="1737360"/>
              <a:ext cx="68580" cy="6858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833103" y="1737360"/>
              <a:ext cx="45719" cy="64008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9706355" y="177622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178039" y="1773936"/>
              <a:ext cx="118872" cy="13716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9706355" y="178079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219187" y="1785366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764E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292339" y="1785366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187183" y="1789938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292339" y="1789938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187183" y="179451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292339" y="1794510"/>
              <a:ext cx="2418715" cy="50800"/>
            </a:xfrm>
            <a:custGeom>
              <a:avLst/>
              <a:gdLst/>
              <a:ahLst/>
              <a:cxnLst/>
              <a:rect l="l" t="t" r="r" b="b"/>
              <a:pathLst>
                <a:path w="2418715" h="50800">
                  <a:moveTo>
                    <a:pt x="0" y="0"/>
                  </a:moveTo>
                  <a:lnTo>
                    <a:pt x="4572" y="0"/>
                  </a:lnTo>
                </a:path>
                <a:path w="2418715" h="50800">
                  <a:moveTo>
                    <a:pt x="2414016" y="0"/>
                  </a:moveTo>
                  <a:lnTo>
                    <a:pt x="2418588" y="0"/>
                  </a:lnTo>
                </a:path>
                <a:path w="2418715" h="50800">
                  <a:moveTo>
                    <a:pt x="0" y="4572"/>
                  </a:moveTo>
                  <a:lnTo>
                    <a:pt x="4572" y="4572"/>
                  </a:lnTo>
                </a:path>
                <a:path w="2418715" h="50800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50800">
                  <a:moveTo>
                    <a:pt x="0" y="9144"/>
                  </a:moveTo>
                  <a:lnTo>
                    <a:pt x="4572" y="9144"/>
                  </a:lnTo>
                </a:path>
                <a:path w="2418715" h="50800">
                  <a:moveTo>
                    <a:pt x="2414016" y="9144"/>
                  </a:moveTo>
                  <a:lnTo>
                    <a:pt x="2418588" y="9144"/>
                  </a:lnTo>
                </a:path>
                <a:path w="2418715" h="50800">
                  <a:moveTo>
                    <a:pt x="0" y="13716"/>
                  </a:moveTo>
                  <a:lnTo>
                    <a:pt x="4572" y="13716"/>
                  </a:lnTo>
                </a:path>
                <a:path w="2418715" h="50800">
                  <a:moveTo>
                    <a:pt x="2414016" y="13716"/>
                  </a:moveTo>
                  <a:lnTo>
                    <a:pt x="2418588" y="13716"/>
                  </a:lnTo>
                </a:path>
                <a:path w="2418715" h="50800">
                  <a:moveTo>
                    <a:pt x="0" y="18288"/>
                  </a:moveTo>
                  <a:lnTo>
                    <a:pt x="4572" y="18288"/>
                  </a:lnTo>
                </a:path>
                <a:path w="2418715" h="50800">
                  <a:moveTo>
                    <a:pt x="2414016" y="18288"/>
                  </a:moveTo>
                  <a:lnTo>
                    <a:pt x="2418588" y="18288"/>
                  </a:lnTo>
                </a:path>
                <a:path w="2418715" h="50800">
                  <a:moveTo>
                    <a:pt x="0" y="22860"/>
                  </a:moveTo>
                  <a:lnTo>
                    <a:pt x="4572" y="22860"/>
                  </a:lnTo>
                </a:path>
                <a:path w="2418715" h="50800">
                  <a:moveTo>
                    <a:pt x="2414016" y="22860"/>
                  </a:moveTo>
                  <a:lnTo>
                    <a:pt x="2418588" y="22860"/>
                  </a:lnTo>
                </a:path>
                <a:path w="2418715" h="50800">
                  <a:moveTo>
                    <a:pt x="0" y="27432"/>
                  </a:moveTo>
                  <a:lnTo>
                    <a:pt x="4572" y="27432"/>
                  </a:lnTo>
                </a:path>
                <a:path w="2418715" h="50800">
                  <a:moveTo>
                    <a:pt x="2414016" y="27432"/>
                  </a:moveTo>
                  <a:lnTo>
                    <a:pt x="2418588" y="27432"/>
                  </a:lnTo>
                </a:path>
                <a:path w="2418715" h="50800">
                  <a:moveTo>
                    <a:pt x="0" y="32004"/>
                  </a:moveTo>
                  <a:lnTo>
                    <a:pt x="4572" y="32004"/>
                  </a:lnTo>
                </a:path>
                <a:path w="2418715" h="50800">
                  <a:moveTo>
                    <a:pt x="2414016" y="32004"/>
                  </a:moveTo>
                  <a:lnTo>
                    <a:pt x="2418588" y="32004"/>
                  </a:lnTo>
                </a:path>
                <a:path w="2418715" h="50800">
                  <a:moveTo>
                    <a:pt x="0" y="36576"/>
                  </a:moveTo>
                  <a:lnTo>
                    <a:pt x="4572" y="36576"/>
                  </a:lnTo>
                </a:path>
                <a:path w="2418715" h="50800">
                  <a:moveTo>
                    <a:pt x="2414016" y="36575"/>
                  </a:moveTo>
                  <a:lnTo>
                    <a:pt x="2418588" y="36575"/>
                  </a:lnTo>
                </a:path>
                <a:path w="2418715" h="50800">
                  <a:moveTo>
                    <a:pt x="0" y="41148"/>
                  </a:moveTo>
                  <a:lnTo>
                    <a:pt x="4572" y="41148"/>
                  </a:lnTo>
                </a:path>
                <a:path w="2418715" h="50800">
                  <a:moveTo>
                    <a:pt x="2414016" y="41148"/>
                  </a:moveTo>
                  <a:lnTo>
                    <a:pt x="2418588" y="41148"/>
                  </a:lnTo>
                </a:path>
                <a:path w="2418715" h="50800">
                  <a:moveTo>
                    <a:pt x="0" y="45720"/>
                  </a:moveTo>
                  <a:lnTo>
                    <a:pt x="4572" y="45720"/>
                  </a:lnTo>
                </a:path>
                <a:path w="2418715" h="50800">
                  <a:moveTo>
                    <a:pt x="2414016" y="45720"/>
                  </a:moveTo>
                  <a:lnTo>
                    <a:pt x="2418588" y="45720"/>
                  </a:lnTo>
                </a:path>
                <a:path w="2418715" h="50800">
                  <a:moveTo>
                    <a:pt x="0" y="50292"/>
                  </a:moveTo>
                  <a:lnTo>
                    <a:pt x="4572" y="50292"/>
                  </a:lnTo>
                </a:path>
                <a:path w="2418715" h="50800">
                  <a:moveTo>
                    <a:pt x="2414016" y="50292"/>
                  </a:moveTo>
                  <a:lnTo>
                    <a:pt x="2418588" y="50292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173467" y="1783080"/>
              <a:ext cx="150875" cy="9144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9706355" y="1849374"/>
              <a:ext cx="5080" cy="9525"/>
            </a:xfrm>
            <a:custGeom>
              <a:avLst/>
              <a:gdLst/>
              <a:ahLst/>
              <a:cxnLst/>
              <a:rect l="l" t="t" r="r" b="b"/>
              <a:pathLst>
                <a:path w="5079" h="9525">
                  <a:moveTo>
                    <a:pt x="0" y="0"/>
                  </a:moveTo>
                  <a:lnTo>
                    <a:pt x="4572" y="0"/>
                  </a:lnTo>
                </a:path>
                <a:path w="5079" h="9525">
                  <a:moveTo>
                    <a:pt x="0" y="4572"/>
                  </a:moveTo>
                  <a:lnTo>
                    <a:pt x="4572" y="4572"/>
                  </a:lnTo>
                </a:path>
                <a:path w="5079" h="9525">
                  <a:moveTo>
                    <a:pt x="0" y="9143"/>
                  </a:moveTo>
                  <a:lnTo>
                    <a:pt x="4572" y="9143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688067" y="1860804"/>
              <a:ext cx="22859" cy="9144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9706355" y="187223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173467" y="1847088"/>
              <a:ext cx="123444" cy="36576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9706355" y="1876806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182611" y="1874520"/>
              <a:ext cx="114300" cy="13716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9706355" y="188137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219187" y="1883664"/>
              <a:ext cx="50291" cy="4572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7292339" y="1885950"/>
              <a:ext cx="2418715" cy="64135"/>
            </a:xfrm>
            <a:custGeom>
              <a:avLst/>
              <a:gdLst/>
              <a:ahLst/>
              <a:cxnLst/>
              <a:rect l="l" t="t" r="r" b="b"/>
              <a:pathLst>
                <a:path w="2418715" h="64135">
                  <a:moveTo>
                    <a:pt x="0" y="0"/>
                  </a:moveTo>
                  <a:lnTo>
                    <a:pt x="4572" y="0"/>
                  </a:lnTo>
                </a:path>
                <a:path w="2418715" h="64135">
                  <a:moveTo>
                    <a:pt x="2414016" y="0"/>
                  </a:moveTo>
                  <a:lnTo>
                    <a:pt x="2418588" y="0"/>
                  </a:lnTo>
                </a:path>
                <a:path w="2418715" h="64135">
                  <a:moveTo>
                    <a:pt x="0" y="4572"/>
                  </a:moveTo>
                  <a:lnTo>
                    <a:pt x="4572" y="4572"/>
                  </a:lnTo>
                </a:path>
                <a:path w="2418715" h="64135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64135">
                  <a:moveTo>
                    <a:pt x="0" y="9144"/>
                  </a:moveTo>
                  <a:lnTo>
                    <a:pt x="4572" y="9144"/>
                  </a:lnTo>
                </a:path>
                <a:path w="2418715" h="64135">
                  <a:moveTo>
                    <a:pt x="2414016" y="9144"/>
                  </a:moveTo>
                  <a:lnTo>
                    <a:pt x="2418588" y="9144"/>
                  </a:lnTo>
                </a:path>
                <a:path w="2418715" h="64135">
                  <a:moveTo>
                    <a:pt x="0" y="13716"/>
                  </a:moveTo>
                  <a:lnTo>
                    <a:pt x="4572" y="13716"/>
                  </a:lnTo>
                </a:path>
                <a:path w="2418715" h="64135">
                  <a:moveTo>
                    <a:pt x="2414016" y="13715"/>
                  </a:moveTo>
                  <a:lnTo>
                    <a:pt x="2418588" y="13715"/>
                  </a:lnTo>
                </a:path>
                <a:path w="2418715" h="64135">
                  <a:moveTo>
                    <a:pt x="2414016" y="18287"/>
                  </a:moveTo>
                  <a:lnTo>
                    <a:pt x="2418588" y="18287"/>
                  </a:lnTo>
                </a:path>
                <a:path w="2418715" h="64135">
                  <a:moveTo>
                    <a:pt x="2414016" y="22859"/>
                  </a:moveTo>
                  <a:lnTo>
                    <a:pt x="2418588" y="22859"/>
                  </a:lnTo>
                </a:path>
                <a:path w="2418715" h="64135">
                  <a:moveTo>
                    <a:pt x="2414016" y="27431"/>
                  </a:moveTo>
                  <a:lnTo>
                    <a:pt x="2418588" y="27431"/>
                  </a:lnTo>
                </a:path>
                <a:path w="2418715" h="64135">
                  <a:moveTo>
                    <a:pt x="2414016" y="32003"/>
                  </a:moveTo>
                  <a:lnTo>
                    <a:pt x="2418588" y="32003"/>
                  </a:lnTo>
                </a:path>
                <a:path w="2418715" h="64135">
                  <a:moveTo>
                    <a:pt x="2414016" y="36575"/>
                  </a:moveTo>
                  <a:lnTo>
                    <a:pt x="2418588" y="36575"/>
                  </a:lnTo>
                </a:path>
                <a:path w="2418715" h="64135">
                  <a:moveTo>
                    <a:pt x="2414016" y="41148"/>
                  </a:moveTo>
                  <a:lnTo>
                    <a:pt x="2418588" y="41148"/>
                  </a:lnTo>
                </a:path>
                <a:path w="2418715" h="64135">
                  <a:moveTo>
                    <a:pt x="2414016" y="45720"/>
                  </a:moveTo>
                  <a:lnTo>
                    <a:pt x="2418588" y="45720"/>
                  </a:lnTo>
                </a:path>
                <a:path w="2418715" h="64135">
                  <a:moveTo>
                    <a:pt x="2414016" y="50291"/>
                  </a:moveTo>
                  <a:lnTo>
                    <a:pt x="2418588" y="50291"/>
                  </a:lnTo>
                </a:path>
                <a:path w="2418715" h="64135">
                  <a:moveTo>
                    <a:pt x="2414016" y="54863"/>
                  </a:moveTo>
                  <a:lnTo>
                    <a:pt x="2418588" y="54863"/>
                  </a:lnTo>
                </a:path>
                <a:path w="2418715" h="64135">
                  <a:moveTo>
                    <a:pt x="2414016" y="59435"/>
                  </a:moveTo>
                  <a:lnTo>
                    <a:pt x="2418588" y="59435"/>
                  </a:lnTo>
                </a:path>
                <a:path w="2418715" h="64135">
                  <a:moveTo>
                    <a:pt x="2414016" y="64007"/>
                  </a:moveTo>
                  <a:lnTo>
                    <a:pt x="2418588" y="64007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173467" y="1901952"/>
              <a:ext cx="150875" cy="68580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7292339" y="1954530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688067" y="1956816"/>
              <a:ext cx="22859" cy="914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7292339" y="1968246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219187" y="1972818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292339" y="1972818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219187" y="197739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764E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292339" y="1977390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219187" y="1981962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764E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7292339" y="1981962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7219187" y="198653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292339" y="1986534"/>
              <a:ext cx="2418715" cy="45720"/>
            </a:xfrm>
            <a:custGeom>
              <a:avLst/>
              <a:gdLst/>
              <a:ahLst/>
              <a:cxnLst/>
              <a:rect l="l" t="t" r="r" b="b"/>
              <a:pathLst>
                <a:path w="2418715" h="45719">
                  <a:moveTo>
                    <a:pt x="0" y="0"/>
                  </a:moveTo>
                  <a:lnTo>
                    <a:pt x="4572" y="0"/>
                  </a:lnTo>
                </a:path>
                <a:path w="2418715" h="45719">
                  <a:moveTo>
                    <a:pt x="2414016" y="0"/>
                  </a:moveTo>
                  <a:lnTo>
                    <a:pt x="2418588" y="0"/>
                  </a:lnTo>
                </a:path>
                <a:path w="2418715" h="45719">
                  <a:moveTo>
                    <a:pt x="0" y="4572"/>
                  </a:moveTo>
                  <a:lnTo>
                    <a:pt x="4572" y="4572"/>
                  </a:lnTo>
                </a:path>
                <a:path w="2418715" h="45719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45719">
                  <a:moveTo>
                    <a:pt x="0" y="9144"/>
                  </a:moveTo>
                  <a:lnTo>
                    <a:pt x="4572" y="9144"/>
                  </a:lnTo>
                </a:path>
                <a:path w="2418715" h="45719">
                  <a:moveTo>
                    <a:pt x="2414016" y="9144"/>
                  </a:moveTo>
                  <a:lnTo>
                    <a:pt x="2418588" y="9144"/>
                  </a:lnTo>
                </a:path>
                <a:path w="2418715" h="45719">
                  <a:moveTo>
                    <a:pt x="0" y="13716"/>
                  </a:moveTo>
                  <a:lnTo>
                    <a:pt x="4572" y="13716"/>
                  </a:lnTo>
                </a:path>
                <a:path w="2418715" h="45719">
                  <a:moveTo>
                    <a:pt x="2414016" y="13716"/>
                  </a:moveTo>
                  <a:lnTo>
                    <a:pt x="2418588" y="13716"/>
                  </a:lnTo>
                </a:path>
                <a:path w="2418715" h="45719">
                  <a:moveTo>
                    <a:pt x="0" y="18288"/>
                  </a:moveTo>
                  <a:lnTo>
                    <a:pt x="4572" y="18288"/>
                  </a:lnTo>
                </a:path>
                <a:path w="2418715" h="45719">
                  <a:moveTo>
                    <a:pt x="2414016" y="18288"/>
                  </a:moveTo>
                  <a:lnTo>
                    <a:pt x="2418588" y="18288"/>
                  </a:lnTo>
                </a:path>
                <a:path w="2418715" h="45719">
                  <a:moveTo>
                    <a:pt x="0" y="22860"/>
                  </a:moveTo>
                  <a:lnTo>
                    <a:pt x="4572" y="22860"/>
                  </a:lnTo>
                </a:path>
                <a:path w="2418715" h="45719">
                  <a:moveTo>
                    <a:pt x="2414016" y="22860"/>
                  </a:moveTo>
                  <a:lnTo>
                    <a:pt x="2418588" y="22860"/>
                  </a:lnTo>
                </a:path>
                <a:path w="2418715" h="45719">
                  <a:moveTo>
                    <a:pt x="0" y="27432"/>
                  </a:moveTo>
                  <a:lnTo>
                    <a:pt x="4572" y="27432"/>
                  </a:lnTo>
                </a:path>
                <a:path w="2418715" h="45719">
                  <a:moveTo>
                    <a:pt x="2414016" y="27432"/>
                  </a:moveTo>
                  <a:lnTo>
                    <a:pt x="2418588" y="27432"/>
                  </a:lnTo>
                </a:path>
                <a:path w="2418715" h="45719">
                  <a:moveTo>
                    <a:pt x="0" y="32004"/>
                  </a:moveTo>
                  <a:lnTo>
                    <a:pt x="4572" y="32004"/>
                  </a:lnTo>
                </a:path>
                <a:path w="2418715" h="45719">
                  <a:moveTo>
                    <a:pt x="2414016" y="32004"/>
                  </a:moveTo>
                  <a:lnTo>
                    <a:pt x="2418588" y="32004"/>
                  </a:lnTo>
                </a:path>
                <a:path w="2418715" h="45719">
                  <a:moveTo>
                    <a:pt x="0" y="36576"/>
                  </a:moveTo>
                  <a:lnTo>
                    <a:pt x="4572" y="36576"/>
                  </a:lnTo>
                </a:path>
                <a:path w="2418715" h="45719">
                  <a:moveTo>
                    <a:pt x="2414016" y="36575"/>
                  </a:moveTo>
                  <a:lnTo>
                    <a:pt x="2418588" y="36575"/>
                  </a:lnTo>
                </a:path>
                <a:path w="2418715" h="45719">
                  <a:moveTo>
                    <a:pt x="0" y="41148"/>
                  </a:moveTo>
                  <a:lnTo>
                    <a:pt x="4572" y="41148"/>
                  </a:lnTo>
                </a:path>
                <a:path w="2418715" h="45719">
                  <a:moveTo>
                    <a:pt x="2414016" y="41148"/>
                  </a:moveTo>
                  <a:lnTo>
                    <a:pt x="2418588" y="41148"/>
                  </a:lnTo>
                </a:path>
                <a:path w="2418715" h="45719">
                  <a:moveTo>
                    <a:pt x="0" y="45720"/>
                  </a:moveTo>
                  <a:lnTo>
                    <a:pt x="4572" y="4572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173467" y="1970532"/>
              <a:ext cx="150875" cy="96012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9706355" y="2032254"/>
              <a:ext cx="5080" cy="22860"/>
            </a:xfrm>
            <a:custGeom>
              <a:avLst/>
              <a:gdLst/>
              <a:ahLst/>
              <a:cxnLst/>
              <a:rect l="l" t="t" r="r" b="b"/>
              <a:pathLst>
                <a:path w="5079" h="22860">
                  <a:moveTo>
                    <a:pt x="0" y="0"/>
                  </a:moveTo>
                  <a:lnTo>
                    <a:pt x="4572" y="0"/>
                  </a:lnTo>
                </a:path>
                <a:path w="5079" h="22860">
                  <a:moveTo>
                    <a:pt x="0" y="4572"/>
                  </a:moveTo>
                  <a:lnTo>
                    <a:pt x="4572" y="4572"/>
                  </a:lnTo>
                </a:path>
                <a:path w="5079" h="22860">
                  <a:moveTo>
                    <a:pt x="0" y="9144"/>
                  </a:moveTo>
                  <a:lnTo>
                    <a:pt x="4572" y="9144"/>
                  </a:lnTo>
                </a:path>
                <a:path w="5079" h="22860">
                  <a:moveTo>
                    <a:pt x="0" y="13716"/>
                  </a:moveTo>
                  <a:lnTo>
                    <a:pt x="4572" y="13716"/>
                  </a:lnTo>
                </a:path>
                <a:path w="5079" h="22860">
                  <a:moveTo>
                    <a:pt x="0" y="18287"/>
                  </a:moveTo>
                  <a:lnTo>
                    <a:pt x="4572" y="18287"/>
                  </a:lnTo>
                </a:path>
                <a:path w="5079" h="22860">
                  <a:moveTo>
                    <a:pt x="0" y="22860"/>
                  </a:moveTo>
                  <a:lnTo>
                    <a:pt x="4572" y="2286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88067" y="2057400"/>
              <a:ext cx="22859" cy="4572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9706355" y="206425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173467" y="2034540"/>
              <a:ext cx="123444" cy="41148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9706355" y="2068830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178039" y="2066544"/>
              <a:ext cx="118872" cy="13716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9706355" y="207340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219187" y="207797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987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292339" y="2077974"/>
              <a:ext cx="2418715" cy="36830"/>
            </a:xfrm>
            <a:custGeom>
              <a:avLst/>
              <a:gdLst/>
              <a:ahLst/>
              <a:cxnLst/>
              <a:rect l="l" t="t" r="r" b="b"/>
              <a:pathLst>
                <a:path w="2418715" h="36830">
                  <a:moveTo>
                    <a:pt x="0" y="0"/>
                  </a:moveTo>
                  <a:lnTo>
                    <a:pt x="4572" y="0"/>
                  </a:lnTo>
                </a:path>
                <a:path w="2418715" h="36830">
                  <a:moveTo>
                    <a:pt x="2414016" y="0"/>
                  </a:moveTo>
                  <a:lnTo>
                    <a:pt x="2418588" y="0"/>
                  </a:lnTo>
                </a:path>
                <a:path w="2418715" h="36830">
                  <a:moveTo>
                    <a:pt x="0" y="4572"/>
                  </a:moveTo>
                  <a:lnTo>
                    <a:pt x="4572" y="4572"/>
                  </a:lnTo>
                </a:path>
                <a:path w="2418715" h="36830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36830">
                  <a:moveTo>
                    <a:pt x="0" y="9144"/>
                  </a:moveTo>
                  <a:lnTo>
                    <a:pt x="4572" y="9144"/>
                  </a:lnTo>
                </a:path>
                <a:path w="2418715" h="36830">
                  <a:moveTo>
                    <a:pt x="2414016" y="9143"/>
                  </a:moveTo>
                  <a:lnTo>
                    <a:pt x="2418588" y="9143"/>
                  </a:lnTo>
                </a:path>
                <a:path w="2418715" h="36830">
                  <a:moveTo>
                    <a:pt x="0" y="13716"/>
                  </a:moveTo>
                  <a:lnTo>
                    <a:pt x="4572" y="13716"/>
                  </a:lnTo>
                </a:path>
                <a:path w="2418715" h="36830">
                  <a:moveTo>
                    <a:pt x="2414016" y="13715"/>
                  </a:moveTo>
                  <a:lnTo>
                    <a:pt x="2418588" y="13715"/>
                  </a:lnTo>
                </a:path>
                <a:path w="2418715" h="36830">
                  <a:moveTo>
                    <a:pt x="0" y="18287"/>
                  </a:moveTo>
                  <a:lnTo>
                    <a:pt x="4572" y="18287"/>
                  </a:lnTo>
                </a:path>
                <a:path w="2418715" h="36830">
                  <a:moveTo>
                    <a:pt x="2414016" y="18287"/>
                  </a:moveTo>
                  <a:lnTo>
                    <a:pt x="2418588" y="18287"/>
                  </a:lnTo>
                </a:path>
                <a:path w="2418715" h="36830">
                  <a:moveTo>
                    <a:pt x="0" y="22860"/>
                  </a:moveTo>
                  <a:lnTo>
                    <a:pt x="4572" y="22860"/>
                  </a:lnTo>
                </a:path>
                <a:path w="2418715" h="36830">
                  <a:moveTo>
                    <a:pt x="2414016" y="22859"/>
                  </a:moveTo>
                  <a:lnTo>
                    <a:pt x="2418588" y="22859"/>
                  </a:lnTo>
                </a:path>
                <a:path w="2418715" h="36830">
                  <a:moveTo>
                    <a:pt x="0" y="27432"/>
                  </a:moveTo>
                  <a:lnTo>
                    <a:pt x="4572" y="27432"/>
                  </a:lnTo>
                </a:path>
                <a:path w="2418715" h="36830">
                  <a:moveTo>
                    <a:pt x="2414016" y="27431"/>
                  </a:moveTo>
                  <a:lnTo>
                    <a:pt x="2418588" y="27431"/>
                  </a:lnTo>
                </a:path>
                <a:path w="2418715" h="36830">
                  <a:moveTo>
                    <a:pt x="0" y="32003"/>
                  </a:moveTo>
                  <a:lnTo>
                    <a:pt x="4572" y="32003"/>
                  </a:lnTo>
                </a:path>
                <a:path w="2418715" h="36830">
                  <a:moveTo>
                    <a:pt x="2414016" y="32003"/>
                  </a:moveTo>
                  <a:lnTo>
                    <a:pt x="2418588" y="32003"/>
                  </a:lnTo>
                </a:path>
                <a:path w="2418715" h="36830">
                  <a:moveTo>
                    <a:pt x="0" y="36575"/>
                  </a:moveTo>
                  <a:lnTo>
                    <a:pt x="4572" y="36575"/>
                  </a:lnTo>
                </a:path>
                <a:path w="2418715" h="36830">
                  <a:moveTo>
                    <a:pt x="2414016" y="36575"/>
                  </a:moveTo>
                  <a:lnTo>
                    <a:pt x="2418588" y="36575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187183" y="2119122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DDD3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292339" y="2119122"/>
              <a:ext cx="2418715" cy="13970"/>
            </a:xfrm>
            <a:custGeom>
              <a:avLst/>
              <a:gdLst/>
              <a:ahLst/>
              <a:cxnLst/>
              <a:rect l="l" t="t" r="r" b="b"/>
              <a:pathLst>
                <a:path w="2418715" h="13969">
                  <a:moveTo>
                    <a:pt x="0" y="0"/>
                  </a:moveTo>
                  <a:lnTo>
                    <a:pt x="4572" y="0"/>
                  </a:lnTo>
                </a:path>
                <a:path w="2418715" h="13969">
                  <a:moveTo>
                    <a:pt x="2414016" y="0"/>
                  </a:moveTo>
                  <a:lnTo>
                    <a:pt x="2418588" y="0"/>
                  </a:lnTo>
                </a:path>
                <a:path w="2418715" h="13969">
                  <a:moveTo>
                    <a:pt x="0" y="4572"/>
                  </a:moveTo>
                  <a:lnTo>
                    <a:pt x="4572" y="4572"/>
                  </a:lnTo>
                </a:path>
                <a:path w="2418715" h="13969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13969">
                  <a:moveTo>
                    <a:pt x="0" y="9144"/>
                  </a:moveTo>
                  <a:lnTo>
                    <a:pt x="4572" y="9144"/>
                  </a:lnTo>
                </a:path>
                <a:path w="2418715" h="13969">
                  <a:moveTo>
                    <a:pt x="2414016" y="9143"/>
                  </a:moveTo>
                  <a:lnTo>
                    <a:pt x="2418588" y="9143"/>
                  </a:lnTo>
                </a:path>
                <a:path w="2418715" h="13969">
                  <a:moveTo>
                    <a:pt x="0" y="13716"/>
                  </a:moveTo>
                  <a:lnTo>
                    <a:pt x="4572" y="13716"/>
                  </a:lnTo>
                </a:path>
                <a:path w="2418715" h="13969">
                  <a:moveTo>
                    <a:pt x="2414016" y="13715"/>
                  </a:moveTo>
                  <a:lnTo>
                    <a:pt x="2418588" y="13715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173467" y="2075688"/>
              <a:ext cx="150875" cy="86868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9706355" y="2137410"/>
              <a:ext cx="5080" cy="13970"/>
            </a:xfrm>
            <a:custGeom>
              <a:avLst/>
              <a:gdLst/>
              <a:ahLst/>
              <a:cxnLst/>
              <a:rect l="l" t="t" r="r" b="b"/>
              <a:pathLst>
                <a:path w="5079" h="13969">
                  <a:moveTo>
                    <a:pt x="0" y="0"/>
                  </a:moveTo>
                  <a:lnTo>
                    <a:pt x="4572" y="0"/>
                  </a:lnTo>
                </a:path>
                <a:path w="5079" h="13969">
                  <a:moveTo>
                    <a:pt x="0" y="4572"/>
                  </a:moveTo>
                  <a:lnTo>
                    <a:pt x="4572" y="4572"/>
                  </a:lnTo>
                </a:path>
                <a:path w="5079" h="13969">
                  <a:moveTo>
                    <a:pt x="0" y="9144"/>
                  </a:moveTo>
                  <a:lnTo>
                    <a:pt x="4572" y="9144"/>
                  </a:lnTo>
                </a:path>
                <a:path w="5079" h="13969">
                  <a:moveTo>
                    <a:pt x="0" y="13716"/>
                  </a:moveTo>
                  <a:lnTo>
                    <a:pt x="4572" y="13716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88067" y="2153412"/>
              <a:ext cx="22859" cy="4572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9706355" y="2160269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173467" y="2135124"/>
              <a:ext cx="123444" cy="36576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9706355" y="2164841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178039" y="2167127"/>
              <a:ext cx="118872" cy="9144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9706355" y="2169413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223759" y="1380737"/>
              <a:ext cx="2537460" cy="1019562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182611" y="2171700"/>
              <a:ext cx="114300" cy="9144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9706355" y="2173986"/>
              <a:ext cx="5080" cy="13970"/>
            </a:xfrm>
            <a:custGeom>
              <a:avLst/>
              <a:gdLst/>
              <a:ahLst/>
              <a:cxnLst/>
              <a:rect l="l" t="t" r="r" b="b"/>
              <a:pathLst>
                <a:path w="5079" h="13969">
                  <a:moveTo>
                    <a:pt x="0" y="0"/>
                  </a:moveTo>
                  <a:lnTo>
                    <a:pt x="4572" y="0"/>
                  </a:lnTo>
                </a:path>
                <a:path w="5079" h="13969">
                  <a:moveTo>
                    <a:pt x="0" y="4572"/>
                  </a:moveTo>
                  <a:lnTo>
                    <a:pt x="4572" y="4572"/>
                  </a:lnTo>
                </a:path>
                <a:path w="5079" h="13969">
                  <a:moveTo>
                    <a:pt x="0" y="9144"/>
                  </a:moveTo>
                  <a:lnTo>
                    <a:pt x="4572" y="9144"/>
                  </a:lnTo>
                </a:path>
                <a:path w="5079" h="13969">
                  <a:moveTo>
                    <a:pt x="0" y="13716"/>
                  </a:moveTo>
                  <a:lnTo>
                    <a:pt x="4572" y="13716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182611" y="2176272"/>
              <a:ext cx="114300" cy="45720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7292339" y="2192274"/>
              <a:ext cx="2418715" cy="45720"/>
            </a:xfrm>
            <a:custGeom>
              <a:avLst/>
              <a:gdLst/>
              <a:ahLst/>
              <a:cxnLst/>
              <a:rect l="l" t="t" r="r" b="b"/>
              <a:pathLst>
                <a:path w="2418715" h="45719">
                  <a:moveTo>
                    <a:pt x="0" y="0"/>
                  </a:moveTo>
                  <a:lnTo>
                    <a:pt x="4572" y="0"/>
                  </a:lnTo>
                </a:path>
                <a:path w="2418715" h="45719">
                  <a:moveTo>
                    <a:pt x="2414016" y="0"/>
                  </a:moveTo>
                  <a:lnTo>
                    <a:pt x="2418588" y="0"/>
                  </a:lnTo>
                </a:path>
                <a:path w="2418715" h="45719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45719">
                  <a:moveTo>
                    <a:pt x="2414016" y="9143"/>
                  </a:moveTo>
                  <a:lnTo>
                    <a:pt x="2418588" y="9143"/>
                  </a:lnTo>
                </a:path>
                <a:path w="2418715" h="45719">
                  <a:moveTo>
                    <a:pt x="2414016" y="13715"/>
                  </a:moveTo>
                  <a:lnTo>
                    <a:pt x="2418588" y="13715"/>
                  </a:lnTo>
                </a:path>
                <a:path w="2418715" h="45719">
                  <a:moveTo>
                    <a:pt x="2414016" y="18287"/>
                  </a:moveTo>
                  <a:lnTo>
                    <a:pt x="2418588" y="18287"/>
                  </a:lnTo>
                </a:path>
                <a:path w="2418715" h="45719">
                  <a:moveTo>
                    <a:pt x="2414016" y="22859"/>
                  </a:moveTo>
                  <a:lnTo>
                    <a:pt x="2418588" y="22859"/>
                  </a:lnTo>
                </a:path>
                <a:path w="2418715" h="45719">
                  <a:moveTo>
                    <a:pt x="2414016" y="27431"/>
                  </a:moveTo>
                  <a:lnTo>
                    <a:pt x="2418588" y="27431"/>
                  </a:lnTo>
                </a:path>
                <a:path w="2418715" h="45719">
                  <a:moveTo>
                    <a:pt x="2414016" y="32003"/>
                  </a:moveTo>
                  <a:lnTo>
                    <a:pt x="2418588" y="32003"/>
                  </a:lnTo>
                </a:path>
                <a:path w="2418715" h="45719">
                  <a:moveTo>
                    <a:pt x="2414016" y="36575"/>
                  </a:moveTo>
                  <a:lnTo>
                    <a:pt x="2418588" y="36575"/>
                  </a:lnTo>
                </a:path>
                <a:path w="2418715" h="45719">
                  <a:moveTo>
                    <a:pt x="2414016" y="41148"/>
                  </a:moveTo>
                  <a:lnTo>
                    <a:pt x="2418588" y="41148"/>
                  </a:lnTo>
                </a:path>
                <a:path w="2418715" h="45719">
                  <a:moveTo>
                    <a:pt x="2414016" y="45720"/>
                  </a:moveTo>
                  <a:lnTo>
                    <a:pt x="2418588" y="4572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1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173467" y="2194560"/>
              <a:ext cx="150875" cy="68580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7292339" y="2242566"/>
              <a:ext cx="2418715" cy="5080"/>
            </a:xfrm>
            <a:custGeom>
              <a:avLst/>
              <a:gdLst/>
              <a:ahLst/>
              <a:cxnLst/>
              <a:rect l="l" t="t" r="r" b="b"/>
              <a:pathLst>
                <a:path w="2418715" h="5080">
                  <a:moveTo>
                    <a:pt x="0" y="0"/>
                  </a:moveTo>
                  <a:lnTo>
                    <a:pt x="4572" y="0"/>
                  </a:lnTo>
                </a:path>
                <a:path w="2418715" h="5080">
                  <a:moveTo>
                    <a:pt x="2414016" y="0"/>
                  </a:moveTo>
                  <a:lnTo>
                    <a:pt x="2418588" y="0"/>
                  </a:lnTo>
                </a:path>
                <a:path w="2418715" h="5080">
                  <a:moveTo>
                    <a:pt x="0" y="4572"/>
                  </a:moveTo>
                  <a:lnTo>
                    <a:pt x="4572" y="4572"/>
                  </a:lnTo>
                </a:path>
                <a:path w="2418715" h="5080">
                  <a:moveTo>
                    <a:pt x="2414016" y="4572"/>
                  </a:moveTo>
                  <a:lnTo>
                    <a:pt x="2418588" y="4572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1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688067" y="2249424"/>
              <a:ext cx="22859" cy="9144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7292339" y="2260854"/>
              <a:ext cx="2418715" cy="5080"/>
            </a:xfrm>
            <a:custGeom>
              <a:avLst/>
              <a:gdLst/>
              <a:ahLst/>
              <a:cxnLst/>
              <a:rect l="l" t="t" r="r" b="b"/>
              <a:pathLst>
                <a:path w="2418715" h="5080">
                  <a:moveTo>
                    <a:pt x="0" y="0"/>
                  </a:moveTo>
                  <a:lnTo>
                    <a:pt x="4572" y="0"/>
                  </a:lnTo>
                </a:path>
                <a:path w="2418715" h="5080">
                  <a:moveTo>
                    <a:pt x="2414016" y="0"/>
                  </a:moveTo>
                  <a:lnTo>
                    <a:pt x="2418588" y="0"/>
                  </a:lnTo>
                </a:path>
                <a:path w="2418715" h="5080">
                  <a:moveTo>
                    <a:pt x="0" y="4572"/>
                  </a:moveTo>
                  <a:lnTo>
                    <a:pt x="4572" y="4572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178039" y="2263140"/>
              <a:ext cx="50292" cy="13716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9706355" y="2265426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7219187" y="2263140"/>
              <a:ext cx="45720" cy="13716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7292339" y="2269998"/>
              <a:ext cx="2418715" cy="0"/>
            </a:xfrm>
            <a:custGeom>
              <a:avLst/>
              <a:gdLst/>
              <a:ahLst/>
              <a:cxnLst/>
              <a:rect l="l" t="t" r="r" b="b"/>
              <a:pathLst>
                <a:path w="2418715">
                  <a:moveTo>
                    <a:pt x="0" y="0"/>
                  </a:moveTo>
                  <a:lnTo>
                    <a:pt x="4572" y="0"/>
                  </a:lnTo>
                </a:path>
                <a:path w="2418715">
                  <a:moveTo>
                    <a:pt x="2414016" y="0"/>
                  </a:moveTo>
                  <a:lnTo>
                    <a:pt x="2418588" y="0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7219187" y="227456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987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7292339" y="2274569"/>
              <a:ext cx="2418715" cy="50800"/>
            </a:xfrm>
            <a:custGeom>
              <a:avLst/>
              <a:gdLst/>
              <a:ahLst/>
              <a:cxnLst/>
              <a:rect l="l" t="t" r="r" b="b"/>
              <a:pathLst>
                <a:path w="2418715" h="50800">
                  <a:moveTo>
                    <a:pt x="0" y="0"/>
                  </a:moveTo>
                  <a:lnTo>
                    <a:pt x="4572" y="0"/>
                  </a:lnTo>
                </a:path>
                <a:path w="2418715" h="50800">
                  <a:moveTo>
                    <a:pt x="2414016" y="0"/>
                  </a:moveTo>
                  <a:lnTo>
                    <a:pt x="2418588" y="0"/>
                  </a:lnTo>
                </a:path>
                <a:path w="2418715" h="50800">
                  <a:moveTo>
                    <a:pt x="0" y="4572"/>
                  </a:moveTo>
                  <a:lnTo>
                    <a:pt x="4572" y="4572"/>
                  </a:lnTo>
                </a:path>
                <a:path w="2418715" h="50800">
                  <a:moveTo>
                    <a:pt x="2414016" y="4571"/>
                  </a:moveTo>
                  <a:lnTo>
                    <a:pt x="2418588" y="4571"/>
                  </a:lnTo>
                </a:path>
                <a:path w="2418715" h="50800">
                  <a:moveTo>
                    <a:pt x="0" y="9144"/>
                  </a:moveTo>
                  <a:lnTo>
                    <a:pt x="4572" y="9144"/>
                  </a:lnTo>
                </a:path>
                <a:path w="2418715" h="50800">
                  <a:moveTo>
                    <a:pt x="2414016" y="9143"/>
                  </a:moveTo>
                  <a:lnTo>
                    <a:pt x="2418588" y="9143"/>
                  </a:lnTo>
                </a:path>
                <a:path w="2418715" h="50800">
                  <a:moveTo>
                    <a:pt x="0" y="13715"/>
                  </a:moveTo>
                  <a:lnTo>
                    <a:pt x="4572" y="13715"/>
                  </a:lnTo>
                </a:path>
                <a:path w="2418715" h="50800">
                  <a:moveTo>
                    <a:pt x="2414016" y="13715"/>
                  </a:moveTo>
                  <a:lnTo>
                    <a:pt x="2418588" y="13715"/>
                  </a:lnTo>
                </a:path>
                <a:path w="2418715" h="50800">
                  <a:moveTo>
                    <a:pt x="0" y="18287"/>
                  </a:moveTo>
                  <a:lnTo>
                    <a:pt x="4572" y="18287"/>
                  </a:lnTo>
                </a:path>
                <a:path w="2418715" h="50800">
                  <a:moveTo>
                    <a:pt x="2414016" y="18287"/>
                  </a:moveTo>
                  <a:lnTo>
                    <a:pt x="2418588" y="18287"/>
                  </a:lnTo>
                </a:path>
                <a:path w="2418715" h="50800">
                  <a:moveTo>
                    <a:pt x="0" y="22859"/>
                  </a:moveTo>
                  <a:lnTo>
                    <a:pt x="4572" y="22859"/>
                  </a:lnTo>
                </a:path>
                <a:path w="2418715" h="50800">
                  <a:moveTo>
                    <a:pt x="2414016" y="22859"/>
                  </a:moveTo>
                  <a:lnTo>
                    <a:pt x="2418588" y="22859"/>
                  </a:lnTo>
                </a:path>
                <a:path w="2418715" h="50800">
                  <a:moveTo>
                    <a:pt x="0" y="27431"/>
                  </a:moveTo>
                  <a:lnTo>
                    <a:pt x="4572" y="27431"/>
                  </a:lnTo>
                </a:path>
                <a:path w="2418715" h="50800">
                  <a:moveTo>
                    <a:pt x="2414016" y="27431"/>
                  </a:moveTo>
                  <a:lnTo>
                    <a:pt x="2418588" y="27431"/>
                  </a:lnTo>
                </a:path>
                <a:path w="2418715" h="50800">
                  <a:moveTo>
                    <a:pt x="0" y="32003"/>
                  </a:moveTo>
                  <a:lnTo>
                    <a:pt x="4572" y="32003"/>
                  </a:lnTo>
                </a:path>
                <a:path w="2418715" h="50800">
                  <a:moveTo>
                    <a:pt x="2414016" y="32003"/>
                  </a:moveTo>
                  <a:lnTo>
                    <a:pt x="2418588" y="32003"/>
                  </a:lnTo>
                </a:path>
                <a:path w="2418715" h="50800">
                  <a:moveTo>
                    <a:pt x="0" y="36575"/>
                  </a:moveTo>
                  <a:lnTo>
                    <a:pt x="4572" y="36575"/>
                  </a:lnTo>
                </a:path>
                <a:path w="2418715" h="50800">
                  <a:moveTo>
                    <a:pt x="2414016" y="36575"/>
                  </a:moveTo>
                  <a:lnTo>
                    <a:pt x="2418588" y="36575"/>
                  </a:lnTo>
                </a:path>
                <a:path w="2418715" h="50800">
                  <a:moveTo>
                    <a:pt x="0" y="41148"/>
                  </a:moveTo>
                  <a:lnTo>
                    <a:pt x="4572" y="41148"/>
                  </a:lnTo>
                </a:path>
                <a:path w="2418715" h="50800">
                  <a:moveTo>
                    <a:pt x="2414016" y="41147"/>
                  </a:moveTo>
                  <a:lnTo>
                    <a:pt x="2418588" y="41147"/>
                  </a:lnTo>
                </a:path>
                <a:path w="2418715" h="50800">
                  <a:moveTo>
                    <a:pt x="0" y="45720"/>
                  </a:moveTo>
                  <a:lnTo>
                    <a:pt x="4572" y="45720"/>
                  </a:lnTo>
                </a:path>
                <a:path w="2418715" h="50800">
                  <a:moveTo>
                    <a:pt x="2414016" y="45719"/>
                  </a:moveTo>
                  <a:lnTo>
                    <a:pt x="2418588" y="45719"/>
                  </a:lnTo>
                </a:path>
                <a:path w="2418715" h="50800">
                  <a:moveTo>
                    <a:pt x="0" y="50291"/>
                  </a:moveTo>
                  <a:lnTo>
                    <a:pt x="4572" y="50291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895843" y="232486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9F9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292339" y="2324862"/>
              <a:ext cx="2418715" cy="18415"/>
            </a:xfrm>
            <a:custGeom>
              <a:avLst/>
              <a:gdLst/>
              <a:ahLst/>
              <a:cxnLst/>
              <a:rect l="l" t="t" r="r" b="b"/>
              <a:pathLst>
                <a:path w="2418715" h="18414">
                  <a:moveTo>
                    <a:pt x="2414016" y="0"/>
                  </a:moveTo>
                  <a:lnTo>
                    <a:pt x="2418588" y="0"/>
                  </a:lnTo>
                </a:path>
                <a:path w="2418715" h="18414">
                  <a:moveTo>
                    <a:pt x="0" y="4572"/>
                  </a:moveTo>
                  <a:lnTo>
                    <a:pt x="4572" y="4572"/>
                  </a:lnTo>
                </a:path>
                <a:path w="2418715" h="18414">
                  <a:moveTo>
                    <a:pt x="2414016" y="4572"/>
                  </a:moveTo>
                  <a:lnTo>
                    <a:pt x="2418588" y="4572"/>
                  </a:lnTo>
                </a:path>
                <a:path w="2418715" h="18414">
                  <a:moveTo>
                    <a:pt x="0" y="9144"/>
                  </a:moveTo>
                  <a:lnTo>
                    <a:pt x="4572" y="9144"/>
                  </a:lnTo>
                </a:path>
                <a:path w="2418715" h="18414">
                  <a:moveTo>
                    <a:pt x="2414016" y="9144"/>
                  </a:moveTo>
                  <a:lnTo>
                    <a:pt x="2418588" y="9144"/>
                  </a:lnTo>
                </a:path>
                <a:path w="2418715" h="18414">
                  <a:moveTo>
                    <a:pt x="2414016" y="13716"/>
                  </a:moveTo>
                  <a:lnTo>
                    <a:pt x="2418588" y="13716"/>
                  </a:lnTo>
                </a:path>
                <a:path w="2418715" h="18414">
                  <a:moveTo>
                    <a:pt x="2414016" y="18288"/>
                  </a:moveTo>
                  <a:lnTo>
                    <a:pt x="2418588" y="18288"/>
                  </a:lnTo>
                </a:path>
              </a:pathLst>
            </a:custGeom>
            <a:ln w="4572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2" name="object 122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872983" y="2400300"/>
              <a:ext cx="64008" cy="36576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251191" y="2400300"/>
              <a:ext cx="109728" cy="36576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9093707" y="2395727"/>
              <a:ext cx="41148" cy="41148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697211" y="2345436"/>
              <a:ext cx="68579" cy="91440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8485631" y="2400300"/>
              <a:ext cx="41148" cy="36576"/>
            </a:xfrm>
            <a:prstGeom prst="rect">
              <a:avLst/>
            </a:prstGeom>
          </p:spPr>
        </p:pic>
        <p:sp>
          <p:nvSpPr>
            <p:cNvPr id="127" name="object 127"/>
            <p:cNvSpPr/>
            <p:nvPr/>
          </p:nvSpPr>
          <p:spPr>
            <a:xfrm>
              <a:off x="7144511" y="1303013"/>
              <a:ext cx="2646045" cy="1173480"/>
            </a:xfrm>
            <a:custGeom>
              <a:avLst/>
              <a:gdLst/>
              <a:ahLst/>
              <a:cxnLst/>
              <a:rect l="l" t="t" r="r" b="b"/>
              <a:pathLst>
                <a:path w="2646045" h="1173480">
                  <a:moveTo>
                    <a:pt x="2645664" y="1168914"/>
                  </a:moveTo>
                  <a:lnTo>
                    <a:pt x="2645664" y="4572"/>
                  </a:lnTo>
                  <a:lnTo>
                    <a:pt x="2639568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1168914"/>
                  </a:lnTo>
                  <a:lnTo>
                    <a:pt x="4572" y="1173486"/>
                  </a:lnTo>
                  <a:lnTo>
                    <a:pt x="10668" y="1173486"/>
                  </a:lnTo>
                  <a:lnTo>
                    <a:pt x="10668" y="22860"/>
                  </a:lnTo>
                  <a:lnTo>
                    <a:pt x="22860" y="10668"/>
                  </a:lnTo>
                  <a:lnTo>
                    <a:pt x="22860" y="22860"/>
                  </a:lnTo>
                  <a:lnTo>
                    <a:pt x="2621280" y="22860"/>
                  </a:lnTo>
                  <a:lnTo>
                    <a:pt x="2621280" y="10668"/>
                  </a:lnTo>
                  <a:lnTo>
                    <a:pt x="2633472" y="22860"/>
                  </a:lnTo>
                  <a:lnTo>
                    <a:pt x="2633472" y="1173486"/>
                  </a:lnTo>
                  <a:lnTo>
                    <a:pt x="2639568" y="1173486"/>
                  </a:lnTo>
                  <a:lnTo>
                    <a:pt x="2645664" y="1168914"/>
                  </a:lnTo>
                  <a:close/>
                </a:path>
                <a:path w="2646045" h="1173480">
                  <a:moveTo>
                    <a:pt x="22860" y="22860"/>
                  </a:moveTo>
                  <a:lnTo>
                    <a:pt x="22860" y="10668"/>
                  </a:lnTo>
                  <a:lnTo>
                    <a:pt x="10668" y="22860"/>
                  </a:lnTo>
                  <a:lnTo>
                    <a:pt x="22860" y="22860"/>
                  </a:lnTo>
                  <a:close/>
                </a:path>
                <a:path w="2646045" h="1173480">
                  <a:moveTo>
                    <a:pt x="22860" y="1150626"/>
                  </a:moveTo>
                  <a:lnTo>
                    <a:pt x="22860" y="22860"/>
                  </a:lnTo>
                  <a:lnTo>
                    <a:pt x="10668" y="22860"/>
                  </a:lnTo>
                  <a:lnTo>
                    <a:pt x="10668" y="1150626"/>
                  </a:lnTo>
                  <a:lnTo>
                    <a:pt x="22860" y="1150626"/>
                  </a:lnTo>
                  <a:close/>
                </a:path>
                <a:path w="2646045" h="1173480">
                  <a:moveTo>
                    <a:pt x="2633472" y="1150626"/>
                  </a:moveTo>
                  <a:lnTo>
                    <a:pt x="10668" y="1150626"/>
                  </a:lnTo>
                  <a:lnTo>
                    <a:pt x="22860" y="1161294"/>
                  </a:lnTo>
                  <a:lnTo>
                    <a:pt x="22860" y="1173486"/>
                  </a:lnTo>
                  <a:lnTo>
                    <a:pt x="2621280" y="1173486"/>
                  </a:lnTo>
                  <a:lnTo>
                    <a:pt x="2621280" y="1161294"/>
                  </a:lnTo>
                  <a:lnTo>
                    <a:pt x="2633472" y="1150626"/>
                  </a:lnTo>
                  <a:close/>
                </a:path>
                <a:path w="2646045" h="1173480">
                  <a:moveTo>
                    <a:pt x="22860" y="1173486"/>
                  </a:moveTo>
                  <a:lnTo>
                    <a:pt x="22860" y="1161294"/>
                  </a:lnTo>
                  <a:lnTo>
                    <a:pt x="10668" y="1150626"/>
                  </a:lnTo>
                  <a:lnTo>
                    <a:pt x="10668" y="1173486"/>
                  </a:lnTo>
                  <a:lnTo>
                    <a:pt x="22860" y="1173486"/>
                  </a:lnTo>
                  <a:close/>
                </a:path>
                <a:path w="2646045" h="1173480">
                  <a:moveTo>
                    <a:pt x="2633472" y="22860"/>
                  </a:moveTo>
                  <a:lnTo>
                    <a:pt x="2621280" y="10668"/>
                  </a:lnTo>
                  <a:lnTo>
                    <a:pt x="2621280" y="22860"/>
                  </a:lnTo>
                  <a:lnTo>
                    <a:pt x="2633472" y="22860"/>
                  </a:lnTo>
                  <a:close/>
                </a:path>
                <a:path w="2646045" h="1173480">
                  <a:moveTo>
                    <a:pt x="2633472" y="1150626"/>
                  </a:moveTo>
                  <a:lnTo>
                    <a:pt x="2633472" y="22860"/>
                  </a:lnTo>
                  <a:lnTo>
                    <a:pt x="2621280" y="22860"/>
                  </a:lnTo>
                  <a:lnTo>
                    <a:pt x="2621280" y="1150626"/>
                  </a:lnTo>
                  <a:lnTo>
                    <a:pt x="2633472" y="1150626"/>
                  </a:lnTo>
                  <a:close/>
                </a:path>
                <a:path w="2646045" h="1173480">
                  <a:moveTo>
                    <a:pt x="2633472" y="1173486"/>
                  </a:moveTo>
                  <a:lnTo>
                    <a:pt x="2633472" y="1150626"/>
                  </a:lnTo>
                  <a:lnTo>
                    <a:pt x="2621280" y="1161294"/>
                  </a:lnTo>
                  <a:lnTo>
                    <a:pt x="2621280" y="1173486"/>
                  </a:lnTo>
                  <a:lnTo>
                    <a:pt x="2633472" y="1173486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8" name="object 1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865" y="1558543"/>
            <a:ext cx="5186680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Sigmoid</a:t>
            </a:r>
            <a:r>
              <a:rPr spc="-20" dirty="0"/>
              <a:t> </a:t>
            </a:r>
            <a:r>
              <a:rPr spc="-25" dirty="0"/>
              <a:t>Activation </a:t>
            </a:r>
            <a:r>
              <a:rPr spc="-5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865" y="2175153"/>
            <a:ext cx="7767955" cy="118681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spc="5" dirty="0">
                <a:latin typeface="Calibri"/>
                <a:cs typeface="Calibri"/>
              </a:rPr>
              <a:t>A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sigmoid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activation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similar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to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i="1" spc="-5" dirty="0">
                <a:solidFill>
                  <a:srgbClr val="FF0000"/>
                </a:solidFill>
                <a:latin typeface="Calibri"/>
                <a:cs typeface="Calibri"/>
              </a:rPr>
              <a:t>tanh</a:t>
            </a:r>
            <a:r>
              <a:rPr sz="230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activation.</a:t>
            </a:r>
            <a:endParaRPr sz="2300">
              <a:latin typeface="Calibri"/>
              <a:cs typeface="Calibri"/>
            </a:endParaRPr>
          </a:p>
          <a:p>
            <a:pPr marL="201295" marR="5080" indent="-189230">
              <a:lnSpc>
                <a:spcPts val="2500"/>
              </a:lnSpc>
              <a:spcBef>
                <a:spcPts val="865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spc="-5" dirty="0">
                <a:latin typeface="Calibri"/>
                <a:cs typeface="Calibri"/>
              </a:rPr>
              <a:t>Instead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of</a:t>
            </a:r>
            <a:r>
              <a:rPr sz="2300" spc="-5" dirty="0">
                <a:latin typeface="Calibri"/>
                <a:cs typeface="Calibri"/>
              </a:rPr>
              <a:t> squishing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values</a:t>
            </a:r>
            <a:r>
              <a:rPr sz="2300" dirty="0">
                <a:latin typeface="Calibri"/>
                <a:cs typeface="Calibri"/>
              </a:rPr>
              <a:t> between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-1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1, </a:t>
            </a:r>
            <a:r>
              <a:rPr sz="2300" dirty="0">
                <a:latin typeface="Calibri"/>
                <a:cs typeface="Calibri"/>
              </a:rPr>
              <a:t>it squishes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values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between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0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 </a:t>
            </a:r>
            <a:r>
              <a:rPr sz="2300" spc="5" dirty="0">
                <a:latin typeface="Calibri"/>
                <a:cs typeface="Calibri"/>
              </a:rPr>
              <a:t>1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2084" y="3454672"/>
            <a:ext cx="3944009" cy="276195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865" y="1558543"/>
            <a:ext cx="2623185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LSTMs</a:t>
            </a:r>
            <a:r>
              <a:rPr spc="-55" dirty="0"/>
              <a:t> </a:t>
            </a:r>
            <a:r>
              <a:rPr spc="10" dirty="0"/>
              <a:t>-</a:t>
            </a:r>
            <a:r>
              <a:rPr spc="-10" dirty="0"/>
              <a:t> </a:t>
            </a:r>
            <a:r>
              <a:rPr spc="-20" dirty="0"/>
              <a:t>Gates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865" y="2488182"/>
            <a:ext cx="2204720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01930" algn="l"/>
              </a:tabLst>
            </a:pPr>
            <a:r>
              <a:rPr sz="2150" spc="-10" dirty="0">
                <a:latin typeface="Calibri"/>
                <a:cs typeface="Calibri"/>
              </a:rPr>
              <a:t>Concept</a:t>
            </a:r>
            <a:r>
              <a:rPr sz="2150" spc="-3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of</a:t>
            </a:r>
            <a:r>
              <a:rPr sz="2150" spc="-2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Gating</a:t>
            </a:r>
            <a:endParaRPr sz="21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71700" y="3031236"/>
            <a:ext cx="5057140" cy="2719070"/>
            <a:chOff x="2171700" y="3031236"/>
            <a:chExt cx="5057140" cy="27190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2179" y="3063240"/>
              <a:ext cx="4995671" cy="26548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171700" y="3031236"/>
              <a:ext cx="5057140" cy="2719070"/>
            </a:xfrm>
            <a:custGeom>
              <a:avLst/>
              <a:gdLst/>
              <a:ahLst/>
              <a:cxnLst/>
              <a:rect l="l" t="t" r="r" b="b"/>
              <a:pathLst>
                <a:path w="5057140" h="2719070">
                  <a:moveTo>
                    <a:pt x="5056632" y="2711196"/>
                  </a:moveTo>
                  <a:lnTo>
                    <a:pt x="5056632" y="7620"/>
                  </a:lnTo>
                  <a:lnTo>
                    <a:pt x="5050536" y="0"/>
                  </a:lnTo>
                  <a:lnTo>
                    <a:pt x="6096" y="0"/>
                  </a:lnTo>
                  <a:lnTo>
                    <a:pt x="0" y="7620"/>
                  </a:lnTo>
                  <a:lnTo>
                    <a:pt x="0" y="2711196"/>
                  </a:lnTo>
                  <a:lnTo>
                    <a:pt x="6096" y="2718816"/>
                  </a:lnTo>
                  <a:lnTo>
                    <a:pt x="15240" y="2718816"/>
                  </a:lnTo>
                  <a:lnTo>
                    <a:pt x="15240" y="32004"/>
                  </a:lnTo>
                  <a:lnTo>
                    <a:pt x="30480" y="16764"/>
                  </a:lnTo>
                  <a:lnTo>
                    <a:pt x="30480" y="32004"/>
                  </a:lnTo>
                  <a:lnTo>
                    <a:pt x="5026152" y="32004"/>
                  </a:lnTo>
                  <a:lnTo>
                    <a:pt x="5026152" y="16764"/>
                  </a:lnTo>
                  <a:lnTo>
                    <a:pt x="5041392" y="32004"/>
                  </a:lnTo>
                  <a:lnTo>
                    <a:pt x="5041392" y="2718816"/>
                  </a:lnTo>
                  <a:lnTo>
                    <a:pt x="5050536" y="2718816"/>
                  </a:lnTo>
                  <a:lnTo>
                    <a:pt x="5056632" y="2711196"/>
                  </a:lnTo>
                  <a:close/>
                </a:path>
                <a:path w="5057140" h="2719070">
                  <a:moveTo>
                    <a:pt x="30480" y="32004"/>
                  </a:moveTo>
                  <a:lnTo>
                    <a:pt x="30480" y="16764"/>
                  </a:lnTo>
                  <a:lnTo>
                    <a:pt x="15240" y="32004"/>
                  </a:lnTo>
                  <a:lnTo>
                    <a:pt x="30480" y="32004"/>
                  </a:lnTo>
                  <a:close/>
                </a:path>
                <a:path w="5057140" h="2719070">
                  <a:moveTo>
                    <a:pt x="30480" y="2686812"/>
                  </a:moveTo>
                  <a:lnTo>
                    <a:pt x="30480" y="32004"/>
                  </a:lnTo>
                  <a:lnTo>
                    <a:pt x="15240" y="32004"/>
                  </a:lnTo>
                  <a:lnTo>
                    <a:pt x="15240" y="2686812"/>
                  </a:lnTo>
                  <a:lnTo>
                    <a:pt x="30480" y="2686812"/>
                  </a:lnTo>
                  <a:close/>
                </a:path>
                <a:path w="5057140" h="2719070">
                  <a:moveTo>
                    <a:pt x="5041392" y="2686812"/>
                  </a:moveTo>
                  <a:lnTo>
                    <a:pt x="15240" y="2686812"/>
                  </a:lnTo>
                  <a:lnTo>
                    <a:pt x="30480" y="2703576"/>
                  </a:lnTo>
                  <a:lnTo>
                    <a:pt x="30480" y="2718816"/>
                  </a:lnTo>
                  <a:lnTo>
                    <a:pt x="5026152" y="2718816"/>
                  </a:lnTo>
                  <a:lnTo>
                    <a:pt x="5026152" y="2703576"/>
                  </a:lnTo>
                  <a:lnTo>
                    <a:pt x="5041392" y="2686812"/>
                  </a:lnTo>
                  <a:close/>
                </a:path>
                <a:path w="5057140" h="2719070">
                  <a:moveTo>
                    <a:pt x="30480" y="2718816"/>
                  </a:moveTo>
                  <a:lnTo>
                    <a:pt x="30480" y="2703576"/>
                  </a:lnTo>
                  <a:lnTo>
                    <a:pt x="15240" y="2686812"/>
                  </a:lnTo>
                  <a:lnTo>
                    <a:pt x="15240" y="2718816"/>
                  </a:lnTo>
                  <a:lnTo>
                    <a:pt x="30480" y="2718816"/>
                  </a:lnTo>
                  <a:close/>
                </a:path>
                <a:path w="5057140" h="2719070">
                  <a:moveTo>
                    <a:pt x="5041392" y="32004"/>
                  </a:moveTo>
                  <a:lnTo>
                    <a:pt x="5026152" y="16764"/>
                  </a:lnTo>
                  <a:lnTo>
                    <a:pt x="5026152" y="32004"/>
                  </a:lnTo>
                  <a:lnTo>
                    <a:pt x="5041392" y="32004"/>
                  </a:lnTo>
                  <a:close/>
                </a:path>
                <a:path w="5057140" h="2719070">
                  <a:moveTo>
                    <a:pt x="5041392" y="2686812"/>
                  </a:moveTo>
                  <a:lnTo>
                    <a:pt x="5041392" y="32004"/>
                  </a:lnTo>
                  <a:lnTo>
                    <a:pt x="5026152" y="32004"/>
                  </a:lnTo>
                  <a:lnTo>
                    <a:pt x="5026152" y="2686812"/>
                  </a:lnTo>
                  <a:lnTo>
                    <a:pt x="5041392" y="2686812"/>
                  </a:lnTo>
                  <a:close/>
                </a:path>
                <a:path w="5057140" h="2719070">
                  <a:moveTo>
                    <a:pt x="5041392" y="2718816"/>
                  </a:moveTo>
                  <a:lnTo>
                    <a:pt x="5041392" y="2686812"/>
                  </a:lnTo>
                  <a:lnTo>
                    <a:pt x="5026152" y="2703576"/>
                  </a:lnTo>
                  <a:lnTo>
                    <a:pt x="5026152" y="2718816"/>
                  </a:lnTo>
                  <a:lnTo>
                    <a:pt x="5041392" y="2718816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865" y="1558543"/>
            <a:ext cx="2444750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LSTM</a:t>
            </a:r>
            <a:r>
              <a:rPr spc="-45" dirty="0"/>
              <a:t> </a:t>
            </a:r>
            <a:r>
              <a:rPr spc="10" dirty="0"/>
              <a:t>-</a:t>
            </a:r>
            <a:r>
              <a:rPr spc="-30" dirty="0"/>
              <a:t> </a:t>
            </a:r>
            <a:r>
              <a:rPr spc="-20" dirty="0"/>
              <a:t>Gates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865" y="2533902"/>
            <a:ext cx="4382135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114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dirty="0">
                <a:latin typeface="Calibri"/>
                <a:cs typeface="Calibri"/>
              </a:rPr>
              <a:t>Plus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Junction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– </a:t>
            </a:r>
            <a:r>
              <a:rPr sz="2300" spc="-5" dirty="0">
                <a:latin typeface="Calibri"/>
                <a:cs typeface="Calibri"/>
              </a:rPr>
              <a:t>Point-wise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Addition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40280" y="3311652"/>
            <a:ext cx="5274945" cy="2874645"/>
            <a:chOff x="2240280" y="3311652"/>
            <a:chExt cx="5274945" cy="28746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2284" y="3342132"/>
              <a:ext cx="5212079" cy="281177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240280" y="3311652"/>
              <a:ext cx="5274945" cy="2874645"/>
            </a:xfrm>
            <a:custGeom>
              <a:avLst/>
              <a:gdLst/>
              <a:ahLst/>
              <a:cxnLst/>
              <a:rect l="l" t="t" r="r" b="b"/>
              <a:pathLst>
                <a:path w="5274945" h="2874645">
                  <a:moveTo>
                    <a:pt x="5274564" y="2866644"/>
                  </a:moveTo>
                  <a:lnTo>
                    <a:pt x="5274564" y="6096"/>
                  </a:lnTo>
                  <a:lnTo>
                    <a:pt x="5268468" y="0"/>
                  </a:lnTo>
                  <a:lnTo>
                    <a:pt x="7620" y="0"/>
                  </a:lnTo>
                  <a:lnTo>
                    <a:pt x="0" y="6096"/>
                  </a:lnTo>
                  <a:lnTo>
                    <a:pt x="0" y="2866644"/>
                  </a:lnTo>
                  <a:lnTo>
                    <a:pt x="7620" y="2874264"/>
                  </a:lnTo>
                  <a:lnTo>
                    <a:pt x="16764" y="2874264"/>
                  </a:lnTo>
                  <a:lnTo>
                    <a:pt x="16764" y="30480"/>
                  </a:lnTo>
                  <a:lnTo>
                    <a:pt x="32004" y="15240"/>
                  </a:lnTo>
                  <a:lnTo>
                    <a:pt x="32004" y="30480"/>
                  </a:lnTo>
                  <a:lnTo>
                    <a:pt x="5244084" y="30480"/>
                  </a:lnTo>
                  <a:lnTo>
                    <a:pt x="5244084" y="15240"/>
                  </a:lnTo>
                  <a:lnTo>
                    <a:pt x="5259324" y="30480"/>
                  </a:lnTo>
                  <a:lnTo>
                    <a:pt x="5259324" y="2874264"/>
                  </a:lnTo>
                  <a:lnTo>
                    <a:pt x="5268468" y="2874264"/>
                  </a:lnTo>
                  <a:lnTo>
                    <a:pt x="5274564" y="2866644"/>
                  </a:lnTo>
                  <a:close/>
                </a:path>
                <a:path w="5274945" h="2874645">
                  <a:moveTo>
                    <a:pt x="32004" y="30480"/>
                  </a:moveTo>
                  <a:lnTo>
                    <a:pt x="32004" y="15240"/>
                  </a:lnTo>
                  <a:lnTo>
                    <a:pt x="16764" y="30480"/>
                  </a:lnTo>
                  <a:lnTo>
                    <a:pt x="32004" y="30480"/>
                  </a:lnTo>
                  <a:close/>
                </a:path>
                <a:path w="5274945" h="2874645">
                  <a:moveTo>
                    <a:pt x="32004" y="2842260"/>
                  </a:moveTo>
                  <a:lnTo>
                    <a:pt x="32004" y="30480"/>
                  </a:lnTo>
                  <a:lnTo>
                    <a:pt x="16764" y="30480"/>
                  </a:lnTo>
                  <a:lnTo>
                    <a:pt x="16764" y="2842260"/>
                  </a:lnTo>
                  <a:lnTo>
                    <a:pt x="32004" y="2842260"/>
                  </a:lnTo>
                  <a:close/>
                </a:path>
                <a:path w="5274945" h="2874645">
                  <a:moveTo>
                    <a:pt x="5259324" y="2842260"/>
                  </a:moveTo>
                  <a:lnTo>
                    <a:pt x="16764" y="2842260"/>
                  </a:lnTo>
                  <a:lnTo>
                    <a:pt x="32004" y="2859024"/>
                  </a:lnTo>
                  <a:lnTo>
                    <a:pt x="32004" y="2874264"/>
                  </a:lnTo>
                  <a:lnTo>
                    <a:pt x="5244084" y="2874264"/>
                  </a:lnTo>
                  <a:lnTo>
                    <a:pt x="5244084" y="2859024"/>
                  </a:lnTo>
                  <a:lnTo>
                    <a:pt x="5259324" y="2842260"/>
                  </a:lnTo>
                  <a:close/>
                </a:path>
                <a:path w="5274945" h="2874645">
                  <a:moveTo>
                    <a:pt x="32004" y="2874264"/>
                  </a:moveTo>
                  <a:lnTo>
                    <a:pt x="32004" y="2859024"/>
                  </a:lnTo>
                  <a:lnTo>
                    <a:pt x="16764" y="2842260"/>
                  </a:lnTo>
                  <a:lnTo>
                    <a:pt x="16764" y="2874264"/>
                  </a:lnTo>
                  <a:lnTo>
                    <a:pt x="32004" y="2874264"/>
                  </a:lnTo>
                  <a:close/>
                </a:path>
                <a:path w="5274945" h="2874645">
                  <a:moveTo>
                    <a:pt x="5259324" y="30480"/>
                  </a:moveTo>
                  <a:lnTo>
                    <a:pt x="5244084" y="15240"/>
                  </a:lnTo>
                  <a:lnTo>
                    <a:pt x="5244084" y="30480"/>
                  </a:lnTo>
                  <a:lnTo>
                    <a:pt x="5259324" y="30480"/>
                  </a:lnTo>
                  <a:close/>
                </a:path>
                <a:path w="5274945" h="2874645">
                  <a:moveTo>
                    <a:pt x="5259324" y="2842260"/>
                  </a:moveTo>
                  <a:lnTo>
                    <a:pt x="5259324" y="30480"/>
                  </a:lnTo>
                  <a:lnTo>
                    <a:pt x="5244084" y="30480"/>
                  </a:lnTo>
                  <a:lnTo>
                    <a:pt x="5244084" y="2842260"/>
                  </a:lnTo>
                  <a:lnTo>
                    <a:pt x="5259324" y="2842260"/>
                  </a:lnTo>
                  <a:close/>
                </a:path>
                <a:path w="5274945" h="2874645">
                  <a:moveTo>
                    <a:pt x="5259324" y="2874264"/>
                  </a:moveTo>
                  <a:lnTo>
                    <a:pt x="5259324" y="2842260"/>
                  </a:lnTo>
                  <a:lnTo>
                    <a:pt x="5244084" y="2859024"/>
                  </a:lnTo>
                  <a:lnTo>
                    <a:pt x="5244084" y="2874264"/>
                  </a:lnTo>
                  <a:lnTo>
                    <a:pt x="5259324" y="2874264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865" y="1558543"/>
            <a:ext cx="1217930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" dirty="0"/>
              <a:t>L</a:t>
            </a:r>
            <a:r>
              <a:rPr spc="-25" dirty="0"/>
              <a:t>S</a:t>
            </a:r>
            <a:r>
              <a:rPr spc="-10" dirty="0"/>
              <a:t>TM</a:t>
            </a:r>
            <a:r>
              <a:rPr spc="-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8465" y="2533902"/>
            <a:ext cx="8535670" cy="143510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26695" marR="30480" indent="-189230">
              <a:lnSpc>
                <a:spcPts val="2500"/>
              </a:lnSpc>
              <a:spcBef>
                <a:spcPts val="415"/>
              </a:spcBef>
              <a:buFont typeface="Arial MT"/>
              <a:buChar char="•"/>
              <a:tabLst>
                <a:tab pos="227329" algn="l"/>
              </a:tabLst>
            </a:pPr>
            <a:r>
              <a:rPr sz="2300" dirty="0">
                <a:latin typeface="Calibri"/>
                <a:cs typeface="Calibri"/>
              </a:rPr>
              <a:t>The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i="1" spc="-5" dirty="0">
                <a:solidFill>
                  <a:srgbClr val="FF0000"/>
                </a:solidFill>
                <a:latin typeface="Calibri"/>
                <a:cs typeface="Calibri"/>
              </a:rPr>
              <a:t>forget</a:t>
            </a:r>
            <a:r>
              <a:rPr sz="23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i="1" dirty="0">
                <a:solidFill>
                  <a:srgbClr val="FF0000"/>
                </a:solidFill>
                <a:latin typeface="Calibri"/>
                <a:cs typeface="Calibri"/>
              </a:rPr>
              <a:t>layer</a:t>
            </a:r>
            <a:r>
              <a:rPr sz="2300" i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looks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at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i="1" spc="5" dirty="0">
                <a:solidFill>
                  <a:srgbClr val="FF0000"/>
                </a:solidFill>
                <a:latin typeface="Calibri"/>
                <a:cs typeface="Calibri"/>
              </a:rPr>
              <a:t>h</a:t>
            </a:r>
            <a:r>
              <a:rPr sz="2250" i="1" spc="7" baseline="-20370" dirty="0">
                <a:solidFill>
                  <a:srgbClr val="FF0000"/>
                </a:solidFill>
                <a:latin typeface="Calibri"/>
                <a:cs typeface="Calibri"/>
              </a:rPr>
              <a:t>t−1</a:t>
            </a:r>
            <a:r>
              <a:rPr sz="2250" i="1" spc="284" baseline="-203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i="1" spc="10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2250" i="1" spc="15" baseline="-2037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300" spc="10" dirty="0">
                <a:latin typeface="Calibri"/>
                <a:cs typeface="Calibri"/>
              </a:rPr>
              <a:t>,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outputs</a:t>
            </a:r>
            <a:r>
              <a:rPr sz="2300" spc="5" dirty="0">
                <a:latin typeface="Calibri"/>
                <a:cs typeface="Calibri"/>
              </a:rPr>
              <a:t> a</a:t>
            </a:r>
            <a:r>
              <a:rPr sz="2300" dirty="0">
                <a:latin typeface="Calibri"/>
                <a:cs typeface="Calibri"/>
              </a:rPr>
              <a:t> number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between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0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5" dirty="0">
                <a:latin typeface="Calibri"/>
                <a:cs typeface="Calibri"/>
              </a:rPr>
              <a:t> 1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for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each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number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 the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cell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state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i="1" spc="10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2250" i="1" spc="15" baseline="-20370" dirty="0">
                <a:solidFill>
                  <a:srgbClr val="FF0000"/>
                </a:solidFill>
                <a:latin typeface="Calibri"/>
                <a:cs typeface="Calibri"/>
              </a:rPr>
              <a:t>t−1</a:t>
            </a:r>
            <a:r>
              <a:rPr sz="2300" spc="10" dirty="0">
                <a:latin typeface="Calibri"/>
                <a:cs typeface="Calibri"/>
              </a:rPr>
              <a:t>.</a:t>
            </a:r>
            <a:endParaRPr sz="2300">
              <a:latin typeface="Calibri"/>
              <a:cs typeface="Calibri"/>
            </a:endParaRPr>
          </a:p>
          <a:p>
            <a:pPr marL="226695" marR="1358900" indent="-189230">
              <a:lnSpc>
                <a:spcPts val="2500"/>
              </a:lnSpc>
              <a:spcBef>
                <a:spcPts val="819"/>
              </a:spcBef>
              <a:buFont typeface="Arial MT"/>
              <a:buChar char="•"/>
              <a:tabLst>
                <a:tab pos="227329" algn="l"/>
              </a:tabLst>
            </a:pPr>
            <a:r>
              <a:rPr sz="2300" spc="5" dirty="0">
                <a:latin typeface="Calibri"/>
                <a:cs typeface="Calibri"/>
              </a:rPr>
              <a:t>A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1 </a:t>
            </a:r>
            <a:r>
              <a:rPr sz="2300" spc="-10" dirty="0">
                <a:latin typeface="Calibri"/>
                <a:cs typeface="Calibri"/>
              </a:rPr>
              <a:t>represents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“completely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keep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this”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while</a:t>
            </a:r>
            <a:r>
              <a:rPr sz="2300" spc="5" dirty="0">
                <a:latin typeface="Calibri"/>
                <a:cs typeface="Calibri"/>
              </a:rPr>
              <a:t> a 0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represents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“completely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get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rid </a:t>
            </a:r>
            <a:r>
              <a:rPr sz="2300" spc="5" dirty="0">
                <a:latin typeface="Calibri"/>
                <a:cs typeface="Calibri"/>
              </a:rPr>
              <a:t>of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30" dirty="0">
                <a:latin typeface="Calibri"/>
                <a:cs typeface="Calibri"/>
              </a:rPr>
              <a:t>this.”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3072" y="1266443"/>
            <a:ext cx="6725411" cy="11871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4169" y="4083163"/>
            <a:ext cx="3560719" cy="233878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689092" y="4855464"/>
            <a:ext cx="3522345" cy="559435"/>
            <a:chOff x="5689092" y="4855464"/>
            <a:chExt cx="3522345" cy="55943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59236" y="5030723"/>
              <a:ext cx="3335915" cy="28803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689092" y="4855464"/>
              <a:ext cx="3522345" cy="559435"/>
            </a:xfrm>
            <a:custGeom>
              <a:avLst/>
              <a:gdLst/>
              <a:ahLst/>
              <a:cxnLst/>
              <a:rect l="l" t="t" r="r" b="b"/>
              <a:pathLst>
                <a:path w="3522345" h="559435">
                  <a:moveTo>
                    <a:pt x="3521964" y="554736"/>
                  </a:moveTo>
                  <a:lnTo>
                    <a:pt x="3521964" y="6096"/>
                  </a:lnTo>
                  <a:lnTo>
                    <a:pt x="3515868" y="0"/>
                  </a:lnTo>
                  <a:lnTo>
                    <a:pt x="6096" y="0"/>
                  </a:lnTo>
                  <a:lnTo>
                    <a:pt x="0" y="6096"/>
                  </a:lnTo>
                  <a:lnTo>
                    <a:pt x="0" y="554736"/>
                  </a:lnTo>
                  <a:lnTo>
                    <a:pt x="6096" y="559308"/>
                  </a:lnTo>
                  <a:lnTo>
                    <a:pt x="12192" y="559308"/>
                  </a:lnTo>
                  <a:lnTo>
                    <a:pt x="12192" y="24384"/>
                  </a:lnTo>
                  <a:lnTo>
                    <a:pt x="24384" y="12192"/>
                  </a:lnTo>
                  <a:lnTo>
                    <a:pt x="24384" y="24384"/>
                  </a:lnTo>
                  <a:lnTo>
                    <a:pt x="3497580" y="24384"/>
                  </a:lnTo>
                  <a:lnTo>
                    <a:pt x="3497580" y="12192"/>
                  </a:lnTo>
                  <a:lnTo>
                    <a:pt x="3509772" y="24384"/>
                  </a:lnTo>
                  <a:lnTo>
                    <a:pt x="3509772" y="559308"/>
                  </a:lnTo>
                  <a:lnTo>
                    <a:pt x="3515868" y="559308"/>
                  </a:lnTo>
                  <a:lnTo>
                    <a:pt x="3521964" y="554736"/>
                  </a:lnTo>
                  <a:close/>
                </a:path>
                <a:path w="3522345" h="559435">
                  <a:moveTo>
                    <a:pt x="24384" y="24384"/>
                  </a:moveTo>
                  <a:lnTo>
                    <a:pt x="24384" y="12192"/>
                  </a:lnTo>
                  <a:lnTo>
                    <a:pt x="12192" y="24384"/>
                  </a:lnTo>
                  <a:lnTo>
                    <a:pt x="24384" y="24384"/>
                  </a:lnTo>
                  <a:close/>
                </a:path>
                <a:path w="3522345" h="559435">
                  <a:moveTo>
                    <a:pt x="24384" y="536448"/>
                  </a:moveTo>
                  <a:lnTo>
                    <a:pt x="24384" y="24384"/>
                  </a:lnTo>
                  <a:lnTo>
                    <a:pt x="12192" y="24384"/>
                  </a:lnTo>
                  <a:lnTo>
                    <a:pt x="12192" y="536448"/>
                  </a:lnTo>
                  <a:lnTo>
                    <a:pt x="24384" y="536448"/>
                  </a:lnTo>
                  <a:close/>
                </a:path>
                <a:path w="3522345" h="559435">
                  <a:moveTo>
                    <a:pt x="3509772" y="536448"/>
                  </a:moveTo>
                  <a:lnTo>
                    <a:pt x="12192" y="536448"/>
                  </a:lnTo>
                  <a:lnTo>
                    <a:pt x="24384" y="548640"/>
                  </a:lnTo>
                  <a:lnTo>
                    <a:pt x="24384" y="559308"/>
                  </a:lnTo>
                  <a:lnTo>
                    <a:pt x="3497580" y="559308"/>
                  </a:lnTo>
                  <a:lnTo>
                    <a:pt x="3497580" y="548640"/>
                  </a:lnTo>
                  <a:lnTo>
                    <a:pt x="3509772" y="536448"/>
                  </a:lnTo>
                  <a:close/>
                </a:path>
                <a:path w="3522345" h="559435">
                  <a:moveTo>
                    <a:pt x="24384" y="559308"/>
                  </a:moveTo>
                  <a:lnTo>
                    <a:pt x="24384" y="548640"/>
                  </a:lnTo>
                  <a:lnTo>
                    <a:pt x="12192" y="536448"/>
                  </a:lnTo>
                  <a:lnTo>
                    <a:pt x="12192" y="559308"/>
                  </a:lnTo>
                  <a:lnTo>
                    <a:pt x="24384" y="559308"/>
                  </a:lnTo>
                  <a:close/>
                </a:path>
                <a:path w="3522345" h="559435">
                  <a:moveTo>
                    <a:pt x="3509772" y="24384"/>
                  </a:moveTo>
                  <a:lnTo>
                    <a:pt x="3497580" y="12192"/>
                  </a:lnTo>
                  <a:lnTo>
                    <a:pt x="3497580" y="24384"/>
                  </a:lnTo>
                  <a:lnTo>
                    <a:pt x="3509772" y="24384"/>
                  </a:lnTo>
                  <a:close/>
                </a:path>
                <a:path w="3522345" h="559435">
                  <a:moveTo>
                    <a:pt x="3509772" y="536448"/>
                  </a:moveTo>
                  <a:lnTo>
                    <a:pt x="3509772" y="24384"/>
                  </a:lnTo>
                  <a:lnTo>
                    <a:pt x="3497580" y="24384"/>
                  </a:lnTo>
                  <a:lnTo>
                    <a:pt x="3497580" y="536448"/>
                  </a:lnTo>
                  <a:lnTo>
                    <a:pt x="3509772" y="536448"/>
                  </a:lnTo>
                  <a:close/>
                </a:path>
                <a:path w="3522345" h="559435">
                  <a:moveTo>
                    <a:pt x="3509772" y="559308"/>
                  </a:moveTo>
                  <a:lnTo>
                    <a:pt x="3509772" y="536448"/>
                  </a:lnTo>
                  <a:lnTo>
                    <a:pt x="3497580" y="548640"/>
                  </a:lnTo>
                  <a:lnTo>
                    <a:pt x="3497580" y="559308"/>
                  </a:lnTo>
                  <a:lnTo>
                    <a:pt x="3509772" y="559308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865" y="1558543"/>
            <a:ext cx="3934460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LSTMs</a:t>
            </a:r>
            <a:r>
              <a:rPr spc="-40" dirty="0"/>
              <a:t> </a:t>
            </a:r>
            <a:r>
              <a:rPr spc="15" dirty="0"/>
              <a:t>–</a:t>
            </a:r>
            <a:r>
              <a:rPr spc="-5" dirty="0"/>
              <a:t> </a:t>
            </a:r>
            <a:r>
              <a:rPr spc="-25" dirty="0"/>
              <a:t>Forget</a:t>
            </a:r>
            <a:r>
              <a:rPr spc="-30" dirty="0"/>
              <a:t> Layer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53865" y="2504667"/>
            <a:ext cx="8438515" cy="192468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345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spc="-5" dirty="0">
                <a:latin typeface="Calibri"/>
                <a:cs typeface="Calibri"/>
              </a:rPr>
              <a:t>Example:</a:t>
            </a:r>
            <a:endParaRPr sz="2300">
              <a:latin typeface="Calibri"/>
              <a:cs typeface="Calibri"/>
            </a:endParaRPr>
          </a:p>
          <a:p>
            <a:pPr marL="577850" marR="384810" lvl="1" indent="-187960">
              <a:lnSpc>
                <a:spcPts val="2140"/>
              </a:lnSpc>
              <a:spcBef>
                <a:spcPts val="470"/>
              </a:spcBef>
              <a:buFont typeface="Arial MT"/>
              <a:buChar char="•"/>
              <a:tabLst>
                <a:tab pos="578485" algn="l"/>
              </a:tabLst>
            </a:pPr>
            <a:r>
              <a:rPr sz="1950" spc="10" dirty="0">
                <a:latin typeface="Calibri"/>
                <a:cs typeface="Calibri"/>
              </a:rPr>
              <a:t>Language model trying </a:t>
            </a:r>
            <a:r>
              <a:rPr sz="1950" spc="-5" dirty="0">
                <a:latin typeface="Calibri"/>
                <a:cs typeface="Calibri"/>
              </a:rPr>
              <a:t>to </a:t>
            </a:r>
            <a:r>
              <a:rPr sz="1950" spc="5" dirty="0">
                <a:latin typeface="Calibri"/>
                <a:cs typeface="Calibri"/>
              </a:rPr>
              <a:t>predict </a:t>
            </a:r>
            <a:r>
              <a:rPr sz="1950" spc="10" dirty="0">
                <a:latin typeface="Calibri"/>
                <a:cs typeface="Calibri"/>
              </a:rPr>
              <a:t>the </a:t>
            </a:r>
            <a:r>
              <a:rPr sz="1950" dirty="0">
                <a:latin typeface="Calibri"/>
                <a:cs typeface="Calibri"/>
              </a:rPr>
              <a:t>next word </a:t>
            </a:r>
            <a:r>
              <a:rPr sz="1950" spc="10" dirty="0">
                <a:latin typeface="Calibri"/>
                <a:cs typeface="Calibri"/>
              </a:rPr>
              <a:t>based on </a:t>
            </a:r>
            <a:r>
              <a:rPr sz="1950" spc="5" dirty="0">
                <a:latin typeface="Calibri"/>
                <a:cs typeface="Calibri"/>
              </a:rPr>
              <a:t>all </a:t>
            </a:r>
            <a:r>
              <a:rPr sz="1950" spc="10" dirty="0">
                <a:latin typeface="Calibri"/>
                <a:cs typeface="Calibri"/>
              </a:rPr>
              <a:t>the </a:t>
            </a:r>
            <a:r>
              <a:rPr sz="1950" spc="5" dirty="0">
                <a:latin typeface="Calibri"/>
                <a:cs typeface="Calibri"/>
              </a:rPr>
              <a:t>previous </a:t>
            </a:r>
            <a:r>
              <a:rPr sz="1950" spc="-43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ones.</a:t>
            </a:r>
            <a:endParaRPr sz="1950">
              <a:latin typeface="Calibri"/>
              <a:cs typeface="Calibri"/>
            </a:endParaRPr>
          </a:p>
          <a:p>
            <a:pPr marL="577850" marR="490855" lvl="1" indent="-187960">
              <a:lnSpc>
                <a:spcPts val="2140"/>
              </a:lnSpc>
              <a:spcBef>
                <a:spcPts val="409"/>
              </a:spcBef>
              <a:buFont typeface="Arial MT"/>
              <a:buChar char="•"/>
              <a:tabLst>
                <a:tab pos="578485" algn="l"/>
              </a:tabLst>
            </a:pPr>
            <a:r>
              <a:rPr sz="1950" spc="10" dirty="0">
                <a:latin typeface="Calibri"/>
                <a:cs typeface="Calibri"/>
              </a:rPr>
              <a:t>In </a:t>
            </a:r>
            <a:r>
              <a:rPr sz="1950" spc="15" dirty="0">
                <a:latin typeface="Calibri"/>
                <a:cs typeface="Calibri"/>
              </a:rPr>
              <a:t>such </a:t>
            </a:r>
            <a:r>
              <a:rPr sz="1950" spc="10" dirty="0">
                <a:latin typeface="Calibri"/>
                <a:cs typeface="Calibri"/>
              </a:rPr>
              <a:t>a </a:t>
            </a:r>
            <a:r>
              <a:rPr sz="1950" spc="5" dirty="0">
                <a:latin typeface="Calibri"/>
                <a:cs typeface="Calibri"/>
              </a:rPr>
              <a:t>problem, </a:t>
            </a:r>
            <a:r>
              <a:rPr sz="1950" spc="10" dirty="0">
                <a:latin typeface="Calibri"/>
                <a:cs typeface="Calibri"/>
              </a:rPr>
              <a:t>the </a:t>
            </a:r>
            <a:r>
              <a:rPr sz="1950" spc="5" dirty="0">
                <a:latin typeface="Calibri"/>
                <a:cs typeface="Calibri"/>
              </a:rPr>
              <a:t>cell </a:t>
            </a:r>
            <a:r>
              <a:rPr sz="1950" spc="-10" dirty="0">
                <a:latin typeface="Calibri"/>
                <a:cs typeface="Calibri"/>
              </a:rPr>
              <a:t>state </a:t>
            </a:r>
            <a:r>
              <a:rPr sz="1950" spc="5" dirty="0">
                <a:latin typeface="Calibri"/>
                <a:cs typeface="Calibri"/>
              </a:rPr>
              <a:t>might </a:t>
            </a:r>
            <a:r>
              <a:rPr sz="1950" spc="10" dirty="0">
                <a:latin typeface="Calibri"/>
                <a:cs typeface="Calibri"/>
              </a:rPr>
              <a:t>include the gender of the </a:t>
            </a:r>
            <a:r>
              <a:rPr sz="1950" spc="5" dirty="0">
                <a:latin typeface="Calibri"/>
                <a:cs typeface="Calibri"/>
              </a:rPr>
              <a:t>present </a:t>
            </a:r>
            <a:r>
              <a:rPr sz="1950" spc="-43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subject,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so</a:t>
            </a:r>
            <a:r>
              <a:rPr sz="1950" spc="-10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that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the </a:t>
            </a:r>
            <a:r>
              <a:rPr sz="1950" spc="5" dirty="0">
                <a:latin typeface="Calibri"/>
                <a:cs typeface="Calibri"/>
              </a:rPr>
              <a:t>correct</a:t>
            </a:r>
            <a:r>
              <a:rPr sz="1950" spc="-2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pronouns</a:t>
            </a:r>
            <a:r>
              <a:rPr sz="1950" spc="-20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can</a:t>
            </a:r>
            <a:r>
              <a:rPr sz="1950" spc="-10" dirty="0">
                <a:latin typeface="Calibri"/>
                <a:cs typeface="Calibri"/>
              </a:rPr>
              <a:t> </a:t>
            </a:r>
            <a:r>
              <a:rPr sz="1950" spc="15" dirty="0">
                <a:latin typeface="Calibri"/>
                <a:cs typeface="Calibri"/>
              </a:rPr>
              <a:t>be</a:t>
            </a:r>
            <a:r>
              <a:rPr sz="195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used.</a:t>
            </a:r>
            <a:endParaRPr sz="1950">
              <a:latin typeface="Calibri"/>
              <a:cs typeface="Calibri"/>
            </a:endParaRPr>
          </a:p>
          <a:p>
            <a:pPr marL="577850" lvl="1" indent="-187960">
              <a:lnSpc>
                <a:spcPct val="100000"/>
              </a:lnSpc>
              <a:spcBef>
                <a:spcPts val="160"/>
              </a:spcBef>
              <a:buFont typeface="Arial MT"/>
              <a:buChar char="•"/>
              <a:tabLst>
                <a:tab pos="578485" algn="l"/>
              </a:tabLst>
            </a:pPr>
            <a:r>
              <a:rPr sz="1950" spc="15" dirty="0">
                <a:latin typeface="Calibri"/>
                <a:cs typeface="Calibri"/>
              </a:rPr>
              <a:t>When</a:t>
            </a:r>
            <a:r>
              <a:rPr sz="195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we</a:t>
            </a:r>
            <a:r>
              <a:rPr sz="195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see</a:t>
            </a:r>
            <a:r>
              <a:rPr sz="195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a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new</a:t>
            </a:r>
            <a:r>
              <a:rPr sz="195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subject,</a:t>
            </a:r>
            <a:r>
              <a:rPr sz="195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we</a:t>
            </a:r>
            <a:r>
              <a:rPr sz="1950" dirty="0">
                <a:latin typeface="Calibri"/>
                <a:cs typeface="Calibri"/>
              </a:rPr>
              <a:t> want</a:t>
            </a:r>
            <a:r>
              <a:rPr sz="1950" spc="-10" dirty="0">
                <a:latin typeface="Calibri"/>
                <a:cs typeface="Calibri"/>
              </a:rPr>
              <a:t> </a:t>
            </a:r>
            <a:r>
              <a:rPr sz="1950" spc="-5" dirty="0">
                <a:latin typeface="Calibri"/>
                <a:cs typeface="Calibri"/>
              </a:rPr>
              <a:t>to</a:t>
            </a:r>
            <a:r>
              <a:rPr sz="1950" dirty="0">
                <a:latin typeface="Calibri"/>
                <a:cs typeface="Calibri"/>
              </a:rPr>
              <a:t> </a:t>
            </a:r>
            <a:r>
              <a:rPr sz="1950" spc="-5" dirty="0">
                <a:latin typeface="Calibri"/>
                <a:cs typeface="Calibri"/>
              </a:rPr>
              <a:t>forget</a:t>
            </a:r>
            <a:r>
              <a:rPr sz="1950" spc="-1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the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gender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of the</a:t>
            </a:r>
            <a:r>
              <a:rPr sz="195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old</a:t>
            </a:r>
            <a:r>
              <a:rPr sz="195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subject.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4105" y="2258059"/>
            <a:ext cx="9401175" cy="203898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26695" marR="235585" indent="-189230">
              <a:lnSpc>
                <a:spcPts val="2500"/>
              </a:lnSpc>
              <a:spcBef>
                <a:spcPts val="415"/>
              </a:spcBef>
              <a:buFont typeface="Arial MT"/>
              <a:buChar char="•"/>
              <a:tabLst>
                <a:tab pos="227329" algn="l"/>
              </a:tabLst>
            </a:pPr>
            <a:r>
              <a:rPr sz="2300" dirty="0">
                <a:latin typeface="Calibri"/>
                <a:cs typeface="Calibri"/>
              </a:rPr>
              <a:t>The</a:t>
            </a:r>
            <a:r>
              <a:rPr sz="2300" spc="-5" dirty="0">
                <a:latin typeface="Calibri"/>
                <a:cs typeface="Calibri"/>
              </a:rPr>
              <a:t> next</a:t>
            </a:r>
            <a:r>
              <a:rPr sz="2300" spc="-10" dirty="0">
                <a:latin typeface="Calibri"/>
                <a:cs typeface="Calibri"/>
              </a:rPr>
              <a:t> step</a:t>
            </a:r>
            <a:r>
              <a:rPr sz="2300" dirty="0">
                <a:latin typeface="Calibri"/>
                <a:cs typeface="Calibri"/>
              </a:rPr>
              <a:t> is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to</a:t>
            </a:r>
            <a:r>
              <a:rPr sz="2300" dirty="0">
                <a:latin typeface="Calibri"/>
                <a:cs typeface="Calibri"/>
              </a:rPr>
              <a:t> decide</a:t>
            </a:r>
            <a:r>
              <a:rPr sz="2300" spc="-5" dirty="0">
                <a:latin typeface="Calibri"/>
                <a:cs typeface="Calibri"/>
              </a:rPr>
              <a:t> what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new </a:t>
            </a:r>
            <a:r>
              <a:rPr sz="2300" spc="-5" dirty="0">
                <a:latin typeface="Calibri"/>
                <a:cs typeface="Calibri"/>
              </a:rPr>
              <a:t>information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we’re</a:t>
            </a:r>
            <a:r>
              <a:rPr sz="2300" dirty="0">
                <a:latin typeface="Calibri"/>
                <a:cs typeface="Calibri"/>
              </a:rPr>
              <a:t> going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to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store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 the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cell</a:t>
            </a:r>
            <a:r>
              <a:rPr sz="2300" spc="-15" dirty="0">
                <a:latin typeface="Calibri"/>
                <a:cs typeface="Calibri"/>
              </a:rPr>
              <a:t> state.</a:t>
            </a:r>
            <a:endParaRPr sz="2300">
              <a:latin typeface="Calibri"/>
              <a:cs typeface="Calibri"/>
            </a:endParaRPr>
          </a:p>
          <a:p>
            <a:pPr marL="226695" indent="-189230">
              <a:lnSpc>
                <a:spcPct val="100000"/>
              </a:lnSpc>
              <a:spcBef>
                <a:spcPts val="520"/>
              </a:spcBef>
              <a:buFont typeface="Arial MT"/>
              <a:buChar char="•"/>
              <a:tabLst>
                <a:tab pos="227329" algn="l"/>
              </a:tabLst>
            </a:pPr>
            <a:r>
              <a:rPr sz="2300" dirty="0">
                <a:latin typeface="Calibri"/>
                <a:cs typeface="Calibri"/>
              </a:rPr>
              <a:t>This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has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two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parts.</a:t>
            </a:r>
            <a:endParaRPr sz="2300">
              <a:latin typeface="Calibri"/>
              <a:cs typeface="Calibri"/>
            </a:endParaRPr>
          </a:p>
          <a:p>
            <a:pPr marL="603250" lvl="1" indent="-18796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03885" algn="l"/>
              </a:tabLst>
            </a:pPr>
            <a:r>
              <a:rPr sz="1950" dirty="0">
                <a:latin typeface="Calibri"/>
                <a:cs typeface="Calibri"/>
              </a:rPr>
              <a:t>First,</a:t>
            </a:r>
            <a:r>
              <a:rPr sz="1950" spc="-1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a sigmoid</a:t>
            </a:r>
            <a:r>
              <a:rPr sz="1950" spc="-25" dirty="0">
                <a:latin typeface="Calibri"/>
                <a:cs typeface="Calibri"/>
              </a:rPr>
              <a:t> </a:t>
            </a:r>
            <a:r>
              <a:rPr sz="1950" spc="-5" dirty="0">
                <a:latin typeface="Calibri"/>
                <a:cs typeface="Calibri"/>
              </a:rPr>
              <a:t>layer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called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the “</a:t>
            </a:r>
            <a:r>
              <a:rPr sz="1950" i="1" spc="10" dirty="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sz="1950" i="1" spc="5" dirty="0">
                <a:solidFill>
                  <a:srgbClr val="FF0000"/>
                </a:solidFill>
                <a:latin typeface="Calibri"/>
                <a:cs typeface="Calibri"/>
              </a:rPr>
              <a:t> gate</a:t>
            </a:r>
            <a:r>
              <a:rPr sz="1950" i="1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50" i="1" spc="10" dirty="0">
                <a:solidFill>
                  <a:srgbClr val="FF0000"/>
                </a:solidFill>
                <a:latin typeface="Calibri"/>
                <a:cs typeface="Calibri"/>
              </a:rPr>
              <a:t>layer</a:t>
            </a:r>
            <a:r>
              <a:rPr sz="1950" spc="10" dirty="0">
                <a:latin typeface="Calibri"/>
                <a:cs typeface="Calibri"/>
              </a:rPr>
              <a:t>”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decides</a:t>
            </a:r>
            <a:r>
              <a:rPr sz="195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which</a:t>
            </a:r>
            <a:r>
              <a:rPr sz="1950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values we’ll </a:t>
            </a:r>
            <a:r>
              <a:rPr sz="1950" dirty="0">
                <a:latin typeface="Calibri"/>
                <a:cs typeface="Calibri"/>
              </a:rPr>
              <a:t>update.</a:t>
            </a:r>
            <a:endParaRPr sz="1950">
              <a:latin typeface="Calibri"/>
              <a:cs typeface="Calibri"/>
            </a:endParaRPr>
          </a:p>
          <a:p>
            <a:pPr marL="603250" marR="30480" lvl="1" indent="-187960">
              <a:lnSpc>
                <a:spcPts val="2120"/>
              </a:lnSpc>
              <a:spcBef>
                <a:spcPts val="484"/>
              </a:spcBef>
              <a:buFont typeface="Arial MT"/>
              <a:buChar char="•"/>
              <a:tabLst>
                <a:tab pos="603885" algn="l"/>
              </a:tabLst>
            </a:pPr>
            <a:r>
              <a:rPr sz="1950" dirty="0">
                <a:latin typeface="Calibri"/>
                <a:cs typeface="Calibri"/>
              </a:rPr>
              <a:t>Next, </a:t>
            </a:r>
            <a:r>
              <a:rPr sz="1950" spc="10" dirty="0">
                <a:latin typeface="Calibri"/>
                <a:cs typeface="Calibri"/>
              </a:rPr>
              <a:t>a </a:t>
            </a:r>
            <a:r>
              <a:rPr sz="1950" i="1" spc="5" dirty="0">
                <a:solidFill>
                  <a:srgbClr val="FF0000"/>
                </a:solidFill>
                <a:latin typeface="Calibri"/>
                <a:cs typeface="Calibri"/>
              </a:rPr>
              <a:t>tanh </a:t>
            </a:r>
            <a:r>
              <a:rPr sz="1950" spc="-5" dirty="0">
                <a:latin typeface="Calibri"/>
                <a:cs typeface="Calibri"/>
              </a:rPr>
              <a:t>layer </a:t>
            </a:r>
            <a:r>
              <a:rPr sz="1950" dirty="0">
                <a:latin typeface="Calibri"/>
                <a:cs typeface="Calibri"/>
              </a:rPr>
              <a:t>creates </a:t>
            </a:r>
            <a:r>
              <a:rPr sz="1950" spc="10" dirty="0">
                <a:latin typeface="Calibri"/>
                <a:cs typeface="Calibri"/>
              </a:rPr>
              <a:t>a </a:t>
            </a:r>
            <a:r>
              <a:rPr sz="1950" dirty="0">
                <a:latin typeface="Calibri"/>
                <a:cs typeface="Calibri"/>
              </a:rPr>
              <a:t>vector </a:t>
            </a:r>
            <a:r>
              <a:rPr sz="1950" spc="10" dirty="0">
                <a:latin typeface="Calibri"/>
                <a:cs typeface="Calibri"/>
              </a:rPr>
              <a:t>of new </a:t>
            </a:r>
            <a:r>
              <a:rPr sz="1950" spc="5" dirty="0">
                <a:latin typeface="Calibri"/>
                <a:cs typeface="Calibri"/>
              </a:rPr>
              <a:t>candidate values,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Ĉ</a:t>
            </a:r>
            <a:r>
              <a:rPr sz="1950" i="1" spc="15" baseline="-21367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1950" spc="10" dirty="0">
                <a:latin typeface="Calibri"/>
                <a:cs typeface="Calibri"/>
              </a:rPr>
              <a:t>, </a:t>
            </a:r>
            <a:r>
              <a:rPr sz="1950" spc="5" dirty="0">
                <a:latin typeface="Calibri"/>
                <a:cs typeface="Calibri"/>
              </a:rPr>
              <a:t>that </a:t>
            </a:r>
            <a:r>
              <a:rPr sz="1950" spc="10" dirty="0">
                <a:latin typeface="Calibri"/>
                <a:cs typeface="Calibri"/>
              </a:rPr>
              <a:t>could </a:t>
            </a:r>
            <a:r>
              <a:rPr sz="1950" spc="15" dirty="0">
                <a:latin typeface="Calibri"/>
                <a:cs typeface="Calibri"/>
              </a:rPr>
              <a:t>be </a:t>
            </a:r>
            <a:r>
              <a:rPr sz="1950" spc="10" dirty="0">
                <a:latin typeface="Calibri"/>
                <a:cs typeface="Calibri"/>
              </a:rPr>
              <a:t>added </a:t>
            </a:r>
            <a:r>
              <a:rPr sz="1950" spc="-5" dirty="0">
                <a:latin typeface="Calibri"/>
                <a:cs typeface="Calibri"/>
              </a:rPr>
              <a:t>to </a:t>
            </a:r>
            <a:r>
              <a:rPr sz="1950" spc="-43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the</a:t>
            </a:r>
            <a:r>
              <a:rPr sz="195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state.</a:t>
            </a:r>
            <a:r>
              <a:rPr sz="1950" spc="10" dirty="0">
                <a:latin typeface="Calibri"/>
                <a:cs typeface="Calibri"/>
              </a:rPr>
              <a:t> In</a:t>
            </a:r>
            <a:r>
              <a:rPr sz="1950" spc="-10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the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next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step, </a:t>
            </a:r>
            <a:r>
              <a:rPr sz="1950" spc="5" dirty="0">
                <a:latin typeface="Calibri"/>
                <a:cs typeface="Calibri"/>
              </a:rPr>
              <a:t>we’ll </a:t>
            </a:r>
            <a:r>
              <a:rPr sz="1950" spc="10" dirty="0">
                <a:latin typeface="Calibri"/>
                <a:cs typeface="Calibri"/>
              </a:rPr>
              <a:t>combine</a:t>
            </a:r>
            <a:r>
              <a:rPr sz="1950" spc="-2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these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spc="5" dirty="0">
                <a:latin typeface="Calibri"/>
                <a:cs typeface="Calibri"/>
              </a:rPr>
              <a:t>two</a:t>
            </a:r>
            <a:r>
              <a:rPr sz="1950" spc="-5" dirty="0">
                <a:latin typeface="Calibri"/>
                <a:cs typeface="Calibri"/>
              </a:rPr>
              <a:t> to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spc="-5" dirty="0">
                <a:latin typeface="Calibri"/>
                <a:cs typeface="Calibri"/>
              </a:rPr>
              <a:t>create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an</a:t>
            </a:r>
            <a:r>
              <a:rPr sz="1950" spc="5" dirty="0">
                <a:latin typeface="Calibri"/>
                <a:cs typeface="Calibri"/>
              </a:rPr>
              <a:t> update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spc="-5" dirty="0">
                <a:latin typeface="Calibri"/>
                <a:cs typeface="Calibri"/>
              </a:rPr>
              <a:t>to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the</a:t>
            </a:r>
            <a:r>
              <a:rPr sz="195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state.</a:t>
            </a:r>
            <a:endParaRPr sz="19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8111" y="1066800"/>
            <a:ext cx="8400287" cy="119329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7726" y="4436364"/>
            <a:ext cx="2943921" cy="192945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073396" y="4864608"/>
            <a:ext cx="3450590" cy="871855"/>
            <a:chOff x="5073396" y="4864608"/>
            <a:chExt cx="3450590" cy="87185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23979" y="4963680"/>
              <a:ext cx="3319920" cy="68591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73396" y="4864608"/>
              <a:ext cx="3450590" cy="871855"/>
            </a:xfrm>
            <a:custGeom>
              <a:avLst/>
              <a:gdLst/>
              <a:ahLst/>
              <a:cxnLst/>
              <a:rect l="l" t="t" r="r" b="b"/>
              <a:pathLst>
                <a:path w="3450590" h="871854">
                  <a:moveTo>
                    <a:pt x="3450336" y="865632"/>
                  </a:moveTo>
                  <a:lnTo>
                    <a:pt x="3450336" y="4572"/>
                  </a:lnTo>
                  <a:lnTo>
                    <a:pt x="3444240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865632"/>
                  </a:lnTo>
                  <a:lnTo>
                    <a:pt x="4572" y="871728"/>
                  </a:lnTo>
                  <a:lnTo>
                    <a:pt x="12192" y="871728"/>
                  </a:lnTo>
                  <a:lnTo>
                    <a:pt x="12192" y="22860"/>
                  </a:lnTo>
                  <a:lnTo>
                    <a:pt x="22860" y="12192"/>
                  </a:lnTo>
                  <a:lnTo>
                    <a:pt x="22860" y="22860"/>
                  </a:lnTo>
                  <a:lnTo>
                    <a:pt x="3425952" y="22860"/>
                  </a:lnTo>
                  <a:lnTo>
                    <a:pt x="3425952" y="12192"/>
                  </a:lnTo>
                  <a:lnTo>
                    <a:pt x="3438144" y="22860"/>
                  </a:lnTo>
                  <a:lnTo>
                    <a:pt x="3438144" y="871728"/>
                  </a:lnTo>
                  <a:lnTo>
                    <a:pt x="3444240" y="871728"/>
                  </a:lnTo>
                  <a:lnTo>
                    <a:pt x="3450336" y="865632"/>
                  </a:lnTo>
                  <a:close/>
                </a:path>
                <a:path w="3450590" h="871854">
                  <a:moveTo>
                    <a:pt x="22860" y="22860"/>
                  </a:moveTo>
                  <a:lnTo>
                    <a:pt x="22860" y="12192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3450590" h="871854">
                  <a:moveTo>
                    <a:pt x="22860" y="847344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847344"/>
                  </a:lnTo>
                  <a:lnTo>
                    <a:pt x="22860" y="847344"/>
                  </a:lnTo>
                  <a:close/>
                </a:path>
                <a:path w="3450590" h="871854">
                  <a:moveTo>
                    <a:pt x="3438144" y="847344"/>
                  </a:moveTo>
                  <a:lnTo>
                    <a:pt x="12192" y="847344"/>
                  </a:lnTo>
                  <a:lnTo>
                    <a:pt x="22860" y="859536"/>
                  </a:lnTo>
                  <a:lnTo>
                    <a:pt x="22860" y="871728"/>
                  </a:lnTo>
                  <a:lnTo>
                    <a:pt x="3425952" y="871728"/>
                  </a:lnTo>
                  <a:lnTo>
                    <a:pt x="3425952" y="859536"/>
                  </a:lnTo>
                  <a:lnTo>
                    <a:pt x="3438144" y="847344"/>
                  </a:lnTo>
                  <a:close/>
                </a:path>
                <a:path w="3450590" h="871854">
                  <a:moveTo>
                    <a:pt x="22860" y="871728"/>
                  </a:moveTo>
                  <a:lnTo>
                    <a:pt x="22860" y="859536"/>
                  </a:lnTo>
                  <a:lnTo>
                    <a:pt x="12192" y="847344"/>
                  </a:lnTo>
                  <a:lnTo>
                    <a:pt x="12192" y="871728"/>
                  </a:lnTo>
                  <a:lnTo>
                    <a:pt x="22860" y="871728"/>
                  </a:lnTo>
                  <a:close/>
                </a:path>
                <a:path w="3450590" h="871854">
                  <a:moveTo>
                    <a:pt x="3438144" y="22860"/>
                  </a:moveTo>
                  <a:lnTo>
                    <a:pt x="3425952" y="12192"/>
                  </a:lnTo>
                  <a:lnTo>
                    <a:pt x="3425952" y="22860"/>
                  </a:lnTo>
                  <a:lnTo>
                    <a:pt x="3438144" y="22860"/>
                  </a:lnTo>
                  <a:close/>
                </a:path>
                <a:path w="3450590" h="871854">
                  <a:moveTo>
                    <a:pt x="3438144" y="847344"/>
                  </a:moveTo>
                  <a:lnTo>
                    <a:pt x="3438144" y="22860"/>
                  </a:lnTo>
                  <a:lnTo>
                    <a:pt x="3425952" y="22860"/>
                  </a:lnTo>
                  <a:lnTo>
                    <a:pt x="3425952" y="847344"/>
                  </a:lnTo>
                  <a:lnTo>
                    <a:pt x="3438144" y="847344"/>
                  </a:lnTo>
                  <a:close/>
                </a:path>
                <a:path w="3450590" h="871854">
                  <a:moveTo>
                    <a:pt x="3438144" y="871728"/>
                  </a:moveTo>
                  <a:lnTo>
                    <a:pt x="3438144" y="847344"/>
                  </a:lnTo>
                  <a:lnTo>
                    <a:pt x="3425952" y="859536"/>
                  </a:lnTo>
                  <a:lnTo>
                    <a:pt x="3425952" y="871728"/>
                  </a:lnTo>
                  <a:lnTo>
                    <a:pt x="3438144" y="871728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865" y="1558543"/>
            <a:ext cx="3730625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LSTMs</a:t>
            </a:r>
            <a:r>
              <a:rPr spc="-40" dirty="0"/>
              <a:t> </a:t>
            </a:r>
            <a:r>
              <a:rPr spc="15" dirty="0"/>
              <a:t>–</a:t>
            </a:r>
            <a:r>
              <a:rPr spc="-5" dirty="0"/>
              <a:t> </a:t>
            </a:r>
            <a:r>
              <a:rPr spc="-15" dirty="0"/>
              <a:t>Input</a:t>
            </a:r>
            <a:r>
              <a:rPr spc="5" dirty="0"/>
              <a:t> </a:t>
            </a:r>
            <a:r>
              <a:rPr spc="-30" dirty="0"/>
              <a:t>Layer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53865" y="2504667"/>
            <a:ext cx="7255509" cy="127698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345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spc="-5" dirty="0">
                <a:latin typeface="Calibri"/>
                <a:cs typeface="Calibri"/>
              </a:rPr>
              <a:t>Example</a:t>
            </a:r>
            <a:endParaRPr sz="2300">
              <a:latin typeface="Calibri"/>
              <a:cs typeface="Calibri"/>
            </a:endParaRPr>
          </a:p>
          <a:p>
            <a:pPr marL="577850" marR="5080" lvl="1" indent="-187960">
              <a:lnSpc>
                <a:spcPts val="2140"/>
              </a:lnSpc>
              <a:spcBef>
                <a:spcPts val="470"/>
              </a:spcBef>
              <a:buFont typeface="Arial MT"/>
              <a:buChar char="•"/>
              <a:tabLst>
                <a:tab pos="578485" algn="l"/>
              </a:tabLst>
            </a:pPr>
            <a:r>
              <a:rPr sz="1950" spc="10" dirty="0">
                <a:latin typeface="Calibri"/>
                <a:cs typeface="Calibri"/>
              </a:rPr>
              <a:t>In the </a:t>
            </a:r>
            <a:r>
              <a:rPr sz="1950" dirty="0">
                <a:latin typeface="Calibri"/>
                <a:cs typeface="Calibri"/>
              </a:rPr>
              <a:t>example </a:t>
            </a:r>
            <a:r>
              <a:rPr sz="1950" spc="10" dirty="0">
                <a:latin typeface="Calibri"/>
                <a:cs typeface="Calibri"/>
              </a:rPr>
              <a:t>of our language model, </a:t>
            </a:r>
            <a:r>
              <a:rPr sz="1950" spc="-30" dirty="0">
                <a:latin typeface="Calibri"/>
                <a:cs typeface="Calibri"/>
              </a:rPr>
              <a:t>we’d </a:t>
            </a:r>
            <a:r>
              <a:rPr sz="1950" dirty="0">
                <a:latin typeface="Calibri"/>
                <a:cs typeface="Calibri"/>
              </a:rPr>
              <a:t>want </a:t>
            </a:r>
            <a:r>
              <a:rPr sz="1950" spc="-5" dirty="0">
                <a:latin typeface="Calibri"/>
                <a:cs typeface="Calibri"/>
              </a:rPr>
              <a:t>to </a:t>
            </a:r>
            <a:r>
              <a:rPr sz="1950" spc="10" dirty="0">
                <a:latin typeface="Calibri"/>
                <a:cs typeface="Calibri"/>
              </a:rPr>
              <a:t>add the 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spc="10" dirty="0">
                <a:latin typeface="Calibri"/>
                <a:cs typeface="Calibri"/>
              </a:rPr>
              <a:t>gender of the new subject </a:t>
            </a:r>
            <a:r>
              <a:rPr sz="1950" spc="-5" dirty="0">
                <a:latin typeface="Calibri"/>
                <a:cs typeface="Calibri"/>
              </a:rPr>
              <a:t>to </a:t>
            </a:r>
            <a:r>
              <a:rPr sz="1950" spc="10" dirty="0">
                <a:latin typeface="Calibri"/>
                <a:cs typeface="Calibri"/>
              </a:rPr>
              <a:t>the </a:t>
            </a:r>
            <a:r>
              <a:rPr sz="1950" spc="5" dirty="0">
                <a:latin typeface="Calibri"/>
                <a:cs typeface="Calibri"/>
              </a:rPr>
              <a:t>cell </a:t>
            </a:r>
            <a:r>
              <a:rPr sz="1950" spc="-10" dirty="0">
                <a:latin typeface="Calibri"/>
                <a:cs typeface="Calibri"/>
              </a:rPr>
              <a:t>state, </a:t>
            </a:r>
            <a:r>
              <a:rPr sz="1950" spc="-5" dirty="0">
                <a:latin typeface="Calibri"/>
                <a:cs typeface="Calibri"/>
              </a:rPr>
              <a:t>to </a:t>
            </a:r>
            <a:r>
              <a:rPr sz="1950" spc="5" dirty="0">
                <a:latin typeface="Calibri"/>
                <a:cs typeface="Calibri"/>
              </a:rPr>
              <a:t>replace </a:t>
            </a:r>
            <a:r>
              <a:rPr sz="1950" spc="10" dirty="0">
                <a:latin typeface="Calibri"/>
                <a:cs typeface="Calibri"/>
              </a:rPr>
              <a:t>the old one </a:t>
            </a:r>
            <a:r>
              <a:rPr sz="1950" spc="-430" dirty="0">
                <a:latin typeface="Calibri"/>
                <a:cs typeface="Calibri"/>
              </a:rPr>
              <a:t> </a:t>
            </a:r>
            <a:r>
              <a:rPr sz="1950" spc="-5" dirty="0">
                <a:latin typeface="Calibri"/>
                <a:cs typeface="Calibri"/>
              </a:rPr>
              <a:t>we’re forgetting.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8465" y="2365653"/>
            <a:ext cx="8174990" cy="150368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26695" indent="-18923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27329" algn="l"/>
              </a:tabLst>
            </a:pPr>
            <a:r>
              <a:rPr sz="2300" spc="-5" dirty="0">
                <a:latin typeface="Calibri"/>
                <a:cs typeface="Calibri"/>
              </a:rPr>
              <a:t>Update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old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cell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state,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C</a:t>
            </a:r>
            <a:r>
              <a:rPr sz="2250" spc="15" baseline="-20370" dirty="0">
                <a:latin typeface="Calibri"/>
                <a:cs typeface="Calibri"/>
              </a:rPr>
              <a:t>t−1</a:t>
            </a:r>
            <a:r>
              <a:rPr sz="2300" spc="10" dirty="0">
                <a:latin typeface="Calibri"/>
                <a:cs typeface="Calibri"/>
              </a:rPr>
              <a:t>,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into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new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cell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state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C</a:t>
            </a:r>
            <a:r>
              <a:rPr sz="2250" spc="15" baseline="-20370" dirty="0">
                <a:latin typeface="Calibri"/>
                <a:cs typeface="Calibri"/>
              </a:rPr>
              <a:t>t</a:t>
            </a:r>
            <a:endParaRPr sz="2250" baseline="-20370">
              <a:latin typeface="Calibri"/>
              <a:cs typeface="Calibri"/>
            </a:endParaRPr>
          </a:p>
          <a:p>
            <a:pPr marL="226695" marR="30480" indent="-189230">
              <a:lnSpc>
                <a:spcPts val="2500"/>
              </a:lnSpc>
              <a:spcBef>
                <a:spcPts val="865"/>
              </a:spcBef>
              <a:buFont typeface="Arial MT"/>
              <a:buChar char="•"/>
              <a:tabLst>
                <a:tab pos="227329" algn="l"/>
              </a:tabLst>
            </a:pPr>
            <a:r>
              <a:rPr sz="2300" spc="5" dirty="0">
                <a:latin typeface="Calibri"/>
                <a:cs typeface="Calibri"/>
              </a:rPr>
              <a:t>In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 </a:t>
            </a:r>
            <a:r>
              <a:rPr sz="2300" spc="-5" dirty="0">
                <a:latin typeface="Calibri"/>
                <a:cs typeface="Calibri"/>
              </a:rPr>
              <a:t>case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of</a:t>
            </a:r>
            <a:r>
              <a:rPr sz="2300" dirty="0">
                <a:latin typeface="Calibri"/>
                <a:cs typeface="Calibri"/>
              </a:rPr>
              <a:t> the </a:t>
            </a:r>
            <a:r>
              <a:rPr sz="2300" spc="-5" dirty="0">
                <a:latin typeface="Calibri"/>
                <a:cs typeface="Calibri"/>
              </a:rPr>
              <a:t>language</a:t>
            </a:r>
            <a:r>
              <a:rPr sz="2300" dirty="0">
                <a:latin typeface="Calibri"/>
                <a:cs typeface="Calibri"/>
              </a:rPr>
              <a:t> model, this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where </a:t>
            </a:r>
            <a:r>
              <a:rPr sz="2300" spc="-45" dirty="0">
                <a:latin typeface="Calibri"/>
                <a:cs typeface="Calibri"/>
              </a:rPr>
              <a:t>we’d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actually</a:t>
            </a:r>
            <a:r>
              <a:rPr sz="2300" spc="-5" dirty="0">
                <a:latin typeface="Calibri"/>
                <a:cs typeface="Calibri"/>
              </a:rPr>
              <a:t> drop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 </a:t>
            </a:r>
            <a:r>
              <a:rPr sz="2300" spc="-5" dirty="0">
                <a:latin typeface="Calibri"/>
                <a:cs typeface="Calibri"/>
              </a:rPr>
              <a:t>information </a:t>
            </a:r>
            <a:r>
              <a:rPr sz="2300" dirty="0">
                <a:latin typeface="Calibri"/>
                <a:cs typeface="Calibri"/>
              </a:rPr>
              <a:t>about the </a:t>
            </a:r>
            <a:r>
              <a:rPr sz="2300" spc="5" dirty="0">
                <a:latin typeface="Calibri"/>
                <a:cs typeface="Calibri"/>
              </a:rPr>
              <a:t>old </a:t>
            </a:r>
            <a:r>
              <a:rPr sz="2300" spc="-5" dirty="0">
                <a:latin typeface="Calibri"/>
                <a:cs typeface="Calibri"/>
              </a:rPr>
              <a:t>subject’s </a:t>
            </a:r>
            <a:r>
              <a:rPr sz="2300" dirty="0">
                <a:latin typeface="Calibri"/>
                <a:cs typeface="Calibri"/>
              </a:rPr>
              <a:t>gender and add the new 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information,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as </a:t>
            </a:r>
            <a:r>
              <a:rPr sz="2300" spc="-5" dirty="0">
                <a:latin typeface="Calibri"/>
                <a:cs typeface="Calibri"/>
              </a:rPr>
              <a:t>we </a:t>
            </a:r>
            <a:r>
              <a:rPr sz="2300" dirty="0">
                <a:latin typeface="Calibri"/>
                <a:cs typeface="Calibri"/>
              </a:rPr>
              <a:t>decided in the</a:t>
            </a:r>
            <a:r>
              <a:rPr sz="2300" spc="-5" dirty="0">
                <a:latin typeface="Calibri"/>
                <a:cs typeface="Calibri"/>
              </a:rPr>
              <a:t> previous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steps.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7255" y="1074420"/>
            <a:ext cx="8368283" cy="12176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6305" y="3917856"/>
            <a:ext cx="3806036" cy="249979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475732" y="4971288"/>
            <a:ext cx="3066415" cy="577850"/>
            <a:chOff x="5475732" y="4971288"/>
            <a:chExt cx="3066415" cy="57785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17579" y="5065381"/>
              <a:ext cx="2871889" cy="3276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75732" y="4971288"/>
              <a:ext cx="3066415" cy="577850"/>
            </a:xfrm>
            <a:custGeom>
              <a:avLst/>
              <a:gdLst/>
              <a:ahLst/>
              <a:cxnLst/>
              <a:rect l="l" t="t" r="r" b="b"/>
              <a:pathLst>
                <a:path w="3066415" h="577850">
                  <a:moveTo>
                    <a:pt x="3066288" y="573024"/>
                  </a:moveTo>
                  <a:lnTo>
                    <a:pt x="3066288" y="4572"/>
                  </a:lnTo>
                  <a:lnTo>
                    <a:pt x="3060192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573024"/>
                  </a:lnTo>
                  <a:lnTo>
                    <a:pt x="4572" y="577596"/>
                  </a:lnTo>
                  <a:lnTo>
                    <a:pt x="12192" y="577596"/>
                  </a:lnTo>
                  <a:lnTo>
                    <a:pt x="12192" y="22860"/>
                  </a:lnTo>
                  <a:lnTo>
                    <a:pt x="22860" y="10668"/>
                  </a:lnTo>
                  <a:lnTo>
                    <a:pt x="22860" y="22860"/>
                  </a:lnTo>
                  <a:lnTo>
                    <a:pt x="3041904" y="22860"/>
                  </a:lnTo>
                  <a:lnTo>
                    <a:pt x="3041904" y="10668"/>
                  </a:lnTo>
                  <a:lnTo>
                    <a:pt x="3054096" y="22860"/>
                  </a:lnTo>
                  <a:lnTo>
                    <a:pt x="3054096" y="577596"/>
                  </a:lnTo>
                  <a:lnTo>
                    <a:pt x="3060192" y="577596"/>
                  </a:lnTo>
                  <a:lnTo>
                    <a:pt x="3066288" y="573024"/>
                  </a:lnTo>
                  <a:close/>
                </a:path>
                <a:path w="3066415" h="577850">
                  <a:moveTo>
                    <a:pt x="22860" y="22860"/>
                  </a:moveTo>
                  <a:lnTo>
                    <a:pt x="22860" y="10668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3066415" h="577850">
                  <a:moveTo>
                    <a:pt x="22860" y="554736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554736"/>
                  </a:lnTo>
                  <a:lnTo>
                    <a:pt x="22860" y="554736"/>
                  </a:lnTo>
                  <a:close/>
                </a:path>
                <a:path w="3066415" h="577850">
                  <a:moveTo>
                    <a:pt x="3054096" y="554736"/>
                  </a:moveTo>
                  <a:lnTo>
                    <a:pt x="12192" y="554736"/>
                  </a:lnTo>
                  <a:lnTo>
                    <a:pt x="22860" y="566928"/>
                  </a:lnTo>
                  <a:lnTo>
                    <a:pt x="22860" y="577596"/>
                  </a:lnTo>
                  <a:lnTo>
                    <a:pt x="3041904" y="577596"/>
                  </a:lnTo>
                  <a:lnTo>
                    <a:pt x="3041904" y="566928"/>
                  </a:lnTo>
                  <a:lnTo>
                    <a:pt x="3054096" y="554736"/>
                  </a:lnTo>
                  <a:close/>
                </a:path>
                <a:path w="3066415" h="577850">
                  <a:moveTo>
                    <a:pt x="22860" y="577596"/>
                  </a:moveTo>
                  <a:lnTo>
                    <a:pt x="22860" y="566928"/>
                  </a:lnTo>
                  <a:lnTo>
                    <a:pt x="12192" y="554736"/>
                  </a:lnTo>
                  <a:lnTo>
                    <a:pt x="12192" y="577596"/>
                  </a:lnTo>
                  <a:lnTo>
                    <a:pt x="22860" y="577596"/>
                  </a:lnTo>
                  <a:close/>
                </a:path>
                <a:path w="3066415" h="577850">
                  <a:moveTo>
                    <a:pt x="3054096" y="22860"/>
                  </a:moveTo>
                  <a:lnTo>
                    <a:pt x="3041904" y="10668"/>
                  </a:lnTo>
                  <a:lnTo>
                    <a:pt x="3041904" y="22860"/>
                  </a:lnTo>
                  <a:lnTo>
                    <a:pt x="3054096" y="22860"/>
                  </a:lnTo>
                  <a:close/>
                </a:path>
                <a:path w="3066415" h="577850">
                  <a:moveTo>
                    <a:pt x="3054096" y="554736"/>
                  </a:moveTo>
                  <a:lnTo>
                    <a:pt x="3054096" y="22860"/>
                  </a:lnTo>
                  <a:lnTo>
                    <a:pt x="3041904" y="22860"/>
                  </a:lnTo>
                  <a:lnTo>
                    <a:pt x="3041904" y="554736"/>
                  </a:lnTo>
                  <a:lnTo>
                    <a:pt x="3054096" y="554736"/>
                  </a:lnTo>
                  <a:close/>
                </a:path>
                <a:path w="3066415" h="577850">
                  <a:moveTo>
                    <a:pt x="3054096" y="577596"/>
                  </a:moveTo>
                  <a:lnTo>
                    <a:pt x="3054096" y="554736"/>
                  </a:lnTo>
                  <a:lnTo>
                    <a:pt x="3041904" y="566928"/>
                  </a:lnTo>
                  <a:lnTo>
                    <a:pt x="3041904" y="577596"/>
                  </a:lnTo>
                  <a:lnTo>
                    <a:pt x="3054096" y="577596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3865" y="2533902"/>
            <a:ext cx="6674484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114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spc="-25" dirty="0">
                <a:latin typeface="Calibri"/>
                <a:cs typeface="Calibri"/>
              </a:rPr>
              <a:t>Finally,</a:t>
            </a:r>
            <a:r>
              <a:rPr sz="2300" spc="-5" dirty="0">
                <a:latin typeface="Calibri"/>
                <a:cs typeface="Calibri"/>
              </a:rPr>
              <a:t> we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need </a:t>
            </a:r>
            <a:r>
              <a:rPr sz="2300" spc="-5" dirty="0">
                <a:latin typeface="Calibri"/>
                <a:cs typeface="Calibri"/>
              </a:rPr>
              <a:t>to</a:t>
            </a:r>
            <a:r>
              <a:rPr sz="2300" dirty="0">
                <a:latin typeface="Calibri"/>
                <a:cs typeface="Calibri"/>
              </a:rPr>
              <a:t> decide </a:t>
            </a:r>
            <a:r>
              <a:rPr sz="2300" spc="-5" dirty="0">
                <a:latin typeface="Calibri"/>
                <a:cs typeface="Calibri"/>
              </a:rPr>
              <a:t>what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we’re</a:t>
            </a:r>
            <a:r>
              <a:rPr sz="2300" dirty="0">
                <a:latin typeface="Calibri"/>
                <a:cs typeface="Calibri"/>
              </a:rPr>
              <a:t> going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to</a:t>
            </a:r>
            <a:r>
              <a:rPr sz="2300" dirty="0">
                <a:latin typeface="Calibri"/>
                <a:cs typeface="Calibri"/>
              </a:rPr>
              <a:t> output.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7819" y="1057655"/>
            <a:ext cx="8336280" cy="1257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3645" y="3531951"/>
            <a:ext cx="3405544" cy="220493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408676" y="4219955"/>
            <a:ext cx="3171825" cy="909955"/>
            <a:chOff x="5408676" y="4219955"/>
            <a:chExt cx="3171825" cy="90995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72589" y="4322383"/>
              <a:ext cx="3017459" cy="68185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08676" y="4219955"/>
              <a:ext cx="3171825" cy="909955"/>
            </a:xfrm>
            <a:custGeom>
              <a:avLst/>
              <a:gdLst/>
              <a:ahLst/>
              <a:cxnLst/>
              <a:rect l="l" t="t" r="r" b="b"/>
              <a:pathLst>
                <a:path w="3171825" h="909954">
                  <a:moveTo>
                    <a:pt x="3171444" y="905256"/>
                  </a:moveTo>
                  <a:lnTo>
                    <a:pt x="3171444" y="6096"/>
                  </a:lnTo>
                  <a:lnTo>
                    <a:pt x="3165348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905256"/>
                  </a:lnTo>
                  <a:lnTo>
                    <a:pt x="4572" y="909828"/>
                  </a:lnTo>
                  <a:lnTo>
                    <a:pt x="12192" y="909828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147060" y="24384"/>
                  </a:lnTo>
                  <a:lnTo>
                    <a:pt x="3147060" y="12192"/>
                  </a:lnTo>
                  <a:lnTo>
                    <a:pt x="3159252" y="24384"/>
                  </a:lnTo>
                  <a:lnTo>
                    <a:pt x="3159252" y="909828"/>
                  </a:lnTo>
                  <a:lnTo>
                    <a:pt x="3165348" y="909828"/>
                  </a:lnTo>
                  <a:lnTo>
                    <a:pt x="3171444" y="905256"/>
                  </a:lnTo>
                  <a:close/>
                </a:path>
                <a:path w="3171825" h="909954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3171825" h="909954">
                  <a:moveTo>
                    <a:pt x="22860" y="886968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886968"/>
                  </a:lnTo>
                  <a:lnTo>
                    <a:pt x="22860" y="886968"/>
                  </a:lnTo>
                  <a:close/>
                </a:path>
                <a:path w="3171825" h="909954">
                  <a:moveTo>
                    <a:pt x="3159252" y="886968"/>
                  </a:moveTo>
                  <a:lnTo>
                    <a:pt x="12192" y="886968"/>
                  </a:lnTo>
                  <a:lnTo>
                    <a:pt x="22860" y="897636"/>
                  </a:lnTo>
                  <a:lnTo>
                    <a:pt x="22860" y="909828"/>
                  </a:lnTo>
                  <a:lnTo>
                    <a:pt x="3147060" y="909828"/>
                  </a:lnTo>
                  <a:lnTo>
                    <a:pt x="3147060" y="897636"/>
                  </a:lnTo>
                  <a:lnTo>
                    <a:pt x="3159252" y="886968"/>
                  </a:lnTo>
                  <a:close/>
                </a:path>
                <a:path w="3171825" h="909954">
                  <a:moveTo>
                    <a:pt x="22860" y="909828"/>
                  </a:moveTo>
                  <a:lnTo>
                    <a:pt x="22860" y="897636"/>
                  </a:lnTo>
                  <a:lnTo>
                    <a:pt x="12192" y="886968"/>
                  </a:lnTo>
                  <a:lnTo>
                    <a:pt x="12192" y="909828"/>
                  </a:lnTo>
                  <a:lnTo>
                    <a:pt x="22860" y="909828"/>
                  </a:lnTo>
                  <a:close/>
                </a:path>
                <a:path w="3171825" h="909954">
                  <a:moveTo>
                    <a:pt x="3159252" y="24384"/>
                  </a:moveTo>
                  <a:lnTo>
                    <a:pt x="3147060" y="12192"/>
                  </a:lnTo>
                  <a:lnTo>
                    <a:pt x="3147060" y="24384"/>
                  </a:lnTo>
                  <a:lnTo>
                    <a:pt x="3159252" y="24384"/>
                  </a:lnTo>
                  <a:close/>
                </a:path>
                <a:path w="3171825" h="909954">
                  <a:moveTo>
                    <a:pt x="3159252" y="886968"/>
                  </a:moveTo>
                  <a:lnTo>
                    <a:pt x="3159252" y="24384"/>
                  </a:lnTo>
                  <a:lnTo>
                    <a:pt x="3147060" y="24384"/>
                  </a:lnTo>
                  <a:lnTo>
                    <a:pt x="3147060" y="886968"/>
                  </a:lnTo>
                  <a:lnTo>
                    <a:pt x="3159252" y="886968"/>
                  </a:lnTo>
                  <a:close/>
                </a:path>
                <a:path w="3171825" h="909954">
                  <a:moveTo>
                    <a:pt x="3159252" y="909828"/>
                  </a:moveTo>
                  <a:lnTo>
                    <a:pt x="3159252" y="886968"/>
                  </a:lnTo>
                  <a:lnTo>
                    <a:pt x="3147060" y="897636"/>
                  </a:lnTo>
                  <a:lnTo>
                    <a:pt x="3147060" y="909828"/>
                  </a:lnTo>
                  <a:lnTo>
                    <a:pt x="3159252" y="909828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3573" y="2958794"/>
            <a:ext cx="8544560" cy="332041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201930" algn="l"/>
              </a:tabLst>
            </a:pPr>
            <a:r>
              <a:rPr sz="2150" spc="-5" dirty="0">
                <a:latin typeface="Calibri"/>
                <a:cs typeface="Calibri"/>
              </a:rPr>
              <a:t>The</a:t>
            </a:r>
            <a:r>
              <a:rPr sz="2150" spc="47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output </a:t>
            </a:r>
            <a:r>
              <a:rPr sz="2150" spc="-5" dirty="0">
                <a:latin typeface="Calibri"/>
                <a:cs typeface="Calibri"/>
              </a:rPr>
              <a:t>will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be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based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on our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cell </a:t>
            </a:r>
            <a:r>
              <a:rPr sz="2150" spc="-20" dirty="0">
                <a:latin typeface="Calibri"/>
                <a:cs typeface="Calibri"/>
              </a:rPr>
              <a:t>state,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but </a:t>
            </a:r>
            <a:r>
              <a:rPr sz="2150" dirty="0">
                <a:latin typeface="Calibri"/>
                <a:cs typeface="Calibri"/>
              </a:rPr>
              <a:t>will </a:t>
            </a:r>
            <a:r>
              <a:rPr sz="2150" spc="-5" dirty="0">
                <a:latin typeface="Calibri"/>
                <a:cs typeface="Calibri"/>
              </a:rPr>
              <a:t>be a </a:t>
            </a:r>
            <a:r>
              <a:rPr sz="2150" spc="-10" dirty="0">
                <a:latin typeface="Calibri"/>
                <a:cs typeface="Calibri"/>
              </a:rPr>
              <a:t>filtered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-15" dirty="0">
                <a:latin typeface="Calibri"/>
                <a:cs typeface="Calibri"/>
              </a:rPr>
              <a:t>version.</a:t>
            </a:r>
            <a:endParaRPr sz="2150">
              <a:latin typeface="Calibri"/>
              <a:cs typeface="Calibri"/>
            </a:endParaRPr>
          </a:p>
          <a:p>
            <a:pPr marL="201295" marR="598170" indent="-189230">
              <a:lnSpc>
                <a:spcPts val="2060"/>
              </a:lnSpc>
              <a:spcBef>
                <a:spcPts val="800"/>
              </a:spcBef>
              <a:buFont typeface="Arial MT"/>
              <a:buChar char="•"/>
              <a:tabLst>
                <a:tab pos="201930" algn="l"/>
              </a:tabLst>
            </a:pPr>
            <a:r>
              <a:rPr sz="2150" spc="-15" dirty="0">
                <a:latin typeface="Calibri"/>
                <a:cs typeface="Calibri"/>
              </a:rPr>
              <a:t>First,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15" dirty="0">
                <a:latin typeface="Calibri"/>
                <a:cs typeface="Calibri"/>
              </a:rPr>
              <a:t>we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run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a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i="1" spc="-5" dirty="0">
                <a:solidFill>
                  <a:srgbClr val="FF0000"/>
                </a:solidFill>
                <a:latin typeface="Calibri"/>
                <a:cs typeface="Calibri"/>
              </a:rPr>
              <a:t>sigmoid</a:t>
            </a:r>
            <a:r>
              <a:rPr sz="2150" i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50" i="1" spc="-5" dirty="0">
                <a:solidFill>
                  <a:srgbClr val="FF0000"/>
                </a:solidFill>
                <a:latin typeface="Calibri"/>
                <a:cs typeface="Calibri"/>
              </a:rPr>
              <a:t>layer</a:t>
            </a:r>
            <a:r>
              <a:rPr sz="215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which decides</a:t>
            </a:r>
            <a:r>
              <a:rPr sz="2150" spc="-3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what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parts</a:t>
            </a:r>
            <a:r>
              <a:rPr sz="2150" spc="-10" dirty="0">
                <a:latin typeface="Calibri"/>
                <a:cs typeface="Calibri"/>
              </a:rPr>
              <a:t> of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the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cell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state </a:t>
            </a:r>
            <a:r>
              <a:rPr sz="2150" spc="-470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we’re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going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15" dirty="0">
                <a:latin typeface="Calibri"/>
                <a:cs typeface="Calibri"/>
              </a:rPr>
              <a:t>to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output.</a:t>
            </a:r>
            <a:endParaRPr sz="2150">
              <a:latin typeface="Calibri"/>
              <a:cs typeface="Calibri"/>
            </a:endParaRPr>
          </a:p>
          <a:p>
            <a:pPr marL="201295" indent="-189230">
              <a:lnSpc>
                <a:spcPts val="2320"/>
              </a:lnSpc>
              <a:spcBef>
                <a:spcPts val="325"/>
              </a:spcBef>
              <a:buFont typeface="Arial MT"/>
              <a:buChar char="•"/>
              <a:tabLst>
                <a:tab pos="201930" algn="l"/>
              </a:tabLst>
            </a:pPr>
            <a:r>
              <a:rPr sz="2150" spc="-5" dirty="0">
                <a:latin typeface="Calibri"/>
                <a:cs typeface="Calibri"/>
              </a:rPr>
              <a:t>Then,</a:t>
            </a:r>
            <a:r>
              <a:rPr sz="2150" spc="-15" dirty="0">
                <a:latin typeface="Calibri"/>
                <a:cs typeface="Calibri"/>
              </a:rPr>
              <a:t> we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put the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cell </a:t>
            </a:r>
            <a:r>
              <a:rPr sz="2150" spc="-25" dirty="0">
                <a:latin typeface="Calibri"/>
                <a:cs typeface="Calibri"/>
              </a:rPr>
              <a:t>state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-15" dirty="0">
                <a:latin typeface="Calibri"/>
                <a:cs typeface="Calibri"/>
              </a:rPr>
              <a:t>through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i="1" spc="-10" dirty="0">
                <a:solidFill>
                  <a:srgbClr val="FF0000"/>
                </a:solidFill>
                <a:latin typeface="Calibri"/>
                <a:cs typeface="Calibri"/>
              </a:rPr>
              <a:t>tanh </a:t>
            </a:r>
            <a:r>
              <a:rPr sz="2150" spc="-15" dirty="0">
                <a:latin typeface="Calibri"/>
                <a:cs typeface="Calibri"/>
              </a:rPr>
              <a:t>(to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push</a:t>
            </a:r>
            <a:r>
              <a:rPr sz="2150" spc="-2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the </a:t>
            </a:r>
            <a:r>
              <a:rPr sz="2150" spc="-10" dirty="0">
                <a:latin typeface="Calibri"/>
                <a:cs typeface="Calibri"/>
              </a:rPr>
              <a:t>values </a:t>
            </a:r>
            <a:r>
              <a:rPr sz="2150" spc="-15" dirty="0">
                <a:latin typeface="Calibri"/>
                <a:cs typeface="Calibri"/>
              </a:rPr>
              <a:t>to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be </a:t>
            </a:r>
            <a:r>
              <a:rPr sz="2150" spc="-10" dirty="0">
                <a:latin typeface="Calibri"/>
                <a:cs typeface="Calibri"/>
              </a:rPr>
              <a:t>between</a:t>
            </a:r>
            <a:endParaRPr sz="2150">
              <a:latin typeface="Calibri"/>
              <a:cs typeface="Calibri"/>
            </a:endParaRPr>
          </a:p>
          <a:p>
            <a:pPr marL="201295" marR="64135">
              <a:lnSpc>
                <a:spcPct val="79500"/>
              </a:lnSpc>
              <a:spcBef>
                <a:spcPts val="270"/>
              </a:spcBef>
            </a:pPr>
            <a:r>
              <a:rPr sz="2150" spc="-5" dirty="0">
                <a:latin typeface="Calibri"/>
                <a:cs typeface="Calibri"/>
              </a:rPr>
              <a:t>−1 and 1)</a:t>
            </a:r>
            <a:r>
              <a:rPr sz="2150" spc="-2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and multiply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it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by </a:t>
            </a:r>
            <a:r>
              <a:rPr sz="2150" spc="-5" dirty="0">
                <a:latin typeface="Calibri"/>
                <a:cs typeface="Calibri"/>
              </a:rPr>
              <a:t>the </a:t>
            </a:r>
            <a:r>
              <a:rPr sz="2150" spc="-10" dirty="0">
                <a:latin typeface="Calibri"/>
                <a:cs typeface="Calibri"/>
              </a:rPr>
              <a:t>output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of</a:t>
            </a:r>
            <a:r>
              <a:rPr sz="2150" spc="-5" dirty="0">
                <a:latin typeface="Calibri"/>
                <a:cs typeface="Calibri"/>
              </a:rPr>
              <a:t> the sigmoid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-20" dirty="0">
                <a:latin typeface="Calibri"/>
                <a:cs typeface="Calibri"/>
              </a:rPr>
              <a:t>gate,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so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that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15" dirty="0">
                <a:latin typeface="Calibri"/>
                <a:cs typeface="Calibri"/>
              </a:rPr>
              <a:t>we</a:t>
            </a:r>
            <a:r>
              <a:rPr sz="2150" spc="-10" dirty="0">
                <a:latin typeface="Calibri"/>
                <a:cs typeface="Calibri"/>
              </a:rPr>
              <a:t> only </a:t>
            </a:r>
            <a:r>
              <a:rPr sz="2150" spc="-47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output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the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parts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-15" dirty="0">
                <a:latin typeface="Calibri"/>
                <a:cs typeface="Calibri"/>
              </a:rPr>
              <a:t>we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decided</a:t>
            </a:r>
            <a:r>
              <a:rPr sz="2150" spc="-35" dirty="0">
                <a:latin typeface="Calibri"/>
                <a:cs typeface="Calibri"/>
              </a:rPr>
              <a:t> </a:t>
            </a:r>
            <a:r>
              <a:rPr sz="2150" spc="-15" dirty="0">
                <a:latin typeface="Calibri"/>
                <a:cs typeface="Calibri"/>
              </a:rPr>
              <a:t>to.</a:t>
            </a:r>
            <a:endParaRPr sz="2150">
              <a:latin typeface="Calibri"/>
              <a:cs typeface="Calibri"/>
            </a:endParaRPr>
          </a:p>
          <a:p>
            <a:pPr marL="201295" marR="5080" indent="-189230">
              <a:lnSpc>
                <a:spcPct val="79800"/>
              </a:lnSpc>
              <a:spcBef>
                <a:spcPts val="830"/>
              </a:spcBef>
              <a:buFont typeface="Arial MT"/>
              <a:buChar char="•"/>
              <a:tabLst>
                <a:tab pos="201930" algn="l"/>
              </a:tabLst>
            </a:pPr>
            <a:r>
              <a:rPr sz="2150" spc="-15" dirty="0">
                <a:latin typeface="Calibri"/>
                <a:cs typeface="Calibri"/>
              </a:rPr>
              <a:t>For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the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language</a:t>
            </a:r>
            <a:r>
              <a:rPr sz="2150" spc="-5" dirty="0">
                <a:latin typeface="Calibri"/>
                <a:cs typeface="Calibri"/>
              </a:rPr>
              <a:t> model </a:t>
            </a:r>
            <a:r>
              <a:rPr sz="2150" spc="-15" dirty="0">
                <a:latin typeface="Calibri"/>
                <a:cs typeface="Calibri"/>
              </a:rPr>
              <a:t>example,</a:t>
            </a:r>
            <a:r>
              <a:rPr sz="2150" spc="-2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since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it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just saw</a:t>
            </a:r>
            <a:r>
              <a:rPr sz="2150" spc="-5" dirty="0">
                <a:latin typeface="Calibri"/>
                <a:cs typeface="Calibri"/>
              </a:rPr>
              <a:t> a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subject,</a:t>
            </a:r>
            <a:r>
              <a:rPr sz="2150" spc="-2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it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might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-15" dirty="0">
                <a:latin typeface="Calibri"/>
                <a:cs typeface="Calibri"/>
              </a:rPr>
              <a:t>want 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-15" dirty="0">
                <a:latin typeface="Calibri"/>
                <a:cs typeface="Calibri"/>
              </a:rPr>
              <a:t>to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output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15" dirty="0">
                <a:latin typeface="Calibri"/>
                <a:cs typeface="Calibri"/>
              </a:rPr>
              <a:t>information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-20" dirty="0">
                <a:latin typeface="Calibri"/>
                <a:cs typeface="Calibri"/>
              </a:rPr>
              <a:t>relevant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15" dirty="0">
                <a:latin typeface="Calibri"/>
                <a:cs typeface="Calibri"/>
              </a:rPr>
              <a:t>to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a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verb,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in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case</a:t>
            </a:r>
            <a:r>
              <a:rPr sz="2150" spc="-25" dirty="0">
                <a:latin typeface="Calibri"/>
                <a:cs typeface="Calibri"/>
              </a:rPr>
              <a:t> </a:t>
            </a:r>
            <a:r>
              <a:rPr sz="2150" spc="-15" dirty="0">
                <a:latin typeface="Calibri"/>
                <a:cs typeface="Calibri"/>
              </a:rPr>
              <a:t>that’s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what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is </a:t>
            </a:r>
            <a:r>
              <a:rPr sz="2150" spc="-10" dirty="0">
                <a:latin typeface="Calibri"/>
                <a:cs typeface="Calibri"/>
              </a:rPr>
              <a:t>coming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next. </a:t>
            </a:r>
            <a:r>
              <a:rPr sz="2150" spc="-470" dirty="0">
                <a:latin typeface="Calibri"/>
                <a:cs typeface="Calibri"/>
              </a:rPr>
              <a:t> </a:t>
            </a:r>
            <a:r>
              <a:rPr sz="2150" spc="-15" dirty="0">
                <a:latin typeface="Calibri"/>
                <a:cs typeface="Calibri"/>
              </a:rPr>
              <a:t>For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15" dirty="0">
                <a:latin typeface="Calibri"/>
                <a:cs typeface="Calibri"/>
              </a:rPr>
              <a:t>example,</a:t>
            </a:r>
            <a:r>
              <a:rPr sz="2150" spc="-3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it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might output</a:t>
            </a:r>
            <a:r>
              <a:rPr sz="2150" spc="-5" dirty="0">
                <a:latin typeface="Calibri"/>
                <a:cs typeface="Calibri"/>
              </a:rPr>
              <a:t> whether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the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subject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is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singular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or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15" dirty="0">
                <a:latin typeface="Calibri"/>
                <a:cs typeface="Calibri"/>
              </a:rPr>
              <a:t>plural,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so 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that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-15" dirty="0">
                <a:latin typeface="Calibri"/>
                <a:cs typeface="Calibri"/>
              </a:rPr>
              <a:t>we</a:t>
            </a:r>
            <a:r>
              <a:rPr sz="2150" spc="-10" dirty="0">
                <a:latin typeface="Calibri"/>
                <a:cs typeface="Calibri"/>
              </a:rPr>
              <a:t> know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what </a:t>
            </a:r>
            <a:r>
              <a:rPr sz="2150" spc="-20" dirty="0">
                <a:latin typeface="Calibri"/>
                <a:cs typeface="Calibri"/>
              </a:rPr>
              <a:t>form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a </a:t>
            </a:r>
            <a:r>
              <a:rPr sz="2150" spc="-10" dirty="0">
                <a:latin typeface="Calibri"/>
                <a:cs typeface="Calibri"/>
              </a:rPr>
              <a:t>verb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should</a:t>
            </a:r>
            <a:r>
              <a:rPr sz="2150" spc="-2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be </a:t>
            </a:r>
            <a:r>
              <a:rPr sz="2150" spc="-15" dirty="0">
                <a:latin typeface="Calibri"/>
                <a:cs typeface="Calibri"/>
              </a:rPr>
              <a:t>conjugated </a:t>
            </a:r>
            <a:r>
              <a:rPr sz="2150" spc="-20" dirty="0">
                <a:latin typeface="Calibri"/>
                <a:cs typeface="Calibri"/>
              </a:rPr>
              <a:t>into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if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-20" dirty="0">
                <a:latin typeface="Calibri"/>
                <a:cs typeface="Calibri"/>
              </a:rPr>
              <a:t>that’s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what 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-20" dirty="0">
                <a:latin typeface="Calibri"/>
                <a:cs typeface="Calibri"/>
              </a:rPr>
              <a:t>follows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next.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7183" y="1200620"/>
            <a:ext cx="2464634" cy="159637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637532" y="1475225"/>
            <a:ext cx="3171825" cy="909955"/>
            <a:chOff x="4637532" y="1475225"/>
            <a:chExt cx="3171825" cy="90995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1445" y="1577659"/>
              <a:ext cx="3017459" cy="6818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637532" y="1475225"/>
              <a:ext cx="3171825" cy="909955"/>
            </a:xfrm>
            <a:custGeom>
              <a:avLst/>
              <a:gdLst/>
              <a:ahLst/>
              <a:cxnLst/>
              <a:rect l="l" t="t" r="r" b="b"/>
              <a:pathLst>
                <a:path w="3171825" h="909955">
                  <a:moveTo>
                    <a:pt x="3171444" y="905262"/>
                  </a:moveTo>
                  <a:lnTo>
                    <a:pt x="3171444" y="6096"/>
                  </a:lnTo>
                  <a:lnTo>
                    <a:pt x="3165348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905262"/>
                  </a:lnTo>
                  <a:lnTo>
                    <a:pt x="4572" y="909834"/>
                  </a:lnTo>
                  <a:lnTo>
                    <a:pt x="12192" y="909834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147060" y="24384"/>
                  </a:lnTo>
                  <a:lnTo>
                    <a:pt x="3147060" y="12192"/>
                  </a:lnTo>
                  <a:lnTo>
                    <a:pt x="3159252" y="24384"/>
                  </a:lnTo>
                  <a:lnTo>
                    <a:pt x="3159252" y="909834"/>
                  </a:lnTo>
                  <a:lnTo>
                    <a:pt x="3165348" y="909834"/>
                  </a:lnTo>
                  <a:lnTo>
                    <a:pt x="3171444" y="905262"/>
                  </a:lnTo>
                  <a:close/>
                </a:path>
                <a:path w="3171825" h="909955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3171825" h="909955">
                  <a:moveTo>
                    <a:pt x="22860" y="886974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886974"/>
                  </a:lnTo>
                  <a:lnTo>
                    <a:pt x="22860" y="886974"/>
                  </a:lnTo>
                  <a:close/>
                </a:path>
                <a:path w="3171825" h="909955">
                  <a:moveTo>
                    <a:pt x="3159252" y="886974"/>
                  </a:moveTo>
                  <a:lnTo>
                    <a:pt x="12192" y="886974"/>
                  </a:lnTo>
                  <a:lnTo>
                    <a:pt x="22860" y="897642"/>
                  </a:lnTo>
                  <a:lnTo>
                    <a:pt x="22860" y="909834"/>
                  </a:lnTo>
                  <a:lnTo>
                    <a:pt x="3147060" y="909834"/>
                  </a:lnTo>
                  <a:lnTo>
                    <a:pt x="3147060" y="897642"/>
                  </a:lnTo>
                  <a:lnTo>
                    <a:pt x="3159252" y="886974"/>
                  </a:lnTo>
                  <a:close/>
                </a:path>
                <a:path w="3171825" h="909955">
                  <a:moveTo>
                    <a:pt x="22860" y="909834"/>
                  </a:moveTo>
                  <a:lnTo>
                    <a:pt x="22860" y="897642"/>
                  </a:lnTo>
                  <a:lnTo>
                    <a:pt x="12192" y="886974"/>
                  </a:lnTo>
                  <a:lnTo>
                    <a:pt x="12192" y="909834"/>
                  </a:lnTo>
                  <a:lnTo>
                    <a:pt x="22860" y="909834"/>
                  </a:lnTo>
                  <a:close/>
                </a:path>
                <a:path w="3171825" h="909955">
                  <a:moveTo>
                    <a:pt x="3159252" y="24384"/>
                  </a:moveTo>
                  <a:lnTo>
                    <a:pt x="3147060" y="12192"/>
                  </a:lnTo>
                  <a:lnTo>
                    <a:pt x="3147060" y="24384"/>
                  </a:lnTo>
                  <a:lnTo>
                    <a:pt x="3159252" y="24384"/>
                  </a:lnTo>
                  <a:close/>
                </a:path>
                <a:path w="3171825" h="909955">
                  <a:moveTo>
                    <a:pt x="3159252" y="886974"/>
                  </a:moveTo>
                  <a:lnTo>
                    <a:pt x="3159252" y="24384"/>
                  </a:lnTo>
                  <a:lnTo>
                    <a:pt x="3147060" y="24384"/>
                  </a:lnTo>
                  <a:lnTo>
                    <a:pt x="3147060" y="886974"/>
                  </a:lnTo>
                  <a:lnTo>
                    <a:pt x="3159252" y="886974"/>
                  </a:lnTo>
                  <a:close/>
                </a:path>
                <a:path w="3171825" h="909955">
                  <a:moveTo>
                    <a:pt x="3159252" y="909834"/>
                  </a:moveTo>
                  <a:lnTo>
                    <a:pt x="3159252" y="886974"/>
                  </a:lnTo>
                  <a:lnTo>
                    <a:pt x="3147060" y="897642"/>
                  </a:lnTo>
                  <a:lnTo>
                    <a:pt x="3147060" y="909834"/>
                  </a:lnTo>
                  <a:lnTo>
                    <a:pt x="3159252" y="909834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7851" y="1423416"/>
            <a:ext cx="3946525" cy="3343910"/>
            <a:chOff x="247851" y="1423416"/>
            <a:chExt cx="3946525" cy="33439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97180" y="2586736"/>
              <a:ext cx="223759" cy="2235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89982" y="3511295"/>
              <a:ext cx="404270" cy="4236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851" y="3511295"/>
              <a:ext cx="442791" cy="36728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9321" y="1423416"/>
              <a:ext cx="3051048" cy="334365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3137" y="2577083"/>
            <a:ext cx="400396" cy="18850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5230368" y="1400549"/>
            <a:ext cx="3522345" cy="559435"/>
            <a:chOff x="5230368" y="1400549"/>
            <a:chExt cx="3522345" cy="559435"/>
          </a:xfrm>
        </p:grpSpPr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00532" y="1574741"/>
              <a:ext cx="3337379" cy="28889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230368" y="1400549"/>
              <a:ext cx="3522345" cy="559435"/>
            </a:xfrm>
            <a:custGeom>
              <a:avLst/>
              <a:gdLst/>
              <a:ahLst/>
              <a:cxnLst/>
              <a:rect l="l" t="t" r="r" b="b"/>
              <a:pathLst>
                <a:path w="3522345" h="559435">
                  <a:moveTo>
                    <a:pt x="3521964" y="554742"/>
                  </a:moveTo>
                  <a:lnTo>
                    <a:pt x="3521964" y="4572"/>
                  </a:lnTo>
                  <a:lnTo>
                    <a:pt x="3517392" y="0"/>
                  </a:lnTo>
                  <a:lnTo>
                    <a:pt x="6096" y="0"/>
                  </a:lnTo>
                  <a:lnTo>
                    <a:pt x="0" y="4572"/>
                  </a:lnTo>
                  <a:lnTo>
                    <a:pt x="0" y="554742"/>
                  </a:lnTo>
                  <a:lnTo>
                    <a:pt x="6096" y="559314"/>
                  </a:lnTo>
                  <a:lnTo>
                    <a:pt x="12192" y="559314"/>
                  </a:lnTo>
                  <a:lnTo>
                    <a:pt x="12192" y="22860"/>
                  </a:lnTo>
                  <a:lnTo>
                    <a:pt x="24384" y="12192"/>
                  </a:lnTo>
                  <a:lnTo>
                    <a:pt x="24384" y="22860"/>
                  </a:lnTo>
                  <a:lnTo>
                    <a:pt x="3499104" y="22860"/>
                  </a:lnTo>
                  <a:lnTo>
                    <a:pt x="3499104" y="12192"/>
                  </a:lnTo>
                  <a:lnTo>
                    <a:pt x="3509772" y="22860"/>
                  </a:lnTo>
                  <a:lnTo>
                    <a:pt x="3509772" y="559314"/>
                  </a:lnTo>
                  <a:lnTo>
                    <a:pt x="3517392" y="559314"/>
                  </a:lnTo>
                  <a:lnTo>
                    <a:pt x="3521964" y="554742"/>
                  </a:lnTo>
                  <a:close/>
                </a:path>
                <a:path w="3522345" h="559435">
                  <a:moveTo>
                    <a:pt x="24384" y="22860"/>
                  </a:moveTo>
                  <a:lnTo>
                    <a:pt x="24384" y="12192"/>
                  </a:lnTo>
                  <a:lnTo>
                    <a:pt x="12192" y="22860"/>
                  </a:lnTo>
                  <a:lnTo>
                    <a:pt x="24384" y="22860"/>
                  </a:lnTo>
                  <a:close/>
                </a:path>
                <a:path w="3522345" h="559435">
                  <a:moveTo>
                    <a:pt x="24384" y="536454"/>
                  </a:moveTo>
                  <a:lnTo>
                    <a:pt x="24384" y="22860"/>
                  </a:lnTo>
                  <a:lnTo>
                    <a:pt x="12192" y="22860"/>
                  </a:lnTo>
                  <a:lnTo>
                    <a:pt x="12192" y="536454"/>
                  </a:lnTo>
                  <a:lnTo>
                    <a:pt x="24384" y="536454"/>
                  </a:lnTo>
                  <a:close/>
                </a:path>
                <a:path w="3522345" h="559435">
                  <a:moveTo>
                    <a:pt x="3509772" y="536454"/>
                  </a:moveTo>
                  <a:lnTo>
                    <a:pt x="12192" y="536454"/>
                  </a:lnTo>
                  <a:lnTo>
                    <a:pt x="24384" y="548646"/>
                  </a:lnTo>
                  <a:lnTo>
                    <a:pt x="24384" y="559314"/>
                  </a:lnTo>
                  <a:lnTo>
                    <a:pt x="3499104" y="559314"/>
                  </a:lnTo>
                  <a:lnTo>
                    <a:pt x="3499104" y="548646"/>
                  </a:lnTo>
                  <a:lnTo>
                    <a:pt x="3509772" y="536454"/>
                  </a:lnTo>
                  <a:close/>
                </a:path>
                <a:path w="3522345" h="559435">
                  <a:moveTo>
                    <a:pt x="24384" y="559314"/>
                  </a:moveTo>
                  <a:lnTo>
                    <a:pt x="24384" y="548646"/>
                  </a:lnTo>
                  <a:lnTo>
                    <a:pt x="12192" y="536454"/>
                  </a:lnTo>
                  <a:lnTo>
                    <a:pt x="12192" y="559314"/>
                  </a:lnTo>
                  <a:lnTo>
                    <a:pt x="24384" y="559314"/>
                  </a:lnTo>
                  <a:close/>
                </a:path>
                <a:path w="3522345" h="559435">
                  <a:moveTo>
                    <a:pt x="3509772" y="22860"/>
                  </a:moveTo>
                  <a:lnTo>
                    <a:pt x="3499104" y="12192"/>
                  </a:lnTo>
                  <a:lnTo>
                    <a:pt x="3499104" y="22860"/>
                  </a:lnTo>
                  <a:lnTo>
                    <a:pt x="3509772" y="22860"/>
                  </a:lnTo>
                  <a:close/>
                </a:path>
                <a:path w="3522345" h="559435">
                  <a:moveTo>
                    <a:pt x="3509772" y="536454"/>
                  </a:moveTo>
                  <a:lnTo>
                    <a:pt x="3509772" y="22860"/>
                  </a:lnTo>
                  <a:lnTo>
                    <a:pt x="3499104" y="22860"/>
                  </a:lnTo>
                  <a:lnTo>
                    <a:pt x="3499104" y="536454"/>
                  </a:lnTo>
                  <a:lnTo>
                    <a:pt x="3509772" y="536454"/>
                  </a:lnTo>
                  <a:close/>
                </a:path>
                <a:path w="3522345" h="559435">
                  <a:moveTo>
                    <a:pt x="3509772" y="559314"/>
                  </a:moveTo>
                  <a:lnTo>
                    <a:pt x="3509772" y="536454"/>
                  </a:lnTo>
                  <a:lnTo>
                    <a:pt x="3499104" y="548646"/>
                  </a:lnTo>
                  <a:lnTo>
                    <a:pt x="3499104" y="559314"/>
                  </a:lnTo>
                  <a:lnTo>
                    <a:pt x="3509772" y="559314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266944" y="2135124"/>
            <a:ext cx="3450590" cy="873760"/>
            <a:chOff x="5266944" y="2135124"/>
            <a:chExt cx="3450590" cy="873760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17527" y="2235720"/>
              <a:ext cx="3319920" cy="68591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66944" y="2135124"/>
              <a:ext cx="3450590" cy="873760"/>
            </a:xfrm>
            <a:custGeom>
              <a:avLst/>
              <a:gdLst/>
              <a:ahLst/>
              <a:cxnLst/>
              <a:rect l="l" t="t" r="r" b="b"/>
              <a:pathLst>
                <a:path w="3450590" h="873760">
                  <a:moveTo>
                    <a:pt x="3450336" y="867156"/>
                  </a:moveTo>
                  <a:lnTo>
                    <a:pt x="3450336" y="6096"/>
                  </a:lnTo>
                  <a:lnTo>
                    <a:pt x="3444240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867156"/>
                  </a:lnTo>
                  <a:lnTo>
                    <a:pt x="4572" y="873252"/>
                  </a:lnTo>
                  <a:lnTo>
                    <a:pt x="12192" y="873252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425952" y="24384"/>
                  </a:lnTo>
                  <a:lnTo>
                    <a:pt x="3425952" y="12192"/>
                  </a:lnTo>
                  <a:lnTo>
                    <a:pt x="3438144" y="24384"/>
                  </a:lnTo>
                  <a:lnTo>
                    <a:pt x="3438144" y="873252"/>
                  </a:lnTo>
                  <a:lnTo>
                    <a:pt x="3444240" y="873252"/>
                  </a:lnTo>
                  <a:lnTo>
                    <a:pt x="3450336" y="867156"/>
                  </a:lnTo>
                  <a:close/>
                </a:path>
                <a:path w="3450590" h="873760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3450590" h="873760">
                  <a:moveTo>
                    <a:pt x="22860" y="848868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848868"/>
                  </a:lnTo>
                  <a:lnTo>
                    <a:pt x="22860" y="848868"/>
                  </a:lnTo>
                  <a:close/>
                </a:path>
                <a:path w="3450590" h="873760">
                  <a:moveTo>
                    <a:pt x="3438144" y="848868"/>
                  </a:moveTo>
                  <a:lnTo>
                    <a:pt x="12192" y="848868"/>
                  </a:lnTo>
                  <a:lnTo>
                    <a:pt x="22860" y="861060"/>
                  </a:lnTo>
                  <a:lnTo>
                    <a:pt x="22860" y="873252"/>
                  </a:lnTo>
                  <a:lnTo>
                    <a:pt x="3425952" y="873252"/>
                  </a:lnTo>
                  <a:lnTo>
                    <a:pt x="3425952" y="861060"/>
                  </a:lnTo>
                  <a:lnTo>
                    <a:pt x="3438144" y="848868"/>
                  </a:lnTo>
                  <a:close/>
                </a:path>
                <a:path w="3450590" h="873760">
                  <a:moveTo>
                    <a:pt x="22860" y="873252"/>
                  </a:moveTo>
                  <a:lnTo>
                    <a:pt x="22860" y="861060"/>
                  </a:lnTo>
                  <a:lnTo>
                    <a:pt x="12192" y="848868"/>
                  </a:lnTo>
                  <a:lnTo>
                    <a:pt x="12192" y="873252"/>
                  </a:lnTo>
                  <a:lnTo>
                    <a:pt x="22860" y="873252"/>
                  </a:lnTo>
                  <a:close/>
                </a:path>
                <a:path w="3450590" h="873760">
                  <a:moveTo>
                    <a:pt x="3438144" y="24384"/>
                  </a:moveTo>
                  <a:lnTo>
                    <a:pt x="3425952" y="12192"/>
                  </a:lnTo>
                  <a:lnTo>
                    <a:pt x="3425952" y="24384"/>
                  </a:lnTo>
                  <a:lnTo>
                    <a:pt x="3438144" y="24384"/>
                  </a:lnTo>
                  <a:close/>
                </a:path>
                <a:path w="3450590" h="873760">
                  <a:moveTo>
                    <a:pt x="3438144" y="848868"/>
                  </a:moveTo>
                  <a:lnTo>
                    <a:pt x="3438144" y="24384"/>
                  </a:lnTo>
                  <a:lnTo>
                    <a:pt x="3425952" y="24384"/>
                  </a:lnTo>
                  <a:lnTo>
                    <a:pt x="3425952" y="848868"/>
                  </a:lnTo>
                  <a:lnTo>
                    <a:pt x="3438144" y="848868"/>
                  </a:lnTo>
                  <a:close/>
                </a:path>
                <a:path w="3450590" h="873760">
                  <a:moveTo>
                    <a:pt x="3438144" y="873252"/>
                  </a:moveTo>
                  <a:lnTo>
                    <a:pt x="3438144" y="848868"/>
                  </a:lnTo>
                  <a:lnTo>
                    <a:pt x="3425952" y="861060"/>
                  </a:lnTo>
                  <a:lnTo>
                    <a:pt x="3425952" y="873252"/>
                  </a:lnTo>
                  <a:lnTo>
                    <a:pt x="3438144" y="873252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266944" y="3168396"/>
            <a:ext cx="3065145" cy="577850"/>
            <a:chOff x="5266944" y="3168396"/>
            <a:chExt cx="3065145" cy="577850"/>
          </a:xfrm>
        </p:grpSpPr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08791" y="3262489"/>
              <a:ext cx="2871889" cy="32767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266944" y="3168396"/>
              <a:ext cx="3065145" cy="577850"/>
            </a:xfrm>
            <a:custGeom>
              <a:avLst/>
              <a:gdLst/>
              <a:ahLst/>
              <a:cxnLst/>
              <a:rect l="l" t="t" r="r" b="b"/>
              <a:pathLst>
                <a:path w="3065145" h="577850">
                  <a:moveTo>
                    <a:pt x="3064764" y="573024"/>
                  </a:moveTo>
                  <a:lnTo>
                    <a:pt x="3064764" y="4572"/>
                  </a:lnTo>
                  <a:lnTo>
                    <a:pt x="3060192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573024"/>
                  </a:lnTo>
                  <a:lnTo>
                    <a:pt x="4572" y="577596"/>
                  </a:lnTo>
                  <a:lnTo>
                    <a:pt x="12192" y="577596"/>
                  </a:lnTo>
                  <a:lnTo>
                    <a:pt x="12192" y="22860"/>
                  </a:lnTo>
                  <a:lnTo>
                    <a:pt x="22860" y="10668"/>
                  </a:lnTo>
                  <a:lnTo>
                    <a:pt x="22860" y="22860"/>
                  </a:lnTo>
                  <a:lnTo>
                    <a:pt x="3041904" y="22860"/>
                  </a:lnTo>
                  <a:lnTo>
                    <a:pt x="3041904" y="10668"/>
                  </a:lnTo>
                  <a:lnTo>
                    <a:pt x="3054096" y="22860"/>
                  </a:lnTo>
                  <a:lnTo>
                    <a:pt x="3054096" y="577596"/>
                  </a:lnTo>
                  <a:lnTo>
                    <a:pt x="3060192" y="577596"/>
                  </a:lnTo>
                  <a:lnTo>
                    <a:pt x="3064764" y="573024"/>
                  </a:lnTo>
                  <a:close/>
                </a:path>
                <a:path w="3065145" h="577850">
                  <a:moveTo>
                    <a:pt x="22860" y="22860"/>
                  </a:moveTo>
                  <a:lnTo>
                    <a:pt x="22860" y="10668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3065145" h="577850">
                  <a:moveTo>
                    <a:pt x="22860" y="554736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554736"/>
                  </a:lnTo>
                  <a:lnTo>
                    <a:pt x="22860" y="554736"/>
                  </a:lnTo>
                  <a:close/>
                </a:path>
                <a:path w="3065145" h="577850">
                  <a:moveTo>
                    <a:pt x="3054096" y="554736"/>
                  </a:moveTo>
                  <a:lnTo>
                    <a:pt x="12192" y="554736"/>
                  </a:lnTo>
                  <a:lnTo>
                    <a:pt x="22860" y="566928"/>
                  </a:lnTo>
                  <a:lnTo>
                    <a:pt x="22860" y="577596"/>
                  </a:lnTo>
                  <a:lnTo>
                    <a:pt x="3041904" y="577596"/>
                  </a:lnTo>
                  <a:lnTo>
                    <a:pt x="3041904" y="566928"/>
                  </a:lnTo>
                  <a:lnTo>
                    <a:pt x="3054096" y="554736"/>
                  </a:lnTo>
                  <a:close/>
                </a:path>
                <a:path w="3065145" h="577850">
                  <a:moveTo>
                    <a:pt x="22860" y="577596"/>
                  </a:moveTo>
                  <a:lnTo>
                    <a:pt x="22860" y="566928"/>
                  </a:lnTo>
                  <a:lnTo>
                    <a:pt x="12192" y="554736"/>
                  </a:lnTo>
                  <a:lnTo>
                    <a:pt x="12192" y="577596"/>
                  </a:lnTo>
                  <a:lnTo>
                    <a:pt x="22860" y="577596"/>
                  </a:lnTo>
                  <a:close/>
                </a:path>
                <a:path w="3065145" h="577850">
                  <a:moveTo>
                    <a:pt x="3054096" y="22860"/>
                  </a:moveTo>
                  <a:lnTo>
                    <a:pt x="3041904" y="10668"/>
                  </a:lnTo>
                  <a:lnTo>
                    <a:pt x="3041904" y="22860"/>
                  </a:lnTo>
                  <a:lnTo>
                    <a:pt x="3054096" y="22860"/>
                  </a:lnTo>
                  <a:close/>
                </a:path>
                <a:path w="3065145" h="577850">
                  <a:moveTo>
                    <a:pt x="3054096" y="554736"/>
                  </a:moveTo>
                  <a:lnTo>
                    <a:pt x="3054096" y="22860"/>
                  </a:lnTo>
                  <a:lnTo>
                    <a:pt x="3041904" y="22860"/>
                  </a:lnTo>
                  <a:lnTo>
                    <a:pt x="3041904" y="554736"/>
                  </a:lnTo>
                  <a:lnTo>
                    <a:pt x="3054096" y="554736"/>
                  </a:lnTo>
                  <a:close/>
                </a:path>
                <a:path w="3065145" h="577850">
                  <a:moveTo>
                    <a:pt x="3054096" y="577596"/>
                  </a:moveTo>
                  <a:lnTo>
                    <a:pt x="3054096" y="554736"/>
                  </a:lnTo>
                  <a:lnTo>
                    <a:pt x="3041904" y="566928"/>
                  </a:lnTo>
                  <a:lnTo>
                    <a:pt x="3041904" y="577596"/>
                  </a:lnTo>
                  <a:lnTo>
                    <a:pt x="3054096" y="577596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5266944" y="3906011"/>
            <a:ext cx="3171825" cy="909955"/>
            <a:chOff x="5266944" y="3906011"/>
            <a:chExt cx="3171825" cy="909955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30857" y="4008301"/>
              <a:ext cx="3017459" cy="68064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266944" y="3906011"/>
              <a:ext cx="3171825" cy="909955"/>
            </a:xfrm>
            <a:custGeom>
              <a:avLst/>
              <a:gdLst/>
              <a:ahLst/>
              <a:cxnLst/>
              <a:rect l="l" t="t" r="r" b="b"/>
              <a:pathLst>
                <a:path w="3171825" h="909954">
                  <a:moveTo>
                    <a:pt x="3171444" y="903732"/>
                  </a:moveTo>
                  <a:lnTo>
                    <a:pt x="3171444" y="6096"/>
                  </a:lnTo>
                  <a:lnTo>
                    <a:pt x="3165348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903732"/>
                  </a:lnTo>
                  <a:lnTo>
                    <a:pt x="4572" y="909828"/>
                  </a:lnTo>
                  <a:lnTo>
                    <a:pt x="12192" y="909828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147060" y="24384"/>
                  </a:lnTo>
                  <a:lnTo>
                    <a:pt x="3147060" y="12192"/>
                  </a:lnTo>
                  <a:lnTo>
                    <a:pt x="3159252" y="24384"/>
                  </a:lnTo>
                  <a:lnTo>
                    <a:pt x="3159252" y="909828"/>
                  </a:lnTo>
                  <a:lnTo>
                    <a:pt x="3165348" y="909828"/>
                  </a:lnTo>
                  <a:lnTo>
                    <a:pt x="3171444" y="903732"/>
                  </a:lnTo>
                  <a:close/>
                </a:path>
                <a:path w="3171825" h="909954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3171825" h="909954">
                  <a:moveTo>
                    <a:pt x="22860" y="885444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885444"/>
                  </a:lnTo>
                  <a:lnTo>
                    <a:pt x="22860" y="885444"/>
                  </a:lnTo>
                  <a:close/>
                </a:path>
                <a:path w="3171825" h="909954">
                  <a:moveTo>
                    <a:pt x="3159252" y="885444"/>
                  </a:moveTo>
                  <a:lnTo>
                    <a:pt x="12192" y="885444"/>
                  </a:lnTo>
                  <a:lnTo>
                    <a:pt x="22860" y="897636"/>
                  </a:lnTo>
                  <a:lnTo>
                    <a:pt x="22860" y="909828"/>
                  </a:lnTo>
                  <a:lnTo>
                    <a:pt x="3147060" y="909828"/>
                  </a:lnTo>
                  <a:lnTo>
                    <a:pt x="3147060" y="897636"/>
                  </a:lnTo>
                  <a:lnTo>
                    <a:pt x="3159252" y="885444"/>
                  </a:lnTo>
                  <a:close/>
                </a:path>
                <a:path w="3171825" h="909954">
                  <a:moveTo>
                    <a:pt x="22860" y="909828"/>
                  </a:moveTo>
                  <a:lnTo>
                    <a:pt x="22860" y="897636"/>
                  </a:lnTo>
                  <a:lnTo>
                    <a:pt x="12192" y="885444"/>
                  </a:lnTo>
                  <a:lnTo>
                    <a:pt x="12192" y="909828"/>
                  </a:lnTo>
                  <a:lnTo>
                    <a:pt x="22860" y="909828"/>
                  </a:lnTo>
                  <a:close/>
                </a:path>
                <a:path w="3171825" h="909954">
                  <a:moveTo>
                    <a:pt x="3159252" y="24384"/>
                  </a:moveTo>
                  <a:lnTo>
                    <a:pt x="3147060" y="12192"/>
                  </a:lnTo>
                  <a:lnTo>
                    <a:pt x="3147060" y="24384"/>
                  </a:lnTo>
                  <a:lnTo>
                    <a:pt x="3159252" y="24384"/>
                  </a:lnTo>
                  <a:close/>
                </a:path>
                <a:path w="3171825" h="909954">
                  <a:moveTo>
                    <a:pt x="3159252" y="885444"/>
                  </a:moveTo>
                  <a:lnTo>
                    <a:pt x="3159252" y="24384"/>
                  </a:lnTo>
                  <a:lnTo>
                    <a:pt x="3147060" y="24384"/>
                  </a:lnTo>
                  <a:lnTo>
                    <a:pt x="3147060" y="885444"/>
                  </a:lnTo>
                  <a:lnTo>
                    <a:pt x="3159252" y="885444"/>
                  </a:lnTo>
                  <a:close/>
                </a:path>
                <a:path w="3171825" h="909954">
                  <a:moveTo>
                    <a:pt x="3159252" y="909828"/>
                  </a:moveTo>
                  <a:lnTo>
                    <a:pt x="3159252" y="885444"/>
                  </a:lnTo>
                  <a:lnTo>
                    <a:pt x="3147060" y="897636"/>
                  </a:lnTo>
                  <a:lnTo>
                    <a:pt x="3147060" y="909828"/>
                  </a:lnTo>
                  <a:lnTo>
                    <a:pt x="3159252" y="909828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24097" y="5141466"/>
            <a:ext cx="3789045" cy="476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20" dirty="0">
                <a:latin typeface="Calibri"/>
                <a:cs typeface="Calibri"/>
              </a:rPr>
              <a:t>Assume</a:t>
            </a:r>
            <a:r>
              <a:rPr sz="1450" spc="-20" dirty="0">
                <a:latin typeface="Calibri"/>
                <a:cs typeface="Calibri"/>
              </a:rPr>
              <a:t> </a:t>
            </a:r>
            <a:r>
              <a:rPr sz="1450" i="1" spc="15" dirty="0">
                <a:latin typeface="Times New Roman"/>
                <a:cs typeface="Times New Roman"/>
              </a:rPr>
              <a:t>x</a:t>
            </a:r>
            <a:r>
              <a:rPr sz="1450" i="1" spc="-35" dirty="0">
                <a:latin typeface="Times New Roman"/>
                <a:cs typeface="Times New Roman"/>
              </a:rPr>
              <a:t> </a:t>
            </a:r>
            <a:r>
              <a:rPr sz="1450" spc="5" dirty="0">
                <a:latin typeface="Calibri"/>
                <a:cs typeface="Calibri"/>
              </a:rPr>
              <a:t>is </a:t>
            </a:r>
            <a:r>
              <a:rPr sz="1450" spc="15" dirty="0">
                <a:latin typeface="Calibri"/>
                <a:cs typeface="Calibri"/>
              </a:rPr>
              <a:t>10</a:t>
            </a:r>
            <a:r>
              <a:rPr sz="1450" spc="5" dirty="0">
                <a:latin typeface="Calibri"/>
                <a:cs typeface="Calibri"/>
              </a:rPr>
              <a:t> </a:t>
            </a:r>
            <a:r>
              <a:rPr sz="1450" spc="10" dirty="0">
                <a:latin typeface="Calibri"/>
                <a:cs typeface="Calibri"/>
              </a:rPr>
              <a:t>dimensional</a:t>
            </a:r>
            <a:r>
              <a:rPr sz="1450" spc="20" dirty="0">
                <a:latin typeface="Calibri"/>
                <a:cs typeface="Calibri"/>
              </a:rPr>
              <a:t> </a:t>
            </a:r>
            <a:r>
              <a:rPr sz="1450" spc="5" dirty="0">
                <a:latin typeface="Calibri"/>
                <a:cs typeface="Calibri"/>
              </a:rPr>
              <a:t>vector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450" spc="10" dirty="0">
                <a:latin typeface="Calibri"/>
                <a:cs typeface="Calibri"/>
              </a:rPr>
              <a:t>Each</a:t>
            </a:r>
            <a:r>
              <a:rPr sz="1450" dirty="0">
                <a:latin typeface="Calibri"/>
                <a:cs typeface="Calibri"/>
              </a:rPr>
              <a:t> </a:t>
            </a:r>
            <a:r>
              <a:rPr sz="1450" spc="10" dirty="0">
                <a:latin typeface="Calibri"/>
                <a:cs typeface="Calibri"/>
              </a:rPr>
              <a:t>LSTM</a:t>
            </a:r>
            <a:r>
              <a:rPr sz="1450" spc="15" dirty="0">
                <a:latin typeface="Calibri"/>
                <a:cs typeface="Calibri"/>
              </a:rPr>
              <a:t> </a:t>
            </a:r>
            <a:r>
              <a:rPr sz="1450" spc="10" dirty="0">
                <a:latin typeface="Calibri"/>
                <a:cs typeface="Calibri"/>
              </a:rPr>
              <a:t>unit</a:t>
            </a:r>
            <a:r>
              <a:rPr sz="1450" spc="25" dirty="0">
                <a:latin typeface="Calibri"/>
                <a:cs typeface="Calibri"/>
              </a:rPr>
              <a:t> </a:t>
            </a:r>
            <a:r>
              <a:rPr sz="1450" spc="10" dirty="0">
                <a:latin typeface="Calibri"/>
                <a:cs typeface="Calibri"/>
              </a:rPr>
              <a:t>has</a:t>
            </a:r>
            <a:r>
              <a:rPr sz="1450" spc="5" dirty="0">
                <a:latin typeface="Calibri"/>
                <a:cs typeface="Calibri"/>
              </a:rPr>
              <a:t> </a:t>
            </a:r>
            <a:r>
              <a:rPr sz="1450" spc="15" dirty="0">
                <a:latin typeface="Calibri"/>
                <a:cs typeface="Calibri"/>
              </a:rPr>
              <a:t>5</a:t>
            </a:r>
            <a:r>
              <a:rPr sz="1450" spc="10" dirty="0">
                <a:latin typeface="Calibri"/>
                <a:cs typeface="Calibri"/>
              </a:rPr>
              <a:t> neurons </a:t>
            </a:r>
            <a:r>
              <a:rPr sz="1450" spc="5" dirty="0">
                <a:latin typeface="Calibri"/>
                <a:cs typeface="Calibri"/>
              </a:rPr>
              <a:t>in</a:t>
            </a:r>
            <a:r>
              <a:rPr sz="1450" spc="15" dirty="0">
                <a:latin typeface="Calibri"/>
                <a:cs typeface="Calibri"/>
              </a:rPr>
              <a:t> the</a:t>
            </a:r>
            <a:r>
              <a:rPr sz="1450" spc="5" dirty="0">
                <a:latin typeface="Calibri"/>
                <a:cs typeface="Calibri"/>
              </a:rPr>
              <a:t> </a:t>
            </a:r>
            <a:r>
              <a:rPr sz="1450" spc="10" dirty="0">
                <a:latin typeface="Calibri"/>
                <a:cs typeface="Calibri"/>
              </a:rPr>
              <a:t>hidden</a:t>
            </a:r>
            <a:r>
              <a:rPr sz="1450" spc="25" dirty="0">
                <a:latin typeface="Calibri"/>
                <a:cs typeface="Calibri"/>
              </a:rPr>
              <a:t> </a:t>
            </a:r>
            <a:r>
              <a:rPr sz="1450" dirty="0">
                <a:latin typeface="Calibri"/>
                <a:cs typeface="Calibri"/>
              </a:rPr>
              <a:t>layer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279136" y="5059680"/>
            <a:ext cx="2807335" cy="303530"/>
            <a:chOff x="5279136" y="5059680"/>
            <a:chExt cx="2807335" cy="303530"/>
          </a:xfrm>
        </p:grpSpPr>
        <p:sp>
          <p:nvSpPr>
            <p:cNvPr id="22" name="object 22"/>
            <p:cNvSpPr/>
            <p:nvPr/>
          </p:nvSpPr>
          <p:spPr>
            <a:xfrm>
              <a:off x="5289804" y="5071872"/>
              <a:ext cx="2784475" cy="279400"/>
            </a:xfrm>
            <a:custGeom>
              <a:avLst/>
              <a:gdLst/>
              <a:ahLst/>
              <a:cxnLst/>
              <a:rect l="l" t="t" r="r" b="b"/>
              <a:pathLst>
                <a:path w="2784475" h="279400">
                  <a:moveTo>
                    <a:pt x="2784347" y="278891"/>
                  </a:moveTo>
                  <a:lnTo>
                    <a:pt x="2784347" y="0"/>
                  </a:lnTo>
                  <a:lnTo>
                    <a:pt x="0" y="0"/>
                  </a:lnTo>
                  <a:lnTo>
                    <a:pt x="0" y="278891"/>
                  </a:lnTo>
                  <a:lnTo>
                    <a:pt x="2784347" y="278891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279136" y="5059680"/>
              <a:ext cx="2807335" cy="303530"/>
            </a:xfrm>
            <a:custGeom>
              <a:avLst/>
              <a:gdLst/>
              <a:ahLst/>
              <a:cxnLst/>
              <a:rect l="l" t="t" r="r" b="b"/>
              <a:pathLst>
                <a:path w="2807334" h="303529">
                  <a:moveTo>
                    <a:pt x="2807208" y="298704"/>
                  </a:moveTo>
                  <a:lnTo>
                    <a:pt x="2807208" y="6096"/>
                  </a:lnTo>
                  <a:lnTo>
                    <a:pt x="2802636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298704"/>
                  </a:lnTo>
                  <a:lnTo>
                    <a:pt x="4572" y="303276"/>
                  </a:lnTo>
                  <a:lnTo>
                    <a:pt x="10668" y="303276"/>
                  </a:lnTo>
                  <a:lnTo>
                    <a:pt x="10668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2784348" y="24384"/>
                  </a:lnTo>
                  <a:lnTo>
                    <a:pt x="2784348" y="12192"/>
                  </a:lnTo>
                  <a:lnTo>
                    <a:pt x="2795016" y="24384"/>
                  </a:lnTo>
                  <a:lnTo>
                    <a:pt x="2795016" y="303276"/>
                  </a:lnTo>
                  <a:lnTo>
                    <a:pt x="2802636" y="303276"/>
                  </a:lnTo>
                  <a:lnTo>
                    <a:pt x="2807208" y="298704"/>
                  </a:lnTo>
                  <a:close/>
                </a:path>
                <a:path w="2807334" h="303529">
                  <a:moveTo>
                    <a:pt x="22860" y="24384"/>
                  </a:moveTo>
                  <a:lnTo>
                    <a:pt x="22860" y="12192"/>
                  </a:lnTo>
                  <a:lnTo>
                    <a:pt x="10668" y="24384"/>
                  </a:lnTo>
                  <a:lnTo>
                    <a:pt x="22860" y="24384"/>
                  </a:lnTo>
                  <a:close/>
                </a:path>
                <a:path w="2807334" h="303529">
                  <a:moveTo>
                    <a:pt x="22860" y="280416"/>
                  </a:moveTo>
                  <a:lnTo>
                    <a:pt x="22860" y="24384"/>
                  </a:lnTo>
                  <a:lnTo>
                    <a:pt x="10668" y="24384"/>
                  </a:lnTo>
                  <a:lnTo>
                    <a:pt x="10668" y="280416"/>
                  </a:lnTo>
                  <a:lnTo>
                    <a:pt x="22860" y="280416"/>
                  </a:lnTo>
                  <a:close/>
                </a:path>
                <a:path w="2807334" h="303529">
                  <a:moveTo>
                    <a:pt x="2795016" y="280416"/>
                  </a:moveTo>
                  <a:lnTo>
                    <a:pt x="10668" y="280416"/>
                  </a:lnTo>
                  <a:lnTo>
                    <a:pt x="22860" y="291084"/>
                  </a:lnTo>
                  <a:lnTo>
                    <a:pt x="22860" y="303276"/>
                  </a:lnTo>
                  <a:lnTo>
                    <a:pt x="2784348" y="303276"/>
                  </a:lnTo>
                  <a:lnTo>
                    <a:pt x="2784348" y="291084"/>
                  </a:lnTo>
                  <a:lnTo>
                    <a:pt x="2795016" y="280416"/>
                  </a:lnTo>
                  <a:close/>
                </a:path>
                <a:path w="2807334" h="303529">
                  <a:moveTo>
                    <a:pt x="22860" y="303276"/>
                  </a:moveTo>
                  <a:lnTo>
                    <a:pt x="22860" y="291084"/>
                  </a:lnTo>
                  <a:lnTo>
                    <a:pt x="10668" y="280416"/>
                  </a:lnTo>
                  <a:lnTo>
                    <a:pt x="10668" y="303276"/>
                  </a:lnTo>
                  <a:lnTo>
                    <a:pt x="22860" y="303276"/>
                  </a:lnTo>
                  <a:close/>
                </a:path>
                <a:path w="2807334" h="303529">
                  <a:moveTo>
                    <a:pt x="2795016" y="24384"/>
                  </a:moveTo>
                  <a:lnTo>
                    <a:pt x="2784348" y="12192"/>
                  </a:lnTo>
                  <a:lnTo>
                    <a:pt x="2784348" y="24384"/>
                  </a:lnTo>
                  <a:lnTo>
                    <a:pt x="2795016" y="24384"/>
                  </a:lnTo>
                  <a:close/>
                </a:path>
                <a:path w="2807334" h="303529">
                  <a:moveTo>
                    <a:pt x="2795016" y="280416"/>
                  </a:moveTo>
                  <a:lnTo>
                    <a:pt x="2795016" y="24384"/>
                  </a:lnTo>
                  <a:lnTo>
                    <a:pt x="2784348" y="24384"/>
                  </a:lnTo>
                  <a:lnTo>
                    <a:pt x="2784348" y="280416"/>
                  </a:lnTo>
                  <a:lnTo>
                    <a:pt x="2795016" y="280416"/>
                  </a:lnTo>
                  <a:close/>
                </a:path>
                <a:path w="2807334" h="303529">
                  <a:moveTo>
                    <a:pt x="2795016" y="303276"/>
                  </a:moveTo>
                  <a:lnTo>
                    <a:pt x="2795016" y="280416"/>
                  </a:lnTo>
                  <a:lnTo>
                    <a:pt x="2784348" y="291084"/>
                  </a:lnTo>
                  <a:lnTo>
                    <a:pt x="2784348" y="303276"/>
                  </a:lnTo>
                  <a:lnTo>
                    <a:pt x="2795016" y="303276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289803" y="5071871"/>
            <a:ext cx="495300" cy="256540"/>
          </a:xfrm>
          <a:prstGeom prst="rect">
            <a:avLst/>
          </a:prstGeom>
          <a:solidFill>
            <a:srgbClr val="FFF2CC"/>
          </a:solidFill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014"/>
              </a:lnSpc>
            </a:pPr>
            <a:r>
              <a:rPr sz="1800" spc="90" dirty="0">
                <a:latin typeface="Cambria"/>
                <a:cs typeface="Cambria"/>
              </a:rPr>
              <a:t>x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355" dirty="0">
                <a:latin typeface="Cambria"/>
                <a:cs typeface="Cambria"/>
              </a:rPr>
              <a:t>=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784850" y="5117604"/>
            <a:ext cx="2223770" cy="215265"/>
          </a:xfrm>
          <a:custGeom>
            <a:avLst/>
            <a:gdLst/>
            <a:ahLst/>
            <a:cxnLst/>
            <a:rect l="l" t="t" r="r" b="b"/>
            <a:pathLst>
              <a:path w="2223770" h="215264">
                <a:moveTo>
                  <a:pt x="50800" y="0"/>
                </a:moveTo>
                <a:lnTo>
                  <a:pt x="19050" y="0"/>
                </a:lnTo>
                <a:lnTo>
                  <a:pt x="0" y="0"/>
                </a:lnTo>
                <a:lnTo>
                  <a:pt x="0" y="214884"/>
                </a:lnTo>
                <a:lnTo>
                  <a:pt x="18542" y="214884"/>
                </a:lnTo>
                <a:lnTo>
                  <a:pt x="19050" y="214884"/>
                </a:lnTo>
                <a:lnTo>
                  <a:pt x="50546" y="214884"/>
                </a:lnTo>
                <a:lnTo>
                  <a:pt x="50546" y="205740"/>
                </a:lnTo>
                <a:lnTo>
                  <a:pt x="19050" y="205740"/>
                </a:lnTo>
                <a:lnTo>
                  <a:pt x="19050" y="9144"/>
                </a:lnTo>
                <a:lnTo>
                  <a:pt x="50800" y="9144"/>
                </a:lnTo>
                <a:lnTo>
                  <a:pt x="50800" y="0"/>
                </a:lnTo>
                <a:close/>
              </a:path>
              <a:path w="2223770" h="215264">
                <a:moveTo>
                  <a:pt x="2205482" y="205740"/>
                </a:moveTo>
                <a:lnTo>
                  <a:pt x="2173478" y="205740"/>
                </a:lnTo>
                <a:lnTo>
                  <a:pt x="2173478" y="214884"/>
                </a:lnTo>
                <a:lnTo>
                  <a:pt x="2205482" y="214884"/>
                </a:lnTo>
                <a:lnTo>
                  <a:pt x="2205482" y="205740"/>
                </a:lnTo>
                <a:close/>
              </a:path>
              <a:path w="2223770" h="215264">
                <a:moveTo>
                  <a:pt x="2223770" y="0"/>
                </a:moveTo>
                <a:lnTo>
                  <a:pt x="2205990" y="0"/>
                </a:lnTo>
                <a:lnTo>
                  <a:pt x="2172970" y="0"/>
                </a:lnTo>
                <a:lnTo>
                  <a:pt x="2172970" y="9144"/>
                </a:lnTo>
                <a:lnTo>
                  <a:pt x="2205990" y="9144"/>
                </a:lnTo>
                <a:lnTo>
                  <a:pt x="2205990" y="214884"/>
                </a:lnTo>
                <a:lnTo>
                  <a:pt x="2223770" y="214884"/>
                </a:lnTo>
                <a:lnTo>
                  <a:pt x="22237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778500" y="4963157"/>
            <a:ext cx="223774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110"/>
              </a:spcBef>
            </a:pPr>
            <a:r>
              <a:rPr sz="2700" spc="284" baseline="-20061" dirty="0">
                <a:latin typeface="Cambria"/>
                <a:cs typeface="Cambria"/>
              </a:rPr>
              <a:t>x</a:t>
            </a:r>
            <a:r>
              <a:rPr sz="1300" spc="245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1</a:t>
            </a:r>
            <a:r>
              <a:rPr sz="1300" spc="250" dirty="0">
                <a:latin typeface="Cambria"/>
                <a:cs typeface="Cambria"/>
              </a:rPr>
              <a:t>&gt;</a:t>
            </a:r>
            <a:r>
              <a:rPr sz="1300" dirty="0">
                <a:latin typeface="Cambria"/>
                <a:cs typeface="Cambria"/>
              </a:rPr>
              <a:t> </a:t>
            </a:r>
            <a:r>
              <a:rPr sz="1300" spc="-95" dirty="0">
                <a:latin typeface="Cambria"/>
                <a:cs typeface="Cambria"/>
              </a:rPr>
              <a:t> 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284" baseline="-20061" dirty="0">
                <a:latin typeface="Cambria"/>
                <a:cs typeface="Cambria"/>
              </a:rPr>
              <a:t>x</a:t>
            </a:r>
            <a:r>
              <a:rPr sz="1300" spc="260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2</a:t>
            </a:r>
            <a:r>
              <a:rPr sz="1300" spc="330" dirty="0">
                <a:latin typeface="Cambria"/>
                <a:cs typeface="Cambria"/>
              </a:rPr>
              <a:t>&gt;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15" baseline="-20061" dirty="0">
                <a:latin typeface="Cambria"/>
                <a:cs typeface="Cambria"/>
              </a:rPr>
              <a:t>⋯</a:t>
            </a:r>
            <a:r>
              <a:rPr sz="2700" spc="-135" baseline="-20061" dirty="0">
                <a:latin typeface="Cambria"/>
                <a:cs typeface="Cambria"/>
              </a:rPr>
              <a:t> 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284" baseline="-20061" dirty="0">
                <a:latin typeface="Cambria"/>
                <a:cs typeface="Cambria"/>
              </a:rPr>
              <a:t>x</a:t>
            </a:r>
            <a:r>
              <a:rPr sz="1300" spc="245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10</a:t>
            </a:r>
            <a:r>
              <a:rPr sz="1300" spc="250" dirty="0">
                <a:latin typeface="Cambria"/>
                <a:cs typeface="Cambria"/>
              </a:rPr>
              <a:t>&gt;</a:t>
            </a:r>
            <a:endParaRPr sz="1300">
              <a:latin typeface="Cambria"/>
              <a:cs typeface="Cambr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279136" y="5452872"/>
            <a:ext cx="2700655" cy="306705"/>
            <a:chOff x="5279136" y="5452872"/>
            <a:chExt cx="2700655" cy="306705"/>
          </a:xfrm>
        </p:grpSpPr>
        <p:sp>
          <p:nvSpPr>
            <p:cNvPr id="28" name="object 28"/>
            <p:cNvSpPr/>
            <p:nvPr/>
          </p:nvSpPr>
          <p:spPr>
            <a:xfrm>
              <a:off x="5289804" y="5465063"/>
              <a:ext cx="2679700" cy="281940"/>
            </a:xfrm>
            <a:custGeom>
              <a:avLst/>
              <a:gdLst/>
              <a:ahLst/>
              <a:cxnLst/>
              <a:rect l="l" t="t" r="r" b="b"/>
              <a:pathLst>
                <a:path w="2679700" h="281939">
                  <a:moveTo>
                    <a:pt x="2679191" y="281939"/>
                  </a:moveTo>
                  <a:lnTo>
                    <a:pt x="2679191" y="0"/>
                  </a:lnTo>
                  <a:lnTo>
                    <a:pt x="0" y="0"/>
                  </a:lnTo>
                  <a:lnTo>
                    <a:pt x="0" y="281939"/>
                  </a:lnTo>
                  <a:lnTo>
                    <a:pt x="2679191" y="28193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279136" y="5452872"/>
              <a:ext cx="2700655" cy="306705"/>
            </a:xfrm>
            <a:custGeom>
              <a:avLst/>
              <a:gdLst/>
              <a:ahLst/>
              <a:cxnLst/>
              <a:rect l="l" t="t" r="r" b="b"/>
              <a:pathLst>
                <a:path w="2700654" h="306704">
                  <a:moveTo>
                    <a:pt x="2700528" y="301752"/>
                  </a:moveTo>
                  <a:lnTo>
                    <a:pt x="2700528" y="6096"/>
                  </a:lnTo>
                  <a:lnTo>
                    <a:pt x="2695956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301752"/>
                  </a:lnTo>
                  <a:lnTo>
                    <a:pt x="4572" y="306324"/>
                  </a:lnTo>
                  <a:lnTo>
                    <a:pt x="10668" y="306324"/>
                  </a:lnTo>
                  <a:lnTo>
                    <a:pt x="10668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2677668" y="24384"/>
                  </a:lnTo>
                  <a:lnTo>
                    <a:pt x="2677668" y="12192"/>
                  </a:lnTo>
                  <a:lnTo>
                    <a:pt x="2689860" y="24384"/>
                  </a:lnTo>
                  <a:lnTo>
                    <a:pt x="2689860" y="306324"/>
                  </a:lnTo>
                  <a:lnTo>
                    <a:pt x="2695956" y="306324"/>
                  </a:lnTo>
                  <a:lnTo>
                    <a:pt x="2700528" y="301752"/>
                  </a:lnTo>
                  <a:close/>
                </a:path>
                <a:path w="2700654" h="306704">
                  <a:moveTo>
                    <a:pt x="22860" y="24384"/>
                  </a:moveTo>
                  <a:lnTo>
                    <a:pt x="22860" y="12192"/>
                  </a:lnTo>
                  <a:lnTo>
                    <a:pt x="10668" y="24384"/>
                  </a:lnTo>
                  <a:lnTo>
                    <a:pt x="22860" y="24384"/>
                  </a:lnTo>
                  <a:close/>
                </a:path>
                <a:path w="2700654" h="306704">
                  <a:moveTo>
                    <a:pt x="22860" y="283464"/>
                  </a:moveTo>
                  <a:lnTo>
                    <a:pt x="22860" y="24384"/>
                  </a:lnTo>
                  <a:lnTo>
                    <a:pt x="10668" y="24384"/>
                  </a:lnTo>
                  <a:lnTo>
                    <a:pt x="10668" y="283464"/>
                  </a:lnTo>
                  <a:lnTo>
                    <a:pt x="22860" y="283464"/>
                  </a:lnTo>
                  <a:close/>
                </a:path>
                <a:path w="2700654" h="306704">
                  <a:moveTo>
                    <a:pt x="2689860" y="283464"/>
                  </a:moveTo>
                  <a:lnTo>
                    <a:pt x="10668" y="283464"/>
                  </a:lnTo>
                  <a:lnTo>
                    <a:pt x="22860" y="294132"/>
                  </a:lnTo>
                  <a:lnTo>
                    <a:pt x="22860" y="306324"/>
                  </a:lnTo>
                  <a:lnTo>
                    <a:pt x="2677668" y="306324"/>
                  </a:lnTo>
                  <a:lnTo>
                    <a:pt x="2677668" y="294132"/>
                  </a:lnTo>
                  <a:lnTo>
                    <a:pt x="2689860" y="283464"/>
                  </a:lnTo>
                  <a:close/>
                </a:path>
                <a:path w="2700654" h="306704">
                  <a:moveTo>
                    <a:pt x="22860" y="306324"/>
                  </a:moveTo>
                  <a:lnTo>
                    <a:pt x="22860" y="294132"/>
                  </a:lnTo>
                  <a:lnTo>
                    <a:pt x="10668" y="283464"/>
                  </a:lnTo>
                  <a:lnTo>
                    <a:pt x="10668" y="306324"/>
                  </a:lnTo>
                  <a:lnTo>
                    <a:pt x="22860" y="306324"/>
                  </a:lnTo>
                  <a:close/>
                </a:path>
                <a:path w="2700654" h="306704">
                  <a:moveTo>
                    <a:pt x="2689860" y="24384"/>
                  </a:moveTo>
                  <a:lnTo>
                    <a:pt x="2677668" y="12192"/>
                  </a:lnTo>
                  <a:lnTo>
                    <a:pt x="2677668" y="24384"/>
                  </a:lnTo>
                  <a:lnTo>
                    <a:pt x="2689860" y="24384"/>
                  </a:lnTo>
                  <a:close/>
                </a:path>
                <a:path w="2700654" h="306704">
                  <a:moveTo>
                    <a:pt x="2689860" y="283464"/>
                  </a:moveTo>
                  <a:lnTo>
                    <a:pt x="2689860" y="24384"/>
                  </a:lnTo>
                  <a:lnTo>
                    <a:pt x="2677668" y="24384"/>
                  </a:lnTo>
                  <a:lnTo>
                    <a:pt x="2677668" y="283464"/>
                  </a:lnTo>
                  <a:lnTo>
                    <a:pt x="2689860" y="283464"/>
                  </a:lnTo>
                  <a:close/>
                </a:path>
                <a:path w="2700654" h="306704">
                  <a:moveTo>
                    <a:pt x="2689860" y="306324"/>
                  </a:moveTo>
                  <a:lnTo>
                    <a:pt x="2689860" y="283464"/>
                  </a:lnTo>
                  <a:lnTo>
                    <a:pt x="2677668" y="294132"/>
                  </a:lnTo>
                  <a:lnTo>
                    <a:pt x="2677668" y="306324"/>
                  </a:lnTo>
                  <a:lnTo>
                    <a:pt x="2689860" y="306324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289803" y="5465063"/>
            <a:ext cx="496570" cy="259079"/>
          </a:xfrm>
          <a:prstGeom prst="rect">
            <a:avLst/>
          </a:prstGeom>
          <a:solidFill>
            <a:srgbClr val="FFF2CC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2039"/>
              </a:lnSpc>
            </a:pPr>
            <a:r>
              <a:rPr sz="1800" spc="5" dirty="0">
                <a:latin typeface="Cambria"/>
                <a:cs typeface="Cambria"/>
              </a:rPr>
              <a:t>ℎ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355" dirty="0">
                <a:latin typeface="Cambria"/>
                <a:cs typeface="Cambria"/>
              </a:rPr>
              <a:t>=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786120" y="5513844"/>
            <a:ext cx="2115820" cy="215265"/>
          </a:xfrm>
          <a:custGeom>
            <a:avLst/>
            <a:gdLst/>
            <a:ahLst/>
            <a:cxnLst/>
            <a:rect l="l" t="t" r="r" b="b"/>
            <a:pathLst>
              <a:path w="2115820" h="215264">
                <a:moveTo>
                  <a:pt x="50800" y="0"/>
                </a:moveTo>
                <a:lnTo>
                  <a:pt x="19050" y="0"/>
                </a:lnTo>
                <a:lnTo>
                  <a:pt x="0" y="0"/>
                </a:lnTo>
                <a:lnTo>
                  <a:pt x="0" y="214884"/>
                </a:lnTo>
                <a:lnTo>
                  <a:pt x="18796" y="214884"/>
                </a:lnTo>
                <a:lnTo>
                  <a:pt x="19050" y="214884"/>
                </a:lnTo>
                <a:lnTo>
                  <a:pt x="50800" y="214884"/>
                </a:lnTo>
                <a:lnTo>
                  <a:pt x="50800" y="205740"/>
                </a:lnTo>
                <a:lnTo>
                  <a:pt x="19050" y="205740"/>
                </a:lnTo>
                <a:lnTo>
                  <a:pt x="19050" y="9144"/>
                </a:lnTo>
                <a:lnTo>
                  <a:pt x="50800" y="9144"/>
                </a:lnTo>
                <a:lnTo>
                  <a:pt x="50800" y="0"/>
                </a:lnTo>
                <a:close/>
              </a:path>
              <a:path w="2115820" h="215264">
                <a:moveTo>
                  <a:pt x="2097532" y="205740"/>
                </a:moveTo>
                <a:lnTo>
                  <a:pt x="2065528" y="205740"/>
                </a:lnTo>
                <a:lnTo>
                  <a:pt x="2065528" y="214884"/>
                </a:lnTo>
                <a:lnTo>
                  <a:pt x="2097532" y="214884"/>
                </a:lnTo>
                <a:lnTo>
                  <a:pt x="2097532" y="205740"/>
                </a:lnTo>
                <a:close/>
              </a:path>
              <a:path w="2115820" h="215264">
                <a:moveTo>
                  <a:pt x="2115820" y="0"/>
                </a:moveTo>
                <a:lnTo>
                  <a:pt x="2098040" y="0"/>
                </a:lnTo>
                <a:lnTo>
                  <a:pt x="2065020" y="0"/>
                </a:lnTo>
                <a:lnTo>
                  <a:pt x="2065020" y="9144"/>
                </a:lnTo>
                <a:lnTo>
                  <a:pt x="2098040" y="9144"/>
                </a:lnTo>
                <a:lnTo>
                  <a:pt x="2098040" y="214884"/>
                </a:lnTo>
                <a:lnTo>
                  <a:pt x="2115820" y="214884"/>
                </a:lnTo>
                <a:lnTo>
                  <a:pt x="21158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779770" y="5359398"/>
            <a:ext cx="212979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110"/>
              </a:spcBef>
            </a:pPr>
            <a:r>
              <a:rPr sz="2700" spc="60" baseline="-20061" dirty="0">
                <a:latin typeface="Cambria"/>
                <a:cs typeface="Cambria"/>
              </a:rPr>
              <a:t>ℎ</a:t>
            </a:r>
            <a:r>
              <a:rPr sz="1300" spc="245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1</a:t>
            </a:r>
            <a:r>
              <a:rPr sz="1300" spc="250" dirty="0">
                <a:latin typeface="Cambria"/>
                <a:cs typeface="Cambria"/>
              </a:rPr>
              <a:t>&gt;</a:t>
            </a:r>
            <a:r>
              <a:rPr sz="1300" dirty="0">
                <a:latin typeface="Cambria"/>
                <a:cs typeface="Cambria"/>
              </a:rPr>
              <a:t> </a:t>
            </a:r>
            <a:r>
              <a:rPr sz="1300" spc="-95" dirty="0">
                <a:latin typeface="Cambria"/>
                <a:cs typeface="Cambria"/>
              </a:rPr>
              <a:t> 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60" baseline="-20061" dirty="0">
                <a:latin typeface="Cambria"/>
                <a:cs typeface="Cambria"/>
              </a:rPr>
              <a:t>ℎ</a:t>
            </a:r>
            <a:r>
              <a:rPr sz="1300" spc="260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2</a:t>
            </a:r>
            <a:r>
              <a:rPr sz="1300" spc="320" dirty="0">
                <a:latin typeface="Cambria"/>
                <a:cs typeface="Cambria"/>
              </a:rPr>
              <a:t>&gt;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15" baseline="-20061" dirty="0">
                <a:latin typeface="Cambria"/>
                <a:cs typeface="Cambria"/>
              </a:rPr>
              <a:t>⋯</a:t>
            </a:r>
            <a:r>
              <a:rPr sz="2700" spc="-135" baseline="-20061" dirty="0">
                <a:latin typeface="Cambria"/>
                <a:cs typeface="Cambria"/>
              </a:rPr>
              <a:t> 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67" baseline="-20061" dirty="0">
                <a:latin typeface="Cambria"/>
                <a:cs typeface="Cambria"/>
              </a:rPr>
              <a:t>ℎ</a:t>
            </a:r>
            <a:r>
              <a:rPr sz="1300" spc="260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5</a:t>
            </a:r>
            <a:r>
              <a:rPr sz="1300" spc="250" dirty="0">
                <a:latin typeface="Cambria"/>
                <a:cs typeface="Cambria"/>
              </a:rPr>
              <a:t>&gt;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7851" y="1423416"/>
            <a:ext cx="3946525" cy="3343910"/>
            <a:chOff x="247851" y="1423416"/>
            <a:chExt cx="3946525" cy="33439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97180" y="2586736"/>
              <a:ext cx="223759" cy="2235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89982" y="3511295"/>
              <a:ext cx="404270" cy="4236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851" y="3511295"/>
              <a:ext cx="442791" cy="36728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9321" y="1423416"/>
              <a:ext cx="3051048" cy="334365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3137" y="2577083"/>
            <a:ext cx="400396" cy="18850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5230368" y="1400549"/>
            <a:ext cx="3522345" cy="559435"/>
            <a:chOff x="5230368" y="1400549"/>
            <a:chExt cx="3522345" cy="559435"/>
          </a:xfrm>
        </p:grpSpPr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00532" y="1574741"/>
              <a:ext cx="3337379" cy="28889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230368" y="1400549"/>
              <a:ext cx="3522345" cy="559435"/>
            </a:xfrm>
            <a:custGeom>
              <a:avLst/>
              <a:gdLst/>
              <a:ahLst/>
              <a:cxnLst/>
              <a:rect l="l" t="t" r="r" b="b"/>
              <a:pathLst>
                <a:path w="3522345" h="559435">
                  <a:moveTo>
                    <a:pt x="3521964" y="554742"/>
                  </a:moveTo>
                  <a:lnTo>
                    <a:pt x="3521964" y="4572"/>
                  </a:lnTo>
                  <a:lnTo>
                    <a:pt x="3517392" y="0"/>
                  </a:lnTo>
                  <a:lnTo>
                    <a:pt x="6096" y="0"/>
                  </a:lnTo>
                  <a:lnTo>
                    <a:pt x="0" y="4572"/>
                  </a:lnTo>
                  <a:lnTo>
                    <a:pt x="0" y="554742"/>
                  </a:lnTo>
                  <a:lnTo>
                    <a:pt x="6096" y="559314"/>
                  </a:lnTo>
                  <a:lnTo>
                    <a:pt x="12192" y="559314"/>
                  </a:lnTo>
                  <a:lnTo>
                    <a:pt x="12192" y="22860"/>
                  </a:lnTo>
                  <a:lnTo>
                    <a:pt x="24384" y="12192"/>
                  </a:lnTo>
                  <a:lnTo>
                    <a:pt x="24384" y="22860"/>
                  </a:lnTo>
                  <a:lnTo>
                    <a:pt x="3499104" y="22860"/>
                  </a:lnTo>
                  <a:lnTo>
                    <a:pt x="3499104" y="12192"/>
                  </a:lnTo>
                  <a:lnTo>
                    <a:pt x="3509772" y="22860"/>
                  </a:lnTo>
                  <a:lnTo>
                    <a:pt x="3509772" y="559314"/>
                  </a:lnTo>
                  <a:lnTo>
                    <a:pt x="3517392" y="559314"/>
                  </a:lnTo>
                  <a:lnTo>
                    <a:pt x="3521964" y="554742"/>
                  </a:lnTo>
                  <a:close/>
                </a:path>
                <a:path w="3522345" h="559435">
                  <a:moveTo>
                    <a:pt x="24384" y="22860"/>
                  </a:moveTo>
                  <a:lnTo>
                    <a:pt x="24384" y="12192"/>
                  </a:lnTo>
                  <a:lnTo>
                    <a:pt x="12192" y="22860"/>
                  </a:lnTo>
                  <a:lnTo>
                    <a:pt x="24384" y="22860"/>
                  </a:lnTo>
                  <a:close/>
                </a:path>
                <a:path w="3522345" h="559435">
                  <a:moveTo>
                    <a:pt x="24384" y="536454"/>
                  </a:moveTo>
                  <a:lnTo>
                    <a:pt x="24384" y="22860"/>
                  </a:lnTo>
                  <a:lnTo>
                    <a:pt x="12192" y="22860"/>
                  </a:lnTo>
                  <a:lnTo>
                    <a:pt x="12192" y="536454"/>
                  </a:lnTo>
                  <a:lnTo>
                    <a:pt x="24384" y="536454"/>
                  </a:lnTo>
                  <a:close/>
                </a:path>
                <a:path w="3522345" h="559435">
                  <a:moveTo>
                    <a:pt x="3509772" y="536454"/>
                  </a:moveTo>
                  <a:lnTo>
                    <a:pt x="12192" y="536454"/>
                  </a:lnTo>
                  <a:lnTo>
                    <a:pt x="24384" y="548646"/>
                  </a:lnTo>
                  <a:lnTo>
                    <a:pt x="24384" y="559314"/>
                  </a:lnTo>
                  <a:lnTo>
                    <a:pt x="3499104" y="559314"/>
                  </a:lnTo>
                  <a:lnTo>
                    <a:pt x="3499104" y="548646"/>
                  </a:lnTo>
                  <a:lnTo>
                    <a:pt x="3509772" y="536454"/>
                  </a:lnTo>
                  <a:close/>
                </a:path>
                <a:path w="3522345" h="559435">
                  <a:moveTo>
                    <a:pt x="24384" y="559314"/>
                  </a:moveTo>
                  <a:lnTo>
                    <a:pt x="24384" y="548646"/>
                  </a:lnTo>
                  <a:lnTo>
                    <a:pt x="12192" y="536454"/>
                  </a:lnTo>
                  <a:lnTo>
                    <a:pt x="12192" y="559314"/>
                  </a:lnTo>
                  <a:lnTo>
                    <a:pt x="24384" y="559314"/>
                  </a:lnTo>
                  <a:close/>
                </a:path>
                <a:path w="3522345" h="559435">
                  <a:moveTo>
                    <a:pt x="3509772" y="22860"/>
                  </a:moveTo>
                  <a:lnTo>
                    <a:pt x="3499104" y="12192"/>
                  </a:lnTo>
                  <a:lnTo>
                    <a:pt x="3499104" y="22860"/>
                  </a:lnTo>
                  <a:lnTo>
                    <a:pt x="3509772" y="22860"/>
                  </a:lnTo>
                  <a:close/>
                </a:path>
                <a:path w="3522345" h="559435">
                  <a:moveTo>
                    <a:pt x="3509772" y="536454"/>
                  </a:moveTo>
                  <a:lnTo>
                    <a:pt x="3509772" y="22860"/>
                  </a:lnTo>
                  <a:lnTo>
                    <a:pt x="3499104" y="22860"/>
                  </a:lnTo>
                  <a:lnTo>
                    <a:pt x="3499104" y="536454"/>
                  </a:lnTo>
                  <a:lnTo>
                    <a:pt x="3509772" y="536454"/>
                  </a:lnTo>
                  <a:close/>
                </a:path>
                <a:path w="3522345" h="559435">
                  <a:moveTo>
                    <a:pt x="3509772" y="559314"/>
                  </a:moveTo>
                  <a:lnTo>
                    <a:pt x="3509772" y="536454"/>
                  </a:lnTo>
                  <a:lnTo>
                    <a:pt x="3499104" y="548646"/>
                  </a:lnTo>
                  <a:lnTo>
                    <a:pt x="3499104" y="559314"/>
                  </a:lnTo>
                  <a:lnTo>
                    <a:pt x="3509772" y="559314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920489" y="5062728"/>
            <a:ext cx="2807335" cy="303530"/>
            <a:chOff x="920489" y="5062728"/>
            <a:chExt cx="2807335" cy="303530"/>
          </a:xfrm>
        </p:grpSpPr>
        <p:sp>
          <p:nvSpPr>
            <p:cNvPr id="12" name="object 12"/>
            <p:cNvSpPr/>
            <p:nvPr/>
          </p:nvSpPr>
          <p:spPr>
            <a:xfrm>
              <a:off x="932681" y="5074919"/>
              <a:ext cx="2783205" cy="279400"/>
            </a:xfrm>
            <a:custGeom>
              <a:avLst/>
              <a:gdLst/>
              <a:ahLst/>
              <a:cxnLst/>
              <a:rect l="l" t="t" r="r" b="b"/>
              <a:pathLst>
                <a:path w="2783204" h="279400">
                  <a:moveTo>
                    <a:pt x="2782823" y="278891"/>
                  </a:moveTo>
                  <a:lnTo>
                    <a:pt x="2782823" y="0"/>
                  </a:lnTo>
                  <a:lnTo>
                    <a:pt x="0" y="0"/>
                  </a:lnTo>
                  <a:lnTo>
                    <a:pt x="0" y="278891"/>
                  </a:lnTo>
                  <a:lnTo>
                    <a:pt x="2782823" y="278891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20489" y="5062728"/>
              <a:ext cx="2807335" cy="303530"/>
            </a:xfrm>
            <a:custGeom>
              <a:avLst/>
              <a:gdLst/>
              <a:ahLst/>
              <a:cxnLst/>
              <a:rect l="l" t="t" r="r" b="b"/>
              <a:pathLst>
                <a:path w="2807335" h="303529">
                  <a:moveTo>
                    <a:pt x="2807214" y="297180"/>
                  </a:moveTo>
                  <a:lnTo>
                    <a:pt x="2807214" y="6096"/>
                  </a:lnTo>
                  <a:lnTo>
                    <a:pt x="2802642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297180"/>
                  </a:lnTo>
                  <a:lnTo>
                    <a:pt x="4572" y="303276"/>
                  </a:lnTo>
                  <a:lnTo>
                    <a:pt x="12192" y="303276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2784354" y="24384"/>
                  </a:lnTo>
                  <a:lnTo>
                    <a:pt x="2784354" y="12192"/>
                  </a:lnTo>
                  <a:lnTo>
                    <a:pt x="2795022" y="24384"/>
                  </a:lnTo>
                  <a:lnTo>
                    <a:pt x="2795022" y="303276"/>
                  </a:lnTo>
                  <a:lnTo>
                    <a:pt x="2802642" y="303276"/>
                  </a:lnTo>
                  <a:lnTo>
                    <a:pt x="2807214" y="297180"/>
                  </a:lnTo>
                  <a:close/>
                </a:path>
                <a:path w="2807335" h="303529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2807335" h="303529">
                  <a:moveTo>
                    <a:pt x="22860" y="278892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278892"/>
                  </a:lnTo>
                  <a:lnTo>
                    <a:pt x="22860" y="278892"/>
                  </a:lnTo>
                  <a:close/>
                </a:path>
                <a:path w="2807335" h="303529">
                  <a:moveTo>
                    <a:pt x="2795022" y="278892"/>
                  </a:moveTo>
                  <a:lnTo>
                    <a:pt x="12192" y="278892"/>
                  </a:lnTo>
                  <a:lnTo>
                    <a:pt x="22860" y="291084"/>
                  </a:lnTo>
                  <a:lnTo>
                    <a:pt x="22860" y="303276"/>
                  </a:lnTo>
                  <a:lnTo>
                    <a:pt x="2784354" y="303276"/>
                  </a:lnTo>
                  <a:lnTo>
                    <a:pt x="2784354" y="291084"/>
                  </a:lnTo>
                  <a:lnTo>
                    <a:pt x="2795022" y="278892"/>
                  </a:lnTo>
                  <a:close/>
                </a:path>
                <a:path w="2807335" h="303529">
                  <a:moveTo>
                    <a:pt x="22860" y="303276"/>
                  </a:moveTo>
                  <a:lnTo>
                    <a:pt x="22860" y="291084"/>
                  </a:lnTo>
                  <a:lnTo>
                    <a:pt x="12192" y="278892"/>
                  </a:lnTo>
                  <a:lnTo>
                    <a:pt x="12192" y="303276"/>
                  </a:lnTo>
                  <a:lnTo>
                    <a:pt x="22860" y="303276"/>
                  </a:lnTo>
                  <a:close/>
                </a:path>
                <a:path w="2807335" h="303529">
                  <a:moveTo>
                    <a:pt x="2795022" y="24384"/>
                  </a:moveTo>
                  <a:lnTo>
                    <a:pt x="2784354" y="12192"/>
                  </a:lnTo>
                  <a:lnTo>
                    <a:pt x="2784354" y="24384"/>
                  </a:lnTo>
                  <a:lnTo>
                    <a:pt x="2795022" y="24384"/>
                  </a:lnTo>
                  <a:close/>
                </a:path>
                <a:path w="2807335" h="303529">
                  <a:moveTo>
                    <a:pt x="2795022" y="278892"/>
                  </a:moveTo>
                  <a:lnTo>
                    <a:pt x="2795022" y="24384"/>
                  </a:lnTo>
                  <a:lnTo>
                    <a:pt x="2784354" y="24384"/>
                  </a:lnTo>
                  <a:lnTo>
                    <a:pt x="2784354" y="278892"/>
                  </a:lnTo>
                  <a:lnTo>
                    <a:pt x="2795022" y="278892"/>
                  </a:lnTo>
                  <a:close/>
                </a:path>
                <a:path w="2807335" h="303529">
                  <a:moveTo>
                    <a:pt x="2795022" y="303276"/>
                  </a:moveTo>
                  <a:lnTo>
                    <a:pt x="2795022" y="278892"/>
                  </a:lnTo>
                  <a:lnTo>
                    <a:pt x="2784354" y="291084"/>
                  </a:lnTo>
                  <a:lnTo>
                    <a:pt x="2784354" y="303276"/>
                  </a:lnTo>
                  <a:lnTo>
                    <a:pt x="2795022" y="303276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32681" y="5074920"/>
            <a:ext cx="494030" cy="279400"/>
          </a:xfrm>
          <a:prstGeom prst="rect">
            <a:avLst/>
          </a:prstGeom>
          <a:solidFill>
            <a:srgbClr val="FFF2CC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2065"/>
              </a:lnSpc>
            </a:pPr>
            <a:r>
              <a:rPr sz="1800" spc="90" dirty="0">
                <a:latin typeface="Cambria"/>
                <a:cs typeface="Cambria"/>
              </a:rPr>
              <a:t>x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355" dirty="0">
                <a:latin typeface="Cambria"/>
                <a:cs typeface="Cambria"/>
              </a:rPr>
              <a:t>=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426210" y="5120652"/>
            <a:ext cx="2225040" cy="215265"/>
          </a:xfrm>
          <a:custGeom>
            <a:avLst/>
            <a:gdLst/>
            <a:ahLst/>
            <a:cxnLst/>
            <a:rect l="l" t="t" r="r" b="b"/>
            <a:pathLst>
              <a:path w="2225040" h="215264">
                <a:moveTo>
                  <a:pt x="20320" y="0"/>
                </a:moveTo>
                <a:lnTo>
                  <a:pt x="0" y="0"/>
                </a:lnTo>
                <a:lnTo>
                  <a:pt x="0" y="214884"/>
                </a:lnTo>
                <a:lnTo>
                  <a:pt x="20320" y="214884"/>
                </a:lnTo>
                <a:lnTo>
                  <a:pt x="20320" y="0"/>
                </a:lnTo>
                <a:close/>
              </a:path>
              <a:path w="2225040" h="215264">
                <a:moveTo>
                  <a:pt x="2205482" y="205740"/>
                </a:moveTo>
                <a:lnTo>
                  <a:pt x="2175002" y="205740"/>
                </a:lnTo>
                <a:lnTo>
                  <a:pt x="2175002" y="214884"/>
                </a:lnTo>
                <a:lnTo>
                  <a:pt x="2205482" y="214884"/>
                </a:lnTo>
                <a:lnTo>
                  <a:pt x="2205482" y="205740"/>
                </a:lnTo>
                <a:close/>
              </a:path>
              <a:path w="2225040" h="215264">
                <a:moveTo>
                  <a:pt x="2225040" y="0"/>
                </a:moveTo>
                <a:lnTo>
                  <a:pt x="2205990" y="0"/>
                </a:lnTo>
                <a:lnTo>
                  <a:pt x="2175510" y="0"/>
                </a:lnTo>
                <a:lnTo>
                  <a:pt x="2175510" y="9144"/>
                </a:lnTo>
                <a:lnTo>
                  <a:pt x="2205990" y="9144"/>
                </a:lnTo>
                <a:lnTo>
                  <a:pt x="2205990" y="214884"/>
                </a:lnTo>
                <a:lnTo>
                  <a:pt x="2225040" y="214884"/>
                </a:lnTo>
                <a:lnTo>
                  <a:pt x="2225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446530" y="5120640"/>
            <a:ext cx="30480" cy="9525"/>
          </a:xfrm>
          <a:custGeom>
            <a:avLst/>
            <a:gdLst/>
            <a:ahLst/>
            <a:cxnLst/>
            <a:rect l="l" t="t" r="r" b="b"/>
            <a:pathLst>
              <a:path w="30480" h="9525">
                <a:moveTo>
                  <a:pt x="0" y="0"/>
                </a:moveTo>
                <a:lnTo>
                  <a:pt x="0" y="9144"/>
                </a:lnTo>
                <a:lnTo>
                  <a:pt x="30480" y="9144"/>
                </a:lnTo>
                <a:lnTo>
                  <a:pt x="3048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46269" y="5326380"/>
            <a:ext cx="30480" cy="9525"/>
          </a:xfrm>
          <a:custGeom>
            <a:avLst/>
            <a:gdLst/>
            <a:ahLst/>
            <a:cxnLst/>
            <a:rect l="l" t="t" r="r" b="b"/>
            <a:pathLst>
              <a:path w="30480" h="9525">
                <a:moveTo>
                  <a:pt x="30480" y="9144"/>
                </a:moveTo>
                <a:lnTo>
                  <a:pt x="30480" y="0"/>
                </a:lnTo>
                <a:lnTo>
                  <a:pt x="0" y="0"/>
                </a:lnTo>
                <a:lnTo>
                  <a:pt x="0" y="9144"/>
                </a:lnTo>
                <a:lnTo>
                  <a:pt x="30480" y="91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421130" y="4964682"/>
            <a:ext cx="223647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10"/>
              </a:spcBef>
            </a:pPr>
            <a:r>
              <a:rPr sz="2700" spc="284" baseline="-20061" dirty="0">
                <a:latin typeface="Cambria"/>
                <a:cs typeface="Cambria"/>
              </a:rPr>
              <a:t>x</a:t>
            </a:r>
            <a:r>
              <a:rPr sz="1300" spc="245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1</a:t>
            </a:r>
            <a:r>
              <a:rPr sz="1300" spc="250" dirty="0">
                <a:latin typeface="Cambria"/>
                <a:cs typeface="Cambria"/>
              </a:rPr>
              <a:t>&gt;</a:t>
            </a:r>
            <a:r>
              <a:rPr sz="1300" dirty="0">
                <a:latin typeface="Cambria"/>
                <a:cs typeface="Cambria"/>
              </a:rPr>
              <a:t> </a:t>
            </a:r>
            <a:r>
              <a:rPr sz="1300" spc="-95" dirty="0">
                <a:latin typeface="Cambria"/>
                <a:cs typeface="Cambria"/>
              </a:rPr>
              <a:t> 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284" baseline="-20061" dirty="0">
                <a:latin typeface="Cambria"/>
                <a:cs typeface="Cambria"/>
              </a:rPr>
              <a:t>x</a:t>
            </a:r>
            <a:r>
              <a:rPr sz="1300" spc="260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2</a:t>
            </a:r>
            <a:r>
              <a:rPr sz="1300" spc="330" dirty="0">
                <a:latin typeface="Cambria"/>
                <a:cs typeface="Cambria"/>
              </a:rPr>
              <a:t>&gt;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15" baseline="-20061" dirty="0">
                <a:latin typeface="Cambria"/>
                <a:cs typeface="Cambria"/>
              </a:rPr>
              <a:t>⋯</a:t>
            </a:r>
            <a:r>
              <a:rPr sz="2700" spc="-135" baseline="-20061" dirty="0">
                <a:latin typeface="Cambria"/>
                <a:cs typeface="Cambria"/>
              </a:rPr>
              <a:t> 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284" baseline="-20061" dirty="0">
                <a:latin typeface="Cambria"/>
                <a:cs typeface="Cambria"/>
              </a:rPr>
              <a:t>x</a:t>
            </a:r>
            <a:r>
              <a:rPr sz="1300" spc="245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10</a:t>
            </a:r>
            <a:r>
              <a:rPr sz="1300" spc="250" dirty="0">
                <a:latin typeface="Cambria"/>
                <a:cs typeface="Cambria"/>
              </a:rPr>
              <a:t>&gt;</a:t>
            </a:r>
            <a:endParaRPr sz="1300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20489" y="5455920"/>
            <a:ext cx="2702560" cy="306705"/>
            <a:chOff x="920489" y="5455920"/>
            <a:chExt cx="2702560" cy="306705"/>
          </a:xfrm>
        </p:grpSpPr>
        <p:sp>
          <p:nvSpPr>
            <p:cNvPr id="20" name="object 20"/>
            <p:cNvSpPr/>
            <p:nvPr/>
          </p:nvSpPr>
          <p:spPr>
            <a:xfrm>
              <a:off x="932681" y="5468111"/>
              <a:ext cx="2677795" cy="281940"/>
            </a:xfrm>
            <a:custGeom>
              <a:avLst/>
              <a:gdLst/>
              <a:ahLst/>
              <a:cxnLst/>
              <a:rect l="l" t="t" r="r" b="b"/>
              <a:pathLst>
                <a:path w="2677795" h="281939">
                  <a:moveTo>
                    <a:pt x="2677667" y="281939"/>
                  </a:moveTo>
                  <a:lnTo>
                    <a:pt x="2677667" y="0"/>
                  </a:lnTo>
                  <a:lnTo>
                    <a:pt x="0" y="0"/>
                  </a:lnTo>
                  <a:lnTo>
                    <a:pt x="0" y="281939"/>
                  </a:lnTo>
                  <a:lnTo>
                    <a:pt x="2677667" y="28193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20489" y="5455920"/>
              <a:ext cx="2702560" cy="306705"/>
            </a:xfrm>
            <a:custGeom>
              <a:avLst/>
              <a:gdLst/>
              <a:ahLst/>
              <a:cxnLst/>
              <a:rect l="l" t="t" r="r" b="b"/>
              <a:pathLst>
                <a:path w="2702560" h="306704">
                  <a:moveTo>
                    <a:pt x="2702058" y="300228"/>
                  </a:moveTo>
                  <a:lnTo>
                    <a:pt x="2702058" y="4572"/>
                  </a:lnTo>
                  <a:lnTo>
                    <a:pt x="2695962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300228"/>
                  </a:lnTo>
                  <a:lnTo>
                    <a:pt x="4572" y="306324"/>
                  </a:lnTo>
                  <a:lnTo>
                    <a:pt x="12192" y="306324"/>
                  </a:lnTo>
                  <a:lnTo>
                    <a:pt x="12192" y="22860"/>
                  </a:lnTo>
                  <a:lnTo>
                    <a:pt x="22860" y="12192"/>
                  </a:lnTo>
                  <a:lnTo>
                    <a:pt x="22860" y="22860"/>
                  </a:lnTo>
                  <a:lnTo>
                    <a:pt x="2677674" y="22860"/>
                  </a:lnTo>
                  <a:lnTo>
                    <a:pt x="2677674" y="12192"/>
                  </a:lnTo>
                  <a:lnTo>
                    <a:pt x="2689866" y="22860"/>
                  </a:lnTo>
                  <a:lnTo>
                    <a:pt x="2689866" y="306324"/>
                  </a:lnTo>
                  <a:lnTo>
                    <a:pt x="2695962" y="306324"/>
                  </a:lnTo>
                  <a:lnTo>
                    <a:pt x="2702058" y="300228"/>
                  </a:lnTo>
                  <a:close/>
                </a:path>
                <a:path w="2702560" h="306704">
                  <a:moveTo>
                    <a:pt x="22860" y="22860"/>
                  </a:moveTo>
                  <a:lnTo>
                    <a:pt x="22860" y="12192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2702560" h="306704">
                  <a:moveTo>
                    <a:pt x="22860" y="281940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281940"/>
                  </a:lnTo>
                  <a:lnTo>
                    <a:pt x="22860" y="281940"/>
                  </a:lnTo>
                  <a:close/>
                </a:path>
                <a:path w="2702560" h="306704">
                  <a:moveTo>
                    <a:pt x="2689866" y="281940"/>
                  </a:moveTo>
                  <a:lnTo>
                    <a:pt x="12192" y="281940"/>
                  </a:lnTo>
                  <a:lnTo>
                    <a:pt x="22860" y="294132"/>
                  </a:lnTo>
                  <a:lnTo>
                    <a:pt x="22860" y="306324"/>
                  </a:lnTo>
                  <a:lnTo>
                    <a:pt x="2677674" y="306324"/>
                  </a:lnTo>
                  <a:lnTo>
                    <a:pt x="2677674" y="294132"/>
                  </a:lnTo>
                  <a:lnTo>
                    <a:pt x="2689866" y="281940"/>
                  </a:lnTo>
                  <a:close/>
                </a:path>
                <a:path w="2702560" h="306704">
                  <a:moveTo>
                    <a:pt x="22860" y="306324"/>
                  </a:moveTo>
                  <a:lnTo>
                    <a:pt x="22860" y="294132"/>
                  </a:lnTo>
                  <a:lnTo>
                    <a:pt x="12192" y="281940"/>
                  </a:lnTo>
                  <a:lnTo>
                    <a:pt x="12192" y="306324"/>
                  </a:lnTo>
                  <a:lnTo>
                    <a:pt x="22860" y="306324"/>
                  </a:lnTo>
                  <a:close/>
                </a:path>
                <a:path w="2702560" h="306704">
                  <a:moveTo>
                    <a:pt x="2689866" y="22860"/>
                  </a:moveTo>
                  <a:lnTo>
                    <a:pt x="2677674" y="12192"/>
                  </a:lnTo>
                  <a:lnTo>
                    <a:pt x="2677674" y="22860"/>
                  </a:lnTo>
                  <a:lnTo>
                    <a:pt x="2689866" y="22860"/>
                  </a:lnTo>
                  <a:close/>
                </a:path>
                <a:path w="2702560" h="306704">
                  <a:moveTo>
                    <a:pt x="2689866" y="281940"/>
                  </a:moveTo>
                  <a:lnTo>
                    <a:pt x="2689866" y="22860"/>
                  </a:lnTo>
                  <a:lnTo>
                    <a:pt x="2677674" y="22860"/>
                  </a:lnTo>
                  <a:lnTo>
                    <a:pt x="2677674" y="281940"/>
                  </a:lnTo>
                  <a:lnTo>
                    <a:pt x="2689866" y="281940"/>
                  </a:lnTo>
                  <a:close/>
                </a:path>
                <a:path w="2702560" h="306704">
                  <a:moveTo>
                    <a:pt x="2689866" y="306324"/>
                  </a:moveTo>
                  <a:lnTo>
                    <a:pt x="2689866" y="281940"/>
                  </a:lnTo>
                  <a:lnTo>
                    <a:pt x="2677674" y="294132"/>
                  </a:lnTo>
                  <a:lnTo>
                    <a:pt x="2677674" y="306324"/>
                  </a:lnTo>
                  <a:lnTo>
                    <a:pt x="2689866" y="306324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32681" y="5468111"/>
            <a:ext cx="495300" cy="259079"/>
          </a:xfrm>
          <a:prstGeom prst="rect">
            <a:avLst/>
          </a:prstGeom>
          <a:solidFill>
            <a:srgbClr val="FFF2CC"/>
          </a:solidFill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2039"/>
              </a:lnSpc>
            </a:pPr>
            <a:r>
              <a:rPr sz="1800" spc="5" dirty="0">
                <a:latin typeface="Cambria"/>
                <a:cs typeface="Cambria"/>
              </a:rPr>
              <a:t>ℎ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355" dirty="0">
                <a:latin typeface="Cambria"/>
                <a:cs typeface="Cambria"/>
              </a:rPr>
              <a:t>=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427480" y="5516892"/>
            <a:ext cx="2117090" cy="215265"/>
          </a:xfrm>
          <a:custGeom>
            <a:avLst/>
            <a:gdLst/>
            <a:ahLst/>
            <a:cxnLst/>
            <a:rect l="l" t="t" r="r" b="b"/>
            <a:pathLst>
              <a:path w="2117090" h="215264">
                <a:moveTo>
                  <a:pt x="50800" y="0"/>
                </a:moveTo>
                <a:lnTo>
                  <a:pt x="20320" y="0"/>
                </a:lnTo>
                <a:lnTo>
                  <a:pt x="0" y="0"/>
                </a:lnTo>
                <a:lnTo>
                  <a:pt x="0" y="214884"/>
                </a:lnTo>
                <a:lnTo>
                  <a:pt x="20307" y="214884"/>
                </a:lnTo>
                <a:lnTo>
                  <a:pt x="50787" y="214884"/>
                </a:lnTo>
                <a:lnTo>
                  <a:pt x="50787" y="205740"/>
                </a:lnTo>
                <a:lnTo>
                  <a:pt x="20320" y="205740"/>
                </a:lnTo>
                <a:lnTo>
                  <a:pt x="20320" y="9144"/>
                </a:lnTo>
                <a:lnTo>
                  <a:pt x="50800" y="9144"/>
                </a:lnTo>
                <a:lnTo>
                  <a:pt x="50800" y="0"/>
                </a:lnTo>
                <a:close/>
              </a:path>
              <a:path w="2117090" h="215264">
                <a:moveTo>
                  <a:pt x="2097532" y="205740"/>
                </a:moveTo>
                <a:lnTo>
                  <a:pt x="2067052" y="205740"/>
                </a:lnTo>
                <a:lnTo>
                  <a:pt x="2067052" y="214884"/>
                </a:lnTo>
                <a:lnTo>
                  <a:pt x="2097532" y="214884"/>
                </a:lnTo>
                <a:lnTo>
                  <a:pt x="2097532" y="205740"/>
                </a:lnTo>
                <a:close/>
              </a:path>
              <a:path w="2117090" h="215264">
                <a:moveTo>
                  <a:pt x="2117090" y="0"/>
                </a:moveTo>
                <a:lnTo>
                  <a:pt x="2098040" y="0"/>
                </a:lnTo>
                <a:lnTo>
                  <a:pt x="2067560" y="0"/>
                </a:lnTo>
                <a:lnTo>
                  <a:pt x="2067560" y="9144"/>
                </a:lnTo>
                <a:lnTo>
                  <a:pt x="2098040" y="9144"/>
                </a:lnTo>
                <a:lnTo>
                  <a:pt x="2098040" y="214884"/>
                </a:lnTo>
                <a:lnTo>
                  <a:pt x="2117090" y="214884"/>
                </a:lnTo>
                <a:lnTo>
                  <a:pt x="21170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422400" y="5360922"/>
            <a:ext cx="212852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110"/>
              </a:spcBef>
            </a:pPr>
            <a:r>
              <a:rPr sz="2700" spc="60" baseline="-20061" dirty="0">
                <a:latin typeface="Cambria"/>
                <a:cs typeface="Cambria"/>
              </a:rPr>
              <a:t>ℎ</a:t>
            </a:r>
            <a:r>
              <a:rPr sz="1300" spc="245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1</a:t>
            </a:r>
            <a:r>
              <a:rPr sz="1300" spc="250" dirty="0">
                <a:latin typeface="Cambria"/>
                <a:cs typeface="Cambria"/>
              </a:rPr>
              <a:t>&gt;</a:t>
            </a:r>
            <a:r>
              <a:rPr sz="1300" dirty="0">
                <a:latin typeface="Cambria"/>
                <a:cs typeface="Cambria"/>
              </a:rPr>
              <a:t> </a:t>
            </a:r>
            <a:r>
              <a:rPr sz="1300" spc="-95" dirty="0">
                <a:latin typeface="Cambria"/>
                <a:cs typeface="Cambria"/>
              </a:rPr>
              <a:t> 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60" baseline="-20061" dirty="0">
                <a:latin typeface="Cambria"/>
                <a:cs typeface="Cambria"/>
              </a:rPr>
              <a:t>ℎ</a:t>
            </a:r>
            <a:r>
              <a:rPr sz="1300" spc="260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2</a:t>
            </a:r>
            <a:r>
              <a:rPr sz="1300" spc="320" dirty="0">
                <a:latin typeface="Cambria"/>
                <a:cs typeface="Cambria"/>
              </a:rPr>
              <a:t>&gt;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15" baseline="-20061" dirty="0">
                <a:latin typeface="Cambria"/>
                <a:cs typeface="Cambria"/>
              </a:rPr>
              <a:t>⋯</a:t>
            </a:r>
            <a:r>
              <a:rPr sz="2700" spc="-135" baseline="-20061" dirty="0">
                <a:latin typeface="Cambria"/>
                <a:cs typeface="Cambria"/>
              </a:rPr>
              <a:t> 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67" baseline="-20061" dirty="0">
                <a:latin typeface="Cambria"/>
                <a:cs typeface="Cambria"/>
              </a:rPr>
              <a:t>ℎ</a:t>
            </a:r>
            <a:r>
              <a:rPr sz="1300" spc="260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5</a:t>
            </a:r>
            <a:r>
              <a:rPr sz="1300" spc="250" dirty="0">
                <a:latin typeface="Cambria"/>
                <a:cs typeface="Cambria"/>
              </a:rPr>
              <a:t>&gt;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54749" y="2302255"/>
            <a:ext cx="60071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800" spc="50" dirty="0">
                <a:latin typeface="Cambria"/>
                <a:cs typeface="Cambria"/>
              </a:rPr>
              <a:t>W</a:t>
            </a:r>
            <a:r>
              <a:rPr sz="1950" spc="75" baseline="-14957" dirty="0">
                <a:latin typeface="Cambria"/>
                <a:cs typeface="Cambria"/>
              </a:rPr>
              <a:t>ƒ</a:t>
            </a:r>
            <a:r>
              <a:rPr sz="1950" spc="390" baseline="-14957" dirty="0">
                <a:latin typeface="Cambria"/>
                <a:cs typeface="Cambria"/>
              </a:rPr>
              <a:t> </a:t>
            </a:r>
            <a:r>
              <a:rPr sz="1800" spc="355" dirty="0">
                <a:latin typeface="Cambria"/>
                <a:cs typeface="Cambria"/>
              </a:rPr>
              <a:t>=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900928" y="2340864"/>
            <a:ext cx="538480" cy="279400"/>
          </a:xfrm>
          <a:custGeom>
            <a:avLst/>
            <a:gdLst/>
            <a:ahLst/>
            <a:cxnLst/>
            <a:rect l="l" t="t" r="r" b="b"/>
            <a:pathLst>
              <a:path w="538479" h="279400">
                <a:moveTo>
                  <a:pt x="537972" y="278892"/>
                </a:moveTo>
                <a:lnTo>
                  <a:pt x="537972" y="0"/>
                </a:lnTo>
                <a:lnTo>
                  <a:pt x="519684" y="0"/>
                </a:lnTo>
                <a:lnTo>
                  <a:pt x="519684" y="278892"/>
                </a:lnTo>
                <a:lnTo>
                  <a:pt x="537972" y="278892"/>
                </a:lnTo>
                <a:close/>
              </a:path>
              <a:path w="538479" h="279400">
                <a:moveTo>
                  <a:pt x="76200" y="9144"/>
                </a:moveTo>
                <a:lnTo>
                  <a:pt x="73152" y="0"/>
                </a:lnTo>
                <a:lnTo>
                  <a:pt x="56888" y="6548"/>
                </a:lnTo>
                <a:lnTo>
                  <a:pt x="42481" y="16954"/>
                </a:lnTo>
                <a:lnTo>
                  <a:pt x="19812" y="48768"/>
                </a:lnTo>
                <a:lnTo>
                  <a:pt x="4762" y="89725"/>
                </a:lnTo>
                <a:lnTo>
                  <a:pt x="0" y="138684"/>
                </a:lnTo>
                <a:lnTo>
                  <a:pt x="1166" y="164758"/>
                </a:lnTo>
                <a:lnTo>
                  <a:pt x="4762" y="188404"/>
                </a:lnTo>
                <a:lnTo>
                  <a:pt x="10929" y="210050"/>
                </a:lnTo>
                <a:lnTo>
                  <a:pt x="19812" y="230124"/>
                </a:lnTo>
                <a:lnTo>
                  <a:pt x="21336" y="232751"/>
                </a:lnTo>
                <a:lnTo>
                  <a:pt x="21336" y="140208"/>
                </a:lnTo>
                <a:lnTo>
                  <a:pt x="22193" y="115300"/>
                </a:lnTo>
                <a:lnTo>
                  <a:pt x="29051" y="72913"/>
                </a:lnTo>
                <a:lnTo>
                  <a:pt x="52197" y="26289"/>
                </a:lnTo>
                <a:lnTo>
                  <a:pt x="63341" y="16287"/>
                </a:lnTo>
                <a:lnTo>
                  <a:pt x="76200" y="9144"/>
                </a:lnTo>
                <a:close/>
              </a:path>
              <a:path w="538479" h="279400">
                <a:moveTo>
                  <a:pt x="76200" y="269748"/>
                </a:moveTo>
                <a:lnTo>
                  <a:pt x="42767" y="239744"/>
                </a:lnTo>
                <a:lnTo>
                  <a:pt x="24765" y="186118"/>
                </a:lnTo>
                <a:lnTo>
                  <a:pt x="21336" y="140208"/>
                </a:lnTo>
                <a:lnTo>
                  <a:pt x="21336" y="232751"/>
                </a:lnTo>
                <a:lnTo>
                  <a:pt x="30075" y="247816"/>
                </a:lnTo>
                <a:lnTo>
                  <a:pt x="42481" y="261937"/>
                </a:lnTo>
                <a:lnTo>
                  <a:pt x="56888" y="272343"/>
                </a:lnTo>
                <a:lnTo>
                  <a:pt x="73152" y="278892"/>
                </a:lnTo>
                <a:lnTo>
                  <a:pt x="76200" y="2697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946645" y="2349498"/>
            <a:ext cx="46799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700" spc="150" baseline="10802" dirty="0">
                <a:latin typeface="Cambria"/>
                <a:cs typeface="Cambria"/>
              </a:rPr>
              <a:t>W</a:t>
            </a:r>
            <a:r>
              <a:rPr sz="1300" spc="100" dirty="0">
                <a:latin typeface="Cambria"/>
                <a:cs typeface="Cambria"/>
              </a:rPr>
              <a:t>hƒ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51701" y="3004818"/>
            <a:ext cx="120713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800" spc="10" dirty="0">
                <a:latin typeface="Cambria"/>
                <a:cs typeface="Cambria"/>
              </a:rPr>
              <a:t>[</a:t>
            </a:r>
            <a:r>
              <a:rPr sz="1800" spc="5" dirty="0">
                <a:latin typeface="Cambria"/>
                <a:cs typeface="Cambria"/>
              </a:rPr>
              <a:t>ℎ</a:t>
            </a:r>
            <a:r>
              <a:rPr sz="1950" spc="270" baseline="-14957" dirty="0">
                <a:latin typeface="Cambria"/>
                <a:cs typeface="Cambria"/>
              </a:rPr>
              <a:t>t</a:t>
            </a:r>
            <a:r>
              <a:rPr sz="1950" spc="465" baseline="-14957" dirty="0">
                <a:latin typeface="Cambria"/>
                <a:cs typeface="Cambria"/>
              </a:rPr>
              <a:t>–</a:t>
            </a:r>
            <a:r>
              <a:rPr sz="1950" spc="172" baseline="-14957" dirty="0">
                <a:latin typeface="Cambria"/>
                <a:cs typeface="Cambria"/>
              </a:rPr>
              <a:t>1</a:t>
            </a:r>
            <a:r>
              <a:rPr sz="1800" dirty="0">
                <a:latin typeface="Cambria"/>
                <a:cs typeface="Cambria"/>
              </a:rPr>
              <a:t>,</a:t>
            </a:r>
            <a:r>
              <a:rPr sz="1800" spc="-10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x</a:t>
            </a:r>
            <a:r>
              <a:rPr sz="1950" spc="375" baseline="-14957" dirty="0">
                <a:latin typeface="Cambria"/>
                <a:cs typeface="Cambria"/>
              </a:rPr>
              <a:t>t</a:t>
            </a:r>
            <a:r>
              <a:rPr sz="1800" dirty="0">
                <a:latin typeface="Cambria"/>
                <a:cs typeface="Cambria"/>
              </a:rPr>
              <a:t>]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355" dirty="0">
                <a:latin typeface="Cambria"/>
                <a:cs typeface="Cambria"/>
              </a:rPr>
              <a:t>=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553200" y="2956560"/>
            <a:ext cx="676910" cy="454659"/>
          </a:xfrm>
          <a:custGeom>
            <a:avLst/>
            <a:gdLst/>
            <a:ahLst/>
            <a:cxnLst/>
            <a:rect l="l" t="t" r="r" b="b"/>
            <a:pathLst>
              <a:path w="676909" h="454660">
                <a:moveTo>
                  <a:pt x="676656" y="227076"/>
                </a:moveTo>
                <a:lnTo>
                  <a:pt x="675203" y="185380"/>
                </a:lnTo>
                <a:lnTo>
                  <a:pt x="670750" y="147256"/>
                </a:lnTo>
                <a:lnTo>
                  <a:pt x="652272" y="82296"/>
                </a:lnTo>
                <a:lnTo>
                  <a:pt x="626364" y="33147"/>
                </a:lnTo>
                <a:lnTo>
                  <a:pt x="595884" y="0"/>
                </a:lnTo>
                <a:lnTo>
                  <a:pt x="589788" y="7620"/>
                </a:lnTo>
                <a:lnTo>
                  <a:pt x="602956" y="22169"/>
                </a:lnTo>
                <a:lnTo>
                  <a:pt x="615124" y="40576"/>
                </a:lnTo>
                <a:lnTo>
                  <a:pt x="637032" y="88392"/>
                </a:lnTo>
                <a:lnTo>
                  <a:pt x="650748" y="151447"/>
                </a:lnTo>
                <a:lnTo>
                  <a:pt x="655320" y="227076"/>
                </a:lnTo>
                <a:lnTo>
                  <a:pt x="655320" y="361841"/>
                </a:lnTo>
                <a:lnTo>
                  <a:pt x="663154" y="340018"/>
                </a:lnTo>
                <a:lnTo>
                  <a:pt x="670750" y="306133"/>
                </a:lnTo>
                <a:lnTo>
                  <a:pt x="675203" y="268533"/>
                </a:lnTo>
                <a:lnTo>
                  <a:pt x="676656" y="227076"/>
                </a:lnTo>
                <a:close/>
              </a:path>
              <a:path w="676909" h="454660">
                <a:moveTo>
                  <a:pt x="655320" y="361841"/>
                </a:moveTo>
                <a:lnTo>
                  <a:pt x="655320" y="227076"/>
                </a:lnTo>
                <a:lnTo>
                  <a:pt x="654177" y="266509"/>
                </a:lnTo>
                <a:lnTo>
                  <a:pt x="650748" y="302514"/>
                </a:lnTo>
                <a:lnTo>
                  <a:pt x="637032" y="364236"/>
                </a:lnTo>
                <a:lnTo>
                  <a:pt x="615124" y="412813"/>
                </a:lnTo>
                <a:lnTo>
                  <a:pt x="589788" y="446532"/>
                </a:lnTo>
                <a:lnTo>
                  <a:pt x="595884" y="454152"/>
                </a:lnTo>
                <a:lnTo>
                  <a:pt x="611552" y="439554"/>
                </a:lnTo>
                <a:lnTo>
                  <a:pt x="626364" y="420814"/>
                </a:lnTo>
                <a:lnTo>
                  <a:pt x="640032" y="397787"/>
                </a:lnTo>
                <a:lnTo>
                  <a:pt x="652272" y="370332"/>
                </a:lnTo>
                <a:lnTo>
                  <a:pt x="655320" y="361841"/>
                </a:lnTo>
                <a:close/>
              </a:path>
              <a:path w="676909" h="454660">
                <a:moveTo>
                  <a:pt x="88392" y="7620"/>
                </a:moveTo>
                <a:lnTo>
                  <a:pt x="50863" y="33147"/>
                </a:lnTo>
                <a:lnTo>
                  <a:pt x="24384" y="82296"/>
                </a:lnTo>
                <a:lnTo>
                  <a:pt x="6477" y="147256"/>
                </a:lnTo>
                <a:lnTo>
                  <a:pt x="1666" y="185380"/>
                </a:lnTo>
                <a:lnTo>
                  <a:pt x="0" y="227076"/>
                </a:lnTo>
                <a:lnTo>
                  <a:pt x="1666" y="268533"/>
                </a:lnTo>
                <a:lnTo>
                  <a:pt x="6477" y="306133"/>
                </a:lnTo>
                <a:lnTo>
                  <a:pt x="14144" y="340018"/>
                </a:lnTo>
                <a:lnTo>
                  <a:pt x="22860" y="365820"/>
                </a:lnTo>
                <a:lnTo>
                  <a:pt x="22860" y="227076"/>
                </a:lnTo>
                <a:lnTo>
                  <a:pt x="24003" y="187618"/>
                </a:lnTo>
                <a:lnTo>
                  <a:pt x="33147" y="118419"/>
                </a:lnTo>
                <a:lnTo>
                  <a:pt x="50887" y="62698"/>
                </a:lnTo>
                <a:lnTo>
                  <a:pt x="74366" y="22169"/>
                </a:lnTo>
                <a:lnTo>
                  <a:pt x="88392" y="7620"/>
                </a:lnTo>
                <a:close/>
              </a:path>
              <a:path w="676909" h="454660">
                <a:moveTo>
                  <a:pt x="88392" y="446532"/>
                </a:moveTo>
                <a:lnTo>
                  <a:pt x="61912" y="412813"/>
                </a:lnTo>
                <a:lnTo>
                  <a:pt x="41148" y="364236"/>
                </a:lnTo>
                <a:lnTo>
                  <a:pt x="27432" y="302514"/>
                </a:lnTo>
                <a:lnTo>
                  <a:pt x="22860" y="227076"/>
                </a:lnTo>
                <a:lnTo>
                  <a:pt x="22860" y="365820"/>
                </a:lnTo>
                <a:lnTo>
                  <a:pt x="50887" y="420845"/>
                </a:lnTo>
                <a:lnTo>
                  <a:pt x="80772" y="454152"/>
                </a:lnTo>
                <a:lnTo>
                  <a:pt x="88392" y="4465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6478472" y="2302255"/>
            <a:ext cx="635635" cy="1129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800" spc="135" dirty="0">
                <a:latin typeface="Cambria"/>
                <a:cs typeface="Cambria"/>
              </a:rPr>
              <a:t>W</a:t>
            </a:r>
            <a:r>
              <a:rPr sz="1950" spc="202" baseline="-14957" dirty="0">
                <a:latin typeface="Cambria"/>
                <a:cs typeface="Cambria"/>
              </a:rPr>
              <a:t>xƒ</a:t>
            </a:r>
            <a:r>
              <a:rPr sz="1800" spc="135" dirty="0">
                <a:latin typeface="Cambria"/>
                <a:cs typeface="Cambria"/>
              </a:rPr>
              <a:t>)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550">
              <a:latin typeface="Cambria"/>
              <a:cs typeface="Cambria"/>
            </a:endParaRPr>
          </a:p>
          <a:p>
            <a:pPr marL="307340" marR="30480" indent="-139065">
              <a:lnSpc>
                <a:spcPts val="1750"/>
              </a:lnSpc>
            </a:pPr>
            <a:r>
              <a:rPr sz="2700" spc="7" baseline="10802" dirty="0">
                <a:latin typeface="Cambria"/>
                <a:cs typeface="Cambria"/>
              </a:rPr>
              <a:t>ℎ</a:t>
            </a:r>
            <a:r>
              <a:rPr sz="1300" spc="190" dirty="0">
                <a:latin typeface="Cambria"/>
                <a:cs typeface="Cambria"/>
              </a:rPr>
              <a:t>t</a:t>
            </a:r>
            <a:r>
              <a:rPr sz="1300" spc="310" dirty="0">
                <a:latin typeface="Cambria"/>
                <a:cs typeface="Cambria"/>
              </a:rPr>
              <a:t>–</a:t>
            </a:r>
            <a:r>
              <a:rPr sz="1300" spc="25" dirty="0">
                <a:latin typeface="Cambria"/>
                <a:cs typeface="Cambria"/>
              </a:rPr>
              <a:t>1  </a:t>
            </a:r>
            <a:r>
              <a:rPr sz="1800" spc="105" dirty="0">
                <a:latin typeface="Cambria"/>
                <a:cs typeface="Cambria"/>
              </a:rPr>
              <a:t>x</a:t>
            </a:r>
            <a:r>
              <a:rPr sz="1950" spc="157" baseline="-14957" dirty="0">
                <a:latin typeface="Cambria"/>
                <a:cs typeface="Cambria"/>
              </a:rPr>
              <a:t>t</a:t>
            </a:r>
            <a:endParaRPr sz="1950" baseline="-14957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254751" y="3870959"/>
            <a:ext cx="3732529" cy="329565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2275"/>
              </a:lnSpc>
            </a:pPr>
            <a:r>
              <a:rPr sz="1950" spc="185" dirty="0">
                <a:latin typeface="Cambria"/>
                <a:cs typeface="Cambria"/>
              </a:rPr>
              <a:t>f</a:t>
            </a:r>
            <a:r>
              <a:rPr sz="2100" spc="240" baseline="-15873" dirty="0">
                <a:latin typeface="Cambria"/>
                <a:cs typeface="Cambria"/>
              </a:rPr>
              <a:t>t</a:t>
            </a:r>
            <a:r>
              <a:rPr sz="2100" baseline="-15873" dirty="0">
                <a:latin typeface="Cambria"/>
                <a:cs typeface="Cambria"/>
              </a:rPr>
              <a:t> </a:t>
            </a:r>
            <a:r>
              <a:rPr sz="2100" spc="97" baseline="-15873" dirty="0">
                <a:latin typeface="Cambria"/>
                <a:cs typeface="Cambria"/>
              </a:rPr>
              <a:t> </a:t>
            </a:r>
            <a:r>
              <a:rPr sz="1950" spc="395" dirty="0">
                <a:latin typeface="Cambria"/>
                <a:cs typeface="Cambria"/>
              </a:rPr>
              <a:t>=</a:t>
            </a:r>
            <a:r>
              <a:rPr sz="1950" spc="114" dirty="0">
                <a:latin typeface="Cambria"/>
                <a:cs typeface="Cambria"/>
              </a:rPr>
              <a:t> </a:t>
            </a:r>
            <a:r>
              <a:rPr sz="1950" spc="80" dirty="0">
                <a:latin typeface="Cambria"/>
                <a:cs typeface="Cambria"/>
              </a:rPr>
              <a:t>σ(</a:t>
            </a:r>
            <a:r>
              <a:rPr sz="1950" spc="-180" dirty="0">
                <a:latin typeface="Cambria"/>
                <a:cs typeface="Cambria"/>
              </a:rPr>
              <a:t>W</a:t>
            </a:r>
            <a:r>
              <a:rPr sz="2100" spc="187" baseline="-15873" dirty="0">
                <a:latin typeface="Cambria"/>
                <a:cs typeface="Cambria"/>
              </a:rPr>
              <a:t>h</a:t>
            </a:r>
            <a:r>
              <a:rPr sz="2100" spc="660" baseline="-15873" dirty="0">
                <a:latin typeface="Cambria"/>
                <a:cs typeface="Cambria"/>
              </a:rPr>
              <a:t>ƒ</a:t>
            </a:r>
            <a:r>
              <a:rPr sz="2100" baseline="-15873" dirty="0">
                <a:latin typeface="Cambria"/>
                <a:cs typeface="Cambria"/>
              </a:rPr>
              <a:t> </a:t>
            </a:r>
            <a:r>
              <a:rPr sz="2100" spc="-104" baseline="-15873" dirty="0">
                <a:latin typeface="Cambria"/>
                <a:cs typeface="Cambria"/>
              </a:rPr>
              <a:t> </a:t>
            </a:r>
            <a:r>
              <a:rPr sz="1950" spc="5" dirty="0">
                <a:latin typeface="Cambria"/>
                <a:cs typeface="Cambria"/>
              </a:rPr>
              <a:t>.</a:t>
            </a:r>
            <a:r>
              <a:rPr sz="1950" spc="-120" dirty="0">
                <a:latin typeface="Cambria"/>
                <a:cs typeface="Cambria"/>
              </a:rPr>
              <a:t> </a:t>
            </a:r>
            <a:r>
              <a:rPr sz="1950" spc="20" dirty="0">
                <a:latin typeface="Cambria"/>
                <a:cs typeface="Cambria"/>
              </a:rPr>
              <a:t>ℎ</a:t>
            </a:r>
            <a:r>
              <a:rPr sz="2100" spc="307" baseline="-15873" dirty="0">
                <a:latin typeface="Cambria"/>
                <a:cs typeface="Cambria"/>
              </a:rPr>
              <a:t>t</a:t>
            </a:r>
            <a:r>
              <a:rPr sz="2100" spc="509" baseline="-15873" dirty="0">
                <a:latin typeface="Cambria"/>
                <a:cs typeface="Cambria"/>
              </a:rPr>
              <a:t>–</a:t>
            </a:r>
            <a:r>
              <a:rPr sz="2100" spc="82" baseline="-15873" dirty="0">
                <a:latin typeface="Cambria"/>
                <a:cs typeface="Cambria"/>
              </a:rPr>
              <a:t>1</a:t>
            </a:r>
            <a:r>
              <a:rPr sz="2100" baseline="-15873" dirty="0">
                <a:latin typeface="Cambria"/>
                <a:cs typeface="Cambria"/>
              </a:rPr>
              <a:t> </a:t>
            </a:r>
            <a:r>
              <a:rPr sz="2100" spc="-142" baseline="-15873" dirty="0">
                <a:latin typeface="Cambria"/>
                <a:cs typeface="Cambria"/>
              </a:rPr>
              <a:t> </a:t>
            </a:r>
            <a:r>
              <a:rPr sz="1950" spc="395" dirty="0">
                <a:latin typeface="Cambria"/>
                <a:cs typeface="Cambria"/>
              </a:rPr>
              <a:t>+</a:t>
            </a:r>
            <a:r>
              <a:rPr sz="1950" spc="10" dirty="0">
                <a:latin typeface="Cambria"/>
                <a:cs typeface="Cambria"/>
              </a:rPr>
              <a:t> </a:t>
            </a:r>
            <a:r>
              <a:rPr sz="1950" spc="-185" dirty="0">
                <a:latin typeface="Cambria"/>
                <a:cs typeface="Cambria"/>
              </a:rPr>
              <a:t>W</a:t>
            </a:r>
            <a:r>
              <a:rPr sz="2100" spc="254" baseline="-15873" dirty="0">
                <a:latin typeface="Cambria"/>
                <a:cs typeface="Cambria"/>
              </a:rPr>
              <a:t>x</a:t>
            </a:r>
            <a:r>
              <a:rPr sz="2100" spc="832" baseline="-15873" dirty="0">
                <a:latin typeface="Cambria"/>
                <a:cs typeface="Cambria"/>
              </a:rPr>
              <a:t>ƒ</a:t>
            </a:r>
            <a:r>
              <a:rPr sz="1950" spc="5" dirty="0">
                <a:latin typeface="Cambria"/>
                <a:cs typeface="Cambria"/>
              </a:rPr>
              <a:t>.</a:t>
            </a:r>
            <a:r>
              <a:rPr sz="1950" spc="-105" dirty="0">
                <a:latin typeface="Cambria"/>
                <a:cs typeface="Cambria"/>
              </a:rPr>
              <a:t> </a:t>
            </a:r>
            <a:r>
              <a:rPr sz="1950" spc="85" dirty="0">
                <a:latin typeface="Cambria"/>
                <a:cs typeface="Cambria"/>
              </a:rPr>
              <a:t>x</a:t>
            </a:r>
            <a:r>
              <a:rPr sz="2100" spc="240" baseline="-15873" dirty="0">
                <a:latin typeface="Cambria"/>
                <a:cs typeface="Cambria"/>
              </a:rPr>
              <a:t>t</a:t>
            </a:r>
            <a:r>
              <a:rPr sz="2100" baseline="-15873" dirty="0">
                <a:latin typeface="Cambria"/>
                <a:cs typeface="Cambria"/>
              </a:rPr>
              <a:t> </a:t>
            </a:r>
            <a:r>
              <a:rPr sz="2100" spc="-82" baseline="-15873" dirty="0">
                <a:latin typeface="Cambria"/>
                <a:cs typeface="Cambria"/>
              </a:rPr>
              <a:t> </a:t>
            </a:r>
            <a:r>
              <a:rPr sz="1950" spc="395" dirty="0">
                <a:latin typeface="Cambria"/>
                <a:cs typeface="Cambria"/>
              </a:rPr>
              <a:t>+</a:t>
            </a:r>
            <a:r>
              <a:rPr sz="1950" spc="10" dirty="0">
                <a:latin typeface="Cambria"/>
                <a:cs typeface="Cambria"/>
              </a:rPr>
              <a:t> </a:t>
            </a:r>
            <a:r>
              <a:rPr sz="1950" spc="-180" dirty="0">
                <a:latin typeface="Cambria"/>
                <a:cs typeface="Cambria"/>
              </a:rPr>
              <a:t>b</a:t>
            </a:r>
            <a:r>
              <a:rPr sz="2100" spc="832" baseline="-15873" dirty="0">
                <a:latin typeface="Cambria"/>
                <a:cs typeface="Cambria"/>
              </a:rPr>
              <a:t>ƒ</a:t>
            </a:r>
            <a:r>
              <a:rPr sz="1950" spc="75" dirty="0">
                <a:latin typeface="Cambria"/>
                <a:cs typeface="Cambria"/>
              </a:rPr>
              <a:t>)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589780" y="5123700"/>
            <a:ext cx="1634489" cy="213360"/>
          </a:xfrm>
          <a:custGeom>
            <a:avLst/>
            <a:gdLst/>
            <a:ahLst/>
            <a:cxnLst/>
            <a:rect l="l" t="t" r="r" b="b"/>
            <a:pathLst>
              <a:path w="1634489" h="213360">
                <a:moveTo>
                  <a:pt x="50800" y="0"/>
                </a:moveTo>
                <a:lnTo>
                  <a:pt x="19050" y="0"/>
                </a:lnTo>
                <a:lnTo>
                  <a:pt x="0" y="0"/>
                </a:lnTo>
                <a:lnTo>
                  <a:pt x="0" y="213360"/>
                </a:lnTo>
                <a:lnTo>
                  <a:pt x="18796" y="213360"/>
                </a:lnTo>
                <a:lnTo>
                  <a:pt x="19050" y="213360"/>
                </a:lnTo>
                <a:lnTo>
                  <a:pt x="50800" y="213360"/>
                </a:lnTo>
                <a:lnTo>
                  <a:pt x="50800" y="205740"/>
                </a:lnTo>
                <a:lnTo>
                  <a:pt x="19050" y="205740"/>
                </a:lnTo>
                <a:lnTo>
                  <a:pt x="19050" y="9144"/>
                </a:lnTo>
                <a:lnTo>
                  <a:pt x="50800" y="9144"/>
                </a:lnTo>
                <a:lnTo>
                  <a:pt x="50800" y="0"/>
                </a:lnTo>
                <a:close/>
              </a:path>
              <a:path w="1634489" h="213360">
                <a:moveTo>
                  <a:pt x="664972" y="205740"/>
                </a:moveTo>
                <a:lnTo>
                  <a:pt x="632968" y="205740"/>
                </a:lnTo>
                <a:lnTo>
                  <a:pt x="632968" y="213360"/>
                </a:lnTo>
                <a:lnTo>
                  <a:pt x="664972" y="213360"/>
                </a:lnTo>
                <a:lnTo>
                  <a:pt x="664972" y="205740"/>
                </a:lnTo>
                <a:close/>
              </a:path>
              <a:path w="1634489" h="213360">
                <a:moveTo>
                  <a:pt x="683260" y="0"/>
                </a:moveTo>
                <a:lnTo>
                  <a:pt x="665480" y="0"/>
                </a:lnTo>
                <a:lnTo>
                  <a:pt x="632460" y="0"/>
                </a:lnTo>
                <a:lnTo>
                  <a:pt x="632460" y="9144"/>
                </a:lnTo>
                <a:lnTo>
                  <a:pt x="665480" y="9144"/>
                </a:lnTo>
                <a:lnTo>
                  <a:pt x="665480" y="213360"/>
                </a:lnTo>
                <a:lnTo>
                  <a:pt x="683260" y="213360"/>
                </a:lnTo>
                <a:lnTo>
                  <a:pt x="683260" y="0"/>
                </a:lnTo>
                <a:close/>
              </a:path>
              <a:path w="1634489" h="213360">
                <a:moveTo>
                  <a:pt x="1051560" y="0"/>
                </a:moveTo>
                <a:lnTo>
                  <a:pt x="1019810" y="0"/>
                </a:lnTo>
                <a:lnTo>
                  <a:pt x="1002030" y="0"/>
                </a:lnTo>
                <a:lnTo>
                  <a:pt x="1002030" y="213360"/>
                </a:lnTo>
                <a:lnTo>
                  <a:pt x="1019810" y="213360"/>
                </a:lnTo>
                <a:lnTo>
                  <a:pt x="1019810" y="9144"/>
                </a:lnTo>
                <a:lnTo>
                  <a:pt x="1051560" y="9144"/>
                </a:lnTo>
                <a:lnTo>
                  <a:pt x="1051560" y="0"/>
                </a:lnTo>
                <a:close/>
              </a:path>
              <a:path w="1634489" h="213360">
                <a:moveTo>
                  <a:pt x="1052068" y="205740"/>
                </a:moveTo>
                <a:lnTo>
                  <a:pt x="1020064" y="205740"/>
                </a:lnTo>
                <a:lnTo>
                  <a:pt x="1020064" y="213360"/>
                </a:lnTo>
                <a:lnTo>
                  <a:pt x="1052068" y="213360"/>
                </a:lnTo>
                <a:lnTo>
                  <a:pt x="1052068" y="205740"/>
                </a:lnTo>
                <a:close/>
              </a:path>
              <a:path w="1634489" h="213360">
                <a:moveTo>
                  <a:pt x="1634490" y="0"/>
                </a:moveTo>
                <a:lnTo>
                  <a:pt x="1615440" y="0"/>
                </a:lnTo>
                <a:lnTo>
                  <a:pt x="1583690" y="0"/>
                </a:lnTo>
                <a:lnTo>
                  <a:pt x="1583690" y="9144"/>
                </a:lnTo>
                <a:lnTo>
                  <a:pt x="1615440" y="9144"/>
                </a:lnTo>
                <a:lnTo>
                  <a:pt x="1615440" y="205740"/>
                </a:lnTo>
                <a:lnTo>
                  <a:pt x="1583944" y="205740"/>
                </a:lnTo>
                <a:lnTo>
                  <a:pt x="1583944" y="213360"/>
                </a:lnTo>
                <a:lnTo>
                  <a:pt x="1615440" y="213360"/>
                </a:lnTo>
                <a:lnTo>
                  <a:pt x="1615948" y="213360"/>
                </a:lnTo>
                <a:lnTo>
                  <a:pt x="1634490" y="213360"/>
                </a:lnTo>
                <a:lnTo>
                  <a:pt x="16344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548120" y="5123700"/>
            <a:ext cx="1888489" cy="213360"/>
          </a:xfrm>
          <a:custGeom>
            <a:avLst/>
            <a:gdLst/>
            <a:ahLst/>
            <a:cxnLst/>
            <a:rect l="l" t="t" r="r" b="b"/>
            <a:pathLst>
              <a:path w="1888490" h="213360">
                <a:moveTo>
                  <a:pt x="50800" y="0"/>
                </a:moveTo>
                <a:lnTo>
                  <a:pt x="19050" y="0"/>
                </a:lnTo>
                <a:lnTo>
                  <a:pt x="0" y="0"/>
                </a:lnTo>
                <a:lnTo>
                  <a:pt x="0" y="213360"/>
                </a:lnTo>
                <a:lnTo>
                  <a:pt x="18796" y="213360"/>
                </a:lnTo>
                <a:lnTo>
                  <a:pt x="19050" y="213360"/>
                </a:lnTo>
                <a:lnTo>
                  <a:pt x="50800" y="213360"/>
                </a:lnTo>
                <a:lnTo>
                  <a:pt x="50800" y="205740"/>
                </a:lnTo>
                <a:lnTo>
                  <a:pt x="19050" y="205740"/>
                </a:lnTo>
                <a:lnTo>
                  <a:pt x="19050" y="9144"/>
                </a:lnTo>
                <a:lnTo>
                  <a:pt x="50800" y="9144"/>
                </a:lnTo>
                <a:lnTo>
                  <a:pt x="50800" y="0"/>
                </a:lnTo>
                <a:close/>
              </a:path>
              <a:path w="1888490" h="213360">
                <a:moveTo>
                  <a:pt x="811530" y="0"/>
                </a:moveTo>
                <a:lnTo>
                  <a:pt x="792480" y="0"/>
                </a:lnTo>
                <a:lnTo>
                  <a:pt x="760730" y="0"/>
                </a:lnTo>
                <a:lnTo>
                  <a:pt x="760730" y="9144"/>
                </a:lnTo>
                <a:lnTo>
                  <a:pt x="792480" y="9144"/>
                </a:lnTo>
                <a:lnTo>
                  <a:pt x="792480" y="205740"/>
                </a:lnTo>
                <a:lnTo>
                  <a:pt x="760984" y="205740"/>
                </a:lnTo>
                <a:lnTo>
                  <a:pt x="760984" y="213360"/>
                </a:lnTo>
                <a:lnTo>
                  <a:pt x="792480" y="213360"/>
                </a:lnTo>
                <a:lnTo>
                  <a:pt x="792988" y="213360"/>
                </a:lnTo>
                <a:lnTo>
                  <a:pt x="811530" y="213360"/>
                </a:lnTo>
                <a:lnTo>
                  <a:pt x="811530" y="0"/>
                </a:lnTo>
                <a:close/>
              </a:path>
              <a:path w="1888490" h="213360">
                <a:moveTo>
                  <a:pt x="1178560" y="0"/>
                </a:moveTo>
                <a:lnTo>
                  <a:pt x="1146810" y="0"/>
                </a:lnTo>
                <a:lnTo>
                  <a:pt x="1127760" y="0"/>
                </a:lnTo>
                <a:lnTo>
                  <a:pt x="1127760" y="213360"/>
                </a:lnTo>
                <a:lnTo>
                  <a:pt x="1146556" y="213360"/>
                </a:lnTo>
                <a:lnTo>
                  <a:pt x="1146810" y="213360"/>
                </a:lnTo>
                <a:lnTo>
                  <a:pt x="1178560" y="213360"/>
                </a:lnTo>
                <a:lnTo>
                  <a:pt x="1178560" y="205740"/>
                </a:lnTo>
                <a:lnTo>
                  <a:pt x="1146810" y="205740"/>
                </a:lnTo>
                <a:lnTo>
                  <a:pt x="1146810" y="9144"/>
                </a:lnTo>
                <a:lnTo>
                  <a:pt x="1178560" y="9144"/>
                </a:lnTo>
                <a:lnTo>
                  <a:pt x="1178560" y="0"/>
                </a:lnTo>
                <a:close/>
              </a:path>
              <a:path w="1888490" h="213360">
                <a:moveTo>
                  <a:pt x="1870456" y="205740"/>
                </a:moveTo>
                <a:lnTo>
                  <a:pt x="1838452" y="205740"/>
                </a:lnTo>
                <a:lnTo>
                  <a:pt x="1838452" y="213360"/>
                </a:lnTo>
                <a:lnTo>
                  <a:pt x="1870456" y="213360"/>
                </a:lnTo>
                <a:lnTo>
                  <a:pt x="1870456" y="205740"/>
                </a:lnTo>
                <a:close/>
              </a:path>
              <a:path w="1888490" h="213360">
                <a:moveTo>
                  <a:pt x="1888490" y="0"/>
                </a:moveTo>
                <a:lnTo>
                  <a:pt x="1870710" y="0"/>
                </a:lnTo>
                <a:lnTo>
                  <a:pt x="1838960" y="0"/>
                </a:lnTo>
                <a:lnTo>
                  <a:pt x="1838960" y="9144"/>
                </a:lnTo>
                <a:lnTo>
                  <a:pt x="1870710" y="9144"/>
                </a:lnTo>
                <a:lnTo>
                  <a:pt x="1870710" y="213360"/>
                </a:lnTo>
                <a:lnTo>
                  <a:pt x="1888490" y="213360"/>
                </a:lnTo>
                <a:lnTo>
                  <a:pt x="18884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761730" y="5123700"/>
            <a:ext cx="631190" cy="213360"/>
          </a:xfrm>
          <a:custGeom>
            <a:avLst/>
            <a:gdLst/>
            <a:ahLst/>
            <a:cxnLst/>
            <a:rect l="l" t="t" r="r" b="b"/>
            <a:pathLst>
              <a:path w="631190" h="213360">
                <a:moveTo>
                  <a:pt x="49530" y="0"/>
                </a:moveTo>
                <a:lnTo>
                  <a:pt x="17780" y="0"/>
                </a:lnTo>
                <a:lnTo>
                  <a:pt x="0" y="0"/>
                </a:lnTo>
                <a:lnTo>
                  <a:pt x="0" y="213360"/>
                </a:lnTo>
                <a:lnTo>
                  <a:pt x="17780" y="213360"/>
                </a:lnTo>
                <a:lnTo>
                  <a:pt x="17780" y="9144"/>
                </a:lnTo>
                <a:lnTo>
                  <a:pt x="49530" y="9144"/>
                </a:lnTo>
                <a:lnTo>
                  <a:pt x="49530" y="0"/>
                </a:lnTo>
                <a:close/>
              </a:path>
              <a:path w="631190" h="213360">
                <a:moveTo>
                  <a:pt x="50038" y="205740"/>
                </a:moveTo>
                <a:lnTo>
                  <a:pt x="18034" y="205740"/>
                </a:lnTo>
                <a:lnTo>
                  <a:pt x="18034" y="213360"/>
                </a:lnTo>
                <a:lnTo>
                  <a:pt x="50038" y="213360"/>
                </a:lnTo>
                <a:lnTo>
                  <a:pt x="50038" y="205740"/>
                </a:lnTo>
                <a:close/>
              </a:path>
              <a:path w="631190" h="213360">
                <a:moveTo>
                  <a:pt x="631190" y="0"/>
                </a:moveTo>
                <a:lnTo>
                  <a:pt x="612140" y="0"/>
                </a:lnTo>
                <a:lnTo>
                  <a:pt x="580390" y="0"/>
                </a:lnTo>
                <a:lnTo>
                  <a:pt x="580390" y="9144"/>
                </a:lnTo>
                <a:lnTo>
                  <a:pt x="612140" y="9144"/>
                </a:lnTo>
                <a:lnTo>
                  <a:pt x="612140" y="205740"/>
                </a:lnTo>
                <a:lnTo>
                  <a:pt x="580390" y="205740"/>
                </a:lnTo>
                <a:lnTo>
                  <a:pt x="580390" y="213360"/>
                </a:lnTo>
                <a:lnTo>
                  <a:pt x="612140" y="213360"/>
                </a:lnTo>
                <a:lnTo>
                  <a:pt x="612394" y="213360"/>
                </a:lnTo>
                <a:lnTo>
                  <a:pt x="631190" y="213360"/>
                </a:lnTo>
                <a:lnTo>
                  <a:pt x="6311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247640" y="5550420"/>
            <a:ext cx="632460" cy="215265"/>
          </a:xfrm>
          <a:custGeom>
            <a:avLst/>
            <a:gdLst/>
            <a:ahLst/>
            <a:cxnLst/>
            <a:rect l="l" t="t" r="r" b="b"/>
            <a:pathLst>
              <a:path w="632460" h="215264">
                <a:moveTo>
                  <a:pt x="49784" y="205740"/>
                </a:moveTo>
                <a:lnTo>
                  <a:pt x="17780" y="205740"/>
                </a:lnTo>
                <a:lnTo>
                  <a:pt x="17780" y="9144"/>
                </a:lnTo>
                <a:lnTo>
                  <a:pt x="49530" y="9144"/>
                </a:lnTo>
                <a:lnTo>
                  <a:pt x="49530" y="0"/>
                </a:lnTo>
                <a:lnTo>
                  <a:pt x="17780" y="0"/>
                </a:lnTo>
                <a:lnTo>
                  <a:pt x="0" y="0"/>
                </a:lnTo>
                <a:lnTo>
                  <a:pt x="0" y="214884"/>
                </a:lnTo>
                <a:lnTo>
                  <a:pt x="17780" y="214884"/>
                </a:lnTo>
                <a:lnTo>
                  <a:pt x="49784" y="214884"/>
                </a:lnTo>
                <a:lnTo>
                  <a:pt x="49784" y="205740"/>
                </a:lnTo>
                <a:close/>
              </a:path>
              <a:path w="632460" h="215264">
                <a:moveTo>
                  <a:pt x="632460" y="0"/>
                </a:moveTo>
                <a:lnTo>
                  <a:pt x="613410" y="0"/>
                </a:lnTo>
                <a:lnTo>
                  <a:pt x="581660" y="0"/>
                </a:lnTo>
                <a:lnTo>
                  <a:pt x="581660" y="9144"/>
                </a:lnTo>
                <a:lnTo>
                  <a:pt x="613410" y="9144"/>
                </a:lnTo>
                <a:lnTo>
                  <a:pt x="613410" y="205740"/>
                </a:lnTo>
                <a:lnTo>
                  <a:pt x="581660" y="205740"/>
                </a:lnTo>
                <a:lnTo>
                  <a:pt x="581660" y="214884"/>
                </a:lnTo>
                <a:lnTo>
                  <a:pt x="613410" y="214884"/>
                </a:lnTo>
                <a:lnTo>
                  <a:pt x="613664" y="214884"/>
                </a:lnTo>
                <a:lnTo>
                  <a:pt x="632460" y="214884"/>
                </a:lnTo>
                <a:lnTo>
                  <a:pt x="6324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203950" y="5550420"/>
            <a:ext cx="632460" cy="215265"/>
          </a:xfrm>
          <a:custGeom>
            <a:avLst/>
            <a:gdLst/>
            <a:ahLst/>
            <a:cxnLst/>
            <a:rect l="l" t="t" r="r" b="b"/>
            <a:pathLst>
              <a:path w="632459" h="215264">
                <a:moveTo>
                  <a:pt x="50800" y="0"/>
                </a:moveTo>
                <a:lnTo>
                  <a:pt x="19050" y="0"/>
                </a:lnTo>
                <a:lnTo>
                  <a:pt x="0" y="0"/>
                </a:lnTo>
                <a:lnTo>
                  <a:pt x="0" y="214884"/>
                </a:lnTo>
                <a:lnTo>
                  <a:pt x="18542" y="214884"/>
                </a:lnTo>
                <a:lnTo>
                  <a:pt x="19050" y="214884"/>
                </a:lnTo>
                <a:lnTo>
                  <a:pt x="50546" y="214884"/>
                </a:lnTo>
                <a:lnTo>
                  <a:pt x="50546" y="205740"/>
                </a:lnTo>
                <a:lnTo>
                  <a:pt x="19050" y="205740"/>
                </a:lnTo>
                <a:lnTo>
                  <a:pt x="19050" y="9144"/>
                </a:lnTo>
                <a:lnTo>
                  <a:pt x="50800" y="9144"/>
                </a:lnTo>
                <a:lnTo>
                  <a:pt x="50800" y="0"/>
                </a:lnTo>
                <a:close/>
              </a:path>
              <a:path w="632459" h="215264">
                <a:moveTo>
                  <a:pt x="614426" y="205740"/>
                </a:moveTo>
                <a:lnTo>
                  <a:pt x="582422" y="205740"/>
                </a:lnTo>
                <a:lnTo>
                  <a:pt x="582422" y="214884"/>
                </a:lnTo>
                <a:lnTo>
                  <a:pt x="614426" y="214884"/>
                </a:lnTo>
                <a:lnTo>
                  <a:pt x="614426" y="205740"/>
                </a:lnTo>
                <a:close/>
              </a:path>
              <a:path w="632459" h="215264">
                <a:moveTo>
                  <a:pt x="632460" y="0"/>
                </a:moveTo>
                <a:lnTo>
                  <a:pt x="614680" y="0"/>
                </a:lnTo>
                <a:lnTo>
                  <a:pt x="582930" y="0"/>
                </a:lnTo>
                <a:lnTo>
                  <a:pt x="582930" y="9144"/>
                </a:lnTo>
                <a:lnTo>
                  <a:pt x="614680" y="9144"/>
                </a:lnTo>
                <a:lnTo>
                  <a:pt x="614680" y="214884"/>
                </a:lnTo>
                <a:lnTo>
                  <a:pt x="632460" y="214884"/>
                </a:lnTo>
                <a:lnTo>
                  <a:pt x="6324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161530" y="5550420"/>
            <a:ext cx="632460" cy="215265"/>
          </a:xfrm>
          <a:custGeom>
            <a:avLst/>
            <a:gdLst/>
            <a:ahLst/>
            <a:cxnLst/>
            <a:rect l="l" t="t" r="r" b="b"/>
            <a:pathLst>
              <a:path w="632459" h="215264">
                <a:moveTo>
                  <a:pt x="49530" y="0"/>
                </a:moveTo>
                <a:lnTo>
                  <a:pt x="17780" y="0"/>
                </a:lnTo>
                <a:lnTo>
                  <a:pt x="0" y="0"/>
                </a:lnTo>
                <a:lnTo>
                  <a:pt x="0" y="214884"/>
                </a:lnTo>
                <a:lnTo>
                  <a:pt x="17780" y="214884"/>
                </a:lnTo>
                <a:lnTo>
                  <a:pt x="17780" y="9144"/>
                </a:lnTo>
                <a:lnTo>
                  <a:pt x="49530" y="9144"/>
                </a:lnTo>
                <a:lnTo>
                  <a:pt x="49530" y="0"/>
                </a:lnTo>
                <a:close/>
              </a:path>
              <a:path w="632459" h="215264">
                <a:moveTo>
                  <a:pt x="50038" y="205740"/>
                </a:moveTo>
                <a:lnTo>
                  <a:pt x="18034" y="205740"/>
                </a:lnTo>
                <a:lnTo>
                  <a:pt x="18034" y="214884"/>
                </a:lnTo>
                <a:lnTo>
                  <a:pt x="50038" y="214884"/>
                </a:lnTo>
                <a:lnTo>
                  <a:pt x="50038" y="205740"/>
                </a:lnTo>
                <a:close/>
              </a:path>
              <a:path w="632459" h="215264">
                <a:moveTo>
                  <a:pt x="632460" y="0"/>
                </a:moveTo>
                <a:lnTo>
                  <a:pt x="613410" y="0"/>
                </a:lnTo>
                <a:lnTo>
                  <a:pt x="581660" y="0"/>
                </a:lnTo>
                <a:lnTo>
                  <a:pt x="581660" y="9144"/>
                </a:lnTo>
                <a:lnTo>
                  <a:pt x="613410" y="9144"/>
                </a:lnTo>
                <a:lnTo>
                  <a:pt x="613410" y="205740"/>
                </a:lnTo>
                <a:lnTo>
                  <a:pt x="581914" y="205740"/>
                </a:lnTo>
                <a:lnTo>
                  <a:pt x="581914" y="214884"/>
                </a:lnTo>
                <a:lnTo>
                  <a:pt x="613410" y="214884"/>
                </a:lnTo>
                <a:lnTo>
                  <a:pt x="613918" y="214884"/>
                </a:lnTo>
                <a:lnTo>
                  <a:pt x="632460" y="214884"/>
                </a:lnTo>
                <a:lnTo>
                  <a:pt x="6324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724900" y="5550420"/>
            <a:ext cx="50800" cy="215265"/>
          </a:xfrm>
          <a:custGeom>
            <a:avLst/>
            <a:gdLst/>
            <a:ahLst/>
            <a:cxnLst/>
            <a:rect l="l" t="t" r="r" b="b"/>
            <a:pathLst>
              <a:path w="50800" h="215264">
                <a:moveTo>
                  <a:pt x="50800" y="0"/>
                </a:moveTo>
                <a:lnTo>
                  <a:pt x="31750" y="0"/>
                </a:lnTo>
                <a:lnTo>
                  <a:pt x="0" y="0"/>
                </a:lnTo>
                <a:lnTo>
                  <a:pt x="0" y="9144"/>
                </a:lnTo>
                <a:lnTo>
                  <a:pt x="31750" y="9144"/>
                </a:lnTo>
                <a:lnTo>
                  <a:pt x="31750" y="205740"/>
                </a:lnTo>
                <a:lnTo>
                  <a:pt x="0" y="205740"/>
                </a:lnTo>
                <a:lnTo>
                  <a:pt x="0" y="214884"/>
                </a:lnTo>
                <a:lnTo>
                  <a:pt x="31750" y="214884"/>
                </a:lnTo>
                <a:lnTo>
                  <a:pt x="32004" y="214884"/>
                </a:lnTo>
                <a:lnTo>
                  <a:pt x="50800" y="214884"/>
                </a:lnTo>
                <a:lnTo>
                  <a:pt x="50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143240" y="5550420"/>
            <a:ext cx="50165" cy="215265"/>
          </a:xfrm>
          <a:custGeom>
            <a:avLst/>
            <a:gdLst/>
            <a:ahLst/>
            <a:cxnLst/>
            <a:rect l="l" t="t" r="r" b="b"/>
            <a:pathLst>
              <a:path w="50165" h="215264">
                <a:moveTo>
                  <a:pt x="49784" y="205740"/>
                </a:moveTo>
                <a:lnTo>
                  <a:pt x="17780" y="205740"/>
                </a:lnTo>
                <a:lnTo>
                  <a:pt x="17780" y="9144"/>
                </a:lnTo>
                <a:lnTo>
                  <a:pt x="49530" y="9144"/>
                </a:lnTo>
                <a:lnTo>
                  <a:pt x="49530" y="0"/>
                </a:lnTo>
                <a:lnTo>
                  <a:pt x="17780" y="0"/>
                </a:lnTo>
                <a:lnTo>
                  <a:pt x="0" y="0"/>
                </a:lnTo>
                <a:lnTo>
                  <a:pt x="0" y="214884"/>
                </a:lnTo>
                <a:lnTo>
                  <a:pt x="17780" y="214884"/>
                </a:lnTo>
                <a:lnTo>
                  <a:pt x="49784" y="214884"/>
                </a:lnTo>
                <a:lnTo>
                  <a:pt x="49784" y="2057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607050" y="4477002"/>
            <a:ext cx="4768215" cy="1304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79705" algn="ctr">
              <a:lnSpc>
                <a:spcPct val="100000"/>
              </a:lnSpc>
              <a:spcBef>
                <a:spcPts val="110"/>
              </a:spcBef>
              <a:tabLst>
                <a:tab pos="2364740" algn="l"/>
              </a:tabLst>
            </a:pPr>
            <a:r>
              <a:rPr sz="1800" spc="105" dirty="0">
                <a:latin typeface="Cambria"/>
                <a:cs typeface="Cambria"/>
              </a:rPr>
              <a:t>W</a:t>
            </a:r>
            <a:r>
              <a:rPr sz="1950" spc="157" baseline="-14957" dirty="0">
                <a:latin typeface="Cambria"/>
                <a:cs typeface="Cambria"/>
              </a:rPr>
              <a:t>hƒ</a:t>
            </a:r>
            <a:r>
              <a:rPr sz="1950" spc="502" baseline="-14957" dirty="0">
                <a:latin typeface="Cambria"/>
                <a:cs typeface="Cambria"/>
              </a:rPr>
              <a:t> </a:t>
            </a:r>
            <a:r>
              <a:rPr sz="1800" spc="355" dirty="0">
                <a:latin typeface="Cambria"/>
                <a:cs typeface="Cambria"/>
              </a:rPr>
              <a:t>=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5" dirty="0">
                <a:latin typeface="Cambria"/>
                <a:cs typeface="Cambria"/>
              </a:rPr>
              <a:t>5</a:t>
            </a:r>
            <a:r>
              <a:rPr sz="1800" spc="400" dirty="0">
                <a:latin typeface="Cambria"/>
                <a:cs typeface="Cambria"/>
              </a:rPr>
              <a:t> </a:t>
            </a:r>
            <a:r>
              <a:rPr sz="1800" spc="295" dirty="0">
                <a:latin typeface="Cambria"/>
                <a:cs typeface="Cambria"/>
              </a:rPr>
              <a:t>×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spc="5" dirty="0">
                <a:latin typeface="Cambria"/>
                <a:cs typeface="Cambria"/>
              </a:rPr>
              <a:t>5	</a:t>
            </a:r>
            <a:r>
              <a:rPr sz="2700" spc="179" baseline="1543" dirty="0">
                <a:latin typeface="Cambria"/>
                <a:cs typeface="Cambria"/>
              </a:rPr>
              <a:t>W</a:t>
            </a:r>
            <a:r>
              <a:rPr sz="1950" spc="179" baseline="-12820" dirty="0">
                <a:latin typeface="Cambria"/>
                <a:cs typeface="Cambria"/>
              </a:rPr>
              <a:t>xƒ</a:t>
            </a:r>
            <a:r>
              <a:rPr sz="1950" spc="480" baseline="-12820" dirty="0">
                <a:latin typeface="Cambria"/>
                <a:cs typeface="Cambria"/>
              </a:rPr>
              <a:t> </a:t>
            </a:r>
            <a:r>
              <a:rPr sz="2700" spc="532" baseline="1543" dirty="0">
                <a:latin typeface="Cambria"/>
                <a:cs typeface="Cambria"/>
              </a:rPr>
              <a:t>=</a:t>
            </a:r>
            <a:r>
              <a:rPr sz="2700" spc="127" baseline="1543" dirty="0">
                <a:latin typeface="Cambria"/>
                <a:cs typeface="Cambria"/>
              </a:rPr>
              <a:t> </a:t>
            </a:r>
            <a:r>
              <a:rPr sz="2700" spc="7" baseline="1543" dirty="0">
                <a:latin typeface="Cambria"/>
                <a:cs typeface="Cambria"/>
              </a:rPr>
              <a:t>5</a:t>
            </a:r>
            <a:r>
              <a:rPr sz="2700" spc="585" baseline="1543" dirty="0">
                <a:latin typeface="Cambria"/>
                <a:cs typeface="Cambria"/>
              </a:rPr>
              <a:t> </a:t>
            </a:r>
            <a:r>
              <a:rPr sz="2700" spc="442" baseline="1543" dirty="0">
                <a:latin typeface="Cambria"/>
                <a:cs typeface="Cambria"/>
              </a:rPr>
              <a:t>×</a:t>
            </a:r>
            <a:r>
              <a:rPr sz="2700" baseline="1543" dirty="0">
                <a:latin typeface="Cambria"/>
                <a:cs typeface="Cambria"/>
              </a:rPr>
              <a:t> </a:t>
            </a:r>
            <a:r>
              <a:rPr sz="2700" spc="7" baseline="1543" dirty="0">
                <a:latin typeface="Cambria"/>
                <a:cs typeface="Cambria"/>
              </a:rPr>
              <a:t>10</a:t>
            </a:r>
            <a:endParaRPr sz="2700" baseline="1543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tabLst>
                <a:tab pos="703580" algn="l"/>
                <a:tab pos="1000760" algn="l"/>
                <a:tab pos="1654810" algn="l"/>
                <a:tab pos="1957705" algn="l"/>
                <a:tab pos="2788920" algn="l"/>
                <a:tab pos="3085465" algn="l"/>
                <a:tab pos="3865879" algn="l"/>
                <a:tab pos="4170679" algn="l"/>
              </a:tabLst>
            </a:pPr>
            <a:r>
              <a:rPr sz="1800" spc="5" dirty="0">
                <a:latin typeface="Cambria"/>
                <a:cs typeface="Cambria"/>
              </a:rPr>
              <a:t>5</a:t>
            </a:r>
            <a:r>
              <a:rPr sz="1800" spc="395" dirty="0">
                <a:latin typeface="Cambria"/>
                <a:cs typeface="Cambria"/>
              </a:rPr>
              <a:t> </a:t>
            </a:r>
            <a:r>
              <a:rPr sz="1800" spc="295" dirty="0">
                <a:latin typeface="Cambria"/>
                <a:cs typeface="Cambria"/>
              </a:rPr>
              <a:t>×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spc="5" dirty="0">
                <a:latin typeface="Cambria"/>
                <a:cs typeface="Cambria"/>
              </a:rPr>
              <a:t>5	</a:t>
            </a:r>
            <a:r>
              <a:rPr sz="1800" spc="295" dirty="0">
                <a:latin typeface="Cambria"/>
                <a:cs typeface="Cambria"/>
              </a:rPr>
              <a:t>×	</a:t>
            </a:r>
            <a:r>
              <a:rPr sz="1800" spc="5" dirty="0">
                <a:latin typeface="Cambria"/>
                <a:cs typeface="Cambria"/>
              </a:rPr>
              <a:t>5 </a:t>
            </a:r>
            <a:r>
              <a:rPr sz="1800" spc="295" dirty="0">
                <a:latin typeface="Cambria"/>
                <a:cs typeface="Cambria"/>
              </a:rPr>
              <a:t>×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spc="5" dirty="0">
                <a:latin typeface="Cambria"/>
                <a:cs typeface="Cambria"/>
              </a:rPr>
              <a:t>1	</a:t>
            </a:r>
            <a:r>
              <a:rPr sz="1800" spc="355" dirty="0">
                <a:latin typeface="Cambria"/>
                <a:cs typeface="Cambria"/>
              </a:rPr>
              <a:t>+	</a:t>
            </a:r>
            <a:r>
              <a:rPr sz="1800" spc="5" dirty="0">
                <a:latin typeface="Cambria"/>
                <a:cs typeface="Cambria"/>
              </a:rPr>
              <a:t>5</a:t>
            </a:r>
            <a:r>
              <a:rPr sz="1800" spc="400" dirty="0">
                <a:latin typeface="Cambria"/>
                <a:cs typeface="Cambria"/>
              </a:rPr>
              <a:t> </a:t>
            </a:r>
            <a:r>
              <a:rPr sz="1800" spc="295" dirty="0">
                <a:latin typeface="Cambria"/>
                <a:cs typeface="Cambria"/>
              </a:rPr>
              <a:t>×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spc="5" dirty="0">
                <a:latin typeface="Cambria"/>
                <a:cs typeface="Cambria"/>
              </a:rPr>
              <a:t>10	</a:t>
            </a:r>
            <a:r>
              <a:rPr sz="1800" spc="295" dirty="0">
                <a:latin typeface="Cambria"/>
                <a:cs typeface="Cambria"/>
              </a:rPr>
              <a:t>×	</a:t>
            </a:r>
            <a:r>
              <a:rPr sz="1800" spc="5" dirty="0">
                <a:latin typeface="Cambria"/>
                <a:cs typeface="Cambria"/>
              </a:rPr>
              <a:t>10</a:t>
            </a:r>
            <a:r>
              <a:rPr sz="1800" dirty="0">
                <a:latin typeface="Cambria"/>
                <a:cs typeface="Cambria"/>
              </a:rPr>
              <a:t> </a:t>
            </a:r>
            <a:r>
              <a:rPr sz="1800" spc="295" dirty="0">
                <a:latin typeface="Cambria"/>
                <a:cs typeface="Cambria"/>
              </a:rPr>
              <a:t>×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spc="5" dirty="0">
                <a:latin typeface="Cambria"/>
                <a:cs typeface="Cambria"/>
              </a:rPr>
              <a:t>1	</a:t>
            </a:r>
            <a:r>
              <a:rPr sz="1800" spc="355" dirty="0">
                <a:latin typeface="Cambria"/>
                <a:cs typeface="Cambria"/>
              </a:rPr>
              <a:t>+	</a:t>
            </a:r>
            <a:r>
              <a:rPr sz="1800" spc="5" dirty="0">
                <a:latin typeface="Cambria"/>
                <a:cs typeface="Cambria"/>
              </a:rPr>
              <a:t>5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spc="295" dirty="0">
                <a:latin typeface="Cambria"/>
                <a:cs typeface="Cambria"/>
              </a:rPr>
              <a:t>×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5" dirty="0">
                <a:latin typeface="Cambria"/>
                <a:cs typeface="Cambria"/>
              </a:rPr>
              <a:t>1</a:t>
            </a:r>
            <a:endParaRPr sz="1800">
              <a:latin typeface="Cambria"/>
              <a:cs typeface="Cambria"/>
            </a:endParaRPr>
          </a:p>
          <a:p>
            <a:pPr marL="36195" algn="ctr">
              <a:lnSpc>
                <a:spcPct val="100000"/>
              </a:lnSpc>
              <a:spcBef>
                <a:spcPts val="1210"/>
              </a:spcBef>
              <a:tabLst>
                <a:tab pos="690245" algn="l"/>
                <a:tab pos="993140" algn="l"/>
                <a:tab pos="1647189" algn="l"/>
                <a:tab pos="1950085" algn="l"/>
                <a:tab pos="2616200" algn="l"/>
                <a:tab pos="2931795" algn="l"/>
              </a:tabLst>
            </a:pPr>
            <a:r>
              <a:rPr sz="1800" spc="5" dirty="0">
                <a:latin typeface="Cambria"/>
                <a:cs typeface="Cambria"/>
              </a:rPr>
              <a:t>5</a:t>
            </a:r>
            <a:r>
              <a:rPr sz="1800" dirty="0">
                <a:latin typeface="Cambria"/>
                <a:cs typeface="Cambria"/>
              </a:rPr>
              <a:t> </a:t>
            </a:r>
            <a:r>
              <a:rPr sz="1800" spc="295" dirty="0">
                <a:latin typeface="Cambria"/>
                <a:cs typeface="Cambria"/>
              </a:rPr>
              <a:t>×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spc="5" dirty="0">
                <a:latin typeface="Cambria"/>
                <a:cs typeface="Cambria"/>
              </a:rPr>
              <a:t>1	</a:t>
            </a:r>
            <a:r>
              <a:rPr sz="1800" spc="355" dirty="0">
                <a:latin typeface="Cambria"/>
                <a:cs typeface="Cambria"/>
              </a:rPr>
              <a:t>+	</a:t>
            </a:r>
            <a:r>
              <a:rPr sz="1800" spc="5" dirty="0">
                <a:latin typeface="Cambria"/>
                <a:cs typeface="Cambria"/>
              </a:rPr>
              <a:t>5</a:t>
            </a:r>
            <a:r>
              <a:rPr sz="1800" dirty="0">
                <a:latin typeface="Cambria"/>
                <a:cs typeface="Cambria"/>
              </a:rPr>
              <a:t> </a:t>
            </a:r>
            <a:r>
              <a:rPr sz="1800" spc="295" dirty="0">
                <a:latin typeface="Cambria"/>
                <a:cs typeface="Cambria"/>
              </a:rPr>
              <a:t>×</a:t>
            </a:r>
            <a:r>
              <a:rPr sz="1800" spc="15" dirty="0">
                <a:latin typeface="Cambria"/>
                <a:cs typeface="Cambria"/>
              </a:rPr>
              <a:t> </a:t>
            </a:r>
            <a:r>
              <a:rPr sz="1800" spc="5" dirty="0">
                <a:latin typeface="Cambria"/>
                <a:cs typeface="Cambria"/>
              </a:rPr>
              <a:t>1	</a:t>
            </a:r>
            <a:r>
              <a:rPr sz="1800" spc="355" dirty="0">
                <a:latin typeface="Cambria"/>
                <a:cs typeface="Cambria"/>
              </a:rPr>
              <a:t>+	</a:t>
            </a:r>
            <a:r>
              <a:rPr sz="1800" spc="5" dirty="0">
                <a:latin typeface="Cambria"/>
                <a:cs typeface="Cambria"/>
              </a:rPr>
              <a:t>5</a:t>
            </a:r>
            <a:r>
              <a:rPr sz="1800" dirty="0">
                <a:latin typeface="Cambria"/>
                <a:cs typeface="Cambria"/>
              </a:rPr>
              <a:t> </a:t>
            </a:r>
            <a:r>
              <a:rPr sz="1800" spc="295" dirty="0">
                <a:latin typeface="Cambria"/>
                <a:cs typeface="Cambria"/>
              </a:rPr>
              <a:t>×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spc="5" dirty="0">
                <a:latin typeface="Cambria"/>
                <a:cs typeface="Cambria"/>
              </a:rPr>
              <a:t>1	</a:t>
            </a:r>
            <a:r>
              <a:rPr sz="1800" spc="355" dirty="0">
                <a:latin typeface="Cambria"/>
                <a:cs typeface="Cambria"/>
              </a:rPr>
              <a:t>=	</a:t>
            </a:r>
            <a:r>
              <a:rPr sz="1800" spc="5" dirty="0">
                <a:latin typeface="Cambria"/>
                <a:cs typeface="Cambria"/>
              </a:rPr>
              <a:t>5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spc="295" dirty="0">
                <a:latin typeface="Cambria"/>
                <a:cs typeface="Cambria"/>
              </a:rPr>
              <a:t>×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5" dirty="0">
                <a:latin typeface="Cambria"/>
                <a:cs typeface="Cambria"/>
              </a:rPr>
              <a:t>1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41" name="object 4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474464" y="5068823"/>
            <a:ext cx="1808987" cy="298703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486144" y="5073395"/>
            <a:ext cx="1997948" cy="297179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715755" y="5070347"/>
            <a:ext cx="771143" cy="298703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201411" y="5474207"/>
            <a:ext cx="731519" cy="297179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140195" y="5503163"/>
            <a:ext cx="787907" cy="298703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115555" y="5501639"/>
            <a:ext cx="771143" cy="297179"/>
          </a:xfrm>
          <a:prstGeom prst="rect">
            <a:avLst/>
          </a:prstGeom>
        </p:spPr>
      </p:pic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7851" y="1423416"/>
            <a:ext cx="3946525" cy="3343910"/>
            <a:chOff x="247851" y="1423416"/>
            <a:chExt cx="3946525" cy="33439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97180" y="2586736"/>
              <a:ext cx="223759" cy="2235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89982" y="3511295"/>
              <a:ext cx="404270" cy="4236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851" y="3511295"/>
              <a:ext cx="442791" cy="36728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9321" y="1423416"/>
              <a:ext cx="3051048" cy="334365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3137" y="2577083"/>
            <a:ext cx="400396" cy="18850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5359908" y="5797296"/>
            <a:ext cx="3522345" cy="561340"/>
            <a:chOff x="5359908" y="5797296"/>
            <a:chExt cx="3522345" cy="561340"/>
          </a:xfrm>
        </p:grpSpPr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30052" y="5972555"/>
              <a:ext cx="3335915" cy="28803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59908" y="5797296"/>
              <a:ext cx="3522345" cy="561340"/>
            </a:xfrm>
            <a:custGeom>
              <a:avLst/>
              <a:gdLst/>
              <a:ahLst/>
              <a:cxnLst/>
              <a:rect l="l" t="t" r="r" b="b"/>
              <a:pathLst>
                <a:path w="3522345" h="561339">
                  <a:moveTo>
                    <a:pt x="3521964" y="554736"/>
                  </a:moveTo>
                  <a:lnTo>
                    <a:pt x="3521964" y="6096"/>
                  </a:lnTo>
                  <a:lnTo>
                    <a:pt x="3515868" y="0"/>
                  </a:lnTo>
                  <a:lnTo>
                    <a:pt x="6096" y="0"/>
                  </a:lnTo>
                  <a:lnTo>
                    <a:pt x="0" y="6096"/>
                  </a:lnTo>
                  <a:lnTo>
                    <a:pt x="0" y="554736"/>
                  </a:lnTo>
                  <a:lnTo>
                    <a:pt x="6096" y="560832"/>
                  </a:lnTo>
                  <a:lnTo>
                    <a:pt x="12192" y="560832"/>
                  </a:lnTo>
                  <a:lnTo>
                    <a:pt x="12192" y="24384"/>
                  </a:lnTo>
                  <a:lnTo>
                    <a:pt x="24384" y="12192"/>
                  </a:lnTo>
                  <a:lnTo>
                    <a:pt x="24384" y="24384"/>
                  </a:lnTo>
                  <a:lnTo>
                    <a:pt x="3497580" y="24384"/>
                  </a:lnTo>
                  <a:lnTo>
                    <a:pt x="3497580" y="12192"/>
                  </a:lnTo>
                  <a:lnTo>
                    <a:pt x="3509772" y="24384"/>
                  </a:lnTo>
                  <a:lnTo>
                    <a:pt x="3509772" y="560832"/>
                  </a:lnTo>
                  <a:lnTo>
                    <a:pt x="3515868" y="560832"/>
                  </a:lnTo>
                  <a:lnTo>
                    <a:pt x="3521964" y="554736"/>
                  </a:lnTo>
                  <a:close/>
                </a:path>
                <a:path w="3522345" h="561339">
                  <a:moveTo>
                    <a:pt x="24384" y="24384"/>
                  </a:moveTo>
                  <a:lnTo>
                    <a:pt x="24384" y="12192"/>
                  </a:lnTo>
                  <a:lnTo>
                    <a:pt x="12192" y="24384"/>
                  </a:lnTo>
                  <a:lnTo>
                    <a:pt x="24384" y="24384"/>
                  </a:lnTo>
                  <a:close/>
                </a:path>
                <a:path w="3522345" h="561339">
                  <a:moveTo>
                    <a:pt x="24384" y="536448"/>
                  </a:moveTo>
                  <a:lnTo>
                    <a:pt x="24384" y="24384"/>
                  </a:lnTo>
                  <a:lnTo>
                    <a:pt x="12192" y="24384"/>
                  </a:lnTo>
                  <a:lnTo>
                    <a:pt x="12192" y="536448"/>
                  </a:lnTo>
                  <a:lnTo>
                    <a:pt x="24384" y="536448"/>
                  </a:lnTo>
                  <a:close/>
                </a:path>
                <a:path w="3522345" h="561339">
                  <a:moveTo>
                    <a:pt x="3509772" y="536448"/>
                  </a:moveTo>
                  <a:lnTo>
                    <a:pt x="12192" y="536448"/>
                  </a:lnTo>
                  <a:lnTo>
                    <a:pt x="24384" y="548640"/>
                  </a:lnTo>
                  <a:lnTo>
                    <a:pt x="24384" y="560832"/>
                  </a:lnTo>
                  <a:lnTo>
                    <a:pt x="3497580" y="560832"/>
                  </a:lnTo>
                  <a:lnTo>
                    <a:pt x="3497580" y="548640"/>
                  </a:lnTo>
                  <a:lnTo>
                    <a:pt x="3509772" y="536448"/>
                  </a:lnTo>
                  <a:close/>
                </a:path>
                <a:path w="3522345" h="561339">
                  <a:moveTo>
                    <a:pt x="24384" y="560832"/>
                  </a:moveTo>
                  <a:lnTo>
                    <a:pt x="24384" y="548640"/>
                  </a:lnTo>
                  <a:lnTo>
                    <a:pt x="12192" y="536448"/>
                  </a:lnTo>
                  <a:lnTo>
                    <a:pt x="12192" y="560832"/>
                  </a:lnTo>
                  <a:lnTo>
                    <a:pt x="24384" y="560832"/>
                  </a:lnTo>
                  <a:close/>
                </a:path>
                <a:path w="3522345" h="561339">
                  <a:moveTo>
                    <a:pt x="3509772" y="24384"/>
                  </a:moveTo>
                  <a:lnTo>
                    <a:pt x="3497580" y="12192"/>
                  </a:lnTo>
                  <a:lnTo>
                    <a:pt x="3497580" y="24384"/>
                  </a:lnTo>
                  <a:lnTo>
                    <a:pt x="3509772" y="24384"/>
                  </a:lnTo>
                  <a:close/>
                </a:path>
                <a:path w="3522345" h="561339">
                  <a:moveTo>
                    <a:pt x="3509772" y="536448"/>
                  </a:moveTo>
                  <a:lnTo>
                    <a:pt x="3509772" y="24384"/>
                  </a:lnTo>
                  <a:lnTo>
                    <a:pt x="3497580" y="24384"/>
                  </a:lnTo>
                  <a:lnTo>
                    <a:pt x="3497580" y="536448"/>
                  </a:lnTo>
                  <a:lnTo>
                    <a:pt x="3509772" y="536448"/>
                  </a:lnTo>
                  <a:close/>
                </a:path>
                <a:path w="3522345" h="561339">
                  <a:moveTo>
                    <a:pt x="3509772" y="560832"/>
                  </a:moveTo>
                  <a:lnTo>
                    <a:pt x="3509772" y="536448"/>
                  </a:lnTo>
                  <a:lnTo>
                    <a:pt x="3497580" y="548640"/>
                  </a:lnTo>
                  <a:lnTo>
                    <a:pt x="3497580" y="560832"/>
                  </a:lnTo>
                  <a:lnTo>
                    <a:pt x="3509772" y="560832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920489" y="5062728"/>
            <a:ext cx="2807335" cy="303530"/>
            <a:chOff x="920489" y="5062728"/>
            <a:chExt cx="2807335" cy="303530"/>
          </a:xfrm>
        </p:grpSpPr>
        <p:sp>
          <p:nvSpPr>
            <p:cNvPr id="12" name="object 12"/>
            <p:cNvSpPr/>
            <p:nvPr/>
          </p:nvSpPr>
          <p:spPr>
            <a:xfrm>
              <a:off x="932681" y="5074919"/>
              <a:ext cx="2783205" cy="279400"/>
            </a:xfrm>
            <a:custGeom>
              <a:avLst/>
              <a:gdLst/>
              <a:ahLst/>
              <a:cxnLst/>
              <a:rect l="l" t="t" r="r" b="b"/>
              <a:pathLst>
                <a:path w="2783204" h="279400">
                  <a:moveTo>
                    <a:pt x="2782823" y="278891"/>
                  </a:moveTo>
                  <a:lnTo>
                    <a:pt x="2782823" y="0"/>
                  </a:lnTo>
                  <a:lnTo>
                    <a:pt x="0" y="0"/>
                  </a:lnTo>
                  <a:lnTo>
                    <a:pt x="0" y="278891"/>
                  </a:lnTo>
                  <a:lnTo>
                    <a:pt x="2782823" y="278891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20489" y="5062728"/>
              <a:ext cx="2807335" cy="303530"/>
            </a:xfrm>
            <a:custGeom>
              <a:avLst/>
              <a:gdLst/>
              <a:ahLst/>
              <a:cxnLst/>
              <a:rect l="l" t="t" r="r" b="b"/>
              <a:pathLst>
                <a:path w="2807335" h="303529">
                  <a:moveTo>
                    <a:pt x="2807214" y="297180"/>
                  </a:moveTo>
                  <a:lnTo>
                    <a:pt x="2807214" y="6096"/>
                  </a:lnTo>
                  <a:lnTo>
                    <a:pt x="2802642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297180"/>
                  </a:lnTo>
                  <a:lnTo>
                    <a:pt x="4572" y="303276"/>
                  </a:lnTo>
                  <a:lnTo>
                    <a:pt x="12192" y="303276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2784354" y="24384"/>
                  </a:lnTo>
                  <a:lnTo>
                    <a:pt x="2784354" y="12192"/>
                  </a:lnTo>
                  <a:lnTo>
                    <a:pt x="2795022" y="24384"/>
                  </a:lnTo>
                  <a:lnTo>
                    <a:pt x="2795022" y="303276"/>
                  </a:lnTo>
                  <a:lnTo>
                    <a:pt x="2802642" y="303276"/>
                  </a:lnTo>
                  <a:lnTo>
                    <a:pt x="2807214" y="297180"/>
                  </a:lnTo>
                  <a:close/>
                </a:path>
                <a:path w="2807335" h="303529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2807335" h="303529">
                  <a:moveTo>
                    <a:pt x="22860" y="278892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278892"/>
                  </a:lnTo>
                  <a:lnTo>
                    <a:pt x="22860" y="278892"/>
                  </a:lnTo>
                  <a:close/>
                </a:path>
                <a:path w="2807335" h="303529">
                  <a:moveTo>
                    <a:pt x="2795022" y="278892"/>
                  </a:moveTo>
                  <a:lnTo>
                    <a:pt x="12192" y="278892"/>
                  </a:lnTo>
                  <a:lnTo>
                    <a:pt x="22860" y="291084"/>
                  </a:lnTo>
                  <a:lnTo>
                    <a:pt x="22860" y="303276"/>
                  </a:lnTo>
                  <a:lnTo>
                    <a:pt x="2784354" y="303276"/>
                  </a:lnTo>
                  <a:lnTo>
                    <a:pt x="2784354" y="291084"/>
                  </a:lnTo>
                  <a:lnTo>
                    <a:pt x="2795022" y="278892"/>
                  </a:lnTo>
                  <a:close/>
                </a:path>
                <a:path w="2807335" h="303529">
                  <a:moveTo>
                    <a:pt x="22860" y="303276"/>
                  </a:moveTo>
                  <a:lnTo>
                    <a:pt x="22860" y="291084"/>
                  </a:lnTo>
                  <a:lnTo>
                    <a:pt x="12192" y="278892"/>
                  </a:lnTo>
                  <a:lnTo>
                    <a:pt x="12192" y="303276"/>
                  </a:lnTo>
                  <a:lnTo>
                    <a:pt x="22860" y="303276"/>
                  </a:lnTo>
                  <a:close/>
                </a:path>
                <a:path w="2807335" h="303529">
                  <a:moveTo>
                    <a:pt x="2795022" y="24384"/>
                  </a:moveTo>
                  <a:lnTo>
                    <a:pt x="2784354" y="12192"/>
                  </a:lnTo>
                  <a:lnTo>
                    <a:pt x="2784354" y="24384"/>
                  </a:lnTo>
                  <a:lnTo>
                    <a:pt x="2795022" y="24384"/>
                  </a:lnTo>
                  <a:close/>
                </a:path>
                <a:path w="2807335" h="303529">
                  <a:moveTo>
                    <a:pt x="2795022" y="278892"/>
                  </a:moveTo>
                  <a:lnTo>
                    <a:pt x="2795022" y="24384"/>
                  </a:lnTo>
                  <a:lnTo>
                    <a:pt x="2784354" y="24384"/>
                  </a:lnTo>
                  <a:lnTo>
                    <a:pt x="2784354" y="278892"/>
                  </a:lnTo>
                  <a:lnTo>
                    <a:pt x="2795022" y="278892"/>
                  </a:lnTo>
                  <a:close/>
                </a:path>
                <a:path w="2807335" h="303529">
                  <a:moveTo>
                    <a:pt x="2795022" y="303276"/>
                  </a:moveTo>
                  <a:lnTo>
                    <a:pt x="2795022" y="278892"/>
                  </a:lnTo>
                  <a:lnTo>
                    <a:pt x="2784354" y="291084"/>
                  </a:lnTo>
                  <a:lnTo>
                    <a:pt x="2784354" y="303276"/>
                  </a:lnTo>
                  <a:lnTo>
                    <a:pt x="2795022" y="303276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32681" y="5074920"/>
            <a:ext cx="494030" cy="256540"/>
          </a:xfrm>
          <a:prstGeom prst="rect">
            <a:avLst/>
          </a:prstGeom>
          <a:solidFill>
            <a:srgbClr val="FFF2CC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2014"/>
              </a:lnSpc>
            </a:pPr>
            <a:r>
              <a:rPr sz="1800" spc="90" dirty="0">
                <a:latin typeface="Cambria"/>
                <a:cs typeface="Cambria"/>
              </a:rPr>
              <a:t>x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355" dirty="0">
                <a:latin typeface="Cambria"/>
                <a:cs typeface="Cambria"/>
              </a:rPr>
              <a:t>=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426210" y="5120652"/>
            <a:ext cx="2225040" cy="215265"/>
          </a:xfrm>
          <a:custGeom>
            <a:avLst/>
            <a:gdLst/>
            <a:ahLst/>
            <a:cxnLst/>
            <a:rect l="l" t="t" r="r" b="b"/>
            <a:pathLst>
              <a:path w="2225040" h="215264">
                <a:moveTo>
                  <a:pt x="50800" y="0"/>
                </a:moveTo>
                <a:lnTo>
                  <a:pt x="20320" y="0"/>
                </a:lnTo>
                <a:lnTo>
                  <a:pt x="0" y="0"/>
                </a:lnTo>
                <a:lnTo>
                  <a:pt x="0" y="214884"/>
                </a:lnTo>
                <a:lnTo>
                  <a:pt x="20053" y="214884"/>
                </a:lnTo>
                <a:lnTo>
                  <a:pt x="20320" y="214884"/>
                </a:lnTo>
                <a:lnTo>
                  <a:pt x="50533" y="214884"/>
                </a:lnTo>
                <a:lnTo>
                  <a:pt x="50533" y="205740"/>
                </a:lnTo>
                <a:lnTo>
                  <a:pt x="20320" y="205740"/>
                </a:lnTo>
                <a:lnTo>
                  <a:pt x="20320" y="9144"/>
                </a:lnTo>
                <a:lnTo>
                  <a:pt x="50800" y="9144"/>
                </a:lnTo>
                <a:lnTo>
                  <a:pt x="50800" y="0"/>
                </a:lnTo>
                <a:close/>
              </a:path>
              <a:path w="2225040" h="215264">
                <a:moveTo>
                  <a:pt x="2205482" y="205740"/>
                </a:moveTo>
                <a:lnTo>
                  <a:pt x="2175002" y="205740"/>
                </a:lnTo>
                <a:lnTo>
                  <a:pt x="2175002" y="214884"/>
                </a:lnTo>
                <a:lnTo>
                  <a:pt x="2205482" y="214884"/>
                </a:lnTo>
                <a:lnTo>
                  <a:pt x="2205482" y="205740"/>
                </a:lnTo>
                <a:close/>
              </a:path>
              <a:path w="2225040" h="215264">
                <a:moveTo>
                  <a:pt x="2225040" y="0"/>
                </a:moveTo>
                <a:lnTo>
                  <a:pt x="2205990" y="0"/>
                </a:lnTo>
                <a:lnTo>
                  <a:pt x="2175510" y="0"/>
                </a:lnTo>
                <a:lnTo>
                  <a:pt x="2175510" y="9144"/>
                </a:lnTo>
                <a:lnTo>
                  <a:pt x="2205990" y="9144"/>
                </a:lnTo>
                <a:lnTo>
                  <a:pt x="2205990" y="214884"/>
                </a:lnTo>
                <a:lnTo>
                  <a:pt x="2225040" y="214884"/>
                </a:lnTo>
                <a:lnTo>
                  <a:pt x="2225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421130" y="4964682"/>
            <a:ext cx="223647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10"/>
              </a:spcBef>
            </a:pPr>
            <a:r>
              <a:rPr sz="2700" spc="284" baseline="-20061" dirty="0">
                <a:latin typeface="Cambria"/>
                <a:cs typeface="Cambria"/>
              </a:rPr>
              <a:t>x</a:t>
            </a:r>
            <a:r>
              <a:rPr sz="1300" spc="245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1</a:t>
            </a:r>
            <a:r>
              <a:rPr sz="1300" spc="250" dirty="0">
                <a:latin typeface="Cambria"/>
                <a:cs typeface="Cambria"/>
              </a:rPr>
              <a:t>&gt;</a:t>
            </a:r>
            <a:r>
              <a:rPr sz="1300" dirty="0">
                <a:latin typeface="Cambria"/>
                <a:cs typeface="Cambria"/>
              </a:rPr>
              <a:t> </a:t>
            </a:r>
            <a:r>
              <a:rPr sz="1300" spc="-95" dirty="0">
                <a:latin typeface="Cambria"/>
                <a:cs typeface="Cambria"/>
              </a:rPr>
              <a:t> 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284" baseline="-20061" dirty="0">
                <a:latin typeface="Cambria"/>
                <a:cs typeface="Cambria"/>
              </a:rPr>
              <a:t>x</a:t>
            </a:r>
            <a:r>
              <a:rPr sz="1300" spc="260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2</a:t>
            </a:r>
            <a:r>
              <a:rPr sz="1300" spc="330" dirty="0">
                <a:latin typeface="Cambria"/>
                <a:cs typeface="Cambria"/>
              </a:rPr>
              <a:t>&gt;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15" baseline="-20061" dirty="0">
                <a:latin typeface="Cambria"/>
                <a:cs typeface="Cambria"/>
              </a:rPr>
              <a:t>⋯</a:t>
            </a:r>
            <a:r>
              <a:rPr sz="2700" spc="-135" baseline="-20061" dirty="0">
                <a:latin typeface="Cambria"/>
                <a:cs typeface="Cambria"/>
              </a:rPr>
              <a:t> 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284" baseline="-20061" dirty="0">
                <a:latin typeface="Cambria"/>
                <a:cs typeface="Cambria"/>
              </a:rPr>
              <a:t>x</a:t>
            </a:r>
            <a:r>
              <a:rPr sz="1300" spc="245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10</a:t>
            </a:r>
            <a:r>
              <a:rPr sz="1300" spc="250" dirty="0">
                <a:latin typeface="Cambria"/>
                <a:cs typeface="Cambria"/>
              </a:rPr>
              <a:t>&gt;</a:t>
            </a:r>
            <a:endParaRPr sz="1300">
              <a:latin typeface="Cambria"/>
              <a:cs typeface="Cambr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20489" y="5455920"/>
            <a:ext cx="2702560" cy="306705"/>
            <a:chOff x="920489" y="5455920"/>
            <a:chExt cx="2702560" cy="306705"/>
          </a:xfrm>
        </p:grpSpPr>
        <p:sp>
          <p:nvSpPr>
            <p:cNvPr id="18" name="object 18"/>
            <p:cNvSpPr/>
            <p:nvPr/>
          </p:nvSpPr>
          <p:spPr>
            <a:xfrm>
              <a:off x="932681" y="5468111"/>
              <a:ext cx="2677795" cy="281940"/>
            </a:xfrm>
            <a:custGeom>
              <a:avLst/>
              <a:gdLst/>
              <a:ahLst/>
              <a:cxnLst/>
              <a:rect l="l" t="t" r="r" b="b"/>
              <a:pathLst>
                <a:path w="2677795" h="281939">
                  <a:moveTo>
                    <a:pt x="2677667" y="281939"/>
                  </a:moveTo>
                  <a:lnTo>
                    <a:pt x="2677667" y="0"/>
                  </a:lnTo>
                  <a:lnTo>
                    <a:pt x="0" y="0"/>
                  </a:lnTo>
                  <a:lnTo>
                    <a:pt x="0" y="281939"/>
                  </a:lnTo>
                  <a:lnTo>
                    <a:pt x="2677667" y="28193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20489" y="5455920"/>
              <a:ext cx="2702560" cy="306705"/>
            </a:xfrm>
            <a:custGeom>
              <a:avLst/>
              <a:gdLst/>
              <a:ahLst/>
              <a:cxnLst/>
              <a:rect l="l" t="t" r="r" b="b"/>
              <a:pathLst>
                <a:path w="2702560" h="306704">
                  <a:moveTo>
                    <a:pt x="2702058" y="300228"/>
                  </a:moveTo>
                  <a:lnTo>
                    <a:pt x="2702058" y="4572"/>
                  </a:lnTo>
                  <a:lnTo>
                    <a:pt x="2695962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300228"/>
                  </a:lnTo>
                  <a:lnTo>
                    <a:pt x="4572" y="306324"/>
                  </a:lnTo>
                  <a:lnTo>
                    <a:pt x="12192" y="306324"/>
                  </a:lnTo>
                  <a:lnTo>
                    <a:pt x="12192" y="22860"/>
                  </a:lnTo>
                  <a:lnTo>
                    <a:pt x="22860" y="12192"/>
                  </a:lnTo>
                  <a:lnTo>
                    <a:pt x="22860" y="22860"/>
                  </a:lnTo>
                  <a:lnTo>
                    <a:pt x="2677674" y="22860"/>
                  </a:lnTo>
                  <a:lnTo>
                    <a:pt x="2677674" y="12192"/>
                  </a:lnTo>
                  <a:lnTo>
                    <a:pt x="2689866" y="22860"/>
                  </a:lnTo>
                  <a:lnTo>
                    <a:pt x="2689866" y="306324"/>
                  </a:lnTo>
                  <a:lnTo>
                    <a:pt x="2695962" y="306324"/>
                  </a:lnTo>
                  <a:lnTo>
                    <a:pt x="2702058" y="300228"/>
                  </a:lnTo>
                  <a:close/>
                </a:path>
                <a:path w="2702560" h="306704">
                  <a:moveTo>
                    <a:pt x="22860" y="22860"/>
                  </a:moveTo>
                  <a:lnTo>
                    <a:pt x="22860" y="12192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2702560" h="306704">
                  <a:moveTo>
                    <a:pt x="22860" y="281940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281940"/>
                  </a:lnTo>
                  <a:lnTo>
                    <a:pt x="22860" y="281940"/>
                  </a:lnTo>
                  <a:close/>
                </a:path>
                <a:path w="2702560" h="306704">
                  <a:moveTo>
                    <a:pt x="2689866" y="281940"/>
                  </a:moveTo>
                  <a:lnTo>
                    <a:pt x="12192" y="281940"/>
                  </a:lnTo>
                  <a:lnTo>
                    <a:pt x="22860" y="294132"/>
                  </a:lnTo>
                  <a:lnTo>
                    <a:pt x="22860" y="306324"/>
                  </a:lnTo>
                  <a:lnTo>
                    <a:pt x="2677674" y="306324"/>
                  </a:lnTo>
                  <a:lnTo>
                    <a:pt x="2677674" y="294132"/>
                  </a:lnTo>
                  <a:lnTo>
                    <a:pt x="2689866" y="281940"/>
                  </a:lnTo>
                  <a:close/>
                </a:path>
                <a:path w="2702560" h="306704">
                  <a:moveTo>
                    <a:pt x="22860" y="306324"/>
                  </a:moveTo>
                  <a:lnTo>
                    <a:pt x="22860" y="294132"/>
                  </a:lnTo>
                  <a:lnTo>
                    <a:pt x="12192" y="281940"/>
                  </a:lnTo>
                  <a:lnTo>
                    <a:pt x="12192" y="306324"/>
                  </a:lnTo>
                  <a:lnTo>
                    <a:pt x="22860" y="306324"/>
                  </a:lnTo>
                  <a:close/>
                </a:path>
                <a:path w="2702560" h="306704">
                  <a:moveTo>
                    <a:pt x="2689866" y="22860"/>
                  </a:moveTo>
                  <a:lnTo>
                    <a:pt x="2677674" y="12192"/>
                  </a:lnTo>
                  <a:lnTo>
                    <a:pt x="2677674" y="22860"/>
                  </a:lnTo>
                  <a:lnTo>
                    <a:pt x="2689866" y="22860"/>
                  </a:lnTo>
                  <a:close/>
                </a:path>
                <a:path w="2702560" h="306704">
                  <a:moveTo>
                    <a:pt x="2689866" y="281940"/>
                  </a:moveTo>
                  <a:lnTo>
                    <a:pt x="2689866" y="22860"/>
                  </a:lnTo>
                  <a:lnTo>
                    <a:pt x="2677674" y="22860"/>
                  </a:lnTo>
                  <a:lnTo>
                    <a:pt x="2677674" y="281940"/>
                  </a:lnTo>
                  <a:lnTo>
                    <a:pt x="2689866" y="281940"/>
                  </a:lnTo>
                  <a:close/>
                </a:path>
                <a:path w="2702560" h="306704">
                  <a:moveTo>
                    <a:pt x="2689866" y="306324"/>
                  </a:moveTo>
                  <a:lnTo>
                    <a:pt x="2689866" y="281940"/>
                  </a:lnTo>
                  <a:lnTo>
                    <a:pt x="2677674" y="294132"/>
                  </a:lnTo>
                  <a:lnTo>
                    <a:pt x="2677674" y="306324"/>
                  </a:lnTo>
                  <a:lnTo>
                    <a:pt x="2689866" y="306324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32681" y="5468111"/>
            <a:ext cx="495300" cy="259079"/>
          </a:xfrm>
          <a:prstGeom prst="rect">
            <a:avLst/>
          </a:prstGeom>
          <a:solidFill>
            <a:srgbClr val="FFF2CC"/>
          </a:solidFill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2039"/>
              </a:lnSpc>
            </a:pPr>
            <a:r>
              <a:rPr sz="1800" spc="5" dirty="0">
                <a:latin typeface="Cambria"/>
                <a:cs typeface="Cambria"/>
              </a:rPr>
              <a:t>ℎ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355" dirty="0">
                <a:latin typeface="Cambria"/>
                <a:cs typeface="Cambria"/>
              </a:rPr>
              <a:t>=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427480" y="5516892"/>
            <a:ext cx="2117090" cy="215265"/>
          </a:xfrm>
          <a:custGeom>
            <a:avLst/>
            <a:gdLst/>
            <a:ahLst/>
            <a:cxnLst/>
            <a:rect l="l" t="t" r="r" b="b"/>
            <a:pathLst>
              <a:path w="2117090" h="215264">
                <a:moveTo>
                  <a:pt x="50800" y="0"/>
                </a:moveTo>
                <a:lnTo>
                  <a:pt x="20320" y="0"/>
                </a:lnTo>
                <a:lnTo>
                  <a:pt x="0" y="0"/>
                </a:lnTo>
                <a:lnTo>
                  <a:pt x="0" y="214884"/>
                </a:lnTo>
                <a:lnTo>
                  <a:pt x="20307" y="214884"/>
                </a:lnTo>
                <a:lnTo>
                  <a:pt x="50787" y="214884"/>
                </a:lnTo>
                <a:lnTo>
                  <a:pt x="50787" y="205740"/>
                </a:lnTo>
                <a:lnTo>
                  <a:pt x="20320" y="205740"/>
                </a:lnTo>
                <a:lnTo>
                  <a:pt x="20320" y="9144"/>
                </a:lnTo>
                <a:lnTo>
                  <a:pt x="50800" y="9144"/>
                </a:lnTo>
                <a:lnTo>
                  <a:pt x="50800" y="0"/>
                </a:lnTo>
                <a:close/>
              </a:path>
              <a:path w="2117090" h="215264">
                <a:moveTo>
                  <a:pt x="2097532" y="205740"/>
                </a:moveTo>
                <a:lnTo>
                  <a:pt x="2067052" y="205740"/>
                </a:lnTo>
                <a:lnTo>
                  <a:pt x="2067052" y="214884"/>
                </a:lnTo>
                <a:lnTo>
                  <a:pt x="2097532" y="214884"/>
                </a:lnTo>
                <a:lnTo>
                  <a:pt x="2097532" y="205740"/>
                </a:lnTo>
                <a:close/>
              </a:path>
              <a:path w="2117090" h="215264">
                <a:moveTo>
                  <a:pt x="2117090" y="0"/>
                </a:moveTo>
                <a:lnTo>
                  <a:pt x="2098040" y="0"/>
                </a:lnTo>
                <a:lnTo>
                  <a:pt x="2067560" y="0"/>
                </a:lnTo>
                <a:lnTo>
                  <a:pt x="2067560" y="9144"/>
                </a:lnTo>
                <a:lnTo>
                  <a:pt x="2098040" y="9144"/>
                </a:lnTo>
                <a:lnTo>
                  <a:pt x="2098040" y="214884"/>
                </a:lnTo>
                <a:lnTo>
                  <a:pt x="2117090" y="214884"/>
                </a:lnTo>
                <a:lnTo>
                  <a:pt x="21170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422400" y="5360922"/>
            <a:ext cx="212852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110"/>
              </a:spcBef>
            </a:pPr>
            <a:r>
              <a:rPr sz="2700" spc="60" baseline="-20061" dirty="0">
                <a:latin typeface="Cambria"/>
                <a:cs typeface="Cambria"/>
              </a:rPr>
              <a:t>ℎ</a:t>
            </a:r>
            <a:r>
              <a:rPr sz="1300" spc="245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1</a:t>
            </a:r>
            <a:r>
              <a:rPr sz="1300" spc="250" dirty="0">
                <a:latin typeface="Cambria"/>
                <a:cs typeface="Cambria"/>
              </a:rPr>
              <a:t>&gt;</a:t>
            </a:r>
            <a:r>
              <a:rPr sz="1300" dirty="0">
                <a:latin typeface="Cambria"/>
                <a:cs typeface="Cambria"/>
              </a:rPr>
              <a:t> </a:t>
            </a:r>
            <a:r>
              <a:rPr sz="1300" spc="-95" dirty="0">
                <a:latin typeface="Cambria"/>
                <a:cs typeface="Cambria"/>
              </a:rPr>
              <a:t> 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60" baseline="-20061" dirty="0">
                <a:latin typeface="Cambria"/>
                <a:cs typeface="Cambria"/>
              </a:rPr>
              <a:t>ℎ</a:t>
            </a:r>
            <a:r>
              <a:rPr sz="1300" spc="260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2</a:t>
            </a:r>
            <a:r>
              <a:rPr sz="1300" spc="320" dirty="0">
                <a:latin typeface="Cambria"/>
                <a:cs typeface="Cambria"/>
              </a:rPr>
              <a:t>&gt;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15" baseline="-20061" dirty="0">
                <a:latin typeface="Cambria"/>
                <a:cs typeface="Cambria"/>
              </a:rPr>
              <a:t>⋯</a:t>
            </a:r>
            <a:r>
              <a:rPr sz="2700" spc="-135" baseline="-20061" dirty="0">
                <a:latin typeface="Cambria"/>
                <a:cs typeface="Cambria"/>
              </a:rPr>
              <a:t> 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67" baseline="-20061" dirty="0">
                <a:latin typeface="Cambria"/>
                <a:cs typeface="Cambria"/>
              </a:rPr>
              <a:t>ℎ</a:t>
            </a:r>
            <a:r>
              <a:rPr sz="1300" spc="260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5</a:t>
            </a:r>
            <a:r>
              <a:rPr sz="1300" spc="250" dirty="0">
                <a:latin typeface="Cambria"/>
                <a:cs typeface="Cambria"/>
              </a:rPr>
              <a:t>&gt;</a:t>
            </a:r>
            <a:endParaRPr sz="1300">
              <a:latin typeface="Cambria"/>
              <a:cs typeface="Cambri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879079" y="1932432"/>
            <a:ext cx="374903" cy="784859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6099047" y="2022347"/>
            <a:ext cx="1390015" cy="749935"/>
          </a:xfrm>
          <a:custGeom>
            <a:avLst/>
            <a:gdLst/>
            <a:ahLst/>
            <a:cxnLst/>
            <a:rect l="l" t="t" r="r" b="b"/>
            <a:pathLst>
              <a:path w="1390015" h="749935">
                <a:moveTo>
                  <a:pt x="1389887" y="624839"/>
                </a:moveTo>
                <a:lnTo>
                  <a:pt x="1389887" y="124967"/>
                </a:lnTo>
                <a:lnTo>
                  <a:pt x="1380005" y="76509"/>
                </a:lnTo>
                <a:lnTo>
                  <a:pt x="1353121" y="36766"/>
                </a:lnTo>
                <a:lnTo>
                  <a:pt x="1313378" y="9882"/>
                </a:lnTo>
                <a:lnTo>
                  <a:pt x="1264919" y="0"/>
                </a:lnTo>
                <a:lnTo>
                  <a:pt x="124967" y="0"/>
                </a:lnTo>
                <a:lnTo>
                  <a:pt x="76509" y="9882"/>
                </a:lnTo>
                <a:lnTo>
                  <a:pt x="36766" y="36766"/>
                </a:lnTo>
                <a:lnTo>
                  <a:pt x="9882" y="76509"/>
                </a:lnTo>
                <a:lnTo>
                  <a:pt x="0" y="124967"/>
                </a:lnTo>
                <a:lnTo>
                  <a:pt x="0" y="624839"/>
                </a:lnTo>
                <a:lnTo>
                  <a:pt x="9882" y="673941"/>
                </a:lnTo>
                <a:lnTo>
                  <a:pt x="36766" y="713612"/>
                </a:lnTo>
                <a:lnTo>
                  <a:pt x="76509" y="740140"/>
                </a:lnTo>
                <a:lnTo>
                  <a:pt x="124967" y="749807"/>
                </a:lnTo>
                <a:lnTo>
                  <a:pt x="1264919" y="749807"/>
                </a:lnTo>
                <a:lnTo>
                  <a:pt x="1313378" y="740140"/>
                </a:lnTo>
                <a:lnTo>
                  <a:pt x="1353121" y="713612"/>
                </a:lnTo>
                <a:lnTo>
                  <a:pt x="1380005" y="673941"/>
                </a:lnTo>
                <a:lnTo>
                  <a:pt x="1389887" y="624839"/>
                </a:lnTo>
                <a:close/>
              </a:path>
            </a:pathLst>
          </a:custGeom>
          <a:solidFill>
            <a:srgbClr val="E2F0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595360" y="2253487"/>
            <a:ext cx="205104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75" dirty="0">
                <a:latin typeface="Cambria"/>
                <a:cs typeface="Cambria"/>
              </a:rPr>
              <a:t>W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750809" y="2341878"/>
            <a:ext cx="189865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00" dirty="0">
                <a:latin typeface="Cambria"/>
                <a:cs typeface="Cambria"/>
              </a:rPr>
              <a:t>x</a:t>
            </a:r>
            <a:r>
              <a:rPr sz="1100" spc="320" dirty="0">
                <a:latin typeface="Cambria"/>
                <a:cs typeface="Cambria"/>
              </a:rPr>
              <a:t>ƒ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437632" y="2042160"/>
            <a:ext cx="620395" cy="749935"/>
          </a:xfrm>
          <a:custGeom>
            <a:avLst/>
            <a:gdLst/>
            <a:ahLst/>
            <a:cxnLst/>
            <a:rect l="l" t="t" r="r" b="b"/>
            <a:pathLst>
              <a:path w="620395" h="749935">
                <a:moveTo>
                  <a:pt x="620267" y="646175"/>
                </a:moveTo>
                <a:lnTo>
                  <a:pt x="620267" y="103631"/>
                </a:lnTo>
                <a:lnTo>
                  <a:pt x="612219" y="63007"/>
                </a:lnTo>
                <a:lnTo>
                  <a:pt x="590168" y="30098"/>
                </a:lnTo>
                <a:lnTo>
                  <a:pt x="557260" y="8048"/>
                </a:lnTo>
                <a:lnTo>
                  <a:pt x="516635" y="0"/>
                </a:lnTo>
                <a:lnTo>
                  <a:pt x="103631" y="0"/>
                </a:lnTo>
                <a:lnTo>
                  <a:pt x="63007" y="8048"/>
                </a:lnTo>
                <a:lnTo>
                  <a:pt x="30098" y="30098"/>
                </a:lnTo>
                <a:lnTo>
                  <a:pt x="8048" y="63007"/>
                </a:lnTo>
                <a:lnTo>
                  <a:pt x="0" y="103631"/>
                </a:lnTo>
                <a:lnTo>
                  <a:pt x="0" y="646175"/>
                </a:lnTo>
                <a:lnTo>
                  <a:pt x="8048" y="686157"/>
                </a:lnTo>
                <a:lnTo>
                  <a:pt x="30098" y="719137"/>
                </a:lnTo>
                <a:lnTo>
                  <a:pt x="63007" y="741545"/>
                </a:lnTo>
                <a:lnTo>
                  <a:pt x="103631" y="749807"/>
                </a:lnTo>
                <a:lnTo>
                  <a:pt x="516635" y="749807"/>
                </a:lnTo>
                <a:lnTo>
                  <a:pt x="557260" y="741545"/>
                </a:lnTo>
                <a:lnTo>
                  <a:pt x="590168" y="719137"/>
                </a:lnTo>
                <a:lnTo>
                  <a:pt x="612219" y="686157"/>
                </a:lnTo>
                <a:lnTo>
                  <a:pt x="620267" y="646175"/>
                </a:lnTo>
                <a:close/>
              </a:path>
            </a:pathLst>
          </a:custGeom>
          <a:solidFill>
            <a:srgbClr val="FFF2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546849" y="2271775"/>
            <a:ext cx="205104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75" dirty="0">
                <a:latin typeface="Cambria"/>
                <a:cs typeface="Cambria"/>
              </a:rPr>
              <a:t>W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02297" y="2360166"/>
            <a:ext cx="194310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60" dirty="0">
                <a:latin typeface="Cambria"/>
                <a:cs typeface="Cambria"/>
              </a:rPr>
              <a:t>h</a:t>
            </a:r>
            <a:r>
              <a:rPr sz="1100" spc="320" dirty="0">
                <a:latin typeface="Cambria"/>
                <a:cs typeface="Cambria"/>
              </a:rPr>
              <a:t>ƒ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610601" y="2741166"/>
            <a:ext cx="4083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00B04F"/>
                </a:solidFill>
                <a:latin typeface="Cambria"/>
                <a:cs typeface="Cambria"/>
              </a:rPr>
              <a:t>5</a:t>
            </a:r>
            <a:r>
              <a:rPr sz="1000" spc="155" dirty="0">
                <a:solidFill>
                  <a:srgbClr val="00B04F"/>
                </a:solidFill>
                <a:latin typeface="Cambria"/>
                <a:cs typeface="Cambria"/>
              </a:rPr>
              <a:t> ×</a:t>
            </a:r>
            <a:r>
              <a:rPr sz="1000" spc="-35" dirty="0">
                <a:solidFill>
                  <a:srgbClr val="00B04F"/>
                </a:solidFill>
                <a:latin typeface="Cambria"/>
                <a:cs typeface="Cambria"/>
              </a:rPr>
              <a:t> </a:t>
            </a:r>
            <a:r>
              <a:rPr sz="1000" spc="-5" dirty="0">
                <a:solidFill>
                  <a:srgbClr val="00B04F"/>
                </a:solidFill>
                <a:latin typeface="Cambria"/>
                <a:cs typeface="Cambria"/>
              </a:rPr>
              <a:t>10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98665" y="2751835"/>
            <a:ext cx="3378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C00000"/>
                </a:solidFill>
                <a:latin typeface="Cambria"/>
                <a:cs typeface="Cambria"/>
              </a:rPr>
              <a:t>5</a:t>
            </a:r>
            <a:r>
              <a:rPr sz="1000" spc="155" dirty="0">
                <a:solidFill>
                  <a:srgbClr val="C00000"/>
                </a:solidFill>
                <a:latin typeface="Cambria"/>
                <a:cs typeface="Cambria"/>
              </a:rPr>
              <a:t> ×</a:t>
            </a:r>
            <a:r>
              <a:rPr sz="1000" spc="-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000" spc="-5" dirty="0">
                <a:solidFill>
                  <a:srgbClr val="C00000"/>
                </a:solidFill>
                <a:latin typeface="Cambria"/>
                <a:cs typeface="Cambria"/>
              </a:rPr>
              <a:t>5</a:t>
            </a:r>
            <a:endParaRPr sz="1000">
              <a:latin typeface="Cambria"/>
              <a:cs typeface="Cambri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323332" y="1921764"/>
            <a:ext cx="2287905" cy="1069975"/>
            <a:chOff x="5323332" y="1921764"/>
            <a:chExt cx="2287905" cy="1069975"/>
          </a:xfrm>
        </p:grpSpPr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33999" y="1932431"/>
              <a:ext cx="2266187" cy="105003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323332" y="1921764"/>
              <a:ext cx="2287905" cy="1069975"/>
            </a:xfrm>
            <a:custGeom>
              <a:avLst/>
              <a:gdLst/>
              <a:ahLst/>
              <a:cxnLst/>
              <a:rect l="l" t="t" r="r" b="b"/>
              <a:pathLst>
                <a:path w="2287904" h="1069975">
                  <a:moveTo>
                    <a:pt x="2287524" y="903732"/>
                  </a:moveTo>
                  <a:lnTo>
                    <a:pt x="2287524" y="166116"/>
                  </a:lnTo>
                  <a:lnTo>
                    <a:pt x="2284476" y="147828"/>
                  </a:lnTo>
                  <a:lnTo>
                    <a:pt x="2264664" y="97536"/>
                  </a:lnTo>
                  <a:lnTo>
                    <a:pt x="2234184" y="54864"/>
                  </a:lnTo>
                  <a:lnTo>
                    <a:pt x="2191512" y="22860"/>
                  </a:lnTo>
                  <a:lnTo>
                    <a:pt x="2139696" y="4572"/>
                  </a:lnTo>
                  <a:lnTo>
                    <a:pt x="2103120" y="0"/>
                  </a:lnTo>
                  <a:lnTo>
                    <a:pt x="184404" y="0"/>
                  </a:lnTo>
                  <a:lnTo>
                    <a:pt x="129540" y="9144"/>
                  </a:lnTo>
                  <a:lnTo>
                    <a:pt x="80772" y="32004"/>
                  </a:lnTo>
                  <a:lnTo>
                    <a:pt x="41148" y="68580"/>
                  </a:lnTo>
                  <a:lnTo>
                    <a:pt x="32004" y="82296"/>
                  </a:lnTo>
                  <a:lnTo>
                    <a:pt x="21336" y="97536"/>
                  </a:lnTo>
                  <a:lnTo>
                    <a:pt x="13716" y="114300"/>
                  </a:lnTo>
                  <a:lnTo>
                    <a:pt x="7620" y="131064"/>
                  </a:lnTo>
                  <a:lnTo>
                    <a:pt x="3048" y="147828"/>
                  </a:lnTo>
                  <a:lnTo>
                    <a:pt x="0" y="166116"/>
                  </a:lnTo>
                  <a:lnTo>
                    <a:pt x="0" y="903732"/>
                  </a:lnTo>
                  <a:lnTo>
                    <a:pt x="3048" y="922020"/>
                  </a:lnTo>
                  <a:lnTo>
                    <a:pt x="7620" y="940308"/>
                  </a:lnTo>
                  <a:lnTo>
                    <a:pt x="13716" y="957072"/>
                  </a:lnTo>
                  <a:lnTo>
                    <a:pt x="19812" y="970483"/>
                  </a:lnTo>
                  <a:lnTo>
                    <a:pt x="19812" y="185928"/>
                  </a:lnTo>
                  <a:lnTo>
                    <a:pt x="21336" y="167640"/>
                  </a:lnTo>
                  <a:lnTo>
                    <a:pt x="21336" y="169164"/>
                  </a:lnTo>
                  <a:lnTo>
                    <a:pt x="24384" y="152400"/>
                  </a:lnTo>
                  <a:lnTo>
                    <a:pt x="24384" y="153924"/>
                  </a:lnTo>
                  <a:lnTo>
                    <a:pt x="27432" y="137160"/>
                  </a:lnTo>
                  <a:lnTo>
                    <a:pt x="33528" y="121920"/>
                  </a:lnTo>
                  <a:lnTo>
                    <a:pt x="39624" y="109728"/>
                  </a:lnTo>
                  <a:lnTo>
                    <a:pt x="39624" y="108204"/>
                  </a:lnTo>
                  <a:lnTo>
                    <a:pt x="48768" y="92964"/>
                  </a:lnTo>
                  <a:lnTo>
                    <a:pt x="48768" y="94488"/>
                  </a:lnTo>
                  <a:lnTo>
                    <a:pt x="57912" y="80772"/>
                  </a:lnTo>
                  <a:lnTo>
                    <a:pt x="57912" y="82296"/>
                  </a:lnTo>
                  <a:lnTo>
                    <a:pt x="68580" y="68580"/>
                  </a:lnTo>
                  <a:lnTo>
                    <a:pt x="68580" y="70104"/>
                  </a:lnTo>
                  <a:lnTo>
                    <a:pt x="80772" y="57912"/>
                  </a:lnTo>
                  <a:lnTo>
                    <a:pt x="80772" y="58250"/>
                  </a:lnTo>
                  <a:lnTo>
                    <a:pt x="92964" y="48768"/>
                  </a:lnTo>
                  <a:lnTo>
                    <a:pt x="92964" y="50292"/>
                  </a:lnTo>
                  <a:lnTo>
                    <a:pt x="106680" y="41148"/>
                  </a:lnTo>
                  <a:lnTo>
                    <a:pt x="121920" y="33528"/>
                  </a:lnTo>
                  <a:lnTo>
                    <a:pt x="121920" y="34497"/>
                  </a:lnTo>
                  <a:lnTo>
                    <a:pt x="135636" y="29510"/>
                  </a:lnTo>
                  <a:lnTo>
                    <a:pt x="135636" y="28956"/>
                  </a:lnTo>
                  <a:lnTo>
                    <a:pt x="150876" y="24799"/>
                  </a:lnTo>
                  <a:lnTo>
                    <a:pt x="150876" y="24384"/>
                  </a:lnTo>
                  <a:lnTo>
                    <a:pt x="169164" y="21336"/>
                  </a:lnTo>
                  <a:lnTo>
                    <a:pt x="169164" y="22733"/>
                  </a:lnTo>
                  <a:lnTo>
                    <a:pt x="184404" y="21463"/>
                  </a:lnTo>
                  <a:lnTo>
                    <a:pt x="184404" y="21336"/>
                  </a:lnTo>
                  <a:lnTo>
                    <a:pt x="2103120" y="21463"/>
                  </a:lnTo>
                  <a:lnTo>
                    <a:pt x="2118360" y="22733"/>
                  </a:lnTo>
                  <a:lnTo>
                    <a:pt x="2118360" y="21336"/>
                  </a:lnTo>
                  <a:lnTo>
                    <a:pt x="2136648" y="24384"/>
                  </a:lnTo>
                  <a:lnTo>
                    <a:pt x="2136648" y="24799"/>
                  </a:lnTo>
                  <a:lnTo>
                    <a:pt x="2151888" y="28956"/>
                  </a:lnTo>
                  <a:lnTo>
                    <a:pt x="2151888" y="29510"/>
                  </a:lnTo>
                  <a:lnTo>
                    <a:pt x="2165604" y="34497"/>
                  </a:lnTo>
                  <a:lnTo>
                    <a:pt x="2165604" y="33528"/>
                  </a:lnTo>
                  <a:lnTo>
                    <a:pt x="2180844" y="41148"/>
                  </a:lnTo>
                  <a:lnTo>
                    <a:pt x="2194560" y="50292"/>
                  </a:lnTo>
                  <a:lnTo>
                    <a:pt x="2194560" y="48768"/>
                  </a:lnTo>
                  <a:lnTo>
                    <a:pt x="2206752" y="59436"/>
                  </a:lnTo>
                  <a:lnTo>
                    <a:pt x="2206752" y="57912"/>
                  </a:lnTo>
                  <a:lnTo>
                    <a:pt x="2218944" y="70104"/>
                  </a:lnTo>
                  <a:lnTo>
                    <a:pt x="2218944" y="68580"/>
                  </a:lnTo>
                  <a:lnTo>
                    <a:pt x="2229612" y="82296"/>
                  </a:lnTo>
                  <a:lnTo>
                    <a:pt x="2229612" y="80772"/>
                  </a:lnTo>
                  <a:lnTo>
                    <a:pt x="2238756" y="94488"/>
                  </a:lnTo>
                  <a:lnTo>
                    <a:pt x="2238756" y="92964"/>
                  </a:lnTo>
                  <a:lnTo>
                    <a:pt x="2247900" y="108204"/>
                  </a:lnTo>
                  <a:lnTo>
                    <a:pt x="2247900" y="109728"/>
                  </a:lnTo>
                  <a:lnTo>
                    <a:pt x="2253996" y="121920"/>
                  </a:lnTo>
                  <a:lnTo>
                    <a:pt x="2260092" y="137160"/>
                  </a:lnTo>
                  <a:lnTo>
                    <a:pt x="2260092" y="142748"/>
                  </a:lnTo>
                  <a:lnTo>
                    <a:pt x="2263140" y="153924"/>
                  </a:lnTo>
                  <a:lnTo>
                    <a:pt x="2263140" y="152400"/>
                  </a:lnTo>
                  <a:lnTo>
                    <a:pt x="2266188" y="169164"/>
                  </a:lnTo>
                  <a:lnTo>
                    <a:pt x="2266188" y="971042"/>
                  </a:lnTo>
                  <a:lnTo>
                    <a:pt x="2273808" y="957072"/>
                  </a:lnTo>
                  <a:lnTo>
                    <a:pt x="2279904" y="940308"/>
                  </a:lnTo>
                  <a:lnTo>
                    <a:pt x="2284476" y="922020"/>
                  </a:lnTo>
                  <a:lnTo>
                    <a:pt x="2287524" y="903732"/>
                  </a:lnTo>
                  <a:close/>
                </a:path>
                <a:path w="2287904" h="1069975">
                  <a:moveTo>
                    <a:pt x="41148" y="963168"/>
                  </a:moveTo>
                  <a:lnTo>
                    <a:pt x="33528" y="947928"/>
                  </a:lnTo>
                  <a:lnTo>
                    <a:pt x="33528" y="949452"/>
                  </a:lnTo>
                  <a:lnTo>
                    <a:pt x="27432" y="934212"/>
                  </a:lnTo>
                  <a:lnTo>
                    <a:pt x="24384" y="917448"/>
                  </a:lnTo>
                  <a:lnTo>
                    <a:pt x="24384" y="918972"/>
                  </a:lnTo>
                  <a:lnTo>
                    <a:pt x="21336" y="900684"/>
                  </a:lnTo>
                  <a:lnTo>
                    <a:pt x="21336" y="902208"/>
                  </a:lnTo>
                  <a:lnTo>
                    <a:pt x="19812" y="883920"/>
                  </a:lnTo>
                  <a:lnTo>
                    <a:pt x="19812" y="970483"/>
                  </a:lnTo>
                  <a:lnTo>
                    <a:pt x="21336" y="973836"/>
                  </a:lnTo>
                  <a:lnTo>
                    <a:pt x="32004" y="989076"/>
                  </a:lnTo>
                  <a:lnTo>
                    <a:pt x="39624" y="1000506"/>
                  </a:lnTo>
                  <a:lnTo>
                    <a:pt x="39624" y="963168"/>
                  </a:lnTo>
                  <a:lnTo>
                    <a:pt x="41148" y="963168"/>
                  </a:lnTo>
                  <a:close/>
                </a:path>
                <a:path w="2287904" h="1069975">
                  <a:moveTo>
                    <a:pt x="41148" y="106680"/>
                  </a:moveTo>
                  <a:lnTo>
                    <a:pt x="39624" y="108204"/>
                  </a:lnTo>
                  <a:lnTo>
                    <a:pt x="39624" y="109728"/>
                  </a:lnTo>
                  <a:lnTo>
                    <a:pt x="41148" y="106680"/>
                  </a:lnTo>
                  <a:close/>
                </a:path>
                <a:path w="2287904" h="1069975">
                  <a:moveTo>
                    <a:pt x="80772" y="1011936"/>
                  </a:moveTo>
                  <a:lnTo>
                    <a:pt x="68580" y="1001268"/>
                  </a:lnTo>
                  <a:lnTo>
                    <a:pt x="57912" y="989076"/>
                  </a:lnTo>
                  <a:lnTo>
                    <a:pt x="57912" y="990600"/>
                  </a:lnTo>
                  <a:lnTo>
                    <a:pt x="39624" y="963168"/>
                  </a:lnTo>
                  <a:lnTo>
                    <a:pt x="39624" y="1000506"/>
                  </a:lnTo>
                  <a:lnTo>
                    <a:pt x="41148" y="1002792"/>
                  </a:lnTo>
                  <a:lnTo>
                    <a:pt x="53340" y="1016508"/>
                  </a:lnTo>
                  <a:lnTo>
                    <a:pt x="67056" y="1028700"/>
                  </a:lnTo>
                  <a:lnTo>
                    <a:pt x="79248" y="1038182"/>
                  </a:lnTo>
                  <a:lnTo>
                    <a:pt x="79248" y="1011936"/>
                  </a:lnTo>
                  <a:lnTo>
                    <a:pt x="80772" y="1011936"/>
                  </a:lnTo>
                  <a:close/>
                </a:path>
                <a:path w="2287904" h="1069975">
                  <a:moveTo>
                    <a:pt x="80772" y="58250"/>
                  </a:moveTo>
                  <a:lnTo>
                    <a:pt x="80772" y="57912"/>
                  </a:lnTo>
                  <a:lnTo>
                    <a:pt x="79248" y="59436"/>
                  </a:lnTo>
                  <a:lnTo>
                    <a:pt x="80772" y="58250"/>
                  </a:lnTo>
                  <a:close/>
                </a:path>
                <a:path w="2287904" h="1069975">
                  <a:moveTo>
                    <a:pt x="121920" y="1036320"/>
                  </a:moveTo>
                  <a:lnTo>
                    <a:pt x="106680" y="1028700"/>
                  </a:lnTo>
                  <a:lnTo>
                    <a:pt x="106680" y="1030224"/>
                  </a:lnTo>
                  <a:lnTo>
                    <a:pt x="79248" y="1011936"/>
                  </a:lnTo>
                  <a:lnTo>
                    <a:pt x="79248" y="1038182"/>
                  </a:lnTo>
                  <a:lnTo>
                    <a:pt x="80772" y="1039368"/>
                  </a:lnTo>
                  <a:lnTo>
                    <a:pt x="96012" y="1048512"/>
                  </a:lnTo>
                  <a:lnTo>
                    <a:pt x="112776" y="1056132"/>
                  </a:lnTo>
                  <a:lnTo>
                    <a:pt x="120396" y="1058902"/>
                  </a:lnTo>
                  <a:lnTo>
                    <a:pt x="120396" y="1036320"/>
                  </a:lnTo>
                  <a:lnTo>
                    <a:pt x="121920" y="1036320"/>
                  </a:lnTo>
                  <a:close/>
                </a:path>
                <a:path w="2287904" h="1069975">
                  <a:moveTo>
                    <a:pt x="121920" y="34497"/>
                  </a:moveTo>
                  <a:lnTo>
                    <a:pt x="121920" y="33528"/>
                  </a:lnTo>
                  <a:lnTo>
                    <a:pt x="120396" y="35052"/>
                  </a:lnTo>
                  <a:lnTo>
                    <a:pt x="121920" y="34497"/>
                  </a:lnTo>
                  <a:close/>
                </a:path>
                <a:path w="2287904" h="1069975">
                  <a:moveTo>
                    <a:pt x="137160" y="1042416"/>
                  </a:moveTo>
                  <a:lnTo>
                    <a:pt x="120396" y="1036320"/>
                  </a:lnTo>
                  <a:lnTo>
                    <a:pt x="120396" y="1058902"/>
                  </a:lnTo>
                  <a:lnTo>
                    <a:pt x="129540" y="1062228"/>
                  </a:lnTo>
                  <a:lnTo>
                    <a:pt x="135636" y="1063752"/>
                  </a:lnTo>
                  <a:lnTo>
                    <a:pt x="135636" y="1042416"/>
                  </a:lnTo>
                  <a:lnTo>
                    <a:pt x="137160" y="1042416"/>
                  </a:lnTo>
                  <a:close/>
                </a:path>
                <a:path w="2287904" h="1069975">
                  <a:moveTo>
                    <a:pt x="137160" y="28956"/>
                  </a:moveTo>
                  <a:lnTo>
                    <a:pt x="135636" y="28956"/>
                  </a:lnTo>
                  <a:lnTo>
                    <a:pt x="135636" y="29510"/>
                  </a:lnTo>
                  <a:lnTo>
                    <a:pt x="137160" y="28956"/>
                  </a:lnTo>
                  <a:close/>
                </a:path>
                <a:path w="2287904" h="1069975">
                  <a:moveTo>
                    <a:pt x="152400" y="1067562"/>
                  </a:moveTo>
                  <a:lnTo>
                    <a:pt x="152400" y="1046988"/>
                  </a:lnTo>
                  <a:lnTo>
                    <a:pt x="135636" y="1042416"/>
                  </a:lnTo>
                  <a:lnTo>
                    <a:pt x="135636" y="1063752"/>
                  </a:lnTo>
                  <a:lnTo>
                    <a:pt x="147828" y="1066800"/>
                  </a:lnTo>
                  <a:lnTo>
                    <a:pt x="152400" y="1067562"/>
                  </a:lnTo>
                  <a:close/>
                </a:path>
                <a:path w="2287904" h="1069975">
                  <a:moveTo>
                    <a:pt x="152400" y="24384"/>
                  </a:moveTo>
                  <a:lnTo>
                    <a:pt x="150876" y="24384"/>
                  </a:lnTo>
                  <a:lnTo>
                    <a:pt x="150876" y="24799"/>
                  </a:lnTo>
                  <a:lnTo>
                    <a:pt x="152400" y="24384"/>
                  </a:lnTo>
                  <a:close/>
                </a:path>
                <a:path w="2287904" h="1069975">
                  <a:moveTo>
                    <a:pt x="169164" y="1048512"/>
                  </a:moveTo>
                  <a:lnTo>
                    <a:pt x="150876" y="1045464"/>
                  </a:lnTo>
                  <a:lnTo>
                    <a:pt x="152400" y="1046988"/>
                  </a:lnTo>
                  <a:lnTo>
                    <a:pt x="152400" y="1067562"/>
                  </a:lnTo>
                  <a:lnTo>
                    <a:pt x="166116" y="1069848"/>
                  </a:lnTo>
                  <a:lnTo>
                    <a:pt x="167640" y="1069848"/>
                  </a:lnTo>
                  <a:lnTo>
                    <a:pt x="167640" y="1048512"/>
                  </a:lnTo>
                  <a:lnTo>
                    <a:pt x="169164" y="1048512"/>
                  </a:lnTo>
                  <a:close/>
                </a:path>
                <a:path w="2287904" h="1069975">
                  <a:moveTo>
                    <a:pt x="169164" y="22733"/>
                  </a:moveTo>
                  <a:lnTo>
                    <a:pt x="169164" y="21336"/>
                  </a:lnTo>
                  <a:lnTo>
                    <a:pt x="167640" y="22860"/>
                  </a:lnTo>
                  <a:lnTo>
                    <a:pt x="169164" y="22733"/>
                  </a:lnTo>
                  <a:close/>
                </a:path>
                <a:path w="2287904" h="1069975">
                  <a:moveTo>
                    <a:pt x="2103120" y="1069848"/>
                  </a:moveTo>
                  <a:lnTo>
                    <a:pt x="2103120" y="1050036"/>
                  </a:lnTo>
                  <a:lnTo>
                    <a:pt x="184404" y="1050036"/>
                  </a:lnTo>
                  <a:lnTo>
                    <a:pt x="184404" y="1049909"/>
                  </a:lnTo>
                  <a:lnTo>
                    <a:pt x="167640" y="1048512"/>
                  </a:lnTo>
                  <a:lnTo>
                    <a:pt x="167640" y="1069848"/>
                  </a:lnTo>
                  <a:lnTo>
                    <a:pt x="2103120" y="1069848"/>
                  </a:lnTo>
                  <a:close/>
                </a:path>
                <a:path w="2287904" h="1069975">
                  <a:moveTo>
                    <a:pt x="185928" y="21336"/>
                  </a:moveTo>
                  <a:lnTo>
                    <a:pt x="184404" y="21336"/>
                  </a:lnTo>
                  <a:lnTo>
                    <a:pt x="184404" y="21463"/>
                  </a:lnTo>
                  <a:lnTo>
                    <a:pt x="185928" y="21336"/>
                  </a:lnTo>
                  <a:close/>
                </a:path>
                <a:path w="2287904" h="1069975">
                  <a:moveTo>
                    <a:pt x="185928" y="1050036"/>
                  </a:moveTo>
                  <a:lnTo>
                    <a:pt x="184404" y="1049909"/>
                  </a:lnTo>
                  <a:lnTo>
                    <a:pt x="184404" y="1050036"/>
                  </a:lnTo>
                  <a:lnTo>
                    <a:pt x="185928" y="1050036"/>
                  </a:lnTo>
                  <a:close/>
                </a:path>
                <a:path w="2287904" h="1069975">
                  <a:moveTo>
                    <a:pt x="2103120" y="21463"/>
                  </a:moveTo>
                  <a:lnTo>
                    <a:pt x="2103120" y="21336"/>
                  </a:lnTo>
                  <a:lnTo>
                    <a:pt x="2101596" y="21336"/>
                  </a:lnTo>
                  <a:lnTo>
                    <a:pt x="2103120" y="21463"/>
                  </a:lnTo>
                  <a:close/>
                </a:path>
                <a:path w="2287904" h="1069975">
                  <a:moveTo>
                    <a:pt x="2119884" y="1069848"/>
                  </a:moveTo>
                  <a:lnTo>
                    <a:pt x="2119884" y="1048512"/>
                  </a:lnTo>
                  <a:lnTo>
                    <a:pt x="2101596" y="1050036"/>
                  </a:lnTo>
                  <a:lnTo>
                    <a:pt x="2103120" y="1050036"/>
                  </a:lnTo>
                  <a:lnTo>
                    <a:pt x="2103120" y="1069848"/>
                  </a:lnTo>
                  <a:lnTo>
                    <a:pt x="2119884" y="1069848"/>
                  </a:lnTo>
                  <a:close/>
                </a:path>
                <a:path w="2287904" h="1069975">
                  <a:moveTo>
                    <a:pt x="2119884" y="22860"/>
                  </a:moveTo>
                  <a:lnTo>
                    <a:pt x="2118360" y="21336"/>
                  </a:lnTo>
                  <a:lnTo>
                    <a:pt x="2118360" y="22733"/>
                  </a:lnTo>
                  <a:lnTo>
                    <a:pt x="2119884" y="22860"/>
                  </a:lnTo>
                  <a:close/>
                </a:path>
                <a:path w="2287904" h="1069975">
                  <a:moveTo>
                    <a:pt x="2136648" y="1045464"/>
                  </a:moveTo>
                  <a:lnTo>
                    <a:pt x="2118360" y="1048512"/>
                  </a:lnTo>
                  <a:lnTo>
                    <a:pt x="2119884" y="1048512"/>
                  </a:lnTo>
                  <a:lnTo>
                    <a:pt x="2119884" y="1069848"/>
                  </a:lnTo>
                  <a:lnTo>
                    <a:pt x="2121408" y="1069848"/>
                  </a:lnTo>
                  <a:lnTo>
                    <a:pt x="2135124" y="1067562"/>
                  </a:lnTo>
                  <a:lnTo>
                    <a:pt x="2135124" y="1046988"/>
                  </a:lnTo>
                  <a:lnTo>
                    <a:pt x="2136648" y="1045464"/>
                  </a:lnTo>
                  <a:close/>
                </a:path>
                <a:path w="2287904" h="1069975">
                  <a:moveTo>
                    <a:pt x="2136648" y="24799"/>
                  </a:moveTo>
                  <a:lnTo>
                    <a:pt x="2136648" y="24384"/>
                  </a:lnTo>
                  <a:lnTo>
                    <a:pt x="2135124" y="24384"/>
                  </a:lnTo>
                  <a:lnTo>
                    <a:pt x="2136648" y="24799"/>
                  </a:lnTo>
                  <a:close/>
                </a:path>
                <a:path w="2287904" h="1069975">
                  <a:moveTo>
                    <a:pt x="2151888" y="1063752"/>
                  </a:moveTo>
                  <a:lnTo>
                    <a:pt x="2151888" y="1042416"/>
                  </a:lnTo>
                  <a:lnTo>
                    <a:pt x="2135124" y="1046988"/>
                  </a:lnTo>
                  <a:lnTo>
                    <a:pt x="2135124" y="1067562"/>
                  </a:lnTo>
                  <a:lnTo>
                    <a:pt x="2139696" y="1066800"/>
                  </a:lnTo>
                  <a:lnTo>
                    <a:pt x="2151888" y="1063752"/>
                  </a:lnTo>
                  <a:close/>
                </a:path>
                <a:path w="2287904" h="1069975">
                  <a:moveTo>
                    <a:pt x="2151888" y="29510"/>
                  </a:moveTo>
                  <a:lnTo>
                    <a:pt x="2151888" y="28956"/>
                  </a:lnTo>
                  <a:lnTo>
                    <a:pt x="2150364" y="28956"/>
                  </a:lnTo>
                  <a:lnTo>
                    <a:pt x="2151888" y="29510"/>
                  </a:lnTo>
                  <a:close/>
                </a:path>
                <a:path w="2287904" h="1069975">
                  <a:moveTo>
                    <a:pt x="2167128" y="1058902"/>
                  </a:moveTo>
                  <a:lnTo>
                    <a:pt x="2167128" y="1036320"/>
                  </a:lnTo>
                  <a:lnTo>
                    <a:pt x="2150364" y="1042416"/>
                  </a:lnTo>
                  <a:lnTo>
                    <a:pt x="2151888" y="1042416"/>
                  </a:lnTo>
                  <a:lnTo>
                    <a:pt x="2151888" y="1063752"/>
                  </a:lnTo>
                  <a:lnTo>
                    <a:pt x="2157984" y="1062228"/>
                  </a:lnTo>
                  <a:lnTo>
                    <a:pt x="2167128" y="1058902"/>
                  </a:lnTo>
                  <a:close/>
                </a:path>
                <a:path w="2287904" h="1069975">
                  <a:moveTo>
                    <a:pt x="2167128" y="35052"/>
                  </a:moveTo>
                  <a:lnTo>
                    <a:pt x="2165604" y="33528"/>
                  </a:lnTo>
                  <a:lnTo>
                    <a:pt x="2165604" y="34497"/>
                  </a:lnTo>
                  <a:lnTo>
                    <a:pt x="2167128" y="35052"/>
                  </a:lnTo>
                  <a:close/>
                </a:path>
                <a:path w="2287904" h="1069975">
                  <a:moveTo>
                    <a:pt x="2247900" y="998873"/>
                  </a:moveTo>
                  <a:lnTo>
                    <a:pt x="2247900" y="963168"/>
                  </a:lnTo>
                  <a:lnTo>
                    <a:pt x="2229612" y="990600"/>
                  </a:lnTo>
                  <a:lnTo>
                    <a:pt x="2229612" y="989076"/>
                  </a:lnTo>
                  <a:lnTo>
                    <a:pt x="2218944" y="1001268"/>
                  </a:lnTo>
                  <a:lnTo>
                    <a:pt x="2206752" y="1011936"/>
                  </a:lnTo>
                  <a:lnTo>
                    <a:pt x="2194560" y="1021080"/>
                  </a:lnTo>
                  <a:lnTo>
                    <a:pt x="2180844" y="1030224"/>
                  </a:lnTo>
                  <a:lnTo>
                    <a:pt x="2180844" y="1028700"/>
                  </a:lnTo>
                  <a:lnTo>
                    <a:pt x="2165604" y="1036320"/>
                  </a:lnTo>
                  <a:lnTo>
                    <a:pt x="2167128" y="1036320"/>
                  </a:lnTo>
                  <a:lnTo>
                    <a:pt x="2167128" y="1058902"/>
                  </a:lnTo>
                  <a:lnTo>
                    <a:pt x="2174748" y="1056132"/>
                  </a:lnTo>
                  <a:lnTo>
                    <a:pt x="2191512" y="1048512"/>
                  </a:lnTo>
                  <a:lnTo>
                    <a:pt x="2206752" y="1039368"/>
                  </a:lnTo>
                  <a:lnTo>
                    <a:pt x="2220468" y="1028700"/>
                  </a:lnTo>
                  <a:lnTo>
                    <a:pt x="2234184" y="1016508"/>
                  </a:lnTo>
                  <a:lnTo>
                    <a:pt x="2247900" y="998873"/>
                  </a:lnTo>
                  <a:close/>
                </a:path>
                <a:path w="2287904" h="1069975">
                  <a:moveTo>
                    <a:pt x="2247900" y="109728"/>
                  </a:moveTo>
                  <a:lnTo>
                    <a:pt x="2247900" y="108204"/>
                  </a:lnTo>
                  <a:lnTo>
                    <a:pt x="2246376" y="106680"/>
                  </a:lnTo>
                  <a:lnTo>
                    <a:pt x="2247900" y="109728"/>
                  </a:lnTo>
                  <a:close/>
                </a:path>
                <a:path w="2287904" h="1069975">
                  <a:moveTo>
                    <a:pt x="2260092" y="981456"/>
                  </a:moveTo>
                  <a:lnTo>
                    <a:pt x="2260092" y="934212"/>
                  </a:lnTo>
                  <a:lnTo>
                    <a:pt x="2253996" y="949452"/>
                  </a:lnTo>
                  <a:lnTo>
                    <a:pt x="2253996" y="947928"/>
                  </a:lnTo>
                  <a:lnTo>
                    <a:pt x="2246376" y="963168"/>
                  </a:lnTo>
                  <a:lnTo>
                    <a:pt x="2247900" y="963168"/>
                  </a:lnTo>
                  <a:lnTo>
                    <a:pt x="2247900" y="998873"/>
                  </a:lnTo>
                  <a:lnTo>
                    <a:pt x="2255520" y="989076"/>
                  </a:lnTo>
                  <a:lnTo>
                    <a:pt x="2260092" y="981456"/>
                  </a:lnTo>
                  <a:close/>
                </a:path>
                <a:path w="2287904" h="1069975">
                  <a:moveTo>
                    <a:pt x="2260092" y="142748"/>
                  </a:moveTo>
                  <a:lnTo>
                    <a:pt x="2260092" y="137160"/>
                  </a:lnTo>
                  <a:lnTo>
                    <a:pt x="2258568" y="137160"/>
                  </a:lnTo>
                  <a:lnTo>
                    <a:pt x="2260092" y="142748"/>
                  </a:lnTo>
                  <a:close/>
                </a:path>
                <a:path w="2287904" h="1069975">
                  <a:moveTo>
                    <a:pt x="2266188" y="971042"/>
                  </a:moveTo>
                  <a:lnTo>
                    <a:pt x="2266188" y="900684"/>
                  </a:lnTo>
                  <a:lnTo>
                    <a:pt x="2263140" y="918972"/>
                  </a:lnTo>
                  <a:lnTo>
                    <a:pt x="2263140" y="917448"/>
                  </a:lnTo>
                  <a:lnTo>
                    <a:pt x="2258568" y="934212"/>
                  </a:lnTo>
                  <a:lnTo>
                    <a:pt x="2260092" y="934212"/>
                  </a:lnTo>
                  <a:lnTo>
                    <a:pt x="2260092" y="981456"/>
                  </a:lnTo>
                  <a:lnTo>
                    <a:pt x="2264664" y="973836"/>
                  </a:lnTo>
                  <a:lnTo>
                    <a:pt x="2266188" y="971042"/>
                  </a:lnTo>
                  <a:close/>
                </a:path>
              </a:pathLst>
            </a:custGeom>
            <a:solidFill>
              <a:srgbClr val="4070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153909" y="3029202"/>
            <a:ext cx="6432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170" dirty="0">
                <a:solidFill>
                  <a:srgbClr val="FF0000"/>
                </a:solidFill>
                <a:latin typeface="Cambria"/>
                <a:cs typeface="Cambria"/>
              </a:rPr>
              <a:t>W</a:t>
            </a:r>
            <a:r>
              <a:rPr sz="1050" spc="412" baseline="-15873" dirty="0">
                <a:solidFill>
                  <a:srgbClr val="FF0000"/>
                </a:solidFill>
                <a:latin typeface="Cambria"/>
                <a:cs typeface="Cambria"/>
              </a:rPr>
              <a:t>ƒ</a:t>
            </a:r>
            <a:r>
              <a:rPr sz="1000" spc="-5" dirty="0">
                <a:solidFill>
                  <a:srgbClr val="FF0000"/>
                </a:solidFill>
                <a:latin typeface="Cambria"/>
                <a:cs typeface="Cambria"/>
              </a:rPr>
              <a:t>:</a:t>
            </a:r>
            <a:r>
              <a:rPr sz="1000" spc="-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Cambria"/>
                <a:cs typeface="Cambria"/>
              </a:rPr>
              <a:t>5 </a:t>
            </a:r>
            <a:r>
              <a:rPr sz="1000" spc="155" dirty="0">
                <a:solidFill>
                  <a:srgbClr val="FF0000"/>
                </a:solidFill>
                <a:latin typeface="Cambria"/>
                <a:cs typeface="Cambria"/>
              </a:rPr>
              <a:t>×</a:t>
            </a:r>
            <a:r>
              <a:rPr sz="10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Cambria"/>
                <a:cs typeface="Cambria"/>
              </a:rPr>
              <a:t>15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5452871" y="1258817"/>
            <a:ext cx="3732529" cy="329565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2275"/>
              </a:lnSpc>
            </a:pPr>
            <a:r>
              <a:rPr sz="1950" spc="185" dirty="0">
                <a:latin typeface="Cambria"/>
                <a:cs typeface="Cambria"/>
              </a:rPr>
              <a:t>f</a:t>
            </a:r>
            <a:r>
              <a:rPr sz="2100" spc="240" baseline="-15873" dirty="0">
                <a:latin typeface="Cambria"/>
                <a:cs typeface="Cambria"/>
              </a:rPr>
              <a:t>t</a:t>
            </a:r>
            <a:r>
              <a:rPr sz="2100" baseline="-15873" dirty="0">
                <a:latin typeface="Cambria"/>
                <a:cs typeface="Cambria"/>
              </a:rPr>
              <a:t> </a:t>
            </a:r>
            <a:r>
              <a:rPr sz="2100" spc="97" baseline="-15873" dirty="0">
                <a:latin typeface="Cambria"/>
                <a:cs typeface="Cambria"/>
              </a:rPr>
              <a:t> </a:t>
            </a:r>
            <a:r>
              <a:rPr sz="1950" spc="395" dirty="0">
                <a:latin typeface="Cambria"/>
                <a:cs typeface="Cambria"/>
              </a:rPr>
              <a:t>=</a:t>
            </a:r>
            <a:r>
              <a:rPr sz="1950" spc="114" dirty="0">
                <a:latin typeface="Cambria"/>
                <a:cs typeface="Cambria"/>
              </a:rPr>
              <a:t> </a:t>
            </a:r>
            <a:r>
              <a:rPr sz="1950" spc="80" dirty="0">
                <a:latin typeface="Cambria"/>
                <a:cs typeface="Cambria"/>
              </a:rPr>
              <a:t>σ(</a:t>
            </a:r>
            <a:r>
              <a:rPr sz="1950" spc="-185" dirty="0">
                <a:latin typeface="Cambria"/>
                <a:cs typeface="Cambria"/>
              </a:rPr>
              <a:t>W</a:t>
            </a:r>
            <a:r>
              <a:rPr sz="2100" spc="187" baseline="-15873" dirty="0">
                <a:latin typeface="Cambria"/>
                <a:cs typeface="Cambria"/>
              </a:rPr>
              <a:t>h</a:t>
            </a:r>
            <a:r>
              <a:rPr sz="2100" spc="660" baseline="-15873" dirty="0">
                <a:latin typeface="Cambria"/>
                <a:cs typeface="Cambria"/>
              </a:rPr>
              <a:t>ƒ</a:t>
            </a:r>
            <a:r>
              <a:rPr sz="2100" baseline="-15873" dirty="0">
                <a:latin typeface="Cambria"/>
                <a:cs typeface="Cambria"/>
              </a:rPr>
              <a:t> </a:t>
            </a:r>
            <a:r>
              <a:rPr sz="2100" spc="-104" baseline="-15873" dirty="0">
                <a:latin typeface="Cambria"/>
                <a:cs typeface="Cambria"/>
              </a:rPr>
              <a:t> </a:t>
            </a:r>
            <a:r>
              <a:rPr sz="1950" spc="5" dirty="0">
                <a:latin typeface="Cambria"/>
                <a:cs typeface="Cambria"/>
              </a:rPr>
              <a:t>.</a:t>
            </a:r>
            <a:r>
              <a:rPr sz="1950" spc="-120" dirty="0">
                <a:latin typeface="Cambria"/>
                <a:cs typeface="Cambria"/>
              </a:rPr>
              <a:t> </a:t>
            </a:r>
            <a:r>
              <a:rPr sz="1950" spc="20" dirty="0">
                <a:latin typeface="Cambria"/>
                <a:cs typeface="Cambria"/>
              </a:rPr>
              <a:t>ℎ</a:t>
            </a:r>
            <a:r>
              <a:rPr sz="2100" spc="307" baseline="-15873" dirty="0">
                <a:latin typeface="Cambria"/>
                <a:cs typeface="Cambria"/>
              </a:rPr>
              <a:t>t</a:t>
            </a:r>
            <a:r>
              <a:rPr sz="2100" spc="509" baseline="-15873" dirty="0">
                <a:latin typeface="Cambria"/>
                <a:cs typeface="Cambria"/>
              </a:rPr>
              <a:t>–</a:t>
            </a:r>
            <a:r>
              <a:rPr sz="2100" spc="82" baseline="-15873" dirty="0">
                <a:latin typeface="Cambria"/>
                <a:cs typeface="Cambria"/>
              </a:rPr>
              <a:t>1</a:t>
            </a:r>
            <a:r>
              <a:rPr sz="2100" baseline="-15873" dirty="0">
                <a:latin typeface="Cambria"/>
                <a:cs typeface="Cambria"/>
              </a:rPr>
              <a:t> </a:t>
            </a:r>
            <a:r>
              <a:rPr sz="2100" spc="-142" baseline="-15873" dirty="0">
                <a:latin typeface="Cambria"/>
                <a:cs typeface="Cambria"/>
              </a:rPr>
              <a:t> </a:t>
            </a:r>
            <a:r>
              <a:rPr sz="1950" spc="395" dirty="0">
                <a:latin typeface="Cambria"/>
                <a:cs typeface="Cambria"/>
              </a:rPr>
              <a:t>+</a:t>
            </a:r>
            <a:r>
              <a:rPr sz="1950" spc="10" dirty="0">
                <a:latin typeface="Cambria"/>
                <a:cs typeface="Cambria"/>
              </a:rPr>
              <a:t> </a:t>
            </a:r>
            <a:r>
              <a:rPr sz="1950" spc="-185" dirty="0">
                <a:latin typeface="Cambria"/>
                <a:cs typeface="Cambria"/>
              </a:rPr>
              <a:t>W</a:t>
            </a:r>
            <a:r>
              <a:rPr sz="2100" spc="254" baseline="-15873" dirty="0">
                <a:latin typeface="Cambria"/>
                <a:cs typeface="Cambria"/>
              </a:rPr>
              <a:t>x</a:t>
            </a:r>
            <a:r>
              <a:rPr sz="2100" spc="832" baseline="-15873" dirty="0">
                <a:latin typeface="Cambria"/>
                <a:cs typeface="Cambria"/>
              </a:rPr>
              <a:t>ƒ</a:t>
            </a:r>
            <a:r>
              <a:rPr sz="1950" spc="5" dirty="0">
                <a:latin typeface="Cambria"/>
                <a:cs typeface="Cambria"/>
              </a:rPr>
              <a:t>.</a:t>
            </a:r>
            <a:r>
              <a:rPr sz="1950" spc="-105" dirty="0">
                <a:latin typeface="Cambria"/>
                <a:cs typeface="Cambria"/>
              </a:rPr>
              <a:t> </a:t>
            </a:r>
            <a:r>
              <a:rPr sz="1950" spc="85" dirty="0">
                <a:latin typeface="Cambria"/>
                <a:cs typeface="Cambria"/>
              </a:rPr>
              <a:t>x</a:t>
            </a:r>
            <a:r>
              <a:rPr sz="2100" spc="240" baseline="-15873" dirty="0">
                <a:latin typeface="Cambria"/>
                <a:cs typeface="Cambria"/>
              </a:rPr>
              <a:t>t</a:t>
            </a:r>
            <a:r>
              <a:rPr sz="2100" baseline="-15873" dirty="0">
                <a:latin typeface="Cambria"/>
                <a:cs typeface="Cambria"/>
              </a:rPr>
              <a:t> </a:t>
            </a:r>
            <a:r>
              <a:rPr sz="2100" spc="-82" baseline="-15873" dirty="0">
                <a:latin typeface="Cambria"/>
                <a:cs typeface="Cambria"/>
              </a:rPr>
              <a:t> </a:t>
            </a:r>
            <a:r>
              <a:rPr sz="1950" spc="395" dirty="0">
                <a:latin typeface="Cambria"/>
                <a:cs typeface="Cambria"/>
              </a:rPr>
              <a:t>+</a:t>
            </a:r>
            <a:r>
              <a:rPr sz="1950" spc="10" dirty="0">
                <a:latin typeface="Cambria"/>
                <a:cs typeface="Cambria"/>
              </a:rPr>
              <a:t> </a:t>
            </a:r>
            <a:r>
              <a:rPr sz="1950" spc="-180" dirty="0">
                <a:latin typeface="Cambria"/>
                <a:cs typeface="Cambria"/>
              </a:rPr>
              <a:t>b</a:t>
            </a:r>
            <a:r>
              <a:rPr sz="2100" spc="832" baseline="-15873" dirty="0">
                <a:latin typeface="Cambria"/>
                <a:cs typeface="Cambria"/>
              </a:rPr>
              <a:t>ƒ</a:t>
            </a:r>
            <a:r>
              <a:rPr sz="1950" spc="75" dirty="0">
                <a:latin typeface="Cambria"/>
                <a:cs typeface="Cambria"/>
              </a:rPr>
              <a:t>)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874504" y="2142235"/>
            <a:ext cx="42672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175" spc="150" baseline="11494" dirty="0">
                <a:latin typeface="Cambria"/>
                <a:cs typeface="Cambria"/>
              </a:rPr>
              <a:t>ℎ</a:t>
            </a:r>
            <a:r>
              <a:rPr sz="1100" spc="100" dirty="0">
                <a:latin typeface="Cambria"/>
                <a:cs typeface="Cambria"/>
              </a:rPr>
              <a:t>t–1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990328" y="3256278"/>
            <a:ext cx="236854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50" spc="90" dirty="0">
                <a:latin typeface="Cambria"/>
                <a:cs typeface="Cambria"/>
              </a:rPr>
              <a:t>x</a:t>
            </a:r>
            <a:r>
              <a:rPr sz="1650" spc="135" baseline="-15151" dirty="0">
                <a:latin typeface="Cambria"/>
                <a:cs typeface="Cambria"/>
              </a:rPr>
              <a:t>t</a:t>
            </a:r>
            <a:endParaRPr sz="1650" baseline="-15151">
              <a:latin typeface="Cambria"/>
              <a:cs typeface="Cambr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805928" y="1815083"/>
            <a:ext cx="571500" cy="2371725"/>
            <a:chOff x="7805928" y="1815083"/>
            <a:chExt cx="571500" cy="2371725"/>
          </a:xfrm>
        </p:grpSpPr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6595" y="1824227"/>
              <a:ext cx="550163" cy="235153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7805928" y="1815083"/>
              <a:ext cx="571500" cy="2371725"/>
            </a:xfrm>
            <a:custGeom>
              <a:avLst/>
              <a:gdLst/>
              <a:ahLst/>
              <a:cxnLst/>
              <a:rect l="l" t="t" r="r" b="b"/>
              <a:pathLst>
                <a:path w="571500" h="2371725">
                  <a:moveTo>
                    <a:pt x="571500" y="2270760"/>
                  </a:moveTo>
                  <a:lnTo>
                    <a:pt x="571500" y="100584"/>
                  </a:lnTo>
                  <a:lnTo>
                    <a:pt x="569976" y="91440"/>
                  </a:lnTo>
                  <a:lnTo>
                    <a:pt x="568452" y="80772"/>
                  </a:lnTo>
                  <a:lnTo>
                    <a:pt x="566928" y="71628"/>
                  </a:lnTo>
                  <a:lnTo>
                    <a:pt x="562356" y="62484"/>
                  </a:lnTo>
                  <a:lnTo>
                    <a:pt x="559308" y="53340"/>
                  </a:lnTo>
                  <a:lnTo>
                    <a:pt x="525780" y="16764"/>
                  </a:lnTo>
                  <a:lnTo>
                    <a:pt x="489204" y="1524"/>
                  </a:lnTo>
                  <a:lnTo>
                    <a:pt x="480060" y="0"/>
                  </a:lnTo>
                  <a:lnTo>
                    <a:pt x="91440" y="0"/>
                  </a:lnTo>
                  <a:lnTo>
                    <a:pt x="53340" y="12192"/>
                  </a:lnTo>
                  <a:lnTo>
                    <a:pt x="22860" y="36576"/>
                  </a:lnTo>
                  <a:lnTo>
                    <a:pt x="18288" y="44196"/>
                  </a:lnTo>
                  <a:lnTo>
                    <a:pt x="12192" y="53340"/>
                  </a:lnTo>
                  <a:lnTo>
                    <a:pt x="7620" y="62484"/>
                  </a:lnTo>
                  <a:lnTo>
                    <a:pt x="1524" y="80772"/>
                  </a:lnTo>
                  <a:lnTo>
                    <a:pt x="0" y="91440"/>
                  </a:lnTo>
                  <a:lnTo>
                    <a:pt x="0" y="2279904"/>
                  </a:lnTo>
                  <a:lnTo>
                    <a:pt x="1524" y="2290572"/>
                  </a:lnTo>
                  <a:lnTo>
                    <a:pt x="7620" y="2308860"/>
                  </a:lnTo>
                  <a:lnTo>
                    <a:pt x="12192" y="2318004"/>
                  </a:lnTo>
                  <a:lnTo>
                    <a:pt x="18288" y="2327148"/>
                  </a:lnTo>
                  <a:lnTo>
                    <a:pt x="21336" y="2332228"/>
                  </a:lnTo>
                  <a:lnTo>
                    <a:pt x="21336" y="94488"/>
                  </a:lnTo>
                  <a:lnTo>
                    <a:pt x="24384" y="76200"/>
                  </a:lnTo>
                  <a:lnTo>
                    <a:pt x="24384" y="77724"/>
                  </a:lnTo>
                  <a:lnTo>
                    <a:pt x="30480" y="62484"/>
                  </a:lnTo>
                  <a:lnTo>
                    <a:pt x="30480" y="64008"/>
                  </a:lnTo>
                  <a:lnTo>
                    <a:pt x="39624" y="48768"/>
                  </a:lnTo>
                  <a:lnTo>
                    <a:pt x="39624" y="50292"/>
                  </a:lnTo>
                  <a:lnTo>
                    <a:pt x="44196" y="45720"/>
                  </a:lnTo>
                  <a:lnTo>
                    <a:pt x="44196" y="44196"/>
                  </a:lnTo>
                  <a:lnTo>
                    <a:pt x="50292" y="38100"/>
                  </a:lnTo>
                  <a:lnTo>
                    <a:pt x="50292" y="39624"/>
                  </a:lnTo>
                  <a:lnTo>
                    <a:pt x="57912" y="33528"/>
                  </a:lnTo>
                  <a:lnTo>
                    <a:pt x="57912" y="34137"/>
                  </a:lnTo>
                  <a:lnTo>
                    <a:pt x="62484" y="31394"/>
                  </a:lnTo>
                  <a:lnTo>
                    <a:pt x="62484" y="30480"/>
                  </a:lnTo>
                  <a:lnTo>
                    <a:pt x="71628" y="25908"/>
                  </a:lnTo>
                  <a:lnTo>
                    <a:pt x="71628" y="26924"/>
                  </a:lnTo>
                  <a:lnTo>
                    <a:pt x="77724" y="24892"/>
                  </a:lnTo>
                  <a:lnTo>
                    <a:pt x="77724" y="24384"/>
                  </a:lnTo>
                  <a:lnTo>
                    <a:pt x="86868" y="21336"/>
                  </a:lnTo>
                  <a:lnTo>
                    <a:pt x="86868" y="22606"/>
                  </a:lnTo>
                  <a:lnTo>
                    <a:pt x="92964" y="21590"/>
                  </a:lnTo>
                  <a:lnTo>
                    <a:pt x="92964" y="21336"/>
                  </a:lnTo>
                  <a:lnTo>
                    <a:pt x="102108" y="19812"/>
                  </a:lnTo>
                  <a:lnTo>
                    <a:pt x="469392" y="19812"/>
                  </a:lnTo>
                  <a:lnTo>
                    <a:pt x="469392" y="20066"/>
                  </a:lnTo>
                  <a:lnTo>
                    <a:pt x="484632" y="22606"/>
                  </a:lnTo>
                  <a:lnTo>
                    <a:pt x="484632" y="21336"/>
                  </a:lnTo>
                  <a:lnTo>
                    <a:pt x="493776" y="24384"/>
                  </a:lnTo>
                  <a:lnTo>
                    <a:pt x="493776" y="24892"/>
                  </a:lnTo>
                  <a:lnTo>
                    <a:pt x="499872" y="26924"/>
                  </a:lnTo>
                  <a:lnTo>
                    <a:pt x="499872" y="25908"/>
                  </a:lnTo>
                  <a:lnTo>
                    <a:pt x="513588" y="34137"/>
                  </a:lnTo>
                  <a:lnTo>
                    <a:pt x="513588" y="33528"/>
                  </a:lnTo>
                  <a:lnTo>
                    <a:pt x="519684" y="38404"/>
                  </a:lnTo>
                  <a:lnTo>
                    <a:pt x="519684" y="38100"/>
                  </a:lnTo>
                  <a:lnTo>
                    <a:pt x="527304" y="44196"/>
                  </a:lnTo>
                  <a:lnTo>
                    <a:pt x="527304" y="45720"/>
                  </a:lnTo>
                  <a:lnTo>
                    <a:pt x="531876" y="50292"/>
                  </a:lnTo>
                  <a:lnTo>
                    <a:pt x="531876" y="48768"/>
                  </a:lnTo>
                  <a:lnTo>
                    <a:pt x="541020" y="64008"/>
                  </a:lnTo>
                  <a:lnTo>
                    <a:pt x="541020" y="65024"/>
                  </a:lnTo>
                  <a:lnTo>
                    <a:pt x="544068" y="70104"/>
                  </a:lnTo>
                  <a:lnTo>
                    <a:pt x="547116" y="77724"/>
                  </a:lnTo>
                  <a:lnTo>
                    <a:pt x="547116" y="76200"/>
                  </a:lnTo>
                  <a:lnTo>
                    <a:pt x="550164" y="94488"/>
                  </a:lnTo>
                  <a:lnTo>
                    <a:pt x="550164" y="2330958"/>
                  </a:lnTo>
                  <a:lnTo>
                    <a:pt x="553212" y="2327148"/>
                  </a:lnTo>
                  <a:lnTo>
                    <a:pt x="559308" y="2318004"/>
                  </a:lnTo>
                  <a:lnTo>
                    <a:pt x="562356" y="2308860"/>
                  </a:lnTo>
                  <a:lnTo>
                    <a:pt x="566928" y="2299716"/>
                  </a:lnTo>
                  <a:lnTo>
                    <a:pt x="568452" y="2290572"/>
                  </a:lnTo>
                  <a:lnTo>
                    <a:pt x="569976" y="2279904"/>
                  </a:lnTo>
                  <a:lnTo>
                    <a:pt x="571500" y="2270760"/>
                  </a:lnTo>
                  <a:close/>
                </a:path>
                <a:path w="571500" h="2371725">
                  <a:moveTo>
                    <a:pt x="45720" y="2327148"/>
                  </a:moveTo>
                  <a:lnTo>
                    <a:pt x="39624" y="2321052"/>
                  </a:lnTo>
                  <a:lnTo>
                    <a:pt x="39624" y="2322576"/>
                  </a:lnTo>
                  <a:lnTo>
                    <a:pt x="30480" y="2307336"/>
                  </a:lnTo>
                  <a:lnTo>
                    <a:pt x="30480" y="2308860"/>
                  </a:lnTo>
                  <a:lnTo>
                    <a:pt x="24384" y="2293620"/>
                  </a:lnTo>
                  <a:lnTo>
                    <a:pt x="24384" y="2295144"/>
                  </a:lnTo>
                  <a:lnTo>
                    <a:pt x="21336" y="2276856"/>
                  </a:lnTo>
                  <a:lnTo>
                    <a:pt x="21336" y="2332228"/>
                  </a:lnTo>
                  <a:lnTo>
                    <a:pt x="22860" y="2334768"/>
                  </a:lnTo>
                  <a:lnTo>
                    <a:pt x="36576" y="2348484"/>
                  </a:lnTo>
                  <a:lnTo>
                    <a:pt x="44196" y="2353564"/>
                  </a:lnTo>
                  <a:lnTo>
                    <a:pt x="44196" y="2327148"/>
                  </a:lnTo>
                  <a:lnTo>
                    <a:pt x="45720" y="2327148"/>
                  </a:lnTo>
                  <a:close/>
                </a:path>
                <a:path w="571500" h="2371725">
                  <a:moveTo>
                    <a:pt x="45720" y="44196"/>
                  </a:moveTo>
                  <a:lnTo>
                    <a:pt x="44196" y="44196"/>
                  </a:lnTo>
                  <a:lnTo>
                    <a:pt x="44196" y="45720"/>
                  </a:lnTo>
                  <a:lnTo>
                    <a:pt x="45720" y="44196"/>
                  </a:lnTo>
                  <a:close/>
                </a:path>
                <a:path w="571500" h="2371725">
                  <a:moveTo>
                    <a:pt x="57912" y="2361438"/>
                  </a:moveTo>
                  <a:lnTo>
                    <a:pt x="57912" y="2337816"/>
                  </a:lnTo>
                  <a:lnTo>
                    <a:pt x="50292" y="2331720"/>
                  </a:lnTo>
                  <a:lnTo>
                    <a:pt x="50292" y="2333244"/>
                  </a:lnTo>
                  <a:lnTo>
                    <a:pt x="44196" y="2327148"/>
                  </a:lnTo>
                  <a:lnTo>
                    <a:pt x="44196" y="2353564"/>
                  </a:lnTo>
                  <a:lnTo>
                    <a:pt x="45720" y="2354580"/>
                  </a:lnTo>
                  <a:lnTo>
                    <a:pt x="53340" y="2359152"/>
                  </a:lnTo>
                  <a:lnTo>
                    <a:pt x="57912" y="2361438"/>
                  </a:lnTo>
                  <a:close/>
                </a:path>
                <a:path w="571500" h="2371725">
                  <a:moveTo>
                    <a:pt x="57912" y="34137"/>
                  </a:moveTo>
                  <a:lnTo>
                    <a:pt x="57912" y="33528"/>
                  </a:lnTo>
                  <a:lnTo>
                    <a:pt x="56388" y="35052"/>
                  </a:lnTo>
                  <a:lnTo>
                    <a:pt x="57912" y="34137"/>
                  </a:lnTo>
                  <a:close/>
                </a:path>
                <a:path w="571500" h="2371725">
                  <a:moveTo>
                    <a:pt x="64008" y="2340864"/>
                  </a:moveTo>
                  <a:lnTo>
                    <a:pt x="56388" y="2336292"/>
                  </a:lnTo>
                  <a:lnTo>
                    <a:pt x="57912" y="2337816"/>
                  </a:lnTo>
                  <a:lnTo>
                    <a:pt x="57912" y="2361438"/>
                  </a:lnTo>
                  <a:lnTo>
                    <a:pt x="62484" y="2363724"/>
                  </a:lnTo>
                  <a:lnTo>
                    <a:pt x="62484" y="2340864"/>
                  </a:lnTo>
                  <a:lnTo>
                    <a:pt x="64008" y="2340864"/>
                  </a:lnTo>
                  <a:close/>
                </a:path>
                <a:path w="571500" h="2371725">
                  <a:moveTo>
                    <a:pt x="64008" y="30480"/>
                  </a:moveTo>
                  <a:lnTo>
                    <a:pt x="62484" y="30480"/>
                  </a:lnTo>
                  <a:lnTo>
                    <a:pt x="62484" y="31394"/>
                  </a:lnTo>
                  <a:lnTo>
                    <a:pt x="64008" y="30480"/>
                  </a:lnTo>
                  <a:close/>
                </a:path>
                <a:path w="571500" h="2371725">
                  <a:moveTo>
                    <a:pt x="71628" y="2366772"/>
                  </a:moveTo>
                  <a:lnTo>
                    <a:pt x="71628" y="2345436"/>
                  </a:lnTo>
                  <a:lnTo>
                    <a:pt x="62484" y="2340864"/>
                  </a:lnTo>
                  <a:lnTo>
                    <a:pt x="62484" y="2363724"/>
                  </a:lnTo>
                  <a:lnTo>
                    <a:pt x="71628" y="2366772"/>
                  </a:lnTo>
                  <a:close/>
                </a:path>
                <a:path w="571500" h="2371725">
                  <a:moveTo>
                    <a:pt x="71628" y="26924"/>
                  </a:moveTo>
                  <a:lnTo>
                    <a:pt x="71628" y="25908"/>
                  </a:lnTo>
                  <a:lnTo>
                    <a:pt x="70104" y="27432"/>
                  </a:lnTo>
                  <a:lnTo>
                    <a:pt x="71628" y="26924"/>
                  </a:lnTo>
                  <a:close/>
                </a:path>
                <a:path w="571500" h="2371725">
                  <a:moveTo>
                    <a:pt x="79248" y="2346960"/>
                  </a:moveTo>
                  <a:lnTo>
                    <a:pt x="70104" y="2343912"/>
                  </a:lnTo>
                  <a:lnTo>
                    <a:pt x="71628" y="2345436"/>
                  </a:lnTo>
                  <a:lnTo>
                    <a:pt x="71628" y="2366772"/>
                  </a:lnTo>
                  <a:lnTo>
                    <a:pt x="77724" y="2368513"/>
                  </a:lnTo>
                  <a:lnTo>
                    <a:pt x="77724" y="2346960"/>
                  </a:lnTo>
                  <a:lnTo>
                    <a:pt x="79248" y="2346960"/>
                  </a:lnTo>
                  <a:close/>
                </a:path>
                <a:path w="571500" h="2371725">
                  <a:moveTo>
                    <a:pt x="79248" y="24384"/>
                  </a:moveTo>
                  <a:lnTo>
                    <a:pt x="77724" y="24384"/>
                  </a:lnTo>
                  <a:lnTo>
                    <a:pt x="77724" y="24892"/>
                  </a:lnTo>
                  <a:lnTo>
                    <a:pt x="79248" y="24384"/>
                  </a:lnTo>
                  <a:close/>
                </a:path>
                <a:path w="571500" h="2371725">
                  <a:moveTo>
                    <a:pt x="86868" y="2370582"/>
                  </a:moveTo>
                  <a:lnTo>
                    <a:pt x="86868" y="2350008"/>
                  </a:lnTo>
                  <a:lnTo>
                    <a:pt x="77724" y="2346960"/>
                  </a:lnTo>
                  <a:lnTo>
                    <a:pt x="77724" y="2368513"/>
                  </a:lnTo>
                  <a:lnTo>
                    <a:pt x="82296" y="2369820"/>
                  </a:lnTo>
                  <a:lnTo>
                    <a:pt x="86868" y="2370582"/>
                  </a:lnTo>
                  <a:close/>
                </a:path>
                <a:path w="571500" h="2371725">
                  <a:moveTo>
                    <a:pt x="86868" y="22606"/>
                  </a:moveTo>
                  <a:lnTo>
                    <a:pt x="86868" y="21336"/>
                  </a:lnTo>
                  <a:lnTo>
                    <a:pt x="85344" y="22860"/>
                  </a:lnTo>
                  <a:lnTo>
                    <a:pt x="86868" y="22606"/>
                  </a:lnTo>
                  <a:close/>
                </a:path>
                <a:path w="571500" h="2371725">
                  <a:moveTo>
                    <a:pt x="94488" y="2350008"/>
                  </a:moveTo>
                  <a:lnTo>
                    <a:pt x="85344" y="2348484"/>
                  </a:lnTo>
                  <a:lnTo>
                    <a:pt x="86868" y="2350008"/>
                  </a:lnTo>
                  <a:lnTo>
                    <a:pt x="86868" y="2370582"/>
                  </a:lnTo>
                  <a:lnTo>
                    <a:pt x="91440" y="2371344"/>
                  </a:lnTo>
                  <a:lnTo>
                    <a:pt x="92964" y="2371344"/>
                  </a:lnTo>
                  <a:lnTo>
                    <a:pt x="92964" y="2350008"/>
                  </a:lnTo>
                  <a:lnTo>
                    <a:pt x="94488" y="2350008"/>
                  </a:lnTo>
                  <a:close/>
                </a:path>
                <a:path w="571500" h="2371725">
                  <a:moveTo>
                    <a:pt x="94488" y="21336"/>
                  </a:moveTo>
                  <a:lnTo>
                    <a:pt x="92964" y="21336"/>
                  </a:lnTo>
                  <a:lnTo>
                    <a:pt x="92964" y="21590"/>
                  </a:lnTo>
                  <a:lnTo>
                    <a:pt x="94488" y="21336"/>
                  </a:lnTo>
                  <a:close/>
                </a:path>
                <a:path w="571500" h="2371725">
                  <a:moveTo>
                    <a:pt x="469392" y="2371344"/>
                  </a:moveTo>
                  <a:lnTo>
                    <a:pt x="469392" y="2351532"/>
                  </a:lnTo>
                  <a:lnTo>
                    <a:pt x="102108" y="2351532"/>
                  </a:lnTo>
                  <a:lnTo>
                    <a:pt x="92964" y="2350008"/>
                  </a:lnTo>
                  <a:lnTo>
                    <a:pt x="92964" y="2371344"/>
                  </a:lnTo>
                  <a:lnTo>
                    <a:pt x="469392" y="2371344"/>
                  </a:lnTo>
                  <a:close/>
                </a:path>
                <a:path w="571500" h="2371725">
                  <a:moveTo>
                    <a:pt x="469392" y="20066"/>
                  </a:moveTo>
                  <a:lnTo>
                    <a:pt x="469392" y="19812"/>
                  </a:lnTo>
                  <a:lnTo>
                    <a:pt x="467868" y="19812"/>
                  </a:lnTo>
                  <a:lnTo>
                    <a:pt x="469392" y="20066"/>
                  </a:lnTo>
                  <a:close/>
                </a:path>
                <a:path w="571500" h="2371725">
                  <a:moveTo>
                    <a:pt x="486156" y="2348484"/>
                  </a:moveTo>
                  <a:lnTo>
                    <a:pt x="467868" y="2351532"/>
                  </a:lnTo>
                  <a:lnTo>
                    <a:pt x="469392" y="2351532"/>
                  </a:lnTo>
                  <a:lnTo>
                    <a:pt x="469392" y="2371344"/>
                  </a:lnTo>
                  <a:lnTo>
                    <a:pt x="480060" y="2371344"/>
                  </a:lnTo>
                  <a:lnTo>
                    <a:pt x="484632" y="2370582"/>
                  </a:lnTo>
                  <a:lnTo>
                    <a:pt x="484632" y="2350008"/>
                  </a:lnTo>
                  <a:lnTo>
                    <a:pt x="486156" y="2348484"/>
                  </a:lnTo>
                  <a:close/>
                </a:path>
                <a:path w="571500" h="2371725">
                  <a:moveTo>
                    <a:pt x="486156" y="22860"/>
                  </a:moveTo>
                  <a:lnTo>
                    <a:pt x="484632" y="21336"/>
                  </a:lnTo>
                  <a:lnTo>
                    <a:pt x="484632" y="22606"/>
                  </a:lnTo>
                  <a:lnTo>
                    <a:pt x="486156" y="22860"/>
                  </a:lnTo>
                  <a:close/>
                </a:path>
                <a:path w="571500" h="2371725">
                  <a:moveTo>
                    <a:pt x="493776" y="2368513"/>
                  </a:moveTo>
                  <a:lnTo>
                    <a:pt x="493776" y="2346960"/>
                  </a:lnTo>
                  <a:lnTo>
                    <a:pt x="484632" y="2350008"/>
                  </a:lnTo>
                  <a:lnTo>
                    <a:pt x="484632" y="2370582"/>
                  </a:lnTo>
                  <a:lnTo>
                    <a:pt x="489204" y="2369820"/>
                  </a:lnTo>
                  <a:lnTo>
                    <a:pt x="493776" y="2368513"/>
                  </a:lnTo>
                  <a:close/>
                </a:path>
                <a:path w="571500" h="2371725">
                  <a:moveTo>
                    <a:pt x="493776" y="24892"/>
                  </a:moveTo>
                  <a:lnTo>
                    <a:pt x="493776" y="24384"/>
                  </a:lnTo>
                  <a:lnTo>
                    <a:pt x="492252" y="24384"/>
                  </a:lnTo>
                  <a:lnTo>
                    <a:pt x="493776" y="24892"/>
                  </a:lnTo>
                  <a:close/>
                </a:path>
                <a:path w="571500" h="2371725">
                  <a:moveTo>
                    <a:pt x="501396" y="2343912"/>
                  </a:moveTo>
                  <a:lnTo>
                    <a:pt x="492252" y="2346960"/>
                  </a:lnTo>
                  <a:lnTo>
                    <a:pt x="493776" y="2346960"/>
                  </a:lnTo>
                  <a:lnTo>
                    <a:pt x="493776" y="2368513"/>
                  </a:lnTo>
                  <a:lnTo>
                    <a:pt x="499872" y="2366772"/>
                  </a:lnTo>
                  <a:lnTo>
                    <a:pt x="499872" y="2345436"/>
                  </a:lnTo>
                  <a:lnTo>
                    <a:pt x="501396" y="2343912"/>
                  </a:lnTo>
                  <a:close/>
                </a:path>
                <a:path w="571500" h="2371725">
                  <a:moveTo>
                    <a:pt x="501396" y="27432"/>
                  </a:moveTo>
                  <a:lnTo>
                    <a:pt x="499872" y="25908"/>
                  </a:lnTo>
                  <a:lnTo>
                    <a:pt x="499872" y="26924"/>
                  </a:lnTo>
                  <a:lnTo>
                    <a:pt x="501396" y="27432"/>
                  </a:lnTo>
                  <a:close/>
                </a:path>
                <a:path w="571500" h="2371725">
                  <a:moveTo>
                    <a:pt x="515112" y="2336292"/>
                  </a:moveTo>
                  <a:lnTo>
                    <a:pt x="499872" y="2345436"/>
                  </a:lnTo>
                  <a:lnTo>
                    <a:pt x="499872" y="2366772"/>
                  </a:lnTo>
                  <a:lnTo>
                    <a:pt x="509016" y="2363724"/>
                  </a:lnTo>
                  <a:lnTo>
                    <a:pt x="513588" y="2361438"/>
                  </a:lnTo>
                  <a:lnTo>
                    <a:pt x="513588" y="2337816"/>
                  </a:lnTo>
                  <a:lnTo>
                    <a:pt x="515112" y="2336292"/>
                  </a:lnTo>
                  <a:close/>
                </a:path>
                <a:path w="571500" h="2371725">
                  <a:moveTo>
                    <a:pt x="515112" y="35052"/>
                  </a:moveTo>
                  <a:lnTo>
                    <a:pt x="513588" y="33528"/>
                  </a:lnTo>
                  <a:lnTo>
                    <a:pt x="513588" y="34137"/>
                  </a:lnTo>
                  <a:lnTo>
                    <a:pt x="515112" y="35052"/>
                  </a:lnTo>
                  <a:close/>
                </a:path>
                <a:path w="571500" h="2371725">
                  <a:moveTo>
                    <a:pt x="521208" y="2331720"/>
                  </a:moveTo>
                  <a:lnTo>
                    <a:pt x="513588" y="2337816"/>
                  </a:lnTo>
                  <a:lnTo>
                    <a:pt x="513588" y="2361438"/>
                  </a:lnTo>
                  <a:lnTo>
                    <a:pt x="518160" y="2359152"/>
                  </a:lnTo>
                  <a:lnTo>
                    <a:pt x="519684" y="2358237"/>
                  </a:lnTo>
                  <a:lnTo>
                    <a:pt x="519684" y="2333244"/>
                  </a:lnTo>
                  <a:lnTo>
                    <a:pt x="521208" y="2331720"/>
                  </a:lnTo>
                  <a:close/>
                </a:path>
                <a:path w="571500" h="2371725">
                  <a:moveTo>
                    <a:pt x="521208" y="39624"/>
                  </a:moveTo>
                  <a:lnTo>
                    <a:pt x="519684" y="38100"/>
                  </a:lnTo>
                  <a:lnTo>
                    <a:pt x="519684" y="38404"/>
                  </a:lnTo>
                  <a:lnTo>
                    <a:pt x="521208" y="39624"/>
                  </a:lnTo>
                  <a:close/>
                </a:path>
                <a:path w="571500" h="2371725">
                  <a:moveTo>
                    <a:pt x="527304" y="2353360"/>
                  </a:moveTo>
                  <a:lnTo>
                    <a:pt x="527304" y="2327148"/>
                  </a:lnTo>
                  <a:lnTo>
                    <a:pt x="519684" y="2333244"/>
                  </a:lnTo>
                  <a:lnTo>
                    <a:pt x="519684" y="2358237"/>
                  </a:lnTo>
                  <a:lnTo>
                    <a:pt x="525780" y="2354580"/>
                  </a:lnTo>
                  <a:lnTo>
                    <a:pt x="527304" y="2353360"/>
                  </a:lnTo>
                  <a:close/>
                </a:path>
                <a:path w="571500" h="2371725">
                  <a:moveTo>
                    <a:pt x="527304" y="45720"/>
                  </a:moveTo>
                  <a:lnTo>
                    <a:pt x="527304" y="44196"/>
                  </a:lnTo>
                  <a:lnTo>
                    <a:pt x="525780" y="44196"/>
                  </a:lnTo>
                  <a:lnTo>
                    <a:pt x="527304" y="45720"/>
                  </a:lnTo>
                  <a:close/>
                </a:path>
                <a:path w="571500" h="2371725">
                  <a:moveTo>
                    <a:pt x="541020" y="2342388"/>
                  </a:moveTo>
                  <a:lnTo>
                    <a:pt x="541020" y="2307336"/>
                  </a:lnTo>
                  <a:lnTo>
                    <a:pt x="531876" y="2322576"/>
                  </a:lnTo>
                  <a:lnTo>
                    <a:pt x="531876" y="2321052"/>
                  </a:lnTo>
                  <a:lnTo>
                    <a:pt x="525780" y="2327148"/>
                  </a:lnTo>
                  <a:lnTo>
                    <a:pt x="527304" y="2327148"/>
                  </a:lnTo>
                  <a:lnTo>
                    <a:pt x="527304" y="2353360"/>
                  </a:lnTo>
                  <a:lnTo>
                    <a:pt x="541020" y="2342388"/>
                  </a:lnTo>
                  <a:close/>
                </a:path>
                <a:path w="571500" h="2371725">
                  <a:moveTo>
                    <a:pt x="541020" y="65024"/>
                  </a:moveTo>
                  <a:lnTo>
                    <a:pt x="541020" y="64008"/>
                  </a:lnTo>
                  <a:lnTo>
                    <a:pt x="539496" y="62484"/>
                  </a:lnTo>
                  <a:lnTo>
                    <a:pt x="541020" y="65024"/>
                  </a:lnTo>
                  <a:close/>
                </a:path>
                <a:path w="571500" h="2371725">
                  <a:moveTo>
                    <a:pt x="550164" y="2330958"/>
                  </a:moveTo>
                  <a:lnTo>
                    <a:pt x="550164" y="2276856"/>
                  </a:lnTo>
                  <a:lnTo>
                    <a:pt x="547116" y="2295144"/>
                  </a:lnTo>
                  <a:lnTo>
                    <a:pt x="547116" y="2293620"/>
                  </a:lnTo>
                  <a:lnTo>
                    <a:pt x="544068" y="2301240"/>
                  </a:lnTo>
                  <a:lnTo>
                    <a:pt x="539496" y="2308860"/>
                  </a:lnTo>
                  <a:lnTo>
                    <a:pt x="541020" y="2307336"/>
                  </a:lnTo>
                  <a:lnTo>
                    <a:pt x="541020" y="2342388"/>
                  </a:lnTo>
                  <a:lnTo>
                    <a:pt x="550164" y="2330958"/>
                  </a:lnTo>
                  <a:close/>
                </a:path>
              </a:pathLst>
            </a:custGeom>
            <a:solidFill>
              <a:srgbClr val="4070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453116" y="2189479"/>
            <a:ext cx="3378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mbria"/>
                <a:cs typeface="Cambria"/>
              </a:rPr>
              <a:t>5</a:t>
            </a:r>
            <a:r>
              <a:rPr sz="1000" spc="155" dirty="0">
                <a:latin typeface="Cambria"/>
                <a:cs typeface="Cambria"/>
              </a:rPr>
              <a:t> ×</a:t>
            </a:r>
            <a:r>
              <a:rPr sz="1000" spc="-35" dirty="0">
                <a:latin typeface="Cambria"/>
                <a:cs typeface="Cambria"/>
              </a:rPr>
              <a:t> </a:t>
            </a:r>
            <a:r>
              <a:rPr sz="1000" spc="-5" dirty="0">
                <a:latin typeface="Cambria"/>
                <a:cs typeface="Cambria"/>
              </a:rPr>
              <a:t>1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398252" y="3329430"/>
            <a:ext cx="4083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mbria"/>
                <a:cs typeface="Cambria"/>
              </a:rPr>
              <a:t>10</a:t>
            </a:r>
            <a:r>
              <a:rPr sz="1000" spc="150" dirty="0">
                <a:latin typeface="Cambria"/>
                <a:cs typeface="Cambria"/>
              </a:rPr>
              <a:t> </a:t>
            </a:r>
            <a:r>
              <a:rPr sz="1000" spc="155" dirty="0">
                <a:latin typeface="Cambria"/>
                <a:cs typeface="Cambria"/>
              </a:rPr>
              <a:t>×</a:t>
            </a:r>
            <a:r>
              <a:rPr sz="1000" spc="-30" dirty="0">
                <a:latin typeface="Cambria"/>
                <a:cs typeface="Cambria"/>
              </a:rPr>
              <a:t> </a:t>
            </a:r>
            <a:r>
              <a:rPr sz="1000" spc="-5" dirty="0">
                <a:latin typeface="Cambria"/>
                <a:cs typeface="Cambria"/>
              </a:rPr>
              <a:t>1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915144" y="4230114"/>
            <a:ext cx="3810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FF0000"/>
                </a:solidFill>
                <a:latin typeface="Cambria"/>
                <a:cs typeface="Cambria"/>
              </a:rPr>
              <a:t>15</a:t>
            </a:r>
            <a:r>
              <a:rPr sz="1000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000" spc="155" dirty="0">
                <a:solidFill>
                  <a:srgbClr val="FF0000"/>
                </a:solidFill>
                <a:latin typeface="Cambria"/>
                <a:cs typeface="Cambria"/>
              </a:rPr>
              <a:t>×</a:t>
            </a:r>
            <a:r>
              <a:rPr sz="10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Cambria"/>
                <a:cs typeface="Cambria"/>
              </a:rPr>
              <a:t>1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777738" y="4510530"/>
            <a:ext cx="60198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800" spc="50" dirty="0">
                <a:latin typeface="Cambria"/>
                <a:cs typeface="Cambria"/>
              </a:rPr>
              <a:t>W</a:t>
            </a:r>
            <a:r>
              <a:rPr sz="1950" spc="75" baseline="-14957" dirty="0">
                <a:latin typeface="Cambria"/>
                <a:cs typeface="Cambria"/>
              </a:rPr>
              <a:t>ƒ</a:t>
            </a:r>
            <a:r>
              <a:rPr sz="1950" spc="405" baseline="-14957" dirty="0">
                <a:latin typeface="Cambria"/>
                <a:cs typeface="Cambria"/>
              </a:rPr>
              <a:t> </a:t>
            </a:r>
            <a:r>
              <a:rPr sz="1800" spc="355" dirty="0">
                <a:latin typeface="Cambria"/>
                <a:cs typeface="Cambria"/>
              </a:rPr>
              <a:t>=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426964" y="4549140"/>
            <a:ext cx="535305" cy="279400"/>
          </a:xfrm>
          <a:custGeom>
            <a:avLst/>
            <a:gdLst/>
            <a:ahLst/>
            <a:cxnLst/>
            <a:rect l="l" t="t" r="r" b="b"/>
            <a:pathLst>
              <a:path w="535304" h="279400">
                <a:moveTo>
                  <a:pt x="534924" y="278892"/>
                </a:moveTo>
                <a:lnTo>
                  <a:pt x="534924" y="0"/>
                </a:lnTo>
                <a:lnTo>
                  <a:pt x="516636" y="0"/>
                </a:lnTo>
                <a:lnTo>
                  <a:pt x="516636" y="278892"/>
                </a:lnTo>
                <a:lnTo>
                  <a:pt x="534924" y="278892"/>
                </a:lnTo>
                <a:close/>
              </a:path>
              <a:path w="535304" h="279400">
                <a:moveTo>
                  <a:pt x="74676" y="9144"/>
                </a:moveTo>
                <a:lnTo>
                  <a:pt x="71628" y="0"/>
                </a:lnTo>
                <a:lnTo>
                  <a:pt x="55364" y="6548"/>
                </a:lnTo>
                <a:lnTo>
                  <a:pt x="40957" y="16954"/>
                </a:lnTo>
                <a:lnTo>
                  <a:pt x="18288" y="48768"/>
                </a:lnTo>
                <a:lnTo>
                  <a:pt x="4572" y="89725"/>
                </a:lnTo>
                <a:lnTo>
                  <a:pt x="0" y="138684"/>
                </a:lnTo>
                <a:lnTo>
                  <a:pt x="1143" y="164115"/>
                </a:lnTo>
                <a:lnTo>
                  <a:pt x="4572" y="187833"/>
                </a:lnTo>
                <a:lnTo>
                  <a:pt x="10287" y="209835"/>
                </a:lnTo>
                <a:lnTo>
                  <a:pt x="18288" y="230124"/>
                </a:lnTo>
                <a:lnTo>
                  <a:pt x="19812" y="232751"/>
                </a:lnTo>
                <a:lnTo>
                  <a:pt x="19812" y="140208"/>
                </a:lnTo>
                <a:lnTo>
                  <a:pt x="20669" y="115300"/>
                </a:lnTo>
                <a:lnTo>
                  <a:pt x="27527" y="72913"/>
                </a:lnTo>
                <a:lnTo>
                  <a:pt x="50673" y="26289"/>
                </a:lnTo>
                <a:lnTo>
                  <a:pt x="61817" y="16287"/>
                </a:lnTo>
                <a:lnTo>
                  <a:pt x="74676" y="9144"/>
                </a:lnTo>
                <a:close/>
              </a:path>
              <a:path w="535304" h="279400">
                <a:moveTo>
                  <a:pt x="74676" y="269748"/>
                </a:moveTo>
                <a:lnTo>
                  <a:pt x="41243" y="239744"/>
                </a:lnTo>
                <a:lnTo>
                  <a:pt x="23241" y="186118"/>
                </a:lnTo>
                <a:lnTo>
                  <a:pt x="19812" y="140208"/>
                </a:lnTo>
                <a:lnTo>
                  <a:pt x="19812" y="232751"/>
                </a:lnTo>
                <a:lnTo>
                  <a:pt x="28551" y="247816"/>
                </a:lnTo>
                <a:lnTo>
                  <a:pt x="40957" y="261937"/>
                </a:lnTo>
                <a:lnTo>
                  <a:pt x="55364" y="272343"/>
                </a:lnTo>
                <a:lnTo>
                  <a:pt x="71628" y="278892"/>
                </a:lnTo>
                <a:lnTo>
                  <a:pt x="74676" y="2697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5471157" y="4557774"/>
            <a:ext cx="46799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700" spc="150" baseline="10802" dirty="0">
                <a:solidFill>
                  <a:srgbClr val="C00000"/>
                </a:solidFill>
                <a:latin typeface="Cambria"/>
                <a:cs typeface="Cambria"/>
              </a:rPr>
              <a:t>W</a:t>
            </a:r>
            <a:r>
              <a:rPr sz="1300" spc="100" dirty="0">
                <a:solidFill>
                  <a:srgbClr val="C00000"/>
                </a:solidFill>
                <a:latin typeface="Cambria"/>
                <a:cs typeface="Cambria"/>
              </a:rPr>
              <a:t>hƒ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880859" y="4582667"/>
            <a:ext cx="692150" cy="213360"/>
          </a:xfrm>
          <a:custGeom>
            <a:avLst/>
            <a:gdLst/>
            <a:ahLst/>
            <a:cxnLst/>
            <a:rect l="l" t="t" r="r" b="b"/>
            <a:pathLst>
              <a:path w="692150" h="213360">
                <a:moveTo>
                  <a:pt x="691896" y="210312"/>
                </a:moveTo>
                <a:lnTo>
                  <a:pt x="691896" y="1524"/>
                </a:lnTo>
                <a:lnTo>
                  <a:pt x="673608" y="1524"/>
                </a:lnTo>
                <a:lnTo>
                  <a:pt x="673608" y="210312"/>
                </a:lnTo>
                <a:lnTo>
                  <a:pt x="691896" y="210312"/>
                </a:lnTo>
                <a:close/>
              </a:path>
              <a:path w="692150" h="213360">
                <a:moveTo>
                  <a:pt x="70104" y="9144"/>
                </a:moveTo>
                <a:lnTo>
                  <a:pt x="67056" y="0"/>
                </a:lnTo>
                <a:lnTo>
                  <a:pt x="51911" y="5738"/>
                </a:lnTo>
                <a:lnTo>
                  <a:pt x="38481" y="13906"/>
                </a:lnTo>
                <a:lnTo>
                  <a:pt x="9001" y="52673"/>
                </a:lnTo>
                <a:lnTo>
                  <a:pt x="0" y="106680"/>
                </a:lnTo>
                <a:lnTo>
                  <a:pt x="904" y="126396"/>
                </a:lnTo>
                <a:lnTo>
                  <a:pt x="3810" y="144399"/>
                </a:lnTo>
                <a:lnTo>
                  <a:pt x="9001" y="160686"/>
                </a:lnTo>
                <a:lnTo>
                  <a:pt x="16764" y="175260"/>
                </a:lnTo>
                <a:lnTo>
                  <a:pt x="18288" y="177310"/>
                </a:lnTo>
                <a:lnTo>
                  <a:pt x="18288" y="105156"/>
                </a:lnTo>
                <a:lnTo>
                  <a:pt x="19145" y="87463"/>
                </a:lnTo>
                <a:lnTo>
                  <a:pt x="32004" y="42672"/>
                </a:lnTo>
                <a:lnTo>
                  <a:pt x="58150" y="13954"/>
                </a:lnTo>
                <a:lnTo>
                  <a:pt x="70104" y="9144"/>
                </a:lnTo>
                <a:close/>
              </a:path>
              <a:path w="692150" h="213360">
                <a:moveTo>
                  <a:pt x="70104" y="204216"/>
                </a:moveTo>
                <a:lnTo>
                  <a:pt x="38814" y="182141"/>
                </a:lnTo>
                <a:lnTo>
                  <a:pt x="21717" y="141351"/>
                </a:lnTo>
                <a:lnTo>
                  <a:pt x="18288" y="105156"/>
                </a:lnTo>
                <a:lnTo>
                  <a:pt x="18288" y="177310"/>
                </a:lnTo>
                <a:lnTo>
                  <a:pt x="26765" y="188714"/>
                </a:lnTo>
                <a:lnTo>
                  <a:pt x="38481" y="199453"/>
                </a:lnTo>
                <a:lnTo>
                  <a:pt x="51911" y="207621"/>
                </a:lnTo>
                <a:lnTo>
                  <a:pt x="67056" y="213360"/>
                </a:lnTo>
                <a:lnTo>
                  <a:pt x="70104" y="2042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5066789" y="5295389"/>
            <a:ext cx="61341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25780" algn="l"/>
              </a:tabLst>
            </a:pPr>
            <a:r>
              <a:rPr sz="1300" spc="180" dirty="0">
                <a:latin typeface="Cambria"/>
                <a:cs typeface="Cambria"/>
              </a:rPr>
              <a:t>t</a:t>
            </a:r>
            <a:r>
              <a:rPr sz="1300" spc="310" dirty="0">
                <a:latin typeface="Cambria"/>
                <a:cs typeface="Cambria"/>
              </a:rPr>
              <a:t>–</a:t>
            </a:r>
            <a:r>
              <a:rPr sz="1300" spc="40" dirty="0">
                <a:latin typeface="Cambria"/>
                <a:cs typeface="Cambria"/>
              </a:rPr>
              <a:t>1</a:t>
            </a:r>
            <a:r>
              <a:rPr sz="1300" dirty="0">
                <a:latin typeface="Cambria"/>
                <a:cs typeface="Cambria"/>
              </a:rPr>
              <a:t>	</a:t>
            </a:r>
            <a:r>
              <a:rPr sz="1300" spc="140" dirty="0">
                <a:latin typeface="Cambria"/>
                <a:cs typeface="Cambria"/>
              </a:rPr>
              <a:t>t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858001" y="5185662"/>
            <a:ext cx="115443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28955" algn="l"/>
              </a:tabLst>
            </a:pPr>
            <a:r>
              <a:rPr sz="1800" spc="5" dirty="0">
                <a:latin typeface="Cambria"/>
                <a:cs typeface="Cambria"/>
              </a:rPr>
              <a:t>[ℎ	</a:t>
            </a:r>
            <a:r>
              <a:rPr sz="1800" dirty="0">
                <a:latin typeface="Cambria"/>
                <a:cs typeface="Cambria"/>
              </a:rPr>
              <a:t>,</a:t>
            </a:r>
            <a:r>
              <a:rPr sz="1800" spc="-100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x</a:t>
            </a:r>
            <a:r>
              <a:rPr sz="1800" dirty="0">
                <a:latin typeface="Cambria"/>
                <a:cs typeface="Cambria"/>
              </a:rPr>
              <a:t> </a:t>
            </a:r>
            <a:r>
              <a:rPr sz="1800" spc="-1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]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355" dirty="0">
                <a:latin typeface="Cambria"/>
                <a:cs typeface="Cambria"/>
              </a:rPr>
              <a:t>=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134100" y="5135880"/>
            <a:ext cx="678180" cy="454659"/>
          </a:xfrm>
          <a:custGeom>
            <a:avLst/>
            <a:gdLst/>
            <a:ahLst/>
            <a:cxnLst/>
            <a:rect l="l" t="t" r="r" b="b"/>
            <a:pathLst>
              <a:path w="678179" h="454660">
                <a:moveTo>
                  <a:pt x="678180" y="227076"/>
                </a:moveTo>
                <a:lnTo>
                  <a:pt x="676513" y="185618"/>
                </a:lnTo>
                <a:lnTo>
                  <a:pt x="664035" y="114133"/>
                </a:lnTo>
                <a:lnTo>
                  <a:pt x="640913" y="56364"/>
                </a:lnTo>
                <a:lnTo>
                  <a:pt x="612862" y="14597"/>
                </a:lnTo>
                <a:lnTo>
                  <a:pt x="597408" y="0"/>
                </a:lnTo>
                <a:lnTo>
                  <a:pt x="589788" y="7620"/>
                </a:lnTo>
                <a:lnTo>
                  <a:pt x="603813" y="22836"/>
                </a:lnTo>
                <a:lnTo>
                  <a:pt x="616267" y="41338"/>
                </a:lnTo>
                <a:lnTo>
                  <a:pt x="637032" y="89916"/>
                </a:lnTo>
                <a:lnTo>
                  <a:pt x="650748" y="151638"/>
                </a:lnTo>
                <a:lnTo>
                  <a:pt x="655320" y="227076"/>
                </a:lnTo>
                <a:lnTo>
                  <a:pt x="655320" y="367308"/>
                </a:lnTo>
                <a:lnTo>
                  <a:pt x="664035" y="341304"/>
                </a:lnTo>
                <a:lnTo>
                  <a:pt x="671703" y="306895"/>
                </a:lnTo>
                <a:lnTo>
                  <a:pt x="676513" y="268771"/>
                </a:lnTo>
                <a:lnTo>
                  <a:pt x="678180" y="227076"/>
                </a:lnTo>
                <a:close/>
              </a:path>
              <a:path w="678179" h="454660">
                <a:moveTo>
                  <a:pt x="655320" y="367308"/>
                </a:moveTo>
                <a:lnTo>
                  <a:pt x="655320" y="227076"/>
                </a:lnTo>
                <a:lnTo>
                  <a:pt x="654177" y="266747"/>
                </a:lnTo>
                <a:lnTo>
                  <a:pt x="650748" y="303276"/>
                </a:lnTo>
                <a:lnTo>
                  <a:pt x="637032" y="365760"/>
                </a:lnTo>
                <a:lnTo>
                  <a:pt x="616267" y="413575"/>
                </a:lnTo>
                <a:lnTo>
                  <a:pt x="589788" y="446532"/>
                </a:lnTo>
                <a:lnTo>
                  <a:pt x="597408" y="454152"/>
                </a:lnTo>
                <a:lnTo>
                  <a:pt x="612862" y="439578"/>
                </a:lnTo>
                <a:lnTo>
                  <a:pt x="627316" y="421005"/>
                </a:lnTo>
                <a:lnTo>
                  <a:pt x="640913" y="398430"/>
                </a:lnTo>
                <a:lnTo>
                  <a:pt x="653796" y="371856"/>
                </a:lnTo>
                <a:lnTo>
                  <a:pt x="655320" y="367308"/>
                </a:lnTo>
                <a:close/>
              </a:path>
              <a:path w="678179" h="454660">
                <a:moveTo>
                  <a:pt x="86868" y="7620"/>
                </a:moveTo>
                <a:lnTo>
                  <a:pt x="50863" y="33337"/>
                </a:lnTo>
                <a:lnTo>
                  <a:pt x="24384" y="83820"/>
                </a:lnTo>
                <a:lnTo>
                  <a:pt x="5905" y="148018"/>
                </a:lnTo>
                <a:lnTo>
                  <a:pt x="0" y="227076"/>
                </a:lnTo>
                <a:lnTo>
                  <a:pt x="1452" y="268771"/>
                </a:lnTo>
                <a:lnTo>
                  <a:pt x="5905" y="306895"/>
                </a:lnTo>
                <a:lnTo>
                  <a:pt x="13501" y="341304"/>
                </a:lnTo>
                <a:lnTo>
                  <a:pt x="21336" y="363298"/>
                </a:lnTo>
                <a:lnTo>
                  <a:pt x="21336" y="227076"/>
                </a:lnTo>
                <a:lnTo>
                  <a:pt x="22717" y="187642"/>
                </a:lnTo>
                <a:lnTo>
                  <a:pt x="32908" y="119062"/>
                </a:lnTo>
                <a:lnTo>
                  <a:pt x="50863" y="63555"/>
                </a:lnTo>
                <a:lnTo>
                  <a:pt x="73723" y="22836"/>
                </a:lnTo>
                <a:lnTo>
                  <a:pt x="86868" y="7620"/>
                </a:lnTo>
                <a:close/>
              </a:path>
              <a:path w="678179" h="454660">
                <a:moveTo>
                  <a:pt x="86868" y="446532"/>
                </a:moveTo>
                <a:lnTo>
                  <a:pt x="61722" y="413575"/>
                </a:lnTo>
                <a:lnTo>
                  <a:pt x="41148" y="365760"/>
                </a:lnTo>
                <a:lnTo>
                  <a:pt x="26670" y="303276"/>
                </a:lnTo>
                <a:lnTo>
                  <a:pt x="21336" y="227076"/>
                </a:lnTo>
                <a:lnTo>
                  <a:pt x="21336" y="363298"/>
                </a:lnTo>
                <a:lnTo>
                  <a:pt x="37266" y="398430"/>
                </a:lnTo>
                <a:lnTo>
                  <a:pt x="65317" y="439578"/>
                </a:lnTo>
                <a:lnTo>
                  <a:pt x="80772" y="454152"/>
                </a:lnTo>
                <a:lnTo>
                  <a:pt x="86868" y="4465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5988809" y="4510530"/>
            <a:ext cx="3586479" cy="1101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966469" algn="l"/>
                <a:tab pos="1663064" algn="l"/>
              </a:tabLst>
            </a:pPr>
            <a:r>
              <a:rPr sz="1800" spc="140" dirty="0">
                <a:solidFill>
                  <a:srgbClr val="00B04F"/>
                </a:solidFill>
                <a:latin typeface="Cambria"/>
                <a:cs typeface="Cambria"/>
              </a:rPr>
              <a:t>W</a:t>
            </a:r>
            <a:r>
              <a:rPr sz="1950" spc="209" baseline="-14957" dirty="0">
                <a:solidFill>
                  <a:srgbClr val="00B04F"/>
                </a:solidFill>
                <a:latin typeface="Cambria"/>
                <a:cs typeface="Cambria"/>
              </a:rPr>
              <a:t>xƒ</a:t>
            </a:r>
            <a:r>
              <a:rPr sz="1800" spc="140" dirty="0">
                <a:latin typeface="Cambria"/>
                <a:cs typeface="Cambria"/>
              </a:rPr>
              <a:t>)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10" dirty="0">
                <a:latin typeface="Cambria"/>
                <a:cs typeface="Cambria"/>
              </a:rPr>
              <a:t>→	</a:t>
            </a:r>
            <a:r>
              <a:rPr sz="1800" spc="5" dirty="0">
                <a:solidFill>
                  <a:srgbClr val="C00000"/>
                </a:solidFill>
                <a:latin typeface="Cambria"/>
                <a:cs typeface="Cambria"/>
              </a:rPr>
              <a:t>5</a:t>
            </a:r>
            <a:r>
              <a:rPr sz="1800" spc="-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800" spc="295" dirty="0">
                <a:solidFill>
                  <a:srgbClr val="C00000"/>
                </a:solidFill>
                <a:latin typeface="Cambria"/>
                <a:cs typeface="Cambria"/>
              </a:rPr>
              <a:t>×</a:t>
            </a:r>
            <a:r>
              <a:rPr sz="1800" spc="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800" spc="5" dirty="0">
                <a:solidFill>
                  <a:srgbClr val="C00000"/>
                </a:solidFill>
                <a:latin typeface="Cambria"/>
                <a:cs typeface="Cambria"/>
              </a:rPr>
              <a:t>5	</a:t>
            </a:r>
            <a:r>
              <a:rPr sz="1800" spc="5" dirty="0">
                <a:solidFill>
                  <a:srgbClr val="00B04F"/>
                </a:solidFill>
                <a:latin typeface="Cambria"/>
                <a:cs typeface="Cambria"/>
              </a:rPr>
              <a:t>5</a:t>
            </a:r>
            <a:r>
              <a:rPr sz="1800" spc="-10" dirty="0">
                <a:solidFill>
                  <a:srgbClr val="00B04F"/>
                </a:solidFill>
                <a:latin typeface="Cambria"/>
                <a:cs typeface="Cambria"/>
              </a:rPr>
              <a:t> </a:t>
            </a:r>
            <a:r>
              <a:rPr sz="1800" spc="295" dirty="0">
                <a:solidFill>
                  <a:srgbClr val="00B04F"/>
                </a:solidFill>
                <a:latin typeface="Cambria"/>
                <a:cs typeface="Cambria"/>
              </a:rPr>
              <a:t>×</a:t>
            </a:r>
            <a:r>
              <a:rPr sz="1800" spc="-10" dirty="0">
                <a:solidFill>
                  <a:srgbClr val="00B04F"/>
                </a:solidFill>
                <a:latin typeface="Cambria"/>
                <a:cs typeface="Cambria"/>
              </a:rPr>
              <a:t> </a:t>
            </a:r>
            <a:r>
              <a:rPr sz="1800" spc="25" dirty="0">
                <a:solidFill>
                  <a:srgbClr val="00B04F"/>
                </a:solidFill>
                <a:latin typeface="Cambria"/>
                <a:cs typeface="Cambria"/>
              </a:rPr>
              <a:t>10</a:t>
            </a:r>
            <a:r>
              <a:rPr sz="1800" spc="25" dirty="0">
                <a:latin typeface="Cambria"/>
                <a:cs typeface="Cambria"/>
              </a:rPr>
              <a:t>)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355" dirty="0">
                <a:latin typeface="Cambria"/>
                <a:cs typeface="Cambria"/>
              </a:rPr>
              <a:t>=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(</a:t>
            </a:r>
            <a:r>
              <a:rPr sz="1800" spc="35" dirty="0">
                <a:solidFill>
                  <a:srgbClr val="FF0000"/>
                </a:solidFill>
                <a:latin typeface="Cambria"/>
                <a:cs typeface="Cambria"/>
              </a:rPr>
              <a:t>5</a:t>
            </a:r>
            <a:r>
              <a:rPr sz="1800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295" dirty="0">
                <a:solidFill>
                  <a:srgbClr val="FF0000"/>
                </a:solidFill>
                <a:latin typeface="Cambria"/>
                <a:cs typeface="Cambria"/>
              </a:rPr>
              <a:t>×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25" dirty="0">
                <a:solidFill>
                  <a:srgbClr val="FF0000"/>
                </a:solidFill>
                <a:latin typeface="Cambria"/>
                <a:cs typeface="Cambria"/>
              </a:rPr>
              <a:t>15</a:t>
            </a:r>
            <a:r>
              <a:rPr sz="1800" spc="25" dirty="0">
                <a:latin typeface="Cambria"/>
                <a:cs typeface="Cambria"/>
              </a:rPr>
              <a:t>)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350">
              <a:latin typeface="Cambria"/>
              <a:cs typeface="Cambria"/>
            </a:endParaRPr>
          </a:p>
          <a:p>
            <a:pPr marL="377825" marR="2912110" indent="-139065">
              <a:lnSpc>
                <a:spcPts val="1750"/>
              </a:lnSpc>
              <a:spcBef>
                <a:spcPts val="5"/>
              </a:spcBef>
            </a:pPr>
            <a:r>
              <a:rPr sz="2700" spc="7" baseline="10802" dirty="0">
                <a:solidFill>
                  <a:srgbClr val="C00000"/>
                </a:solidFill>
                <a:latin typeface="Cambria"/>
                <a:cs typeface="Cambria"/>
              </a:rPr>
              <a:t>ℎ</a:t>
            </a:r>
            <a:r>
              <a:rPr sz="1300" spc="180" dirty="0">
                <a:solidFill>
                  <a:srgbClr val="C00000"/>
                </a:solidFill>
                <a:latin typeface="Cambria"/>
                <a:cs typeface="Cambria"/>
              </a:rPr>
              <a:t>t</a:t>
            </a:r>
            <a:r>
              <a:rPr sz="1300" spc="310" dirty="0">
                <a:solidFill>
                  <a:srgbClr val="C00000"/>
                </a:solidFill>
                <a:latin typeface="Cambria"/>
                <a:cs typeface="Cambria"/>
              </a:rPr>
              <a:t>–</a:t>
            </a:r>
            <a:r>
              <a:rPr sz="1300" spc="25" dirty="0">
                <a:solidFill>
                  <a:srgbClr val="C00000"/>
                </a:solidFill>
                <a:latin typeface="Cambria"/>
                <a:cs typeface="Cambria"/>
              </a:rPr>
              <a:t>1  </a:t>
            </a:r>
            <a:r>
              <a:rPr sz="1800" spc="105" dirty="0">
                <a:solidFill>
                  <a:srgbClr val="00B04F"/>
                </a:solidFill>
                <a:latin typeface="Cambria"/>
                <a:cs typeface="Cambria"/>
              </a:rPr>
              <a:t>x</a:t>
            </a:r>
            <a:r>
              <a:rPr sz="1950" spc="157" baseline="-14957" dirty="0">
                <a:solidFill>
                  <a:srgbClr val="00B04F"/>
                </a:solidFill>
                <a:latin typeface="Cambria"/>
                <a:cs typeface="Cambria"/>
              </a:rPr>
              <a:t>t</a:t>
            </a:r>
            <a:endParaRPr sz="1950" baseline="-14957">
              <a:latin typeface="Cambria"/>
              <a:cs typeface="Cambri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880349" y="5185662"/>
            <a:ext cx="21844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10" dirty="0">
                <a:latin typeface="Cambria"/>
                <a:cs typeface="Cambria"/>
              </a:rPr>
              <a:t>→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7171944" y="5175504"/>
            <a:ext cx="835660" cy="379730"/>
          </a:xfrm>
          <a:custGeom>
            <a:avLst/>
            <a:gdLst/>
            <a:ahLst/>
            <a:cxnLst/>
            <a:rect l="l" t="t" r="r" b="b"/>
            <a:pathLst>
              <a:path w="835659" h="379729">
                <a:moveTo>
                  <a:pt x="835152" y="188976"/>
                </a:moveTo>
                <a:lnTo>
                  <a:pt x="829437" y="124968"/>
                </a:lnTo>
                <a:lnTo>
                  <a:pt x="812292" y="70104"/>
                </a:lnTo>
                <a:lnTo>
                  <a:pt x="786003" y="26479"/>
                </a:lnTo>
                <a:lnTo>
                  <a:pt x="752856" y="0"/>
                </a:lnTo>
                <a:lnTo>
                  <a:pt x="749808" y="9144"/>
                </a:lnTo>
                <a:lnTo>
                  <a:pt x="763809" y="20240"/>
                </a:lnTo>
                <a:lnTo>
                  <a:pt x="776097" y="35052"/>
                </a:lnTo>
                <a:lnTo>
                  <a:pt x="795528" y="74676"/>
                </a:lnTo>
                <a:lnTo>
                  <a:pt x="809244" y="127254"/>
                </a:lnTo>
                <a:lnTo>
                  <a:pt x="813816" y="188976"/>
                </a:lnTo>
                <a:lnTo>
                  <a:pt x="813816" y="305231"/>
                </a:lnTo>
                <a:lnTo>
                  <a:pt x="822293" y="282201"/>
                </a:lnTo>
                <a:lnTo>
                  <a:pt x="829437" y="253174"/>
                </a:lnTo>
                <a:lnTo>
                  <a:pt x="833723" y="222146"/>
                </a:lnTo>
                <a:lnTo>
                  <a:pt x="835152" y="188976"/>
                </a:lnTo>
                <a:close/>
              </a:path>
              <a:path w="835659" h="379729">
                <a:moveTo>
                  <a:pt x="813816" y="305231"/>
                </a:moveTo>
                <a:lnTo>
                  <a:pt x="813816" y="188976"/>
                </a:lnTo>
                <a:lnTo>
                  <a:pt x="812673" y="220980"/>
                </a:lnTo>
                <a:lnTo>
                  <a:pt x="809244" y="250698"/>
                </a:lnTo>
                <a:lnTo>
                  <a:pt x="795528" y="303276"/>
                </a:lnTo>
                <a:lnTo>
                  <a:pt x="776097" y="343662"/>
                </a:lnTo>
                <a:lnTo>
                  <a:pt x="749808" y="370332"/>
                </a:lnTo>
                <a:lnTo>
                  <a:pt x="752856" y="379476"/>
                </a:lnTo>
                <a:lnTo>
                  <a:pt x="770286" y="367450"/>
                </a:lnTo>
                <a:lnTo>
                  <a:pt x="786003" y="351853"/>
                </a:lnTo>
                <a:lnTo>
                  <a:pt x="800004" y="332541"/>
                </a:lnTo>
                <a:lnTo>
                  <a:pt x="812292" y="309372"/>
                </a:lnTo>
                <a:lnTo>
                  <a:pt x="813816" y="305231"/>
                </a:lnTo>
                <a:close/>
              </a:path>
              <a:path w="835659" h="379729">
                <a:moveTo>
                  <a:pt x="85344" y="9144"/>
                </a:moveTo>
                <a:lnTo>
                  <a:pt x="47625" y="26479"/>
                </a:lnTo>
                <a:lnTo>
                  <a:pt x="21336" y="70104"/>
                </a:lnTo>
                <a:lnTo>
                  <a:pt x="4953" y="124968"/>
                </a:lnTo>
                <a:lnTo>
                  <a:pt x="0" y="188976"/>
                </a:lnTo>
                <a:lnTo>
                  <a:pt x="1190" y="222146"/>
                </a:lnTo>
                <a:lnTo>
                  <a:pt x="4953" y="253174"/>
                </a:lnTo>
                <a:lnTo>
                  <a:pt x="11572" y="282201"/>
                </a:lnTo>
                <a:lnTo>
                  <a:pt x="21336" y="309372"/>
                </a:lnTo>
                <a:lnTo>
                  <a:pt x="21336" y="188976"/>
                </a:lnTo>
                <a:lnTo>
                  <a:pt x="22240" y="156972"/>
                </a:lnTo>
                <a:lnTo>
                  <a:pt x="30337" y="99822"/>
                </a:lnTo>
                <a:lnTo>
                  <a:pt x="47196" y="53292"/>
                </a:lnTo>
                <a:lnTo>
                  <a:pt x="71104" y="20240"/>
                </a:lnTo>
                <a:lnTo>
                  <a:pt x="85344" y="9144"/>
                </a:lnTo>
                <a:close/>
              </a:path>
              <a:path w="835659" h="379729">
                <a:moveTo>
                  <a:pt x="85344" y="370332"/>
                </a:moveTo>
                <a:lnTo>
                  <a:pt x="47196" y="325326"/>
                </a:lnTo>
                <a:lnTo>
                  <a:pt x="30337" y="278130"/>
                </a:lnTo>
                <a:lnTo>
                  <a:pt x="22240" y="220980"/>
                </a:lnTo>
                <a:lnTo>
                  <a:pt x="21336" y="188976"/>
                </a:lnTo>
                <a:lnTo>
                  <a:pt x="21336" y="309372"/>
                </a:lnTo>
                <a:lnTo>
                  <a:pt x="33623" y="332541"/>
                </a:lnTo>
                <a:lnTo>
                  <a:pt x="47625" y="351853"/>
                </a:lnTo>
                <a:lnTo>
                  <a:pt x="63341" y="367450"/>
                </a:lnTo>
                <a:lnTo>
                  <a:pt x="80772" y="379476"/>
                </a:lnTo>
                <a:lnTo>
                  <a:pt x="85344" y="3703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7250681" y="5063742"/>
            <a:ext cx="674370" cy="573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74930">
              <a:lnSpc>
                <a:spcPts val="2150"/>
              </a:lnSpc>
              <a:spcBef>
                <a:spcPts val="110"/>
              </a:spcBef>
            </a:pPr>
            <a:r>
              <a:rPr sz="1800" spc="5" dirty="0">
                <a:solidFill>
                  <a:srgbClr val="C00000"/>
                </a:solidFill>
                <a:latin typeface="Cambria"/>
                <a:cs typeface="Cambria"/>
              </a:rPr>
              <a:t>5</a:t>
            </a:r>
            <a:r>
              <a:rPr sz="1800" spc="-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800" spc="295" dirty="0">
                <a:solidFill>
                  <a:srgbClr val="C00000"/>
                </a:solidFill>
                <a:latin typeface="Cambria"/>
                <a:cs typeface="Cambria"/>
              </a:rPr>
              <a:t>×</a:t>
            </a:r>
            <a:r>
              <a:rPr sz="1800" spc="-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800" spc="5" dirty="0">
                <a:solidFill>
                  <a:srgbClr val="C00000"/>
                </a:solidFill>
                <a:latin typeface="Cambria"/>
                <a:cs typeface="Cambria"/>
              </a:rPr>
              <a:t>1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ts val="2150"/>
              </a:lnSpc>
            </a:pPr>
            <a:r>
              <a:rPr sz="1800" spc="5" dirty="0">
                <a:solidFill>
                  <a:srgbClr val="00B04F"/>
                </a:solidFill>
                <a:latin typeface="Cambria"/>
                <a:cs typeface="Cambria"/>
              </a:rPr>
              <a:t>10</a:t>
            </a:r>
            <a:r>
              <a:rPr sz="1800" spc="-50" dirty="0">
                <a:solidFill>
                  <a:srgbClr val="00B04F"/>
                </a:solidFill>
                <a:latin typeface="Cambria"/>
                <a:cs typeface="Cambria"/>
              </a:rPr>
              <a:t> </a:t>
            </a:r>
            <a:r>
              <a:rPr sz="1800" spc="295" dirty="0">
                <a:solidFill>
                  <a:srgbClr val="00B04F"/>
                </a:solidFill>
                <a:latin typeface="Cambria"/>
                <a:cs typeface="Cambria"/>
              </a:rPr>
              <a:t>×</a:t>
            </a:r>
            <a:r>
              <a:rPr sz="1800" spc="-30" dirty="0">
                <a:solidFill>
                  <a:srgbClr val="00B04F"/>
                </a:solidFill>
                <a:latin typeface="Cambria"/>
                <a:cs typeface="Cambria"/>
              </a:rPr>
              <a:t> </a:t>
            </a:r>
            <a:r>
              <a:rPr sz="1800" spc="5" dirty="0">
                <a:solidFill>
                  <a:srgbClr val="00B04F"/>
                </a:solidFill>
                <a:latin typeface="Cambria"/>
                <a:cs typeface="Cambria"/>
              </a:rPr>
              <a:t>1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56" name="object 56"/>
          <p:cNvSpPr txBox="1"/>
          <p:nvPr/>
        </p:nvSpPr>
        <p:spPr>
          <a:xfrm>
            <a:off x="8076688" y="5185662"/>
            <a:ext cx="115316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355" dirty="0">
                <a:latin typeface="Cambria"/>
                <a:cs typeface="Cambria"/>
              </a:rPr>
              <a:t>=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(</a:t>
            </a:r>
            <a:r>
              <a:rPr sz="1800" spc="25" dirty="0">
                <a:solidFill>
                  <a:srgbClr val="FF0000"/>
                </a:solidFill>
                <a:latin typeface="Cambria"/>
                <a:cs typeface="Cambria"/>
              </a:rPr>
              <a:t>15</a:t>
            </a:r>
            <a:r>
              <a:rPr sz="1800" spc="3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295" dirty="0">
                <a:solidFill>
                  <a:srgbClr val="FF0000"/>
                </a:solidFill>
                <a:latin typeface="Cambria"/>
                <a:cs typeface="Cambria"/>
              </a:rPr>
              <a:t>×</a:t>
            </a:r>
            <a:r>
              <a:rPr sz="1800" spc="-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35" dirty="0">
                <a:solidFill>
                  <a:srgbClr val="FF0000"/>
                </a:solidFill>
                <a:latin typeface="Cambria"/>
                <a:cs typeface="Cambria"/>
              </a:rPr>
              <a:t>1</a:t>
            </a:r>
            <a:r>
              <a:rPr sz="1800" spc="35" dirty="0">
                <a:latin typeface="Cambria"/>
                <a:cs typeface="Cambria"/>
              </a:rPr>
              <a:t>)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7851" y="1423416"/>
            <a:ext cx="3946525" cy="3343910"/>
            <a:chOff x="247851" y="1423416"/>
            <a:chExt cx="3946525" cy="33439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97180" y="2586736"/>
              <a:ext cx="223759" cy="2235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89982" y="3511295"/>
              <a:ext cx="404270" cy="4236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851" y="3511295"/>
              <a:ext cx="442791" cy="36728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9321" y="1423416"/>
              <a:ext cx="3051048" cy="334365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3137" y="2577083"/>
            <a:ext cx="400396" cy="18850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5207508" y="3589020"/>
            <a:ext cx="3522345" cy="561340"/>
            <a:chOff x="5207508" y="3589020"/>
            <a:chExt cx="3522345" cy="561340"/>
          </a:xfrm>
        </p:grpSpPr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76148" y="3764279"/>
              <a:ext cx="3337379" cy="28803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207508" y="3589020"/>
              <a:ext cx="3522345" cy="561340"/>
            </a:xfrm>
            <a:custGeom>
              <a:avLst/>
              <a:gdLst/>
              <a:ahLst/>
              <a:cxnLst/>
              <a:rect l="l" t="t" r="r" b="b"/>
              <a:pathLst>
                <a:path w="3522345" h="561339">
                  <a:moveTo>
                    <a:pt x="3521964" y="554736"/>
                  </a:moveTo>
                  <a:lnTo>
                    <a:pt x="3521964" y="6096"/>
                  </a:lnTo>
                  <a:lnTo>
                    <a:pt x="3515868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554736"/>
                  </a:lnTo>
                  <a:lnTo>
                    <a:pt x="4572" y="560832"/>
                  </a:lnTo>
                  <a:lnTo>
                    <a:pt x="12192" y="560832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497580" y="24384"/>
                  </a:lnTo>
                  <a:lnTo>
                    <a:pt x="3497580" y="12192"/>
                  </a:lnTo>
                  <a:lnTo>
                    <a:pt x="3509772" y="24384"/>
                  </a:lnTo>
                  <a:lnTo>
                    <a:pt x="3509772" y="560832"/>
                  </a:lnTo>
                  <a:lnTo>
                    <a:pt x="3515868" y="560832"/>
                  </a:lnTo>
                  <a:lnTo>
                    <a:pt x="3521964" y="554736"/>
                  </a:lnTo>
                  <a:close/>
                </a:path>
                <a:path w="3522345" h="561339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3522345" h="561339">
                  <a:moveTo>
                    <a:pt x="22860" y="536448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536448"/>
                  </a:lnTo>
                  <a:lnTo>
                    <a:pt x="22860" y="536448"/>
                  </a:lnTo>
                  <a:close/>
                </a:path>
                <a:path w="3522345" h="561339">
                  <a:moveTo>
                    <a:pt x="3509772" y="536448"/>
                  </a:moveTo>
                  <a:lnTo>
                    <a:pt x="12192" y="536448"/>
                  </a:lnTo>
                  <a:lnTo>
                    <a:pt x="22860" y="548640"/>
                  </a:lnTo>
                  <a:lnTo>
                    <a:pt x="22860" y="560832"/>
                  </a:lnTo>
                  <a:lnTo>
                    <a:pt x="3497580" y="560832"/>
                  </a:lnTo>
                  <a:lnTo>
                    <a:pt x="3497580" y="548640"/>
                  </a:lnTo>
                  <a:lnTo>
                    <a:pt x="3509772" y="536448"/>
                  </a:lnTo>
                  <a:close/>
                </a:path>
                <a:path w="3522345" h="561339">
                  <a:moveTo>
                    <a:pt x="22860" y="560832"/>
                  </a:moveTo>
                  <a:lnTo>
                    <a:pt x="22860" y="548640"/>
                  </a:lnTo>
                  <a:lnTo>
                    <a:pt x="12192" y="536448"/>
                  </a:lnTo>
                  <a:lnTo>
                    <a:pt x="12192" y="560832"/>
                  </a:lnTo>
                  <a:lnTo>
                    <a:pt x="22860" y="560832"/>
                  </a:lnTo>
                  <a:close/>
                </a:path>
                <a:path w="3522345" h="561339">
                  <a:moveTo>
                    <a:pt x="3509772" y="24384"/>
                  </a:moveTo>
                  <a:lnTo>
                    <a:pt x="3497580" y="12192"/>
                  </a:lnTo>
                  <a:lnTo>
                    <a:pt x="3497580" y="24384"/>
                  </a:lnTo>
                  <a:lnTo>
                    <a:pt x="3509772" y="24384"/>
                  </a:lnTo>
                  <a:close/>
                </a:path>
                <a:path w="3522345" h="561339">
                  <a:moveTo>
                    <a:pt x="3509772" y="536448"/>
                  </a:moveTo>
                  <a:lnTo>
                    <a:pt x="3509772" y="24384"/>
                  </a:lnTo>
                  <a:lnTo>
                    <a:pt x="3497580" y="24384"/>
                  </a:lnTo>
                  <a:lnTo>
                    <a:pt x="3497580" y="536448"/>
                  </a:lnTo>
                  <a:lnTo>
                    <a:pt x="3509772" y="536448"/>
                  </a:lnTo>
                  <a:close/>
                </a:path>
                <a:path w="3522345" h="561339">
                  <a:moveTo>
                    <a:pt x="3509772" y="560832"/>
                  </a:moveTo>
                  <a:lnTo>
                    <a:pt x="3509772" y="536448"/>
                  </a:lnTo>
                  <a:lnTo>
                    <a:pt x="3497580" y="548640"/>
                  </a:lnTo>
                  <a:lnTo>
                    <a:pt x="3497580" y="560832"/>
                  </a:lnTo>
                  <a:lnTo>
                    <a:pt x="3509772" y="560832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920489" y="5062728"/>
            <a:ext cx="2807335" cy="303530"/>
            <a:chOff x="920489" y="5062728"/>
            <a:chExt cx="2807335" cy="303530"/>
          </a:xfrm>
        </p:grpSpPr>
        <p:sp>
          <p:nvSpPr>
            <p:cNvPr id="12" name="object 12"/>
            <p:cNvSpPr/>
            <p:nvPr/>
          </p:nvSpPr>
          <p:spPr>
            <a:xfrm>
              <a:off x="932681" y="5074919"/>
              <a:ext cx="2783205" cy="279400"/>
            </a:xfrm>
            <a:custGeom>
              <a:avLst/>
              <a:gdLst/>
              <a:ahLst/>
              <a:cxnLst/>
              <a:rect l="l" t="t" r="r" b="b"/>
              <a:pathLst>
                <a:path w="2783204" h="279400">
                  <a:moveTo>
                    <a:pt x="2782823" y="278891"/>
                  </a:moveTo>
                  <a:lnTo>
                    <a:pt x="2782823" y="0"/>
                  </a:lnTo>
                  <a:lnTo>
                    <a:pt x="0" y="0"/>
                  </a:lnTo>
                  <a:lnTo>
                    <a:pt x="0" y="278891"/>
                  </a:lnTo>
                  <a:lnTo>
                    <a:pt x="2782823" y="278891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20489" y="5062728"/>
              <a:ext cx="2807335" cy="303530"/>
            </a:xfrm>
            <a:custGeom>
              <a:avLst/>
              <a:gdLst/>
              <a:ahLst/>
              <a:cxnLst/>
              <a:rect l="l" t="t" r="r" b="b"/>
              <a:pathLst>
                <a:path w="2807335" h="303529">
                  <a:moveTo>
                    <a:pt x="2807214" y="297180"/>
                  </a:moveTo>
                  <a:lnTo>
                    <a:pt x="2807214" y="6096"/>
                  </a:lnTo>
                  <a:lnTo>
                    <a:pt x="2802642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297180"/>
                  </a:lnTo>
                  <a:lnTo>
                    <a:pt x="4572" y="303276"/>
                  </a:lnTo>
                  <a:lnTo>
                    <a:pt x="12192" y="303276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2784354" y="24384"/>
                  </a:lnTo>
                  <a:lnTo>
                    <a:pt x="2784354" y="12192"/>
                  </a:lnTo>
                  <a:lnTo>
                    <a:pt x="2795022" y="24384"/>
                  </a:lnTo>
                  <a:lnTo>
                    <a:pt x="2795022" y="303276"/>
                  </a:lnTo>
                  <a:lnTo>
                    <a:pt x="2802642" y="303276"/>
                  </a:lnTo>
                  <a:lnTo>
                    <a:pt x="2807214" y="297180"/>
                  </a:lnTo>
                  <a:close/>
                </a:path>
                <a:path w="2807335" h="303529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2807335" h="303529">
                  <a:moveTo>
                    <a:pt x="22860" y="278892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278892"/>
                  </a:lnTo>
                  <a:lnTo>
                    <a:pt x="22860" y="278892"/>
                  </a:lnTo>
                  <a:close/>
                </a:path>
                <a:path w="2807335" h="303529">
                  <a:moveTo>
                    <a:pt x="2795022" y="278892"/>
                  </a:moveTo>
                  <a:lnTo>
                    <a:pt x="12192" y="278892"/>
                  </a:lnTo>
                  <a:lnTo>
                    <a:pt x="22860" y="291084"/>
                  </a:lnTo>
                  <a:lnTo>
                    <a:pt x="22860" y="303276"/>
                  </a:lnTo>
                  <a:lnTo>
                    <a:pt x="2784354" y="303276"/>
                  </a:lnTo>
                  <a:lnTo>
                    <a:pt x="2784354" y="291084"/>
                  </a:lnTo>
                  <a:lnTo>
                    <a:pt x="2795022" y="278892"/>
                  </a:lnTo>
                  <a:close/>
                </a:path>
                <a:path w="2807335" h="303529">
                  <a:moveTo>
                    <a:pt x="22860" y="303276"/>
                  </a:moveTo>
                  <a:lnTo>
                    <a:pt x="22860" y="291084"/>
                  </a:lnTo>
                  <a:lnTo>
                    <a:pt x="12192" y="278892"/>
                  </a:lnTo>
                  <a:lnTo>
                    <a:pt x="12192" y="303276"/>
                  </a:lnTo>
                  <a:lnTo>
                    <a:pt x="22860" y="303276"/>
                  </a:lnTo>
                  <a:close/>
                </a:path>
                <a:path w="2807335" h="303529">
                  <a:moveTo>
                    <a:pt x="2795022" y="24384"/>
                  </a:moveTo>
                  <a:lnTo>
                    <a:pt x="2784354" y="12192"/>
                  </a:lnTo>
                  <a:lnTo>
                    <a:pt x="2784354" y="24384"/>
                  </a:lnTo>
                  <a:lnTo>
                    <a:pt x="2795022" y="24384"/>
                  </a:lnTo>
                  <a:close/>
                </a:path>
                <a:path w="2807335" h="303529">
                  <a:moveTo>
                    <a:pt x="2795022" y="278892"/>
                  </a:moveTo>
                  <a:lnTo>
                    <a:pt x="2795022" y="24384"/>
                  </a:lnTo>
                  <a:lnTo>
                    <a:pt x="2784354" y="24384"/>
                  </a:lnTo>
                  <a:lnTo>
                    <a:pt x="2784354" y="278892"/>
                  </a:lnTo>
                  <a:lnTo>
                    <a:pt x="2795022" y="278892"/>
                  </a:lnTo>
                  <a:close/>
                </a:path>
                <a:path w="2807335" h="303529">
                  <a:moveTo>
                    <a:pt x="2795022" y="303276"/>
                  </a:moveTo>
                  <a:lnTo>
                    <a:pt x="2795022" y="278892"/>
                  </a:lnTo>
                  <a:lnTo>
                    <a:pt x="2784354" y="291084"/>
                  </a:lnTo>
                  <a:lnTo>
                    <a:pt x="2784354" y="303276"/>
                  </a:lnTo>
                  <a:lnTo>
                    <a:pt x="2795022" y="303276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32681" y="5074920"/>
            <a:ext cx="494030" cy="256540"/>
          </a:xfrm>
          <a:prstGeom prst="rect">
            <a:avLst/>
          </a:prstGeom>
          <a:solidFill>
            <a:srgbClr val="FFF2CC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2014"/>
              </a:lnSpc>
            </a:pPr>
            <a:r>
              <a:rPr sz="1800" spc="90" dirty="0">
                <a:latin typeface="Cambria"/>
                <a:cs typeface="Cambria"/>
              </a:rPr>
              <a:t>x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355" dirty="0">
                <a:latin typeface="Cambria"/>
                <a:cs typeface="Cambria"/>
              </a:rPr>
              <a:t>=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426210" y="5120652"/>
            <a:ext cx="2225040" cy="215265"/>
          </a:xfrm>
          <a:custGeom>
            <a:avLst/>
            <a:gdLst/>
            <a:ahLst/>
            <a:cxnLst/>
            <a:rect l="l" t="t" r="r" b="b"/>
            <a:pathLst>
              <a:path w="2225040" h="215264">
                <a:moveTo>
                  <a:pt x="50800" y="0"/>
                </a:moveTo>
                <a:lnTo>
                  <a:pt x="20320" y="0"/>
                </a:lnTo>
                <a:lnTo>
                  <a:pt x="0" y="0"/>
                </a:lnTo>
                <a:lnTo>
                  <a:pt x="0" y="214884"/>
                </a:lnTo>
                <a:lnTo>
                  <a:pt x="20053" y="214884"/>
                </a:lnTo>
                <a:lnTo>
                  <a:pt x="20320" y="214884"/>
                </a:lnTo>
                <a:lnTo>
                  <a:pt x="50533" y="214884"/>
                </a:lnTo>
                <a:lnTo>
                  <a:pt x="50533" y="205740"/>
                </a:lnTo>
                <a:lnTo>
                  <a:pt x="20320" y="205740"/>
                </a:lnTo>
                <a:lnTo>
                  <a:pt x="20320" y="9144"/>
                </a:lnTo>
                <a:lnTo>
                  <a:pt x="50800" y="9144"/>
                </a:lnTo>
                <a:lnTo>
                  <a:pt x="50800" y="0"/>
                </a:lnTo>
                <a:close/>
              </a:path>
              <a:path w="2225040" h="215264">
                <a:moveTo>
                  <a:pt x="2205482" y="205740"/>
                </a:moveTo>
                <a:lnTo>
                  <a:pt x="2175002" y="205740"/>
                </a:lnTo>
                <a:lnTo>
                  <a:pt x="2175002" y="214884"/>
                </a:lnTo>
                <a:lnTo>
                  <a:pt x="2205482" y="214884"/>
                </a:lnTo>
                <a:lnTo>
                  <a:pt x="2205482" y="205740"/>
                </a:lnTo>
                <a:close/>
              </a:path>
              <a:path w="2225040" h="215264">
                <a:moveTo>
                  <a:pt x="2225040" y="0"/>
                </a:moveTo>
                <a:lnTo>
                  <a:pt x="2205990" y="0"/>
                </a:lnTo>
                <a:lnTo>
                  <a:pt x="2175510" y="0"/>
                </a:lnTo>
                <a:lnTo>
                  <a:pt x="2175510" y="9144"/>
                </a:lnTo>
                <a:lnTo>
                  <a:pt x="2205990" y="9144"/>
                </a:lnTo>
                <a:lnTo>
                  <a:pt x="2205990" y="214884"/>
                </a:lnTo>
                <a:lnTo>
                  <a:pt x="2225040" y="214884"/>
                </a:lnTo>
                <a:lnTo>
                  <a:pt x="2225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421130" y="4964682"/>
            <a:ext cx="223647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10"/>
              </a:spcBef>
            </a:pPr>
            <a:r>
              <a:rPr sz="2700" spc="284" baseline="-20061" dirty="0">
                <a:latin typeface="Cambria"/>
                <a:cs typeface="Cambria"/>
              </a:rPr>
              <a:t>x</a:t>
            </a:r>
            <a:r>
              <a:rPr sz="1300" spc="245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1</a:t>
            </a:r>
            <a:r>
              <a:rPr sz="1300" spc="250" dirty="0">
                <a:latin typeface="Cambria"/>
                <a:cs typeface="Cambria"/>
              </a:rPr>
              <a:t>&gt;</a:t>
            </a:r>
            <a:r>
              <a:rPr sz="1300" dirty="0">
                <a:latin typeface="Cambria"/>
                <a:cs typeface="Cambria"/>
              </a:rPr>
              <a:t> </a:t>
            </a:r>
            <a:r>
              <a:rPr sz="1300" spc="-95" dirty="0">
                <a:latin typeface="Cambria"/>
                <a:cs typeface="Cambria"/>
              </a:rPr>
              <a:t> 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284" baseline="-20061" dirty="0">
                <a:latin typeface="Cambria"/>
                <a:cs typeface="Cambria"/>
              </a:rPr>
              <a:t>x</a:t>
            </a:r>
            <a:r>
              <a:rPr sz="1300" spc="260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2</a:t>
            </a:r>
            <a:r>
              <a:rPr sz="1300" spc="330" dirty="0">
                <a:latin typeface="Cambria"/>
                <a:cs typeface="Cambria"/>
              </a:rPr>
              <a:t>&gt;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15" baseline="-20061" dirty="0">
                <a:latin typeface="Cambria"/>
                <a:cs typeface="Cambria"/>
              </a:rPr>
              <a:t>⋯</a:t>
            </a:r>
            <a:r>
              <a:rPr sz="2700" spc="-135" baseline="-20061" dirty="0">
                <a:latin typeface="Cambria"/>
                <a:cs typeface="Cambria"/>
              </a:rPr>
              <a:t> 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284" baseline="-20061" dirty="0">
                <a:latin typeface="Cambria"/>
                <a:cs typeface="Cambria"/>
              </a:rPr>
              <a:t>x</a:t>
            </a:r>
            <a:r>
              <a:rPr sz="1300" spc="245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10</a:t>
            </a:r>
            <a:r>
              <a:rPr sz="1300" spc="250" dirty="0">
                <a:latin typeface="Cambria"/>
                <a:cs typeface="Cambria"/>
              </a:rPr>
              <a:t>&gt;</a:t>
            </a:r>
            <a:endParaRPr sz="1300">
              <a:latin typeface="Cambria"/>
              <a:cs typeface="Cambr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20489" y="5455920"/>
            <a:ext cx="2702560" cy="306705"/>
            <a:chOff x="920489" y="5455920"/>
            <a:chExt cx="2702560" cy="306705"/>
          </a:xfrm>
        </p:grpSpPr>
        <p:sp>
          <p:nvSpPr>
            <p:cNvPr id="18" name="object 18"/>
            <p:cNvSpPr/>
            <p:nvPr/>
          </p:nvSpPr>
          <p:spPr>
            <a:xfrm>
              <a:off x="932681" y="5468111"/>
              <a:ext cx="2677795" cy="281940"/>
            </a:xfrm>
            <a:custGeom>
              <a:avLst/>
              <a:gdLst/>
              <a:ahLst/>
              <a:cxnLst/>
              <a:rect l="l" t="t" r="r" b="b"/>
              <a:pathLst>
                <a:path w="2677795" h="281939">
                  <a:moveTo>
                    <a:pt x="2677667" y="281939"/>
                  </a:moveTo>
                  <a:lnTo>
                    <a:pt x="2677667" y="0"/>
                  </a:lnTo>
                  <a:lnTo>
                    <a:pt x="0" y="0"/>
                  </a:lnTo>
                  <a:lnTo>
                    <a:pt x="0" y="281939"/>
                  </a:lnTo>
                  <a:lnTo>
                    <a:pt x="2677667" y="28193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20489" y="5455920"/>
              <a:ext cx="2702560" cy="306705"/>
            </a:xfrm>
            <a:custGeom>
              <a:avLst/>
              <a:gdLst/>
              <a:ahLst/>
              <a:cxnLst/>
              <a:rect l="l" t="t" r="r" b="b"/>
              <a:pathLst>
                <a:path w="2702560" h="306704">
                  <a:moveTo>
                    <a:pt x="2702058" y="300228"/>
                  </a:moveTo>
                  <a:lnTo>
                    <a:pt x="2702058" y="4572"/>
                  </a:lnTo>
                  <a:lnTo>
                    <a:pt x="2695962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300228"/>
                  </a:lnTo>
                  <a:lnTo>
                    <a:pt x="4572" y="306324"/>
                  </a:lnTo>
                  <a:lnTo>
                    <a:pt x="12192" y="306324"/>
                  </a:lnTo>
                  <a:lnTo>
                    <a:pt x="12192" y="22860"/>
                  </a:lnTo>
                  <a:lnTo>
                    <a:pt x="22860" y="12192"/>
                  </a:lnTo>
                  <a:lnTo>
                    <a:pt x="22860" y="22860"/>
                  </a:lnTo>
                  <a:lnTo>
                    <a:pt x="2677674" y="22860"/>
                  </a:lnTo>
                  <a:lnTo>
                    <a:pt x="2677674" y="12192"/>
                  </a:lnTo>
                  <a:lnTo>
                    <a:pt x="2689866" y="22860"/>
                  </a:lnTo>
                  <a:lnTo>
                    <a:pt x="2689866" y="306324"/>
                  </a:lnTo>
                  <a:lnTo>
                    <a:pt x="2695962" y="306324"/>
                  </a:lnTo>
                  <a:lnTo>
                    <a:pt x="2702058" y="300228"/>
                  </a:lnTo>
                  <a:close/>
                </a:path>
                <a:path w="2702560" h="306704">
                  <a:moveTo>
                    <a:pt x="22860" y="22860"/>
                  </a:moveTo>
                  <a:lnTo>
                    <a:pt x="22860" y="12192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2702560" h="306704">
                  <a:moveTo>
                    <a:pt x="22860" y="281940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281940"/>
                  </a:lnTo>
                  <a:lnTo>
                    <a:pt x="22860" y="281940"/>
                  </a:lnTo>
                  <a:close/>
                </a:path>
                <a:path w="2702560" h="306704">
                  <a:moveTo>
                    <a:pt x="2689866" y="281940"/>
                  </a:moveTo>
                  <a:lnTo>
                    <a:pt x="12192" y="281940"/>
                  </a:lnTo>
                  <a:lnTo>
                    <a:pt x="22860" y="294132"/>
                  </a:lnTo>
                  <a:lnTo>
                    <a:pt x="22860" y="306324"/>
                  </a:lnTo>
                  <a:lnTo>
                    <a:pt x="2677674" y="306324"/>
                  </a:lnTo>
                  <a:lnTo>
                    <a:pt x="2677674" y="294132"/>
                  </a:lnTo>
                  <a:lnTo>
                    <a:pt x="2689866" y="281940"/>
                  </a:lnTo>
                  <a:close/>
                </a:path>
                <a:path w="2702560" h="306704">
                  <a:moveTo>
                    <a:pt x="22860" y="306324"/>
                  </a:moveTo>
                  <a:lnTo>
                    <a:pt x="22860" y="294132"/>
                  </a:lnTo>
                  <a:lnTo>
                    <a:pt x="12192" y="281940"/>
                  </a:lnTo>
                  <a:lnTo>
                    <a:pt x="12192" y="306324"/>
                  </a:lnTo>
                  <a:lnTo>
                    <a:pt x="22860" y="306324"/>
                  </a:lnTo>
                  <a:close/>
                </a:path>
                <a:path w="2702560" h="306704">
                  <a:moveTo>
                    <a:pt x="2689866" y="22860"/>
                  </a:moveTo>
                  <a:lnTo>
                    <a:pt x="2677674" y="12192"/>
                  </a:lnTo>
                  <a:lnTo>
                    <a:pt x="2677674" y="22860"/>
                  </a:lnTo>
                  <a:lnTo>
                    <a:pt x="2689866" y="22860"/>
                  </a:lnTo>
                  <a:close/>
                </a:path>
                <a:path w="2702560" h="306704">
                  <a:moveTo>
                    <a:pt x="2689866" y="281940"/>
                  </a:moveTo>
                  <a:lnTo>
                    <a:pt x="2689866" y="22860"/>
                  </a:lnTo>
                  <a:lnTo>
                    <a:pt x="2677674" y="22860"/>
                  </a:lnTo>
                  <a:lnTo>
                    <a:pt x="2677674" y="281940"/>
                  </a:lnTo>
                  <a:lnTo>
                    <a:pt x="2689866" y="281940"/>
                  </a:lnTo>
                  <a:close/>
                </a:path>
                <a:path w="2702560" h="306704">
                  <a:moveTo>
                    <a:pt x="2689866" y="306324"/>
                  </a:moveTo>
                  <a:lnTo>
                    <a:pt x="2689866" y="281940"/>
                  </a:lnTo>
                  <a:lnTo>
                    <a:pt x="2677674" y="294132"/>
                  </a:lnTo>
                  <a:lnTo>
                    <a:pt x="2677674" y="306324"/>
                  </a:lnTo>
                  <a:lnTo>
                    <a:pt x="2689866" y="306324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32681" y="5468111"/>
            <a:ext cx="495300" cy="259079"/>
          </a:xfrm>
          <a:prstGeom prst="rect">
            <a:avLst/>
          </a:prstGeom>
          <a:solidFill>
            <a:srgbClr val="FFF2CC"/>
          </a:solidFill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2039"/>
              </a:lnSpc>
            </a:pPr>
            <a:r>
              <a:rPr sz="1800" spc="5" dirty="0">
                <a:latin typeface="Cambria"/>
                <a:cs typeface="Cambria"/>
              </a:rPr>
              <a:t>ℎ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355" dirty="0">
                <a:latin typeface="Cambria"/>
                <a:cs typeface="Cambria"/>
              </a:rPr>
              <a:t>=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427480" y="5516892"/>
            <a:ext cx="2117090" cy="215265"/>
          </a:xfrm>
          <a:custGeom>
            <a:avLst/>
            <a:gdLst/>
            <a:ahLst/>
            <a:cxnLst/>
            <a:rect l="l" t="t" r="r" b="b"/>
            <a:pathLst>
              <a:path w="2117090" h="215264">
                <a:moveTo>
                  <a:pt x="50800" y="0"/>
                </a:moveTo>
                <a:lnTo>
                  <a:pt x="20320" y="0"/>
                </a:lnTo>
                <a:lnTo>
                  <a:pt x="0" y="0"/>
                </a:lnTo>
                <a:lnTo>
                  <a:pt x="0" y="214884"/>
                </a:lnTo>
                <a:lnTo>
                  <a:pt x="20307" y="214884"/>
                </a:lnTo>
                <a:lnTo>
                  <a:pt x="50787" y="214884"/>
                </a:lnTo>
                <a:lnTo>
                  <a:pt x="50787" y="205740"/>
                </a:lnTo>
                <a:lnTo>
                  <a:pt x="20320" y="205740"/>
                </a:lnTo>
                <a:lnTo>
                  <a:pt x="20320" y="9144"/>
                </a:lnTo>
                <a:lnTo>
                  <a:pt x="50800" y="9144"/>
                </a:lnTo>
                <a:lnTo>
                  <a:pt x="50800" y="0"/>
                </a:lnTo>
                <a:close/>
              </a:path>
              <a:path w="2117090" h="215264">
                <a:moveTo>
                  <a:pt x="2097532" y="205740"/>
                </a:moveTo>
                <a:lnTo>
                  <a:pt x="2067052" y="205740"/>
                </a:lnTo>
                <a:lnTo>
                  <a:pt x="2067052" y="214884"/>
                </a:lnTo>
                <a:lnTo>
                  <a:pt x="2097532" y="214884"/>
                </a:lnTo>
                <a:lnTo>
                  <a:pt x="2097532" y="205740"/>
                </a:lnTo>
                <a:close/>
              </a:path>
              <a:path w="2117090" h="215264">
                <a:moveTo>
                  <a:pt x="2117090" y="0"/>
                </a:moveTo>
                <a:lnTo>
                  <a:pt x="2098040" y="0"/>
                </a:lnTo>
                <a:lnTo>
                  <a:pt x="2067560" y="0"/>
                </a:lnTo>
                <a:lnTo>
                  <a:pt x="2067560" y="9144"/>
                </a:lnTo>
                <a:lnTo>
                  <a:pt x="2098040" y="9144"/>
                </a:lnTo>
                <a:lnTo>
                  <a:pt x="2098040" y="214884"/>
                </a:lnTo>
                <a:lnTo>
                  <a:pt x="2117090" y="214884"/>
                </a:lnTo>
                <a:lnTo>
                  <a:pt x="21170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422400" y="5360922"/>
            <a:ext cx="212852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110"/>
              </a:spcBef>
            </a:pPr>
            <a:r>
              <a:rPr sz="2700" spc="60" baseline="-20061" dirty="0">
                <a:latin typeface="Cambria"/>
                <a:cs typeface="Cambria"/>
              </a:rPr>
              <a:t>ℎ</a:t>
            </a:r>
            <a:r>
              <a:rPr sz="1300" spc="245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1</a:t>
            </a:r>
            <a:r>
              <a:rPr sz="1300" spc="250" dirty="0">
                <a:latin typeface="Cambria"/>
                <a:cs typeface="Cambria"/>
              </a:rPr>
              <a:t>&gt;</a:t>
            </a:r>
            <a:r>
              <a:rPr sz="1300" dirty="0">
                <a:latin typeface="Cambria"/>
                <a:cs typeface="Cambria"/>
              </a:rPr>
              <a:t> </a:t>
            </a:r>
            <a:r>
              <a:rPr sz="1300" spc="-95" dirty="0">
                <a:latin typeface="Cambria"/>
                <a:cs typeface="Cambria"/>
              </a:rPr>
              <a:t> 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60" baseline="-20061" dirty="0">
                <a:latin typeface="Cambria"/>
                <a:cs typeface="Cambria"/>
              </a:rPr>
              <a:t>ℎ</a:t>
            </a:r>
            <a:r>
              <a:rPr sz="1300" spc="260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2</a:t>
            </a:r>
            <a:r>
              <a:rPr sz="1300" spc="320" dirty="0">
                <a:latin typeface="Cambria"/>
                <a:cs typeface="Cambria"/>
              </a:rPr>
              <a:t>&gt;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15" baseline="-20061" dirty="0">
                <a:latin typeface="Cambria"/>
                <a:cs typeface="Cambria"/>
              </a:rPr>
              <a:t>⋯</a:t>
            </a:r>
            <a:r>
              <a:rPr sz="2700" spc="-135" baseline="-20061" dirty="0">
                <a:latin typeface="Cambria"/>
                <a:cs typeface="Cambria"/>
              </a:rPr>
              <a:t> 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67" baseline="-20061" dirty="0">
                <a:latin typeface="Cambria"/>
                <a:cs typeface="Cambria"/>
              </a:rPr>
              <a:t>ℎ</a:t>
            </a:r>
            <a:r>
              <a:rPr sz="1300" spc="260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5</a:t>
            </a:r>
            <a:r>
              <a:rPr sz="1300" spc="250" dirty="0">
                <a:latin typeface="Cambria"/>
                <a:cs typeface="Cambria"/>
              </a:rPr>
              <a:t>&gt;</a:t>
            </a:r>
            <a:endParaRPr sz="1300">
              <a:latin typeface="Cambria"/>
              <a:cs typeface="Cambr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845552" y="1946148"/>
            <a:ext cx="396240" cy="1019810"/>
            <a:chOff x="7845552" y="1946148"/>
            <a:chExt cx="396240" cy="1019810"/>
          </a:xfrm>
        </p:grpSpPr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56219" y="1956815"/>
              <a:ext cx="374903" cy="99821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845552" y="1946148"/>
              <a:ext cx="396240" cy="1019810"/>
            </a:xfrm>
            <a:custGeom>
              <a:avLst/>
              <a:gdLst/>
              <a:ahLst/>
              <a:cxnLst/>
              <a:rect l="l" t="t" r="r" b="b"/>
              <a:pathLst>
                <a:path w="396240" h="1019810">
                  <a:moveTo>
                    <a:pt x="396240" y="954024"/>
                  </a:moveTo>
                  <a:lnTo>
                    <a:pt x="396240" y="65532"/>
                  </a:lnTo>
                  <a:lnTo>
                    <a:pt x="394716" y="57912"/>
                  </a:lnTo>
                  <a:lnTo>
                    <a:pt x="374904" y="21336"/>
                  </a:lnTo>
                  <a:lnTo>
                    <a:pt x="338328" y="1524"/>
                  </a:lnTo>
                  <a:lnTo>
                    <a:pt x="330708" y="0"/>
                  </a:lnTo>
                  <a:lnTo>
                    <a:pt x="65532" y="0"/>
                  </a:lnTo>
                  <a:lnTo>
                    <a:pt x="21336" y="21336"/>
                  </a:lnTo>
                  <a:lnTo>
                    <a:pt x="1524" y="57912"/>
                  </a:lnTo>
                  <a:lnTo>
                    <a:pt x="0" y="65532"/>
                  </a:lnTo>
                  <a:lnTo>
                    <a:pt x="0" y="954024"/>
                  </a:lnTo>
                  <a:lnTo>
                    <a:pt x="21336" y="998220"/>
                  </a:lnTo>
                  <a:lnTo>
                    <a:pt x="21336" y="64008"/>
                  </a:lnTo>
                  <a:lnTo>
                    <a:pt x="22860" y="57912"/>
                  </a:lnTo>
                  <a:lnTo>
                    <a:pt x="24384" y="55626"/>
                  </a:lnTo>
                  <a:lnTo>
                    <a:pt x="24384" y="53340"/>
                  </a:lnTo>
                  <a:lnTo>
                    <a:pt x="30480" y="42672"/>
                  </a:lnTo>
                  <a:lnTo>
                    <a:pt x="30480" y="43586"/>
                  </a:lnTo>
                  <a:lnTo>
                    <a:pt x="35052" y="37185"/>
                  </a:lnTo>
                  <a:lnTo>
                    <a:pt x="35052" y="36576"/>
                  </a:lnTo>
                  <a:lnTo>
                    <a:pt x="36576" y="35052"/>
                  </a:lnTo>
                  <a:lnTo>
                    <a:pt x="36576" y="35306"/>
                  </a:lnTo>
                  <a:lnTo>
                    <a:pt x="44196" y="28956"/>
                  </a:lnTo>
                  <a:lnTo>
                    <a:pt x="44196" y="29609"/>
                  </a:lnTo>
                  <a:lnTo>
                    <a:pt x="53340" y="24384"/>
                  </a:lnTo>
                  <a:lnTo>
                    <a:pt x="53340" y="25146"/>
                  </a:lnTo>
                  <a:lnTo>
                    <a:pt x="57912" y="22860"/>
                  </a:lnTo>
                  <a:lnTo>
                    <a:pt x="57912" y="24384"/>
                  </a:lnTo>
                  <a:lnTo>
                    <a:pt x="62484" y="22860"/>
                  </a:lnTo>
                  <a:lnTo>
                    <a:pt x="67056" y="21717"/>
                  </a:lnTo>
                  <a:lnTo>
                    <a:pt x="67056" y="21336"/>
                  </a:lnTo>
                  <a:lnTo>
                    <a:pt x="329184" y="21336"/>
                  </a:lnTo>
                  <a:lnTo>
                    <a:pt x="329184" y="21717"/>
                  </a:lnTo>
                  <a:lnTo>
                    <a:pt x="333756" y="22860"/>
                  </a:lnTo>
                  <a:lnTo>
                    <a:pt x="333756" y="23241"/>
                  </a:lnTo>
                  <a:lnTo>
                    <a:pt x="338328" y="24384"/>
                  </a:lnTo>
                  <a:lnTo>
                    <a:pt x="338328" y="22860"/>
                  </a:lnTo>
                  <a:lnTo>
                    <a:pt x="342900" y="25908"/>
                  </a:lnTo>
                  <a:lnTo>
                    <a:pt x="342900" y="24384"/>
                  </a:lnTo>
                  <a:lnTo>
                    <a:pt x="353568" y="30480"/>
                  </a:lnTo>
                  <a:lnTo>
                    <a:pt x="353568" y="31133"/>
                  </a:lnTo>
                  <a:lnTo>
                    <a:pt x="359664" y="35487"/>
                  </a:lnTo>
                  <a:lnTo>
                    <a:pt x="359664" y="35052"/>
                  </a:lnTo>
                  <a:lnTo>
                    <a:pt x="361188" y="36576"/>
                  </a:lnTo>
                  <a:lnTo>
                    <a:pt x="361188" y="37185"/>
                  </a:lnTo>
                  <a:lnTo>
                    <a:pt x="365760" y="43586"/>
                  </a:lnTo>
                  <a:lnTo>
                    <a:pt x="365760" y="42672"/>
                  </a:lnTo>
                  <a:lnTo>
                    <a:pt x="371856" y="53340"/>
                  </a:lnTo>
                  <a:lnTo>
                    <a:pt x="371856" y="55626"/>
                  </a:lnTo>
                  <a:lnTo>
                    <a:pt x="373380" y="57912"/>
                  </a:lnTo>
                  <a:lnTo>
                    <a:pt x="373380" y="62484"/>
                  </a:lnTo>
                  <a:lnTo>
                    <a:pt x="374904" y="68580"/>
                  </a:lnTo>
                  <a:lnTo>
                    <a:pt x="374904" y="998220"/>
                  </a:lnTo>
                  <a:lnTo>
                    <a:pt x="384048" y="987552"/>
                  </a:lnTo>
                  <a:lnTo>
                    <a:pt x="390144" y="975360"/>
                  </a:lnTo>
                  <a:lnTo>
                    <a:pt x="393192" y="967740"/>
                  </a:lnTo>
                  <a:lnTo>
                    <a:pt x="394716" y="961644"/>
                  </a:lnTo>
                  <a:lnTo>
                    <a:pt x="396240" y="954024"/>
                  </a:lnTo>
                  <a:close/>
                </a:path>
                <a:path w="396240" h="1019810">
                  <a:moveTo>
                    <a:pt x="22860" y="62484"/>
                  </a:moveTo>
                  <a:lnTo>
                    <a:pt x="21336" y="64008"/>
                  </a:lnTo>
                  <a:lnTo>
                    <a:pt x="21336" y="68580"/>
                  </a:lnTo>
                  <a:lnTo>
                    <a:pt x="22860" y="62484"/>
                  </a:lnTo>
                  <a:close/>
                </a:path>
                <a:path w="396240" h="1019810">
                  <a:moveTo>
                    <a:pt x="22860" y="957072"/>
                  </a:moveTo>
                  <a:lnTo>
                    <a:pt x="21336" y="950976"/>
                  </a:lnTo>
                  <a:lnTo>
                    <a:pt x="21336" y="957072"/>
                  </a:lnTo>
                  <a:lnTo>
                    <a:pt x="22860" y="957072"/>
                  </a:lnTo>
                  <a:close/>
                </a:path>
                <a:path w="396240" h="1019810">
                  <a:moveTo>
                    <a:pt x="25908" y="967740"/>
                  </a:moveTo>
                  <a:lnTo>
                    <a:pt x="22860" y="961644"/>
                  </a:lnTo>
                  <a:lnTo>
                    <a:pt x="21336" y="957072"/>
                  </a:lnTo>
                  <a:lnTo>
                    <a:pt x="21336" y="998220"/>
                  </a:lnTo>
                  <a:lnTo>
                    <a:pt x="24384" y="1000832"/>
                  </a:lnTo>
                  <a:lnTo>
                    <a:pt x="24384" y="966216"/>
                  </a:lnTo>
                  <a:lnTo>
                    <a:pt x="25908" y="967740"/>
                  </a:lnTo>
                  <a:close/>
                </a:path>
                <a:path w="396240" h="1019810">
                  <a:moveTo>
                    <a:pt x="25908" y="53340"/>
                  </a:moveTo>
                  <a:lnTo>
                    <a:pt x="24384" y="53340"/>
                  </a:lnTo>
                  <a:lnTo>
                    <a:pt x="24384" y="55626"/>
                  </a:lnTo>
                  <a:lnTo>
                    <a:pt x="25908" y="53340"/>
                  </a:lnTo>
                  <a:close/>
                </a:path>
                <a:path w="396240" h="1019810">
                  <a:moveTo>
                    <a:pt x="30480" y="976884"/>
                  </a:moveTo>
                  <a:lnTo>
                    <a:pt x="24384" y="966216"/>
                  </a:lnTo>
                  <a:lnTo>
                    <a:pt x="24384" y="1000832"/>
                  </a:lnTo>
                  <a:lnTo>
                    <a:pt x="28956" y="1004751"/>
                  </a:lnTo>
                  <a:lnTo>
                    <a:pt x="28956" y="975360"/>
                  </a:lnTo>
                  <a:lnTo>
                    <a:pt x="30480" y="976884"/>
                  </a:lnTo>
                  <a:close/>
                </a:path>
                <a:path w="396240" h="1019810">
                  <a:moveTo>
                    <a:pt x="30480" y="43586"/>
                  </a:moveTo>
                  <a:lnTo>
                    <a:pt x="30480" y="42672"/>
                  </a:lnTo>
                  <a:lnTo>
                    <a:pt x="28956" y="45720"/>
                  </a:lnTo>
                  <a:lnTo>
                    <a:pt x="30480" y="43586"/>
                  </a:lnTo>
                  <a:close/>
                </a:path>
                <a:path w="396240" h="1019810">
                  <a:moveTo>
                    <a:pt x="35883" y="983672"/>
                  </a:moveTo>
                  <a:lnTo>
                    <a:pt x="28956" y="975360"/>
                  </a:lnTo>
                  <a:lnTo>
                    <a:pt x="28956" y="1004751"/>
                  </a:lnTo>
                  <a:lnTo>
                    <a:pt x="32004" y="1007364"/>
                  </a:lnTo>
                  <a:lnTo>
                    <a:pt x="35052" y="1008888"/>
                  </a:lnTo>
                  <a:lnTo>
                    <a:pt x="35052" y="982980"/>
                  </a:lnTo>
                  <a:lnTo>
                    <a:pt x="35883" y="983672"/>
                  </a:lnTo>
                  <a:close/>
                </a:path>
                <a:path w="396240" h="1019810">
                  <a:moveTo>
                    <a:pt x="36576" y="35052"/>
                  </a:moveTo>
                  <a:lnTo>
                    <a:pt x="35052" y="36576"/>
                  </a:lnTo>
                  <a:lnTo>
                    <a:pt x="36127" y="35679"/>
                  </a:lnTo>
                  <a:lnTo>
                    <a:pt x="36576" y="35052"/>
                  </a:lnTo>
                  <a:close/>
                </a:path>
                <a:path w="396240" h="1019810">
                  <a:moveTo>
                    <a:pt x="36127" y="35679"/>
                  </a:moveTo>
                  <a:lnTo>
                    <a:pt x="35052" y="36576"/>
                  </a:lnTo>
                  <a:lnTo>
                    <a:pt x="35052" y="37185"/>
                  </a:lnTo>
                  <a:lnTo>
                    <a:pt x="36127" y="35679"/>
                  </a:lnTo>
                  <a:close/>
                </a:path>
                <a:path w="396240" h="1019810">
                  <a:moveTo>
                    <a:pt x="36576" y="984504"/>
                  </a:moveTo>
                  <a:lnTo>
                    <a:pt x="35883" y="983672"/>
                  </a:lnTo>
                  <a:lnTo>
                    <a:pt x="35052" y="982980"/>
                  </a:lnTo>
                  <a:lnTo>
                    <a:pt x="36576" y="984504"/>
                  </a:lnTo>
                  <a:close/>
                </a:path>
                <a:path w="396240" h="1019810">
                  <a:moveTo>
                    <a:pt x="36576" y="1009650"/>
                  </a:moveTo>
                  <a:lnTo>
                    <a:pt x="36576" y="984504"/>
                  </a:lnTo>
                  <a:lnTo>
                    <a:pt x="35052" y="982980"/>
                  </a:lnTo>
                  <a:lnTo>
                    <a:pt x="35052" y="1008888"/>
                  </a:lnTo>
                  <a:lnTo>
                    <a:pt x="36576" y="1009650"/>
                  </a:lnTo>
                  <a:close/>
                </a:path>
                <a:path w="396240" h="1019810">
                  <a:moveTo>
                    <a:pt x="44196" y="1013460"/>
                  </a:moveTo>
                  <a:lnTo>
                    <a:pt x="44196" y="990600"/>
                  </a:lnTo>
                  <a:lnTo>
                    <a:pt x="35883" y="983672"/>
                  </a:lnTo>
                  <a:lnTo>
                    <a:pt x="36576" y="984504"/>
                  </a:lnTo>
                  <a:lnTo>
                    <a:pt x="36576" y="1009650"/>
                  </a:lnTo>
                  <a:lnTo>
                    <a:pt x="44196" y="1013460"/>
                  </a:lnTo>
                  <a:close/>
                </a:path>
                <a:path w="396240" h="1019810">
                  <a:moveTo>
                    <a:pt x="36576" y="35306"/>
                  </a:moveTo>
                  <a:lnTo>
                    <a:pt x="36576" y="35052"/>
                  </a:lnTo>
                  <a:lnTo>
                    <a:pt x="36127" y="35679"/>
                  </a:lnTo>
                  <a:lnTo>
                    <a:pt x="36576" y="35306"/>
                  </a:lnTo>
                  <a:close/>
                </a:path>
                <a:path w="396240" h="1019810">
                  <a:moveTo>
                    <a:pt x="44196" y="29609"/>
                  </a:moveTo>
                  <a:lnTo>
                    <a:pt x="44196" y="28956"/>
                  </a:lnTo>
                  <a:lnTo>
                    <a:pt x="42672" y="30480"/>
                  </a:lnTo>
                  <a:lnTo>
                    <a:pt x="44196" y="29609"/>
                  </a:lnTo>
                  <a:close/>
                </a:path>
                <a:path w="396240" h="1019810">
                  <a:moveTo>
                    <a:pt x="53340" y="1016889"/>
                  </a:moveTo>
                  <a:lnTo>
                    <a:pt x="53340" y="995172"/>
                  </a:lnTo>
                  <a:lnTo>
                    <a:pt x="42672" y="989076"/>
                  </a:lnTo>
                  <a:lnTo>
                    <a:pt x="44196" y="990600"/>
                  </a:lnTo>
                  <a:lnTo>
                    <a:pt x="44196" y="1013460"/>
                  </a:lnTo>
                  <a:lnTo>
                    <a:pt x="51816" y="1016508"/>
                  </a:lnTo>
                  <a:lnTo>
                    <a:pt x="53340" y="1016889"/>
                  </a:lnTo>
                  <a:close/>
                </a:path>
                <a:path w="396240" h="1019810">
                  <a:moveTo>
                    <a:pt x="53340" y="25146"/>
                  </a:moveTo>
                  <a:lnTo>
                    <a:pt x="53340" y="24384"/>
                  </a:lnTo>
                  <a:lnTo>
                    <a:pt x="51816" y="25908"/>
                  </a:lnTo>
                  <a:lnTo>
                    <a:pt x="53340" y="25146"/>
                  </a:lnTo>
                  <a:close/>
                </a:path>
                <a:path w="396240" h="1019810">
                  <a:moveTo>
                    <a:pt x="68580" y="998220"/>
                  </a:moveTo>
                  <a:lnTo>
                    <a:pt x="62484" y="996696"/>
                  </a:lnTo>
                  <a:lnTo>
                    <a:pt x="62484" y="998220"/>
                  </a:lnTo>
                  <a:lnTo>
                    <a:pt x="57912" y="996696"/>
                  </a:lnTo>
                  <a:lnTo>
                    <a:pt x="51816" y="993648"/>
                  </a:lnTo>
                  <a:lnTo>
                    <a:pt x="53340" y="995172"/>
                  </a:lnTo>
                  <a:lnTo>
                    <a:pt x="53340" y="1016889"/>
                  </a:lnTo>
                  <a:lnTo>
                    <a:pt x="57912" y="1018032"/>
                  </a:lnTo>
                  <a:lnTo>
                    <a:pt x="65532" y="1019556"/>
                  </a:lnTo>
                  <a:lnTo>
                    <a:pt x="67056" y="1019556"/>
                  </a:lnTo>
                  <a:lnTo>
                    <a:pt x="67056" y="998220"/>
                  </a:lnTo>
                  <a:lnTo>
                    <a:pt x="68580" y="998220"/>
                  </a:lnTo>
                  <a:close/>
                </a:path>
                <a:path w="396240" h="1019810">
                  <a:moveTo>
                    <a:pt x="68580" y="21336"/>
                  </a:moveTo>
                  <a:lnTo>
                    <a:pt x="67056" y="21336"/>
                  </a:lnTo>
                  <a:lnTo>
                    <a:pt x="67056" y="21717"/>
                  </a:lnTo>
                  <a:lnTo>
                    <a:pt x="68580" y="21336"/>
                  </a:lnTo>
                  <a:close/>
                </a:path>
                <a:path w="396240" h="1019810">
                  <a:moveTo>
                    <a:pt x="329184" y="1019556"/>
                  </a:moveTo>
                  <a:lnTo>
                    <a:pt x="329184" y="998220"/>
                  </a:lnTo>
                  <a:lnTo>
                    <a:pt x="67056" y="998220"/>
                  </a:lnTo>
                  <a:lnTo>
                    <a:pt x="67056" y="1019556"/>
                  </a:lnTo>
                  <a:lnTo>
                    <a:pt x="329184" y="1019556"/>
                  </a:lnTo>
                  <a:close/>
                </a:path>
                <a:path w="396240" h="1019810">
                  <a:moveTo>
                    <a:pt x="329184" y="21717"/>
                  </a:moveTo>
                  <a:lnTo>
                    <a:pt x="329184" y="21336"/>
                  </a:lnTo>
                  <a:lnTo>
                    <a:pt x="327660" y="21336"/>
                  </a:lnTo>
                  <a:lnTo>
                    <a:pt x="329184" y="21717"/>
                  </a:lnTo>
                  <a:close/>
                </a:path>
                <a:path w="396240" h="1019810">
                  <a:moveTo>
                    <a:pt x="333756" y="996696"/>
                  </a:moveTo>
                  <a:lnTo>
                    <a:pt x="327660" y="998220"/>
                  </a:lnTo>
                  <a:lnTo>
                    <a:pt x="329184" y="998220"/>
                  </a:lnTo>
                  <a:lnTo>
                    <a:pt x="329184" y="1019556"/>
                  </a:lnTo>
                  <a:lnTo>
                    <a:pt x="330708" y="1019556"/>
                  </a:lnTo>
                  <a:lnTo>
                    <a:pt x="332232" y="1019251"/>
                  </a:lnTo>
                  <a:lnTo>
                    <a:pt x="332232" y="998220"/>
                  </a:lnTo>
                  <a:lnTo>
                    <a:pt x="333756" y="996696"/>
                  </a:lnTo>
                  <a:close/>
                </a:path>
                <a:path w="396240" h="1019810">
                  <a:moveTo>
                    <a:pt x="333756" y="23241"/>
                  </a:moveTo>
                  <a:lnTo>
                    <a:pt x="333756" y="22860"/>
                  </a:lnTo>
                  <a:lnTo>
                    <a:pt x="332232" y="22860"/>
                  </a:lnTo>
                  <a:lnTo>
                    <a:pt x="333756" y="23241"/>
                  </a:lnTo>
                  <a:close/>
                </a:path>
                <a:path w="396240" h="1019810">
                  <a:moveTo>
                    <a:pt x="353568" y="1012698"/>
                  </a:moveTo>
                  <a:lnTo>
                    <a:pt x="353568" y="989076"/>
                  </a:lnTo>
                  <a:lnTo>
                    <a:pt x="342900" y="995172"/>
                  </a:lnTo>
                  <a:lnTo>
                    <a:pt x="342900" y="993648"/>
                  </a:lnTo>
                  <a:lnTo>
                    <a:pt x="338328" y="996696"/>
                  </a:lnTo>
                  <a:lnTo>
                    <a:pt x="332232" y="998220"/>
                  </a:lnTo>
                  <a:lnTo>
                    <a:pt x="332232" y="1019251"/>
                  </a:lnTo>
                  <a:lnTo>
                    <a:pt x="338328" y="1018032"/>
                  </a:lnTo>
                  <a:lnTo>
                    <a:pt x="344424" y="1016508"/>
                  </a:lnTo>
                  <a:lnTo>
                    <a:pt x="352044" y="1013460"/>
                  </a:lnTo>
                  <a:lnTo>
                    <a:pt x="353568" y="1012698"/>
                  </a:lnTo>
                  <a:close/>
                </a:path>
                <a:path w="396240" h="1019810">
                  <a:moveTo>
                    <a:pt x="353568" y="31133"/>
                  </a:moveTo>
                  <a:lnTo>
                    <a:pt x="353568" y="30480"/>
                  </a:lnTo>
                  <a:lnTo>
                    <a:pt x="350520" y="28956"/>
                  </a:lnTo>
                  <a:lnTo>
                    <a:pt x="353568" y="31133"/>
                  </a:lnTo>
                  <a:close/>
                </a:path>
                <a:path w="396240" h="1019810">
                  <a:moveTo>
                    <a:pt x="360560" y="983428"/>
                  </a:moveTo>
                  <a:lnTo>
                    <a:pt x="350520" y="990600"/>
                  </a:lnTo>
                  <a:lnTo>
                    <a:pt x="353568" y="989076"/>
                  </a:lnTo>
                  <a:lnTo>
                    <a:pt x="353568" y="1012698"/>
                  </a:lnTo>
                  <a:lnTo>
                    <a:pt x="359664" y="1009650"/>
                  </a:lnTo>
                  <a:lnTo>
                    <a:pt x="359664" y="984504"/>
                  </a:lnTo>
                  <a:lnTo>
                    <a:pt x="360560" y="983428"/>
                  </a:lnTo>
                  <a:close/>
                </a:path>
                <a:path w="396240" h="1019810">
                  <a:moveTo>
                    <a:pt x="361188" y="36576"/>
                  </a:moveTo>
                  <a:lnTo>
                    <a:pt x="359664" y="35052"/>
                  </a:lnTo>
                  <a:lnTo>
                    <a:pt x="360299" y="35941"/>
                  </a:lnTo>
                  <a:lnTo>
                    <a:pt x="361188" y="36576"/>
                  </a:lnTo>
                  <a:close/>
                </a:path>
                <a:path w="396240" h="1019810">
                  <a:moveTo>
                    <a:pt x="360299" y="35941"/>
                  </a:moveTo>
                  <a:lnTo>
                    <a:pt x="359664" y="35052"/>
                  </a:lnTo>
                  <a:lnTo>
                    <a:pt x="359664" y="35487"/>
                  </a:lnTo>
                  <a:lnTo>
                    <a:pt x="360299" y="35941"/>
                  </a:lnTo>
                  <a:close/>
                </a:path>
                <a:path w="396240" h="1019810">
                  <a:moveTo>
                    <a:pt x="361188" y="982980"/>
                  </a:moveTo>
                  <a:lnTo>
                    <a:pt x="360560" y="983428"/>
                  </a:lnTo>
                  <a:lnTo>
                    <a:pt x="359664" y="984504"/>
                  </a:lnTo>
                  <a:lnTo>
                    <a:pt x="361188" y="982980"/>
                  </a:lnTo>
                  <a:close/>
                </a:path>
                <a:path w="396240" h="1019810">
                  <a:moveTo>
                    <a:pt x="361188" y="1008888"/>
                  </a:moveTo>
                  <a:lnTo>
                    <a:pt x="361188" y="982980"/>
                  </a:lnTo>
                  <a:lnTo>
                    <a:pt x="359664" y="984504"/>
                  </a:lnTo>
                  <a:lnTo>
                    <a:pt x="359664" y="1009650"/>
                  </a:lnTo>
                  <a:lnTo>
                    <a:pt x="361188" y="1008888"/>
                  </a:lnTo>
                  <a:close/>
                </a:path>
                <a:path w="396240" h="1019810">
                  <a:moveTo>
                    <a:pt x="361188" y="37185"/>
                  </a:moveTo>
                  <a:lnTo>
                    <a:pt x="361188" y="36576"/>
                  </a:lnTo>
                  <a:lnTo>
                    <a:pt x="360299" y="35941"/>
                  </a:lnTo>
                  <a:lnTo>
                    <a:pt x="361188" y="37185"/>
                  </a:lnTo>
                  <a:close/>
                </a:path>
                <a:path w="396240" h="1019810">
                  <a:moveTo>
                    <a:pt x="367284" y="1004751"/>
                  </a:moveTo>
                  <a:lnTo>
                    <a:pt x="367284" y="975360"/>
                  </a:lnTo>
                  <a:lnTo>
                    <a:pt x="360560" y="983428"/>
                  </a:lnTo>
                  <a:lnTo>
                    <a:pt x="361188" y="982980"/>
                  </a:lnTo>
                  <a:lnTo>
                    <a:pt x="361188" y="1008888"/>
                  </a:lnTo>
                  <a:lnTo>
                    <a:pt x="364236" y="1007364"/>
                  </a:lnTo>
                  <a:lnTo>
                    <a:pt x="367284" y="1004751"/>
                  </a:lnTo>
                  <a:close/>
                </a:path>
                <a:path w="396240" h="1019810">
                  <a:moveTo>
                    <a:pt x="367284" y="45720"/>
                  </a:moveTo>
                  <a:lnTo>
                    <a:pt x="365760" y="42672"/>
                  </a:lnTo>
                  <a:lnTo>
                    <a:pt x="365760" y="43586"/>
                  </a:lnTo>
                  <a:lnTo>
                    <a:pt x="367284" y="45720"/>
                  </a:lnTo>
                  <a:close/>
                </a:path>
                <a:path w="396240" h="1019810">
                  <a:moveTo>
                    <a:pt x="371856" y="1000832"/>
                  </a:moveTo>
                  <a:lnTo>
                    <a:pt x="371856" y="966216"/>
                  </a:lnTo>
                  <a:lnTo>
                    <a:pt x="365760" y="976884"/>
                  </a:lnTo>
                  <a:lnTo>
                    <a:pt x="367284" y="975360"/>
                  </a:lnTo>
                  <a:lnTo>
                    <a:pt x="367284" y="1004751"/>
                  </a:lnTo>
                  <a:lnTo>
                    <a:pt x="371856" y="1000832"/>
                  </a:lnTo>
                  <a:close/>
                </a:path>
                <a:path w="396240" h="1019810">
                  <a:moveTo>
                    <a:pt x="371856" y="55626"/>
                  </a:moveTo>
                  <a:lnTo>
                    <a:pt x="371856" y="53340"/>
                  </a:lnTo>
                  <a:lnTo>
                    <a:pt x="370332" y="53340"/>
                  </a:lnTo>
                  <a:lnTo>
                    <a:pt x="371856" y="55626"/>
                  </a:lnTo>
                  <a:close/>
                </a:path>
                <a:path w="396240" h="1019810">
                  <a:moveTo>
                    <a:pt x="373380" y="999526"/>
                  </a:moveTo>
                  <a:lnTo>
                    <a:pt x="373380" y="961644"/>
                  </a:lnTo>
                  <a:lnTo>
                    <a:pt x="370332" y="967740"/>
                  </a:lnTo>
                  <a:lnTo>
                    <a:pt x="371856" y="966216"/>
                  </a:lnTo>
                  <a:lnTo>
                    <a:pt x="371856" y="1000832"/>
                  </a:lnTo>
                  <a:lnTo>
                    <a:pt x="373380" y="999526"/>
                  </a:lnTo>
                  <a:close/>
                </a:path>
                <a:path w="396240" h="1019810">
                  <a:moveTo>
                    <a:pt x="373380" y="64008"/>
                  </a:moveTo>
                  <a:lnTo>
                    <a:pt x="373380" y="57912"/>
                  </a:lnTo>
                  <a:lnTo>
                    <a:pt x="371856" y="57912"/>
                  </a:lnTo>
                  <a:lnTo>
                    <a:pt x="373380" y="64008"/>
                  </a:lnTo>
                  <a:close/>
                </a:path>
                <a:path w="396240" h="1019810">
                  <a:moveTo>
                    <a:pt x="374904" y="998220"/>
                  </a:moveTo>
                  <a:lnTo>
                    <a:pt x="374904" y="950976"/>
                  </a:lnTo>
                  <a:lnTo>
                    <a:pt x="373380" y="957072"/>
                  </a:lnTo>
                  <a:lnTo>
                    <a:pt x="371856" y="961644"/>
                  </a:lnTo>
                  <a:lnTo>
                    <a:pt x="373380" y="961644"/>
                  </a:lnTo>
                  <a:lnTo>
                    <a:pt x="373380" y="999526"/>
                  </a:lnTo>
                  <a:lnTo>
                    <a:pt x="374904" y="998220"/>
                  </a:lnTo>
                  <a:close/>
                </a:path>
              </a:pathLst>
            </a:custGeom>
            <a:solidFill>
              <a:srgbClr val="4070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6099047" y="2022347"/>
            <a:ext cx="1390015" cy="749935"/>
          </a:xfrm>
          <a:custGeom>
            <a:avLst/>
            <a:gdLst/>
            <a:ahLst/>
            <a:cxnLst/>
            <a:rect l="l" t="t" r="r" b="b"/>
            <a:pathLst>
              <a:path w="1390015" h="749935">
                <a:moveTo>
                  <a:pt x="1389887" y="624839"/>
                </a:moveTo>
                <a:lnTo>
                  <a:pt x="1389887" y="124967"/>
                </a:lnTo>
                <a:lnTo>
                  <a:pt x="1380005" y="76509"/>
                </a:lnTo>
                <a:lnTo>
                  <a:pt x="1353121" y="36766"/>
                </a:lnTo>
                <a:lnTo>
                  <a:pt x="1313378" y="9882"/>
                </a:lnTo>
                <a:lnTo>
                  <a:pt x="1264919" y="0"/>
                </a:lnTo>
                <a:lnTo>
                  <a:pt x="124967" y="0"/>
                </a:lnTo>
                <a:lnTo>
                  <a:pt x="76509" y="9882"/>
                </a:lnTo>
                <a:lnTo>
                  <a:pt x="36766" y="36766"/>
                </a:lnTo>
                <a:lnTo>
                  <a:pt x="9882" y="76509"/>
                </a:lnTo>
                <a:lnTo>
                  <a:pt x="0" y="124967"/>
                </a:lnTo>
                <a:lnTo>
                  <a:pt x="0" y="624839"/>
                </a:lnTo>
                <a:lnTo>
                  <a:pt x="9882" y="673941"/>
                </a:lnTo>
                <a:lnTo>
                  <a:pt x="36766" y="713612"/>
                </a:lnTo>
                <a:lnTo>
                  <a:pt x="76509" y="740140"/>
                </a:lnTo>
                <a:lnTo>
                  <a:pt x="124967" y="749807"/>
                </a:lnTo>
                <a:lnTo>
                  <a:pt x="1264919" y="749807"/>
                </a:lnTo>
                <a:lnTo>
                  <a:pt x="1313378" y="740140"/>
                </a:lnTo>
                <a:lnTo>
                  <a:pt x="1353121" y="713612"/>
                </a:lnTo>
                <a:lnTo>
                  <a:pt x="1380005" y="673941"/>
                </a:lnTo>
                <a:lnTo>
                  <a:pt x="1389887" y="624839"/>
                </a:lnTo>
                <a:close/>
              </a:path>
            </a:pathLst>
          </a:custGeom>
          <a:solidFill>
            <a:srgbClr val="E2F0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569960" y="2291587"/>
            <a:ext cx="39624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175" spc="150" baseline="11494" dirty="0">
                <a:latin typeface="Cambria"/>
                <a:cs typeface="Cambria"/>
              </a:rPr>
              <a:t>W</a:t>
            </a:r>
            <a:r>
              <a:rPr sz="1100" spc="100" dirty="0">
                <a:latin typeface="Cambria"/>
                <a:cs typeface="Cambria"/>
              </a:rPr>
              <a:t>xƒ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437632" y="2042160"/>
            <a:ext cx="620395" cy="749935"/>
          </a:xfrm>
          <a:custGeom>
            <a:avLst/>
            <a:gdLst/>
            <a:ahLst/>
            <a:cxnLst/>
            <a:rect l="l" t="t" r="r" b="b"/>
            <a:pathLst>
              <a:path w="620395" h="749935">
                <a:moveTo>
                  <a:pt x="620267" y="646175"/>
                </a:moveTo>
                <a:lnTo>
                  <a:pt x="620267" y="103631"/>
                </a:lnTo>
                <a:lnTo>
                  <a:pt x="612219" y="63007"/>
                </a:lnTo>
                <a:lnTo>
                  <a:pt x="590168" y="30098"/>
                </a:lnTo>
                <a:lnTo>
                  <a:pt x="557260" y="8048"/>
                </a:lnTo>
                <a:lnTo>
                  <a:pt x="516635" y="0"/>
                </a:lnTo>
                <a:lnTo>
                  <a:pt x="103631" y="0"/>
                </a:lnTo>
                <a:lnTo>
                  <a:pt x="63007" y="8048"/>
                </a:lnTo>
                <a:lnTo>
                  <a:pt x="30098" y="30098"/>
                </a:lnTo>
                <a:lnTo>
                  <a:pt x="8048" y="63007"/>
                </a:lnTo>
                <a:lnTo>
                  <a:pt x="0" y="103631"/>
                </a:lnTo>
                <a:lnTo>
                  <a:pt x="0" y="646175"/>
                </a:lnTo>
                <a:lnTo>
                  <a:pt x="8048" y="686157"/>
                </a:lnTo>
                <a:lnTo>
                  <a:pt x="30098" y="719137"/>
                </a:lnTo>
                <a:lnTo>
                  <a:pt x="63007" y="741545"/>
                </a:lnTo>
                <a:lnTo>
                  <a:pt x="103631" y="749807"/>
                </a:lnTo>
                <a:lnTo>
                  <a:pt x="516635" y="749807"/>
                </a:lnTo>
                <a:lnTo>
                  <a:pt x="557260" y="741545"/>
                </a:lnTo>
                <a:lnTo>
                  <a:pt x="590168" y="719137"/>
                </a:lnTo>
                <a:lnTo>
                  <a:pt x="612219" y="686157"/>
                </a:lnTo>
                <a:lnTo>
                  <a:pt x="620267" y="646175"/>
                </a:lnTo>
                <a:close/>
              </a:path>
            </a:pathLst>
          </a:custGeom>
          <a:solidFill>
            <a:srgbClr val="FFF2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521449" y="2309875"/>
            <a:ext cx="40068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175" spc="135" baseline="11494" dirty="0">
                <a:latin typeface="Cambria"/>
                <a:cs typeface="Cambria"/>
              </a:rPr>
              <a:t>W</a:t>
            </a:r>
            <a:r>
              <a:rPr sz="1100" spc="90" dirty="0">
                <a:latin typeface="Cambria"/>
                <a:cs typeface="Cambria"/>
              </a:rPr>
              <a:t>hƒ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610601" y="2741166"/>
            <a:ext cx="4083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00B04F"/>
                </a:solidFill>
                <a:latin typeface="Cambria"/>
                <a:cs typeface="Cambria"/>
              </a:rPr>
              <a:t>5</a:t>
            </a:r>
            <a:r>
              <a:rPr sz="1000" spc="155" dirty="0">
                <a:solidFill>
                  <a:srgbClr val="00B04F"/>
                </a:solidFill>
                <a:latin typeface="Cambria"/>
                <a:cs typeface="Cambria"/>
              </a:rPr>
              <a:t> ×</a:t>
            </a:r>
            <a:r>
              <a:rPr sz="1000" spc="-35" dirty="0">
                <a:solidFill>
                  <a:srgbClr val="00B04F"/>
                </a:solidFill>
                <a:latin typeface="Cambria"/>
                <a:cs typeface="Cambria"/>
              </a:rPr>
              <a:t> </a:t>
            </a:r>
            <a:r>
              <a:rPr sz="1000" spc="-5" dirty="0">
                <a:solidFill>
                  <a:srgbClr val="00B04F"/>
                </a:solidFill>
                <a:latin typeface="Cambria"/>
                <a:cs typeface="Cambria"/>
              </a:rPr>
              <a:t>10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98665" y="2751835"/>
            <a:ext cx="3378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C00000"/>
                </a:solidFill>
                <a:latin typeface="Cambria"/>
                <a:cs typeface="Cambria"/>
              </a:rPr>
              <a:t>5</a:t>
            </a:r>
            <a:r>
              <a:rPr sz="1000" spc="155" dirty="0">
                <a:solidFill>
                  <a:srgbClr val="C00000"/>
                </a:solidFill>
                <a:latin typeface="Cambria"/>
                <a:cs typeface="Cambria"/>
              </a:rPr>
              <a:t> ×</a:t>
            </a:r>
            <a:r>
              <a:rPr sz="1000" spc="-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000" spc="-5" dirty="0">
                <a:solidFill>
                  <a:srgbClr val="C00000"/>
                </a:solidFill>
                <a:latin typeface="Cambria"/>
                <a:cs typeface="Cambria"/>
              </a:rPr>
              <a:t>5</a:t>
            </a:r>
            <a:endParaRPr sz="1000">
              <a:latin typeface="Cambria"/>
              <a:cs typeface="Cambri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323332" y="1921764"/>
            <a:ext cx="2287905" cy="1069975"/>
            <a:chOff x="5323332" y="1921764"/>
            <a:chExt cx="2287905" cy="1069975"/>
          </a:xfrm>
        </p:grpSpPr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33999" y="1932431"/>
              <a:ext cx="2266187" cy="105003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323332" y="1921764"/>
              <a:ext cx="2287905" cy="1069975"/>
            </a:xfrm>
            <a:custGeom>
              <a:avLst/>
              <a:gdLst/>
              <a:ahLst/>
              <a:cxnLst/>
              <a:rect l="l" t="t" r="r" b="b"/>
              <a:pathLst>
                <a:path w="2287904" h="1069975">
                  <a:moveTo>
                    <a:pt x="2287524" y="903732"/>
                  </a:moveTo>
                  <a:lnTo>
                    <a:pt x="2287524" y="166116"/>
                  </a:lnTo>
                  <a:lnTo>
                    <a:pt x="2284476" y="147828"/>
                  </a:lnTo>
                  <a:lnTo>
                    <a:pt x="2264664" y="97536"/>
                  </a:lnTo>
                  <a:lnTo>
                    <a:pt x="2234184" y="54864"/>
                  </a:lnTo>
                  <a:lnTo>
                    <a:pt x="2191512" y="22860"/>
                  </a:lnTo>
                  <a:lnTo>
                    <a:pt x="2139696" y="4572"/>
                  </a:lnTo>
                  <a:lnTo>
                    <a:pt x="2103120" y="0"/>
                  </a:lnTo>
                  <a:lnTo>
                    <a:pt x="184404" y="0"/>
                  </a:lnTo>
                  <a:lnTo>
                    <a:pt x="129540" y="9144"/>
                  </a:lnTo>
                  <a:lnTo>
                    <a:pt x="80772" y="32004"/>
                  </a:lnTo>
                  <a:lnTo>
                    <a:pt x="41148" y="68580"/>
                  </a:lnTo>
                  <a:lnTo>
                    <a:pt x="32004" y="82296"/>
                  </a:lnTo>
                  <a:lnTo>
                    <a:pt x="21336" y="97536"/>
                  </a:lnTo>
                  <a:lnTo>
                    <a:pt x="13716" y="114300"/>
                  </a:lnTo>
                  <a:lnTo>
                    <a:pt x="7620" y="131064"/>
                  </a:lnTo>
                  <a:lnTo>
                    <a:pt x="3048" y="147828"/>
                  </a:lnTo>
                  <a:lnTo>
                    <a:pt x="0" y="166116"/>
                  </a:lnTo>
                  <a:lnTo>
                    <a:pt x="0" y="903732"/>
                  </a:lnTo>
                  <a:lnTo>
                    <a:pt x="3048" y="922020"/>
                  </a:lnTo>
                  <a:lnTo>
                    <a:pt x="7620" y="940308"/>
                  </a:lnTo>
                  <a:lnTo>
                    <a:pt x="13716" y="957072"/>
                  </a:lnTo>
                  <a:lnTo>
                    <a:pt x="19812" y="970483"/>
                  </a:lnTo>
                  <a:lnTo>
                    <a:pt x="19812" y="185928"/>
                  </a:lnTo>
                  <a:lnTo>
                    <a:pt x="21336" y="167640"/>
                  </a:lnTo>
                  <a:lnTo>
                    <a:pt x="21336" y="169164"/>
                  </a:lnTo>
                  <a:lnTo>
                    <a:pt x="24384" y="152400"/>
                  </a:lnTo>
                  <a:lnTo>
                    <a:pt x="24384" y="153924"/>
                  </a:lnTo>
                  <a:lnTo>
                    <a:pt x="27432" y="137160"/>
                  </a:lnTo>
                  <a:lnTo>
                    <a:pt x="33528" y="121920"/>
                  </a:lnTo>
                  <a:lnTo>
                    <a:pt x="39624" y="109728"/>
                  </a:lnTo>
                  <a:lnTo>
                    <a:pt x="39624" y="108204"/>
                  </a:lnTo>
                  <a:lnTo>
                    <a:pt x="48768" y="92964"/>
                  </a:lnTo>
                  <a:lnTo>
                    <a:pt x="48768" y="94488"/>
                  </a:lnTo>
                  <a:lnTo>
                    <a:pt x="57912" y="80772"/>
                  </a:lnTo>
                  <a:lnTo>
                    <a:pt x="57912" y="82296"/>
                  </a:lnTo>
                  <a:lnTo>
                    <a:pt x="68580" y="68580"/>
                  </a:lnTo>
                  <a:lnTo>
                    <a:pt x="68580" y="70104"/>
                  </a:lnTo>
                  <a:lnTo>
                    <a:pt x="80772" y="57912"/>
                  </a:lnTo>
                  <a:lnTo>
                    <a:pt x="80772" y="58250"/>
                  </a:lnTo>
                  <a:lnTo>
                    <a:pt x="92964" y="48768"/>
                  </a:lnTo>
                  <a:lnTo>
                    <a:pt x="92964" y="50292"/>
                  </a:lnTo>
                  <a:lnTo>
                    <a:pt x="106680" y="41148"/>
                  </a:lnTo>
                  <a:lnTo>
                    <a:pt x="121920" y="33528"/>
                  </a:lnTo>
                  <a:lnTo>
                    <a:pt x="121920" y="34497"/>
                  </a:lnTo>
                  <a:lnTo>
                    <a:pt x="135636" y="29510"/>
                  </a:lnTo>
                  <a:lnTo>
                    <a:pt x="135636" y="28956"/>
                  </a:lnTo>
                  <a:lnTo>
                    <a:pt x="150876" y="24799"/>
                  </a:lnTo>
                  <a:lnTo>
                    <a:pt x="150876" y="24384"/>
                  </a:lnTo>
                  <a:lnTo>
                    <a:pt x="169164" y="21336"/>
                  </a:lnTo>
                  <a:lnTo>
                    <a:pt x="169164" y="22733"/>
                  </a:lnTo>
                  <a:lnTo>
                    <a:pt x="184404" y="21463"/>
                  </a:lnTo>
                  <a:lnTo>
                    <a:pt x="184404" y="21336"/>
                  </a:lnTo>
                  <a:lnTo>
                    <a:pt x="2103120" y="21463"/>
                  </a:lnTo>
                  <a:lnTo>
                    <a:pt x="2118360" y="22733"/>
                  </a:lnTo>
                  <a:lnTo>
                    <a:pt x="2118360" y="21336"/>
                  </a:lnTo>
                  <a:lnTo>
                    <a:pt x="2136648" y="24384"/>
                  </a:lnTo>
                  <a:lnTo>
                    <a:pt x="2136648" y="24799"/>
                  </a:lnTo>
                  <a:lnTo>
                    <a:pt x="2151888" y="28956"/>
                  </a:lnTo>
                  <a:lnTo>
                    <a:pt x="2151888" y="29510"/>
                  </a:lnTo>
                  <a:lnTo>
                    <a:pt x="2165604" y="34497"/>
                  </a:lnTo>
                  <a:lnTo>
                    <a:pt x="2165604" y="33528"/>
                  </a:lnTo>
                  <a:lnTo>
                    <a:pt x="2180844" y="41148"/>
                  </a:lnTo>
                  <a:lnTo>
                    <a:pt x="2194560" y="50292"/>
                  </a:lnTo>
                  <a:lnTo>
                    <a:pt x="2194560" y="48768"/>
                  </a:lnTo>
                  <a:lnTo>
                    <a:pt x="2206752" y="59436"/>
                  </a:lnTo>
                  <a:lnTo>
                    <a:pt x="2206752" y="57912"/>
                  </a:lnTo>
                  <a:lnTo>
                    <a:pt x="2218944" y="70104"/>
                  </a:lnTo>
                  <a:lnTo>
                    <a:pt x="2218944" y="68580"/>
                  </a:lnTo>
                  <a:lnTo>
                    <a:pt x="2229612" y="82296"/>
                  </a:lnTo>
                  <a:lnTo>
                    <a:pt x="2229612" y="80772"/>
                  </a:lnTo>
                  <a:lnTo>
                    <a:pt x="2238756" y="94488"/>
                  </a:lnTo>
                  <a:lnTo>
                    <a:pt x="2238756" y="92964"/>
                  </a:lnTo>
                  <a:lnTo>
                    <a:pt x="2247900" y="108204"/>
                  </a:lnTo>
                  <a:lnTo>
                    <a:pt x="2247900" y="109728"/>
                  </a:lnTo>
                  <a:lnTo>
                    <a:pt x="2253996" y="121920"/>
                  </a:lnTo>
                  <a:lnTo>
                    <a:pt x="2260092" y="137160"/>
                  </a:lnTo>
                  <a:lnTo>
                    <a:pt x="2260092" y="142748"/>
                  </a:lnTo>
                  <a:lnTo>
                    <a:pt x="2263140" y="153924"/>
                  </a:lnTo>
                  <a:lnTo>
                    <a:pt x="2263140" y="152400"/>
                  </a:lnTo>
                  <a:lnTo>
                    <a:pt x="2266188" y="169164"/>
                  </a:lnTo>
                  <a:lnTo>
                    <a:pt x="2266188" y="971042"/>
                  </a:lnTo>
                  <a:lnTo>
                    <a:pt x="2273808" y="957072"/>
                  </a:lnTo>
                  <a:lnTo>
                    <a:pt x="2279904" y="940308"/>
                  </a:lnTo>
                  <a:lnTo>
                    <a:pt x="2284476" y="922020"/>
                  </a:lnTo>
                  <a:lnTo>
                    <a:pt x="2287524" y="903732"/>
                  </a:lnTo>
                  <a:close/>
                </a:path>
                <a:path w="2287904" h="1069975">
                  <a:moveTo>
                    <a:pt x="41148" y="963168"/>
                  </a:moveTo>
                  <a:lnTo>
                    <a:pt x="33528" y="947928"/>
                  </a:lnTo>
                  <a:lnTo>
                    <a:pt x="33528" y="949452"/>
                  </a:lnTo>
                  <a:lnTo>
                    <a:pt x="27432" y="934212"/>
                  </a:lnTo>
                  <a:lnTo>
                    <a:pt x="24384" y="917448"/>
                  </a:lnTo>
                  <a:lnTo>
                    <a:pt x="24384" y="918972"/>
                  </a:lnTo>
                  <a:lnTo>
                    <a:pt x="21336" y="900684"/>
                  </a:lnTo>
                  <a:lnTo>
                    <a:pt x="21336" y="902208"/>
                  </a:lnTo>
                  <a:lnTo>
                    <a:pt x="19812" y="883920"/>
                  </a:lnTo>
                  <a:lnTo>
                    <a:pt x="19812" y="970483"/>
                  </a:lnTo>
                  <a:lnTo>
                    <a:pt x="21336" y="973836"/>
                  </a:lnTo>
                  <a:lnTo>
                    <a:pt x="32004" y="989076"/>
                  </a:lnTo>
                  <a:lnTo>
                    <a:pt x="39624" y="1000506"/>
                  </a:lnTo>
                  <a:lnTo>
                    <a:pt x="39624" y="963168"/>
                  </a:lnTo>
                  <a:lnTo>
                    <a:pt x="41148" y="963168"/>
                  </a:lnTo>
                  <a:close/>
                </a:path>
                <a:path w="2287904" h="1069975">
                  <a:moveTo>
                    <a:pt x="41148" y="106680"/>
                  </a:moveTo>
                  <a:lnTo>
                    <a:pt x="39624" y="108204"/>
                  </a:lnTo>
                  <a:lnTo>
                    <a:pt x="39624" y="109728"/>
                  </a:lnTo>
                  <a:lnTo>
                    <a:pt x="41148" y="106680"/>
                  </a:lnTo>
                  <a:close/>
                </a:path>
                <a:path w="2287904" h="1069975">
                  <a:moveTo>
                    <a:pt x="80772" y="1011936"/>
                  </a:moveTo>
                  <a:lnTo>
                    <a:pt x="68580" y="1001268"/>
                  </a:lnTo>
                  <a:lnTo>
                    <a:pt x="57912" y="989076"/>
                  </a:lnTo>
                  <a:lnTo>
                    <a:pt x="57912" y="990600"/>
                  </a:lnTo>
                  <a:lnTo>
                    <a:pt x="39624" y="963168"/>
                  </a:lnTo>
                  <a:lnTo>
                    <a:pt x="39624" y="1000506"/>
                  </a:lnTo>
                  <a:lnTo>
                    <a:pt x="41148" y="1002792"/>
                  </a:lnTo>
                  <a:lnTo>
                    <a:pt x="53340" y="1016508"/>
                  </a:lnTo>
                  <a:lnTo>
                    <a:pt x="67056" y="1028700"/>
                  </a:lnTo>
                  <a:lnTo>
                    <a:pt x="79248" y="1038182"/>
                  </a:lnTo>
                  <a:lnTo>
                    <a:pt x="79248" y="1011936"/>
                  </a:lnTo>
                  <a:lnTo>
                    <a:pt x="80772" y="1011936"/>
                  </a:lnTo>
                  <a:close/>
                </a:path>
                <a:path w="2287904" h="1069975">
                  <a:moveTo>
                    <a:pt x="80772" y="58250"/>
                  </a:moveTo>
                  <a:lnTo>
                    <a:pt x="80772" y="57912"/>
                  </a:lnTo>
                  <a:lnTo>
                    <a:pt x="79248" y="59436"/>
                  </a:lnTo>
                  <a:lnTo>
                    <a:pt x="80772" y="58250"/>
                  </a:lnTo>
                  <a:close/>
                </a:path>
                <a:path w="2287904" h="1069975">
                  <a:moveTo>
                    <a:pt x="121920" y="1036320"/>
                  </a:moveTo>
                  <a:lnTo>
                    <a:pt x="106680" y="1028700"/>
                  </a:lnTo>
                  <a:lnTo>
                    <a:pt x="106680" y="1030224"/>
                  </a:lnTo>
                  <a:lnTo>
                    <a:pt x="79248" y="1011936"/>
                  </a:lnTo>
                  <a:lnTo>
                    <a:pt x="79248" y="1038182"/>
                  </a:lnTo>
                  <a:lnTo>
                    <a:pt x="80772" y="1039368"/>
                  </a:lnTo>
                  <a:lnTo>
                    <a:pt x="96012" y="1048512"/>
                  </a:lnTo>
                  <a:lnTo>
                    <a:pt x="112776" y="1056132"/>
                  </a:lnTo>
                  <a:lnTo>
                    <a:pt x="120396" y="1058902"/>
                  </a:lnTo>
                  <a:lnTo>
                    <a:pt x="120396" y="1036320"/>
                  </a:lnTo>
                  <a:lnTo>
                    <a:pt x="121920" y="1036320"/>
                  </a:lnTo>
                  <a:close/>
                </a:path>
                <a:path w="2287904" h="1069975">
                  <a:moveTo>
                    <a:pt x="121920" y="34497"/>
                  </a:moveTo>
                  <a:lnTo>
                    <a:pt x="121920" y="33528"/>
                  </a:lnTo>
                  <a:lnTo>
                    <a:pt x="120396" y="35052"/>
                  </a:lnTo>
                  <a:lnTo>
                    <a:pt x="121920" y="34497"/>
                  </a:lnTo>
                  <a:close/>
                </a:path>
                <a:path w="2287904" h="1069975">
                  <a:moveTo>
                    <a:pt x="137160" y="1042416"/>
                  </a:moveTo>
                  <a:lnTo>
                    <a:pt x="120396" y="1036320"/>
                  </a:lnTo>
                  <a:lnTo>
                    <a:pt x="120396" y="1058902"/>
                  </a:lnTo>
                  <a:lnTo>
                    <a:pt x="129540" y="1062228"/>
                  </a:lnTo>
                  <a:lnTo>
                    <a:pt x="135636" y="1063752"/>
                  </a:lnTo>
                  <a:lnTo>
                    <a:pt x="135636" y="1042416"/>
                  </a:lnTo>
                  <a:lnTo>
                    <a:pt x="137160" y="1042416"/>
                  </a:lnTo>
                  <a:close/>
                </a:path>
                <a:path w="2287904" h="1069975">
                  <a:moveTo>
                    <a:pt x="137160" y="28956"/>
                  </a:moveTo>
                  <a:lnTo>
                    <a:pt x="135636" y="28956"/>
                  </a:lnTo>
                  <a:lnTo>
                    <a:pt x="135636" y="29510"/>
                  </a:lnTo>
                  <a:lnTo>
                    <a:pt x="137160" y="28956"/>
                  </a:lnTo>
                  <a:close/>
                </a:path>
                <a:path w="2287904" h="1069975">
                  <a:moveTo>
                    <a:pt x="152400" y="1067562"/>
                  </a:moveTo>
                  <a:lnTo>
                    <a:pt x="152400" y="1046988"/>
                  </a:lnTo>
                  <a:lnTo>
                    <a:pt x="135636" y="1042416"/>
                  </a:lnTo>
                  <a:lnTo>
                    <a:pt x="135636" y="1063752"/>
                  </a:lnTo>
                  <a:lnTo>
                    <a:pt x="147828" y="1066800"/>
                  </a:lnTo>
                  <a:lnTo>
                    <a:pt x="152400" y="1067562"/>
                  </a:lnTo>
                  <a:close/>
                </a:path>
                <a:path w="2287904" h="1069975">
                  <a:moveTo>
                    <a:pt x="152400" y="24384"/>
                  </a:moveTo>
                  <a:lnTo>
                    <a:pt x="150876" y="24384"/>
                  </a:lnTo>
                  <a:lnTo>
                    <a:pt x="150876" y="24799"/>
                  </a:lnTo>
                  <a:lnTo>
                    <a:pt x="152400" y="24384"/>
                  </a:lnTo>
                  <a:close/>
                </a:path>
                <a:path w="2287904" h="1069975">
                  <a:moveTo>
                    <a:pt x="169164" y="1048512"/>
                  </a:moveTo>
                  <a:lnTo>
                    <a:pt x="150876" y="1045464"/>
                  </a:lnTo>
                  <a:lnTo>
                    <a:pt x="152400" y="1046988"/>
                  </a:lnTo>
                  <a:lnTo>
                    <a:pt x="152400" y="1067562"/>
                  </a:lnTo>
                  <a:lnTo>
                    <a:pt x="166116" y="1069848"/>
                  </a:lnTo>
                  <a:lnTo>
                    <a:pt x="167640" y="1069848"/>
                  </a:lnTo>
                  <a:lnTo>
                    <a:pt x="167640" y="1048512"/>
                  </a:lnTo>
                  <a:lnTo>
                    <a:pt x="169164" y="1048512"/>
                  </a:lnTo>
                  <a:close/>
                </a:path>
                <a:path w="2287904" h="1069975">
                  <a:moveTo>
                    <a:pt x="169164" y="22733"/>
                  </a:moveTo>
                  <a:lnTo>
                    <a:pt x="169164" y="21336"/>
                  </a:lnTo>
                  <a:lnTo>
                    <a:pt x="167640" y="22860"/>
                  </a:lnTo>
                  <a:lnTo>
                    <a:pt x="169164" y="22733"/>
                  </a:lnTo>
                  <a:close/>
                </a:path>
                <a:path w="2287904" h="1069975">
                  <a:moveTo>
                    <a:pt x="2103120" y="1069848"/>
                  </a:moveTo>
                  <a:lnTo>
                    <a:pt x="2103120" y="1050036"/>
                  </a:lnTo>
                  <a:lnTo>
                    <a:pt x="184404" y="1050036"/>
                  </a:lnTo>
                  <a:lnTo>
                    <a:pt x="184404" y="1049909"/>
                  </a:lnTo>
                  <a:lnTo>
                    <a:pt x="167640" y="1048512"/>
                  </a:lnTo>
                  <a:lnTo>
                    <a:pt x="167640" y="1069848"/>
                  </a:lnTo>
                  <a:lnTo>
                    <a:pt x="2103120" y="1069848"/>
                  </a:lnTo>
                  <a:close/>
                </a:path>
                <a:path w="2287904" h="1069975">
                  <a:moveTo>
                    <a:pt x="185928" y="21336"/>
                  </a:moveTo>
                  <a:lnTo>
                    <a:pt x="184404" y="21336"/>
                  </a:lnTo>
                  <a:lnTo>
                    <a:pt x="184404" y="21463"/>
                  </a:lnTo>
                  <a:lnTo>
                    <a:pt x="185928" y="21336"/>
                  </a:lnTo>
                  <a:close/>
                </a:path>
                <a:path w="2287904" h="1069975">
                  <a:moveTo>
                    <a:pt x="185928" y="1050036"/>
                  </a:moveTo>
                  <a:lnTo>
                    <a:pt x="184404" y="1049909"/>
                  </a:lnTo>
                  <a:lnTo>
                    <a:pt x="184404" y="1050036"/>
                  </a:lnTo>
                  <a:lnTo>
                    <a:pt x="185928" y="1050036"/>
                  </a:lnTo>
                  <a:close/>
                </a:path>
                <a:path w="2287904" h="1069975">
                  <a:moveTo>
                    <a:pt x="2103120" y="21463"/>
                  </a:moveTo>
                  <a:lnTo>
                    <a:pt x="2103120" y="21336"/>
                  </a:lnTo>
                  <a:lnTo>
                    <a:pt x="2101596" y="21336"/>
                  </a:lnTo>
                  <a:lnTo>
                    <a:pt x="2103120" y="21463"/>
                  </a:lnTo>
                  <a:close/>
                </a:path>
                <a:path w="2287904" h="1069975">
                  <a:moveTo>
                    <a:pt x="2119884" y="1069848"/>
                  </a:moveTo>
                  <a:lnTo>
                    <a:pt x="2119884" y="1048512"/>
                  </a:lnTo>
                  <a:lnTo>
                    <a:pt x="2101596" y="1050036"/>
                  </a:lnTo>
                  <a:lnTo>
                    <a:pt x="2103120" y="1050036"/>
                  </a:lnTo>
                  <a:lnTo>
                    <a:pt x="2103120" y="1069848"/>
                  </a:lnTo>
                  <a:lnTo>
                    <a:pt x="2119884" y="1069848"/>
                  </a:lnTo>
                  <a:close/>
                </a:path>
                <a:path w="2287904" h="1069975">
                  <a:moveTo>
                    <a:pt x="2119884" y="22860"/>
                  </a:moveTo>
                  <a:lnTo>
                    <a:pt x="2118360" y="21336"/>
                  </a:lnTo>
                  <a:lnTo>
                    <a:pt x="2118360" y="22733"/>
                  </a:lnTo>
                  <a:lnTo>
                    <a:pt x="2119884" y="22860"/>
                  </a:lnTo>
                  <a:close/>
                </a:path>
                <a:path w="2287904" h="1069975">
                  <a:moveTo>
                    <a:pt x="2136648" y="1045464"/>
                  </a:moveTo>
                  <a:lnTo>
                    <a:pt x="2118360" y="1048512"/>
                  </a:lnTo>
                  <a:lnTo>
                    <a:pt x="2119884" y="1048512"/>
                  </a:lnTo>
                  <a:lnTo>
                    <a:pt x="2119884" y="1069848"/>
                  </a:lnTo>
                  <a:lnTo>
                    <a:pt x="2121408" y="1069848"/>
                  </a:lnTo>
                  <a:lnTo>
                    <a:pt x="2135124" y="1067562"/>
                  </a:lnTo>
                  <a:lnTo>
                    <a:pt x="2135124" y="1046988"/>
                  </a:lnTo>
                  <a:lnTo>
                    <a:pt x="2136648" y="1045464"/>
                  </a:lnTo>
                  <a:close/>
                </a:path>
                <a:path w="2287904" h="1069975">
                  <a:moveTo>
                    <a:pt x="2136648" y="24799"/>
                  </a:moveTo>
                  <a:lnTo>
                    <a:pt x="2136648" y="24384"/>
                  </a:lnTo>
                  <a:lnTo>
                    <a:pt x="2135124" y="24384"/>
                  </a:lnTo>
                  <a:lnTo>
                    <a:pt x="2136648" y="24799"/>
                  </a:lnTo>
                  <a:close/>
                </a:path>
                <a:path w="2287904" h="1069975">
                  <a:moveTo>
                    <a:pt x="2151888" y="1063752"/>
                  </a:moveTo>
                  <a:lnTo>
                    <a:pt x="2151888" y="1042416"/>
                  </a:lnTo>
                  <a:lnTo>
                    <a:pt x="2135124" y="1046988"/>
                  </a:lnTo>
                  <a:lnTo>
                    <a:pt x="2135124" y="1067562"/>
                  </a:lnTo>
                  <a:lnTo>
                    <a:pt x="2139696" y="1066800"/>
                  </a:lnTo>
                  <a:lnTo>
                    <a:pt x="2151888" y="1063752"/>
                  </a:lnTo>
                  <a:close/>
                </a:path>
                <a:path w="2287904" h="1069975">
                  <a:moveTo>
                    <a:pt x="2151888" y="29510"/>
                  </a:moveTo>
                  <a:lnTo>
                    <a:pt x="2151888" y="28956"/>
                  </a:lnTo>
                  <a:lnTo>
                    <a:pt x="2150364" y="28956"/>
                  </a:lnTo>
                  <a:lnTo>
                    <a:pt x="2151888" y="29510"/>
                  </a:lnTo>
                  <a:close/>
                </a:path>
                <a:path w="2287904" h="1069975">
                  <a:moveTo>
                    <a:pt x="2167128" y="1058902"/>
                  </a:moveTo>
                  <a:lnTo>
                    <a:pt x="2167128" y="1036320"/>
                  </a:lnTo>
                  <a:lnTo>
                    <a:pt x="2150364" y="1042416"/>
                  </a:lnTo>
                  <a:lnTo>
                    <a:pt x="2151888" y="1042416"/>
                  </a:lnTo>
                  <a:lnTo>
                    <a:pt x="2151888" y="1063752"/>
                  </a:lnTo>
                  <a:lnTo>
                    <a:pt x="2157984" y="1062228"/>
                  </a:lnTo>
                  <a:lnTo>
                    <a:pt x="2167128" y="1058902"/>
                  </a:lnTo>
                  <a:close/>
                </a:path>
                <a:path w="2287904" h="1069975">
                  <a:moveTo>
                    <a:pt x="2167128" y="35052"/>
                  </a:moveTo>
                  <a:lnTo>
                    <a:pt x="2165604" y="33528"/>
                  </a:lnTo>
                  <a:lnTo>
                    <a:pt x="2165604" y="34497"/>
                  </a:lnTo>
                  <a:lnTo>
                    <a:pt x="2167128" y="35052"/>
                  </a:lnTo>
                  <a:close/>
                </a:path>
                <a:path w="2287904" h="1069975">
                  <a:moveTo>
                    <a:pt x="2247900" y="998873"/>
                  </a:moveTo>
                  <a:lnTo>
                    <a:pt x="2247900" y="963168"/>
                  </a:lnTo>
                  <a:lnTo>
                    <a:pt x="2229612" y="990600"/>
                  </a:lnTo>
                  <a:lnTo>
                    <a:pt x="2229612" y="989076"/>
                  </a:lnTo>
                  <a:lnTo>
                    <a:pt x="2218944" y="1001268"/>
                  </a:lnTo>
                  <a:lnTo>
                    <a:pt x="2206752" y="1011936"/>
                  </a:lnTo>
                  <a:lnTo>
                    <a:pt x="2194560" y="1021080"/>
                  </a:lnTo>
                  <a:lnTo>
                    <a:pt x="2180844" y="1030224"/>
                  </a:lnTo>
                  <a:lnTo>
                    <a:pt x="2180844" y="1028700"/>
                  </a:lnTo>
                  <a:lnTo>
                    <a:pt x="2165604" y="1036320"/>
                  </a:lnTo>
                  <a:lnTo>
                    <a:pt x="2167128" y="1036320"/>
                  </a:lnTo>
                  <a:lnTo>
                    <a:pt x="2167128" y="1058902"/>
                  </a:lnTo>
                  <a:lnTo>
                    <a:pt x="2174748" y="1056132"/>
                  </a:lnTo>
                  <a:lnTo>
                    <a:pt x="2191512" y="1048512"/>
                  </a:lnTo>
                  <a:lnTo>
                    <a:pt x="2206752" y="1039368"/>
                  </a:lnTo>
                  <a:lnTo>
                    <a:pt x="2220468" y="1028700"/>
                  </a:lnTo>
                  <a:lnTo>
                    <a:pt x="2234184" y="1016508"/>
                  </a:lnTo>
                  <a:lnTo>
                    <a:pt x="2247900" y="998873"/>
                  </a:lnTo>
                  <a:close/>
                </a:path>
                <a:path w="2287904" h="1069975">
                  <a:moveTo>
                    <a:pt x="2247900" y="109728"/>
                  </a:moveTo>
                  <a:lnTo>
                    <a:pt x="2247900" y="108204"/>
                  </a:lnTo>
                  <a:lnTo>
                    <a:pt x="2246376" y="106680"/>
                  </a:lnTo>
                  <a:lnTo>
                    <a:pt x="2247900" y="109728"/>
                  </a:lnTo>
                  <a:close/>
                </a:path>
                <a:path w="2287904" h="1069975">
                  <a:moveTo>
                    <a:pt x="2260092" y="981456"/>
                  </a:moveTo>
                  <a:lnTo>
                    <a:pt x="2260092" y="934212"/>
                  </a:lnTo>
                  <a:lnTo>
                    <a:pt x="2253996" y="949452"/>
                  </a:lnTo>
                  <a:lnTo>
                    <a:pt x="2253996" y="947928"/>
                  </a:lnTo>
                  <a:lnTo>
                    <a:pt x="2246376" y="963168"/>
                  </a:lnTo>
                  <a:lnTo>
                    <a:pt x="2247900" y="963168"/>
                  </a:lnTo>
                  <a:lnTo>
                    <a:pt x="2247900" y="998873"/>
                  </a:lnTo>
                  <a:lnTo>
                    <a:pt x="2255520" y="989076"/>
                  </a:lnTo>
                  <a:lnTo>
                    <a:pt x="2260092" y="981456"/>
                  </a:lnTo>
                  <a:close/>
                </a:path>
                <a:path w="2287904" h="1069975">
                  <a:moveTo>
                    <a:pt x="2260092" y="142748"/>
                  </a:moveTo>
                  <a:lnTo>
                    <a:pt x="2260092" y="137160"/>
                  </a:lnTo>
                  <a:lnTo>
                    <a:pt x="2258568" y="137160"/>
                  </a:lnTo>
                  <a:lnTo>
                    <a:pt x="2260092" y="142748"/>
                  </a:lnTo>
                  <a:close/>
                </a:path>
                <a:path w="2287904" h="1069975">
                  <a:moveTo>
                    <a:pt x="2266188" y="971042"/>
                  </a:moveTo>
                  <a:lnTo>
                    <a:pt x="2266188" y="900684"/>
                  </a:lnTo>
                  <a:lnTo>
                    <a:pt x="2263140" y="918972"/>
                  </a:lnTo>
                  <a:lnTo>
                    <a:pt x="2263140" y="917448"/>
                  </a:lnTo>
                  <a:lnTo>
                    <a:pt x="2258568" y="934212"/>
                  </a:lnTo>
                  <a:lnTo>
                    <a:pt x="2260092" y="934212"/>
                  </a:lnTo>
                  <a:lnTo>
                    <a:pt x="2260092" y="981456"/>
                  </a:lnTo>
                  <a:lnTo>
                    <a:pt x="2264664" y="973836"/>
                  </a:lnTo>
                  <a:lnTo>
                    <a:pt x="2266188" y="971042"/>
                  </a:lnTo>
                  <a:close/>
                </a:path>
              </a:pathLst>
            </a:custGeom>
            <a:solidFill>
              <a:srgbClr val="4070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153909" y="3029202"/>
            <a:ext cx="6432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170" dirty="0">
                <a:solidFill>
                  <a:srgbClr val="FF0000"/>
                </a:solidFill>
                <a:latin typeface="Cambria"/>
                <a:cs typeface="Cambria"/>
              </a:rPr>
              <a:t>W</a:t>
            </a:r>
            <a:r>
              <a:rPr sz="1050" spc="412" baseline="-15873" dirty="0">
                <a:solidFill>
                  <a:srgbClr val="FF0000"/>
                </a:solidFill>
                <a:latin typeface="Cambria"/>
                <a:cs typeface="Cambria"/>
              </a:rPr>
              <a:t>ƒ</a:t>
            </a:r>
            <a:r>
              <a:rPr sz="1000" spc="-5" dirty="0">
                <a:solidFill>
                  <a:srgbClr val="FF0000"/>
                </a:solidFill>
                <a:latin typeface="Cambria"/>
                <a:cs typeface="Cambria"/>
              </a:rPr>
              <a:t>:</a:t>
            </a:r>
            <a:r>
              <a:rPr sz="1000" spc="-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Cambria"/>
                <a:cs typeface="Cambria"/>
              </a:rPr>
              <a:t>5 </a:t>
            </a:r>
            <a:r>
              <a:rPr sz="1000" spc="155" dirty="0">
                <a:solidFill>
                  <a:srgbClr val="FF0000"/>
                </a:solidFill>
                <a:latin typeface="Cambria"/>
                <a:cs typeface="Cambria"/>
              </a:rPr>
              <a:t>×</a:t>
            </a:r>
            <a:r>
              <a:rPr sz="10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Cambria"/>
                <a:cs typeface="Cambria"/>
              </a:rPr>
              <a:t>15</a:t>
            </a:r>
            <a:endParaRPr sz="1000">
              <a:latin typeface="Cambria"/>
              <a:cs typeface="Cambri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440680" y="1248149"/>
            <a:ext cx="3756660" cy="352425"/>
            <a:chOff x="5440680" y="1248149"/>
            <a:chExt cx="3756660" cy="352425"/>
          </a:xfrm>
        </p:grpSpPr>
        <p:sp>
          <p:nvSpPr>
            <p:cNvPr id="37" name="object 37"/>
            <p:cNvSpPr/>
            <p:nvPr/>
          </p:nvSpPr>
          <p:spPr>
            <a:xfrm>
              <a:off x="5452872" y="1258817"/>
              <a:ext cx="3732529" cy="329565"/>
            </a:xfrm>
            <a:custGeom>
              <a:avLst/>
              <a:gdLst/>
              <a:ahLst/>
              <a:cxnLst/>
              <a:rect l="l" t="t" r="r" b="b"/>
              <a:pathLst>
                <a:path w="3732529" h="329565">
                  <a:moveTo>
                    <a:pt x="3732275" y="329183"/>
                  </a:moveTo>
                  <a:lnTo>
                    <a:pt x="3732275" y="0"/>
                  </a:lnTo>
                  <a:lnTo>
                    <a:pt x="0" y="0"/>
                  </a:lnTo>
                  <a:lnTo>
                    <a:pt x="0" y="329183"/>
                  </a:lnTo>
                  <a:lnTo>
                    <a:pt x="3732275" y="329183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440680" y="1248149"/>
              <a:ext cx="3756660" cy="352425"/>
            </a:xfrm>
            <a:custGeom>
              <a:avLst/>
              <a:gdLst/>
              <a:ahLst/>
              <a:cxnLst/>
              <a:rect l="l" t="t" r="r" b="b"/>
              <a:pathLst>
                <a:path w="3756659" h="352425">
                  <a:moveTo>
                    <a:pt x="3756660" y="347478"/>
                  </a:moveTo>
                  <a:lnTo>
                    <a:pt x="3756660" y="4572"/>
                  </a:lnTo>
                  <a:lnTo>
                    <a:pt x="3750564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347478"/>
                  </a:lnTo>
                  <a:lnTo>
                    <a:pt x="4572" y="352050"/>
                  </a:lnTo>
                  <a:lnTo>
                    <a:pt x="12192" y="352050"/>
                  </a:lnTo>
                  <a:lnTo>
                    <a:pt x="12192" y="22860"/>
                  </a:lnTo>
                  <a:lnTo>
                    <a:pt x="22860" y="10668"/>
                  </a:lnTo>
                  <a:lnTo>
                    <a:pt x="22860" y="22860"/>
                  </a:lnTo>
                  <a:lnTo>
                    <a:pt x="3732276" y="22860"/>
                  </a:lnTo>
                  <a:lnTo>
                    <a:pt x="3732276" y="10668"/>
                  </a:lnTo>
                  <a:lnTo>
                    <a:pt x="3744468" y="22860"/>
                  </a:lnTo>
                  <a:lnTo>
                    <a:pt x="3744468" y="352050"/>
                  </a:lnTo>
                  <a:lnTo>
                    <a:pt x="3750564" y="352050"/>
                  </a:lnTo>
                  <a:lnTo>
                    <a:pt x="3756660" y="347478"/>
                  </a:lnTo>
                  <a:close/>
                </a:path>
                <a:path w="3756659" h="352425">
                  <a:moveTo>
                    <a:pt x="22860" y="22860"/>
                  </a:moveTo>
                  <a:lnTo>
                    <a:pt x="22860" y="10668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3756659" h="352425">
                  <a:moveTo>
                    <a:pt x="22860" y="329190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329190"/>
                  </a:lnTo>
                  <a:lnTo>
                    <a:pt x="22860" y="329190"/>
                  </a:lnTo>
                  <a:close/>
                </a:path>
                <a:path w="3756659" h="352425">
                  <a:moveTo>
                    <a:pt x="3744468" y="329190"/>
                  </a:moveTo>
                  <a:lnTo>
                    <a:pt x="12192" y="329190"/>
                  </a:lnTo>
                  <a:lnTo>
                    <a:pt x="22860" y="339858"/>
                  </a:lnTo>
                  <a:lnTo>
                    <a:pt x="22860" y="352050"/>
                  </a:lnTo>
                  <a:lnTo>
                    <a:pt x="3732276" y="352050"/>
                  </a:lnTo>
                  <a:lnTo>
                    <a:pt x="3732276" y="339858"/>
                  </a:lnTo>
                  <a:lnTo>
                    <a:pt x="3744468" y="329190"/>
                  </a:lnTo>
                  <a:close/>
                </a:path>
                <a:path w="3756659" h="352425">
                  <a:moveTo>
                    <a:pt x="22860" y="352050"/>
                  </a:moveTo>
                  <a:lnTo>
                    <a:pt x="22860" y="339858"/>
                  </a:lnTo>
                  <a:lnTo>
                    <a:pt x="12192" y="329190"/>
                  </a:lnTo>
                  <a:lnTo>
                    <a:pt x="12192" y="352050"/>
                  </a:lnTo>
                  <a:lnTo>
                    <a:pt x="22860" y="352050"/>
                  </a:lnTo>
                  <a:close/>
                </a:path>
                <a:path w="3756659" h="352425">
                  <a:moveTo>
                    <a:pt x="3744468" y="22860"/>
                  </a:moveTo>
                  <a:lnTo>
                    <a:pt x="3732276" y="10668"/>
                  </a:lnTo>
                  <a:lnTo>
                    <a:pt x="3732276" y="22860"/>
                  </a:lnTo>
                  <a:lnTo>
                    <a:pt x="3744468" y="22860"/>
                  </a:lnTo>
                  <a:close/>
                </a:path>
                <a:path w="3756659" h="352425">
                  <a:moveTo>
                    <a:pt x="3744468" y="329190"/>
                  </a:moveTo>
                  <a:lnTo>
                    <a:pt x="3744468" y="22860"/>
                  </a:lnTo>
                  <a:lnTo>
                    <a:pt x="3732276" y="22860"/>
                  </a:lnTo>
                  <a:lnTo>
                    <a:pt x="3732276" y="329190"/>
                  </a:lnTo>
                  <a:lnTo>
                    <a:pt x="3744468" y="329190"/>
                  </a:lnTo>
                  <a:close/>
                </a:path>
                <a:path w="3756659" h="352425">
                  <a:moveTo>
                    <a:pt x="3744468" y="352050"/>
                  </a:moveTo>
                  <a:lnTo>
                    <a:pt x="3744468" y="329190"/>
                  </a:lnTo>
                  <a:lnTo>
                    <a:pt x="3732276" y="339858"/>
                  </a:lnTo>
                  <a:lnTo>
                    <a:pt x="3732276" y="352050"/>
                  </a:lnTo>
                  <a:lnTo>
                    <a:pt x="3744468" y="352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xfrm>
            <a:off x="5452871" y="1258817"/>
            <a:ext cx="3732529" cy="329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2275"/>
              </a:lnSpc>
            </a:pPr>
            <a:r>
              <a:rPr sz="1950" spc="185" dirty="0">
                <a:latin typeface="Cambria"/>
                <a:cs typeface="Cambria"/>
              </a:rPr>
              <a:t>f</a:t>
            </a:r>
            <a:r>
              <a:rPr sz="2100" spc="240" baseline="-15873" dirty="0">
                <a:latin typeface="Cambria"/>
                <a:cs typeface="Cambria"/>
              </a:rPr>
              <a:t>t</a:t>
            </a:r>
            <a:r>
              <a:rPr sz="2100" baseline="-15873" dirty="0">
                <a:latin typeface="Cambria"/>
                <a:cs typeface="Cambria"/>
              </a:rPr>
              <a:t> </a:t>
            </a:r>
            <a:r>
              <a:rPr sz="2100" spc="97" baseline="-15873" dirty="0">
                <a:latin typeface="Cambria"/>
                <a:cs typeface="Cambria"/>
              </a:rPr>
              <a:t> </a:t>
            </a:r>
            <a:r>
              <a:rPr sz="1950" spc="395" dirty="0">
                <a:latin typeface="Cambria"/>
                <a:cs typeface="Cambria"/>
              </a:rPr>
              <a:t>=</a:t>
            </a:r>
            <a:r>
              <a:rPr sz="1950" spc="114" dirty="0">
                <a:latin typeface="Cambria"/>
                <a:cs typeface="Cambria"/>
              </a:rPr>
              <a:t> </a:t>
            </a:r>
            <a:r>
              <a:rPr sz="1950" spc="80" dirty="0">
                <a:latin typeface="Cambria"/>
                <a:cs typeface="Cambria"/>
              </a:rPr>
              <a:t>σ(</a:t>
            </a:r>
            <a:r>
              <a:rPr sz="1950" spc="-185" dirty="0">
                <a:latin typeface="Cambria"/>
                <a:cs typeface="Cambria"/>
              </a:rPr>
              <a:t>W</a:t>
            </a:r>
            <a:r>
              <a:rPr sz="2100" spc="187" baseline="-15873" dirty="0">
                <a:latin typeface="Cambria"/>
                <a:cs typeface="Cambria"/>
              </a:rPr>
              <a:t>h</a:t>
            </a:r>
            <a:r>
              <a:rPr sz="2100" spc="660" baseline="-15873" dirty="0">
                <a:latin typeface="Cambria"/>
                <a:cs typeface="Cambria"/>
              </a:rPr>
              <a:t>ƒ</a:t>
            </a:r>
            <a:r>
              <a:rPr sz="2100" baseline="-15873" dirty="0">
                <a:latin typeface="Cambria"/>
                <a:cs typeface="Cambria"/>
              </a:rPr>
              <a:t> </a:t>
            </a:r>
            <a:r>
              <a:rPr sz="2100" spc="-104" baseline="-15873" dirty="0">
                <a:latin typeface="Cambria"/>
                <a:cs typeface="Cambria"/>
              </a:rPr>
              <a:t> </a:t>
            </a:r>
            <a:r>
              <a:rPr sz="1950" spc="5" dirty="0">
                <a:latin typeface="Cambria"/>
                <a:cs typeface="Cambria"/>
              </a:rPr>
              <a:t>.</a:t>
            </a:r>
            <a:r>
              <a:rPr sz="1950" spc="-120" dirty="0">
                <a:latin typeface="Cambria"/>
                <a:cs typeface="Cambria"/>
              </a:rPr>
              <a:t> </a:t>
            </a:r>
            <a:r>
              <a:rPr sz="1950" spc="20" dirty="0">
                <a:latin typeface="Cambria"/>
                <a:cs typeface="Cambria"/>
              </a:rPr>
              <a:t>ℎ</a:t>
            </a:r>
            <a:r>
              <a:rPr sz="2100" spc="307" baseline="-15873" dirty="0">
                <a:latin typeface="Cambria"/>
                <a:cs typeface="Cambria"/>
              </a:rPr>
              <a:t>t</a:t>
            </a:r>
            <a:r>
              <a:rPr sz="2100" spc="509" baseline="-15873" dirty="0">
                <a:latin typeface="Cambria"/>
                <a:cs typeface="Cambria"/>
              </a:rPr>
              <a:t>–</a:t>
            </a:r>
            <a:r>
              <a:rPr sz="2100" spc="82" baseline="-15873" dirty="0">
                <a:latin typeface="Cambria"/>
                <a:cs typeface="Cambria"/>
              </a:rPr>
              <a:t>1</a:t>
            </a:r>
            <a:r>
              <a:rPr sz="2100" baseline="-15873" dirty="0">
                <a:latin typeface="Cambria"/>
                <a:cs typeface="Cambria"/>
              </a:rPr>
              <a:t> </a:t>
            </a:r>
            <a:r>
              <a:rPr sz="2100" spc="-142" baseline="-15873" dirty="0">
                <a:latin typeface="Cambria"/>
                <a:cs typeface="Cambria"/>
              </a:rPr>
              <a:t> </a:t>
            </a:r>
            <a:r>
              <a:rPr sz="1950" spc="395" dirty="0">
                <a:latin typeface="Cambria"/>
                <a:cs typeface="Cambria"/>
              </a:rPr>
              <a:t>+</a:t>
            </a:r>
            <a:r>
              <a:rPr sz="1950" spc="10" dirty="0">
                <a:latin typeface="Cambria"/>
                <a:cs typeface="Cambria"/>
              </a:rPr>
              <a:t> </a:t>
            </a:r>
            <a:r>
              <a:rPr sz="1950" spc="-185" dirty="0">
                <a:latin typeface="Cambria"/>
                <a:cs typeface="Cambria"/>
              </a:rPr>
              <a:t>W</a:t>
            </a:r>
            <a:r>
              <a:rPr sz="2100" spc="254" baseline="-15873" dirty="0">
                <a:latin typeface="Cambria"/>
                <a:cs typeface="Cambria"/>
              </a:rPr>
              <a:t>x</a:t>
            </a:r>
            <a:r>
              <a:rPr sz="2100" spc="832" baseline="-15873" dirty="0">
                <a:latin typeface="Cambria"/>
                <a:cs typeface="Cambria"/>
              </a:rPr>
              <a:t>ƒ</a:t>
            </a:r>
            <a:r>
              <a:rPr sz="1950" spc="5" dirty="0">
                <a:latin typeface="Cambria"/>
                <a:cs typeface="Cambria"/>
              </a:rPr>
              <a:t>.</a:t>
            </a:r>
            <a:r>
              <a:rPr sz="1950" spc="-105" dirty="0">
                <a:latin typeface="Cambria"/>
                <a:cs typeface="Cambria"/>
              </a:rPr>
              <a:t> </a:t>
            </a:r>
            <a:r>
              <a:rPr sz="1950" spc="85" dirty="0">
                <a:latin typeface="Cambria"/>
                <a:cs typeface="Cambria"/>
              </a:rPr>
              <a:t>x</a:t>
            </a:r>
            <a:r>
              <a:rPr sz="2100" spc="240" baseline="-15873" dirty="0">
                <a:latin typeface="Cambria"/>
                <a:cs typeface="Cambria"/>
              </a:rPr>
              <a:t>t</a:t>
            </a:r>
            <a:r>
              <a:rPr sz="2100" baseline="-15873" dirty="0">
                <a:latin typeface="Cambria"/>
                <a:cs typeface="Cambria"/>
              </a:rPr>
              <a:t> </a:t>
            </a:r>
            <a:r>
              <a:rPr sz="2100" spc="-82" baseline="-15873" dirty="0">
                <a:latin typeface="Cambria"/>
                <a:cs typeface="Cambria"/>
              </a:rPr>
              <a:t> </a:t>
            </a:r>
            <a:r>
              <a:rPr sz="1950" spc="395" dirty="0">
                <a:latin typeface="Cambria"/>
                <a:cs typeface="Cambria"/>
              </a:rPr>
              <a:t>+</a:t>
            </a:r>
            <a:r>
              <a:rPr sz="1950" spc="10" dirty="0">
                <a:latin typeface="Cambria"/>
                <a:cs typeface="Cambria"/>
              </a:rPr>
              <a:t> </a:t>
            </a:r>
            <a:r>
              <a:rPr sz="1950" spc="-180" dirty="0">
                <a:latin typeface="Cambria"/>
                <a:cs typeface="Cambria"/>
              </a:rPr>
              <a:t>b</a:t>
            </a:r>
            <a:r>
              <a:rPr sz="2100" spc="832" baseline="-15873" dirty="0">
                <a:latin typeface="Cambria"/>
                <a:cs typeface="Cambria"/>
              </a:rPr>
              <a:t>ƒ</a:t>
            </a:r>
            <a:r>
              <a:rPr sz="1950" spc="75" dirty="0">
                <a:latin typeface="Cambria"/>
                <a:cs typeface="Cambria"/>
              </a:rPr>
              <a:t>)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943084" y="2207766"/>
            <a:ext cx="24511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50" spc="95" dirty="0">
                <a:latin typeface="Cambria"/>
                <a:cs typeface="Cambria"/>
              </a:rPr>
              <a:t>b</a:t>
            </a:r>
            <a:r>
              <a:rPr sz="1650" spc="142" baseline="-15151" dirty="0">
                <a:latin typeface="Cambria"/>
                <a:cs typeface="Cambria"/>
              </a:rPr>
              <a:t>ƒ</a:t>
            </a:r>
            <a:endParaRPr sz="1650" baseline="-15151">
              <a:latin typeface="Cambria"/>
              <a:cs typeface="Cambr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383012" y="2312923"/>
            <a:ext cx="3378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mbria"/>
                <a:cs typeface="Cambria"/>
              </a:rPr>
              <a:t>5</a:t>
            </a:r>
            <a:r>
              <a:rPr sz="1000" spc="155" dirty="0">
                <a:latin typeface="Cambria"/>
                <a:cs typeface="Cambria"/>
              </a:rPr>
              <a:t> ×</a:t>
            </a:r>
            <a:r>
              <a:rPr sz="1000" spc="-35" dirty="0">
                <a:latin typeface="Cambria"/>
                <a:cs typeface="Cambria"/>
              </a:rPr>
              <a:t> </a:t>
            </a:r>
            <a:r>
              <a:rPr sz="1000" spc="-5" dirty="0">
                <a:latin typeface="Cambria"/>
                <a:cs typeface="Cambria"/>
              </a:rPr>
              <a:t>1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284722" y="4521198"/>
            <a:ext cx="221678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Parameters: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321808" y="4962144"/>
            <a:ext cx="1958339" cy="327660"/>
            <a:chOff x="5321808" y="4962144"/>
            <a:chExt cx="1958339" cy="327660"/>
          </a:xfrm>
        </p:grpSpPr>
        <p:sp>
          <p:nvSpPr>
            <p:cNvPr id="44" name="object 44"/>
            <p:cNvSpPr/>
            <p:nvPr/>
          </p:nvSpPr>
          <p:spPr>
            <a:xfrm>
              <a:off x="5333999" y="4974335"/>
              <a:ext cx="1934210" cy="304800"/>
            </a:xfrm>
            <a:custGeom>
              <a:avLst/>
              <a:gdLst/>
              <a:ahLst/>
              <a:cxnLst/>
              <a:rect l="l" t="t" r="r" b="b"/>
              <a:pathLst>
                <a:path w="1934209" h="304800">
                  <a:moveTo>
                    <a:pt x="1933955" y="304799"/>
                  </a:moveTo>
                  <a:lnTo>
                    <a:pt x="1933955" y="0"/>
                  </a:lnTo>
                  <a:lnTo>
                    <a:pt x="0" y="0"/>
                  </a:lnTo>
                  <a:lnTo>
                    <a:pt x="0" y="304799"/>
                  </a:lnTo>
                  <a:lnTo>
                    <a:pt x="1933955" y="30479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321808" y="4962144"/>
              <a:ext cx="1958339" cy="327660"/>
            </a:xfrm>
            <a:custGeom>
              <a:avLst/>
              <a:gdLst/>
              <a:ahLst/>
              <a:cxnLst/>
              <a:rect l="l" t="t" r="r" b="b"/>
              <a:pathLst>
                <a:path w="1958340" h="327660">
                  <a:moveTo>
                    <a:pt x="1958340" y="323088"/>
                  </a:moveTo>
                  <a:lnTo>
                    <a:pt x="1958340" y="4572"/>
                  </a:lnTo>
                  <a:lnTo>
                    <a:pt x="1953768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323088"/>
                  </a:lnTo>
                  <a:lnTo>
                    <a:pt x="4572" y="327660"/>
                  </a:lnTo>
                  <a:lnTo>
                    <a:pt x="12192" y="327660"/>
                  </a:lnTo>
                  <a:lnTo>
                    <a:pt x="12192" y="22860"/>
                  </a:lnTo>
                  <a:lnTo>
                    <a:pt x="22860" y="12192"/>
                  </a:lnTo>
                  <a:lnTo>
                    <a:pt x="22860" y="22860"/>
                  </a:lnTo>
                  <a:lnTo>
                    <a:pt x="1935480" y="22860"/>
                  </a:lnTo>
                  <a:lnTo>
                    <a:pt x="1935480" y="12192"/>
                  </a:lnTo>
                  <a:lnTo>
                    <a:pt x="1946148" y="22860"/>
                  </a:lnTo>
                  <a:lnTo>
                    <a:pt x="1946148" y="327660"/>
                  </a:lnTo>
                  <a:lnTo>
                    <a:pt x="1953768" y="327660"/>
                  </a:lnTo>
                  <a:lnTo>
                    <a:pt x="1958340" y="323088"/>
                  </a:lnTo>
                  <a:close/>
                </a:path>
                <a:path w="1958340" h="327660">
                  <a:moveTo>
                    <a:pt x="22860" y="22860"/>
                  </a:moveTo>
                  <a:lnTo>
                    <a:pt x="22860" y="12192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1958340" h="327660">
                  <a:moveTo>
                    <a:pt x="22860" y="304800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304800"/>
                  </a:lnTo>
                  <a:lnTo>
                    <a:pt x="22860" y="304800"/>
                  </a:lnTo>
                  <a:close/>
                </a:path>
                <a:path w="1958340" h="327660">
                  <a:moveTo>
                    <a:pt x="1946148" y="304800"/>
                  </a:moveTo>
                  <a:lnTo>
                    <a:pt x="12192" y="304800"/>
                  </a:lnTo>
                  <a:lnTo>
                    <a:pt x="22860" y="316992"/>
                  </a:lnTo>
                  <a:lnTo>
                    <a:pt x="22860" y="327660"/>
                  </a:lnTo>
                  <a:lnTo>
                    <a:pt x="1935480" y="327660"/>
                  </a:lnTo>
                  <a:lnTo>
                    <a:pt x="1935480" y="316992"/>
                  </a:lnTo>
                  <a:lnTo>
                    <a:pt x="1946148" y="304800"/>
                  </a:lnTo>
                  <a:close/>
                </a:path>
                <a:path w="1958340" h="327660">
                  <a:moveTo>
                    <a:pt x="22860" y="327660"/>
                  </a:moveTo>
                  <a:lnTo>
                    <a:pt x="22860" y="316992"/>
                  </a:lnTo>
                  <a:lnTo>
                    <a:pt x="12192" y="304800"/>
                  </a:lnTo>
                  <a:lnTo>
                    <a:pt x="12192" y="327660"/>
                  </a:lnTo>
                  <a:lnTo>
                    <a:pt x="22860" y="327660"/>
                  </a:lnTo>
                  <a:close/>
                </a:path>
                <a:path w="1958340" h="327660">
                  <a:moveTo>
                    <a:pt x="1946148" y="22860"/>
                  </a:moveTo>
                  <a:lnTo>
                    <a:pt x="1935480" y="12192"/>
                  </a:lnTo>
                  <a:lnTo>
                    <a:pt x="1935480" y="22860"/>
                  </a:lnTo>
                  <a:lnTo>
                    <a:pt x="1946148" y="22860"/>
                  </a:lnTo>
                  <a:close/>
                </a:path>
                <a:path w="1958340" h="327660">
                  <a:moveTo>
                    <a:pt x="1946148" y="304800"/>
                  </a:moveTo>
                  <a:lnTo>
                    <a:pt x="1946148" y="22860"/>
                  </a:lnTo>
                  <a:lnTo>
                    <a:pt x="1935480" y="22860"/>
                  </a:lnTo>
                  <a:lnTo>
                    <a:pt x="1935480" y="304800"/>
                  </a:lnTo>
                  <a:lnTo>
                    <a:pt x="1946148" y="304800"/>
                  </a:lnTo>
                  <a:close/>
                </a:path>
                <a:path w="1958340" h="327660">
                  <a:moveTo>
                    <a:pt x="1946148" y="327660"/>
                  </a:moveTo>
                  <a:lnTo>
                    <a:pt x="1946148" y="304800"/>
                  </a:lnTo>
                  <a:lnTo>
                    <a:pt x="1935480" y="316992"/>
                  </a:lnTo>
                  <a:lnTo>
                    <a:pt x="1935480" y="327660"/>
                  </a:lnTo>
                  <a:lnTo>
                    <a:pt x="1946148" y="32766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5334000" y="4974335"/>
            <a:ext cx="193421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925">
              <a:lnSpc>
                <a:spcPts val="2240"/>
              </a:lnSpc>
            </a:pPr>
            <a:r>
              <a:rPr sz="1950" spc="15" dirty="0">
                <a:latin typeface="Cambria"/>
                <a:cs typeface="Cambria"/>
              </a:rPr>
              <a:t>5</a:t>
            </a:r>
            <a:r>
              <a:rPr sz="1950" spc="420" dirty="0">
                <a:latin typeface="Cambria"/>
                <a:cs typeface="Cambria"/>
              </a:rPr>
              <a:t> </a:t>
            </a:r>
            <a:r>
              <a:rPr sz="1950" spc="330" dirty="0">
                <a:latin typeface="Cambria"/>
                <a:cs typeface="Cambria"/>
              </a:rPr>
              <a:t>×</a:t>
            </a:r>
            <a:r>
              <a:rPr sz="1950" spc="10" dirty="0">
                <a:latin typeface="Cambria"/>
                <a:cs typeface="Cambria"/>
              </a:rPr>
              <a:t> 15</a:t>
            </a:r>
            <a:r>
              <a:rPr sz="1950" spc="-15" dirty="0">
                <a:latin typeface="Cambria"/>
                <a:cs typeface="Cambria"/>
              </a:rPr>
              <a:t> </a:t>
            </a:r>
            <a:r>
              <a:rPr sz="1950" spc="395" dirty="0">
                <a:latin typeface="Cambria"/>
                <a:cs typeface="Cambria"/>
              </a:rPr>
              <a:t>+</a:t>
            </a:r>
            <a:r>
              <a:rPr sz="1950" spc="5" dirty="0">
                <a:latin typeface="Cambria"/>
                <a:cs typeface="Cambria"/>
              </a:rPr>
              <a:t> </a:t>
            </a:r>
            <a:r>
              <a:rPr sz="1950" spc="15" dirty="0">
                <a:latin typeface="Cambria"/>
                <a:cs typeface="Cambria"/>
              </a:rPr>
              <a:t>5</a:t>
            </a:r>
            <a:r>
              <a:rPr sz="1950" spc="105" dirty="0">
                <a:latin typeface="Cambria"/>
                <a:cs typeface="Cambria"/>
              </a:rPr>
              <a:t> </a:t>
            </a:r>
            <a:r>
              <a:rPr sz="1950" spc="395" dirty="0">
                <a:latin typeface="Cambria"/>
                <a:cs typeface="Cambria"/>
              </a:rPr>
              <a:t>=</a:t>
            </a:r>
            <a:r>
              <a:rPr sz="1950" spc="105" dirty="0">
                <a:latin typeface="Cambria"/>
                <a:cs typeface="Cambria"/>
              </a:rPr>
              <a:t> </a:t>
            </a:r>
            <a:r>
              <a:rPr sz="1950" spc="10" dirty="0">
                <a:latin typeface="Cambria"/>
                <a:cs typeface="Cambria"/>
              </a:rPr>
              <a:t>80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59173"/>
            <a:ext cx="4194810" cy="3708400"/>
            <a:chOff x="0" y="1059173"/>
            <a:chExt cx="4194810" cy="3708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97180" y="2586736"/>
              <a:ext cx="223759" cy="2235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89983" y="3511295"/>
              <a:ext cx="404270" cy="4236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851" y="3511295"/>
              <a:ext cx="442791" cy="36728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9321" y="1423416"/>
              <a:ext cx="3051048" cy="334365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1059173"/>
              <a:ext cx="2581910" cy="405765"/>
            </a:xfrm>
            <a:custGeom>
              <a:avLst/>
              <a:gdLst/>
              <a:ahLst/>
              <a:cxnLst/>
              <a:rect l="l" t="t" r="r" b="b"/>
              <a:pathLst>
                <a:path w="2581910" h="405765">
                  <a:moveTo>
                    <a:pt x="2581655" y="405383"/>
                  </a:moveTo>
                  <a:lnTo>
                    <a:pt x="2581655" y="0"/>
                  </a:lnTo>
                  <a:lnTo>
                    <a:pt x="0" y="0"/>
                  </a:lnTo>
                  <a:lnTo>
                    <a:pt x="0" y="405383"/>
                  </a:lnTo>
                  <a:lnTo>
                    <a:pt x="2581655" y="405383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3137" y="2577083"/>
            <a:ext cx="400396" cy="188507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5230368" y="1400549"/>
            <a:ext cx="3522345" cy="559435"/>
            <a:chOff x="5230368" y="1400549"/>
            <a:chExt cx="3522345" cy="559435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00532" y="1574741"/>
              <a:ext cx="3337379" cy="28889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230368" y="1400549"/>
              <a:ext cx="3522345" cy="559435"/>
            </a:xfrm>
            <a:custGeom>
              <a:avLst/>
              <a:gdLst/>
              <a:ahLst/>
              <a:cxnLst/>
              <a:rect l="l" t="t" r="r" b="b"/>
              <a:pathLst>
                <a:path w="3522345" h="559435">
                  <a:moveTo>
                    <a:pt x="3521964" y="554742"/>
                  </a:moveTo>
                  <a:lnTo>
                    <a:pt x="3521964" y="4572"/>
                  </a:lnTo>
                  <a:lnTo>
                    <a:pt x="3517392" y="0"/>
                  </a:lnTo>
                  <a:lnTo>
                    <a:pt x="6096" y="0"/>
                  </a:lnTo>
                  <a:lnTo>
                    <a:pt x="0" y="4572"/>
                  </a:lnTo>
                  <a:lnTo>
                    <a:pt x="0" y="554742"/>
                  </a:lnTo>
                  <a:lnTo>
                    <a:pt x="6096" y="559314"/>
                  </a:lnTo>
                  <a:lnTo>
                    <a:pt x="12192" y="559314"/>
                  </a:lnTo>
                  <a:lnTo>
                    <a:pt x="12192" y="22860"/>
                  </a:lnTo>
                  <a:lnTo>
                    <a:pt x="24384" y="12192"/>
                  </a:lnTo>
                  <a:lnTo>
                    <a:pt x="24384" y="22860"/>
                  </a:lnTo>
                  <a:lnTo>
                    <a:pt x="3499104" y="22860"/>
                  </a:lnTo>
                  <a:lnTo>
                    <a:pt x="3499104" y="12192"/>
                  </a:lnTo>
                  <a:lnTo>
                    <a:pt x="3509772" y="22860"/>
                  </a:lnTo>
                  <a:lnTo>
                    <a:pt x="3509772" y="559314"/>
                  </a:lnTo>
                  <a:lnTo>
                    <a:pt x="3517392" y="559314"/>
                  </a:lnTo>
                  <a:lnTo>
                    <a:pt x="3521964" y="554742"/>
                  </a:lnTo>
                  <a:close/>
                </a:path>
                <a:path w="3522345" h="559435">
                  <a:moveTo>
                    <a:pt x="24384" y="22860"/>
                  </a:moveTo>
                  <a:lnTo>
                    <a:pt x="24384" y="12192"/>
                  </a:lnTo>
                  <a:lnTo>
                    <a:pt x="12192" y="22860"/>
                  </a:lnTo>
                  <a:lnTo>
                    <a:pt x="24384" y="22860"/>
                  </a:lnTo>
                  <a:close/>
                </a:path>
                <a:path w="3522345" h="559435">
                  <a:moveTo>
                    <a:pt x="24384" y="536454"/>
                  </a:moveTo>
                  <a:lnTo>
                    <a:pt x="24384" y="22860"/>
                  </a:lnTo>
                  <a:lnTo>
                    <a:pt x="12192" y="22860"/>
                  </a:lnTo>
                  <a:lnTo>
                    <a:pt x="12192" y="536454"/>
                  </a:lnTo>
                  <a:lnTo>
                    <a:pt x="24384" y="536454"/>
                  </a:lnTo>
                  <a:close/>
                </a:path>
                <a:path w="3522345" h="559435">
                  <a:moveTo>
                    <a:pt x="3509772" y="536454"/>
                  </a:moveTo>
                  <a:lnTo>
                    <a:pt x="12192" y="536454"/>
                  </a:lnTo>
                  <a:lnTo>
                    <a:pt x="24384" y="548646"/>
                  </a:lnTo>
                  <a:lnTo>
                    <a:pt x="24384" y="559314"/>
                  </a:lnTo>
                  <a:lnTo>
                    <a:pt x="3499104" y="559314"/>
                  </a:lnTo>
                  <a:lnTo>
                    <a:pt x="3499104" y="548646"/>
                  </a:lnTo>
                  <a:lnTo>
                    <a:pt x="3509772" y="536454"/>
                  </a:lnTo>
                  <a:close/>
                </a:path>
                <a:path w="3522345" h="559435">
                  <a:moveTo>
                    <a:pt x="24384" y="559314"/>
                  </a:moveTo>
                  <a:lnTo>
                    <a:pt x="24384" y="548646"/>
                  </a:lnTo>
                  <a:lnTo>
                    <a:pt x="12192" y="536454"/>
                  </a:lnTo>
                  <a:lnTo>
                    <a:pt x="12192" y="559314"/>
                  </a:lnTo>
                  <a:lnTo>
                    <a:pt x="24384" y="559314"/>
                  </a:lnTo>
                  <a:close/>
                </a:path>
                <a:path w="3522345" h="559435">
                  <a:moveTo>
                    <a:pt x="3509772" y="22860"/>
                  </a:moveTo>
                  <a:lnTo>
                    <a:pt x="3499104" y="12192"/>
                  </a:lnTo>
                  <a:lnTo>
                    <a:pt x="3499104" y="22860"/>
                  </a:lnTo>
                  <a:lnTo>
                    <a:pt x="3509772" y="22860"/>
                  </a:lnTo>
                  <a:close/>
                </a:path>
                <a:path w="3522345" h="559435">
                  <a:moveTo>
                    <a:pt x="3509772" y="536454"/>
                  </a:moveTo>
                  <a:lnTo>
                    <a:pt x="3509772" y="22860"/>
                  </a:lnTo>
                  <a:lnTo>
                    <a:pt x="3499104" y="22860"/>
                  </a:lnTo>
                  <a:lnTo>
                    <a:pt x="3499104" y="536454"/>
                  </a:lnTo>
                  <a:lnTo>
                    <a:pt x="3509772" y="536454"/>
                  </a:lnTo>
                  <a:close/>
                </a:path>
                <a:path w="3522345" h="559435">
                  <a:moveTo>
                    <a:pt x="3509772" y="559314"/>
                  </a:moveTo>
                  <a:lnTo>
                    <a:pt x="3509772" y="536454"/>
                  </a:lnTo>
                  <a:lnTo>
                    <a:pt x="3499104" y="548646"/>
                  </a:lnTo>
                  <a:lnTo>
                    <a:pt x="3499104" y="559314"/>
                  </a:lnTo>
                  <a:lnTo>
                    <a:pt x="3509772" y="559314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5266944" y="2135124"/>
            <a:ext cx="3450590" cy="873760"/>
            <a:chOff x="5266944" y="2135124"/>
            <a:chExt cx="3450590" cy="873760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17527" y="2235720"/>
              <a:ext cx="3319920" cy="68591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66944" y="2135124"/>
              <a:ext cx="3450590" cy="873760"/>
            </a:xfrm>
            <a:custGeom>
              <a:avLst/>
              <a:gdLst/>
              <a:ahLst/>
              <a:cxnLst/>
              <a:rect l="l" t="t" r="r" b="b"/>
              <a:pathLst>
                <a:path w="3450590" h="873760">
                  <a:moveTo>
                    <a:pt x="3450336" y="867156"/>
                  </a:moveTo>
                  <a:lnTo>
                    <a:pt x="3450336" y="6096"/>
                  </a:lnTo>
                  <a:lnTo>
                    <a:pt x="3444240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867156"/>
                  </a:lnTo>
                  <a:lnTo>
                    <a:pt x="4572" y="873252"/>
                  </a:lnTo>
                  <a:lnTo>
                    <a:pt x="12192" y="873252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425952" y="24384"/>
                  </a:lnTo>
                  <a:lnTo>
                    <a:pt x="3425952" y="12192"/>
                  </a:lnTo>
                  <a:lnTo>
                    <a:pt x="3438144" y="24384"/>
                  </a:lnTo>
                  <a:lnTo>
                    <a:pt x="3438144" y="873252"/>
                  </a:lnTo>
                  <a:lnTo>
                    <a:pt x="3444240" y="873252"/>
                  </a:lnTo>
                  <a:lnTo>
                    <a:pt x="3450336" y="867156"/>
                  </a:lnTo>
                  <a:close/>
                </a:path>
                <a:path w="3450590" h="873760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3450590" h="873760">
                  <a:moveTo>
                    <a:pt x="22860" y="848868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848868"/>
                  </a:lnTo>
                  <a:lnTo>
                    <a:pt x="22860" y="848868"/>
                  </a:lnTo>
                  <a:close/>
                </a:path>
                <a:path w="3450590" h="873760">
                  <a:moveTo>
                    <a:pt x="3438144" y="848868"/>
                  </a:moveTo>
                  <a:lnTo>
                    <a:pt x="12192" y="848868"/>
                  </a:lnTo>
                  <a:lnTo>
                    <a:pt x="22860" y="861060"/>
                  </a:lnTo>
                  <a:lnTo>
                    <a:pt x="22860" y="873252"/>
                  </a:lnTo>
                  <a:lnTo>
                    <a:pt x="3425952" y="873252"/>
                  </a:lnTo>
                  <a:lnTo>
                    <a:pt x="3425952" y="861060"/>
                  </a:lnTo>
                  <a:lnTo>
                    <a:pt x="3438144" y="848868"/>
                  </a:lnTo>
                  <a:close/>
                </a:path>
                <a:path w="3450590" h="873760">
                  <a:moveTo>
                    <a:pt x="22860" y="873252"/>
                  </a:moveTo>
                  <a:lnTo>
                    <a:pt x="22860" y="861060"/>
                  </a:lnTo>
                  <a:lnTo>
                    <a:pt x="12192" y="848868"/>
                  </a:lnTo>
                  <a:lnTo>
                    <a:pt x="12192" y="873252"/>
                  </a:lnTo>
                  <a:lnTo>
                    <a:pt x="22860" y="873252"/>
                  </a:lnTo>
                  <a:close/>
                </a:path>
                <a:path w="3450590" h="873760">
                  <a:moveTo>
                    <a:pt x="3438144" y="24384"/>
                  </a:moveTo>
                  <a:lnTo>
                    <a:pt x="3425952" y="12192"/>
                  </a:lnTo>
                  <a:lnTo>
                    <a:pt x="3425952" y="24384"/>
                  </a:lnTo>
                  <a:lnTo>
                    <a:pt x="3438144" y="24384"/>
                  </a:lnTo>
                  <a:close/>
                </a:path>
                <a:path w="3450590" h="873760">
                  <a:moveTo>
                    <a:pt x="3438144" y="848868"/>
                  </a:moveTo>
                  <a:lnTo>
                    <a:pt x="3438144" y="24384"/>
                  </a:lnTo>
                  <a:lnTo>
                    <a:pt x="3425952" y="24384"/>
                  </a:lnTo>
                  <a:lnTo>
                    <a:pt x="3425952" y="848868"/>
                  </a:lnTo>
                  <a:lnTo>
                    <a:pt x="3438144" y="848868"/>
                  </a:lnTo>
                  <a:close/>
                </a:path>
                <a:path w="3450590" h="873760">
                  <a:moveTo>
                    <a:pt x="3438144" y="873252"/>
                  </a:moveTo>
                  <a:lnTo>
                    <a:pt x="3438144" y="848868"/>
                  </a:lnTo>
                  <a:lnTo>
                    <a:pt x="3425952" y="861060"/>
                  </a:lnTo>
                  <a:lnTo>
                    <a:pt x="3425952" y="873252"/>
                  </a:lnTo>
                  <a:lnTo>
                    <a:pt x="3438144" y="873252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5266944" y="3168396"/>
            <a:ext cx="3065145" cy="577850"/>
            <a:chOff x="5266944" y="3168396"/>
            <a:chExt cx="3065145" cy="577850"/>
          </a:xfrm>
        </p:grpSpPr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08791" y="3262489"/>
              <a:ext cx="2871889" cy="32767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266944" y="3168396"/>
              <a:ext cx="3065145" cy="577850"/>
            </a:xfrm>
            <a:custGeom>
              <a:avLst/>
              <a:gdLst/>
              <a:ahLst/>
              <a:cxnLst/>
              <a:rect l="l" t="t" r="r" b="b"/>
              <a:pathLst>
                <a:path w="3065145" h="577850">
                  <a:moveTo>
                    <a:pt x="3064764" y="573024"/>
                  </a:moveTo>
                  <a:lnTo>
                    <a:pt x="3064764" y="4572"/>
                  </a:lnTo>
                  <a:lnTo>
                    <a:pt x="3060192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573024"/>
                  </a:lnTo>
                  <a:lnTo>
                    <a:pt x="4572" y="577596"/>
                  </a:lnTo>
                  <a:lnTo>
                    <a:pt x="12192" y="577596"/>
                  </a:lnTo>
                  <a:lnTo>
                    <a:pt x="12192" y="22860"/>
                  </a:lnTo>
                  <a:lnTo>
                    <a:pt x="22860" y="10668"/>
                  </a:lnTo>
                  <a:lnTo>
                    <a:pt x="22860" y="22860"/>
                  </a:lnTo>
                  <a:lnTo>
                    <a:pt x="3041904" y="22860"/>
                  </a:lnTo>
                  <a:lnTo>
                    <a:pt x="3041904" y="10668"/>
                  </a:lnTo>
                  <a:lnTo>
                    <a:pt x="3054096" y="22860"/>
                  </a:lnTo>
                  <a:lnTo>
                    <a:pt x="3054096" y="577596"/>
                  </a:lnTo>
                  <a:lnTo>
                    <a:pt x="3060192" y="577596"/>
                  </a:lnTo>
                  <a:lnTo>
                    <a:pt x="3064764" y="573024"/>
                  </a:lnTo>
                  <a:close/>
                </a:path>
                <a:path w="3065145" h="577850">
                  <a:moveTo>
                    <a:pt x="22860" y="22860"/>
                  </a:moveTo>
                  <a:lnTo>
                    <a:pt x="22860" y="10668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3065145" h="577850">
                  <a:moveTo>
                    <a:pt x="22860" y="554736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554736"/>
                  </a:lnTo>
                  <a:lnTo>
                    <a:pt x="22860" y="554736"/>
                  </a:lnTo>
                  <a:close/>
                </a:path>
                <a:path w="3065145" h="577850">
                  <a:moveTo>
                    <a:pt x="3054096" y="554736"/>
                  </a:moveTo>
                  <a:lnTo>
                    <a:pt x="12192" y="554736"/>
                  </a:lnTo>
                  <a:lnTo>
                    <a:pt x="22860" y="566928"/>
                  </a:lnTo>
                  <a:lnTo>
                    <a:pt x="22860" y="577596"/>
                  </a:lnTo>
                  <a:lnTo>
                    <a:pt x="3041904" y="577596"/>
                  </a:lnTo>
                  <a:lnTo>
                    <a:pt x="3041904" y="566928"/>
                  </a:lnTo>
                  <a:lnTo>
                    <a:pt x="3054096" y="554736"/>
                  </a:lnTo>
                  <a:close/>
                </a:path>
                <a:path w="3065145" h="577850">
                  <a:moveTo>
                    <a:pt x="22860" y="577596"/>
                  </a:moveTo>
                  <a:lnTo>
                    <a:pt x="22860" y="566928"/>
                  </a:lnTo>
                  <a:lnTo>
                    <a:pt x="12192" y="554736"/>
                  </a:lnTo>
                  <a:lnTo>
                    <a:pt x="12192" y="577596"/>
                  </a:lnTo>
                  <a:lnTo>
                    <a:pt x="22860" y="577596"/>
                  </a:lnTo>
                  <a:close/>
                </a:path>
                <a:path w="3065145" h="577850">
                  <a:moveTo>
                    <a:pt x="3054096" y="22860"/>
                  </a:moveTo>
                  <a:lnTo>
                    <a:pt x="3041904" y="10668"/>
                  </a:lnTo>
                  <a:lnTo>
                    <a:pt x="3041904" y="22860"/>
                  </a:lnTo>
                  <a:lnTo>
                    <a:pt x="3054096" y="22860"/>
                  </a:lnTo>
                  <a:close/>
                </a:path>
                <a:path w="3065145" h="577850">
                  <a:moveTo>
                    <a:pt x="3054096" y="554736"/>
                  </a:moveTo>
                  <a:lnTo>
                    <a:pt x="3054096" y="22860"/>
                  </a:lnTo>
                  <a:lnTo>
                    <a:pt x="3041904" y="22860"/>
                  </a:lnTo>
                  <a:lnTo>
                    <a:pt x="3041904" y="554736"/>
                  </a:lnTo>
                  <a:lnTo>
                    <a:pt x="3054096" y="554736"/>
                  </a:lnTo>
                  <a:close/>
                </a:path>
                <a:path w="3065145" h="577850">
                  <a:moveTo>
                    <a:pt x="3054096" y="577596"/>
                  </a:moveTo>
                  <a:lnTo>
                    <a:pt x="3054096" y="554736"/>
                  </a:lnTo>
                  <a:lnTo>
                    <a:pt x="3041904" y="566928"/>
                  </a:lnTo>
                  <a:lnTo>
                    <a:pt x="3041904" y="577596"/>
                  </a:lnTo>
                  <a:lnTo>
                    <a:pt x="3054096" y="577596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5266944" y="3906011"/>
            <a:ext cx="3171825" cy="909955"/>
            <a:chOff x="5266944" y="3906011"/>
            <a:chExt cx="3171825" cy="909955"/>
          </a:xfrm>
        </p:grpSpPr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30857" y="4008301"/>
              <a:ext cx="3017459" cy="68064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266944" y="3906011"/>
              <a:ext cx="3171825" cy="909955"/>
            </a:xfrm>
            <a:custGeom>
              <a:avLst/>
              <a:gdLst/>
              <a:ahLst/>
              <a:cxnLst/>
              <a:rect l="l" t="t" r="r" b="b"/>
              <a:pathLst>
                <a:path w="3171825" h="909954">
                  <a:moveTo>
                    <a:pt x="3171444" y="903732"/>
                  </a:moveTo>
                  <a:lnTo>
                    <a:pt x="3171444" y="6096"/>
                  </a:lnTo>
                  <a:lnTo>
                    <a:pt x="3165348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903732"/>
                  </a:lnTo>
                  <a:lnTo>
                    <a:pt x="4572" y="909828"/>
                  </a:lnTo>
                  <a:lnTo>
                    <a:pt x="12192" y="909828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147060" y="24384"/>
                  </a:lnTo>
                  <a:lnTo>
                    <a:pt x="3147060" y="12192"/>
                  </a:lnTo>
                  <a:lnTo>
                    <a:pt x="3159252" y="24384"/>
                  </a:lnTo>
                  <a:lnTo>
                    <a:pt x="3159252" y="909828"/>
                  </a:lnTo>
                  <a:lnTo>
                    <a:pt x="3165348" y="909828"/>
                  </a:lnTo>
                  <a:lnTo>
                    <a:pt x="3171444" y="903732"/>
                  </a:lnTo>
                  <a:close/>
                </a:path>
                <a:path w="3171825" h="909954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3171825" h="909954">
                  <a:moveTo>
                    <a:pt x="22860" y="885444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885444"/>
                  </a:lnTo>
                  <a:lnTo>
                    <a:pt x="22860" y="885444"/>
                  </a:lnTo>
                  <a:close/>
                </a:path>
                <a:path w="3171825" h="909954">
                  <a:moveTo>
                    <a:pt x="3159252" y="885444"/>
                  </a:moveTo>
                  <a:lnTo>
                    <a:pt x="12192" y="885444"/>
                  </a:lnTo>
                  <a:lnTo>
                    <a:pt x="22860" y="897636"/>
                  </a:lnTo>
                  <a:lnTo>
                    <a:pt x="22860" y="909828"/>
                  </a:lnTo>
                  <a:lnTo>
                    <a:pt x="3147060" y="909828"/>
                  </a:lnTo>
                  <a:lnTo>
                    <a:pt x="3147060" y="897636"/>
                  </a:lnTo>
                  <a:lnTo>
                    <a:pt x="3159252" y="885444"/>
                  </a:lnTo>
                  <a:close/>
                </a:path>
                <a:path w="3171825" h="909954">
                  <a:moveTo>
                    <a:pt x="22860" y="909828"/>
                  </a:moveTo>
                  <a:lnTo>
                    <a:pt x="22860" y="897636"/>
                  </a:lnTo>
                  <a:lnTo>
                    <a:pt x="12192" y="885444"/>
                  </a:lnTo>
                  <a:lnTo>
                    <a:pt x="12192" y="909828"/>
                  </a:lnTo>
                  <a:lnTo>
                    <a:pt x="22860" y="909828"/>
                  </a:lnTo>
                  <a:close/>
                </a:path>
                <a:path w="3171825" h="909954">
                  <a:moveTo>
                    <a:pt x="3159252" y="24384"/>
                  </a:moveTo>
                  <a:lnTo>
                    <a:pt x="3147060" y="12192"/>
                  </a:lnTo>
                  <a:lnTo>
                    <a:pt x="3147060" y="24384"/>
                  </a:lnTo>
                  <a:lnTo>
                    <a:pt x="3159252" y="24384"/>
                  </a:lnTo>
                  <a:close/>
                </a:path>
                <a:path w="3171825" h="909954">
                  <a:moveTo>
                    <a:pt x="3159252" y="885444"/>
                  </a:moveTo>
                  <a:lnTo>
                    <a:pt x="3159252" y="24384"/>
                  </a:lnTo>
                  <a:lnTo>
                    <a:pt x="3147060" y="24384"/>
                  </a:lnTo>
                  <a:lnTo>
                    <a:pt x="3147060" y="885444"/>
                  </a:lnTo>
                  <a:lnTo>
                    <a:pt x="3159252" y="885444"/>
                  </a:lnTo>
                  <a:close/>
                </a:path>
                <a:path w="3171825" h="909954">
                  <a:moveTo>
                    <a:pt x="3159252" y="909828"/>
                  </a:moveTo>
                  <a:lnTo>
                    <a:pt x="3159252" y="885444"/>
                  </a:lnTo>
                  <a:lnTo>
                    <a:pt x="3147060" y="897636"/>
                  </a:lnTo>
                  <a:lnTo>
                    <a:pt x="3147060" y="909828"/>
                  </a:lnTo>
                  <a:lnTo>
                    <a:pt x="3159252" y="909828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475481" y="5236464"/>
            <a:ext cx="2807335" cy="303530"/>
            <a:chOff x="475481" y="5236464"/>
            <a:chExt cx="2807335" cy="303530"/>
          </a:xfrm>
        </p:grpSpPr>
        <p:sp>
          <p:nvSpPr>
            <p:cNvPr id="22" name="object 22"/>
            <p:cNvSpPr/>
            <p:nvPr/>
          </p:nvSpPr>
          <p:spPr>
            <a:xfrm>
              <a:off x="487673" y="5248655"/>
              <a:ext cx="2784475" cy="279400"/>
            </a:xfrm>
            <a:custGeom>
              <a:avLst/>
              <a:gdLst/>
              <a:ahLst/>
              <a:cxnLst/>
              <a:rect l="l" t="t" r="r" b="b"/>
              <a:pathLst>
                <a:path w="2784475" h="279400">
                  <a:moveTo>
                    <a:pt x="2784347" y="278891"/>
                  </a:moveTo>
                  <a:lnTo>
                    <a:pt x="2784347" y="0"/>
                  </a:lnTo>
                  <a:lnTo>
                    <a:pt x="0" y="0"/>
                  </a:lnTo>
                  <a:lnTo>
                    <a:pt x="0" y="278891"/>
                  </a:lnTo>
                  <a:lnTo>
                    <a:pt x="2784347" y="278891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75481" y="5236464"/>
              <a:ext cx="2807335" cy="303530"/>
            </a:xfrm>
            <a:custGeom>
              <a:avLst/>
              <a:gdLst/>
              <a:ahLst/>
              <a:cxnLst/>
              <a:rect l="l" t="t" r="r" b="b"/>
              <a:pathLst>
                <a:path w="2807335" h="303529">
                  <a:moveTo>
                    <a:pt x="2807214" y="297180"/>
                  </a:moveTo>
                  <a:lnTo>
                    <a:pt x="2807214" y="6096"/>
                  </a:lnTo>
                  <a:lnTo>
                    <a:pt x="2802642" y="0"/>
                  </a:lnTo>
                  <a:lnTo>
                    <a:pt x="6096" y="0"/>
                  </a:lnTo>
                  <a:lnTo>
                    <a:pt x="0" y="6096"/>
                  </a:lnTo>
                  <a:lnTo>
                    <a:pt x="0" y="297180"/>
                  </a:lnTo>
                  <a:lnTo>
                    <a:pt x="6096" y="303276"/>
                  </a:lnTo>
                  <a:lnTo>
                    <a:pt x="12192" y="303276"/>
                  </a:lnTo>
                  <a:lnTo>
                    <a:pt x="12192" y="24384"/>
                  </a:lnTo>
                  <a:lnTo>
                    <a:pt x="24384" y="12192"/>
                  </a:lnTo>
                  <a:lnTo>
                    <a:pt x="24384" y="24384"/>
                  </a:lnTo>
                  <a:lnTo>
                    <a:pt x="2784354" y="24384"/>
                  </a:lnTo>
                  <a:lnTo>
                    <a:pt x="2784354" y="12192"/>
                  </a:lnTo>
                  <a:lnTo>
                    <a:pt x="2796546" y="24384"/>
                  </a:lnTo>
                  <a:lnTo>
                    <a:pt x="2796546" y="303276"/>
                  </a:lnTo>
                  <a:lnTo>
                    <a:pt x="2802642" y="303276"/>
                  </a:lnTo>
                  <a:lnTo>
                    <a:pt x="2807214" y="297180"/>
                  </a:lnTo>
                  <a:close/>
                </a:path>
                <a:path w="2807335" h="303529">
                  <a:moveTo>
                    <a:pt x="24384" y="24384"/>
                  </a:moveTo>
                  <a:lnTo>
                    <a:pt x="24384" y="12192"/>
                  </a:lnTo>
                  <a:lnTo>
                    <a:pt x="12192" y="24384"/>
                  </a:lnTo>
                  <a:lnTo>
                    <a:pt x="24384" y="24384"/>
                  </a:lnTo>
                  <a:close/>
                </a:path>
                <a:path w="2807335" h="303529">
                  <a:moveTo>
                    <a:pt x="24384" y="278892"/>
                  </a:moveTo>
                  <a:lnTo>
                    <a:pt x="24384" y="24384"/>
                  </a:lnTo>
                  <a:lnTo>
                    <a:pt x="12192" y="24384"/>
                  </a:lnTo>
                  <a:lnTo>
                    <a:pt x="12192" y="278892"/>
                  </a:lnTo>
                  <a:lnTo>
                    <a:pt x="24384" y="278892"/>
                  </a:lnTo>
                  <a:close/>
                </a:path>
                <a:path w="2807335" h="303529">
                  <a:moveTo>
                    <a:pt x="2796546" y="278892"/>
                  </a:moveTo>
                  <a:lnTo>
                    <a:pt x="12192" y="278892"/>
                  </a:lnTo>
                  <a:lnTo>
                    <a:pt x="24384" y="291084"/>
                  </a:lnTo>
                  <a:lnTo>
                    <a:pt x="24384" y="303276"/>
                  </a:lnTo>
                  <a:lnTo>
                    <a:pt x="2784354" y="303276"/>
                  </a:lnTo>
                  <a:lnTo>
                    <a:pt x="2784354" y="291084"/>
                  </a:lnTo>
                  <a:lnTo>
                    <a:pt x="2796546" y="278892"/>
                  </a:lnTo>
                  <a:close/>
                </a:path>
                <a:path w="2807335" h="303529">
                  <a:moveTo>
                    <a:pt x="24384" y="303276"/>
                  </a:moveTo>
                  <a:lnTo>
                    <a:pt x="24384" y="291084"/>
                  </a:lnTo>
                  <a:lnTo>
                    <a:pt x="12192" y="278892"/>
                  </a:lnTo>
                  <a:lnTo>
                    <a:pt x="12192" y="303276"/>
                  </a:lnTo>
                  <a:lnTo>
                    <a:pt x="24384" y="303276"/>
                  </a:lnTo>
                  <a:close/>
                </a:path>
                <a:path w="2807335" h="303529">
                  <a:moveTo>
                    <a:pt x="2796546" y="24384"/>
                  </a:moveTo>
                  <a:lnTo>
                    <a:pt x="2784354" y="12192"/>
                  </a:lnTo>
                  <a:lnTo>
                    <a:pt x="2784354" y="24384"/>
                  </a:lnTo>
                  <a:lnTo>
                    <a:pt x="2796546" y="24384"/>
                  </a:lnTo>
                  <a:close/>
                </a:path>
                <a:path w="2807335" h="303529">
                  <a:moveTo>
                    <a:pt x="2796546" y="278892"/>
                  </a:moveTo>
                  <a:lnTo>
                    <a:pt x="2796546" y="24384"/>
                  </a:lnTo>
                  <a:lnTo>
                    <a:pt x="2784354" y="24384"/>
                  </a:lnTo>
                  <a:lnTo>
                    <a:pt x="2784354" y="278892"/>
                  </a:lnTo>
                  <a:lnTo>
                    <a:pt x="2796546" y="278892"/>
                  </a:lnTo>
                  <a:close/>
                </a:path>
                <a:path w="2807335" h="303529">
                  <a:moveTo>
                    <a:pt x="2796546" y="303276"/>
                  </a:moveTo>
                  <a:lnTo>
                    <a:pt x="2796546" y="278892"/>
                  </a:lnTo>
                  <a:lnTo>
                    <a:pt x="2784354" y="291084"/>
                  </a:lnTo>
                  <a:lnTo>
                    <a:pt x="2784354" y="303276"/>
                  </a:lnTo>
                  <a:lnTo>
                    <a:pt x="2796546" y="303276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87673" y="5248655"/>
            <a:ext cx="495300" cy="256540"/>
          </a:xfrm>
          <a:prstGeom prst="rect">
            <a:avLst/>
          </a:prstGeom>
          <a:solidFill>
            <a:srgbClr val="FFF2CC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2014"/>
              </a:lnSpc>
            </a:pPr>
            <a:r>
              <a:rPr sz="1800" spc="90" dirty="0">
                <a:latin typeface="Cambria"/>
                <a:cs typeface="Cambria"/>
              </a:rPr>
              <a:t>x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355" dirty="0">
                <a:latin typeface="Cambria"/>
                <a:cs typeface="Cambria"/>
              </a:rPr>
              <a:t>=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82980" y="5294388"/>
            <a:ext cx="2223770" cy="215265"/>
          </a:xfrm>
          <a:custGeom>
            <a:avLst/>
            <a:gdLst/>
            <a:ahLst/>
            <a:cxnLst/>
            <a:rect l="l" t="t" r="r" b="b"/>
            <a:pathLst>
              <a:path w="2223770" h="215264">
                <a:moveTo>
                  <a:pt x="50279" y="205740"/>
                </a:moveTo>
                <a:lnTo>
                  <a:pt x="18275" y="205740"/>
                </a:lnTo>
                <a:lnTo>
                  <a:pt x="18275" y="214884"/>
                </a:lnTo>
                <a:lnTo>
                  <a:pt x="50279" y="214884"/>
                </a:lnTo>
                <a:lnTo>
                  <a:pt x="50279" y="205740"/>
                </a:lnTo>
                <a:close/>
              </a:path>
              <a:path w="2223770" h="215264">
                <a:moveTo>
                  <a:pt x="50800" y="0"/>
                </a:moveTo>
                <a:lnTo>
                  <a:pt x="17780" y="0"/>
                </a:lnTo>
                <a:lnTo>
                  <a:pt x="0" y="0"/>
                </a:lnTo>
                <a:lnTo>
                  <a:pt x="0" y="214884"/>
                </a:lnTo>
                <a:lnTo>
                  <a:pt x="17780" y="214884"/>
                </a:lnTo>
                <a:lnTo>
                  <a:pt x="17780" y="9144"/>
                </a:lnTo>
                <a:lnTo>
                  <a:pt x="50800" y="9144"/>
                </a:lnTo>
                <a:lnTo>
                  <a:pt x="50800" y="0"/>
                </a:lnTo>
                <a:close/>
              </a:path>
              <a:path w="2223770" h="215264">
                <a:moveTo>
                  <a:pt x="2223770" y="0"/>
                </a:moveTo>
                <a:lnTo>
                  <a:pt x="2204720" y="0"/>
                </a:lnTo>
                <a:lnTo>
                  <a:pt x="2172970" y="0"/>
                </a:lnTo>
                <a:lnTo>
                  <a:pt x="2172970" y="9144"/>
                </a:lnTo>
                <a:lnTo>
                  <a:pt x="2204720" y="9144"/>
                </a:lnTo>
                <a:lnTo>
                  <a:pt x="2204720" y="205740"/>
                </a:lnTo>
                <a:lnTo>
                  <a:pt x="2173224" y="205740"/>
                </a:lnTo>
                <a:lnTo>
                  <a:pt x="2173224" y="214884"/>
                </a:lnTo>
                <a:lnTo>
                  <a:pt x="2204720" y="214884"/>
                </a:lnTo>
                <a:lnTo>
                  <a:pt x="2205228" y="214884"/>
                </a:lnTo>
                <a:lnTo>
                  <a:pt x="2223770" y="214884"/>
                </a:lnTo>
                <a:lnTo>
                  <a:pt x="22237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75360" y="5138418"/>
            <a:ext cx="223774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110"/>
              </a:spcBef>
            </a:pPr>
            <a:r>
              <a:rPr sz="2700" spc="284" baseline="-20061" dirty="0">
                <a:latin typeface="Cambria"/>
                <a:cs typeface="Cambria"/>
              </a:rPr>
              <a:t>x</a:t>
            </a:r>
            <a:r>
              <a:rPr sz="1300" spc="245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1</a:t>
            </a:r>
            <a:r>
              <a:rPr sz="1300" spc="250" dirty="0">
                <a:latin typeface="Cambria"/>
                <a:cs typeface="Cambria"/>
              </a:rPr>
              <a:t>&gt;</a:t>
            </a:r>
            <a:r>
              <a:rPr sz="1300" dirty="0">
                <a:latin typeface="Cambria"/>
                <a:cs typeface="Cambria"/>
              </a:rPr>
              <a:t> </a:t>
            </a:r>
            <a:r>
              <a:rPr sz="1300" spc="-95" dirty="0">
                <a:latin typeface="Cambria"/>
                <a:cs typeface="Cambria"/>
              </a:rPr>
              <a:t> 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284" baseline="-20061" dirty="0">
                <a:latin typeface="Cambria"/>
                <a:cs typeface="Cambria"/>
              </a:rPr>
              <a:t>x</a:t>
            </a:r>
            <a:r>
              <a:rPr sz="1300" spc="260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2</a:t>
            </a:r>
            <a:r>
              <a:rPr sz="1300" spc="330" dirty="0">
                <a:latin typeface="Cambria"/>
                <a:cs typeface="Cambria"/>
              </a:rPr>
              <a:t>&gt;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15" baseline="-20061" dirty="0">
                <a:latin typeface="Cambria"/>
                <a:cs typeface="Cambria"/>
              </a:rPr>
              <a:t>⋯</a:t>
            </a:r>
            <a:r>
              <a:rPr sz="2700" spc="-135" baseline="-20061" dirty="0">
                <a:latin typeface="Cambria"/>
                <a:cs typeface="Cambria"/>
              </a:rPr>
              <a:t> 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284" baseline="-20061" dirty="0">
                <a:latin typeface="Cambria"/>
                <a:cs typeface="Cambria"/>
              </a:rPr>
              <a:t>x</a:t>
            </a:r>
            <a:r>
              <a:rPr sz="1300" spc="245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10</a:t>
            </a:r>
            <a:r>
              <a:rPr sz="1300" spc="250" dirty="0">
                <a:latin typeface="Cambria"/>
                <a:cs typeface="Cambria"/>
              </a:rPr>
              <a:t>&gt;</a:t>
            </a:r>
            <a:endParaRPr sz="1300">
              <a:latin typeface="Cambria"/>
              <a:cs typeface="Cambr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75481" y="5629655"/>
            <a:ext cx="2702560" cy="306705"/>
            <a:chOff x="475481" y="5629655"/>
            <a:chExt cx="2702560" cy="306705"/>
          </a:xfrm>
        </p:grpSpPr>
        <p:sp>
          <p:nvSpPr>
            <p:cNvPr id="28" name="object 28"/>
            <p:cNvSpPr/>
            <p:nvPr/>
          </p:nvSpPr>
          <p:spPr>
            <a:xfrm>
              <a:off x="487673" y="5641847"/>
              <a:ext cx="2677795" cy="281940"/>
            </a:xfrm>
            <a:custGeom>
              <a:avLst/>
              <a:gdLst/>
              <a:ahLst/>
              <a:cxnLst/>
              <a:rect l="l" t="t" r="r" b="b"/>
              <a:pathLst>
                <a:path w="2677795" h="281939">
                  <a:moveTo>
                    <a:pt x="2677667" y="281939"/>
                  </a:moveTo>
                  <a:lnTo>
                    <a:pt x="2677667" y="0"/>
                  </a:lnTo>
                  <a:lnTo>
                    <a:pt x="0" y="0"/>
                  </a:lnTo>
                  <a:lnTo>
                    <a:pt x="0" y="281939"/>
                  </a:lnTo>
                  <a:lnTo>
                    <a:pt x="2677667" y="28193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75481" y="5629655"/>
              <a:ext cx="2702560" cy="306705"/>
            </a:xfrm>
            <a:custGeom>
              <a:avLst/>
              <a:gdLst/>
              <a:ahLst/>
              <a:cxnLst/>
              <a:rect l="l" t="t" r="r" b="b"/>
              <a:pathLst>
                <a:path w="2702560" h="306704">
                  <a:moveTo>
                    <a:pt x="2702058" y="300228"/>
                  </a:moveTo>
                  <a:lnTo>
                    <a:pt x="2702058" y="4572"/>
                  </a:lnTo>
                  <a:lnTo>
                    <a:pt x="2695962" y="0"/>
                  </a:lnTo>
                  <a:lnTo>
                    <a:pt x="6096" y="0"/>
                  </a:lnTo>
                  <a:lnTo>
                    <a:pt x="0" y="4572"/>
                  </a:lnTo>
                  <a:lnTo>
                    <a:pt x="0" y="300228"/>
                  </a:lnTo>
                  <a:lnTo>
                    <a:pt x="6096" y="306324"/>
                  </a:lnTo>
                  <a:lnTo>
                    <a:pt x="12192" y="306324"/>
                  </a:lnTo>
                  <a:lnTo>
                    <a:pt x="12192" y="22860"/>
                  </a:lnTo>
                  <a:lnTo>
                    <a:pt x="24384" y="12192"/>
                  </a:lnTo>
                  <a:lnTo>
                    <a:pt x="24384" y="22860"/>
                  </a:lnTo>
                  <a:lnTo>
                    <a:pt x="2677674" y="22860"/>
                  </a:lnTo>
                  <a:lnTo>
                    <a:pt x="2677674" y="12192"/>
                  </a:lnTo>
                  <a:lnTo>
                    <a:pt x="2689866" y="22860"/>
                  </a:lnTo>
                  <a:lnTo>
                    <a:pt x="2689866" y="306324"/>
                  </a:lnTo>
                  <a:lnTo>
                    <a:pt x="2695962" y="306324"/>
                  </a:lnTo>
                  <a:lnTo>
                    <a:pt x="2702058" y="300228"/>
                  </a:lnTo>
                  <a:close/>
                </a:path>
                <a:path w="2702560" h="306704">
                  <a:moveTo>
                    <a:pt x="24384" y="22860"/>
                  </a:moveTo>
                  <a:lnTo>
                    <a:pt x="24384" y="12192"/>
                  </a:lnTo>
                  <a:lnTo>
                    <a:pt x="12192" y="22860"/>
                  </a:lnTo>
                  <a:lnTo>
                    <a:pt x="24384" y="22860"/>
                  </a:lnTo>
                  <a:close/>
                </a:path>
                <a:path w="2702560" h="306704">
                  <a:moveTo>
                    <a:pt x="24384" y="281940"/>
                  </a:moveTo>
                  <a:lnTo>
                    <a:pt x="24384" y="22860"/>
                  </a:lnTo>
                  <a:lnTo>
                    <a:pt x="12192" y="22860"/>
                  </a:lnTo>
                  <a:lnTo>
                    <a:pt x="12192" y="281940"/>
                  </a:lnTo>
                  <a:lnTo>
                    <a:pt x="24384" y="281940"/>
                  </a:lnTo>
                  <a:close/>
                </a:path>
                <a:path w="2702560" h="306704">
                  <a:moveTo>
                    <a:pt x="2689866" y="281940"/>
                  </a:moveTo>
                  <a:lnTo>
                    <a:pt x="12192" y="281940"/>
                  </a:lnTo>
                  <a:lnTo>
                    <a:pt x="24384" y="294132"/>
                  </a:lnTo>
                  <a:lnTo>
                    <a:pt x="24384" y="306324"/>
                  </a:lnTo>
                  <a:lnTo>
                    <a:pt x="2677674" y="306324"/>
                  </a:lnTo>
                  <a:lnTo>
                    <a:pt x="2677674" y="294132"/>
                  </a:lnTo>
                  <a:lnTo>
                    <a:pt x="2689866" y="281940"/>
                  </a:lnTo>
                  <a:close/>
                </a:path>
                <a:path w="2702560" h="306704">
                  <a:moveTo>
                    <a:pt x="24384" y="306324"/>
                  </a:moveTo>
                  <a:lnTo>
                    <a:pt x="24384" y="294132"/>
                  </a:lnTo>
                  <a:lnTo>
                    <a:pt x="12192" y="281940"/>
                  </a:lnTo>
                  <a:lnTo>
                    <a:pt x="12192" y="306324"/>
                  </a:lnTo>
                  <a:lnTo>
                    <a:pt x="24384" y="306324"/>
                  </a:lnTo>
                  <a:close/>
                </a:path>
                <a:path w="2702560" h="306704">
                  <a:moveTo>
                    <a:pt x="2689866" y="22860"/>
                  </a:moveTo>
                  <a:lnTo>
                    <a:pt x="2677674" y="12192"/>
                  </a:lnTo>
                  <a:lnTo>
                    <a:pt x="2677674" y="22860"/>
                  </a:lnTo>
                  <a:lnTo>
                    <a:pt x="2689866" y="22860"/>
                  </a:lnTo>
                  <a:close/>
                </a:path>
                <a:path w="2702560" h="306704">
                  <a:moveTo>
                    <a:pt x="2689866" y="281940"/>
                  </a:moveTo>
                  <a:lnTo>
                    <a:pt x="2689866" y="22860"/>
                  </a:lnTo>
                  <a:lnTo>
                    <a:pt x="2677674" y="22860"/>
                  </a:lnTo>
                  <a:lnTo>
                    <a:pt x="2677674" y="281940"/>
                  </a:lnTo>
                  <a:lnTo>
                    <a:pt x="2689866" y="281940"/>
                  </a:lnTo>
                  <a:close/>
                </a:path>
                <a:path w="2702560" h="306704">
                  <a:moveTo>
                    <a:pt x="2689866" y="306324"/>
                  </a:moveTo>
                  <a:lnTo>
                    <a:pt x="2689866" y="281940"/>
                  </a:lnTo>
                  <a:lnTo>
                    <a:pt x="2677674" y="294132"/>
                  </a:lnTo>
                  <a:lnTo>
                    <a:pt x="2677674" y="306324"/>
                  </a:lnTo>
                  <a:lnTo>
                    <a:pt x="2689866" y="306324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87673" y="5641847"/>
            <a:ext cx="496570" cy="258445"/>
          </a:xfrm>
          <a:prstGeom prst="rect">
            <a:avLst/>
          </a:prstGeom>
          <a:solidFill>
            <a:srgbClr val="FFF2CC"/>
          </a:solidFill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2035"/>
              </a:lnSpc>
            </a:pPr>
            <a:r>
              <a:rPr sz="1800" spc="5" dirty="0">
                <a:latin typeface="Cambria"/>
                <a:cs typeface="Cambria"/>
              </a:rPr>
              <a:t>ℎ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355" dirty="0">
                <a:latin typeface="Cambria"/>
                <a:cs typeface="Cambria"/>
              </a:rPr>
              <a:t>=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84250" y="5690628"/>
            <a:ext cx="2115820" cy="213360"/>
          </a:xfrm>
          <a:custGeom>
            <a:avLst/>
            <a:gdLst/>
            <a:ahLst/>
            <a:cxnLst/>
            <a:rect l="l" t="t" r="r" b="b"/>
            <a:pathLst>
              <a:path w="2115820" h="213360">
                <a:moveTo>
                  <a:pt x="50800" y="0"/>
                </a:moveTo>
                <a:lnTo>
                  <a:pt x="19050" y="0"/>
                </a:lnTo>
                <a:lnTo>
                  <a:pt x="0" y="0"/>
                </a:lnTo>
                <a:lnTo>
                  <a:pt x="0" y="213360"/>
                </a:lnTo>
                <a:lnTo>
                  <a:pt x="18529" y="213360"/>
                </a:lnTo>
                <a:lnTo>
                  <a:pt x="19050" y="213360"/>
                </a:lnTo>
                <a:lnTo>
                  <a:pt x="50533" y="213360"/>
                </a:lnTo>
                <a:lnTo>
                  <a:pt x="50533" y="205740"/>
                </a:lnTo>
                <a:lnTo>
                  <a:pt x="19050" y="205740"/>
                </a:lnTo>
                <a:lnTo>
                  <a:pt x="19050" y="7620"/>
                </a:lnTo>
                <a:lnTo>
                  <a:pt x="50800" y="7620"/>
                </a:lnTo>
                <a:lnTo>
                  <a:pt x="50800" y="0"/>
                </a:lnTo>
                <a:close/>
              </a:path>
              <a:path w="2115820" h="213360">
                <a:moveTo>
                  <a:pt x="2115820" y="0"/>
                </a:moveTo>
                <a:lnTo>
                  <a:pt x="2096770" y="0"/>
                </a:lnTo>
                <a:lnTo>
                  <a:pt x="2065020" y="0"/>
                </a:lnTo>
                <a:lnTo>
                  <a:pt x="2065020" y="7620"/>
                </a:lnTo>
                <a:lnTo>
                  <a:pt x="2096770" y="7620"/>
                </a:lnTo>
                <a:lnTo>
                  <a:pt x="2096770" y="205740"/>
                </a:lnTo>
                <a:lnTo>
                  <a:pt x="2065274" y="205740"/>
                </a:lnTo>
                <a:lnTo>
                  <a:pt x="2065274" y="213360"/>
                </a:lnTo>
                <a:lnTo>
                  <a:pt x="2096770" y="213360"/>
                </a:lnTo>
                <a:lnTo>
                  <a:pt x="2097278" y="213360"/>
                </a:lnTo>
                <a:lnTo>
                  <a:pt x="2115820" y="213360"/>
                </a:lnTo>
                <a:lnTo>
                  <a:pt x="21158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77900" y="5534657"/>
            <a:ext cx="212852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10"/>
              </a:spcBef>
            </a:pPr>
            <a:r>
              <a:rPr sz="2700" spc="60" baseline="-20061" dirty="0">
                <a:latin typeface="Cambria"/>
                <a:cs typeface="Cambria"/>
              </a:rPr>
              <a:t>ℎ</a:t>
            </a:r>
            <a:r>
              <a:rPr sz="1300" spc="245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1</a:t>
            </a:r>
            <a:r>
              <a:rPr sz="1300" spc="250" dirty="0">
                <a:latin typeface="Cambria"/>
                <a:cs typeface="Cambria"/>
              </a:rPr>
              <a:t>&gt;</a:t>
            </a:r>
            <a:r>
              <a:rPr sz="1300" dirty="0">
                <a:latin typeface="Cambria"/>
                <a:cs typeface="Cambria"/>
              </a:rPr>
              <a:t> </a:t>
            </a:r>
            <a:r>
              <a:rPr sz="1300" spc="-95" dirty="0">
                <a:latin typeface="Cambria"/>
                <a:cs typeface="Cambria"/>
              </a:rPr>
              <a:t> 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60" baseline="-20061" dirty="0">
                <a:latin typeface="Cambria"/>
                <a:cs typeface="Cambria"/>
              </a:rPr>
              <a:t>ℎ</a:t>
            </a:r>
            <a:r>
              <a:rPr sz="1300" spc="260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2</a:t>
            </a:r>
            <a:r>
              <a:rPr sz="1300" spc="320" dirty="0">
                <a:latin typeface="Cambria"/>
                <a:cs typeface="Cambria"/>
              </a:rPr>
              <a:t>&gt;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15" baseline="-20061" dirty="0">
                <a:latin typeface="Cambria"/>
                <a:cs typeface="Cambria"/>
              </a:rPr>
              <a:t>⋯</a:t>
            </a:r>
            <a:r>
              <a:rPr sz="2700" spc="-135" baseline="-20061" dirty="0">
                <a:latin typeface="Cambria"/>
                <a:cs typeface="Cambria"/>
              </a:rPr>
              <a:t> </a:t>
            </a:r>
            <a:r>
              <a:rPr sz="2700" baseline="-20061" dirty="0">
                <a:latin typeface="Cambria"/>
                <a:cs typeface="Cambria"/>
              </a:rPr>
              <a:t>,</a:t>
            </a:r>
            <a:r>
              <a:rPr sz="2700" spc="-150" baseline="-20061" dirty="0">
                <a:latin typeface="Cambria"/>
                <a:cs typeface="Cambria"/>
              </a:rPr>
              <a:t> </a:t>
            </a:r>
            <a:r>
              <a:rPr sz="2700" spc="67" baseline="-20061" dirty="0">
                <a:latin typeface="Cambria"/>
                <a:cs typeface="Cambria"/>
              </a:rPr>
              <a:t>ℎ</a:t>
            </a:r>
            <a:r>
              <a:rPr sz="1300" spc="260" dirty="0">
                <a:latin typeface="Cambria"/>
                <a:cs typeface="Cambria"/>
              </a:rPr>
              <a:t>&lt;</a:t>
            </a:r>
            <a:r>
              <a:rPr sz="1300" spc="40" dirty="0">
                <a:latin typeface="Cambria"/>
                <a:cs typeface="Cambria"/>
              </a:rPr>
              <a:t>5</a:t>
            </a:r>
            <a:r>
              <a:rPr sz="1300" spc="250" dirty="0">
                <a:latin typeface="Cambria"/>
                <a:cs typeface="Cambria"/>
              </a:rPr>
              <a:t>&gt;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61970" y="1064767"/>
            <a:ext cx="2359660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50" dirty="0"/>
              <a:t>Total</a:t>
            </a:r>
            <a:r>
              <a:rPr sz="2150" spc="-20" dirty="0"/>
              <a:t> </a:t>
            </a:r>
            <a:r>
              <a:rPr sz="2150" dirty="0"/>
              <a:t>NW</a:t>
            </a:r>
            <a:r>
              <a:rPr sz="2150" spc="-30" dirty="0"/>
              <a:t> </a:t>
            </a:r>
            <a:r>
              <a:rPr sz="2150" spc="-25" dirty="0"/>
              <a:t>Parameters</a:t>
            </a:r>
            <a:endParaRPr sz="2150"/>
          </a:p>
        </p:txBody>
      </p:sp>
      <p:grpSp>
        <p:nvGrpSpPr>
          <p:cNvPr id="34" name="object 34"/>
          <p:cNvGrpSpPr/>
          <p:nvPr/>
        </p:nvGrpSpPr>
        <p:grpSpPr>
          <a:xfrm>
            <a:off x="8866632" y="1487417"/>
            <a:ext cx="417830" cy="327660"/>
            <a:chOff x="8866632" y="1487417"/>
            <a:chExt cx="417830" cy="327660"/>
          </a:xfrm>
        </p:grpSpPr>
        <p:sp>
          <p:nvSpPr>
            <p:cNvPr id="35" name="object 35"/>
            <p:cNvSpPr/>
            <p:nvPr/>
          </p:nvSpPr>
          <p:spPr>
            <a:xfrm>
              <a:off x="8878823" y="1498085"/>
              <a:ext cx="393700" cy="304800"/>
            </a:xfrm>
            <a:custGeom>
              <a:avLst/>
              <a:gdLst/>
              <a:ahLst/>
              <a:cxnLst/>
              <a:rect l="l" t="t" r="r" b="b"/>
              <a:pathLst>
                <a:path w="393700" h="304800">
                  <a:moveTo>
                    <a:pt x="393191" y="304799"/>
                  </a:moveTo>
                  <a:lnTo>
                    <a:pt x="393191" y="0"/>
                  </a:lnTo>
                  <a:lnTo>
                    <a:pt x="0" y="0"/>
                  </a:lnTo>
                  <a:lnTo>
                    <a:pt x="0" y="304799"/>
                  </a:lnTo>
                  <a:lnTo>
                    <a:pt x="393191" y="30479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866632" y="1487417"/>
              <a:ext cx="417830" cy="327660"/>
            </a:xfrm>
            <a:custGeom>
              <a:avLst/>
              <a:gdLst/>
              <a:ahLst/>
              <a:cxnLst/>
              <a:rect l="l" t="t" r="r" b="b"/>
              <a:pathLst>
                <a:path w="417829" h="327660">
                  <a:moveTo>
                    <a:pt x="417576" y="323094"/>
                  </a:moveTo>
                  <a:lnTo>
                    <a:pt x="417576" y="4572"/>
                  </a:lnTo>
                  <a:lnTo>
                    <a:pt x="411480" y="0"/>
                  </a:lnTo>
                  <a:lnTo>
                    <a:pt x="6096" y="0"/>
                  </a:lnTo>
                  <a:lnTo>
                    <a:pt x="0" y="4572"/>
                  </a:lnTo>
                  <a:lnTo>
                    <a:pt x="0" y="323094"/>
                  </a:lnTo>
                  <a:lnTo>
                    <a:pt x="6096" y="327666"/>
                  </a:lnTo>
                  <a:lnTo>
                    <a:pt x="12192" y="327666"/>
                  </a:lnTo>
                  <a:lnTo>
                    <a:pt x="12192" y="22860"/>
                  </a:lnTo>
                  <a:lnTo>
                    <a:pt x="24384" y="10668"/>
                  </a:lnTo>
                  <a:lnTo>
                    <a:pt x="24384" y="22860"/>
                  </a:lnTo>
                  <a:lnTo>
                    <a:pt x="393192" y="22860"/>
                  </a:lnTo>
                  <a:lnTo>
                    <a:pt x="393192" y="10668"/>
                  </a:lnTo>
                  <a:lnTo>
                    <a:pt x="405384" y="22860"/>
                  </a:lnTo>
                  <a:lnTo>
                    <a:pt x="405384" y="327666"/>
                  </a:lnTo>
                  <a:lnTo>
                    <a:pt x="411480" y="327666"/>
                  </a:lnTo>
                  <a:lnTo>
                    <a:pt x="417576" y="323094"/>
                  </a:lnTo>
                  <a:close/>
                </a:path>
                <a:path w="417829" h="327660">
                  <a:moveTo>
                    <a:pt x="24384" y="22860"/>
                  </a:moveTo>
                  <a:lnTo>
                    <a:pt x="24384" y="10668"/>
                  </a:lnTo>
                  <a:lnTo>
                    <a:pt x="12192" y="22860"/>
                  </a:lnTo>
                  <a:lnTo>
                    <a:pt x="24384" y="22860"/>
                  </a:lnTo>
                  <a:close/>
                </a:path>
                <a:path w="417829" h="327660">
                  <a:moveTo>
                    <a:pt x="24384" y="304806"/>
                  </a:moveTo>
                  <a:lnTo>
                    <a:pt x="24384" y="22860"/>
                  </a:lnTo>
                  <a:lnTo>
                    <a:pt x="12192" y="22860"/>
                  </a:lnTo>
                  <a:lnTo>
                    <a:pt x="12192" y="304806"/>
                  </a:lnTo>
                  <a:lnTo>
                    <a:pt x="24384" y="304806"/>
                  </a:lnTo>
                  <a:close/>
                </a:path>
                <a:path w="417829" h="327660">
                  <a:moveTo>
                    <a:pt x="405384" y="304806"/>
                  </a:moveTo>
                  <a:lnTo>
                    <a:pt x="12192" y="304806"/>
                  </a:lnTo>
                  <a:lnTo>
                    <a:pt x="24384" y="315474"/>
                  </a:lnTo>
                  <a:lnTo>
                    <a:pt x="24384" y="327666"/>
                  </a:lnTo>
                  <a:lnTo>
                    <a:pt x="393192" y="327666"/>
                  </a:lnTo>
                  <a:lnTo>
                    <a:pt x="393192" y="315474"/>
                  </a:lnTo>
                  <a:lnTo>
                    <a:pt x="405384" y="304806"/>
                  </a:lnTo>
                  <a:close/>
                </a:path>
                <a:path w="417829" h="327660">
                  <a:moveTo>
                    <a:pt x="24384" y="327666"/>
                  </a:moveTo>
                  <a:lnTo>
                    <a:pt x="24384" y="315474"/>
                  </a:lnTo>
                  <a:lnTo>
                    <a:pt x="12192" y="304806"/>
                  </a:lnTo>
                  <a:lnTo>
                    <a:pt x="12192" y="327666"/>
                  </a:lnTo>
                  <a:lnTo>
                    <a:pt x="24384" y="327666"/>
                  </a:lnTo>
                  <a:close/>
                </a:path>
                <a:path w="417829" h="327660">
                  <a:moveTo>
                    <a:pt x="405384" y="22860"/>
                  </a:moveTo>
                  <a:lnTo>
                    <a:pt x="393192" y="10668"/>
                  </a:lnTo>
                  <a:lnTo>
                    <a:pt x="393192" y="22860"/>
                  </a:lnTo>
                  <a:lnTo>
                    <a:pt x="405384" y="22860"/>
                  </a:lnTo>
                  <a:close/>
                </a:path>
                <a:path w="417829" h="327660">
                  <a:moveTo>
                    <a:pt x="405384" y="304806"/>
                  </a:moveTo>
                  <a:lnTo>
                    <a:pt x="405384" y="22860"/>
                  </a:lnTo>
                  <a:lnTo>
                    <a:pt x="393192" y="22860"/>
                  </a:lnTo>
                  <a:lnTo>
                    <a:pt x="393192" y="304806"/>
                  </a:lnTo>
                  <a:lnTo>
                    <a:pt x="405384" y="304806"/>
                  </a:lnTo>
                  <a:close/>
                </a:path>
                <a:path w="417829" h="327660">
                  <a:moveTo>
                    <a:pt x="405384" y="327666"/>
                  </a:moveTo>
                  <a:lnTo>
                    <a:pt x="405384" y="304806"/>
                  </a:lnTo>
                  <a:lnTo>
                    <a:pt x="393192" y="315474"/>
                  </a:lnTo>
                  <a:lnTo>
                    <a:pt x="393192" y="327666"/>
                  </a:lnTo>
                  <a:lnTo>
                    <a:pt x="405384" y="327666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8878823" y="1498085"/>
            <a:ext cx="39370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2250"/>
              </a:lnSpc>
            </a:pPr>
            <a:r>
              <a:rPr sz="1950" spc="10" dirty="0">
                <a:latin typeface="Cambria"/>
                <a:cs typeface="Cambria"/>
              </a:rPr>
              <a:t>80</a:t>
            </a:r>
            <a:endParaRPr sz="1950">
              <a:latin typeface="Cambria"/>
              <a:cs typeface="Cambri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8881872" y="2095500"/>
            <a:ext cx="416559" cy="327660"/>
            <a:chOff x="8881872" y="2095500"/>
            <a:chExt cx="416559" cy="327660"/>
          </a:xfrm>
        </p:grpSpPr>
        <p:sp>
          <p:nvSpPr>
            <p:cNvPr id="39" name="object 39"/>
            <p:cNvSpPr/>
            <p:nvPr/>
          </p:nvSpPr>
          <p:spPr>
            <a:xfrm>
              <a:off x="8894064" y="2107691"/>
              <a:ext cx="391795" cy="303530"/>
            </a:xfrm>
            <a:custGeom>
              <a:avLst/>
              <a:gdLst/>
              <a:ahLst/>
              <a:cxnLst/>
              <a:rect l="l" t="t" r="r" b="b"/>
              <a:pathLst>
                <a:path w="391795" h="303530">
                  <a:moveTo>
                    <a:pt x="391667" y="303275"/>
                  </a:moveTo>
                  <a:lnTo>
                    <a:pt x="391667" y="0"/>
                  </a:lnTo>
                  <a:lnTo>
                    <a:pt x="0" y="0"/>
                  </a:lnTo>
                  <a:lnTo>
                    <a:pt x="0" y="303275"/>
                  </a:lnTo>
                  <a:lnTo>
                    <a:pt x="391667" y="303275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881872" y="2095500"/>
              <a:ext cx="416559" cy="327660"/>
            </a:xfrm>
            <a:custGeom>
              <a:avLst/>
              <a:gdLst/>
              <a:ahLst/>
              <a:cxnLst/>
              <a:rect l="l" t="t" r="r" b="b"/>
              <a:pathLst>
                <a:path w="416559" h="327660">
                  <a:moveTo>
                    <a:pt x="416052" y="323088"/>
                  </a:moveTo>
                  <a:lnTo>
                    <a:pt x="416052" y="4572"/>
                  </a:lnTo>
                  <a:lnTo>
                    <a:pt x="411480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323088"/>
                  </a:lnTo>
                  <a:lnTo>
                    <a:pt x="4572" y="327660"/>
                  </a:lnTo>
                  <a:lnTo>
                    <a:pt x="12192" y="327660"/>
                  </a:lnTo>
                  <a:lnTo>
                    <a:pt x="12192" y="22860"/>
                  </a:lnTo>
                  <a:lnTo>
                    <a:pt x="22860" y="12192"/>
                  </a:lnTo>
                  <a:lnTo>
                    <a:pt x="22860" y="22860"/>
                  </a:lnTo>
                  <a:lnTo>
                    <a:pt x="393192" y="22860"/>
                  </a:lnTo>
                  <a:lnTo>
                    <a:pt x="393192" y="12192"/>
                  </a:lnTo>
                  <a:lnTo>
                    <a:pt x="403860" y="22860"/>
                  </a:lnTo>
                  <a:lnTo>
                    <a:pt x="403860" y="327660"/>
                  </a:lnTo>
                  <a:lnTo>
                    <a:pt x="411480" y="327660"/>
                  </a:lnTo>
                  <a:lnTo>
                    <a:pt x="416052" y="323088"/>
                  </a:lnTo>
                  <a:close/>
                </a:path>
                <a:path w="416559" h="327660">
                  <a:moveTo>
                    <a:pt x="22860" y="22860"/>
                  </a:moveTo>
                  <a:lnTo>
                    <a:pt x="22860" y="12192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416559" h="327660">
                  <a:moveTo>
                    <a:pt x="22860" y="304800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304800"/>
                  </a:lnTo>
                  <a:lnTo>
                    <a:pt x="22860" y="304800"/>
                  </a:lnTo>
                  <a:close/>
                </a:path>
                <a:path w="416559" h="327660">
                  <a:moveTo>
                    <a:pt x="403860" y="304800"/>
                  </a:moveTo>
                  <a:lnTo>
                    <a:pt x="12192" y="304800"/>
                  </a:lnTo>
                  <a:lnTo>
                    <a:pt x="22860" y="315468"/>
                  </a:lnTo>
                  <a:lnTo>
                    <a:pt x="22860" y="327660"/>
                  </a:lnTo>
                  <a:lnTo>
                    <a:pt x="393192" y="327660"/>
                  </a:lnTo>
                  <a:lnTo>
                    <a:pt x="393192" y="315468"/>
                  </a:lnTo>
                  <a:lnTo>
                    <a:pt x="403860" y="304800"/>
                  </a:lnTo>
                  <a:close/>
                </a:path>
                <a:path w="416559" h="327660">
                  <a:moveTo>
                    <a:pt x="22860" y="327660"/>
                  </a:moveTo>
                  <a:lnTo>
                    <a:pt x="22860" y="315468"/>
                  </a:lnTo>
                  <a:lnTo>
                    <a:pt x="12192" y="304800"/>
                  </a:lnTo>
                  <a:lnTo>
                    <a:pt x="12192" y="327660"/>
                  </a:lnTo>
                  <a:lnTo>
                    <a:pt x="22860" y="327660"/>
                  </a:lnTo>
                  <a:close/>
                </a:path>
                <a:path w="416559" h="327660">
                  <a:moveTo>
                    <a:pt x="403860" y="22860"/>
                  </a:moveTo>
                  <a:lnTo>
                    <a:pt x="393192" y="12192"/>
                  </a:lnTo>
                  <a:lnTo>
                    <a:pt x="393192" y="22860"/>
                  </a:lnTo>
                  <a:lnTo>
                    <a:pt x="403860" y="22860"/>
                  </a:lnTo>
                  <a:close/>
                </a:path>
                <a:path w="416559" h="327660">
                  <a:moveTo>
                    <a:pt x="403860" y="304800"/>
                  </a:moveTo>
                  <a:lnTo>
                    <a:pt x="403860" y="22860"/>
                  </a:lnTo>
                  <a:lnTo>
                    <a:pt x="393192" y="22860"/>
                  </a:lnTo>
                  <a:lnTo>
                    <a:pt x="393192" y="304800"/>
                  </a:lnTo>
                  <a:lnTo>
                    <a:pt x="403860" y="304800"/>
                  </a:lnTo>
                  <a:close/>
                </a:path>
                <a:path w="416559" h="327660">
                  <a:moveTo>
                    <a:pt x="403860" y="327660"/>
                  </a:moveTo>
                  <a:lnTo>
                    <a:pt x="403860" y="304800"/>
                  </a:lnTo>
                  <a:lnTo>
                    <a:pt x="393192" y="315468"/>
                  </a:lnTo>
                  <a:lnTo>
                    <a:pt x="393192" y="327660"/>
                  </a:lnTo>
                  <a:lnTo>
                    <a:pt x="403860" y="32766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894064" y="2107691"/>
            <a:ext cx="391795" cy="303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305">
              <a:lnSpc>
                <a:spcPts val="2240"/>
              </a:lnSpc>
            </a:pPr>
            <a:r>
              <a:rPr sz="1950" spc="10" dirty="0">
                <a:latin typeface="Cambria"/>
                <a:cs typeface="Cambria"/>
              </a:rPr>
              <a:t>80</a:t>
            </a:r>
            <a:endParaRPr sz="1950">
              <a:latin typeface="Cambria"/>
              <a:cs typeface="Cambri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8881872" y="2555748"/>
            <a:ext cx="416559" cy="329565"/>
            <a:chOff x="8881872" y="2555748"/>
            <a:chExt cx="416559" cy="329565"/>
          </a:xfrm>
        </p:grpSpPr>
        <p:sp>
          <p:nvSpPr>
            <p:cNvPr id="43" name="object 43"/>
            <p:cNvSpPr/>
            <p:nvPr/>
          </p:nvSpPr>
          <p:spPr>
            <a:xfrm>
              <a:off x="8894064" y="2567939"/>
              <a:ext cx="391795" cy="304800"/>
            </a:xfrm>
            <a:custGeom>
              <a:avLst/>
              <a:gdLst/>
              <a:ahLst/>
              <a:cxnLst/>
              <a:rect l="l" t="t" r="r" b="b"/>
              <a:pathLst>
                <a:path w="391795" h="304800">
                  <a:moveTo>
                    <a:pt x="391667" y="304799"/>
                  </a:moveTo>
                  <a:lnTo>
                    <a:pt x="391667" y="0"/>
                  </a:lnTo>
                  <a:lnTo>
                    <a:pt x="0" y="0"/>
                  </a:lnTo>
                  <a:lnTo>
                    <a:pt x="0" y="304799"/>
                  </a:lnTo>
                  <a:lnTo>
                    <a:pt x="391667" y="30479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881872" y="2555748"/>
              <a:ext cx="416559" cy="329565"/>
            </a:xfrm>
            <a:custGeom>
              <a:avLst/>
              <a:gdLst/>
              <a:ahLst/>
              <a:cxnLst/>
              <a:rect l="l" t="t" r="r" b="b"/>
              <a:pathLst>
                <a:path w="416559" h="329564">
                  <a:moveTo>
                    <a:pt x="416052" y="323088"/>
                  </a:moveTo>
                  <a:lnTo>
                    <a:pt x="416052" y="6096"/>
                  </a:lnTo>
                  <a:lnTo>
                    <a:pt x="411480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323088"/>
                  </a:lnTo>
                  <a:lnTo>
                    <a:pt x="4572" y="329184"/>
                  </a:lnTo>
                  <a:lnTo>
                    <a:pt x="12192" y="329184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93192" y="24384"/>
                  </a:lnTo>
                  <a:lnTo>
                    <a:pt x="393192" y="12192"/>
                  </a:lnTo>
                  <a:lnTo>
                    <a:pt x="403860" y="24384"/>
                  </a:lnTo>
                  <a:lnTo>
                    <a:pt x="403860" y="329184"/>
                  </a:lnTo>
                  <a:lnTo>
                    <a:pt x="411480" y="329184"/>
                  </a:lnTo>
                  <a:lnTo>
                    <a:pt x="416052" y="323088"/>
                  </a:lnTo>
                  <a:close/>
                </a:path>
                <a:path w="416559" h="329564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416559" h="329564">
                  <a:moveTo>
                    <a:pt x="22860" y="304800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304800"/>
                  </a:lnTo>
                  <a:lnTo>
                    <a:pt x="22860" y="304800"/>
                  </a:lnTo>
                  <a:close/>
                </a:path>
                <a:path w="416559" h="329564">
                  <a:moveTo>
                    <a:pt x="403860" y="304800"/>
                  </a:moveTo>
                  <a:lnTo>
                    <a:pt x="12192" y="304800"/>
                  </a:lnTo>
                  <a:lnTo>
                    <a:pt x="22860" y="316992"/>
                  </a:lnTo>
                  <a:lnTo>
                    <a:pt x="22860" y="329184"/>
                  </a:lnTo>
                  <a:lnTo>
                    <a:pt x="393192" y="329184"/>
                  </a:lnTo>
                  <a:lnTo>
                    <a:pt x="393192" y="316992"/>
                  </a:lnTo>
                  <a:lnTo>
                    <a:pt x="403860" y="304800"/>
                  </a:lnTo>
                  <a:close/>
                </a:path>
                <a:path w="416559" h="329564">
                  <a:moveTo>
                    <a:pt x="22860" y="329184"/>
                  </a:moveTo>
                  <a:lnTo>
                    <a:pt x="22860" y="316992"/>
                  </a:lnTo>
                  <a:lnTo>
                    <a:pt x="12192" y="304800"/>
                  </a:lnTo>
                  <a:lnTo>
                    <a:pt x="12192" y="329184"/>
                  </a:lnTo>
                  <a:lnTo>
                    <a:pt x="22860" y="329184"/>
                  </a:lnTo>
                  <a:close/>
                </a:path>
                <a:path w="416559" h="329564">
                  <a:moveTo>
                    <a:pt x="403860" y="24384"/>
                  </a:moveTo>
                  <a:lnTo>
                    <a:pt x="393192" y="12192"/>
                  </a:lnTo>
                  <a:lnTo>
                    <a:pt x="393192" y="24384"/>
                  </a:lnTo>
                  <a:lnTo>
                    <a:pt x="403860" y="24384"/>
                  </a:lnTo>
                  <a:close/>
                </a:path>
                <a:path w="416559" h="329564">
                  <a:moveTo>
                    <a:pt x="403860" y="304800"/>
                  </a:moveTo>
                  <a:lnTo>
                    <a:pt x="403860" y="24384"/>
                  </a:lnTo>
                  <a:lnTo>
                    <a:pt x="393192" y="24384"/>
                  </a:lnTo>
                  <a:lnTo>
                    <a:pt x="393192" y="304800"/>
                  </a:lnTo>
                  <a:lnTo>
                    <a:pt x="403860" y="304800"/>
                  </a:lnTo>
                  <a:close/>
                </a:path>
                <a:path w="416559" h="329564">
                  <a:moveTo>
                    <a:pt x="403860" y="329184"/>
                  </a:moveTo>
                  <a:lnTo>
                    <a:pt x="403860" y="304800"/>
                  </a:lnTo>
                  <a:lnTo>
                    <a:pt x="393192" y="316992"/>
                  </a:lnTo>
                  <a:lnTo>
                    <a:pt x="393192" y="329184"/>
                  </a:lnTo>
                  <a:lnTo>
                    <a:pt x="403860" y="329184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894064" y="2567939"/>
            <a:ext cx="39179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305">
              <a:lnSpc>
                <a:spcPts val="2250"/>
              </a:lnSpc>
            </a:pPr>
            <a:r>
              <a:rPr sz="1950" spc="10" dirty="0">
                <a:latin typeface="Cambria"/>
                <a:cs typeface="Cambria"/>
              </a:rPr>
              <a:t>80</a:t>
            </a:r>
            <a:endParaRPr sz="1950">
              <a:latin typeface="Cambria"/>
              <a:cs typeface="Cambria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8866632" y="3918204"/>
            <a:ext cx="417830" cy="327660"/>
            <a:chOff x="8866632" y="3918204"/>
            <a:chExt cx="417830" cy="327660"/>
          </a:xfrm>
        </p:grpSpPr>
        <p:sp>
          <p:nvSpPr>
            <p:cNvPr id="47" name="object 47"/>
            <p:cNvSpPr/>
            <p:nvPr/>
          </p:nvSpPr>
          <p:spPr>
            <a:xfrm>
              <a:off x="8878823" y="3930396"/>
              <a:ext cx="393700" cy="304800"/>
            </a:xfrm>
            <a:custGeom>
              <a:avLst/>
              <a:gdLst/>
              <a:ahLst/>
              <a:cxnLst/>
              <a:rect l="l" t="t" r="r" b="b"/>
              <a:pathLst>
                <a:path w="393700" h="304800">
                  <a:moveTo>
                    <a:pt x="393191" y="304799"/>
                  </a:moveTo>
                  <a:lnTo>
                    <a:pt x="393191" y="0"/>
                  </a:lnTo>
                  <a:lnTo>
                    <a:pt x="0" y="0"/>
                  </a:lnTo>
                  <a:lnTo>
                    <a:pt x="0" y="304799"/>
                  </a:lnTo>
                  <a:lnTo>
                    <a:pt x="393191" y="30479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866632" y="3918204"/>
              <a:ext cx="417830" cy="327660"/>
            </a:xfrm>
            <a:custGeom>
              <a:avLst/>
              <a:gdLst/>
              <a:ahLst/>
              <a:cxnLst/>
              <a:rect l="l" t="t" r="r" b="b"/>
              <a:pathLst>
                <a:path w="417829" h="327660">
                  <a:moveTo>
                    <a:pt x="417576" y="323088"/>
                  </a:moveTo>
                  <a:lnTo>
                    <a:pt x="417576" y="6096"/>
                  </a:lnTo>
                  <a:lnTo>
                    <a:pt x="411480" y="0"/>
                  </a:lnTo>
                  <a:lnTo>
                    <a:pt x="6096" y="0"/>
                  </a:lnTo>
                  <a:lnTo>
                    <a:pt x="0" y="6096"/>
                  </a:lnTo>
                  <a:lnTo>
                    <a:pt x="0" y="323088"/>
                  </a:lnTo>
                  <a:lnTo>
                    <a:pt x="6096" y="327660"/>
                  </a:lnTo>
                  <a:lnTo>
                    <a:pt x="12192" y="327660"/>
                  </a:lnTo>
                  <a:lnTo>
                    <a:pt x="12192" y="24384"/>
                  </a:lnTo>
                  <a:lnTo>
                    <a:pt x="24384" y="12192"/>
                  </a:lnTo>
                  <a:lnTo>
                    <a:pt x="24384" y="24384"/>
                  </a:lnTo>
                  <a:lnTo>
                    <a:pt x="393192" y="24384"/>
                  </a:lnTo>
                  <a:lnTo>
                    <a:pt x="393192" y="12192"/>
                  </a:lnTo>
                  <a:lnTo>
                    <a:pt x="405384" y="24384"/>
                  </a:lnTo>
                  <a:lnTo>
                    <a:pt x="405384" y="327660"/>
                  </a:lnTo>
                  <a:lnTo>
                    <a:pt x="411480" y="327660"/>
                  </a:lnTo>
                  <a:lnTo>
                    <a:pt x="417576" y="323088"/>
                  </a:lnTo>
                  <a:close/>
                </a:path>
                <a:path w="417829" h="327660">
                  <a:moveTo>
                    <a:pt x="24384" y="24384"/>
                  </a:moveTo>
                  <a:lnTo>
                    <a:pt x="24384" y="12192"/>
                  </a:lnTo>
                  <a:lnTo>
                    <a:pt x="12192" y="24384"/>
                  </a:lnTo>
                  <a:lnTo>
                    <a:pt x="24384" y="24384"/>
                  </a:lnTo>
                  <a:close/>
                </a:path>
                <a:path w="417829" h="327660">
                  <a:moveTo>
                    <a:pt x="24384" y="304800"/>
                  </a:moveTo>
                  <a:lnTo>
                    <a:pt x="24384" y="24384"/>
                  </a:lnTo>
                  <a:lnTo>
                    <a:pt x="12192" y="24384"/>
                  </a:lnTo>
                  <a:lnTo>
                    <a:pt x="12192" y="304800"/>
                  </a:lnTo>
                  <a:lnTo>
                    <a:pt x="24384" y="304800"/>
                  </a:lnTo>
                  <a:close/>
                </a:path>
                <a:path w="417829" h="327660">
                  <a:moveTo>
                    <a:pt x="405384" y="304800"/>
                  </a:moveTo>
                  <a:lnTo>
                    <a:pt x="12192" y="304800"/>
                  </a:lnTo>
                  <a:lnTo>
                    <a:pt x="24384" y="316992"/>
                  </a:lnTo>
                  <a:lnTo>
                    <a:pt x="24384" y="327660"/>
                  </a:lnTo>
                  <a:lnTo>
                    <a:pt x="393192" y="327660"/>
                  </a:lnTo>
                  <a:lnTo>
                    <a:pt x="393192" y="316992"/>
                  </a:lnTo>
                  <a:lnTo>
                    <a:pt x="405384" y="304800"/>
                  </a:lnTo>
                  <a:close/>
                </a:path>
                <a:path w="417829" h="327660">
                  <a:moveTo>
                    <a:pt x="24384" y="327660"/>
                  </a:moveTo>
                  <a:lnTo>
                    <a:pt x="24384" y="316992"/>
                  </a:lnTo>
                  <a:lnTo>
                    <a:pt x="12192" y="304800"/>
                  </a:lnTo>
                  <a:lnTo>
                    <a:pt x="12192" y="327660"/>
                  </a:lnTo>
                  <a:lnTo>
                    <a:pt x="24384" y="327660"/>
                  </a:lnTo>
                  <a:close/>
                </a:path>
                <a:path w="417829" h="327660">
                  <a:moveTo>
                    <a:pt x="405384" y="24384"/>
                  </a:moveTo>
                  <a:lnTo>
                    <a:pt x="393192" y="12192"/>
                  </a:lnTo>
                  <a:lnTo>
                    <a:pt x="393192" y="24384"/>
                  </a:lnTo>
                  <a:lnTo>
                    <a:pt x="405384" y="24384"/>
                  </a:lnTo>
                  <a:close/>
                </a:path>
                <a:path w="417829" h="327660">
                  <a:moveTo>
                    <a:pt x="405384" y="304800"/>
                  </a:moveTo>
                  <a:lnTo>
                    <a:pt x="405384" y="24384"/>
                  </a:lnTo>
                  <a:lnTo>
                    <a:pt x="393192" y="24384"/>
                  </a:lnTo>
                  <a:lnTo>
                    <a:pt x="393192" y="304800"/>
                  </a:lnTo>
                  <a:lnTo>
                    <a:pt x="405384" y="304800"/>
                  </a:lnTo>
                  <a:close/>
                </a:path>
                <a:path w="417829" h="327660">
                  <a:moveTo>
                    <a:pt x="405384" y="327660"/>
                  </a:moveTo>
                  <a:lnTo>
                    <a:pt x="405384" y="304800"/>
                  </a:lnTo>
                  <a:lnTo>
                    <a:pt x="393192" y="316992"/>
                  </a:lnTo>
                  <a:lnTo>
                    <a:pt x="393192" y="327660"/>
                  </a:lnTo>
                  <a:lnTo>
                    <a:pt x="405384" y="32766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8878823" y="3930395"/>
            <a:ext cx="39370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2240"/>
              </a:lnSpc>
            </a:pPr>
            <a:r>
              <a:rPr sz="1950" spc="10" dirty="0">
                <a:latin typeface="Cambria"/>
                <a:cs typeface="Cambria"/>
              </a:rPr>
              <a:t>80</a:t>
            </a:r>
            <a:endParaRPr sz="1950">
              <a:latin typeface="Cambria"/>
              <a:cs typeface="Cambri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279136" y="5236464"/>
            <a:ext cx="2475230" cy="480059"/>
            <a:chOff x="5279136" y="5236464"/>
            <a:chExt cx="2475230" cy="480059"/>
          </a:xfrm>
        </p:grpSpPr>
        <p:sp>
          <p:nvSpPr>
            <p:cNvPr id="51" name="object 51"/>
            <p:cNvSpPr/>
            <p:nvPr/>
          </p:nvSpPr>
          <p:spPr>
            <a:xfrm>
              <a:off x="5289804" y="5248655"/>
              <a:ext cx="2452370" cy="457200"/>
            </a:xfrm>
            <a:custGeom>
              <a:avLst/>
              <a:gdLst/>
              <a:ahLst/>
              <a:cxnLst/>
              <a:rect l="l" t="t" r="r" b="b"/>
              <a:pathLst>
                <a:path w="2452370" h="457200">
                  <a:moveTo>
                    <a:pt x="2452115" y="457199"/>
                  </a:moveTo>
                  <a:lnTo>
                    <a:pt x="2452115" y="0"/>
                  </a:lnTo>
                  <a:lnTo>
                    <a:pt x="0" y="0"/>
                  </a:lnTo>
                  <a:lnTo>
                    <a:pt x="0" y="457199"/>
                  </a:lnTo>
                  <a:lnTo>
                    <a:pt x="2452115" y="45719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279136" y="5236464"/>
              <a:ext cx="2475230" cy="480059"/>
            </a:xfrm>
            <a:custGeom>
              <a:avLst/>
              <a:gdLst/>
              <a:ahLst/>
              <a:cxnLst/>
              <a:rect l="l" t="t" r="r" b="b"/>
              <a:pathLst>
                <a:path w="2475229" h="480060">
                  <a:moveTo>
                    <a:pt x="2474976" y="475488"/>
                  </a:moveTo>
                  <a:lnTo>
                    <a:pt x="2474976" y="6096"/>
                  </a:lnTo>
                  <a:lnTo>
                    <a:pt x="2468880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475488"/>
                  </a:lnTo>
                  <a:lnTo>
                    <a:pt x="4572" y="480060"/>
                  </a:lnTo>
                  <a:lnTo>
                    <a:pt x="10668" y="480060"/>
                  </a:lnTo>
                  <a:lnTo>
                    <a:pt x="10668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2450592" y="24384"/>
                  </a:lnTo>
                  <a:lnTo>
                    <a:pt x="2450592" y="12192"/>
                  </a:lnTo>
                  <a:lnTo>
                    <a:pt x="2462784" y="24384"/>
                  </a:lnTo>
                  <a:lnTo>
                    <a:pt x="2462784" y="480060"/>
                  </a:lnTo>
                  <a:lnTo>
                    <a:pt x="2468880" y="480060"/>
                  </a:lnTo>
                  <a:lnTo>
                    <a:pt x="2474976" y="475488"/>
                  </a:lnTo>
                  <a:close/>
                </a:path>
                <a:path w="2475229" h="480060">
                  <a:moveTo>
                    <a:pt x="22860" y="24384"/>
                  </a:moveTo>
                  <a:lnTo>
                    <a:pt x="22860" y="12192"/>
                  </a:lnTo>
                  <a:lnTo>
                    <a:pt x="10668" y="24384"/>
                  </a:lnTo>
                  <a:lnTo>
                    <a:pt x="22860" y="24384"/>
                  </a:lnTo>
                  <a:close/>
                </a:path>
                <a:path w="2475229" h="480060">
                  <a:moveTo>
                    <a:pt x="22860" y="457200"/>
                  </a:moveTo>
                  <a:lnTo>
                    <a:pt x="22860" y="24384"/>
                  </a:lnTo>
                  <a:lnTo>
                    <a:pt x="10668" y="24384"/>
                  </a:lnTo>
                  <a:lnTo>
                    <a:pt x="10668" y="457200"/>
                  </a:lnTo>
                  <a:lnTo>
                    <a:pt x="22860" y="457200"/>
                  </a:lnTo>
                  <a:close/>
                </a:path>
                <a:path w="2475229" h="480060">
                  <a:moveTo>
                    <a:pt x="2462784" y="457200"/>
                  </a:moveTo>
                  <a:lnTo>
                    <a:pt x="10668" y="457200"/>
                  </a:lnTo>
                  <a:lnTo>
                    <a:pt x="22860" y="469392"/>
                  </a:lnTo>
                  <a:lnTo>
                    <a:pt x="22860" y="480060"/>
                  </a:lnTo>
                  <a:lnTo>
                    <a:pt x="2450592" y="480060"/>
                  </a:lnTo>
                  <a:lnTo>
                    <a:pt x="2450592" y="469392"/>
                  </a:lnTo>
                  <a:lnTo>
                    <a:pt x="2462784" y="457200"/>
                  </a:lnTo>
                  <a:close/>
                </a:path>
                <a:path w="2475229" h="480060">
                  <a:moveTo>
                    <a:pt x="22860" y="480060"/>
                  </a:moveTo>
                  <a:lnTo>
                    <a:pt x="22860" y="469392"/>
                  </a:lnTo>
                  <a:lnTo>
                    <a:pt x="10668" y="457200"/>
                  </a:lnTo>
                  <a:lnTo>
                    <a:pt x="10668" y="480060"/>
                  </a:lnTo>
                  <a:lnTo>
                    <a:pt x="22860" y="480060"/>
                  </a:lnTo>
                  <a:close/>
                </a:path>
                <a:path w="2475229" h="480060">
                  <a:moveTo>
                    <a:pt x="2462784" y="24384"/>
                  </a:moveTo>
                  <a:lnTo>
                    <a:pt x="2450592" y="12192"/>
                  </a:lnTo>
                  <a:lnTo>
                    <a:pt x="2450592" y="24384"/>
                  </a:lnTo>
                  <a:lnTo>
                    <a:pt x="2462784" y="24384"/>
                  </a:lnTo>
                  <a:close/>
                </a:path>
                <a:path w="2475229" h="480060">
                  <a:moveTo>
                    <a:pt x="2462784" y="457200"/>
                  </a:moveTo>
                  <a:lnTo>
                    <a:pt x="2462784" y="24384"/>
                  </a:lnTo>
                  <a:lnTo>
                    <a:pt x="2450592" y="24384"/>
                  </a:lnTo>
                  <a:lnTo>
                    <a:pt x="2450592" y="457200"/>
                  </a:lnTo>
                  <a:lnTo>
                    <a:pt x="2462784" y="457200"/>
                  </a:lnTo>
                  <a:close/>
                </a:path>
                <a:path w="2475229" h="480060">
                  <a:moveTo>
                    <a:pt x="2462784" y="480060"/>
                  </a:moveTo>
                  <a:lnTo>
                    <a:pt x="2462784" y="457200"/>
                  </a:lnTo>
                  <a:lnTo>
                    <a:pt x="2450592" y="469392"/>
                  </a:lnTo>
                  <a:lnTo>
                    <a:pt x="2450592" y="480060"/>
                  </a:lnTo>
                  <a:lnTo>
                    <a:pt x="2462784" y="48006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5289803" y="5248655"/>
            <a:ext cx="245237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10">
              <a:lnSpc>
                <a:spcPts val="3360"/>
              </a:lnSpc>
              <a:tabLst>
                <a:tab pos="636905" algn="l"/>
              </a:tabLst>
            </a:pPr>
            <a:r>
              <a:rPr sz="2950" spc="10" dirty="0">
                <a:latin typeface="Cambria"/>
                <a:cs typeface="Cambria"/>
              </a:rPr>
              <a:t>80	</a:t>
            </a:r>
            <a:r>
              <a:rPr sz="2950" spc="490" dirty="0">
                <a:latin typeface="Cambria"/>
                <a:cs typeface="Cambria"/>
              </a:rPr>
              <a:t>×</a:t>
            </a:r>
            <a:r>
              <a:rPr sz="2950" spc="-15" dirty="0">
                <a:latin typeface="Cambria"/>
                <a:cs typeface="Cambria"/>
              </a:rPr>
              <a:t> </a:t>
            </a:r>
            <a:r>
              <a:rPr sz="2950" spc="10" dirty="0">
                <a:latin typeface="Cambria"/>
                <a:cs typeface="Cambria"/>
              </a:rPr>
              <a:t>4</a:t>
            </a:r>
            <a:r>
              <a:rPr sz="2950" spc="140" dirty="0">
                <a:latin typeface="Cambria"/>
                <a:cs typeface="Cambria"/>
              </a:rPr>
              <a:t> </a:t>
            </a:r>
            <a:r>
              <a:rPr sz="2950" spc="585" dirty="0">
                <a:latin typeface="Cambria"/>
                <a:cs typeface="Cambria"/>
              </a:rPr>
              <a:t>=</a:t>
            </a:r>
            <a:r>
              <a:rPr sz="2950" spc="150" dirty="0">
                <a:latin typeface="Cambria"/>
                <a:cs typeface="Cambria"/>
              </a:rPr>
              <a:t> </a:t>
            </a:r>
            <a:r>
              <a:rPr sz="2950" spc="10" dirty="0">
                <a:latin typeface="Cambria"/>
                <a:cs typeface="Cambria"/>
              </a:rPr>
              <a:t>320</a:t>
            </a:r>
            <a:endParaRPr sz="2950">
              <a:latin typeface="Cambria"/>
              <a:cs typeface="Cambria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59173"/>
            <a:ext cx="2581910" cy="405765"/>
          </a:xfrm>
          <a:custGeom>
            <a:avLst/>
            <a:gdLst/>
            <a:ahLst/>
            <a:cxnLst/>
            <a:rect l="l" t="t" r="r" b="b"/>
            <a:pathLst>
              <a:path w="2581910" h="405765">
                <a:moveTo>
                  <a:pt x="2581655" y="405383"/>
                </a:moveTo>
                <a:lnTo>
                  <a:pt x="2581655" y="0"/>
                </a:lnTo>
                <a:lnTo>
                  <a:pt x="0" y="0"/>
                </a:lnTo>
                <a:lnTo>
                  <a:pt x="0" y="405383"/>
                </a:lnTo>
                <a:lnTo>
                  <a:pt x="2581655" y="405383"/>
                </a:lnTo>
                <a:close/>
              </a:path>
            </a:pathLst>
          </a:custGeom>
          <a:solidFill>
            <a:srgbClr val="FFF2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970" y="1064767"/>
            <a:ext cx="2359660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50" dirty="0"/>
              <a:t>Total</a:t>
            </a:r>
            <a:r>
              <a:rPr sz="2150" spc="-20" dirty="0"/>
              <a:t> </a:t>
            </a:r>
            <a:r>
              <a:rPr sz="2150" dirty="0"/>
              <a:t>NW</a:t>
            </a:r>
            <a:r>
              <a:rPr sz="2150" spc="-30" dirty="0"/>
              <a:t> </a:t>
            </a:r>
            <a:r>
              <a:rPr sz="2150" spc="-25" dirty="0"/>
              <a:t>Parameters</a:t>
            </a:r>
            <a:endParaRPr sz="2150"/>
          </a:p>
        </p:txBody>
      </p:sp>
      <p:sp>
        <p:nvSpPr>
          <p:cNvPr id="4" name="object 4"/>
          <p:cNvSpPr txBox="1"/>
          <p:nvPr/>
        </p:nvSpPr>
        <p:spPr>
          <a:xfrm>
            <a:off x="5254751" y="1725167"/>
            <a:ext cx="3710940" cy="329565"/>
          </a:xfrm>
          <a:prstGeom prst="rect">
            <a:avLst/>
          </a:prstGeom>
          <a:solidFill>
            <a:srgbClr val="FFF2CC"/>
          </a:solidFill>
        </p:spPr>
        <p:txBody>
          <a:bodyPr vert="horz" wrap="square" lIns="0" tIns="0" rIns="0" bIns="0" rtlCol="0">
            <a:spAutoFit/>
          </a:bodyPr>
          <a:lstStyle/>
          <a:p>
            <a:pPr marL="48260">
              <a:lnSpc>
                <a:spcPts val="2435"/>
              </a:lnSpc>
            </a:pPr>
            <a:r>
              <a:rPr sz="2150" spc="100" dirty="0">
                <a:latin typeface="Cambria"/>
                <a:cs typeface="Cambria"/>
              </a:rPr>
              <a:t>E</a:t>
            </a:r>
            <a:r>
              <a:rPr sz="2150" spc="5" dirty="0">
                <a:latin typeface="Cambria"/>
                <a:cs typeface="Cambria"/>
              </a:rPr>
              <a:t>m</a:t>
            </a:r>
            <a:r>
              <a:rPr sz="2150" spc="-30" dirty="0">
                <a:latin typeface="Cambria"/>
                <a:cs typeface="Cambria"/>
              </a:rPr>
              <a:t>b</a:t>
            </a:r>
            <a:r>
              <a:rPr sz="2150" spc="15" dirty="0">
                <a:latin typeface="Cambria"/>
                <a:cs typeface="Cambria"/>
              </a:rPr>
              <a:t>e</a:t>
            </a:r>
            <a:r>
              <a:rPr sz="2150" spc="50" dirty="0">
                <a:latin typeface="Cambria"/>
                <a:cs typeface="Cambria"/>
              </a:rPr>
              <a:t>dd</a:t>
            </a:r>
            <a:r>
              <a:rPr sz="2150" spc="70" dirty="0">
                <a:latin typeface="Cambria"/>
                <a:cs typeface="Cambria"/>
              </a:rPr>
              <a:t>i</a:t>
            </a:r>
            <a:r>
              <a:rPr sz="2150" spc="30" dirty="0">
                <a:latin typeface="Cambria"/>
                <a:cs typeface="Cambria"/>
              </a:rPr>
              <a:t>n</a:t>
            </a:r>
            <a:r>
              <a:rPr sz="2150" spc="265" dirty="0">
                <a:latin typeface="Cambria"/>
                <a:cs typeface="Cambria"/>
              </a:rPr>
              <a:t>g</a:t>
            </a:r>
            <a:r>
              <a:rPr sz="2150" spc="-5" dirty="0">
                <a:latin typeface="Cambria"/>
                <a:cs typeface="Cambria"/>
              </a:rPr>
              <a:t>:</a:t>
            </a:r>
            <a:r>
              <a:rPr sz="2150" spc="-120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10</a:t>
            </a:r>
            <a:r>
              <a:rPr sz="2150" spc="-5" dirty="0">
                <a:latin typeface="Cambria"/>
                <a:cs typeface="Cambria"/>
              </a:rPr>
              <a:t>0</a:t>
            </a:r>
            <a:r>
              <a:rPr sz="2150" dirty="0">
                <a:latin typeface="Cambria"/>
                <a:cs typeface="Cambria"/>
              </a:rPr>
              <a:t> </a:t>
            </a:r>
            <a:r>
              <a:rPr sz="2150" spc="-5" dirty="0">
                <a:latin typeface="Cambria"/>
                <a:cs typeface="Cambria"/>
              </a:rPr>
              <a:t> </a:t>
            </a:r>
            <a:r>
              <a:rPr sz="2150" spc="340" dirty="0">
                <a:latin typeface="Cambria"/>
                <a:cs typeface="Cambria"/>
              </a:rPr>
              <a:t>×</a:t>
            </a:r>
            <a:r>
              <a:rPr sz="2150" spc="-5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1</a:t>
            </a:r>
            <a:r>
              <a:rPr sz="2150" spc="-5" dirty="0">
                <a:latin typeface="Cambria"/>
                <a:cs typeface="Cambria"/>
              </a:rPr>
              <a:t>0</a:t>
            </a:r>
            <a:r>
              <a:rPr sz="2150" spc="125" dirty="0">
                <a:latin typeface="Cambria"/>
                <a:cs typeface="Cambria"/>
              </a:rPr>
              <a:t> </a:t>
            </a:r>
            <a:r>
              <a:rPr sz="2150" spc="409" dirty="0">
                <a:latin typeface="Cambria"/>
                <a:cs typeface="Cambria"/>
              </a:rPr>
              <a:t>=</a:t>
            </a:r>
            <a:r>
              <a:rPr sz="2150" spc="114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100</a:t>
            </a:r>
            <a:r>
              <a:rPr sz="2150" spc="-5" dirty="0">
                <a:latin typeface="Cambria"/>
                <a:cs typeface="Cambria"/>
              </a:rPr>
              <a:t>0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9427" y="3355338"/>
            <a:ext cx="788035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20" dirty="0">
                <a:latin typeface="Cambria"/>
                <a:cs typeface="Cambria"/>
              </a:rPr>
              <a:t>L</a:t>
            </a:r>
            <a:r>
              <a:rPr sz="2150" spc="70" dirty="0">
                <a:latin typeface="Cambria"/>
                <a:cs typeface="Cambria"/>
              </a:rPr>
              <a:t>S</a:t>
            </a:r>
            <a:r>
              <a:rPr sz="2150" spc="5" dirty="0">
                <a:latin typeface="Cambria"/>
                <a:cs typeface="Cambria"/>
              </a:rPr>
              <a:t>T</a:t>
            </a:r>
            <a:r>
              <a:rPr sz="2150" spc="110" dirty="0">
                <a:latin typeface="Cambria"/>
                <a:cs typeface="Cambria"/>
              </a:rPr>
              <a:t>M</a:t>
            </a:r>
            <a:r>
              <a:rPr sz="2150" spc="-5" dirty="0">
                <a:latin typeface="Cambria"/>
                <a:cs typeface="Cambria"/>
              </a:rPr>
              <a:t>: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4225" y="3400044"/>
            <a:ext cx="4234180" cy="329565"/>
          </a:xfrm>
          <a:custGeom>
            <a:avLst/>
            <a:gdLst/>
            <a:ahLst/>
            <a:cxnLst/>
            <a:rect l="l" t="t" r="r" b="b"/>
            <a:pathLst>
              <a:path w="4234180" h="329564">
                <a:moveTo>
                  <a:pt x="4233678" y="164592"/>
                </a:moveTo>
                <a:lnTo>
                  <a:pt x="4227963" y="105918"/>
                </a:lnTo>
                <a:lnTo>
                  <a:pt x="4210818" y="56388"/>
                </a:lnTo>
                <a:lnTo>
                  <a:pt x="4184529" y="19050"/>
                </a:lnTo>
                <a:lnTo>
                  <a:pt x="4146810" y="0"/>
                </a:lnTo>
                <a:lnTo>
                  <a:pt x="4143762" y="10668"/>
                </a:lnTo>
                <a:lnTo>
                  <a:pt x="4158883" y="18335"/>
                </a:lnTo>
                <a:lnTo>
                  <a:pt x="4172146" y="29718"/>
                </a:lnTo>
                <a:lnTo>
                  <a:pt x="4192530" y="62484"/>
                </a:lnTo>
                <a:lnTo>
                  <a:pt x="4204912" y="108394"/>
                </a:lnTo>
                <a:lnTo>
                  <a:pt x="4209294" y="164592"/>
                </a:lnTo>
                <a:lnTo>
                  <a:pt x="4209294" y="275475"/>
                </a:lnTo>
                <a:lnTo>
                  <a:pt x="4210818" y="272796"/>
                </a:lnTo>
                <a:lnTo>
                  <a:pt x="4220819" y="248816"/>
                </a:lnTo>
                <a:lnTo>
                  <a:pt x="4227963" y="222694"/>
                </a:lnTo>
                <a:lnTo>
                  <a:pt x="4232249" y="194571"/>
                </a:lnTo>
                <a:lnTo>
                  <a:pt x="4233678" y="164592"/>
                </a:lnTo>
                <a:close/>
              </a:path>
              <a:path w="4234180" h="329564">
                <a:moveTo>
                  <a:pt x="4209294" y="275475"/>
                </a:moveTo>
                <a:lnTo>
                  <a:pt x="4209294" y="164592"/>
                </a:lnTo>
                <a:lnTo>
                  <a:pt x="4208175" y="193167"/>
                </a:lnTo>
                <a:lnTo>
                  <a:pt x="4204912" y="219456"/>
                </a:lnTo>
                <a:lnTo>
                  <a:pt x="4192530" y="265176"/>
                </a:lnTo>
                <a:lnTo>
                  <a:pt x="4172146" y="298704"/>
                </a:lnTo>
                <a:lnTo>
                  <a:pt x="4143762" y="318516"/>
                </a:lnTo>
                <a:lnTo>
                  <a:pt x="4146810" y="329184"/>
                </a:lnTo>
                <a:lnTo>
                  <a:pt x="4167098" y="321444"/>
                </a:lnTo>
                <a:lnTo>
                  <a:pt x="4184529" y="309562"/>
                </a:lnTo>
                <a:lnTo>
                  <a:pt x="4199102" y="293393"/>
                </a:lnTo>
                <a:lnTo>
                  <a:pt x="4209294" y="275475"/>
                </a:lnTo>
                <a:close/>
              </a:path>
              <a:path w="4234180" h="329564">
                <a:moveTo>
                  <a:pt x="89916" y="10668"/>
                </a:moveTo>
                <a:lnTo>
                  <a:pt x="86868" y="0"/>
                </a:lnTo>
                <a:lnTo>
                  <a:pt x="67437" y="7096"/>
                </a:lnTo>
                <a:lnTo>
                  <a:pt x="50268" y="19076"/>
                </a:lnTo>
                <a:lnTo>
                  <a:pt x="22860" y="56388"/>
                </a:lnTo>
                <a:lnTo>
                  <a:pt x="5715" y="105918"/>
                </a:lnTo>
                <a:lnTo>
                  <a:pt x="0" y="164592"/>
                </a:lnTo>
                <a:lnTo>
                  <a:pt x="1428" y="194571"/>
                </a:lnTo>
                <a:lnTo>
                  <a:pt x="5715" y="222694"/>
                </a:lnTo>
                <a:lnTo>
                  <a:pt x="12858" y="248816"/>
                </a:lnTo>
                <a:lnTo>
                  <a:pt x="22860" y="272796"/>
                </a:lnTo>
                <a:lnTo>
                  <a:pt x="24384" y="275292"/>
                </a:lnTo>
                <a:lnTo>
                  <a:pt x="24384" y="164592"/>
                </a:lnTo>
                <a:lnTo>
                  <a:pt x="25503" y="135135"/>
                </a:lnTo>
                <a:lnTo>
                  <a:pt x="34028" y="84224"/>
                </a:lnTo>
                <a:lnTo>
                  <a:pt x="50292" y="44498"/>
                </a:lnTo>
                <a:lnTo>
                  <a:pt x="74795" y="18335"/>
                </a:lnTo>
                <a:lnTo>
                  <a:pt x="89916" y="10668"/>
                </a:lnTo>
                <a:close/>
              </a:path>
              <a:path w="4234180" h="329564">
                <a:moveTo>
                  <a:pt x="89916" y="318516"/>
                </a:moveTo>
                <a:lnTo>
                  <a:pt x="50268" y="283797"/>
                </a:lnTo>
                <a:lnTo>
                  <a:pt x="34028" y="243459"/>
                </a:lnTo>
                <a:lnTo>
                  <a:pt x="25503" y="193167"/>
                </a:lnTo>
                <a:lnTo>
                  <a:pt x="24384" y="164592"/>
                </a:lnTo>
                <a:lnTo>
                  <a:pt x="24384" y="275292"/>
                </a:lnTo>
                <a:lnTo>
                  <a:pt x="35433" y="293393"/>
                </a:lnTo>
                <a:lnTo>
                  <a:pt x="50292" y="309562"/>
                </a:lnTo>
                <a:lnTo>
                  <a:pt x="67437" y="321444"/>
                </a:lnTo>
                <a:lnTo>
                  <a:pt x="86868" y="329184"/>
                </a:lnTo>
                <a:lnTo>
                  <a:pt x="89916" y="3185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91843" y="3355338"/>
            <a:ext cx="3950335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54405" algn="l"/>
                <a:tab pos="1797050" algn="l"/>
                <a:tab pos="2589530" algn="l"/>
              </a:tabLst>
            </a:pPr>
            <a:r>
              <a:rPr sz="2150" spc="-5" dirty="0">
                <a:latin typeface="Cambria"/>
                <a:cs typeface="Cambria"/>
              </a:rPr>
              <a:t>5</a:t>
            </a:r>
            <a:r>
              <a:rPr sz="2150" spc="5" dirty="0">
                <a:latin typeface="Cambria"/>
                <a:cs typeface="Cambria"/>
              </a:rPr>
              <a:t> </a:t>
            </a:r>
            <a:r>
              <a:rPr sz="2150" spc="340" dirty="0">
                <a:latin typeface="Cambria"/>
                <a:cs typeface="Cambria"/>
              </a:rPr>
              <a:t>×</a:t>
            </a:r>
            <a:r>
              <a:rPr sz="2150" spc="5" dirty="0">
                <a:latin typeface="Cambria"/>
                <a:cs typeface="Cambria"/>
              </a:rPr>
              <a:t> </a:t>
            </a:r>
            <a:r>
              <a:rPr sz="2150" spc="-5" dirty="0">
                <a:latin typeface="Cambria"/>
                <a:cs typeface="Cambria"/>
              </a:rPr>
              <a:t>10	</a:t>
            </a:r>
            <a:r>
              <a:rPr sz="2150" spc="340" dirty="0">
                <a:latin typeface="Cambria"/>
                <a:cs typeface="Cambria"/>
              </a:rPr>
              <a:t>×</a:t>
            </a:r>
            <a:r>
              <a:rPr sz="2150" spc="10" dirty="0">
                <a:latin typeface="Cambria"/>
                <a:cs typeface="Cambria"/>
              </a:rPr>
              <a:t> </a:t>
            </a:r>
            <a:r>
              <a:rPr sz="2150" spc="-5" dirty="0">
                <a:latin typeface="Cambria"/>
                <a:cs typeface="Cambria"/>
              </a:rPr>
              <a:t>4</a:t>
            </a:r>
            <a:r>
              <a:rPr sz="2150" spc="-10" dirty="0">
                <a:latin typeface="Cambria"/>
                <a:cs typeface="Cambria"/>
              </a:rPr>
              <a:t> </a:t>
            </a:r>
            <a:r>
              <a:rPr sz="2150" spc="409" dirty="0">
                <a:latin typeface="Cambria"/>
                <a:cs typeface="Cambria"/>
              </a:rPr>
              <a:t>+	</a:t>
            </a:r>
            <a:r>
              <a:rPr sz="2150" spc="-5" dirty="0">
                <a:latin typeface="Cambria"/>
                <a:cs typeface="Cambria"/>
              </a:rPr>
              <a:t>5</a:t>
            </a:r>
            <a:r>
              <a:rPr sz="2150" spc="10" dirty="0">
                <a:latin typeface="Cambria"/>
                <a:cs typeface="Cambria"/>
              </a:rPr>
              <a:t> </a:t>
            </a:r>
            <a:r>
              <a:rPr sz="2150" spc="340" dirty="0">
                <a:latin typeface="Cambria"/>
                <a:cs typeface="Cambria"/>
              </a:rPr>
              <a:t>×</a:t>
            </a:r>
            <a:r>
              <a:rPr sz="2150" spc="5" dirty="0">
                <a:latin typeface="Cambria"/>
                <a:cs typeface="Cambria"/>
              </a:rPr>
              <a:t> </a:t>
            </a:r>
            <a:r>
              <a:rPr sz="2150" spc="-5" dirty="0">
                <a:latin typeface="Cambria"/>
                <a:cs typeface="Cambria"/>
              </a:rPr>
              <a:t>5	</a:t>
            </a:r>
            <a:r>
              <a:rPr sz="2150" spc="340" dirty="0">
                <a:latin typeface="Cambria"/>
                <a:cs typeface="Cambria"/>
              </a:rPr>
              <a:t>×</a:t>
            </a:r>
            <a:r>
              <a:rPr sz="2150" spc="-15" dirty="0">
                <a:latin typeface="Cambria"/>
                <a:cs typeface="Cambria"/>
              </a:rPr>
              <a:t> </a:t>
            </a:r>
            <a:r>
              <a:rPr sz="2150" spc="-5" dirty="0">
                <a:latin typeface="Cambria"/>
                <a:cs typeface="Cambria"/>
              </a:rPr>
              <a:t>4</a:t>
            </a:r>
            <a:r>
              <a:rPr sz="2150" spc="-10" dirty="0">
                <a:latin typeface="Cambria"/>
                <a:cs typeface="Cambria"/>
              </a:rPr>
              <a:t> </a:t>
            </a:r>
            <a:r>
              <a:rPr sz="2150" spc="409" dirty="0">
                <a:latin typeface="Cambria"/>
                <a:cs typeface="Cambria"/>
              </a:rPr>
              <a:t>+</a:t>
            </a:r>
            <a:r>
              <a:rPr sz="2150" spc="-20" dirty="0">
                <a:latin typeface="Cambria"/>
                <a:cs typeface="Cambria"/>
              </a:rPr>
              <a:t> </a:t>
            </a:r>
            <a:r>
              <a:rPr sz="2150" spc="-5" dirty="0">
                <a:latin typeface="Cambria"/>
                <a:cs typeface="Cambria"/>
              </a:rPr>
              <a:t>5</a:t>
            </a:r>
            <a:r>
              <a:rPr sz="2150" spc="-10" dirty="0">
                <a:latin typeface="Cambria"/>
                <a:cs typeface="Cambria"/>
              </a:rPr>
              <a:t> </a:t>
            </a:r>
            <a:r>
              <a:rPr sz="2150" spc="340" dirty="0">
                <a:latin typeface="Cambria"/>
                <a:cs typeface="Cambria"/>
              </a:rPr>
              <a:t>×</a:t>
            </a:r>
            <a:r>
              <a:rPr sz="2150" spc="-20" dirty="0">
                <a:latin typeface="Cambria"/>
                <a:cs typeface="Cambria"/>
              </a:rPr>
              <a:t> </a:t>
            </a:r>
            <a:r>
              <a:rPr sz="2150" spc="-5" dirty="0">
                <a:latin typeface="Cambria"/>
                <a:cs typeface="Cambria"/>
              </a:rPr>
              <a:t>4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95525" y="3355338"/>
            <a:ext cx="757555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409" dirty="0">
                <a:latin typeface="Cambria"/>
                <a:cs typeface="Cambria"/>
              </a:rPr>
              <a:t>=</a:t>
            </a:r>
            <a:r>
              <a:rPr sz="2150" spc="35" dirty="0">
                <a:latin typeface="Cambria"/>
                <a:cs typeface="Cambria"/>
              </a:rPr>
              <a:t> </a:t>
            </a:r>
            <a:r>
              <a:rPr sz="2150" spc="-5" dirty="0">
                <a:latin typeface="Cambria"/>
                <a:cs typeface="Cambria"/>
              </a:rPr>
              <a:t>320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68467" y="2261616"/>
            <a:ext cx="2760345" cy="329565"/>
          </a:xfrm>
          <a:prstGeom prst="rect">
            <a:avLst/>
          </a:prstGeom>
          <a:solidFill>
            <a:srgbClr val="FFF2CC"/>
          </a:solidFill>
        </p:spPr>
        <p:txBody>
          <a:bodyPr vert="horz" wrap="square" lIns="0" tIns="0" rIns="0" bIns="0" rtlCol="0">
            <a:spAutoFit/>
          </a:bodyPr>
          <a:lstStyle/>
          <a:p>
            <a:pPr marL="43815">
              <a:lnSpc>
                <a:spcPts val="2435"/>
              </a:lnSpc>
            </a:pPr>
            <a:r>
              <a:rPr sz="2150" spc="55" dirty="0">
                <a:latin typeface="Cambria"/>
                <a:cs typeface="Cambria"/>
              </a:rPr>
              <a:t>D</a:t>
            </a:r>
            <a:r>
              <a:rPr sz="2150" spc="15" dirty="0">
                <a:latin typeface="Cambria"/>
                <a:cs typeface="Cambria"/>
              </a:rPr>
              <a:t>e</a:t>
            </a:r>
            <a:r>
              <a:rPr sz="2150" spc="20" dirty="0">
                <a:latin typeface="Cambria"/>
                <a:cs typeface="Cambria"/>
              </a:rPr>
              <a:t>n</a:t>
            </a:r>
            <a:r>
              <a:rPr sz="2150" spc="65" dirty="0">
                <a:latin typeface="Cambria"/>
                <a:cs typeface="Cambria"/>
              </a:rPr>
              <a:t>s</a:t>
            </a:r>
            <a:r>
              <a:rPr sz="2150" spc="40" dirty="0">
                <a:latin typeface="Cambria"/>
                <a:cs typeface="Cambria"/>
              </a:rPr>
              <a:t>e</a:t>
            </a:r>
            <a:r>
              <a:rPr sz="2150" spc="-5" dirty="0">
                <a:latin typeface="Cambria"/>
                <a:cs typeface="Cambria"/>
              </a:rPr>
              <a:t>:</a:t>
            </a:r>
            <a:r>
              <a:rPr sz="2150" spc="-120" dirty="0">
                <a:latin typeface="Cambria"/>
                <a:cs typeface="Cambria"/>
              </a:rPr>
              <a:t> </a:t>
            </a:r>
            <a:r>
              <a:rPr sz="2150" spc="-5" dirty="0">
                <a:latin typeface="Cambria"/>
                <a:cs typeface="Cambria"/>
              </a:rPr>
              <a:t>5</a:t>
            </a:r>
            <a:r>
              <a:rPr sz="2150" dirty="0">
                <a:latin typeface="Cambria"/>
                <a:cs typeface="Cambria"/>
              </a:rPr>
              <a:t> </a:t>
            </a:r>
            <a:r>
              <a:rPr sz="2150" spc="10" dirty="0">
                <a:latin typeface="Cambria"/>
                <a:cs typeface="Cambria"/>
              </a:rPr>
              <a:t> </a:t>
            </a:r>
            <a:r>
              <a:rPr sz="2150" spc="340" dirty="0">
                <a:latin typeface="Cambria"/>
                <a:cs typeface="Cambria"/>
              </a:rPr>
              <a:t>×</a:t>
            </a:r>
            <a:r>
              <a:rPr sz="2150" spc="-5" dirty="0">
                <a:latin typeface="Cambria"/>
                <a:cs typeface="Cambria"/>
              </a:rPr>
              <a:t> 5</a:t>
            </a:r>
            <a:r>
              <a:rPr sz="2150" spc="5" dirty="0">
                <a:latin typeface="Cambria"/>
                <a:cs typeface="Cambria"/>
              </a:rPr>
              <a:t> </a:t>
            </a:r>
            <a:r>
              <a:rPr sz="2150" spc="409" dirty="0">
                <a:latin typeface="Cambria"/>
                <a:cs typeface="Cambria"/>
              </a:rPr>
              <a:t>+</a:t>
            </a:r>
            <a:r>
              <a:rPr sz="2150" spc="-5" dirty="0">
                <a:latin typeface="Cambria"/>
                <a:cs typeface="Cambria"/>
              </a:rPr>
              <a:t> 5</a:t>
            </a:r>
            <a:r>
              <a:rPr sz="2150" spc="110" dirty="0">
                <a:latin typeface="Cambria"/>
                <a:cs typeface="Cambria"/>
              </a:rPr>
              <a:t> </a:t>
            </a:r>
            <a:r>
              <a:rPr sz="2150" spc="409" dirty="0">
                <a:latin typeface="Cambria"/>
                <a:cs typeface="Cambria"/>
              </a:rPr>
              <a:t>=</a:t>
            </a:r>
            <a:r>
              <a:rPr sz="2150" spc="114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3</a:t>
            </a:r>
            <a:r>
              <a:rPr sz="2150" spc="-5" dirty="0">
                <a:latin typeface="Cambria"/>
                <a:cs typeface="Cambria"/>
              </a:rPr>
              <a:t>0</a:t>
            </a:r>
            <a:endParaRPr sz="215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16145" y="3386327"/>
            <a:ext cx="4079875" cy="782320"/>
            <a:chOff x="1216145" y="3386327"/>
            <a:chExt cx="4079875" cy="78232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07863" y="3387851"/>
              <a:ext cx="288035" cy="29870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9079" y="3387851"/>
              <a:ext cx="288035" cy="2987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6145" y="3404615"/>
              <a:ext cx="1036326" cy="29717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32303" y="3387851"/>
              <a:ext cx="286511" cy="29870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50463" y="3392423"/>
              <a:ext cx="909827" cy="29870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99432" y="3386327"/>
              <a:ext cx="192023" cy="29717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676400" y="3744480"/>
              <a:ext cx="3091180" cy="424180"/>
            </a:xfrm>
            <a:custGeom>
              <a:avLst/>
              <a:gdLst/>
              <a:ahLst/>
              <a:cxnLst/>
              <a:rect l="l" t="t" r="r" b="b"/>
              <a:pathLst>
                <a:path w="3091179" h="424179">
                  <a:moveTo>
                    <a:pt x="141732" y="275844"/>
                  </a:moveTo>
                  <a:lnTo>
                    <a:pt x="94488" y="275844"/>
                  </a:lnTo>
                  <a:lnTo>
                    <a:pt x="94488" y="10668"/>
                  </a:lnTo>
                  <a:lnTo>
                    <a:pt x="47244" y="10668"/>
                  </a:lnTo>
                  <a:lnTo>
                    <a:pt x="47244" y="275844"/>
                  </a:lnTo>
                  <a:lnTo>
                    <a:pt x="0" y="275844"/>
                  </a:lnTo>
                  <a:lnTo>
                    <a:pt x="47244" y="371348"/>
                  </a:lnTo>
                  <a:lnTo>
                    <a:pt x="70104" y="417576"/>
                  </a:lnTo>
                  <a:lnTo>
                    <a:pt x="94488" y="369316"/>
                  </a:lnTo>
                  <a:lnTo>
                    <a:pt x="141732" y="275844"/>
                  </a:lnTo>
                  <a:close/>
                </a:path>
                <a:path w="3091179" h="424179">
                  <a:moveTo>
                    <a:pt x="1799844" y="265176"/>
                  </a:moveTo>
                  <a:lnTo>
                    <a:pt x="1752600" y="265176"/>
                  </a:lnTo>
                  <a:lnTo>
                    <a:pt x="1752600" y="0"/>
                  </a:lnTo>
                  <a:lnTo>
                    <a:pt x="1705356" y="0"/>
                  </a:lnTo>
                  <a:lnTo>
                    <a:pt x="1705356" y="265176"/>
                  </a:lnTo>
                  <a:lnTo>
                    <a:pt x="1658112" y="265176"/>
                  </a:lnTo>
                  <a:lnTo>
                    <a:pt x="1705356" y="358648"/>
                  </a:lnTo>
                  <a:lnTo>
                    <a:pt x="1729740" y="406908"/>
                  </a:lnTo>
                  <a:lnTo>
                    <a:pt x="1752600" y="360680"/>
                  </a:lnTo>
                  <a:lnTo>
                    <a:pt x="1799844" y="265176"/>
                  </a:lnTo>
                  <a:close/>
                </a:path>
                <a:path w="3091179" h="424179">
                  <a:moveTo>
                    <a:pt x="3090672" y="283464"/>
                  </a:moveTo>
                  <a:lnTo>
                    <a:pt x="3043428" y="283464"/>
                  </a:lnTo>
                  <a:lnTo>
                    <a:pt x="3043428" y="18288"/>
                  </a:lnTo>
                  <a:lnTo>
                    <a:pt x="2996184" y="18288"/>
                  </a:lnTo>
                  <a:lnTo>
                    <a:pt x="2996184" y="283464"/>
                  </a:lnTo>
                  <a:lnTo>
                    <a:pt x="2948940" y="283464"/>
                  </a:lnTo>
                  <a:lnTo>
                    <a:pt x="2996184" y="377952"/>
                  </a:lnTo>
                  <a:lnTo>
                    <a:pt x="3019044" y="423672"/>
                  </a:lnTo>
                  <a:lnTo>
                    <a:pt x="3043428" y="375932"/>
                  </a:lnTo>
                  <a:lnTo>
                    <a:pt x="3090672" y="283464"/>
                  </a:lnTo>
                  <a:close/>
                </a:path>
              </a:pathLst>
            </a:custGeom>
            <a:solidFill>
              <a:srgbClr val="5A9A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584655" y="4210302"/>
            <a:ext cx="34163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i="1" dirty="0">
                <a:latin typeface="Calibri"/>
                <a:cs typeface="Calibri"/>
              </a:rPr>
              <a:t>Bi</a:t>
            </a:r>
            <a:r>
              <a:rPr sz="1450" i="1" spc="15" dirty="0">
                <a:latin typeface="Calibri"/>
                <a:cs typeface="Calibri"/>
              </a:rPr>
              <a:t>as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8678" y="4664963"/>
            <a:ext cx="5550535" cy="373380"/>
          </a:xfrm>
          <a:custGeom>
            <a:avLst/>
            <a:gdLst/>
            <a:ahLst/>
            <a:cxnLst/>
            <a:rect l="l" t="t" r="r" b="b"/>
            <a:pathLst>
              <a:path w="5550535" h="373379">
                <a:moveTo>
                  <a:pt x="5550407" y="373379"/>
                </a:moveTo>
                <a:lnTo>
                  <a:pt x="5550407" y="0"/>
                </a:lnTo>
                <a:lnTo>
                  <a:pt x="0" y="0"/>
                </a:lnTo>
                <a:lnTo>
                  <a:pt x="0" y="373379"/>
                </a:lnTo>
                <a:lnTo>
                  <a:pt x="5550407" y="373379"/>
                </a:lnTo>
                <a:close/>
              </a:path>
            </a:pathLst>
          </a:custGeom>
          <a:solidFill>
            <a:srgbClr val="FFF2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80841" y="4661406"/>
            <a:ext cx="788035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20" dirty="0">
                <a:latin typeface="Cambria"/>
                <a:cs typeface="Cambria"/>
              </a:rPr>
              <a:t>L</a:t>
            </a:r>
            <a:r>
              <a:rPr sz="2150" spc="70" dirty="0">
                <a:latin typeface="Cambria"/>
                <a:cs typeface="Cambria"/>
              </a:rPr>
              <a:t>S</a:t>
            </a:r>
            <a:r>
              <a:rPr sz="2150" spc="5" dirty="0">
                <a:latin typeface="Cambria"/>
                <a:cs typeface="Cambria"/>
              </a:rPr>
              <a:t>T</a:t>
            </a:r>
            <a:r>
              <a:rPr sz="2150" spc="110" dirty="0">
                <a:latin typeface="Cambria"/>
                <a:cs typeface="Cambria"/>
              </a:rPr>
              <a:t>M</a:t>
            </a:r>
            <a:r>
              <a:rPr sz="2150" spc="-5" dirty="0">
                <a:latin typeface="Cambria"/>
                <a:cs typeface="Cambria"/>
              </a:rPr>
              <a:t>: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25639" y="4704600"/>
            <a:ext cx="3414395" cy="329565"/>
          </a:xfrm>
          <a:custGeom>
            <a:avLst/>
            <a:gdLst/>
            <a:ahLst/>
            <a:cxnLst/>
            <a:rect l="l" t="t" r="r" b="b"/>
            <a:pathLst>
              <a:path w="3414395" h="329564">
                <a:moveTo>
                  <a:pt x="89916" y="10668"/>
                </a:moveTo>
                <a:lnTo>
                  <a:pt x="86868" y="0"/>
                </a:lnTo>
                <a:lnTo>
                  <a:pt x="67437" y="7734"/>
                </a:lnTo>
                <a:lnTo>
                  <a:pt x="50266" y="19646"/>
                </a:lnTo>
                <a:lnTo>
                  <a:pt x="22860" y="56388"/>
                </a:lnTo>
                <a:lnTo>
                  <a:pt x="5715" y="106489"/>
                </a:lnTo>
                <a:lnTo>
                  <a:pt x="0" y="164592"/>
                </a:lnTo>
                <a:lnTo>
                  <a:pt x="1435" y="195211"/>
                </a:lnTo>
                <a:lnTo>
                  <a:pt x="5715" y="223266"/>
                </a:lnTo>
                <a:lnTo>
                  <a:pt x="12865" y="249021"/>
                </a:lnTo>
                <a:lnTo>
                  <a:pt x="22860" y="272796"/>
                </a:lnTo>
                <a:lnTo>
                  <a:pt x="24384" y="275310"/>
                </a:lnTo>
                <a:lnTo>
                  <a:pt x="35433" y="293598"/>
                </a:lnTo>
                <a:lnTo>
                  <a:pt x="50292" y="310134"/>
                </a:lnTo>
                <a:lnTo>
                  <a:pt x="67437" y="322084"/>
                </a:lnTo>
                <a:lnTo>
                  <a:pt x="86868" y="329184"/>
                </a:lnTo>
                <a:lnTo>
                  <a:pt x="89916" y="318516"/>
                </a:lnTo>
                <a:lnTo>
                  <a:pt x="74790" y="310845"/>
                </a:lnTo>
                <a:lnTo>
                  <a:pt x="61531" y="299466"/>
                </a:lnTo>
                <a:lnTo>
                  <a:pt x="41148" y="266700"/>
                </a:lnTo>
                <a:lnTo>
                  <a:pt x="28765" y="220789"/>
                </a:lnTo>
                <a:lnTo>
                  <a:pt x="24384" y="164592"/>
                </a:lnTo>
                <a:lnTo>
                  <a:pt x="25501" y="136017"/>
                </a:lnTo>
                <a:lnTo>
                  <a:pt x="34023" y="85725"/>
                </a:lnTo>
                <a:lnTo>
                  <a:pt x="50292" y="45351"/>
                </a:lnTo>
                <a:lnTo>
                  <a:pt x="74790" y="18999"/>
                </a:lnTo>
                <a:lnTo>
                  <a:pt x="89916" y="10668"/>
                </a:lnTo>
                <a:close/>
              </a:path>
              <a:path w="3414395" h="329564">
                <a:moveTo>
                  <a:pt x="208788" y="48768"/>
                </a:moveTo>
                <a:lnTo>
                  <a:pt x="204216" y="38100"/>
                </a:lnTo>
                <a:lnTo>
                  <a:pt x="185928" y="44996"/>
                </a:lnTo>
                <a:lnTo>
                  <a:pt x="169926" y="54483"/>
                </a:lnTo>
                <a:lnTo>
                  <a:pt x="135661" y="100291"/>
                </a:lnTo>
                <a:lnTo>
                  <a:pt x="124853" y="141439"/>
                </a:lnTo>
                <a:lnTo>
                  <a:pt x="123444" y="164592"/>
                </a:lnTo>
                <a:lnTo>
                  <a:pt x="124853" y="187731"/>
                </a:lnTo>
                <a:lnTo>
                  <a:pt x="128968" y="209169"/>
                </a:lnTo>
                <a:lnTo>
                  <a:pt x="135661" y="228879"/>
                </a:lnTo>
                <a:lnTo>
                  <a:pt x="144780" y="246888"/>
                </a:lnTo>
                <a:lnTo>
                  <a:pt x="146304" y="248945"/>
                </a:lnTo>
                <a:lnTo>
                  <a:pt x="156210" y="262356"/>
                </a:lnTo>
                <a:lnTo>
                  <a:pt x="169926" y="274701"/>
                </a:lnTo>
                <a:lnTo>
                  <a:pt x="185928" y="284175"/>
                </a:lnTo>
                <a:lnTo>
                  <a:pt x="204216" y="291084"/>
                </a:lnTo>
                <a:lnTo>
                  <a:pt x="207264" y="280416"/>
                </a:lnTo>
                <a:lnTo>
                  <a:pt x="193268" y="274434"/>
                </a:lnTo>
                <a:lnTo>
                  <a:pt x="180975" y="265747"/>
                </a:lnTo>
                <a:lnTo>
                  <a:pt x="155308" y="224142"/>
                </a:lnTo>
                <a:lnTo>
                  <a:pt x="147396" y="185712"/>
                </a:lnTo>
                <a:lnTo>
                  <a:pt x="146304" y="163068"/>
                </a:lnTo>
                <a:lnTo>
                  <a:pt x="147396" y="141960"/>
                </a:lnTo>
                <a:lnTo>
                  <a:pt x="155308" y="104343"/>
                </a:lnTo>
                <a:lnTo>
                  <a:pt x="181165" y="63436"/>
                </a:lnTo>
                <a:lnTo>
                  <a:pt x="193903" y="54737"/>
                </a:lnTo>
                <a:lnTo>
                  <a:pt x="208788" y="48768"/>
                </a:lnTo>
                <a:close/>
              </a:path>
              <a:path w="3414395" h="329564">
                <a:moveTo>
                  <a:pt x="1069860" y="164592"/>
                </a:moveTo>
                <a:lnTo>
                  <a:pt x="1064907" y="120015"/>
                </a:lnTo>
                <a:lnTo>
                  <a:pt x="1048524" y="82296"/>
                </a:lnTo>
                <a:lnTo>
                  <a:pt x="1007376" y="44996"/>
                </a:lnTo>
                <a:lnTo>
                  <a:pt x="989088" y="38100"/>
                </a:lnTo>
                <a:lnTo>
                  <a:pt x="986040" y="48768"/>
                </a:lnTo>
                <a:lnTo>
                  <a:pt x="1000899" y="54737"/>
                </a:lnTo>
                <a:lnTo>
                  <a:pt x="1013472" y="63436"/>
                </a:lnTo>
                <a:lnTo>
                  <a:pt x="1038631" y="104343"/>
                </a:lnTo>
                <a:lnTo>
                  <a:pt x="1046111" y="141960"/>
                </a:lnTo>
                <a:lnTo>
                  <a:pt x="1047000" y="163068"/>
                </a:lnTo>
                <a:lnTo>
                  <a:pt x="1046111" y="185712"/>
                </a:lnTo>
                <a:lnTo>
                  <a:pt x="1038631" y="224142"/>
                </a:lnTo>
                <a:lnTo>
                  <a:pt x="1013472" y="265747"/>
                </a:lnTo>
                <a:lnTo>
                  <a:pt x="986040" y="280416"/>
                </a:lnTo>
                <a:lnTo>
                  <a:pt x="989088" y="291084"/>
                </a:lnTo>
                <a:lnTo>
                  <a:pt x="1007376" y="284175"/>
                </a:lnTo>
                <a:lnTo>
                  <a:pt x="1023378" y="274701"/>
                </a:lnTo>
                <a:lnTo>
                  <a:pt x="1037094" y="262356"/>
                </a:lnTo>
                <a:lnTo>
                  <a:pt x="1047000" y="248945"/>
                </a:lnTo>
                <a:lnTo>
                  <a:pt x="1048524" y="246888"/>
                </a:lnTo>
                <a:lnTo>
                  <a:pt x="1058278" y="228879"/>
                </a:lnTo>
                <a:lnTo>
                  <a:pt x="1064907" y="209169"/>
                </a:lnTo>
                <a:lnTo>
                  <a:pt x="1068666" y="187731"/>
                </a:lnTo>
                <a:lnTo>
                  <a:pt x="1069860" y="164592"/>
                </a:lnTo>
                <a:close/>
              </a:path>
              <a:path w="3414395" h="329564">
                <a:moveTo>
                  <a:pt x="1527060" y="48768"/>
                </a:moveTo>
                <a:lnTo>
                  <a:pt x="1522488" y="38100"/>
                </a:lnTo>
                <a:lnTo>
                  <a:pt x="1504200" y="44996"/>
                </a:lnTo>
                <a:lnTo>
                  <a:pt x="1488198" y="54483"/>
                </a:lnTo>
                <a:lnTo>
                  <a:pt x="1453921" y="100291"/>
                </a:lnTo>
                <a:lnTo>
                  <a:pt x="1443113" y="141439"/>
                </a:lnTo>
                <a:lnTo>
                  <a:pt x="1441716" y="164592"/>
                </a:lnTo>
                <a:lnTo>
                  <a:pt x="1443113" y="187731"/>
                </a:lnTo>
                <a:lnTo>
                  <a:pt x="1447241" y="209169"/>
                </a:lnTo>
                <a:lnTo>
                  <a:pt x="1453921" y="228879"/>
                </a:lnTo>
                <a:lnTo>
                  <a:pt x="1463052" y="246888"/>
                </a:lnTo>
                <a:lnTo>
                  <a:pt x="1464576" y="248945"/>
                </a:lnTo>
                <a:lnTo>
                  <a:pt x="1474482" y="262356"/>
                </a:lnTo>
                <a:lnTo>
                  <a:pt x="1488198" y="274701"/>
                </a:lnTo>
                <a:lnTo>
                  <a:pt x="1504200" y="284175"/>
                </a:lnTo>
                <a:lnTo>
                  <a:pt x="1522488" y="291084"/>
                </a:lnTo>
                <a:lnTo>
                  <a:pt x="1525536" y="280416"/>
                </a:lnTo>
                <a:lnTo>
                  <a:pt x="1511528" y="274434"/>
                </a:lnTo>
                <a:lnTo>
                  <a:pt x="1499247" y="265747"/>
                </a:lnTo>
                <a:lnTo>
                  <a:pt x="1473568" y="224142"/>
                </a:lnTo>
                <a:lnTo>
                  <a:pt x="1465668" y="185712"/>
                </a:lnTo>
                <a:lnTo>
                  <a:pt x="1464576" y="163068"/>
                </a:lnTo>
                <a:lnTo>
                  <a:pt x="1465668" y="141960"/>
                </a:lnTo>
                <a:lnTo>
                  <a:pt x="1473568" y="104343"/>
                </a:lnTo>
                <a:lnTo>
                  <a:pt x="1499438" y="63436"/>
                </a:lnTo>
                <a:lnTo>
                  <a:pt x="1512176" y="54737"/>
                </a:lnTo>
                <a:lnTo>
                  <a:pt x="1527060" y="48768"/>
                </a:lnTo>
                <a:close/>
              </a:path>
              <a:path w="3414395" h="329564">
                <a:moveTo>
                  <a:pt x="2237244" y="164592"/>
                </a:moveTo>
                <a:lnTo>
                  <a:pt x="2232291" y="120015"/>
                </a:lnTo>
                <a:lnTo>
                  <a:pt x="2215908" y="82296"/>
                </a:lnTo>
                <a:lnTo>
                  <a:pt x="2174760" y="44996"/>
                </a:lnTo>
                <a:lnTo>
                  <a:pt x="2156472" y="38100"/>
                </a:lnTo>
                <a:lnTo>
                  <a:pt x="2153424" y="48768"/>
                </a:lnTo>
                <a:lnTo>
                  <a:pt x="2168283" y="54737"/>
                </a:lnTo>
                <a:lnTo>
                  <a:pt x="2180856" y="63436"/>
                </a:lnTo>
                <a:lnTo>
                  <a:pt x="2206015" y="104343"/>
                </a:lnTo>
                <a:lnTo>
                  <a:pt x="2213495" y="141960"/>
                </a:lnTo>
                <a:lnTo>
                  <a:pt x="2214384" y="163068"/>
                </a:lnTo>
                <a:lnTo>
                  <a:pt x="2213495" y="185712"/>
                </a:lnTo>
                <a:lnTo>
                  <a:pt x="2206015" y="224142"/>
                </a:lnTo>
                <a:lnTo>
                  <a:pt x="2180856" y="265747"/>
                </a:lnTo>
                <a:lnTo>
                  <a:pt x="2153424" y="280416"/>
                </a:lnTo>
                <a:lnTo>
                  <a:pt x="2156472" y="291084"/>
                </a:lnTo>
                <a:lnTo>
                  <a:pt x="2174760" y="284175"/>
                </a:lnTo>
                <a:lnTo>
                  <a:pt x="2190762" y="274701"/>
                </a:lnTo>
                <a:lnTo>
                  <a:pt x="2204478" y="262356"/>
                </a:lnTo>
                <a:lnTo>
                  <a:pt x="2214384" y="248945"/>
                </a:lnTo>
                <a:lnTo>
                  <a:pt x="2215908" y="246888"/>
                </a:lnTo>
                <a:lnTo>
                  <a:pt x="2225662" y="228879"/>
                </a:lnTo>
                <a:lnTo>
                  <a:pt x="2232291" y="209169"/>
                </a:lnTo>
                <a:lnTo>
                  <a:pt x="2236051" y="187731"/>
                </a:lnTo>
                <a:lnTo>
                  <a:pt x="2237244" y="164592"/>
                </a:lnTo>
                <a:close/>
              </a:path>
              <a:path w="3414395" h="329564">
                <a:moveTo>
                  <a:pt x="3413772" y="164592"/>
                </a:moveTo>
                <a:lnTo>
                  <a:pt x="3408057" y="106489"/>
                </a:lnTo>
                <a:lnTo>
                  <a:pt x="3390912" y="56388"/>
                </a:lnTo>
                <a:lnTo>
                  <a:pt x="3364623" y="19621"/>
                </a:lnTo>
                <a:lnTo>
                  <a:pt x="3326904" y="0"/>
                </a:lnTo>
                <a:lnTo>
                  <a:pt x="3323856" y="10668"/>
                </a:lnTo>
                <a:lnTo>
                  <a:pt x="3338969" y="18999"/>
                </a:lnTo>
                <a:lnTo>
                  <a:pt x="3352241" y="30480"/>
                </a:lnTo>
                <a:lnTo>
                  <a:pt x="3372624" y="64008"/>
                </a:lnTo>
                <a:lnTo>
                  <a:pt x="3385007" y="109728"/>
                </a:lnTo>
                <a:lnTo>
                  <a:pt x="3389388" y="164592"/>
                </a:lnTo>
                <a:lnTo>
                  <a:pt x="3388258" y="194043"/>
                </a:lnTo>
                <a:lnTo>
                  <a:pt x="3379736" y="244957"/>
                </a:lnTo>
                <a:lnTo>
                  <a:pt x="3363493" y="284645"/>
                </a:lnTo>
                <a:lnTo>
                  <a:pt x="3323856" y="318516"/>
                </a:lnTo>
                <a:lnTo>
                  <a:pt x="3326904" y="329184"/>
                </a:lnTo>
                <a:lnTo>
                  <a:pt x="3364623" y="310134"/>
                </a:lnTo>
                <a:lnTo>
                  <a:pt x="3389388" y="275501"/>
                </a:lnTo>
                <a:lnTo>
                  <a:pt x="3408057" y="223266"/>
                </a:lnTo>
                <a:lnTo>
                  <a:pt x="3412337" y="195211"/>
                </a:lnTo>
                <a:lnTo>
                  <a:pt x="3413772" y="1645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069333" y="4210302"/>
            <a:ext cx="3284220" cy="8039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784350" algn="l"/>
              </a:tabLst>
            </a:pPr>
            <a:r>
              <a:rPr sz="1450" i="1" spc="15" dirty="0">
                <a:latin typeface="Calibri"/>
                <a:cs typeface="Calibri"/>
              </a:rPr>
              <a:t>Input</a:t>
            </a:r>
            <a:r>
              <a:rPr sz="1450" i="1" spc="-15" dirty="0">
                <a:latin typeface="Calibri"/>
                <a:cs typeface="Calibri"/>
              </a:rPr>
              <a:t> </a:t>
            </a:r>
            <a:r>
              <a:rPr sz="1450" i="1" spc="5" dirty="0">
                <a:latin typeface="Calibri"/>
                <a:cs typeface="Calibri"/>
              </a:rPr>
              <a:t>to</a:t>
            </a:r>
            <a:r>
              <a:rPr sz="1450" i="1" spc="10" dirty="0">
                <a:latin typeface="Calibri"/>
                <a:cs typeface="Calibri"/>
              </a:rPr>
              <a:t> </a:t>
            </a:r>
            <a:r>
              <a:rPr sz="1450" i="1" spc="15" dirty="0">
                <a:latin typeface="Calibri"/>
                <a:cs typeface="Calibri"/>
              </a:rPr>
              <a:t>hidden	</a:t>
            </a:r>
            <a:r>
              <a:rPr sz="1450" i="1" spc="10" dirty="0">
                <a:latin typeface="Calibri"/>
                <a:cs typeface="Calibri"/>
              </a:rPr>
              <a:t>Hidden</a:t>
            </a:r>
            <a:r>
              <a:rPr sz="1450" i="1" spc="-10" dirty="0">
                <a:latin typeface="Calibri"/>
                <a:cs typeface="Calibri"/>
              </a:rPr>
              <a:t> </a:t>
            </a:r>
            <a:r>
              <a:rPr sz="1450" i="1" spc="5" dirty="0">
                <a:latin typeface="Calibri"/>
                <a:cs typeface="Calibri"/>
              </a:rPr>
              <a:t>to</a:t>
            </a:r>
            <a:r>
              <a:rPr sz="1450" i="1" spc="-10" dirty="0">
                <a:latin typeface="Calibri"/>
                <a:cs typeface="Calibri"/>
              </a:rPr>
              <a:t> </a:t>
            </a:r>
            <a:r>
              <a:rPr sz="1450" i="1" spc="15" dirty="0">
                <a:latin typeface="Calibri"/>
                <a:cs typeface="Calibri"/>
              </a:rPr>
              <a:t>hidden</a:t>
            </a:r>
            <a:endParaRPr sz="1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Calibri"/>
              <a:cs typeface="Calibri"/>
            </a:endParaRPr>
          </a:p>
          <a:p>
            <a:pPr marL="167640">
              <a:lnSpc>
                <a:spcPct val="100000"/>
              </a:lnSpc>
              <a:tabLst>
                <a:tab pos="1109980" algn="l"/>
                <a:tab pos="1485900" algn="l"/>
                <a:tab pos="2277110" algn="l"/>
              </a:tabLst>
            </a:pPr>
            <a:r>
              <a:rPr sz="2150" spc="-5" dirty="0">
                <a:latin typeface="Cambria"/>
                <a:cs typeface="Cambria"/>
              </a:rPr>
              <a:t>5</a:t>
            </a:r>
            <a:r>
              <a:rPr sz="2150" spc="5" dirty="0">
                <a:latin typeface="Cambria"/>
                <a:cs typeface="Cambria"/>
              </a:rPr>
              <a:t> </a:t>
            </a:r>
            <a:r>
              <a:rPr sz="2150" spc="340" dirty="0">
                <a:latin typeface="Cambria"/>
                <a:cs typeface="Cambria"/>
              </a:rPr>
              <a:t>×</a:t>
            </a:r>
            <a:r>
              <a:rPr sz="2150" spc="-5" dirty="0">
                <a:latin typeface="Cambria"/>
                <a:cs typeface="Cambria"/>
              </a:rPr>
              <a:t> 10	</a:t>
            </a:r>
            <a:r>
              <a:rPr sz="2150" spc="409" dirty="0">
                <a:latin typeface="Cambria"/>
                <a:cs typeface="Cambria"/>
              </a:rPr>
              <a:t>+	</a:t>
            </a:r>
            <a:r>
              <a:rPr sz="2150" spc="-5" dirty="0">
                <a:latin typeface="Cambria"/>
                <a:cs typeface="Cambria"/>
              </a:rPr>
              <a:t>5</a:t>
            </a:r>
            <a:r>
              <a:rPr sz="2150" spc="10" dirty="0">
                <a:latin typeface="Cambria"/>
                <a:cs typeface="Cambria"/>
              </a:rPr>
              <a:t> </a:t>
            </a:r>
            <a:r>
              <a:rPr sz="2150" spc="340" dirty="0">
                <a:latin typeface="Cambria"/>
                <a:cs typeface="Cambria"/>
              </a:rPr>
              <a:t>×</a:t>
            </a:r>
            <a:r>
              <a:rPr sz="2150" spc="-5" dirty="0">
                <a:latin typeface="Cambria"/>
                <a:cs typeface="Cambria"/>
              </a:rPr>
              <a:t> 5	</a:t>
            </a:r>
            <a:r>
              <a:rPr sz="2150" spc="409" dirty="0">
                <a:latin typeface="Cambria"/>
                <a:cs typeface="Cambria"/>
              </a:rPr>
              <a:t>+</a:t>
            </a:r>
            <a:r>
              <a:rPr sz="2150" spc="-30" dirty="0">
                <a:latin typeface="Cambria"/>
                <a:cs typeface="Cambria"/>
              </a:rPr>
              <a:t> </a:t>
            </a:r>
            <a:r>
              <a:rPr sz="2150" spc="30" dirty="0">
                <a:latin typeface="Cambria"/>
                <a:cs typeface="Cambria"/>
              </a:rPr>
              <a:t>5)</a:t>
            </a:r>
            <a:r>
              <a:rPr sz="2150" spc="-25" dirty="0">
                <a:latin typeface="Cambria"/>
                <a:cs typeface="Cambria"/>
              </a:rPr>
              <a:t> </a:t>
            </a:r>
            <a:r>
              <a:rPr sz="2150" spc="340" dirty="0">
                <a:latin typeface="Cambria"/>
                <a:cs typeface="Cambria"/>
              </a:rPr>
              <a:t>×</a:t>
            </a:r>
            <a:r>
              <a:rPr sz="2150" spc="-30" dirty="0">
                <a:latin typeface="Cambria"/>
                <a:cs typeface="Cambria"/>
              </a:rPr>
              <a:t> </a:t>
            </a:r>
            <a:r>
              <a:rPr sz="2150" spc="-5" dirty="0">
                <a:latin typeface="Cambria"/>
                <a:cs typeface="Cambria"/>
              </a:rPr>
              <a:t>4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07041" y="4661406"/>
            <a:ext cx="937260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1170" algn="l"/>
              </a:tabLst>
            </a:pPr>
            <a:r>
              <a:rPr sz="2150" spc="409" dirty="0">
                <a:latin typeface="Cambria"/>
                <a:cs typeface="Cambria"/>
              </a:rPr>
              <a:t>=	</a:t>
            </a:r>
            <a:r>
              <a:rPr sz="2150" spc="-10" dirty="0">
                <a:latin typeface="Cambria"/>
                <a:cs typeface="Cambria"/>
              </a:rPr>
              <a:t>32</a:t>
            </a:r>
            <a:r>
              <a:rPr sz="2150" spc="-5" dirty="0">
                <a:latin typeface="Cambria"/>
                <a:cs typeface="Cambria"/>
              </a:rPr>
              <a:t>0</a:t>
            </a:r>
            <a:endParaRPr sz="2150">
              <a:latin typeface="Cambria"/>
              <a:cs typeface="Cambri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55441" y="1676400"/>
            <a:ext cx="4206240" cy="1117600"/>
            <a:chOff x="155441" y="1676400"/>
            <a:chExt cx="4206240" cy="1117600"/>
          </a:xfrm>
        </p:grpSpPr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6733" y="1794071"/>
              <a:ext cx="3904633" cy="90071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55441" y="1676400"/>
              <a:ext cx="4206240" cy="1117600"/>
            </a:xfrm>
            <a:custGeom>
              <a:avLst/>
              <a:gdLst/>
              <a:ahLst/>
              <a:cxnLst/>
              <a:rect l="l" t="t" r="r" b="b"/>
              <a:pathLst>
                <a:path w="4206240" h="1117600">
                  <a:moveTo>
                    <a:pt x="4206246" y="1112520"/>
                  </a:moveTo>
                  <a:lnTo>
                    <a:pt x="4206246" y="4572"/>
                  </a:lnTo>
                  <a:lnTo>
                    <a:pt x="4201674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1112520"/>
                  </a:lnTo>
                  <a:lnTo>
                    <a:pt x="4572" y="1117092"/>
                  </a:lnTo>
                  <a:lnTo>
                    <a:pt x="12192" y="1117092"/>
                  </a:lnTo>
                  <a:lnTo>
                    <a:pt x="12192" y="22860"/>
                  </a:lnTo>
                  <a:lnTo>
                    <a:pt x="22860" y="12192"/>
                  </a:lnTo>
                  <a:lnTo>
                    <a:pt x="22860" y="22860"/>
                  </a:lnTo>
                  <a:lnTo>
                    <a:pt x="4183386" y="22860"/>
                  </a:lnTo>
                  <a:lnTo>
                    <a:pt x="4183386" y="12192"/>
                  </a:lnTo>
                  <a:lnTo>
                    <a:pt x="4194054" y="22860"/>
                  </a:lnTo>
                  <a:lnTo>
                    <a:pt x="4194054" y="1117092"/>
                  </a:lnTo>
                  <a:lnTo>
                    <a:pt x="4201674" y="1117092"/>
                  </a:lnTo>
                  <a:lnTo>
                    <a:pt x="4206246" y="1112520"/>
                  </a:lnTo>
                  <a:close/>
                </a:path>
                <a:path w="4206240" h="1117600">
                  <a:moveTo>
                    <a:pt x="22860" y="22860"/>
                  </a:moveTo>
                  <a:lnTo>
                    <a:pt x="22860" y="12192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4206240" h="1117600">
                  <a:moveTo>
                    <a:pt x="22860" y="1094232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1094232"/>
                  </a:lnTo>
                  <a:lnTo>
                    <a:pt x="22860" y="1094232"/>
                  </a:lnTo>
                  <a:close/>
                </a:path>
                <a:path w="4206240" h="1117600">
                  <a:moveTo>
                    <a:pt x="4194054" y="1094232"/>
                  </a:moveTo>
                  <a:lnTo>
                    <a:pt x="12192" y="1094232"/>
                  </a:lnTo>
                  <a:lnTo>
                    <a:pt x="22860" y="1106424"/>
                  </a:lnTo>
                  <a:lnTo>
                    <a:pt x="22860" y="1117092"/>
                  </a:lnTo>
                  <a:lnTo>
                    <a:pt x="4183386" y="1117092"/>
                  </a:lnTo>
                  <a:lnTo>
                    <a:pt x="4183386" y="1106424"/>
                  </a:lnTo>
                  <a:lnTo>
                    <a:pt x="4194054" y="1094232"/>
                  </a:lnTo>
                  <a:close/>
                </a:path>
                <a:path w="4206240" h="1117600">
                  <a:moveTo>
                    <a:pt x="22860" y="1117092"/>
                  </a:moveTo>
                  <a:lnTo>
                    <a:pt x="22860" y="1106424"/>
                  </a:lnTo>
                  <a:lnTo>
                    <a:pt x="12192" y="1094232"/>
                  </a:lnTo>
                  <a:lnTo>
                    <a:pt x="12192" y="1117092"/>
                  </a:lnTo>
                  <a:lnTo>
                    <a:pt x="22860" y="1117092"/>
                  </a:lnTo>
                  <a:close/>
                </a:path>
                <a:path w="4206240" h="1117600">
                  <a:moveTo>
                    <a:pt x="4194054" y="22860"/>
                  </a:moveTo>
                  <a:lnTo>
                    <a:pt x="4183386" y="12192"/>
                  </a:lnTo>
                  <a:lnTo>
                    <a:pt x="4183386" y="22860"/>
                  </a:lnTo>
                  <a:lnTo>
                    <a:pt x="4194054" y="22860"/>
                  </a:lnTo>
                  <a:close/>
                </a:path>
                <a:path w="4206240" h="1117600">
                  <a:moveTo>
                    <a:pt x="4194054" y="1094232"/>
                  </a:moveTo>
                  <a:lnTo>
                    <a:pt x="4194054" y="22860"/>
                  </a:lnTo>
                  <a:lnTo>
                    <a:pt x="4183386" y="22860"/>
                  </a:lnTo>
                  <a:lnTo>
                    <a:pt x="4183386" y="1094232"/>
                  </a:lnTo>
                  <a:lnTo>
                    <a:pt x="4194054" y="1094232"/>
                  </a:lnTo>
                  <a:close/>
                </a:path>
                <a:path w="4206240" h="1117600">
                  <a:moveTo>
                    <a:pt x="4194054" y="1117092"/>
                  </a:moveTo>
                  <a:lnTo>
                    <a:pt x="4194054" y="1094232"/>
                  </a:lnTo>
                  <a:lnTo>
                    <a:pt x="4183386" y="1106424"/>
                  </a:lnTo>
                  <a:lnTo>
                    <a:pt x="4183386" y="1117092"/>
                  </a:lnTo>
                  <a:lnTo>
                    <a:pt x="4194054" y="1117092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59173"/>
            <a:ext cx="2581910" cy="405765"/>
          </a:xfrm>
          <a:custGeom>
            <a:avLst/>
            <a:gdLst/>
            <a:ahLst/>
            <a:cxnLst/>
            <a:rect l="l" t="t" r="r" b="b"/>
            <a:pathLst>
              <a:path w="2581910" h="405765">
                <a:moveTo>
                  <a:pt x="2581655" y="405383"/>
                </a:moveTo>
                <a:lnTo>
                  <a:pt x="2581655" y="0"/>
                </a:lnTo>
                <a:lnTo>
                  <a:pt x="0" y="0"/>
                </a:lnTo>
                <a:lnTo>
                  <a:pt x="0" y="405383"/>
                </a:lnTo>
                <a:lnTo>
                  <a:pt x="2581655" y="405383"/>
                </a:lnTo>
                <a:close/>
              </a:path>
            </a:pathLst>
          </a:custGeom>
          <a:solidFill>
            <a:srgbClr val="FFF2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970" y="1064767"/>
            <a:ext cx="2359660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50" dirty="0"/>
              <a:t>Total</a:t>
            </a:r>
            <a:r>
              <a:rPr sz="2150" spc="-20" dirty="0"/>
              <a:t> </a:t>
            </a:r>
            <a:r>
              <a:rPr sz="2150" dirty="0"/>
              <a:t>NW</a:t>
            </a:r>
            <a:r>
              <a:rPr sz="2150" spc="-30" dirty="0"/>
              <a:t> </a:t>
            </a:r>
            <a:r>
              <a:rPr sz="2150" spc="-25" dirty="0"/>
              <a:t>Parameters</a:t>
            </a:r>
            <a:endParaRPr sz="2150"/>
          </a:p>
        </p:txBody>
      </p:sp>
      <p:sp>
        <p:nvSpPr>
          <p:cNvPr id="4" name="object 4"/>
          <p:cNvSpPr txBox="1"/>
          <p:nvPr/>
        </p:nvSpPr>
        <p:spPr>
          <a:xfrm>
            <a:off x="5254751" y="1725167"/>
            <a:ext cx="3710940" cy="329565"/>
          </a:xfrm>
          <a:prstGeom prst="rect">
            <a:avLst/>
          </a:prstGeom>
          <a:solidFill>
            <a:srgbClr val="FFF2CC"/>
          </a:solidFill>
        </p:spPr>
        <p:txBody>
          <a:bodyPr vert="horz" wrap="square" lIns="0" tIns="0" rIns="0" bIns="0" rtlCol="0">
            <a:spAutoFit/>
          </a:bodyPr>
          <a:lstStyle/>
          <a:p>
            <a:pPr marL="48260">
              <a:lnSpc>
                <a:spcPts val="2435"/>
              </a:lnSpc>
            </a:pPr>
            <a:r>
              <a:rPr sz="2150" spc="100" dirty="0">
                <a:latin typeface="Cambria"/>
                <a:cs typeface="Cambria"/>
              </a:rPr>
              <a:t>E</a:t>
            </a:r>
            <a:r>
              <a:rPr sz="2150" spc="5" dirty="0">
                <a:latin typeface="Cambria"/>
                <a:cs typeface="Cambria"/>
              </a:rPr>
              <a:t>m</a:t>
            </a:r>
            <a:r>
              <a:rPr sz="2150" spc="-30" dirty="0">
                <a:latin typeface="Cambria"/>
                <a:cs typeface="Cambria"/>
              </a:rPr>
              <a:t>b</a:t>
            </a:r>
            <a:r>
              <a:rPr sz="2150" spc="15" dirty="0">
                <a:latin typeface="Cambria"/>
                <a:cs typeface="Cambria"/>
              </a:rPr>
              <a:t>e</a:t>
            </a:r>
            <a:r>
              <a:rPr sz="2150" spc="50" dirty="0">
                <a:latin typeface="Cambria"/>
                <a:cs typeface="Cambria"/>
              </a:rPr>
              <a:t>dd</a:t>
            </a:r>
            <a:r>
              <a:rPr sz="2150" spc="70" dirty="0">
                <a:latin typeface="Cambria"/>
                <a:cs typeface="Cambria"/>
              </a:rPr>
              <a:t>i</a:t>
            </a:r>
            <a:r>
              <a:rPr sz="2150" spc="30" dirty="0">
                <a:latin typeface="Cambria"/>
                <a:cs typeface="Cambria"/>
              </a:rPr>
              <a:t>n</a:t>
            </a:r>
            <a:r>
              <a:rPr sz="2150" spc="265" dirty="0">
                <a:latin typeface="Cambria"/>
                <a:cs typeface="Cambria"/>
              </a:rPr>
              <a:t>g</a:t>
            </a:r>
            <a:r>
              <a:rPr sz="2150" spc="-5" dirty="0">
                <a:latin typeface="Cambria"/>
                <a:cs typeface="Cambria"/>
              </a:rPr>
              <a:t>:</a:t>
            </a:r>
            <a:r>
              <a:rPr sz="2150" spc="-120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10</a:t>
            </a:r>
            <a:r>
              <a:rPr sz="2150" spc="-5" dirty="0">
                <a:latin typeface="Cambria"/>
                <a:cs typeface="Cambria"/>
              </a:rPr>
              <a:t>0</a:t>
            </a:r>
            <a:r>
              <a:rPr sz="2150" dirty="0">
                <a:latin typeface="Cambria"/>
                <a:cs typeface="Cambria"/>
              </a:rPr>
              <a:t> </a:t>
            </a:r>
            <a:r>
              <a:rPr sz="2150" spc="-5" dirty="0">
                <a:latin typeface="Cambria"/>
                <a:cs typeface="Cambria"/>
              </a:rPr>
              <a:t> </a:t>
            </a:r>
            <a:r>
              <a:rPr sz="2150" spc="340" dirty="0">
                <a:latin typeface="Cambria"/>
                <a:cs typeface="Cambria"/>
              </a:rPr>
              <a:t>×</a:t>
            </a:r>
            <a:r>
              <a:rPr sz="2150" spc="-5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1</a:t>
            </a:r>
            <a:r>
              <a:rPr sz="2150" spc="-5" dirty="0">
                <a:latin typeface="Cambria"/>
                <a:cs typeface="Cambria"/>
              </a:rPr>
              <a:t>0</a:t>
            </a:r>
            <a:r>
              <a:rPr sz="2150" spc="125" dirty="0">
                <a:latin typeface="Cambria"/>
                <a:cs typeface="Cambria"/>
              </a:rPr>
              <a:t> </a:t>
            </a:r>
            <a:r>
              <a:rPr sz="2150" spc="409" dirty="0">
                <a:latin typeface="Cambria"/>
                <a:cs typeface="Cambria"/>
              </a:rPr>
              <a:t>=</a:t>
            </a:r>
            <a:r>
              <a:rPr sz="2150" spc="114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100</a:t>
            </a:r>
            <a:r>
              <a:rPr sz="2150" spc="-5" dirty="0">
                <a:latin typeface="Cambria"/>
                <a:cs typeface="Cambria"/>
              </a:rPr>
              <a:t>0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68467" y="2261616"/>
            <a:ext cx="3065145" cy="329565"/>
          </a:xfrm>
          <a:prstGeom prst="rect">
            <a:avLst/>
          </a:prstGeom>
          <a:solidFill>
            <a:srgbClr val="FFF2CC"/>
          </a:solidFill>
        </p:spPr>
        <p:txBody>
          <a:bodyPr vert="horz" wrap="square" lIns="0" tIns="0" rIns="0" bIns="0" rtlCol="0">
            <a:spAutoFit/>
          </a:bodyPr>
          <a:lstStyle/>
          <a:p>
            <a:pPr marL="45085">
              <a:lnSpc>
                <a:spcPts val="2435"/>
              </a:lnSpc>
            </a:pPr>
            <a:r>
              <a:rPr sz="2150" spc="55" dirty="0">
                <a:latin typeface="Cambria"/>
                <a:cs typeface="Cambria"/>
              </a:rPr>
              <a:t>D</a:t>
            </a:r>
            <a:r>
              <a:rPr sz="2150" spc="15" dirty="0">
                <a:latin typeface="Cambria"/>
                <a:cs typeface="Cambria"/>
              </a:rPr>
              <a:t>e</a:t>
            </a:r>
            <a:r>
              <a:rPr sz="2150" spc="20" dirty="0">
                <a:latin typeface="Cambria"/>
                <a:cs typeface="Cambria"/>
              </a:rPr>
              <a:t>n</a:t>
            </a:r>
            <a:r>
              <a:rPr sz="2150" spc="65" dirty="0">
                <a:latin typeface="Cambria"/>
                <a:cs typeface="Cambria"/>
              </a:rPr>
              <a:t>s</a:t>
            </a:r>
            <a:r>
              <a:rPr sz="2150" spc="40" dirty="0">
                <a:latin typeface="Cambria"/>
                <a:cs typeface="Cambria"/>
              </a:rPr>
              <a:t>e</a:t>
            </a:r>
            <a:r>
              <a:rPr sz="2150" spc="-5" dirty="0">
                <a:latin typeface="Cambria"/>
                <a:cs typeface="Cambria"/>
              </a:rPr>
              <a:t>:</a:t>
            </a:r>
            <a:r>
              <a:rPr sz="2150" spc="-120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6</a:t>
            </a:r>
            <a:r>
              <a:rPr sz="2150" spc="-5" dirty="0">
                <a:latin typeface="Cambria"/>
                <a:cs typeface="Cambria"/>
              </a:rPr>
              <a:t>4</a:t>
            </a:r>
            <a:r>
              <a:rPr sz="2150" dirty="0">
                <a:latin typeface="Cambria"/>
                <a:cs typeface="Cambria"/>
              </a:rPr>
              <a:t> </a:t>
            </a:r>
            <a:r>
              <a:rPr sz="2150" spc="-5" dirty="0">
                <a:latin typeface="Cambria"/>
                <a:cs typeface="Cambria"/>
              </a:rPr>
              <a:t> </a:t>
            </a:r>
            <a:r>
              <a:rPr sz="2150" spc="340" dirty="0">
                <a:latin typeface="Cambria"/>
                <a:cs typeface="Cambria"/>
              </a:rPr>
              <a:t>×</a:t>
            </a:r>
            <a:r>
              <a:rPr sz="2150" spc="5" dirty="0">
                <a:latin typeface="Cambria"/>
                <a:cs typeface="Cambria"/>
              </a:rPr>
              <a:t> </a:t>
            </a:r>
            <a:r>
              <a:rPr sz="2150" spc="-5" dirty="0">
                <a:latin typeface="Cambria"/>
                <a:cs typeface="Cambria"/>
              </a:rPr>
              <a:t>5</a:t>
            </a:r>
            <a:r>
              <a:rPr sz="2150" spc="5" dirty="0">
                <a:latin typeface="Cambria"/>
                <a:cs typeface="Cambria"/>
              </a:rPr>
              <a:t> </a:t>
            </a:r>
            <a:r>
              <a:rPr sz="2150" spc="409" dirty="0">
                <a:latin typeface="Cambria"/>
                <a:cs typeface="Cambria"/>
              </a:rPr>
              <a:t>+</a:t>
            </a:r>
            <a:r>
              <a:rPr sz="2150" spc="-5" dirty="0">
                <a:latin typeface="Cambria"/>
                <a:cs typeface="Cambria"/>
              </a:rPr>
              <a:t> 5</a:t>
            </a:r>
            <a:r>
              <a:rPr sz="2150" spc="110" dirty="0">
                <a:latin typeface="Cambria"/>
                <a:cs typeface="Cambria"/>
              </a:rPr>
              <a:t> </a:t>
            </a:r>
            <a:r>
              <a:rPr sz="2150" spc="409" dirty="0">
                <a:latin typeface="Cambria"/>
                <a:cs typeface="Cambria"/>
              </a:rPr>
              <a:t>=</a:t>
            </a:r>
            <a:r>
              <a:rPr sz="2150" spc="114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32</a:t>
            </a:r>
            <a:r>
              <a:rPr sz="2150" spc="-5" dirty="0">
                <a:latin typeface="Cambria"/>
                <a:cs typeface="Cambria"/>
              </a:rPr>
              <a:t>5</a:t>
            </a:r>
            <a:endParaRPr sz="2150">
              <a:latin typeface="Cambria"/>
              <a:cs typeface="Cambr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14877" y="3206495"/>
            <a:ext cx="5806440" cy="373380"/>
            <a:chOff x="214877" y="3206495"/>
            <a:chExt cx="5806440" cy="373380"/>
          </a:xfrm>
        </p:grpSpPr>
        <p:sp>
          <p:nvSpPr>
            <p:cNvPr id="7" name="object 7"/>
            <p:cNvSpPr/>
            <p:nvPr/>
          </p:nvSpPr>
          <p:spPr>
            <a:xfrm>
              <a:off x="214877" y="3206495"/>
              <a:ext cx="5806440" cy="373380"/>
            </a:xfrm>
            <a:custGeom>
              <a:avLst/>
              <a:gdLst/>
              <a:ahLst/>
              <a:cxnLst/>
              <a:rect l="l" t="t" r="r" b="b"/>
              <a:pathLst>
                <a:path w="5806440" h="373379">
                  <a:moveTo>
                    <a:pt x="5806439" y="373379"/>
                  </a:moveTo>
                  <a:lnTo>
                    <a:pt x="5806439" y="0"/>
                  </a:lnTo>
                  <a:lnTo>
                    <a:pt x="0" y="0"/>
                  </a:lnTo>
                  <a:lnTo>
                    <a:pt x="0" y="373379"/>
                  </a:lnTo>
                  <a:lnTo>
                    <a:pt x="5806439" y="373379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56347" y="3246132"/>
              <a:ext cx="3414395" cy="329565"/>
            </a:xfrm>
            <a:custGeom>
              <a:avLst/>
              <a:gdLst/>
              <a:ahLst/>
              <a:cxnLst/>
              <a:rect l="l" t="t" r="r" b="b"/>
              <a:pathLst>
                <a:path w="3414395" h="329564">
                  <a:moveTo>
                    <a:pt x="89916" y="10668"/>
                  </a:moveTo>
                  <a:lnTo>
                    <a:pt x="86868" y="0"/>
                  </a:lnTo>
                  <a:lnTo>
                    <a:pt x="67437" y="7734"/>
                  </a:lnTo>
                  <a:lnTo>
                    <a:pt x="50266" y="19646"/>
                  </a:lnTo>
                  <a:lnTo>
                    <a:pt x="22860" y="56388"/>
                  </a:lnTo>
                  <a:lnTo>
                    <a:pt x="5715" y="106489"/>
                  </a:lnTo>
                  <a:lnTo>
                    <a:pt x="0" y="164592"/>
                  </a:lnTo>
                  <a:lnTo>
                    <a:pt x="1435" y="195211"/>
                  </a:lnTo>
                  <a:lnTo>
                    <a:pt x="5715" y="223266"/>
                  </a:lnTo>
                  <a:lnTo>
                    <a:pt x="12865" y="249021"/>
                  </a:lnTo>
                  <a:lnTo>
                    <a:pt x="22860" y="272796"/>
                  </a:lnTo>
                  <a:lnTo>
                    <a:pt x="24384" y="275310"/>
                  </a:lnTo>
                  <a:lnTo>
                    <a:pt x="35433" y="293598"/>
                  </a:lnTo>
                  <a:lnTo>
                    <a:pt x="50292" y="310134"/>
                  </a:lnTo>
                  <a:lnTo>
                    <a:pt x="67437" y="322084"/>
                  </a:lnTo>
                  <a:lnTo>
                    <a:pt x="86868" y="329184"/>
                  </a:lnTo>
                  <a:lnTo>
                    <a:pt x="89916" y="318516"/>
                  </a:lnTo>
                  <a:lnTo>
                    <a:pt x="74790" y="310845"/>
                  </a:lnTo>
                  <a:lnTo>
                    <a:pt x="61531" y="299466"/>
                  </a:lnTo>
                  <a:lnTo>
                    <a:pt x="41148" y="266700"/>
                  </a:lnTo>
                  <a:lnTo>
                    <a:pt x="28765" y="220789"/>
                  </a:lnTo>
                  <a:lnTo>
                    <a:pt x="24384" y="164592"/>
                  </a:lnTo>
                  <a:lnTo>
                    <a:pt x="25501" y="136017"/>
                  </a:lnTo>
                  <a:lnTo>
                    <a:pt x="34023" y="85725"/>
                  </a:lnTo>
                  <a:lnTo>
                    <a:pt x="50292" y="45351"/>
                  </a:lnTo>
                  <a:lnTo>
                    <a:pt x="74790" y="18999"/>
                  </a:lnTo>
                  <a:lnTo>
                    <a:pt x="89916" y="10668"/>
                  </a:lnTo>
                  <a:close/>
                </a:path>
                <a:path w="3414395" h="329564">
                  <a:moveTo>
                    <a:pt x="207276" y="48768"/>
                  </a:moveTo>
                  <a:lnTo>
                    <a:pt x="204228" y="38100"/>
                  </a:lnTo>
                  <a:lnTo>
                    <a:pt x="185928" y="44996"/>
                  </a:lnTo>
                  <a:lnTo>
                    <a:pt x="169926" y="54483"/>
                  </a:lnTo>
                  <a:lnTo>
                    <a:pt x="135013" y="100291"/>
                  </a:lnTo>
                  <a:lnTo>
                    <a:pt x="124637" y="141439"/>
                  </a:lnTo>
                  <a:lnTo>
                    <a:pt x="123444" y="164592"/>
                  </a:lnTo>
                  <a:lnTo>
                    <a:pt x="124637" y="187731"/>
                  </a:lnTo>
                  <a:lnTo>
                    <a:pt x="128397" y="209169"/>
                  </a:lnTo>
                  <a:lnTo>
                    <a:pt x="135013" y="228879"/>
                  </a:lnTo>
                  <a:lnTo>
                    <a:pt x="144780" y="246888"/>
                  </a:lnTo>
                  <a:lnTo>
                    <a:pt x="146304" y="248945"/>
                  </a:lnTo>
                  <a:lnTo>
                    <a:pt x="156210" y="262356"/>
                  </a:lnTo>
                  <a:lnTo>
                    <a:pt x="169926" y="274701"/>
                  </a:lnTo>
                  <a:lnTo>
                    <a:pt x="185928" y="284175"/>
                  </a:lnTo>
                  <a:lnTo>
                    <a:pt x="204228" y="291084"/>
                  </a:lnTo>
                  <a:lnTo>
                    <a:pt x="207276" y="280416"/>
                  </a:lnTo>
                  <a:lnTo>
                    <a:pt x="192405" y="274434"/>
                  </a:lnTo>
                  <a:lnTo>
                    <a:pt x="179832" y="265747"/>
                  </a:lnTo>
                  <a:lnTo>
                    <a:pt x="154660" y="224142"/>
                  </a:lnTo>
                  <a:lnTo>
                    <a:pt x="147180" y="185712"/>
                  </a:lnTo>
                  <a:lnTo>
                    <a:pt x="146304" y="163068"/>
                  </a:lnTo>
                  <a:lnTo>
                    <a:pt x="147180" y="141960"/>
                  </a:lnTo>
                  <a:lnTo>
                    <a:pt x="154660" y="104343"/>
                  </a:lnTo>
                  <a:lnTo>
                    <a:pt x="180403" y="63436"/>
                  </a:lnTo>
                  <a:lnTo>
                    <a:pt x="193052" y="54737"/>
                  </a:lnTo>
                  <a:lnTo>
                    <a:pt x="207276" y="48768"/>
                  </a:lnTo>
                  <a:close/>
                </a:path>
                <a:path w="3414395" h="329564">
                  <a:moveTo>
                    <a:pt x="1069860" y="164592"/>
                  </a:moveTo>
                  <a:lnTo>
                    <a:pt x="1064336" y="120015"/>
                  </a:lnTo>
                  <a:lnTo>
                    <a:pt x="1048524" y="82296"/>
                  </a:lnTo>
                  <a:lnTo>
                    <a:pt x="1007376" y="44996"/>
                  </a:lnTo>
                  <a:lnTo>
                    <a:pt x="989088" y="38100"/>
                  </a:lnTo>
                  <a:lnTo>
                    <a:pt x="984516" y="48768"/>
                  </a:lnTo>
                  <a:lnTo>
                    <a:pt x="999388" y="54737"/>
                  </a:lnTo>
                  <a:lnTo>
                    <a:pt x="1012139" y="63436"/>
                  </a:lnTo>
                  <a:lnTo>
                    <a:pt x="1037996" y="104343"/>
                  </a:lnTo>
                  <a:lnTo>
                    <a:pt x="1045895" y="141960"/>
                  </a:lnTo>
                  <a:lnTo>
                    <a:pt x="1047000" y="163068"/>
                  </a:lnTo>
                  <a:lnTo>
                    <a:pt x="1045895" y="185712"/>
                  </a:lnTo>
                  <a:lnTo>
                    <a:pt x="1037996" y="224142"/>
                  </a:lnTo>
                  <a:lnTo>
                    <a:pt x="1012329" y="265747"/>
                  </a:lnTo>
                  <a:lnTo>
                    <a:pt x="986040" y="280416"/>
                  </a:lnTo>
                  <a:lnTo>
                    <a:pt x="989088" y="291084"/>
                  </a:lnTo>
                  <a:lnTo>
                    <a:pt x="1007376" y="284175"/>
                  </a:lnTo>
                  <a:lnTo>
                    <a:pt x="1023378" y="274701"/>
                  </a:lnTo>
                  <a:lnTo>
                    <a:pt x="1037094" y="262356"/>
                  </a:lnTo>
                  <a:lnTo>
                    <a:pt x="1047000" y="248945"/>
                  </a:lnTo>
                  <a:lnTo>
                    <a:pt x="1048524" y="246888"/>
                  </a:lnTo>
                  <a:lnTo>
                    <a:pt x="1057643" y="228879"/>
                  </a:lnTo>
                  <a:lnTo>
                    <a:pt x="1064336" y="209169"/>
                  </a:lnTo>
                  <a:lnTo>
                    <a:pt x="1068451" y="187731"/>
                  </a:lnTo>
                  <a:lnTo>
                    <a:pt x="1069860" y="164592"/>
                  </a:lnTo>
                  <a:close/>
                </a:path>
                <a:path w="3414395" h="329564">
                  <a:moveTo>
                    <a:pt x="1525536" y="48768"/>
                  </a:moveTo>
                  <a:lnTo>
                    <a:pt x="1522488" y="38100"/>
                  </a:lnTo>
                  <a:lnTo>
                    <a:pt x="1504200" y="44996"/>
                  </a:lnTo>
                  <a:lnTo>
                    <a:pt x="1488198" y="54483"/>
                  </a:lnTo>
                  <a:lnTo>
                    <a:pt x="1453286" y="100291"/>
                  </a:lnTo>
                  <a:lnTo>
                    <a:pt x="1442897" y="141439"/>
                  </a:lnTo>
                  <a:lnTo>
                    <a:pt x="1441716" y="164592"/>
                  </a:lnTo>
                  <a:lnTo>
                    <a:pt x="1442897" y="187731"/>
                  </a:lnTo>
                  <a:lnTo>
                    <a:pt x="1446669" y="209169"/>
                  </a:lnTo>
                  <a:lnTo>
                    <a:pt x="1453286" y="228879"/>
                  </a:lnTo>
                  <a:lnTo>
                    <a:pt x="1463052" y="246888"/>
                  </a:lnTo>
                  <a:lnTo>
                    <a:pt x="1464576" y="248945"/>
                  </a:lnTo>
                  <a:lnTo>
                    <a:pt x="1474482" y="262356"/>
                  </a:lnTo>
                  <a:lnTo>
                    <a:pt x="1488198" y="274701"/>
                  </a:lnTo>
                  <a:lnTo>
                    <a:pt x="1504200" y="284175"/>
                  </a:lnTo>
                  <a:lnTo>
                    <a:pt x="1522488" y="291084"/>
                  </a:lnTo>
                  <a:lnTo>
                    <a:pt x="1525536" y="280416"/>
                  </a:lnTo>
                  <a:lnTo>
                    <a:pt x="1510677" y="274434"/>
                  </a:lnTo>
                  <a:lnTo>
                    <a:pt x="1498104" y="265747"/>
                  </a:lnTo>
                  <a:lnTo>
                    <a:pt x="1472933" y="224142"/>
                  </a:lnTo>
                  <a:lnTo>
                    <a:pt x="1465453" y="185712"/>
                  </a:lnTo>
                  <a:lnTo>
                    <a:pt x="1464576" y="163068"/>
                  </a:lnTo>
                  <a:lnTo>
                    <a:pt x="1465453" y="141960"/>
                  </a:lnTo>
                  <a:lnTo>
                    <a:pt x="1472933" y="104343"/>
                  </a:lnTo>
                  <a:lnTo>
                    <a:pt x="1498676" y="63436"/>
                  </a:lnTo>
                  <a:lnTo>
                    <a:pt x="1511312" y="54737"/>
                  </a:lnTo>
                  <a:lnTo>
                    <a:pt x="1525536" y="48768"/>
                  </a:lnTo>
                  <a:close/>
                </a:path>
                <a:path w="3414395" h="329564">
                  <a:moveTo>
                    <a:pt x="2237244" y="164592"/>
                  </a:moveTo>
                  <a:lnTo>
                    <a:pt x="2231720" y="120015"/>
                  </a:lnTo>
                  <a:lnTo>
                    <a:pt x="2215908" y="82296"/>
                  </a:lnTo>
                  <a:lnTo>
                    <a:pt x="2174760" y="44996"/>
                  </a:lnTo>
                  <a:lnTo>
                    <a:pt x="2156472" y="38100"/>
                  </a:lnTo>
                  <a:lnTo>
                    <a:pt x="2151900" y="48768"/>
                  </a:lnTo>
                  <a:lnTo>
                    <a:pt x="2166772" y="54737"/>
                  </a:lnTo>
                  <a:lnTo>
                    <a:pt x="2179523" y="63436"/>
                  </a:lnTo>
                  <a:lnTo>
                    <a:pt x="2205380" y="104343"/>
                  </a:lnTo>
                  <a:lnTo>
                    <a:pt x="2213279" y="141960"/>
                  </a:lnTo>
                  <a:lnTo>
                    <a:pt x="2214384" y="163068"/>
                  </a:lnTo>
                  <a:lnTo>
                    <a:pt x="2213279" y="185712"/>
                  </a:lnTo>
                  <a:lnTo>
                    <a:pt x="2205380" y="224142"/>
                  </a:lnTo>
                  <a:lnTo>
                    <a:pt x="2179713" y="265747"/>
                  </a:lnTo>
                  <a:lnTo>
                    <a:pt x="2153424" y="280416"/>
                  </a:lnTo>
                  <a:lnTo>
                    <a:pt x="2156472" y="291084"/>
                  </a:lnTo>
                  <a:lnTo>
                    <a:pt x="2174760" y="284175"/>
                  </a:lnTo>
                  <a:lnTo>
                    <a:pt x="2190762" y="274701"/>
                  </a:lnTo>
                  <a:lnTo>
                    <a:pt x="2204478" y="262356"/>
                  </a:lnTo>
                  <a:lnTo>
                    <a:pt x="2214384" y="248945"/>
                  </a:lnTo>
                  <a:lnTo>
                    <a:pt x="2215908" y="246888"/>
                  </a:lnTo>
                  <a:lnTo>
                    <a:pt x="2225027" y="228879"/>
                  </a:lnTo>
                  <a:lnTo>
                    <a:pt x="2231720" y="209169"/>
                  </a:lnTo>
                  <a:lnTo>
                    <a:pt x="2235835" y="187731"/>
                  </a:lnTo>
                  <a:lnTo>
                    <a:pt x="2237244" y="164592"/>
                  </a:lnTo>
                  <a:close/>
                </a:path>
                <a:path w="3414395" h="329564">
                  <a:moveTo>
                    <a:pt x="3413772" y="164592"/>
                  </a:moveTo>
                  <a:lnTo>
                    <a:pt x="3408057" y="106489"/>
                  </a:lnTo>
                  <a:lnTo>
                    <a:pt x="3390912" y="56388"/>
                  </a:lnTo>
                  <a:lnTo>
                    <a:pt x="3363480" y="19621"/>
                  </a:lnTo>
                  <a:lnTo>
                    <a:pt x="3326904" y="0"/>
                  </a:lnTo>
                  <a:lnTo>
                    <a:pt x="3323856" y="10668"/>
                  </a:lnTo>
                  <a:lnTo>
                    <a:pt x="3338969" y="18999"/>
                  </a:lnTo>
                  <a:lnTo>
                    <a:pt x="3352241" y="30480"/>
                  </a:lnTo>
                  <a:lnTo>
                    <a:pt x="3372624" y="64008"/>
                  </a:lnTo>
                  <a:lnTo>
                    <a:pt x="3385007" y="109728"/>
                  </a:lnTo>
                  <a:lnTo>
                    <a:pt x="3389388" y="164592"/>
                  </a:lnTo>
                  <a:lnTo>
                    <a:pt x="3388258" y="194043"/>
                  </a:lnTo>
                  <a:lnTo>
                    <a:pt x="3379736" y="244957"/>
                  </a:lnTo>
                  <a:lnTo>
                    <a:pt x="3363480" y="284683"/>
                  </a:lnTo>
                  <a:lnTo>
                    <a:pt x="3323856" y="318516"/>
                  </a:lnTo>
                  <a:lnTo>
                    <a:pt x="3326904" y="329184"/>
                  </a:lnTo>
                  <a:lnTo>
                    <a:pt x="3346335" y="322084"/>
                  </a:lnTo>
                  <a:lnTo>
                    <a:pt x="3363493" y="310095"/>
                  </a:lnTo>
                  <a:lnTo>
                    <a:pt x="3378339" y="293598"/>
                  </a:lnTo>
                  <a:lnTo>
                    <a:pt x="3389388" y="275310"/>
                  </a:lnTo>
                  <a:lnTo>
                    <a:pt x="3390912" y="272796"/>
                  </a:lnTo>
                  <a:lnTo>
                    <a:pt x="3400907" y="249021"/>
                  </a:lnTo>
                  <a:lnTo>
                    <a:pt x="3408057" y="223266"/>
                  </a:lnTo>
                  <a:lnTo>
                    <a:pt x="3412337" y="195211"/>
                  </a:lnTo>
                  <a:lnTo>
                    <a:pt x="3413772" y="1645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14877" y="3206495"/>
            <a:ext cx="5806440" cy="373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70"/>
              </a:spcBef>
              <a:tabLst>
                <a:tab pos="1353185" algn="l"/>
                <a:tab pos="2294890" algn="l"/>
                <a:tab pos="2671445" algn="l"/>
                <a:tab pos="3462020" algn="l"/>
                <a:tab pos="4834890" algn="l"/>
                <a:tab pos="5293995" algn="l"/>
              </a:tabLst>
            </a:pPr>
            <a:r>
              <a:rPr sz="2150" spc="20" dirty="0">
                <a:latin typeface="Cambria"/>
                <a:cs typeface="Cambria"/>
              </a:rPr>
              <a:t>LSTM_1:	</a:t>
            </a:r>
            <a:r>
              <a:rPr sz="2150" spc="-5" dirty="0">
                <a:latin typeface="Cambria"/>
                <a:cs typeface="Cambria"/>
              </a:rPr>
              <a:t>5</a:t>
            </a:r>
            <a:r>
              <a:rPr sz="2150" spc="-10" dirty="0">
                <a:latin typeface="Cambria"/>
                <a:cs typeface="Cambria"/>
              </a:rPr>
              <a:t> </a:t>
            </a:r>
            <a:r>
              <a:rPr sz="2150" spc="340" dirty="0">
                <a:latin typeface="Cambria"/>
                <a:cs typeface="Cambria"/>
              </a:rPr>
              <a:t>×</a:t>
            </a:r>
            <a:r>
              <a:rPr sz="2150" spc="5" dirty="0">
                <a:latin typeface="Cambria"/>
                <a:cs typeface="Cambria"/>
              </a:rPr>
              <a:t> </a:t>
            </a:r>
            <a:r>
              <a:rPr sz="2150" spc="-5" dirty="0">
                <a:latin typeface="Cambria"/>
                <a:cs typeface="Cambria"/>
              </a:rPr>
              <a:t>10	</a:t>
            </a:r>
            <a:r>
              <a:rPr sz="2150" spc="409" dirty="0">
                <a:latin typeface="Cambria"/>
                <a:cs typeface="Cambria"/>
              </a:rPr>
              <a:t>+	</a:t>
            </a:r>
            <a:r>
              <a:rPr sz="2150" spc="-5" dirty="0">
                <a:latin typeface="Cambria"/>
                <a:cs typeface="Cambria"/>
              </a:rPr>
              <a:t>5 </a:t>
            </a:r>
            <a:r>
              <a:rPr sz="2150" spc="340" dirty="0">
                <a:latin typeface="Cambria"/>
                <a:cs typeface="Cambria"/>
              </a:rPr>
              <a:t>×</a:t>
            </a:r>
            <a:r>
              <a:rPr sz="2150" spc="5" dirty="0">
                <a:latin typeface="Cambria"/>
                <a:cs typeface="Cambria"/>
              </a:rPr>
              <a:t> </a:t>
            </a:r>
            <a:r>
              <a:rPr sz="2150" spc="-5" dirty="0">
                <a:latin typeface="Cambria"/>
                <a:cs typeface="Cambria"/>
              </a:rPr>
              <a:t>5	</a:t>
            </a:r>
            <a:r>
              <a:rPr sz="2150" spc="409" dirty="0">
                <a:latin typeface="Cambria"/>
                <a:cs typeface="Cambria"/>
              </a:rPr>
              <a:t>+</a:t>
            </a:r>
            <a:r>
              <a:rPr sz="2150" dirty="0">
                <a:latin typeface="Cambria"/>
                <a:cs typeface="Cambria"/>
              </a:rPr>
              <a:t> </a:t>
            </a:r>
            <a:r>
              <a:rPr sz="2150" spc="30" dirty="0">
                <a:latin typeface="Cambria"/>
                <a:cs typeface="Cambria"/>
              </a:rPr>
              <a:t>5)</a:t>
            </a:r>
            <a:r>
              <a:rPr sz="2150" spc="-5" dirty="0">
                <a:latin typeface="Cambria"/>
                <a:cs typeface="Cambria"/>
              </a:rPr>
              <a:t> </a:t>
            </a:r>
            <a:r>
              <a:rPr sz="2150" spc="340" dirty="0">
                <a:latin typeface="Cambria"/>
                <a:cs typeface="Cambria"/>
              </a:rPr>
              <a:t>×</a:t>
            </a:r>
            <a:r>
              <a:rPr sz="2150" spc="5" dirty="0">
                <a:latin typeface="Cambria"/>
                <a:cs typeface="Cambria"/>
              </a:rPr>
              <a:t> </a:t>
            </a:r>
            <a:r>
              <a:rPr sz="2150" spc="-5" dirty="0">
                <a:latin typeface="Cambria"/>
                <a:cs typeface="Cambria"/>
              </a:rPr>
              <a:t>4	</a:t>
            </a:r>
            <a:r>
              <a:rPr sz="2150" spc="409" dirty="0">
                <a:latin typeface="Cambria"/>
                <a:cs typeface="Cambria"/>
              </a:rPr>
              <a:t>=	</a:t>
            </a:r>
            <a:r>
              <a:rPr sz="2150" spc="-5" dirty="0">
                <a:latin typeface="Cambria"/>
                <a:cs typeface="Cambria"/>
              </a:rPr>
              <a:t>320</a:t>
            </a:r>
            <a:endParaRPr sz="215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92017" y="1652016"/>
            <a:ext cx="3686810" cy="1219200"/>
            <a:chOff x="192017" y="1652016"/>
            <a:chExt cx="3686810" cy="121920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4877" y="1674875"/>
              <a:ext cx="3466275" cy="117195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92017" y="1652016"/>
              <a:ext cx="3686810" cy="1219200"/>
            </a:xfrm>
            <a:custGeom>
              <a:avLst/>
              <a:gdLst/>
              <a:ahLst/>
              <a:cxnLst/>
              <a:rect l="l" t="t" r="r" b="b"/>
              <a:pathLst>
                <a:path w="3686810" h="1219200">
                  <a:moveTo>
                    <a:pt x="3686562" y="1213104"/>
                  </a:moveTo>
                  <a:lnTo>
                    <a:pt x="3686562" y="4572"/>
                  </a:lnTo>
                  <a:lnTo>
                    <a:pt x="3681990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1213104"/>
                  </a:lnTo>
                  <a:lnTo>
                    <a:pt x="4572" y="1219200"/>
                  </a:lnTo>
                  <a:lnTo>
                    <a:pt x="10668" y="1219200"/>
                  </a:lnTo>
                  <a:lnTo>
                    <a:pt x="10668" y="22860"/>
                  </a:lnTo>
                  <a:lnTo>
                    <a:pt x="22860" y="10668"/>
                  </a:lnTo>
                  <a:lnTo>
                    <a:pt x="22860" y="22860"/>
                  </a:lnTo>
                  <a:lnTo>
                    <a:pt x="3663702" y="22860"/>
                  </a:lnTo>
                  <a:lnTo>
                    <a:pt x="3663702" y="10668"/>
                  </a:lnTo>
                  <a:lnTo>
                    <a:pt x="3675894" y="22860"/>
                  </a:lnTo>
                  <a:lnTo>
                    <a:pt x="3675894" y="1219200"/>
                  </a:lnTo>
                  <a:lnTo>
                    <a:pt x="3681990" y="1219200"/>
                  </a:lnTo>
                  <a:lnTo>
                    <a:pt x="3686562" y="1213104"/>
                  </a:lnTo>
                  <a:close/>
                </a:path>
                <a:path w="3686810" h="1219200">
                  <a:moveTo>
                    <a:pt x="22860" y="22860"/>
                  </a:moveTo>
                  <a:lnTo>
                    <a:pt x="22860" y="10668"/>
                  </a:lnTo>
                  <a:lnTo>
                    <a:pt x="10668" y="22860"/>
                  </a:lnTo>
                  <a:lnTo>
                    <a:pt x="22860" y="22860"/>
                  </a:lnTo>
                  <a:close/>
                </a:path>
                <a:path w="3686810" h="1219200">
                  <a:moveTo>
                    <a:pt x="22860" y="1194816"/>
                  </a:moveTo>
                  <a:lnTo>
                    <a:pt x="22860" y="22860"/>
                  </a:lnTo>
                  <a:lnTo>
                    <a:pt x="10668" y="22860"/>
                  </a:lnTo>
                  <a:lnTo>
                    <a:pt x="10668" y="1194816"/>
                  </a:lnTo>
                  <a:lnTo>
                    <a:pt x="22860" y="1194816"/>
                  </a:lnTo>
                  <a:close/>
                </a:path>
                <a:path w="3686810" h="1219200">
                  <a:moveTo>
                    <a:pt x="3675894" y="1194816"/>
                  </a:moveTo>
                  <a:lnTo>
                    <a:pt x="10668" y="1194816"/>
                  </a:lnTo>
                  <a:lnTo>
                    <a:pt x="22860" y="1207008"/>
                  </a:lnTo>
                  <a:lnTo>
                    <a:pt x="22860" y="1219200"/>
                  </a:lnTo>
                  <a:lnTo>
                    <a:pt x="3663702" y="1219200"/>
                  </a:lnTo>
                  <a:lnTo>
                    <a:pt x="3663702" y="1207008"/>
                  </a:lnTo>
                  <a:lnTo>
                    <a:pt x="3675894" y="1194816"/>
                  </a:lnTo>
                  <a:close/>
                </a:path>
                <a:path w="3686810" h="1219200">
                  <a:moveTo>
                    <a:pt x="22860" y="1219200"/>
                  </a:moveTo>
                  <a:lnTo>
                    <a:pt x="22860" y="1207008"/>
                  </a:lnTo>
                  <a:lnTo>
                    <a:pt x="10668" y="1194816"/>
                  </a:lnTo>
                  <a:lnTo>
                    <a:pt x="10668" y="1219200"/>
                  </a:lnTo>
                  <a:lnTo>
                    <a:pt x="22860" y="1219200"/>
                  </a:lnTo>
                  <a:close/>
                </a:path>
                <a:path w="3686810" h="1219200">
                  <a:moveTo>
                    <a:pt x="3675894" y="22860"/>
                  </a:moveTo>
                  <a:lnTo>
                    <a:pt x="3663702" y="10668"/>
                  </a:lnTo>
                  <a:lnTo>
                    <a:pt x="3663702" y="22860"/>
                  </a:lnTo>
                  <a:lnTo>
                    <a:pt x="3675894" y="22860"/>
                  </a:lnTo>
                  <a:close/>
                </a:path>
                <a:path w="3686810" h="1219200">
                  <a:moveTo>
                    <a:pt x="3675894" y="1194816"/>
                  </a:moveTo>
                  <a:lnTo>
                    <a:pt x="3675894" y="22860"/>
                  </a:lnTo>
                  <a:lnTo>
                    <a:pt x="3663702" y="22860"/>
                  </a:lnTo>
                  <a:lnTo>
                    <a:pt x="3663702" y="1194816"/>
                  </a:lnTo>
                  <a:lnTo>
                    <a:pt x="3675894" y="1194816"/>
                  </a:lnTo>
                  <a:close/>
                </a:path>
                <a:path w="3686810" h="1219200">
                  <a:moveTo>
                    <a:pt x="3675894" y="1219200"/>
                  </a:moveTo>
                  <a:lnTo>
                    <a:pt x="3675894" y="1194816"/>
                  </a:lnTo>
                  <a:lnTo>
                    <a:pt x="3663702" y="1207008"/>
                  </a:lnTo>
                  <a:lnTo>
                    <a:pt x="3663702" y="1219200"/>
                  </a:lnTo>
                  <a:lnTo>
                    <a:pt x="3675894" y="121920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214877" y="4009644"/>
            <a:ext cx="6623684" cy="372110"/>
            <a:chOff x="214877" y="4009644"/>
            <a:chExt cx="6623684" cy="372110"/>
          </a:xfrm>
        </p:grpSpPr>
        <p:sp>
          <p:nvSpPr>
            <p:cNvPr id="14" name="object 14"/>
            <p:cNvSpPr/>
            <p:nvPr/>
          </p:nvSpPr>
          <p:spPr>
            <a:xfrm>
              <a:off x="214877" y="4009644"/>
              <a:ext cx="6623684" cy="372110"/>
            </a:xfrm>
            <a:custGeom>
              <a:avLst/>
              <a:gdLst/>
              <a:ahLst/>
              <a:cxnLst/>
              <a:rect l="l" t="t" r="r" b="b"/>
              <a:pathLst>
                <a:path w="6623684" h="372110">
                  <a:moveTo>
                    <a:pt x="6623303" y="371855"/>
                  </a:moveTo>
                  <a:lnTo>
                    <a:pt x="6623303" y="0"/>
                  </a:lnTo>
                  <a:lnTo>
                    <a:pt x="0" y="0"/>
                  </a:lnTo>
                  <a:lnTo>
                    <a:pt x="0" y="371855"/>
                  </a:lnTo>
                  <a:lnTo>
                    <a:pt x="6623303" y="371855"/>
                  </a:lnTo>
                  <a:close/>
                </a:path>
              </a:pathLst>
            </a:custGeom>
            <a:solidFill>
              <a:srgbClr val="FFF2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60919" y="4049280"/>
              <a:ext cx="3865245" cy="329565"/>
            </a:xfrm>
            <a:custGeom>
              <a:avLst/>
              <a:gdLst/>
              <a:ahLst/>
              <a:cxnLst/>
              <a:rect l="l" t="t" r="r" b="b"/>
              <a:pathLst>
                <a:path w="3865245" h="329564">
                  <a:moveTo>
                    <a:pt x="89916" y="10668"/>
                  </a:moveTo>
                  <a:lnTo>
                    <a:pt x="86868" y="0"/>
                  </a:lnTo>
                  <a:lnTo>
                    <a:pt x="67437" y="7086"/>
                  </a:lnTo>
                  <a:lnTo>
                    <a:pt x="50266" y="19075"/>
                  </a:lnTo>
                  <a:lnTo>
                    <a:pt x="22860" y="56388"/>
                  </a:lnTo>
                  <a:lnTo>
                    <a:pt x="5715" y="105918"/>
                  </a:lnTo>
                  <a:lnTo>
                    <a:pt x="0" y="164592"/>
                  </a:lnTo>
                  <a:lnTo>
                    <a:pt x="1435" y="194564"/>
                  </a:lnTo>
                  <a:lnTo>
                    <a:pt x="5715" y="222694"/>
                  </a:lnTo>
                  <a:lnTo>
                    <a:pt x="12865" y="248805"/>
                  </a:lnTo>
                  <a:lnTo>
                    <a:pt x="22860" y="272796"/>
                  </a:lnTo>
                  <a:lnTo>
                    <a:pt x="24384" y="275285"/>
                  </a:lnTo>
                  <a:lnTo>
                    <a:pt x="35433" y="293382"/>
                  </a:lnTo>
                  <a:lnTo>
                    <a:pt x="50292" y="309562"/>
                  </a:lnTo>
                  <a:lnTo>
                    <a:pt x="67437" y="321437"/>
                  </a:lnTo>
                  <a:lnTo>
                    <a:pt x="86868" y="329184"/>
                  </a:lnTo>
                  <a:lnTo>
                    <a:pt x="89916" y="318516"/>
                  </a:lnTo>
                  <a:lnTo>
                    <a:pt x="74790" y="310172"/>
                  </a:lnTo>
                  <a:lnTo>
                    <a:pt x="61531" y="298704"/>
                  </a:lnTo>
                  <a:lnTo>
                    <a:pt x="41148" y="265176"/>
                  </a:lnTo>
                  <a:lnTo>
                    <a:pt x="28765" y="219456"/>
                  </a:lnTo>
                  <a:lnTo>
                    <a:pt x="24384" y="164592"/>
                  </a:lnTo>
                  <a:lnTo>
                    <a:pt x="25501" y="135128"/>
                  </a:lnTo>
                  <a:lnTo>
                    <a:pt x="34023" y="84213"/>
                  </a:lnTo>
                  <a:lnTo>
                    <a:pt x="50292" y="44488"/>
                  </a:lnTo>
                  <a:lnTo>
                    <a:pt x="74790" y="18326"/>
                  </a:lnTo>
                  <a:lnTo>
                    <a:pt x="89916" y="10668"/>
                  </a:lnTo>
                  <a:close/>
                </a:path>
                <a:path w="3865245" h="329564">
                  <a:moveTo>
                    <a:pt x="205752" y="47244"/>
                  </a:moveTo>
                  <a:lnTo>
                    <a:pt x="202704" y="38100"/>
                  </a:lnTo>
                  <a:lnTo>
                    <a:pt x="184404" y="44361"/>
                  </a:lnTo>
                  <a:lnTo>
                    <a:pt x="168402" y="53911"/>
                  </a:lnTo>
                  <a:lnTo>
                    <a:pt x="133489" y="99415"/>
                  </a:lnTo>
                  <a:lnTo>
                    <a:pt x="123113" y="139941"/>
                  </a:lnTo>
                  <a:lnTo>
                    <a:pt x="121920" y="163068"/>
                  </a:lnTo>
                  <a:lnTo>
                    <a:pt x="123113" y="187071"/>
                  </a:lnTo>
                  <a:lnTo>
                    <a:pt x="126873" y="208788"/>
                  </a:lnTo>
                  <a:lnTo>
                    <a:pt x="133489" y="228219"/>
                  </a:lnTo>
                  <a:lnTo>
                    <a:pt x="143256" y="245364"/>
                  </a:lnTo>
                  <a:lnTo>
                    <a:pt x="144780" y="247446"/>
                  </a:lnTo>
                  <a:lnTo>
                    <a:pt x="154686" y="261048"/>
                  </a:lnTo>
                  <a:lnTo>
                    <a:pt x="168402" y="273748"/>
                  </a:lnTo>
                  <a:lnTo>
                    <a:pt x="184404" y="283286"/>
                  </a:lnTo>
                  <a:lnTo>
                    <a:pt x="202704" y="289560"/>
                  </a:lnTo>
                  <a:lnTo>
                    <a:pt x="205752" y="280416"/>
                  </a:lnTo>
                  <a:lnTo>
                    <a:pt x="190881" y="273558"/>
                  </a:lnTo>
                  <a:lnTo>
                    <a:pt x="178308" y="264414"/>
                  </a:lnTo>
                  <a:lnTo>
                    <a:pt x="153136" y="223278"/>
                  </a:lnTo>
                  <a:lnTo>
                    <a:pt x="145656" y="185039"/>
                  </a:lnTo>
                  <a:lnTo>
                    <a:pt x="144780" y="163068"/>
                  </a:lnTo>
                  <a:lnTo>
                    <a:pt x="145656" y="141325"/>
                  </a:lnTo>
                  <a:lnTo>
                    <a:pt x="160020" y="88392"/>
                  </a:lnTo>
                  <a:lnTo>
                    <a:pt x="191528" y="53886"/>
                  </a:lnTo>
                  <a:lnTo>
                    <a:pt x="205752" y="47244"/>
                  </a:lnTo>
                  <a:close/>
                </a:path>
                <a:path w="3865245" h="329564">
                  <a:moveTo>
                    <a:pt x="1069860" y="163068"/>
                  </a:moveTo>
                  <a:lnTo>
                    <a:pt x="1064336" y="118681"/>
                  </a:lnTo>
                  <a:lnTo>
                    <a:pt x="1048524" y="82296"/>
                  </a:lnTo>
                  <a:lnTo>
                    <a:pt x="1007376" y="44361"/>
                  </a:lnTo>
                  <a:lnTo>
                    <a:pt x="989088" y="38100"/>
                  </a:lnTo>
                  <a:lnTo>
                    <a:pt x="984516" y="47244"/>
                  </a:lnTo>
                  <a:lnTo>
                    <a:pt x="999388" y="53886"/>
                  </a:lnTo>
                  <a:lnTo>
                    <a:pt x="1012139" y="62674"/>
                  </a:lnTo>
                  <a:lnTo>
                    <a:pt x="1037996" y="104127"/>
                  </a:lnTo>
                  <a:lnTo>
                    <a:pt x="1047000" y="163068"/>
                  </a:lnTo>
                  <a:lnTo>
                    <a:pt x="1045895" y="185039"/>
                  </a:lnTo>
                  <a:lnTo>
                    <a:pt x="1037996" y="223278"/>
                  </a:lnTo>
                  <a:lnTo>
                    <a:pt x="1012329" y="264414"/>
                  </a:lnTo>
                  <a:lnTo>
                    <a:pt x="986040" y="280416"/>
                  </a:lnTo>
                  <a:lnTo>
                    <a:pt x="989088" y="289560"/>
                  </a:lnTo>
                  <a:lnTo>
                    <a:pt x="1007376" y="283286"/>
                  </a:lnTo>
                  <a:lnTo>
                    <a:pt x="1023378" y="273748"/>
                  </a:lnTo>
                  <a:lnTo>
                    <a:pt x="1037094" y="261048"/>
                  </a:lnTo>
                  <a:lnTo>
                    <a:pt x="1047000" y="247446"/>
                  </a:lnTo>
                  <a:lnTo>
                    <a:pt x="1048524" y="245364"/>
                  </a:lnTo>
                  <a:lnTo>
                    <a:pt x="1057643" y="228219"/>
                  </a:lnTo>
                  <a:lnTo>
                    <a:pt x="1064336" y="208788"/>
                  </a:lnTo>
                  <a:lnTo>
                    <a:pt x="1068451" y="187071"/>
                  </a:lnTo>
                  <a:lnTo>
                    <a:pt x="1069860" y="163068"/>
                  </a:lnTo>
                  <a:close/>
                </a:path>
                <a:path w="3865245" h="329564">
                  <a:moveTo>
                    <a:pt x="1524012" y="47244"/>
                  </a:moveTo>
                  <a:lnTo>
                    <a:pt x="1520964" y="38100"/>
                  </a:lnTo>
                  <a:lnTo>
                    <a:pt x="1502676" y="44361"/>
                  </a:lnTo>
                  <a:lnTo>
                    <a:pt x="1486674" y="53911"/>
                  </a:lnTo>
                  <a:lnTo>
                    <a:pt x="1451762" y="99415"/>
                  </a:lnTo>
                  <a:lnTo>
                    <a:pt x="1441373" y="139941"/>
                  </a:lnTo>
                  <a:lnTo>
                    <a:pt x="1440192" y="163068"/>
                  </a:lnTo>
                  <a:lnTo>
                    <a:pt x="1441373" y="187071"/>
                  </a:lnTo>
                  <a:lnTo>
                    <a:pt x="1445145" y="208788"/>
                  </a:lnTo>
                  <a:lnTo>
                    <a:pt x="1451762" y="228219"/>
                  </a:lnTo>
                  <a:lnTo>
                    <a:pt x="1461528" y="245364"/>
                  </a:lnTo>
                  <a:lnTo>
                    <a:pt x="1463052" y="247446"/>
                  </a:lnTo>
                  <a:lnTo>
                    <a:pt x="1472958" y="261048"/>
                  </a:lnTo>
                  <a:lnTo>
                    <a:pt x="1486674" y="273748"/>
                  </a:lnTo>
                  <a:lnTo>
                    <a:pt x="1502676" y="283286"/>
                  </a:lnTo>
                  <a:lnTo>
                    <a:pt x="1520964" y="289560"/>
                  </a:lnTo>
                  <a:lnTo>
                    <a:pt x="1524012" y="280416"/>
                  </a:lnTo>
                  <a:lnTo>
                    <a:pt x="1509153" y="273558"/>
                  </a:lnTo>
                  <a:lnTo>
                    <a:pt x="1496580" y="264414"/>
                  </a:lnTo>
                  <a:lnTo>
                    <a:pt x="1471409" y="223278"/>
                  </a:lnTo>
                  <a:lnTo>
                    <a:pt x="1463929" y="185039"/>
                  </a:lnTo>
                  <a:lnTo>
                    <a:pt x="1463052" y="163068"/>
                  </a:lnTo>
                  <a:lnTo>
                    <a:pt x="1463929" y="141325"/>
                  </a:lnTo>
                  <a:lnTo>
                    <a:pt x="1478292" y="88392"/>
                  </a:lnTo>
                  <a:lnTo>
                    <a:pt x="1509788" y="53886"/>
                  </a:lnTo>
                  <a:lnTo>
                    <a:pt x="1524012" y="47244"/>
                  </a:lnTo>
                  <a:close/>
                </a:path>
                <a:path w="3865245" h="329564">
                  <a:moveTo>
                    <a:pt x="2538996" y="163068"/>
                  </a:moveTo>
                  <a:lnTo>
                    <a:pt x="2533472" y="118681"/>
                  </a:lnTo>
                  <a:lnTo>
                    <a:pt x="2517660" y="82296"/>
                  </a:lnTo>
                  <a:lnTo>
                    <a:pt x="2476512" y="44361"/>
                  </a:lnTo>
                  <a:lnTo>
                    <a:pt x="2458224" y="38100"/>
                  </a:lnTo>
                  <a:lnTo>
                    <a:pt x="2453652" y="47244"/>
                  </a:lnTo>
                  <a:lnTo>
                    <a:pt x="2468524" y="53886"/>
                  </a:lnTo>
                  <a:lnTo>
                    <a:pt x="2481275" y="62674"/>
                  </a:lnTo>
                  <a:lnTo>
                    <a:pt x="2507132" y="104127"/>
                  </a:lnTo>
                  <a:lnTo>
                    <a:pt x="2516136" y="163068"/>
                  </a:lnTo>
                  <a:lnTo>
                    <a:pt x="2515031" y="185039"/>
                  </a:lnTo>
                  <a:lnTo>
                    <a:pt x="2507132" y="223278"/>
                  </a:lnTo>
                  <a:lnTo>
                    <a:pt x="2481465" y="264414"/>
                  </a:lnTo>
                  <a:lnTo>
                    <a:pt x="2455176" y="280416"/>
                  </a:lnTo>
                  <a:lnTo>
                    <a:pt x="2458224" y="289560"/>
                  </a:lnTo>
                  <a:lnTo>
                    <a:pt x="2476512" y="283286"/>
                  </a:lnTo>
                  <a:lnTo>
                    <a:pt x="2492514" y="273748"/>
                  </a:lnTo>
                  <a:lnTo>
                    <a:pt x="2506230" y="261048"/>
                  </a:lnTo>
                  <a:lnTo>
                    <a:pt x="2516136" y="247446"/>
                  </a:lnTo>
                  <a:lnTo>
                    <a:pt x="2517660" y="245364"/>
                  </a:lnTo>
                  <a:lnTo>
                    <a:pt x="2526779" y="228219"/>
                  </a:lnTo>
                  <a:lnTo>
                    <a:pt x="2533472" y="208788"/>
                  </a:lnTo>
                  <a:lnTo>
                    <a:pt x="2537587" y="187071"/>
                  </a:lnTo>
                  <a:lnTo>
                    <a:pt x="2538996" y="163068"/>
                  </a:lnTo>
                  <a:close/>
                </a:path>
                <a:path w="3865245" h="329564">
                  <a:moveTo>
                    <a:pt x="3864876" y="164592"/>
                  </a:moveTo>
                  <a:lnTo>
                    <a:pt x="3859161" y="105918"/>
                  </a:lnTo>
                  <a:lnTo>
                    <a:pt x="3842016" y="56388"/>
                  </a:lnTo>
                  <a:lnTo>
                    <a:pt x="3814584" y="19050"/>
                  </a:lnTo>
                  <a:lnTo>
                    <a:pt x="3778008" y="0"/>
                  </a:lnTo>
                  <a:lnTo>
                    <a:pt x="3774960" y="10668"/>
                  </a:lnTo>
                  <a:lnTo>
                    <a:pt x="3790073" y="18326"/>
                  </a:lnTo>
                  <a:lnTo>
                    <a:pt x="3803345" y="29718"/>
                  </a:lnTo>
                  <a:lnTo>
                    <a:pt x="3823728" y="62484"/>
                  </a:lnTo>
                  <a:lnTo>
                    <a:pt x="3836111" y="108394"/>
                  </a:lnTo>
                  <a:lnTo>
                    <a:pt x="3840492" y="164592"/>
                  </a:lnTo>
                  <a:lnTo>
                    <a:pt x="3839362" y="193167"/>
                  </a:lnTo>
                  <a:lnTo>
                    <a:pt x="3830840" y="243459"/>
                  </a:lnTo>
                  <a:lnTo>
                    <a:pt x="3814584" y="283819"/>
                  </a:lnTo>
                  <a:lnTo>
                    <a:pt x="3774960" y="318516"/>
                  </a:lnTo>
                  <a:lnTo>
                    <a:pt x="3778008" y="329184"/>
                  </a:lnTo>
                  <a:lnTo>
                    <a:pt x="3797439" y="321437"/>
                  </a:lnTo>
                  <a:lnTo>
                    <a:pt x="3814597" y="309524"/>
                  </a:lnTo>
                  <a:lnTo>
                    <a:pt x="3829443" y="293382"/>
                  </a:lnTo>
                  <a:lnTo>
                    <a:pt x="3840492" y="275285"/>
                  </a:lnTo>
                  <a:lnTo>
                    <a:pt x="3842016" y="272796"/>
                  </a:lnTo>
                  <a:lnTo>
                    <a:pt x="3852011" y="248805"/>
                  </a:lnTo>
                  <a:lnTo>
                    <a:pt x="3859161" y="222694"/>
                  </a:lnTo>
                  <a:lnTo>
                    <a:pt x="3863441" y="194564"/>
                  </a:lnTo>
                  <a:lnTo>
                    <a:pt x="3864876" y="1645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14877" y="4009644"/>
            <a:ext cx="6623684" cy="3721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55"/>
              </a:spcBef>
              <a:tabLst>
                <a:tab pos="1355725" algn="l"/>
                <a:tab pos="2298065" algn="l"/>
                <a:tab pos="2673985" algn="l"/>
                <a:tab pos="3767454" algn="l"/>
                <a:tab pos="5290820" algn="l"/>
                <a:tab pos="5749925" algn="l"/>
              </a:tabLst>
            </a:pPr>
            <a:r>
              <a:rPr sz="2150" spc="20" dirty="0">
                <a:latin typeface="Cambria"/>
                <a:cs typeface="Cambria"/>
              </a:rPr>
              <a:t>LSTM_2:	</a:t>
            </a:r>
            <a:r>
              <a:rPr sz="2150" spc="-5" dirty="0">
                <a:latin typeface="Cambria"/>
                <a:cs typeface="Cambria"/>
              </a:rPr>
              <a:t>5</a:t>
            </a:r>
            <a:r>
              <a:rPr sz="2150" spc="5" dirty="0">
                <a:latin typeface="Cambria"/>
                <a:cs typeface="Cambria"/>
              </a:rPr>
              <a:t> </a:t>
            </a:r>
            <a:r>
              <a:rPr sz="2150" spc="340" dirty="0">
                <a:latin typeface="Cambria"/>
                <a:cs typeface="Cambria"/>
              </a:rPr>
              <a:t>×</a:t>
            </a:r>
            <a:r>
              <a:rPr sz="2150" spc="5" dirty="0">
                <a:latin typeface="Cambria"/>
                <a:cs typeface="Cambria"/>
              </a:rPr>
              <a:t> </a:t>
            </a:r>
            <a:r>
              <a:rPr sz="2150" spc="-5" dirty="0">
                <a:latin typeface="Cambria"/>
                <a:cs typeface="Cambria"/>
              </a:rPr>
              <a:t>64	</a:t>
            </a:r>
            <a:r>
              <a:rPr sz="2150" spc="409" dirty="0">
                <a:latin typeface="Cambria"/>
                <a:cs typeface="Cambria"/>
              </a:rPr>
              <a:t>+	</a:t>
            </a:r>
            <a:r>
              <a:rPr sz="2150" spc="-5" dirty="0">
                <a:latin typeface="Cambria"/>
                <a:cs typeface="Cambria"/>
              </a:rPr>
              <a:t>64</a:t>
            </a:r>
            <a:r>
              <a:rPr sz="2150" spc="10" dirty="0">
                <a:latin typeface="Cambria"/>
                <a:cs typeface="Cambria"/>
              </a:rPr>
              <a:t> </a:t>
            </a:r>
            <a:r>
              <a:rPr sz="2150" spc="340" dirty="0">
                <a:latin typeface="Cambria"/>
                <a:cs typeface="Cambria"/>
              </a:rPr>
              <a:t>×</a:t>
            </a:r>
            <a:r>
              <a:rPr sz="2150" spc="5" dirty="0">
                <a:latin typeface="Cambria"/>
                <a:cs typeface="Cambria"/>
              </a:rPr>
              <a:t> </a:t>
            </a:r>
            <a:r>
              <a:rPr sz="2150" spc="-5" dirty="0">
                <a:latin typeface="Cambria"/>
                <a:cs typeface="Cambria"/>
              </a:rPr>
              <a:t>64	</a:t>
            </a:r>
            <a:r>
              <a:rPr sz="2150" spc="409" dirty="0">
                <a:latin typeface="Cambria"/>
                <a:cs typeface="Cambria"/>
              </a:rPr>
              <a:t>+</a:t>
            </a:r>
            <a:r>
              <a:rPr sz="2150" dirty="0">
                <a:latin typeface="Cambria"/>
                <a:cs typeface="Cambria"/>
              </a:rPr>
              <a:t> </a:t>
            </a:r>
            <a:r>
              <a:rPr sz="2150" spc="15" dirty="0">
                <a:latin typeface="Cambria"/>
                <a:cs typeface="Cambria"/>
              </a:rPr>
              <a:t>64)</a:t>
            </a:r>
            <a:r>
              <a:rPr sz="2150" spc="-5" dirty="0">
                <a:latin typeface="Cambria"/>
                <a:cs typeface="Cambria"/>
              </a:rPr>
              <a:t> </a:t>
            </a:r>
            <a:r>
              <a:rPr sz="2150" spc="340" dirty="0">
                <a:latin typeface="Cambria"/>
                <a:cs typeface="Cambria"/>
              </a:rPr>
              <a:t>×</a:t>
            </a:r>
            <a:r>
              <a:rPr sz="2150" spc="10" dirty="0">
                <a:latin typeface="Cambria"/>
                <a:cs typeface="Cambria"/>
              </a:rPr>
              <a:t> </a:t>
            </a:r>
            <a:r>
              <a:rPr sz="2150" spc="-5" dirty="0">
                <a:latin typeface="Cambria"/>
                <a:cs typeface="Cambria"/>
              </a:rPr>
              <a:t>4	</a:t>
            </a:r>
            <a:r>
              <a:rPr sz="2150" spc="409" dirty="0">
                <a:latin typeface="Cambria"/>
                <a:cs typeface="Cambria"/>
              </a:rPr>
              <a:t>=	</a:t>
            </a:r>
            <a:r>
              <a:rPr sz="2150" spc="-5" dirty="0">
                <a:latin typeface="Cambria"/>
                <a:cs typeface="Cambria"/>
              </a:rPr>
              <a:t>17,920</a:t>
            </a:r>
            <a:endParaRPr sz="2150">
              <a:latin typeface="Cambria"/>
              <a:cs typeface="Cambr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237732" y="4579620"/>
            <a:ext cx="3583304" cy="1772920"/>
            <a:chOff x="6237732" y="4579620"/>
            <a:chExt cx="3583304" cy="1772920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45351" y="4587239"/>
              <a:ext cx="3462235" cy="175717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237732" y="4579620"/>
              <a:ext cx="3583304" cy="1772920"/>
            </a:xfrm>
            <a:custGeom>
              <a:avLst/>
              <a:gdLst/>
              <a:ahLst/>
              <a:cxnLst/>
              <a:rect l="l" t="t" r="r" b="b"/>
              <a:pathLst>
                <a:path w="3583304" h="1772920">
                  <a:moveTo>
                    <a:pt x="3582924" y="1770888"/>
                  </a:moveTo>
                  <a:lnTo>
                    <a:pt x="3582924" y="1524"/>
                  </a:lnTo>
                  <a:lnTo>
                    <a:pt x="3581400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1770888"/>
                  </a:lnTo>
                  <a:lnTo>
                    <a:pt x="1524" y="1772412"/>
                  </a:lnTo>
                  <a:lnTo>
                    <a:pt x="3048" y="1772412"/>
                  </a:lnTo>
                  <a:lnTo>
                    <a:pt x="3048" y="7620"/>
                  </a:lnTo>
                  <a:lnTo>
                    <a:pt x="7620" y="4572"/>
                  </a:lnTo>
                  <a:lnTo>
                    <a:pt x="7620" y="7620"/>
                  </a:lnTo>
                  <a:lnTo>
                    <a:pt x="3575304" y="7620"/>
                  </a:lnTo>
                  <a:lnTo>
                    <a:pt x="3575304" y="4572"/>
                  </a:lnTo>
                  <a:lnTo>
                    <a:pt x="3578352" y="7620"/>
                  </a:lnTo>
                  <a:lnTo>
                    <a:pt x="3578352" y="1772412"/>
                  </a:lnTo>
                  <a:lnTo>
                    <a:pt x="3581400" y="1772412"/>
                  </a:lnTo>
                  <a:lnTo>
                    <a:pt x="3582924" y="1770888"/>
                  </a:lnTo>
                  <a:close/>
                </a:path>
                <a:path w="3583304" h="1772920">
                  <a:moveTo>
                    <a:pt x="7620" y="7620"/>
                  </a:moveTo>
                  <a:lnTo>
                    <a:pt x="7620" y="4572"/>
                  </a:lnTo>
                  <a:lnTo>
                    <a:pt x="3048" y="7620"/>
                  </a:lnTo>
                  <a:lnTo>
                    <a:pt x="7620" y="7620"/>
                  </a:lnTo>
                  <a:close/>
                </a:path>
                <a:path w="3583304" h="1772920">
                  <a:moveTo>
                    <a:pt x="7620" y="1764792"/>
                  </a:moveTo>
                  <a:lnTo>
                    <a:pt x="7620" y="7620"/>
                  </a:lnTo>
                  <a:lnTo>
                    <a:pt x="3048" y="7620"/>
                  </a:lnTo>
                  <a:lnTo>
                    <a:pt x="3048" y="1764792"/>
                  </a:lnTo>
                  <a:lnTo>
                    <a:pt x="7620" y="1764792"/>
                  </a:lnTo>
                  <a:close/>
                </a:path>
                <a:path w="3583304" h="1772920">
                  <a:moveTo>
                    <a:pt x="3578352" y="1764792"/>
                  </a:moveTo>
                  <a:lnTo>
                    <a:pt x="3048" y="1764792"/>
                  </a:lnTo>
                  <a:lnTo>
                    <a:pt x="7620" y="1769364"/>
                  </a:lnTo>
                  <a:lnTo>
                    <a:pt x="7620" y="1772412"/>
                  </a:lnTo>
                  <a:lnTo>
                    <a:pt x="3575304" y="1772412"/>
                  </a:lnTo>
                  <a:lnTo>
                    <a:pt x="3575304" y="1769364"/>
                  </a:lnTo>
                  <a:lnTo>
                    <a:pt x="3578352" y="1764792"/>
                  </a:lnTo>
                  <a:close/>
                </a:path>
                <a:path w="3583304" h="1772920">
                  <a:moveTo>
                    <a:pt x="7620" y="1772412"/>
                  </a:moveTo>
                  <a:lnTo>
                    <a:pt x="7620" y="1769364"/>
                  </a:lnTo>
                  <a:lnTo>
                    <a:pt x="3048" y="1764792"/>
                  </a:lnTo>
                  <a:lnTo>
                    <a:pt x="3048" y="1772412"/>
                  </a:lnTo>
                  <a:lnTo>
                    <a:pt x="7620" y="1772412"/>
                  </a:lnTo>
                  <a:close/>
                </a:path>
                <a:path w="3583304" h="1772920">
                  <a:moveTo>
                    <a:pt x="3578352" y="7620"/>
                  </a:moveTo>
                  <a:lnTo>
                    <a:pt x="3575304" y="4572"/>
                  </a:lnTo>
                  <a:lnTo>
                    <a:pt x="3575304" y="7620"/>
                  </a:lnTo>
                  <a:lnTo>
                    <a:pt x="3578352" y="7620"/>
                  </a:lnTo>
                  <a:close/>
                </a:path>
                <a:path w="3583304" h="1772920">
                  <a:moveTo>
                    <a:pt x="3578352" y="1764792"/>
                  </a:moveTo>
                  <a:lnTo>
                    <a:pt x="3578352" y="7620"/>
                  </a:lnTo>
                  <a:lnTo>
                    <a:pt x="3575304" y="7620"/>
                  </a:lnTo>
                  <a:lnTo>
                    <a:pt x="3575304" y="1764792"/>
                  </a:lnTo>
                  <a:lnTo>
                    <a:pt x="3578352" y="1764792"/>
                  </a:lnTo>
                  <a:close/>
                </a:path>
                <a:path w="3583304" h="1772920">
                  <a:moveTo>
                    <a:pt x="3578352" y="1772412"/>
                  </a:moveTo>
                  <a:lnTo>
                    <a:pt x="3578352" y="1764792"/>
                  </a:lnTo>
                  <a:lnTo>
                    <a:pt x="3575304" y="1769364"/>
                  </a:lnTo>
                  <a:lnTo>
                    <a:pt x="3575304" y="1772412"/>
                  </a:lnTo>
                  <a:lnTo>
                    <a:pt x="3578352" y="1772412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46604" y="1522469"/>
            <a:ext cx="5617845" cy="1670685"/>
            <a:chOff x="2546604" y="1522469"/>
            <a:chExt cx="5617845" cy="1670685"/>
          </a:xfrm>
        </p:grpSpPr>
        <p:sp>
          <p:nvSpPr>
            <p:cNvPr id="3" name="object 3"/>
            <p:cNvSpPr/>
            <p:nvPr/>
          </p:nvSpPr>
          <p:spPr>
            <a:xfrm>
              <a:off x="2551175" y="1527047"/>
              <a:ext cx="5608320" cy="1659889"/>
            </a:xfrm>
            <a:custGeom>
              <a:avLst/>
              <a:gdLst/>
              <a:ahLst/>
              <a:cxnLst/>
              <a:rect l="l" t="t" r="r" b="b"/>
              <a:pathLst>
                <a:path w="5608320" h="1659889">
                  <a:moveTo>
                    <a:pt x="5608319" y="1383791"/>
                  </a:moveTo>
                  <a:lnTo>
                    <a:pt x="5608319" y="277367"/>
                  </a:lnTo>
                  <a:lnTo>
                    <a:pt x="5603825" y="227717"/>
                  </a:lnTo>
                  <a:lnTo>
                    <a:pt x="5590876" y="180902"/>
                  </a:lnTo>
                  <a:lnTo>
                    <a:pt x="5570276" y="137724"/>
                  </a:lnTo>
                  <a:lnTo>
                    <a:pt x="5542827" y="98986"/>
                  </a:lnTo>
                  <a:lnTo>
                    <a:pt x="5509333" y="65492"/>
                  </a:lnTo>
                  <a:lnTo>
                    <a:pt x="5470595" y="38043"/>
                  </a:lnTo>
                  <a:lnTo>
                    <a:pt x="5427417" y="17443"/>
                  </a:lnTo>
                  <a:lnTo>
                    <a:pt x="5380602" y="4494"/>
                  </a:lnTo>
                  <a:lnTo>
                    <a:pt x="5330951" y="0"/>
                  </a:lnTo>
                  <a:lnTo>
                    <a:pt x="277367" y="0"/>
                  </a:lnTo>
                  <a:lnTo>
                    <a:pt x="227316" y="4494"/>
                  </a:lnTo>
                  <a:lnTo>
                    <a:pt x="180287" y="17443"/>
                  </a:lnTo>
                  <a:lnTo>
                    <a:pt x="137047" y="38043"/>
                  </a:lnTo>
                  <a:lnTo>
                    <a:pt x="98359" y="65492"/>
                  </a:lnTo>
                  <a:lnTo>
                    <a:pt x="64990" y="98986"/>
                  </a:lnTo>
                  <a:lnTo>
                    <a:pt x="37704" y="137724"/>
                  </a:lnTo>
                  <a:lnTo>
                    <a:pt x="17267" y="180902"/>
                  </a:lnTo>
                  <a:lnTo>
                    <a:pt x="4444" y="227717"/>
                  </a:lnTo>
                  <a:lnTo>
                    <a:pt x="0" y="277367"/>
                  </a:lnTo>
                  <a:lnTo>
                    <a:pt x="0" y="1383791"/>
                  </a:lnTo>
                  <a:lnTo>
                    <a:pt x="4444" y="1433389"/>
                  </a:lnTo>
                  <a:lnTo>
                    <a:pt x="17267" y="1480065"/>
                  </a:lnTo>
                  <a:lnTo>
                    <a:pt x="37704" y="1523040"/>
                  </a:lnTo>
                  <a:lnTo>
                    <a:pt x="64990" y="1561537"/>
                  </a:lnTo>
                  <a:lnTo>
                    <a:pt x="98359" y="1594779"/>
                  </a:lnTo>
                  <a:lnTo>
                    <a:pt x="137047" y="1621987"/>
                  </a:lnTo>
                  <a:lnTo>
                    <a:pt x="180287" y="1642384"/>
                  </a:lnTo>
                  <a:lnTo>
                    <a:pt x="227316" y="1655193"/>
                  </a:lnTo>
                  <a:lnTo>
                    <a:pt x="277367" y="1659635"/>
                  </a:lnTo>
                  <a:lnTo>
                    <a:pt x="5330951" y="1659635"/>
                  </a:lnTo>
                  <a:lnTo>
                    <a:pt x="5380602" y="1655193"/>
                  </a:lnTo>
                  <a:lnTo>
                    <a:pt x="5427417" y="1642384"/>
                  </a:lnTo>
                  <a:lnTo>
                    <a:pt x="5470595" y="1621987"/>
                  </a:lnTo>
                  <a:lnTo>
                    <a:pt x="5509333" y="1594779"/>
                  </a:lnTo>
                  <a:lnTo>
                    <a:pt x="5542827" y="1561537"/>
                  </a:lnTo>
                  <a:lnTo>
                    <a:pt x="5570276" y="1523040"/>
                  </a:lnTo>
                  <a:lnTo>
                    <a:pt x="5590876" y="1480065"/>
                  </a:lnTo>
                  <a:lnTo>
                    <a:pt x="5603825" y="1433389"/>
                  </a:lnTo>
                  <a:lnTo>
                    <a:pt x="5608319" y="1383791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546604" y="1522469"/>
              <a:ext cx="5617845" cy="1670685"/>
            </a:xfrm>
            <a:custGeom>
              <a:avLst/>
              <a:gdLst/>
              <a:ahLst/>
              <a:cxnLst/>
              <a:rect l="l" t="t" r="r" b="b"/>
              <a:pathLst>
                <a:path w="5617845" h="1670685">
                  <a:moveTo>
                    <a:pt x="5617464" y="1402086"/>
                  </a:moveTo>
                  <a:lnTo>
                    <a:pt x="5617464" y="268230"/>
                  </a:lnTo>
                  <a:lnTo>
                    <a:pt x="5615940" y="252990"/>
                  </a:lnTo>
                  <a:lnTo>
                    <a:pt x="5614416" y="239274"/>
                  </a:lnTo>
                  <a:lnTo>
                    <a:pt x="5605272" y="198126"/>
                  </a:lnTo>
                  <a:lnTo>
                    <a:pt x="5600700" y="184410"/>
                  </a:lnTo>
                  <a:lnTo>
                    <a:pt x="5594604" y="172218"/>
                  </a:lnTo>
                  <a:lnTo>
                    <a:pt x="5590032" y="160026"/>
                  </a:lnTo>
                  <a:lnTo>
                    <a:pt x="5553456" y="102114"/>
                  </a:lnTo>
                  <a:lnTo>
                    <a:pt x="5515356" y="64014"/>
                  </a:lnTo>
                  <a:lnTo>
                    <a:pt x="5469636" y="33534"/>
                  </a:lnTo>
                  <a:lnTo>
                    <a:pt x="5445252" y="22866"/>
                  </a:lnTo>
                  <a:lnTo>
                    <a:pt x="5433060" y="16770"/>
                  </a:lnTo>
                  <a:lnTo>
                    <a:pt x="5419344" y="12198"/>
                  </a:lnTo>
                  <a:lnTo>
                    <a:pt x="5378196" y="3054"/>
                  </a:lnTo>
                  <a:lnTo>
                    <a:pt x="5350764" y="0"/>
                  </a:lnTo>
                  <a:lnTo>
                    <a:pt x="266700" y="0"/>
                  </a:lnTo>
                  <a:lnTo>
                    <a:pt x="252984" y="1524"/>
                  </a:lnTo>
                  <a:lnTo>
                    <a:pt x="237744" y="3054"/>
                  </a:lnTo>
                  <a:lnTo>
                    <a:pt x="210312" y="9150"/>
                  </a:lnTo>
                  <a:lnTo>
                    <a:pt x="198120" y="12198"/>
                  </a:lnTo>
                  <a:lnTo>
                    <a:pt x="184404" y="16770"/>
                  </a:lnTo>
                  <a:lnTo>
                    <a:pt x="172212" y="22866"/>
                  </a:lnTo>
                  <a:lnTo>
                    <a:pt x="158496" y="27438"/>
                  </a:lnTo>
                  <a:lnTo>
                    <a:pt x="123444" y="48774"/>
                  </a:lnTo>
                  <a:lnTo>
                    <a:pt x="82296" y="82302"/>
                  </a:lnTo>
                  <a:lnTo>
                    <a:pt x="47244" y="124974"/>
                  </a:lnTo>
                  <a:lnTo>
                    <a:pt x="21336" y="172218"/>
                  </a:lnTo>
                  <a:lnTo>
                    <a:pt x="7620" y="211842"/>
                  </a:lnTo>
                  <a:lnTo>
                    <a:pt x="1524" y="252990"/>
                  </a:lnTo>
                  <a:lnTo>
                    <a:pt x="0" y="268230"/>
                  </a:lnTo>
                  <a:lnTo>
                    <a:pt x="0" y="1402086"/>
                  </a:lnTo>
                  <a:lnTo>
                    <a:pt x="1524" y="1417326"/>
                  </a:lnTo>
                  <a:lnTo>
                    <a:pt x="4572" y="1444758"/>
                  </a:lnTo>
                  <a:lnTo>
                    <a:pt x="7620" y="1458474"/>
                  </a:lnTo>
                  <a:lnTo>
                    <a:pt x="9144" y="1463046"/>
                  </a:lnTo>
                  <a:lnTo>
                    <a:pt x="9144" y="281946"/>
                  </a:lnTo>
                  <a:lnTo>
                    <a:pt x="10668" y="268230"/>
                  </a:lnTo>
                  <a:lnTo>
                    <a:pt x="10668" y="254514"/>
                  </a:lnTo>
                  <a:lnTo>
                    <a:pt x="12192" y="240798"/>
                  </a:lnTo>
                  <a:lnTo>
                    <a:pt x="18288" y="213366"/>
                  </a:lnTo>
                  <a:lnTo>
                    <a:pt x="18288" y="214890"/>
                  </a:lnTo>
                  <a:lnTo>
                    <a:pt x="21336" y="205746"/>
                  </a:lnTo>
                  <a:lnTo>
                    <a:pt x="21336" y="201174"/>
                  </a:lnTo>
                  <a:lnTo>
                    <a:pt x="30480" y="176790"/>
                  </a:lnTo>
                  <a:lnTo>
                    <a:pt x="42672" y="152406"/>
                  </a:lnTo>
                  <a:lnTo>
                    <a:pt x="56388" y="129546"/>
                  </a:lnTo>
                  <a:lnTo>
                    <a:pt x="56388" y="131070"/>
                  </a:lnTo>
                  <a:lnTo>
                    <a:pt x="71628" y="109734"/>
                  </a:lnTo>
                  <a:lnTo>
                    <a:pt x="89916" y="89922"/>
                  </a:lnTo>
                  <a:lnTo>
                    <a:pt x="108204" y="71634"/>
                  </a:lnTo>
                  <a:lnTo>
                    <a:pt x="108204" y="73158"/>
                  </a:lnTo>
                  <a:lnTo>
                    <a:pt x="129540" y="56394"/>
                  </a:lnTo>
                  <a:lnTo>
                    <a:pt x="152400" y="42678"/>
                  </a:lnTo>
                  <a:lnTo>
                    <a:pt x="163068" y="36582"/>
                  </a:lnTo>
                  <a:lnTo>
                    <a:pt x="163068" y="38106"/>
                  </a:lnTo>
                  <a:lnTo>
                    <a:pt x="175260" y="32010"/>
                  </a:lnTo>
                  <a:lnTo>
                    <a:pt x="187452" y="27438"/>
                  </a:lnTo>
                  <a:lnTo>
                    <a:pt x="201168" y="22866"/>
                  </a:lnTo>
                  <a:lnTo>
                    <a:pt x="213360" y="18294"/>
                  </a:lnTo>
                  <a:lnTo>
                    <a:pt x="213360" y="19818"/>
                  </a:lnTo>
                  <a:lnTo>
                    <a:pt x="239268" y="14060"/>
                  </a:lnTo>
                  <a:lnTo>
                    <a:pt x="239268" y="13722"/>
                  </a:lnTo>
                  <a:lnTo>
                    <a:pt x="252984" y="12198"/>
                  </a:lnTo>
                  <a:lnTo>
                    <a:pt x="266700" y="10826"/>
                  </a:lnTo>
                  <a:lnTo>
                    <a:pt x="266700" y="10674"/>
                  </a:lnTo>
                  <a:lnTo>
                    <a:pt x="5349240" y="10674"/>
                  </a:lnTo>
                  <a:lnTo>
                    <a:pt x="5376672" y="13722"/>
                  </a:lnTo>
                  <a:lnTo>
                    <a:pt x="5402580" y="19479"/>
                  </a:lnTo>
                  <a:lnTo>
                    <a:pt x="5402580" y="18294"/>
                  </a:lnTo>
                  <a:lnTo>
                    <a:pt x="5416296" y="22866"/>
                  </a:lnTo>
                  <a:lnTo>
                    <a:pt x="5440680" y="32010"/>
                  </a:lnTo>
                  <a:lnTo>
                    <a:pt x="5452872" y="38106"/>
                  </a:lnTo>
                  <a:lnTo>
                    <a:pt x="5452872" y="36582"/>
                  </a:lnTo>
                  <a:lnTo>
                    <a:pt x="5465064" y="42678"/>
                  </a:lnTo>
                  <a:lnTo>
                    <a:pt x="5487924" y="56394"/>
                  </a:lnTo>
                  <a:lnTo>
                    <a:pt x="5487924" y="57591"/>
                  </a:lnTo>
                  <a:lnTo>
                    <a:pt x="5507736" y="73158"/>
                  </a:lnTo>
                  <a:lnTo>
                    <a:pt x="5507736" y="71634"/>
                  </a:lnTo>
                  <a:lnTo>
                    <a:pt x="5527548" y="89922"/>
                  </a:lnTo>
                  <a:lnTo>
                    <a:pt x="5545836" y="109734"/>
                  </a:lnTo>
                  <a:lnTo>
                    <a:pt x="5545836" y="111673"/>
                  </a:lnTo>
                  <a:lnTo>
                    <a:pt x="5561076" y="131070"/>
                  </a:lnTo>
                  <a:lnTo>
                    <a:pt x="5561076" y="129546"/>
                  </a:lnTo>
                  <a:lnTo>
                    <a:pt x="5574792" y="152406"/>
                  </a:lnTo>
                  <a:lnTo>
                    <a:pt x="5580888" y="164598"/>
                  </a:lnTo>
                  <a:lnTo>
                    <a:pt x="5594604" y="201174"/>
                  </a:lnTo>
                  <a:lnTo>
                    <a:pt x="5599176" y="214890"/>
                  </a:lnTo>
                  <a:lnTo>
                    <a:pt x="5599176" y="220224"/>
                  </a:lnTo>
                  <a:lnTo>
                    <a:pt x="5603748" y="240798"/>
                  </a:lnTo>
                  <a:lnTo>
                    <a:pt x="5606796" y="268230"/>
                  </a:lnTo>
                  <a:lnTo>
                    <a:pt x="5606796" y="1465332"/>
                  </a:lnTo>
                  <a:lnTo>
                    <a:pt x="5614416" y="1431042"/>
                  </a:lnTo>
                  <a:lnTo>
                    <a:pt x="5615940" y="1417326"/>
                  </a:lnTo>
                  <a:lnTo>
                    <a:pt x="5617464" y="1402086"/>
                  </a:lnTo>
                  <a:close/>
                </a:path>
                <a:path w="5617845" h="1670685">
                  <a:moveTo>
                    <a:pt x="22860" y="1469142"/>
                  </a:moveTo>
                  <a:lnTo>
                    <a:pt x="18288" y="1455426"/>
                  </a:lnTo>
                  <a:lnTo>
                    <a:pt x="18288" y="1456950"/>
                  </a:lnTo>
                  <a:lnTo>
                    <a:pt x="12192" y="1429518"/>
                  </a:lnTo>
                  <a:lnTo>
                    <a:pt x="10668" y="1415802"/>
                  </a:lnTo>
                  <a:lnTo>
                    <a:pt x="10668" y="1402086"/>
                  </a:lnTo>
                  <a:lnTo>
                    <a:pt x="9144" y="1388370"/>
                  </a:lnTo>
                  <a:lnTo>
                    <a:pt x="9144" y="1463046"/>
                  </a:lnTo>
                  <a:lnTo>
                    <a:pt x="16764" y="1485906"/>
                  </a:lnTo>
                  <a:lnTo>
                    <a:pt x="21336" y="1498098"/>
                  </a:lnTo>
                  <a:lnTo>
                    <a:pt x="21336" y="1469142"/>
                  </a:lnTo>
                  <a:lnTo>
                    <a:pt x="22860" y="1469142"/>
                  </a:lnTo>
                  <a:close/>
                </a:path>
                <a:path w="5617845" h="1670685">
                  <a:moveTo>
                    <a:pt x="22860" y="201174"/>
                  </a:moveTo>
                  <a:lnTo>
                    <a:pt x="21336" y="201174"/>
                  </a:lnTo>
                  <a:lnTo>
                    <a:pt x="21336" y="205746"/>
                  </a:lnTo>
                  <a:lnTo>
                    <a:pt x="22860" y="201174"/>
                  </a:lnTo>
                  <a:close/>
                </a:path>
                <a:path w="5617845" h="1670685">
                  <a:moveTo>
                    <a:pt x="240792" y="1656594"/>
                  </a:moveTo>
                  <a:lnTo>
                    <a:pt x="201168" y="1647450"/>
                  </a:lnTo>
                  <a:lnTo>
                    <a:pt x="163068" y="1632210"/>
                  </a:lnTo>
                  <a:lnTo>
                    <a:pt x="163068" y="1633734"/>
                  </a:lnTo>
                  <a:lnTo>
                    <a:pt x="129540" y="1613922"/>
                  </a:lnTo>
                  <a:lnTo>
                    <a:pt x="89916" y="1580394"/>
                  </a:lnTo>
                  <a:lnTo>
                    <a:pt x="56388" y="1539246"/>
                  </a:lnTo>
                  <a:lnTo>
                    <a:pt x="56388" y="1540770"/>
                  </a:lnTo>
                  <a:lnTo>
                    <a:pt x="42672" y="1517910"/>
                  </a:lnTo>
                  <a:lnTo>
                    <a:pt x="30480" y="1493526"/>
                  </a:lnTo>
                  <a:lnTo>
                    <a:pt x="21336" y="1469142"/>
                  </a:lnTo>
                  <a:lnTo>
                    <a:pt x="21336" y="1498098"/>
                  </a:lnTo>
                  <a:lnTo>
                    <a:pt x="47244" y="1545342"/>
                  </a:lnTo>
                  <a:lnTo>
                    <a:pt x="82296" y="1588014"/>
                  </a:lnTo>
                  <a:lnTo>
                    <a:pt x="123444" y="1621542"/>
                  </a:lnTo>
                  <a:lnTo>
                    <a:pt x="158496" y="1642878"/>
                  </a:lnTo>
                  <a:lnTo>
                    <a:pt x="172212" y="1647450"/>
                  </a:lnTo>
                  <a:lnTo>
                    <a:pt x="184404" y="1653546"/>
                  </a:lnTo>
                  <a:lnTo>
                    <a:pt x="198120" y="1658118"/>
                  </a:lnTo>
                  <a:lnTo>
                    <a:pt x="210312" y="1661166"/>
                  </a:lnTo>
                  <a:lnTo>
                    <a:pt x="237744" y="1667262"/>
                  </a:lnTo>
                  <a:lnTo>
                    <a:pt x="239268" y="1667414"/>
                  </a:lnTo>
                  <a:lnTo>
                    <a:pt x="239268" y="1656594"/>
                  </a:lnTo>
                  <a:lnTo>
                    <a:pt x="240792" y="1656594"/>
                  </a:lnTo>
                  <a:close/>
                </a:path>
                <a:path w="5617845" h="1670685">
                  <a:moveTo>
                    <a:pt x="240792" y="13722"/>
                  </a:moveTo>
                  <a:lnTo>
                    <a:pt x="239268" y="13722"/>
                  </a:lnTo>
                  <a:lnTo>
                    <a:pt x="239268" y="14060"/>
                  </a:lnTo>
                  <a:lnTo>
                    <a:pt x="240792" y="13722"/>
                  </a:lnTo>
                  <a:close/>
                </a:path>
                <a:path w="5617845" h="1670685">
                  <a:moveTo>
                    <a:pt x="268224" y="1659642"/>
                  </a:moveTo>
                  <a:lnTo>
                    <a:pt x="252984" y="1658118"/>
                  </a:lnTo>
                  <a:lnTo>
                    <a:pt x="239268" y="1656594"/>
                  </a:lnTo>
                  <a:lnTo>
                    <a:pt x="239268" y="1667414"/>
                  </a:lnTo>
                  <a:lnTo>
                    <a:pt x="252984" y="1668786"/>
                  </a:lnTo>
                  <a:lnTo>
                    <a:pt x="266700" y="1670310"/>
                  </a:lnTo>
                  <a:lnTo>
                    <a:pt x="266700" y="1659642"/>
                  </a:lnTo>
                  <a:lnTo>
                    <a:pt x="268224" y="1659642"/>
                  </a:lnTo>
                  <a:close/>
                </a:path>
                <a:path w="5617845" h="1670685">
                  <a:moveTo>
                    <a:pt x="268224" y="10674"/>
                  </a:moveTo>
                  <a:lnTo>
                    <a:pt x="266700" y="10674"/>
                  </a:lnTo>
                  <a:lnTo>
                    <a:pt x="266700" y="10826"/>
                  </a:lnTo>
                  <a:lnTo>
                    <a:pt x="268224" y="10674"/>
                  </a:lnTo>
                  <a:close/>
                </a:path>
                <a:path w="5617845" h="1670685">
                  <a:moveTo>
                    <a:pt x="5404104" y="1661504"/>
                  </a:moveTo>
                  <a:lnTo>
                    <a:pt x="5404104" y="1650498"/>
                  </a:lnTo>
                  <a:lnTo>
                    <a:pt x="5376672" y="1656594"/>
                  </a:lnTo>
                  <a:lnTo>
                    <a:pt x="5349240" y="1659642"/>
                  </a:lnTo>
                  <a:lnTo>
                    <a:pt x="266700" y="1659642"/>
                  </a:lnTo>
                  <a:lnTo>
                    <a:pt x="266700" y="1670310"/>
                  </a:lnTo>
                  <a:lnTo>
                    <a:pt x="5350764" y="1670310"/>
                  </a:lnTo>
                  <a:lnTo>
                    <a:pt x="5378196" y="1667262"/>
                  </a:lnTo>
                  <a:lnTo>
                    <a:pt x="5404104" y="1661504"/>
                  </a:lnTo>
                  <a:close/>
                </a:path>
                <a:path w="5617845" h="1670685">
                  <a:moveTo>
                    <a:pt x="5404104" y="19818"/>
                  </a:moveTo>
                  <a:lnTo>
                    <a:pt x="5402580" y="18294"/>
                  </a:lnTo>
                  <a:lnTo>
                    <a:pt x="5402580" y="19479"/>
                  </a:lnTo>
                  <a:lnTo>
                    <a:pt x="5404104" y="19818"/>
                  </a:lnTo>
                  <a:close/>
                </a:path>
                <a:path w="5617845" h="1670685">
                  <a:moveTo>
                    <a:pt x="5487924" y="1624590"/>
                  </a:moveTo>
                  <a:lnTo>
                    <a:pt x="5487924" y="1613922"/>
                  </a:lnTo>
                  <a:lnTo>
                    <a:pt x="5465064" y="1627638"/>
                  </a:lnTo>
                  <a:lnTo>
                    <a:pt x="5452872" y="1633734"/>
                  </a:lnTo>
                  <a:lnTo>
                    <a:pt x="5452872" y="1632210"/>
                  </a:lnTo>
                  <a:lnTo>
                    <a:pt x="5440680" y="1638306"/>
                  </a:lnTo>
                  <a:lnTo>
                    <a:pt x="5416296" y="1647450"/>
                  </a:lnTo>
                  <a:lnTo>
                    <a:pt x="5402580" y="1650498"/>
                  </a:lnTo>
                  <a:lnTo>
                    <a:pt x="5404104" y="1650498"/>
                  </a:lnTo>
                  <a:lnTo>
                    <a:pt x="5404104" y="1661504"/>
                  </a:lnTo>
                  <a:lnTo>
                    <a:pt x="5419344" y="1658118"/>
                  </a:lnTo>
                  <a:lnTo>
                    <a:pt x="5433060" y="1653546"/>
                  </a:lnTo>
                  <a:lnTo>
                    <a:pt x="5445252" y="1647450"/>
                  </a:lnTo>
                  <a:lnTo>
                    <a:pt x="5457444" y="1642878"/>
                  </a:lnTo>
                  <a:lnTo>
                    <a:pt x="5469636" y="1636782"/>
                  </a:lnTo>
                  <a:lnTo>
                    <a:pt x="5487924" y="1624590"/>
                  </a:lnTo>
                  <a:close/>
                </a:path>
                <a:path w="5617845" h="1670685">
                  <a:moveTo>
                    <a:pt x="5487924" y="57591"/>
                  </a:moveTo>
                  <a:lnTo>
                    <a:pt x="5487924" y="56394"/>
                  </a:lnTo>
                  <a:lnTo>
                    <a:pt x="5486400" y="56394"/>
                  </a:lnTo>
                  <a:lnTo>
                    <a:pt x="5487924" y="57591"/>
                  </a:lnTo>
                  <a:close/>
                </a:path>
                <a:path w="5617845" h="1670685">
                  <a:moveTo>
                    <a:pt x="5545836" y="1576457"/>
                  </a:moveTo>
                  <a:lnTo>
                    <a:pt x="5545836" y="1560582"/>
                  </a:lnTo>
                  <a:lnTo>
                    <a:pt x="5527548" y="1580394"/>
                  </a:lnTo>
                  <a:lnTo>
                    <a:pt x="5507736" y="1597158"/>
                  </a:lnTo>
                  <a:lnTo>
                    <a:pt x="5486400" y="1613922"/>
                  </a:lnTo>
                  <a:lnTo>
                    <a:pt x="5487924" y="1613922"/>
                  </a:lnTo>
                  <a:lnTo>
                    <a:pt x="5487924" y="1624590"/>
                  </a:lnTo>
                  <a:lnTo>
                    <a:pt x="5515356" y="1606302"/>
                  </a:lnTo>
                  <a:lnTo>
                    <a:pt x="5535168" y="1588014"/>
                  </a:lnTo>
                  <a:lnTo>
                    <a:pt x="5545836" y="1576457"/>
                  </a:lnTo>
                  <a:close/>
                </a:path>
                <a:path w="5617845" h="1670685">
                  <a:moveTo>
                    <a:pt x="5545836" y="111673"/>
                  </a:moveTo>
                  <a:lnTo>
                    <a:pt x="5545836" y="109734"/>
                  </a:lnTo>
                  <a:lnTo>
                    <a:pt x="5544312" y="109734"/>
                  </a:lnTo>
                  <a:lnTo>
                    <a:pt x="5545836" y="111673"/>
                  </a:lnTo>
                  <a:close/>
                </a:path>
                <a:path w="5617845" h="1670685">
                  <a:moveTo>
                    <a:pt x="5599176" y="1488954"/>
                  </a:moveTo>
                  <a:lnTo>
                    <a:pt x="5599176" y="1455426"/>
                  </a:lnTo>
                  <a:lnTo>
                    <a:pt x="5594604" y="1469142"/>
                  </a:lnTo>
                  <a:lnTo>
                    <a:pt x="5580888" y="1505718"/>
                  </a:lnTo>
                  <a:lnTo>
                    <a:pt x="5574792" y="1517910"/>
                  </a:lnTo>
                  <a:lnTo>
                    <a:pt x="5561076" y="1540770"/>
                  </a:lnTo>
                  <a:lnTo>
                    <a:pt x="5561076" y="1539246"/>
                  </a:lnTo>
                  <a:lnTo>
                    <a:pt x="5544312" y="1560582"/>
                  </a:lnTo>
                  <a:lnTo>
                    <a:pt x="5545836" y="1560582"/>
                  </a:lnTo>
                  <a:lnTo>
                    <a:pt x="5545836" y="1576457"/>
                  </a:lnTo>
                  <a:lnTo>
                    <a:pt x="5553456" y="1568202"/>
                  </a:lnTo>
                  <a:lnTo>
                    <a:pt x="5583936" y="1522482"/>
                  </a:lnTo>
                  <a:lnTo>
                    <a:pt x="5590032" y="1510290"/>
                  </a:lnTo>
                  <a:lnTo>
                    <a:pt x="5594604" y="1498098"/>
                  </a:lnTo>
                  <a:lnTo>
                    <a:pt x="5599176" y="1488954"/>
                  </a:lnTo>
                  <a:close/>
                </a:path>
                <a:path w="5617845" h="1670685">
                  <a:moveTo>
                    <a:pt x="5599176" y="220224"/>
                  </a:moveTo>
                  <a:lnTo>
                    <a:pt x="5599176" y="214890"/>
                  </a:lnTo>
                  <a:lnTo>
                    <a:pt x="5597652" y="213366"/>
                  </a:lnTo>
                  <a:lnTo>
                    <a:pt x="5599176" y="220224"/>
                  </a:lnTo>
                  <a:close/>
                </a:path>
                <a:path w="5617845" h="1670685">
                  <a:moveTo>
                    <a:pt x="5606796" y="1465332"/>
                  </a:moveTo>
                  <a:lnTo>
                    <a:pt x="5606796" y="1402086"/>
                  </a:lnTo>
                  <a:lnTo>
                    <a:pt x="5603748" y="1429518"/>
                  </a:lnTo>
                  <a:lnTo>
                    <a:pt x="5597652" y="1456950"/>
                  </a:lnTo>
                  <a:lnTo>
                    <a:pt x="5599176" y="1455426"/>
                  </a:lnTo>
                  <a:lnTo>
                    <a:pt x="5599176" y="1488954"/>
                  </a:lnTo>
                  <a:lnTo>
                    <a:pt x="5600700" y="1485906"/>
                  </a:lnTo>
                  <a:lnTo>
                    <a:pt x="5605272" y="1472190"/>
                  </a:lnTo>
                  <a:lnTo>
                    <a:pt x="5606796" y="1465332"/>
                  </a:lnTo>
                  <a:close/>
                </a:path>
              </a:pathLst>
            </a:custGeom>
            <a:solidFill>
              <a:srgbClr val="4070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07382" y="1787143"/>
            <a:ext cx="3293745" cy="10833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14"/>
              </a:spcBef>
            </a:pPr>
            <a:r>
              <a:rPr sz="3450" spc="-30" dirty="0">
                <a:solidFill>
                  <a:srgbClr val="FFFFFF"/>
                </a:solidFill>
              </a:rPr>
              <a:t>Walk</a:t>
            </a:r>
            <a:r>
              <a:rPr sz="3450" spc="-20" dirty="0">
                <a:solidFill>
                  <a:srgbClr val="FFFFFF"/>
                </a:solidFill>
              </a:rPr>
              <a:t> </a:t>
            </a:r>
            <a:r>
              <a:rPr sz="3450" spc="-5" dirty="0">
                <a:solidFill>
                  <a:srgbClr val="FFFFFF"/>
                </a:solidFill>
              </a:rPr>
              <a:t>Through</a:t>
            </a:r>
            <a:endParaRPr sz="3450"/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3450" spc="10" dirty="0">
                <a:solidFill>
                  <a:srgbClr val="FFFFFF"/>
                </a:solidFill>
              </a:rPr>
              <a:t>(RNNs</a:t>
            </a:r>
            <a:r>
              <a:rPr sz="3450" spc="-60" dirty="0">
                <a:solidFill>
                  <a:srgbClr val="FFFFFF"/>
                </a:solidFill>
              </a:rPr>
              <a:t> </a:t>
            </a:r>
            <a:r>
              <a:rPr sz="3450" spc="5" dirty="0">
                <a:solidFill>
                  <a:srgbClr val="FFFFFF"/>
                </a:solidFill>
              </a:rPr>
              <a:t>and</a:t>
            </a:r>
            <a:r>
              <a:rPr sz="3450" spc="-20" dirty="0">
                <a:solidFill>
                  <a:srgbClr val="FFFFFF"/>
                </a:solidFill>
              </a:rPr>
              <a:t> </a:t>
            </a:r>
            <a:r>
              <a:rPr sz="3450" dirty="0">
                <a:solidFill>
                  <a:srgbClr val="FFFFFF"/>
                </a:solidFill>
              </a:rPr>
              <a:t>LSTMs)</a:t>
            </a:r>
            <a:endParaRPr sz="345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1902" y="5305422"/>
            <a:ext cx="3264861" cy="54386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53384" y="3326891"/>
            <a:ext cx="3802379" cy="162001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865" y="1558543"/>
            <a:ext cx="1589405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E</a:t>
            </a:r>
            <a:r>
              <a:rPr spc="-114" dirty="0"/>
              <a:t>x</a:t>
            </a:r>
            <a:r>
              <a:rPr spc="-10" dirty="0"/>
              <a:t>a</a:t>
            </a:r>
            <a:r>
              <a:rPr dirty="0"/>
              <a:t>m</a:t>
            </a:r>
            <a:r>
              <a:rPr spc="-10" dirty="0"/>
              <a:t>p</a:t>
            </a:r>
            <a:r>
              <a:rPr spc="-25" dirty="0"/>
              <a:t>l</a:t>
            </a:r>
            <a:r>
              <a:rPr spc="5"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865" y="2533902"/>
            <a:ext cx="4546600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114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dirty="0">
                <a:latin typeface="Calibri"/>
                <a:cs typeface="Calibri"/>
              </a:rPr>
              <a:t>Online</a:t>
            </a:r>
            <a:r>
              <a:rPr sz="2300" spc="-10" dirty="0">
                <a:latin typeface="Calibri"/>
                <a:cs typeface="Calibri"/>
              </a:rPr>
              <a:t> Reviews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– </a:t>
            </a:r>
            <a:r>
              <a:rPr sz="2300" dirty="0">
                <a:latin typeface="Calibri"/>
                <a:cs typeface="Calibri"/>
              </a:rPr>
              <a:t>Buy </a:t>
            </a:r>
            <a:r>
              <a:rPr sz="2300" spc="5" dirty="0">
                <a:latin typeface="Calibri"/>
                <a:cs typeface="Calibri"/>
              </a:rPr>
              <a:t>a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cereal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or </a:t>
            </a:r>
            <a:r>
              <a:rPr sz="2300" dirty="0">
                <a:latin typeface="Calibri"/>
                <a:cs typeface="Calibri"/>
              </a:rPr>
              <a:t>not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9655" y="3162300"/>
            <a:ext cx="5329428" cy="256336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25</a:t>
            </a:fld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865" y="1558543"/>
            <a:ext cx="1589405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E</a:t>
            </a:r>
            <a:r>
              <a:rPr spc="-114" dirty="0"/>
              <a:t>x</a:t>
            </a:r>
            <a:r>
              <a:rPr spc="-10" dirty="0"/>
              <a:t>a</a:t>
            </a:r>
            <a:r>
              <a:rPr dirty="0"/>
              <a:t>m</a:t>
            </a:r>
            <a:r>
              <a:rPr spc="-10" dirty="0"/>
              <a:t>p</a:t>
            </a:r>
            <a:r>
              <a:rPr spc="-25" dirty="0"/>
              <a:t>l</a:t>
            </a:r>
            <a:r>
              <a:rPr spc="5" dirty="0"/>
              <a:t>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53865" y="2533902"/>
            <a:ext cx="8409940" cy="301498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01295" marR="1287145" indent="-189230">
              <a:lnSpc>
                <a:spcPts val="2500"/>
              </a:lnSpc>
              <a:spcBef>
                <a:spcPts val="415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spc="5" dirty="0">
                <a:latin typeface="Calibri"/>
                <a:cs typeface="Calibri"/>
              </a:rPr>
              <a:t>When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you</a:t>
            </a:r>
            <a:r>
              <a:rPr sz="2300" spc="-10" dirty="0">
                <a:latin typeface="Calibri"/>
                <a:cs typeface="Calibri"/>
              </a:rPr>
              <a:t> read</a:t>
            </a:r>
            <a:r>
              <a:rPr sz="2300" dirty="0">
                <a:latin typeface="Calibri"/>
                <a:cs typeface="Calibri"/>
              </a:rPr>
              <a:t> the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35" dirty="0">
                <a:latin typeface="Calibri"/>
                <a:cs typeface="Calibri"/>
              </a:rPr>
              <a:t>review,</a:t>
            </a:r>
            <a:r>
              <a:rPr sz="2300" spc="-5" dirty="0">
                <a:latin typeface="Calibri"/>
                <a:cs typeface="Calibri"/>
              </a:rPr>
              <a:t> your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brain</a:t>
            </a:r>
            <a:r>
              <a:rPr sz="2300" dirty="0">
                <a:latin typeface="Calibri"/>
                <a:cs typeface="Calibri"/>
              </a:rPr>
              <a:t> subconsciously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only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remembers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important</a:t>
            </a:r>
            <a:r>
              <a:rPr sz="2300" spc="-15" dirty="0">
                <a:latin typeface="Calibri"/>
                <a:cs typeface="Calibri"/>
              </a:rPr>
              <a:t> keywords.</a:t>
            </a:r>
            <a:endParaRPr sz="2300">
              <a:latin typeface="Calibri"/>
              <a:cs typeface="Calibri"/>
            </a:endParaRPr>
          </a:p>
          <a:p>
            <a:pPr marL="201295" indent="-189230">
              <a:lnSpc>
                <a:spcPct val="100000"/>
              </a:lnSpc>
              <a:spcBef>
                <a:spcPts val="520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spc="-50" dirty="0">
                <a:latin typeface="Calibri"/>
                <a:cs typeface="Calibri"/>
              </a:rPr>
              <a:t>You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pick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up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words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like</a:t>
            </a:r>
            <a:r>
              <a:rPr sz="2300" dirty="0">
                <a:latin typeface="Calibri"/>
                <a:cs typeface="Calibri"/>
              </a:rPr>
              <a:t> “</a:t>
            </a:r>
            <a:r>
              <a:rPr sz="2300" i="1" dirty="0">
                <a:solidFill>
                  <a:srgbClr val="FF0000"/>
                </a:solidFill>
                <a:latin typeface="Calibri"/>
                <a:cs typeface="Calibri"/>
              </a:rPr>
              <a:t>amazing</a:t>
            </a:r>
            <a:r>
              <a:rPr sz="2300" dirty="0">
                <a:latin typeface="Calibri"/>
                <a:cs typeface="Calibri"/>
              </a:rPr>
              <a:t>”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“</a:t>
            </a:r>
            <a:r>
              <a:rPr sz="2300" i="1" spc="-5" dirty="0">
                <a:solidFill>
                  <a:srgbClr val="FF0000"/>
                </a:solidFill>
                <a:latin typeface="Calibri"/>
                <a:cs typeface="Calibri"/>
              </a:rPr>
              <a:t>perfectly</a:t>
            </a:r>
            <a:r>
              <a:rPr sz="2300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i="1" dirty="0">
                <a:solidFill>
                  <a:srgbClr val="FF0000"/>
                </a:solidFill>
                <a:latin typeface="Calibri"/>
                <a:cs typeface="Calibri"/>
              </a:rPr>
              <a:t>balanced</a:t>
            </a:r>
            <a:r>
              <a:rPr sz="230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i="1" spc="-20" dirty="0">
                <a:solidFill>
                  <a:srgbClr val="FF0000"/>
                </a:solidFill>
                <a:latin typeface="Calibri"/>
                <a:cs typeface="Calibri"/>
              </a:rPr>
              <a:t>breakfast</a:t>
            </a:r>
            <a:r>
              <a:rPr sz="2300" spc="-20" dirty="0">
                <a:latin typeface="Calibri"/>
                <a:cs typeface="Calibri"/>
              </a:rPr>
              <a:t>”.</a:t>
            </a:r>
            <a:endParaRPr sz="2300">
              <a:latin typeface="Calibri"/>
              <a:cs typeface="Calibri"/>
            </a:endParaRPr>
          </a:p>
          <a:p>
            <a:pPr marL="201295" indent="-189230">
              <a:lnSpc>
                <a:spcPct val="100000"/>
              </a:lnSpc>
              <a:spcBef>
                <a:spcPts val="550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spc="-50" dirty="0">
                <a:latin typeface="Calibri"/>
                <a:cs typeface="Calibri"/>
              </a:rPr>
              <a:t>You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don’t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care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much </a:t>
            </a:r>
            <a:r>
              <a:rPr sz="2300" spc="-15" dirty="0">
                <a:latin typeface="Calibri"/>
                <a:cs typeface="Calibri"/>
              </a:rPr>
              <a:t>for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words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like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30" dirty="0">
                <a:latin typeface="Calibri"/>
                <a:cs typeface="Calibri"/>
              </a:rPr>
              <a:t>“</a:t>
            </a:r>
            <a:r>
              <a:rPr sz="2300" i="1" spc="-30" dirty="0">
                <a:solidFill>
                  <a:srgbClr val="BF9000"/>
                </a:solidFill>
                <a:latin typeface="Calibri"/>
                <a:cs typeface="Calibri"/>
              </a:rPr>
              <a:t>this</a:t>
            </a:r>
            <a:r>
              <a:rPr sz="2300" spc="-30" dirty="0">
                <a:latin typeface="Calibri"/>
                <a:cs typeface="Calibri"/>
              </a:rPr>
              <a:t>”,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30" dirty="0">
                <a:latin typeface="Calibri"/>
                <a:cs typeface="Calibri"/>
              </a:rPr>
              <a:t>“</a:t>
            </a:r>
            <a:r>
              <a:rPr sz="2300" i="1" spc="-30" dirty="0">
                <a:solidFill>
                  <a:srgbClr val="BF9000"/>
                </a:solidFill>
                <a:latin typeface="Calibri"/>
                <a:cs typeface="Calibri"/>
              </a:rPr>
              <a:t>gave</a:t>
            </a:r>
            <a:r>
              <a:rPr sz="2300" spc="-30" dirty="0">
                <a:latin typeface="Calibri"/>
                <a:cs typeface="Calibri"/>
              </a:rPr>
              <a:t>”,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40" dirty="0">
                <a:latin typeface="Calibri"/>
                <a:cs typeface="Calibri"/>
              </a:rPr>
              <a:t>“</a:t>
            </a:r>
            <a:r>
              <a:rPr sz="2300" i="1" spc="-40" dirty="0">
                <a:solidFill>
                  <a:srgbClr val="BF9000"/>
                </a:solidFill>
                <a:latin typeface="Calibri"/>
                <a:cs typeface="Calibri"/>
              </a:rPr>
              <a:t>all</a:t>
            </a:r>
            <a:r>
              <a:rPr sz="2300" spc="-40" dirty="0">
                <a:latin typeface="Calibri"/>
                <a:cs typeface="Calibri"/>
              </a:rPr>
              <a:t>”,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“</a:t>
            </a:r>
            <a:r>
              <a:rPr sz="2300" i="1" spc="-25" dirty="0">
                <a:solidFill>
                  <a:srgbClr val="BF9000"/>
                </a:solidFill>
                <a:latin typeface="Calibri"/>
                <a:cs typeface="Calibri"/>
              </a:rPr>
              <a:t>should</a:t>
            </a:r>
            <a:r>
              <a:rPr sz="2300" spc="-25" dirty="0">
                <a:latin typeface="Calibri"/>
                <a:cs typeface="Calibri"/>
              </a:rPr>
              <a:t>”,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etc.</a:t>
            </a:r>
            <a:endParaRPr sz="2300">
              <a:latin typeface="Calibri"/>
              <a:cs typeface="Calibri"/>
            </a:endParaRPr>
          </a:p>
          <a:p>
            <a:pPr marL="201295" marR="201295" indent="-189230">
              <a:lnSpc>
                <a:spcPts val="2500"/>
              </a:lnSpc>
              <a:spcBef>
                <a:spcPts val="865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dirty="0">
                <a:latin typeface="Calibri"/>
                <a:cs typeface="Calibri"/>
              </a:rPr>
              <a:t>If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a </a:t>
            </a:r>
            <a:r>
              <a:rPr sz="2300" dirty="0">
                <a:latin typeface="Calibri"/>
                <a:cs typeface="Calibri"/>
              </a:rPr>
              <a:t>friend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asks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you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 </a:t>
            </a:r>
            <a:r>
              <a:rPr sz="2300" spc="-5" dirty="0">
                <a:latin typeface="Calibri"/>
                <a:cs typeface="Calibri"/>
              </a:rPr>
              <a:t>next</a:t>
            </a:r>
            <a:r>
              <a:rPr sz="2300" spc="-15" dirty="0">
                <a:latin typeface="Calibri"/>
                <a:cs typeface="Calibri"/>
              </a:rPr>
              <a:t> day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what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review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said,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you probably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wouldn’t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remember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 </a:t>
            </a:r>
            <a:r>
              <a:rPr sz="2300" spc="-10" dirty="0">
                <a:latin typeface="Calibri"/>
                <a:cs typeface="Calibri"/>
              </a:rPr>
              <a:t>word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for</a:t>
            </a:r>
            <a:r>
              <a:rPr sz="2300" spc="-10" dirty="0">
                <a:latin typeface="Calibri"/>
                <a:cs typeface="Calibri"/>
              </a:rPr>
              <a:t> word.</a:t>
            </a:r>
            <a:endParaRPr sz="2300">
              <a:latin typeface="Calibri"/>
              <a:cs typeface="Calibri"/>
            </a:endParaRPr>
          </a:p>
          <a:p>
            <a:pPr marL="201295" marR="241300" indent="-189230">
              <a:lnSpc>
                <a:spcPts val="2500"/>
              </a:lnSpc>
              <a:spcBef>
                <a:spcPts val="810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spc="-50" dirty="0">
                <a:latin typeface="Calibri"/>
                <a:cs typeface="Calibri"/>
              </a:rPr>
              <a:t>You </a:t>
            </a:r>
            <a:r>
              <a:rPr sz="2300" spc="-5" dirty="0">
                <a:latin typeface="Calibri"/>
                <a:cs typeface="Calibri"/>
              </a:rPr>
              <a:t>might </a:t>
            </a:r>
            <a:r>
              <a:rPr sz="2300" dirty="0">
                <a:latin typeface="Calibri"/>
                <a:cs typeface="Calibri"/>
              </a:rPr>
              <a:t>remember the main </a:t>
            </a:r>
            <a:r>
              <a:rPr sz="2300" spc="-5" dirty="0">
                <a:latin typeface="Calibri"/>
                <a:cs typeface="Calibri"/>
              </a:rPr>
              <a:t>points </a:t>
            </a:r>
            <a:r>
              <a:rPr sz="2300" dirty="0">
                <a:latin typeface="Calibri"/>
                <a:cs typeface="Calibri"/>
              </a:rPr>
              <a:t>though </a:t>
            </a:r>
            <a:r>
              <a:rPr sz="2300" spc="-15" dirty="0">
                <a:latin typeface="Calibri"/>
                <a:cs typeface="Calibri"/>
              </a:rPr>
              <a:t>like </a:t>
            </a:r>
            <a:r>
              <a:rPr sz="2300" spc="5" dirty="0">
                <a:latin typeface="Calibri"/>
                <a:cs typeface="Calibri"/>
              </a:rPr>
              <a:t>“</a:t>
            </a:r>
            <a:r>
              <a:rPr sz="2300" i="1" spc="5" dirty="0">
                <a:solidFill>
                  <a:srgbClr val="FF0000"/>
                </a:solidFill>
                <a:latin typeface="Calibri"/>
                <a:cs typeface="Calibri"/>
              </a:rPr>
              <a:t>will </a:t>
            </a:r>
            <a:r>
              <a:rPr sz="2300" i="1" dirty="0">
                <a:solidFill>
                  <a:srgbClr val="FF0000"/>
                </a:solidFill>
                <a:latin typeface="Calibri"/>
                <a:cs typeface="Calibri"/>
              </a:rPr>
              <a:t>definitely </a:t>
            </a:r>
            <a:r>
              <a:rPr sz="2300" i="1" spc="5" dirty="0">
                <a:solidFill>
                  <a:srgbClr val="FF0000"/>
                </a:solidFill>
                <a:latin typeface="Calibri"/>
                <a:cs typeface="Calibri"/>
              </a:rPr>
              <a:t>be </a:t>
            </a:r>
            <a:r>
              <a:rPr sz="2300" i="1" spc="-5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i="1" dirty="0">
                <a:solidFill>
                  <a:srgbClr val="FF0000"/>
                </a:solidFill>
                <a:latin typeface="Calibri"/>
                <a:cs typeface="Calibri"/>
              </a:rPr>
              <a:t>buying</a:t>
            </a:r>
            <a:r>
              <a:rPr sz="23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i="1" spc="-30" dirty="0">
                <a:solidFill>
                  <a:srgbClr val="FF0000"/>
                </a:solidFill>
                <a:latin typeface="Calibri"/>
                <a:cs typeface="Calibri"/>
              </a:rPr>
              <a:t>again</a:t>
            </a:r>
            <a:r>
              <a:rPr sz="2300" spc="-30" dirty="0">
                <a:latin typeface="Calibri"/>
                <a:cs typeface="Calibri"/>
              </a:rPr>
              <a:t>”.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865" y="1558543"/>
            <a:ext cx="1589405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E</a:t>
            </a:r>
            <a:r>
              <a:rPr spc="-114" dirty="0"/>
              <a:t>x</a:t>
            </a:r>
            <a:r>
              <a:rPr spc="-10" dirty="0"/>
              <a:t>a</a:t>
            </a:r>
            <a:r>
              <a:rPr dirty="0"/>
              <a:t>m</a:t>
            </a:r>
            <a:r>
              <a:rPr spc="-10" dirty="0"/>
              <a:t>p</a:t>
            </a:r>
            <a:r>
              <a:rPr spc="-25" dirty="0"/>
              <a:t>l</a:t>
            </a:r>
            <a:r>
              <a:rPr spc="5"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865" y="2533902"/>
            <a:ext cx="8081009" cy="69596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01295" marR="5080" indent="-189230">
              <a:lnSpc>
                <a:spcPts val="2500"/>
              </a:lnSpc>
              <a:spcBef>
                <a:spcPts val="415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dirty="0">
                <a:latin typeface="Calibri"/>
                <a:cs typeface="Calibri"/>
              </a:rPr>
              <a:t>LSTMs work in </a:t>
            </a:r>
            <a:r>
              <a:rPr sz="2300" spc="5" dirty="0">
                <a:latin typeface="Calibri"/>
                <a:cs typeface="Calibri"/>
              </a:rPr>
              <a:t>a </a:t>
            </a:r>
            <a:r>
              <a:rPr sz="2300" dirty="0">
                <a:latin typeface="Calibri"/>
                <a:cs typeface="Calibri"/>
              </a:rPr>
              <a:t>similar </a:t>
            </a:r>
            <a:r>
              <a:rPr sz="2300" spc="-5" dirty="0">
                <a:latin typeface="Calibri"/>
                <a:cs typeface="Calibri"/>
              </a:rPr>
              <a:t>form. </a:t>
            </a:r>
            <a:r>
              <a:rPr sz="2300" dirty="0">
                <a:latin typeface="Calibri"/>
                <a:cs typeface="Calibri"/>
              </a:rPr>
              <a:t>They </a:t>
            </a:r>
            <a:r>
              <a:rPr sz="2300" spc="-5" dirty="0">
                <a:latin typeface="Calibri"/>
                <a:cs typeface="Calibri"/>
              </a:rPr>
              <a:t>can </a:t>
            </a:r>
            <a:r>
              <a:rPr sz="2300" dirty="0">
                <a:latin typeface="Calibri"/>
                <a:cs typeface="Calibri"/>
              </a:rPr>
              <a:t>learn </a:t>
            </a:r>
            <a:r>
              <a:rPr sz="2300" spc="-5" dirty="0">
                <a:latin typeface="Calibri"/>
                <a:cs typeface="Calibri"/>
              </a:rPr>
              <a:t>to </a:t>
            </a:r>
            <a:r>
              <a:rPr sz="2300" spc="-10" dirty="0">
                <a:latin typeface="Calibri"/>
                <a:cs typeface="Calibri"/>
              </a:rPr>
              <a:t>keep </a:t>
            </a:r>
            <a:r>
              <a:rPr sz="2300" dirty="0">
                <a:latin typeface="Calibri"/>
                <a:cs typeface="Calibri"/>
              </a:rPr>
              <a:t>only </a:t>
            </a:r>
            <a:r>
              <a:rPr sz="2300" spc="-15" dirty="0">
                <a:latin typeface="Calibri"/>
                <a:cs typeface="Calibri"/>
              </a:rPr>
              <a:t>relevant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information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to </a:t>
            </a:r>
            <a:r>
              <a:rPr sz="2300" spc="-15" dirty="0">
                <a:latin typeface="Calibri"/>
                <a:cs typeface="Calibri"/>
              </a:rPr>
              <a:t>make </a:t>
            </a:r>
            <a:r>
              <a:rPr sz="2300" spc="-5" dirty="0">
                <a:latin typeface="Calibri"/>
                <a:cs typeface="Calibri"/>
              </a:rPr>
              <a:t>predictions,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forget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non </a:t>
            </a:r>
            <a:r>
              <a:rPr sz="2300" spc="-15" dirty="0">
                <a:latin typeface="Calibri"/>
                <a:cs typeface="Calibri"/>
              </a:rPr>
              <a:t>relevant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data.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8444" y="3400044"/>
            <a:ext cx="5640323" cy="275386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8031" y="4781519"/>
            <a:ext cx="6455792" cy="119246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3865" y="1558543"/>
            <a:ext cx="3603625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5" dirty="0"/>
              <a:t>RNN</a:t>
            </a:r>
            <a:r>
              <a:rPr spc="-25" dirty="0"/>
              <a:t> </a:t>
            </a:r>
            <a:r>
              <a:rPr spc="10" dirty="0"/>
              <a:t>-</a:t>
            </a:r>
            <a:r>
              <a:rPr spc="-15" dirty="0"/>
              <a:t> </a:t>
            </a:r>
            <a:r>
              <a:rPr spc="-30" dirty="0"/>
              <a:t>Walkthrough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3865" y="2248915"/>
            <a:ext cx="8422640" cy="69596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01295" marR="5080" indent="-189230">
              <a:lnSpc>
                <a:spcPts val="2500"/>
              </a:lnSpc>
              <a:spcBef>
                <a:spcPts val="415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spc="-25" dirty="0">
                <a:latin typeface="Calibri"/>
                <a:cs typeface="Calibri"/>
              </a:rPr>
              <a:t>Words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are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transformed</a:t>
            </a:r>
            <a:r>
              <a:rPr sz="2300" spc="-5" dirty="0">
                <a:latin typeface="Calibri"/>
                <a:cs typeface="Calibri"/>
              </a:rPr>
              <a:t> to </a:t>
            </a:r>
            <a:r>
              <a:rPr sz="2300" spc="-10" dirty="0">
                <a:latin typeface="Calibri"/>
                <a:cs typeface="Calibri"/>
              </a:rPr>
              <a:t>vectors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fed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to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RNN</a:t>
            </a:r>
            <a:r>
              <a:rPr sz="2300" dirty="0">
                <a:latin typeface="Calibri"/>
                <a:cs typeface="Calibri"/>
              </a:rPr>
              <a:t> and processed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one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by </a:t>
            </a:r>
            <a:r>
              <a:rPr sz="2300" dirty="0">
                <a:latin typeface="Calibri"/>
                <a:cs typeface="Calibri"/>
              </a:rPr>
              <a:t>one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3181" y="2977895"/>
            <a:ext cx="7330440" cy="152095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28</a:t>
            </a:fld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865" y="1558543"/>
            <a:ext cx="3357245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5" dirty="0"/>
              <a:t>RNN</a:t>
            </a:r>
            <a:r>
              <a:rPr spc="-50" dirty="0"/>
              <a:t> </a:t>
            </a:r>
            <a:r>
              <a:rPr spc="-30" dirty="0"/>
              <a:t>Walkthrough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865" y="2533902"/>
            <a:ext cx="8448040" cy="143510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01295" marR="5080" indent="-189230">
              <a:lnSpc>
                <a:spcPts val="2500"/>
              </a:lnSpc>
              <a:spcBef>
                <a:spcPts val="415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dirty="0">
                <a:latin typeface="Calibri"/>
                <a:cs typeface="Calibri"/>
              </a:rPr>
              <a:t>While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processing,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 passes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previous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hidden </a:t>
            </a:r>
            <a:r>
              <a:rPr sz="2300" spc="-15" dirty="0">
                <a:latin typeface="Calibri"/>
                <a:cs typeface="Calibri"/>
              </a:rPr>
              <a:t>state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to </a:t>
            </a:r>
            <a:r>
              <a:rPr sz="2300" dirty="0">
                <a:latin typeface="Calibri"/>
                <a:cs typeface="Calibri"/>
              </a:rPr>
              <a:t>the </a:t>
            </a:r>
            <a:r>
              <a:rPr sz="2300" spc="-5" dirty="0">
                <a:latin typeface="Calibri"/>
                <a:cs typeface="Calibri"/>
              </a:rPr>
              <a:t>next</a:t>
            </a:r>
            <a:r>
              <a:rPr sz="2300" spc="-10" dirty="0">
                <a:latin typeface="Calibri"/>
                <a:cs typeface="Calibri"/>
              </a:rPr>
              <a:t> step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of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sequence.</a:t>
            </a:r>
            <a:endParaRPr sz="2300">
              <a:latin typeface="Calibri"/>
              <a:cs typeface="Calibri"/>
            </a:endParaRPr>
          </a:p>
          <a:p>
            <a:pPr marL="201295" marR="840740" indent="-189230">
              <a:lnSpc>
                <a:spcPts val="2500"/>
              </a:lnSpc>
              <a:spcBef>
                <a:spcPts val="819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dirty="0">
                <a:latin typeface="Calibri"/>
                <a:cs typeface="Calibri"/>
              </a:rPr>
              <a:t>The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hidden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state </a:t>
            </a:r>
            <a:r>
              <a:rPr sz="2300" spc="5" dirty="0">
                <a:latin typeface="Calibri"/>
                <a:cs typeface="Calibri"/>
              </a:rPr>
              <a:t>acts</a:t>
            </a:r>
            <a:r>
              <a:rPr sz="2300" dirty="0">
                <a:latin typeface="Calibri"/>
                <a:cs typeface="Calibri"/>
              </a:rPr>
              <a:t> as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 </a:t>
            </a:r>
            <a:r>
              <a:rPr sz="2300" spc="-10" dirty="0">
                <a:latin typeface="Calibri"/>
                <a:cs typeface="Calibri"/>
              </a:rPr>
              <a:t>neural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networks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memory.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 holds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information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on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previous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data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5" dirty="0">
                <a:latin typeface="Calibri"/>
                <a:cs typeface="Calibri"/>
              </a:rPr>
              <a:t> network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has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seen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8071" y="4172041"/>
            <a:ext cx="3803769" cy="186228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9383" y="3529645"/>
            <a:ext cx="4118130" cy="276641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3865" y="1558543"/>
            <a:ext cx="3357245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5" dirty="0"/>
              <a:t>RNN</a:t>
            </a:r>
            <a:r>
              <a:rPr spc="-50" dirty="0"/>
              <a:t> </a:t>
            </a:r>
            <a:r>
              <a:rPr spc="-30" dirty="0"/>
              <a:t>Walkthrough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30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753865" y="2250438"/>
            <a:ext cx="8355965" cy="123888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01295" marR="5080" indent="-189230">
              <a:lnSpc>
                <a:spcPts val="2140"/>
              </a:lnSpc>
              <a:spcBef>
                <a:spcPts val="365"/>
              </a:spcBef>
              <a:buChar char="•"/>
              <a:tabLst>
                <a:tab pos="201930" algn="l"/>
              </a:tabLst>
            </a:pPr>
            <a:r>
              <a:rPr sz="1950" spc="10" dirty="0">
                <a:latin typeface="Arial MT"/>
                <a:cs typeface="Arial MT"/>
              </a:rPr>
              <a:t>First, the input </a:t>
            </a:r>
            <a:r>
              <a:rPr sz="1950" spc="15" dirty="0">
                <a:latin typeface="Arial MT"/>
                <a:cs typeface="Arial MT"/>
              </a:rPr>
              <a:t>and </a:t>
            </a:r>
            <a:r>
              <a:rPr sz="1950" spc="10" dirty="0">
                <a:latin typeface="Arial MT"/>
                <a:cs typeface="Arial MT"/>
              </a:rPr>
              <a:t>previous hidden state are </a:t>
            </a:r>
            <a:r>
              <a:rPr sz="1950" spc="15" dirty="0">
                <a:latin typeface="Arial MT"/>
                <a:cs typeface="Arial MT"/>
              </a:rPr>
              <a:t>combined </a:t>
            </a:r>
            <a:r>
              <a:rPr sz="1950" spc="10" dirty="0">
                <a:latin typeface="Arial MT"/>
                <a:cs typeface="Arial MT"/>
              </a:rPr>
              <a:t>to </a:t>
            </a:r>
            <a:r>
              <a:rPr sz="1950" spc="15" dirty="0">
                <a:latin typeface="Arial MT"/>
                <a:cs typeface="Arial MT"/>
              </a:rPr>
              <a:t>form a </a:t>
            </a:r>
            <a:r>
              <a:rPr sz="1950" spc="-5" dirty="0">
                <a:latin typeface="Arial MT"/>
                <a:cs typeface="Arial MT"/>
              </a:rPr>
              <a:t>vector. </a:t>
            </a:r>
            <a:r>
              <a:rPr sz="1950" dirty="0">
                <a:latin typeface="Arial MT"/>
                <a:cs typeface="Arial MT"/>
              </a:rPr>
              <a:t> </a:t>
            </a:r>
            <a:r>
              <a:rPr sz="1950" spc="15" dirty="0">
                <a:latin typeface="Arial MT"/>
                <a:cs typeface="Arial MT"/>
              </a:rPr>
              <a:t>That</a:t>
            </a:r>
            <a:r>
              <a:rPr sz="1950" dirty="0">
                <a:latin typeface="Arial MT"/>
                <a:cs typeface="Arial MT"/>
              </a:rPr>
              <a:t> </a:t>
            </a:r>
            <a:r>
              <a:rPr sz="1950" spc="15" dirty="0">
                <a:latin typeface="Arial MT"/>
                <a:cs typeface="Arial MT"/>
              </a:rPr>
              <a:t>vector</a:t>
            </a:r>
            <a:r>
              <a:rPr sz="1950" spc="-10" dirty="0">
                <a:latin typeface="Arial MT"/>
                <a:cs typeface="Arial MT"/>
              </a:rPr>
              <a:t> </a:t>
            </a:r>
            <a:r>
              <a:rPr sz="1950" spc="15" dirty="0">
                <a:latin typeface="Arial MT"/>
                <a:cs typeface="Arial MT"/>
              </a:rPr>
              <a:t>now</a:t>
            </a:r>
            <a:r>
              <a:rPr sz="1950" dirty="0">
                <a:latin typeface="Arial MT"/>
                <a:cs typeface="Arial MT"/>
              </a:rPr>
              <a:t> </a:t>
            </a:r>
            <a:r>
              <a:rPr sz="1950" spc="15" dirty="0">
                <a:latin typeface="Arial MT"/>
                <a:cs typeface="Arial MT"/>
              </a:rPr>
              <a:t>has</a:t>
            </a:r>
            <a:r>
              <a:rPr sz="1950" spc="5" dirty="0">
                <a:latin typeface="Arial MT"/>
                <a:cs typeface="Arial MT"/>
              </a:rPr>
              <a:t> </a:t>
            </a:r>
            <a:r>
              <a:rPr sz="1950" spc="10" dirty="0">
                <a:latin typeface="Arial MT"/>
                <a:cs typeface="Arial MT"/>
              </a:rPr>
              <a:t>information</a:t>
            </a:r>
            <a:r>
              <a:rPr sz="1950" spc="5" dirty="0">
                <a:latin typeface="Arial MT"/>
                <a:cs typeface="Arial MT"/>
              </a:rPr>
              <a:t> </a:t>
            </a:r>
            <a:r>
              <a:rPr sz="1950" spc="15" dirty="0">
                <a:latin typeface="Arial MT"/>
                <a:cs typeface="Arial MT"/>
              </a:rPr>
              <a:t>on </a:t>
            </a:r>
            <a:r>
              <a:rPr sz="1950" spc="10" dirty="0">
                <a:latin typeface="Arial MT"/>
                <a:cs typeface="Arial MT"/>
              </a:rPr>
              <a:t>the</a:t>
            </a:r>
            <a:r>
              <a:rPr sz="1950" spc="5" dirty="0">
                <a:latin typeface="Arial MT"/>
                <a:cs typeface="Arial MT"/>
              </a:rPr>
              <a:t> </a:t>
            </a:r>
            <a:r>
              <a:rPr sz="1950" spc="10" dirty="0">
                <a:latin typeface="Arial MT"/>
                <a:cs typeface="Arial MT"/>
              </a:rPr>
              <a:t>current</a:t>
            </a:r>
            <a:r>
              <a:rPr sz="1950" spc="-10" dirty="0">
                <a:latin typeface="Arial MT"/>
                <a:cs typeface="Arial MT"/>
              </a:rPr>
              <a:t> </a:t>
            </a:r>
            <a:r>
              <a:rPr sz="1950" spc="10" dirty="0">
                <a:latin typeface="Arial MT"/>
                <a:cs typeface="Arial MT"/>
              </a:rPr>
              <a:t>input</a:t>
            </a:r>
            <a:r>
              <a:rPr sz="1950" dirty="0">
                <a:latin typeface="Arial MT"/>
                <a:cs typeface="Arial MT"/>
              </a:rPr>
              <a:t> </a:t>
            </a:r>
            <a:r>
              <a:rPr sz="1950" spc="15" dirty="0">
                <a:latin typeface="Arial MT"/>
                <a:cs typeface="Arial MT"/>
              </a:rPr>
              <a:t>and</a:t>
            </a:r>
            <a:r>
              <a:rPr sz="1950" spc="5" dirty="0">
                <a:latin typeface="Arial MT"/>
                <a:cs typeface="Arial MT"/>
              </a:rPr>
              <a:t> </a:t>
            </a:r>
            <a:r>
              <a:rPr sz="1950" spc="10" dirty="0">
                <a:latin typeface="Arial MT"/>
                <a:cs typeface="Arial MT"/>
              </a:rPr>
              <a:t>previous</a:t>
            </a:r>
            <a:r>
              <a:rPr sz="1950" spc="5" dirty="0">
                <a:latin typeface="Arial MT"/>
                <a:cs typeface="Arial MT"/>
              </a:rPr>
              <a:t> </a:t>
            </a:r>
            <a:r>
              <a:rPr sz="1950" spc="10" dirty="0">
                <a:latin typeface="Arial MT"/>
                <a:cs typeface="Arial MT"/>
              </a:rPr>
              <a:t>inputs.</a:t>
            </a:r>
            <a:endParaRPr sz="1950">
              <a:latin typeface="Arial MT"/>
              <a:cs typeface="Arial MT"/>
            </a:endParaRPr>
          </a:p>
          <a:p>
            <a:pPr marL="201295" marR="359410" indent="-189230">
              <a:lnSpc>
                <a:spcPts val="2080"/>
              </a:lnSpc>
              <a:spcBef>
                <a:spcPts val="869"/>
              </a:spcBef>
              <a:buChar char="•"/>
              <a:tabLst>
                <a:tab pos="201930" algn="l"/>
              </a:tabLst>
            </a:pPr>
            <a:r>
              <a:rPr sz="1950" spc="15" dirty="0">
                <a:latin typeface="Arial MT"/>
                <a:cs typeface="Arial MT"/>
              </a:rPr>
              <a:t>The vector goes </a:t>
            </a:r>
            <a:r>
              <a:rPr sz="1950" spc="10" dirty="0">
                <a:latin typeface="Arial MT"/>
                <a:cs typeface="Arial MT"/>
              </a:rPr>
              <a:t>through the </a:t>
            </a:r>
            <a:r>
              <a:rPr sz="1950" i="1" spc="10" dirty="0">
                <a:solidFill>
                  <a:srgbClr val="FF0000"/>
                </a:solidFill>
                <a:latin typeface="Arial"/>
                <a:cs typeface="Arial"/>
              </a:rPr>
              <a:t>tanh </a:t>
            </a:r>
            <a:r>
              <a:rPr sz="1950" spc="10" dirty="0">
                <a:latin typeface="Arial MT"/>
                <a:cs typeface="Arial MT"/>
              </a:rPr>
              <a:t>activation, </a:t>
            </a:r>
            <a:r>
              <a:rPr sz="1950" spc="15" dirty="0">
                <a:latin typeface="Arial MT"/>
                <a:cs typeface="Arial MT"/>
              </a:rPr>
              <a:t>and </a:t>
            </a:r>
            <a:r>
              <a:rPr sz="1950" spc="10" dirty="0">
                <a:latin typeface="Arial MT"/>
                <a:cs typeface="Arial MT"/>
              </a:rPr>
              <a:t>the output is the </a:t>
            </a:r>
            <a:r>
              <a:rPr sz="1950" spc="15" dirty="0">
                <a:latin typeface="Arial MT"/>
                <a:cs typeface="Arial MT"/>
              </a:rPr>
              <a:t>new </a:t>
            </a:r>
            <a:r>
              <a:rPr sz="1950" spc="-530" dirty="0">
                <a:latin typeface="Arial MT"/>
                <a:cs typeface="Arial MT"/>
              </a:rPr>
              <a:t> </a:t>
            </a:r>
            <a:r>
              <a:rPr sz="1950" spc="10" dirty="0">
                <a:latin typeface="Arial MT"/>
                <a:cs typeface="Arial MT"/>
              </a:rPr>
              <a:t>hidden</a:t>
            </a:r>
            <a:r>
              <a:rPr sz="1950" dirty="0">
                <a:latin typeface="Arial MT"/>
                <a:cs typeface="Arial MT"/>
              </a:rPr>
              <a:t> </a:t>
            </a:r>
            <a:r>
              <a:rPr sz="1950" spc="10" dirty="0">
                <a:latin typeface="Arial MT"/>
                <a:cs typeface="Arial MT"/>
              </a:rPr>
              <a:t>state,</a:t>
            </a:r>
            <a:r>
              <a:rPr sz="1950" spc="-15" dirty="0">
                <a:latin typeface="Arial MT"/>
                <a:cs typeface="Arial MT"/>
              </a:rPr>
              <a:t> </a:t>
            </a:r>
            <a:r>
              <a:rPr sz="1950" spc="10" dirty="0">
                <a:latin typeface="Arial MT"/>
                <a:cs typeface="Arial MT"/>
              </a:rPr>
              <a:t>or</a:t>
            </a:r>
            <a:r>
              <a:rPr sz="1950" spc="-5" dirty="0">
                <a:latin typeface="Arial MT"/>
                <a:cs typeface="Arial MT"/>
              </a:rPr>
              <a:t> </a:t>
            </a:r>
            <a:r>
              <a:rPr sz="1950" spc="10" dirty="0">
                <a:latin typeface="Arial MT"/>
                <a:cs typeface="Arial MT"/>
              </a:rPr>
              <a:t>the</a:t>
            </a:r>
            <a:r>
              <a:rPr sz="1950" dirty="0">
                <a:latin typeface="Arial MT"/>
                <a:cs typeface="Arial MT"/>
              </a:rPr>
              <a:t> </a:t>
            </a:r>
            <a:r>
              <a:rPr sz="1950" spc="10" dirty="0">
                <a:latin typeface="Arial MT"/>
                <a:cs typeface="Arial MT"/>
              </a:rPr>
              <a:t>memory</a:t>
            </a:r>
            <a:r>
              <a:rPr sz="1950" spc="15" dirty="0">
                <a:latin typeface="Arial MT"/>
                <a:cs typeface="Arial MT"/>
              </a:rPr>
              <a:t> </a:t>
            </a:r>
            <a:r>
              <a:rPr sz="1950" spc="10" dirty="0">
                <a:latin typeface="Arial MT"/>
                <a:cs typeface="Arial MT"/>
              </a:rPr>
              <a:t>of</a:t>
            </a:r>
            <a:r>
              <a:rPr sz="1950" dirty="0">
                <a:latin typeface="Arial MT"/>
                <a:cs typeface="Arial MT"/>
              </a:rPr>
              <a:t> </a:t>
            </a:r>
            <a:r>
              <a:rPr sz="1950" spc="10" dirty="0">
                <a:latin typeface="Arial MT"/>
                <a:cs typeface="Arial MT"/>
              </a:rPr>
              <a:t>the</a:t>
            </a:r>
            <a:r>
              <a:rPr sz="1950" dirty="0">
                <a:latin typeface="Arial MT"/>
                <a:cs typeface="Arial MT"/>
              </a:rPr>
              <a:t> </a:t>
            </a:r>
            <a:r>
              <a:rPr sz="1950" spc="10" dirty="0">
                <a:latin typeface="Arial MT"/>
                <a:cs typeface="Arial MT"/>
              </a:rPr>
              <a:t>network.</a:t>
            </a:r>
            <a:endParaRPr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865" y="1558543"/>
            <a:ext cx="3710940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LSTMs</a:t>
            </a:r>
            <a:r>
              <a:rPr spc="-65" dirty="0"/>
              <a:t> </a:t>
            </a:r>
            <a:r>
              <a:rPr spc="-30" dirty="0"/>
              <a:t>Walkthrough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865" y="2243123"/>
            <a:ext cx="6959600" cy="108648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720"/>
              </a:spcBef>
              <a:buChar char="•"/>
              <a:tabLst>
                <a:tab pos="201930" algn="l"/>
              </a:tabLst>
            </a:pPr>
            <a:r>
              <a:rPr sz="1800" spc="5" dirty="0">
                <a:latin typeface="Arial MT"/>
                <a:cs typeface="Arial MT"/>
              </a:rPr>
              <a:t>An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LSTM has a similar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control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flow as a</a:t>
            </a:r>
            <a:r>
              <a:rPr sz="1800" dirty="0">
                <a:latin typeface="Arial MT"/>
                <a:cs typeface="Arial MT"/>
              </a:rPr>
              <a:t> recurrent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neural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network.</a:t>
            </a:r>
            <a:endParaRPr sz="1800">
              <a:latin typeface="Arial MT"/>
              <a:cs typeface="Arial MT"/>
            </a:endParaRPr>
          </a:p>
          <a:p>
            <a:pPr marL="201295" indent="-189230">
              <a:lnSpc>
                <a:spcPct val="100000"/>
              </a:lnSpc>
              <a:spcBef>
                <a:spcPts val="625"/>
              </a:spcBef>
              <a:buChar char="•"/>
              <a:tabLst>
                <a:tab pos="201930" algn="l"/>
              </a:tabLst>
            </a:pPr>
            <a:r>
              <a:rPr sz="1800" dirty="0">
                <a:latin typeface="Arial MT"/>
                <a:cs typeface="Arial MT"/>
              </a:rPr>
              <a:t>It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processes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data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passing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on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information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as it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propagates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forward.</a:t>
            </a:r>
            <a:endParaRPr sz="1800">
              <a:latin typeface="Arial MT"/>
              <a:cs typeface="Arial MT"/>
            </a:endParaRPr>
          </a:p>
          <a:p>
            <a:pPr marL="201295" indent="-189230">
              <a:lnSpc>
                <a:spcPct val="100000"/>
              </a:lnSpc>
              <a:spcBef>
                <a:spcPts val="625"/>
              </a:spcBef>
              <a:buChar char="•"/>
              <a:tabLst>
                <a:tab pos="201930" algn="l"/>
              </a:tabLst>
            </a:pPr>
            <a:r>
              <a:rPr sz="1800" spc="5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differences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operations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within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the</a:t>
            </a:r>
            <a:r>
              <a:rPr sz="1800" dirty="0">
                <a:latin typeface="Arial MT"/>
                <a:cs typeface="Arial MT"/>
              </a:rPr>
              <a:t> LSTM’s </a:t>
            </a:r>
            <a:r>
              <a:rPr sz="1800" spc="5" dirty="0">
                <a:latin typeface="Arial MT"/>
                <a:cs typeface="Arial MT"/>
              </a:rPr>
              <a:t>cells.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8676" y="3627494"/>
            <a:ext cx="3387396" cy="256146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84034" y="4552132"/>
            <a:ext cx="3844356" cy="64144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31</a:t>
            </a:fld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9578" y="3650687"/>
            <a:ext cx="4940878" cy="248738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LSTMs</a:t>
            </a:r>
            <a:r>
              <a:rPr spc="-65" dirty="0"/>
              <a:t> </a:t>
            </a:r>
            <a:r>
              <a:rPr spc="-30" dirty="0"/>
              <a:t>Walkthrough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201930" algn="l"/>
              </a:tabLst>
            </a:pPr>
            <a:r>
              <a:rPr i="1" spc="15" dirty="0">
                <a:solidFill>
                  <a:srgbClr val="FF0000"/>
                </a:solidFill>
                <a:latin typeface="Calibri"/>
                <a:cs typeface="Calibri"/>
              </a:rPr>
              <a:t>Forget</a:t>
            </a:r>
            <a:r>
              <a:rPr i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i="1" spc="20" dirty="0">
                <a:solidFill>
                  <a:srgbClr val="FF0000"/>
                </a:solidFill>
                <a:latin typeface="Calibri"/>
                <a:cs typeface="Calibri"/>
              </a:rPr>
              <a:t>Gate</a:t>
            </a:r>
            <a:r>
              <a:rPr i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/>
              <a:t>decides</a:t>
            </a:r>
            <a:r>
              <a:rPr spc="10" dirty="0"/>
              <a:t> </a:t>
            </a:r>
            <a:r>
              <a:rPr spc="-5" dirty="0"/>
              <a:t>what</a:t>
            </a:r>
            <a:r>
              <a:rPr spc="10" dirty="0"/>
              <a:t> </a:t>
            </a:r>
            <a:r>
              <a:rPr spc="-5" dirty="0"/>
              <a:t>information</a:t>
            </a:r>
            <a:r>
              <a:rPr spc="-30" dirty="0"/>
              <a:t> </a:t>
            </a:r>
            <a:r>
              <a:rPr dirty="0"/>
              <a:t>should</a:t>
            </a:r>
            <a:r>
              <a:rPr spc="5" dirty="0"/>
              <a:t> </a:t>
            </a:r>
            <a:r>
              <a:rPr dirty="0"/>
              <a:t>be</a:t>
            </a:r>
            <a:r>
              <a:rPr spc="10" dirty="0"/>
              <a:t> </a:t>
            </a:r>
            <a:r>
              <a:rPr dirty="0"/>
              <a:t>thrown</a:t>
            </a:r>
            <a:r>
              <a:rPr spc="-15" dirty="0"/>
              <a:t> away</a:t>
            </a:r>
            <a:r>
              <a:rPr spc="30" dirty="0"/>
              <a:t> </a:t>
            </a:r>
            <a:r>
              <a:rPr spc="5" dirty="0"/>
              <a:t>or</a:t>
            </a:r>
            <a:r>
              <a:rPr spc="-10" dirty="0"/>
              <a:t> kept.</a:t>
            </a:r>
          </a:p>
          <a:p>
            <a:pPr marL="201295" marR="93980" indent="-189230">
              <a:lnSpc>
                <a:spcPts val="1960"/>
              </a:lnSpc>
              <a:spcBef>
                <a:spcPts val="869"/>
              </a:spcBef>
              <a:buFont typeface="Arial MT"/>
              <a:buChar char="•"/>
              <a:tabLst>
                <a:tab pos="201930" algn="l"/>
              </a:tabLst>
            </a:pPr>
            <a:r>
              <a:rPr spc="-5" dirty="0"/>
              <a:t>Information</a:t>
            </a:r>
            <a:r>
              <a:rPr spc="-15" dirty="0"/>
              <a:t> </a:t>
            </a:r>
            <a:r>
              <a:rPr spc="-5" dirty="0"/>
              <a:t>from</a:t>
            </a:r>
            <a:r>
              <a:rPr spc="20" dirty="0"/>
              <a:t> </a:t>
            </a:r>
            <a:r>
              <a:rPr spc="5" dirty="0"/>
              <a:t>the</a:t>
            </a:r>
            <a:r>
              <a:rPr spc="20" dirty="0"/>
              <a:t> </a:t>
            </a:r>
            <a:r>
              <a:rPr spc="-5" dirty="0"/>
              <a:t>previous</a:t>
            </a:r>
            <a:r>
              <a:rPr spc="10" dirty="0"/>
              <a:t> </a:t>
            </a:r>
            <a:r>
              <a:rPr dirty="0"/>
              <a:t>hidden</a:t>
            </a:r>
            <a:r>
              <a:rPr spc="15" dirty="0"/>
              <a:t> </a:t>
            </a:r>
            <a:r>
              <a:rPr spc="-15" dirty="0"/>
              <a:t>state</a:t>
            </a:r>
            <a:r>
              <a:rPr spc="20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5" dirty="0"/>
              <a:t>information</a:t>
            </a:r>
            <a:r>
              <a:rPr spc="-20" dirty="0"/>
              <a:t> </a:t>
            </a:r>
            <a:r>
              <a:rPr spc="-5" dirty="0"/>
              <a:t>from</a:t>
            </a:r>
            <a:r>
              <a:rPr spc="15" dirty="0"/>
              <a:t> </a:t>
            </a:r>
            <a:r>
              <a:rPr spc="5" dirty="0"/>
              <a:t>the</a:t>
            </a:r>
            <a:r>
              <a:rPr spc="20" dirty="0"/>
              <a:t> </a:t>
            </a:r>
            <a:r>
              <a:rPr spc="-5" dirty="0"/>
              <a:t>current</a:t>
            </a:r>
            <a:r>
              <a:rPr dirty="0"/>
              <a:t> input is </a:t>
            </a:r>
            <a:r>
              <a:rPr spc="-390" dirty="0"/>
              <a:t> </a:t>
            </a:r>
            <a:r>
              <a:rPr dirty="0"/>
              <a:t>passed</a:t>
            </a:r>
            <a:r>
              <a:rPr spc="15" dirty="0"/>
              <a:t> </a:t>
            </a:r>
            <a:r>
              <a:rPr dirty="0"/>
              <a:t>through</a:t>
            </a:r>
            <a:r>
              <a:rPr spc="-20" dirty="0"/>
              <a:t> </a:t>
            </a:r>
            <a:r>
              <a:rPr spc="5" dirty="0"/>
              <a:t>the</a:t>
            </a:r>
            <a:r>
              <a:rPr spc="10" dirty="0"/>
              <a:t> </a:t>
            </a:r>
            <a:r>
              <a:rPr dirty="0"/>
              <a:t>sigmoid</a:t>
            </a:r>
            <a:r>
              <a:rPr spc="-5" dirty="0"/>
              <a:t> </a:t>
            </a:r>
            <a:r>
              <a:rPr dirty="0"/>
              <a:t>function.</a:t>
            </a:r>
          </a:p>
          <a:p>
            <a:pPr marL="201295" marR="5080" indent="-189230">
              <a:lnSpc>
                <a:spcPts val="1960"/>
              </a:lnSpc>
              <a:spcBef>
                <a:spcPts val="819"/>
              </a:spcBef>
              <a:buFont typeface="Arial MT"/>
              <a:buChar char="•"/>
              <a:tabLst>
                <a:tab pos="201930" algn="l"/>
              </a:tabLst>
            </a:pPr>
            <a:r>
              <a:rPr spc="-15" dirty="0"/>
              <a:t>Values</a:t>
            </a:r>
            <a:r>
              <a:rPr dirty="0"/>
              <a:t> come</a:t>
            </a:r>
            <a:r>
              <a:rPr spc="15" dirty="0"/>
              <a:t> </a:t>
            </a:r>
            <a:r>
              <a:rPr dirty="0"/>
              <a:t>out</a:t>
            </a:r>
            <a:r>
              <a:rPr spc="10" dirty="0"/>
              <a:t> </a:t>
            </a:r>
            <a:r>
              <a:rPr dirty="0"/>
              <a:t>between</a:t>
            </a:r>
            <a:r>
              <a:rPr spc="20" dirty="0"/>
              <a:t> </a:t>
            </a:r>
            <a:r>
              <a:rPr spc="5" dirty="0"/>
              <a:t>0</a:t>
            </a:r>
            <a:r>
              <a:rPr spc="10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spc="5" dirty="0"/>
              <a:t>1.</a:t>
            </a:r>
            <a:r>
              <a:rPr spc="-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closer</a:t>
            </a:r>
            <a:r>
              <a:rPr spc="10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spc="5" dirty="0"/>
              <a:t>0</a:t>
            </a:r>
            <a:r>
              <a:rPr spc="10" dirty="0"/>
              <a:t> </a:t>
            </a:r>
            <a:r>
              <a:rPr dirty="0"/>
              <a:t>means</a:t>
            </a:r>
            <a:r>
              <a:rPr spc="25" dirty="0"/>
              <a:t> </a:t>
            </a:r>
            <a:r>
              <a:rPr dirty="0"/>
              <a:t>to </a:t>
            </a:r>
            <a:r>
              <a:rPr spc="-10" dirty="0"/>
              <a:t>forget,</a:t>
            </a:r>
            <a:r>
              <a:rPr spc="10" dirty="0"/>
              <a:t> </a:t>
            </a:r>
            <a:r>
              <a:rPr dirty="0"/>
              <a:t>and </a:t>
            </a:r>
            <a:r>
              <a:rPr spc="5" dirty="0"/>
              <a:t>the</a:t>
            </a:r>
            <a:r>
              <a:rPr spc="10" dirty="0"/>
              <a:t> </a:t>
            </a:r>
            <a:r>
              <a:rPr dirty="0"/>
              <a:t>closer</a:t>
            </a:r>
            <a:r>
              <a:rPr spc="10" dirty="0"/>
              <a:t> </a:t>
            </a:r>
            <a:r>
              <a:rPr dirty="0"/>
              <a:t>to</a:t>
            </a:r>
            <a:r>
              <a:rPr spc="-5" dirty="0"/>
              <a:t> </a:t>
            </a:r>
            <a:r>
              <a:rPr spc="5" dirty="0"/>
              <a:t>1 </a:t>
            </a:r>
            <a:r>
              <a:rPr spc="-395" dirty="0"/>
              <a:t> </a:t>
            </a:r>
            <a:r>
              <a:rPr dirty="0"/>
              <a:t>means</a:t>
            </a:r>
            <a:r>
              <a:rPr spc="15" dirty="0"/>
              <a:t> </a:t>
            </a:r>
            <a:r>
              <a:rPr dirty="0"/>
              <a:t>to</a:t>
            </a:r>
            <a:r>
              <a:rPr spc="-10" dirty="0"/>
              <a:t> keep.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4603" y="3902076"/>
            <a:ext cx="4840584" cy="23565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3865" y="1558543"/>
            <a:ext cx="3710940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LSTMs</a:t>
            </a:r>
            <a:r>
              <a:rPr spc="-65" dirty="0"/>
              <a:t> </a:t>
            </a:r>
            <a:r>
              <a:rPr spc="-30" dirty="0"/>
              <a:t>Walkthrough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33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753865" y="2169057"/>
            <a:ext cx="8924925" cy="1802764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01930" algn="l"/>
              </a:tabLst>
            </a:pPr>
            <a:r>
              <a:rPr sz="1650" i="1" spc="20" dirty="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sz="165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50" i="1" spc="15" dirty="0">
                <a:solidFill>
                  <a:srgbClr val="FF0000"/>
                </a:solidFill>
                <a:latin typeface="Calibri"/>
                <a:cs typeface="Calibri"/>
              </a:rPr>
              <a:t>Gate</a:t>
            </a:r>
            <a:r>
              <a:rPr sz="165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updates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cell</a:t>
            </a:r>
            <a:r>
              <a:rPr sz="1650" spc="-5" dirty="0">
                <a:latin typeface="Calibri"/>
                <a:cs typeface="Calibri"/>
              </a:rPr>
              <a:t> </a:t>
            </a:r>
            <a:r>
              <a:rPr sz="1650" spc="-15" dirty="0">
                <a:latin typeface="Calibri"/>
                <a:cs typeface="Calibri"/>
              </a:rPr>
              <a:t>state</a:t>
            </a:r>
            <a:endParaRPr sz="1650">
              <a:latin typeface="Calibri"/>
              <a:cs typeface="Calibri"/>
            </a:endParaRPr>
          </a:p>
          <a:p>
            <a:pPr marL="201295" marR="5080" indent="-189230">
              <a:lnSpc>
                <a:spcPts val="1789"/>
              </a:lnSpc>
              <a:spcBef>
                <a:spcPts val="845"/>
              </a:spcBef>
              <a:buFont typeface="Arial MT"/>
              <a:buChar char="•"/>
              <a:tabLst>
                <a:tab pos="201930" algn="l"/>
              </a:tabLst>
            </a:pPr>
            <a:r>
              <a:rPr sz="1650" spc="-10" dirty="0">
                <a:latin typeface="Calibri"/>
                <a:cs typeface="Calibri"/>
              </a:rPr>
              <a:t>Pass </a:t>
            </a:r>
            <a:r>
              <a:rPr sz="1650" dirty="0">
                <a:latin typeface="Calibri"/>
                <a:cs typeface="Calibri"/>
              </a:rPr>
              <a:t>the </a:t>
            </a:r>
            <a:r>
              <a:rPr sz="1650" spc="-5" dirty="0">
                <a:latin typeface="Calibri"/>
                <a:cs typeface="Calibri"/>
              </a:rPr>
              <a:t>previous </a:t>
            </a:r>
            <a:r>
              <a:rPr sz="1650" spc="5" dirty="0">
                <a:latin typeface="Calibri"/>
                <a:cs typeface="Calibri"/>
              </a:rPr>
              <a:t>hidden </a:t>
            </a:r>
            <a:r>
              <a:rPr sz="1650" spc="-15" dirty="0">
                <a:latin typeface="Calibri"/>
                <a:cs typeface="Calibri"/>
              </a:rPr>
              <a:t>state </a:t>
            </a:r>
            <a:r>
              <a:rPr sz="1650" dirty="0">
                <a:latin typeface="Calibri"/>
                <a:cs typeface="Calibri"/>
              </a:rPr>
              <a:t>and </a:t>
            </a:r>
            <a:r>
              <a:rPr sz="1650" spc="-5" dirty="0">
                <a:latin typeface="Calibri"/>
                <a:cs typeface="Calibri"/>
              </a:rPr>
              <a:t>current </a:t>
            </a:r>
            <a:r>
              <a:rPr sz="1650" spc="5" dirty="0">
                <a:latin typeface="Calibri"/>
                <a:cs typeface="Calibri"/>
              </a:rPr>
              <a:t>input </a:t>
            </a:r>
            <a:r>
              <a:rPr sz="1650" spc="-5" dirty="0">
                <a:latin typeface="Calibri"/>
                <a:cs typeface="Calibri"/>
              </a:rPr>
              <a:t>into </a:t>
            </a:r>
            <a:r>
              <a:rPr sz="1650" dirty="0">
                <a:latin typeface="Calibri"/>
                <a:cs typeface="Calibri"/>
              </a:rPr>
              <a:t>a sigmoid function </a:t>
            </a:r>
            <a:r>
              <a:rPr sz="1650" spc="-5" dirty="0">
                <a:latin typeface="Calibri"/>
                <a:cs typeface="Calibri"/>
              </a:rPr>
              <a:t>(values </a:t>
            </a:r>
            <a:r>
              <a:rPr sz="1650" dirty="0">
                <a:latin typeface="Calibri"/>
                <a:cs typeface="Calibri"/>
              </a:rPr>
              <a:t>is </a:t>
            </a:r>
            <a:r>
              <a:rPr sz="1650" spc="-5" dirty="0">
                <a:latin typeface="Calibri"/>
                <a:cs typeface="Calibri"/>
              </a:rPr>
              <a:t>important </a:t>
            </a:r>
            <a:r>
              <a:rPr sz="1650" dirty="0">
                <a:latin typeface="Calibri"/>
                <a:cs typeface="Calibri"/>
              </a:rPr>
              <a:t>(1) or not </a:t>
            </a:r>
            <a:r>
              <a:rPr sz="1650" spc="-36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(0))</a:t>
            </a:r>
            <a:endParaRPr sz="1650">
              <a:latin typeface="Calibri"/>
              <a:cs typeface="Calibri"/>
            </a:endParaRPr>
          </a:p>
          <a:p>
            <a:pPr marL="201295" marR="236854" indent="-189230">
              <a:lnSpc>
                <a:spcPts val="1789"/>
              </a:lnSpc>
              <a:spcBef>
                <a:spcPts val="810"/>
              </a:spcBef>
              <a:buFont typeface="Arial MT"/>
              <a:buChar char="•"/>
              <a:tabLst>
                <a:tab pos="201930" algn="l"/>
              </a:tabLst>
            </a:pPr>
            <a:r>
              <a:rPr sz="1650" spc="-10" dirty="0">
                <a:latin typeface="Calibri"/>
                <a:cs typeface="Calibri"/>
              </a:rPr>
              <a:t>Pass</a:t>
            </a:r>
            <a:r>
              <a:rPr sz="1650" spc="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10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hidden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spc="-15" dirty="0">
                <a:latin typeface="Calibri"/>
                <a:cs typeface="Calibri"/>
              </a:rPr>
              <a:t>state</a:t>
            </a:r>
            <a:r>
              <a:rPr sz="1650" spc="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and</a:t>
            </a:r>
            <a:r>
              <a:rPr sz="1650" spc="-10" dirty="0">
                <a:latin typeface="Calibri"/>
                <a:cs typeface="Calibri"/>
              </a:rPr>
              <a:t> </a:t>
            </a:r>
            <a:r>
              <a:rPr sz="1650" spc="-5" dirty="0">
                <a:latin typeface="Calibri"/>
                <a:cs typeface="Calibri"/>
              </a:rPr>
              <a:t>current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input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spc="-5" dirty="0">
                <a:latin typeface="Calibri"/>
                <a:cs typeface="Calibri"/>
              </a:rPr>
              <a:t>into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15" dirty="0">
                <a:latin typeface="Calibri"/>
                <a:cs typeface="Calibri"/>
              </a:rPr>
              <a:t> </a:t>
            </a:r>
            <a:r>
              <a:rPr sz="1650" i="1" spc="-5" dirty="0">
                <a:solidFill>
                  <a:srgbClr val="FF0000"/>
                </a:solidFill>
                <a:latin typeface="Calibri"/>
                <a:cs typeface="Calibri"/>
              </a:rPr>
              <a:t>tanh</a:t>
            </a:r>
            <a:r>
              <a:rPr sz="165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function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spc="-5" dirty="0">
                <a:latin typeface="Calibri"/>
                <a:cs typeface="Calibri"/>
              </a:rPr>
              <a:t>to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squash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spc="-5" dirty="0">
                <a:latin typeface="Calibri"/>
                <a:cs typeface="Calibri"/>
              </a:rPr>
              <a:t>values</a:t>
            </a:r>
            <a:r>
              <a:rPr sz="1650" spc="-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between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spc="-5" dirty="0">
                <a:latin typeface="Calibri"/>
                <a:cs typeface="Calibri"/>
              </a:rPr>
              <a:t>-1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and</a:t>
            </a:r>
            <a:r>
              <a:rPr sz="1650" spc="-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1</a:t>
            </a:r>
            <a:r>
              <a:rPr sz="1650" spc="-5" dirty="0">
                <a:latin typeface="Calibri"/>
                <a:cs typeface="Calibri"/>
              </a:rPr>
              <a:t> to </a:t>
            </a:r>
            <a:r>
              <a:rPr sz="1650" spc="-35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help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spc="-5" dirty="0">
                <a:latin typeface="Calibri"/>
                <a:cs typeface="Calibri"/>
              </a:rPr>
              <a:t>regulate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10" dirty="0">
                <a:latin typeface="Calibri"/>
                <a:cs typeface="Calibri"/>
              </a:rPr>
              <a:t> </a:t>
            </a:r>
            <a:r>
              <a:rPr sz="1650" spc="-5" dirty="0">
                <a:latin typeface="Calibri"/>
                <a:cs typeface="Calibri"/>
              </a:rPr>
              <a:t>network.</a:t>
            </a:r>
            <a:endParaRPr sz="1650">
              <a:latin typeface="Calibri"/>
              <a:cs typeface="Calibri"/>
            </a:endParaRPr>
          </a:p>
          <a:p>
            <a:pPr marL="201295" indent="-18923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201930" algn="l"/>
              </a:tabLst>
            </a:pPr>
            <a:r>
              <a:rPr sz="1650" dirty="0">
                <a:latin typeface="Calibri"/>
                <a:cs typeface="Calibri"/>
              </a:rPr>
              <a:t>Multiply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10" dirty="0">
                <a:latin typeface="Calibri"/>
                <a:cs typeface="Calibri"/>
              </a:rPr>
              <a:t> </a:t>
            </a:r>
            <a:r>
              <a:rPr sz="1650" i="1" spc="-5" dirty="0">
                <a:solidFill>
                  <a:srgbClr val="FF0000"/>
                </a:solidFill>
                <a:latin typeface="Calibri"/>
                <a:cs typeface="Calibri"/>
              </a:rPr>
              <a:t>tanh</a:t>
            </a:r>
            <a:r>
              <a:rPr sz="165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output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with</a:t>
            </a:r>
            <a:r>
              <a:rPr sz="1650" spc="-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sigmoid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output.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9839" y="2610892"/>
            <a:ext cx="6930247" cy="362241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3865" y="1558543"/>
            <a:ext cx="3710940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LSTMs</a:t>
            </a:r>
            <a:r>
              <a:rPr spc="-65" dirty="0"/>
              <a:t> </a:t>
            </a:r>
            <a:r>
              <a:rPr spc="-30" dirty="0"/>
              <a:t>Walkthrough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753865" y="2533902"/>
            <a:ext cx="1357630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114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i="1" spc="25" dirty="0">
                <a:solidFill>
                  <a:srgbClr val="FF0000"/>
                </a:solidFill>
                <a:latin typeface="Calibri"/>
                <a:cs typeface="Calibri"/>
              </a:rPr>
              <a:t>Cell</a:t>
            </a:r>
            <a:r>
              <a:rPr sz="2300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i="1" spc="25" dirty="0">
                <a:solidFill>
                  <a:srgbClr val="FF0000"/>
                </a:solidFill>
                <a:latin typeface="Calibri"/>
                <a:cs typeface="Calibri"/>
              </a:rPr>
              <a:t>State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4664" y="3024936"/>
            <a:ext cx="6845212" cy="337853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3865" y="1558543"/>
            <a:ext cx="3710940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LSTMs</a:t>
            </a:r>
            <a:r>
              <a:rPr spc="-65" dirty="0"/>
              <a:t> </a:t>
            </a:r>
            <a:r>
              <a:rPr spc="-30" dirty="0"/>
              <a:t>Walkthrough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35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753865" y="2533902"/>
            <a:ext cx="7788909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114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dirty="0">
                <a:latin typeface="Calibri"/>
                <a:cs typeface="Calibri"/>
              </a:rPr>
              <a:t>The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i="1" spc="35" dirty="0">
                <a:solidFill>
                  <a:srgbClr val="FF0000"/>
                </a:solidFill>
                <a:latin typeface="Calibri"/>
                <a:cs typeface="Calibri"/>
              </a:rPr>
              <a:t>Output</a:t>
            </a:r>
            <a:r>
              <a:rPr sz="2300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i="1" spc="25" dirty="0">
                <a:solidFill>
                  <a:srgbClr val="FF0000"/>
                </a:solidFill>
                <a:latin typeface="Calibri"/>
                <a:cs typeface="Calibri"/>
              </a:rPr>
              <a:t>Gate</a:t>
            </a:r>
            <a:r>
              <a:rPr sz="2300" i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decides </a:t>
            </a:r>
            <a:r>
              <a:rPr sz="2300" spc="-5" dirty="0">
                <a:latin typeface="Calibri"/>
                <a:cs typeface="Calibri"/>
              </a:rPr>
              <a:t>what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5" dirty="0">
                <a:latin typeface="Calibri"/>
                <a:cs typeface="Calibri"/>
              </a:rPr>
              <a:t> next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hidden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state </a:t>
            </a:r>
            <a:r>
              <a:rPr sz="2300" dirty="0">
                <a:latin typeface="Calibri"/>
                <a:cs typeface="Calibri"/>
              </a:rPr>
              <a:t>should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be.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36</a:t>
            </a:fld>
            <a:endParaRPr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8FB2D6E-B72F-F22E-D599-452773EF7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0BC52D-AD22-48F4-9BB7-D22213C5C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037" y="386254"/>
            <a:ext cx="10064197" cy="568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4928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865" y="1558543"/>
            <a:ext cx="5821045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LSTMs</a:t>
            </a:r>
            <a:r>
              <a:rPr spc="-35" dirty="0"/>
              <a:t> </a:t>
            </a:r>
            <a:r>
              <a:rPr spc="-30" dirty="0"/>
              <a:t>Walkthrough</a:t>
            </a:r>
            <a:r>
              <a:rPr spc="-25" dirty="0"/>
              <a:t> </a:t>
            </a:r>
            <a:r>
              <a:rPr spc="10" dirty="0"/>
              <a:t>- </a:t>
            </a: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8625" y="2283967"/>
            <a:ext cx="6484620" cy="3872229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01295" marR="827405" indent="-189230">
              <a:lnSpc>
                <a:spcPts val="1660"/>
              </a:lnSpc>
              <a:spcBef>
                <a:spcPts val="500"/>
              </a:spcBef>
              <a:buChar char="•"/>
              <a:tabLst>
                <a:tab pos="201930" algn="l"/>
              </a:tabLst>
            </a:pPr>
            <a:r>
              <a:rPr sz="1700" spc="5" dirty="0">
                <a:latin typeface="Arial MT"/>
                <a:cs typeface="Arial MT"/>
              </a:rPr>
              <a:t>First,</a:t>
            </a:r>
            <a:r>
              <a:rPr sz="1700" spc="3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10" dirty="0">
                <a:latin typeface="Arial MT"/>
                <a:cs typeface="Arial MT"/>
              </a:rPr>
              <a:t> previous hidden</a:t>
            </a:r>
            <a:r>
              <a:rPr sz="1700" spc="5" dirty="0">
                <a:latin typeface="Arial MT"/>
                <a:cs typeface="Arial MT"/>
              </a:rPr>
              <a:t> state</a:t>
            </a:r>
            <a:r>
              <a:rPr sz="1700" spc="2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and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2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current</a:t>
            </a:r>
            <a:r>
              <a:rPr sz="1700" spc="1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input</a:t>
            </a:r>
            <a:r>
              <a:rPr sz="1700" spc="1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get </a:t>
            </a:r>
            <a:r>
              <a:rPr sz="1700" spc="-45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concatenated.</a:t>
            </a:r>
            <a:r>
              <a:rPr sz="1700" spc="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We’ll</a:t>
            </a:r>
            <a:r>
              <a:rPr sz="1700" spc="2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call it</a:t>
            </a:r>
            <a:r>
              <a:rPr sz="1700" spc="15" dirty="0">
                <a:latin typeface="Arial MT"/>
                <a:cs typeface="Arial MT"/>
              </a:rPr>
              <a:t> </a:t>
            </a:r>
            <a:r>
              <a:rPr sz="1700" i="1" spc="5" dirty="0">
                <a:solidFill>
                  <a:srgbClr val="FF0000"/>
                </a:solidFill>
                <a:latin typeface="Arial"/>
                <a:cs typeface="Arial"/>
              </a:rPr>
              <a:t>combine</a:t>
            </a:r>
            <a:r>
              <a:rPr sz="1700" spc="5" dirty="0">
                <a:solidFill>
                  <a:srgbClr val="FF0000"/>
                </a:solidFill>
                <a:latin typeface="Arial MT"/>
                <a:cs typeface="Arial MT"/>
              </a:rPr>
              <a:t>.</a:t>
            </a:r>
            <a:endParaRPr sz="1700">
              <a:latin typeface="Arial MT"/>
              <a:cs typeface="Arial MT"/>
            </a:endParaRPr>
          </a:p>
          <a:p>
            <a:pPr marL="201295" marR="91440" indent="-189230">
              <a:lnSpc>
                <a:spcPts val="1660"/>
              </a:lnSpc>
              <a:spcBef>
                <a:spcPts val="830"/>
              </a:spcBef>
              <a:buFont typeface="Arial MT"/>
              <a:buChar char="•"/>
              <a:tabLst>
                <a:tab pos="201930" algn="l"/>
              </a:tabLst>
            </a:pPr>
            <a:r>
              <a:rPr sz="1700" i="1" spc="10" dirty="0">
                <a:solidFill>
                  <a:srgbClr val="FF0000"/>
                </a:solidFill>
                <a:latin typeface="Arial"/>
                <a:cs typeface="Arial"/>
              </a:rPr>
              <a:t>Combine</a:t>
            </a:r>
            <a:r>
              <a:rPr sz="1700" i="1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700" dirty="0">
                <a:latin typeface="Arial MT"/>
                <a:cs typeface="Arial MT"/>
              </a:rPr>
              <a:t>get’s</a:t>
            </a:r>
            <a:r>
              <a:rPr sz="1700" spc="2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fed</a:t>
            </a:r>
            <a:r>
              <a:rPr sz="1700" spc="2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into</a:t>
            </a:r>
            <a:r>
              <a:rPr sz="1700" spc="1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20" dirty="0">
                <a:latin typeface="Arial MT"/>
                <a:cs typeface="Arial MT"/>
              </a:rPr>
              <a:t> </a:t>
            </a:r>
            <a:r>
              <a:rPr sz="1700" i="1" spc="5" dirty="0">
                <a:solidFill>
                  <a:srgbClr val="FF0000"/>
                </a:solidFill>
                <a:latin typeface="Arial"/>
                <a:cs typeface="Arial"/>
              </a:rPr>
              <a:t>forget</a:t>
            </a:r>
            <a:r>
              <a:rPr sz="1700" i="1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700" i="1" spc="5" dirty="0">
                <a:solidFill>
                  <a:srgbClr val="FF0000"/>
                </a:solidFill>
                <a:latin typeface="Arial"/>
                <a:cs typeface="Arial"/>
              </a:rPr>
              <a:t>layer</a:t>
            </a:r>
            <a:r>
              <a:rPr sz="1700" spc="5" dirty="0">
                <a:latin typeface="Arial MT"/>
                <a:cs typeface="Arial MT"/>
              </a:rPr>
              <a:t>.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This</a:t>
            </a:r>
            <a:r>
              <a:rPr sz="1700" spc="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layer</a:t>
            </a:r>
            <a:r>
              <a:rPr sz="1700" spc="5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removes non- </a:t>
            </a:r>
            <a:r>
              <a:rPr sz="1700" spc="-459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relevant</a:t>
            </a:r>
            <a:r>
              <a:rPr sz="170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data.</a:t>
            </a:r>
            <a:endParaRPr sz="1700">
              <a:latin typeface="Arial MT"/>
              <a:cs typeface="Arial MT"/>
            </a:endParaRPr>
          </a:p>
          <a:p>
            <a:pPr marL="201295" marR="5080" indent="-189230">
              <a:lnSpc>
                <a:spcPts val="1660"/>
              </a:lnSpc>
              <a:spcBef>
                <a:spcPts val="830"/>
              </a:spcBef>
              <a:buChar char="•"/>
              <a:tabLst>
                <a:tab pos="201930" algn="l"/>
              </a:tabLst>
            </a:pPr>
            <a:r>
              <a:rPr sz="1700" spc="15" dirty="0">
                <a:latin typeface="Arial MT"/>
                <a:cs typeface="Arial MT"/>
              </a:rPr>
              <a:t>A </a:t>
            </a:r>
            <a:r>
              <a:rPr sz="1700" spc="10" dirty="0">
                <a:latin typeface="Arial MT"/>
                <a:cs typeface="Arial MT"/>
              </a:rPr>
              <a:t>candidate </a:t>
            </a:r>
            <a:r>
              <a:rPr sz="1700" dirty="0">
                <a:latin typeface="Arial MT"/>
                <a:cs typeface="Arial MT"/>
              </a:rPr>
              <a:t>layer </a:t>
            </a:r>
            <a:r>
              <a:rPr sz="1700" spc="10" dirty="0">
                <a:latin typeface="Arial MT"/>
                <a:cs typeface="Arial MT"/>
              </a:rPr>
              <a:t>is created using </a:t>
            </a:r>
            <a:r>
              <a:rPr sz="1700" i="1" spc="5" dirty="0">
                <a:solidFill>
                  <a:srgbClr val="FF0000"/>
                </a:solidFill>
                <a:latin typeface="Arial"/>
                <a:cs typeface="Arial"/>
              </a:rPr>
              <a:t>combine</a:t>
            </a:r>
            <a:r>
              <a:rPr sz="1700" spc="5" dirty="0">
                <a:latin typeface="Arial MT"/>
                <a:cs typeface="Arial MT"/>
              </a:rPr>
              <a:t>. </a:t>
            </a:r>
            <a:r>
              <a:rPr sz="1700" spc="10" dirty="0">
                <a:latin typeface="Arial MT"/>
                <a:cs typeface="Arial MT"/>
              </a:rPr>
              <a:t>The candidate holds </a:t>
            </a:r>
            <a:r>
              <a:rPr sz="1700" spc="-459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possible</a:t>
            </a:r>
            <a:r>
              <a:rPr sz="170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values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to</a:t>
            </a:r>
            <a:r>
              <a:rPr sz="1700" spc="1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add</a:t>
            </a:r>
            <a:r>
              <a:rPr sz="1700" spc="5" dirty="0">
                <a:latin typeface="Arial MT"/>
                <a:cs typeface="Arial MT"/>
              </a:rPr>
              <a:t> to</a:t>
            </a:r>
            <a:r>
              <a:rPr sz="1700" spc="1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1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cell state.</a:t>
            </a:r>
            <a:endParaRPr sz="1700">
              <a:latin typeface="Arial MT"/>
              <a:cs typeface="Arial MT"/>
            </a:endParaRPr>
          </a:p>
          <a:p>
            <a:pPr marL="201295" marR="292735" indent="-189230" algn="just">
              <a:lnSpc>
                <a:spcPct val="81500"/>
              </a:lnSpc>
              <a:spcBef>
                <a:spcPts val="840"/>
              </a:spcBef>
              <a:buFont typeface="Arial MT"/>
              <a:buChar char="•"/>
              <a:tabLst>
                <a:tab pos="201930" algn="l"/>
              </a:tabLst>
            </a:pPr>
            <a:r>
              <a:rPr sz="1700" i="1" spc="10" dirty="0">
                <a:solidFill>
                  <a:srgbClr val="FF0000"/>
                </a:solidFill>
                <a:latin typeface="Arial"/>
                <a:cs typeface="Arial"/>
              </a:rPr>
              <a:t>Combine </a:t>
            </a:r>
            <a:r>
              <a:rPr sz="1700" spc="10" dirty="0">
                <a:latin typeface="Arial MT"/>
                <a:cs typeface="Arial MT"/>
              </a:rPr>
              <a:t>also </a:t>
            </a:r>
            <a:r>
              <a:rPr sz="1700" dirty="0">
                <a:latin typeface="Arial MT"/>
                <a:cs typeface="Arial MT"/>
              </a:rPr>
              <a:t>get’s </a:t>
            </a:r>
            <a:r>
              <a:rPr sz="1700" spc="5" dirty="0">
                <a:latin typeface="Arial MT"/>
                <a:cs typeface="Arial MT"/>
              </a:rPr>
              <a:t>fed into the </a:t>
            </a:r>
            <a:r>
              <a:rPr sz="1700" i="1" spc="5" dirty="0">
                <a:solidFill>
                  <a:srgbClr val="FF0000"/>
                </a:solidFill>
                <a:latin typeface="Arial"/>
                <a:cs typeface="Arial"/>
              </a:rPr>
              <a:t>input layer</a:t>
            </a:r>
            <a:r>
              <a:rPr sz="1700" spc="5" dirty="0">
                <a:latin typeface="Arial MT"/>
                <a:cs typeface="Arial MT"/>
              </a:rPr>
              <a:t>. </a:t>
            </a:r>
            <a:r>
              <a:rPr sz="1700" spc="10" dirty="0">
                <a:latin typeface="Arial MT"/>
                <a:cs typeface="Arial MT"/>
              </a:rPr>
              <a:t>This </a:t>
            </a:r>
            <a:r>
              <a:rPr sz="1700" dirty="0">
                <a:latin typeface="Arial MT"/>
                <a:cs typeface="Arial MT"/>
              </a:rPr>
              <a:t>layer </a:t>
            </a:r>
            <a:r>
              <a:rPr sz="1700" spc="10" dirty="0">
                <a:latin typeface="Arial MT"/>
                <a:cs typeface="Arial MT"/>
              </a:rPr>
              <a:t>decides </a:t>
            </a:r>
            <a:r>
              <a:rPr sz="1700" spc="-459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what data </a:t>
            </a:r>
            <a:r>
              <a:rPr sz="1700" spc="10" dirty="0">
                <a:latin typeface="Arial MT"/>
                <a:cs typeface="Arial MT"/>
              </a:rPr>
              <a:t>from </a:t>
            </a:r>
            <a:r>
              <a:rPr sz="1700" spc="5" dirty="0">
                <a:latin typeface="Arial MT"/>
                <a:cs typeface="Arial MT"/>
              </a:rPr>
              <a:t>the </a:t>
            </a:r>
            <a:r>
              <a:rPr sz="1700" spc="10" dirty="0">
                <a:latin typeface="Arial MT"/>
                <a:cs typeface="Arial MT"/>
              </a:rPr>
              <a:t>candidate should be added </a:t>
            </a:r>
            <a:r>
              <a:rPr sz="1700" spc="5" dirty="0">
                <a:latin typeface="Arial MT"/>
                <a:cs typeface="Arial MT"/>
              </a:rPr>
              <a:t>to the </a:t>
            </a:r>
            <a:r>
              <a:rPr sz="1700" spc="10" dirty="0">
                <a:latin typeface="Arial MT"/>
                <a:cs typeface="Arial MT"/>
              </a:rPr>
              <a:t>new </a:t>
            </a:r>
            <a:r>
              <a:rPr sz="1700" spc="5" dirty="0">
                <a:latin typeface="Arial MT"/>
                <a:cs typeface="Arial MT"/>
              </a:rPr>
              <a:t>cell </a:t>
            </a:r>
            <a:r>
              <a:rPr sz="1700" spc="-459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state.</a:t>
            </a:r>
            <a:endParaRPr sz="1700">
              <a:latin typeface="Arial MT"/>
              <a:cs typeface="Arial MT"/>
            </a:endParaRPr>
          </a:p>
          <a:p>
            <a:pPr marL="201295" marR="205740" indent="-189230">
              <a:lnSpc>
                <a:spcPct val="81500"/>
              </a:lnSpc>
              <a:spcBef>
                <a:spcPts val="819"/>
              </a:spcBef>
              <a:buChar char="•"/>
              <a:tabLst>
                <a:tab pos="201930" algn="l"/>
              </a:tabLst>
            </a:pPr>
            <a:r>
              <a:rPr sz="1700" spc="5" dirty="0">
                <a:latin typeface="Arial MT"/>
                <a:cs typeface="Arial MT"/>
              </a:rPr>
              <a:t>After</a:t>
            </a:r>
            <a:r>
              <a:rPr sz="1700" spc="25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computing</a:t>
            </a:r>
            <a:r>
              <a:rPr sz="1700" spc="2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20" dirty="0">
                <a:latin typeface="Arial MT"/>
                <a:cs typeface="Arial MT"/>
              </a:rPr>
              <a:t> </a:t>
            </a:r>
            <a:r>
              <a:rPr sz="1700" i="1" spc="5" dirty="0">
                <a:solidFill>
                  <a:srgbClr val="FF0000"/>
                </a:solidFill>
                <a:latin typeface="Arial"/>
                <a:cs typeface="Arial"/>
              </a:rPr>
              <a:t>forget</a:t>
            </a:r>
            <a:r>
              <a:rPr sz="1700" i="1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700" i="1" spc="5" dirty="0">
                <a:solidFill>
                  <a:srgbClr val="FF0000"/>
                </a:solidFill>
                <a:latin typeface="Arial"/>
                <a:cs typeface="Arial"/>
              </a:rPr>
              <a:t>layer</a:t>
            </a:r>
            <a:r>
              <a:rPr sz="1700" spc="5" dirty="0">
                <a:latin typeface="Arial MT"/>
                <a:cs typeface="Arial MT"/>
              </a:rPr>
              <a:t>,</a:t>
            </a:r>
            <a:r>
              <a:rPr sz="1700" spc="25" dirty="0">
                <a:latin typeface="Arial MT"/>
                <a:cs typeface="Arial MT"/>
              </a:rPr>
              <a:t> </a:t>
            </a:r>
            <a:r>
              <a:rPr sz="1700" i="1" spc="10" dirty="0">
                <a:solidFill>
                  <a:srgbClr val="FF0000"/>
                </a:solidFill>
                <a:latin typeface="Arial"/>
                <a:cs typeface="Arial"/>
              </a:rPr>
              <a:t>candidate </a:t>
            </a:r>
            <a:r>
              <a:rPr sz="1700" i="1" spc="5" dirty="0">
                <a:solidFill>
                  <a:srgbClr val="FF0000"/>
                </a:solidFill>
                <a:latin typeface="Arial"/>
                <a:cs typeface="Arial"/>
              </a:rPr>
              <a:t>layer</a:t>
            </a:r>
            <a:r>
              <a:rPr sz="1700" spc="5" dirty="0">
                <a:latin typeface="Arial MT"/>
                <a:cs typeface="Arial MT"/>
              </a:rPr>
              <a:t>,</a:t>
            </a:r>
            <a:r>
              <a:rPr sz="1700" spc="2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and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15" dirty="0">
                <a:latin typeface="Arial MT"/>
                <a:cs typeface="Arial MT"/>
              </a:rPr>
              <a:t> </a:t>
            </a:r>
            <a:r>
              <a:rPr sz="1700" i="1" spc="5" dirty="0">
                <a:solidFill>
                  <a:srgbClr val="FF0000"/>
                </a:solidFill>
                <a:latin typeface="Arial"/>
                <a:cs typeface="Arial"/>
              </a:rPr>
              <a:t>input </a:t>
            </a:r>
            <a:r>
              <a:rPr sz="1700" i="1" spc="-45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700" i="1" spc="5" dirty="0">
                <a:solidFill>
                  <a:srgbClr val="FF0000"/>
                </a:solidFill>
                <a:latin typeface="Arial"/>
                <a:cs typeface="Arial"/>
              </a:rPr>
              <a:t>layer</a:t>
            </a:r>
            <a:r>
              <a:rPr sz="1700" spc="5" dirty="0">
                <a:latin typeface="Arial MT"/>
                <a:cs typeface="Arial MT"/>
              </a:rPr>
              <a:t>,</a:t>
            </a:r>
            <a:r>
              <a:rPr sz="1700" spc="2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10" dirty="0">
                <a:latin typeface="Arial MT"/>
                <a:cs typeface="Arial MT"/>
              </a:rPr>
              <a:t> </a:t>
            </a:r>
            <a:r>
              <a:rPr sz="1700" i="1" spc="5" dirty="0">
                <a:solidFill>
                  <a:srgbClr val="FF0000"/>
                </a:solidFill>
                <a:latin typeface="Arial"/>
                <a:cs typeface="Arial"/>
              </a:rPr>
              <a:t>cell</a:t>
            </a:r>
            <a:r>
              <a:rPr sz="1700" i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700" i="1" spc="5" dirty="0">
                <a:solidFill>
                  <a:srgbClr val="FF0000"/>
                </a:solidFill>
                <a:latin typeface="Arial"/>
                <a:cs typeface="Arial"/>
              </a:rPr>
              <a:t>state</a:t>
            </a:r>
            <a:r>
              <a:rPr sz="1700" i="1" spc="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700" spc="10" dirty="0">
                <a:latin typeface="Arial MT"/>
                <a:cs typeface="Arial MT"/>
              </a:rPr>
              <a:t>is </a:t>
            </a:r>
            <a:r>
              <a:rPr sz="1700" spc="5" dirty="0">
                <a:latin typeface="Arial MT"/>
                <a:cs typeface="Arial MT"/>
              </a:rPr>
              <a:t>calculated</a:t>
            </a:r>
            <a:r>
              <a:rPr sz="1700" spc="10" dirty="0">
                <a:latin typeface="Arial MT"/>
                <a:cs typeface="Arial MT"/>
              </a:rPr>
              <a:t> using</a:t>
            </a:r>
            <a:r>
              <a:rPr sz="1700" spc="2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those vectors</a:t>
            </a:r>
            <a:r>
              <a:rPr sz="1700" spc="2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and </a:t>
            </a:r>
            <a:r>
              <a:rPr sz="1700" spc="5" dirty="0">
                <a:latin typeface="Arial MT"/>
                <a:cs typeface="Arial MT"/>
              </a:rPr>
              <a:t>the </a:t>
            </a:r>
            <a:r>
              <a:rPr sz="1700" spc="10" dirty="0">
                <a:latin typeface="Arial MT"/>
                <a:cs typeface="Arial MT"/>
              </a:rPr>
              <a:t> previous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cell state.</a:t>
            </a:r>
            <a:endParaRPr sz="1700">
              <a:latin typeface="Arial MT"/>
              <a:cs typeface="Arial MT"/>
            </a:endParaRPr>
          </a:p>
          <a:p>
            <a:pPr marL="201295" indent="-189230">
              <a:lnSpc>
                <a:spcPct val="100000"/>
              </a:lnSpc>
              <a:spcBef>
                <a:spcPts val="455"/>
              </a:spcBef>
              <a:buChar char="•"/>
              <a:tabLst>
                <a:tab pos="201930" algn="l"/>
              </a:tabLst>
            </a:pPr>
            <a:r>
              <a:rPr sz="1700" spc="10" dirty="0">
                <a:latin typeface="Arial MT"/>
                <a:cs typeface="Arial MT"/>
              </a:rPr>
              <a:t>The</a:t>
            </a:r>
            <a:r>
              <a:rPr sz="1700" spc="5" dirty="0">
                <a:latin typeface="Arial MT"/>
                <a:cs typeface="Arial MT"/>
              </a:rPr>
              <a:t> output</a:t>
            </a:r>
            <a:r>
              <a:rPr sz="1700" spc="10" dirty="0">
                <a:latin typeface="Arial MT"/>
                <a:cs typeface="Arial MT"/>
              </a:rPr>
              <a:t> is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then</a:t>
            </a:r>
            <a:r>
              <a:rPr sz="1700" spc="10" dirty="0">
                <a:latin typeface="Arial MT"/>
                <a:cs typeface="Arial MT"/>
              </a:rPr>
              <a:t> computed.</a:t>
            </a:r>
            <a:endParaRPr sz="1700">
              <a:latin typeface="Arial MT"/>
              <a:cs typeface="Arial MT"/>
            </a:endParaRPr>
          </a:p>
          <a:p>
            <a:pPr marL="201295" marR="146685" indent="-189230">
              <a:lnSpc>
                <a:spcPts val="1639"/>
              </a:lnSpc>
              <a:spcBef>
                <a:spcPts val="835"/>
              </a:spcBef>
              <a:buChar char="•"/>
              <a:tabLst>
                <a:tab pos="201930" algn="l"/>
              </a:tabLst>
            </a:pPr>
            <a:r>
              <a:rPr sz="1700" spc="5" dirty="0">
                <a:latin typeface="Arial MT"/>
                <a:cs typeface="Arial MT"/>
              </a:rPr>
              <a:t>Pointwise</a:t>
            </a:r>
            <a:r>
              <a:rPr sz="1700" spc="3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multiplying</a:t>
            </a:r>
            <a:r>
              <a:rPr sz="1700" spc="5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1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output</a:t>
            </a:r>
            <a:r>
              <a:rPr sz="1700" spc="2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and</a:t>
            </a:r>
            <a:r>
              <a:rPr sz="1700" spc="1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2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new</a:t>
            </a:r>
            <a:r>
              <a:rPr sz="1700" spc="1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cell</a:t>
            </a:r>
            <a:r>
              <a:rPr sz="1700" spc="10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state</a:t>
            </a:r>
            <a:r>
              <a:rPr sz="1700" spc="4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gives</a:t>
            </a:r>
            <a:r>
              <a:rPr sz="1700" dirty="0">
                <a:latin typeface="Arial MT"/>
                <a:cs typeface="Arial MT"/>
              </a:rPr>
              <a:t> </a:t>
            </a:r>
            <a:r>
              <a:rPr sz="1700" spc="10" dirty="0">
                <a:latin typeface="Arial MT"/>
                <a:cs typeface="Arial MT"/>
              </a:rPr>
              <a:t>us </a:t>
            </a:r>
            <a:r>
              <a:rPr sz="1700" spc="-455" dirty="0">
                <a:latin typeface="Arial MT"/>
                <a:cs typeface="Arial MT"/>
              </a:rPr>
              <a:t> </a:t>
            </a:r>
            <a:r>
              <a:rPr sz="1700" spc="5" dirty="0">
                <a:latin typeface="Arial MT"/>
                <a:cs typeface="Arial MT"/>
              </a:rPr>
              <a:t>the</a:t>
            </a:r>
            <a:r>
              <a:rPr sz="1700" spc="10" dirty="0">
                <a:latin typeface="Arial MT"/>
                <a:cs typeface="Arial MT"/>
              </a:rPr>
              <a:t> </a:t>
            </a:r>
            <a:r>
              <a:rPr sz="1700" i="1" spc="10" dirty="0">
                <a:solidFill>
                  <a:srgbClr val="FF0000"/>
                </a:solidFill>
                <a:latin typeface="Arial"/>
                <a:cs typeface="Arial"/>
              </a:rPr>
              <a:t>new</a:t>
            </a:r>
            <a:r>
              <a:rPr sz="1700" i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700" i="1" spc="10" dirty="0">
                <a:solidFill>
                  <a:srgbClr val="FF0000"/>
                </a:solidFill>
                <a:latin typeface="Arial"/>
                <a:cs typeface="Arial"/>
              </a:rPr>
              <a:t>hidden</a:t>
            </a:r>
            <a:r>
              <a:rPr sz="1700" i="1" spc="5" dirty="0">
                <a:solidFill>
                  <a:srgbClr val="FF0000"/>
                </a:solidFill>
                <a:latin typeface="Arial"/>
                <a:cs typeface="Arial"/>
              </a:rPr>
              <a:t> state</a:t>
            </a:r>
            <a:r>
              <a:rPr sz="1700" spc="5" dirty="0">
                <a:latin typeface="Arial MT"/>
                <a:cs typeface="Arial MT"/>
              </a:rPr>
              <a:t>.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8519" y="1057655"/>
            <a:ext cx="2849879" cy="209397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37</a:t>
            </a:fld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865" y="1558543"/>
            <a:ext cx="6503670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LSTMs</a:t>
            </a:r>
            <a:r>
              <a:rPr spc="-30" dirty="0"/>
              <a:t> Walkthrough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5" dirty="0"/>
              <a:t> </a:t>
            </a:r>
            <a:r>
              <a:rPr spc="-20" dirty="0"/>
              <a:t>Pseudo</a:t>
            </a:r>
            <a:r>
              <a:rPr spc="10" dirty="0"/>
              <a:t> </a:t>
            </a:r>
            <a:r>
              <a:rPr spc="-10" dirty="0"/>
              <a:t>code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57" y="2220467"/>
            <a:ext cx="3672840" cy="35052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38</a:t>
            </a:fld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865" y="1558543"/>
            <a:ext cx="4210685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" dirty="0"/>
              <a:t>Other</a:t>
            </a:r>
            <a:r>
              <a:rPr spc="-65" dirty="0"/>
              <a:t> </a:t>
            </a:r>
            <a:r>
              <a:rPr spc="-25" dirty="0"/>
              <a:t>Representations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993" y="3115947"/>
            <a:ext cx="3204420" cy="228219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11947" y="3012976"/>
            <a:ext cx="4150961" cy="244343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39</a:t>
            </a:fld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865" y="1558543"/>
            <a:ext cx="3297554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Variants</a:t>
            </a:r>
            <a:r>
              <a:rPr spc="-25" dirty="0"/>
              <a:t> </a:t>
            </a:r>
            <a:r>
              <a:rPr spc="-10" dirty="0"/>
              <a:t>of</a:t>
            </a:r>
            <a:r>
              <a:rPr spc="-15" dirty="0"/>
              <a:t> </a:t>
            </a:r>
            <a:r>
              <a:rPr spc="-10" dirty="0"/>
              <a:t>LSTMs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865" y="2533902"/>
            <a:ext cx="8509000" cy="101282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01295" marR="5080" indent="-189230">
              <a:lnSpc>
                <a:spcPts val="2500"/>
              </a:lnSpc>
              <a:spcBef>
                <a:spcPts val="415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spc="5" dirty="0">
                <a:latin typeface="Calibri"/>
                <a:cs typeface="Calibri"/>
              </a:rPr>
              <a:t>One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popular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LSTM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variant,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introduced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by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Gers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10" dirty="0">
                <a:latin typeface="Calibri"/>
                <a:cs typeface="Calibri"/>
              </a:rPr>
              <a:t>&amp;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Schmidhuber,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 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adding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“</a:t>
            </a:r>
            <a:r>
              <a:rPr sz="2300" i="1" dirty="0">
                <a:solidFill>
                  <a:srgbClr val="FF0000"/>
                </a:solidFill>
                <a:latin typeface="Calibri"/>
                <a:cs typeface="Calibri"/>
              </a:rPr>
              <a:t>peephole </a:t>
            </a:r>
            <a:r>
              <a:rPr sz="2300" i="1" spc="-15" dirty="0">
                <a:solidFill>
                  <a:srgbClr val="FF0000"/>
                </a:solidFill>
                <a:latin typeface="Calibri"/>
                <a:cs typeface="Calibri"/>
              </a:rPr>
              <a:t>connections</a:t>
            </a:r>
            <a:r>
              <a:rPr sz="2300" spc="-15" dirty="0">
                <a:latin typeface="Calibri"/>
                <a:cs typeface="Calibri"/>
              </a:rPr>
              <a:t>.”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This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means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that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we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let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gate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layers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look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at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cell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state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99025" y="3781044"/>
            <a:ext cx="3401695" cy="2212975"/>
            <a:chOff x="1399025" y="3781044"/>
            <a:chExt cx="3401695" cy="2212975"/>
          </a:xfrm>
        </p:grpSpPr>
        <p:sp>
          <p:nvSpPr>
            <p:cNvPr id="5" name="object 5"/>
            <p:cNvSpPr/>
            <p:nvPr/>
          </p:nvSpPr>
          <p:spPr>
            <a:xfrm>
              <a:off x="4224528" y="3783330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BACA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77640" y="3785616"/>
              <a:ext cx="27432" cy="27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82212" y="3813048"/>
              <a:ext cx="13716" cy="182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77640" y="3826764"/>
              <a:ext cx="54864" cy="1828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3068" y="3840480"/>
              <a:ext cx="109728" cy="228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73068" y="3863340"/>
              <a:ext cx="54864" cy="1371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68496" y="3877056"/>
              <a:ext cx="77724" cy="1371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037075" y="388391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BCC8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14216" y="3888486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A8B9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37075" y="3888486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B4C2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14216" y="3854196"/>
              <a:ext cx="73152" cy="6858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68496" y="3890772"/>
              <a:ext cx="9144" cy="457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014216" y="389305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A9B9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32503" y="389305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B8C6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68496" y="3897630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A9B9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36008" y="4238244"/>
              <a:ext cx="105156" cy="3657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22876" y="4270248"/>
              <a:ext cx="9144" cy="914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26863" y="4274820"/>
              <a:ext cx="22860" cy="2286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626863" y="4299966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716" y="0"/>
                  </a:lnTo>
                </a:path>
              </a:pathLst>
            </a:custGeom>
            <a:ln w="4572">
              <a:solidFill>
                <a:srgbClr val="A8B9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04588" y="4279392"/>
              <a:ext cx="73152" cy="5486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709159" y="432739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B9C7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704588" y="433654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BAC7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31029" y="4297680"/>
              <a:ext cx="82296" cy="2286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99609" y="4306824"/>
              <a:ext cx="13716" cy="2743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504181" y="433654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A8B9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04181" y="4341113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B5C5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90465" y="3785616"/>
              <a:ext cx="3300984" cy="78181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773168" y="435940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DAE6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768595" y="436397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BAC8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99025" y="4320540"/>
              <a:ext cx="150876" cy="9144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90465" y="4370831"/>
              <a:ext cx="54870" cy="914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17897" y="4366260"/>
              <a:ext cx="182886" cy="6400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426457" y="4379976"/>
              <a:ext cx="68580" cy="3657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545336" y="4427981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B2C1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540764" y="443255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BDCB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640580" y="456514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C6CE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85893" y="4567427"/>
              <a:ext cx="3314700" cy="99212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677156" y="5294376"/>
              <a:ext cx="13716" cy="914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672583" y="5303519"/>
              <a:ext cx="13716" cy="1828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668012" y="5321808"/>
              <a:ext cx="13716" cy="1371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668012" y="5335524"/>
              <a:ext cx="45720" cy="914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435601" y="5335524"/>
              <a:ext cx="18288" cy="18288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668012" y="5340096"/>
              <a:ext cx="50292" cy="914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663439" y="5349240"/>
              <a:ext cx="105156" cy="2286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435601" y="5353811"/>
              <a:ext cx="13716" cy="18288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658868" y="5362955"/>
              <a:ext cx="123444" cy="2286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431029" y="5372100"/>
              <a:ext cx="54864" cy="3657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654295" y="5381244"/>
              <a:ext cx="77724" cy="18288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4700015" y="5397246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A8B9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722876" y="5397246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B0C0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700015" y="540181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AFBC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718303" y="540181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BBC9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426457" y="5404104"/>
              <a:ext cx="54864" cy="13716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4773168" y="5415533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C0CF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21885" y="5399532"/>
              <a:ext cx="123444" cy="27432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4773168" y="5420105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BFCC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421885" y="5417820"/>
              <a:ext cx="77724" cy="18288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472177" y="5394960"/>
              <a:ext cx="219462" cy="64008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4649724" y="543839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C7D8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421885" y="5431536"/>
              <a:ext cx="73152" cy="13716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421885" y="544753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80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B8C2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664208" y="5454395"/>
              <a:ext cx="41148" cy="13716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467605" y="5440679"/>
              <a:ext cx="77730" cy="27432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649724" y="5554979"/>
              <a:ext cx="91439" cy="50292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4649724" y="560755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BDC8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764792" y="5559551"/>
              <a:ext cx="2720339" cy="338328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755648" y="5893308"/>
              <a:ext cx="77724" cy="18288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755648" y="5902451"/>
              <a:ext cx="45720" cy="13716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783080" y="5916167"/>
              <a:ext cx="13716" cy="22860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751076" y="5916167"/>
              <a:ext cx="132588" cy="41148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952244" y="5893308"/>
              <a:ext cx="36576" cy="100584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819656" y="5943600"/>
              <a:ext cx="41148" cy="2286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851660" y="5966460"/>
              <a:ext cx="32004" cy="4572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851660" y="5971032"/>
              <a:ext cx="27432" cy="13716"/>
            </a:xfrm>
            <a:prstGeom prst="rect">
              <a:avLst/>
            </a:prstGeom>
          </p:spPr>
        </p:pic>
      </p:grpSp>
      <p:grpSp>
        <p:nvGrpSpPr>
          <p:cNvPr id="79" name="object 79"/>
          <p:cNvGrpSpPr/>
          <p:nvPr/>
        </p:nvGrpSpPr>
        <p:grpSpPr>
          <a:xfrm>
            <a:off x="6483096" y="4494276"/>
            <a:ext cx="585470" cy="247015"/>
            <a:chOff x="6483096" y="4494276"/>
            <a:chExt cx="585470" cy="247015"/>
          </a:xfrm>
        </p:grpSpPr>
        <p:sp>
          <p:nvSpPr>
            <p:cNvPr id="80" name="object 80"/>
            <p:cNvSpPr/>
            <p:nvPr/>
          </p:nvSpPr>
          <p:spPr>
            <a:xfrm>
              <a:off x="6487668" y="4496562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40">
                  <a:moveTo>
                    <a:pt x="0" y="0"/>
                  </a:moveTo>
                  <a:lnTo>
                    <a:pt x="27432" y="0"/>
                  </a:lnTo>
                </a:path>
              </a:pathLst>
            </a:custGeom>
            <a:ln w="4572">
              <a:solidFill>
                <a:srgbClr val="5E5E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6556248" y="4507992"/>
              <a:ext cx="146304" cy="41148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6483096" y="4498848"/>
              <a:ext cx="100583" cy="105156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6675120" y="4544568"/>
              <a:ext cx="68580" cy="68580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6729984" y="4615434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716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6483096" y="4599432"/>
              <a:ext cx="73152" cy="32004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665976" y="4617720"/>
              <a:ext cx="13716" cy="9144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6665976" y="462915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6483096" y="4626864"/>
              <a:ext cx="73152" cy="22860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6533388" y="4647438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59">
                  <a:moveTo>
                    <a:pt x="0" y="0"/>
                  </a:moveTo>
                  <a:lnTo>
                    <a:pt x="22859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6483096" y="4604004"/>
              <a:ext cx="502920" cy="86868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6707124" y="4686300"/>
              <a:ext cx="54864" cy="9144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6702552" y="4695444"/>
              <a:ext cx="54864" cy="13716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7036308" y="4654296"/>
              <a:ext cx="27432" cy="9144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7031736" y="4663440"/>
              <a:ext cx="36576" cy="27432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6944868" y="4686300"/>
              <a:ext cx="118872" cy="27432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6483096" y="4690872"/>
              <a:ext cx="32003" cy="50292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6707124" y="4709160"/>
              <a:ext cx="41148" cy="13716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6944868" y="4709160"/>
              <a:ext cx="114300" cy="22860"/>
            </a:xfrm>
            <a:prstGeom prst="rect">
              <a:avLst/>
            </a:prstGeom>
          </p:spPr>
        </p:pic>
      </p:grpSp>
      <p:grpSp>
        <p:nvGrpSpPr>
          <p:cNvPr id="99" name="object 99"/>
          <p:cNvGrpSpPr/>
          <p:nvPr/>
        </p:nvGrpSpPr>
        <p:grpSpPr>
          <a:xfrm>
            <a:off x="7699247" y="4494276"/>
            <a:ext cx="260985" cy="247015"/>
            <a:chOff x="7699247" y="4494276"/>
            <a:chExt cx="260985" cy="247015"/>
          </a:xfrm>
        </p:grpSpPr>
        <p:sp>
          <p:nvSpPr>
            <p:cNvPr id="100" name="object 100"/>
            <p:cNvSpPr/>
            <p:nvPr/>
          </p:nvSpPr>
          <p:spPr>
            <a:xfrm>
              <a:off x="7927847" y="4496562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40">
                  <a:moveTo>
                    <a:pt x="0" y="0"/>
                  </a:moveTo>
                  <a:lnTo>
                    <a:pt x="27432" y="0"/>
                  </a:lnTo>
                </a:path>
              </a:pathLst>
            </a:custGeom>
            <a:ln w="4572">
              <a:solidFill>
                <a:srgbClr val="5E5E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7717535" y="4572000"/>
              <a:ext cx="100584" cy="18288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7712963" y="4585716"/>
              <a:ext cx="105156" cy="9144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7799831" y="4597146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4" name="object 104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7708391" y="4594860"/>
              <a:ext cx="68580" cy="9144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7744967" y="4498848"/>
              <a:ext cx="214884" cy="160020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7708391" y="4606290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7863839" y="4608576"/>
              <a:ext cx="18288" cy="22860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7859267" y="4631436"/>
              <a:ext cx="18288" cy="27432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7699247" y="4654296"/>
              <a:ext cx="109728" cy="18288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7703819" y="4668012"/>
              <a:ext cx="96012" cy="13716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7850123" y="4658868"/>
              <a:ext cx="18288" cy="36576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7850123" y="4690872"/>
              <a:ext cx="45720" cy="9144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7850123" y="4654296"/>
              <a:ext cx="109728" cy="86868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7850123" y="4702302"/>
              <a:ext cx="41275" cy="5080"/>
            </a:xfrm>
            <a:custGeom>
              <a:avLst/>
              <a:gdLst/>
              <a:ahLst/>
              <a:cxnLst/>
              <a:rect l="l" t="t" r="r" b="b"/>
              <a:pathLst>
                <a:path w="41275" h="5079">
                  <a:moveTo>
                    <a:pt x="0" y="0"/>
                  </a:moveTo>
                  <a:lnTo>
                    <a:pt x="9144" y="0"/>
                  </a:lnTo>
                </a:path>
                <a:path w="41275" h="5079">
                  <a:moveTo>
                    <a:pt x="36575" y="0"/>
                  </a:moveTo>
                  <a:lnTo>
                    <a:pt x="41148" y="0"/>
                  </a:lnTo>
                </a:path>
                <a:path w="41275" h="5079">
                  <a:moveTo>
                    <a:pt x="0" y="4572"/>
                  </a:moveTo>
                  <a:lnTo>
                    <a:pt x="9144" y="4572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5" name="object 115"/>
          <p:cNvGrpSpPr/>
          <p:nvPr/>
        </p:nvGrpSpPr>
        <p:grpSpPr>
          <a:xfrm>
            <a:off x="8462771" y="4498847"/>
            <a:ext cx="288290" cy="256540"/>
            <a:chOff x="8462771" y="4498847"/>
            <a:chExt cx="288290" cy="256540"/>
          </a:xfrm>
        </p:grpSpPr>
        <p:pic>
          <p:nvPicPr>
            <p:cNvPr id="116" name="object 116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8695943" y="4498847"/>
              <a:ext cx="9144" cy="4572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8700515" y="4503419"/>
              <a:ext cx="41148" cy="59436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8732519" y="4562855"/>
              <a:ext cx="13716" cy="22860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8627363" y="4599431"/>
              <a:ext cx="22859" cy="4572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8618219" y="4604003"/>
              <a:ext cx="36576" cy="9144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8618219" y="4608575"/>
              <a:ext cx="36576" cy="9144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8737091" y="4585715"/>
              <a:ext cx="13716" cy="64008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8613647" y="4617719"/>
              <a:ext cx="13716" cy="13716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8471915" y="4512563"/>
              <a:ext cx="73152" cy="77724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8471915" y="4590287"/>
              <a:ext cx="77724" cy="18288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8462771" y="4599431"/>
              <a:ext cx="86868" cy="41148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8590787" y="4631435"/>
              <a:ext cx="50292" cy="18288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8462771" y="4640579"/>
              <a:ext cx="82295" cy="41148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8732519" y="4649723"/>
              <a:ext cx="13716" cy="22860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8604503" y="4649723"/>
              <a:ext cx="18288" cy="27432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8599931" y="4677155"/>
              <a:ext cx="18288" cy="18288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8718803" y="4672583"/>
              <a:ext cx="22860" cy="32004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8595359" y="4695443"/>
              <a:ext cx="18288" cy="27432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8705087" y="4704587"/>
              <a:ext cx="22860" cy="22860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8567927" y="4722875"/>
              <a:ext cx="36576" cy="13716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8695943" y="4727447"/>
              <a:ext cx="13716" cy="13716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8567927" y="4736591"/>
              <a:ext cx="32004" cy="9144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8567927" y="4741163"/>
              <a:ext cx="27432" cy="13716"/>
            </a:xfrm>
            <a:prstGeom prst="rect">
              <a:avLst/>
            </a:prstGeom>
          </p:spPr>
        </p:pic>
      </p:grpSp>
      <p:grpSp>
        <p:nvGrpSpPr>
          <p:cNvPr id="139" name="object 139"/>
          <p:cNvGrpSpPr/>
          <p:nvPr/>
        </p:nvGrpSpPr>
        <p:grpSpPr>
          <a:xfrm>
            <a:off x="5934455" y="4498847"/>
            <a:ext cx="402590" cy="256540"/>
            <a:chOff x="5934455" y="4498847"/>
            <a:chExt cx="402590" cy="256540"/>
          </a:xfrm>
        </p:grpSpPr>
        <p:pic>
          <p:nvPicPr>
            <p:cNvPr id="140" name="object 140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5971031" y="4498847"/>
              <a:ext cx="13716" cy="13716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5952743" y="4517135"/>
              <a:ext cx="22860" cy="18288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6208775" y="4512563"/>
              <a:ext cx="50292" cy="18288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5971031" y="4512563"/>
              <a:ext cx="196596" cy="41148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6222491" y="4530851"/>
              <a:ext cx="9144" cy="9144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6213347" y="4539995"/>
              <a:ext cx="13716" cy="13716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5934455" y="4535423"/>
              <a:ext cx="27432" cy="41148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6039611" y="4553711"/>
              <a:ext cx="18288" cy="9144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6208775" y="4553711"/>
              <a:ext cx="9144" cy="9144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6112763" y="4549139"/>
              <a:ext cx="36576" cy="22860"/>
            </a:xfrm>
            <a:prstGeom prst="rect">
              <a:avLst/>
            </a:prstGeom>
          </p:spPr>
        </p:pic>
        <p:sp>
          <p:nvSpPr>
            <p:cNvPr id="150" name="object 150"/>
            <p:cNvSpPr/>
            <p:nvPr/>
          </p:nvSpPr>
          <p:spPr>
            <a:xfrm>
              <a:off x="6039611" y="456514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1" name="object 151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6108191" y="4571999"/>
              <a:ext cx="45720" cy="9144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6039611" y="4567427"/>
              <a:ext cx="114299" cy="32004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6195059" y="4562855"/>
              <a:ext cx="18288" cy="27432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5934455" y="4576571"/>
              <a:ext cx="13716" cy="32004"/>
            </a:xfrm>
            <a:prstGeom prst="rect">
              <a:avLst/>
            </a:prstGeom>
          </p:spPr>
        </p:pic>
        <p:pic>
          <p:nvPicPr>
            <p:cNvPr id="155" name="object 155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6044183" y="4590287"/>
              <a:ext cx="155448" cy="13716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6044183" y="4604003"/>
              <a:ext cx="18288" cy="9144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6094475" y="4599431"/>
              <a:ext cx="100584" cy="13716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6295643" y="4599431"/>
              <a:ext cx="41148" cy="22860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6131051" y="4608575"/>
              <a:ext cx="54864" cy="13716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6131051" y="4617719"/>
              <a:ext cx="50292" cy="13716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6044183" y="4608575"/>
              <a:ext cx="50292" cy="27432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6131051" y="4626863"/>
              <a:ext cx="45720" cy="13716"/>
            </a:xfrm>
            <a:prstGeom prst="rect">
              <a:avLst/>
            </a:prstGeom>
          </p:spPr>
        </p:pic>
        <p:sp>
          <p:nvSpPr>
            <p:cNvPr id="163" name="object 163"/>
            <p:cNvSpPr/>
            <p:nvPr/>
          </p:nvSpPr>
          <p:spPr>
            <a:xfrm>
              <a:off x="6167627" y="4638293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4" name="object 164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6044183" y="4631435"/>
              <a:ext cx="41148" cy="13716"/>
            </a:xfrm>
            <a:prstGeom prst="rect">
              <a:avLst/>
            </a:prstGeom>
          </p:spPr>
        </p:pic>
        <p:pic>
          <p:nvPicPr>
            <p:cNvPr id="165" name="object 165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5934455" y="4608575"/>
              <a:ext cx="13716" cy="45720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6277355" y="4622291"/>
              <a:ext cx="45719" cy="45720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6048755" y="4645151"/>
              <a:ext cx="27432" cy="13716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6076187" y="4640579"/>
              <a:ext cx="91440" cy="41148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6048755" y="4658867"/>
              <a:ext cx="18288" cy="22860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5934455" y="4654295"/>
              <a:ext cx="27432" cy="45720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6281927" y="4668011"/>
              <a:ext cx="18288" cy="18288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6281927" y="4686299"/>
              <a:ext cx="13716" cy="18288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5952743" y="4700015"/>
              <a:ext cx="22860" cy="22860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6249923" y="4704587"/>
              <a:ext cx="41148" cy="32004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5971031" y="4722875"/>
              <a:ext cx="18288" cy="18288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6245351" y="4727447"/>
              <a:ext cx="36576" cy="27432"/>
            </a:xfrm>
            <a:prstGeom prst="rect">
              <a:avLst/>
            </a:prstGeom>
          </p:spPr>
        </p:pic>
      </p:grpSp>
      <p:grpSp>
        <p:nvGrpSpPr>
          <p:cNvPr id="177" name="object 177"/>
          <p:cNvGrpSpPr/>
          <p:nvPr/>
        </p:nvGrpSpPr>
        <p:grpSpPr>
          <a:xfrm>
            <a:off x="5202935" y="4507991"/>
            <a:ext cx="165100" cy="224154"/>
            <a:chOff x="5202935" y="4507991"/>
            <a:chExt cx="165100" cy="224154"/>
          </a:xfrm>
        </p:grpSpPr>
        <p:pic>
          <p:nvPicPr>
            <p:cNvPr id="178" name="object 178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5266943" y="4507991"/>
              <a:ext cx="54864" cy="45720"/>
            </a:xfrm>
            <a:prstGeom prst="rect">
              <a:avLst/>
            </a:prstGeom>
          </p:spPr>
        </p:pic>
        <p:sp>
          <p:nvSpPr>
            <p:cNvPr id="179" name="object 179"/>
            <p:cNvSpPr/>
            <p:nvPr/>
          </p:nvSpPr>
          <p:spPr>
            <a:xfrm>
              <a:off x="5266943" y="4555997"/>
              <a:ext cx="13970" cy="5080"/>
            </a:xfrm>
            <a:custGeom>
              <a:avLst/>
              <a:gdLst/>
              <a:ahLst/>
              <a:cxnLst/>
              <a:rect l="l" t="t" r="r" b="b"/>
              <a:pathLst>
                <a:path w="13970" h="5079">
                  <a:moveTo>
                    <a:pt x="0" y="0"/>
                  </a:moveTo>
                  <a:lnTo>
                    <a:pt x="13716" y="0"/>
                  </a:lnTo>
                </a:path>
                <a:path w="13970" h="5079">
                  <a:moveTo>
                    <a:pt x="0" y="4572"/>
                  </a:moveTo>
                  <a:lnTo>
                    <a:pt x="13716" y="4572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5349239" y="4610861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2A2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1" name="object 181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5239511" y="4562855"/>
              <a:ext cx="128016" cy="105156"/>
            </a:xfrm>
            <a:prstGeom prst="rect">
              <a:avLst/>
            </a:prstGeom>
          </p:spPr>
        </p:pic>
        <p:pic>
          <p:nvPicPr>
            <p:cNvPr id="182" name="object 182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5244083" y="4668011"/>
              <a:ext cx="13716" cy="13716"/>
            </a:xfrm>
            <a:prstGeom prst="rect">
              <a:avLst/>
            </a:prstGeom>
          </p:spPr>
        </p:pic>
        <p:pic>
          <p:nvPicPr>
            <p:cNvPr id="183" name="object 183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5321807" y="4668011"/>
              <a:ext cx="45720" cy="36576"/>
            </a:xfrm>
            <a:prstGeom prst="rect">
              <a:avLst/>
            </a:prstGeom>
          </p:spPr>
        </p:pic>
        <p:pic>
          <p:nvPicPr>
            <p:cNvPr id="184" name="object 184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5239511" y="4681727"/>
              <a:ext cx="13716" cy="13716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5202935" y="4695443"/>
              <a:ext cx="45720" cy="22860"/>
            </a:xfrm>
            <a:prstGeom prst="rect">
              <a:avLst/>
            </a:prstGeom>
          </p:spPr>
        </p:pic>
        <p:pic>
          <p:nvPicPr>
            <p:cNvPr id="186" name="object 186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5321807" y="4690871"/>
              <a:ext cx="45720" cy="32004"/>
            </a:xfrm>
            <a:prstGeom prst="rect">
              <a:avLst/>
            </a:prstGeom>
          </p:spPr>
        </p:pic>
        <p:pic>
          <p:nvPicPr>
            <p:cNvPr id="187" name="object 187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5202935" y="4713731"/>
              <a:ext cx="41148" cy="13716"/>
            </a:xfrm>
            <a:prstGeom prst="rect">
              <a:avLst/>
            </a:prstGeom>
          </p:spPr>
        </p:pic>
        <p:sp>
          <p:nvSpPr>
            <p:cNvPr id="188" name="object 188"/>
            <p:cNvSpPr/>
            <p:nvPr/>
          </p:nvSpPr>
          <p:spPr>
            <a:xfrm>
              <a:off x="5216651" y="4729733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72727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9" name="object 189"/>
          <p:cNvGrpSpPr/>
          <p:nvPr/>
        </p:nvGrpSpPr>
        <p:grpSpPr>
          <a:xfrm>
            <a:off x="7118604" y="4512564"/>
            <a:ext cx="434340" cy="210820"/>
            <a:chOff x="7118604" y="4512564"/>
            <a:chExt cx="434340" cy="210820"/>
          </a:xfrm>
        </p:grpSpPr>
        <p:pic>
          <p:nvPicPr>
            <p:cNvPr id="190" name="object 190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7136892" y="4512564"/>
              <a:ext cx="36576" cy="36576"/>
            </a:xfrm>
            <a:prstGeom prst="rect">
              <a:avLst/>
            </a:prstGeom>
          </p:spPr>
        </p:pic>
        <p:pic>
          <p:nvPicPr>
            <p:cNvPr id="191" name="object 191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7141464" y="4549140"/>
              <a:ext cx="68580" cy="36576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7205472" y="4581144"/>
              <a:ext cx="13716" cy="13716"/>
            </a:xfrm>
            <a:prstGeom prst="rect">
              <a:avLst/>
            </a:prstGeom>
          </p:spPr>
        </p:pic>
        <p:pic>
          <p:nvPicPr>
            <p:cNvPr id="193" name="object 193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7136892" y="4581144"/>
              <a:ext cx="32004" cy="18288"/>
            </a:xfrm>
            <a:prstGeom prst="rect">
              <a:avLst/>
            </a:prstGeom>
          </p:spPr>
        </p:pic>
        <p:sp>
          <p:nvSpPr>
            <p:cNvPr id="194" name="object 194"/>
            <p:cNvSpPr/>
            <p:nvPr/>
          </p:nvSpPr>
          <p:spPr>
            <a:xfrm>
              <a:off x="7136892" y="4597146"/>
              <a:ext cx="82550" cy="5080"/>
            </a:xfrm>
            <a:custGeom>
              <a:avLst/>
              <a:gdLst/>
              <a:ahLst/>
              <a:cxnLst/>
              <a:rect l="l" t="t" r="r" b="b"/>
              <a:pathLst>
                <a:path w="82550" h="5079">
                  <a:moveTo>
                    <a:pt x="68580" y="0"/>
                  </a:moveTo>
                  <a:lnTo>
                    <a:pt x="82296" y="0"/>
                  </a:lnTo>
                </a:path>
                <a:path w="82550" h="5079">
                  <a:moveTo>
                    <a:pt x="0" y="4572"/>
                  </a:moveTo>
                  <a:lnTo>
                    <a:pt x="18288" y="4572"/>
                  </a:lnTo>
                </a:path>
                <a:path w="82550" h="5079">
                  <a:moveTo>
                    <a:pt x="68580" y="4572"/>
                  </a:moveTo>
                  <a:lnTo>
                    <a:pt x="82296" y="4572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5" name="object 195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7127748" y="4604004"/>
              <a:ext cx="27432" cy="36576"/>
            </a:xfrm>
            <a:prstGeom prst="rect">
              <a:avLst/>
            </a:prstGeom>
          </p:spPr>
        </p:pic>
        <p:pic>
          <p:nvPicPr>
            <p:cNvPr id="196" name="object 196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7191756" y="4604004"/>
              <a:ext cx="27432" cy="41148"/>
            </a:xfrm>
            <a:prstGeom prst="rect">
              <a:avLst/>
            </a:prstGeom>
          </p:spPr>
        </p:pic>
        <p:pic>
          <p:nvPicPr>
            <p:cNvPr id="197" name="object 197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7283196" y="4608576"/>
              <a:ext cx="13716" cy="13716"/>
            </a:xfrm>
            <a:prstGeom prst="rect">
              <a:avLst/>
            </a:prstGeom>
          </p:spPr>
        </p:pic>
        <p:pic>
          <p:nvPicPr>
            <p:cNvPr id="198" name="object 198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7127748" y="4622292"/>
              <a:ext cx="182880" cy="41148"/>
            </a:xfrm>
            <a:prstGeom prst="rect">
              <a:avLst/>
            </a:prstGeom>
          </p:spPr>
        </p:pic>
        <p:sp>
          <p:nvSpPr>
            <p:cNvPr id="199" name="object 199"/>
            <p:cNvSpPr/>
            <p:nvPr/>
          </p:nvSpPr>
          <p:spPr>
            <a:xfrm>
              <a:off x="7274052" y="466115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0" name="object 200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7118604" y="4645152"/>
              <a:ext cx="22860" cy="36576"/>
            </a:xfrm>
            <a:prstGeom prst="rect">
              <a:avLst/>
            </a:prstGeom>
          </p:spPr>
        </p:pic>
        <p:sp>
          <p:nvSpPr>
            <p:cNvPr id="201" name="object 201"/>
            <p:cNvSpPr/>
            <p:nvPr/>
          </p:nvSpPr>
          <p:spPr>
            <a:xfrm>
              <a:off x="7274052" y="4665726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2" name="object 202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7260336" y="4608576"/>
              <a:ext cx="269748" cy="100584"/>
            </a:xfrm>
            <a:prstGeom prst="rect">
              <a:avLst/>
            </a:prstGeom>
          </p:spPr>
        </p:pic>
        <p:pic>
          <p:nvPicPr>
            <p:cNvPr id="203" name="object 203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7187184" y="4663440"/>
              <a:ext cx="96012" cy="18288"/>
            </a:xfrm>
            <a:prstGeom prst="rect">
              <a:avLst/>
            </a:prstGeom>
          </p:spPr>
        </p:pic>
        <p:pic>
          <p:nvPicPr>
            <p:cNvPr id="204" name="object 204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7264908" y="4677156"/>
              <a:ext cx="18288" cy="13716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7507224" y="4704588"/>
              <a:ext cx="32003" cy="9144"/>
            </a:xfrm>
            <a:prstGeom prst="rect">
              <a:avLst/>
            </a:prstGeom>
          </p:spPr>
        </p:pic>
        <p:pic>
          <p:nvPicPr>
            <p:cNvPr id="206" name="object 206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7264908" y="4690872"/>
              <a:ext cx="45720" cy="27432"/>
            </a:xfrm>
            <a:prstGeom prst="rect">
              <a:avLst/>
            </a:prstGeom>
          </p:spPr>
        </p:pic>
        <p:sp>
          <p:nvSpPr>
            <p:cNvPr id="207" name="object 207"/>
            <p:cNvSpPr/>
            <p:nvPr/>
          </p:nvSpPr>
          <p:spPr>
            <a:xfrm>
              <a:off x="7493508" y="4716018"/>
              <a:ext cx="59690" cy="0"/>
            </a:xfrm>
            <a:custGeom>
              <a:avLst/>
              <a:gdLst/>
              <a:ahLst/>
              <a:cxnLst/>
              <a:rect l="l" t="t" r="r" b="b"/>
              <a:pathLst>
                <a:path w="59690">
                  <a:moveTo>
                    <a:pt x="0" y="0"/>
                  </a:moveTo>
                  <a:lnTo>
                    <a:pt x="59435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7278624" y="4720590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9" name="object 209"/>
          <p:cNvGrpSpPr/>
          <p:nvPr/>
        </p:nvGrpSpPr>
        <p:grpSpPr>
          <a:xfrm>
            <a:off x="8133588" y="4539996"/>
            <a:ext cx="165100" cy="160020"/>
            <a:chOff x="8133588" y="4539996"/>
            <a:chExt cx="165100" cy="160020"/>
          </a:xfrm>
        </p:grpSpPr>
        <p:pic>
          <p:nvPicPr>
            <p:cNvPr id="210" name="object 210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8211312" y="4539996"/>
              <a:ext cx="9144" cy="9144"/>
            </a:xfrm>
            <a:prstGeom prst="rect">
              <a:avLst/>
            </a:prstGeom>
          </p:spPr>
        </p:pic>
        <p:sp>
          <p:nvSpPr>
            <p:cNvPr id="211" name="object 211"/>
            <p:cNvSpPr/>
            <p:nvPr/>
          </p:nvSpPr>
          <p:spPr>
            <a:xfrm>
              <a:off x="8211312" y="4551426"/>
              <a:ext cx="9525" cy="5080"/>
            </a:xfrm>
            <a:custGeom>
              <a:avLst/>
              <a:gdLst/>
              <a:ahLst/>
              <a:cxnLst/>
              <a:rect l="l" t="t" r="r" b="b"/>
              <a:pathLst>
                <a:path w="9525" h="5079">
                  <a:moveTo>
                    <a:pt x="0" y="0"/>
                  </a:moveTo>
                  <a:lnTo>
                    <a:pt x="9144" y="0"/>
                  </a:lnTo>
                </a:path>
                <a:path w="9525" h="5079">
                  <a:moveTo>
                    <a:pt x="0" y="4571"/>
                  </a:moveTo>
                  <a:lnTo>
                    <a:pt x="9144" y="4571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2" name="object 212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8133588" y="4558284"/>
              <a:ext cx="164592" cy="68580"/>
            </a:xfrm>
            <a:prstGeom prst="rect">
              <a:avLst/>
            </a:prstGeom>
          </p:spPr>
        </p:pic>
        <p:sp>
          <p:nvSpPr>
            <p:cNvPr id="213" name="object 213"/>
            <p:cNvSpPr/>
            <p:nvPr/>
          </p:nvSpPr>
          <p:spPr>
            <a:xfrm>
              <a:off x="8211312" y="4629150"/>
              <a:ext cx="9525" cy="59690"/>
            </a:xfrm>
            <a:custGeom>
              <a:avLst/>
              <a:gdLst/>
              <a:ahLst/>
              <a:cxnLst/>
              <a:rect l="l" t="t" r="r" b="b"/>
              <a:pathLst>
                <a:path w="9525" h="59689">
                  <a:moveTo>
                    <a:pt x="0" y="0"/>
                  </a:moveTo>
                  <a:lnTo>
                    <a:pt x="9144" y="0"/>
                  </a:lnTo>
                </a:path>
                <a:path w="9525" h="59689">
                  <a:moveTo>
                    <a:pt x="0" y="4571"/>
                  </a:moveTo>
                  <a:lnTo>
                    <a:pt x="9144" y="4571"/>
                  </a:lnTo>
                </a:path>
                <a:path w="9525" h="59689">
                  <a:moveTo>
                    <a:pt x="0" y="9143"/>
                  </a:moveTo>
                  <a:lnTo>
                    <a:pt x="9144" y="9143"/>
                  </a:lnTo>
                </a:path>
                <a:path w="9525" h="59689">
                  <a:moveTo>
                    <a:pt x="0" y="13715"/>
                  </a:moveTo>
                  <a:lnTo>
                    <a:pt x="9144" y="13715"/>
                  </a:lnTo>
                </a:path>
                <a:path w="9525" h="59689">
                  <a:moveTo>
                    <a:pt x="0" y="18287"/>
                  </a:moveTo>
                  <a:lnTo>
                    <a:pt x="9144" y="18287"/>
                  </a:lnTo>
                </a:path>
                <a:path w="9525" h="59689">
                  <a:moveTo>
                    <a:pt x="0" y="22859"/>
                  </a:moveTo>
                  <a:lnTo>
                    <a:pt x="9144" y="22859"/>
                  </a:lnTo>
                </a:path>
                <a:path w="9525" h="59689">
                  <a:moveTo>
                    <a:pt x="0" y="27431"/>
                  </a:moveTo>
                  <a:lnTo>
                    <a:pt x="9144" y="27431"/>
                  </a:lnTo>
                </a:path>
                <a:path w="9525" h="59689">
                  <a:moveTo>
                    <a:pt x="0" y="32003"/>
                  </a:moveTo>
                  <a:lnTo>
                    <a:pt x="9144" y="32003"/>
                  </a:lnTo>
                </a:path>
                <a:path w="9525" h="59689">
                  <a:moveTo>
                    <a:pt x="0" y="36575"/>
                  </a:moveTo>
                  <a:lnTo>
                    <a:pt x="9144" y="36575"/>
                  </a:lnTo>
                </a:path>
                <a:path w="9525" h="59689">
                  <a:moveTo>
                    <a:pt x="0" y="41147"/>
                  </a:moveTo>
                  <a:lnTo>
                    <a:pt x="9144" y="41147"/>
                  </a:lnTo>
                </a:path>
                <a:path w="9525" h="59689">
                  <a:moveTo>
                    <a:pt x="0" y="45719"/>
                  </a:moveTo>
                  <a:lnTo>
                    <a:pt x="9144" y="45719"/>
                  </a:lnTo>
                </a:path>
                <a:path w="9525" h="59689">
                  <a:moveTo>
                    <a:pt x="0" y="50291"/>
                  </a:moveTo>
                  <a:lnTo>
                    <a:pt x="9144" y="50291"/>
                  </a:lnTo>
                </a:path>
                <a:path w="9525" h="59689">
                  <a:moveTo>
                    <a:pt x="0" y="54863"/>
                  </a:moveTo>
                  <a:lnTo>
                    <a:pt x="9144" y="54863"/>
                  </a:lnTo>
                </a:path>
                <a:path w="9525" h="59689">
                  <a:moveTo>
                    <a:pt x="0" y="59436"/>
                  </a:moveTo>
                  <a:lnTo>
                    <a:pt x="9144" y="59436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4" name="object 214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8211312" y="4690872"/>
              <a:ext cx="9144" cy="9144"/>
            </a:xfrm>
            <a:prstGeom prst="rect">
              <a:avLst/>
            </a:prstGeom>
          </p:spPr>
        </p:pic>
      </p:grpSp>
      <p:grpSp>
        <p:nvGrpSpPr>
          <p:cNvPr id="215" name="object 215"/>
          <p:cNvGrpSpPr/>
          <p:nvPr/>
        </p:nvGrpSpPr>
        <p:grpSpPr>
          <a:xfrm>
            <a:off x="5728715" y="4572000"/>
            <a:ext cx="128270" cy="109855"/>
            <a:chOff x="5728715" y="4572000"/>
            <a:chExt cx="128270" cy="109855"/>
          </a:xfrm>
        </p:grpSpPr>
        <p:pic>
          <p:nvPicPr>
            <p:cNvPr id="216" name="object 216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5728715" y="4572000"/>
              <a:ext cx="128016" cy="73152"/>
            </a:xfrm>
            <a:prstGeom prst="rect">
              <a:avLst/>
            </a:prstGeom>
          </p:spPr>
        </p:pic>
        <p:sp>
          <p:nvSpPr>
            <p:cNvPr id="217" name="object 217"/>
            <p:cNvSpPr/>
            <p:nvPr/>
          </p:nvSpPr>
          <p:spPr>
            <a:xfrm>
              <a:off x="5806439" y="4642865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716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8" name="object 218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5728715" y="4645152"/>
              <a:ext cx="13716" cy="9144"/>
            </a:xfrm>
            <a:prstGeom prst="rect">
              <a:avLst/>
            </a:prstGeom>
          </p:spPr>
        </p:pic>
        <p:pic>
          <p:nvPicPr>
            <p:cNvPr id="219" name="object 219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5733287" y="4645152"/>
              <a:ext cx="86868" cy="36576"/>
            </a:xfrm>
            <a:prstGeom prst="rect">
              <a:avLst/>
            </a:prstGeom>
          </p:spPr>
        </p:pic>
      </p:grpSp>
      <p:pic>
        <p:nvPicPr>
          <p:cNvPr id="220" name="object 220"/>
          <p:cNvPicPr/>
          <p:nvPr/>
        </p:nvPicPr>
        <p:blipFill>
          <a:blip r:embed="rId162" cstate="print"/>
          <a:stretch>
            <a:fillRect/>
          </a:stretch>
        </p:blipFill>
        <p:spPr>
          <a:xfrm>
            <a:off x="5472684" y="4590288"/>
            <a:ext cx="164592" cy="54864"/>
          </a:xfrm>
          <a:prstGeom prst="rect">
            <a:avLst/>
          </a:prstGeom>
        </p:spPr>
      </p:pic>
      <p:grpSp>
        <p:nvGrpSpPr>
          <p:cNvPr id="221" name="object 221"/>
          <p:cNvGrpSpPr/>
          <p:nvPr/>
        </p:nvGrpSpPr>
        <p:grpSpPr>
          <a:xfrm>
            <a:off x="6396228" y="4608576"/>
            <a:ext cx="27940" cy="22860"/>
            <a:chOff x="6396228" y="4608576"/>
            <a:chExt cx="27940" cy="22860"/>
          </a:xfrm>
        </p:grpSpPr>
        <p:pic>
          <p:nvPicPr>
            <p:cNvPr id="222" name="object 222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6396228" y="4608576"/>
              <a:ext cx="27432" cy="13716"/>
            </a:xfrm>
            <a:prstGeom prst="rect">
              <a:avLst/>
            </a:prstGeom>
          </p:spPr>
        </p:pic>
        <p:pic>
          <p:nvPicPr>
            <p:cNvPr id="223" name="object 223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6396228" y="4622292"/>
              <a:ext cx="22859" cy="9144"/>
            </a:xfrm>
            <a:prstGeom prst="rect">
              <a:avLst/>
            </a:prstGeom>
          </p:spPr>
        </p:pic>
      </p:grpSp>
      <p:grpSp>
        <p:nvGrpSpPr>
          <p:cNvPr id="224" name="object 224"/>
          <p:cNvGrpSpPr/>
          <p:nvPr/>
        </p:nvGrpSpPr>
        <p:grpSpPr>
          <a:xfrm>
            <a:off x="7603235" y="4654296"/>
            <a:ext cx="27940" cy="73660"/>
            <a:chOff x="7603235" y="4654296"/>
            <a:chExt cx="27940" cy="73660"/>
          </a:xfrm>
        </p:grpSpPr>
        <p:pic>
          <p:nvPicPr>
            <p:cNvPr id="225" name="object 225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7612379" y="4654296"/>
              <a:ext cx="13716" cy="4572"/>
            </a:xfrm>
            <a:prstGeom prst="rect">
              <a:avLst/>
            </a:prstGeom>
          </p:spPr>
        </p:pic>
        <p:pic>
          <p:nvPicPr>
            <p:cNvPr id="226" name="object 226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7603235" y="4658868"/>
              <a:ext cx="27432" cy="13716"/>
            </a:xfrm>
            <a:prstGeom prst="rect">
              <a:avLst/>
            </a:prstGeom>
          </p:spPr>
        </p:pic>
        <p:pic>
          <p:nvPicPr>
            <p:cNvPr id="227" name="object 227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7607807" y="4672584"/>
              <a:ext cx="22859" cy="9144"/>
            </a:xfrm>
            <a:prstGeom prst="rect">
              <a:avLst/>
            </a:prstGeom>
          </p:spPr>
        </p:pic>
        <p:sp>
          <p:nvSpPr>
            <p:cNvPr id="228" name="object 228"/>
            <p:cNvSpPr/>
            <p:nvPr/>
          </p:nvSpPr>
          <p:spPr>
            <a:xfrm>
              <a:off x="7626095" y="468401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0B0B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7626095" y="4688586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2323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7626095" y="469315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5A5A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7621523" y="470687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5252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7621523" y="4711446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3" name="object 233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7612379" y="4713732"/>
              <a:ext cx="13716" cy="9144"/>
            </a:xfrm>
            <a:prstGeom prst="rect">
              <a:avLst/>
            </a:prstGeom>
          </p:spPr>
        </p:pic>
        <p:sp>
          <p:nvSpPr>
            <p:cNvPr id="234" name="object 234"/>
            <p:cNvSpPr/>
            <p:nvPr/>
          </p:nvSpPr>
          <p:spPr>
            <a:xfrm>
              <a:off x="7607807" y="472516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5" name="object 235"/>
          <p:cNvGrpSpPr/>
          <p:nvPr/>
        </p:nvGrpSpPr>
        <p:grpSpPr>
          <a:xfrm>
            <a:off x="7690104" y="4878323"/>
            <a:ext cx="256540" cy="247015"/>
            <a:chOff x="7690104" y="4878323"/>
            <a:chExt cx="256540" cy="247015"/>
          </a:xfrm>
        </p:grpSpPr>
        <p:sp>
          <p:nvSpPr>
            <p:cNvPr id="236" name="object 236"/>
            <p:cNvSpPr/>
            <p:nvPr/>
          </p:nvSpPr>
          <p:spPr>
            <a:xfrm>
              <a:off x="7914132" y="4880609"/>
              <a:ext cx="32384" cy="114300"/>
            </a:xfrm>
            <a:custGeom>
              <a:avLst/>
              <a:gdLst/>
              <a:ahLst/>
              <a:cxnLst/>
              <a:rect l="l" t="t" r="r" b="b"/>
              <a:pathLst>
                <a:path w="32384" h="114300">
                  <a:moveTo>
                    <a:pt x="0" y="0"/>
                  </a:moveTo>
                  <a:lnTo>
                    <a:pt x="32003" y="0"/>
                  </a:lnTo>
                </a:path>
                <a:path w="32384" h="114300">
                  <a:moveTo>
                    <a:pt x="0" y="4572"/>
                  </a:moveTo>
                  <a:lnTo>
                    <a:pt x="32003" y="4572"/>
                  </a:lnTo>
                </a:path>
                <a:path w="32384" h="114300">
                  <a:moveTo>
                    <a:pt x="22859" y="9144"/>
                  </a:moveTo>
                  <a:lnTo>
                    <a:pt x="32004" y="9144"/>
                  </a:lnTo>
                </a:path>
                <a:path w="32384" h="114300">
                  <a:moveTo>
                    <a:pt x="22859" y="13716"/>
                  </a:moveTo>
                  <a:lnTo>
                    <a:pt x="32004" y="13716"/>
                  </a:lnTo>
                </a:path>
                <a:path w="32384" h="114300">
                  <a:moveTo>
                    <a:pt x="22859" y="18287"/>
                  </a:moveTo>
                  <a:lnTo>
                    <a:pt x="32004" y="18287"/>
                  </a:lnTo>
                </a:path>
                <a:path w="32384" h="114300">
                  <a:moveTo>
                    <a:pt x="22859" y="22860"/>
                  </a:moveTo>
                  <a:lnTo>
                    <a:pt x="32004" y="22860"/>
                  </a:lnTo>
                </a:path>
                <a:path w="32384" h="114300">
                  <a:moveTo>
                    <a:pt x="22859" y="27432"/>
                  </a:moveTo>
                  <a:lnTo>
                    <a:pt x="32004" y="27432"/>
                  </a:lnTo>
                </a:path>
                <a:path w="32384" h="114300">
                  <a:moveTo>
                    <a:pt x="22859" y="32004"/>
                  </a:moveTo>
                  <a:lnTo>
                    <a:pt x="32004" y="32004"/>
                  </a:lnTo>
                </a:path>
                <a:path w="32384" h="114300">
                  <a:moveTo>
                    <a:pt x="22859" y="36576"/>
                  </a:moveTo>
                  <a:lnTo>
                    <a:pt x="32004" y="36576"/>
                  </a:lnTo>
                </a:path>
                <a:path w="32384" h="114300">
                  <a:moveTo>
                    <a:pt x="22859" y="41148"/>
                  </a:moveTo>
                  <a:lnTo>
                    <a:pt x="32004" y="41148"/>
                  </a:lnTo>
                </a:path>
                <a:path w="32384" h="114300">
                  <a:moveTo>
                    <a:pt x="22859" y="45720"/>
                  </a:moveTo>
                  <a:lnTo>
                    <a:pt x="32004" y="45720"/>
                  </a:lnTo>
                </a:path>
                <a:path w="32384" h="114300">
                  <a:moveTo>
                    <a:pt x="22859" y="50292"/>
                  </a:moveTo>
                  <a:lnTo>
                    <a:pt x="32004" y="50292"/>
                  </a:lnTo>
                </a:path>
                <a:path w="32384" h="114300">
                  <a:moveTo>
                    <a:pt x="22859" y="54864"/>
                  </a:moveTo>
                  <a:lnTo>
                    <a:pt x="32004" y="54864"/>
                  </a:lnTo>
                </a:path>
                <a:path w="32384" h="114300">
                  <a:moveTo>
                    <a:pt x="22859" y="59436"/>
                  </a:moveTo>
                  <a:lnTo>
                    <a:pt x="32004" y="59436"/>
                  </a:lnTo>
                </a:path>
                <a:path w="32384" h="114300">
                  <a:moveTo>
                    <a:pt x="22859" y="64008"/>
                  </a:moveTo>
                  <a:lnTo>
                    <a:pt x="32004" y="64008"/>
                  </a:lnTo>
                </a:path>
                <a:path w="32384" h="114300">
                  <a:moveTo>
                    <a:pt x="22859" y="68580"/>
                  </a:moveTo>
                  <a:lnTo>
                    <a:pt x="32004" y="68580"/>
                  </a:lnTo>
                </a:path>
                <a:path w="32384" h="114300">
                  <a:moveTo>
                    <a:pt x="22859" y="73152"/>
                  </a:moveTo>
                  <a:lnTo>
                    <a:pt x="32004" y="73152"/>
                  </a:lnTo>
                </a:path>
                <a:path w="32384" h="114300">
                  <a:moveTo>
                    <a:pt x="22859" y="77724"/>
                  </a:moveTo>
                  <a:lnTo>
                    <a:pt x="32004" y="77724"/>
                  </a:lnTo>
                </a:path>
                <a:path w="32384" h="114300">
                  <a:moveTo>
                    <a:pt x="22859" y="82296"/>
                  </a:moveTo>
                  <a:lnTo>
                    <a:pt x="32004" y="82296"/>
                  </a:lnTo>
                </a:path>
                <a:path w="32384" h="114300">
                  <a:moveTo>
                    <a:pt x="22859" y="86868"/>
                  </a:moveTo>
                  <a:lnTo>
                    <a:pt x="32004" y="86868"/>
                  </a:lnTo>
                </a:path>
                <a:path w="32384" h="114300">
                  <a:moveTo>
                    <a:pt x="22859" y="91440"/>
                  </a:moveTo>
                  <a:lnTo>
                    <a:pt x="32004" y="91440"/>
                  </a:lnTo>
                </a:path>
                <a:path w="32384" h="114300">
                  <a:moveTo>
                    <a:pt x="22859" y="96012"/>
                  </a:moveTo>
                  <a:lnTo>
                    <a:pt x="32004" y="96012"/>
                  </a:lnTo>
                </a:path>
                <a:path w="32384" h="114300">
                  <a:moveTo>
                    <a:pt x="22859" y="100584"/>
                  </a:moveTo>
                  <a:lnTo>
                    <a:pt x="32004" y="100584"/>
                  </a:lnTo>
                </a:path>
                <a:path w="32384" h="114300">
                  <a:moveTo>
                    <a:pt x="22859" y="105156"/>
                  </a:moveTo>
                  <a:lnTo>
                    <a:pt x="32004" y="105156"/>
                  </a:lnTo>
                </a:path>
                <a:path w="32384" h="114300">
                  <a:moveTo>
                    <a:pt x="22859" y="109728"/>
                  </a:moveTo>
                  <a:lnTo>
                    <a:pt x="32004" y="109728"/>
                  </a:lnTo>
                </a:path>
                <a:path w="32384" h="114300">
                  <a:moveTo>
                    <a:pt x="22859" y="114300"/>
                  </a:moveTo>
                  <a:lnTo>
                    <a:pt x="32004" y="11430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7" name="object 237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7859268" y="4992623"/>
              <a:ext cx="13716" cy="9144"/>
            </a:xfrm>
            <a:prstGeom prst="rect">
              <a:avLst/>
            </a:prstGeom>
          </p:spPr>
        </p:pic>
        <p:sp>
          <p:nvSpPr>
            <p:cNvPr id="238" name="object 238"/>
            <p:cNvSpPr/>
            <p:nvPr/>
          </p:nvSpPr>
          <p:spPr>
            <a:xfrm>
              <a:off x="7936992" y="4999481"/>
              <a:ext cx="9525" cy="22860"/>
            </a:xfrm>
            <a:custGeom>
              <a:avLst/>
              <a:gdLst/>
              <a:ahLst/>
              <a:cxnLst/>
              <a:rect l="l" t="t" r="r" b="b"/>
              <a:pathLst>
                <a:path w="9525" h="22860">
                  <a:moveTo>
                    <a:pt x="0" y="0"/>
                  </a:moveTo>
                  <a:lnTo>
                    <a:pt x="9144" y="0"/>
                  </a:lnTo>
                </a:path>
                <a:path w="9525" h="22860">
                  <a:moveTo>
                    <a:pt x="0" y="4572"/>
                  </a:moveTo>
                  <a:lnTo>
                    <a:pt x="9144" y="4572"/>
                  </a:lnTo>
                </a:path>
                <a:path w="9525" h="22860">
                  <a:moveTo>
                    <a:pt x="0" y="9144"/>
                  </a:moveTo>
                  <a:lnTo>
                    <a:pt x="9144" y="9144"/>
                  </a:lnTo>
                </a:path>
                <a:path w="9525" h="22860">
                  <a:moveTo>
                    <a:pt x="0" y="13715"/>
                  </a:moveTo>
                  <a:lnTo>
                    <a:pt x="9144" y="13715"/>
                  </a:lnTo>
                </a:path>
                <a:path w="9525" h="22860">
                  <a:moveTo>
                    <a:pt x="0" y="18287"/>
                  </a:moveTo>
                  <a:lnTo>
                    <a:pt x="9144" y="18287"/>
                  </a:lnTo>
                </a:path>
                <a:path w="9525" h="22860">
                  <a:moveTo>
                    <a:pt x="0" y="22860"/>
                  </a:moveTo>
                  <a:lnTo>
                    <a:pt x="9144" y="2286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9" name="object 239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7717536" y="4951475"/>
              <a:ext cx="77724" cy="9144"/>
            </a:xfrm>
            <a:prstGeom prst="rect">
              <a:avLst/>
            </a:prstGeom>
          </p:spPr>
        </p:pic>
        <p:pic>
          <p:nvPicPr>
            <p:cNvPr id="240" name="object 240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7712964" y="4956047"/>
              <a:ext cx="96012" cy="9144"/>
            </a:xfrm>
            <a:prstGeom prst="rect">
              <a:avLst/>
            </a:prstGeom>
          </p:spPr>
        </p:pic>
        <p:pic>
          <p:nvPicPr>
            <p:cNvPr id="241" name="object 241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7703820" y="4960619"/>
              <a:ext cx="109727" cy="13716"/>
            </a:xfrm>
            <a:prstGeom prst="rect">
              <a:avLst/>
            </a:prstGeom>
          </p:spPr>
        </p:pic>
        <p:sp>
          <p:nvSpPr>
            <p:cNvPr id="242" name="object 242"/>
            <p:cNvSpPr/>
            <p:nvPr/>
          </p:nvSpPr>
          <p:spPr>
            <a:xfrm>
              <a:off x="7703820" y="4976621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7749540" y="4976621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7703820" y="4981193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5252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7699248" y="4985765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6B6B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6" name="object 246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7744968" y="4974335"/>
              <a:ext cx="68580" cy="27432"/>
            </a:xfrm>
            <a:prstGeom prst="rect">
              <a:avLst/>
            </a:prstGeom>
          </p:spPr>
        </p:pic>
        <p:sp>
          <p:nvSpPr>
            <p:cNvPr id="247" name="object 247"/>
            <p:cNvSpPr/>
            <p:nvPr/>
          </p:nvSpPr>
          <p:spPr>
            <a:xfrm>
              <a:off x="7699248" y="4990337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1D1D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8" name="object 248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7694676" y="5001767"/>
              <a:ext cx="192024" cy="36576"/>
            </a:xfrm>
            <a:prstGeom prst="rect">
              <a:avLst/>
            </a:prstGeom>
          </p:spPr>
        </p:pic>
        <p:sp>
          <p:nvSpPr>
            <p:cNvPr id="249" name="object 249"/>
            <p:cNvSpPr/>
            <p:nvPr/>
          </p:nvSpPr>
          <p:spPr>
            <a:xfrm>
              <a:off x="7936992" y="5026913"/>
              <a:ext cx="9525" cy="18415"/>
            </a:xfrm>
            <a:custGeom>
              <a:avLst/>
              <a:gdLst/>
              <a:ahLst/>
              <a:cxnLst/>
              <a:rect l="l" t="t" r="r" b="b"/>
              <a:pathLst>
                <a:path w="9525" h="18414">
                  <a:moveTo>
                    <a:pt x="0" y="0"/>
                  </a:moveTo>
                  <a:lnTo>
                    <a:pt x="9144" y="0"/>
                  </a:lnTo>
                </a:path>
                <a:path w="9525" h="18414">
                  <a:moveTo>
                    <a:pt x="0" y="4572"/>
                  </a:moveTo>
                  <a:lnTo>
                    <a:pt x="9144" y="4572"/>
                  </a:lnTo>
                </a:path>
                <a:path w="9525" h="18414">
                  <a:moveTo>
                    <a:pt x="0" y="9143"/>
                  </a:moveTo>
                  <a:lnTo>
                    <a:pt x="9144" y="9143"/>
                  </a:lnTo>
                </a:path>
                <a:path w="9525" h="18414">
                  <a:moveTo>
                    <a:pt x="0" y="13715"/>
                  </a:moveTo>
                  <a:lnTo>
                    <a:pt x="9144" y="13715"/>
                  </a:lnTo>
                </a:path>
                <a:path w="9525" h="18414">
                  <a:moveTo>
                    <a:pt x="0" y="18287"/>
                  </a:moveTo>
                  <a:lnTo>
                    <a:pt x="9144" y="18287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0" name="object 250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7690104" y="5038343"/>
              <a:ext cx="109728" cy="13716"/>
            </a:xfrm>
            <a:prstGeom prst="rect">
              <a:avLst/>
            </a:prstGeom>
          </p:spPr>
        </p:pic>
        <p:sp>
          <p:nvSpPr>
            <p:cNvPr id="251" name="object 251"/>
            <p:cNvSpPr/>
            <p:nvPr/>
          </p:nvSpPr>
          <p:spPr>
            <a:xfrm>
              <a:off x="7936992" y="5049773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2" name="object 252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7845552" y="5038343"/>
              <a:ext cx="13716" cy="18288"/>
            </a:xfrm>
            <a:prstGeom prst="rect">
              <a:avLst/>
            </a:prstGeom>
          </p:spPr>
        </p:pic>
        <p:pic>
          <p:nvPicPr>
            <p:cNvPr id="253" name="object 253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7690104" y="5047487"/>
              <a:ext cx="100584" cy="9144"/>
            </a:xfrm>
            <a:prstGeom prst="rect">
              <a:avLst/>
            </a:prstGeom>
          </p:spPr>
        </p:pic>
        <p:sp>
          <p:nvSpPr>
            <p:cNvPr id="254" name="object 254"/>
            <p:cNvSpPr/>
            <p:nvPr/>
          </p:nvSpPr>
          <p:spPr>
            <a:xfrm>
              <a:off x="7936992" y="5054345"/>
              <a:ext cx="9525" cy="5080"/>
            </a:xfrm>
            <a:custGeom>
              <a:avLst/>
              <a:gdLst/>
              <a:ahLst/>
              <a:cxnLst/>
              <a:rect l="l" t="t" r="r" b="b"/>
              <a:pathLst>
                <a:path w="9525" h="5079">
                  <a:moveTo>
                    <a:pt x="0" y="0"/>
                  </a:moveTo>
                  <a:lnTo>
                    <a:pt x="9144" y="0"/>
                  </a:lnTo>
                </a:path>
                <a:path w="9525" h="5079">
                  <a:moveTo>
                    <a:pt x="0" y="4572"/>
                  </a:moveTo>
                  <a:lnTo>
                    <a:pt x="9144" y="4572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5" name="object 255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7694676" y="5056631"/>
              <a:ext cx="86868" cy="9144"/>
            </a:xfrm>
            <a:prstGeom prst="rect">
              <a:avLst/>
            </a:prstGeom>
          </p:spPr>
        </p:pic>
        <p:sp>
          <p:nvSpPr>
            <p:cNvPr id="256" name="object 256"/>
            <p:cNvSpPr/>
            <p:nvPr/>
          </p:nvSpPr>
          <p:spPr>
            <a:xfrm>
              <a:off x="7936992" y="506348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7" name="object 257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7781544" y="5052059"/>
              <a:ext cx="77724" cy="18288"/>
            </a:xfrm>
            <a:prstGeom prst="rect">
              <a:avLst/>
            </a:prstGeom>
          </p:spPr>
        </p:pic>
        <p:pic>
          <p:nvPicPr>
            <p:cNvPr id="258" name="object 258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7836408" y="5065775"/>
              <a:ext cx="109728" cy="50292"/>
            </a:xfrm>
            <a:prstGeom prst="rect">
              <a:avLst/>
            </a:prstGeom>
          </p:spPr>
        </p:pic>
        <p:sp>
          <p:nvSpPr>
            <p:cNvPr id="259" name="object 259"/>
            <p:cNvSpPr/>
            <p:nvPr/>
          </p:nvSpPr>
          <p:spPr>
            <a:xfrm>
              <a:off x="7914132" y="5090921"/>
              <a:ext cx="32384" cy="27940"/>
            </a:xfrm>
            <a:custGeom>
              <a:avLst/>
              <a:gdLst/>
              <a:ahLst/>
              <a:cxnLst/>
              <a:rect l="l" t="t" r="r" b="b"/>
              <a:pathLst>
                <a:path w="32384" h="27939">
                  <a:moveTo>
                    <a:pt x="22859" y="0"/>
                  </a:moveTo>
                  <a:lnTo>
                    <a:pt x="32004" y="0"/>
                  </a:lnTo>
                </a:path>
                <a:path w="32384" h="27939">
                  <a:moveTo>
                    <a:pt x="22859" y="4572"/>
                  </a:moveTo>
                  <a:lnTo>
                    <a:pt x="32004" y="4572"/>
                  </a:lnTo>
                </a:path>
                <a:path w="32384" h="27939">
                  <a:moveTo>
                    <a:pt x="22859" y="9144"/>
                  </a:moveTo>
                  <a:lnTo>
                    <a:pt x="32004" y="9144"/>
                  </a:lnTo>
                </a:path>
                <a:path w="32384" h="27939">
                  <a:moveTo>
                    <a:pt x="22859" y="13716"/>
                  </a:moveTo>
                  <a:lnTo>
                    <a:pt x="32004" y="13716"/>
                  </a:lnTo>
                </a:path>
                <a:path w="32384" h="27939">
                  <a:moveTo>
                    <a:pt x="22859" y="18287"/>
                  </a:moveTo>
                  <a:lnTo>
                    <a:pt x="32004" y="18287"/>
                  </a:lnTo>
                </a:path>
                <a:path w="32384" h="27939">
                  <a:moveTo>
                    <a:pt x="0" y="27432"/>
                  </a:moveTo>
                  <a:lnTo>
                    <a:pt x="32003" y="27432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7914132" y="5122925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0" y="0"/>
                  </a:moveTo>
                  <a:lnTo>
                    <a:pt x="32003" y="0"/>
                  </a:lnTo>
                </a:path>
              </a:pathLst>
            </a:custGeom>
            <a:ln w="4572">
              <a:solidFill>
                <a:srgbClr val="7676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1" name="object 261"/>
          <p:cNvGrpSpPr/>
          <p:nvPr/>
        </p:nvGrpSpPr>
        <p:grpSpPr>
          <a:xfrm>
            <a:off x="6460235" y="4878323"/>
            <a:ext cx="1083945" cy="247015"/>
            <a:chOff x="6460235" y="4878323"/>
            <a:chExt cx="1083945" cy="247015"/>
          </a:xfrm>
        </p:grpSpPr>
        <p:pic>
          <p:nvPicPr>
            <p:cNvPr id="262" name="object 262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7127747" y="4892039"/>
              <a:ext cx="36576" cy="4572"/>
            </a:xfrm>
            <a:prstGeom prst="rect">
              <a:avLst/>
            </a:prstGeom>
          </p:spPr>
        </p:pic>
        <p:pic>
          <p:nvPicPr>
            <p:cNvPr id="263" name="object 263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7127747" y="4896611"/>
              <a:ext cx="36576" cy="9144"/>
            </a:xfrm>
            <a:prstGeom prst="rect">
              <a:avLst/>
            </a:prstGeom>
          </p:spPr>
        </p:pic>
        <p:pic>
          <p:nvPicPr>
            <p:cNvPr id="264" name="object 264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7127747" y="4905755"/>
              <a:ext cx="77724" cy="64008"/>
            </a:xfrm>
            <a:prstGeom prst="rect">
              <a:avLst/>
            </a:prstGeom>
          </p:spPr>
        </p:pic>
        <p:pic>
          <p:nvPicPr>
            <p:cNvPr id="265" name="object 265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7127747" y="4965191"/>
              <a:ext cx="77724" cy="13716"/>
            </a:xfrm>
            <a:prstGeom prst="rect">
              <a:avLst/>
            </a:prstGeom>
          </p:spPr>
        </p:pic>
        <p:sp>
          <p:nvSpPr>
            <p:cNvPr id="266" name="object 266"/>
            <p:cNvSpPr/>
            <p:nvPr/>
          </p:nvSpPr>
          <p:spPr>
            <a:xfrm>
              <a:off x="7127747" y="4981193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5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7" name="object 267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7191755" y="4969763"/>
              <a:ext cx="18288" cy="27432"/>
            </a:xfrm>
            <a:prstGeom prst="rect">
              <a:avLst/>
            </a:prstGeom>
          </p:spPr>
        </p:pic>
        <p:sp>
          <p:nvSpPr>
            <p:cNvPr id="268" name="object 268"/>
            <p:cNvSpPr/>
            <p:nvPr/>
          </p:nvSpPr>
          <p:spPr>
            <a:xfrm>
              <a:off x="7191755" y="4999481"/>
              <a:ext cx="13970" cy="5080"/>
            </a:xfrm>
            <a:custGeom>
              <a:avLst/>
              <a:gdLst/>
              <a:ahLst/>
              <a:cxnLst/>
              <a:rect l="l" t="t" r="r" b="b"/>
              <a:pathLst>
                <a:path w="13970" h="5079">
                  <a:moveTo>
                    <a:pt x="0" y="0"/>
                  </a:moveTo>
                  <a:lnTo>
                    <a:pt x="13716" y="0"/>
                  </a:lnTo>
                </a:path>
                <a:path w="13970" h="5079">
                  <a:moveTo>
                    <a:pt x="0" y="4572"/>
                  </a:moveTo>
                  <a:lnTo>
                    <a:pt x="13716" y="4572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9" name="object 269"/>
            <p:cNvPicPr/>
            <p:nvPr/>
          </p:nvPicPr>
          <p:blipFill>
            <a:blip r:embed="rId186" cstate="print"/>
            <a:stretch>
              <a:fillRect/>
            </a:stretch>
          </p:blipFill>
          <p:spPr>
            <a:xfrm>
              <a:off x="7274051" y="4992623"/>
              <a:ext cx="9144" cy="9144"/>
            </a:xfrm>
            <a:prstGeom prst="rect">
              <a:avLst/>
            </a:prstGeom>
          </p:spPr>
        </p:pic>
        <p:pic>
          <p:nvPicPr>
            <p:cNvPr id="270" name="object 270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7269479" y="5001767"/>
              <a:ext cx="13716" cy="18288"/>
            </a:xfrm>
            <a:prstGeom prst="rect">
              <a:avLst/>
            </a:prstGeom>
          </p:spPr>
        </p:pic>
        <p:pic>
          <p:nvPicPr>
            <p:cNvPr id="271" name="object 271"/>
            <p:cNvPicPr/>
            <p:nvPr/>
          </p:nvPicPr>
          <p:blipFill>
            <a:blip r:embed="rId188" cstate="print"/>
            <a:stretch>
              <a:fillRect/>
            </a:stretch>
          </p:blipFill>
          <p:spPr>
            <a:xfrm>
              <a:off x="7114031" y="4983479"/>
              <a:ext cx="182880" cy="54864"/>
            </a:xfrm>
            <a:prstGeom prst="rect">
              <a:avLst/>
            </a:prstGeom>
          </p:spPr>
        </p:pic>
        <p:pic>
          <p:nvPicPr>
            <p:cNvPr id="272" name="object 272"/>
            <p:cNvPicPr/>
            <p:nvPr/>
          </p:nvPicPr>
          <p:blipFill>
            <a:blip r:embed="rId189" cstate="print"/>
            <a:stretch>
              <a:fillRect/>
            </a:stretch>
          </p:blipFill>
          <p:spPr>
            <a:xfrm>
              <a:off x="7178039" y="5020055"/>
              <a:ext cx="105156" cy="22860"/>
            </a:xfrm>
            <a:prstGeom prst="rect">
              <a:avLst/>
            </a:prstGeom>
          </p:spPr>
        </p:pic>
        <p:pic>
          <p:nvPicPr>
            <p:cNvPr id="273" name="object 273"/>
            <p:cNvPicPr/>
            <p:nvPr/>
          </p:nvPicPr>
          <p:blipFill>
            <a:blip r:embed="rId190" cstate="print"/>
            <a:stretch>
              <a:fillRect/>
            </a:stretch>
          </p:blipFill>
          <p:spPr>
            <a:xfrm>
              <a:off x="7178039" y="5038343"/>
              <a:ext cx="100584" cy="18288"/>
            </a:xfrm>
            <a:prstGeom prst="rect">
              <a:avLst/>
            </a:prstGeom>
          </p:spPr>
        </p:pic>
        <p:pic>
          <p:nvPicPr>
            <p:cNvPr id="274" name="object 274"/>
            <p:cNvPicPr/>
            <p:nvPr/>
          </p:nvPicPr>
          <p:blipFill>
            <a:blip r:embed="rId191" cstate="print"/>
            <a:stretch>
              <a:fillRect/>
            </a:stretch>
          </p:blipFill>
          <p:spPr>
            <a:xfrm>
              <a:off x="7251191" y="4988051"/>
              <a:ext cx="269748" cy="105156"/>
            </a:xfrm>
            <a:prstGeom prst="rect">
              <a:avLst/>
            </a:prstGeom>
          </p:spPr>
        </p:pic>
        <p:pic>
          <p:nvPicPr>
            <p:cNvPr id="275" name="object 275"/>
            <p:cNvPicPr/>
            <p:nvPr/>
          </p:nvPicPr>
          <p:blipFill>
            <a:blip r:embed="rId192" cstate="print"/>
            <a:stretch>
              <a:fillRect/>
            </a:stretch>
          </p:blipFill>
          <p:spPr>
            <a:xfrm>
              <a:off x="7031735" y="5033771"/>
              <a:ext cx="96012" cy="36576"/>
            </a:xfrm>
            <a:prstGeom prst="rect">
              <a:avLst/>
            </a:prstGeom>
          </p:spPr>
        </p:pic>
        <p:pic>
          <p:nvPicPr>
            <p:cNvPr id="276" name="object 276"/>
            <p:cNvPicPr/>
            <p:nvPr/>
          </p:nvPicPr>
          <p:blipFill>
            <a:blip r:embed="rId193" cstate="print"/>
            <a:stretch>
              <a:fillRect/>
            </a:stretch>
          </p:blipFill>
          <p:spPr>
            <a:xfrm>
              <a:off x="7109459" y="5047487"/>
              <a:ext cx="18288" cy="18288"/>
            </a:xfrm>
            <a:prstGeom prst="rect">
              <a:avLst/>
            </a:prstGeom>
          </p:spPr>
        </p:pic>
        <p:pic>
          <p:nvPicPr>
            <p:cNvPr id="277" name="object 277"/>
            <p:cNvPicPr/>
            <p:nvPr/>
          </p:nvPicPr>
          <p:blipFill>
            <a:blip r:embed="rId194" cstate="print"/>
            <a:stretch>
              <a:fillRect/>
            </a:stretch>
          </p:blipFill>
          <p:spPr>
            <a:xfrm>
              <a:off x="7178039" y="5047487"/>
              <a:ext cx="32004" cy="18288"/>
            </a:xfrm>
            <a:prstGeom prst="rect">
              <a:avLst/>
            </a:prstGeom>
          </p:spPr>
        </p:pic>
        <p:pic>
          <p:nvPicPr>
            <p:cNvPr id="278" name="object 278"/>
            <p:cNvPicPr/>
            <p:nvPr/>
          </p:nvPicPr>
          <p:blipFill>
            <a:blip r:embed="rId195" cstate="print"/>
            <a:stretch>
              <a:fillRect/>
            </a:stretch>
          </p:blipFill>
          <p:spPr>
            <a:xfrm>
              <a:off x="6551675" y="4887467"/>
              <a:ext cx="150876" cy="45720"/>
            </a:xfrm>
            <a:prstGeom prst="rect">
              <a:avLst/>
            </a:prstGeom>
          </p:spPr>
        </p:pic>
        <p:pic>
          <p:nvPicPr>
            <p:cNvPr id="279" name="object 279"/>
            <p:cNvPicPr/>
            <p:nvPr/>
          </p:nvPicPr>
          <p:blipFill>
            <a:blip r:embed="rId196" cstate="print"/>
            <a:stretch>
              <a:fillRect/>
            </a:stretch>
          </p:blipFill>
          <p:spPr>
            <a:xfrm>
              <a:off x="6537959" y="4933187"/>
              <a:ext cx="45719" cy="22860"/>
            </a:xfrm>
            <a:prstGeom prst="rect">
              <a:avLst/>
            </a:prstGeom>
          </p:spPr>
        </p:pic>
        <p:pic>
          <p:nvPicPr>
            <p:cNvPr id="280" name="object 280"/>
            <p:cNvPicPr/>
            <p:nvPr/>
          </p:nvPicPr>
          <p:blipFill>
            <a:blip r:embed="rId197" cstate="print"/>
            <a:stretch>
              <a:fillRect/>
            </a:stretch>
          </p:blipFill>
          <p:spPr>
            <a:xfrm>
              <a:off x="6460235" y="4878323"/>
              <a:ext cx="105155" cy="109728"/>
            </a:xfrm>
            <a:prstGeom prst="rect">
              <a:avLst/>
            </a:prstGeom>
          </p:spPr>
        </p:pic>
        <p:pic>
          <p:nvPicPr>
            <p:cNvPr id="281" name="object 281"/>
            <p:cNvPicPr/>
            <p:nvPr/>
          </p:nvPicPr>
          <p:blipFill>
            <a:blip r:embed="rId198" cstate="print"/>
            <a:stretch>
              <a:fillRect/>
            </a:stretch>
          </p:blipFill>
          <p:spPr>
            <a:xfrm>
              <a:off x="6675119" y="4928615"/>
              <a:ext cx="68580" cy="68580"/>
            </a:xfrm>
            <a:prstGeom prst="rect">
              <a:avLst/>
            </a:prstGeom>
          </p:spPr>
        </p:pic>
        <p:sp>
          <p:nvSpPr>
            <p:cNvPr id="282" name="object 282"/>
            <p:cNvSpPr/>
            <p:nvPr/>
          </p:nvSpPr>
          <p:spPr>
            <a:xfrm>
              <a:off x="6670547" y="4999481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7A7A7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3" name="object 283"/>
            <p:cNvPicPr/>
            <p:nvPr/>
          </p:nvPicPr>
          <p:blipFill>
            <a:blip r:embed="rId199" cstate="print"/>
            <a:stretch>
              <a:fillRect/>
            </a:stretch>
          </p:blipFill>
          <p:spPr>
            <a:xfrm>
              <a:off x="6524243" y="4956047"/>
              <a:ext cx="41148" cy="59436"/>
            </a:xfrm>
            <a:prstGeom prst="rect">
              <a:avLst/>
            </a:prstGeom>
          </p:spPr>
        </p:pic>
        <p:sp>
          <p:nvSpPr>
            <p:cNvPr id="284" name="object 284"/>
            <p:cNvSpPr/>
            <p:nvPr/>
          </p:nvSpPr>
          <p:spPr>
            <a:xfrm>
              <a:off x="6665975" y="5004053"/>
              <a:ext cx="9525" cy="5080"/>
            </a:xfrm>
            <a:custGeom>
              <a:avLst/>
              <a:gdLst/>
              <a:ahLst/>
              <a:cxnLst/>
              <a:rect l="l" t="t" r="r" b="b"/>
              <a:pathLst>
                <a:path w="9525" h="5079">
                  <a:moveTo>
                    <a:pt x="0" y="0"/>
                  </a:moveTo>
                  <a:lnTo>
                    <a:pt x="9144" y="0"/>
                  </a:lnTo>
                </a:path>
                <a:path w="9525" h="5079">
                  <a:moveTo>
                    <a:pt x="0" y="4572"/>
                  </a:moveTo>
                  <a:lnTo>
                    <a:pt x="9144" y="4572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5" name="object 285"/>
            <p:cNvPicPr/>
            <p:nvPr/>
          </p:nvPicPr>
          <p:blipFill>
            <a:blip r:embed="rId200" cstate="print"/>
            <a:stretch>
              <a:fillRect/>
            </a:stretch>
          </p:blipFill>
          <p:spPr>
            <a:xfrm>
              <a:off x="6528815" y="5015483"/>
              <a:ext cx="27432" cy="13716"/>
            </a:xfrm>
            <a:prstGeom prst="rect">
              <a:avLst/>
            </a:prstGeom>
          </p:spPr>
        </p:pic>
        <p:sp>
          <p:nvSpPr>
            <p:cNvPr id="286" name="object 286"/>
            <p:cNvSpPr/>
            <p:nvPr/>
          </p:nvSpPr>
          <p:spPr>
            <a:xfrm>
              <a:off x="6533387" y="5031485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59">
                  <a:moveTo>
                    <a:pt x="0" y="0"/>
                  </a:moveTo>
                  <a:lnTo>
                    <a:pt x="22859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7" name="object 287"/>
            <p:cNvPicPr/>
            <p:nvPr/>
          </p:nvPicPr>
          <p:blipFill>
            <a:blip r:embed="rId201" cstate="print"/>
            <a:stretch>
              <a:fillRect/>
            </a:stretch>
          </p:blipFill>
          <p:spPr>
            <a:xfrm>
              <a:off x="6958583" y="4983479"/>
              <a:ext cx="18288" cy="9144"/>
            </a:xfrm>
            <a:prstGeom prst="rect">
              <a:avLst/>
            </a:prstGeom>
          </p:spPr>
        </p:pic>
        <p:pic>
          <p:nvPicPr>
            <p:cNvPr id="288" name="object 288"/>
            <p:cNvPicPr/>
            <p:nvPr/>
          </p:nvPicPr>
          <p:blipFill>
            <a:blip r:embed="rId202" cstate="print"/>
            <a:stretch>
              <a:fillRect/>
            </a:stretch>
          </p:blipFill>
          <p:spPr>
            <a:xfrm>
              <a:off x="6935723" y="4992623"/>
              <a:ext cx="41148" cy="9144"/>
            </a:xfrm>
            <a:prstGeom prst="rect">
              <a:avLst/>
            </a:prstGeom>
          </p:spPr>
        </p:pic>
        <p:sp>
          <p:nvSpPr>
            <p:cNvPr id="289" name="object 289"/>
            <p:cNvSpPr/>
            <p:nvPr/>
          </p:nvSpPr>
          <p:spPr>
            <a:xfrm>
              <a:off x="6935723" y="5004053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71717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0" name="object 290"/>
            <p:cNvPicPr/>
            <p:nvPr/>
          </p:nvPicPr>
          <p:blipFill>
            <a:blip r:embed="rId203" cstate="print"/>
            <a:stretch>
              <a:fillRect/>
            </a:stretch>
          </p:blipFill>
          <p:spPr>
            <a:xfrm>
              <a:off x="6533387" y="4997195"/>
              <a:ext cx="370332" cy="68580"/>
            </a:xfrm>
            <a:prstGeom prst="rect">
              <a:avLst/>
            </a:prstGeom>
          </p:spPr>
        </p:pic>
        <p:pic>
          <p:nvPicPr>
            <p:cNvPr id="291" name="object 291"/>
            <p:cNvPicPr/>
            <p:nvPr/>
          </p:nvPicPr>
          <p:blipFill>
            <a:blip r:embed="rId204" cstate="print"/>
            <a:stretch>
              <a:fillRect/>
            </a:stretch>
          </p:blipFill>
          <p:spPr>
            <a:xfrm>
              <a:off x="6460235" y="4988051"/>
              <a:ext cx="32003" cy="132588"/>
            </a:xfrm>
            <a:prstGeom prst="rect">
              <a:avLst/>
            </a:prstGeom>
          </p:spPr>
        </p:pic>
        <p:pic>
          <p:nvPicPr>
            <p:cNvPr id="292" name="object 292"/>
            <p:cNvPicPr/>
            <p:nvPr/>
          </p:nvPicPr>
          <p:blipFill>
            <a:blip r:embed="rId205" cstate="print"/>
            <a:stretch>
              <a:fillRect/>
            </a:stretch>
          </p:blipFill>
          <p:spPr>
            <a:xfrm>
              <a:off x="6935723" y="5001767"/>
              <a:ext cx="123444" cy="109728"/>
            </a:xfrm>
            <a:prstGeom prst="rect">
              <a:avLst/>
            </a:prstGeom>
          </p:spPr>
        </p:pic>
        <p:pic>
          <p:nvPicPr>
            <p:cNvPr id="293" name="object 293"/>
            <p:cNvPicPr/>
            <p:nvPr/>
          </p:nvPicPr>
          <p:blipFill>
            <a:blip r:embed="rId206" cstate="print"/>
            <a:stretch>
              <a:fillRect/>
            </a:stretch>
          </p:blipFill>
          <p:spPr>
            <a:xfrm>
              <a:off x="6707123" y="5061203"/>
              <a:ext cx="192024" cy="13716"/>
            </a:xfrm>
            <a:prstGeom prst="rect">
              <a:avLst/>
            </a:prstGeom>
          </p:spPr>
        </p:pic>
        <p:pic>
          <p:nvPicPr>
            <p:cNvPr id="294" name="object 294"/>
            <p:cNvPicPr/>
            <p:nvPr/>
          </p:nvPicPr>
          <p:blipFill>
            <a:blip r:embed="rId207" cstate="print"/>
            <a:stretch>
              <a:fillRect/>
            </a:stretch>
          </p:blipFill>
          <p:spPr>
            <a:xfrm>
              <a:off x="6565391" y="5065775"/>
              <a:ext cx="64007" cy="4572"/>
            </a:xfrm>
            <a:prstGeom prst="rect">
              <a:avLst/>
            </a:prstGeom>
          </p:spPr>
        </p:pic>
        <p:pic>
          <p:nvPicPr>
            <p:cNvPr id="295" name="object 295"/>
            <p:cNvPicPr/>
            <p:nvPr/>
          </p:nvPicPr>
          <p:blipFill>
            <a:blip r:embed="rId208" cstate="print"/>
            <a:stretch>
              <a:fillRect/>
            </a:stretch>
          </p:blipFill>
          <p:spPr>
            <a:xfrm>
              <a:off x="7050023" y="5070347"/>
              <a:ext cx="13716" cy="18288"/>
            </a:xfrm>
            <a:prstGeom prst="rect">
              <a:avLst/>
            </a:prstGeom>
          </p:spPr>
        </p:pic>
        <p:pic>
          <p:nvPicPr>
            <p:cNvPr id="296" name="object 296"/>
            <p:cNvPicPr/>
            <p:nvPr/>
          </p:nvPicPr>
          <p:blipFill>
            <a:blip r:embed="rId209" cstate="print"/>
            <a:stretch>
              <a:fillRect/>
            </a:stretch>
          </p:blipFill>
          <p:spPr>
            <a:xfrm>
              <a:off x="6702551" y="5074919"/>
              <a:ext cx="54864" cy="13716"/>
            </a:xfrm>
            <a:prstGeom prst="rect">
              <a:avLst/>
            </a:prstGeom>
          </p:spPr>
        </p:pic>
        <p:pic>
          <p:nvPicPr>
            <p:cNvPr id="297" name="object 297"/>
            <p:cNvPicPr/>
            <p:nvPr/>
          </p:nvPicPr>
          <p:blipFill>
            <a:blip r:embed="rId210" cstate="print"/>
            <a:stretch>
              <a:fillRect/>
            </a:stretch>
          </p:blipFill>
          <p:spPr>
            <a:xfrm>
              <a:off x="6702551" y="5084063"/>
              <a:ext cx="50292" cy="9144"/>
            </a:xfrm>
            <a:prstGeom prst="rect">
              <a:avLst/>
            </a:prstGeom>
          </p:spPr>
        </p:pic>
        <p:sp>
          <p:nvSpPr>
            <p:cNvPr id="298" name="object 298"/>
            <p:cNvSpPr/>
            <p:nvPr/>
          </p:nvSpPr>
          <p:spPr>
            <a:xfrm>
              <a:off x="7050023" y="509092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9" name="object 299"/>
            <p:cNvPicPr/>
            <p:nvPr/>
          </p:nvPicPr>
          <p:blipFill>
            <a:blip r:embed="rId211" cstate="print"/>
            <a:stretch>
              <a:fillRect/>
            </a:stretch>
          </p:blipFill>
          <p:spPr>
            <a:xfrm>
              <a:off x="7479791" y="5088635"/>
              <a:ext cx="64007" cy="9144"/>
            </a:xfrm>
            <a:prstGeom prst="rect">
              <a:avLst/>
            </a:prstGeom>
          </p:spPr>
        </p:pic>
        <p:pic>
          <p:nvPicPr>
            <p:cNvPr id="300" name="object 300"/>
            <p:cNvPicPr/>
            <p:nvPr/>
          </p:nvPicPr>
          <p:blipFill>
            <a:blip r:embed="rId212" cstate="print"/>
            <a:stretch>
              <a:fillRect/>
            </a:stretch>
          </p:blipFill>
          <p:spPr>
            <a:xfrm>
              <a:off x="7255763" y="5052059"/>
              <a:ext cx="45720" cy="50292"/>
            </a:xfrm>
            <a:prstGeom prst="rect">
              <a:avLst/>
            </a:prstGeom>
          </p:spPr>
        </p:pic>
        <p:pic>
          <p:nvPicPr>
            <p:cNvPr id="301" name="object 301"/>
            <p:cNvPicPr/>
            <p:nvPr/>
          </p:nvPicPr>
          <p:blipFill>
            <a:blip r:embed="rId213" cstate="print"/>
            <a:stretch>
              <a:fillRect/>
            </a:stretch>
          </p:blipFill>
          <p:spPr>
            <a:xfrm>
              <a:off x="6707123" y="5093207"/>
              <a:ext cx="41148" cy="13716"/>
            </a:xfrm>
            <a:prstGeom prst="rect">
              <a:avLst/>
            </a:prstGeom>
          </p:spPr>
        </p:pic>
        <p:sp>
          <p:nvSpPr>
            <p:cNvPr id="302" name="object 302"/>
            <p:cNvSpPr/>
            <p:nvPr/>
          </p:nvSpPr>
          <p:spPr>
            <a:xfrm>
              <a:off x="7040879" y="5113781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65656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6460235" y="5122925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39">
                  <a:moveTo>
                    <a:pt x="0" y="0"/>
                  </a:moveTo>
                  <a:lnTo>
                    <a:pt x="27432" y="0"/>
                  </a:lnTo>
                </a:path>
              </a:pathLst>
            </a:custGeom>
            <a:ln w="4572">
              <a:solidFill>
                <a:srgbClr val="7676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4" name="object 304"/>
          <p:cNvGrpSpPr/>
          <p:nvPr/>
        </p:nvGrpSpPr>
        <p:grpSpPr>
          <a:xfrm>
            <a:off x="5948171" y="4878323"/>
            <a:ext cx="365760" cy="242570"/>
            <a:chOff x="5948171" y="4878323"/>
            <a:chExt cx="365760" cy="242570"/>
          </a:xfrm>
        </p:grpSpPr>
        <p:pic>
          <p:nvPicPr>
            <p:cNvPr id="305" name="object 305"/>
            <p:cNvPicPr/>
            <p:nvPr/>
          </p:nvPicPr>
          <p:blipFill>
            <a:blip r:embed="rId214" cstate="print"/>
            <a:stretch>
              <a:fillRect/>
            </a:stretch>
          </p:blipFill>
          <p:spPr>
            <a:xfrm>
              <a:off x="5975603" y="4878323"/>
              <a:ext cx="301752" cy="32004"/>
            </a:xfrm>
            <a:prstGeom prst="rect">
              <a:avLst/>
            </a:prstGeom>
          </p:spPr>
        </p:pic>
        <p:pic>
          <p:nvPicPr>
            <p:cNvPr id="306" name="object 306"/>
            <p:cNvPicPr/>
            <p:nvPr/>
          </p:nvPicPr>
          <p:blipFill>
            <a:blip r:embed="rId215" cstate="print"/>
            <a:stretch>
              <a:fillRect/>
            </a:stretch>
          </p:blipFill>
          <p:spPr>
            <a:xfrm>
              <a:off x="6053327" y="4910327"/>
              <a:ext cx="22859" cy="9144"/>
            </a:xfrm>
            <a:prstGeom prst="rect">
              <a:avLst/>
            </a:prstGeom>
          </p:spPr>
        </p:pic>
        <p:pic>
          <p:nvPicPr>
            <p:cNvPr id="307" name="object 307"/>
            <p:cNvPicPr/>
            <p:nvPr/>
          </p:nvPicPr>
          <p:blipFill>
            <a:blip r:embed="rId216" cstate="print"/>
            <a:stretch>
              <a:fillRect/>
            </a:stretch>
          </p:blipFill>
          <p:spPr>
            <a:xfrm>
              <a:off x="5966459" y="4910327"/>
              <a:ext cx="18288" cy="18288"/>
            </a:xfrm>
            <a:prstGeom prst="rect">
              <a:avLst/>
            </a:prstGeom>
          </p:spPr>
        </p:pic>
        <p:pic>
          <p:nvPicPr>
            <p:cNvPr id="308" name="object 308"/>
            <p:cNvPicPr/>
            <p:nvPr/>
          </p:nvPicPr>
          <p:blipFill>
            <a:blip r:embed="rId217" cstate="print"/>
            <a:stretch>
              <a:fillRect/>
            </a:stretch>
          </p:blipFill>
          <p:spPr>
            <a:xfrm>
              <a:off x="6231635" y="4905755"/>
              <a:ext cx="27432" cy="32004"/>
            </a:xfrm>
            <a:prstGeom prst="rect">
              <a:avLst/>
            </a:prstGeom>
          </p:spPr>
        </p:pic>
        <p:sp>
          <p:nvSpPr>
            <p:cNvPr id="309" name="object 309"/>
            <p:cNvSpPr/>
            <p:nvPr/>
          </p:nvSpPr>
          <p:spPr>
            <a:xfrm>
              <a:off x="6053327" y="4921757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>
                  <a:moveTo>
                    <a:pt x="0" y="0"/>
                  </a:moveTo>
                  <a:lnTo>
                    <a:pt x="22859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0" name="object 310"/>
            <p:cNvPicPr/>
            <p:nvPr/>
          </p:nvPicPr>
          <p:blipFill>
            <a:blip r:embed="rId218" cstate="print"/>
            <a:stretch>
              <a:fillRect/>
            </a:stretch>
          </p:blipFill>
          <p:spPr>
            <a:xfrm>
              <a:off x="6144767" y="4905755"/>
              <a:ext cx="22859" cy="22860"/>
            </a:xfrm>
            <a:prstGeom prst="rect">
              <a:avLst/>
            </a:prstGeom>
          </p:spPr>
        </p:pic>
        <p:sp>
          <p:nvSpPr>
            <p:cNvPr id="311" name="object 311"/>
            <p:cNvSpPr/>
            <p:nvPr/>
          </p:nvSpPr>
          <p:spPr>
            <a:xfrm>
              <a:off x="6240779" y="4921757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2"/>
            <p:cNvSpPr/>
            <p:nvPr/>
          </p:nvSpPr>
          <p:spPr>
            <a:xfrm>
              <a:off x="6240779" y="4926329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0202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3" name="object 313"/>
            <p:cNvPicPr/>
            <p:nvPr/>
          </p:nvPicPr>
          <p:blipFill>
            <a:blip r:embed="rId219" cstate="print"/>
            <a:stretch>
              <a:fillRect/>
            </a:stretch>
          </p:blipFill>
          <p:spPr>
            <a:xfrm>
              <a:off x="6135623" y="4928615"/>
              <a:ext cx="32004" cy="18288"/>
            </a:xfrm>
            <a:prstGeom prst="rect">
              <a:avLst/>
            </a:prstGeom>
          </p:spPr>
        </p:pic>
        <p:pic>
          <p:nvPicPr>
            <p:cNvPr id="314" name="object 314"/>
            <p:cNvPicPr/>
            <p:nvPr/>
          </p:nvPicPr>
          <p:blipFill>
            <a:blip r:embed="rId220" cstate="print"/>
            <a:stretch>
              <a:fillRect/>
            </a:stretch>
          </p:blipFill>
          <p:spPr>
            <a:xfrm>
              <a:off x="6227063" y="4937759"/>
              <a:ext cx="9144" cy="9144"/>
            </a:xfrm>
            <a:prstGeom prst="rect">
              <a:avLst/>
            </a:prstGeom>
          </p:spPr>
        </p:pic>
        <p:sp>
          <p:nvSpPr>
            <p:cNvPr id="315" name="object 315"/>
            <p:cNvSpPr/>
            <p:nvPr/>
          </p:nvSpPr>
          <p:spPr>
            <a:xfrm>
              <a:off x="6227063" y="4949189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6" name="object 316"/>
            <p:cNvPicPr/>
            <p:nvPr/>
          </p:nvPicPr>
          <p:blipFill>
            <a:blip r:embed="rId221" cstate="print"/>
            <a:stretch>
              <a:fillRect/>
            </a:stretch>
          </p:blipFill>
          <p:spPr>
            <a:xfrm>
              <a:off x="5952743" y="4928615"/>
              <a:ext cx="22860" cy="36576"/>
            </a:xfrm>
            <a:prstGeom prst="rect">
              <a:avLst/>
            </a:prstGeom>
          </p:spPr>
        </p:pic>
        <p:pic>
          <p:nvPicPr>
            <p:cNvPr id="317" name="object 317"/>
            <p:cNvPicPr/>
            <p:nvPr/>
          </p:nvPicPr>
          <p:blipFill>
            <a:blip r:embed="rId222" cstate="print"/>
            <a:stretch>
              <a:fillRect/>
            </a:stretch>
          </p:blipFill>
          <p:spPr>
            <a:xfrm>
              <a:off x="6126479" y="4942331"/>
              <a:ext cx="41148" cy="13716"/>
            </a:xfrm>
            <a:prstGeom prst="rect">
              <a:avLst/>
            </a:prstGeom>
          </p:spPr>
        </p:pic>
        <p:pic>
          <p:nvPicPr>
            <p:cNvPr id="318" name="object 318"/>
            <p:cNvPicPr/>
            <p:nvPr/>
          </p:nvPicPr>
          <p:blipFill>
            <a:blip r:embed="rId223" cstate="print"/>
            <a:stretch>
              <a:fillRect/>
            </a:stretch>
          </p:blipFill>
          <p:spPr>
            <a:xfrm>
              <a:off x="6053327" y="4924043"/>
              <a:ext cx="114300" cy="54864"/>
            </a:xfrm>
            <a:prstGeom prst="rect">
              <a:avLst/>
            </a:prstGeom>
          </p:spPr>
        </p:pic>
        <p:sp>
          <p:nvSpPr>
            <p:cNvPr id="319" name="object 319"/>
            <p:cNvSpPr/>
            <p:nvPr/>
          </p:nvSpPr>
          <p:spPr>
            <a:xfrm>
              <a:off x="6126479" y="4958333"/>
              <a:ext cx="41275" cy="0"/>
            </a:xfrm>
            <a:custGeom>
              <a:avLst/>
              <a:gdLst/>
              <a:ahLst/>
              <a:cxnLst/>
              <a:rect l="l" t="t" r="r" b="b"/>
              <a:pathLst>
                <a:path w="41275">
                  <a:moveTo>
                    <a:pt x="0" y="0"/>
                  </a:moveTo>
                  <a:lnTo>
                    <a:pt x="4572" y="0"/>
                  </a:lnTo>
                </a:path>
                <a:path w="41275">
                  <a:moveTo>
                    <a:pt x="22860" y="0"/>
                  </a:moveTo>
                  <a:lnTo>
                    <a:pt x="41148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0" name="object 320"/>
            <p:cNvPicPr/>
            <p:nvPr/>
          </p:nvPicPr>
          <p:blipFill>
            <a:blip r:embed="rId224" cstate="print"/>
            <a:stretch>
              <a:fillRect/>
            </a:stretch>
          </p:blipFill>
          <p:spPr>
            <a:xfrm>
              <a:off x="6213347" y="4951475"/>
              <a:ext cx="13716" cy="13716"/>
            </a:xfrm>
            <a:prstGeom prst="rect">
              <a:avLst/>
            </a:prstGeom>
          </p:spPr>
        </p:pic>
        <p:sp>
          <p:nvSpPr>
            <p:cNvPr id="321" name="object 321"/>
            <p:cNvSpPr/>
            <p:nvPr/>
          </p:nvSpPr>
          <p:spPr>
            <a:xfrm>
              <a:off x="6126479" y="4962905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4545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object 322"/>
            <p:cNvSpPr/>
            <p:nvPr/>
          </p:nvSpPr>
          <p:spPr>
            <a:xfrm>
              <a:off x="6149339" y="4962905"/>
              <a:ext cx="68580" cy="5080"/>
            </a:xfrm>
            <a:custGeom>
              <a:avLst/>
              <a:gdLst/>
              <a:ahLst/>
              <a:cxnLst/>
              <a:rect l="l" t="t" r="r" b="b"/>
              <a:pathLst>
                <a:path w="68579" h="5079">
                  <a:moveTo>
                    <a:pt x="0" y="0"/>
                  </a:moveTo>
                  <a:lnTo>
                    <a:pt x="18288" y="0"/>
                  </a:lnTo>
                </a:path>
                <a:path w="68579" h="5079">
                  <a:moveTo>
                    <a:pt x="0" y="4572"/>
                  </a:moveTo>
                  <a:lnTo>
                    <a:pt x="18288" y="4572"/>
                  </a:lnTo>
                </a:path>
                <a:path w="68579" h="5079">
                  <a:moveTo>
                    <a:pt x="64008" y="4572"/>
                  </a:moveTo>
                  <a:lnTo>
                    <a:pt x="68580" y="4572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6121907" y="4972049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4" name="object 324"/>
            <p:cNvPicPr/>
            <p:nvPr/>
          </p:nvPicPr>
          <p:blipFill>
            <a:blip r:embed="rId225" cstate="print"/>
            <a:stretch>
              <a:fillRect/>
            </a:stretch>
          </p:blipFill>
          <p:spPr>
            <a:xfrm>
              <a:off x="6208775" y="4969763"/>
              <a:ext cx="9144" cy="4572"/>
            </a:xfrm>
            <a:prstGeom prst="rect">
              <a:avLst/>
            </a:prstGeom>
          </p:spPr>
        </p:pic>
        <p:pic>
          <p:nvPicPr>
            <p:cNvPr id="325" name="object 325"/>
            <p:cNvPicPr/>
            <p:nvPr/>
          </p:nvPicPr>
          <p:blipFill>
            <a:blip r:embed="rId226" cstate="print"/>
            <a:stretch>
              <a:fillRect/>
            </a:stretch>
          </p:blipFill>
          <p:spPr>
            <a:xfrm>
              <a:off x="6057899" y="4974335"/>
              <a:ext cx="155448" cy="13716"/>
            </a:xfrm>
            <a:prstGeom prst="rect">
              <a:avLst/>
            </a:prstGeom>
          </p:spPr>
        </p:pic>
        <p:pic>
          <p:nvPicPr>
            <p:cNvPr id="326" name="object 326"/>
            <p:cNvPicPr/>
            <p:nvPr/>
          </p:nvPicPr>
          <p:blipFill>
            <a:blip r:embed="rId227" cstate="print"/>
            <a:stretch>
              <a:fillRect/>
            </a:stretch>
          </p:blipFill>
          <p:spPr>
            <a:xfrm>
              <a:off x="6057899" y="4983479"/>
              <a:ext cx="150876" cy="22860"/>
            </a:xfrm>
            <a:prstGeom prst="rect">
              <a:avLst/>
            </a:prstGeom>
          </p:spPr>
        </p:pic>
        <p:pic>
          <p:nvPicPr>
            <p:cNvPr id="327" name="object 327"/>
            <p:cNvPicPr/>
            <p:nvPr/>
          </p:nvPicPr>
          <p:blipFill>
            <a:blip r:embed="rId228" cstate="print"/>
            <a:stretch>
              <a:fillRect/>
            </a:stretch>
          </p:blipFill>
          <p:spPr>
            <a:xfrm>
              <a:off x="5948171" y="4965191"/>
              <a:ext cx="18288" cy="54864"/>
            </a:xfrm>
            <a:prstGeom prst="rect">
              <a:avLst/>
            </a:prstGeom>
          </p:spPr>
        </p:pic>
        <p:pic>
          <p:nvPicPr>
            <p:cNvPr id="328" name="object 328"/>
            <p:cNvPicPr/>
            <p:nvPr/>
          </p:nvPicPr>
          <p:blipFill>
            <a:blip r:embed="rId229" cstate="print"/>
            <a:stretch>
              <a:fillRect/>
            </a:stretch>
          </p:blipFill>
          <p:spPr>
            <a:xfrm>
              <a:off x="6057899" y="5006339"/>
              <a:ext cx="45720" cy="13716"/>
            </a:xfrm>
            <a:prstGeom prst="rect">
              <a:avLst/>
            </a:prstGeom>
          </p:spPr>
        </p:pic>
        <p:pic>
          <p:nvPicPr>
            <p:cNvPr id="329" name="object 329"/>
            <p:cNvPicPr/>
            <p:nvPr/>
          </p:nvPicPr>
          <p:blipFill>
            <a:blip r:embed="rId230" cstate="print"/>
            <a:stretch>
              <a:fillRect/>
            </a:stretch>
          </p:blipFill>
          <p:spPr>
            <a:xfrm>
              <a:off x="6268211" y="4988051"/>
              <a:ext cx="41148" cy="45720"/>
            </a:xfrm>
            <a:prstGeom prst="rect">
              <a:avLst/>
            </a:prstGeom>
          </p:spPr>
        </p:pic>
        <p:pic>
          <p:nvPicPr>
            <p:cNvPr id="330" name="object 330"/>
            <p:cNvPicPr/>
            <p:nvPr/>
          </p:nvPicPr>
          <p:blipFill>
            <a:blip r:embed="rId231" cstate="print"/>
            <a:stretch>
              <a:fillRect/>
            </a:stretch>
          </p:blipFill>
          <p:spPr>
            <a:xfrm>
              <a:off x="6099047" y="5001767"/>
              <a:ext cx="100584" cy="18288"/>
            </a:xfrm>
            <a:prstGeom prst="rect">
              <a:avLst/>
            </a:prstGeom>
          </p:spPr>
        </p:pic>
        <p:pic>
          <p:nvPicPr>
            <p:cNvPr id="331" name="object 331"/>
            <p:cNvPicPr/>
            <p:nvPr/>
          </p:nvPicPr>
          <p:blipFill>
            <a:blip r:embed="rId232" cstate="print"/>
            <a:stretch>
              <a:fillRect/>
            </a:stretch>
          </p:blipFill>
          <p:spPr>
            <a:xfrm>
              <a:off x="6062471" y="5020055"/>
              <a:ext cx="36576" cy="9144"/>
            </a:xfrm>
            <a:prstGeom prst="rect">
              <a:avLst/>
            </a:prstGeom>
          </p:spPr>
        </p:pic>
        <p:pic>
          <p:nvPicPr>
            <p:cNvPr id="332" name="object 332"/>
            <p:cNvPicPr/>
            <p:nvPr/>
          </p:nvPicPr>
          <p:blipFill>
            <a:blip r:embed="rId233" cstate="print"/>
            <a:stretch>
              <a:fillRect/>
            </a:stretch>
          </p:blipFill>
          <p:spPr>
            <a:xfrm>
              <a:off x="6094475" y="5015483"/>
              <a:ext cx="96012" cy="13716"/>
            </a:xfrm>
            <a:prstGeom prst="rect">
              <a:avLst/>
            </a:prstGeom>
          </p:spPr>
        </p:pic>
        <p:pic>
          <p:nvPicPr>
            <p:cNvPr id="333" name="object 333"/>
            <p:cNvPicPr/>
            <p:nvPr/>
          </p:nvPicPr>
          <p:blipFill>
            <a:blip r:embed="rId234" cstate="print"/>
            <a:stretch>
              <a:fillRect/>
            </a:stretch>
          </p:blipFill>
          <p:spPr>
            <a:xfrm>
              <a:off x="6268211" y="5033771"/>
              <a:ext cx="32004" cy="4572"/>
            </a:xfrm>
            <a:prstGeom prst="rect">
              <a:avLst/>
            </a:prstGeom>
          </p:spPr>
        </p:pic>
        <p:pic>
          <p:nvPicPr>
            <p:cNvPr id="334" name="object 334"/>
            <p:cNvPicPr/>
            <p:nvPr/>
          </p:nvPicPr>
          <p:blipFill>
            <a:blip r:embed="rId235" cstate="print"/>
            <a:stretch>
              <a:fillRect/>
            </a:stretch>
          </p:blipFill>
          <p:spPr>
            <a:xfrm>
              <a:off x="5952743" y="5020055"/>
              <a:ext cx="18288" cy="27432"/>
            </a:xfrm>
            <a:prstGeom prst="rect">
              <a:avLst/>
            </a:prstGeom>
          </p:spPr>
        </p:pic>
        <p:pic>
          <p:nvPicPr>
            <p:cNvPr id="335" name="object 335"/>
            <p:cNvPicPr/>
            <p:nvPr/>
          </p:nvPicPr>
          <p:blipFill>
            <a:blip r:embed="rId236" cstate="print"/>
            <a:stretch>
              <a:fillRect/>
            </a:stretch>
          </p:blipFill>
          <p:spPr>
            <a:xfrm>
              <a:off x="6153911" y="5024627"/>
              <a:ext cx="32004" cy="27432"/>
            </a:xfrm>
            <a:prstGeom prst="rect">
              <a:avLst/>
            </a:prstGeom>
          </p:spPr>
        </p:pic>
        <p:pic>
          <p:nvPicPr>
            <p:cNvPr id="336" name="object 336"/>
            <p:cNvPicPr/>
            <p:nvPr/>
          </p:nvPicPr>
          <p:blipFill>
            <a:blip r:embed="rId237" cstate="print"/>
            <a:stretch>
              <a:fillRect/>
            </a:stretch>
          </p:blipFill>
          <p:spPr>
            <a:xfrm>
              <a:off x="6062471" y="5024627"/>
              <a:ext cx="32004" cy="41148"/>
            </a:xfrm>
            <a:prstGeom prst="rect">
              <a:avLst/>
            </a:prstGeom>
          </p:spPr>
        </p:pic>
        <p:pic>
          <p:nvPicPr>
            <p:cNvPr id="337" name="object 337"/>
            <p:cNvPicPr/>
            <p:nvPr/>
          </p:nvPicPr>
          <p:blipFill>
            <a:blip r:embed="rId238" cstate="print"/>
            <a:stretch>
              <a:fillRect/>
            </a:stretch>
          </p:blipFill>
          <p:spPr>
            <a:xfrm>
              <a:off x="6259067" y="5038343"/>
              <a:ext cx="41148" cy="22860"/>
            </a:xfrm>
            <a:prstGeom prst="rect">
              <a:avLst/>
            </a:prstGeom>
          </p:spPr>
        </p:pic>
        <p:pic>
          <p:nvPicPr>
            <p:cNvPr id="338" name="object 338"/>
            <p:cNvPicPr/>
            <p:nvPr/>
          </p:nvPicPr>
          <p:blipFill>
            <a:blip r:embed="rId239" cstate="print"/>
            <a:stretch>
              <a:fillRect/>
            </a:stretch>
          </p:blipFill>
          <p:spPr>
            <a:xfrm>
              <a:off x="6158483" y="5052059"/>
              <a:ext cx="9144" cy="13716"/>
            </a:xfrm>
            <a:prstGeom prst="rect">
              <a:avLst/>
            </a:prstGeom>
          </p:spPr>
        </p:pic>
        <p:pic>
          <p:nvPicPr>
            <p:cNvPr id="339" name="object 339"/>
            <p:cNvPicPr/>
            <p:nvPr/>
          </p:nvPicPr>
          <p:blipFill>
            <a:blip r:embed="rId240" cstate="print"/>
            <a:stretch>
              <a:fillRect/>
            </a:stretch>
          </p:blipFill>
          <p:spPr>
            <a:xfrm>
              <a:off x="5957315" y="5047487"/>
              <a:ext cx="22860" cy="36576"/>
            </a:xfrm>
            <a:prstGeom prst="rect">
              <a:avLst/>
            </a:prstGeom>
          </p:spPr>
        </p:pic>
        <p:sp>
          <p:nvSpPr>
            <p:cNvPr id="340" name="object 340"/>
            <p:cNvSpPr/>
            <p:nvPr/>
          </p:nvSpPr>
          <p:spPr>
            <a:xfrm>
              <a:off x="6067043" y="5068061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9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6158483" y="5068061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3C3C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2" name="object 342"/>
            <p:cNvPicPr/>
            <p:nvPr/>
          </p:nvPicPr>
          <p:blipFill>
            <a:blip r:embed="rId241" cstate="print"/>
            <a:stretch>
              <a:fillRect/>
            </a:stretch>
          </p:blipFill>
          <p:spPr>
            <a:xfrm>
              <a:off x="6272783" y="5061203"/>
              <a:ext cx="41148" cy="22860"/>
            </a:xfrm>
            <a:prstGeom prst="rect">
              <a:avLst/>
            </a:prstGeom>
          </p:spPr>
        </p:pic>
        <p:pic>
          <p:nvPicPr>
            <p:cNvPr id="343" name="object 343"/>
            <p:cNvPicPr/>
            <p:nvPr/>
          </p:nvPicPr>
          <p:blipFill>
            <a:blip r:embed="rId242" cstate="print"/>
            <a:stretch>
              <a:fillRect/>
            </a:stretch>
          </p:blipFill>
          <p:spPr>
            <a:xfrm>
              <a:off x="5975603" y="5084063"/>
              <a:ext cx="9144" cy="9144"/>
            </a:xfrm>
            <a:prstGeom prst="rect">
              <a:avLst/>
            </a:prstGeom>
          </p:spPr>
        </p:pic>
        <p:pic>
          <p:nvPicPr>
            <p:cNvPr id="344" name="object 344"/>
            <p:cNvPicPr/>
            <p:nvPr/>
          </p:nvPicPr>
          <p:blipFill>
            <a:blip r:embed="rId243" cstate="print"/>
            <a:stretch>
              <a:fillRect/>
            </a:stretch>
          </p:blipFill>
          <p:spPr>
            <a:xfrm>
              <a:off x="6272783" y="5079491"/>
              <a:ext cx="36576" cy="22860"/>
            </a:xfrm>
            <a:prstGeom prst="rect">
              <a:avLst/>
            </a:prstGeom>
          </p:spPr>
        </p:pic>
        <p:pic>
          <p:nvPicPr>
            <p:cNvPr id="345" name="object 345"/>
            <p:cNvPicPr/>
            <p:nvPr/>
          </p:nvPicPr>
          <p:blipFill>
            <a:blip r:embed="rId244" cstate="print"/>
            <a:stretch>
              <a:fillRect/>
            </a:stretch>
          </p:blipFill>
          <p:spPr>
            <a:xfrm>
              <a:off x="5975603" y="5093207"/>
              <a:ext cx="32004" cy="27432"/>
            </a:xfrm>
            <a:prstGeom prst="rect">
              <a:avLst/>
            </a:prstGeom>
          </p:spPr>
        </p:pic>
      </p:grpSp>
      <p:grpSp>
        <p:nvGrpSpPr>
          <p:cNvPr id="346" name="object 346"/>
          <p:cNvGrpSpPr/>
          <p:nvPr/>
        </p:nvGrpSpPr>
        <p:grpSpPr>
          <a:xfrm>
            <a:off x="5244084" y="4901184"/>
            <a:ext cx="146685" cy="201295"/>
            <a:chOff x="5244084" y="4901184"/>
            <a:chExt cx="146685" cy="201295"/>
          </a:xfrm>
        </p:grpSpPr>
        <p:pic>
          <p:nvPicPr>
            <p:cNvPr id="347" name="object 347"/>
            <p:cNvPicPr/>
            <p:nvPr/>
          </p:nvPicPr>
          <p:blipFill>
            <a:blip r:embed="rId245" cstate="print"/>
            <a:stretch>
              <a:fillRect/>
            </a:stretch>
          </p:blipFill>
          <p:spPr>
            <a:xfrm>
              <a:off x="5294376" y="4901184"/>
              <a:ext cx="13716" cy="4572"/>
            </a:xfrm>
            <a:prstGeom prst="rect">
              <a:avLst/>
            </a:prstGeom>
          </p:spPr>
        </p:pic>
        <p:pic>
          <p:nvPicPr>
            <p:cNvPr id="348" name="object 348"/>
            <p:cNvPicPr/>
            <p:nvPr/>
          </p:nvPicPr>
          <p:blipFill>
            <a:blip r:embed="rId246" cstate="print"/>
            <a:stretch>
              <a:fillRect/>
            </a:stretch>
          </p:blipFill>
          <p:spPr>
            <a:xfrm>
              <a:off x="5266944" y="4905756"/>
              <a:ext cx="41148" cy="54864"/>
            </a:xfrm>
            <a:prstGeom prst="rect">
              <a:avLst/>
            </a:prstGeom>
          </p:spPr>
        </p:pic>
        <p:pic>
          <p:nvPicPr>
            <p:cNvPr id="349" name="object 349"/>
            <p:cNvPicPr/>
            <p:nvPr/>
          </p:nvPicPr>
          <p:blipFill>
            <a:blip r:embed="rId247" cstate="print"/>
            <a:stretch>
              <a:fillRect/>
            </a:stretch>
          </p:blipFill>
          <p:spPr>
            <a:xfrm>
              <a:off x="5253228" y="4960620"/>
              <a:ext cx="45720" cy="13716"/>
            </a:xfrm>
            <a:prstGeom prst="rect">
              <a:avLst/>
            </a:prstGeom>
          </p:spPr>
        </p:pic>
        <p:pic>
          <p:nvPicPr>
            <p:cNvPr id="350" name="object 350"/>
            <p:cNvPicPr/>
            <p:nvPr/>
          </p:nvPicPr>
          <p:blipFill>
            <a:blip r:embed="rId248" cstate="print"/>
            <a:stretch>
              <a:fillRect/>
            </a:stretch>
          </p:blipFill>
          <p:spPr>
            <a:xfrm>
              <a:off x="5248656" y="4974336"/>
              <a:ext cx="50292" cy="9144"/>
            </a:xfrm>
            <a:prstGeom prst="rect">
              <a:avLst/>
            </a:prstGeom>
          </p:spPr>
        </p:pic>
        <p:pic>
          <p:nvPicPr>
            <p:cNvPr id="351" name="object 351"/>
            <p:cNvPicPr/>
            <p:nvPr/>
          </p:nvPicPr>
          <p:blipFill>
            <a:blip r:embed="rId249" cstate="print"/>
            <a:stretch>
              <a:fillRect/>
            </a:stretch>
          </p:blipFill>
          <p:spPr>
            <a:xfrm>
              <a:off x="5244084" y="4983480"/>
              <a:ext cx="50292" cy="41148"/>
            </a:xfrm>
            <a:prstGeom prst="rect">
              <a:avLst/>
            </a:prstGeom>
          </p:spPr>
        </p:pic>
        <p:pic>
          <p:nvPicPr>
            <p:cNvPr id="352" name="object 352"/>
            <p:cNvPicPr/>
            <p:nvPr/>
          </p:nvPicPr>
          <p:blipFill>
            <a:blip r:embed="rId250" cstate="print"/>
            <a:stretch>
              <a:fillRect/>
            </a:stretch>
          </p:blipFill>
          <p:spPr>
            <a:xfrm>
              <a:off x="5358384" y="4992624"/>
              <a:ext cx="13716" cy="22860"/>
            </a:xfrm>
            <a:prstGeom prst="rect">
              <a:avLst/>
            </a:prstGeom>
          </p:spPr>
        </p:pic>
        <p:pic>
          <p:nvPicPr>
            <p:cNvPr id="353" name="object 353"/>
            <p:cNvPicPr/>
            <p:nvPr/>
          </p:nvPicPr>
          <p:blipFill>
            <a:blip r:embed="rId251" cstate="print"/>
            <a:stretch>
              <a:fillRect/>
            </a:stretch>
          </p:blipFill>
          <p:spPr>
            <a:xfrm>
              <a:off x="5262372" y="5015484"/>
              <a:ext cx="123444" cy="22860"/>
            </a:xfrm>
            <a:prstGeom prst="rect">
              <a:avLst/>
            </a:prstGeom>
          </p:spPr>
        </p:pic>
        <p:pic>
          <p:nvPicPr>
            <p:cNvPr id="354" name="object 354"/>
            <p:cNvPicPr/>
            <p:nvPr/>
          </p:nvPicPr>
          <p:blipFill>
            <a:blip r:embed="rId252" cstate="print"/>
            <a:stretch>
              <a:fillRect/>
            </a:stretch>
          </p:blipFill>
          <p:spPr>
            <a:xfrm>
              <a:off x="5257800" y="5038344"/>
              <a:ext cx="50292" cy="9144"/>
            </a:xfrm>
            <a:prstGeom prst="rect">
              <a:avLst/>
            </a:prstGeom>
          </p:spPr>
        </p:pic>
        <p:pic>
          <p:nvPicPr>
            <p:cNvPr id="355" name="object 355"/>
            <p:cNvPicPr/>
            <p:nvPr/>
          </p:nvPicPr>
          <p:blipFill>
            <a:blip r:embed="rId253" cstate="print"/>
            <a:stretch>
              <a:fillRect/>
            </a:stretch>
          </p:blipFill>
          <p:spPr>
            <a:xfrm>
              <a:off x="5303520" y="5033772"/>
              <a:ext cx="59436" cy="18288"/>
            </a:xfrm>
            <a:prstGeom prst="rect">
              <a:avLst/>
            </a:prstGeom>
          </p:spPr>
        </p:pic>
        <p:pic>
          <p:nvPicPr>
            <p:cNvPr id="356" name="object 356"/>
            <p:cNvPicPr/>
            <p:nvPr/>
          </p:nvPicPr>
          <p:blipFill>
            <a:blip r:embed="rId254" cstate="print"/>
            <a:stretch>
              <a:fillRect/>
            </a:stretch>
          </p:blipFill>
          <p:spPr>
            <a:xfrm>
              <a:off x="5257800" y="5042916"/>
              <a:ext cx="128016" cy="59436"/>
            </a:xfrm>
            <a:prstGeom prst="rect">
              <a:avLst/>
            </a:prstGeom>
          </p:spPr>
        </p:pic>
        <p:sp>
          <p:nvSpPr>
            <p:cNvPr id="357" name="object 357"/>
            <p:cNvSpPr/>
            <p:nvPr/>
          </p:nvSpPr>
          <p:spPr>
            <a:xfrm>
              <a:off x="5385816" y="507263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8" name="object 358"/>
            <p:cNvSpPr/>
            <p:nvPr/>
          </p:nvSpPr>
          <p:spPr>
            <a:xfrm>
              <a:off x="5381244" y="5077206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9" name="object 359"/>
          <p:cNvGrpSpPr/>
          <p:nvPr/>
        </p:nvGrpSpPr>
        <p:grpSpPr>
          <a:xfrm>
            <a:off x="8449056" y="4878323"/>
            <a:ext cx="247015" cy="242570"/>
            <a:chOff x="8449056" y="4878323"/>
            <a:chExt cx="247015" cy="242570"/>
          </a:xfrm>
        </p:grpSpPr>
        <p:pic>
          <p:nvPicPr>
            <p:cNvPr id="360" name="object 360"/>
            <p:cNvPicPr/>
            <p:nvPr/>
          </p:nvPicPr>
          <p:blipFill>
            <a:blip r:embed="rId255" cstate="print"/>
            <a:stretch>
              <a:fillRect/>
            </a:stretch>
          </p:blipFill>
          <p:spPr>
            <a:xfrm>
              <a:off x="8641080" y="4878323"/>
              <a:ext cx="36576" cy="41148"/>
            </a:xfrm>
            <a:prstGeom prst="rect">
              <a:avLst/>
            </a:prstGeom>
          </p:spPr>
        </p:pic>
        <p:pic>
          <p:nvPicPr>
            <p:cNvPr id="361" name="object 361"/>
            <p:cNvPicPr/>
            <p:nvPr/>
          </p:nvPicPr>
          <p:blipFill>
            <a:blip r:embed="rId256" cstate="print"/>
            <a:stretch>
              <a:fillRect/>
            </a:stretch>
          </p:blipFill>
          <p:spPr>
            <a:xfrm>
              <a:off x="8668512" y="4919471"/>
              <a:ext cx="22860" cy="32004"/>
            </a:xfrm>
            <a:prstGeom prst="rect">
              <a:avLst/>
            </a:prstGeom>
          </p:spPr>
        </p:pic>
        <p:pic>
          <p:nvPicPr>
            <p:cNvPr id="362" name="object 362"/>
            <p:cNvPicPr/>
            <p:nvPr/>
          </p:nvPicPr>
          <p:blipFill>
            <a:blip r:embed="rId257" cstate="print"/>
            <a:stretch>
              <a:fillRect/>
            </a:stretch>
          </p:blipFill>
          <p:spPr>
            <a:xfrm>
              <a:off x="8677656" y="4951475"/>
              <a:ext cx="18288" cy="22860"/>
            </a:xfrm>
            <a:prstGeom prst="rect">
              <a:avLst/>
            </a:prstGeom>
          </p:spPr>
        </p:pic>
        <p:pic>
          <p:nvPicPr>
            <p:cNvPr id="363" name="object 363"/>
            <p:cNvPicPr/>
            <p:nvPr/>
          </p:nvPicPr>
          <p:blipFill>
            <a:blip r:embed="rId258" cstate="print"/>
            <a:stretch>
              <a:fillRect/>
            </a:stretch>
          </p:blipFill>
          <p:spPr>
            <a:xfrm>
              <a:off x="8682228" y="4974335"/>
              <a:ext cx="13716" cy="27432"/>
            </a:xfrm>
            <a:prstGeom prst="rect">
              <a:avLst/>
            </a:prstGeom>
          </p:spPr>
        </p:pic>
        <p:pic>
          <p:nvPicPr>
            <p:cNvPr id="364" name="object 364"/>
            <p:cNvPicPr/>
            <p:nvPr/>
          </p:nvPicPr>
          <p:blipFill>
            <a:blip r:embed="rId259" cstate="print"/>
            <a:stretch>
              <a:fillRect/>
            </a:stretch>
          </p:blipFill>
          <p:spPr>
            <a:xfrm>
              <a:off x="8677656" y="5001767"/>
              <a:ext cx="18288" cy="41148"/>
            </a:xfrm>
            <a:prstGeom prst="rect">
              <a:avLst/>
            </a:prstGeom>
          </p:spPr>
        </p:pic>
        <p:pic>
          <p:nvPicPr>
            <p:cNvPr id="365" name="object 365"/>
            <p:cNvPicPr/>
            <p:nvPr/>
          </p:nvPicPr>
          <p:blipFill>
            <a:blip r:embed="rId260" cstate="print"/>
            <a:stretch>
              <a:fillRect/>
            </a:stretch>
          </p:blipFill>
          <p:spPr>
            <a:xfrm>
              <a:off x="8668512" y="5042915"/>
              <a:ext cx="22860" cy="32004"/>
            </a:xfrm>
            <a:prstGeom prst="rect">
              <a:avLst/>
            </a:prstGeom>
          </p:spPr>
        </p:pic>
        <p:pic>
          <p:nvPicPr>
            <p:cNvPr id="366" name="object 366"/>
            <p:cNvPicPr/>
            <p:nvPr/>
          </p:nvPicPr>
          <p:blipFill>
            <a:blip r:embed="rId261" cstate="print"/>
            <a:stretch>
              <a:fillRect/>
            </a:stretch>
          </p:blipFill>
          <p:spPr>
            <a:xfrm>
              <a:off x="8458200" y="4892039"/>
              <a:ext cx="41148" cy="36576"/>
            </a:xfrm>
            <a:prstGeom prst="rect">
              <a:avLst/>
            </a:prstGeom>
          </p:spPr>
        </p:pic>
        <p:pic>
          <p:nvPicPr>
            <p:cNvPr id="367" name="object 367"/>
            <p:cNvPicPr/>
            <p:nvPr/>
          </p:nvPicPr>
          <p:blipFill>
            <a:blip r:embed="rId262" cstate="print"/>
            <a:stretch>
              <a:fillRect/>
            </a:stretch>
          </p:blipFill>
          <p:spPr>
            <a:xfrm>
              <a:off x="8462772" y="4928615"/>
              <a:ext cx="73152" cy="50292"/>
            </a:xfrm>
            <a:prstGeom prst="rect">
              <a:avLst/>
            </a:prstGeom>
          </p:spPr>
        </p:pic>
        <p:pic>
          <p:nvPicPr>
            <p:cNvPr id="368" name="object 368"/>
            <p:cNvPicPr/>
            <p:nvPr/>
          </p:nvPicPr>
          <p:blipFill>
            <a:blip r:embed="rId263" cstate="print"/>
            <a:stretch>
              <a:fillRect/>
            </a:stretch>
          </p:blipFill>
          <p:spPr>
            <a:xfrm>
              <a:off x="8458200" y="4974335"/>
              <a:ext cx="77724" cy="13716"/>
            </a:xfrm>
            <a:prstGeom prst="rect">
              <a:avLst/>
            </a:prstGeom>
          </p:spPr>
        </p:pic>
        <p:pic>
          <p:nvPicPr>
            <p:cNvPr id="369" name="object 369"/>
            <p:cNvPicPr/>
            <p:nvPr/>
          </p:nvPicPr>
          <p:blipFill>
            <a:blip r:embed="rId264" cstate="print"/>
            <a:stretch>
              <a:fillRect/>
            </a:stretch>
          </p:blipFill>
          <p:spPr>
            <a:xfrm>
              <a:off x="8453628" y="4992623"/>
              <a:ext cx="18288" cy="18288"/>
            </a:xfrm>
            <a:prstGeom prst="rect">
              <a:avLst/>
            </a:prstGeom>
          </p:spPr>
        </p:pic>
        <p:pic>
          <p:nvPicPr>
            <p:cNvPr id="370" name="object 370"/>
            <p:cNvPicPr/>
            <p:nvPr/>
          </p:nvPicPr>
          <p:blipFill>
            <a:blip r:embed="rId265" cstate="print"/>
            <a:stretch>
              <a:fillRect/>
            </a:stretch>
          </p:blipFill>
          <p:spPr>
            <a:xfrm>
              <a:off x="8458200" y="4978907"/>
              <a:ext cx="137160" cy="54864"/>
            </a:xfrm>
            <a:prstGeom prst="rect">
              <a:avLst/>
            </a:prstGeom>
          </p:spPr>
        </p:pic>
        <p:pic>
          <p:nvPicPr>
            <p:cNvPr id="371" name="object 371"/>
            <p:cNvPicPr/>
            <p:nvPr/>
          </p:nvPicPr>
          <p:blipFill>
            <a:blip r:embed="rId266" cstate="print"/>
            <a:stretch>
              <a:fillRect/>
            </a:stretch>
          </p:blipFill>
          <p:spPr>
            <a:xfrm>
              <a:off x="8449056" y="5010911"/>
              <a:ext cx="141732" cy="36576"/>
            </a:xfrm>
            <a:prstGeom prst="rect">
              <a:avLst/>
            </a:prstGeom>
          </p:spPr>
        </p:pic>
        <p:pic>
          <p:nvPicPr>
            <p:cNvPr id="372" name="object 372"/>
            <p:cNvPicPr/>
            <p:nvPr/>
          </p:nvPicPr>
          <p:blipFill>
            <a:blip r:embed="rId267" cstate="print"/>
            <a:stretch>
              <a:fillRect/>
            </a:stretch>
          </p:blipFill>
          <p:spPr>
            <a:xfrm>
              <a:off x="8508492" y="5033771"/>
              <a:ext cx="82296" cy="9144"/>
            </a:xfrm>
            <a:prstGeom prst="rect">
              <a:avLst/>
            </a:prstGeom>
          </p:spPr>
        </p:pic>
        <p:pic>
          <p:nvPicPr>
            <p:cNvPr id="373" name="object 373"/>
            <p:cNvPicPr/>
            <p:nvPr/>
          </p:nvPicPr>
          <p:blipFill>
            <a:blip r:embed="rId268" cstate="print"/>
            <a:stretch>
              <a:fillRect/>
            </a:stretch>
          </p:blipFill>
          <p:spPr>
            <a:xfrm>
              <a:off x="8458200" y="5047487"/>
              <a:ext cx="54864" cy="18288"/>
            </a:xfrm>
            <a:prstGeom prst="rect">
              <a:avLst/>
            </a:prstGeom>
          </p:spPr>
        </p:pic>
        <p:pic>
          <p:nvPicPr>
            <p:cNvPr id="374" name="object 374"/>
            <p:cNvPicPr/>
            <p:nvPr/>
          </p:nvPicPr>
          <p:blipFill>
            <a:blip r:embed="rId269" cstate="print"/>
            <a:stretch>
              <a:fillRect/>
            </a:stretch>
          </p:blipFill>
          <p:spPr>
            <a:xfrm>
              <a:off x="8549640" y="5038343"/>
              <a:ext cx="54864" cy="41148"/>
            </a:xfrm>
            <a:prstGeom prst="rect">
              <a:avLst/>
            </a:prstGeom>
          </p:spPr>
        </p:pic>
        <p:pic>
          <p:nvPicPr>
            <p:cNvPr id="375" name="object 375"/>
            <p:cNvPicPr/>
            <p:nvPr/>
          </p:nvPicPr>
          <p:blipFill>
            <a:blip r:embed="rId270" cstate="print"/>
            <a:stretch>
              <a:fillRect/>
            </a:stretch>
          </p:blipFill>
          <p:spPr>
            <a:xfrm>
              <a:off x="8563356" y="5074919"/>
              <a:ext cx="36576" cy="13716"/>
            </a:xfrm>
            <a:prstGeom prst="rect">
              <a:avLst/>
            </a:prstGeom>
          </p:spPr>
        </p:pic>
        <p:pic>
          <p:nvPicPr>
            <p:cNvPr id="376" name="object 376"/>
            <p:cNvPicPr/>
            <p:nvPr/>
          </p:nvPicPr>
          <p:blipFill>
            <a:blip r:embed="rId271" cstate="print"/>
            <a:stretch>
              <a:fillRect/>
            </a:stretch>
          </p:blipFill>
          <p:spPr>
            <a:xfrm>
              <a:off x="8659368" y="5074919"/>
              <a:ext cx="18288" cy="22860"/>
            </a:xfrm>
            <a:prstGeom prst="rect">
              <a:avLst/>
            </a:prstGeom>
          </p:spPr>
        </p:pic>
        <p:pic>
          <p:nvPicPr>
            <p:cNvPr id="377" name="object 377"/>
            <p:cNvPicPr/>
            <p:nvPr/>
          </p:nvPicPr>
          <p:blipFill>
            <a:blip r:embed="rId272" cstate="print"/>
            <a:stretch>
              <a:fillRect/>
            </a:stretch>
          </p:blipFill>
          <p:spPr>
            <a:xfrm>
              <a:off x="8563356" y="5084063"/>
              <a:ext cx="32004" cy="18288"/>
            </a:xfrm>
            <a:prstGeom prst="rect">
              <a:avLst/>
            </a:prstGeom>
          </p:spPr>
        </p:pic>
        <p:pic>
          <p:nvPicPr>
            <p:cNvPr id="378" name="object 378"/>
            <p:cNvPicPr/>
            <p:nvPr/>
          </p:nvPicPr>
          <p:blipFill>
            <a:blip r:embed="rId273" cstate="print"/>
            <a:stretch>
              <a:fillRect/>
            </a:stretch>
          </p:blipFill>
          <p:spPr>
            <a:xfrm>
              <a:off x="8586216" y="5093207"/>
              <a:ext cx="82296" cy="27432"/>
            </a:xfrm>
            <a:prstGeom prst="rect">
              <a:avLst/>
            </a:prstGeom>
          </p:spPr>
        </p:pic>
      </p:grpSp>
      <p:grpSp>
        <p:nvGrpSpPr>
          <p:cNvPr id="379" name="object 379"/>
          <p:cNvGrpSpPr/>
          <p:nvPr/>
        </p:nvGrpSpPr>
        <p:grpSpPr>
          <a:xfrm>
            <a:off x="8129016" y="4919471"/>
            <a:ext cx="160020" cy="160020"/>
            <a:chOff x="8129016" y="4919471"/>
            <a:chExt cx="160020" cy="160020"/>
          </a:xfrm>
        </p:grpSpPr>
        <p:sp>
          <p:nvSpPr>
            <p:cNvPr id="380" name="object 380"/>
            <p:cNvSpPr/>
            <p:nvPr/>
          </p:nvSpPr>
          <p:spPr>
            <a:xfrm>
              <a:off x="8206740" y="4921757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15151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1" name="object 381"/>
            <p:cNvSpPr/>
            <p:nvPr/>
          </p:nvSpPr>
          <p:spPr>
            <a:xfrm>
              <a:off x="8206740" y="4926329"/>
              <a:ext cx="5080" cy="9525"/>
            </a:xfrm>
            <a:custGeom>
              <a:avLst/>
              <a:gdLst/>
              <a:ahLst/>
              <a:cxnLst/>
              <a:rect l="l" t="t" r="r" b="b"/>
              <a:pathLst>
                <a:path w="5079" h="9525">
                  <a:moveTo>
                    <a:pt x="0" y="0"/>
                  </a:moveTo>
                  <a:lnTo>
                    <a:pt x="4572" y="0"/>
                  </a:lnTo>
                </a:path>
                <a:path w="5079" h="9525">
                  <a:moveTo>
                    <a:pt x="0" y="4572"/>
                  </a:moveTo>
                  <a:lnTo>
                    <a:pt x="4572" y="4572"/>
                  </a:lnTo>
                </a:path>
                <a:path w="5079" h="9525">
                  <a:moveTo>
                    <a:pt x="0" y="9144"/>
                  </a:moveTo>
                  <a:lnTo>
                    <a:pt x="4572" y="9144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2" name="object 382"/>
            <p:cNvPicPr/>
            <p:nvPr/>
          </p:nvPicPr>
          <p:blipFill>
            <a:blip r:embed="rId274" cstate="print"/>
            <a:stretch>
              <a:fillRect/>
            </a:stretch>
          </p:blipFill>
          <p:spPr>
            <a:xfrm>
              <a:off x="8129016" y="4937759"/>
              <a:ext cx="160020" cy="68580"/>
            </a:xfrm>
            <a:prstGeom prst="rect">
              <a:avLst/>
            </a:prstGeom>
          </p:spPr>
        </p:pic>
        <p:sp>
          <p:nvSpPr>
            <p:cNvPr id="383" name="object 383"/>
            <p:cNvSpPr/>
            <p:nvPr/>
          </p:nvSpPr>
          <p:spPr>
            <a:xfrm>
              <a:off x="8206740" y="5008625"/>
              <a:ext cx="5080" cy="64135"/>
            </a:xfrm>
            <a:custGeom>
              <a:avLst/>
              <a:gdLst/>
              <a:ahLst/>
              <a:cxnLst/>
              <a:rect l="l" t="t" r="r" b="b"/>
              <a:pathLst>
                <a:path w="5079" h="64135">
                  <a:moveTo>
                    <a:pt x="0" y="0"/>
                  </a:moveTo>
                  <a:lnTo>
                    <a:pt x="4572" y="0"/>
                  </a:lnTo>
                </a:path>
                <a:path w="5079" h="64135">
                  <a:moveTo>
                    <a:pt x="0" y="4571"/>
                  </a:moveTo>
                  <a:lnTo>
                    <a:pt x="4572" y="4571"/>
                  </a:lnTo>
                </a:path>
                <a:path w="5079" h="64135">
                  <a:moveTo>
                    <a:pt x="0" y="9143"/>
                  </a:moveTo>
                  <a:lnTo>
                    <a:pt x="4572" y="9143"/>
                  </a:lnTo>
                </a:path>
                <a:path w="5079" h="64135">
                  <a:moveTo>
                    <a:pt x="0" y="13715"/>
                  </a:moveTo>
                  <a:lnTo>
                    <a:pt x="4572" y="13715"/>
                  </a:lnTo>
                </a:path>
                <a:path w="5079" h="64135">
                  <a:moveTo>
                    <a:pt x="0" y="18287"/>
                  </a:moveTo>
                  <a:lnTo>
                    <a:pt x="4572" y="18287"/>
                  </a:lnTo>
                </a:path>
                <a:path w="5079" h="64135">
                  <a:moveTo>
                    <a:pt x="0" y="22860"/>
                  </a:moveTo>
                  <a:lnTo>
                    <a:pt x="4572" y="22860"/>
                  </a:lnTo>
                </a:path>
                <a:path w="5079" h="64135">
                  <a:moveTo>
                    <a:pt x="0" y="27431"/>
                  </a:moveTo>
                  <a:lnTo>
                    <a:pt x="4572" y="27431"/>
                  </a:lnTo>
                </a:path>
                <a:path w="5079" h="64135">
                  <a:moveTo>
                    <a:pt x="0" y="32003"/>
                  </a:moveTo>
                  <a:lnTo>
                    <a:pt x="4572" y="32003"/>
                  </a:lnTo>
                </a:path>
                <a:path w="5079" h="64135">
                  <a:moveTo>
                    <a:pt x="0" y="36575"/>
                  </a:moveTo>
                  <a:lnTo>
                    <a:pt x="4572" y="36575"/>
                  </a:lnTo>
                </a:path>
                <a:path w="5079" h="64135">
                  <a:moveTo>
                    <a:pt x="0" y="41148"/>
                  </a:moveTo>
                  <a:lnTo>
                    <a:pt x="4572" y="41148"/>
                  </a:lnTo>
                </a:path>
                <a:path w="5079" h="64135">
                  <a:moveTo>
                    <a:pt x="0" y="45719"/>
                  </a:moveTo>
                  <a:lnTo>
                    <a:pt x="4572" y="45719"/>
                  </a:lnTo>
                </a:path>
                <a:path w="5079" h="64135">
                  <a:moveTo>
                    <a:pt x="0" y="50291"/>
                  </a:moveTo>
                  <a:lnTo>
                    <a:pt x="4572" y="50291"/>
                  </a:lnTo>
                </a:path>
                <a:path w="5079" h="64135">
                  <a:moveTo>
                    <a:pt x="0" y="54863"/>
                  </a:moveTo>
                  <a:lnTo>
                    <a:pt x="4572" y="54863"/>
                  </a:lnTo>
                </a:path>
                <a:path w="5079" h="64135">
                  <a:moveTo>
                    <a:pt x="0" y="59436"/>
                  </a:moveTo>
                  <a:lnTo>
                    <a:pt x="4572" y="59436"/>
                  </a:lnTo>
                </a:path>
                <a:path w="5079" h="64135">
                  <a:moveTo>
                    <a:pt x="0" y="64007"/>
                  </a:moveTo>
                  <a:lnTo>
                    <a:pt x="4572" y="64007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4" name="object 384"/>
            <p:cNvSpPr/>
            <p:nvPr/>
          </p:nvSpPr>
          <p:spPr>
            <a:xfrm>
              <a:off x="8206740" y="5077205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0404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5" name="object 385"/>
          <p:cNvGrpSpPr/>
          <p:nvPr/>
        </p:nvGrpSpPr>
        <p:grpSpPr>
          <a:xfrm>
            <a:off x="5742432" y="4956047"/>
            <a:ext cx="132715" cy="109855"/>
            <a:chOff x="5742432" y="4956047"/>
            <a:chExt cx="132715" cy="109855"/>
          </a:xfrm>
        </p:grpSpPr>
        <p:pic>
          <p:nvPicPr>
            <p:cNvPr id="386" name="object 386"/>
            <p:cNvPicPr/>
            <p:nvPr/>
          </p:nvPicPr>
          <p:blipFill>
            <a:blip r:embed="rId275" cstate="print"/>
            <a:stretch>
              <a:fillRect/>
            </a:stretch>
          </p:blipFill>
          <p:spPr>
            <a:xfrm>
              <a:off x="5760720" y="4956047"/>
              <a:ext cx="114300" cy="32004"/>
            </a:xfrm>
            <a:prstGeom prst="rect">
              <a:avLst/>
            </a:prstGeom>
          </p:spPr>
        </p:pic>
        <p:sp>
          <p:nvSpPr>
            <p:cNvPr id="387" name="object 387"/>
            <p:cNvSpPr/>
            <p:nvPr/>
          </p:nvSpPr>
          <p:spPr>
            <a:xfrm>
              <a:off x="5760720" y="4990337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716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8" name="object 388"/>
            <p:cNvPicPr/>
            <p:nvPr/>
          </p:nvPicPr>
          <p:blipFill>
            <a:blip r:embed="rId276" cstate="print"/>
            <a:stretch>
              <a:fillRect/>
            </a:stretch>
          </p:blipFill>
          <p:spPr>
            <a:xfrm>
              <a:off x="5824728" y="4988051"/>
              <a:ext cx="18288" cy="4572"/>
            </a:xfrm>
            <a:prstGeom prst="rect">
              <a:avLst/>
            </a:prstGeom>
          </p:spPr>
        </p:pic>
        <p:sp>
          <p:nvSpPr>
            <p:cNvPr id="389" name="object 389"/>
            <p:cNvSpPr/>
            <p:nvPr/>
          </p:nvSpPr>
          <p:spPr>
            <a:xfrm>
              <a:off x="5829300" y="499490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716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0" name="object 390"/>
            <p:cNvPicPr/>
            <p:nvPr/>
          </p:nvPicPr>
          <p:blipFill>
            <a:blip r:embed="rId277" cstate="print"/>
            <a:stretch>
              <a:fillRect/>
            </a:stretch>
          </p:blipFill>
          <p:spPr>
            <a:xfrm>
              <a:off x="5742432" y="4992623"/>
              <a:ext cx="27432" cy="36576"/>
            </a:xfrm>
            <a:prstGeom prst="rect">
              <a:avLst/>
            </a:prstGeom>
          </p:spPr>
        </p:pic>
        <p:sp>
          <p:nvSpPr>
            <p:cNvPr id="391" name="object 391"/>
            <p:cNvSpPr/>
            <p:nvPr/>
          </p:nvSpPr>
          <p:spPr>
            <a:xfrm>
              <a:off x="5747004" y="5031485"/>
              <a:ext cx="13970" cy="5080"/>
            </a:xfrm>
            <a:custGeom>
              <a:avLst/>
              <a:gdLst/>
              <a:ahLst/>
              <a:cxnLst/>
              <a:rect l="l" t="t" r="r" b="b"/>
              <a:pathLst>
                <a:path w="13970" h="5079">
                  <a:moveTo>
                    <a:pt x="0" y="0"/>
                  </a:moveTo>
                  <a:lnTo>
                    <a:pt x="13716" y="0"/>
                  </a:lnTo>
                </a:path>
                <a:path w="13970" h="5079">
                  <a:moveTo>
                    <a:pt x="0" y="4571"/>
                  </a:moveTo>
                  <a:lnTo>
                    <a:pt x="13716" y="4571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2" name="object 392"/>
            <p:cNvPicPr/>
            <p:nvPr/>
          </p:nvPicPr>
          <p:blipFill>
            <a:blip r:embed="rId278" cstate="print"/>
            <a:stretch>
              <a:fillRect/>
            </a:stretch>
          </p:blipFill>
          <p:spPr>
            <a:xfrm>
              <a:off x="5747004" y="4997195"/>
              <a:ext cx="96012" cy="68580"/>
            </a:xfrm>
            <a:prstGeom prst="rect">
              <a:avLst/>
            </a:prstGeom>
          </p:spPr>
        </p:pic>
      </p:grpSp>
      <p:pic>
        <p:nvPicPr>
          <p:cNvPr id="393" name="object 393"/>
          <p:cNvPicPr/>
          <p:nvPr/>
        </p:nvPicPr>
        <p:blipFill>
          <a:blip r:embed="rId279" cstate="print"/>
          <a:stretch>
            <a:fillRect/>
          </a:stretch>
        </p:blipFill>
        <p:spPr>
          <a:xfrm>
            <a:off x="5495544" y="4969764"/>
            <a:ext cx="160020" cy="59436"/>
          </a:xfrm>
          <a:prstGeom prst="rect">
            <a:avLst/>
          </a:prstGeom>
        </p:spPr>
      </p:pic>
      <p:pic>
        <p:nvPicPr>
          <p:cNvPr id="394" name="object 394"/>
          <p:cNvPicPr/>
          <p:nvPr/>
        </p:nvPicPr>
        <p:blipFill>
          <a:blip r:embed="rId280" cstate="print"/>
          <a:stretch>
            <a:fillRect/>
          </a:stretch>
        </p:blipFill>
        <p:spPr>
          <a:xfrm>
            <a:off x="6368796" y="4988052"/>
            <a:ext cx="27432" cy="27432"/>
          </a:xfrm>
          <a:prstGeom prst="rect">
            <a:avLst/>
          </a:prstGeom>
        </p:spPr>
      </p:pic>
      <p:grpSp>
        <p:nvGrpSpPr>
          <p:cNvPr id="395" name="object 395"/>
          <p:cNvGrpSpPr/>
          <p:nvPr/>
        </p:nvGrpSpPr>
        <p:grpSpPr>
          <a:xfrm>
            <a:off x="7594092" y="5033771"/>
            <a:ext cx="32384" cy="73660"/>
            <a:chOff x="7594092" y="5033771"/>
            <a:chExt cx="32384" cy="73660"/>
          </a:xfrm>
        </p:grpSpPr>
        <p:pic>
          <p:nvPicPr>
            <p:cNvPr id="396" name="object 396"/>
            <p:cNvPicPr/>
            <p:nvPr/>
          </p:nvPicPr>
          <p:blipFill>
            <a:blip r:embed="rId281" cstate="print"/>
            <a:stretch>
              <a:fillRect/>
            </a:stretch>
          </p:blipFill>
          <p:spPr>
            <a:xfrm>
              <a:off x="7594092" y="5033771"/>
              <a:ext cx="32004" cy="27432"/>
            </a:xfrm>
            <a:prstGeom prst="rect">
              <a:avLst/>
            </a:prstGeom>
          </p:spPr>
        </p:pic>
        <p:pic>
          <p:nvPicPr>
            <p:cNvPr id="397" name="object 397"/>
            <p:cNvPicPr/>
            <p:nvPr/>
          </p:nvPicPr>
          <p:blipFill>
            <a:blip r:embed="rId282" cstate="print"/>
            <a:stretch>
              <a:fillRect/>
            </a:stretch>
          </p:blipFill>
          <p:spPr>
            <a:xfrm>
              <a:off x="7616952" y="5061203"/>
              <a:ext cx="9144" cy="9144"/>
            </a:xfrm>
            <a:prstGeom prst="rect">
              <a:avLst/>
            </a:prstGeom>
          </p:spPr>
        </p:pic>
        <p:pic>
          <p:nvPicPr>
            <p:cNvPr id="398" name="object 398"/>
            <p:cNvPicPr/>
            <p:nvPr/>
          </p:nvPicPr>
          <p:blipFill>
            <a:blip r:embed="rId283" cstate="print"/>
            <a:stretch>
              <a:fillRect/>
            </a:stretch>
          </p:blipFill>
          <p:spPr>
            <a:xfrm>
              <a:off x="7612380" y="5070347"/>
              <a:ext cx="9144" cy="18288"/>
            </a:xfrm>
            <a:prstGeom prst="rect">
              <a:avLst/>
            </a:prstGeom>
          </p:spPr>
        </p:pic>
        <p:pic>
          <p:nvPicPr>
            <p:cNvPr id="399" name="object 399"/>
            <p:cNvPicPr/>
            <p:nvPr/>
          </p:nvPicPr>
          <p:blipFill>
            <a:blip r:embed="rId284" cstate="print"/>
            <a:stretch>
              <a:fillRect/>
            </a:stretch>
          </p:blipFill>
          <p:spPr>
            <a:xfrm>
              <a:off x="7598664" y="5088635"/>
              <a:ext cx="18288" cy="18288"/>
            </a:xfrm>
            <a:prstGeom prst="rect">
              <a:avLst/>
            </a:prstGeom>
          </p:spPr>
        </p:pic>
      </p:grpSp>
      <p:grpSp>
        <p:nvGrpSpPr>
          <p:cNvPr id="400" name="object 400"/>
          <p:cNvGrpSpPr/>
          <p:nvPr/>
        </p:nvGrpSpPr>
        <p:grpSpPr>
          <a:xfrm>
            <a:off x="6478523" y="5257800"/>
            <a:ext cx="347980" cy="242570"/>
            <a:chOff x="6478523" y="5257800"/>
            <a:chExt cx="347980" cy="242570"/>
          </a:xfrm>
        </p:grpSpPr>
        <p:sp>
          <p:nvSpPr>
            <p:cNvPr id="401" name="object 401"/>
            <p:cNvSpPr/>
            <p:nvPr/>
          </p:nvSpPr>
          <p:spPr>
            <a:xfrm>
              <a:off x="6478523" y="5260086"/>
              <a:ext cx="32384" cy="41275"/>
            </a:xfrm>
            <a:custGeom>
              <a:avLst/>
              <a:gdLst/>
              <a:ahLst/>
              <a:cxnLst/>
              <a:rect l="l" t="t" r="r" b="b"/>
              <a:pathLst>
                <a:path w="32384" h="41275">
                  <a:moveTo>
                    <a:pt x="0" y="0"/>
                  </a:moveTo>
                  <a:lnTo>
                    <a:pt x="32003" y="0"/>
                  </a:lnTo>
                </a:path>
                <a:path w="32384" h="41275">
                  <a:moveTo>
                    <a:pt x="0" y="4572"/>
                  </a:moveTo>
                  <a:lnTo>
                    <a:pt x="9144" y="4572"/>
                  </a:lnTo>
                </a:path>
                <a:path w="32384" h="41275">
                  <a:moveTo>
                    <a:pt x="0" y="9144"/>
                  </a:moveTo>
                  <a:lnTo>
                    <a:pt x="9144" y="9144"/>
                  </a:lnTo>
                </a:path>
                <a:path w="32384" h="41275">
                  <a:moveTo>
                    <a:pt x="0" y="13716"/>
                  </a:moveTo>
                  <a:lnTo>
                    <a:pt x="9144" y="13716"/>
                  </a:lnTo>
                </a:path>
                <a:path w="32384" h="41275">
                  <a:moveTo>
                    <a:pt x="0" y="18288"/>
                  </a:moveTo>
                  <a:lnTo>
                    <a:pt x="9144" y="18288"/>
                  </a:lnTo>
                </a:path>
                <a:path w="32384" h="41275">
                  <a:moveTo>
                    <a:pt x="0" y="22860"/>
                  </a:moveTo>
                  <a:lnTo>
                    <a:pt x="9144" y="22860"/>
                  </a:lnTo>
                </a:path>
                <a:path w="32384" h="41275">
                  <a:moveTo>
                    <a:pt x="0" y="27432"/>
                  </a:moveTo>
                  <a:lnTo>
                    <a:pt x="9144" y="27432"/>
                  </a:lnTo>
                </a:path>
                <a:path w="32384" h="41275">
                  <a:moveTo>
                    <a:pt x="0" y="32004"/>
                  </a:moveTo>
                  <a:lnTo>
                    <a:pt x="9144" y="32004"/>
                  </a:lnTo>
                </a:path>
                <a:path w="32384" h="41275">
                  <a:moveTo>
                    <a:pt x="0" y="36576"/>
                  </a:moveTo>
                  <a:lnTo>
                    <a:pt x="9144" y="36576"/>
                  </a:lnTo>
                </a:path>
                <a:path w="32384" h="41275">
                  <a:moveTo>
                    <a:pt x="0" y="41148"/>
                  </a:moveTo>
                  <a:lnTo>
                    <a:pt x="9144" y="41148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2" name="object 402"/>
            <p:cNvPicPr/>
            <p:nvPr/>
          </p:nvPicPr>
          <p:blipFill>
            <a:blip r:embed="rId285" cstate="print"/>
            <a:stretch>
              <a:fillRect/>
            </a:stretch>
          </p:blipFill>
          <p:spPr>
            <a:xfrm>
              <a:off x="6574535" y="5262372"/>
              <a:ext cx="132588" cy="27432"/>
            </a:xfrm>
            <a:prstGeom prst="rect">
              <a:avLst/>
            </a:prstGeom>
          </p:spPr>
        </p:pic>
        <p:pic>
          <p:nvPicPr>
            <p:cNvPr id="403" name="object 403"/>
            <p:cNvPicPr/>
            <p:nvPr/>
          </p:nvPicPr>
          <p:blipFill>
            <a:blip r:embed="rId286" cstate="print"/>
            <a:stretch>
              <a:fillRect/>
            </a:stretch>
          </p:blipFill>
          <p:spPr>
            <a:xfrm>
              <a:off x="6665975" y="5285232"/>
              <a:ext cx="36576" cy="18288"/>
            </a:xfrm>
            <a:prstGeom prst="rect">
              <a:avLst/>
            </a:prstGeom>
          </p:spPr>
        </p:pic>
        <p:pic>
          <p:nvPicPr>
            <p:cNvPr id="404" name="object 404"/>
            <p:cNvPicPr/>
            <p:nvPr/>
          </p:nvPicPr>
          <p:blipFill>
            <a:blip r:embed="rId287" cstate="print"/>
            <a:stretch>
              <a:fillRect/>
            </a:stretch>
          </p:blipFill>
          <p:spPr>
            <a:xfrm>
              <a:off x="6547103" y="5289803"/>
              <a:ext cx="54863" cy="27432"/>
            </a:xfrm>
            <a:prstGeom prst="rect">
              <a:avLst/>
            </a:prstGeom>
          </p:spPr>
        </p:pic>
        <p:pic>
          <p:nvPicPr>
            <p:cNvPr id="405" name="object 405"/>
            <p:cNvPicPr/>
            <p:nvPr/>
          </p:nvPicPr>
          <p:blipFill>
            <a:blip r:embed="rId288" cstate="print"/>
            <a:stretch>
              <a:fillRect/>
            </a:stretch>
          </p:blipFill>
          <p:spPr>
            <a:xfrm>
              <a:off x="6478523" y="5303519"/>
              <a:ext cx="96012" cy="36576"/>
            </a:xfrm>
            <a:prstGeom prst="rect">
              <a:avLst/>
            </a:prstGeom>
          </p:spPr>
        </p:pic>
        <p:pic>
          <p:nvPicPr>
            <p:cNvPr id="406" name="object 406"/>
            <p:cNvPicPr/>
            <p:nvPr/>
          </p:nvPicPr>
          <p:blipFill>
            <a:blip r:embed="rId289" cstate="print"/>
            <a:stretch>
              <a:fillRect/>
            </a:stretch>
          </p:blipFill>
          <p:spPr>
            <a:xfrm>
              <a:off x="6665975" y="5303519"/>
              <a:ext cx="77724" cy="77724"/>
            </a:xfrm>
            <a:prstGeom prst="rect">
              <a:avLst/>
            </a:prstGeom>
          </p:spPr>
        </p:pic>
        <p:pic>
          <p:nvPicPr>
            <p:cNvPr id="407" name="object 407"/>
            <p:cNvPicPr/>
            <p:nvPr/>
          </p:nvPicPr>
          <p:blipFill>
            <a:blip r:embed="rId290" cstate="print"/>
            <a:stretch>
              <a:fillRect/>
            </a:stretch>
          </p:blipFill>
          <p:spPr>
            <a:xfrm>
              <a:off x="6478523" y="5330952"/>
              <a:ext cx="82296" cy="22860"/>
            </a:xfrm>
            <a:prstGeom prst="rect">
              <a:avLst/>
            </a:prstGeom>
          </p:spPr>
        </p:pic>
        <p:sp>
          <p:nvSpPr>
            <p:cNvPr id="408" name="object 408"/>
            <p:cNvSpPr/>
            <p:nvPr/>
          </p:nvSpPr>
          <p:spPr>
            <a:xfrm>
              <a:off x="6478523" y="5351526"/>
              <a:ext cx="265430" cy="36830"/>
            </a:xfrm>
            <a:custGeom>
              <a:avLst/>
              <a:gdLst/>
              <a:ahLst/>
              <a:cxnLst/>
              <a:rect l="l" t="t" r="r" b="b"/>
              <a:pathLst>
                <a:path w="265429" h="36829">
                  <a:moveTo>
                    <a:pt x="0" y="0"/>
                  </a:moveTo>
                  <a:lnTo>
                    <a:pt x="9144" y="0"/>
                  </a:lnTo>
                </a:path>
                <a:path w="265429" h="36829">
                  <a:moveTo>
                    <a:pt x="0" y="4571"/>
                  </a:moveTo>
                  <a:lnTo>
                    <a:pt x="9144" y="4571"/>
                  </a:lnTo>
                </a:path>
                <a:path w="265429" h="36829">
                  <a:moveTo>
                    <a:pt x="50291" y="4571"/>
                  </a:moveTo>
                  <a:lnTo>
                    <a:pt x="77724" y="4571"/>
                  </a:lnTo>
                </a:path>
                <a:path w="265429" h="36829">
                  <a:moveTo>
                    <a:pt x="0" y="9143"/>
                  </a:moveTo>
                  <a:lnTo>
                    <a:pt x="9144" y="9143"/>
                  </a:lnTo>
                </a:path>
                <a:path w="265429" h="36829">
                  <a:moveTo>
                    <a:pt x="50291" y="9143"/>
                  </a:moveTo>
                  <a:lnTo>
                    <a:pt x="77724" y="9143"/>
                  </a:lnTo>
                </a:path>
                <a:path w="265429" h="36829">
                  <a:moveTo>
                    <a:pt x="0" y="13715"/>
                  </a:moveTo>
                  <a:lnTo>
                    <a:pt x="9144" y="13715"/>
                  </a:lnTo>
                </a:path>
                <a:path w="265429" h="36829">
                  <a:moveTo>
                    <a:pt x="0" y="18287"/>
                  </a:moveTo>
                  <a:lnTo>
                    <a:pt x="9144" y="18287"/>
                  </a:lnTo>
                </a:path>
                <a:path w="265429" h="36829">
                  <a:moveTo>
                    <a:pt x="0" y="22859"/>
                  </a:moveTo>
                  <a:lnTo>
                    <a:pt x="9144" y="22859"/>
                  </a:lnTo>
                </a:path>
                <a:path w="265429" h="36829">
                  <a:moveTo>
                    <a:pt x="0" y="27431"/>
                  </a:moveTo>
                  <a:lnTo>
                    <a:pt x="9144" y="27431"/>
                  </a:lnTo>
                </a:path>
                <a:path w="265429" h="36829">
                  <a:moveTo>
                    <a:pt x="246887" y="27431"/>
                  </a:moveTo>
                  <a:lnTo>
                    <a:pt x="265176" y="27431"/>
                  </a:lnTo>
                </a:path>
                <a:path w="265429" h="36829">
                  <a:moveTo>
                    <a:pt x="0" y="32003"/>
                  </a:moveTo>
                  <a:lnTo>
                    <a:pt x="9144" y="32003"/>
                  </a:lnTo>
                </a:path>
                <a:path w="265429" h="36829">
                  <a:moveTo>
                    <a:pt x="187451" y="32003"/>
                  </a:moveTo>
                  <a:lnTo>
                    <a:pt x="196596" y="32003"/>
                  </a:lnTo>
                </a:path>
                <a:path w="265429" h="36829">
                  <a:moveTo>
                    <a:pt x="246887" y="32003"/>
                  </a:moveTo>
                  <a:lnTo>
                    <a:pt x="265176" y="32003"/>
                  </a:lnTo>
                </a:path>
                <a:path w="265429" h="36829">
                  <a:moveTo>
                    <a:pt x="0" y="36575"/>
                  </a:moveTo>
                  <a:lnTo>
                    <a:pt x="9144" y="36575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9" name="object 409"/>
            <p:cNvPicPr/>
            <p:nvPr/>
          </p:nvPicPr>
          <p:blipFill>
            <a:blip r:embed="rId291" cstate="print"/>
            <a:stretch>
              <a:fillRect/>
            </a:stretch>
          </p:blipFill>
          <p:spPr>
            <a:xfrm>
              <a:off x="6661403" y="5385815"/>
              <a:ext cx="13716" cy="9144"/>
            </a:xfrm>
            <a:prstGeom prst="rect">
              <a:avLst/>
            </a:prstGeom>
          </p:spPr>
        </p:pic>
        <p:sp>
          <p:nvSpPr>
            <p:cNvPr id="410" name="object 410"/>
            <p:cNvSpPr/>
            <p:nvPr/>
          </p:nvSpPr>
          <p:spPr>
            <a:xfrm>
              <a:off x="6478523" y="5392673"/>
              <a:ext cx="192405" cy="18415"/>
            </a:xfrm>
            <a:custGeom>
              <a:avLst/>
              <a:gdLst/>
              <a:ahLst/>
              <a:cxnLst/>
              <a:rect l="l" t="t" r="r" b="b"/>
              <a:pathLst>
                <a:path w="192404" h="18414">
                  <a:moveTo>
                    <a:pt x="0" y="0"/>
                  </a:moveTo>
                  <a:lnTo>
                    <a:pt x="9144" y="0"/>
                  </a:lnTo>
                </a:path>
                <a:path w="192404" h="18414">
                  <a:moveTo>
                    <a:pt x="0" y="4571"/>
                  </a:moveTo>
                  <a:lnTo>
                    <a:pt x="9144" y="4571"/>
                  </a:lnTo>
                </a:path>
                <a:path w="192404" h="18414">
                  <a:moveTo>
                    <a:pt x="182879" y="4571"/>
                  </a:moveTo>
                  <a:lnTo>
                    <a:pt x="192024" y="4571"/>
                  </a:lnTo>
                </a:path>
                <a:path w="192404" h="18414">
                  <a:moveTo>
                    <a:pt x="0" y="9143"/>
                  </a:moveTo>
                  <a:lnTo>
                    <a:pt x="9144" y="9143"/>
                  </a:lnTo>
                </a:path>
                <a:path w="192404" h="18414">
                  <a:moveTo>
                    <a:pt x="0" y="13715"/>
                  </a:moveTo>
                  <a:lnTo>
                    <a:pt x="9144" y="13715"/>
                  </a:lnTo>
                </a:path>
                <a:path w="192404" h="18414">
                  <a:moveTo>
                    <a:pt x="0" y="18287"/>
                  </a:moveTo>
                  <a:lnTo>
                    <a:pt x="9144" y="18287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1" name="object 411"/>
            <p:cNvPicPr/>
            <p:nvPr/>
          </p:nvPicPr>
          <p:blipFill>
            <a:blip r:embed="rId292" cstate="print"/>
            <a:stretch>
              <a:fillRect/>
            </a:stretch>
          </p:blipFill>
          <p:spPr>
            <a:xfrm>
              <a:off x="6524243" y="5362955"/>
              <a:ext cx="301752" cy="77724"/>
            </a:xfrm>
            <a:prstGeom prst="rect">
              <a:avLst/>
            </a:prstGeom>
          </p:spPr>
        </p:pic>
        <p:sp>
          <p:nvSpPr>
            <p:cNvPr id="412" name="object 412"/>
            <p:cNvSpPr/>
            <p:nvPr/>
          </p:nvSpPr>
          <p:spPr>
            <a:xfrm>
              <a:off x="6478523" y="541553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3" name="object 413"/>
            <p:cNvPicPr/>
            <p:nvPr/>
          </p:nvPicPr>
          <p:blipFill>
            <a:blip r:embed="rId293" cstate="print"/>
            <a:stretch>
              <a:fillRect/>
            </a:stretch>
          </p:blipFill>
          <p:spPr>
            <a:xfrm>
              <a:off x="6803135" y="5413247"/>
              <a:ext cx="18288" cy="4572"/>
            </a:xfrm>
            <a:prstGeom prst="rect">
              <a:avLst/>
            </a:prstGeom>
          </p:spPr>
        </p:pic>
        <p:sp>
          <p:nvSpPr>
            <p:cNvPr id="414" name="object 414"/>
            <p:cNvSpPr/>
            <p:nvPr/>
          </p:nvSpPr>
          <p:spPr>
            <a:xfrm>
              <a:off x="6478523" y="5420105"/>
              <a:ext cx="9525" cy="22860"/>
            </a:xfrm>
            <a:custGeom>
              <a:avLst/>
              <a:gdLst/>
              <a:ahLst/>
              <a:cxnLst/>
              <a:rect l="l" t="t" r="r" b="b"/>
              <a:pathLst>
                <a:path w="9525" h="22860">
                  <a:moveTo>
                    <a:pt x="0" y="0"/>
                  </a:moveTo>
                  <a:lnTo>
                    <a:pt x="9144" y="0"/>
                  </a:lnTo>
                </a:path>
                <a:path w="9525" h="22860">
                  <a:moveTo>
                    <a:pt x="0" y="4572"/>
                  </a:moveTo>
                  <a:lnTo>
                    <a:pt x="9144" y="4572"/>
                  </a:lnTo>
                </a:path>
                <a:path w="9525" h="22860">
                  <a:moveTo>
                    <a:pt x="0" y="9144"/>
                  </a:moveTo>
                  <a:lnTo>
                    <a:pt x="9144" y="9144"/>
                  </a:lnTo>
                </a:path>
                <a:path w="9525" h="22860">
                  <a:moveTo>
                    <a:pt x="0" y="13715"/>
                  </a:moveTo>
                  <a:lnTo>
                    <a:pt x="9144" y="13715"/>
                  </a:lnTo>
                </a:path>
                <a:path w="9525" h="22860">
                  <a:moveTo>
                    <a:pt x="0" y="18287"/>
                  </a:moveTo>
                  <a:lnTo>
                    <a:pt x="9144" y="18287"/>
                  </a:lnTo>
                </a:path>
                <a:path w="9525" h="22860">
                  <a:moveTo>
                    <a:pt x="0" y="22860"/>
                  </a:moveTo>
                  <a:lnTo>
                    <a:pt x="9144" y="2286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5" name="object 415"/>
            <p:cNvPicPr/>
            <p:nvPr/>
          </p:nvPicPr>
          <p:blipFill>
            <a:blip r:embed="rId294" cstate="print"/>
            <a:stretch>
              <a:fillRect/>
            </a:stretch>
          </p:blipFill>
          <p:spPr>
            <a:xfrm>
              <a:off x="6565391" y="5440679"/>
              <a:ext cx="59435" cy="9144"/>
            </a:xfrm>
            <a:prstGeom prst="rect">
              <a:avLst/>
            </a:prstGeom>
          </p:spPr>
        </p:pic>
        <p:sp>
          <p:nvSpPr>
            <p:cNvPr id="416" name="object 416"/>
            <p:cNvSpPr/>
            <p:nvPr/>
          </p:nvSpPr>
          <p:spPr>
            <a:xfrm>
              <a:off x="6478523" y="5447537"/>
              <a:ext cx="9525" cy="13970"/>
            </a:xfrm>
            <a:custGeom>
              <a:avLst/>
              <a:gdLst/>
              <a:ahLst/>
              <a:cxnLst/>
              <a:rect l="l" t="t" r="r" b="b"/>
              <a:pathLst>
                <a:path w="9525" h="13970">
                  <a:moveTo>
                    <a:pt x="0" y="0"/>
                  </a:moveTo>
                  <a:lnTo>
                    <a:pt x="9144" y="0"/>
                  </a:lnTo>
                </a:path>
                <a:path w="9525" h="13970">
                  <a:moveTo>
                    <a:pt x="0" y="4571"/>
                  </a:moveTo>
                  <a:lnTo>
                    <a:pt x="9144" y="4571"/>
                  </a:lnTo>
                </a:path>
                <a:path w="9525" h="13970">
                  <a:moveTo>
                    <a:pt x="0" y="9143"/>
                  </a:moveTo>
                  <a:lnTo>
                    <a:pt x="9144" y="9143"/>
                  </a:lnTo>
                </a:path>
                <a:path w="9525" h="13970">
                  <a:moveTo>
                    <a:pt x="0" y="13715"/>
                  </a:moveTo>
                  <a:lnTo>
                    <a:pt x="9144" y="13715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7" name="object 417"/>
            <p:cNvPicPr/>
            <p:nvPr/>
          </p:nvPicPr>
          <p:blipFill>
            <a:blip r:embed="rId295" cstate="print"/>
            <a:stretch>
              <a:fillRect/>
            </a:stretch>
          </p:blipFill>
          <p:spPr>
            <a:xfrm>
              <a:off x="6702551" y="5440679"/>
              <a:ext cx="59436" cy="41148"/>
            </a:xfrm>
            <a:prstGeom prst="rect">
              <a:avLst/>
            </a:prstGeom>
          </p:spPr>
        </p:pic>
        <p:sp>
          <p:nvSpPr>
            <p:cNvPr id="418" name="object 418"/>
            <p:cNvSpPr/>
            <p:nvPr/>
          </p:nvSpPr>
          <p:spPr>
            <a:xfrm>
              <a:off x="6478523" y="546582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9144" y="0"/>
                  </a:lnTo>
                </a:path>
                <a:path w="9525" h="9525">
                  <a:moveTo>
                    <a:pt x="0" y="4571"/>
                  </a:moveTo>
                  <a:lnTo>
                    <a:pt x="9144" y="4571"/>
                  </a:lnTo>
                </a:path>
                <a:path w="9525" h="9525">
                  <a:moveTo>
                    <a:pt x="0" y="9143"/>
                  </a:moveTo>
                  <a:lnTo>
                    <a:pt x="9144" y="9143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9" name="object 419"/>
            <p:cNvPicPr/>
            <p:nvPr/>
          </p:nvPicPr>
          <p:blipFill>
            <a:blip r:embed="rId296" cstate="print"/>
            <a:stretch>
              <a:fillRect/>
            </a:stretch>
          </p:blipFill>
          <p:spPr>
            <a:xfrm>
              <a:off x="6752843" y="5417820"/>
              <a:ext cx="73152" cy="68580"/>
            </a:xfrm>
            <a:prstGeom prst="rect">
              <a:avLst/>
            </a:prstGeom>
          </p:spPr>
        </p:pic>
        <p:sp>
          <p:nvSpPr>
            <p:cNvPr id="420" name="object 420"/>
            <p:cNvSpPr/>
            <p:nvPr/>
          </p:nvSpPr>
          <p:spPr>
            <a:xfrm>
              <a:off x="6478523" y="5479541"/>
              <a:ext cx="32384" cy="13970"/>
            </a:xfrm>
            <a:custGeom>
              <a:avLst/>
              <a:gdLst/>
              <a:ahLst/>
              <a:cxnLst/>
              <a:rect l="l" t="t" r="r" b="b"/>
              <a:pathLst>
                <a:path w="32384" h="13970">
                  <a:moveTo>
                    <a:pt x="0" y="0"/>
                  </a:moveTo>
                  <a:lnTo>
                    <a:pt x="9144" y="0"/>
                  </a:lnTo>
                </a:path>
                <a:path w="32384" h="13970">
                  <a:moveTo>
                    <a:pt x="0" y="4572"/>
                  </a:moveTo>
                  <a:lnTo>
                    <a:pt x="9144" y="4572"/>
                  </a:lnTo>
                </a:path>
                <a:path w="32384" h="13970">
                  <a:moveTo>
                    <a:pt x="0" y="9143"/>
                  </a:moveTo>
                  <a:lnTo>
                    <a:pt x="9144" y="9143"/>
                  </a:lnTo>
                </a:path>
                <a:path w="32384" h="13970">
                  <a:moveTo>
                    <a:pt x="0" y="13715"/>
                  </a:moveTo>
                  <a:lnTo>
                    <a:pt x="32003" y="13715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1" name="object 421"/>
            <p:cNvSpPr/>
            <p:nvPr/>
          </p:nvSpPr>
          <p:spPr>
            <a:xfrm>
              <a:off x="6478523" y="5497829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0" y="0"/>
                  </a:moveTo>
                  <a:lnTo>
                    <a:pt x="32003" y="0"/>
                  </a:lnTo>
                </a:path>
              </a:pathLst>
            </a:custGeom>
            <a:ln w="4572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2" name="object 422"/>
          <p:cNvGrpSpPr/>
          <p:nvPr/>
        </p:nvGrpSpPr>
        <p:grpSpPr>
          <a:xfrm>
            <a:off x="7479792" y="5257800"/>
            <a:ext cx="260985" cy="242570"/>
            <a:chOff x="7479792" y="5257800"/>
            <a:chExt cx="260985" cy="242570"/>
          </a:xfrm>
        </p:grpSpPr>
        <p:pic>
          <p:nvPicPr>
            <p:cNvPr id="423" name="object 423"/>
            <p:cNvPicPr/>
            <p:nvPr/>
          </p:nvPicPr>
          <p:blipFill>
            <a:blip r:embed="rId297" cstate="print"/>
            <a:stretch>
              <a:fillRect/>
            </a:stretch>
          </p:blipFill>
          <p:spPr>
            <a:xfrm>
              <a:off x="7703820" y="5257800"/>
              <a:ext cx="36576" cy="9144"/>
            </a:xfrm>
            <a:prstGeom prst="rect">
              <a:avLst/>
            </a:prstGeom>
          </p:spPr>
        </p:pic>
        <p:sp>
          <p:nvSpPr>
            <p:cNvPr id="424" name="object 424"/>
            <p:cNvSpPr/>
            <p:nvPr/>
          </p:nvSpPr>
          <p:spPr>
            <a:xfrm>
              <a:off x="7731252" y="5269230"/>
              <a:ext cx="9525" cy="105410"/>
            </a:xfrm>
            <a:custGeom>
              <a:avLst/>
              <a:gdLst/>
              <a:ahLst/>
              <a:cxnLst/>
              <a:rect l="l" t="t" r="r" b="b"/>
              <a:pathLst>
                <a:path w="9525" h="105410">
                  <a:moveTo>
                    <a:pt x="0" y="0"/>
                  </a:moveTo>
                  <a:lnTo>
                    <a:pt x="9144" y="0"/>
                  </a:lnTo>
                </a:path>
                <a:path w="9525" h="105410">
                  <a:moveTo>
                    <a:pt x="0" y="4572"/>
                  </a:moveTo>
                  <a:lnTo>
                    <a:pt x="9144" y="4572"/>
                  </a:lnTo>
                </a:path>
                <a:path w="9525" h="105410">
                  <a:moveTo>
                    <a:pt x="0" y="9144"/>
                  </a:moveTo>
                  <a:lnTo>
                    <a:pt x="9144" y="9144"/>
                  </a:lnTo>
                </a:path>
                <a:path w="9525" h="105410">
                  <a:moveTo>
                    <a:pt x="0" y="13715"/>
                  </a:moveTo>
                  <a:lnTo>
                    <a:pt x="9144" y="13715"/>
                  </a:lnTo>
                </a:path>
                <a:path w="9525" h="105410">
                  <a:moveTo>
                    <a:pt x="0" y="18287"/>
                  </a:moveTo>
                  <a:lnTo>
                    <a:pt x="9144" y="18287"/>
                  </a:lnTo>
                </a:path>
                <a:path w="9525" h="105410">
                  <a:moveTo>
                    <a:pt x="0" y="22860"/>
                  </a:moveTo>
                  <a:lnTo>
                    <a:pt x="9144" y="22860"/>
                  </a:lnTo>
                </a:path>
                <a:path w="9525" h="105410">
                  <a:moveTo>
                    <a:pt x="0" y="27432"/>
                  </a:moveTo>
                  <a:lnTo>
                    <a:pt x="9144" y="27432"/>
                  </a:lnTo>
                </a:path>
                <a:path w="9525" h="105410">
                  <a:moveTo>
                    <a:pt x="0" y="32003"/>
                  </a:moveTo>
                  <a:lnTo>
                    <a:pt x="9144" y="32003"/>
                  </a:lnTo>
                </a:path>
                <a:path w="9525" h="105410">
                  <a:moveTo>
                    <a:pt x="0" y="36575"/>
                  </a:moveTo>
                  <a:lnTo>
                    <a:pt x="9144" y="36575"/>
                  </a:lnTo>
                </a:path>
                <a:path w="9525" h="105410">
                  <a:moveTo>
                    <a:pt x="0" y="41148"/>
                  </a:moveTo>
                  <a:lnTo>
                    <a:pt x="9144" y="41148"/>
                  </a:lnTo>
                </a:path>
                <a:path w="9525" h="105410">
                  <a:moveTo>
                    <a:pt x="0" y="45720"/>
                  </a:moveTo>
                  <a:lnTo>
                    <a:pt x="9144" y="45720"/>
                  </a:lnTo>
                </a:path>
                <a:path w="9525" h="105410">
                  <a:moveTo>
                    <a:pt x="0" y="50291"/>
                  </a:moveTo>
                  <a:lnTo>
                    <a:pt x="9144" y="50291"/>
                  </a:lnTo>
                </a:path>
                <a:path w="9525" h="105410">
                  <a:moveTo>
                    <a:pt x="0" y="54863"/>
                  </a:moveTo>
                  <a:lnTo>
                    <a:pt x="9144" y="54863"/>
                  </a:lnTo>
                </a:path>
                <a:path w="9525" h="105410">
                  <a:moveTo>
                    <a:pt x="0" y="59436"/>
                  </a:moveTo>
                  <a:lnTo>
                    <a:pt x="9144" y="59436"/>
                  </a:lnTo>
                </a:path>
                <a:path w="9525" h="105410">
                  <a:moveTo>
                    <a:pt x="0" y="64008"/>
                  </a:moveTo>
                  <a:lnTo>
                    <a:pt x="9144" y="64008"/>
                  </a:lnTo>
                </a:path>
                <a:path w="9525" h="105410">
                  <a:moveTo>
                    <a:pt x="0" y="68579"/>
                  </a:moveTo>
                  <a:lnTo>
                    <a:pt x="9144" y="68579"/>
                  </a:lnTo>
                </a:path>
                <a:path w="9525" h="105410">
                  <a:moveTo>
                    <a:pt x="0" y="73151"/>
                  </a:moveTo>
                  <a:lnTo>
                    <a:pt x="9144" y="73151"/>
                  </a:lnTo>
                </a:path>
                <a:path w="9525" h="105410">
                  <a:moveTo>
                    <a:pt x="0" y="77724"/>
                  </a:moveTo>
                  <a:lnTo>
                    <a:pt x="9144" y="77724"/>
                  </a:lnTo>
                </a:path>
                <a:path w="9525" h="105410">
                  <a:moveTo>
                    <a:pt x="0" y="82296"/>
                  </a:moveTo>
                  <a:lnTo>
                    <a:pt x="9144" y="82296"/>
                  </a:lnTo>
                </a:path>
                <a:path w="9525" h="105410">
                  <a:moveTo>
                    <a:pt x="0" y="86867"/>
                  </a:moveTo>
                  <a:lnTo>
                    <a:pt x="9144" y="86867"/>
                  </a:lnTo>
                </a:path>
                <a:path w="9525" h="105410">
                  <a:moveTo>
                    <a:pt x="0" y="91439"/>
                  </a:moveTo>
                  <a:lnTo>
                    <a:pt x="9144" y="91439"/>
                  </a:lnTo>
                </a:path>
                <a:path w="9525" h="105410">
                  <a:moveTo>
                    <a:pt x="0" y="96012"/>
                  </a:moveTo>
                  <a:lnTo>
                    <a:pt x="9144" y="96012"/>
                  </a:lnTo>
                </a:path>
                <a:path w="9525" h="105410">
                  <a:moveTo>
                    <a:pt x="0" y="100584"/>
                  </a:moveTo>
                  <a:lnTo>
                    <a:pt x="9144" y="100584"/>
                  </a:lnTo>
                </a:path>
                <a:path w="9525" h="105410">
                  <a:moveTo>
                    <a:pt x="0" y="105155"/>
                  </a:moveTo>
                  <a:lnTo>
                    <a:pt x="9144" y="105155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5" name="object 425"/>
            <p:cNvPicPr/>
            <p:nvPr/>
          </p:nvPicPr>
          <p:blipFill>
            <a:blip r:embed="rId298" cstate="print"/>
            <a:stretch>
              <a:fillRect/>
            </a:stretch>
          </p:blipFill>
          <p:spPr>
            <a:xfrm>
              <a:off x="7648956" y="5372100"/>
              <a:ext cx="18288" cy="9144"/>
            </a:xfrm>
            <a:prstGeom prst="rect">
              <a:avLst/>
            </a:prstGeom>
          </p:spPr>
        </p:pic>
        <p:sp>
          <p:nvSpPr>
            <p:cNvPr id="426" name="object 426"/>
            <p:cNvSpPr/>
            <p:nvPr/>
          </p:nvSpPr>
          <p:spPr>
            <a:xfrm>
              <a:off x="7731252" y="5378957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9144" y="0"/>
                  </a:lnTo>
                </a:path>
                <a:path w="9525" h="9525">
                  <a:moveTo>
                    <a:pt x="0" y="4572"/>
                  </a:moveTo>
                  <a:lnTo>
                    <a:pt x="9144" y="4572"/>
                  </a:lnTo>
                </a:path>
                <a:path w="9525" h="9525">
                  <a:moveTo>
                    <a:pt x="0" y="9144"/>
                  </a:moveTo>
                  <a:lnTo>
                    <a:pt x="9144" y="9144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7" name="object 427"/>
            <p:cNvPicPr/>
            <p:nvPr/>
          </p:nvPicPr>
          <p:blipFill>
            <a:blip r:embed="rId299" cstate="print"/>
            <a:stretch>
              <a:fillRect/>
            </a:stretch>
          </p:blipFill>
          <p:spPr>
            <a:xfrm>
              <a:off x="7498080" y="5330952"/>
              <a:ext cx="105156" cy="18288"/>
            </a:xfrm>
            <a:prstGeom prst="rect">
              <a:avLst/>
            </a:prstGeom>
          </p:spPr>
        </p:pic>
        <p:pic>
          <p:nvPicPr>
            <p:cNvPr id="428" name="object 428"/>
            <p:cNvPicPr/>
            <p:nvPr/>
          </p:nvPicPr>
          <p:blipFill>
            <a:blip r:embed="rId300" cstate="print"/>
            <a:stretch>
              <a:fillRect/>
            </a:stretch>
          </p:blipFill>
          <p:spPr>
            <a:xfrm>
              <a:off x="7488936" y="5349239"/>
              <a:ext cx="114299" cy="18288"/>
            </a:xfrm>
            <a:prstGeom prst="rect">
              <a:avLst/>
            </a:prstGeom>
          </p:spPr>
        </p:pic>
        <p:pic>
          <p:nvPicPr>
            <p:cNvPr id="429" name="object 429"/>
            <p:cNvPicPr/>
            <p:nvPr/>
          </p:nvPicPr>
          <p:blipFill>
            <a:blip r:embed="rId301" cstate="print"/>
            <a:stretch>
              <a:fillRect/>
            </a:stretch>
          </p:blipFill>
          <p:spPr>
            <a:xfrm>
              <a:off x="7644384" y="5381244"/>
              <a:ext cx="18288" cy="18288"/>
            </a:xfrm>
            <a:prstGeom prst="rect">
              <a:avLst/>
            </a:prstGeom>
          </p:spPr>
        </p:pic>
        <p:sp>
          <p:nvSpPr>
            <p:cNvPr id="430" name="object 430"/>
            <p:cNvSpPr/>
            <p:nvPr/>
          </p:nvSpPr>
          <p:spPr>
            <a:xfrm>
              <a:off x="7731252" y="5392673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1" name="object 431"/>
            <p:cNvPicPr/>
            <p:nvPr/>
          </p:nvPicPr>
          <p:blipFill>
            <a:blip r:embed="rId302" cstate="print"/>
            <a:stretch>
              <a:fillRect/>
            </a:stretch>
          </p:blipFill>
          <p:spPr>
            <a:xfrm>
              <a:off x="7488936" y="5367528"/>
              <a:ext cx="64008" cy="45720"/>
            </a:xfrm>
            <a:prstGeom prst="rect">
              <a:avLst/>
            </a:prstGeom>
          </p:spPr>
        </p:pic>
        <p:sp>
          <p:nvSpPr>
            <p:cNvPr id="432" name="object 432"/>
            <p:cNvSpPr/>
            <p:nvPr/>
          </p:nvSpPr>
          <p:spPr>
            <a:xfrm>
              <a:off x="7731252" y="539724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9144" y="0"/>
                  </a:lnTo>
                </a:path>
                <a:path w="9525" h="9525">
                  <a:moveTo>
                    <a:pt x="0" y="4572"/>
                  </a:moveTo>
                  <a:lnTo>
                    <a:pt x="9144" y="4572"/>
                  </a:lnTo>
                </a:path>
                <a:path w="9525" h="9525">
                  <a:moveTo>
                    <a:pt x="0" y="9144"/>
                  </a:moveTo>
                  <a:lnTo>
                    <a:pt x="9144" y="9144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3" name="object 433"/>
            <p:cNvPicPr/>
            <p:nvPr/>
          </p:nvPicPr>
          <p:blipFill>
            <a:blip r:embed="rId303" cstate="print"/>
            <a:stretch>
              <a:fillRect/>
            </a:stretch>
          </p:blipFill>
          <p:spPr>
            <a:xfrm>
              <a:off x="7589520" y="5399531"/>
              <a:ext cx="86868" cy="13716"/>
            </a:xfrm>
            <a:prstGeom prst="rect">
              <a:avLst/>
            </a:prstGeom>
          </p:spPr>
        </p:pic>
        <p:sp>
          <p:nvSpPr>
            <p:cNvPr id="434" name="object 434"/>
            <p:cNvSpPr/>
            <p:nvPr/>
          </p:nvSpPr>
          <p:spPr>
            <a:xfrm>
              <a:off x="7589520" y="541096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7474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5" name="object 435"/>
            <p:cNvSpPr/>
            <p:nvPr/>
          </p:nvSpPr>
          <p:spPr>
            <a:xfrm>
              <a:off x="7484364" y="5410962"/>
              <a:ext cx="256540" cy="5080"/>
            </a:xfrm>
            <a:custGeom>
              <a:avLst/>
              <a:gdLst/>
              <a:ahLst/>
              <a:cxnLst/>
              <a:rect l="l" t="t" r="r" b="b"/>
              <a:pathLst>
                <a:path w="256540" h="5079">
                  <a:moveTo>
                    <a:pt x="246888" y="0"/>
                  </a:moveTo>
                  <a:lnTo>
                    <a:pt x="256032" y="0"/>
                  </a:lnTo>
                </a:path>
                <a:path w="256540" h="5079">
                  <a:moveTo>
                    <a:pt x="0" y="4571"/>
                  </a:moveTo>
                  <a:lnTo>
                    <a:pt x="18288" y="4571"/>
                  </a:lnTo>
                </a:path>
                <a:path w="256540" h="5079">
                  <a:moveTo>
                    <a:pt x="41148" y="4571"/>
                  </a:moveTo>
                  <a:lnTo>
                    <a:pt x="59436" y="4571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6" name="object 436"/>
            <p:cNvSpPr/>
            <p:nvPr/>
          </p:nvSpPr>
          <p:spPr>
            <a:xfrm>
              <a:off x="7584948" y="541553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0808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7" name="object 437"/>
            <p:cNvSpPr/>
            <p:nvPr/>
          </p:nvSpPr>
          <p:spPr>
            <a:xfrm>
              <a:off x="7639812" y="5415534"/>
              <a:ext cx="100965" cy="5080"/>
            </a:xfrm>
            <a:custGeom>
              <a:avLst/>
              <a:gdLst/>
              <a:ahLst/>
              <a:cxnLst/>
              <a:rect l="l" t="t" r="r" b="b"/>
              <a:pathLst>
                <a:path w="100965" h="5079">
                  <a:moveTo>
                    <a:pt x="0" y="0"/>
                  </a:moveTo>
                  <a:lnTo>
                    <a:pt x="13716" y="0"/>
                  </a:lnTo>
                </a:path>
                <a:path w="100965" h="5079">
                  <a:moveTo>
                    <a:pt x="91440" y="0"/>
                  </a:moveTo>
                  <a:lnTo>
                    <a:pt x="100584" y="0"/>
                  </a:lnTo>
                </a:path>
                <a:path w="100965" h="5079">
                  <a:moveTo>
                    <a:pt x="91440" y="4572"/>
                  </a:moveTo>
                  <a:lnTo>
                    <a:pt x="100584" y="4572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8" name="object 438"/>
            <p:cNvPicPr/>
            <p:nvPr/>
          </p:nvPicPr>
          <p:blipFill>
            <a:blip r:embed="rId304" cstate="print"/>
            <a:stretch>
              <a:fillRect/>
            </a:stretch>
          </p:blipFill>
          <p:spPr>
            <a:xfrm>
              <a:off x="7479792" y="5417820"/>
              <a:ext cx="109728" cy="9144"/>
            </a:xfrm>
            <a:prstGeom prst="rect">
              <a:avLst/>
            </a:prstGeom>
          </p:spPr>
        </p:pic>
        <p:pic>
          <p:nvPicPr>
            <p:cNvPr id="439" name="object 439"/>
            <p:cNvPicPr/>
            <p:nvPr/>
          </p:nvPicPr>
          <p:blipFill>
            <a:blip r:embed="rId305" cstate="print"/>
            <a:stretch>
              <a:fillRect/>
            </a:stretch>
          </p:blipFill>
          <p:spPr>
            <a:xfrm>
              <a:off x="7635240" y="5417820"/>
              <a:ext cx="18288" cy="13716"/>
            </a:xfrm>
            <a:prstGeom prst="rect">
              <a:avLst/>
            </a:prstGeom>
          </p:spPr>
        </p:pic>
        <p:sp>
          <p:nvSpPr>
            <p:cNvPr id="440" name="object 440"/>
            <p:cNvSpPr/>
            <p:nvPr/>
          </p:nvSpPr>
          <p:spPr>
            <a:xfrm>
              <a:off x="7731252" y="5424678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1" name="object 441"/>
            <p:cNvPicPr/>
            <p:nvPr/>
          </p:nvPicPr>
          <p:blipFill>
            <a:blip r:embed="rId306" cstate="print"/>
            <a:stretch>
              <a:fillRect/>
            </a:stretch>
          </p:blipFill>
          <p:spPr>
            <a:xfrm>
              <a:off x="7479792" y="5422392"/>
              <a:ext cx="105156" cy="9144"/>
            </a:xfrm>
            <a:prstGeom prst="rect">
              <a:avLst/>
            </a:prstGeom>
          </p:spPr>
        </p:pic>
        <p:sp>
          <p:nvSpPr>
            <p:cNvPr id="442" name="object 442"/>
            <p:cNvSpPr/>
            <p:nvPr/>
          </p:nvSpPr>
          <p:spPr>
            <a:xfrm>
              <a:off x="7731252" y="5429250"/>
              <a:ext cx="9525" cy="5080"/>
            </a:xfrm>
            <a:custGeom>
              <a:avLst/>
              <a:gdLst/>
              <a:ahLst/>
              <a:cxnLst/>
              <a:rect l="l" t="t" r="r" b="b"/>
              <a:pathLst>
                <a:path w="9525" h="5079">
                  <a:moveTo>
                    <a:pt x="0" y="0"/>
                  </a:moveTo>
                  <a:lnTo>
                    <a:pt x="9144" y="0"/>
                  </a:lnTo>
                </a:path>
                <a:path w="9525" h="5079">
                  <a:moveTo>
                    <a:pt x="0" y="4571"/>
                  </a:moveTo>
                  <a:lnTo>
                    <a:pt x="9144" y="4571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3" name="object 443"/>
            <p:cNvPicPr/>
            <p:nvPr/>
          </p:nvPicPr>
          <p:blipFill>
            <a:blip r:embed="rId307" cstate="print"/>
            <a:stretch>
              <a:fillRect/>
            </a:stretch>
          </p:blipFill>
          <p:spPr>
            <a:xfrm>
              <a:off x="7484364" y="5431536"/>
              <a:ext cx="91440" cy="9144"/>
            </a:xfrm>
            <a:prstGeom prst="rect">
              <a:avLst/>
            </a:prstGeom>
          </p:spPr>
        </p:pic>
        <p:sp>
          <p:nvSpPr>
            <p:cNvPr id="444" name="object 444"/>
            <p:cNvSpPr/>
            <p:nvPr/>
          </p:nvSpPr>
          <p:spPr>
            <a:xfrm>
              <a:off x="7731252" y="543839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5" name="object 445"/>
            <p:cNvPicPr/>
            <p:nvPr/>
          </p:nvPicPr>
          <p:blipFill>
            <a:blip r:embed="rId308" cstate="print"/>
            <a:stretch>
              <a:fillRect/>
            </a:stretch>
          </p:blipFill>
          <p:spPr>
            <a:xfrm>
              <a:off x="7575804" y="5426963"/>
              <a:ext cx="73152" cy="22860"/>
            </a:xfrm>
            <a:prstGeom prst="rect">
              <a:avLst/>
            </a:prstGeom>
          </p:spPr>
        </p:pic>
        <p:sp>
          <p:nvSpPr>
            <p:cNvPr id="446" name="object 446"/>
            <p:cNvSpPr/>
            <p:nvPr/>
          </p:nvSpPr>
          <p:spPr>
            <a:xfrm>
              <a:off x="7630668" y="5442965"/>
              <a:ext cx="109855" cy="9525"/>
            </a:xfrm>
            <a:custGeom>
              <a:avLst/>
              <a:gdLst/>
              <a:ahLst/>
              <a:cxnLst/>
              <a:rect l="l" t="t" r="r" b="b"/>
              <a:pathLst>
                <a:path w="109854" h="9525">
                  <a:moveTo>
                    <a:pt x="100583" y="0"/>
                  </a:moveTo>
                  <a:lnTo>
                    <a:pt x="109728" y="0"/>
                  </a:lnTo>
                </a:path>
                <a:path w="109854" h="9525">
                  <a:moveTo>
                    <a:pt x="100583" y="4572"/>
                  </a:moveTo>
                  <a:lnTo>
                    <a:pt x="109728" y="4572"/>
                  </a:lnTo>
                </a:path>
                <a:path w="109854" h="9525">
                  <a:moveTo>
                    <a:pt x="0" y="9143"/>
                  </a:moveTo>
                  <a:lnTo>
                    <a:pt x="13716" y="9143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7" name="object 447"/>
            <p:cNvSpPr/>
            <p:nvPr/>
          </p:nvSpPr>
          <p:spPr>
            <a:xfrm>
              <a:off x="7671816" y="5452110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686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8" name="object 448"/>
            <p:cNvSpPr/>
            <p:nvPr/>
          </p:nvSpPr>
          <p:spPr>
            <a:xfrm>
              <a:off x="7667244" y="5452110"/>
              <a:ext cx="73660" cy="9525"/>
            </a:xfrm>
            <a:custGeom>
              <a:avLst/>
              <a:gdLst/>
              <a:ahLst/>
              <a:cxnLst/>
              <a:rect l="l" t="t" r="r" b="b"/>
              <a:pathLst>
                <a:path w="73659" h="9525">
                  <a:moveTo>
                    <a:pt x="64007" y="0"/>
                  </a:moveTo>
                  <a:lnTo>
                    <a:pt x="73152" y="0"/>
                  </a:lnTo>
                </a:path>
                <a:path w="73659" h="9525">
                  <a:moveTo>
                    <a:pt x="0" y="4572"/>
                  </a:moveTo>
                  <a:lnTo>
                    <a:pt x="4572" y="4572"/>
                  </a:lnTo>
                </a:path>
                <a:path w="73659" h="9525">
                  <a:moveTo>
                    <a:pt x="64007" y="4572"/>
                  </a:moveTo>
                  <a:lnTo>
                    <a:pt x="73152" y="4572"/>
                  </a:lnTo>
                </a:path>
                <a:path w="73659" h="9525">
                  <a:moveTo>
                    <a:pt x="64007" y="9144"/>
                  </a:moveTo>
                  <a:lnTo>
                    <a:pt x="73152" y="9144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9" name="object 449"/>
            <p:cNvPicPr/>
            <p:nvPr/>
          </p:nvPicPr>
          <p:blipFill>
            <a:blip r:embed="rId309" cstate="print"/>
            <a:stretch>
              <a:fillRect/>
            </a:stretch>
          </p:blipFill>
          <p:spPr>
            <a:xfrm>
              <a:off x="7626096" y="5454395"/>
              <a:ext cx="45720" cy="22860"/>
            </a:xfrm>
            <a:prstGeom prst="rect">
              <a:avLst/>
            </a:prstGeom>
          </p:spPr>
        </p:pic>
        <p:sp>
          <p:nvSpPr>
            <p:cNvPr id="450" name="object 450"/>
            <p:cNvSpPr/>
            <p:nvPr/>
          </p:nvSpPr>
          <p:spPr>
            <a:xfrm>
              <a:off x="7662672" y="5465825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1" name="object 451"/>
            <p:cNvSpPr/>
            <p:nvPr/>
          </p:nvSpPr>
          <p:spPr>
            <a:xfrm>
              <a:off x="7703820" y="5465825"/>
              <a:ext cx="36830" cy="27940"/>
            </a:xfrm>
            <a:custGeom>
              <a:avLst/>
              <a:gdLst/>
              <a:ahLst/>
              <a:cxnLst/>
              <a:rect l="l" t="t" r="r" b="b"/>
              <a:pathLst>
                <a:path w="36829" h="27939">
                  <a:moveTo>
                    <a:pt x="27431" y="0"/>
                  </a:moveTo>
                  <a:lnTo>
                    <a:pt x="36576" y="0"/>
                  </a:lnTo>
                </a:path>
                <a:path w="36829" h="27939">
                  <a:moveTo>
                    <a:pt x="27431" y="4571"/>
                  </a:moveTo>
                  <a:lnTo>
                    <a:pt x="36576" y="4571"/>
                  </a:lnTo>
                </a:path>
                <a:path w="36829" h="27939">
                  <a:moveTo>
                    <a:pt x="27431" y="9143"/>
                  </a:moveTo>
                  <a:lnTo>
                    <a:pt x="36576" y="9143"/>
                  </a:lnTo>
                </a:path>
                <a:path w="36829" h="27939">
                  <a:moveTo>
                    <a:pt x="27431" y="13715"/>
                  </a:moveTo>
                  <a:lnTo>
                    <a:pt x="36576" y="13715"/>
                  </a:lnTo>
                </a:path>
                <a:path w="36829" h="27939">
                  <a:moveTo>
                    <a:pt x="27431" y="18287"/>
                  </a:moveTo>
                  <a:lnTo>
                    <a:pt x="36576" y="18287"/>
                  </a:lnTo>
                </a:path>
                <a:path w="36829" h="27939">
                  <a:moveTo>
                    <a:pt x="27431" y="22859"/>
                  </a:moveTo>
                  <a:lnTo>
                    <a:pt x="36576" y="22859"/>
                  </a:lnTo>
                </a:path>
                <a:path w="36829" h="27939">
                  <a:moveTo>
                    <a:pt x="0" y="27431"/>
                  </a:moveTo>
                  <a:lnTo>
                    <a:pt x="36576" y="27431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2" name="object 452"/>
            <p:cNvSpPr/>
            <p:nvPr/>
          </p:nvSpPr>
          <p:spPr>
            <a:xfrm>
              <a:off x="7703820" y="5497829"/>
              <a:ext cx="36830" cy="0"/>
            </a:xfrm>
            <a:custGeom>
              <a:avLst/>
              <a:gdLst/>
              <a:ahLst/>
              <a:cxnLst/>
              <a:rect l="l" t="t" r="r" b="b"/>
              <a:pathLst>
                <a:path w="36829">
                  <a:moveTo>
                    <a:pt x="0" y="0"/>
                  </a:moveTo>
                  <a:lnTo>
                    <a:pt x="36576" y="0"/>
                  </a:lnTo>
                </a:path>
              </a:pathLst>
            </a:custGeom>
            <a:ln w="4572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3" name="object 453"/>
          <p:cNvGrpSpPr/>
          <p:nvPr/>
        </p:nvGrpSpPr>
        <p:grpSpPr>
          <a:xfrm>
            <a:off x="5943600" y="5257800"/>
            <a:ext cx="393700" cy="242570"/>
            <a:chOff x="5943600" y="5257800"/>
            <a:chExt cx="393700" cy="242570"/>
          </a:xfrm>
        </p:grpSpPr>
        <p:pic>
          <p:nvPicPr>
            <p:cNvPr id="454" name="object 454"/>
            <p:cNvPicPr/>
            <p:nvPr/>
          </p:nvPicPr>
          <p:blipFill>
            <a:blip r:embed="rId310" cstate="print"/>
            <a:stretch>
              <a:fillRect/>
            </a:stretch>
          </p:blipFill>
          <p:spPr>
            <a:xfrm>
              <a:off x="5975603" y="5257800"/>
              <a:ext cx="297180" cy="18288"/>
            </a:xfrm>
            <a:prstGeom prst="rect">
              <a:avLst/>
            </a:prstGeom>
          </p:spPr>
        </p:pic>
        <p:pic>
          <p:nvPicPr>
            <p:cNvPr id="455" name="object 455"/>
            <p:cNvPicPr/>
            <p:nvPr/>
          </p:nvPicPr>
          <p:blipFill>
            <a:blip r:embed="rId311" cstate="print"/>
            <a:stretch>
              <a:fillRect/>
            </a:stretch>
          </p:blipFill>
          <p:spPr>
            <a:xfrm>
              <a:off x="6030468" y="5276088"/>
              <a:ext cx="237744" cy="9144"/>
            </a:xfrm>
            <a:prstGeom prst="rect">
              <a:avLst/>
            </a:prstGeom>
          </p:spPr>
        </p:pic>
        <p:pic>
          <p:nvPicPr>
            <p:cNvPr id="456" name="object 456"/>
            <p:cNvPicPr/>
            <p:nvPr/>
          </p:nvPicPr>
          <p:blipFill>
            <a:blip r:embed="rId312" cstate="print"/>
            <a:stretch>
              <a:fillRect/>
            </a:stretch>
          </p:blipFill>
          <p:spPr>
            <a:xfrm>
              <a:off x="5971032" y="5276088"/>
              <a:ext cx="9144" cy="9144"/>
            </a:xfrm>
            <a:prstGeom prst="rect">
              <a:avLst/>
            </a:prstGeom>
          </p:spPr>
        </p:pic>
        <p:sp>
          <p:nvSpPr>
            <p:cNvPr id="457" name="object 457"/>
            <p:cNvSpPr/>
            <p:nvPr/>
          </p:nvSpPr>
          <p:spPr>
            <a:xfrm>
              <a:off x="6048755" y="5287517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8" name="object 458"/>
            <p:cNvPicPr/>
            <p:nvPr/>
          </p:nvPicPr>
          <p:blipFill>
            <a:blip r:embed="rId313" cstate="print"/>
            <a:stretch>
              <a:fillRect/>
            </a:stretch>
          </p:blipFill>
          <p:spPr>
            <a:xfrm>
              <a:off x="5966459" y="5285232"/>
              <a:ext cx="9144" cy="9144"/>
            </a:xfrm>
            <a:prstGeom prst="rect">
              <a:avLst/>
            </a:prstGeom>
          </p:spPr>
        </p:pic>
        <p:sp>
          <p:nvSpPr>
            <p:cNvPr id="459" name="object 459"/>
            <p:cNvSpPr/>
            <p:nvPr/>
          </p:nvSpPr>
          <p:spPr>
            <a:xfrm>
              <a:off x="6048755" y="5292090"/>
              <a:ext cx="18415" cy="9525"/>
            </a:xfrm>
            <a:custGeom>
              <a:avLst/>
              <a:gdLst/>
              <a:ahLst/>
              <a:cxnLst/>
              <a:rect l="l" t="t" r="r" b="b"/>
              <a:pathLst>
                <a:path w="18414" h="9525">
                  <a:moveTo>
                    <a:pt x="0" y="0"/>
                  </a:moveTo>
                  <a:lnTo>
                    <a:pt x="18288" y="0"/>
                  </a:lnTo>
                </a:path>
                <a:path w="18414" h="9525">
                  <a:moveTo>
                    <a:pt x="0" y="4572"/>
                  </a:moveTo>
                  <a:lnTo>
                    <a:pt x="18288" y="4572"/>
                  </a:lnTo>
                </a:path>
                <a:path w="18414" h="9525">
                  <a:moveTo>
                    <a:pt x="0" y="9143"/>
                  </a:moveTo>
                  <a:lnTo>
                    <a:pt x="18288" y="9143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0" name="object 460"/>
            <p:cNvPicPr/>
            <p:nvPr/>
          </p:nvPicPr>
          <p:blipFill>
            <a:blip r:embed="rId314" cstate="print"/>
            <a:stretch>
              <a:fillRect/>
            </a:stretch>
          </p:blipFill>
          <p:spPr>
            <a:xfrm>
              <a:off x="6222491" y="5285232"/>
              <a:ext cx="27432" cy="32004"/>
            </a:xfrm>
            <a:prstGeom prst="rect">
              <a:avLst/>
            </a:prstGeom>
          </p:spPr>
        </p:pic>
        <p:pic>
          <p:nvPicPr>
            <p:cNvPr id="461" name="object 461"/>
            <p:cNvPicPr/>
            <p:nvPr/>
          </p:nvPicPr>
          <p:blipFill>
            <a:blip r:embed="rId315" cstate="print"/>
            <a:stretch>
              <a:fillRect/>
            </a:stretch>
          </p:blipFill>
          <p:spPr>
            <a:xfrm>
              <a:off x="6131052" y="5285232"/>
              <a:ext cx="32004" cy="32004"/>
            </a:xfrm>
            <a:prstGeom prst="rect">
              <a:avLst/>
            </a:prstGeom>
          </p:spPr>
        </p:pic>
        <p:sp>
          <p:nvSpPr>
            <p:cNvPr id="462" name="object 462"/>
            <p:cNvSpPr/>
            <p:nvPr/>
          </p:nvSpPr>
          <p:spPr>
            <a:xfrm>
              <a:off x="6048755" y="5305805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3" name="object 463"/>
            <p:cNvPicPr/>
            <p:nvPr/>
          </p:nvPicPr>
          <p:blipFill>
            <a:blip r:embed="rId316" cstate="print"/>
            <a:stretch>
              <a:fillRect/>
            </a:stretch>
          </p:blipFill>
          <p:spPr>
            <a:xfrm>
              <a:off x="6126479" y="5317235"/>
              <a:ext cx="36575" cy="9144"/>
            </a:xfrm>
            <a:prstGeom prst="rect">
              <a:avLst/>
            </a:prstGeom>
          </p:spPr>
        </p:pic>
        <p:pic>
          <p:nvPicPr>
            <p:cNvPr id="464" name="object 464"/>
            <p:cNvPicPr/>
            <p:nvPr/>
          </p:nvPicPr>
          <p:blipFill>
            <a:blip r:embed="rId317" cstate="print"/>
            <a:stretch>
              <a:fillRect/>
            </a:stretch>
          </p:blipFill>
          <p:spPr>
            <a:xfrm>
              <a:off x="6048755" y="5308092"/>
              <a:ext cx="22859" cy="27432"/>
            </a:xfrm>
            <a:prstGeom prst="rect">
              <a:avLst/>
            </a:prstGeom>
          </p:spPr>
        </p:pic>
        <p:sp>
          <p:nvSpPr>
            <p:cNvPr id="465" name="object 465"/>
            <p:cNvSpPr/>
            <p:nvPr/>
          </p:nvSpPr>
          <p:spPr>
            <a:xfrm>
              <a:off x="6140195" y="5324093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>
                  <a:moveTo>
                    <a:pt x="0" y="0"/>
                  </a:moveTo>
                  <a:lnTo>
                    <a:pt x="22859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6" name="object 466"/>
            <p:cNvPicPr/>
            <p:nvPr/>
          </p:nvPicPr>
          <p:blipFill>
            <a:blip r:embed="rId318" cstate="print"/>
            <a:stretch>
              <a:fillRect/>
            </a:stretch>
          </p:blipFill>
          <p:spPr>
            <a:xfrm>
              <a:off x="6217920" y="5317235"/>
              <a:ext cx="9144" cy="9144"/>
            </a:xfrm>
            <a:prstGeom prst="rect">
              <a:avLst/>
            </a:prstGeom>
          </p:spPr>
        </p:pic>
        <p:sp>
          <p:nvSpPr>
            <p:cNvPr id="467" name="object 467"/>
            <p:cNvSpPr/>
            <p:nvPr/>
          </p:nvSpPr>
          <p:spPr>
            <a:xfrm>
              <a:off x="6126479" y="5328665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1818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8" name="object 468"/>
            <p:cNvSpPr/>
            <p:nvPr/>
          </p:nvSpPr>
          <p:spPr>
            <a:xfrm>
              <a:off x="6140195" y="5328665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>
                  <a:moveTo>
                    <a:pt x="0" y="0"/>
                  </a:moveTo>
                  <a:lnTo>
                    <a:pt x="22859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9" name="object 469"/>
            <p:cNvPicPr/>
            <p:nvPr/>
          </p:nvPicPr>
          <p:blipFill>
            <a:blip r:embed="rId319" cstate="print"/>
            <a:stretch>
              <a:fillRect/>
            </a:stretch>
          </p:blipFill>
          <p:spPr>
            <a:xfrm>
              <a:off x="5943600" y="5294376"/>
              <a:ext cx="32004" cy="64008"/>
            </a:xfrm>
            <a:prstGeom prst="rect">
              <a:avLst/>
            </a:prstGeom>
          </p:spPr>
        </p:pic>
        <p:sp>
          <p:nvSpPr>
            <p:cNvPr id="470" name="object 470"/>
            <p:cNvSpPr/>
            <p:nvPr/>
          </p:nvSpPr>
          <p:spPr>
            <a:xfrm>
              <a:off x="6048755" y="5337810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>
                  <a:moveTo>
                    <a:pt x="0" y="0"/>
                  </a:moveTo>
                  <a:lnTo>
                    <a:pt x="22859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1" name="object 471"/>
            <p:cNvPicPr/>
            <p:nvPr/>
          </p:nvPicPr>
          <p:blipFill>
            <a:blip r:embed="rId320" cstate="print"/>
            <a:stretch>
              <a:fillRect/>
            </a:stretch>
          </p:blipFill>
          <p:spPr>
            <a:xfrm>
              <a:off x="6204204" y="5326380"/>
              <a:ext cx="18288" cy="18288"/>
            </a:xfrm>
            <a:prstGeom prst="rect">
              <a:avLst/>
            </a:prstGeom>
          </p:spPr>
        </p:pic>
        <p:pic>
          <p:nvPicPr>
            <p:cNvPr id="472" name="object 472"/>
            <p:cNvPicPr/>
            <p:nvPr/>
          </p:nvPicPr>
          <p:blipFill>
            <a:blip r:embed="rId321" cstate="print"/>
            <a:stretch>
              <a:fillRect/>
            </a:stretch>
          </p:blipFill>
          <p:spPr>
            <a:xfrm>
              <a:off x="6117336" y="5330952"/>
              <a:ext cx="45719" cy="13716"/>
            </a:xfrm>
            <a:prstGeom prst="rect">
              <a:avLst/>
            </a:prstGeom>
          </p:spPr>
        </p:pic>
        <p:pic>
          <p:nvPicPr>
            <p:cNvPr id="473" name="object 473"/>
            <p:cNvPicPr/>
            <p:nvPr/>
          </p:nvPicPr>
          <p:blipFill>
            <a:blip r:embed="rId322" cstate="print"/>
            <a:stretch>
              <a:fillRect/>
            </a:stretch>
          </p:blipFill>
          <p:spPr>
            <a:xfrm>
              <a:off x="6048755" y="5340096"/>
              <a:ext cx="160020" cy="22860"/>
            </a:xfrm>
            <a:prstGeom prst="rect">
              <a:avLst/>
            </a:prstGeom>
          </p:spPr>
        </p:pic>
        <p:pic>
          <p:nvPicPr>
            <p:cNvPr id="474" name="object 474"/>
            <p:cNvPicPr/>
            <p:nvPr/>
          </p:nvPicPr>
          <p:blipFill>
            <a:blip r:embed="rId323" cstate="print"/>
            <a:stretch>
              <a:fillRect/>
            </a:stretch>
          </p:blipFill>
          <p:spPr>
            <a:xfrm>
              <a:off x="6048755" y="5349239"/>
              <a:ext cx="160020" cy="22860"/>
            </a:xfrm>
            <a:prstGeom prst="rect">
              <a:avLst/>
            </a:prstGeom>
          </p:spPr>
        </p:pic>
        <p:pic>
          <p:nvPicPr>
            <p:cNvPr id="475" name="object 475"/>
            <p:cNvPicPr/>
            <p:nvPr/>
          </p:nvPicPr>
          <p:blipFill>
            <a:blip r:embed="rId324" cstate="print"/>
            <a:stretch>
              <a:fillRect/>
            </a:stretch>
          </p:blipFill>
          <p:spPr>
            <a:xfrm>
              <a:off x="6053328" y="5367528"/>
              <a:ext cx="146304" cy="13716"/>
            </a:xfrm>
            <a:prstGeom prst="rect">
              <a:avLst/>
            </a:prstGeom>
          </p:spPr>
        </p:pic>
        <p:pic>
          <p:nvPicPr>
            <p:cNvPr id="476" name="object 476"/>
            <p:cNvPicPr/>
            <p:nvPr/>
          </p:nvPicPr>
          <p:blipFill>
            <a:blip r:embed="rId325" cstate="print"/>
            <a:stretch>
              <a:fillRect/>
            </a:stretch>
          </p:blipFill>
          <p:spPr>
            <a:xfrm>
              <a:off x="6094476" y="5376671"/>
              <a:ext cx="100584" cy="9144"/>
            </a:xfrm>
            <a:prstGeom prst="rect">
              <a:avLst/>
            </a:prstGeom>
          </p:spPr>
        </p:pic>
        <p:pic>
          <p:nvPicPr>
            <p:cNvPr id="477" name="object 477"/>
            <p:cNvPicPr/>
            <p:nvPr/>
          </p:nvPicPr>
          <p:blipFill>
            <a:blip r:embed="rId326" cstate="print"/>
            <a:stretch>
              <a:fillRect/>
            </a:stretch>
          </p:blipFill>
          <p:spPr>
            <a:xfrm>
              <a:off x="6053328" y="5381244"/>
              <a:ext cx="45720" cy="9144"/>
            </a:xfrm>
            <a:prstGeom prst="rect">
              <a:avLst/>
            </a:prstGeom>
          </p:spPr>
        </p:pic>
        <p:pic>
          <p:nvPicPr>
            <p:cNvPr id="478" name="object 478"/>
            <p:cNvPicPr/>
            <p:nvPr/>
          </p:nvPicPr>
          <p:blipFill>
            <a:blip r:embed="rId327" cstate="print"/>
            <a:stretch>
              <a:fillRect/>
            </a:stretch>
          </p:blipFill>
          <p:spPr>
            <a:xfrm>
              <a:off x="6144768" y="5381244"/>
              <a:ext cx="45720" cy="18288"/>
            </a:xfrm>
            <a:prstGeom prst="rect">
              <a:avLst/>
            </a:prstGeom>
          </p:spPr>
        </p:pic>
        <p:pic>
          <p:nvPicPr>
            <p:cNvPr id="479" name="object 479"/>
            <p:cNvPicPr/>
            <p:nvPr/>
          </p:nvPicPr>
          <p:blipFill>
            <a:blip r:embed="rId328" cstate="print"/>
            <a:stretch>
              <a:fillRect/>
            </a:stretch>
          </p:blipFill>
          <p:spPr>
            <a:xfrm>
              <a:off x="6144768" y="5394960"/>
              <a:ext cx="36576" cy="13716"/>
            </a:xfrm>
            <a:prstGeom prst="rect">
              <a:avLst/>
            </a:prstGeom>
          </p:spPr>
        </p:pic>
        <p:pic>
          <p:nvPicPr>
            <p:cNvPr id="480" name="object 480"/>
            <p:cNvPicPr/>
            <p:nvPr/>
          </p:nvPicPr>
          <p:blipFill>
            <a:blip r:embed="rId329" cstate="print"/>
            <a:stretch>
              <a:fillRect/>
            </a:stretch>
          </p:blipFill>
          <p:spPr>
            <a:xfrm>
              <a:off x="6053328" y="5385815"/>
              <a:ext cx="41148" cy="27432"/>
            </a:xfrm>
            <a:prstGeom prst="rect">
              <a:avLst/>
            </a:prstGeom>
          </p:spPr>
        </p:pic>
        <p:pic>
          <p:nvPicPr>
            <p:cNvPr id="481" name="object 481"/>
            <p:cNvPicPr/>
            <p:nvPr/>
          </p:nvPicPr>
          <p:blipFill>
            <a:blip r:embed="rId330" cstate="print"/>
            <a:stretch>
              <a:fillRect/>
            </a:stretch>
          </p:blipFill>
          <p:spPr>
            <a:xfrm>
              <a:off x="6281927" y="5399531"/>
              <a:ext cx="45720" cy="13716"/>
            </a:xfrm>
            <a:prstGeom prst="rect">
              <a:avLst/>
            </a:prstGeom>
          </p:spPr>
        </p:pic>
        <p:pic>
          <p:nvPicPr>
            <p:cNvPr id="482" name="object 482"/>
            <p:cNvPicPr/>
            <p:nvPr/>
          </p:nvPicPr>
          <p:blipFill>
            <a:blip r:embed="rId331" cstate="print"/>
            <a:stretch>
              <a:fillRect/>
            </a:stretch>
          </p:blipFill>
          <p:spPr>
            <a:xfrm>
              <a:off x="5943600" y="5358384"/>
              <a:ext cx="18288" cy="59436"/>
            </a:xfrm>
            <a:prstGeom prst="rect">
              <a:avLst/>
            </a:prstGeom>
          </p:spPr>
        </p:pic>
        <p:pic>
          <p:nvPicPr>
            <p:cNvPr id="483" name="object 483"/>
            <p:cNvPicPr/>
            <p:nvPr/>
          </p:nvPicPr>
          <p:blipFill>
            <a:blip r:embed="rId332" cstate="print"/>
            <a:stretch>
              <a:fillRect/>
            </a:stretch>
          </p:blipFill>
          <p:spPr>
            <a:xfrm>
              <a:off x="6144768" y="5404104"/>
              <a:ext cx="32004" cy="13716"/>
            </a:xfrm>
            <a:prstGeom prst="rect">
              <a:avLst/>
            </a:prstGeom>
          </p:spPr>
        </p:pic>
        <p:pic>
          <p:nvPicPr>
            <p:cNvPr id="484" name="object 484"/>
            <p:cNvPicPr/>
            <p:nvPr/>
          </p:nvPicPr>
          <p:blipFill>
            <a:blip r:embed="rId333" cstate="print"/>
            <a:stretch>
              <a:fillRect/>
            </a:stretch>
          </p:blipFill>
          <p:spPr>
            <a:xfrm>
              <a:off x="6053328" y="5408676"/>
              <a:ext cx="32004" cy="27432"/>
            </a:xfrm>
            <a:prstGeom prst="rect">
              <a:avLst/>
            </a:prstGeom>
          </p:spPr>
        </p:pic>
        <p:pic>
          <p:nvPicPr>
            <p:cNvPr id="485" name="object 485"/>
            <p:cNvPicPr/>
            <p:nvPr/>
          </p:nvPicPr>
          <p:blipFill>
            <a:blip r:embed="rId334" cstate="print"/>
            <a:stretch>
              <a:fillRect/>
            </a:stretch>
          </p:blipFill>
          <p:spPr>
            <a:xfrm>
              <a:off x="6259068" y="5413247"/>
              <a:ext cx="77724" cy="22860"/>
            </a:xfrm>
            <a:prstGeom prst="rect">
              <a:avLst/>
            </a:prstGeom>
          </p:spPr>
        </p:pic>
        <p:pic>
          <p:nvPicPr>
            <p:cNvPr id="486" name="object 486"/>
            <p:cNvPicPr/>
            <p:nvPr/>
          </p:nvPicPr>
          <p:blipFill>
            <a:blip r:embed="rId335" cstate="print"/>
            <a:stretch>
              <a:fillRect/>
            </a:stretch>
          </p:blipFill>
          <p:spPr>
            <a:xfrm>
              <a:off x="6149340" y="5417820"/>
              <a:ext cx="18288" cy="13716"/>
            </a:xfrm>
            <a:prstGeom prst="rect">
              <a:avLst/>
            </a:prstGeom>
          </p:spPr>
        </p:pic>
        <p:pic>
          <p:nvPicPr>
            <p:cNvPr id="487" name="object 487"/>
            <p:cNvPicPr/>
            <p:nvPr/>
          </p:nvPicPr>
          <p:blipFill>
            <a:blip r:embed="rId336" cstate="print"/>
            <a:stretch>
              <a:fillRect/>
            </a:stretch>
          </p:blipFill>
          <p:spPr>
            <a:xfrm>
              <a:off x="5948172" y="5417820"/>
              <a:ext cx="27432" cy="41148"/>
            </a:xfrm>
            <a:prstGeom prst="rect">
              <a:avLst/>
            </a:prstGeom>
          </p:spPr>
        </p:pic>
        <p:pic>
          <p:nvPicPr>
            <p:cNvPr id="488" name="object 488"/>
            <p:cNvPicPr/>
            <p:nvPr/>
          </p:nvPicPr>
          <p:blipFill>
            <a:blip r:embed="rId337" cstate="print"/>
            <a:stretch>
              <a:fillRect/>
            </a:stretch>
          </p:blipFill>
          <p:spPr>
            <a:xfrm>
              <a:off x="6259068" y="5436107"/>
              <a:ext cx="77724" cy="4572"/>
            </a:xfrm>
            <a:prstGeom prst="rect">
              <a:avLst/>
            </a:prstGeom>
          </p:spPr>
        </p:pic>
        <p:pic>
          <p:nvPicPr>
            <p:cNvPr id="489" name="object 489"/>
            <p:cNvPicPr/>
            <p:nvPr/>
          </p:nvPicPr>
          <p:blipFill>
            <a:blip r:embed="rId338" cstate="print"/>
            <a:stretch>
              <a:fillRect/>
            </a:stretch>
          </p:blipFill>
          <p:spPr>
            <a:xfrm>
              <a:off x="6149340" y="5431536"/>
              <a:ext cx="13716" cy="13716"/>
            </a:xfrm>
            <a:prstGeom prst="rect">
              <a:avLst/>
            </a:prstGeom>
          </p:spPr>
        </p:pic>
        <p:pic>
          <p:nvPicPr>
            <p:cNvPr id="490" name="object 490"/>
            <p:cNvPicPr/>
            <p:nvPr/>
          </p:nvPicPr>
          <p:blipFill>
            <a:blip r:embed="rId339" cstate="print"/>
            <a:stretch>
              <a:fillRect/>
            </a:stretch>
          </p:blipFill>
          <p:spPr>
            <a:xfrm>
              <a:off x="6057900" y="5436107"/>
              <a:ext cx="9144" cy="9144"/>
            </a:xfrm>
            <a:prstGeom prst="rect">
              <a:avLst/>
            </a:prstGeom>
          </p:spPr>
        </p:pic>
        <p:pic>
          <p:nvPicPr>
            <p:cNvPr id="491" name="object 491"/>
            <p:cNvPicPr/>
            <p:nvPr/>
          </p:nvPicPr>
          <p:blipFill>
            <a:blip r:embed="rId340" cstate="print"/>
            <a:stretch>
              <a:fillRect/>
            </a:stretch>
          </p:blipFill>
          <p:spPr>
            <a:xfrm>
              <a:off x="6318504" y="5440679"/>
              <a:ext cx="13716" cy="9144"/>
            </a:xfrm>
            <a:prstGeom prst="rect">
              <a:avLst/>
            </a:prstGeom>
          </p:spPr>
        </p:pic>
        <p:pic>
          <p:nvPicPr>
            <p:cNvPr id="492" name="object 492"/>
            <p:cNvPicPr/>
            <p:nvPr/>
          </p:nvPicPr>
          <p:blipFill>
            <a:blip r:embed="rId341" cstate="print"/>
            <a:stretch>
              <a:fillRect/>
            </a:stretch>
          </p:blipFill>
          <p:spPr>
            <a:xfrm>
              <a:off x="6254495" y="5440679"/>
              <a:ext cx="73152" cy="36576"/>
            </a:xfrm>
            <a:prstGeom prst="rect">
              <a:avLst/>
            </a:prstGeom>
          </p:spPr>
        </p:pic>
        <p:pic>
          <p:nvPicPr>
            <p:cNvPr id="493" name="object 493"/>
            <p:cNvPicPr/>
            <p:nvPr/>
          </p:nvPicPr>
          <p:blipFill>
            <a:blip r:embed="rId342" cstate="print"/>
            <a:stretch>
              <a:fillRect/>
            </a:stretch>
          </p:blipFill>
          <p:spPr>
            <a:xfrm>
              <a:off x="5966459" y="5458968"/>
              <a:ext cx="9144" cy="9144"/>
            </a:xfrm>
            <a:prstGeom prst="rect">
              <a:avLst/>
            </a:prstGeom>
          </p:spPr>
        </p:pic>
        <p:pic>
          <p:nvPicPr>
            <p:cNvPr id="494" name="object 494"/>
            <p:cNvPicPr/>
            <p:nvPr/>
          </p:nvPicPr>
          <p:blipFill>
            <a:blip r:embed="rId343" cstate="print"/>
            <a:stretch>
              <a:fillRect/>
            </a:stretch>
          </p:blipFill>
          <p:spPr>
            <a:xfrm>
              <a:off x="5971032" y="5468111"/>
              <a:ext cx="27432" cy="27432"/>
            </a:xfrm>
            <a:prstGeom prst="rect">
              <a:avLst/>
            </a:prstGeom>
          </p:spPr>
        </p:pic>
        <p:sp>
          <p:nvSpPr>
            <p:cNvPr id="495" name="object 495"/>
            <p:cNvSpPr/>
            <p:nvPr/>
          </p:nvSpPr>
          <p:spPr>
            <a:xfrm>
              <a:off x="5993892" y="5497829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6A6A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6" name="object 496"/>
          <p:cNvGrpSpPr/>
          <p:nvPr/>
        </p:nvGrpSpPr>
        <p:grpSpPr>
          <a:xfrm>
            <a:off x="6899147" y="5266944"/>
            <a:ext cx="434340" cy="210820"/>
            <a:chOff x="6899147" y="5266944"/>
            <a:chExt cx="434340" cy="210820"/>
          </a:xfrm>
        </p:grpSpPr>
        <p:pic>
          <p:nvPicPr>
            <p:cNvPr id="497" name="object 497"/>
            <p:cNvPicPr/>
            <p:nvPr/>
          </p:nvPicPr>
          <p:blipFill>
            <a:blip r:embed="rId344" cstate="print"/>
            <a:stretch>
              <a:fillRect/>
            </a:stretch>
          </p:blipFill>
          <p:spPr>
            <a:xfrm>
              <a:off x="6922007" y="5266944"/>
              <a:ext cx="36576" cy="13716"/>
            </a:xfrm>
            <a:prstGeom prst="rect">
              <a:avLst/>
            </a:prstGeom>
          </p:spPr>
        </p:pic>
        <p:pic>
          <p:nvPicPr>
            <p:cNvPr id="498" name="object 498"/>
            <p:cNvPicPr/>
            <p:nvPr/>
          </p:nvPicPr>
          <p:blipFill>
            <a:blip r:embed="rId345" cstate="print"/>
            <a:stretch>
              <a:fillRect/>
            </a:stretch>
          </p:blipFill>
          <p:spPr>
            <a:xfrm>
              <a:off x="6935723" y="5280660"/>
              <a:ext cx="18288" cy="13716"/>
            </a:xfrm>
            <a:prstGeom prst="rect">
              <a:avLst/>
            </a:prstGeom>
          </p:spPr>
        </p:pic>
        <p:pic>
          <p:nvPicPr>
            <p:cNvPr id="499" name="object 499"/>
            <p:cNvPicPr/>
            <p:nvPr/>
          </p:nvPicPr>
          <p:blipFill>
            <a:blip r:embed="rId346" cstate="print"/>
            <a:stretch>
              <a:fillRect/>
            </a:stretch>
          </p:blipFill>
          <p:spPr>
            <a:xfrm>
              <a:off x="6922007" y="5294376"/>
              <a:ext cx="77724" cy="54864"/>
            </a:xfrm>
            <a:prstGeom prst="rect">
              <a:avLst/>
            </a:prstGeom>
          </p:spPr>
        </p:pic>
        <p:pic>
          <p:nvPicPr>
            <p:cNvPr id="500" name="object 500"/>
            <p:cNvPicPr/>
            <p:nvPr/>
          </p:nvPicPr>
          <p:blipFill>
            <a:blip r:embed="rId347" cstate="print"/>
            <a:stretch>
              <a:fillRect/>
            </a:stretch>
          </p:blipFill>
          <p:spPr>
            <a:xfrm>
              <a:off x="6922007" y="5344668"/>
              <a:ext cx="77724" cy="9144"/>
            </a:xfrm>
            <a:prstGeom prst="rect">
              <a:avLst/>
            </a:prstGeom>
          </p:spPr>
        </p:pic>
        <p:pic>
          <p:nvPicPr>
            <p:cNvPr id="501" name="object 501"/>
            <p:cNvPicPr/>
            <p:nvPr/>
          </p:nvPicPr>
          <p:blipFill>
            <a:blip r:embed="rId348" cstate="print"/>
            <a:stretch>
              <a:fillRect/>
            </a:stretch>
          </p:blipFill>
          <p:spPr>
            <a:xfrm>
              <a:off x="6903719" y="5349240"/>
              <a:ext cx="187452" cy="64008"/>
            </a:xfrm>
            <a:prstGeom prst="rect">
              <a:avLst/>
            </a:prstGeom>
          </p:spPr>
        </p:pic>
        <p:pic>
          <p:nvPicPr>
            <p:cNvPr id="502" name="object 502"/>
            <p:cNvPicPr/>
            <p:nvPr/>
          </p:nvPicPr>
          <p:blipFill>
            <a:blip r:embed="rId349" cstate="print"/>
            <a:stretch>
              <a:fillRect/>
            </a:stretch>
          </p:blipFill>
          <p:spPr>
            <a:xfrm>
              <a:off x="7059167" y="5381244"/>
              <a:ext cx="18288" cy="13716"/>
            </a:xfrm>
            <a:prstGeom prst="rect">
              <a:avLst/>
            </a:prstGeom>
          </p:spPr>
        </p:pic>
        <p:sp>
          <p:nvSpPr>
            <p:cNvPr id="503" name="object 503"/>
            <p:cNvSpPr/>
            <p:nvPr/>
          </p:nvSpPr>
          <p:spPr>
            <a:xfrm>
              <a:off x="6972299" y="5397246"/>
              <a:ext cx="100965" cy="13970"/>
            </a:xfrm>
            <a:custGeom>
              <a:avLst/>
              <a:gdLst/>
              <a:ahLst/>
              <a:cxnLst/>
              <a:rect l="l" t="t" r="r" b="b"/>
              <a:pathLst>
                <a:path w="100965" h="13970">
                  <a:moveTo>
                    <a:pt x="86868" y="0"/>
                  </a:moveTo>
                  <a:lnTo>
                    <a:pt x="100584" y="0"/>
                  </a:lnTo>
                </a:path>
                <a:path w="100965" h="13970">
                  <a:moveTo>
                    <a:pt x="41148" y="9144"/>
                  </a:moveTo>
                  <a:lnTo>
                    <a:pt x="45720" y="9144"/>
                  </a:lnTo>
                </a:path>
                <a:path w="100965" h="13970">
                  <a:moveTo>
                    <a:pt x="0" y="13716"/>
                  </a:moveTo>
                  <a:lnTo>
                    <a:pt x="13716" y="13716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4" name="object 504"/>
            <p:cNvSpPr/>
            <p:nvPr/>
          </p:nvSpPr>
          <p:spPr>
            <a:xfrm>
              <a:off x="7013447" y="541096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2727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5" name="object 505"/>
            <p:cNvPicPr/>
            <p:nvPr/>
          </p:nvPicPr>
          <p:blipFill>
            <a:blip r:embed="rId350" cstate="print"/>
            <a:stretch>
              <a:fillRect/>
            </a:stretch>
          </p:blipFill>
          <p:spPr>
            <a:xfrm>
              <a:off x="6972299" y="5413248"/>
              <a:ext cx="13716" cy="4572"/>
            </a:xfrm>
            <a:prstGeom prst="rect">
              <a:avLst/>
            </a:prstGeom>
          </p:spPr>
        </p:pic>
        <p:pic>
          <p:nvPicPr>
            <p:cNvPr id="506" name="object 506"/>
            <p:cNvPicPr/>
            <p:nvPr/>
          </p:nvPicPr>
          <p:blipFill>
            <a:blip r:embed="rId351" cstate="print"/>
            <a:stretch>
              <a:fillRect/>
            </a:stretch>
          </p:blipFill>
          <p:spPr>
            <a:xfrm>
              <a:off x="6999731" y="5408676"/>
              <a:ext cx="73152" cy="22860"/>
            </a:xfrm>
            <a:prstGeom prst="rect">
              <a:avLst/>
            </a:prstGeom>
          </p:spPr>
        </p:pic>
        <p:pic>
          <p:nvPicPr>
            <p:cNvPr id="507" name="object 507"/>
            <p:cNvPicPr/>
            <p:nvPr/>
          </p:nvPicPr>
          <p:blipFill>
            <a:blip r:embed="rId352" cstate="print"/>
            <a:stretch>
              <a:fillRect/>
            </a:stretch>
          </p:blipFill>
          <p:spPr>
            <a:xfrm>
              <a:off x="6899147" y="5413248"/>
              <a:ext cx="22860" cy="27432"/>
            </a:xfrm>
            <a:prstGeom prst="rect">
              <a:avLst/>
            </a:prstGeom>
          </p:spPr>
        </p:pic>
        <p:pic>
          <p:nvPicPr>
            <p:cNvPr id="508" name="object 508"/>
            <p:cNvPicPr/>
            <p:nvPr/>
          </p:nvPicPr>
          <p:blipFill>
            <a:blip r:embed="rId353" cstate="print"/>
            <a:stretch>
              <a:fillRect/>
            </a:stretch>
          </p:blipFill>
          <p:spPr>
            <a:xfrm>
              <a:off x="7274051" y="5362956"/>
              <a:ext cx="59435" cy="114300"/>
            </a:xfrm>
            <a:prstGeom prst="rect">
              <a:avLst/>
            </a:prstGeom>
          </p:spPr>
        </p:pic>
        <p:pic>
          <p:nvPicPr>
            <p:cNvPr id="509" name="object 509"/>
            <p:cNvPicPr/>
            <p:nvPr/>
          </p:nvPicPr>
          <p:blipFill>
            <a:blip r:embed="rId354" cstate="print"/>
            <a:stretch>
              <a:fillRect/>
            </a:stretch>
          </p:blipFill>
          <p:spPr>
            <a:xfrm>
              <a:off x="7045451" y="5426964"/>
              <a:ext cx="192024" cy="36576"/>
            </a:xfrm>
            <a:prstGeom prst="rect">
              <a:avLst/>
            </a:prstGeom>
          </p:spPr>
        </p:pic>
        <p:pic>
          <p:nvPicPr>
            <p:cNvPr id="510" name="object 510"/>
            <p:cNvPicPr/>
            <p:nvPr/>
          </p:nvPicPr>
          <p:blipFill>
            <a:blip r:embed="rId355" cstate="print"/>
            <a:stretch>
              <a:fillRect/>
            </a:stretch>
          </p:blipFill>
          <p:spPr>
            <a:xfrm>
              <a:off x="6972299" y="5417820"/>
              <a:ext cx="91440" cy="22860"/>
            </a:xfrm>
            <a:prstGeom prst="rect">
              <a:avLst/>
            </a:prstGeom>
          </p:spPr>
        </p:pic>
        <p:pic>
          <p:nvPicPr>
            <p:cNvPr id="511" name="object 511"/>
            <p:cNvPicPr/>
            <p:nvPr/>
          </p:nvPicPr>
          <p:blipFill>
            <a:blip r:embed="rId356" cstate="print"/>
            <a:stretch>
              <a:fillRect/>
            </a:stretch>
          </p:blipFill>
          <p:spPr>
            <a:xfrm>
              <a:off x="7050023" y="5431536"/>
              <a:ext cx="13716" cy="9144"/>
            </a:xfrm>
            <a:prstGeom prst="rect">
              <a:avLst/>
            </a:prstGeom>
          </p:spPr>
        </p:pic>
        <p:pic>
          <p:nvPicPr>
            <p:cNvPr id="512" name="object 512"/>
            <p:cNvPicPr/>
            <p:nvPr/>
          </p:nvPicPr>
          <p:blipFill>
            <a:blip r:embed="rId357" cstate="print"/>
            <a:stretch>
              <a:fillRect/>
            </a:stretch>
          </p:blipFill>
          <p:spPr>
            <a:xfrm>
              <a:off x="7045451" y="5440680"/>
              <a:ext cx="41148" cy="36576"/>
            </a:xfrm>
            <a:prstGeom prst="rect">
              <a:avLst/>
            </a:prstGeom>
          </p:spPr>
        </p:pic>
      </p:grpSp>
      <p:grpSp>
        <p:nvGrpSpPr>
          <p:cNvPr id="513" name="object 513"/>
          <p:cNvGrpSpPr/>
          <p:nvPr/>
        </p:nvGrpSpPr>
        <p:grpSpPr>
          <a:xfrm>
            <a:off x="8243316" y="5257800"/>
            <a:ext cx="269875" cy="238125"/>
            <a:chOff x="8243316" y="5257800"/>
            <a:chExt cx="269875" cy="238125"/>
          </a:xfrm>
        </p:grpSpPr>
        <p:pic>
          <p:nvPicPr>
            <p:cNvPr id="514" name="object 514"/>
            <p:cNvPicPr/>
            <p:nvPr/>
          </p:nvPicPr>
          <p:blipFill>
            <a:blip r:embed="rId358" cstate="print"/>
            <a:stretch>
              <a:fillRect/>
            </a:stretch>
          </p:blipFill>
          <p:spPr>
            <a:xfrm>
              <a:off x="8458200" y="5257800"/>
              <a:ext cx="32004" cy="32004"/>
            </a:xfrm>
            <a:prstGeom prst="rect">
              <a:avLst/>
            </a:prstGeom>
          </p:spPr>
        </p:pic>
        <p:pic>
          <p:nvPicPr>
            <p:cNvPr id="515" name="object 515"/>
            <p:cNvPicPr/>
            <p:nvPr/>
          </p:nvPicPr>
          <p:blipFill>
            <a:blip r:embed="rId359" cstate="print"/>
            <a:stretch>
              <a:fillRect/>
            </a:stretch>
          </p:blipFill>
          <p:spPr>
            <a:xfrm>
              <a:off x="8481060" y="5289803"/>
              <a:ext cx="32004" cy="45720"/>
            </a:xfrm>
            <a:prstGeom prst="rect">
              <a:avLst/>
            </a:prstGeom>
          </p:spPr>
        </p:pic>
        <p:pic>
          <p:nvPicPr>
            <p:cNvPr id="516" name="object 516"/>
            <p:cNvPicPr/>
            <p:nvPr/>
          </p:nvPicPr>
          <p:blipFill>
            <a:blip r:embed="rId360" cstate="print"/>
            <a:stretch>
              <a:fillRect/>
            </a:stretch>
          </p:blipFill>
          <p:spPr>
            <a:xfrm>
              <a:off x="8485632" y="5335523"/>
              <a:ext cx="27432" cy="118872"/>
            </a:xfrm>
            <a:prstGeom prst="rect">
              <a:avLst/>
            </a:prstGeom>
          </p:spPr>
        </p:pic>
        <p:pic>
          <p:nvPicPr>
            <p:cNvPr id="517" name="object 517"/>
            <p:cNvPicPr/>
            <p:nvPr/>
          </p:nvPicPr>
          <p:blipFill>
            <a:blip r:embed="rId361" cstate="print"/>
            <a:stretch>
              <a:fillRect/>
            </a:stretch>
          </p:blipFill>
          <p:spPr>
            <a:xfrm>
              <a:off x="8252460" y="5266944"/>
              <a:ext cx="36576" cy="32004"/>
            </a:xfrm>
            <a:prstGeom prst="rect">
              <a:avLst/>
            </a:prstGeom>
          </p:spPr>
        </p:pic>
        <p:pic>
          <p:nvPicPr>
            <p:cNvPr id="518" name="object 518"/>
            <p:cNvPicPr/>
            <p:nvPr/>
          </p:nvPicPr>
          <p:blipFill>
            <a:blip r:embed="rId362" cstate="print"/>
            <a:stretch>
              <a:fillRect/>
            </a:stretch>
          </p:blipFill>
          <p:spPr>
            <a:xfrm>
              <a:off x="8252460" y="5298948"/>
              <a:ext cx="54864" cy="41148"/>
            </a:xfrm>
            <a:prstGeom prst="rect">
              <a:avLst/>
            </a:prstGeom>
          </p:spPr>
        </p:pic>
        <p:pic>
          <p:nvPicPr>
            <p:cNvPr id="519" name="object 519"/>
            <p:cNvPicPr/>
            <p:nvPr/>
          </p:nvPicPr>
          <p:blipFill>
            <a:blip r:embed="rId363" cstate="print"/>
            <a:stretch>
              <a:fillRect/>
            </a:stretch>
          </p:blipFill>
          <p:spPr>
            <a:xfrm>
              <a:off x="8252460" y="5335523"/>
              <a:ext cx="73152" cy="18288"/>
            </a:xfrm>
            <a:prstGeom prst="rect">
              <a:avLst/>
            </a:prstGeom>
          </p:spPr>
        </p:pic>
        <p:pic>
          <p:nvPicPr>
            <p:cNvPr id="520" name="object 520"/>
            <p:cNvPicPr/>
            <p:nvPr/>
          </p:nvPicPr>
          <p:blipFill>
            <a:blip r:embed="rId364" cstate="print"/>
            <a:stretch>
              <a:fillRect/>
            </a:stretch>
          </p:blipFill>
          <p:spPr>
            <a:xfrm>
              <a:off x="8316468" y="5353811"/>
              <a:ext cx="13716" cy="13716"/>
            </a:xfrm>
            <a:prstGeom prst="rect">
              <a:avLst/>
            </a:prstGeom>
          </p:spPr>
        </p:pic>
        <p:pic>
          <p:nvPicPr>
            <p:cNvPr id="521" name="object 521"/>
            <p:cNvPicPr/>
            <p:nvPr/>
          </p:nvPicPr>
          <p:blipFill>
            <a:blip r:embed="rId365" cstate="print"/>
            <a:stretch>
              <a:fillRect/>
            </a:stretch>
          </p:blipFill>
          <p:spPr>
            <a:xfrm>
              <a:off x="8243316" y="5349239"/>
              <a:ext cx="82296" cy="41148"/>
            </a:xfrm>
            <a:prstGeom prst="rect">
              <a:avLst/>
            </a:prstGeom>
          </p:spPr>
        </p:pic>
        <p:pic>
          <p:nvPicPr>
            <p:cNvPr id="522" name="object 522"/>
            <p:cNvPicPr/>
            <p:nvPr/>
          </p:nvPicPr>
          <p:blipFill>
            <a:blip r:embed="rId366" cstate="print"/>
            <a:stretch>
              <a:fillRect/>
            </a:stretch>
          </p:blipFill>
          <p:spPr>
            <a:xfrm>
              <a:off x="8311896" y="5367528"/>
              <a:ext cx="18288" cy="18288"/>
            </a:xfrm>
            <a:prstGeom prst="rect">
              <a:avLst/>
            </a:prstGeom>
          </p:spPr>
        </p:pic>
        <p:sp>
          <p:nvSpPr>
            <p:cNvPr id="523" name="object 523"/>
            <p:cNvSpPr/>
            <p:nvPr/>
          </p:nvSpPr>
          <p:spPr>
            <a:xfrm>
              <a:off x="8243316" y="5388102"/>
              <a:ext cx="82550" cy="5080"/>
            </a:xfrm>
            <a:custGeom>
              <a:avLst/>
              <a:gdLst/>
              <a:ahLst/>
              <a:cxnLst/>
              <a:rect l="l" t="t" r="r" b="b"/>
              <a:pathLst>
                <a:path w="82550" h="5079">
                  <a:moveTo>
                    <a:pt x="68580" y="0"/>
                  </a:moveTo>
                  <a:lnTo>
                    <a:pt x="82296" y="0"/>
                  </a:lnTo>
                </a:path>
                <a:path w="82550" h="5079">
                  <a:moveTo>
                    <a:pt x="0" y="4572"/>
                  </a:moveTo>
                  <a:lnTo>
                    <a:pt x="13716" y="4572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4" name="object 524"/>
            <p:cNvPicPr/>
            <p:nvPr/>
          </p:nvPicPr>
          <p:blipFill>
            <a:blip r:embed="rId367" cstate="print"/>
            <a:stretch>
              <a:fillRect/>
            </a:stretch>
          </p:blipFill>
          <p:spPr>
            <a:xfrm>
              <a:off x="8307324" y="5390387"/>
              <a:ext cx="18288" cy="9144"/>
            </a:xfrm>
            <a:prstGeom prst="rect">
              <a:avLst/>
            </a:prstGeom>
          </p:spPr>
        </p:pic>
        <p:pic>
          <p:nvPicPr>
            <p:cNvPr id="525" name="object 525"/>
            <p:cNvPicPr/>
            <p:nvPr/>
          </p:nvPicPr>
          <p:blipFill>
            <a:blip r:embed="rId368" cstate="print"/>
            <a:stretch>
              <a:fillRect/>
            </a:stretch>
          </p:blipFill>
          <p:spPr>
            <a:xfrm>
              <a:off x="8243316" y="5394960"/>
              <a:ext cx="182880" cy="27432"/>
            </a:xfrm>
            <a:prstGeom prst="rect">
              <a:avLst/>
            </a:prstGeom>
          </p:spPr>
        </p:pic>
        <p:pic>
          <p:nvPicPr>
            <p:cNvPr id="526" name="object 526"/>
            <p:cNvPicPr/>
            <p:nvPr/>
          </p:nvPicPr>
          <p:blipFill>
            <a:blip r:embed="rId369" cstate="print"/>
            <a:stretch>
              <a:fillRect/>
            </a:stretch>
          </p:blipFill>
          <p:spPr>
            <a:xfrm>
              <a:off x="8412480" y="5417820"/>
              <a:ext cx="13716" cy="4572"/>
            </a:xfrm>
            <a:prstGeom prst="rect">
              <a:avLst/>
            </a:prstGeom>
          </p:spPr>
        </p:pic>
        <p:pic>
          <p:nvPicPr>
            <p:cNvPr id="527" name="object 527"/>
            <p:cNvPicPr/>
            <p:nvPr/>
          </p:nvPicPr>
          <p:blipFill>
            <a:blip r:embed="rId370" cstate="print"/>
            <a:stretch>
              <a:fillRect/>
            </a:stretch>
          </p:blipFill>
          <p:spPr>
            <a:xfrm>
              <a:off x="8247888" y="5422392"/>
              <a:ext cx="59436" cy="18288"/>
            </a:xfrm>
            <a:prstGeom prst="rect">
              <a:avLst/>
            </a:prstGeom>
          </p:spPr>
        </p:pic>
        <p:pic>
          <p:nvPicPr>
            <p:cNvPr id="528" name="object 528"/>
            <p:cNvPicPr/>
            <p:nvPr/>
          </p:nvPicPr>
          <p:blipFill>
            <a:blip r:embed="rId371" cstate="print"/>
            <a:stretch>
              <a:fillRect/>
            </a:stretch>
          </p:blipFill>
          <p:spPr>
            <a:xfrm>
              <a:off x="8348472" y="5417820"/>
              <a:ext cx="18288" cy="27432"/>
            </a:xfrm>
            <a:prstGeom prst="rect">
              <a:avLst/>
            </a:prstGeom>
          </p:spPr>
        </p:pic>
        <p:pic>
          <p:nvPicPr>
            <p:cNvPr id="529" name="object 529"/>
            <p:cNvPicPr/>
            <p:nvPr/>
          </p:nvPicPr>
          <p:blipFill>
            <a:blip r:embed="rId372" cstate="print"/>
            <a:stretch>
              <a:fillRect/>
            </a:stretch>
          </p:blipFill>
          <p:spPr>
            <a:xfrm>
              <a:off x="8407908" y="5422392"/>
              <a:ext cx="18288" cy="22860"/>
            </a:xfrm>
            <a:prstGeom prst="rect">
              <a:avLst/>
            </a:prstGeom>
          </p:spPr>
        </p:pic>
        <p:sp>
          <p:nvSpPr>
            <p:cNvPr id="530" name="object 530"/>
            <p:cNvSpPr/>
            <p:nvPr/>
          </p:nvSpPr>
          <p:spPr>
            <a:xfrm>
              <a:off x="8348472" y="5447537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59">
                  <a:moveTo>
                    <a:pt x="0" y="0"/>
                  </a:moveTo>
                  <a:lnTo>
                    <a:pt x="9144" y="0"/>
                  </a:lnTo>
                </a:path>
                <a:path w="73659">
                  <a:moveTo>
                    <a:pt x="59435" y="0"/>
                  </a:moveTo>
                  <a:lnTo>
                    <a:pt x="73152" y="0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1" name="object 531"/>
            <p:cNvPicPr/>
            <p:nvPr/>
          </p:nvPicPr>
          <p:blipFill>
            <a:blip r:embed="rId373" cstate="print"/>
            <a:stretch>
              <a:fillRect/>
            </a:stretch>
          </p:blipFill>
          <p:spPr>
            <a:xfrm>
              <a:off x="8348472" y="5449823"/>
              <a:ext cx="9144" cy="9144"/>
            </a:xfrm>
            <a:prstGeom prst="rect">
              <a:avLst/>
            </a:prstGeom>
          </p:spPr>
        </p:pic>
        <p:pic>
          <p:nvPicPr>
            <p:cNvPr id="532" name="object 532"/>
            <p:cNvPicPr/>
            <p:nvPr/>
          </p:nvPicPr>
          <p:blipFill>
            <a:blip r:embed="rId374" cstate="print"/>
            <a:stretch>
              <a:fillRect/>
            </a:stretch>
          </p:blipFill>
          <p:spPr>
            <a:xfrm>
              <a:off x="8481060" y="5454395"/>
              <a:ext cx="13716" cy="9144"/>
            </a:xfrm>
            <a:prstGeom prst="rect">
              <a:avLst/>
            </a:prstGeom>
          </p:spPr>
        </p:pic>
        <p:pic>
          <p:nvPicPr>
            <p:cNvPr id="533" name="object 533"/>
            <p:cNvPicPr/>
            <p:nvPr/>
          </p:nvPicPr>
          <p:blipFill>
            <a:blip r:embed="rId375" cstate="print"/>
            <a:stretch>
              <a:fillRect/>
            </a:stretch>
          </p:blipFill>
          <p:spPr>
            <a:xfrm>
              <a:off x="8353044" y="5449823"/>
              <a:ext cx="68580" cy="27432"/>
            </a:xfrm>
            <a:prstGeom prst="rect">
              <a:avLst/>
            </a:prstGeom>
          </p:spPr>
        </p:pic>
        <p:pic>
          <p:nvPicPr>
            <p:cNvPr id="534" name="object 534"/>
            <p:cNvPicPr/>
            <p:nvPr/>
          </p:nvPicPr>
          <p:blipFill>
            <a:blip r:embed="rId376" cstate="print"/>
            <a:stretch>
              <a:fillRect/>
            </a:stretch>
          </p:blipFill>
          <p:spPr>
            <a:xfrm>
              <a:off x="8471916" y="5463540"/>
              <a:ext cx="18288" cy="18288"/>
            </a:xfrm>
            <a:prstGeom prst="rect">
              <a:avLst/>
            </a:prstGeom>
          </p:spPr>
        </p:pic>
        <p:pic>
          <p:nvPicPr>
            <p:cNvPr id="535" name="object 535"/>
            <p:cNvPicPr/>
            <p:nvPr/>
          </p:nvPicPr>
          <p:blipFill>
            <a:blip r:embed="rId377" cstate="print"/>
            <a:stretch>
              <a:fillRect/>
            </a:stretch>
          </p:blipFill>
          <p:spPr>
            <a:xfrm>
              <a:off x="8462772" y="5481827"/>
              <a:ext cx="13716" cy="13716"/>
            </a:xfrm>
            <a:prstGeom prst="rect">
              <a:avLst/>
            </a:prstGeom>
          </p:spPr>
        </p:pic>
      </p:grpSp>
      <p:grpSp>
        <p:nvGrpSpPr>
          <p:cNvPr id="536" name="object 536"/>
          <p:cNvGrpSpPr/>
          <p:nvPr/>
        </p:nvGrpSpPr>
        <p:grpSpPr>
          <a:xfrm>
            <a:off x="7918704" y="5298947"/>
            <a:ext cx="160020" cy="160020"/>
            <a:chOff x="7918704" y="5298947"/>
            <a:chExt cx="160020" cy="160020"/>
          </a:xfrm>
        </p:grpSpPr>
        <p:pic>
          <p:nvPicPr>
            <p:cNvPr id="537" name="object 537"/>
            <p:cNvPicPr/>
            <p:nvPr/>
          </p:nvPicPr>
          <p:blipFill>
            <a:blip r:embed="rId378" cstate="print"/>
            <a:stretch>
              <a:fillRect/>
            </a:stretch>
          </p:blipFill>
          <p:spPr>
            <a:xfrm>
              <a:off x="7996428" y="5298947"/>
              <a:ext cx="9144" cy="4572"/>
            </a:xfrm>
            <a:prstGeom prst="rect">
              <a:avLst/>
            </a:prstGeom>
          </p:spPr>
        </p:pic>
        <p:sp>
          <p:nvSpPr>
            <p:cNvPr id="538" name="object 538"/>
            <p:cNvSpPr/>
            <p:nvPr/>
          </p:nvSpPr>
          <p:spPr>
            <a:xfrm>
              <a:off x="7996428" y="5305805"/>
              <a:ext cx="9525" cy="5080"/>
            </a:xfrm>
            <a:custGeom>
              <a:avLst/>
              <a:gdLst/>
              <a:ahLst/>
              <a:cxnLst/>
              <a:rect l="l" t="t" r="r" b="b"/>
              <a:pathLst>
                <a:path w="9525" h="5079">
                  <a:moveTo>
                    <a:pt x="0" y="0"/>
                  </a:moveTo>
                  <a:lnTo>
                    <a:pt x="9144" y="0"/>
                  </a:lnTo>
                </a:path>
                <a:path w="9525" h="5079">
                  <a:moveTo>
                    <a:pt x="0" y="4572"/>
                  </a:moveTo>
                  <a:lnTo>
                    <a:pt x="9144" y="4572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9" name="object 539"/>
            <p:cNvPicPr/>
            <p:nvPr/>
          </p:nvPicPr>
          <p:blipFill>
            <a:blip r:embed="rId379" cstate="print"/>
            <a:stretch>
              <a:fillRect/>
            </a:stretch>
          </p:blipFill>
          <p:spPr>
            <a:xfrm>
              <a:off x="7918704" y="5312663"/>
              <a:ext cx="160020" cy="68580"/>
            </a:xfrm>
            <a:prstGeom prst="rect">
              <a:avLst/>
            </a:prstGeom>
          </p:spPr>
        </p:pic>
        <p:sp>
          <p:nvSpPr>
            <p:cNvPr id="540" name="object 540"/>
            <p:cNvSpPr/>
            <p:nvPr/>
          </p:nvSpPr>
          <p:spPr>
            <a:xfrm>
              <a:off x="7996428" y="5383529"/>
              <a:ext cx="9525" cy="68580"/>
            </a:xfrm>
            <a:custGeom>
              <a:avLst/>
              <a:gdLst/>
              <a:ahLst/>
              <a:cxnLst/>
              <a:rect l="l" t="t" r="r" b="b"/>
              <a:pathLst>
                <a:path w="9525" h="68579">
                  <a:moveTo>
                    <a:pt x="0" y="0"/>
                  </a:moveTo>
                  <a:lnTo>
                    <a:pt x="9144" y="0"/>
                  </a:lnTo>
                </a:path>
                <a:path w="9525" h="68579">
                  <a:moveTo>
                    <a:pt x="0" y="4572"/>
                  </a:moveTo>
                  <a:lnTo>
                    <a:pt x="9144" y="4572"/>
                  </a:lnTo>
                </a:path>
                <a:path w="9525" h="68579">
                  <a:moveTo>
                    <a:pt x="0" y="9144"/>
                  </a:moveTo>
                  <a:lnTo>
                    <a:pt x="9144" y="9144"/>
                  </a:lnTo>
                </a:path>
                <a:path w="9525" h="68579">
                  <a:moveTo>
                    <a:pt x="0" y="13715"/>
                  </a:moveTo>
                  <a:lnTo>
                    <a:pt x="9144" y="13715"/>
                  </a:lnTo>
                </a:path>
                <a:path w="9525" h="68579">
                  <a:moveTo>
                    <a:pt x="0" y="18287"/>
                  </a:moveTo>
                  <a:lnTo>
                    <a:pt x="9144" y="18287"/>
                  </a:lnTo>
                </a:path>
                <a:path w="9525" h="68579">
                  <a:moveTo>
                    <a:pt x="0" y="22860"/>
                  </a:moveTo>
                  <a:lnTo>
                    <a:pt x="9144" y="22860"/>
                  </a:lnTo>
                </a:path>
                <a:path w="9525" h="68579">
                  <a:moveTo>
                    <a:pt x="0" y="27432"/>
                  </a:moveTo>
                  <a:lnTo>
                    <a:pt x="9144" y="27432"/>
                  </a:lnTo>
                </a:path>
                <a:path w="9525" h="68579">
                  <a:moveTo>
                    <a:pt x="0" y="32003"/>
                  </a:moveTo>
                  <a:lnTo>
                    <a:pt x="9144" y="32003"/>
                  </a:lnTo>
                </a:path>
                <a:path w="9525" h="68579">
                  <a:moveTo>
                    <a:pt x="0" y="36575"/>
                  </a:moveTo>
                  <a:lnTo>
                    <a:pt x="9144" y="36575"/>
                  </a:lnTo>
                </a:path>
                <a:path w="9525" h="68579">
                  <a:moveTo>
                    <a:pt x="0" y="41148"/>
                  </a:moveTo>
                  <a:lnTo>
                    <a:pt x="9144" y="41148"/>
                  </a:lnTo>
                </a:path>
                <a:path w="9525" h="68579">
                  <a:moveTo>
                    <a:pt x="0" y="45720"/>
                  </a:moveTo>
                  <a:lnTo>
                    <a:pt x="9144" y="45720"/>
                  </a:lnTo>
                </a:path>
                <a:path w="9525" h="68579">
                  <a:moveTo>
                    <a:pt x="0" y="50291"/>
                  </a:moveTo>
                  <a:lnTo>
                    <a:pt x="9144" y="50291"/>
                  </a:lnTo>
                </a:path>
                <a:path w="9525" h="68579">
                  <a:moveTo>
                    <a:pt x="0" y="54863"/>
                  </a:moveTo>
                  <a:lnTo>
                    <a:pt x="9144" y="54863"/>
                  </a:lnTo>
                </a:path>
                <a:path w="9525" h="68579">
                  <a:moveTo>
                    <a:pt x="0" y="59436"/>
                  </a:moveTo>
                  <a:lnTo>
                    <a:pt x="9144" y="59436"/>
                  </a:lnTo>
                </a:path>
                <a:path w="9525" h="68579">
                  <a:moveTo>
                    <a:pt x="0" y="64008"/>
                  </a:moveTo>
                  <a:lnTo>
                    <a:pt x="9144" y="64008"/>
                  </a:lnTo>
                </a:path>
                <a:path w="9525" h="68579">
                  <a:moveTo>
                    <a:pt x="0" y="68579"/>
                  </a:moveTo>
                  <a:lnTo>
                    <a:pt x="9144" y="68579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1" name="object 541"/>
            <p:cNvSpPr/>
            <p:nvPr/>
          </p:nvSpPr>
          <p:spPr>
            <a:xfrm>
              <a:off x="7996428" y="5456681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2" name="object 542"/>
          <p:cNvGrpSpPr/>
          <p:nvPr/>
        </p:nvGrpSpPr>
        <p:grpSpPr>
          <a:xfrm>
            <a:off x="5207508" y="5330952"/>
            <a:ext cx="173990" cy="146685"/>
            <a:chOff x="5207508" y="5330952"/>
            <a:chExt cx="173990" cy="146685"/>
          </a:xfrm>
        </p:grpSpPr>
        <p:pic>
          <p:nvPicPr>
            <p:cNvPr id="543" name="object 543"/>
            <p:cNvPicPr/>
            <p:nvPr/>
          </p:nvPicPr>
          <p:blipFill>
            <a:blip r:embed="rId380" cstate="print"/>
            <a:stretch>
              <a:fillRect/>
            </a:stretch>
          </p:blipFill>
          <p:spPr>
            <a:xfrm>
              <a:off x="5230368" y="5330952"/>
              <a:ext cx="77724" cy="22860"/>
            </a:xfrm>
            <a:prstGeom prst="rect">
              <a:avLst/>
            </a:prstGeom>
          </p:spPr>
        </p:pic>
        <p:pic>
          <p:nvPicPr>
            <p:cNvPr id="544" name="object 544"/>
            <p:cNvPicPr/>
            <p:nvPr/>
          </p:nvPicPr>
          <p:blipFill>
            <a:blip r:embed="rId381" cstate="print"/>
            <a:stretch>
              <a:fillRect/>
            </a:stretch>
          </p:blipFill>
          <p:spPr>
            <a:xfrm>
              <a:off x="5294376" y="5349240"/>
              <a:ext cx="18288" cy="18288"/>
            </a:xfrm>
            <a:prstGeom prst="rect">
              <a:avLst/>
            </a:prstGeom>
          </p:spPr>
        </p:pic>
        <p:pic>
          <p:nvPicPr>
            <p:cNvPr id="545" name="object 545"/>
            <p:cNvPicPr/>
            <p:nvPr/>
          </p:nvPicPr>
          <p:blipFill>
            <a:blip r:embed="rId382" cstate="print"/>
            <a:stretch>
              <a:fillRect/>
            </a:stretch>
          </p:blipFill>
          <p:spPr>
            <a:xfrm>
              <a:off x="5216652" y="5353812"/>
              <a:ext cx="27432" cy="18288"/>
            </a:xfrm>
            <a:prstGeom prst="rect">
              <a:avLst/>
            </a:prstGeom>
          </p:spPr>
        </p:pic>
        <p:sp>
          <p:nvSpPr>
            <p:cNvPr id="546" name="object 546"/>
            <p:cNvSpPr/>
            <p:nvPr/>
          </p:nvSpPr>
          <p:spPr>
            <a:xfrm>
              <a:off x="5216652" y="5369814"/>
              <a:ext cx="96520" cy="5080"/>
            </a:xfrm>
            <a:custGeom>
              <a:avLst/>
              <a:gdLst/>
              <a:ahLst/>
              <a:cxnLst/>
              <a:rect l="l" t="t" r="r" b="b"/>
              <a:pathLst>
                <a:path w="96520" h="5079">
                  <a:moveTo>
                    <a:pt x="77724" y="0"/>
                  </a:moveTo>
                  <a:lnTo>
                    <a:pt x="96012" y="0"/>
                  </a:lnTo>
                </a:path>
                <a:path w="96520" h="5079">
                  <a:moveTo>
                    <a:pt x="0" y="4571"/>
                  </a:moveTo>
                  <a:lnTo>
                    <a:pt x="18288" y="4571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7" name="object 547"/>
            <p:cNvPicPr/>
            <p:nvPr/>
          </p:nvPicPr>
          <p:blipFill>
            <a:blip r:embed="rId383" cstate="print"/>
            <a:stretch>
              <a:fillRect/>
            </a:stretch>
          </p:blipFill>
          <p:spPr>
            <a:xfrm>
              <a:off x="5294376" y="5372100"/>
              <a:ext cx="73152" cy="9144"/>
            </a:xfrm>
            <a:prstGeom prst="rect">
              <a:avLst/>
            </a:prstGeom>
          </p:spPr>
        </p:pic>
        <p:pic>
          <p:nvPicPr>
            <p:cNvPr id="548" name="object 548"/>
            <p:cNvPicPr/>
            <p:nvPr/>
          </p:nvPicPr>
          <p:blipFill>
            <a:blip r:embed="rId384" cstate="print"/>
            <a:stretch>
              <a:fillRect/>
            </a:stretch>
          </p:blipFill>
          <p:spPr>
            <a:xfrm>
              <a:off x="5285232" y="5376672"/>
              <a:ext cx="77724" cy="27432"/>
            </a:xfrm>
            <a:prstGeom prst="rect">
              <a:avLst/>
            </a:prstGeom>
          </p:spPr>
        </p:pic>
        <p:pic>
          <p:nvPicPr>
            <p:cNvPr id="549" name="object 549"/>
            <p:cNvPicPr/>
            <p:nvPr/>
          </p:nvPicPr>
          <p:blipFill>
            <a:blip r:embed="rId385" cstate="print"/>
            <a:stretch>
              <a:fillRect/>
            </a:stretch>
          </p:blipFill>
          <p:spPr>
            <a:xfrm>
              <a:off x="5280660" y="5399532"/>
              <a:ext cx="100583" cy="18288"/>
            </a:xfrm>
            <a:prstGeom prst="rect">
              <a:avLst/>
            </a:prstGeom>
          </p:spPr>
        </p:pic>
        <p:pic>
          <p:nvPicPr>
            <p:cNvPr id="550" name="object 550"/>
            <p:cNvPicPr/>
            <p:nvPr/>
          </p:nvPicPr>
          <p:blipFill>
            <a:blip r:embed="rId386" cstate="print"/>
            <a:stretch>
              <a:fillRect/>
            </a:stretch>
          </p:blipFill>
          <p:spPr>
            <a:xfrm>
              <a:off x="5207508" y="5376672"/>
              <a:ext cx="82296" cy="64008"/>
            </a:xfrm>
            <a:prstGeom prst="rect">
              <a:avLst/>
            </a:prstGeom>
          </p:spPr>
        </p:pic>
        <p:pic>
          <p:nvPicPr>
            <p:cNvPr id="551" name="object 551"/>
            <p:cNvPicPr/>
            <p:nvPr/>
          </p:nvPicPr>
          <p:blipFill>
            <a:blip r:embed="rId387" cstate="print"/>
            <a:stretch>
              <a:fillRect/>
            </a:stretch>
          </p:blipFill>
          <p:spPr>
            <a:xfrm>
              <a:off x="5340096" y="5413248"/>
              <a:ext cx="18288" cy="18288"/>
            </a:xfrm>
            <a:prstGeom prst="rect">
              <a:avLst/>
            </a:prstGeom>
          </p:spPr>
        </p:pic>
        <p:pic>
          <p:nvPicPr>
            <p:cNvPr id="552" name="object 552"/>
            <p:cNvPicPr/>
            <p:nvPr/>
          </p:nvPicPr>
          <p:blipFill>
            <a:blip r:embed="rId388" cstate="print"/>
            <a:stretch>
              <a:fillRect/>
            </a:stretch>
          </p:blipFill>
          <p:spPr>
            <a:xfrm>
              <a:off x="5335524" y="5431536"/>
              <a:ext cx="18288" cy="18288"/>
            </a:xfrm>
            <a:prstGeom prst="rect">
              <a:avLst/>
            </a:prstGeom>
          </p:spPr>
        </p:pic>
        <p:pic>
          <p:nvPicPr>
            <p:cNvPr id="553" name="object 553"/>
            <p:cNvPicPr/>
            <p:nvPr/>
          </p:nvPicPr>
          <p:blipFill>
            <a:blip r:embed="rId389" cstate="print"/>
            <a:stretch>
              <a:fillRect/>
            </a:stretch>
          </p:blipFill>
          <p:spPr>
            <a:xfrm>
              <a:off x="5330952" y="5449824"/>
              <a:ext cx="50292" cy="18288"/>
            </a:xfrm>
            <a:prstGeom prst="rect">
              <a:avLst/>
            </a:prstGeom>
          </p:spPr>
        </p:pic>
        <p:pic>
          <p:nvPicPr>
            <p:cNvPr id="554" name="object 554"/>
            <p:cNvPicPr/>
            <p:nvPr/>
          </p:nvPicPr>
          <p:blipFill>
            <a:blip r:embed="rId390" cstate="print"/>
            <a:stretch>
              <a:fillRect/>
            </a:stretch>
          </p:blipFill>
          <p:spPr>
            <a:xfrm>
              <a:off x="5335524" y="5463540"/>
              <a:ext cx="36576" cy="13716"/>
            </a:xfrm>
            <a:prstGeom prst="rect">
              <a:avLst/>
            </a:prstGeom>
          </p:spPr>
        </p:pic>
      </p:grpSp>
      <p:grpSp>
        <p:nvGrpSpPr>
          <p:cNvPr id="555" name="object 555"/>
          <p:cNvGrpSpPr/>
          <p:nvPr/>
        </p:nvGrpSpPr>
        <p:grpSpPr>
          <a:xfrm>
            <a:off x="5742432" y="5335523"/>
            <a:ext cx="123825" cy="105410"/>
            <a:chOff x="5742432" y="5335523"/>
            <a:chExt cx="123825" cy="105410"/>
          </a:xfrm>
        </p:grpSpPr>
        <p:pic>
          <p:nvPicPr>
            <p:cNvPr id="556" name="object 556"/>
            <p:cNvPicPr/>
            <p:nvPr/>
          </p:nvPicPr>
          <p:blipFill>
            <a:blip r:embed="rId391" cstate="print"/>
            <a:stretch>
              <a:fillRect/>
            </a:stretch>
          </p:blipFill>
          <p:spPr>
            <a:xfrm>
              <a:off x="5756148" y="5335523"/>
              <a:ext cx="109728" cy="27432"/>
            </a:xfrm>
            <a:prstGeom prst="rect">
              <a:avLst/>
            </a:prstGeom>
          </p:spPr>
        </p:pic>
        <p:pic>
          <p:nvPicPr>
            <p:cNvPr id="557" name="object 557"/>
            <p:cNvPicPr/>
            <p:nvPr/>
          </p:nvPicPr>
          <p:blipFill>
            <a:blip r:embed="rId392" cstate="print"/>
            <a:stretch>
              <a:fillRect/>
            </a:stretch>
          </p:blipFill>
          <p:spPr>
            <a:xfrm>
              <a:off x="5820156" y="5358383"/>
              <a:ext cx="18288" cy="22860"/>
            </a:xfrm>
            <a:prstGeom prst="rect">
              <a:avLst/>
            </a:prstGeom>
          </p:spPr>
        </p:pic>
        <p:pic>
          <p:nvPicPr>
            <p:cNvPr id="558" name="object 558"/>
            <p:cNvPicPr/>
            <p:nvPr/>
          </p:nvPicPr>
          <p:blipFill>
            <a:blip r:embed="rId393" cstate="print"/>
            <a:stretch>
              <a:fillRect/>
            </a:stretch>
          </p:blipFill>
          <p:spPr>
            <a:xfrm>
              <a:off x="5742432" y="5362955"/>
              <a:ext cx="27432" cy="22860"/>
            </a:xfrm>
            <a:prstGeom prst="rect">
              <a:avLst/>
            </a:prstGeom>
          </p:spPr>
        </p:pic>
        <p:sp>
          <p:nvSpPr>
            <p:cNvPr id="559" name="object 559"/>
            <p:cNvSpPr/>
            <p:nvPr/>
          </p:nvSpPr>
          <p:spPr>
            <a:xfrm>
              <a:off x="5820156" y="5383529"/>
              <a:ext cx="13970" cy="5080"/>
            </a:xfrm>
            <a:custGeom>
              <a:avLst/>
              <a:gdLst/>
              <a:ahLst/>
              <a:cxnLst/>
              <a:rect l="l" t="t" r="r" b="b"/>
              <a:pathLst>
                <a:path w="13970" h="5079">
                  <a:moveTo>
                    <a:pt x="0" y="0"/>
                  </a:moveTo>
                  <a:lnTo>
                    <a:pt x="13716" y="0"/>
                  </a:lnTo>
                </a:path>
                <a:path w="13970" h="5079">
                  <a:moveTo>
                    <a:pt x="0" y="4572"/>
                  </a:moveTo>
                  <a:lnTo>
                    <a:pt x="13716" y="4572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0" name="object 560"/>
            <p:cNvPicPr/>
            <p:nvPr/>
          </p:nvPicPr>
          <p:blipFill>
            <a:blip r:embed="rId394" cstate="print"/>
            <a:stretch>
              <a:fillRect/>
            </a:stretch>
          </p:blipFill>
          <p:spPr>
            <a:xfrm>
              <a:off x="5742432" y="5385815"/>
              <a:ext cx="13716" cy="22860"/>
            </a:xfrm>
            <a:prstGeom prst="rect">
              <a:avLst/>
            </a:prstGeom>
          </p:spPr>
        </p:pic>
        <p:pic>
          <p:nvPicPr>
            <p:cNvPr id="561" name="object 561"/>
            <p:cNvPicPr/>
            <p:nvPr/>
          </p:nvPicPr>
          <p:blipFill>
            <a:blip r:embed="rId395" cstate="print"/>
            <a:stretch>
              <a:fillRect/>
            </a:stretch>
          </p:blipFill>
          <p:spPr>
            <a:xfrm>
              <a:off x="5742432" y="5390387"/>
              <a:ext cx="91440" cy="50292"/>
            </a:xfrm>
            <a:prstGeom prst="rect">
              <a:avLst/>
            </a:prstGeom>
          </p:spPr>
        </p:pic>
      </p:grpSp>
      <p:pic>
        <p:nvPicPr>
          <p:cNvPr id="562" name="object 562"/>
          <p:cNvPicPr/>
          <p:nvPr/>
        </p:nvPicPr>
        <p:blipFill>
          <a:blip r:embed="rId396" cstate="print"/>
          <a:stretch>
            <a:fillRect/>
          </a:stretch>
        </p:blipFill>
        <p:spPr>
          <a:xfrm>
            <a:off x="6391655" y="5367528"/>
            <a:ext cx="22859" cy="22860"/>
          </a:xfrm>
          <a:prstGeom prst="rect">
            <a:avLst/>
          </a:prstGeom>
        </p:spPr>
      </p:pic>
      <p:pic>
        <p:nvPicPr>
          <p:cNvPr id="563" name="object 563"/>
          <p:cNvPicPr/>
          <p:nvPr/>
        </p:nvPicPr>
        <p:blipFill>
          <a:blip r:embed="rId397" cstate="print"/>
          <a:stretch>
            <a:fillRect/>
          </a:stretch>
        </p:blipFill>
        <p:spPr>
          <a:xfrm>
            <a:off x="5486400" y="5349240"/>
            <a:ext cx="160020" cy="59436"/>
          </a:xfrm>
          <a:prstGeom prst="rect">
            <a:avLst/>
          </a:prstGeom>
        </p:spPr>
      </p:pic>
      <p:grpSp>
        <p:nvGrpSpPr>
          <p:cNvPr id="564" name="object 564"/>
          <p:cNvGrpSpPr/>
          <p:nvPr/>
        </p:nvGrpSpPr>
        <p:grpSpPr>
          <a:xfrm>
            <a:off x="7388352" y="5413247"/>
            <a:ext cx="27940" cy="73660"/>
            <a:chOff x="7388352" y="5413247"/>
            <a:chExt cx="27940" cy="73660"/>
          </a:xfrm>
        </p:grpSpPr>
        <p:pic>
          <p:nvPicPr>
            <p:cNvPr id="565" name="object 565"/>
            <p:cNvPicPr/>
            <p:nvPr/>
          </p:nvPicPr>
          <p:blipFill>
            <a:blip r:embed="rId398" cstate="print"/>
            <a:stretch>
              <a:fillRect/>
            </a:stretch>
          </p:blipFill>
          <p:spPr>
            <a:xfrm>
              <a:off x="7388352" y="5413247"/>
              <a:ext cx="22859" cy="9144"/>
            </a:xfrm>
            <a:prstGeom prst="rect">
              <a:avLst/>
            </a:prstGeom>
          </p:spPr>
        </p:pic>
        <p:pic>
          <p:nvPicPr>
            <p:cNvPr id="566" name="object 566"/>
            <p:cNvPicPr/>
            <p:nvPr/>
          </p:nvPicPr>
          <p:blipFill>
            <a:blip r:embed="rId399" cstate="print"/>
            <a:stretch>
              <a:fillRect/>
            </a:stretch>
          </p:blipFill>
          <p:spPr>
            <a:xfrm>
              <a:off x="7388352" y="5422391"/>
              <a:ext cx="27432" cy="13716"/>
            </a:xfrm>
            <a:prstGeom prst="rect">
              <a:avLst/>
            </a:prstGeom>
          </p:spPr>
        </p:pic>
        <p:pic>
          <p:nvPicPr>
            <p:cNvPr id="567" name="object 567"/>
            <p:cNvPicPr/>
            <p:nvPr/>
          </p:nvPicPr>
          <p:blipFill>
            <a:blip r:embed="rId400" cstate="print"/>
            <a:stretch>
              <a:fillRect/>
            </a:stretch>
          </p:blipFill>
          <p:spPr>
            <a:xfrm>
              <a:off x="7397496" y="5436107"/>
              <a:ext cx="18288" cy="13716"/>
            </a:xfrm>
            <a:prstGeom prst="rect">
              <a:avLst/>
            </a:prstGeom>
          </p:spPr>
        </p:pic>
        <p:pic>
          <p:nvPicPr>
            <p:cNvPr id="568" name="object 568"/>
            <p:cNvPicPr/>
            <p:nvPr/>
          </p:nvPicPr>
          <p:blipFill>
            <a:blip r:embed="rId401" cstate="print"/>
            <a:stretch>
              <a:fillRect/>
            </a:stretch>
          </p:blipFill>
          <p:spPr>
            <a:xfrm>
              <a:off x="7402068" y="5449823"/>
              <a:ext cx="9144" cy="13716"/>
            </a:xfrm>
            <a:prstGeom prst="rect">
              <a:avLst/>
            </a:prstGeom>
          </p:spPr>
        </p:pic>
        <p:pic>
          <p:nvPicPr>
            <p:cNvPr id="569" name="object 569"/>
            <p:cNvPicPr/>
            <p:nvPr/>
          </p:nvPicPr>
          <p:blipFill>
            <a:blip r:embed="rId402" cstate="print"/>
            <a:stretch>
              <a:fillRect/>
            </a:stretch>
          </p:blipFill>
          <p:spPr>
            <a:xfrm>
              <a:off x="7397496" y="5463539"/>
              <a:ext cx="9144" cy="9144"/>
            </a:xfrm>
            <a:prstGeom prst="rect">
              <a:avLst/>
            </a:prstGeom>
          </p:spPr>
        </p:pic>
        <p:sp>
          <p:nvSpPr>
            <p:cNvPr id="570" name="object 570"/>
            <p:cNvSpPr/>
            <p:nvPr/>
          </p:nvSpPr>
          <p:spPr>
            <a:xfrm>
              <a:off x="7397496" y="5474969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1" name="object 571"/>
            <p:cNvSpPr/>
            <p:nvPr/>
          </p:nvSpPr>
          <p:spPr>
            <a:xfrm>
              <a:off x="7392924" y="5484113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572" y="0"/>
                  </a:lnTo>
                </a:path>
              </a:pathLst>
            </a:custGeom>
            <a:ln w="4572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2" name="object 57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40</a:t>
            </a:fld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865" y="1558543"/>
            <a:ext cx="3297554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Variants</a:t>
            </a:r>
            <a:r>
              <a:rPr spc="-25" dirty="0"/>
              <a:t> </a:t>
            </a:r>
            <a:r>
              <a:rPr spc="-10" dirty="0"/>
              <a:t>of</a:t>
            </a:r>
            <a:r>
              <a:rPr spc="-15" dirty="0"/>
              <a:t> </a:t>
            </a:r>
            <a:r>
              <a:rPr spc="-10" dirty="0"/>
              <a:t>LSTMs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865" y="2533902"/>
            <a:ext cx="8392160" cy="132969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01295" marR="5080" indent="-189230">
              <a:lnSpc>
                <a:spcPts val="2500"/>
              </a:lnSpc>
              <a:spcBef>
                <a:spcPts val="415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dirty="0">
                <a:latin typeface="Calibri"/>
                <a:cs typeface="Calibri"/>
              </a:rPr>
              <a:t>Another </a:t>
            </a:r>
            <a:r>
              <a:rPr sz="2300" spc="-5" dirty="0">
                <a:latin typeface="Calibri"/>
                <a:cs typeface="Calibri"/>
              </a:rPr>
              <a:t>variation </a:t>
            </a:r>
            <a:r>
              <a:rPr sz="2300" dirty="0">
                <a:latin typeface="Calibri"/>
                <a:cs typeface="Calibri"/>
              </a:rPr>
              <a:t>is </a:t>
            </a:r>
            <a:r>
              <a:rPr sz="2300" spc="-5" dirty="0">
                <a:latin typeface="Calibri"/>
                <a:cs typeface="Calibri"/>
              </a:rPr>
              <a:t>to </a:t>
            </a:r>
            <a:r>
              <a:rPr sz="2300" dirty="0">
                <a:latin typeface="Calibri"/>
                <a:cs typeface="Calibri"/>
              </a:rPr>
              <a:t>use </a:t>
            </a:r>
            <a:r>
              <a:rPr sz="2300" i="1" spc="-5" dirty="0">
                <a:solidFill>
                  <a:srgbClr val="FF0000"/>
                </a:solidFill>
                <a:latin typeface="Calibri"/>
                <a:cs typeface="Calibri"/>
              </a:rPr>
              <a:t>coupled forget </a:t>
            </a:r>
            <a:r>
              <a:rPr sz="2300" i="1" dirty="0">
                <a:solidFill>
                  <a:srgbClr val="FF0000"/>
                </a:solidFill>
                <a:latin typeface="Calibri"/>
                <a:cs typeface="Calibri"/>
              </a:rPr>
              <a:t>and input gates</a:t>
            </a:r>
            <a:r>
              <a:rPr sz="2300" dirty="0">
                <a:latin typeface="Calibri"/>
                <a:cs typeface="Calibri"/>
              </a:rPr>
              <a:t>. </a:t>
            </a:r>
            <a:r>
              <a:rPr sz="2300" spc="-5" dirty="0">
                <a:latin typeface="Calibri"/>
                <a:cs typeface="Calibri"/>
              </a:rPr>
              <a:t>Instead </a:t>
            </a:r>
            <a:r>
              <a:rPr sz="2300" spc="5" dirty="0">
                <a:latin typeface="Calibri"/>
                <a:cs typeface="Calibri"/>
              </a:rPr>
              <a:t>of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separately </a:t>
            </a:r>
            <a:r>
              <a:rPr sz="2300" dirty="0">
                <a:latin typeface="Calibri"/>
                <a:cs typeface="Calibri"/>
              </a:rPr>
              <a:t>deciding</a:t>
            </a:r>
            <a:r>
              <a:rPr sz="2300" spc="-5" dirty="0">
                <a:latin typeface="Calibri"/>
                <a:cs typeface="Calibri"/>
              </a:rPr>
              <a:t> what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to </a:t>
            </a:r>
            <a:r>
              <a:rPr sz="2300" spc="-15" dirty="0">
                <a:latin typeface="Calibri"/>
                <a:cs typeface="Calibri"/>
              </a:rPr>
              <a:t>forget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what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we</a:t>
            </a:r>
            <a:r>
              <a:rPr sz="2300" dirty="0">
                <a:latin typeface="Calibri"/>
                <a:cs typeface="Calibri"/>
              </a:rPr>
              <a:t> should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add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new 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information </a:t>
            </a:r>
            <a:r>
              <a:rPr sz="2300" spc="-15" dirty="0">
                <a:latin typeface="Calibri"/>
                <a:cs typeface="Calibri"/>
              </a:rPr>
              <a:t>to, </a:t>
            </a:r>
            <a:r>
              <a:rPr sz="2300" spc="-5" dirty="0">
                <a:latin typeface="Calibri"/>
                <a:cs typeface="Calibri"/>
              </a:rPr>
              <a:t>we </a:t>
            </a:r>
            <a:r>
              <a:rPr sz="2300" spc="-15" dirty="0">
                <a:latin typeface="Calibri"/>
                <a:cs typeface="Calibri"/>
              </a:rPr>
              <a:t>make </a:t>
            </a:r>
            <a:r>
              <a:rPr sz="2300" dirty="0">
                <a:latin typeface="Calibri"/>
                <a:cs typeface="Calibri"/>
              </a:rPr>
              <a:t>those decisions </a:t>
            </a:r>
            <a:r>
              <a:rPr sz="2300" spc="-30" dirty="0">
                <a:latin typeface="Calibri"/>
                <a:cs typeface="Calibri"/>
              </a:rPr>
              <a:t>together. We </a:t>
            </a:r>
            <a:r>
              <a:rPr sz="2300" dirty="0">
                <a:latin typeface="Calibri"/>
                <a:cs typeface="Calibri"/>
              </a:rPr>
              <a:t>only </a:t>
            </a:r>
            <a:r>
              <a:rPr sz="2300" spc="-15" dirty="0">
                <a:latin typeface="Calibri"/>
                <a:cs typeface="Calibri"/>
              </a:rPr>
              <a:t>forget 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when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we’re </a:t>
            </a:r>
            <a:r>
              <a:rPr sz="2300" dirty="0">
                <a:latin typeface="Calibri"/>
                <a:cs typeface="Calibri"/>
              </a:rPr>
              <a:t>going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to input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something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place.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06879" y="4276344"/>
            <a:ext cx="2971800" cy="1938655"/>
            <a:chOff x="1706879" y="4276344"/>
            <a:chExt cx="2971800" cy="1938655"/>
          </a:xfrm>
        </p:grpSpPr>
        <p:sp>
          <p:nvSpPr>
            <p:cNvPr id="5" name="object 5"/>
            <p:cNvSpPr/>
            <p:nvPr/>
          </p:nvSpPr>
          <p:spPr>
            <a:xfrm>
              <a:off x="4108703" y="4290060"/>
              <a:ext cx="140335" cy="109855"/>
            </a:xfrm>
            <a:custGeom>
              <a:avLst/>
              <a:gdLst/>
              <a:ahLst/>
              <a:cxnLst/>
              <a:rect l="l" t="t" r="r" b="b"/>
              <a:pathLst>
                <a:path w="140335" h="109854">
                  <a:moveTo>
                    <a:pt x="64008" y="0"/>
                  </a:moveTo>
                  <a:lnTo>
                    <a:pt x="76199" y="0"/>
                  </a:lnTo>
                </a:path>
                <a:path w="140335" h="109854">
                  <a:moveTo>
                    <a:pt x="51815" y="15240"/>
                  </a:moveTo>
                  <a:lnTo>
                    <a:pt x="88392" y="15240"/>
                  </a:lnTo>
                </a:path>
                <a:path w="140335" h="109854">
                  <a:moveTo>
                    <a:pt x="51815" y="18288"/>
                  </a:moveTo>
                  <a:lnTo>
                    <a:pt x="88392" y="18288"/>
                  </a:lnTo>
                </a:path>
                <a:path w="140335" h="109854">
                  <a:moveTo>
                    <a:pt x="36575" y="42672"/>
                  </a:moveTo>
                  <a:lnTo>
                    <a:pt x="103632" y="42672"/>
                  </a:lnTo>
                </a:path>
                <a:path w="140335" h="109854">
                  <a:moveTo>
                    <a:pt x="24384" y="67056"/>
                  </a:moveTo>
                  <a:lnTo>
                    <a:pt x="115823" y="67056"/>
                  </a:lnTo>
                </a:path>
                <a:path w="140335" h="109854">
                  <a:moveTo>
                    <a:pt x="0" y="109728"/>
                  </a:moveTo>
                  <a:lnTo>
                    <a:pt x="140207" y="109728"/>
                  </a:lnTo>
                </a:path>
              </a:pathLst>
            </a:custGeom>
            <a:ln w="3175">
              <a:solidFill>
                <a:srgbClr val="A8B9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59351" y="4279392"/>
              <a:ext cx="51815" cy="6095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53255" y="4337304"/>
              <a:ext cx="100583" cy="2438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53255" y="4358640"/>
              <a:ext cx="106680" cy="609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50207" y="4361688"/>
              <a:ext cx="103631" cy="3962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056887" y="4384548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C5CF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56887" y="438759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0" y="0"/>
                  </a:moveTo>
                  <a:lnTo>
                    <a:pt x="3047" y="0"/>
                  </a:lnTo>
                </a:path>
                <a:path w="3175" h="3175">
                  <a:moveTo>
                    <a:pt x="0" y="3048"/>
                  </a:moveTo>
                  <a:lnTo>
                    <a:pt x="3047" y="3048"/>
                  </a:lnTo>
                </a:path>
              </a:pathLst>
            </a:custGeom>
            <a:ln w="3175">
              <a:solidFill>
                <a:srgbClr val="CED9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53839" y="4393692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B2C2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47615" y="4672584"/>
              <a:ext cx="82296" cy="2438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614672" y="4695444"/>
              <a:ext cx="6350" cy="3175"/>
            </a:xfrm>
            <a:custGeom>
              <a:avLst/>
              <a:gdLst/>
              <a:ahLst/>
              <a:cxnLst/>
              <a:rect l="l" t="t" r="r" b="b"/>
              <a:pathLst>
                <a:path w="6350" h="3175">
                  <a:moveTo>
                    <a:pt x="0" y="0"/>
                  </a:moveTo>
                  <a:lnTo>
                    <a:pt x="6095" y="0"/>
                  </a:lnTo>
                </a:path>
                <a:path w="6350" h="3175">
                  <a:moveTo>
                    <a:pt x="0" y="3048"/>
                  </a:moveTo>
                  <a:lnTo>
                    <a:pt x="6095" y="3048"/>
                  </a:lnTo>
                </a:path>
              </a:pathLst>
            </a:custGeom>
            <a:ln w="3175">
              <a:solidFill>
                <a:srgbClr val="A8B9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14672" y="471068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A9B9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14672" y="4713731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D5E1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29327" y="4738116"/>
              <a:ext cx="9525" cy="6350"/>
            </a:xfrm>
            <a:custGeom>
              <a:avLst/>
              <a:gdLst/>
              <a:ahLst/>
              <a:cxnLst/>
              <a:rect l="l" t="t" r="r" b="b"/>
              <a:pathLst>
                <a:path w="9525" h="6350">
                  <a:moveTo>
                    <a:pt x="0" y="0"/>
                  </a:moveTo>
                  <a:lnTo>
                    <a:pt x="9144" y="0"/>
                  </a:lnTo>
                </a:path>
                <a:path w="9525" h="6350">
                  <a:moveTo>
                    <a:pt x="0" y="3048"/>
                  </a:moveTo>
                  <a:lnTo>
                    <a:pt x="9144" y="3048"/>
                  </a:lnTo>
                </a:path>
                <a:path w="9525" h="6350">
                  <a:moveTo>
                    <a:pt x="0" y="6096"/>
                  </a:moveTo>
                  <a:lnTo>
                    <a:pt x="9144" y="6096"/>
                  </a:lnTo>
                </a:path>
              </a:pathLst>
            </a:custGeom>
            <a:ln w="3175">
              <a:solidFill>
                <a:srgbClr val="A8B9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608575" y="4744212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AEBE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08575" y="474726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C3D0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29327" y="4696968"/>
              <a:ext cx="128016" cy="8839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96383" y="4748784"/>
              <a:ext cx="60959" cy="4267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32959" y="4788408"/>
              <a:ext cx="21335" cy="609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40407" y="4730495"/>
              <a:ext cx="67055" cy="914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22119" y="4736592"/>
              <a:ext cx="82296" cy="1828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716023" y="4753356"/>
              <a:ext cx="85725" cy="15240"/>
            </a:xfrm>
            <a:custGeom>
              <a:avLst/>
              <a:gdLst/>
              <a:ahLst/>
              <a:cxnLst/>
              <a:rect l="l" t="t" r="r" b="b"/>
              <a:pathLst>
                <a:path w="85725" h="15239">
                  <a:moveTo>
                    <a:pt x="79247" y="0"/>
                  </a:moveTo>
                  <a:lnTo>
                    <a:pt x="85343" y="0"/>
                  </a:lnTo>
                </a:path>
                <a:path w="85725" h="15239">
                  <a:moveTo>
                    <a:pt x="0" y="15239"/>
                  </a:moveTo>
                  <a:lnTo>
                    <a:pt x="9144" y="15239"/>
                  </a:lnTo>
                </a:path>
              </a:pathLst>
            </a:custGeom>
            <a:ln w="3175">
              <a:solidFill>
                <a:srgbClr val="A8B9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95271" y="4768595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B8C8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25751" y="4789931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C8D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86127" y="4796027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C2CD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86127" y="479907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0" y="0"/>
                  </a:moveTo>
                  <a:lnTo>
                    <a:pt x="3047" y="0"/>
                  </a:lnTo>
                </a:path>
                <a:path w="3175" h="3175">
                  <a:moveTo>
                    <a:pt x="0" y="3048"/>
                  </a:moveTo>
                  <a:lnTo>
                    <a:pt x="3047" y="3048"/>
                  </a:lnTo>
                </a:path>
              </a:pathLst>
            </a:custGeom>
            <a:ln w="3175">
              <a:solidFill>
                <a:srgbClr val="AEBF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783079" y="480822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B1C1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62911" y="478688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BDC7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06879" y="4754880"/>
              <a:ext cx="259079" cy="85343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831847" y="48387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B5C4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959863" y="48387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A8B9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28799" y="4841748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BBC7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959863" y="48417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A8B9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828799" y="4844795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BBC7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959863" y="484479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A8B9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86127" y="4276344"/>
              <a:ext cx="2886455" cy="134416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62855" y="5617463"/>
              <a:ext cx="48767" cy="42671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34311" y="5635752"/>
              <a:ext cx="45719" cy="4571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56759" y="5657088"/>
              <a:ext cx="97536" cy="18287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53711" y="5672327"/>
              <a:ext cx="97535" cy="9143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34311" y="5675376"/>
              <a:ext cx="48768" cy="12191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553711" y="5678424"/>
              <a:ext cx="106680" cy="9143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593335" y="568299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A8B9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614672" y="568299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B4C2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614672" y="568604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B9C8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553711" y="56890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3175">
              <a:solidFill>
                <a:srgbClr val="A8B9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611623" y="5689091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BBC8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553711" y="569214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3175">
              <a:solidFill>
                <a:srgbClr val="A8B9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611623" y="569214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BBC8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725167" y="5684519"/>
              <a:ext cx="106680" cy="33527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4657344" y="5704332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C9D1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657344" y="570738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0" y="0"/>
                  </a:moveTo>
                  <a:lnTo>
                    <a:pt x="3047" y="0"/>
                  </a:lnTo>
                </a:path>
                <a:path w="3175" h="3175">
                  <a:moveTo>
                    <a:pt x="0" y="3048"/>
                  </a:moveTo>
                  <a:lnTo>
                    <a:pt x="3047" y="3048"/>
                  </a:lnTo>
                </a:path>
              </a:pathLst>
            </a:custGeom>
            <a:ln w="3175">
              <a:solidFill>
                <a:srgbClr val="C6D4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654295" y="571347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B1C0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761743" y="5715000"/>
              <a:ext cx="57912" cy="6095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722119" y="5718047"/>
              <a:ext cx="97536" cy="6095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722119" y="5687568"/>
              <a:ext cx="240792" cy="54863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73935" y="5733288"/>
              <a:ext cx="57911" cy="21335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783079" y="5620511"/>
              <a:ext cx="2895600" cy="499871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029967" y="6117336"/>
              <a:ext cx="54863" cy="9143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048255" y="6123432"/>
              <a:ext cx="36575" cy="6095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017775" y="6126479"/>
              <a:ext cx="67055" cy="9143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017775" y="6132576"/>
              <a:ext cx="109728" cy="33527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014727" y="6160008"/>
              <a:ext cx="112776" cy="12191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188463" y="6117336"/>
              <a:ext cx="33528" cy="97535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011679" y="6169151"/>
              <a:ext cx="64007" cy="9143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014727" y="6169151"/>
              <a:ext cx="106679" cy="33527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2121407" y="6192011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BCCB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118359" y="619506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B3C2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2" name="object 72"/>
          <p:cNvGrpSpPr/>
          <p:nvPr/>
        </p:nvGrpSpPr>
        <p:grpSpPr>
          <a:xfrm>
            <a:off x="6745223" y="5175503"/>
            <a:ext cx="158750" cy="219710"/>
            <a:chOff x="6745223" y="5175503"/>
            <a:chExt cx="158750" cy="219710"/>
          </a:xfrm>
        </p:grpSpPr>
        <p:sp>
          <p:nvSpPr>
            <p:cNvPr id="73" name="object 73"/>
            <p:cNvSpPr/>
            <p:nvPr/>
          </p:nvSpPr>
          <p:spPr>
            <a:xfrm>
              <a:off x="6793991" y="5177027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3A3A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745223" y="5210555"/>
              <a:ext cx="33655" cy="60960"/>
            </a:xfrm>
            <a:custGeom>
              <a:avLst/>
              <a:gdLst/>
              <a:ahLst/>
              <a:cxnLst/>
              <a:rect l="l" t="t" r="r" b="b"/>
              <a:pathLst>
                <a:path w="33654" h="60960">
                  <a:moveTo>
                    <a:pt x="18287" y="0"/>
                  </a:moveTo>
                  <a:lnTo>
                    <a:pt x="33528" y="0"/>
                  </a:lnTo>
                </a:path>
                <a:path w="33654" h="60960">
                  <a:moveTo>
                    <a:pt x="0" y="57912"/>
                  </a:moveTo>
                  <a:lnTo>
                    <a:pt x="18288" y="57912"/>
                  </a:lnTo>
                </a:path>
                <a:path w="33654" h="60960">
                  <a:moveTo>
                    <a:pt x="0" y="60960"/>
                  </a:moveTo>
                  <a:lnTo>
                    <a:pt x="18288" y="609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745223" y="5178551"/>
              <a:ext cx="158496" cy="216407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6745223" y="5295899"/>
              <a:ext cx="18415" cy="6350"/>
            </a:xfrm>
            <a:custGeom>
              <a:avLst/>
              <a:gdLst/>
              <a:ahLst/>
              <a:cxnLst/>
              <a:rect l="l" t="t" r="r" b="b"/>
              <a:pathLst>
                <a:path w="18415" h="6350">
                  <a:moveTo>
                    <a:pt x="0" y="0"/>
                  </a:moveTo>
                  <a:lnTo>
                    <a:pt x="18288" y="0"/>
                  </a:lnTo>
                </a:path>
                <a:path w="18415" h="6350">
                  <a:moveTo>
                    <a:pt x="0" y="3047"/>
                  </a:moveTo>
                  <a:lnTo>
                    <a:pt x="18288" y="3047"/>
                  </a:lnTo>
                </a:path>
                <a:path w="18415" h="6350">
                  <a:moveTo>
                    <a:pt x="0" y="6095"/>
                  </a:moveTo>
                  <a:lnTo>
                    <a:pt x="18288" y="60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7" name="object 77"/>
          <p:cNvGrpSpPr/>
          <p:nvPr/>
        </p:nvGrpSpPr>
        <p:grpSpPr>
          <a:xfrm>
            <a:off x="7187183" y="5175503"/>
            <a:ext cx="238125" cy="219710"/>
            <a:chOff x="7187183" y="5175503"/>
            <a:chExt cx="238125" cy="219710"/>
          </a:xfrm>
        </p:grpSpPr>
        <p:sp>
          <p:nvSpPr>
            <p:cNvPr id="78" name="object 78"/>
            <p:cNvSpPr/>
            <p:nvPr/>
          </p:nvSpPr>
          <p:spPr>
            <a:xfrm>
              <a:off x="7373111" y="5177027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238999" y="5210555"/>
              <a:ext cx="182880" cy="55244"/>
            </a:xfrm>
            <a:custGeom>
              <a:avLst/>
              <a:gdLst/>
              <a:ahLst/>
              <a:cxnLst/>
              <a:rect l="l" t="t" r="r" b="b"/>
              <a:pathLst>
                <a:path w="182879" h="55245">
                  <a:moveTo>
                    <a:pt x="155448" y="3048"/>
                  </a:moveTo>
                  <a:lnTo>
                    <a:pt x="167639" y="3048"/>
                  </a:lnTo>
                </a:path>
                <a:path w="182879" h="55245">
                  <a:moveTo>
                    <a:pt x="155448" y="6096"/>
                  </a:moveTo>
                  <a:lnTo>
                    <a:pt x="167639" y="6096"/>
                  </a:lnTo>
                </a:path>
                <a:path w="182879" h="55245">
                  <a:moveTo>
                    <a:pt x="164591" y="48768"/>
                  </a:moveTo>
                  <a:lnTo>
                    <a:pt x="182880" y="48768"/>
                  </a:lnTo>
                </a:path>
                <a:path w="182879" h="55245">
                  <a:moveTo>
                    <a:pt x="12191" y="0"/>
                  </a:moveTo>
                  <a:lnTo>
                    <a:pt x="30480" y="0"/>
                  </a:lnTo>
                </a:path>
                <a:path w="182879" h="55245">
                  <a:moveTo>
                    <a:pt x="9144" y="15239"/>
                  </a:moveTo>
                  <a:lnTo>
                    <a:pt x="24384" y="15239"/>
                  </a:lnTo>
                </a:path>
                <a:path w="182879" h="55245">
                  <a:moveTo>
                    <a:pt x="9144" y="18287"/>
                  </a:moveTo>
                  <a:lnTo>
                    <a:pt x="24384" y="18287"/>
                  </a:lnTo>
                </a:path>
                <a:path w="182879" h="55245">
                  <a:moveTo>
                    <a:pt x="0" y="54863"/>
                  </a:moveTo>
                  <a:lnTo>
                    <a:pt x="18288" y="548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220711" y="5178551"/>
              <a:ext cx="204215" cy="158495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7400543" y="5335523"/>
              <a:ext cx="15240" cy="3175"/>
            </a:xfrm>
            <a:custGeom>
              <a:avLst/>
              <a:gdLst/>
              <a:ahLst/>
              <a:cxnLst/>
              <a:rect l="l" t="t" r="r" b="b"/>
              <a:pathLst>
                <a:path w="15240" h="3175">
                  <a:moveTo>
                    <a:pt x="0" y="0"/>
                  </a:moveTo>
                  <a:lnTo>
                    <a:pt x="15240" y="0"/>
                  </a:lnTo>
                </a:path>
                <a:path w="15240" h="3175">
                  <a:moveTo>
                    <a:pt x="0" y="3047"/>
                  </a:moveTo>
                  <a:lnTo>
                    <a:pt x="15240" y="304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296911" y="5337047"/>
              <a:ext cx="45720" cy="18287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293863" y="5340095"/>
              <a:ext cx="121920" cy="51815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187183" y="5282183"/>
              <a:ext cx="67056" cy="103631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7373111" y="5393435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1010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6" name="object 86"/>
          <p:cNvGrpSpPr/>
          <p:nvPr/>
        </p:nvGrpSpPr>
        <p:grpSpPr>
          <a:xfrm>
            <a:off x="7653528" y="5141976"/>
            <a:ext cx="201295" cy="228600"/>
            <a:chOff x="7653528" y="5141976"/>
            <a:chExt cx="201295" cy="228600"/>
          </a:xfrm>
        </p:grpSpPr>
        <p:pic>
          <p:nvPicPr>
            <p:cNvPr id="87" name="object 8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693152" y="5141976"/>
              <a:ext cx="115824" cy="70103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7656576" y="5210556"/>
              <a:ext cx="143510" cy="67310"/>
            </a:xfrm>
            <a:custGeom>
              <a:avLst/>
              <a:gdLst/>
              <a:ahLst/>
              <a:cxnLst/>
              <a:rect l="l" t="t" r="r" b="b"/>
              <a:pathLst>
                <a:path w="143509" h="67310">
                  <a:moveTo>
                    <a:pt x="124968" y="0"/>
                  </a:moveTo>
                  <a:lnTo>
                    <a:pt x="143256" y="0"/>
                  </a:lnTo>
                </a:path>
                <a:path w="143509" h="67310">
                  <a:moveTo>
                    <a:pt x="131063" y="15239"/>
                  </a:moveTo>
                  <a:lnTo>
                    <a:pt x="140208" y="15239"/>
                  </a:lnTo>
                </a:path>
                <a:path w="143509" h="67310">
                  <a:moveTo>
                    <a:pt x="6096" y="48768"/>
                  </a:moveTo>
                  <a:lnTo>
                    <a:pt x="21336" y="48768"/>
                  </a:lnTo>
                </a:path>
                <a:path w="143509" h="67310">
                  <a:moveTo>
                    <a:pt x="0" y="60960"/>
                  </a:moveTo>
                  <a:lnTo>
                    <a:pt x="18288" y="60960"/>
                  </a:lnTo>
                </a:path>
                <a:path w="143509" h="67310">
                  <a:moveTo>
                    <a:pt x="0" y="64008"/>
                  </a:moveTo>
                  <a:lnTo>
                    <a:pt x="18288" y="64008"/>
                  </a:lnTo>
                </a:path>
                <a:path w="143509" h="67310">
                  <a:moveTo>
                    <a:pt x="0" y="67056"/>
                  </a:moveTo>
                  <a:lnTo>
                    <a:pt x="18288" y="670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778496" y="528675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1C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775448" y="5292852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653528" y="5212080"/>
              <a:ext cx="201167" cy="158495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7662672" y="5308092"/>
              <a:ext cx="109855" cy="6350"/>
            </a:xfrm>
            <a:custGeom>
              <a:avLst/>
              <a:gdLst/>
              <a:ahLst/>
              <a:cxnLst/>
              <a:rect l="l" t="t" r="r" b="b"/>
              <a:pathLst>
                <a:path w="109854" h="6350">
                  <a:moveTo>
                    <a:pt x="0" y="0"/>
                  </a:moveTo>
                  <a:lnTo>
                    <a:pt x="12191" y="0"/>
                  </a:lnTo>
                </a:path>
                <a:path w="109854" h="6350">
                  <a:moveTo>
                    <a:pt x="106679" y="0"/>
                  </a:moveTo>
                  <a:lnTo>
                    <a:pt x="109727" y="0"/>
                  </a:lnTo>
                </a:path>
                <a:path w="109854" h="6350">
                  <a:moveTo>
                    <a:pt x="3048" y="6096"/>
                  </a:moveTo>
                  <a:lnTo>
                    <a:pt x="15239" y="60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3" name="object 93"/>
          <p:cNvGrpSpPr/>
          <p:nvPr/>
        </p:nvGrpSpPr>
        <p:grpSpPr>
          <a:xfrm>
            <a:off x="5644896" y="5187696"/>
            <a:ext cx="149860" cy="195580"/>
            <a:chOff x="5644896" y="5187696"/>
            <a:chExt cx="149860" cy="195580"/>
          </a:xfrm>
        </p:grpSpPr>
        <p:pic>
          <p:nvPicPr>
            <p:cNvPr id="94" name="object 94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711952" y="5187696"/>
              <a:ext cx="39624" cy="15239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5705856" y="5201412"/>
              <a:ext cx="45720" cy="27940"/>
            </a:xfrm>
            <a:custGeom>
              <a:avLst/>
              <a:gdLst/>
              <a:ahLst/>
              <a:cxnLst/>
              <a:rect l="l" t="t" r="r" b="b"/>
              <a:pathLst>
                <a:path w="45720" h="27939">
                  <a:moveTo>
                    <a:pt x="30480" y="0"/>
                  </a:moveTo>
                  <a:lnTo>
                    <a:pt x="45720" y="0"/>
                  </a:lnTo>
                </a:path>
                <a:path w="45720" h="27939">
                  <a:moveTo>
                    <a:pt x="0" y="27431"/>
                  </a:moveTo>
                  <a:lnTo>
                    <a:pt x="9144" y="274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681472" y="5202936"/>
              <a:ext cx="103632" cy="91439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644896" y="5294376"/>
              <a:ext cx="60960" cy="79247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748528" y="5291328"/>
              <a:ext cx="45719" cy="79247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5791200" y="535076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0909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100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647944" y="5340096"/>
              <a:ext cx="45720" cy="42671"/>
            </a:xfrm>
            <a:prstGeom prst="rect">
              <a:avLst/>
            </a:prstGeom>
          </p:spPr>
        </p:pic>
      </p:grpSp>
      <p:grpSp>
        <p:nvGrpSpPr>
          <p:cNvPr id="101" name="object 101"/>
          <p:cNvGrpSpPr/>
          <p:nvPr/>
        </p:nvGrpSpPr>
        <p:grpSpPr>
          <a:xfrm>
            <a:off x="5129784" y="5187696"/>
            <a:ext cx="201295" cy="182880"/>
            <a:chOff x="5129784" y="5187696"/>
            <a:chExt cx="201295" cy="182880"/>
          </a:xfrm>
        </p:grpSpPr>
        <p:pic>
          <p:nvPicPr>
            <p:cNvPr id="102" name="object 102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5169408" y="5187696"/>
              <a:ext cx="112776" cy="24383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5132832" y="5210556"/>
              <a:ext cx="143510" cy="67310"/>
            </a:xfrm>
            <a:custGeom>
              <a:avLst/>
              <a:gdLst/>
              <a:ahLst/>
              <a:cxnLst/>
              <a:rect l="l" t="t" r="r" b="b"/>
              <a:pathLst>
                <a:path w="143510" h="67310">
                  <a:moveTo>
                    <a:pt x="124968" y="0"/>
                  </a:moveTo>
                  <a:lnTo>
                    <a:pt x="143256" y="0"/>
                  </a:lnTo>
                </a:path>
                <a:path w="143510" h="67310">
                  <a:moveTo>
                    <a:pt x="128016" y="15239"/>
                  </a:moveTo>
                  <a:lnTo>
                    <a:pt x="140207" y="15239"/>
                  </a:lnTo>
                </a:path>
                <a:path w="143510" h="67310">
                  <a:moveTo>
                    <a:pt x="3048" y="48768"/>
                  </a:moveTo>
                  <a:lnTo>
                    <a:pt x="21336" y="48768"/>
                  </a:lnTo>
                </a:path>
                <a:path w="143510" h="67310">
                  <a:moveTo>
                    <a:pt x="0" y="60960"/>
                  </a:moveTo>
                  <a:lnTo>
                    <a:pt x="18288" y="60960"/>
                  </a:lnTo>
                </a:path>
                <a:path w="143510" h="67310">
                  <a:moveTo>
                    <a:pt x="0" y="64008"/>
                  </a:moveTo>
                  <a:lnTo>
                    <a:pt x="18288" y="64008"/>
                  </a:lnTo>
                </a:path>
                <a:path w="143510" h="67310">
                  <a:moveTo>
                    <a:pt x="0" y="67056"/>
                  </a:moveTo>
                  <a:lnTo>
                    <a:pt x="18288" y="670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5254752" y="528675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2C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5251704" y="5292852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106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129784" y="5212080"/>
              <a:ext cx="201168" cy="158495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5245608" y="5308092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8" name="object 108"/>
          <p:cNvGrpSpPr/>
          <p:nvPr/>
        </p:nvGrpSpPr>
        <p:grpSpPr>
          <a:xfrm>
            <a:off x="6025896" y="5187696"/>
            <a:ext cx="411480" cy="182880"/>
            <a:chOff x="6025896" y="5187696"/>
            <a:chExt cx="411480" cy="182880"/>
          </a:xfrm>
        </p:grpSpPr>
        <p:pic>
          <p:nvPicPr>
            <p:cNvPr id="109" name="object 109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050280" y="5187696"/>
              <a:ext cx="131063" cy="39623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6160008" y="5225796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0"/>
                  </a:moveTo>
                  <a:lnTo>
                    <a:pt x="9144" y="0"/>
                  </a:lnTo>
                </a:path>
                <a:path w="9525" h="12700">
                  <a:moveTo>
                    <a:pt x="0" y="9144"/>
                  </a:moveTo>
                  <a:lnTo>
                    <a:pt x="6095" y="9144"/>
                  </a:lnTo>
                </a:path>
                <a:path w="9525" h="12700">
                  <a:moveTo>
                    <a:pt x="0" y="12192"/>
                  </a:moveTo>
                  <a:lnTo>
                    <a:pt x="6095" y="121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6160008" y="5247132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6031992" y="5268468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6205728" y="528066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0B0B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153912" y="528675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5454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6202680" y="5286756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147816" y="5289804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0505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147816" y="529285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8" name="object 118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025896" y="5227320"/>
              <a:ext cx="94488" cy="115823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6144768" y="530199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6114288" y="5227320"/>
              <a:ext cx="112775" cy="103631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6035040" y="5311140"/>
              <a:ext cx="167640" cy="18415"/>
            </a:xfrm>
            <a:custGeom>
              <a:avLst/>
              <a:gdLst/>
              <a:ahLst/>
              <a:cxnLst/>
              <a:rect l="l" t="t" r="r" b="b"/>
              <a:pathLst>
                <a:path w="167639" h="18414">
                  <a:moveTo>
                    <a:pt x="0" y="0"/>
                  </a:moveTo>
                  <a:lnTo>
                    <a:pt x="15240" y="0"/>
                  </a:lnTo>
                </a:path>
                <a:path w="167639" h="18414">
                  <a:moveTo>
                    <a:pt x="155448" y="18287"/>
                  </a:moveTo>
                  <a:lnTo>
                    <a:pt x="167639" y="182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2" name="object 122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6385560" y="5269992"/>
              <a:ext cx="30480" cy="15239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6406896" y="5283708"/>
              <a:ext cx="9525" cy="52069"/>
            </a:xfrm>
            <a:custGeom>
              <a:avLst/>
              <a:gdLst/>
              <a:ahLst/>
              <a:cxnLst/>
              <a:rect l="l" t="t" r="r" b="b"/>
              <a:pathLst>
                <a:path w="9525" h="52070">
                  <a:moveTo>
                    <a:pt x="0" y="0"/>
                  </a:moveTo>
                  <a:lnTo>
                    <a:pt x="9144" y="0"/>
                  </a:lnTo>
                </a:path>
                <a:path w="9525" h="52070">
                  <a:moveTo>
                    <a:pt x="0" y="3048"/>
                  </a:moveTo>
                  <a:lnTo>
                    <a:pt x="9144" y="3048"/>
                  </a:lnTo>
                </a:path>
                <a:path w="9525" h="52070">
                  <a:moveTo>
                    <a:pt x="0" y="6096"/>
                  </a:moveTo>
                  <a:lnTo>
                    <a:pt x="9144" y="6096"/>
                  </a:lnTo>
                </a:path>
                <a:path w="9525" h="52070">
                  <a:moveTo>
                    <a:pt x="0" y="9144"/>
                  </a:moveTo>
                  <a:lnTo>
                    <a:pt x="9144" y="9144"/>
                  </a:lnTo>
                </a:path>
                <a:path w="9525" h="52070">
                  <a:moveTo>
                    <a:pt x="0" y="12192"/>
                  </a:moveTo>
                  <a:lnTo>
                    <a:pt x="9144" y="12192"/>
                  </a:lnTo>
                </a:path>
                <a:path w="9525" h="52070">
                  <a:moveTo>
                    <a:pt x="0" y="15239"/>
                  </a:moveTo>
                  <a:lnTo>
                    <a:pt x="9144" y="15239"/>
                  </a:lnTo>
                </a:path>
                <a:path w="9525" h="52070">
                  <a:moveTo>
                    <a:pt x="0" y="18287"/>
                  </a:moveTo>
                  <a:lnTo>
                    <a:pt x="9144" y="18287"/>
                  </a:lnTo>
                </a:path>
                <a:path w="9525" h="52070">
                  <a:moveTo>
                    <a:pt x="0" y="21336"/>
                  </a:moveTo>
                  <a:lnTo>
                    <a:pt x="9144" y="21336"/>
                  </a:lnTo>
                </a:path>
                <a:path w="9525" h="52070">
                  <a:moveTo>
                    <a:pt x="0" y="24384"/>
                  </a:moveTo>
                  <a:lnTo>
                    <a:pt x="9144" y="24384"/>
                  </a:lnTo>
                </a:path>
                <a:path w="9525" h="52070">
                  <a:moveTo>
                    <a:pt x="0" y="27432"/>
                  </a:moveTo>
                  <a:lnTo>
                    <a:pt x="9144" y="27432"/>
                  </a:lnTo>
                </a:path>
                <a:path w="9525" h="52070">
                  <a:moveTo>
                    <a:pt x="0" y="30480"/>
                  </a:moveTo>
                  <a:lnTo>
                    <a:pt x="9144" y="30480"/>
                  </a:lnTo>
                </a:path>
                <a:path w="9525" h="52070">
                  <a:moveTo>
                    <a:pt x="0" y="33528"/>
                  </a:moveTo>
                  <a:lnTo>
                    <a:pt x="9144" y="33528"/>
                  </a:lnTo>
                </a:path>
                <a:path w="9525" h="52070">
                  <a:moveTo>
                    <a:pt x="0" y="36575"/>
                  </a:moveTo>
                  <a:lnTo>
                    <a:pt x="9144" y="36575"/>
                  </a:lnTo>
                </a:path>
                <a:path w="9525" h="52070">
                  <a:moveTo>
                    <a:pt x="0" y="39624"/>
                  </a:moveTo>
                  <a:lnTo>
                    <a:pt x="9144" y="39624"/>
                  </a:lnTo>
                </a:path>
                <a:path w="9525" h="52070">
                  <a:moveTo>
                    <a:pt x="0" y="42672"/>
                  </a:moveTo>
                  <a:lnTo>
                    <a:pt x="9144" y="42672"/>
                  </a:lnTo>
                </a:path>
                <a:path w="9525" h="52070">
                  <a:moveTo>
                    <a:pt x="0" y="45720"/>
                  </a:moveTo>
                  <a:lnTo>
                    <a:pt x="9144" y="45720"/>
                  </a:lnTo>
                </a:path>
                <a:path w="9525" h="52070">
                  <a:moveTo>
                    <a:pt x="0" y="48768"/>
                  </a:moveTo>
                  <a:lnTo>
                    <a:pt x="9144" y="48768"/>
                  </a:lnTo>
                </a:path>
                <a:path w="9525" h="52070">
                  <a:moveTo>
                    <a:pt x="0" y="51816"/>
                  </a:moveTo>
                  <a:lnTo>
                    <a:pt x="9144" y="51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24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6184392" y="5327904"/>
              <a:ext cx="167640" cy="30479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6184392" y="5343144"/>
              <a:ext cx="36576" cy="27431"/>
            </a:xfrm>
            <a:prstGeom prst="rect">
              <a:avLst/>
            </a:prstGeom>
          </p:spPr>
        </p:pic>
        <p:sp>
          <p:nvSpPr>
            <p:cNvPr id="126" name="object 126"/>
            <p:cNvSpPr/>
            <p:nvPr/>
          </p:nvSpPr>
          <p:spPr>
            <a:xfrm>
              <a:off x="6187440" y="536600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7" name="object 127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385560" y="5337048"/>
              <a:ext cx="51815" cy="33527"/>
            </a:xfrm>
            <a:prstGeom prst="rect">
              <a:avLst/>
            </a:prstGeom>
          </p:spPr>
        </p:pic>
      </p:grpSp>
      <p:grpSp>
        <p:nvGrpSpPr>
          <p:cNvPr id="128" name="object 128"/>
          <p:cNvGrpSpPr/>
          <p:nvPr/>
        </p:nvGrpSpPr>
        <p:grpSpPr>
          <a:xfrm>
            <a:off x="6525768" y="5212079"/>
            <a:ext cx="140335" cy="143510"/>
            <a:chOff x="6525768" y="5212079"/>
            <a:chExt cx="140335" cy="143510"/>
          </a:xfrm>
        </p:grpSpPr>
        <p:pic>
          <p:nvPicPr>
            <p:cNvPr id="129" name="object 129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6592824" y="5212079"/>
              <a:ext cx="6095" cy="6095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6592824" y="521969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1" name="object 131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6525768" y="5221223"/>
              <a:ext cx="140207" cy="67055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6592824" y="5289803"/>
              <a:ext cx="6350" cy="60960"/>
            </a:xfrm>
            <a:custGeom>
              <a:avLst/>
              <a:gdLst/>
              <a:ahLst/>
              <a:cxnLst/>
              <a:rect l="l" t="t" r="r" b="b"/>
              <a:pathLst>
                <a:path w="6350" h="60960">
                  <a:moveTo>
                    <a:pt x="0" y="0"/>
                  </a:moveTo>
                  <a:lnTo>
                    <a:pt x="6095" y="0"/>
                  </a:lnTo>
                </a:path>
                <a:path w="6350" h="60960">
                  <a:moveTo>
                    <a:pt x="0" y="3048"/>
                  </a:moveTo>
                  <a:lnTo>
                    <a:pt x="6095" y="3048"/>
                  </a:lnTo>
                </a:path>
                <a:path w="6350" h="60960">
                  <a:moveTo>
                    <a:pt x="0" y="6096"/>
                  </a:moveTo>
                  <a:lnTo>
                    <a:pt x="6095" y="6096"/>
                  </a:lnTo>
                </a:path>
                <a:path w="6350" h="60960">
                  <a:moveTo>
                    <a:pt x="0" y="9143"/>
                  </a:moveTo>
                  <a:lnTo>
                    <a:pt x="6095" y="9143"/>
                  </a:lnTo>
                </a:path>
                <a:path w="6350" h="60960">
                  <a:moveTo>
                    <a:pt x="0" y="12191"/>
                  </a:moveTo>
                  <a:lnTo>
                    <a:pt x="6095" y="12191"/>
                  </a:lnTo>
                </a:path>
                <a:path w="6350" h="60960">
                  <a:moveTo>
                    <a:pt x="0" y="15239"/>
                  </a:moveTo>
                  <a:lnTo>
                    <a:pt x="6095" y="15239"/>
                  </a:lnTo>
                </a:path>
                <a:path w="6350" h="60960">
                  <a:moveTo>
                    <a:pt x="0" y="18287"/>
                  </a:moveTo>
                  <a:lnTo>
                    <a:pt x="6095" y="18287"/>
                  </a:lnTo>
                </a:path>
                <a:path w="6350" h="60960">
                  <a:moveTo>
                    <a:pt x="0" y="21336"/>
                  </a:moveTo>
                  <a:lnTo>
                    <a:pt x="6095" y="21336"/>
                  </a:lnTo>
                </a:path>
                <a:path w="6350" h="60960">
                  <a:moveTo>
                    <a:pt x="0" y="24384"/>
                  </a:moveTo>
                  <a:lnTo>
                    <a:pt x="6095" y="24384"/>
                  </a:lnTo>
                </a:path>
                <a:path w="6350" h="60960">
                  <a:moveTo>
                    <a:pt x="0" y="27432"/>
                  </a:moveTo>
                  <a:lnTo>
                    <a:pt x="6095" y="27432"/>
                  </a:lnTo>
                </a:path>
                <a:path w="6350" h="60960">
                  <a:moveTo>
                    <a:pt x="0" y="30479"/>
                  </a:moveTo>
                  <a:lnTo>
                    <a:pt x="6095" y="30479"/>
                  </a:lnTo>
                </a:path>
                <a:path w="6350" h="60960">
                  <a:moveTo>
                    <a:pt x="0" y="33527"/>
                  </a:moveTo>
                  <a:lnTo>
                    <a:pt x="6095" y="33527"/>
                  </a:lnTo>
                </a:path>
                <a:path w="6350" h="60960">
                  <a:moveTo>
                    <a:pt x="0" y="36575"/>
                  </a:moveTo>
                  <a:lnTo>
                    <a:pt x="6095" y="36575"/>
                  </a:lnTo>
                </a:path>
                <a:path w="6350" h="60960">
                  <a:moveTo>
                    <a:pt x="0" y="39624"/>
                  </a:moveTo>
                  <a:lnTo>
                    <a:pt x="6095" y="39624"/>
                  </a:lnTo>
                </a:path>
                <a:path w="6350" h="60960">
                  <a:moveTo>
                    <a:pt x="0" y="42672"/>
                  </a:moveTo>
                  <a:lnTo>
                    <a:pt x="6095" y="42672"/>
                  </a:lnTo>
                </a:path>
                <a:path w="6350" h="60960">
                  <a:moveTo>
                    <a:pt x="0" y="45720"/>
                  </a:moveTo>
                  <a:lnTo>
                    <a:pt x="6095" y="45720"/>
                  </a:lnTo>
                </a:path>
                <a:path w="6350" h="60960">
                  <a:moveTo>
                    <a:pt x="0" y="48767"/>
                  </a:moveTo>
                  <a:lnTo>
                    <a:pt x="6095" y="48767"/>
                  </a:lnTo>
                </a:path>
                <a:path w="6350" h="60960">
                  <a:moveTo>
                    <a:pt x="0" y="51815"/>
                  </a:moveTo>
                  <a:lnTo>
                    <a:pt x="6095" y="51815"/>
                  </a:lnTo>
                </a:path>
                <a:path w="6350" h="60960">
                  <a:moveTo>
                    <a:pt x="0" y="54863"/>
                  </a:moveTo>
                  <a:lnTo>
                    <a:pt x="6095" y="54863"/>
                  </a:lnTo>
                </a:path>
                <a:path w="6350" h="60960">
                  <a:moveTo>
                    <a:pt x="0" y="57912"/>
                  </a:moveTo>
                  <a:lnTo>
                    <a:pt x="6095" y="57912"/>
                  </a:lnTo>
                </a:path>
                <a:path w="6350" h="60960">
                  <a:moveTo>
                    <a:pt x="0" y="60960"/>
                  </a:moveTo>
                  <a:lnTo>
                    <a:pt x="6095" y="609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3" name="object 133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6592824" y="5352287"/>
              <a:ext cx="6095" cy="3047"/>
            </a:xfrm>
            <a:prstGeom prst="rect">
              <a:avLst/>
            </a:prstGeom>
          </p:spPr>
        </p:pic>
      </p:grpSp>
      <p:grpSp>
        <p:nvGrpSpPr>
          <p:cNvPr id="134" name="object 134"/>
          <p:cNvGrpSpPr/>
          <p:nvPr/>
        </p:nvGrpSpPr>
        <p:grpSpPr>
          <a:xfrm>
            <a:off x="7504176" y="5239511"/>
            <a:ext cx="79375" cy="91440"/>
            <a:chOff x="7504176" y="5239511"/>
            <a:chExt cx="79375" cy="91440"/>
          </a:xfrm>
        </p:grpSpPr>
        <p:pic>
          <p:nvPicPr>
            <p:cNvPr id="135" name="object 135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7507224" y="5239511"/>
              <a:ext cx="42672" cy="24383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7504176" y="5257799"/>
              <a:ext cx="79248" cy="51815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7540752" y="5306567"/>
              <a:ext cx="42671" cy="24383"/>
            </a:xfrm>
            <a:prstGeom prst="rect">
              <a:avLst/>
            </a:prstGeom>
          </p:spPr>
        </p:pic>
      </p:grpSp>
      <p:grpSp>
        <p:nvGrpSpPr>
          <p:cNvPr id="138" name="object 138"/>
          <p:cNvGrpSpPr/>
          <p:nvPr/>
        </p:nvGrpSpPr>
        <p:grpSpPr>
          <a:xfrm>
            <a:off x="5876544" y="5239511"/>
            <a:ext cx="79375" cy="91440"/>
            <a:chOff x="5876544" y="5239511"/>
            <a:chExt cx="79375" cy="91440"/>
          </a:xfrm>
        </p:grpSpPr>
        <p:sp>
          <p:nvSpPr>
            <p:cNvPr id="139" name="object 139"/>
            <p:cNvSpPr/>
            <p:nvPr/>
          </p:nvSpPr>
          <p:spPr>
            <a:xfrm>
              <a:off x="5913120" y="525932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0" name="object 140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5876544" y="5239511"/>
              <a:ext cx="79248" cy="91439"/>
            </a:xfrm>
            <a:prstGeom prst="rect">
              <a:avLst/>
            </a:prstGeom>
          </p:spPr>
        </p:pic>
        <p:sp>
          <p:nvSpPr>
            <p:cNvPr id="141" name="object 141"/>
            <p:cNvSpPr/>
            <p:nvPr/>
          </p:nvSpPr>
          <p:spPr>
            <a:xfrm>
              <a:off x="5913120" y="5311139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2" name="object 142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6979919" y="5279135"/>
            <a:ext cx="137160" cy="12191"/>
          </a:xfrm>
          <a:prstGeom prst="rect">
            <a:avLst/>
          </a:prstGeom>
        </p:spPr>
      </p:pic>
      <p:pic>
        <p:nvPicPr>
          <p:cNvPr id="143" name="object 143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5422391" y="5260847"/>
            <a:ext cx="140207" cy="48767"/>
          </a:xfrm>
          <a:prstGeom prst="rect">
            <a:avLst/>
          </a:prstGeom>
        </p:spPr>
      </p:pic>
      <p:sp>
        <p:nvSpPr>
          <p:cNvPr id="144" name="object 1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41</a:t>
            </a:fld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865" y="1558543"/>
            <a:ext cx="3297554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Variants</a:t>
            </a:r>
            <a:r>
              <a:rPr spc="-25" dirty="0"/>
              <a:t> </a:t>
            </a:r>
            <a:r>
              <a:rPr spc="-10" dirty="0"/>
              <a:t>of</a:t>
            </a:r>
            <a:r>
              <a:rPr spc="-15" dirty="0"/>
              <a:t> </a:t>
            </a:r>
            <a:r>
              <a:rPr spc="-10" dirty="0"/>
              <a:t>LSTMs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865" y="2232151"/>
            <a:ext cx="8520430" cy="206756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01295" marR="5080" indent="-189230">
              <a:lnSpc>
                <a:spcPts val="2500"/>
              </a:lnSpc>
              <a:spcBef>
                <a:spcPts val="415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spc="5" dirty="0">
                <a:latin typeface="Calibri"/>
                <a:cs typeface="Calibri"/>
              </a:rPr>
              <a:t>A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slightly more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dramatic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variation </a:t>
            </a:r>
            <a:r>
              <a:rPr sz="2300" spc="5" dirty="0">
                <a:latin typeface="Calibri"/>
                <a:cs typeface="Calibri"/>
              </a:rPr>
              <a:t>on</a:t>
            </a:r>
            <a:r>
              <a:rPr sz="2300" dirty="0">
                <a:latin typeface="Calibri"/>
                <a:cs typeface="Calibri"/>
              </a:rPr>
              <a:t> the LSTM is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the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solidFill>
                  <a:srgbClr val="FF0000"/>
                </a:solidFill>
                <a:latin typeface="Calibri"/>
                <a:cs typeface="Calibri"/>
              </a:rPr>
              <a:t>Gated </a:t>
            </a:r>
            <a:r>
              <a:rPr sz="2300" spc="-10" dirty="0">
                <a:solidFill>
                  <a:srgbClr val="FF0000"/>
                </a:solidFill>
                <a:latin typeface="Calibri"/>
                <a:cs typeface="Calibri"/>
              </a:rPr>
              <a:t>Recurrent </a:t>
            </a:r>
            <a:r>
              <a:rPr sz="2300" spc="-5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Unit,</a:t>
            </a:r>
            <a:r>
              <a:rPr sz="23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spc="5" dirty="0">
                <a:solidFill>
                  <a:srgbClr val="FF0000"/>
                </a:solidFill>
                <a:latin typeface="Calibri"/>
                <a:cs typeface="Calibri"/>
              </a:rPr>
              <a:t>or </a:t>
            </a:r>
            <a:r>
              <a:rPr sz="2300" spc="-5" dirty="0">
                <a:solidFill>
                  <a:srgbClr val="FF0000"/>
                </a:solidFill>
                <a:latin typeface="Calibri"/>
                <a:cs typeface="Calibri"/>
              </a:rPr>
              <a:t>GRU</a:t>
            </a:r>
            <a:r>
              <a:rPr sz="2300" spc="-5" dirty="0">
                <a:latin typeface="Calibri"/>
                <a:cs typeface="Calibri"/>
              </a:rPr>
              <a:t>, introduced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by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Cho, et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al.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(2014).</a:t>
            </a:r>
            <a:endParaRPr sz="2300">
              <a:latin typeface="Calibri"/>
              <a:cs typeface="Calibri"/>
            </a:endParaRPr>
          </a:p>
          <a:p>
            <a:pPr marL="201295" marR="170815" indent="-189230">
              <a:lnSpc>
                <a:spcPct val="90300"/>
              </a:lnSpc>
              <a:spcBef>
                <a:spcPts val="785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dirty="0">
                <a:latin typeface="Calibri"/>
                <a:cs typeface="Calibri"/>
              </a:rPr>
              <a:t>It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combines the </a:t>
            </a:r>
            <a:r>
              <a:rPr sz="2300" spc="-15" dirty="0">
                <a:latin typeface="Calibri"/>
                <a:cs typeface="Calibri"/>
              </a:rPr>
              <a:t>forget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input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gates</a:t>
            </a:r>
            <a:r>
              <a:rPr sz="2300" spc="-10" dirty="0">
                <a:latin typeface="Calibri"/>
                <a:cs typeface="Calibri"/>
              </a:rPr>
              <a:t> into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a</a:t>
            </a:r>
            <a:r>
              <a:rPr sz="2300" dirty="0">
                <a:latin typeface="Calibri"/>
                <a:cs typeface="Calibri"/>
              </a:rPr>
              <a:t> single </a:t>
            </a:r>
            <a:r>
              <a:rPr sz="2300" spc="-5" dirty="0">
                <a:latin typeface="Calibri"/>
                <a:cs typeface="Calibri"/>
              </a:rPr>
              <a:t>“update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40" dirty="0">
                <a:latin typeface="Calibri"/>
                <a:cs typeface="Calibri"/>
              </a:rPr>
              <a:t>gate.”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 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also </a:t>
            </a:r>
            <a:r>
              <a:rPr sz="2300" spc="-5" dirty="0">
                <a:latin typeface="Calibri"/>
                <a:cs typeface="Calibri"/>
              </a:rPr>
              <a:t>merges </a:t>
            </a:r>
            <a:r>
              <a:rPr sz="2300" dirty="0">
                <a:latin typeface="Calibri"/>
                <a:cs typeface="Calibri"/>
              </a:rPr>
              <a:t>the </a:t>
            </a:r>
            <a:r>
              <a:rPr sz="2300" spc="5" dirty="0">
                <a:latin typeface="Calibri"/>
                <a:cs typeface="Calibri"/>
              </a:rPr>
              <a:t>cell </a:t>
            </a:r>
            <a:r>
              <a:rPr sz="2300" spc="-15" dirty="0">
                <a:latin typeface="Calibri"/>
                <a:cs typeface="Calibri"/>
              </a:rPr>
              <a:t>state </a:t>
            </a:r>
            <a:r>
              <a:rPr sz="2300" dirty="0">
                <a:latin typeface="Calibri"/>
                <a:cs typeface="Calibri"/>
              </a:rPr>
              <a:t>and hidden </a:t>
            </a:r>
            <a:r>
              <a:rPr sz="2300" spc="-15" dirty="0">
                <a:latin typeface="Calibri"/>
                <a:cs typeface="Calibri"/>
              </a:rPr>
              <a:t>state, </a:t>
            </a:r>
            <a:r>
              <a:rPr sz="2300" dirty="0">
                <a:latin typeface="Calibri"/>
                <a:cs typeface="Calibri"/>
              </a:rPr>
              <a:t>and </a:t>
            </a:r>
            <a:r>
              <a:rPr sz="2300" spc="-10" dirty="0">
                <a:latin typeface="Calibri"/>
                <a:cs typeface="Calibri"/>
              </a:rPr>
              <a:t>makes </a:t>
            </a:r>
            <a:r>
              <a:rPr sz="2300" spc="5" dirty="0">
                <a:latin typeface="Calibri"/>
                <a:cs typeface="Calibri"/>
              </a:rPr>
              <a:t>some other 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changes.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 </a:t>
            </a:r>
            <a:r>
              <a:rPr sz="2300" spc="-5" dirty="0">
                <a:latin typeface="Calibri"/>
                <a:cs typeface="Calibri"/>
              </a:rPr>
              <a:t>resulting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model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simpler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than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standard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LSTM models,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has </a:t>
            </a:r>
            <a:r>
              <a:rPr sz="2300" spc="5" dirty="0">
                <a:latin typeface="Calibri"/>
                <a:cs typeface="Calibri"/>
              </a:rPr>
              <a:t>been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growing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increasingly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30" dirty="0">
                <a:latin typeface="Calibri"/>
                <a:cs typeface="Calibri"/>
              </a:rPr>
              <a:t>popular.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81783" y="4431791"/>
            <a:ext cx="2688590" cy="1862455"/>
            <a:chOff x="2081783" y="4431791"/>
            <a:chExt cx="2688590" cy="1862455"/>
          </a:xfrm>
        </p:grpSpPr>
        <p:sp>
          <p:nvSpPr>
            <p:cNvPr id="5" name="object 5"/>
            <p:cNvSpPr/>
            <p:nvPr/>
          </p:nvSpPr>
          <p:spPr>
            <a:xfrm>
              <a:off x="4535423" y="4448555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0404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68367" y="4454651"/>
              <a:ext cx="140335" cy="113030"/>
            </a:xfrm>
            <a:custGeom>
              <a:avLst/>
              <a:gdLst/>
              <a:ahLst/>
              <a:cxnLst/>
              <a:rect l="l" t="t" r="r" b="b"/>
              <a:pathLst>
                <a:path w="140335" h="113029">
                  <a:moveTo>
                    <a:pt x="64008" y="0"/>
                  </a:moveTo>
                  <a:lnTo>
                    <a:pt x="76199" y="0"/>
                  </a:lnTo>
                </a:path>
                <a:path w="140335" h="113029">
                  <a:moveTo>
                    <a:pt x="51815" y="24384"/>
                  </a:moveTo>
                  <a:lnTo>
                    <a:pt x="88392" y="24384"/>
                  </a:lnTo>
                </a:path>
                <a:path w="140335" h="113029">
                  <a:moveTo>
                    <a:pt x="39624" y="39624"/>
                  </a:moveTo>
                  <a:lnTo>
                    <a:pt x="97535" y="39624"/>
                  </a:lnTo>
                </a:path>
                <a:path w="140335" h="113029">
                  <a:moveTo>
                    <a:pt x="39624" y="42672"/>
                  </a:moveTo>
                  <a:lnTo>
                    <a:pt x="97535" y="42672"/>
                  </a:lnTo>
                </a:path>
                <a:path w="140335" h="113029">
                  <a:moveTo>
                    <a:pt x="36575" y="48767"/>
                  </a:moveTo>
                  <a:lnTo>
                    <a:pt x="103632" y="48767"/>
                  </a:lnTo>
                </a:path>
                <a:path w="140335" h="113029">
                  <a:moveTo>
                    <a:pt x="27432" y="64007"/>
                  </a:moveTo>
                  <a:lnTo>
                    <a:pt x="112775" y="64007"/>
                  </a:lnTo>
                </a:path>
                <a:path w="140335" h="113029">
                  <a:moveTo>
                    <a:pt x="12192" y="88391"/>
                  </a:moveTo>
                  <a:lnTo>
                    <a:pt x="124968" y="88391"/>
                  </a:lnTo>
                </a:path>
                <a:path w="140335" h="113029">
                  <a:moveTo>
                    <a:pt x="0" y="112775"/>
                  </a:moveTo>
                  <a:lnTo>
                    <a:pt x="140207" y="1127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9872" y="4431791"/>
              <a:ext cx="48767" cy="4876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09872" y="4477511"/>
              <a:ext cx="48767" cy="609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03776" y="4480559"/>
              <a:ext cx="103632" cy="2438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00727" y="4492751"/>
              <a:ext cx="115824" cy="2743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94632" y="4514087"/>
              <a:ext cx="106680" cy="1828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94632" y="4523231"/>
              <a:ext cx="103632" cy="365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389119" y="454304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13504" y="4546091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575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10455" y="454913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0" y="0"/>
                  </a:moveTo>
                  <a:lnTo>
                    <a:pt x="3047" y="0"/>
                  </a:lnTo>
                </a:path>
                <a:path w="3175" h="3175">
                  <a:moveTo>
                    <a:pt x="0" y="3048"/>
                  </a:moveTo>
                  <a:lnTo>
                    <a:pt x="3047" y="3048"/>
                  </a:lnTo>
                </a:path>
              </a:pathLst>
            </a:custGeom>
            <a:ln w="3175">
              <a:solidFill>
                <a:srgbClr val="0E0E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07407" y="4555235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3131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01311" y="455828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1F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95216" y="4561331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7C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37231" y="4450079"/>
              <a:ext cx="2532888" cy="57302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13431" y="4840223"/>
              <a:ext cx="21335" cy="914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328671" y="4847843"/>
              <a:ext cx="6350" cy="9525"/>
            </a:xfrm>
            <a:custGeom>
              <a:avLst/>
              <a:gdLst/>
              <a:ahLst/>
              <a:cxnLst/>
              <a:rect l="l" t="t" r="r" b="b"/>
              <a:pathLst>
                <a:path w="6350" h="9525">
                  <a:moveTo>
                    <a:pt x="0" y="0"/>
                  </a:moveTo>
                  <a:lnTo>
                    <a:pt x="6095" y="0"/>
                  </a:lnTo>
                </a:path>
                <a:path w="6350" h="9525">
                  <a:moveTo>
                    <a:pt x="0" y="3048"/>
                  </a:moveTo>
                  <a:lnTo>
                    <a:pt x="6095" y="3048"/>
                  </a:lnTo>
                </a:path>
                <a:path w="6350" h="9525">
                  <a:moveTo>
                    <a:pt x="0" y="6096"/>
                  </a:moveTo>
                  <a:lnTo>
                    <a:pt x="6095" y="6096"/>
                  </a:lnTo>
                </a:path>
                <a:path w="6350" h="9525">
                  <a:moveTo>
                    <a:pt x="0" y="9144"/>
                  </a:moveTo>
                  <a:lnTo>
                    <a:pt x="6095" y="91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97023" y="4782311"/>
              <a:ext cx="42672" cy="4876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87879" y="4828031"/>
              <a:ext cx="54864" cy="2133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084831" y="4843271"/>
              <a:ext cx="115824" cy="2743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642104" y="4875275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1E1E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81783" y="4849367"/>
              <a:ext cx="252983" cy="3962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42104" y="4878323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1E1E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328671" y="4881371"/>
              <a:ext cx="6350" cy="12700"/>
            </a:xfrm>
            <a:custGeom>
              <a:avLst/>
              <a:gdLst/>
              <a:ahLst/>
              <a:cxnLst/>
              <a:rect l="l" t="t" r="r" b="b"/>
              <a:pathLst>
                <a:path w="6350" h="12700">
                  <a:moveTo>
                    <a:pt x="0" y="0"/>
                  </a:moveTo>
                  <a:lnTo>
                    <a:pt x="6095" y="0"/>
                  </a:lnTo>
                </a:path>
                <a:path w="6350" h="12700">
                  <a:moveTo>
                    <a:pt x="0" y="3048"/>
                  </a:moveTo>
                  <a:lnTo>
                    <a:pt x="6095" y="3048"/>
                  </a:lnTo>
                </a:path>
                <a:path w="6350" h="12700">
                  <a:moveTo>
                    <a:pt x="0" y="6096"/>
                  </a:moveTo>
                  <a:lnTo>
                    <a:pt x="6095" y="6096"/>
                  </a:lnTo>
                </a:path>
                <a:path w="6350" h="12700">
                  <a:moveTo>
                    <a:pt x="0" y="9144"/>
                  </a:moveTo>
                  <a:lnTo>
                    <a:pt x="6095" y="9144"/>
                  </a:lnTo>
                </a:path>
                <a:path w="6350" h="12700">
                  <a:moveTo>
                    <a:pt x="0" y="12192"/>
                  </a:moveTo>
                  <a:lnTo>
                    <a:pt x="6095" y="121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42743" y="4879847"/>
              <a:ext cx="54863" cy="2438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328671" y="4896611"/>
              <a:ext cx="6350" cy="3175"/>
            </a:xfrm>
            <a:custGeom>
              <a:avLst/>
              <a:gdLst/>
              <a:ahLst/>
              <a:cxnLst/>
              <a:rect l="l" t="t" r="r" b="b"/>
              <a:pathLst>
                <a:path w="6350" h="3175">
                  <a:moveTo>
                    <a:pt x="0" y="0"/>
                  </a:moveTo>
                  <a:lnTo>
                    <a:pt x="6095" y="0"/>
                  </a:lnTo>
                </a:path>
                <a:path w="6350" h="3175">
                  <a:moveTo>
                    <a:pt x="0" y="3047"/>
                  </a:moveTo>
                  <a:lnTo>
                    <a:pt x="6095" y="304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170175" y="4895087"/>
              <a:ext cx="27431" cy="1523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511039" y="4908803"/>
              <a:ext cx="33655" cy="0"/>
            </a:xfrm>
            <a:custGeom>
              <a:avLst/>
              <a:gdLst/>
              <a:ahLst/>
              <a:cxnLst/>
              <a:rect l="l" t="t" r="r" b="b"/>
              <a:pathLst>
                <a:path w="33654">
                  <a:moveTo>
                    <a:pt x="0" y="0"/>
                  </a:moveTo>
                  <a:lnTo>
                    <a:pt x="3352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82367" y="4911851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B6B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642104" y="5021579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3E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398775" y="5023103"/>
              <a:ext cx="2014727" cy="1182623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563367" y="6195059"/>
              <a:ext cx="27940" cy="9525"/>
            </a:xfrm>
            <a:custGeom>
              <a:avLst/>
              <a:gdLst/>
              <a:ahLst/>
              <a:cxnLst/>
              <a:rect l="l" t="t" r="r" b="b"/>
              <a:pathLst>
                <a:path w="27939" h="9525">
                  <a:moveTo>
                    <a:pt x="0" y="0"/>
                  </a:moveTo>
                  <a:lnTo>
                    <a:pt x="27432" y="0"/>
                  </a:lnTo>
                </a:path>
                <a:path w="27939" h="9525">
                  <a:moveTo>
                    <a:pt x="0" y="3048"/>
                  </a:moveTo>
                  <a:lnTo>
                    <a:pt x="27432" y="3048"/>
                  </a:lnTo>
                </a:path>
                <a:path w="27939" h="9525">
                  <a:moveTo>
                    <a:pt x="0" y="6096"/>
                  </a:moveTo>
                  <a:lnTo>
                    <a:pt x="27432" y="6096"/>
                  </a:lnTo>
                </a:path>
                <a:path w="27939" h="9525">
                  <a:moveTo>
                    <a:pt x="0" y="9144"/>
                  </a:moveTo>
                  <a:lnTo>
                    <a:pt x="27432" y="91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410967" y="6205727"/>
              <a:ext cx="60960" cy="609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407919" y="6208775"/>
              <a:ext cx="64008" cy="609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404871" y="6211823"/>
              <a:ext cx="106679" cy="2133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404871" y="6224015"/>
              <a:ext cx="115824" cy="3047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465831" y="6246875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563367" y="6205727"/>
              <a:ext cx="30480" cy="79247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2462783" y="6252971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0E0E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401823" y="625601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462783" y="6256019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496311" y="625601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398775" y="6254495"/>
              <a:ext cx="39624" cy="9143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2459735" y="6259067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19191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496311" y="6259067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423159" y="6262115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1414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456687" y="6262115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401823" y="6260591"/>
              <a:ext cx="36575" cy="6095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401823" y="6251447"/>
              <a:ext cx="115823" cy="42671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2517647" y="6277355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4646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514600" y="6280403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1414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" name="object 56"/>
          <p:cNvGrpSpPr/>
          <p:nvPr/>
        </p:nvGrpSpPr>
        <p:grpSpPr>
          <a:xfrm>
            <a:off x="5815584" y="4666488"/>
            <a:ext cx="350520" cy="216535"/>
            <a:chOff x="5815584" y="4666488"/>
            <a:chExt cx="350520" cy="216535"/>
          </a:xfrm>
        </p:grpSpPr>
        <p:pic>
          <p:nvPicPr>
            <p:cNvPr id="57" name="object 5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836920" y="4666488"/>
              <a:ext cx="271271" cy="30479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5913120" y="4695444"/>
              <a:ext cx="173990" cy="12700"/>
            </a:xfrm>
            <a:custGeom>
              <a:avLst/>
              <a:gdLst/>
              <a:ahLst/>
              <a:cxnLst/>
              <a:rect l="l" t="t" r="r" b="b"/>
              <a:pathLst>
                <a:path w="173989" h="12700">
                  <a:moveTo>
                    <a:pt x="167639" y="0"/>
                  </a:moveTo>
                  <a:lnTo>
                    <a:pt x="173735" y="0"/>
                  </a:lnTo>
                </a:path>
                <a:path w="173989" h="12700">
                  <a:moveTo>
                    <a:pt x="164592" y="9144"/>
                  </a:moveTo>
                  <a:lnTo>
                    <a:pt x="167639" y="9144"/>
                  </a:lnTo>
                </a:path>
                <a:path w="173989" h="12700">
                  <a:moveTo>
                    <a:pt x="0" y="12192"/>
                  </a:moveTo>
                  <a:lnTo>
                    <a:pt x="18288" y="121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986272" y="4696968"/>
              <a:ext cx="27431" cy="27431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5824728" y="473202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910072" y="4696968"/>
              <a:ext cx="176783" cy="51815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5818632" y="4735068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6096" y="0"/>
                  </a:moveTo>
                  <a:lnTo>
                    <a:pt x="15240" y="0"/>
                  </a:lnTo>
                </a:path>
                <a:path w="15239" h="15239">
                  <a:moveTo>
                    <a:pt x="0" y="15239"/>
                  </a:moveTo>
                  <a:lnTo>
                    <a:pt x="12191" y="152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916168" y="4733544"/>
              <a:ext cx="140207" cy="21335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5818632" y="4753356"/>
              <a:ext cx="12700" cy="9525"/>
            </a:xfrm>
            <a:custGeom>
              <a:avLst/>
              <a:gdLst/>
              <a:ahLst/>
              <a:cxnLst/>
              <a:rect l="l" t="t" r="r" b="b"/>
              <a:pathLst>
                <a:path w="12700" h="9525">
                  <a:moveTo>
                    <a:pt x="0" y="0"/>
                  </a:moveTo>
                  <a:lnTo>
                    <a:pt x="12191" y="0"/>
                  </a:lnTo>
                </a:path>
                <a:path w="12700" h="9525">
                  <a:moveTo>
                    <a:pt x="0" y="3048"/>
                  </a:moveTo>
                  <a:lnTo>
                    <a:pt x="12191" y="3048"/>
                  </a:lnTo>
                </a:path>
                <a:path w="12700" h="9525">
                  <a:moveTo>
                    <a:pt x="0" y="6096"/>
                  </a:moveTo>
                  <a:lnTo>
                    <a:pt x="12191" y="6096"/>
                  </a:lnTo>
                </a:path>
                <a:path w="12700" h="9525">
                  <a:moveTo>
                    <a:pt x="0" y="9144"/>
                  </a:moveTo>
                  <a:lnTo>
                    <a:pt x="12191" y="91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916168" y="4751832"/>
              <a:ext cx="137159" cy="21335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5916168" y="4765548"/>
              <a:ext cx="128270" cy="12700"/>
            </a:xfrm>
            <a:custGeom>
              <a:avLst/>
              <a:gdLst/>
              <a:ahLst/>
              <a:cxnLst/>
              <a:rect l="l" t="t" r="r" b="b"/>
              <a:pathLst>
                <a:path w="128270" h="12700">
                  <a:moveTo>
                    <a:pt x="0" y="0"/>
                  </a:moveTo>
                  <a:lnTo>
                    <a:pt x="18288" y="0"/>
                  </a:lnTo>
                </a:path>
                <a:path w="128270" h="12700">
                  <a:moveTo>
                    <a:pt x="45720" y="0"/>
                  </a:moveTo>
                  <a:lnTo>
                    <a:pt x="48767" y="0"/>
                  </a:lnTo>
                </a:path>
                <a:path w="128270" h="12700">
                  <a:moveTo>
                    <a:pt x="0" y="3047"/>
                  </a:moveTo>
                  <a:lnTo>
                    <a:pt x="18288" y="3047"/>
                  </a:lnTo>
                </a:path>
                <a:path w="128270" h="12700">
                  <a:moveTo>
                    <a:pt x="45720" y="3047"/>
                  </a:moveTo>
                  <a:lnTo>
                    <a:pt x="48767" y="3047"/>
                  </a:lnTo>
                </a:path>
                <a:path w="128270" h="12700">
                  <a:moveTo>
                    <a:pt x="0" y="6095"/>
                  </a:moveTo>
                  <a:lnTo>
                    <a:pt x="18288" y="6095"/>
                  </a:lnTo>
                </a:path>
                <a:path w="128270" h="12700">
                  <a:moveTo>
                    <a:pt x="82296" y="6095"/>
                  </a:moveTo>
                  <a:lnTo>
                    <a:pt x="100584" y="6095"/>
                  </a:lnTo>
                </a:path>
                <a:path w="128270" h="12700">
                  <a:moveTo>
                    <a:pt x="124968" y="6095"/>
                  </a:moveTo>
                  <a:lnTo>
                    <a:pt x="128015" y="6095"/>
                  </a:lnTo>
                </a:path>
                <a:path w="128270" h="12700">
                  <a:moveTo>
                    <a:pt x="82296" y="9143"/>
                  </a:moveTo>
                  <a:lnTo>
                    <a:pt x="100584" y="9143"/>
                  </a:lnTo>
                </a:path>
                <a:path w="128270" h="12700">
                  <a:moveTo>
                    <a:pt x="82296" y="12191"/>
                  </a:moveTo>
                  <a:lnTo>
                    <a:pt x="100584" y="12191"/>
                  </a:lnTo>
                </a:path>
                <a:path w="128270" h="12700">
                  <a:moveTo>
                    <a:pt x="118872" y="12191"/>
                  </a:moveTo>
                  <a:lnTo>
                    <a:pt x="124967" y="1219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916168" y="4773168"/>
              <a:ext cx="45720" cy="12191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949696" y="4773168"/>
              <a:ext cx="94488" cy="21335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916168" y="4785360"/>
              <a:ext cx="36575" cy="6095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815584" y="4696968"/>
              <a:ext cx="51815" cy="185927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5818632" y="4796028"/>
              <a:ext cx="12700" cy="3175"/>
            </a:xfrm>
            <a:custGeom>
              <a:avLst/>
              <a:gdLst/>
              <a:ahLst/>
              <a:cxnLst/>
              <a:rect l="l" t="t" r="r" b="b"/>
              <a:pathLst>
                <a:path w="12700" h="3175">
                  <a:moveTo>
                    <a:pt x="0" y="0"/>
                  </a:moveTo>
                  <a:lnTo>
                    <a:pt x="12191" y="0"/>
                  </a:lnTo>
                </a:path>
                <a:path w="12700" h="3175">
                  <a:moveTo>
                    <a:pt x="0" y="3048"/>
                  </a:moveTo>
                  <a:lnTo>
                    <a:pt x="12191" y="30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998464" y="4791456"/>
              <a:ext cx="30479" cy="12191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6022848" y="48021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916168" y="4788408"/>
              <a:ext cx="33527" cy="42671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5824728" y="4811268"/>
              <a:ext cx="9525" cy="3175"/>
            </a:xfrm>
            <a:custGeom>
              <a:avLst/>
              <a:gdLst/>
              <a:ahLst/>
              <a:cxnLst/>
              <a:rect l="l" t="t" r="r" b="b"/>
              <a:pathLst>
                <a:path w="9525" h="3175">
                  <a:moveTo>
                    <a:pt x="0" y="0"/>
                  </a:moveTo>
                  <a:lnTo>
                    <a:pt x="9144" y="0"/>
                  </a:lnTo>
                </a:path>
                <a:path w="9525" h="3175">
                  <a:moveTo>
                    <a:pt x="0" y="3048"/>
                  </a:moveTo>
                  <a:lnTo>
                    <a:pt x="9144" y="30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998464" y="4803648"/>
              <a:ext cx="27432" cy="30479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6001512" y="4817364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39">
                  <a:moveTo>
                    <a:pt x="0" y="0"/>
                  </a:moveTo>
                  <a:lnTo>
                    <a:pt x="1524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099048" y="4797552"/>
              <a:ext cx="67055" cy="64007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5922264" y="483260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1E1E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117336" y="4838700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0202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160008" y="483870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2727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2" name="object 82"/>
          <p:cNvGrpSpPr/>
          <p:nvPr/>
        </p:nvGrpSpPr>
        <p:grpSpPr>
          <a:xfrm>
            <a:off x="6373367" y="4666488"/>
            <a:ext cx="502920" cy="219710"/>
            <a:chOff x="6373367" y="4666488"/>
            <a:chExt cx="502920" cy="219710"/>
          </a:xfrm>
        </p:grpSpPr>
        <p:pic>
          <p:nvPicPr>
            <p:cNvPr id="83" name="object 8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373367" y="4666488"/>
              <a:ext cx="94488" cy="45719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434327" y="4709160"/>
              <a:ext cx="76200" cy="51815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425183" y="4751832"/>
              <a:ext cx="167639" cy="54863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373367" y="4712208"/>
              <a:ext cx="30480" cy="170687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6428231" y="4791456"/>
              <a:ext cx="143256" cy="18287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480047" y="4806696"/>
              <a:ext cx="88392" cy="15239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6483095" y="481736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6513575" y="481736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6422135" y="4806696"/>
              <a:ext cx="15240" cy="24383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6422135" y="4820412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>
                  <a:moveTo>
                    <a:pt x="0" y="0"/>
                  </a:moveTo>
                  <a:lnTo>
                    <a:pt x="12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510527" y="4820412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0202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553199" y="4820412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>
                  <a:moveTo>
                    <a:pt x="0" y="0"/>
                  </a:moveTo>
                  <a:lnTo>
                    <a:pt x="12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483095" y="4760976"/>
              <a:ext cx="326136" cy="100583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6422135" y="482346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>
                  <a:moveTo>
                    <a:pt x="0" y="0"/>
                  </a:moveTo>
                  <a:lnTo>
                    <a:pt x="12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510527" y="482346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0202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553199" y="4823460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>
                  <a:moveTo>
                    <a:pt x="0" y="0"/>
                  </a:moveTo>
                  <a:lnTo>
                    <a:pt x="12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851903" y="4806696"/>
              <a:ext cx="24384" cy="60959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6864095" y="482955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7C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873239" y="482955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550151" y="4832604"/>
              <a:ext cx="326390" cy="3175"/>
            </a:xfrm>
            <a:custGeom>
              <a:avLst/>
              <a:gdLst/>
              <a:ahLst/>
              <a:cxnLst/>
              <a:rect l="l" t="t" r="r" b="b"/>
              <a:pathLst>
                <a:path w="326390" h="3175">
                  <a:moveTo>
                    <a:pt x="323087" y="0"/>
                  </a:moveTo>
                  <a:lnTo>
                    <a:pt x="326135" y="0"/>
                  </a:lnTo>
                </a:path>
                <a:path w="326390" h="3175">
                  <a:moveTo>
                    <a:pt x="0" y="3048"/>
                  </a:moveTo>
                  <a:lnTo>
                    <a:pt x="12191" y="3048"/>
                  </a:lnTo>
                </a:path>
                <a:path w="326390" h="3175">
                  <a:moveTo>
                    <a:pt x="323087" y="3048"/>
                  </a:moveTo>
                  <a:lnTo>
                    <a:pt x="326135" y="30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6586727" y="483870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4B4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6873239" y="483870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0606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6586727" y="4841748"/>
              <a:ext cx="287020" cy="15240"/>
            </a:xfrm>
            <a:custGeom>
              <a:avLst/>
              <a:gdLst/>
              <a:ahLst/>
              <a:cxnLst/>
              <a:rect l="l" t="t" r="r" b="b"/>
              <a:pathLst>
                <a:path w="287020" h="15239">
                  <a:moveTo>
                    <a:pt x="0" y="0"/>
                  </a:moveTo>
                  <a:lnTo>
                    <a:pt x="3047" y="0"/>
                  </a:lnTo>
                </a:path>
                <a:path w="287020" h="15239">
                  <a:moveTo>
                    <a:pt x="283464" y="6095"/>
                  </a:moveTo>
                  <a:lnTo>
                    <a:pt x="286511" y="6095"/>
                  </a:lnTo>
                </a:path>
                <a:path w="287020" h="15239">
                  <a:moveTo>
                    <a:pt x="283464" y="9143"/>
                  </a:moveTo>
                  <a:lnTo>
                    <a:pt x="286511" y="9143"/>
                  </a:lnTo>
                </a:path>
                <a:path w="287020" h="15239">
                  <a:moveTo>
                    <a:pt x="280416" y="15239"/>
                  </a:moveTo>
                  <a:lnTo>
                    <a:pt x="283463" y="152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6562343" y="486308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7B7B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6857999" y="486918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161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6373367" y="4884420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39">
                  <a:moveTo>
                    <a:pt x="0" y="0"/>
                  </a:moveTo>
                  <a:lnTo>
                    <a:pt x="27432" y="0"/>
                  </a:lnTo>
                </a:path>
              </a:pathLst>
            </a:custGeom>
            <a:ln w="3175">
              <a:solidFill>
                <a:srgbClr val="7676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9" name="object 109"/>
          <p:cNvGrpSpPr/>
          <p:nvPr/>
        </p:nvGrpSpPr>
        <p:grpSpPr>
          <a:xfrm>
            <a:off x="6940295" y="4666488"/>
            <a:ext cx="317500" cy="219710"/>
            <a:chOff x="6940295" y="4666488"/>
            <a:chExt cx="317500" cy="219710"/>
          </a:xfrm>
        </p:grpSpPr>
        <p:pic>
          <p:nvPicPr>
            <p:cNvPr id="110" name="object 110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7138415" y="4666488"/>
              <a:ext cx="109728" cy="54863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7238999" y="4719828"/>
              <a:ext cx="15240" cy="70485"/>
            </a:xfrm>
            <a:custGeom>
              <a:avLst/>
              <a:gdLst/>
              <a:ahLst/>
              <a:cxnLst/>
              <a:rect l="l" t="t" r="r" b="b"/>
              <a:pathLst>
                <a:path w="15240" h="70485">
                  <a:moveTo>
                    <a:pt x="0" y="0"/>
                  </a:moveTo>
                  <a:lnTo>
                    <a:pt x="9144" y="0"/>
                  </a:lnTo>
                </a:path>
                <a:path w="15240" h="70485">
                  <a:moveTo>
                    <a:pt x="3048" y="12191"/>
                  </a:moveTo>
                  <a:lnTo>
                    <a:pt x="12192" y="12191"/>
                  </a:lnTo>
                </a:path>
                <a:path w="15240" h="70485">
                  <a:moveTo>
                    <a:pt x="6096" y="27431"/>
                  </a:moveTo>
                  <a:lnTo>
                    <a:pt x="15240" y="27431"/>
                  </a:lnTo>
                </a:path>
                <a:path w="15240" h="70485">
                  <a:moveTo>
                    <a:pt x="6096" y="30479"/>
                  </a:moveTo>
                  <a:lnTo>
                    <a:pt x="15240" y="30479"/>
                  </a:lnTo>
                </a:path>
                <a:path w="15240" h="70485">
                  <a:moveTo>
                    <a:pt x="6096" y="33527"/>
                  </a:moveTo>
                  <a:lnTo>
                    <a:pt x="15240" y="33527"/>
                  </a:lnTo>
                </a:path>
                <a:path w="15240" h="70485">
                  <a:moveTo>
                    <a:pt x="6096" y="67055"/>
                  </a:moveTo>
                  <a:lnTo>
                    <a:pt x="15240" y="67055"/>
                  </a:lnTo>
                </a:path>
                <a:path w="15240" h="70485">
                  <a:moveTo>
                    <a:pt x="6096" y="70103"/>
                  </a:moveTo>
                  <a:lnTo>
                    <a:pt x="15240" y="701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1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955535" y="4730496"/>
              <a:ext cx="91440" cy="18287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952487" y="4742688"/>
              <a:ext cx="94488" cy="9143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6946391" y="4748784"/>
              <a:ext cx="100584" cy="12191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6940295" y="4754880"/>
              <a:ext cx="173735" cy="57911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6979919" y="4792980"/>
              <a:ext cx="274320" cy="18415"/>
            </a:xfrm>
            <a:custGeom>
              <a:avLst/>
              <a:gdLst/>
              <a:ahLst/>
              <a:cxnLst/>
              <a:rect l="l" t="t" r="r" b="b"/>
              <a:pathLst>
                <a:path w="274320" h="18414">
                  <a:moveTo>
                    <a:pt x="265175" y="0"/>
                  </a:moveTo>
                  <a:lnTo>
                    <a:pt x="274320" y="0"/>
                  </a:lnTo>
                </a:path>
                <a:path w="274320" h="18414">
                  <a:moveTo>
                    <a:pt x="265175" y="3048"/>
                  </a:moveTo>
                  <a:lnTo>
                    <a:pt x="274320" y="3048"/>
                  </a:lnTo>
                </a:path>
                <a:path w="274320" h="18414">
                  <a:moveTo>
                    <a:pt x="54863" y="6096"/>
                  </a:moveTo>
                  <a:lnTo>
                    <a:pt x="57911" y="6096"/>
                  </a:lnTo>
                </a:path>
                <a:path w="274320" h="18414">
                  <a:moveTo>
                    <a:pt x="265175" y="6096"/>
                  </a:moveTo>
                  <a:lnTo>
                    <a:pt x="274320" y="6096"/>
                  </a:lnTo>
                </a:path>
                <a:path w="274320" h="18414">
                  <a:moveTo>
                    <a:pt x="0" y="9144"/>
                  </a:moveTo>
                  <a:lnTo>
                    <a:pt x="15240" y="9144"/>
                  </a:lnTo>
                </a:path>
                <a:path w="274320" h="18414">
                  <a:moveTo>
                    <a:pt x="265175" y="9144"/>
                  </a:moveTo>
                  <a:lnTo>
                    <a:pt x="274320" y="9144"/>
                  </a:lnTo>
                </a:path>
                <a:path w="274320" h="18414">
                  <a:moveTo>
                    <a:pt x="0" y="12191"/>
                  </a:moveTo>
                  <a:lnTo>
                    <a:pt x="15240" y="12191"/>
                  </a:lnTo>
                </a:path>
                <a:path w="274320" h="18414">
                  <a:moveTo>
                    <a:pt x="100583" y="18287"/>
                  </a:moveTo>
                  <a:lnTo>
                    <a:pt x="109728" y="182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6940295" y="4721352"/>
              <a:ext cx="316991" cy="161543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7074407" y="4814316"/>
              <a:ext cx="177165" cy="24765"/>
            </a:xfrm>
            <a:custGeom>
              <a:avLst/>
              <a:gdLst/>
              <a:ahLst/>
              <a:cxnLst/>
              <a:rect l="l" t="t" r="r" b="b"/>
              <a:pathLst>
                <a:path w="177165" h="24764">
                  <a:moveTo>
                    <a:pt x="6096" y="0"/>
                  </a:moveTo>
                  <a:lnTo>
                    <a:pt x="15240" y="0"/>
                  </a:lnTo>
                </a:path>
                <a:path w="177165" h="24764">
                  <a:moveTo>
                    <a:pt x="167640" y="0"/>
                  </a:moveTo>
                  <a:lnTo>
                    <a:pt x="176784" y="0"/>
                  </a:lnTo>
                </a:path>
                <a:path w="177165" h="24764">
                  <a:moveTo>
                    <a:pt x="167640" y="3048"/>
                  </a:moveTo>
                  <a:lnTo>
                    <a:pt x="176784" y="3048"/>
                  </a:lnTo>
                </a:path>
                <a:path w="177165" h="24764">
                  <a:moveTo>
                    <a:pt x="3048" y="12191"/>
                  </a:moveTo>
                  <a:lnTo>
                    <a:pt x="12192" y="12191"/>
                  </a:lnTo>
                </a:path>
                <a:path w="177165" h="24764">
                  <a:moveTo>
                    <a:pt x="3048" y="15239"/>
                  </a:moveTo>
                  <a:lnTo>
                    <a:pt x="12192" y="15239"/>
                  </a:lnTo>
                </a:path>
                <a:path w="177165" h="24764">
                  <a:moveTo>
                    <a:pt x="0" y="24384"/>
                  </a:moveTo>
                  <a:lnTo>
                    <a:pt x="9144" y="243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7110983" y="483870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074407" y="4841748"/>
              <a:ext cx="165100" cy="15240"/>
            </a:xfrm>
            <a:custGeom>
              <a:avLst/>
              <a:gdLst/>
              <a:ahLst/>
              <a:cxnLst/>
              <a:rect l="l" t="t" r="r" b="b"/>
              <a:pathLst>
                <a:path w="165100" h="15239">
                  <a:moveTo>
                    <a:pt x="0" y="0"/>
                  </a:moveTo>
                  <a:lnTo>
                    <a:pt x="9144" y="0"/>
                  </a:lnTo>
                </a:path>
                <a:path w="165100" h="15239">
                  <a:moveTo>
                    <a:pt x="155448" y="6095"/>
                  </a:moveTo>
                  <a:lnTo>
                    <a:pt x="164592" y="6095"/>
                  </a:lnTo>
                </a:path>
                <a:path w="165100" h="15239">
                  <a:moveTo>
                    <a:pt x="155448" y="9143"/>
                  </a:moveTo>
                  <a:lnTo>
                    <a:pt x="164592" y="9143"/>
                  </a:lnTo>
                </a:path>
                <a:path w="165100" h="15239">
                  <a:moveTo>
                    <a:pt x="152400" y="15239"/>
                  </a:moveTo>
                  <a:lnTo>
                    <a:pt x="158495" y="152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141463" y="4884420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5">
                  <a:moveTo>
                    <a:pt x="0" y="0"/>
                  </a:moveTo>
                  <a:lnTo>
                    <a:pt x="24383" y="0"/>
                  </a:lnTo>
                </a:path>
              </a:pathLst>
            </a:custGeom>
            <a:ln w="3175">
              <a:solidFill>
                <a:srgbClr val="7676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2" name="object 122"/>
          <p:cNvGrpSpPr/>
          <p:nvPr/>
        </p:nvGrpSpPr>
        <p:grpSpPr>
          <a:xfrm>
            <a:off x="5163311" y="4733544"/>
            <a:ext cx="152400" cy="131445"/>
            <a:chOff x="5163311" y="4733544"/>
            <a:chExt cx="152400" cy="131445"/>
          </a:xfrm>
        </p:grpSpPr>
        <p:pic>
          <p:nvPicPr>
            <p:cNvPr id="123" name="object 123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184647" y="4733544"/>
              <a:ext cx="115824" cy="42671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178551" y="4754880"/>
              <a:ext cx="137159" cy="57911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5169407" y="4797552"/>
              <a:ext cx="121920" cy="30479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5163311" y="4828032"/>
              <a:ext cx="64008" cy="3047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5269991" y="4824984"/>
              <a:ext cx="45719" cy="24383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5269991" y="4840224"/>
              <a:ext cx="39624" cy="21335"/>
            </a:xfrm>
            <a:prstGeom prst="rect">
              <a:avLst/>
            </a:prstGeom>
          </p:spPr>
        </p:pic>
        <p:sp>
          <p:nvSpPr>
            <p:cNvPr id="129" name="object 129"/>
            <p:cNvSpPr/>
            <p:nvPr/>
          </p:nvSpPr>
          <p:spPr>
            <a:xfrm>
              <a:off x="5288279" y="486308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0" name="object 130"/>
          <p:cNvGrpSpPr/>
          <p:nvPr/>
        </p:nvGrpSpPr>
        <p:grpSpPr>
          <a:xfrm>
            <a:off x="5635752" y="4733544"/>
            <a:ext cx="116205" cy="97790"/>
            <a:chOff x="5635752" y="4733544"/>
            <a:chExt cx="116205" cy="97790"/>
          </a:xfrm>
        </p:grpSpPr>
        <p:pic>
          <p:nvPicPr>
            <p:cNvPr id="131" name="object 131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5638800" y="4733544"/>
              <a:ext cx="112775" cy="51815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5635752" y="4782312"/>
              <a:ext cx="85344" cy="48767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5638800" y="480822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4" name="object 134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6257544" y="4760976"/>
            <a:ext cx="21335" cy="24383"/>
          </a:xfrm>
          <a:prstGeom prst="rect">
            <a:avLst/>
          </a:prstGeom>
        </p:spPr>
      </p:pic>
      <p:pic>
        <p:nvPicPr>
          <p:cNvPr id="135" name="object 135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5407152" y="4748784"/>
            <a:ext cx="146304" cy="51815"/>
          </a:xfrm>
          <a:prstGeom prst="rect">
            <a:avLst/>
          </a:prstGeom>
        </p:spPr>
      </p:pic>
      <p:grpSp>
        <p:nvGrpSpPr>
          <p:cNvPr id="136" name="object 136"/>
          <p:cNvGrpSpPr/>
          <p:nvPr/>
        </p:nvGrpSpPr>
        <p:grpSpPr>
          <a:xfrm>
            <a:off x="6367271" y="5050535"/>
            <a:ext cx="502920" cy="219710"/>
            <a:chOff x="6367271" y="5050535"/>
            <a:chExt cx="502920" cy="219710"/>
          </a:xfrm>
        </p:grpSpPr>
        <p:pic>
          <p:nvPicPr>
            <p:cNvPr id="137" name="object 137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6367271" y="5050535"/>
              <a:ext cx="94488" cy="21335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6428231" y="5068823"/>
              <a:ext cx="76200" cy="76199"/>
            </a:xfrm>
            <a:prstGeom prst="rect">
              <a:avLst/>
            </a:prstGeom>
          </p:spPr>
        </p:pic>
        <p:sp>
          <p:nvSpPr>
            <p:cNvPr id="139" name="object 139"/>
            <p:cNvSpPr/>
            <p:nvPr/>
          </p:nvSpPr>
          <p:spPr>
            <a:xfrm>
              <a:off x="6489191" y="5143499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40">
                  <a:moveTo>
                    <a:pt x="0" y="0"/>
                  </a:moveTo>
                  <a:lnTo>
                    <a:pt x="1524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0" name="object 140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6367271" y="5071871"/>
              <a:ext cx="73151" cy="137159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6416039" y="5145023"/>
              <a:ext cx="167639" cy="45719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6422135" y="5178551"/>
              <a:ext cx="143256" cy="15239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6416039" y="5190743"/>
              <a:ext cx="146303" cy="9143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6476999" y="5196839"/>
              <a:ext cx="85344" cy="12191"/>
            </a:xfrm>
            <a:prstGeom prst="rect">
              <a:avLst/>
            </a:prstGeom>
          </p:spPr>
        </p:pic>
        <p:sp>
          <p:nvSpPr>
            <p:cNvPr id="145" name="object 145"/>
            <p:cNvSpPr/>
            <p:nvPr/>
          </p:nvSpPr>
          <p:spPr>
            <a:xfrm>
              <a:off x="6476999" y="520445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6" name="object 146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6845807" y="5190743"/>
              <a:ext cx="24383" cy="24383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6476999" y="5145023"/>
              <a:ext cx="326136" cy="103631"/>
            </a:xfrm>
            <a:prstGeom prst="rect">
              <a:avLst/>
            </a:prstGeom>
          </p:spPr>
        </p:pic>
        <p:sp>
          <p:nvSpPr>
            <p:cNvPr id="148" name="object 148"/>
            <p:cNvSpPr/>
            <p:nvPr/>
          </p:nvSpPr>
          <p:spPr>
            <a:xfrm>
              <a:off x="6547103" y="5207507"/>
              <a:ext cx="12700" cy="3175"/>
            </a:xfrm>
            <a:custGeom>
              <a:avLst/>
              <a:gdLst/>
              <a:ahLst/>
              <a:cxnLst/>
              <a:rect l="l" t="t" r="r" b="b"/>
              <a:pathLst>
                <a:path w="12700" h="3175">
                  <a:moveTo>
                    <a:pt x="0" y="0"/>
                  </a:moveTo>
                  <a:lnTo>
                    <a:pt x="12191" y="0"/>
                  </a:lnTo>
                </a:path>
                <a:path w="12700" h="3175">
                  <a:moveTo>
                    <a:pt x="0" y="3048"/>
                  </a:moveTo>
                  <a:lnTo>
                    <a:pt x="12191" y="30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9" name="object 149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6367271" y="5205983"/>
              <a:ext cx="118872" cy="12191"/>
            </a:xfrm>
            <a:prstGeom prst="rect">
              <a:avLst/>
            </a:prstGeom>
          </p:spPr>
        </p:pic>
        <p:sp>
          <p:nvSpPr>
            <p:cNvPr id="150" name="object 150"/>
            <p:cNvSpPr/>
            <p:nvPr/>
          </p:nvSpPr>
          <p:spPr>
            <a:xfrm>
              <a:off x="6544055" y="5219699"/>
              <a:ext cx="40005" cy="6350"/>
            </a:xfrm>
            <a:custGeom>
              <a:avLst/>
              <a:gdLst/>
              <a:ahLst/>
              <a:cxnLst/>
              <a:rect l="l" t="t" r="r" b="b"/>
              <a:pathLst>
                <a:path w="40004" h="6350">
                  <a:moveTo>
                    <a:pt x="0" y="0"/>
                  </a:moveTo>
                  <a:lnTo>
                    <a:pt x="9144" y="0"/>
                  </a:lnTo>
                </a:path>
                <a:path w="40004" h="6350">
                  <a:moveTo>
                    <a:pt x="0" y="3047"/>
                  </a:moveTo>
                  <a:lnTo>
                    <a:pt x="9144" y="3047"/>
                  </a:lnTo>
                </a:path>
                <a:path w="40004" h="6350">
                  <a:moveTo>
                    <a:pt x="33527" y="6095"/>
                  </a:moveTo>
                  <a:lnTo>
                    <a:pt x="39623" y="60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1" name="object 151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6848855" y="5209031"/>
              <a:ext cx="21335" cy="45719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6367271" y="5215127"/>
              <a:ext cx="54863" cy="54863"/>
            </a:xfrm>
            <a:prstGeom prst="rect">
              <a:avLst/>
            </a:prstGeom>
          </p:spPr>
        </p:pic>
        <p:sp>
          <p:nvSpPr>
            <p:cNvPr id="153" name="object 153"/>
            <p:cNvSpPr/>
            <p:nvPr/>
          </p:nvSpPr>
          <p:spPr>
            <a:xfrm>
              <a:off x="6748271" y="5247131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7A7A7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6857999" y="5247131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5" name="object 155"/>
          <p:cNvGrpSpPr/>
          <p:nvPr/>
        </p:nvGrpSpPr>
        <p:grpSpPr>
          <a:xfrm>
            <a:off x="5815584" y="5050535"/>
            <a:ext cx="347980" cy="219710"/>
            <a:chOff x="5815584" y="5050535"/>
            <a:chExt cx="347980" cy="219710"/>
          </a:xfrm>
        </p:grpSpPr>
        <p:pic>
          <p:nvPicPr>
            <p:cNvPr id="156" name="object 156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5830824" y="5050535"/>
              <a:ext cx="277367" cy="39623"/>
            </a:xfrm>
            <a:prstGeom prst="rect">
              <a:avLst/>
            </a:prstGeom>
          </p:spPr>
        </p:pic>
        <p:sp>
          <p:nvSpPr>
            <p:cNvPr id="157" name="object 157"/>
            <p:cNvSpPr/>
            <p:nvPr/>
          </p:nvSpPr>
          <p:spPr>
            <a:xfrm>
              <a:off x="5910072" y="5088635"/>
              <a:ext cx="15240" cy="6350"/>
            </a:xfrm>
            <a:custGeom>
              <a:avLst/>
              <a:gdLst/>
              <a:ahLst/>
              <a:cxnLst/>
              <a:rect l="l" t="t" r="r" b="b"/>
              <a:pathLst>
                <a:path w="15239" h="6350">
                  <a:moveTo>
                    <a:pt x="0" y="0"/>
                  </a:moveTo>
                  <a:lnTo>
                    <a:pt x="15240" y="0"/>
                  </a:lnTo>
                </a:path>
                <a:path w="15239" h="6350">
                  <a:moveTo>
                    <a:pt x="0" y="3047"/>
                  </a:moveTo>
                  <a:lnTo>
                    <a:pt x="15240" y="3047"/>
                  </a:lnTo>
                </a:path>
                <a:path w="15239" h="6350">
                  <a:moveTo>
                    <a:pt x="0" y="6095"/>
                  </a:moveTo>
                  <a:lnTo>
                    <a:pt x="15240" y="60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8" name="object 158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5980176" y="5087111"/>
              <a:ext cx="27432" cy="21335"/>
            </a:xfrm>
            <a:prstGeom prst="rect">
              <a:avLst/>
            </a:prstGeom>
          </p:spPr>
        </p:pic>
        <p:sp>
          <p:nvSpPr>
            <p:cNvPr id="159" name="object 159"/>
            <p:cNvSpPr/>
            <p:nvPr/>
          </p:nvSpPr>
          <p:spPr>
            <a:xfrm>
              <a:off x="5818632" y="5109971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6096" y="0"/>
                  </a:moveTo>
                  <a:lnTo>
                    <a:pt x="15240" y="0"/>
                  </a:lnTo>
                </a:path>
                <a:path w="15239" h="15239">
                  <a:moveTo>
                    <a:pt x="0" y="15240"/>
                  </a:moveTo>
                  <a:lnTo>
                    <a:pt x="12191" y="152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0" name="object 160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5910072" y="5087111"/>
              <a:ext cx="170687" cy="57911"/>
            </a:xfrm>
            <a:prstGeom prst="rect">
              <a:avLst/>
            </a:prstGeom>
          </p:spPr>
        </p:pic>
        <p:sp>
          <p:nvSpPr>
            <p:cNvPr id="161" name="object 161"/>
            <p:cNvSpPr/>
            <p:nvPr/>
          </p:nvSpPr>
          <p:spPr>
            <a:xfrm>
              <a:off x="5815584" y="5146547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>
                  <a:moveTo>
                    <a:pt x="0" y="0"/>
                  </a:moveTo>
                  <a:lnTo>
                    <a:pt x="12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2" name="object 162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5913120" y="5126735"/>
              <a:ext cx="143255" cy="27431"/>
            </a:xfrm>
            <a:prstGeom prst="rect">
              <a:avLst/>
            </a:prstGeom>
          </p:spPr>
        </p:pic>
        <p:sp>
          <p:nvSpPr>
            <p:cNvPr id="163" name="object 163"/>
            <p:cNvSpPr/>
            <p:nvPr/>
          </p:nvSpPr>
          <p:spPr>
            <a:xfrm>
              <a:off x="5815584" y="5149595"/>
              <a:ext cx="228600" cy="3175"/>
            </a:xfrm>
            <a:custGeom>
              <a:avLst/>
              <a:gdLst/>
              <a:ahLst/>
              <a:cxnLst/>
              <a:rect l="l" t="t" r="r" b="b"/>
              <a:pathLst>
                <a:path w="228600" h="3175">
                  <a:moveTo>
                    <a:pt x="0" y="0"/>
                  </a:moveTo>
                  <a:lnTo>
                    <a:pt x="12191" y="0"/>
                  </a:lnTo>
                </a:path>
                <a:path w="228600" h="3175">
                  <a:moveTo>
                    <a:pt x="0" y="3048"/>
                  </a:moveTo>
                  <a:lnTo>
                    <a:pt x="12191" y="3048"/>
                  </a:lnTo>
                </a:path>
                <a:path w="228600" h="3175">
                  <a:moveTo>
                    <a:pt x="179832" y="3047"/>
                  </a:moveTo>
                  <a:lnTo>
                    <a:pt x="198120" y="3047"/>
                  </a:lnTo>
                </a:path>
                <a:path w="228600" h="3175">
                  <a:moveTo>
                    <a:pt x="225552" y="3047"/>
                  </a:moveTo>
                  <a:lnTo>
                    <a:pt x="228599" y="304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4" name="object 164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5913120" y="5148071"/>
              <a:ext cx="100584" cy="12191"/>
            </a:xfrm>
            <a:prstGeom prst="rect">
              <a:avLst/>
            </a:prstGeom>
          </p:spPr>
        </p:pic>
        <p:pic>
          <p:nvPicPr>
            <p:cNvPr id="165" name="object 165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5913120" y="5157215"/>
              <a:ext cx="100584" cy="9143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5995416" y="5154167"/>
              <a:ext cx="48768" cy="15239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5995416" y="5166359"/>
              <a:ext cx="36575" cy="9143"/>
            </a:xfrm>
            <a:prstGeom prst="rect">
              <a:avLst/>
            </a:prstGeom>
          </p:spPr>
        </p:pic>
        <p:sp>
          <p:nvSpPr>
            <p:cNvPr id="168" name="object 168"/>
            <p:cNvSpPr/>
            <p:nvPr/>
          </p:nvSpPr>
          <p:spPr>
            <a:xfrm>
              <a:off x="6025896" y="517397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0" y="0"/>
                  </a:moveTo>
                  <a:lnTo>
                    <a:pt x="3047" y="0"/>
                  </a:lnTo>
                </a:path>
                <a:path w="3175" h="3175">
                  <a:moveTo>
                    <a:pt x="0" y="3048"/>
                  </a:moveTo>
                  <a:lnTo>
                    <a:pt x="3047" y="30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9" name="object 169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5815584" y="5090159"/>
              <a:ext cx="48767" cy="176783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5913120" y="5163311"/>
              <a:ext cx="100584" cy="54863"/>
            </a:xfrm>
            <a:prstGeom prst="rect">
              <a:avLst/>
            </a:prstGeom>
          </p:spPr>
        </p:pic>
        <p:sp>
          <p:nvSpPr>
            <p:cNvPr id="171" name="object 171"/>
            <p:cNvSpPr/>
            <p:nvPr/>
          </p:nvSpPr>
          <p:spPr>
            <a:xfrm>
              <a:off x="6099048" y="5189219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2" name="object 172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6096000" y="5181599"/>
              <a:ext cx="67056" cy="18287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5995416" y="5175503"/>
              <a:ext cx="33527" cy="42671"/>
            </a:xfrm>
            <a:prstGeom prst="rect">
              <a:avLst/>
            </a:prstGeom>
          </p:spPr>
        </p:pic>
        <p:sp>
          <p:nvSpPr>
            <p:cNvPr id="174" name="object 174"/>
            <p:cNvSpPr/>
            <p:nvPr/>
          </p:nvSpPr>
          <p:spPr>
            <a:xfrm>
              <a:off x="5818632" y="5195315"/>
              <a:ext cx="189230" cy="15240"/>
            </a:xfrm>
            <a:custGeom>
              <a:avLst/>
              <a:gdLst/>
              <a:ahLst/>
              <a:cxnLst/>
              <a:rect l="l" t="t" r="r" b="b"/>
              <a:pathLst>
                <a:path w="189229" h="15239">
                  <a:moveTo>
                    <a:pt x="0" y="0"/>
                  </a:moveTo>
                  <a:lnTo>
                    <a:pt x="12191" y="0"/>
                  </a:lnTo>
                </a:path>
                <a:path w="189229" h="15239">
                  <a:moveTo>
                    <a:pt x="0" y="3048"/>
                  </a:moveTo>
                  <a:lnTo>
                    <a:pt x="12191" y="3048"/>
                  </a:lnTo>
                </a:path>
                <a:path w="189229" h="15239">
                  <a:moveTo>
                    <a:pt x="97536" y="3047"/>
                  </a:moveTo>
                  <a:lnTo>
                    <a:pt x="115824" y="3047"/>
                  </a:lnTo>
                </a:path>
                <a:path w="189229" h="15239">
                  <a:moveTo>
                    <a:pt x="179832" y="15239"/>
                  </a:moveTo>
                  <a:lnTo>
                    <a:pt x="188976" y="152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5" name="object 175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6089904" y="5196839"/>
              <a:ext cx="67055" cy="51815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6105144" y="5219699"/>
              <a:ext cx="12700" cy="18415"/>
            </a:xfrm>
            <a:custGeom>
              <a:avLst/>
              <a:gdLst/>
              <a:ahLst/>
              <a:cxnLst/>
              <a:rect l="l" t="t" r="r" b="b"/>
              <a:pathLst>
                <a:path w="12700" h="18414">
                  <a:moveTo>
                    <a:pt x="3048" y="0"/>
                  </a:moveTo>
                  <a:lnTo>
                    <a:pt x="12192" y="0"/>
                  </a:lnTo>
                </a:path>
                <a:path w="12700" h="18414">
                  <a:moveTo>
                    <a:pt x="3048" y="3047"/>
                  </a:moveTo>
                  <a:lnTo>
                    <a:pt x="12192" y="3047"/>
                  </a:lnTo>
                </a:path>
                <a:path w="12700" h="18414">
                  <a:moveTo>
                    <a:pt x="0" y="15239"/>
                  </a:moveTo>
                  <a:lnTo>
                    <a:pt x="9144" y="15239"/>
                  </a:lnTo>
                </a:path>
                <a:path w="12700" h="18414">
                  <a:moveTo>
                    <a:pt x="0" y="18287"/>
                  </a:moveTo>
                  <a:lnTo>
                    <a:pt x="9144" y="182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5861304" y="5268467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4141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8" name="object 178"/>
          <p:cNvGrpSpPr/>
          <p:nvPr/>
        </p:nvGrpSpPr>
        <p:grpSpPr>
          <a:xfrm>
            <a:off x="5163311" y="5117591"/>
            <a:ext cx="149860" cy="131445"/>
            <a:chOff x="5163311" y="5117591"/>
            <a:chExt cx="149860" cy="131445"/>
          </a:xfrm>
        </p:grpSpPr>
        <p:pic>
          <p:nvPicPr>
            <p:cNvPr id="179" name="object 179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5169407" y="5117591"/>
              <a:ext cx="82295" cy="15239"/>
            </a:xfrm>
            <a:prstGeom prst="rect">
              <a:avLst/>
            </a:prstGeom>
          </p:spPr>
        </p:pic>
        <p:pic>
          <p:nvPicPr>
            <p:cNvPr id="180" name="object 180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5163311" y="5129783"/>
              <a:ext cx="134112" cy="33527"/>
            </a:xfrm>
            <a:prstGeom prst="rect">
              <a:avLst/>
            </a:prstGeom>
          </p:spPr>
        </p:pic>
        <p:sp>
          <p:nvSpPr>
            <p:cNvPr id="181" name="object 181"/>
            <p:cNvSpPr/>
            <p:nvPr/>
          </p:nvSpPr>
          <p:spPr>
            <a:xfrm>
              <a:off x="5288279" y="5161787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2" name="object 182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5163311" y="5145023"/>
              <a:ext cx="39624" cy="70103"/>
            </a:xfrm>
            <a:prstGeom prst="rect">
              <a:avLst/>
            </a:prstGeom>
          </p:spPr>
        </p:pic>
        <p:sp>
          <p:nvSpPr>
            <p:cNvPr id="183" name="object 183"/>
            <p:cNvSpPr/>
            <p:nvPr/>
          </p:nvSpPr>
          <p:spPr>
            <a:xfrm>
              <a:off x="5178551" y="5192267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>
                  <a:moveTo>
                    <a:pt x="0" y="0"/>
                  </a:moveTo>
                  <a:lnTo>
                    <a:pt x="12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4" name="object 184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5260847" y="5163311"/>
              <a:ext cx="51815" cy="85343"/>
            </a:xfrm>
            <a:prstGeom prst="rect">
              <a:avLst/>
            </a:prstGeom>
          </p:spPr>
        </p:pic>
        <p:sp>
          <p:nvSpPr>
            <p:cNvPr id="185" name="object 185"/>
            <p:cNvSpPr/>
            <p:nvPr/>
          </p:nvSpPr>
          <p:spPr>
            <a:xfrm>
              <a:off x="5273039" y="5204459"/>
              <a:ext cx="15240" cy="9525"/>
            </a:xfrm>
            <a:custGeom>
              <a:avLst/>
              <a:gdLst/>
              <a:ahLst/>
              <a:cxnLst/>
              <a:rect l="l" t="t" r="r" b="b"/>
              <a:pathLst>
                <a:path w="15239" h="9525">
                  <a:moveTo>
                    <a:pt x="6096" y="0"/>
                  </a:moveTo>
                  <a:lnTo>
                    <a:pt x="15240" y="0"/>
                  </a:lnTo>
                </a:path>
                <a:path w="15239" h="9525">
                  <a:moveTo>
                    <a:pt x="0" y="9144"/>
                  </a:moveTo>
                  <a:lnTo>
                    <a:pt x="12191" y="91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5178551" y="5216651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5269991" y="5216651"/>
              <a:ext cx="40005" cy="15240"/>
            </a:xfrm>
            <a:custGeom>
              <a:avLst/>
              <a:gdLst/>
              <a:ahLst/>
              <a:cxnLst/>
              <a:rect l="l" t="t" r="r" b="b"/>
              <a:pathLst>
                <a:path w="40004" h="15239">
                  <a:moveTo>
                    <a:pt x="3048" y="0"/>
                  </a:moveTo>
                  <a:lnTo>
                    <a:pt x="15239" y="0"/>
                  </a:lnTo>
                </a:path>
                <a:path w="40004" h="15239">
                  <a:moveTo>
                    <a:pt x="0" y="9143"/>
                  </a:moveTo>
                  <a:lnTo>
                    <a:pt x="12191" y="9143"/>
                  </a:lnTo>
                </a:path>
                <a:path w="40004" h="15239">
                  <a:moveTo>
                    <a:pt x="0" y="12191"/>
                  </a:moveTo>
                  <a:lnTo>
                    <a:pt x="12191" y="12191"/>
                  </a:lnTo>
                </a:path>
                <a:path w="40004" h="15239">
                  <a:moveTo>
                    <a:pt x="36575" y="12191"/>
                  </a:moveTo>
                  <a:lnTo>
                    <a:pt x="39623" y="12191"/>
                  </a:lnTo>
                </a:path>
                <a:path w="40004" h="15239">
                  <a:moveTo>
                    <a:pt x="0" y="15239"/>
                  </a:moveTo>
                  <a:lnTo>
                    <a:pt x="12191" y="15239"/>
                  </a:lnTo>
                </a:path>
                <a:path w="40004" h="15239">
                  <a:moveTo>
                    <a:pt x="36575" y="15239"/>
                  </a:moveTo>
                  <a:lnTo>
                    <a:pt x="39623" y="152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8" name="object 188"/>
          <p:cNvGrpSpPr/>
          <p:nvPr/>
        </p:nvGrpSpPr>
        <p:grpSpPr>
          <a:xfrm>
            <a:off x="6931152" y="5050535"/>
            <a:ext cx="320040" cy="219710"/>
            <a:chOff x="6931152" y="5050535"/>
            <a:chExt cx="320040" cy="219710"/>
          </a:xfrm>
        </p:grpSpPr>
        <p:pic>
          <p:nvPicPr>
            <p:cNvPr id="189" name="object 189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6949440" y="5117591"/>
              <a:ext cx="88392" cy="15239"/>
            </a:xfrm>
            <a:prstGeom prst="rect">
              <a:avLst/>
            </a:prstGeom>
          </p:spPr>
        </p:pic>
        <p:pic>
          <p:nvPicPr>
            <p:cNvPr id="190" name="object 190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6940296" y="5129783"/>
              <a:ext cx="97536" cy="15239"/>
            </a:xfrm>
            <a:prstGeom prst="rect">
              <a:avLst/>
            </a:prstGeom>
          </p:spPr>
        </p:pic>
        <p:sp>
          <p:nvSpPr>
            <p:cNvPr id="191" name="object 191"/>
            <p:cNvSpPr/>
            <p:nvPr/>
          </p:nvSpPr>
          <p:spPr>
            <a:xfrm>
              <a:off x="6982968" y="5143499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40">
                  <a:moveTo>
                    <a:pt x="0" y="0"/>
                  </a:moveTo>
                  <a:lnTo>
                    <a:pt x="1524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7025640" y="5143499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707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3" name="object 193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6937248" y="5050535"/>
              <a:ext cx="225552" cy="143255"/>
            </a:xfrm>
            <a:prstGeom prst="rect">
              <a:avLst/>
            </a:prstGeom>
          </p:spPr>
        </p:pic>
        <p:sp>
          <p:nvSpPr>
            <p:cNvPr id="194" name="object 194"/>
            <p:cNvSpPr/>
            <p:nvPr/>
          </p:nvSpPr>
          <p:spPr>
            <a:xfrm>
              <a:off x="6940296" y="5146547"/>
              <a:ext cx="152400" cy="15240"/>
            </a:xfrm>
            <a:custGeom>
              <a:avLst/>
              <a:gdLst/>
              <a:ahLst/>
              <a:cxnLst/>
              <a:rect l="l" t="t" r="r" b="b"/>
              <a:pathLst>
                <a:path w="152400" h="15239">
                  <a:moveTo>
                    <a:pt x="42672" y="0"/>
                  </a:moveTo>
                  <a:lnTo>
                    <a:pt x="57912" y="0"/>
                  </a:lnTo>
                </a:path>
                <a:path w="152400" h="15239">
                  <a:moveTo>
                    <a:pt x="42672" y="3048"/>
                  </a:moveTo>
                  <a:lnTo>
                    <a:pt x="57912" y="3048"/>
                  </a:lnTo>
                </a:path>
                <a:path w="152400" h="15239">
                  <a:moveTo>
                    <a:pt x="0" y="6096"/>
                  </a:moveTo>
                  <a:lnTo>
                    <a:pt x="3047" y="6096"/>
                  </a:lnTo>
                </a:path>
                <a:path w="152400" h="15239">
                  <a:moveTo>
                    <a:pt x="143255" y="12192"/>
                  </a:moveTo>
                  <a:lnTo>
                    <a:pt x="152400" y="12192"/>
                  </a:lnTo>
                </a:path>
                <a:path w="152400" h="15239">
                  <a:moveTo>
                    <a:pt x="39624" y="15240"/>
                  </a:moveTo>
                  <a:lnTo>
                    <a:pt x="54864" y="152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5" name="object 195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7199376" y="5050535"/>
              <a:ext cx="51815" cy="216407"/>
            </a:xfrm>
            <a:prstGeom prst="rect">
              <a:avLst/>
            </a:prstGeom>
          </p:spPr>
        </p:pic>
        <p:sp>
          <p:nvSpPr>
            <p:cNvPr id="196" name="object 196"/>
            <p:cNvSpPr/>
            <p:nvPr/>
          </p:nvSpPr>
          <p:spPr>
            <a:xfrm>
              <a:off x="6976872" y="5170931"/>
              <a:ext cx="271780" cy="9525"/>
            </a:xfrm>
            <a:custGeom>
              <a:avLst/>
              <a:gdLst/>
              <a:ahLst/>
              <a:cxnLst/>
              <a:rect l="l" t="t" r="r" b="b"/>
              <a:pathLst>
                <a:path w="271779" h="9525">
                  <a:moveTo>
                    <a:pt x="103631" y="0"/>
                  </a:moveTo>
                  <a:lnTo>
                    <a:pt x="112776" y="0"/>
                  </a:lnTo>
                </a:path>
                <a:path w="271779" h="9525">
                  <a:moveTo>
                    <a:pt x="0" y="3048"/>
                  </a:moveTo>
                  <a:lnTo>
                    <a:pt x="15240" y="3048"/>
                  </a:lnTo>
                </a:path>
                <a:path w="271779" h="9525">
                  <a:moveTo>
                    <a:pt x="262127" y="3048"/>
                  </a:moveTo>
                  <a:lnTo>
                    <a:pt x="271272" y="3048"/>
                  </a:lnTo>
                </a:path>
                <a:path w="271779" h="9525">
                  <a:moveTo>
                    <a:pt x="0" y="6096"/>
                  </a:moveTo>
                  <a:lnTo>
                    <a:pt x="15240" y="6096"/>
                  </a:lnTo>
                </a:path>
                <a:path w="271779" h="9525">
                  <a:moveTo>
                    <a:pt x="262127" y="6096"/>
                  </a:moveTo>
                  <a:lnTo>
                    <a:pt x="271272" y="6096"/>
                  </a:lnTo>
                </a:path>
                <a:path w="271779" h="9525">
                  <a:moveTo>
                    <a:pt x="262127" y="9144"/>
                  </a:moveTo>
                  <a:lnTo>
                    <a:pt x="271272" y="91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7028688" y="5183123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5151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6973824" y="5183123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265175" y="0"/>
                  </a:moveTo>
                  <a:lnTo>
                    <a:pt x="274320" y="0"/>
                  </a:lnTo>
                </a:path>
                <a:path w="274320" h="9525">
                  <a:moveTo>
                    <a:pt x="54863" y="3047"/>
                  </a:moveTo>
                  <a:lnTo>
                    <a:pt x="57911" y="3047"/>
                  </a:lnTo>
                </a:path>
                <a:path w="274320" h="9525">
                  <a:moveTo>
                    <a:pt x="265175" y="3047"/>
                  </a:moveTo>
                  <a:lnTo>
                    <a:pt x="274320" y="3047"/>
                  </a:lnTo>
                </a:path>
                <a:path w="274320" h="9525">
                  <a:moveTo>
                    <a:pt x="0" y="6095"/>
                  </a:moveTo>
                  <a:lnTo>
                    <a:pt x="12191" y="6095"/>
                  </a:lnTo>
                </a:path>
                <a:path w="274320" h="9525">
                  <a:moveTo>
                    <a:pt x="265175" y="6095"/>
                  </a:moveTo>
                  <a:lnTo>
                    <a:pt x="274320" y="6095"/>
                  </a:lnTo>
                </a:path>
                <a:path w="274320" h="9525">
                  <a:moveTo>
                    <a:pt x="51815" y="9143"/>
                  </a:moveTo>
                  <a:lnTo>
                    <a:pt x="54863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9" name="object 199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6931152" y="5193791"/>
              <a:ext cx="97535" cy="6095"/>
            </a:xfrm>
            <a:prstGeom prst="rect">
              <a:avLst/>
            </a:prstGeom>
          </p:spPr>
        </p:pic>
        <p:sp>
          <p:nvSpPr>
            <p:cNvPr id="200" name="object 200"/>
            <p:cNvSpPr/>
            <p:nvPr/>
          </p:nvSpPr>
          <p:spPr>
            <a:xfrm>
              <a:off x="6931152" y="5198363"/>
              <a:ext cx="314325" cy="15240"/>
            </a:xfrm>
            <a:custGeom>
              <a:avLst/>
              <a:gdLst/>
              <a:ahLst/>
              <a:cxnLst/>
              <a:rect l="l" t="t" r="r" b="b"/>
              <a:pathLst>
                <a:path w="314325" h="15239">
                  <a:moveTo>
                    <a:pt x="0" y="0"/>
                  </a:moveTo>
                  <a:lnTo>
                    <a:pt x="18288" y="0"/>
                  </a:lnTo>
                </a:path>
                <a:path w="314325" h="15239">
                  <a:moveTo>
                    <a:pt x="91440" y="0"/>
                  </a:moveTo>
                  <a:lnTo>
                    <a:pt x="94487" y="0"/>
                  </a:lnTo>
                </a:path>
                <a:path w="314325" h="15239">
                  <a:moveTo>
                    <a:pt x="143255" y="0"/>
                  </a:moveTo>
                  <a:lnTo>
                    <a:pt x="152400" y="0"/>
                  </a:lnTo>
                </a:path>
                <a:path w="314325" h="15239">
                  <a:moveTo>
                    <a:pt x="301751" y="3048"/>
                  </a:moveTo>
                  <a:lnTo>
                    <a:pt x="313943" y="3048"/>
                  </a:lnTo>
                </a:path>
                <a:path w="314325" h="15239">
                  <a:moveTo>
                    <a:pt x="301751" y="6095"/>
                  </a:moveTo>
                  <a:lnTo>
                    <a:pt x="313943" y="6095"/>
                  </a:lnTo>
                </a:path>
                <a:path w="314325" h="15239">
                  <a:moveTo>
                    <a:pt x="137159" y="15239"/>
                  </a:moveTo>
                  <a:lnTo>
                    <a:pt x="149351" y="152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1" name="object 201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6931152" y="5190743"/>
              <a:ext cx="231648" cy="79247"/>
            </a:xfrm>
            <a:prstGeom prst="rect">
              <a:avLst/>
            </a:prstGeom>
          </p:spPr>
        </p:pic>
        <p:sp>
          <p:nvSpPr>
            <p:cNvPr id="202" name="object 202"/>
            <p:cNvSpPr/>
            <p:nvPr/>
          </p:nvSpPr>
          <p:spPr>
            <a:xfrm>
              <a:off x="7065264" y="5225795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>
                  <a:moveTo>
                    <a:pt x="0" y="0"/>
                  </a:moveTo>
                  <a:lnTo>
                    <a:pt x="12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7199376" y="5268467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4" name="object 204"/>
          <p:cNvGrpSpPr/>
          <p:nvPr/>
        </p:nvGrpSpPr>
        <p:grpSpPr>
          <a:xfrm>
            <a:off x="5632703" y="5123688"/>
            <a:ext cx="116205" cy="94615"/>
            <a:chOff x="5632703" y="5123688"/>
            <a:chExt cx="116205" cy="94615"/>
          </a:xfrm>
        </p:grpSpPr>
        <p:pic>
          <p:nvPicPr>
            <p:cNvPr id="205" name="object 205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5635751" y="5123688"/>
              <a:ext cx="112776" cy="48767"/>
            </a:xfrm>
            <a:prstGeom prst="rect">
              <a:avLst/>
            </a:prstGeom>
          </p:spPr>
        </p:pic>
        <p:pic>
          <p:nvPicPr>
            <p:cNvPr id="206" name="object 206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5632703" y="5166360"/>
              <a:ext cx="85344" cy="51815"/>
            </a:xfrm>
            <a:prstGeom prst="rect">
              <a:avLst/>
            </a:prstGeom>
          </p:spPr>
        </p:pic>
      </p:grpSp>
      <p:pic>
        <p:nvPicPr>
          <p:cNvPr id="207" name="object 207"/>
          <p:cNvPicPr/>
          <p:nvPr/>
        </p:nvPicPr>
        <p:blipFill>
          <a:blip r:embed="rId100" cstate="print"/>
          <a:stretch>
            <a:fillRect/>
          </a:stretch>
        </p:blipFill>
        <p:spPr>
          <a:xfrm>
            <a:off x="6248400" y="5151120"/>
            <a:ext cx="24383" cy="18287"/>
          </a:xfrm>
          <a:prstGeom prst="rect">
            <a:avLst/>
          </a:prstGeom>
        </p:spPr>
      </p:pic>
      <p:pic>
        <p:nvPicPr>
          <p:cNvPr id="208" name="object 208"/>
          <p:cNvPicPr/>
          <p:nvPr/>
        </p:nvPicPr>
        <p:blipFill>
          <a:blip r:embed="rId101" cstate="print"/>
          <a:stretch>
            <a:fillRect/>
          </a:stretch>
        </p:blipFill>
        <p:spPr>
          <a:xfrm>
            <a:off x="5404103" y="5135879"/>
            <a:ext cx="146304" cy="51815"/>
          </a:xfrm>
          <a:prstGeom prst="rect">
            <a:avLst/>
          </a:prstGeom>
        </p:spPr>
      </p:pic>
      <p:grpSp>
        <p:nvGrpSpPr>
          <p:cNvPr id="209" name="object 209"/>
          <p:cNvGrpSpPr/>
          <p:nvPr/>
        </p:nvGrpSpPr>
        <p:grpSpPr>
          <a:xfrm>
            <a:off x="7580376" y="5468111"/>
            <a:ext cx="320040" cy="219710"/>
            <a:chOff x="7580376" y="5468111"/>
            <a:chExt cx="320040" cy="219710"/>
          </a:xfrm>
        </p:grpSpPr>
        <p:sp>
          <p:nvSpPr>
            <p:cNvPr id="210" name="object 210"/>
            <p:cNvSpPr/>
            <p:nvPr/>
          </p:nvSpPr>
          <p:spPr>
            <a:xfrm>
              <a:off x="7781544" y="5469635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40">
                  <a:moveTo>
                    <a:pt x="0" y="0"/>
                  </a:moveTo>
                  <a:lnTo>
                    <a:pt x="27432" y="0"/>
                  </a:lnTo>
                </a:path>
              </a:pathLst>
            </a:custGeom>
            <a:ln w="3175">
              <a:solidFill>
                <a:srgbClr val="3636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7848600" y="5469635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2" name="object 212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7781544" y="5471159"/>
              <a:ext cx="112776" cy="70103"/>
            </a:xfrm>
            <a:prstGeom prst="rect">
              <a:avLst/>
            </a:prstGeom>
          </p:spPr>
        </p:pic>
        <p:sp>
          <p:nvSpPr>
            <p:cNvPr id="213" name="object 213"/>
            <p:cNvSpPr/>
            <p:nvPr/>
          </p:nvSpPr>
          <p:spPr>
            <a:xfrm>
              <a:off x="7882128" y="5539739"/>
              <a:ext cx="15240" cy="48895"/>
            </a:xfrm>
            <a:custGeom>
              <a:avLst/>
              <a:gdLst/>
              <a:ahLst/>
              <a:cxnLst/>
              <a:rect l="l" t="t" r="r" b="b"/>
              <a:pathLst>
                <a:path w="15240" h="48895">
                  <a:moveTo>
                    <a:pt x="0" y="0"/>
                  </a:moveTo>
                  <a:lnTo>
                    <a:pt x="12191" y="0"/>
                  </a:lnTo>
                </a:path>
                <a:path w="15240" h="48895">
                  <a:moveTo>
                    <a:pt x="0" y="3048"/>
                  </a:moveTo>
                  <a:lnTo>
                    <a:pt x="12191" y="3048"/>
                  </a:lnTo>
                </a:path>
                <a:path w="15240" h="48895">
                  <a:moveTo>
                    <a:pt x="3048" y="24384"/>
                  </a:moveTo>
                  <a:lnTo>
                    <a:pt x="15239" y="24384"/>
                  </a:lnTo>
                </a:path>
                <a:path w="15240" h="48895">
                  <a:moveTo>
                    <a:pt x="3048" y="27431"/>
                  </a:moveTo>
                  <a:lnTo>
                    <a:pt x="15239" y="27431"/>
                  </a:lnTo>
                </a:path>
                <a:path w="15240" h="48895">
                  <a:moveTo>
                    <a:pt x="3048" y="30479"/>
                  </a:moveTo>
                  <a:lnTo>
                    <a:pt x="15239" y="30479"/>
                  </a:lnTo>
                </a:path>
                <a:path w="15240" h="48895">
                  <a:moveTo>
                    <a:pt x="3048" y="42672"/>
                  </a:moveTo>
                  <a:lnTo>
                    <a:pt x="15239" y="42672"/>
                  </a:lnTo>
                </a:path>
                <a:path w="15240" h="48895">
                  <a:moveTo>
                    <a:pt x="3048" y="45719"/>
                  </a:moveTo>
                  <a:lnTo>
                    <a:pt x="15239" y="45719"/>
                  </a:lnTo>
                </a:path>
                <a:path w="15240" h="48895">
                  <a:moveTo>
                    <a:pt x="3048" y="48767"/>
                  </a:moveTo>
                  <a:lnTo>
                    <a:pt x="15239" y="487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4" name="object 214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7595616" y="5538215"/>
              <a:ext cx="91440" cy="15239"/>
            </a:xfrm>
            <a:prstGeom prst="rect">
              <a:avLst/>
            </a:prstGeom>
          </p:spPr>
        </p:pic>
        <p:pic>
          <p:nvPicPr>
            <p:cNvPr id="215" name="object 215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7586472" y="5550407"/>
              <a:ext cx="100584" cy="15239"/>
            </a:xfrm>
            <a:prstGeom prst="rect">
              <a:avLst/>
            </a:prstGeom>
          </p:spPr>
        </p:pic>
        <p:pic>
          <p:nvPicPr>
            <p:cNvPr id="216" name="object 216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7583424" y="5562599"/>
              <a:ext cx="173735" cy="48767"/>
            </a:xfrm>
            <a:prstGeom prst="rect">
              <a:avLst/>
            </a:prstGeom>
          </p:spPr>
        </p:pic>
        <p:sp>
          <p:nvSpPr>
            <p:cNvPr id="217" name="object 217"/>
            <p:cNvSpPr/>
            <p:nvPr/>
          </p:nvSpPr>
          <p:spPr>
            <a:xfrm>
              <a:off x="7885176" y="5591555"/>
              <a:ext cx="12700" cy="6350"/>
            </a:xfrm>
            <a:custGeom>
              <a:avLst/>
              <a:gdLst/>
              <a:ahLst/>
              <a:cxnLst/>
              <a:rect l="l" t="t" r="r" b="b"/>
              <a:pathLst>
                <a:path w="12700" h="6350">
                  <a:moveTo>
                    <a:pt x="0" y="0"/>
                  </a:moveTo>
                  <a:lnTo>
                    <a:pt x="12191" y="0"/>
                  </a:lnTo>
                </a:path>
                <a:path w="12700" h="6350">
                  <a:moveTo>
                    <a:pt x="0" y="3048"/>
                  </a:moveTo>
                  <a:lnTo>
                    <a:pt x="12191" y="3048"/>
                  </a:lnTo>
                </a:path>
                <a:path w="12700" h="6350">
                  <a:moveTo>
                    <a:pt x="0" y="6096"/>
                  </a:moveTo>
                  <a:lnTo>
                    <a:pt x="12191" y="60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7677912" y="5600699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5656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7623048" y="5603747"/>
              <a:ext cx="55244" cy="9525"/>
            </a:xfrm>
            <a:custGeom>
              <a:avLst/>
              <a:gdLst/>
              <a:ahLst/>
              <a:cxnLst/>
              <a:rect l="l" t="t" r="r" b="b"/>
              <a:pathLst>
                <a:path w="55245" h="9525">
                  <a:moveTo>
                    <a:pt x="0" y="0"/>
                  </a:moveTo>
                  <a:lnTo>
                    <a:pt x="12191" y="0"/>
                  </a:lnTo>
                </a:path>
                <a:path w="55245" h="9525">
                  <a:moveTo>
                    <a:pt x="0" y="3048"/>
                  </a:moveTo>
                  <a:lnTo>
                    <a:pt x="12191" y="3048"/>
                  </a:lnTo>
                </a:path>
                <a:path w="55245" h="9525">
                  <a:moveTo>
                    <a:pt x="51815" y="6096"/>
                  </a:moveTo>
                  <a:lnTo>
                    <a:pt x="54863" y="6096"/>
                  </a:lnTo>
                </a:path>
                <a:path w="55245" h="9525">
                  <a:moveTo>
                    <a:pt x="51815" y="9144"/>
                  </a:moveTo>
                  <a:lnTo>
                    <a:pt x="54863" y="91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0" name="object 220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7711440" y="5541263"/>
              <a:ext cx="188976" cy="146303"/>
            </a:xfrm>
            <a:prstGeom prst="rect">
              <a:avLst/>
            </a:prstGeom>
          </p:spPr>
        </p:pic>
        <p:sp>
          <p:nvSpPr>
            <p:cNvPr id="221" name="object 221"/>
            <p:cNvSpPr/>
            <p:nvPr/>
          </p:nvSpPr>
          <p:spPr>
            <a:xfrm>
              <a:off x="7882128" y="5615939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>
                  <a:moveTo>
                    <a:pt x="0" y="0"/>
                  </a:moveTo>
                  <a:lnTo>
                    <a:pt x="12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2" name="object 222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7580376" y="5611367"/>
              <a:ext cx="152399" cy="12191"/>
            </a:xfrm>
            <a:prstGeom prst="rect">
              <a:avLst/>
            </a:prstGeom>
          </p:spPr>
        </p:pic>
        <p:sp>
          <p:nvSpPr>
            <p:cNvPr id="223" name="object 223"/>
            <p:cNvSpPr/>
            <p:nvPr/>
          </p:nvSpPr>
          <p:spPr>
            <a:xfrm>
              <a:off x="7662672" y="5618987"/>
              <a:ext cx="231775" cy="9525"/>
            </a:xfrm>
            <a:custGeom>
              <a:avLst/>
              <a:gdLst/>
              <a:ahLst/>
              <a:cxnLst/>
              <a:rect l="l" t="t" r="r" b="b"/>
              <a:pathLst>
                <a:path w="231775" h="9525">
                  <a:moveTo>
                    <a:pt x="219455" y="0"/>
                  </a:moveTo>
                  <a:lnTo>
                    <a:pt x="231647" y="0"/>
                  </a:lnTo>
                </a:path>
                <a:path w="231775" h="9525">
                  <a:moveTo>
                    <a:pt x="3048" y="3048"/>
                  </a:moveTo>
                  <a:lnTo>
                    <a:pt x="9143" y="3048"/>
                  </a:lnTo>
                </a:path>
                <a:path w="231775" h="9525">
                  <a:moveTo>
                    <a:pt x="0" y="6095"/>
                  </a:moveTo>
                  <a:lnTo>
                    <a:pt x="3047" y="6095"/>
                  </a:lnTo>
                </a:path>
                <a:path w="231775" h="9525">
                  <a:moveTo>
                    <a:pt x="54863" y="9143"/>
                  </a:moveTo>
                  <a:lnTo>
                    <a:pt x="67055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4" name="object 224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7580376" y="5617463"/>
              <a:ext cx="82295" cy="18287"/>
            </a:xfrm>
            <a:prstGeom prst="rect">
              <a:avLst/>
            </a:prstGeom>
          </p:spPr>
        </p:pic>
        <p:sp>
          <p:nvSpPr>
            <p:cNvPr id="225" name="object 225"/>
            <p:cNvSpPr/>
            <p:nvPr/>
          </p:nvSpPr>
          <p:spPr>
            <a:xfrm>
              <a:off x="7714488" y="5631179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3048" y="0"/>
                  </a:moveTo>
                  <a:lnTo>
                    <a:pt x="15239" y="0"/>
                  </a:lnTo>
                </a:path>
                <a:path w="15240" h="15239">
                  <a:moveTo>
                    <a:pt x="0" y="12191"/>
                  </a:moveTo>
                  <a:lnTo>
                    <a:pt x="12191" y="12191"/>
                  </a:lnTo>
                </a:path>
                <a:path w="15240" h="15239">
                  <a:moveTo>
                    <a:pt x="0" y="15239"/>
                  </a:moveTo>
                  <a:lnTo>
                    <a:pt x="12191" y="152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7848600" y="5686043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7" name="object 227"/>
          <p:cNvGrpSpPr/>
          <p:nvPr/>
        </p:nvGrpSpPr>
        <p:grpSpPr>
          <a:xfrm>
            <a:off x="5654040" y="5483352"/>
            <a:ext cx="429895" cy="152400"/>
            <a:chOff x="5654040" y="5483352"/>
            <a:chExt cx="429895" cy="152400"/>
          </a:xfrm>
        </p:grpSpPr>
        <p:pic>
          <p:nvPicPr>
            <p:cNvPr id="228" name="object 228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5974080" y="5483352"/>
              <a:ext cx="30480" cy="12191"/>
            </a:xfrm>
            <a:prstGeom prst="rect">
              <a:avLst/>
            </a:prstGeom>
          </p:spPr>
        </p:pic>
        <p:sp>
          <p:nvSpPr>
            <p:cNvPr id="229" name="object 229"/>
            <p:cNvSpPr/>
            <p:nvPr/>
          </p:nvSpPr>
          <p:spPr>
            <a:xfrm>
              <a:off x="5992368" y="5497068"/>
              <a:ext cx="12700" cy="43180"/>
            </a:xfrm>
            <a:custGeom>
              <a:avLst/>
              <a:gdLst/>
              <a:ahLst/>
              <a:cxnLst/>
              <a:rect l="l" t="t" r="r" b="b"/>
              <a:pathLst>
                <a:path w="12700" h="43179">
                  <a:moveTo>
                    <a:pt x="0" y="0"/>
                  </a:moveTo>
                  <a:lnTo>
                    <a:pt x="12191" y="0"/>
                  </a:lnTo>
                </a:path>
                <a:path w="12700" h="43179">
                  <a:moveTo>
                    <a:pt x="0" y="3048"/>
                  </a:moveTo>
                  <a:lnTo>
                    <a:pt x="12191" y="3048"/>
                  </a:lnTo>
                </a:path>
                <a:path w="12700" h="43179">
                  <a:moveTo>
                    <a:pt x="0" y="6096"/>
                  </a:moveTo>
                  <a:lnTo>
                    <a:pt x="12191" y="6096"/>
                  </a:lnTo>
                </a:path>
                <a:path w="12700" h="43179">
                  <a:moveTo>
                    <a:pt x="0" y="9144"/>
                  </a:moveTo>
                  <a:lnTo>
                    <a:pt x="12191" y="9144"/>
                  </a:lnTo>
                </a:path>
                <a:path w="12700" h="43179">
                  <a:moveTo>
                    <a:pt x="0" y="12191"/>
                  </a:moveTo>
                  <a:lnTo>
                    <a:pt x="12191" y="12191"/>
                  </a:lnTo>
                </a:path>
                <a:path w="12700" h="43179">
                  <a:moveTo>
                    <a:pt x="0" y="15239"/>
                  </a:moveTo>
                  <a:lnTo>
                    <a:pt x="12191" y="15239"/>
                  </a:lnTo>
                </a:path>
                <a:path w="12700" h="43179">
                  <a:moveTo>
                    <a:pt x="0" y="18287"/>
                  </a:moveTo>
                  <a:lnTo>
                    <a:pt x="12191" y="18287"/>
                  </a:lnTo>
                </a:path>
                <a:path w="12700" h="43179">
                  <a:moveTo>
                    <a:pt x="0" y="21336"/>
                  </a:moveTo>
                  <a:lnTo>
                    <a:pt x="12191" y="21336"/>
                  </a:lnTo>
                </a:path>
                <a:path w="12700" h="43179">
                  <a:moveTo>
                    <a:pt x="0" y="24384"/>
                  </a:moveTo>
                  <a:lnTo>
                    <a:pt x="12191" y="24384"/>
                  </a:lnTo>
                </a:path>
                <a:path w="12700" h="43179">
                  <a:moveTo>
                    <a:pt x="0" y="27432"/>
                  </a:moveTo>
                  <a:lnTo>
                    <a:pt x="12191" y="27432"/>
                  </a:lnTo>
                </a:path>
                <a:path w="12700" h="43179">
                  <a:moveTo>
                    <a:pt x="0" y="30479"/>
                  </a:moveTo>
                  <a:lnTo>
                    <a:pt x="12191" y="30479"/>
                  </a:lnTo>
                </a:path>
                <a:path w="12700" h="43179">
                  <a:moveTo>
                    <a:pt x="0" y="33527"/>
                  </a:moveTo>
                  <a:lnTo>
                    <a:pt x="12191" y="33527"/>
                  </a:lnTo>
                </a:path>
                <a:path w="12700" h="43179">
                  <a:moveTo>
                    <a:pt x="0" y="36575"/>
                  </a:moveTo>
                  <a:lnTo>
                    <a:pt x="12191" y="36575"/>
                  </a:lnTo>
                </a:path>
                <a:path w="12700" h="43179">
                  <a:moveTo>
                    <a:pt x="0" y="39624"/>
                  </a:moveTo>
                  <a:lnTo>
                    <a:pt x="12191" y="39624"/>
                  </a:lnTo>
                </a:path>
                <a:path w="12700" h="43179">
                  <a:moveTo>
                    <a:pt x="0" y="42672"/>
                  </a:moveTo>
                  <a:lnTo>
                    <a:pt x="12191" y="426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0" name="object 230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5654040" y="5498592"/>
              <a:ext cx="286512" cy="54863"/>
            </a:xfrm>
            <a:prstGeom prst="rect">
              <a:avLst/>
            </a:prstGeom>
          </p:spPr>
        </p:pic>
        <p:sp>
          <p:nvSpPr>
            <p:cNvPr id="231" name="object 231"/>
            <p:cNvSpPr/>
            <p:nvPr/>
          </p:nvSpPr>
          <p:spPr>
            <a:xfrm>
              <a:off x="5888736" y="5542788"/>
              <a:ext cx="116205" cy="12700"/>
            </a:xfrm>
            <a:custGeom>
              <a:avLst/>
              <a:gdLst/>
              <a:ahLst/>
              <a:cxnLst/>
              <a:rect l="l" t="t" r="r" b="b"/>
              <a:pathLst>
                <a:path w="116204" h="12700">
                  <a:moveTo>
                    <a:pt x="103631" y="0"/>
                  </a:moveTo>
                  <a:lnTo>
                    <a:pt x="115823" y="0"/>
                  </a:lnTo>
                </a:path>
                <a:path w="116204" h="12700">
                  <a:moveTo>
                    <a:pt x="103631" y="3048"/>
                  </a:moveTo>
                  <a:lnTo>
                    <a:pt x="115823" y="3048"/>
                  </a:lnTo>
                </a:path>
                <a:path w="116204" h="12700">
                  <a:moveTo>
                    <a:pt x="103631" y="6095"/>
                  </a:moveTo>
                  <a:lnTo>
                    <a:pt x="115823" y="6095"/>
                  </a:lnTo>
                </a:path>
                <a:path w="116204" h="12700">
                  <a:moveTo>
                    <a:pt x="0" y="9144"/>
                  </a:moveTo>
                  <a:lnTo>
                    <a:pt x="3047" y="9144"/>
                  </a:lnTo>
                </a:path>
                <a:path w="116204" h="12700">
                  <a:moveTo>
                    <a:pt x="103631" y="9143"/>
                  </a:moveTo>
                  <a:lnTo>
                    <a:pt x="115823" y="9143"/>
                  </a:lnTo>
                </a:path>
                <a:path w="116204" h="12700">
                  <a:moveTo>
                    <a:pt x="42671" y="12191"/>
                  </a:moveTo>
                  <a:lnTo>
                    <a:pt x="54863" y="1219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2" name="object 232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5992368" y="5538216"/>
              <a:ext cx="76200" cy="36575"/>
            </a:xfrm>
            <a:prstGeom prst="rect">
              <a:avLst/>
            </a:prstGeom>
          </p:spPr>
        </p:pic>
        <p:pic>
          <p:nvPicPr>
            <p:cNvPr id="233" name="object 233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5751576" y="5553456"/>
              <a:ext cx="67055" cy="9143"/>
            </a:xfrm>
            <a:prstGeom prst="rect">
              <a:avLst/>
            </a:prstGeom>
          </p:spPr>
        </p:pic>
        <p:sp>
          <p:nvSpPr>
            <p:cNvPr id="234" name="object 234"/>
            <p:cNvSpPr/>
            <p:nvPr/>
          </p:nvSpPr>
          <p:spPr>
            <a:xfrm>
              <a:off x="5806440" y="5558028"/>
              <a:ext cx="201295" cy="3175"/>
            </a:xfrm>
            <a:custGeom>
              <a:avLst/>
              <a:gdLst/>
              <a:ahLst/>
              <a:cxnLst/>
              <a:rect l="l" t="t" r="r" b="b"/>
              <a:pathLst>
                <a:path w="201295" h="3175">
                  <a:moveTo>
                    <a:pt x="124967" y="0"/>
                  </a:moveTo>
                  <a:lnTo>
                    <a:pt x="137159" y="0"/>
                  </a:lnTo>
                </a:path>
                <a:path w="201295" h="3175">
                  <a:moveTo>
                    <a:pt x="0" y="3048"/>
                  </a:moveTo>
                  <a:lnTo>
                    <a:pt x="12191" y="3048"/>
                  </a:lnTo>
                </a:path>
                <a:path w="201295" h="3175">
                  <a:moveTo>
                    <a:pt x="185927" y="3048"/>
                  </a:moveTo>
                  <a:lnTo>
                    <a:pt x="201168" y="30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5757672" y="557022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7B7B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5992368" y="5573268"/>
              <a:ext cx="76200" cy="15240"/>
            </a:xfrm>
            <a:custGeom>
              <a:avLst/>
              <a:gdLst/>
              <a:ahLst/>
              <a:cxnLst/>
              <a:rect l="l" t="t" r="r" b="b"/>
              <a:pathLst>
                <a:path w="76200" h="15239">
                  <a:moveTo>
                    <a:pt x="0" y="0"/>
                  </a:moveTo>
                  <a:lnTo>
                    <a:pt x="12191" y="0"/>
                  </a:lnTo>
                </a:path>
                <a:path w="76200" h="15239">
                  <a:moveTo>
                    <a:pt x="0" y="3048"/>
                  </a:moveTo>
                  <a:lnTo>
                    <a:pt x="12191" y="3048"/>
                  </a:lnTo>
                </a:path>
                <a:path w="76200" h="15239">
                  <a:moveTo>
                    <a:pt x="60960" y="3048"/>
                  </a:moveTo>
                  <a:lnTo>
                    <a:pt x="76200" y="3048"/>
                  </a:lnTo>
                </a:path>
                <a:path w="76200" h="15239">
                  <a:moveTo>
                    <a:pt x="0" y="6096"/>
                  </a:moveTo>
                  <a:lnTo>
                    <a:pt x="12191" y="6096"/>
                  </a:lnTo>
                </a:path>
                <a:path w="76200" h="15239">
                  <a:moveTo>
                    <a:pt x="60960" y="6096"/>
                  </a:moveTo>
                  <a:lnTo>
                    <a:pt x="76200" y="6096"/>
                  </a:lnTo>
                </a:path>
                <a:path w="76200" h="15239">
                  <a:moveTo>
                    <a:pt x="0" y="9144"/>
                  </a:moveTo>
                  <a:lnTo>
                    <a:pt x="12191" y="9144"/>
                  </a:lnTo>
                </a:path>
                <a:path w="76200" h="15239">
                  <a:moveTo>
                    <a:pt x="60960" y="9144"/>
                  </a:moveTo>
                  <a:lnTo>
                    <a:pt x="76200" y="9144"/>
                  </a:lnTo>
                </a:path>
                <a:path w="76200" h="15239">
                  <a:moveTo>
                    <a:pt x="0" y="12191"/>
                  </a:moveTo>
                  <a:lnTo>
                    <a:pt x="12191" y="12191"/>
                  </a:lnTo>
                </a:path>
                <a:path w="76200" h="15239">
                  <a:moveTo>
                    <a:pt x="60960" y="12191"/>
                  </a:moveTo>
                  <a:lnTo>
                    <a:pt x="76200" y="12191"/>
                  </a:lnTo>
                </a:path>
                <a:path w="76200" h="15239">
                  <a:moveTo>
                    <a:pt x="0" y="15239"/>
                  </a:moveTo>
                  <a:lnTo>
                    <a:pt x="12191" y="15239"/>
                  </a:lnTo>
                </a:path>
                <a:path w="76200" h="15239">
                  <a:moveTo>
                    <a:pt x="60960" y="15239"/>
                  </a:moveTo>
                  <a:lnTo>
                    <a:pt x="76200" y="152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7" name="object 237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5672328" y="5553456"/>
              <a:ext cx="219455" cy="67055"/>
            </a:xfrm>
            <a:prstGeom prst="rect">
              <a:avLst/>
            </a:prstGeom>
          </p:spPr>
        </p:pic>
        <p:sp>
          <p:nvSpPr>
            <p:cNvPr id="238" name="object 238"/>
            <p:cNvSpPr/>
            <p:nvPr/>
          </p:nvSpPr>
          <p:spPr>
            <a:xfrm>
              <a:off x="5675376" y="5591556"/>
              <a:ext cx="393700" cy="24765"/>
            </a:xfrm>
            <a:custGeom>
              <a:avLst/>
              <a:gdLst/>
              <a:ahLst/>
              <a:cxnLst/>
              <a:rect l="l" t="t" r="r" b="b"/>
              <a:pathLst>
                <a:path w="393700" h="24764">
                  <a:moveTo>
                    <a:pt x="316991" y="0"/>
                  </a:moveTo>
                  <a:lnTo>
                    <a:pt x="329183" y="0"/>
                  </a:lnTo>
                </a:path>
                <a:path w="393700" h="24764">
                  <a:moveTo>
                    <a:pt x="377951" y="0"/>
                  </a:moveTo>
                  <a:lnTo>
                    <a:pt x="393192" y="0"/>
                  </a:lnTo>
                </a:path>
                <a:path w="393700" h="24764">
                  <a:moveTo>
                    <a:pt x="79248" y="3048"/>
                  </a:moveTo>
                  <a:lnTo>
                    <a:pt x="94488" y="3048"/>
                  </a:lnTo>
                </a:path>
                <a:path w="393700" h="24764">
                  <a:moveTo>
                    <a:pt x="316991" y="3048"/>
                  </a:moveTo>
                  <a:lnTo>
                    <a:pt x="329183" y="3048"/>
                  </a:lnTo>
                </a:path>
                <a:path w="393700" h="24764">
                  <a:moveTo>
                    <a:pt x="377951" y="3048"/>
                  </a:moveTo>
                  <a:lnTo>
                    <a:pt x="393192" y="3048"/>
                  </a:lnTo>
                </a:path>
                <a:path w="393700" h="24764">
                  <a:moveTo>
                    <a:pt x="316991" y="6096"/>
                  </a:moveTo>
                  <a:lnTo>
                    <a:pt x="329183" y="6096"/>
                  </a:lnTo>
                </a:path>
                <a:path w="393700" h="24764">
                  <a:moveTo>
                    <a:pt x="377951" y="6096"/>
                  </a:moveTo>
                  <a:lnTo>
                    <a:pt x="393192" y="6096"/>
                  </a:lnTo>
                </a:path>
                <a:path w="393700" h="24764">
                  <a:moveTo>
                    <a:pt x="316991" y="9144"/>
                  </a:moveTo>
                  <a:lnTo>
                    <a:pt x="329183" y="9144"/>
                  </a:lnTo>
                </a:path>
                <a:path w="393700" h="24764">
                  <a:moveTo>
                    <a:pt x="377951" y="9144"/>
                  </a:moveTo>
                  <a:lnTo>
                    <a:pt x="393192" y="9144"/>
                  </a:lnTo>
                </a:path>
                <a:path w="393700" h="24764">
                  <a:moveTo>
                    <a:pt x="316991" y="12191"/>
                  </a:moveTo>
                  <a:lnTo>
                    <a:pt x="329183" y="12191"/>
                  </a:lnTo>
                </a:path>
                <a:path w="393700" h="24764">
                  <a:moveTo>
                    <a:pt x="377951" y="12191"/>
                  </a:moveTo>
                  <a:lnTo>
                    <a:pt x="393192" y="12191"/>
                  </a:lnTo>
                </a:path>
                <a:path w="393700" h="24764">
                  <a:moveTo>
                    <a:pt x="316991" y="15239"/>
                  </a:moveTo>
                  <a:lnTo>
                    <a:pt x="329183" y="15239"/>
                  </a:lnTo>
                </a:path>
                <a:path w="393700" h="24764">
                  <a:moveTo>
                    <a:pt x="377951" y="15239"/>
                  </a:moveTo>
                  <a:lnTo>
                    <a:pt x="393192" y="15239"/>
                  </a:lnTo>
                </a:path>
                <a:path w="393700" h="24764">
                  <a:moveTo>
                    <a:pt x="316991" y="18287"/>
                  </a:moveTo>
                  <a:lnTo>
                    <a:pt x="329183" y="18287"/>
                  </a:lnTo>
                </a:path>
                <a:path w="393700" h="24764">
                  <a:moveTo>
                    <a:pt x="377951" y="18287"/>
                  </a:moveTo>
                  <a:lnTo>
                    <a:pt x="393192" y="18287"/>
                  </a:lnTo>
                </a:path>
                <a:path w="393700" h="24764">
                  <a:moveTo>
                    <a:pt x="316991" y="21336"/>
                  </a:moveTo>
                  <a:lnTo>
                    <a:pt x="329183" y="21336"/>
                  </a:lnTo>
                </a:path>
                <a:path w="393700" h="24764">
                  <a:moveTo>
                    <a:pt x="377951" y="21336"/>
                  </a:moveTo>
                  <a:lnTo>
                    <a:pt x="393192" y="21336"/>
                  </a:lnTo>
                </a:path>
                <a:path w="393700" h="24764">
                  <a:moveTo>
                    <a:pt x="0" y="24384"/>
                  </a:moveTo>
                  <a:lnTo>
                    <a:pt x="15240" y="24384"/>
                  </a:lnTo>
                </a:path>
                <a:path w="393700" h="24764">
                  <a:moveTo>
                    <a:pt x="316991" y="24384"/>
                  </a:moveTo>
                  <a:lnTo>
                    <a:pt x="329183" y="24384"/>
                  </a:lnTo>
                </a:path>
                <a:path w="393700" h="24764">
                  <a:moveTo>
                    <a:pt x="377951" y="24384"/>
                  </a:moveTo>
                  <a:lnTo>
                    <a:pt x="393192" y="243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9" name="object 239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5678424" y="5550408"/>
              <a:ext cx="405383" cy="85343"/>
            </a:xfrm>
            <a:prstGeom prst="rect">
              <a:avLst/>
            </a:prstGeom>
          </p:spPr>
        </p:pic>
        <p:sp>
          <p:nvSpPr>
            <p:cNvPr id="240" name="object 240"/>
            <p:cNvSpPr/>
            <p:nvPr/>
          </p:nvSpPr>
          <p:spPr>
            <a:xfrm>
              <a:off x="5992368" y="5618988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12191" y="0"/>
                  </a:lnTo>
                </a:path>
                <a:path w="76200">
                  <a:moveTo>
                    <a:pt x="60960" y="0"/>
                  </a:moveTo>
                  <a:lnTo>
                    <a:pt x="7620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1" name="object 241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5675376" y="5617464"/>
              <a:ext cx="210312" cy="6095"/>
            </a:xfrm>
            <a:prstGeom prst="rect">
              <a:avLst/>
            </a:prstGeom>
          </p:spPr>
        </p:pic>
        <p:sp>
          <p:nvSpPr>
            <p:cNvPr id="242" name="object 242"/>
            <p:cNvSpPr/>
            <p:nvPr/>
          </p:nvSpPr>
          <p:spPr>
            <a:xfrm>
              <a:off x="5836920" y="562203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5992368" y="5622036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>
                  <a:moveTo>
                    <a:pt x="0" y="0"/>
                  </a:moveTo>
                  <a:lnTo>
                    <a:pt x="12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5800344" y="562508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0404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5836920" y="562508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0202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6" name="object 246"/>
          <p:cNvGrpSpPr/>
          <p:nvPr/>
        </p:nvGrpSpPr>
        <p:grpSpPr>
          <a:xfrm>
            <a:off x="6144767" y="5468111"/>
            <a:ext cx="292735" cy="219710"/>
            <a:chOff x="6144767" y="5468111"/>
            <a:chExt cx="292735" cy="219710"/>
          </a:xfrm>
        </p:grpSpPr>
        <p:pic>
          <p:nvPicPr>
            <p:cNvPr id="247" name="object 247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6169151" y="5468111"/>
              <a:ext cx="268223" cy="30479"/>
            </a:xfrm>
            <a:prstGeom prst="rect">
              <a:avLst/>
            </a:prstGeom>
          </p:spPr>
        </p:pic>
        <p:sp>
          <p:nvSpPr>
            <p:cNvPr id="248" name="object 248"/>
            <p:cNvSpPr/>
            <p:nvPr/>
          </p:nvSpPr>
          <p:spPr>
            <a:xfrm>
              <a:off x="6166103" y="5497067"/>
              <a:ext cx="243840" cy="24765"/>
            </a:xfrm>
            <a:custGeom>
              <a:avLst/>
              <a:gdLst/>
              <a:ahLst/>
              <a:cxnLst/>
              <a:rect l="l" t="t" r="r" b="b"/>
              <a:pathLst>
                <a:path w="243839" h="24764">
                  <a:moveTo>
                    <a:pt x="3048" y="0"/>
                  </a:moveTo>
                  <a:lnTo>
                    <a:pt x="12192" y="0"/>
                  </a:lnTo>
                </a:path>
                <a:path w="243839" h="24764">
                  <a:moveTo>
                    <a:pt x="155448" y="0"/>
                  </a:moveTo>
                  <a:lnTo>
                    <a:pt x="173736" y="0"/>
                  </a:lnTo>
                </a:path>
                <a:path w="243839" h="24764">
                  <a:moveTo>
                    <a:pt x="155448" y="3048"/>
                  </a:moveTo>
                  <a:lnTo>
                    <a:pt x="173736" y="3048"/>
                  </a:lnTo>
                </a:path>
                <a:path w="243839" h="24764">
                  <a:moveTo>
                    <a:pt x="155448" y="6096"/>
                  </a:moveTo>
                  <a:lnTo>
                    <a:pt x="173736" y="6096"/>
                  </a:lnTo>
                </a:path>
                <a:path w="243839" h="24764">
                  <a:moveTo>
                    <a:pt x="0" y="9144"/>
                  </a:moveTo>
                  <a:lnTo>
                    <a:pt x="6095" y="9144"/>
                  </a:lnTo>
                </a:path>
                <a:path w="243839" h="24764">
                  <a:moveTo>
                    <a:pt x="155448" y="9144"/>
                  </a:moveTo>
                  <a:lnTo>
                    <a:pt x="173736" y="9144"/>
                  </a:lnTo>
                </a:path>
                <a:path w="243839" h="24764">
                  <a:moveTo>
                    <a:pt x="240791" y="12191"/>
                  </a:moveTo>
                  <a:lnTo>
                    <a:pt x="243839" y="12191"/>
                  </a:lnTo>
                </a:path>
                <a:path w="243839" h="24764">
                  <a:moveTo>
                    <a:pt x="76200" y="24384"/>
                  </a:moveTo>
                  <a:lnTo>
                    <a:pt x="94488" y="243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9" name="object 249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6306311" y="5507735"/>
              <a:ext cx="36576" cy="30479"/>
            </a:xfrm>
            <a:prstGeom prst="rect">
              <a:avLst/>
            </a:prstGeom>
          </p:spPr>
        </p:pic>
        <p:sp>
          <p:nvSpPr>
            <p:cNvPr id="250" name="object 250"/>
            <p:cNvSpPr/>
            <p:nvPr/>
          </p:nvSpPr>
          <p:spPr>
            <a:xfrm>
              <a:off x="6153911" y="55366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1" name="object 251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6239255" y="5495543"/>
              <a:ext cx="182879" cy="60959"/>
            </a:xfrm>
            <a:prstGeom prst="rect">
              <a:avLst/>
            </a:prstGeom>
          </p:spPr>
        </p:pic>
        <p:sp>
          <p:nvSpPr>
            <p:cNvPr id="252" name="object 252"/>
            <p:cNvSpPr/>
            <p:nvPr/>
          </p:nvSpPr>
          <p:spPr>
            <a:xfrm>
              <a:off x="6150863" y="5539739"/>
              <a:ext cx="12700" cy="18415"/>
            </a:xfrm>
            <a:custGeom>
              <a:avLst/>
              <a:gdLst/>
              <a:ahLst/>
              <a:cxnLst/>
              <a:rect l="l" t="t" r="r" b="b"/>
              <a:pathLst>
                <a:path w="12700" h="18414">
                  <a:moveTo>
                    <a:pt x="3048" y="0"/>
                  </a:moveTo>
                  <a:lnTo>
                    <a:pt x="12192" y="0"/>
                  </a:lnTo>
                </a:path>
                <a:path w="12700" h="18414">
                  <a:moveTo>
                    <a:pt x="0" y="12191"/>
                  </a:moveTo>
                  <a:lnTo>
                    <a:pt x="9144" y="12191"/>
                  </a:lnTo>
                </a:path>
                <a:path w="12700" h="18414">
                  <a:moveTo>
                    <a:pt x="0" y="15239"/>
                  </a:moveTo>
                  <a:lnTo>
                    <a:pt x="9144" y="15239"/>
                  </a:lnTo>
                </a:path>
                <a:path w="12700" h="18414">
                  <a:moveTo>
                    <a:pt x="0" y="18287"/>
                  </a:moveTo>
                  <a:lnTo>
                    <a:pt x="9144" y="182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3" name="object 253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6242303" y="5535167"/>
              <a:ext cx="143255" cy="30479"/>
            </a:xfrm>
            <a:prstGeom prst="rect">
              <a:avLst/>
            </a:prstGeom>
          </p:spPr>
        </p:pic>
        <p:sp>
          <p:nvSpPr>
            <p:cNvPr id="254" name="object 254"/>
            <p:cNvSpPr/>
            <p:nvPr/>
          </p:nvSpPr>
          <p:spPr>
            <a:xfrm>
              <a:off x="6150863" y="5561075"/>
              <a:ext cx="9525" cy="6350"/>
            </a:xfrm>
            <a:custGeom>
              <a:avLst/>
              <a:gdLst/>
              <a:ahLst/>
              <a:cxnLst/>
              <a:rect l="l" t="t" r="r" b="b"/>
              <a:pathLst>
                <a:path w="9525" h="6350">
                  <a:moveTo>
                    <a:pt x="0" y="0"/>
                  </a:moveTo>
                  <a:lnTo>
                    <a:pt x="9144" y="0"/>
                  </a:lnTo>
                </a:path>
                <a:path w="9525" h="6350">
                  <a:moveTo>
                    <a:pt x="0" y="3048"/>
                  </a:moveTo>
                  <a:lnTo>
                    <a:pt x="9144" y="3048"/>
                  </a:lnTo>
                </a:path>
                <a:path w="9525" h="6350">
                  <a:moveTo>
                    <a:pt x="0" y="6095"/>
                  </a:moveTo>
                  <a:lnTo>
                    <a:pt x="9144" y="60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5" name="object 255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6245351" y="5562599"/>
              <a:ext cx="134111" cy="12191"/>
            </a:xfrm>
            <a:prstGeom prst="rect">
              <a:avLst/>
            </a:prstGeom>
          </p:spPr>
        </p:pic>
        <p:sp>
          <p:nvSpPr>
            <p:cNvPr id="256" name="object 256"/>
            <p:cNvSpPr/>
            <p:nvPr/>
          </p:nvSpPr>
          <p:spPr>
            <a:xfrm>
              <a:off x="6150863" y="557021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7" name="object 257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6245351" y="5568695"/>
              <a:ext cx="128015" cy="12191"/>
            </a:xfrm>
            <a:prstGeom prst="rect">
              <a:avLst/>
            </a:prstGeom>
          </p:spPr>
        </p:pic>
        <p:sp>
          <p:nvSpPr>
            <p:cNvPr id="258" name="object 258"/>
            <p:cNvSpPr/>
            <p:nvPr/>
          </p:nvSpPr>
          <p:spPr>
            <a:xfrm>
              <a:off x="6245351" y="5579363"/>
              <a:ext cx="125095" cy="6350"/>
            </a:xfrm>
            <a:custGeom>
              <a:avLst/>
              <a:gdLst/>
              <a:ahLst/>
              <a:cxnLst/>
              <a:rect l="l" t="t" r="r" b="b"/>
              <a:pathLst>
                <a:path w="125095" h="6350">
                  <a:moveTo>
                    <a:pt x="0" y="0"/>
                  </a:moveTo>
                  <a:lnTo>
                    <a:pt x="18288" y="0"/>
                  </a:lnTo>
                </a:path>
                <a:path w="125095" h="6350">
                  <a:moveTo>
                    <a:pt x="121919" y="0"/>
                  </a:moveTo>
                  <a:lnTo>
                    <a:pt x="124967" y="0"/>
                  </a:lnTo>
                </a:path>
                <a:path w="125095" h="6350">
                  <a:moveTo>
                    <a:pt x="0" y="3048"/>
                  </a:moveTo>
                  <a:lnTo>
                    <a:pt x="18288" y="3048"/>
                  </a:lnTo>
                </a:path>
                <a:path w="125095" h="6350">
                  <a:moveTo>
                    <a:pt x="82296" y="3048"/>
                  </a:moveTo>
                  <a:lnTo>
                    <a:pt x="100584" y="3048"/>
                  </a:lnTo>
                </a:path>
                <a:path w="125095" h="6350">
                  <a:moveTo>
                    <a:pt x="0" y="6095"/>
                  </a:moveTo>
                  <a:lnTo>
                    <a:pt x="18288" y="6095"/>
                  </a:lnTo>
                </a:path>
                <a:path w="125095" h="6350">
                  <a:moveTo>
                    <a:pt x="82296" y="6095"/>
                  </a:moveTo>
                  <a:lnTo>
                    <a:pt x="100584" y="60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9" name="object 259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6245351" y="5580887"/>
              <a:ext cx="42672" cy="9143"/>
            </a:xfrm>
            <a:prstGeom prst="rect">
              <a:avLst/>
            </a:prstGeom>
          </p:spPr>
        </p:pic>
        <p:pic>
          <p:nvPicPr>
            <p:cNvPr id="260" name="object 260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6245351" y="5586983"/>
              <a:ext cx="100584" cy="9143"/>
            </a:xfrm>
            <a:prstGeom prst="rect">
              <a:avLst/>
            </a:prstGeom>
          </p:spPr>
        </p:pic>
        <p:pic>
          <p:nvPicPr>
            <p:cNvPr id="261" name="object 261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6144767" y="5498591"/>
              <a:ext cx="51816" cy="185927"/>
            </a:xfrm>
            <a:prstGeom prst="rect">
              <a:avLst/>
            </a:prstGeom>
          </p:spPr>
        </p:pic>
        <p:sp>
          <p:nvSpPr>
            <p:cNvPr id="262" name="object 262"/>
            <p:cNvSpPr/>
            <p:nvPr/>
          </p:nvSpPr>
          <p:spPr>
            <a:xfrm>
              <a:off x="6150863" y="5594603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3" name="object 263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6275831" y="5580887"/>
              <a:ext cx="94488" cy="24383"/>
            </a:xfrm>
            <a:prstGeom prst="rect">
              <a:avLst/>
            </a:prstGeom>
          </p:spPr>
        </p:pic>
        <p:sp>
          <p:nvSpPr>
            <p:cNvPr id="264" name="object 264"/>
            <p:cNvSpPr/>
            <p:nvPr/>
          </p:nvSpPr>
          <p:spPr>
            <a:xfrm>
              <a:off x="6150863" y="5597651"/>
              <a:ext cx="207645" cy="6350"/>
            </a:xfrm>
            <a:custGeom>
              <a:avLst/>
              <a:gdLst/>
              <a:ahLst/>
              <a:cxnLst/>
              <a:rect l="l" t="t" r="r" b="b"/>
              <a:pathLst>
                <a:path w="207645" h="6350">
                  <a:moveTo>
                    <a:pt x="0" y="0"/>
                  </a:moveTo>
                  <a:lnTo>
                    <a:pt x="9144" y="0"/>
                  </a:lnTo>
                </a:path>
                <a:path w="207645" h="6350">
                  <a:moveTo>
                    <a:pt x="176784" y="0"/>
                  </a:moveTo>
                  <a:lnTo>
                    <a:pt x="195072" y="0"/>
                  </a:lnTo>
                </a:path>
                <a:path w="207645" h="6350">
                  <a:moveTo>
                    <a:pt x="204215" y="0"/>
                  </a:moveTo>
                  <a:lnTo>
                    <a:pt x="207263" y="0"/>
                  </a:lnTo>
                </a:path>
                <a:path w="207645" h="6350">
                  <a:moveTo>
                    <a:pt x="0" y="3048"/>
                  </a:moveTo>
                  <a:lnTo>
                    <a:pt x="9144" y="3048"/>
                  </a:lnTo>
                </a:path>
                <a:path w="207645" h="6350">
                  <a:moveTo>
                    <a:pt x="0" y="6095"/>
                  </a:moveTo>
                  <a:lnTo>
                    <a:pt x="9144" y="6095"/>
                  </a:lnTo>
                </a:path>
                <a:path w="207645" h="6350">
                  <a:moveTo>
                    <a:pt x="201167" y="6095"/>
                  </a:moveTo>
                  <a:lnTo>
                    <a:pt x="204215" y="60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5" name="object 265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6245351" y="5596127"/>
              <a:ext cx="33527" cy="39623"/>
            </a:xfrm>
            <a:prstGeom prst="rect">
              <a:avLst/>
            </a:prstGeom>
          </p:spPr>
        </p:pic>
        <p:sp>
          <p:nvSpPr>
            <p:cNvPr id="266" name="object 266"/>
            <p:cNvSpPr/>
            <p:nvPr/>
          </p:nvSpPr>
          <p:spPr>
            <a:xfrm>
              <a:off x="6248399" y="5612891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89">
                  <a:moveTo>
                    <a:pt x="0" y="0"/>
                  </a:moveTo>
                  <a:lnTo>
                    <a:pt x="213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7" name="object 267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6327647" y="5605271"/>
              <a:ext cx="27432" cy="30479"/>
            </a:xfrm>
            <a:prstGeom prst="rect">
              <a:avLst/>
            </a:prstGeom>
          </p:spPr>
        </p:pic>
        <p:sp>
          <p:nvSpPr>
            <p:cNvPr id="268" name="object 268"/>
            <p:cNvSpPr/>
            <p:nvPr/>
          </p:nvSpPr>
          <p:spPr>
            <a:xfrm>
              <a:off x="6153911" y="5618987"/>
              <a:ext cx="106680" cy="40005"/>
            </a:xfrm>
            <a:custGeom>
              <a:avLst/>
              <a:gdLst/>
              <a:ahLst/>
              <a:cxnLst/>
              <a:rect l="l" t="t" r="r" b="b"/>
              <a:pathLst>
                <a:path w="106679" h="40004">
                  <a:moveTo>
                    <a:pt x="0" y="0"/>
                  </a:moveTo>
                  <a:lnTo>
                    <a:pt x="9144" y="0"/>
                  </a:lnTo>
                </a:path>
                <a:path w="106679" h="40004">
                  <a:moveTo>
                    <a:pt x="0" y="3048"/>
                  </a:moveTo>
                  <a:lnTo>
                    <a:pt x="9144" y="3048"/>
                  </a:lnTo>
                </a:path>
                <a:path w="106679" h="40004">
                  <a:moveTo>
                    <a:pt x="94487" y="9143"/>
                  </a:moveTo>
                  <a:lnTo>
                    <a:pt x="106679" y="9143"/>
                  </a:lnTo>
                </a:path>
                <a:path w="106679" h="40004">
                  <a:moveTo>
                    <a:pt x="15239" y="39624"/>
                  </a:moveTo>
                  <a:lnTo>
                    <a:pt x="24384" y="396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6193535" y="5686043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0" name="object 270"/>
          <p:cNvGrpSpPr/>
          <p:nvPr/>
        </p:nvGrpSpPr>
        <p:grpSpPr>
          <a:xfrm>
            <a:off x="7059168" y="5483352"/>
            <a:ext cx="390525" cy="186055"/>
            <a:chOff x="7059168" y="5483352"/>
            <a:chExt cx="390525" cy="186055"/>
          </a:xfrm>
        </p:grpSpPr>
        <p:sp>
          <p:nvSpPr>
            <p:cNvPr id="271" name="object 271"/>
            <p:cNvSpPr/>
            <p:nvPr/>
          </p:nvSpPr>
          <p:spPr>
            <a:xfrm>
              <a:off x="7083552" y="5497068"/>
              <a:ext cx="24765" cy="43180"/>
            </a:xfrm>
            <a:custGeom>
              <a:avLst/>
              <a:gdLst/>
              <a:ahLst/>
              <a:cxnLst/>
              <a:rect l="l" t="t" r="r" b="b"/>
              <a:pathLst>
                <a:path w="24765" h="43179">
                  <a:moveTo>
                    <a:pt x="9144" y="0"/>
                  </a:moveTo>
                  <a:lnTo>
                    <a:pt x="24384" y="0"/>
                  </a:lnTo>
                </a:path>
                <a:path w="24765" h="43179">
                  <a:moveTo>
                    <a:pt x="6096" y="15239"/>
                  </a:moveTo>
                  <a:lnTo>
                    <a:pt x="21336" y="15239"/>
                  </a:lnTo>
                </a:path>
                <a:path w="24765" h="43179">
                  <a:moveTo>
                    <a:pt x="3048" y="27432"/>
                  </a:moveTo>
                  <a:lnTo>
                    <a:pt x="18288" y="27432"/>
                  </a:lnTo>
                </a:path>
                <a:path w="24765" h="43179">
                  <a:moveTo>
                    <a:pt x="0" y="42672"/>
                  </a:moveTo>
                  <a:lnTo>
                    <a:pt x="12191" y="426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2" name="object 272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7068312" y="5483352"/>
              <a:ext cx="82296" cy="106679"/>
            </a:xfrm>
            <a:prstGeom prst="rect">
              <a:avLst/>
            </a:prstGeom>
          </p:spPr>
        </p:pic>
        <p:pic>
          <p:nvPicPr>
            <p:cNvPr id="273" name="object 273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7068312" y="5565648"/>
              <a:ext cx="161543" cy="45719"/>
            </a:xfrm>
            <a:prstGeom prst="rect">
              <a:avLst/>
            </a:prstGeom>
          </p:spPr>
        </p:pic>
        <p:pic>
          <p:nvPicPr>
            <p:cNvPr id="274" name="object 274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7062216" y="5590032"/>
              <a:ext cx="149351" cy="27431"/>
            </a:xfrm>
            <a:prstGeom prst="rect">
              <a:avLst/>
            </a:prstGeom>
          </p:spPr>
        </p:pic>
        <p:pic>
          <p:nvPicPr>
            <p:cNvPr id="275" name="object 275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7120128" y="5608320"/>
              <a:ext cx="91440" cy="15239"/>
            </a:xfrm>
            <a:prstGeom prst="rect">
              <a:avLst/>
            </a:prstGeom>
          </p:spPr>
        </p:pic>
        <p:pic>
          <p:nvPicPr>
            <p:cNvPr id="276" name="object 276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7059168" y="5617464"/>
              <a:ext cx="18288" cy="18287"/>
            </a:xfrm>
            <a:prstGeom prst="rect">
              <a:avLst/>
            </a:prstGeom>
          </p:spPr>
        </p:pic>
        <p:pic>
          <p:nvPicPr>
            <p:cNvPr id="277" name="object 277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7062216" y="5620512"/>
              <a:ext cx="143256" cy="15239"/>
            </a:xfrm>
            <a:prstGeom prst="rect">
              <a:avLst/>
            </a:prstGeom>
          </p:spPr>
        </p:pic>
        <p:pic>
          <p:nvPicPr>
            <p:cNvPr id="278" name="object 278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7391400" y="5565648"/>
              <a:ext cx="36576" cy="12191"/>
            </a:xfrm>
            <a:prstGeom prst="rect">
              <a:avLst/>
            </a:prstGeom>
          </p:spPr>
        </p:pic>
        <p:sp>
          <p:nvSpPr>
            <p:cNvPr id="279" name="object 279"/>
            <p:cNvSpPr/>
            <p:nvPr/>
          </p:nvSpPr>
          <p:spPr>
            <a:xfrm>
              <a:off x="7415784" y="5576316"/>
              <a:ext cx="12700" cy="52069"/>
            </a:xfrm>
            <a:custGeom>
              <a:avLst/>
              <a:gdLst/>
              <a:ahLst/>
              <a:cxnLst/>
              <a:rect l="l" t="t" r="r" b="b"/>
              <a:pathLst>
                <a:path w="12700" h="52070">
                  <a:moveTo>
                    <a:pt x="0" y="0"/>
                  </a:moveTo>
                  <a:lnTo>
                    <a:pt x="12191" y="0"/>
                  </a:lnTo>
                </a:path>
                <a:path w="12700" h="52070">
                  <a:moveTo>
                    <a:pt x="0" y="3048"/>
                  </a:moveTo>
                  <a:lnTo>
                    <a:pt x="12191" y="3048"/>
                  </a:lnTo>
                </a:path>
                <a:path w="12700" h="52070">
                  <a:moveTo>
                    <a:pt x="0" y="6096"/>
                  </a:moveTo>
                  <a:lnTo>
                    <a:pt x="12191" y="6096"/>
                  </a:lnTo>
                </a:path>
                <a:path w="12700" h="52070">
                  <a:moveTo>
                    <a:pt x="0" y="9143"/>
                  </a:moveTo>
                  <a:lnTo>
                    <a:pt x="12191" y="9143"/>
                  </a:lnTo>
                </a:path>
                <a:path w="12700" h="52070">
                  <a:moveTo>
                    <a:pt x="0" y="12191"/>
                  </a:moveTo>
                  <a:lnTo>
                    <a:pt x="12191" y="12191"/>
                  </a:lnTo>
                </a:path>
                <a:path w="12700" h="52070">
                  <a:moveTo>
                    <a:pt x="0" y="15239"/>
                  </a:moveTo>
                  <a:lnTo>
                    <a:pt x="12191" y="15239"/>
                  </a:lnTo>
                </a:path>
                <a:path w="12700" h="52070">
                  <a:moveTo>
                    <a:pt x="0" y="18287"/>
                  </a:moveTo>
                  <a:lnTo>
                    <a:pt x="12191" y="18287"/>
                  </a:lnTo>
                </a:path>
                <a:path w="12700" h="52070">
                  <a:moveTo>
                    <a:pt x="0" y="21336"/>
                  </a:moveTo>
                  <a:lnTo>
                    <a:pt x="12191" y="21336"/>
                  </a:lnTo>
                </a:path>
                <a:path w="12700" h="52070">
                  <a:moveTo>
                    <a:pt x="0" y="24384"/>
                  </a:moveTo>
                  <a:lnTo>
                    <a:pt x="12191" y="24384"/>
                  </a:lnTo>
                </a:path>
                <a:path w="12700" h="52070">
                  <a:moveTo>
                    <a:pt x="0" y="27431"/>
                  </a:moveTo>
                  <a:lnTo>
                    <a:pt x="12191" y="27431"/>
                  </a:lnTo>
                </a:path>
                <a:path w="12700" h="52070">
                  <a:moveTo>
                    <a:pt x="0" y="30479"/>
                  </a:moveTo>
                  <a:lnTo>
                    <a:pt x="12191" y="30479"/>
                  </a:lnTo>
                </a:path>
                <a:path w="12700" h="52070">
                  <a:moveTo>
                    <a:pt x="0" y="33527"/>
                  </a:moveTo>
                  <a:lnTo>
                    <a:pt x="12191" y="33527"/>
                  </a:lnTo>
                </a:path>
                <a:path w="12700" h="52070">
                  <a:moveTo>
                    <a:pt x="0" y="36575"/>
                  </a:moveTo>
                  <a:lnTo>
                    <a:pt x="12191" y="36575"/>
                  </a:lnTo>
                </a:path>
                <a:path w="12700" h="52070">
                  <a:moveTo>
                    <a:pt x="0" y="39624"/>
                  </a:moveTo>
                  <a:lnTo>
                    <a:pt x="12191" y="39624"/>
                  </a:lnTo>
                </a:path>
                <a:path w="12700" h="52070">
                  <a:moveTo>
                    <a:pt x="0" y="42672"/>
                  </a:moveTo>
                  <a:lnTo>
                    <a:pt x="12191" y="42672"/>
                  </a:lnTo>
                </a:path>
                <a:path w="12700" h="52070">
                  <a:moveTo>
                    <a:pt x="0" y="45720"/>
                  </a:moveTo>
                  <a:lnTo>
                    <a:pt x="12191" y="45720"/>
                  </a:lnTo>
                </a:path>
                <a:path w="12700" h="52070">
                  <a:moveTo>
                    <a:pt x="0" y="48767"/>
                  </a:moveTo>
                  <a:lnTo>
                    <a:pt x="12191" y="48767"/>
                  </a:lnTo>
                </a:path>
                <a:path w="12700" h="52070">
                  <a:moveTo>
                    <a:pt x="0" y="51815"/>
                  </a:moveTo>
                  <a:lnTo>
                    <a:pt x="12191" y="518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0" name="object 280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7190232" y="5623560"/>
              <a:ext cx="170687" cy="36575"/>
            </a:xfrm>
            <a:prstGeom prst="rect">
              <a:avLst/>
            </a:prstGeom>
          </p:spPr>
        </p:pic>
        <p:sp>
          <p:nvSpPr>
            <p:cNvPr id="281" name="object 281"/>
            <p:cNvSpPr/>
            <p:nvPr/>
          </p:nvSpPr>
          <p:spPr>
            <a:xfrm>
              <a:off x="7415784" y="5631180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0" y="0"/>
                  </a:moveTo>
                  <a:lnTo>
                    <a:pt x="12191" y="0"/>
                  </a:lnTo>
                </a:path>
                <a:path w="12700" h="21589">
                  <a:moveTo>
                    <a:pt x="0" y="3048"/>
                  </a:moveTo>
                  <a:lnTo>
                    <a:pt x="12191" y="3048"/>
                  </a:lnTo>
                </a:path>
                <a:path w="12700" h="21589">
                  <a:moveTo>
                    <a:pt x="0" y="6096"/>
                  </a:moveTo>
                  <a:lnTo>
                    <a:pt x="12191" y="6096"/>
                  </a:lnTo>
                </a:path>
                <a:path w="12700" h="21589">
                  <a:moveTo>
                    <a:pt x="0" y="9144"/>
                  </a:moveTo>
                  <a:lnTo>
                    <a:pt x="12191" y="9144"/>
                  </a:lnTo>
                </a:path>
                <a:path w="12700" h="21589">
                  <a:moveTo>
                    <a:pt x="0" y="12191"/>
                  </a:moveTo>
                  <a:lnTo>
                    <a:pt x="12191" y="12191"/>
                  </a:lnTo>
                </a:path>
                <a:path w="12700" h="21589">
                  <a:moveTo>
                    <a:pt x="0" y="15239"/>
                  </a:moveTo>
                  <a:lnTo>
                    <a:pt x="12191" y="15239"/>
                  </a:lnTo>
                </a:path>
                <a:path w="12700" h="21589">
                  <a:moveTo>
                    <a:pt x="0" y="18287"/>
                  </a:moveTo>
                  <a:lnTo>
                    <a:pt x="12191" y="18287"/>
                  </a:lnTo>
                </a:path>
                <a:path w="12700" h="21589">
                  <a:moveTo>
                    <a:pt x="0" y="21336"/>
                  </a:moveTo>
                  <a:lnTo>
                    <a:pt x="12191" y="2133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2" name="object 282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7394448" y="5654040"/>
              <a:ext cx="54864" cy="9143"/>
            </a:xfrm>
            <a:prstGeom prst="rect">
              <a:avLst/>
            </a:prstGeom>
          </p:spPr>
        </p:pic>
        <p:pic>
          <p:nvPicPr>
            <p:cNvPr id="283" name="object 283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7190232" y="5632704"/>
              <a:ext cx="39623" cy="36575"/>
            </a:xfrm>
            <a:prstGeom prst="rect">
              <a:avLst/>
            </a:prstGeom>
          </p:spPr>
        </p:pic>
        <p:sp>
          <p:nvSpPr>
            <p:cNvPr id="284" name="object 284"/>
            <p:cNvSpPr/>
            <p:nvPr/>
          </p:nvSpPr>
          <p:spPr>
            <a:xfrm>
              <a:off x="7394448" y="56647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7B7B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7443216" y="5664708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7C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7394448" y="566775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7B7B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7443216" y="566775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7C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8" name="object 288"/>
          <p:cNvGrpSpPr/>
          <p:nvPr/>
        </p:nvGrpSpPr>
        <p:grpSpPr>
          <a:xfrm>
            <a:off x="5169408" y="5431535"/>
            <a:ext cx="170815" cy="238125"/>
            <a:chOff x="5169408" y="5431535"/>
            <a:chExt cx="170815" cy="238125"/>
          </a:xfrm>
        </p:grpSpPr>
        <p:pic>
          <p:nvPicPr>
            <p:cNvPr id="289" name="object 289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5178552" y="5431535"/>
              <a:ext cx="73152" cy="115823"/>
            </a:xfrm>
            <a:prstGeom prst="rect">
              <a:avLst/>
            </a:prstGeom>
          </p:spPr>
        </p:pic>
        <p:pic>
          <p:nvPicPr>
            <p:cNvPr id="290" name="object 290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5184648" y="5507735"/>
              <a:ext cx="73152" cy="48767"/>
            </a:xfrm>
            <a:prstGeom prst="rect">
              <a:avLst/>
            </a:prstGeom>
          </p:spPr>
        </p:pic>
        <p:pic>
          <p:nvPicPr>
            <p:cNvPr id="291" name="object 291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5181600" y="5553455"/>
              <a:ext cx="79248" cy="21335"/>
            </a:xfrm>
            <a:prstGeom prst="rect">
              <a:avLst/>
            </a:prstGeom>
          </p:spPr>
        </p:pic>
        <p:pic>
          <p:nvPicPr>
            <p:cNvPr id="292" name="object 292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5175504" y="5571743"/>
              <a:ext cx="164591" cy="36575"/>
            </a:xfrm>
            <a:prstGeom prst="rect">
              <a:avLst/>
            </a:prstGeom>
          </p:spPr>
        </p:pic>
        <p:sp>
          <p:nvSpPr>
            <p:cNvPr id="293" name="object 293"/>
            <p:cNvSpPr/>
            <p:nvPr/>
          </p:nvSpPr>
          <p:spPr>
            <a:xfrm>
              <a:off x="5236464" y="5594603"/>
              <a:ext cx="85725" cy="0"/>
            </a:xfrm>
            <a:custGeom>
              <a:avLst/>
              <a:gdLst/>
              <a:ahLst/>
              <a:cxnLst/>
              <a:rect l="l" t="t" r="r" b="b"/>
              <a:pathLst>
                <a:path w="85725">
                  <a:moveTo>
                    <a:pt x="0" y="0"/>
                  </a:moveTo>
                  <a:lnTo>
                    <a:pt x="15240" y="0"/>
                  </a:lnTo>
                </a:path>
                <a:path w="85725">
                  <a:moveTo>
                    <a:pt x="76200" y="0"/>
                  </a:moveTo>
                  <a:lnTo>
                    <a:pt x="853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5269992" y="5600699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5C5C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5175504" y="5603747"/>
              <a:ext cx="70485" cy="0"/>
            </a:xfrm>
            <a:custGeom>
              <a:avLst/>
              <a:gdLst/>
              <a:ahLst/>
              <a:cxnLst/>
              <a:rect l="l" t="t" r="r" b="b"/>
              <a:pathLst>
                <a:path w="70485">
                  <a:moveTo>
                    <a:pt x="0" y="0"/>
                  </a:moveTo>
                  <a:lnTo>
                    <a:pt x="12191" y="0"/>
                  </a:lnTo>
                </a:path>
                <a:path w="70485">
                  <a:moveTo>
                    <a:pt x="57912" y="0"/>
                  </a:moveTo>
                  <a:lnTo>
                    <a:pt x="7010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6" name="object 296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5230368" y="5602223"/>
              <a:ext cx="88392" cy="15239"/>
            </a:xfrm>
            <a:prstGeom prst="rect">
              <a:avLst/>
            </a:prstGeom>
          </p:spPr>
        </p:pic>
        <p:pic>
          <p:nvPicPr>
            <p:cNvPr id="297" name="object 297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5230368" y="5614415"/>
              <a:ext cx="88391" cy="6095"/>
            </a:xfrm>
            <a:prstGeom prst="rect">
              <a:avLst/>
            </a:prstGeom>
          </p:spPr>
        </p:pic>
        <p:pic>
          <p:nvPicPr>
            <p:cNvPr id="298" name="object 298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5169408" y="5608319"/>
              <a:ext cx="18288" cy="27431"/>
            </a:xfrm>
            <a:prstGeom prst="rect">
              <a:avLst/>
            </a:prstGeom>
          </p:spPr>
        </p:pic>
        <p:pic>
          <p:nvPicPr>
            <p:cNvPr id="299" name="object 299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5172456" y="5617463"/>
              <a:ext cx="143256" cy="9143"/>
            </a:xfrm>
            <a:prstGeom prst="rect">
              <a:avLst/>
            </a:prstGeom>
          </p:spPr>
        </p:pic>
        <p:pic>
          <p:nvPicPr>
            <p:cNvPr id="300" name="object 300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5233416" y="5623559"/>
              <a:ext cx="106679" cy="45719"/>
            </a:xfrm>
            <a:prstGeom prst="rect">
              <a:avLst/>
            </a:prstGeom>
          </p:spPr>
        </p:pic>
        <p:sp>
          <p:nvSpPr>
            <p:cNvPr id="301" name="object 301"/>
            <p:cNvSpPr/>
            <p:nvPr/>
          </p:nvSpPr>
          <p:spPr>
            <a:xfrm>
              <a:off x="5297424" y="5646419"/>
              <a:ext cx="40005" cy="3175"/>
            </a:xfrm>
            <a:custGeom>
              <a:avLst/>
              <a:gdLst/>
              <a:ahLst/>
              <a:cxnLst/>
              <a:rect l="l" t="t" r="r" b="b"/>
              <a:pathLst>
                <a:path w="40004" h="3175">
                  <a:moveTo>
                    <a:pt x="0" y="0"/>
                  </a:moveTo>
                  <a:lnTo>
                    <a:pt x="12191" y="0"/>
                  </a:lnTo>
                </a:path>
                <a:path w="40004" h="3175">
                  <a:moveTo>
                    <a:pt x="0" y="3048"/>
                  </a:moveTo>
                  <a:lnTo>
                    <a:pt x="12191" y="3048"/>
                  </a:lnTo>
                </a:path>
                <a:path w="40004" h="3175">
                  <a:moveTo>
                    <a:pt x="36575" y="3048"/>
                  </a:moveTo>
                  <a:lnTo>
                    <a:pt x="39623" y="30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2" name="object 302"/>
          <p:cNvGrpSpPr/>
          <p:nvPr/>
        </p:nvGrpSpPr>
        <p:grpSpPr>
          <a:xfrm>
            <a:off x="6629400" y="5468111"/>
            <a:ext cx="192405" cy="219710"/>
            <a:chOff x="6629400" y="5468111"/>
            <a:chExt cx="192405" cy="219710"/>
          </a:xfrm>
        </p:grpSpPr>
        <p:pic>
          <p:nvPicPr>
            <p:cNvPr id="303" name="object 303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6629400" y="5468111"/>
              <a:ext cx="131064" cy="82295"/>
            </a:xfrm>
            <a:prstGeom prst="rect">
              <a:avLst/>
            </a:prstGeom>
          </p:spPr>
        </p:pic>
        <p:pic>
          <p:nvPicPr>
            <p:cNvPr id="304" name="object 304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6629400" y="5547359"/>
              <a:ext cx="131064" cy="18287"/>
            </a:xfrm>
            <a:prstGeom prst="rect">
              <a:avLst/>
            </a:prstGeom>
          </p:spPr>
        </p:pic>
        <p:pic>
          <p:nvPicPr>
            <p:cNvPr id="305" name="object 305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6629400" y="5562599"/>
              <a:ext cx="124967" cy="6095"/>
            </a:xfrm>
            <a:prstGeom prst="rect">
              <a:avLst/>
            </a:prstGeom>
          </p:spPr>
        </p:pic>
        <p:pic>
          <p:nvPicPr>
            <p:cNvPr id="306" name="object 306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6629400" y="5565647"/>
              <a:ext cx="82296" cy="15239"/>
            </a:xfrm>
            <a:prstGeom prst="rect">
              <a:avLst/>
            </a:prstGeom>
          </p:spPr>
        </p:pic>
        <p:sp>
          <p:nvSpPr>
            <p:cNvPr id="307" name="object 307"/>
            <p:cNvSpPr/>
            <p:nvPr/>
          </p:nvSpPr>
          <p:spPr>
            <a:xfrm>
              <a:off x="6797039" y="5576315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>
                  <a:moveTo>
                    <a:pt x="0" y="0"/>
                  </a:moveTo>
                  <a:lnTo>
                    <a:pt x="12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8" name="object 308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6681215" y="5577839"/>
              <a:ext cx="27432" cy="54863"/>
            </a:xfrm>
            <a:prstGeom prst="rect">
              <a:avLst/>
            </a:prstGeom>
          </p:spPr>
        </p:pic>
        <p:pic>
          <p:nvPicPr>
            <p:cNvPr id="309" name="object 309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6769607" y="5571743"/>
              <a:ext cx="51815" cy="97535"/>
            </a:xfrm>
            <a:prstGeom prst="rect">
              <a:avLst/>
            </a:prstGeom>
          </p:spPr>
        </p:pic>
        <p:sp>
          <p:nvSpPr>
            <p:cNvPr id="310" name="object 310"/>
            <p:cNvSpPr/>
            <p:nvPr/>
          </p:nvSpPr>
          <p:spPr>
            <a:xfrm>
              <a:off x="6787895" y="5618987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1" name="object 311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6629400" y="5580887"/>
              <a:ext cx="70104" cy="106679"/>
            </a:xfrm>
            <a:prstGeom prst="rect">
              <a:avLst/>
            </a:prstGeom>
          </p:spPr>
        </p:pic>
        <p:sp>
          <p:nvSpPr>
            <p:cNvPr id="312" name="object 312"/>
            <p:cNvSpPr/>
            <p:nvPr/>
          </p:nvSpPr>
          <p:spPr>
            <a:xfrm>
              <a:off x="6784847" y="5628131"/>
              <a:ext cx="9525" cy="3175"/>
            </a:xfrm>
            <a:custGeom>
              <a:avLst/>
              <a:gdLst/>
              <a:ahLst/>
              <a:cxnLst/>
              <a:rect l="l" t="t" r="r" b="b"/>
              <a:pathLst>
                <a:path w="9525" h="3175">
                  <a:moveTo>
                    <a:pt x="0" y="0"/>
                  </a:moveTo>
                  <a:lnTo>
                    <a:pt x="9144" y="0"/>
                  </a:lnTo>
                </a:path>
                <a:path w="9525" h="3175">
                  <a:moveTo>
                    <a:pt x="0" y="3048"/>
                  </a:moveTo>
                  <a:lnTo>
                    <a:pt x="9144" y="30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3"/>
            <p:cNvSpPr/>
            <p:nvPr/>
          </p:nvSpPr>
          <p:spPr>
            <a:xfrm>
              <a:off x="6687311" y="563422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6161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6781800" y="5643371"/>
              <a:ext cx="9525" cy="3175"/>
            </a:xfrm>
            <a:custGeom>
              <a:avLst/>
              <a:gdLst/>
              <a:ahLst/>
              <a:cxnLst/>
              <a:rect l="l" t="t" r="r" b="b"/>
              <a:pathLst>
                <a:path w="9525" h="3175">
                  <a:moveTo>
                    <a:pt x="0" y="0"/>
                  </a:moveTo>
                  <a:lnTo>
                    <a:pt x="9144" y="0"/>
                  </a:lnTo>
                </a:path>
                <a:path w="9525" h="3175">
                  <a:moveTo>
                    <a:pt x="0" y="3048"/>
                  </a:moveTo>
                  <a:lnTo>
                    <a:pt x="9144" y="30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5" name="object 315"/>
          <p:cNvGrpSpPr/>
          <p:nvPr/>
        </p:nvGrpSpPr>
        <p:grpSpPr>
          <a:xfrm>
            <a:off x="6903719" y="5532120"/>
            <a:ext cx="79375" cy="94615"/>
            <a:chOff x="6903719" y="5532120"/>
            <a:chExt cx="79375" cy="94615"/>
          </a:xfrm>
        </p:grpSpPr>
        <p:sp>
          <p:nvSpPr>
            <p:cNvPr id="316" name="object 316"/>
            <p:cNvSpPr/>
            <p:nvPr/>
          </p:nvSpPr>
          <p:spPr>
            <a:xfrm>
              <a:off x="6943343" y="553364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7A7A7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6906767" y="555193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8" name="object 318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6903719" y="5535168"/>
              <a:ext cx="79248" cy="91439"/>
            </a:xfrm>
            <a:prstGeom prst="rect">
              <a:avLst/>
            </a:prstGeom>
          </p:spPr>
        </p:pic>
        <p:sp>
          <p:nvSpPr>
            <p:cNvPr id="319" name="object 319"/>
            <p:cNvSpPr/>
            <p:nvPr/>
          </p:nvSpPr>
          <p:spPr>
            <a:xfrm>
              <a:off x="6906767" y="56037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20" name="object 320"/>
          <p:cNvPicPr/>
          <p:nvPr/>
        </p:nvPicPr>
        <p:blipFill>
          <a:blip r:embed="rId155" cstate="print"/>
          <a:stretch>
            <a:fillRect/>
          </a:stretch>
        </p:blipFill>
        <p:spPr>
          <a:xfrm>
            <a:off x="5431535" y="5553455"/>
            <a:ext cx="146304" cy="51815"/>
          </a:xfrm>
          <a:prstGeom prst="rect">
            <a:avLst/>
          </a:prstGeom>
        </p:spPr>
      </p:pic>
      <p:pic>
        <p:nvPicPr>
          <p:cNvPr id="321" name="object 321"/>
          <p:cNvPicPr/>
          <p:nvPr/>
        </p:nvPicPr>
        <p:blipFill>
          <a:blip r:embed="rId156" cstate="print"/>
          <a:stretch>
            <a:fillRect/>
          </a:stretch>
        </p:blipFill>
        <p:spPr>
          <a:xfrm>
            <a:off x="6513576" y="5568696"/>
            <a:ext cx="24383" cy="21335"/>
          </a:xfrm>
          <a:prstGeom prst="rect">
            <a:avLst/>
          </a:prstGeom>
        </p:spPr>
      </p:pic>
      <p:grpSp>
        <p:nvGrpSpPr>
          <p:cNvPr id="322" name="object 322"/>
          <p:cNvGrpSpPr/>
          <p:nvPr/>
        </p:nvGrpSpPr>
        <p:grpSpPr>
          <a:xfrm>
            <a:off x="7495031" y="5608320"/>
            <a:ext cx="24765" cy="67310"/>
            <a:chOff x="7495031" y="5608320"/>
            <a:chExt cx="24765" cy="67310"/>
          </a:xfrm>
        </p:grpSpPr>
        <p:pic>
          <p:nvPicPr>
            <p:cNvPr id="323" name="object 323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7495031" y="5608320"/>
              <a:ext cx="24383" cy="24383"/>
            </a:xfrm>
            <a:prstGeom prst="rect">
              <a:avLst/>
            </a:prstGeom>
          </p:spPr>
        </p:pic>
        <p:pic>
          <p:nvPicPr>
            <p:cNvPr id="324" name="object 324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7498079" y="5626608"/>
              <a:ext cx="21335" cy="48767"/>
            </a:xfrm>
            <a:prstGeom prst="rect">
              <a:avLst/>
            </a:prstGeom>
          </p:spPr>
        </p:pic>
        <p:sp>
          <p:nvSpPr>
            <p:cNvPr id="325" name="object 325"/>
            <p:cNvSpPr/>
            <p:nvPr/>
          </p:nvSpPr>
          <p:spPr>
            <a:xfrm>
              <a:off x="7510271" y="5658612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03030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6" name="object 326"/>
            <p:cNvSpPr/>
            <p:nvPr/>
          </p:nvSpPr>
          <p:spPr>
            <a:xfrm>
              <a:off x="7504175" y="5664708"/>
              <a:ext cx="6350" cy="3175"/>
            </a:xfrm>
            <a:custGeom>
              <a:avLst/>
              <a:gdLst/>
              <a:ahLst/>
              <a:cxnLst/>
              <a:rect l="l" t="t" r="r" b="b"/>
              <a:pathLst>
                <a:path w="6350" h="3175">
                  <a:moveTo>
                    <a:pt x="0" y="0"/>
                  </a:moveTo>
                  <a:lnTo>
                    <a:pt x="6095" y="0"/>
                  </a:lnTo>
                </a:path>
                <a:path w="6350" h="3175">
                  <a:moveTo>
                    <a:pt x="0" y="3048"/>
                  </a:moveTo>
                  <a:lnTo>
                    <a:pt x="6095" y="3048"/>
                  </a:lnTo>
                </a:path>
              </a:pathLst>
            </a:custGeom>
            <a:ln w="3175">
              <a:solidFill>
                <a:srgbClr val="0202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7" name="object 327"/>
            <p:cNvSpPr/>
            <p:nvPr/>
          </p:nvSpPr>
          <p:spPr>
            <a:xfrm>
              <a:off x="7501127" y="567080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8" name="object 328"/>
          <p:cNvGrpSpPr/>
          <p:nvPr/>
        </p:nvGrpSpPr>
        <p:grpSpPr>
          <a:xfrm>
            <a:off x="7677911" y="5849111"/>
            <a:ext cx="170815" cy="238125"/>
            <a:chOff x="7677911" y="5849111"/>
            <a:chExt cx="170815" cy="238125"/>
          </a:xfrm>
        </p:grpSpPr>
        <p:sp>
          <p:nvSpPr>
            <p:cNvPr id="329" name="object 329"/>
            <p:cNvSpPr/>
            <p:nvPr/>
          </p:nvSpPr>
          <p:spPr>
            <a:xfrm>
              <a:off x="7754111" y="5850635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7474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0" name="object 330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7684007" y="5849111"/>
              <a:ext cx="82295" cy="134111"/>
            </a:xfrm>
            <a:prstGeom prst="rect">
              <a:avLst/>
            </a:prstGeom>
          </p:spPr>
        </p:pic>
        <p:pic>
          <p:nvPicPr>
            <p:cNvPr id="331" name="object 331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7684007" y="5980175"/>
              <a:ext cx="82296" cy="30479"/>
            </a:xfrm>
            <a:prstGeom prst="rect">
              <a:avLst/>
            </a:prstGeom>
          </p:spPr>
        </p:pic>
        <p:pic>
          <p:nvPicPr>
            <p:cNvPr id="332" name="object 332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7738871" y="5989319"/>
              <a:ext cx="109727" cy="42671"/>
            </a:xfrm>
            <a:prstGeom prst="rect">
              <a:avLst/>
            </a:prstGeom>
          </p:spPr>
        </p:pic>
        <p:pic>
          <p:nvPicPr>
            <p:cNvPr id="333" name="object 333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7677911" y="6010655"/>
              <a:ext cx="149352" cy="27431"/>
            </a:xfrm>
            <a:prstGeom prst="rect">
              <a:avLst/>
            </a:prstGeom>
          </p:spPr>
        </p:pic>
        <p:pic>
          <p:nvPicPr>
            <p:cNvPr id="334" name="object 334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7735823" y="6028943"/>
              <a:ext cx="88392" cy="15239"/>
            </a:xfrm>
            <a:prstGeom prst="rect">
              <a:avLst/>
            </a:prstGeom>
          </p:spPr>
        </p:pic>
        <p:pic>
          <p:nvPicPr>
            <p:cNvPr id="335" name="object 335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7677911" y="6038087"/>
              <a:ext cx="15240" cy="18287"/>
            </a:xfrm>
            <a:prstGeom prst="rect">
              <a:avLst/>
            </a:prstGeom>
          </p:spPr>
        </p:pic>
        <p:pic>
          <p:nvPicPr>
            <p:cNvPr id="336" name="object 336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7738871" y="6041135"/>
              <a:ext cx="106679" cy="45719"/>
            </a:xfrm>
            <a:prstGeom prst="rect">
              <a:avLst/>
            </a:prstGeom>
          </p:spPr>
        </p:pic>
      </p:grpSp>
      <p:grpSp>
        <p:nvGrpSpPr>
          <p:cNvPr id="337" name="object 337"/>
          <p:cNvGrpSpPr/>
          <p:nvPr/>
        </p:nvGrpSpPr>
        <p:grpSpPr>
          <a:xfrm>
            <a:off x="5672328" y="5891784"/>
            <a:ext cx="155575" cy="216535"/>
            <a:chOff x="5672328" y="5891784"/>
            <a:chExt cx="155575" cy="216535"/>
          </a:xfrm>
        </p:grpSpPr>
        <p:sp>
          <p:nvSpPr>
            <p:cNvPr id="338" name="object 338"/>
            <p:cNvSpPr/>
            <p:nvPr/>
          </p:nvSpPr>
          <p:spPr>
            <a:xfrm>
              <a:off x="5705856" y="5902452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3175">
              <a:solidFill>
                <a:srgbClr val="0606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9" name="object 339"/>
            <p:cNvSpPr/>
            <p:nvPr/>
          </p:nvSpPr>
          <p:spPr>
            <a:xfrm>
              <a:off x="5675376" y="5917692"/>
              <a:ext cx="27940" cy="64135"/>
            </a:xfrm>
            <a:custGeom>
              <a:avLst/>
              <a:gdLst/>
              <a:ahLst/>
              <a:cxnLst/>
              <a:rect l="l" t="t" r="r" b="b"/>
              <a:pathLst>
                <a:path w="27939" h="64135">
                  <a:moveTo>
                    <a:pt x="21336" y="0"/>
                  </a:moveTo>
                  <a:lnTo>
                    <a:pt x="27431" y="0"/>
                  </a:lnTo>
                </a:path>
                <a:path w="27939" h="64135">
                  <a:moveTo>
                    <a:pt x="18287" y="6096"/>
                  </a:moveTo>
                  <a:lnTo>
                    <a:pt x="24383" y="6096"/>
                  </a:lnTo>
                </a:path>
                <a:path w="27939" h="64135">
                  <a:moveTo>
                    <a:pt x="3048" y="36575"/>
                  </a:moveTo>
                  <a:lnTo>
                    <a:pt x="15239" y="36575"/>
                  </a:lnTo>
                </a:path>
                <a:path w="27939" h="64135">
                  <a:moveTo>
                    <a:pt x="3048" y="39624"/>
                  </a:moveTo>
                  <a:lnTo>
                    <a:pt x="15239" y="39624"/>
                  </a:lnTo>
                </a:path>
                <a:path w="27939" h="64135">
                  <a:moveTo>
                    <a:pt x="0" y="51815"/>
                  </a:moveTo>
                  <a:lnTo>
                    <a:pt x="12191" y="51815"/>
                  </a:lnTo>
                </a:path>
                <a:path w="27939" h="64135">
                  <a:moveTo>
                    <a:pt x="0" y="54863"/>
                  </a:moveTo>
                  <a:lnTo>
                    <a:pt x="12191" y="54863"/>
                  </a:lnTo>
                </a:path>
                <a:path w="27939" h="64135">
                  <a:moveTo>
                    <a:pt x="0" y="57912"/>
                  </a:moveTo>
                  <a:lnTo>
                    <a:pt x="12191" y="57912"/>
                  </a:lnTo>
                </a:path>
                <a:path w="27939" h="64135">
                  <a:moveTo>
                    <a:pt x="0" y="60960"/>
                  </a:moveTo>
                  <a:lnTo>
                    <a:pt x="12191" y="60960"/>
                  </a:lnTo>
                </a:path>
                <a:path w="27939" h="64135">
                  <a:moveTo>
                    <a:pt x="0" y="64008"/>
                  </a:moveTo>
                  <a:lnTo>
                    <a:pt x="12191" y="64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0" name="object 340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5672328" y="5891784"/>
              <a:ext cx="155447" cy="161543"/>
            </a:xfrm>
            <a:prstGeom prst="rect">
              <a:avLst/>
            </a:prstGeom>
          </p:spPr>
        </p:pic>
        <p:sp>
          <p:nvSpPr>
            <p:cNvPr id="341" name="object 341"/>
            <p:cNvSpPr/>
            <p:nvPr/>
          </p:nvSpPr>
          <p:spPr>
            <a:xfrm>
              <a:off x="5675376" y="6015228"/>
              <a:ext cx="152400" cy="36830"/>
            </a:xfrm>
            <a:custGeom>
              <a:avLst/>
              <a:gdLst/>
              <a:ahLst/>
              <a:cxnLst/>
              <a:rect l="l" t="t" r="r" b="b"/>
              <a:pathLst>
                <a:path w="152400" h="36829">
                  <a:moveTo>
                    <a:pt x="0" y="0"/>
                  </a:moveTo>
                  <a:lnTo>
                    <a:pt x="12191" y="0"/>
                  </a:lnTo>
                </a:path>
                <a:path w="152400" h="36829">
                  <a:moveTo>
                    <a:pt x="0" y="3048"/>
                  </a:moveTo>
                  <a:lnTo>
                    <a:pt x="12191" y="3048"/>
                  </a:lnTo>
                </a:path>
                <a:path w="152400" h="36829">
                  <a:moveTo>
                    <a:pt x="0" y="6096"/>
                  </a:moveTo>
                  <a:lnTo>
                    <a:pt x="12191" y="6096"/>
                  </a:lnTo>
                </a:path>
                <a:path w="152400" h="36829">
                  <a:moveTo>
                    <a:pt x="0" y="9143"/>
                  </a:moveTo>
                  <a:lnTo>
                    <a:pt x="12191" y="9143"/>
                  </a:lnTo>
                </a:path>
                <a:path w="152400" h="36829">
                  <a:moveTo>
                    <a:pt x="0" y="12191"/>
                  </a:moveTo>
                  <a:lnTo>
                    <a:pt x="12191" y="12191"/>
                  </a:lnTo>
                </a:path>
                <a:path w="152400" h="36829">
                  <a:moveTo>
                    <a:pt x="3048" y="24384"/>
                  </a:moveTo>
                  <a:lnTo>
                    <a:pt x="15239" y="24384"/>
                  </a:lnTo>
                </a:path>
                <a:path w="152400" h="36829">
                  <a:moveTo>
                    <a:pt x="3048" y="27431"/>
                  </a:moveTo>
                  <a:lnTo>
                    <a:pt x="15239" y="27431"/>
                  </a:lnTo>
                </a:path>
                <a:path w="152400" h="36829">
                  <a:moveTo>
                    <a:pt x="82295" y="36575"/>
                  </a:moveTo>
                  <a:lnTo>
                    <a:pt x="152399" y="365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2" name="object 342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5681472" y="6053328"/>
              <a:ext cx="42671" cy="54863"/>
            </a:xfrm>
            <a:prstGeom prst="rect">
              <a:avLst/>
            </a:prstGeom>
          </p:spPr>
        </p:pic>
        <p:sp>
          <p:nvSpPr>
            <p:cNvPr id="343" name="object 343"/>
            <p:cNvSpPr/>
            <p:nvPr/>
          </p:nvSpPr>
          <p:spPr>
            <a:xfrm>
              <a:off x="5693664" y="6076188"/>
              <a:ext cx="9525" cy="6350"/>
            </a:xfrm>
            <a:custGeom>
              <a:avLst/>
              <a:gdLst/>
              <a:ahLst/>
              <a:cxnLst/>
              <a:rect l="l" t="t" r="r" b="b"/>
              <a:pathLst>
                <a:path w="9525" h="6350">
                  <a:moveTo>
                    <a:pt x="0" y="0"/>
                  </a:moveTo>
                  <a:lnTo>
                    <a:pt x="6095" y="0"/>
                  </a:lnTo>
                </a:path>
                <a:path w="9525" h="6350">
                  <a:moveTo>
                    <a:pt x="3048" y="6095"/>
                  </a:moveTo>
                  <a:lnTo>
                    <a:pt x="9143" y="60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4" name="object 344"/>
          <p:cNvGrpSpPr/>
          <p:nvPr/>
        </p:nvGrpSpPr>
        <p:grpSpPr>
          <a:xfrm>
            <a:off x="6123432" y="5891784"/>
            <a:ext cx="231775" cy="216535"/>
            <a:chOff x="6123432" y="5891784"/>
            <a:chExt cx="231775" cy="216535"/>
          </a:xfrm>
        </p:grpSpPr>
        <p:sp>
          <p:nvSpPr>
            <p:cNvPr id="345" name="object 345"/>
            <p:cNvSpPr/>
            <p:nvPr/>
          </p:nvSpPr>
          <p:spPr>
            <a:xfrm>
              <a:off x="6324600" y="5917692"/>
              <a:ext cx="27940" cy="58419"/>
            </a:xfrm>
            <a:custGeom>
              <a:avLst/>
              <a:gdLst/>
              <a:ahLst/>
              <a:cxnLst/>
              <a:rect l="l" t="t" r="r" b="b"/>
              <a:pathLst>
                <a:path w="27939" h="58420">
                  <a:moveTo>
                    <a:pt x="0" y="0"/>
                  </a:moveTo>
                  <a:lnTo>
                    <a:pt x="6095" y="0"/>
                  </a:lnTo>
                </a:path>
                <a:path w="27939" h="58420">
                  <a:moveTo>
                    <a:pt x="3048" y="6096"/>
                  </a:moveTo>
                  <a:lnTo>
                    <a:pt x="9143" y="6096"/>
                  </a:lnTo>
                </a:path>
                <a:path w="27939" h="58420">
                  <a:moveTo>
                    <a:pt x="15239" y="36575"/>
                  </a:moveTo>
                  <a:lnTo>
                    <a:pt x="24384" y="36575"/>
                  </a:lnTo>
                </a:path>
                <a:path w="27939" h="58420">
                  <a:moveTo>
                    <a:pt x="18287" y="51815"/>
                  </a:moveTo>
                  <a:lnTo>
                    <a:pt x="27432" y="51815"/>
                  </a:lnTo>
                </a:path>
                <a:path w="27939" h="58420">
                  <a:moveTo>
                    <a:pt x="18287" y="54863"/>
                  </a:moveTo>
                  <a:lnTo>
                    <a:pt x="27432" y="54863"/>
                  </a:lnTo>
                </a:path>
                <a:path w="27939" h="58420">
                  <a:moveTo>
                    <a:pt x="18287" y="57912"/>
                  </a:moveTo>
                  <a:lnTo>
                    <a:pt x="27432" y="579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6" name="object 346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6138672" y="5955792"/>
              <a:ext cx="121920" cy="51815"/>
            </a:xfrm>
            <a:prstGeom prst="rect">
              <a:avLst/>
            </a:prstGeom>
          </p:spPr>
        </p:pic>
        <p:pic>
          <p:nvPicPr>
            <p:cNvPr id="347" name="object 347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6144768" y="5891784"/>
              <a:ext cx="210311" cy="134111"/>
            </a:xfrm>
            <a:prstGeom prst="rect">
              <a:avLst/>
            </a:prstGeom>
          </p:spPr>
        </p:pic>
        <p:sp>
          <p:nvSpPr>
            <p:cNvPr id="348" name="object 348"/>
            <p:cNvSpPr/>
            <p:nvPr/>
          </p:nvSpPr>
          <p:spPr>
            <a:xfrm>
              <a:off x="6342888" y="6015228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0" y="0"/>
                  </a:moveTo>
                  <a:lnTo>
                    <a:pt x="9144" y="0"/>
                  </a:lnTo>
                </a:path>
                <a:path w="9525" h="12700">
                  <a:moveTo>
                    <a:pt x="0" y="3048"/>
                  </a:moveTo>
                  <a:lnTo>
                    <a:pt x="9144" y="3048"/>
                  </a:lnTo>
                </a:path>
                <a:path w="9525" h="12700">
                  <a:moveTo>
                    <a:pt x="0" y="6096"/>
                  </a:moveTo>
                  <a:lnTo>
                    <a:pt x="9144" y="6096"/>
                  </a:lnTo>
                </a:path>
                <a:path w="9525" h="12700">
                  <a:moveTo>
                    <a:pt x="0" y="9143"/>
                  </a:moveTo>
                  <a:lnTo>
                    <a:pt x="9144" y="9143"/>
                  </a:lnTo>
                </a:path>
                <a:path w="9525" h="12700">
                  <a:moveTo>
                    <a:pt x="0" y="12191"/>
                  </a:moveTo>
                  <a:lnTo>
                    <a:pt x="9144" y="1219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9" name="object 349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6193536" y="5989320"/>
              <a:ext cx="64007" cy="45719"/>
            </a:xfrm>
            <a:prstGeom prst="rect">
              <a:avLst/>
            </a:prstGeom>
          </p:spPr>
        </p:pic>
        <p:sp>
          <p:nvSpPr>
            <p:cNvPr id="350" name="object 350"/>
            <p:cNvSpPr/>
            <p:nvPr/>
          </p:nvSpPr>
          <p:spPr>
            <a:xfrm>
              <a:off x="6342888" y="6030468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1" name="object 351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6126480" y="6025896"/>
              <a:ext cx="121920" cy="21335"/>
            </a:xfrm>
            <a:prstGeom prst="rect">
              <a:avLst/>
            </a:prstGeom>
          </p:spPr>
        </p:pic>
        <p:sp>
          <p:nvSpPr>
            <p:cNvPr id="352" name="object 352"/>
            <p:cNvSpPr/>
            <p:nvPr/>
          </p:nvSpPr>
          <p:spPr>
            <a:xfrm>
              <a:off x="6233160" y="6042660"/>
              <a:ext cx="116205" cy="18415"/>
            </a:xfrm>
            <a:custGeom>
              <a:avLst/>
              <a:gdLst/>
              <a:ahLst/>
              <a:cxnLst/>
              <a:rect l="l" t="t" r="r" b="b"/>
              <a:pathLst>
                <a:path w="116204" h="18414">
                  <a:moveTo>
                    <a:pt x="106680" y="0"/>
                  </a:moveTo>
                  <a:lnTo>
                    <a:pt x="115824" y="0"/>
                  </a:lnTo>
                </a:path>
                <a:path w="116204" h="18414">
                  <a:moveTo>
                    <a:pt x="3048" y="3048"/>
                  </a:moveTo>
                  <a:lnTo>
                    <a:pt x="12192" y="3048"/>
                  </a:lnTo>
                </a:path>
                <a:path w="116204" h="18414">
                  <a:moveTo>
                    <a:pt x="3048" y="6096"/>
                  </a:moveTo>
                  <a:lnTo>
                    <a:pt x="12192" y="6096"/>
                  </a:lnTo>
                </a:path>
                <a:path w="116204" h="18414">
                  <a:moveTo>
                    <a:pt x="3048" y="9144"/>
                  </a:moveTo>
                  <a:lnTo>
                    <a:pt x="12192" y="9144"/>
                  </a:lnTo>
                </a:path>
                <a:path w="116204" h="18414">
                  <a:moveTo>
                    <a:pt x="0" y="18287"/>
                  </a:moveTo>
                  <a:lnTo>
                    <a:pt x="9144" y="182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3" name="object 353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6123432" y="6031992"/>
              <a:ext cx="228599" cy="76199"/>
            </a:xfrm>
            <a:prstGeom prst="rect">
              <a:avLst/>
            </a:prstGeom>
          </p:spPr>
        </p:pic>
        <p:sp>
          <p:nvSpPr>
            <p:cNvPr id="354" name="object 354"/>
            <p:cNvSpPr/>
            <p:nvPr/>
          </p:nvSpPr>
          <p:spPr>
            <a:xfrm>
              <a:off x="6233160" y="6063996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5" name="object 355"/>
            <p:cNvSpPr/>
            <p:nvPr/>
          </p:nvSpPr>
          <p:spPr>
            <a:xfrm>
              <a:off x="6266688" y="606399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6" name="object 356"/>
            <p:cNvSpPr/>
            <p:nvPr/>
          </p:nvSpPr>
          <p:spPr>
            <a:xfrm>
              <a:off x="6266688" y="6067044"/>
              <a:ext cx="67310" cy="15240"/>
            </a:xfrm>
            <a:custGeom>
              <a:avLst/>
              <a:gdLst/>
              <a:ahLst/>
              <a:cxnLst/>
              <a:rect l="l" t="t" r="r" b="b"/>
              <a:pathLst>
                <a:path w="67310" h="15239">
                  <a:moveTo>
                    <a:pt x="0" y="0"/>
                  </a:moveTo>
                  <a:lnTo>
                    <a:pt x="3047" y="0"/>
                  </a:lnTo>
                </a:path>
                <a:path w="67310" h="15239">
                  <a:moveTo>
                    <a:pt x="60960" y="9144"/>
                  </a:moveTo>
                  <a:lnTo>
                    <a:pt x="67055" y="9144"/>
                  </a:lnTo>
                </a:path>
                <a:path w="67310" h="15239">
                  <a:moveTo>
                    <a:pt x="57912" y="15239"/>
                  </a:moveTo>
                  <a:lnTo>
                    <a:pt x="64007" y="152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7" name="object 357"/>
          <p:cNvGrpSpPr/>
          <p:nvPr/>
        </p:nvGrpSpPr>
        <p:grpSpPr>
          <a:xfrm>
            <a:off x="6595871" y="5900928"/>
            <a:ext cx="387350" cy="186055"/>
            <a:chOff x="6595871" y="5900928"/>
            <a:chExt cx="387350" cy="186055"/>
          </a:xfrm>
        </p:grpSpPr>
        <p:sp>
          <p:nvSpPr>
            <p:cNvPr id="358" name="object 358"/>
            <p:cNvSpPr/>
            <p:nvPr/>
          </p:nvSpPr>
          <p:spPr>
            <a:xfrm>
              <a:off x="6620255" y="5926836"/>
              <a:ext cx="21590" cy="27940"/>
            </a:xfrm>
            <a:custGeom>
              <a:avLst/>
              <a:gdLst/>
              <a:ahLst/>
              <a:cxnLst/>
              <a:rect l="l" t="t" r="r" b="b"/>
              <a:pathLst>
                <a:path w="21590" h="27939">
                  <a:moveTo>
                    <a:pt x="6096" y="0"/>
                  </a:moveTo>
                  <a:lnTo>
                    <a:pt x="21336" y="0"/>
                  </a:lnTo>
                </a:path>
                <a:path w="21590" h="27939">
                  <a:moveTo>
                    <a:pt x="3048" y="15240"/>
                  </a:moveTo>
                  <a:lnTo>
                    <a:pt x="18288" y="15240"/>
                  </a:lnTo>
                </a:path>
                <a:path w="21590" h="27939">
                  <a:moveTo>
                    <a:pt x="0" y="27432"/>
                  </a:moveTo>
                  <a:lnTo>
                    <a:pt x="12191" y="274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9" name="object 359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6605015" y="5900928"/>
              <a:ext cx="79248" cy="112775"/>
            </a:xfrm>
            <a:prstGeom prst="rect">
              <a:avLst/>
            </a:prstGeom>
          </p:spPr>
        </p:pic>
        <p:pic>
          <p:nvPicPr>
            <p:cNvPr id="360" name="object 360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6598919" y="5967984"/>
              <a:ext cx="167639" cy="67055"/>
            </a:xfrm>
            <a:prstGeom prst="rect">
              <a:avLst/>
            </a:prstGeom>
          </p:spPr>
        </p:pic>
        <p:pic>
          <p:nvPicPr>
            <p:cNvPr id="361" name="object 361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6656831" y="6022848"/>
              <a:ext cx="91440" cy="15239"/>
            </a:xfrm>
            <a:prstGeom prst="rect">
              <a:avLst/>
            </a:prstGeom>
          </p:spPr>
        </p:pic>
        <p:sp>
          <p:nvSpPr>
            <p:cNvPr id="362" name="object 362"/>
            <p:cNvSpPr/>
            <p:nvPr/>
          </p:nvSpPr>
          <p:spPr>
            <a:xfrm>
              <a:off x="6958583" y="598474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095" y="0"/>
                  </a:lnTo>
                </a:path>
              </a:pathLst>
            </a:custGeom>
            <a:ln w="3175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3" name="object 363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6726935" y="5986272"/>
              <a:ext cx="237744" cy="82295"/>
            </a:xfrm>
            <a:prstGeom prst="rect">
              <a:avLst/>
            </a:prstGeom>
          </p:spPr>
        </p:pic>
        <p:pic>
          <p:nvPicPr>
            <p:cNvPr id="364" name="object 364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6656831" y="6035040"/>
              <a:ext cx="85344" cy="18287"/>
            </a:xfrm>
            <a:prstGeom prst="rect">
              <a:avLst/>
            </a:prstGeom>
          </p:spPr>
        </p:pic>
        <p:pic>
          <p:nvPicPr>
            <p:cNvPr id="365" name="object 365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6595871" y="6022848"/>
              <a:ext cx="79248" cy="33527"/>
            </a:xfrm>
            <a:prstGeom prst="rect">
              <a:avLst/>
            </a:prstGeom>
          </p:spPr>
        </p:pic>
        <p:pic>
          <p:nvPicPr>
            <p:cNvPr id="366" name="object 366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6665975" y="6053328"/>
              <a:ext cx="15240" cy="3047"/>
            </a:xfrm>
            <a:prstGeom prst="rect">
              <a:avLst/>
            </a:prstGeom>
          </p:spPr>
        </p:pic>
        <p:pic>
          <p:nvPicPr>
            <p:cNvPr id="367" name="object 367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6723887" y="6050280"/>
              <a:ext cx="39623" cy="30479"/>
            </a:xfrm>
            <a:prstGeom prst="rect">
              <a:avLst/>
            </a:prstGeom>
          </p:spPr>
        </p:pic>
        <p:pic>
          <p:nvPicPr>
            <p:cNvPr id="368" name="object 368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6928103" y="6065520"/>
              <a:ext cx="54864" cy="21335"/>
            </a:xfrm>
            <a:prstGeom prst="rect">
              <a:avLst/>
            </a:prstGeom>
          </p:spPr>
        </p:pic>
        <p:pic>
          <p:nvPicPr>
            <p:cNvPr id="369" name="object 369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6726935" y="6077712"/>
              <a:ext cx="30479" cy="9143"/>
            </a:xfrm>
            <a:prstGeom prst="rect">
              <a:avLst/>
            </a:prstGeom>
          </p:spPr>
        </p:pic>
      </p:grpSp>
      <p:grpSp>
        <p:nvGrpSpPr>
          <p:cNvPr id="370" name="object 370"/>
          <p:cNvGrpSpPr/>
          <p:nvPr/>
        </p:nvGrpSpPr>
        <p:grpSpPr>
          <a:xfrm>
            <a:off x="7074407" y="5925311"/>
            <a:ext cx="143510" cy="149860"/>
            <a:chOff x="7074407" y="5925311"/>
            <a:chExt cx="143510" cy="149860"/>
          </a:xfrm>
        </p:grpSpPr>
        <p:sp>
          <p:nvSpPr>
            <p:cNvPr id="371" name="object 371"/>
            <p:cNvSpPr/>
            <p:nvPr/>
          </p:nvSpPr>
          <p:spPr>
            <a:xfrm>
              <a:off x="7141463" y="5926835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C6C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2" name="object 372"/>
            <p:cNvSpPr/>
            <p:nvPr/>
          </p:nvSpPr>
          <p:spPr>
            <a:xfrm>
              <a:off x="7141463" y="5929883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0" y="0"/>
                  </a:moveTo>
                  <a:lnTo>
                    <a:pt x="6095" y="0"/>
                  </a:lnTo>
                </a:path>
                <a:path w="6350" h="6350">
                  <a:moveTo>
                    <a:pt x="0" y="3048"/>
                  </a:moveTo>
                  <a:lnTo>
                    <a:pt x="6095" y="3048"/>
                  </a:lnTo>
                </a:path>
                <a:path w="6350" h="6350">
                  <a:moveTo>
                    <a:pt x="0" y="6096"/>
                  </a:moveTo>
                  <a:lnTo>
                    <a:pt x="6095" y="60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3" name="object 373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7074407" y="5937503"/>
              <a:ext cx="143255" cy="67055"/>
            </a:xfrm>
            <a:prstGeom prst="rect">
              <a:avLst/>
            </a:prstGeom>
          </p:spPr>
        </p:pic>
        <p:sp>
          <p:nvSpPr>
            <p:cNvPr id="374" name="object 374"/>
            <p:cNvSpPr/>
            <p:nvPr/>
          </p:nvSpPr>
          <p:spPr>
            <a:xfrm>
              <a:off x="7141463" y="6006083"/>
              <a:ext cx="6350" cy="60960"/>
            </a:xfrm>
            <a:custGeom>
              <a:avLst/>
              <a:gdLst/>
              <a:ahLst/>
              <a:cxnLst/>
              <a:rect l="l" t="t" r="r" b="b"/>
              <a:pathLst>
                <a:path w="6350" h="60960">
                  <a:moveTo>
                    <a:pt x="0" y="0"/>
                  </a:moveTo>
                  <a:lnTo>
                    <a:pt x="6095" y="0"/>
                  </a:lnTo>
                </a:path>
                <a:path w="6350" h="60960">
                  <a:moveTo>
                    <a:pt x="0" y="3048"/>
                  </a:moveTo>
                  <a:lnTo>
                    <a:pt x="6095" y="3048"/>
                  </a:lnTo>
                </a:path>
                <a:path w="6350" h="60960">
                  <a:moveTo>
                    <a:pt x="0" y="6096"/>
                  </a:moveTo>
                  <a:lnTo>
                    <a:pt x="6095" y="6096"/>
                  </a:lnTo>
                </a:path>
                <a:path w="6350" h="60960">
                  <a:moveTo>
                    <a:pt x="0" y="9144"/>
                  </a:moveTo>
                  <a:lnTo>
                    <a:pt x="6095" y="9144"/>
                  </a:lnTo>
                </a:path>
                <a:path w="6350" h="60960">
                  <a:moveTo>
                    <a:pt x="0" y="12192"/>
                  </a:moveTo>
                  <a:lnTo>
                    <a:pt x="6095" y="12192"/>
                  </a:lnTo>
                </a:path>
                <a:path w="6350" h="60960">
                  <a:moveTo>
                    <a:pt x="0" y="15240"/>
                  </a:moveTo>
                  <a:lnTo>
                    <a:pt x="6095" y="15240"/>
                  </a:lnTo>
                </a:path>
                <a:path w="6350" h="60960">
                  <a:moveTo>
                    <a:pt x="0" y="18287"/>
                  </a:moveTo>
                  <a:lnTo>
                    <a:pt x="6095" y="18287"/>
                  </a:lnTo>
                </a:path>
                <a:path w="6350" h="60960">
                  <a:moveTo>
                    <a:pt x="0" y="21336"/>
                  </a:moveTo>
                  <a:lnTo>
                    <a:pt x="6095" y="21336"/>
                  </a:lnTo>
                </a:path>
                <a:path w="6350" h="60960">
                  <a:moveTo>
                    <a:pt x="0" y="24384"/>
                  </a:moveTo>
                  <a:lnTo>
                    <a:pt x="6095" y="24384"/>
                  </a:lnTo>
                </a:path>
                <a:path w="6350" h="60960">
                  <a:moveTo>
                    <a:pt x="0" y="27432"/>
                  </a:moveTo>
                  <a:lnTo>
                    <a:pt x="6095" y="27432"/>
                  </a:lnTo>
                </a:path>
                <a:path w="6350" h="60960">
                  <a:moveTo>
                    <a:pt x="0" y="30480"/>
                  </a:moveTo>
                  <a:lnTo>
                    <a:pt x="6095" y="30480"/>
                  </a:lnTo>
                </a:path>
                <a:path w="6350" h="60960">
                  <a:moveTo>
                    <a:pt x="0" y="33528"/>
                  </a:moveTo>
                  <a:lnTo>
                    <a:pt x="6095" y="33528"/>
                  </a:lnTo>
                </a:path>
                <a:path w="6350" h="60960">
                  <a:moveTo>
                    <a:pt x="0" y="36575"/>
                  </a:moveTo>
                  <a:lnTo>
                    <a:pt x="6095" y="36575"/>
                  </a:lnTo>
                </a:path>
                <a:path w="6350" h="60960">
                  <a:moveTo>
                    <a:pt x="0" y="39624"/>
                  </a:moveTo>
                  <a:lnTo>
                    <a:pt x="6095" y="39624"/>
                  </a:lnTo>
                </a:path>
                <a:path w="6350" h="60960">
                  <a:moveTo>
                    <a:pt x="0" y="42672"/>
                  </a:moveTo>
                  <a:lnTo>
                    <a:pt x="6095" y="42672"/>
                  </a:lnTo>
                </a:path>
                <a:path w="6350" h="60960">
                  <a:moveTo>
                    <a:pt x="0" y="45720"/>
                  </a:moveTo>
                  <a:lnTo>
                    <a:pt x="6095" y="45720"/>
                  </a:lnTo>
                </a:path>
                <a:path w="6350" h="60960">
                  <a:moveTo>
                    <a:pt x="0" y="48768"/>
                  </a:moveTo>
                  <a:lnTo>
                    <a:pt x="6095" y="48768"/>
                  </a:lnTo>
                </a:path>
                <a:path w="6350" h="60960">
                  <a:moveTo>
                    <a:pt x="0" y="51816"/>
                  </a:moveTo>
                  <a:lnTo>
                    <a:pt x="6095" y="51816"/>
                  </a:lnTo>
                </a:path>
                <a:path w="6350" h="60960">
                  <a:moveTo>
                    <a:pt x="0" y="54863"/>
                  </a:moveTo>
                  <a:lnTo>
                    <a:pt x="6095" y="54863"/>
                  </a:lnTo>
                </a:path>
                <a:path w="6350" h="60960">
                  <a:moveTo>
                    <a:pt x="0" y="57912"/>
                  </a:moveTo>
                  <a:lnTo>
                    <a:pt x="6095" y="57912"/>
                  </a:lnTo>
                </a:path>
                <a:path w="6350" h="60960">
                  <a:moveTo>
                    <a:pt x="0" y="60960"/>
                  </a:moveTo>
                  <a:lnTo>
                    <a:pt x="6095" y="609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5" name="object 375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7141463" y="6068567"/>
              <a:ext cx="6095" cy="6095"/>
            </a:xfrm>
            <a:prstGeom prst="rect">
              <a:avLst/>
            </a:prstGeom>
          </p:spPr>
        </p:pic>
      </p:grpSp>
      <p:grpSp>
        <p:nvGrpSpPr>
          <p:cNvPr id="376" name="object 376"/>
          <p:cNvGrpSpPr/>
          <p:nvPr/>
        </p:nvGrpSpPr>
        <p:grpSpPr>
          <a:xfrm>
            <a:off x="5169408" y="5900928"/>
            <a:ext cx="170815" cy="186055"/>
            <a:chOff x="5169408" y="5900928"/>
            <a:chExt cx="170815" cy="186055"/>
          </a:xfrm>
        </p:grpSpPr>
        <p:pic>
          <p:nvPicPr>
            <p:cNvPr id="377" name="object 377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5181600" y="5900928"/>
              <a:ext cx="79248" cy="91439"/>
            </a:xfrm>
            <a:prstGeom prst="rect">
              <a:avLst/>
            </a:prstGeom>
          </p:spPr>
        </p:pic>
        <p:pic>
          <p:nvPicPr>
            <p:cNvPr id="378" name="object 378"/>
            <p:cNvPicPr/>
            <p:nvPr/>
          </p:nvPicPr>
          <p:blipFill>
            <a:blip r:embed="rId186" cstate="print"/>
            <a:stretch>
              <a:fillRect/>
            </a:stretch>
          </p:blipFill>
          <p:spPr>
            <a:xfrm>
              <a:off x="5172456" y="5983224"/>
              <a:ext cx="167639" cy="51815"/>
            </a:xfrm>
            <a:prstGeom prst="rect">
              <a:avLst/>
            </a:prstGeom>
          </p:spPr>
        </p:pic>
        <p:pic>
          <p:nvPicPr>
            <p:cNvPr id="379" name="object 379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5230368" y="6022848"/>
              <a:ext cx="88391" cy="18287"/>
            </a:xfrm>
            <a:prstGeom prst="rect">
              <a:avLst/>
            </a:prstGeom>
          </p:spPr>
        </p:pic>
        <p:pic>
          <p:nvPicPr>
            <p:cNvPr id="380" name="object 380"/>
            <p:cNvPicPr/>
            <p:nvPr/>
          </p:nvPicPr>
          <p:blipFill>
            <a:blip r:embed="rId188" cstate="print"/>
            <a:stretch>
              <a:fillRect/>
            </a:stretch>
          </p:blipFill>
          <p:spPr>
            <a:xfrm>
              <a:off x="5169408" y="6035040"/>
              <a:ext cx="15240" cy="21335"/>
            </a:xfrm>
            <a:prstGeom prst="rect">
              <a:avLst/>
            </a:prstGeom>
          </p:spPr>
        </p:pic>
        <p:pic>
          <p:nvPicPr>
            <p:cNvPr id="381" name="object 381"/>
            <p:cNvPicPr/>
            <p:nvPr/>
          </p:nvPicPr>
          <p:blipFill>
            <a:blip r:embed="rId189" cstate="print"/>
            <a:stretch>
              <a:fillRect/>
            </a:stretch>
          </p:blipFill>
          <p:spPr>
            <a:xfrm>
              <a:off x="5230368" y="6038088"/>
              <a:ext cx="85344" cy="18287"/>
            </a:xfrm>
            <a:prstGeom prst="rect">
              <a:avLst/>
            </a:prstGeom>
          </p:spPr>
        </p:pic>
        <p:pic>
          <p:nvPicPr>
            <p:cNvPr id="382" name="object 382"/>
            <p:cNvPicPr/>
            <p:nvPr/>
          </p:nvPicPr>
          <p:blipFill>
            <a:blip r:embed="rId190" cstate="print"/>
            <a:stretch>
              <a:fillRect/>
            </a:stretch>
          </p:blipFill>
          <p:spPr>
            <a:xfrm>
              <a:off x="5294376" y="6053328"/>
              <a:ext cx="45719" cy="24383"/>
            </a:xfrm>
            <a:prstGeom prst="rect">
              <a:avLst/>
            </a:prstGeom>
          </p:spPr>
        </p:pic>
        <p:pic>
          <p:nvPicPr>
            <p:cNvPr id="383" name="object 383"/>
            <p:cNvPicPr/>
            <p:nvPr/>
          </p:nvPicPr>
          <p:blipFill>
            <a:blip r:embed="rId191" cstate="print"/>
            <a:stretch>
              <a:fillRect/>
            </a:stretch>
          </p:blipFill>
          <p:spPr>
            <a:xfrm>
              <a:off x="5297424" y="6074664"/>
              <a:ext cx="36576" cy="12191"/>
            </a:xfrm>
            <a:prstGeom prst="rect">
              <a:avLst/>
            </a:prstGeom>
          </p:spPr>
        </p:pic>
      </p:grpSp>
      <p:grpSp>
        <p:nvGrpSpPr>
          <p:cNvPr id="384" name="object 384"/>
          <p:cNvGrpSpPr/>
          <p:nvPr/>
        </p:nvGrpSpPr>
        <p:grpSpPr>
          <a:xfrm>
            <a:off x="7519416" y="5952744"/>
            <a:ext cx="82550" cy="91440"/>
            <a:chOff x="7519416" y="5952744"/>
            <a:chExt cx="82550" cy="91440"/>
          </a:xfrm>
        </p:grpSpPr>
        <p:pic>
          <p:nvPicPr>
            <p:cNvPr id="385" name="object 385"/>
            <p:cNvPicPr/>
            <p:nvPr/>
          </p:nvPicPr>
          <p:blipFill>
            <a:blip r:embed="rId192" cstate="print"/>
            <a:stretch>
              <a:fillRect/>
            </a:stretch>
          </p:blipFill>
          <p:spPr>
            <a:xfrm>
              <a:off x="7522464" y="5952744"/>
              <a:ext cx="45720" cy="24383"/>
            </a:xfrm>
            <a:prstGeom prst="rect">
              <a:avLst/>
            </a:prstGeom>
          </p:spPr>
        </p:pic>
        <p:pic>
          <p:nvPicPr>
            <p:cNvPr id="386" name="object 386"/>
            <p:cNvPicPr/>
            <p:nvPr/>
          </p:nvPicPr>
          <p:blipFill>
            <a:blip r:embed="rId193" cstate="print"/>
            <a:stretch>
              <a:fillRect/>
            </a:stretch>
          </p:blipFill>
          <p:spPr>
            <a:xfrm>
              <a:off x="7519416" y="5971032"/>
              <a:ext cx="82296" cy="48767"/>
            </a:xfrm>
            <a:prstGeom prst="rect">
              <a:avLst/>
            </a:prstGeom>
          </p:spPr>
        </p:pic>
        <p:pic>
          <p:nvPicPr>
            <p:cNvPr id="387" name="object 387"/>
            <p:cNvPicPr/>
            <p:nvPr/>
          </p:nvPicPr>
          <p:blipFill>
            <a:blip r:embed="rId194" cstate="print"/>
            <a:stretch>
              <a:fillRect/>
            </a:stretch>
          </p:blipFill>
          <p:spPr>
            <a:xfrm>
              <a:off x="7519416" y="6016752"/>
              <a:ext cx="82296" cy="27431"/>
            </a:xfrm>
            <a:prstGeom prst="rect">
              <a:avLst/>
            </a:prstGeom>
          </p:spPr>
        </p:pic>
        <p:sp>
          <p:nvSpPr>
            <p:cNvPr id="388" name="object 388"/>
            <p:cNvSpPr/>
            <p:nvPr/>
          </p:nvSpPr>
          <p:spPr>
            <a:xfrm>
              <a:off x="7555992" y="6030468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9" name="object 389"/>
          <p:cNvGrpSpPr/>
          <p:nvPr/>
        </p:nvGrpSpPr>
        <p:grpSpPr>
          <a:xfrm>
            <a:off x="7287768" y="5955791"/>
            <a:ext cx="149860" cy="131445"/>
            <a:chOff x="7287768" y="5955791"/>
            <a:chExt cx="149860" cy="131445"/>
          </a:xfrm>
        </p:grpSpPr>
        <p:pic>
          <p:nvPicPr>
            <p:cNvPr id="390" name="object 390"/>
            <p:cNvPicPr/>
            <p:nvPr/>
          </p:nvPicPr>
          <p:blipFill>
            <a:blip r:embed="rId195" cstate="print"/>
            <a:stretch>
              <a:fillRect/>
            </a:stretch>
          </p:blipFill>
          <p:spPr>
            <a:xfrm>
              <a:off x="7306056" y="5955791"/>
              <a:ext cx="121920" cy="45719"/>
            </a:xfrm>
            <a:prstGeom prst="rect">
              <a:avLst/>
            </a:prstGeom>
          </p:spPr>
        </p:pic>
        <p:pic>
          <p:nvPicPr>
            <p:cNvPr id="391" name="object 391"/>
            <p:cNvPicPr/>
            <p:nvPr/>
          </p:nvPicPr>
          <p:blipFill>
            <a:blip r:embed="rId196" cstate="print"/>
            <a:stretch>
              <a:fillRect/>
            </a:stretch>
          </p:blipFill>
          <p:spPr>
            <a:xfrm>
              <a:off x="7306056" y="5980175"/>
              <a:ext cx="131063" cy="51815"/>
            </a:xfrm>
            <a:prstGeom prst="rect">
              <a:avLst/>
            </a:prstGeom>
          </p:spPr>
        </p:pic>
        <p:pic>
          <p:nvPicPr>
            <p:cNvPr id="392" name="object 392"/>
            <p:cNvPicPr/>
            <p:nvPr/>
          </p:nvPicPr>
          <p:blipFill>
            <a:blip r:embed="rId197" cstate="print"/>
            <a:stretch>
              <a:fillRect/>
            </a:stretch>
          </p:blipFill>
          <p:spPr>
            <a:xfrm>
              <a:off x="7296912" y="6022847"/>
              <a:ext cx="118872" cy="18287"/>
            </a:xfrm>
            <a:prstGeom prst="rect">
              <a:avLst/>
            </a:prstGeom>
          </p:spPr>
        </p:pic>
        <p:pic>
          <p:nvPicPr>
            <p:cNvPr id="393" name="object 393"/>
            <p:cNvPicPr/>
            <p:nvPr/>
          </p:nvPicPr>
          <p:blipFill>
            <a:blip r:embed="rId198" cstate="print"/>
            <a:stretch>
              <a:fillRect/>
            </a:stretch>
          </p:blipFill>
          <p:spPr>
            <a:xfrm>
              <a:off x="7287768" y="6038087"/>
              <a:ext cx="149351" cy="48767"/>
            </a:xfrm>
            <a:prstGeom prst="rect">
              <a:avLst/>
            </a:prstGeom>
          </p:spPr>
        </p:pic>
        <p:sp>
          <p:nvSpPr>
            <p:cNvPr id="394" name="object 394"/>
            <p:cNvSpPr/>
            <p:nvPr/>
          </p:nvSpPr>
          <p:spPr>
            <a:xfrm>
              <a:off x="7400544" y="6054851"/>
              <a:ext cx="9525" cy="3175"/>
            </a:xfrm>
            <a:custGeom>
              <a:avLst/>
              <a:gdLst/>
              <a:ahLst/>
              <a:cxnLst/>
              <a:rect l="l" t="t" r="r" b="b"/>
              <a:pathLst>
                <a:path w="9525" h="3175">
                  <a:moveTo>
                    <a:pt x="0" y="0"/>
                  </a:moveTo>
                  <a:lnTo>
                    <a:pt x="9144" y="0"/>
                  </a:lnTo>
                </a:path>
                <a:path w="9525" h="3175">
                  <a:moveTo>
                    <a:pt x="0" y="3048"/>
                  </a:moveTo>
                  <a:lnTo>
                    <a:pt x="9144" y="30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5" name="object 395"/>
            <p:cNvSpPr/>
            <p:nvPr/>
          </p:nvSpPr>
          <p:spPr>
            <a:xfrm>
              <a:off x="7434072" y="6063995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1B1B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6" name="object 396"/>
            <p:cNvSpPr/>
            <p:nvPr/>
          </p:nvSpPr>
          <p:spPr>
            <a:xfrm>
              <a:off x="7394448" y="6070091"/>
              <a:ext cx="12700" cy="3175"/>
            </a:xfrm>
            <a:custGeom>
              <a:avLst/>
              <a:gdLst/>
              <a:ahLst/>
              <a:cxnLst/>
              <a:rect l="l" t="t" r="r" b="b"/>
              <a:pathLst>
                <a:path w="12700" h="3175">
                  <a:moveTo>
                    <a:pt x="0" y="0"/>
                  </a:moveTo>
                  <a:lnTo>
                    <a:pt x="12191" y="0"/>
                  </a:lnTo>
                </a:path>
                <a:path w="12700" h="3175">
                  <a:moveTo>
                    <a:pt x="0" y="3048"/>
                  </a:moveTo>
                  <a:lnTo>
                    <a:pt x="12191" y="30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97" name="object 397"/>
          <p:cNvPicPr/>
          <p:nvPr/>
        </p:nvPicPr>
        <p:blipFill>
          <a:blip r:embed="rId199" cstate="print"/>
          <a:stretch>
            <a:fillRect/>
          </a:stretch>
        </p:blipFill>
        <p:spPr>
          <a:xfrm>
            <a:off x="5913120" y="5995415"/>
            <a:ext cx="134112" cy="9143"/>
          </a:xfrm>
          <a:prstGeom prst="rect">
            <a:avLst/>
          </a:prstGeom>
        </p:spPr>
      </p:pic>
      <p:pic>
        <p:nvPicPr>
          <p:cNvPr id="398" name="object 398"/>
          <p:cNvPicPr/>
          <p:nvPr/>
        </p:nvPicPr>
        <p:blipFill>
          <a:blip r:embed="rId200" cstate="print"/>
          <a:stretch>
            <a:fillRect/>
          </a:stretch>
        </p:blipFill>
        <p:spPr>
          <a:xfrm>
            <a:off x="6440423" y="5952744"/>
            <a:ext cx="79248" cy="91439"/>
          </a:xfrm>
          <a:prstGeom prst="rect">
            <a:avLst/>
          </a:prstGeom>
        </p:spPr>
      </p:pic>
      <p:pic>
        <p:nvPicPr>
          <p:cNvPr id="399" name="object 399"/>
          <p:cNvPicPr/>
          <p:nvPr/>
        </p:nvPicPr>
        <p:blipFill>
          <a:blip r:embed="rId201" cstate="print"/>
          <a:stretch>
            <a:fillRect/>
          </a:stretch>
        </p:blipFill>
        <p:spPr>
          <a:xfrm>
            <a:off x="5431535" y="5974079"/>
            <a:ext cx="146304" cy="51815"/>
          </a:xfrm>
          <a:prstGeom prst="rect">
            <a:avLst/>
          </a:prstGeom>
        </p:spPr>
      </p:pic>
      <p:sp>
        <p:nvSpPr>
          <p:cNvPr id="400" name="object 40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42</a:t>
            </a:fld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64208" y="2601468"/>
            <a:ext cx="6294120" cy="1610995"/>
            <a:chOff x="1664208" y="2601468"/>
            <a:chExt cx="6294120" cy="1610995"/>
          </a:xfrm>
        </p:grpSpPr>
        <p:sp>
          <p:nvSpPr>
            <p:cNvPr id="3" name="object 3"/>
            <p:cNvSpPr/>
            <p:nvPr/>
          </p:nvSpPr>
          <p:spPr>
            <a:xfrm>
              <a:off x="1665732" y="2604516"/>
              <a:ext cx="6289675" cy="1606550"/>
            </a:xfrm>
            <a:custGeom>
              <a:avLst/>
              <a:gdLst/>
              <a:ahLst/>
              <a:cxnLst/>
              <a:rect l="l" t="t" r="r" b="b"/>
              <a:pathLst>
                <a:path w="6289675" h="1606550">
                  <a:moveTo>
                    <a:pt x="6289547" y="1338071"/>
                  </a:moveTo>
                  <a:lnTo>
                    <a:pt x="6289547" y="268223"/>
                  </a:lnTo>
                  <a:lnTo>
                    <a:pt x="6285216" y="220091"/>
                  </a:lnTo>
                  <a:lnTo>
                    <a:pt x="6272731" y="174756"/>
                  </a:lnTo>
                  <a:lnTo>
                    <a:pt x="6252858" y="132983"/>
                  </a:lnTo>
                  <a:lnTo>
                    <a:pt x="6226363" y="95537"/>
                  </a:lnTo>
                  <a:lnTo>
                    <a:pt x="6194010" y="63184"/>
                  </a:lnTo>
                  <a:lnTo>
                    <a:pt x="6156564" y="36688"/>
                  </a:lnTo>
                  <a:lnTo>
                    <a:pt x="6114791" y="16816"/>
                  </a:lnTo>
                  <a:lnTo>
                    <a:pt x="6069456" y="4331"/>
                  </a:lnTo>
                  <a:lnTo>
                    <a:pt x="6021323" y="0"/>
                  </a:lnTo>
                  <a:lnTo>
                    <a:pt x="268223" y="0"/>
                  </a:lnTo>
                  <a:lnTo>
                    <a:pt x="220091" y="4331"/>
                  </a:lnTo>
                  <a:lnTo>
                    <a:pt x="174756" y="16816"/>
                  </a:lnTo>
                  <a:lnTo>
                    <a:pt x="132983" y="36688"/>
                  </a:lnTo>
                  <a:lnTo>
                    <a:pt x="95537" y="63184"/>
                  </a:lnTo>
                  <a:lnTo>
                    <a:pt x="63184" y="95537"/>
                  </a:lnTo>
                  <a:lnTo>
                    <a:pt x="36688" y="132983"/>
                  </a:lnTo>
                  <a:lnTo>
                    <a:pt x="16816" y="174756"/>
                  </a:lnTo>
                  <a:lnTo>
                    <a:pt x="4331" y="220091"/>
                  </a:lnTo>
                  <a:lnTo>
                    <a:pt x="0" y="268223"/>
                  </a:lnTo>
                  <a:lnTo>
                    <a:pt x="0" y="1338071"/>
                  </a:lnTo>
                  <a:lnTo>
                    <a:pt x="4331" y="1386204"/>
                  </a:lnTo>
                  <a:lnTo>
                    <a:pt x="16816" y="1431539"/>
                  </a:lnTo>
                  <a:lnTo>
                    <a:pt x="36688" y="1473312"/>
                  </a:lnTo>
                  <a:lnTo>
                    <a:pt x="63184" y="1510758"/>
                  </a:lnTo>
                  <a:lnTo>
                    <a:pt x="95537" y="1543111"/>
                  </a:lnTo>
                  <a:lnTo>
                    <a:pt x="132983" y="1569607"/>
                  </a:lnTo>
                  <a:lnTo>
                    <a:pt x="174756" y="1589479"/>
                  </a:lnTo>
                  <a:lnTo>
                    <a:pt x="220091" y="1601964"/>
                  </a:lnTo>
                  <a:lnTo>
                    <a:pt x="268223" y="1606295"/>
                  </a:lnTo>
                  <a:lnTo>
                    <a:pt x="6021323" y="1606295"/>
                  </a:lnTo>
                  <a:lnTo>
                    <a:pt x="6069456" y="1601964"/>
                  </a:lnTo>
                  <a:lnTo>
                    <a:pt x="6114791" y="1589479"/>
                  </a:lnTo>
                  <a:lnTo>
                    <a:pt x="6156564" y="1569607"/>
                  </a:lnTo>
                  <a:lnTo>
                    <a:pt x="6194010" y="1543111"/>
                  </a:lnTo>
                  <a:lnTo>
                    <a:pt x="6226363" y="1510758"/>
                  </a:lnTo>
                  <a:lnTo>
                    <a:pt x="6252858" y="1473312"/>
                  </a:lnTo>
                  <a:lnTo>
                    <a:pt x="6272731" y="1431539"/>
                  </a:lnTo>
                  <a:lnTo>
                    <a:pt x="6285216" y="1386204"/>
                  </a:lnTo>
                  <a:lnTo>
                    <a:pt x="6289547" y="1338071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64208" y="2601468"/>
              <a:ext cx="6294120" cy="1610995"/>
            </a:xfrm>
            <a:custGeom>
              <a:avLst/>
              <a:gdLst/>
              <a:ahLst/>
              <a:cxnLst/>
              <a:rect l="l" t="t" r="r" b="b"/>
              <a:pathLst>
                <a:path w="6294120" h="1610995">
                  <a:moveTo>
                    <a:pt x="6294120" y="1354836"/>
                  </a:moveTo>
                  <a:lnTo>
                    <a:pt x="6294120" y="256032"/>
                  </a:lnTo>
                  <a:lnTo>
                    <a:pt x="6292596" y="242316"/>
                  </a:lnTo>
                  <a:lnTo>
                    <a:pt x="6284976" y="202692"/>
                  </a:lnTo>
                  <a:lnTo>
                    <a:pt x="6272784" y="166116"/>
                  </a:lnTo>
                  <a:lnTo>
                    <a:pt x="6246876" y="118872"/>
                  </a:lnTo>
                  <a:lnTo>
                    <a:pt x="6214872" y="79248"/>
                  </a:lnTo>
                  <a:lnTo>
                    <a:pt x="6175248" y="47244"/>
                  </a:lnTo>
                  <a:lnTo>
                    <a:pt x="6129528" y="21336"/>
                  </a:lnTo>
                  <a:lnTo>
                    <a:pt x="6115812" y="16764"/>
                  </a:lnTo>
                  <a:lnTo>
                    <a:pt x="6103620" y="12192"/>
                  </a:lnTo>
                  <a:lnTo>
                    <a:pt x="6091428" y="9144"/>
                  </a:lnTo>
                  <a:lnTo>
                    <a:pt x="6063996" y="3048"/>
                  </a:lnTo>
                  <a:lnTo>
                    <a:pt x="6051804" y="1524"/>
                  </a:lnTo>
                  <a:lnTo>
                    <a:pt x="6038088" y="1524"/>
                  </a:lnTo>
                  <a:lnTo>
                    <a:pt x="6022848" y="0"/>
                  </a:lnTo>
                  <a:lnTo>
                    <a:pt x="256032" y="0"/>
                  </a:lnTo>
                  <a:lnTo>
                    <a:pt x="228600" y="3048"/>
                  </a:lnTo>
                  <a:lnTo>
                    <a:pt x="214884" y="6096"/>
                  </a:lnTo>
                  <a:lnTo>
                    <a:pt x="202692" y="9144"/>
                  </a:lnTo>
                  <a:lnTo>
                    <a:pt x="188976" y="12192"/>
                  </a:lnTo>
                  <a:lnTo>
                    <a:pt x="141732" y="33528"/>
                  </a:lnTo>
                  <a:lnTo>
                    <a:pt x="97536" y="62484"/>
                  </a:lnTo>
                  <a:lnTo>
                    <a:pt x="60960" y="99060"/>
                  </a:lnTo>
                  <a:lnTo>
                    <a:pt x="32004" y="141732"/>
                  </a:lnTo>
                  <a:lnTo>
                    <a:pt x="21336" y="166116"/>
                  </a:lnTo>
                  <a:lnTo>
                    <a:pt x="15240" y="178308"/>
                  </a:lnTo>
                  <a:lnTo>
                    <a:pt x="12192" y="190500"/>
                  </a:lnTo>
                  <a:lnTo>
                    <a:pt x="7620" y="202692"/>
                  </a:lnTo>
                  <a:lnTo>
                    <a:pt x="4572" y="216408"/>
                  </a:lnTo>
                  <a:lnTo>
                    <a:pt x="3048" y="230124"/>
                  </a:lnTo>
                  <a:lnTo>
                    <a:pt x="1524" y="242316"/>
                  </a:lnTo>
                  <a:lnTo>
                    <a:pt x="0" y="256032"/>
                  </a:lnTo>
                  <a:lnTo>
                    <a:pt x="0" y="1354836"/>
                  </a:lnTo>
                  <a:lnTo>
                    <a:pt x="4572" y="1395984"/>
                  </a:lnTo>
                  <a:lnTo>
                    <a:pt x="4572" y="257556"/>
                  </a:lnTo>
                  <a:lnTo>
                    <a:pt x="7620" y="230124"/>
                  </a:lnTo>
                  <a:lnTo>
                    <a:pt x="10668" y="217932"/>
                  </a:lnTo>
                  <a:lnTo>
                    <a:pt x="13716" y="204216"/>
                  </a:lnTo>
                  <a:lnTo>
                    <a:pt x="16764" y="192024"/>
                  </a:lnTo>
                  <a:lnTo>
                    <a:pt x="36576" y="144780"/>
                  </a:lnTo>
                  <a:lnTo>
                    <a:pt x="65532" y="102108"/>
                  </a:lnTo>
                  <a:lnTo>
                    <a:pt x="100584" y="65532"/>
                  </a:lnTo>
                  <a:lnTo>
                    <a:pt x="143256" y="38100"/>
                  </a:lnTo>
                  <a:lnTo>
                    <a:pt x="190500" y="16764"/>
                  </a:lnTo>
                  <a:lnTo>
                    <a:pt x="190500" y="18288"/>
                  </a:lnTo>
                  <a:lnTo>
                    <a:pt x="204216" y="13716"/>
                  </a:lnTo>
                  <a:lnTo>
                    <a:pt x="216408" y="10668"/>
                  </a:lnTo>
                  <a:lnTo>
                    <a:pt x="228600" y="9313"/>
                  </a:lnTo>
                  <a:lnTo>
                    <a:pt x="228600" y="9144"/>
                  </a:lnTo>
                  <a:lnTo>
                    <a:pt x="256032" y="6096"/>
                  </a:lnTo>
                  <a:lnTo>
                    <a:pt x="6036564" y="6096"/>
                  </a:lnTo>
                  <a:lnTo>
                    <a:pt x="6077712" y="10668"/>
                  </a:lnTo>
                  <a:lnTo>
                    <a:pt x="6077712" y="11006"/>
                  </a:lnTo>
                  <a:lnTo>
                    <a:pt x="6089904" y="13716"/>
                  </a:lnTo>
                  <a:lnTo>
                    <a:pt x="6102096" y="18288"/>
                  </a:lnTo>
                  <a:lnTo>
                    <a:pt x="6102096" y="16764"/>
                  </a:lnTo>
                  <a:lnTo>
                    <a:pt x="6126480" y="25908"/>
                  </a:lnTo>
                  <a:lnTo>
                    <a:pt x="6172200" y="50292"/>
                  </a:lnTo>
                  <a:lnTo>
                    <a:pt x="6228588" y="102108"/>
                  </a:lnTo>
                  <a:lnTo>
                    <a:pt x="6268212" y="167640"/>
                  </a:lnTo>
                  <a:lnTo>
                    <a:pt x="6280404" y="204216"/>
                  </a:lnTo>
                  <a:lnTo>
                    <a:pt x="6288024" y="257556"/>
                  </a:lnTo>
                  <a:lnTo>
                    <a:pt x="6288024" y="1395984"/>
                  </a:lnTo>
                  <a:lnTo>
                    <a:pt x="6291072" y="1382268"/>
                  </a:lnTo>
                  <a:lnTo>
                    <a:pt x="6294120" y="1354836"/>
                  </a:lnTo>
                  <a:close/>
                </a:path>
                <a:path w="6294120" h="1610995">
                  <a:moveTo>
                    <a:pt x="230124" y="1603248"/>
                  </a:moveTo>
                  <a:lnTo>
                    <a:pt x="216408" y="1600200"/>
                  </a:lnTo>
                  <a:lnTo>
                    <a:pt x="204216" y="1598676"/>
                  </a:lnTo>
                  <a:lnTo>
                    <a:pt x="190500" y="1594104"/>
                  </a:lnTo>
                  <a:lnTo>
                    <a:pt x="143256" y="1574292"/>
                  </a:lnTo>
                  <a:lnTo>
                    <a:pt x="100584" y="1545336"/>
                  </a:lnTo>
                  <a:lnTo>
                    <a:pt x="65532" y="1510284"/>
                  </a:lnTo>
                  <a:lnTo>
                    <a:pt x="36576" y="1467612"/>
                  </a:lnTo>
                  <a:lnTo>
                    <a:pt x="16764" y="1420368"/>
                  </a:lnTo>
                  <a:lnTo>
                    <a:pt x="10668" y="1394460"/>
                  </a:lnTo>
                  <a:lnTo>
                    <a:pt x="7620" y="1382268"/>
                  </a:lnTo>
                  <a:lnTo>
                    <a:pt x="4572" y="1354836"/>
                  </a:lnTo>
                  <a:lnTo>
                    <a:pt x="4572" y="1395984"/>
                  </a:lnTo>
                  <a:lnTo>
                    <a:pt x="7620" y="1408176"/>
                  </a:lnTo>
                  <a:lnTo>
                    <a:pt x="12192" y="1421892"/>
                  </a:lnTo>
                  <a:lnTo>
                    <a:pt x="15240" y="1434084"/>
                  </a:lnTo>
                  <a:lnTo>
                    <a:pt x="21336" y="1446276"/>
                  </a:lnTo>
                  <a:lnTo>
                    <a:pt x="32004" y="1470660"/>
                  </a:lnTo>
                  <a:lnTo>
                    <a:pt x="45720" y="1491996"/>
                  </a:lnTo>
                  <a:lnTo>
                    <a:pt x="79248" y="1533144"/>
                  </a:lnTo>
                  <a:lnTo>
                    <a:pt x="118872" y="1565148"/>
                  </a:lnTo>
                  <a:lnTo>
                    <a:pt x="164592" y="1589532"/>
                  </a:lnTo>
                  <a:lnTo>
                    <a:pt x="176784" y="1595628"/>
                  </a:lnTo>
                  <a:lnTo>
                    <a:pt x="188976" y="1598676"/>
                  </a:lnTo>
                  <a:lnTo>
                    <a:pt x="202692" y="1603248"/>
                  </a:lnTo>
                  <a:lnTo>
                    <a:pt x="214884" y="1606296"/>
                  </a:lnTo>
                  <a:lnTo>
                    <a:pt x="228600" y="1607820"/>
                  </a:lnTo>
                  <a:lnTo>
                    <a:pt x="228600" y="1603248"/>
                  </a:lnTo>
                  <a:lnTo>
                    <a:pt x="230124" y="1603248"/>
                  </a:lnTo>
                  <a:close/>
                </a:path>
                <a:path w="6294120" h="1610995">
                  <a:moveTo>
                    <a:pt x="230124" y="9144"/>
                  </a:moveTo>
                  <a:lnTo>
                    <a:pt x="228600" y="9144"/>
                  </a:lnTo>
                  <a:lnTo>
                    <a:pt x="228600" y="9313"/>
                  </a:lnTo>
                  <a:lnTo>
                    <a:pt x="230124" y="9144"/>
                  </a:lnTo>
                  <a:close/>
                </a:path>
                <a:path w="6294120" h="1610995">
                  <a:moveTo>
                    <a:pt x="6077712" y="1606296"/>
                  </a:moveTo>
                  <a:lnTo>
                    <a:pt x="6077712" y="1600200"/>
                  </a:lnTo>
                  <a:lnTo>
                    <a:pt x="6063996" y="1603248"/>
                  </a:lnTo>
                  <a:lnTo>
                    <a:pt x="6036564" y="1606296"/>
                  </a:lnTo>
                  <a:lnTo>
                    <a:pt x="256032" y="1606296"/>
                  </a:lnTo>
                  <a:lnTo>
                    <a:pt x="228600" y="1603248"/>
                  </a:lnTo>
                  <a:lnTo>
                    <a:pt x="228600" y="1607820"/>
                  </a:lnTo>
                  <a:lnTo>
                    <a:pt x="256032" y="1610868"/>
                  </a:lnTo>
                  <a:lnTo>
                    <a:pt x="6038088" y="1610868"/>
                  </a:lnTo>
                  <a:lnTo>
                    <a:pt x="6051804" y="1609344"/>
                  </a:lnTo>
                  <a:lnTo>
                    <a:pt x="6063996" y="1607820"/>
                  </a:lnTo>
                  <a:lnTo>
                    <a:pt x="6077712" y="1606296"/>
                  </a:lnTo>
                  <a:close/>
                </a:path>
                <a:path w="6294120" h="1610995">
                  <a:moveTo>
                    <a:pt x="6077712" y="11006"/>
                  </a:moveTo>
                  <a:lnTo>
                    <a:pt x="6077712" y="10668"/>
                  </a:lnTo>
                  <a:lnTo>
                    <a:pt x="6076188" y="10668"/>
                  </a:lnTo>
                  <a:lnTo>
                    <a:pt x="6077712" y="11006"/>
                  </a:lnTo>
                  <a:close/>
                </a:path>
                <a:path w="6294120" h="1610995">
                  <a:moveTo>
                    <a:pt x="6288024" y="1395984"/>
                  </a:moveTo>
                  <a:lnTo>
                    <a:pt x="6288024" y="1354836"/>
                  </a:lnTo>
                  <a:lnTo>
                    <a:pt x="6284976" y="1382268"/>
                  </a:lnTo>
                  <a:lnTo>
                    <a:pt x="6283452" y="1394460"/>
                  </a:lnTo>
                  <a:lnTo>
                    <a:pt x="6268212" y="1444752"/>
                  </a:lnTo>
                  <a:lnTo>
                    <a:pt x="6243828" y="1488948"/>
                  </a:lnTo>
                  <a:lnTo>
                    <a:pt x="6210300" y="1528572"/>
                  </a:lnTo>
                  <a:lnTo>
                    <a:pt x="6172200" y="1560576"/>
                  </a:lnTo>
                  <a:lnTo>
                    <a:pt x="6126480" y="1584960"/>
                  </a:lnTo>
                  <a:lnTo>
                    <a:pt x="6114288" y="1591056"/>
                  </a:lnTo>
                  <a:lnTo>
                    <a:pt x="6114288" y="1589532"/>
                  </a:lnTo>
                  <a:lnTo>
                    <a:pt x="6089904" y="1598676"/>
                  </a:lnTo>
                  <a:lnTo>
                    <a:pt x="6076188" y="1600200"/>
                  </a:lnTo>
                  <a:lnTo>
                    <a:pt x="6077712" y="1600200"/>
                  </a:lnTo>
                  <a:lnTo>
                    <a:pt x="6077712" y="1606296"/>
                  </a:lnTo>
                  <a:lnTo>
                    <a:pt x="6091428" y="1603248"/>
                  </a:lnTo>
                  <a:lnTo>
                    <a:pt x="6103620" y="1598676"/>
                  </a:lnTo>
                  <a:lnTo>
                    <a:pt x="6115812" y="1595628"/>
                  </a:lnTo>
                  <a:lnTo>
                    <a:pt x="6129528" y="1589532"/>
                  </a:lnTo>
                  <a:lnTo>
                    <a:pt x="6175248" y="1565148"/>
                  </a:lnTo>
                  <a:lnTo>
                    <a:pt x="6214872" y="1533144"/>
                  </a:lnTo>
                  <a:lnTo>
                    <a:pt x="6246876" y="1491996"/>
                  </a:lnTo>
                  <a:lnTo>
                    <a:pt x="6272784" y="1446276"/>
                  </a:lnTo>
                  <a:lnTo>
                    <a:pt x="6284976" y="1408176"/>
                  </a:lnTo>
                  <a:lnTo>
                    <a:pt x="6288024" y="1395984"/>
                  </a:lnTo>
                  <a:close/>
                </a:path>
              </a:pathLst>
            </a:custGeom>
            <a:solidFill>
              <a:srgbClr val="43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02710" y="2892042"/>
            <a:ext cx="3813810" cy="979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35940">
              <a:lnSpc>
                <a:spcPct val="101000"/>
              </a:lnSpc>
              <a:spcBef>
                <a:spcPts val="95"/>
              </a:spcBef>
            </a:pPr>
            <a:r>
              <a:rPr sz="3100" spc="-25" dirty="0">
                <a:solidFill>
                  <a:srgbClr val="FFFFFF"/>
                </a:solidFill>
              </a:rPr>
              <a:t>Worked</a:t>
            </a:r>
            <a:r>
              <a:rPr sz="3100" spc="-20" dirty="0">
                <a:solidFill>
                  <a:srgbClr val="FFFFFF"/>
                </a:solidFill>
              </a:rPr>
              <a:t> </a:t>
            </a:r>
            <a:r>
              <a:rPr sz="3100" dirty="0">
                <a:solidFill>
                  <a:srgbClr val="FFFFFF"/>
                </a:solidFill>
              </a:rPr>
              <a:t>Example </a:t>
            </a:r>
            <a:r>
              <a:rPr sz="3100" spc="5" dirty="0">
                <a:solidFill>
                  <a:srgbClr val="FFFFFF"/>
                </a:solidFill>
              </a:rPr>
              <a:t> (LSTMs </a:t>
            </a:r>
            <a:r>
              <a:rPr sz="3100" spc="15" dirty="0">
                <a:solidFill>
                  <a:srgbClr val="FFFFFF"/>
                </a:solidFill>
              </a:rPr>
              <a:t>–</a:t>
            </a:r>
            <a:r>
              <a:rPr sz="3100" spc="-15" dirty="0">
                <a:solidFill>
                  <a:srgbClr val="FFFFFF"/>
                </a:solidFill>
              </a:rPr>
              <a:t> </a:t>
            </a:r>
            <a:r>
              <a:rPr sz="3100" spc="-5" dirty="0">
                <a:solidFill>
                  <a:srgbClr val="FFFFFF"/>
                </a:solidFill>
              </a:rPr>
              <a:t>Forward</a:t>
            </a:r>
            <a:r>
              <a:rPr sz="3100" spc="10" dirty="0">
                <a:solidFill>
                  <a:srgbClr val="FFFFFF"/>
                </a:solidFill>
              </a:rPr>
              <a:t> </a:t>
            </a:r>
            <a:r>
              <a:rPr sz="3100" spc="-5" dirty="0">
                <a:solidFill>
                  <a:srgbClr val="FFFFFF"/>
                </a:solidFill>
              </a:rPr>
              <a:t>Pass)</a:t>
            </a:r>
            <a:endParaRPr sz="31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43</a:t>
            </a:fld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57649"/>
            <a:ext cx="2200910" cy="416559"/>
            <a:chOff x="0" y="1057649"/>
            <a:chExt cx="2200910" cy="416559"/>
          </a:xfrm>
        </p:grpSpPr>
        <p:sp>
          <p:nvSpPr>
            <p:cNvPr id="3" name="object 3"/>
            <p:cNvSpPr/>
            <p:nvPr/>
          </p:nvSpPr>
          <p:spPr>
            <a:xfrm>
              <a:off x="0" y="1057649"/>
              <a:ext cx="2193290" cy="408940"/>
            </a:xfrm>
            <a:custGeom>
              <a:avLst/>
              <a:gdLst/>
              <a:ahLst/>
              <a:cxnLst/>
              <a:rect l="l" t="t" r="r" b="b"/>
              <a:pathLst>
                <a:path w="2193290" h="408940">
                  <a:moveTo>
                    <a:pt x="2193035" y="408431"/>
                  </a:moveTo>
                  <a:lnTo>
                    <a:pt x="2193035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2193035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57649"/>
              <a:ext cx="2200910" cy="416559"/>
            </a:xfrm>
            <a:custGeom>
              <a:avLst/>
              <a:gdLst/>
              <a:ahLst/>
              <a:cxnLst/>
              <a:rect l="l" t="t" r="r" b="b"/>
              <a:pathLst>
                <a:path w="2200910" h="416559">
                  <a:moveTo>
                    <a:pt x="2193036" y="9144"/>
                  </a:moveTo>
                  <a:lnTo>
                    <a:pt x="2185416" y="0"/>
                  </a:lnTo>
                  <a:lnTo>
                    <a:pt x="0" y="0"/>
                  </a:lnTo>
                  <a:lnTo>
                    <a:pt x="0" y="9144"/>
                  </a:lnTo>
                  <a:lnTo>
                    <a:pt x="9138" y="0"/>
                  </a:lnTo>
                  <a:lnTo>
                    <a:pt x="9138" y="9144"/>
                  </a:lnTo>
                  <a:lnTo>
                    <a:pt x="2193036" y="9144"/>
                  </a:lnTo>
                  <a:close/>
                </a:path>
                <a:path w="2200910" h="416559">
                  <a:moveTo>
                    <a:pt x="9138" y="9144"/>
                  </a:moveTo>
                  <a:lnTo>
                    <a:pt x="9138" y="0"/>
                  </a:lnTo>
                  <a:lnTo>
                    <a:pt x="0" y="9144"/>
                  </a:lnTo>
                  <a:lnTo>
                    <a:pt x="9138" y="9144"/>
                  </a:lnTo>
                  <a:close/>
                </a:path>
                <a:path w="2200910" h="416559">
                  <a:moveTo>
                    <a:pt x="9138" y="400812"/>
                  </a:moveTo>
                  <a:lnTo>
                    <a:pt x="9138" y="9144"/>
                  </a:lnTo>
                  <a:lnTo>
                    <a:pt x="0" y="9144"/>
                  </a:lnTo>
                  <a:lnTo>
                    <a:pt x="0" y="400812"/>
                  </a:lnTo>
                  <a:lnTo>
                    <a:pt x="9138" y="400812"/>
                  </a:lnTo>
                  <a:close/>
                </a:path>
                <a:path w="2200910" h="416559">
                  <a:moveTo>
                    <a:pt x="2193036" y="400812"/>
                  </a:moveTo>
                  <a:lnTo>
                    <a:pt x="0" y="400812"/>
                  </a:lnTo>
                  <a:lnTo>
                    <a:pt x="9138" y="408432"/>
                  </a:lnTo>
                  <a:lnTo>
                    <a:pt x="9138" y="416052"/>
                  </a:lnTo>
                  <a:lnTo>
                    <a:pt x="2185416" y="416052"/>
                  </a:lnTo>
                  <a:lnTo>
                    <a:pt x="2185416" y="408432"/>
                  </a:lnTo>
                  <a:lnTo>
                    <a:pt x="2193036" y="400812"/>
                  </a:lnTo>
                  <a:close/>
                </a:path>
                <a:path w="2200910" h="416559">
                  <a:moveTo>
                    <a:pt x="9138" y="416052"/>
                  </a:moveTo>
                  <a:lnTo>
                    <a:pt x="9138" y="408432"/>
                  </a:lnTo>
                  <a:lnTo>
                    <a:pt x="0" y="400812"/>
                  </a:lnTo>
                  <a:lnTo>
                    <a:pt x="0" y="416052"/>
                  </a:lnTo>
                  <a:lnTo>
                    <a:pt x="9138" y="416052"/>
                  </a:lnTo>
                  <a:close/>
                </a:path>
                <a:path w="2200910" h="416559">
                  <a:moveTo>
                    <a:pt x="2200656" y="413004"/>
                  </a:moveTo>
                  <a:lnTo>
                    <a:pt x="2200656" y="0"/>
                  </a:lnTo>
                  <a:lnTo>
                    <a:pt x="2185416" y="0"/>
                  </a:lnTo>
                  <a:lnTo>
                    <a:pt x="2193036" y="9144"/>
                  </a:lnTo>
                  <a:lnTo>
                    <a:pt x="2193036" y="416052"/>
                  </a:lnTo>
                  <a:lnTo>
                    <a:pt x="2197608" y="416052"/>
                  </a:lnTo>
                  <a:lnTo>
                    <a:pt x="2200656" y="413004"/>
                  </a:lnTo>
                  <a:close/>
                </a:path>
                <a:path w="2200910" h="416559">
                  <a:moveTo>
                    <a:pt x="2193036" y="400812"/>
                  </a:moveTo>
                  <a:lnTo>
                    <a:pt x="2193036" y="9144"/>
                  </a:lnTo>
                  <a:lnTo>
                    <a:pt x="2185416" y="9144"/>
                  </a:lnTo>
                  <a:lnTo>
                    <a:pt x="2185416" y="400812"/>
                  </a:lnTo>
                  <a:lnTo>
                    <a:pt x="2193036" y="400812"/>
                  </a:lnTo>
                  <a:close/>
                </a:path>
                <a:path w="2200910" h="416559">
                  <a:moveTo>
                    <a:pt x="2193036" y="416052"/>
                  </a:moveTo>
                  <a:lnTo>
                    <a:pt x="2193036" y="400812"/>
                  </a:lnTo>
                  <a:lnTo>
                    <a:pt x="2185416" y="408432"/>
                  </a:lnTo>
                  <a:lnTo>
                    <a:pt x="2185416" y="416052"/>
                  </a:lnTo>
                  <a:lnTo>
                    <a:pt x="2193036" y="416052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3493" y="1051051"/>
            <a:ext cx="1831339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b="1" spc="-180" dirty="0">
                <a:latin typeface="Calibri"/>
                <a:cs typeface="Calibri"/>
              </a:rPr>
              <a:t>W</a:t>
            </a:r>
            <a:r>
              <a:rPr sz="2150" b="1" spc="-60" dirty="0">
                <a:latin typeface="Calibri"/>
                <a:cs typeface="Calibri"/>
              </a:rPr>
              <a:t>o</a:t>
            </a:r>
            <a:r>
              <a:rPr sz="2150" b="1" spc="-35" dirty="0">
                <a:latin typeface="Calibri"/>
                <a:cs typeface="Calibri"/>
              </a:rPr>
              <a:t>r</a:t>
            </a:r>
            <a:r>
              <a:rPr sz="2150" b="1" spc="-180" dirty="0">
                <a:latin typeface="Calibri"/>
                <a:cs typeface="Calibri"/>
              </a:rPr>
              <a:t>k</a:t>
            </a:r>
            <a:r>
              <a:rPr sz="2150" b="1" spc="-45" dirty="0">
                <a:latin typeface="Calibri"/>
                <a:cs typeface="Calibri"/>
              </a:rPr>
              <a:t>e</a:t>
            </a:r>
            <a:r>
              <a:rPr sz="2150" b="1" spc="-40" dirty="0">
                <a:latin typeface="Calibri"/>
                <a:cs typeface="Calibri"/>
              </a:rPr>
              <a:t>d</a:t>
            </a:r>
            <a:r>
              <a:rPr sz="2150" b="1" spc="-70" dirty="0">
                <a:latin typeface="Calibri"/>
                <a:cs typeface="Calibri"/>
              </a:rPr>
              <a:t> </a:t>
            </a:r>
            <a:r>
              <a:rPr sz="2150" b="1" spc="-10" dirty="0">
                <a:latin typeface="Calibri"/>
                <a:cs typeface="Calibri"/>
              </a:rPr>
              <a:t>E</a:t>
            </a:r>
            <a:r>
              <a:rPr sz="2150" b="1" spc="-140" dirty="0">
                <a:latin typeface="Calibri"/>
                <a:cs typeface="Calibri"/>
              </a:rPr>
              <a:t>x</a:t>
            </a:r>
            <a:r>
              <a:rPr sz="2150" b="1" spc="-70" dirty="0">
                <a:latin typeface="Calibri"/>
                <a:cs typeface="Calibri"/>
              </a:rPr>
              <a:t>a</a:t>
            </a:r>
            <a:r>
              <a:rPr sz="2150" b="1" spc="-95" dirty="0">
                <a:latin typeface="Calibri"/>
                <a:cs typeface="Calibri"/>
              </a:rPr>
              <a:t>m</a:t>
            </a:r>
            <a:r>
              <a:rPr sz="2150" b="1" spc="-65" dirty="0">
                <a:latin typeface="Calibri"/>
                <a:cs typeface="Calibri"/>
              </a:rPr>
              <a:t>pl</a:t>
            </a:r>
            <a:r>
              <a:rPr sz="2150" b="1" spc="-25" dirty="0">
                <a:latin typeface="Calibri"/>
                <a:cs typeface="Calibri"/>
              </a:rPr>
              <a:t>e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501" y="1463445"/>
            <a:ext cx="5073650" cy="129032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spc="5" dirty="0">
                <a:latin typeface="Calibri"/>
                <a:cs typeface="Calibri"/>
              </a:rPr>
              <a:t>A</a:t>
            </a:r>
            <a:r>
              <a:rPr sz="2300" dirty="0">
                <a:latin typeface="Calibri"/>
                <a:cs typeface="Calibri"/>
              </a:rPr>
              <a:t> sequence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of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length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2</a:t>
            </a:r>
            <a:endParaRPr sz="2300">
              <a:latin typeface="Calibri"/>
              <a:cs typeface="Calibri"/>
            </a:endParaRPr>
          </a:p>
          <a:p>
            <a:pPr marL="201295" indent="-189230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spc="5" dirty="0">
                <a:latin typeface="Calibri"/>
                <a:cs typeface="Calibri"/>
              </a:rPr>
              <a:t>2D</a:t>
            </a:r>
            <a:r>
              <a:rPr sz="2300" spc="-10" dirty="0">
                <a:latin typeface="Calibri"/>
                <a:cs typeface="Calibri"/>
              </a:rPr>
              <a:t> Feature </a:t>
            </a:r>
            <a:r>
              <a:rPr sz="2300" dirty="0">
                <a:latin typeface="Calibri"/>
                <a:cs typeface="Calibri"/>
              </a:rPr>
              <a:t>Space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–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One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unit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 the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LSTM</a:t>
            </a:r>
            <a:endParaRPr sz="2300">
              <a:latin typeface="Calibri"/>
              <a:cs typeface="Calibri"/>
            </a:endParaRPr>
          </a:p>
          <a:p>
            <a:pPr marL="201295" indent="-189230">
              <a:lnSpc>
                <a:spcPct val="100000"/>
              </a:lnSpc>
              <a:spcBef>
                <a:spcPts val="550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spc="-35" dirty="0">
                <a:latin typeface="Calibri"/>
                <a:cs typeface="Calibri"/>
              </a:rPr>
              <a:t>Two </a:t>
            </a:r>
            <a:r>
              <a:rPr sz="2300" spc="-5" dirty="0">
                <a:latin typeface="Calibri"/>
                <a:cs typeface="Calibri"/>
              </a:rPr>
              <a:t>time-steps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8321" y="2916935"/>
            <a:ext cx="768350" cy="379730"/>
          </a:xfrm>
          <a:custGeom>
            <a:avLst/>
            <a:gdLst/>
            <a:ahLst/>
            <a:cxnLst/>
            <a:rect l="l" t="t" r="r" b="b"/>
            <a:pathLst>
              <a:path w="768350" h="379729">
                <a:moveTo>
                  <a:pt x="768095" y="379475"/>
                </a:moveTo>
                <a:lnTo>
                  <a:pt x="768095" y="0"/>
                </a:lnTo>
                <a:lnTo>
                  <a:pt x="0" y="0"/>
                </a:lnTo>
                <a:lnTo>
                  <a:pt x="0" y="379475"/>
                </a:lnTo>
                <a:lnTo>
                  <a:pt x="768095" y="379475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38321" y="2916935"/>
            <a:ext cx="521970" cy="37973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71755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565"/>
              </a:spcBef>
            </a:pPr>
            <a:r>
              <a:rPr sz="1450" spc="45" dirty="0">
                <a:latin typeface="Cambria"/>
                <a:cs typeface="Cambria"/>
              </a:rPr>
              <a:t>x</a:t>
            </a:r>
            <a:r>
              <a:rPr sz="1650" spc="67" baseline="-15151" dirty="0">
                <a:latin typeface="Cambria"/>
                <a:cs typeface="Cambria"/>
              </a:rPr>
              <a:t>0</a:t>
            </a:r>
            <a:r>
              <a:rPr sz="1650" spc="270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59790" y="2965716"/>
            <a:ext cx="200660" cy="309880"/>
          </a:xfrm>
          <a:custGeom>
            <a:avLst/>
            <a:gdLst/>
            <a:ahLst/>
            <a:cxnLst/>
            <a:rect l="l" t="t" r="r" b="b"/>
            <a:pathLst>
              <a:path w="200659" h="309879">
                <a:moveTo>
                  <a:pt x="16510" y="0"/>
                </a:moveTo>
                <a:lnTo>
                  <a:pt x="0" y="0"/>
                </a:lnTo>
                <a:lnTo>
                  <a:pt x="0" y="309372"/>
                </a:lnTo>
                <a:lnTo>
                  <a:pt x="16510" y="309372"/>
                </a:lnTo>
                <a:lnTo>
                  <a:pt x="16510" y="0"/>
                </a:lnTo>
                <a:close/>
              </a:path>
              <a:path w="200659" h="309879">
                <a:moveTo>
                  <a:pt x="184137" y="301752"/>
                </a:moveTo>
                <a:lnTo>
                  <a:pt x="156705" y="301752"/>
                </a:lnTo>
                <a:lnTo>
                  <a:pt x="156705" y="309372"/>
                </a:lnTo>
                <a:lnTo>
                  <a:pt x="184137" y="309372"/>
                </a:lnTo>
                <a:lnTo>
                  <a:pt x="184137" y="301752"/>
                </a:lnTo>
                <a:close/>
              </a:path>
              <a:path w="200659" h="309879">
                <a:moveTo>
                  <a:pt x="200660" y="0"/>
                </a:moveTo>
                <a:lnTo>
                  <a:pt x="184150" y="0"/>
                </a:lnTo>
                <a:lnTo>
                  <a:pt x="156210" y="0"/>
                </a:lnTo>
                <a:lnTo>
                  <a:pt x="156210" y="7620"/>
                </a:lnTo>
                <a:lnTo>
                  <a:pt x="184150" y="7620"/>
                </a:lnTo>
                <a:lnTo>
                  <a:pt x="184150" y="309372"/>
                </a:lnTo>
                <a:lnTo>
                  <a:pt x="200660" y="309372"/>
                </a:lnTo>
                <a:lnTo>
                  <a:pt x="2006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" y="2965704"/>
            <a:ext cx="27940" cy="7620"/>
          </a:xfrm>
          <a:custGeom>
            <a:avLst/>
            <a:gdLst/>
            <a:ahLst/>
            <a:cxnLst/>
            <a:rect l="l" t="t" r="r" b="b"/>
            <a:pathLst>
              <a:path w="27940" h="7619">
                <a:moveTo>
                  <a:pt x="0" y="0"/>
                </a:moveTo>
                <a:lnTo>
                  <a:pt x="0" y="7620"/>
                </a:lnTo>
                <a:lnTo>
                  <a:pt x="27940" y="7620"/>
                </a:lnTo>
                <a:lnTo>
                  <a:pt x="27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76293" y="3267455"/>
            <a:ext cx="27940" cy="7620"/>
          </a:xfrm>
          <a:custGeom>
            <a:avLst/>
            <a:gdLst/>
            <a:ahLst/>
            <a:cxnLst/>
            <a:rect l="l" t="t" r="r" b="b"/>
            <a:pathLst>
              <a:path w="27940" h="7620">
                <a:moveTo>
                  <a:pt x="27432" y="7620"/>
                </a:moveTo>
                <a:lnTo>
                  <a:pt x="27432" y="0"/>
                </a:lnTo>
                <a:lnTo>
                  <a:pt x="0" y="0"/>
                </a:lnTo>
                <a:lnTo>
                  <a:pt x="0" y="7620"/>
                </a:lnTo>
                <a:lnTo>
                  <a:pt x="27432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76300" y="2870706"/>
            <a:ext cx="167640" cy="4737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135"/>
              </a:spcBef>
            </a:pPr>
            <a:r>
              <a:rPr sz="1450" spc="20" dirty="0">
                <a:latin typeface="Cambria"/>
                <a:cs typeface="Cambria"/>
              </a:rPr>
              <a:t>1</a:t>
            </a:r>
            <a:endParaRPr sz="1450">
              <a:latin typeface="Cambria"/>
              <a:cs typeface="Cambria"/>
            </a:endParaRPr>
          </a:p>
          <a:p>
            <a:pPr marL="29845">
              <a:lnSpc>
                <a:spcPct val="100000"/>
              </a:lnSpc>
            </a:pPr>
            <a:r>
              <a:rPr sz="1450" spc="20" dirty="0">
                <a:latin typeface="Cambria"/>
                <a:cs typeface="Cambria"/>
              </a:rPr>
              <a:t>2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80737" y="2916935"/>
            <a:ext cx="908685" cy="386080"/>
          </a:xfrm>
          <a:custGeom>
            <a:avLst/>
            <a:gdLst/>
            <a:ahLst/>
            <a:cxnLst/>
            <a:rect l="l" t="t" r="r" b="b"/>
            <a:pathLst>
              <a:path w="908685" h="386079">
                <a:moveTo>
                  <a:pt x="908303" y="385571"/>
                </a:moveTo>
                <a:lnTo>
                  <a:pt x="908303" y="0"/>
                </a:lnTo>
                <a:lnTo>
                  <a:pt x="0" y="0"/>
                </a:lnTo>
                <a:lnTo>
                  <a:pt x="0" y="385571"/>
                </a:lnTo>
                <a:lnTo>
                  <a:pt x="908303" y="385571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80737" y="2916935"/>
            <a:ext cx="518159" cy="38608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7493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590"/>
              </a:spcBef>
            </a:pPr>
            <a:r>
              <a:rPr sz="1450" spc="30" dirty="0">
                <a:latin typeface="Cambria"/>
                <a:cs typeface="Cambria"/>
              </a:rPr>
              <a:t>x</a:t>
            </a:r>
            <a:r>
              <a:rPr sz="1650" spc="44" baseline="-15151" dirty="0">
                <a:latin typeface="Cambria"/>
                <a:cs typeface="Cambria"/>
              </a:rPr>
              <a:t>1</a:t>
            </a:r>
            <a:r>
              <a:rPr sz="1650" spc="270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98650" y="2968764"/>
            <a:ext cx="342900" cy="309880"/>
          </a:xfrm>
          <a:custGeom>
            <a:avLst/>
            <a:gdLst/>
            <a:ahLst/>
            <a:cxnLst/>
            <a:rect l="l" t="t" r="r" b="b"/>
            <a:pathLst>
              <a:path w="342900" h="309879">
                <a:moveTo>
                  <a:pt x="16510" y="0"/>
                </a:moveTo>
                <a:lnTo>
                  <a:pt x="0" y="0"/>
                </a:lnTo>
                <a:lnTo>
                  <a:pt x="0" y="309372"/>
                </a:lnTo>
                <a:lnTo>
                  <a:pt x="16510" y="309372"/>
                </a:lnTo>
                <a:lnTo>
                  <a:pt x="16510" y="0"/>
                </a:lnTo>
                <a:close/>
              </a:path>
              <a:path w="342900" h="309879">
                <a:moveTo>
                  <a:pt x="342900" y="0"/>
                </a:moveTo>
                <a:lnTo>
                  <a:pt x="326390" y="0"/>
                </a:lnTo>
                <a:lnTo>
                  <a:pt x="300990" y="0"/>
                </a:lnTo>
                <a:lnTo>
                  <a:pt x="300990" y="7620"/>
                </a:lnTo>
                <a:lnTo>
                  <a:pt x="326390" y="7620"/>
                </a:lnTo>
                <a:lnTo>
                  <a:pt x="326390" y="301752"/>
                </a:lnTo>
                <a:lnTo>
                  <a:pt x="300482" y="301752"/>
                </a:lnTo>
                <a:lnTo>
                  <a:pt x="300482" y="309372"/>
                </a:lnTo>
                <a:lnTo>
                  <a:pt x="326390" y="309372"/>
                </a:lnTo>
                <a:lnTo>
                  <a:pt x="342900" y="309372"/>
                </a:lnTo>
                <a:lnTo>
                  <a:pt x="3429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15160" y="2968752"/>
            <a:ext cx="26670" cy="7620"/>
          </a:xfrm>
          <a:custGeom>
            <a:avLst/>
            <a:gdLst/>
            <a:ahLst/>
            <a:cxnLst/>
            <a:rect l="l" t="t" r="r" b="b"/>
            <a:pathLst>
              <a:path w="26669" h="7619">
                <a:moveTo>
                  <a:pt x="0" y="0"/>
                </a:moveTo>
                <a:lnTo>
                  <a:pt x="0" y="7620"/>
                </a:lnTo>
                <a:lnTo>
                  <a:pt x="26669" y="7620"/>
                </a:lnTo>
                <a:lnTo>
                  <a:pt x="26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15668" y="3270504"/>
            <a:ext cx="26034" cy="7620"/>
          </a:xfrm>
          <a:custGeom>
            <a:avLst/>
            <a:gdLst/>
            <a:ahLst/>
            <a:cxnLst/>
            <a:rect l="l" t="t" r="r" b="b"/>
            <a:pathLst>
              <a:path w="26035" h="7620">
                <a:moveTo>
                  <a:pt x="25908" y="7620"/>
                </a:moveTo>
                <a:lnTo>
                  <a:pt x="25908" y="0"/>
                </a:lnTo>
                <a:lnTo>
                  <a:pt x="0" y="0"/>
                </a:lnTo>
                <a:lnTo>
                  <a:pt x="0" y="7620"/>
                </a:lnTo>
                <a:lnTo>
                  <a:pt x="25908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915160" y="2875278"/>
            <a:ext cx="309880" cy="4737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35"/>
              </a:spcBef>
            </a:pPr>
            <a:r>
              <a:rPr sz="1450" spc="10" dirty="0">
                <a:latin typeface="Cambria"/>
                <a:cs typeface="Cambria"/>
              </a:rPr>
              <a:t>0.5</a:t>
            </a:r>
            <a:endParaRPr sz="1450">
              <a:latin typeface="Cambria"/>
              <a:cs typeface="Cambria"/>
            </a:endParaRPr>
          </a:p>
          <a:p>
            <a:pPr marL="100965">
              <a:lnSpc>
                <a:spcPct val="100000"/>
              </a:lnSpc>
            </a:pPr>
            <a:r>
              <a:rPr sz="1450" spc="20" dirty="0">
                <a:latin typeface="Cambria"/>
                <a:cs typeface="Cambria"/>
              </a:rPr>
              <a:t>3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3937" y="3779520"/>
            <a:ext cx="1135380" cy="386080"/>
          </a:xfrm>
          <a:custGeom>
            <a:avLst/>
            <a:gdLst/>
            <a:ahLst/>
            <a:cxnLst/>
            <a:rect l="l" t="t" r="r" b="b"/>
            <a:pathLst>
              <a:path w="1135380" h="386079">
                <a:moveTo>
                  <a:pt x="1135379" y="385571"/>
                </a:moveTo>
                <a:lnTo>
                  <a:pt x="1135379" y="0"/>
                </a:lnTo>
                <a:lnTo>
                  <a:pt x="0" y="0"/>
                </a:lnTo>
                <a:lnTo>
                  <a:pt x="0" y="385571"/>
                </a:lnTo>
                <a:lnTo>
                  <a:pt x="1135379" y="385571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13937" y="3779520"/>
            <a:ext cx="637540" cy="357505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749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90"/>
              </a:spcBef>
            </a:pPr>
            <a:r>
              <a:rPr sz="1450" spc="-25" dirty="0">
                <a:latin typeface="Cambria"/>
                <a:cs typeface="Cambria"/>
              </a:rPr>
              <a:t>W</a:t>
            </a:r>
            <a:r>
              <a:rPr sz="1650" spc="-37" baseline="-15151" dirty="0">
                <a:latin typeface="Cambria"/>
                <a:cs typeface="Cambria"/>
              </a:rPr>
              <a:t>xc</a:t>
            </a:r>
            <a:r>
              <a:rPr sz="1650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51230" y="3831348"/>
            <a:ext cx="450850" cy="309880"/>
          </a:xfrm>
          <a:custGeom>
            <a:avLst/>
            <a:gdLst/>
            <a:ahLst/>
            <a:cxnLst/>
            <a:rect l="l" t="t" r="r" b="b"/>
            <a:pathLst>
              <a:path w="450850" h="309879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09372"/>
                </a:lnTo>
                <a:lnTo>
                  <a:pt x="16497" y="309372"/>
                </a:lnTo>
                <a:lnTo>
                  <a:pt x="43929" y="309372"/>
                </a:lnTo>
                <a:lnTo>
                  <a:pt x="43929" y="301752"/>
                </a:lnTo>
                <a:lnTo>
                  <a:pt x="16510" y="301752"/>
                </a:lnTo>
                <a:lnTo>
                  <a:pt x="16510" y="7620"/>
                </a:lnTo>
                <a:lnTo>
                  <a:pt x="44450" y="7620"/>
                </a:lnTo>
                <a:lnTo>
                  <a:pt x="44450" y="0"/>
                </a:lnTo>
                <a:close/>
              </a:path>
              <a:path w="450850" h="309879">
                <a:moveTo>
                  <a:pt x="434073" y="301752"/>
                </a:moveTo>
                <a:lnTo>
                  <a:pt x="406641" y="301752"/>
                </a:lnTo>
                <a:lnTo>
                  <a:pt x="406641" y="309372"/>
                </a:lnTo>
                <a:lnTo>
                  <a:pt x="434073" y="309372"/>
                </a:lnTo>
                <a:lnTo>
                  <a:pt x="434073" y="301752"/>
                </a:lnTo>
                <a:close/>
              </a:path>
              <a:path w="450850" h="309879">
                <a:moveTo>
                  <a:pt x="450850" y="0"/>
                </a:moveTo>
                <a:lnTo>
                  <a:pt x="434340" y="0"/>
                </a:lnTo>
                <a:lnTo>
                  <a:pt x="406400" y="0"/>
                </a:lnTo>
                <a:lnTo>
                  <a:pt x="406400" y="7620"/>
                </a:lnTo>
                <a:lnTo>
                  <a:pt x="434340" y="7620"/>
                </a:lnTo>
                <a:lnTo>
                  <a:pt x="434340" y="309372"/>
                </a:lnTo>
                <a:lnTo>
                  <a:pt x="450850" y="309372"/>
                </a:lnTo>
                <a:lnTo>
                  <a:pt x="4508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967739" y="3737862"/>
            <a:ext cx="417830" cy="4737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35"/>
              </a:spcBef>
            </a:pPr>
            <a:r>
              <a:rPr sz="1450" spc="15" dirty="0">
                <a:latin typeface="Cambria"/>
                <a:cs typeface="Cambria"/>
              </a:rPr>
              <a:t>0.45</a:t>
            </a:r>
            <a:endParaRPr sz="1450">
              <a:latin typeface="Cambria"/>
              <a:cs typeface="Cambria"/>
            </a:endParaRPr>
          </a:p>
          <a:p>
            <a:pPr marL="31750">
              <a:lnSpc>
                <a:spcPct val="100000"/>
              </a:lnSpc>
            </a:pPr>
            <a:r>
              <a:rPr sz="1450" spc="15" dirty="0">
                <a:latin typeface="Cambria"/>
                <a:cs typeface="Cambria"/>
              </a:rPr>
              <a:t>0.25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20033" y="4299203"/>
            <a:ext cx="1130935" cy="386080"/>
          </a:xfrm>
          <a:custGeom>
            <a:avLst/>
            <a:gdLst/>
            <a:ahLst/>
            <a:cxnLst/>
            <a:rect l="l" t="t" r="r" b="b"/>
            <a:pathLst>
              <a:path w="1130935" h="386079">
                <a:moveTo>
                  <a:pt x="1130807" y="385571"/>
                </a:moveTo>
                <a:lnTo>
                  <a:pt x="1130807" y="0"/>
                </a:lnTo>
                <a:lnTo>
                  <a:pt x="0" y="0"/>
                </a:lnTo>
                <a:lnTo>
                  <a:pt x="0" y="385571"/>
                </a:lnTo>
                <a:lnTo>
                  <a:pt x="1130807" y="385571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20033" y="4299203"/>
            <a:ext cx="632460" cy="357505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749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90"/>
              </a:spcBef>
            </a:pPr>
            <a:r>
              <a:rPr sz="1450" spc="25" dirty="0">
                <a:latin typeface="Cambria"/>
                <a:cs typeface="Cambria"/>
              </a:rPr>
              <a:t>W</a:t>
            </a:r>
            <a:r>
              <a:rPr sz="1650" spc="37" baseline="-15151" dirty="0">
                <a:latin typeface="Cambria"/>
                <a:cs typeface="Cambria"/>
              </a:rPr>
              <a:t>xi</a:t>
            </a:r>
            <a:r>
              <a:rPr sz="1650" spc="300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52500" y="4351032"/>
            <a:ext cx="450850" cy="309880"/>
          </a:xfrm>
          <a:custGeom>
            <a:avLst/>
            <a:gdLst/>
            <a:ahLst/>
            <a:cxnLst/>
            <a:rect l="l" t="t" r="r" b="b"/>
            <a:pathLst>
              <a:path w="450850" h="309879">
                <a:moveTo>
                  <a:pt x="44183" y="301752"/>
                </a:moveTo>
                <a:lnTo>
                  <a:pt x="16751" y="301752"/>
                </a:lnTo>
                <a:lnTo>
                  <a:pt x="16751" y="309372"/>
                </a:lnTo>
                <a:lnTo>
                  <a:pt x="44183" y="309372"/>
                </a:lnTo>
                <a:lnTo>
                  <a:pt x="44183" y="301752"/>
                </a:lnTo>
                <a:close/>
              </a:path>
              <a:path w="450850" h="309879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09372"/>
                </a:lnTo>
                <a:lnTo>
                  <a:pt x="16510" y="309372"/>
                </a:lnTo>
                <a:lnTo>
                  <a:pt x="16510" y="7620"/>
                </a:lnTo>
                <a:lnTo>
                  <a:pt x="44450" y="7620"/>
                </a:lnTo>
                <a:lnTo>
                  <a:pt x="44450" y="0"/>
                </a:lnTo>
                <a:close/>
              </a:path>
              <a:path w="450850" h="309879">
                <a:moveTo>
                  <a:pt x="432803" y="301752"/>
                </a:moveTo>
                <a:lnTo>
                  <a:pt x="406895" y="301752"/>
                </a:lnTo>
                <a:lnTo>
                  <a:pt x="406895" y="309372"/>
                </a:lnTo>
                <a:lnTo>
                  <a:pt x="432803" y="309372"/>
                </a:lnTo>
                <a:lnTo>
                  <a:pt x="432803" y="301752"/>
                </a:lnTo>
                <a:close/>
              </a:path>
              <a:path w="450850" h="309879">
                <a:moveTo>
                  <a:pt x="450850" y="0"/>
                </a:moveTo>
                <a:lnTo>
                  <a:pt x="433070" y="0"/>
                </a:lnTo>
                <a:lnTo>
                  <a:pt x="406400" y="0"/>
                </a:lnTo>
                <a:lnTo>
                  <a:pt x="406400" y="7620"/>
                </a:lnTo>
                <a:lnTo>
                  <a:pt x="433070" y="7620"/>
                </a:lnTo>
                <a:lnTo>
                  <a:pt x="433070" y="309372"/>
                </a:lnTo>
                <a:lnTo>
                  <a:pt x="450850" y="309372"/>
                </a:lnTo>
                <a:lnTo>
                  <a:pt x="4508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69010" y="4257546"/>
            <a:ext cx="416559" cy="4737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35"/>
              </a:spcBef>
            </a:pPr>
            <a:r>
              <a:rPr sz="1450" spc="15" dirty="0">
                <a:latin typeface="Cambria"/>
                <a:cs typeface="Cambria"/>
              </a:rPr>
              <a:t>0.95</a:t>
            </a:r>
            <a:endParaRPr sz="1450">
              <a:latin typeface="Cambria"/>
              <a:cs typeface="Cambria"/>
            </a:endParaRPr>
          </a:p>
          <a:p>
            <a:pPr marL="30480">
              <a:lnSpc>
                <a:spcPct val="100000"/>
              </a:lnSpc>
            </a:pPr>
            <a:r>
              <a:rPr sz="1450" spc="15" dirty="0">
                <a:latin typeface="Cambria"/>
                <a:cs typeface="Cambria"/>
              </a:rPr>
              <a:t>0.80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20033" y="4797551"/>
            <a:ext cx="1164590" cy="386080"/>
          </a:xfrm>
          <a:custGeom>
            <a:avLst/>
            <a:gdLst/>
            <a:ahLst/>
            <a:cxnLst/>
            <a:rect l="l" t="t" r="r" b="b"/>
            <a:pathLst>
              <a:path w="1164590" h="386079">
                <a:moveTo>
                  <a:pt x="1164335" y="385571"/>
                </a:moveTo>
                <a:lnTo>
                  <a:pt x="1164335" y="0"/>
                </a:lnTo>
                <a:lnTo>
                  <a:pt x="0" y="0"/>
                </a:lnTo>
                <a:lnTo>
                  <a:pt x="0" y="385571"/>
                </a:lnTo>
                <a:lnTo>
                  <a:pt x="1164335" y="385571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20033" y="4797551"/>
            <a:ext cx="665480" cy="35433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71755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565"/>
              </a:spcBef>
            </a:pPr>
            <a:r>
              <a:rPr sz="1450" spc="100" dirty="0">
                <a:latin typeface="Cambria"/>
                <a:cs typeface="Cambria"/>
              </a:rPr>
              <a:t>W</a:t>
            </a:r>
            <a:r>
              <a:rPr sz="1650" spc="150" baseline="-15151" dirty="0">
                <a:latin typeface="Cambria"/>
                <a:cs typeface="Cambria"/>
              </a:rPr>
              <a:t>xƒ</a:t>
            </a:r>
            <a:r>
              <a:rPr sz="1650" spc="300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85520" y="4846332"/>
            <a:ext cx="452120" cy="309880"/>
          </a:xfrm>
          <a:custGeom>
            <a:avLst/>
            <a:gdLst/>
            <a:ahLst/>
            <a:cxnLst/>
            <a:rect l="l" t="t" r="r" b="b"/>
            <a:pathLst>
              <a:path w="452119" h="309879">
                <a:moveTo>
                  <a:pt x="44691" y="301752"/>
                </a:moveTo>
                <a:lnTo>
                  <a:pt x="17780" y="301752"/>
                </a:lnTo>
                <a:lnTo>
                  <a:pt x="17780" y="7620"/>
                </a:lnTo>
                <a:lnTo>
                  <a:pt x="44450" y="7620"/>
                </a:lnTo>
                <a:lnTo>
                  <a:pt x="44450" y="0"/>
                </a:lnTo>
                <a:lnTo>
                  <a:pt x="17780" y="0"/>
                </a:lnTo>
                <a:lnTo>
                  <a:pt x="0" y="0"/>
                </a:lnTo>
                <a:lnTo>
                  <a:pt x="0" y="309372"/>
                </a:lnTo>
                <a:lnTo>
                  <a:pt x="17259" y="309372"/>
                </a:lnTo>
                <a:lnTo>
                  <a:pt x="17780" y="309372"/>
                </a:lnTo>
                <a:lnTo>
                  <a:pt x="44691" y="309372"/>
                </a:lnTo>
                <a:lnTo>
                  <a:pt x="44691" y="301752"/>
                </a:lnTo>
                <a:close/>
              </a:path>
              <a:path w="452119" h="309879">
                <a:moveTo>
                  <a:pt x="452120" y="0"/>
                </a:moveTo>
                <a:lnTo>
                  <a:pt x="433070" y="0"/>
                </a:lnTo>
                <a:lnTo>
                  <a:pt x="407670" y="0"/>
                </a:lnTo>
                <a:lnTo>
                  <a:pt x="407670" y="7620"/>
                </a:lnTo>
                <a:lnTo>
                  <a:pt x="433070" y="7620"/>
                </a:lnTo>
                <a:lnTo>
                  <a:pt x="433070" y="301752"/>
                </a:lnTo>
                <a:lnTo>
                  <a:pt x="407403" y="301752"/>
                </a:lnTo>
                <a:lnTo>
                  <a:pt x="407403" y="309372"/>
                </a:lnTo>
                <a:lnTo>
                  <a:pt x="433070" y="309372"/>
                </a:lnTo>
                <a:lnTo>
                  <a:pt x="433311" y="309372"/>
                </a:lnTo>
                <a:lnTo>
                  <a:pt x="452120" y="309372"/>
                </a:lnTo>
                <a:lnTo>
                  <a:pt x="4521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003300" y="4749798"/>
            <a:ext cx="415290" cy="4737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135"/>
              </a:spcBef>
            </a:pPr>
            <a:r>
              <a:rPr sz="1450" spc="15" dirty="0">
                <a:latin typeface="Cambria"/>
                <a:cs typeface="Cambria"/>
              </a:rPr>
              <a:t>0.70</a:t>
            </a:r>
            <a:endParaRPr sz="1450">
              <a:latin typeface="Cambria"/>
              <a:cs typeface="Cambria"/>
            </a:endParaRPr>
          </a:p>
          <a:p>
            <a:pPr marL="29845">
              <a:lnSpc>
                <a:spcPct val="100000"/>
              </a:lnSpc>
            </a:pPr>
            <a:r>
              <a:rPr sz="1450" spc="15" dirty="0">
                <a:latin typeface="Cambria"/>
                <a:cs typeface="Cambria"/>
              </a:rPr>
              <a:t>0.45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20033" y="5318759"/>
            <a:ext cx="1146175" cy="381000"/>
          </a:xfrm>
          <a:custGeom>
            <a:avLst/>
            <a:gdLst/>
            <a:ahLst/>
            <a:cxnLst/>
            <a:rect l="l" t="t" r="r" b="b"/>
            <a:pathLst>
              <a:path w="1146175" h="381000">
                <a:moveTo>
                  <a:pt x="1146047" y="380999"/>
                </a:moveTo>
                <a:lnTo>
                  <a:pt x="1146047" y="0"/>
                </a:lnTo>
                <a:lnTo>
                  <a:pt x="0" y="0"/>
                </a:lnTo>
                <a:lnTo>
                  <a:pt x="0" y="380999"/>
                </a:lnTo>
                <a:lnTo>
                  <a:pt x="1146047" y="380999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20033" y="5318759"/>
            <a:ext cx="648970" cy="35433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71755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565"/>
              </a:spcBef>
            </a:pPr>
            <a:r>
              <a:rPr sz="1450" spc="-30" dirty="0">
                <a:latin typeface="Cambria"/>
                <a:cs typeface="Cambria"/>
              </a:rPr>
              <a:t>W</a:t>
            </a:r>
            <a:r>
              <a:rPr sz="1650" spc="-44" baseline="-15151" dirty="0">
                <a:latin typeface="Cambria"/>
                <a:cs typeface="Cambria"/>
              </a:rPr>
              <a:t>xo</a:t>
            </a:r>
            <a:r>
              <a:rPr sz="1650" spc="-15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969010" y="5367540"/>
            <a:ext cx="449580" cy="309880"/>
          </a:xfrm>
          <a:custGeom>
            <a:avLst/>
            <a:gdLst/>
            <a:ahLst/>
            <a:cxnLst/>
            <a:rect l="l" t="t" r="r" b="b"/>
            <a:pathLst>
              <a:path w="449580" h="309879">
                <a:moveTo>
                  <a:pt x="44437" y="301752"/>
                </a:moveTo>
                <a:lnTo>
                  <a:pt x="17005" y="301752"/>
                </a:lnTo>
                <a:lnTo>
                  <a:pt x="17005" y="309372"/>
                </a:lnTo>
                <a:lnTo>
                  <a:pt x="44437" y="309372"/>
                </a:lnTo>
                <a:lnTo>
                  <a:pt x="44437" y="301752"/>
                </a:lnTo>
                <a:close/>
              </a:path>
              <a:path w="449580" h="309879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09372"/>
                </a:lnTo>
                <a:lnTo>
                  <a:pt x="16510" y="309372"/>
                </a:lnTo>
                <a:lnTo>
                  <a:pt x="16510" y="7620"/>
                </a:lnTo>
                <a:lnTo>
                  <a:pt x="44450" y="7620"/>
                </a:lnTo>
                <a:lnTo>
                  <a:pt x="44450" y="0"/>
                </a:lnTo>
                <a:close/>
              </a:path>
              <a:path w="449580" h="309879">
                <a:moveTo>
                  <a:pt x="431533" y="301752"/>
                </a:moveTo>
                <a:lnTo>
                  <a:pt x="405625" y="301752"/>
                </a:lnTo>
                <a:lnTo>
                  <a:pt x="405625" y="309372"/>
                </a:lnTo>
                <a:lnTo>
                  <a:pt x="431533" y="309372"/>
                </a:lnTo>
                <a:lnTo>
                  <a:pt x="431533" y="301752"/>
                </a:lnTo>
                <a:close/>
              </a:path>
              <a:path w="449580" h="309879">
                <a:moveTo>
                  <a:pt x="449580" y="0"/>
                </a:moveTo>
                <a:lnTo>
                  <a:pt x="431800" y="0"/>
                </a:lnTo>
                <a:lnTo>
                  <a:pt x="405130" y="0"/>
                </a:lnTo>
                <a:lnTo>
                  <a:pt x="405130" y="7620"/>
                </a:lnTo>
                <a:lnTo>
                  <a:pt x="431800" y="7620"/>
                </a:lnTo>
                <a:lnTo>
                  <a:pt x="431800" y="309372"/>
                </a:lnTo>
                <a:lnTo>
                  <a:pt x="449580" y="309372"/>
                </a:lnTo>
                <a:lnTo>
                  <a:pt x="4495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985519" y="5271005"/>
            <a:ext cx="415290" cy="4737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35"/>
              </a:spcBef>
            </a:pPr>
            <a:r>
              <a:rPr sz="1450" spc="15" dirty="0">
                <a:latin typeface="Cambria"/>
                <a:cs typeface="Cambria"/>
              </a:rPr>
              <a:t>0.60</a:t>
            </a:r>
            <a:endParaRPr sz="1450">
              <a:latin typeface="Cambria"/>
              <a:cs typeface="Cambria"/>
            </a:endParaRPr>
          </a:p>
          <a:p>
            <a:pPr marL="30480">
              <a:lnSpc>
                <a:spcPct val="100000"/>
              </a:lnSpc>
            </a:pPr>
            <a:r>
              <a:rPr sz="1450" spc="15" dirty="0">
                <a:latin typeface="Cambria"/>
                <a:cs typeface="Cambria"/>
              </a:rPr>
              <a:t>0.40</a:t>
            </a:r>
            <a:endParaRPr sz="1450">
              <a:latin typeface="Cambria"/>
              <a:cs typeface="Cambria"/>
            </a:endParaRPr>
          </a:p>
        </p:txBody>
      </p: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1721738" y="3866388"/>
          <a:ext cx="2472687" cy="17757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8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86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67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1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5378">
                <a:tc>
                  <a:txBody>
                    <a:bodyPr/>
                    <a:lstStyle/>
                    <a:p>
                      <a:pPr marL="19685">
                        <a:lnSpc>
                          <a:spcPts val="1670"/>
                        </a:lnSpc>
                      </a:pPr>
                      <a:r>
                        <a:rPr sz="1450" spc="5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650" spc="7" baseline="-15151" dirty="0">
                          <a:latin typeface="Cambria"/>
                          <a:cs typeface="Cambria"/>
                        </a:rPr>
                        <a:t>hc</a:t>
                      </a:r>
                      <a:r>
                        <a:rPr sz="1650" spc="29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50" spc="305" dirty="0">
                          <a:latin typeface="Cambria"/>
                          <a:cs typeface="Cambria"/>
                        </a:rPr>
                        <a:t>=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ts val="1670"/>
                        </a:lnSpc>
                      </a:pPr>
                      <a:r>
                        <a:rPr sz="1450" spc="15" dirty="0">
                          <a:latin typeface="Cambria"/>
                          <a:cs typeface="Cambria"/>
                        </a:rPr>
                        <a:t>0.15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ts val="1670"/>
                        </a:lnSpc>
                      </a:pPr>
                      <a:r>
                        <a:rPr sz="1450" spc="10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650" spc="15" baseline="-15151" dirty="0">
                          <a:latin typeface="Cambria"/>
                          <a:cs typeface="Cambria"/>
                        </a:rPr>
                        <a:t>c</a:t>
                      </a:r>
                      <a:r>
                        <a:rPr sz="1650" spc="32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50" spc="305" dirty="0">
                          <a:latin typeface="Cambria"/>
                          <a:cs typeface="Cambria"/>
                        </a:rPr>
                        <a:t>=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ts val="1670"/>
                        </a:lnSpc>
                      </a:pPr>
                      <a:r>
                        <a:rPr sz="1450" spc="15" dirty="0">
                          <a:latin typeface="Cambria"/>
                          <a:cs typeface="Cambria"/>
                        </a:rPr>
                        <a:t>0.20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889">
                <a:tc>
                  <a:txBody>
                    <a:bodyPr/>
                    <a:lstStyle/>
                    <a:p>
                      <a:pPr marL="24130">
                        <a:lnSpc>
                          <a:spcPts val="1705"/>
                        </a:lnSpc>
                      </a:pPr>
                      <a:r>
                        <a:rPr sz="1450" spc="1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650" spc="15" baseline="-15151" dirty="0">
                          <a:latin typeface="Cambria"/>
                          <a:cs typeface="Cambria"/>
                        </a:rPr>
                        <a:t>hi</a:t>
                      </a:r>
                      <a:r>
                        <a:rPr sz="1650" spc="300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50" spc="305" dirty="0">
                          <a:latin typeface="Cambria"/>
                          <a:cs typeface="Cambria"/>
                        </a:rPr>
                        <a:t>=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1705"/>
                        </a:lnSpc>
                      </a:pPr>
                      <a:r>
                        <a:rPr sz="1450" spc="15" dirty="0">
                          <a:latin typeface="Cambria"/>
                          <a:cs typeface="Cambria"/>
                        </a:rPr>
                        <a:t>0.80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ts val="1705"/>
                        </a:lnSpc>
                      </a:pPr>
                      <a:r>
                        <a:rPr sz="1450" spc="15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650" spc="22" baseline="-15151" dirty="0">
                          <a:latin typeface="Cambria"/>
                          <a:cs typeface="Cambria"/>
                        </a:rPr>
                        <a:t>i</a:t>
                      </a:r>
                      <a:r>
                        <a:rPr sz="1650" spc="337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50" spc="305" dirty="0">
                          <a:latin typeface="Cambria"/>
                          <a:cs typeface="Cambria"/>
                        </a:rPr>
                        <a:t>=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705"/>
                        </a:lnSpc>
                      </a:pPr>
                      <a:r>
                        <a:rPr sz="1450" spc="15" dirty="0">
                          <a:latin typeface="Cambria"/>
                          <a:cs typeface="Cambria"/>
                        </a:rPr>
                        <a:t>0.65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7">
                <a:tc>
                  <a:txBody>
                    <a:bodyPr/>
                    <a:lstStyle/>
                    <a:p>
                      <a:pPr marL="25400">
                        <a:lnSpc>
                          <a:spcPts val="1705"/>
                        </a:lnSpc>
                      </a:pPr>
                      <a:r>
                        <a:rPr sz="1450" spc="9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650" spc="135" baseline="-15151" dirty="0">
                          <a:latin typeface="Cambria"/>
                          <a:cs typeface="Cambria"/>
                        </a:rPr>
                        <a:t>hƒ</a:t>
                      </a:r>
                      <a:r>
                        <a:rPr sz="1650" spc="277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50" spc="305" dirty="0">
                          <a:latin typeface="Cambria"/>
                          <a:cs typeface="Cambria"/>
                        </a:rPr>
                        <a:t>=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705"/>
                        </a:lnSpc>
                      </a:pPr>
                      <a:r>
                        <a:rPr sz="1450" spc="15" dirty="0">
                          <a:latin typeface="Cambria"/>
                          <a:cs typeface="Cambria"/>
                        </a:rPr>
                        <a:t>0.10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ts val="1705"/>
                        </a:lnSpc>
                      </a:pPr>
                      <a:r>
                        <a:rPr sz="1450" spc="95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650" spc="142" baseline="-15151" dirty="0">
                          <a:latin typeface="Cambria"/>
                          <a:cs typeface="Cambria"/>
                        </a:rPr>
                        <a:t>ƒ</a:t>
                      </a:r>
                      <a:r>
                        <a:rPr sz="1650" spc="307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50" spc="305" dirty="0">
                          <a:latin typeface="Cambria"/>
                          <a:cs typeface="Cambria"/>
                        </a:rPr>
                        <a:t>=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1705"/>
                        </a:lnSpc>
                      </a:pPr>
                      <a:r>
                        <a:rPr sz="1450" spc="15" dirty="0">
                          <a:latin typeface="Cambria"/>
                          <a:cs typeface="Cambria"/>
                        </a:rPr>
                        <a:t>0.15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15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475">
                <a:tc>
                  <a:txBody>
                    <a:bodyPr/>
                    <a:lstStyle/>
                    <a:p>
                      <a:pPr marL="25400">
                        <a:lnSpc>
                          <a:spcPts val="1670"/>
                        </a:lnSpc>
                      </a:pPr>
                      <a:r>
                        <a:rPr sz="1450" dirty="0">
                          <a:latin typeface="Cambria"/>
                          <a:cs typeface="Cambria"/>
                        </a:rPr>
                        <a:t>W</a:t>
                      </a:r>
                      <a:r>
                        <a:rPr sz="1650" baseline="-15151" dirty="0">
                          <a:latin typeface="Cambria"/>
                          <a:cs typeface="Cambria"/>
                        </a:rPr>
                        <a:t>ho</a:t>
                      </a:r>
                      <a:r>
                        <a:rPr sz="1650" spc="292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50" spc="305" dirty="0">
                          <a:latin typeface="Cambria"/>
                          <a:cs typeface="Cambria"/>
                        </a:rPr>
                        <a:t>=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1670"/>
                        </a:lnSpc>
                      </a:pPr>
                      <a:r>
                        <a:rPr sz="1450" spc="15" dirty="0">
                          <a:latin typeface="Cambria"/>
                          <a:cs typeface="Cambria"/>
                        </a:rPr>
                        <a:t>0.25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ts val="1670"/>
                        </a:lnSpc>
                      </a:pPr>
                      <a:r>
                        <a:rPr sz="1450" spc="5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650" spc="7" baseline="-15151" dirty="0">
                          <a:latin typeface="Cambria"/>
                          <a:cs typeface="Cambria"/>
                        </a:rPr>
                        <a:t>o</a:t>
                      </a:r>
                      <a:r>
                        <a:rPr sz="1650" spc="307" baseline="-15151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450" spc="305" dirty="0">
                          <a:latin typeface="Cambria"/>
                          <a:cs typeface="Cambria"/>
                        </a:rPr>
                        <a:t>=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670"/>
                        </a:lnSpc>
                      </a:pPr>
                      <a:r>
                        <a:rPr sz="1450" spc="15" dirty="0">
                          <a:latin typeface="Cambria"/>
                          <a:cs typeface="Cambria"/>
                        </a:rPr>
                        <a:t>0.10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6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6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6" name="object 36"/>
          <p:cNvGrpSpPr/>
          <p:nvPr/>
        </p:nvGrpSpPr>
        <p:grpSpPr>
          <a:xfrm>
            <a:off x="1716023" y="3866388"/>
            <a:ext cx="1149350" cy="228600"/>
            <a:chOff x="1716023" y="3866388"/>
            <a:chExt cx="1149350" cy="228600"/>
          </a:xfrm>
        </p:grpSpPr>
        <p:sp>
          <p:nvSpPr>
            <p:cNvPr id="37" name="object 37"/>
            <p:cNvSpPr/>
            <p:nvPr/>
          </p:nvSpPr>
          <p:spPr>
            <a:xfrm>
              <a:off x="1716023" y="3866388"/>
              <a:ext cx="1149350" cy="228600"/>
            </a:xfrm>
            <a:custGeom>
              <a:avLst/>
              <a:gdLst/>
              <a:ahLst/>
              <a:cxnLst/>
              <a:rect l="l" t="t" r="r" b="b"/>
              <a:pathLst>
                <a:path w="1149350" h="228600">
                  <a:moveTo>
                    <a:pt x="1149095" y="228599"/>
                  </a:moveTo>
                  <a:lnTo>
                    <a:pt x="1149095" y="0"/>
                  </a:lnTo>
                  <a:lnTo>
                    <a:pt x="0" y="0"/>
                  </a:lnTo>
                  <a:lnTo>
                    <a:pt x="0" y="228599"/>
                  </a:lnTo>
                  <a:lnTo>
                    <a:pt x="1149095" y="228599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774950" y="3901452"/>
              <a:ext cx="26670" cy="177165"/>
            </a:xfrm>
            <a:custGeom>
              <a:avLst/>
              <a:gdLst/>
              <a:ahLst/>
              <a:cxnLst/>
              <a:rect l="l" t="t" r="r" b="b"/>
              <a:pathLst>
                <a:path w="26669" h="177164">
                  <a:moveTo>
                    <a:pt x="26162" y="169164"/>
                  </a:moveTo>
                  <a:lnTo>
                    <a:pt x="254" y="169164"/>
                  </a:lnTo>
                  <a:lnTo>
                    <a:pt x="254" y="176784"/>
                  </a:lnTo>
                  <a:lnTo>
                    <a:pt x="26162" y="176784"/>
                  </a:lnTo>
                  <a:lnTo>
                    <a:pt x="26162" y="169164"/>
                  </a:lnTo>
                  <a:close/>
                </a:path>
                <a:path w="26669" h="177164">
                  <a:moveTo>
                    <a:pt x="266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6670" y="7620"/>
                  </a:lnTo>
                  <a:lnTo>
                    <a:pt x="266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/>
          <p:nvPr/>
        </p:nvSpPr>
        <p:spPr>
          <a:xfrm>
            <a:off x="2387600" y="3901440"/>
            <a:ext cx="26670" cy="7620"/>
          </a:xfrm>
          <a:custGeom>
            <a:avLst/>
            <a:gdLst/>
            <a:ahLst/>
            <a:cxnLst/>
            <a:rect l="l" t="t" r="r" b="b"/>
            <a:pathLst>
              <a:path w="26669" h="7620">
                <a:moveTo>
                  <a:pt x="0" y="0"/>
                </a:moveTo>
                <a:lnTo>
                  <a:pt x="0" y="7620"/>
                </a:lnTo>
                <a:lnTo>
                  <a:pt x="26669" y="7620"/>
                </a:lnTo>
                <a:lnTo>
                  <a:pt x="26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388108" y="4070604"/>
            <a:ext cx="26034" cy="7620"/>
          </a:xfrm>
          <a:custGeom>
            <a:avLst/>
            <a:gdLst/>
            <a:ahLst/>
            <a:cxnLst/>
            <a:rect l="l" t="t" r="r" b="b"/>
            <a:pathLst>
              <a:path w="26035" h="7620">
                <a:moveTo>
                  <a:pt x="25908" y="7620"/>
                </a:moveTo>
                <a:lnTo>
                  <a:pt x="25908" y="0"/>
                </a:lnTo>
                <a:lnTo>
                  <a:pt x="0" y="0"/>
                </a:lnTo>
                <a:lnTo>
                  <a:pt x="0" y="7620"/>
                </a:lnTo>
                <a:lnTo>
                  <a:pt x="25908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1" name="object 41"/>
          <p:cNvGrpSpPr/>
          <p:nvPr/>
        </p:nvGrpSpPr>
        <p:grpSpPr>
          <a:xfrm>
            <a:off x="1722119" y="4386071"/>
            <a:ext cx="1127760" cy="228600"/>
            <a:chOff x="1722119" y="4386071"/>
            <a:chExt cx="1127760" cy="228600"/>
          </a:xfrm>
        </p:grpSpPr>
        <p:sp>
          <p:nvSpPr>
            <p:cNvPr id="42" name="object 42"/>
            <p:cNvSpPr/>
            <p:nvPr/>
          </p:nvSpPr>
          <p:spPr>
            <a:xfrm>
              <a:off x="1722119" y="4386071"/>
              <a:ext cx="1127760" cy="228600"/>
            </a:xfrm>
            <a:custGeom>
              <a:avLst/>
              <a:gdLst/>
              <a:ahLst/>
              <a:cxnLst/>
              <a:rect l="l" t="t" r="r" b="b"/>
              <a:pathLst>
                <a:path w="1127760" h="228600">
                  <a:moveTo>
                    <a:pt x="1127759" y="228599"/>
                  </a:moveTo>
                  <a:lnTo>
                    <a:pt x="1127759" y="0"/>
                  </a:lnTo>
                  <a:lnTo>
                    <a:pt x="0" y="0"/>
                  </a:lnTo>
                  <a:lnTo>
                    <a:pt x="0" y="228599"/>
                  </a:lnTo>
                  <a:lnTo>
                    <a:pt x="1127759" y="228599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760980" y="4421136"/>
              <a:ext cx="26670" cy="177165"/>
            </a:xfrm>
            <a:custGeom>
              <a:avLst/>
              <a:gdLst/>
              <a:ahLst/>
              <a:cxnLst/>
              <a:rect l="l" t="t" r="r" b="b"/>
              <a:pathLst>
                <a:path w="26669" h="177164">
                  <a:moveTo>
                    <a:pt x="26416" y="169164"/>
                  </a:moveTo>
                  <a:lnTo>
                    <a:pt x="508" y="169164"/>
                  </a:lnTo>
                  <a:lnTo>
                    <a:pt x="508" y="176784"/>
                  </a:lnTo>
                  <a:lnTo>
                    <a:pt x="26416" y="176784"/>
                  </a:lnTo>
                  <a:lnTo>
                    <a:pt x="26416" y="169164"/>
                  </a:lnTo>
                  <a:close/>
                </a:path>
                <a:path w="26669" h="177164">
                  <a:moveTo>
                    <a:pt x="2667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6670" y="7620"/>
                  </a:lnTo>
                  <a:lnTo>
                    <a:pt x="266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/>
          <p:nvPr/>
        </p:nvSpPr>
        <p:spPr>
          <a:xfrm>
            <a:off x="2372360" y="4421124"/>
            <a:ext cx="26670" cy="7620"/>
          </a:xfrm>
          <a:custGeom>
            <a:avLst/>
            <a:gdLst/>
            <a:ahLst/>
            <a:cxnLst/>
            <a:rect l="l" t="t" r="r" b="b"/>
            <a:pathLst>
              <a:path w="26669" h="7620">
                <a:moveTo>
                  <a:pt x="0" y="0"/>
                </a:moveTo>
                <a:lnTo>
                  <a:pt x="0" y="7620"/>
                </a:lnTo>
                <a:lnTo>
                  <a:pt x="26670" y="7620"/>
                </a:lnTo>
                <a:lnTo>
                  <a:pt x="26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372868" y="4590288"/>
            <a:ext cx="26034" cy="7620"/>
          </a:xfrm>
          <a:custGeom>
            <a:avLst/>
            <a:gdLst/>
            <a:ahLst/>
            <a:cxnLst/>
            <a:rect l="l" t="t" r="r" b="b"/>
            <a:pathLst>
              <a:path w="26035" h="7620">
                <a:moveTo>
                  <a:pt x="25908" y="7620"/>
                </a:moveTo>
                <a:lnTo>
                  <a:pt x="25908" y="0"/>
                </a:lnTo>
                <a:lnTo>
                  <a:pt x="0" y="0"/>
                </a:lnTo>
                <a:lnTo>
                  <a:pt x="0" y="7620"/>
                </a:lnTo>
                <a:lnTo>
                  <a:pt x="25908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795016" y="4907292"/>
            <a:ext cx="41275" cy="175260"/>
          </a:xfrm>
          <a:custGeom>
            <a:avLst/>
            <a:gdLst/>
            <a:ahLst/>
            <a:cxnLst/>
            <a:rect l="l" t="t" r="r" b="b"/>
            <a:pathLst>
              <a:path w="41275" h="175260">
                <a:moveTo>
                  <a:pt x="40894" y="0"/>
                </a:moveTo>
                <a:lnTo>
                  <a:pt x="25654" y="0"/>
                </a:lnTo>
                <a:lnTo>
                  <a:pt x="254" y="0"/>
                </a:lnTo>
                <a:lnTo>
                  <a:pt x="254" y="6096"/>
                </a:lnTo>
                <a:lnTo>
                  <a:pt x="25654" y="6096"/>
                </a:lnTo>
                <a:lnTo>
                  <a:pt x="25654" y="169164"/>
                </a:lnTo>
                <a:lnTo>
                  <a:pt x="0" y="169164"/>
                </a:lnTo>
                <a:lnTo>
                  <a:pt x="0" y="175260"/>
                </a:lnTo>
                <a:lnTo>
                  <a:pt x="25654" y="175260"/>
                </a:lnTo>
                <a:lnTo>
                  <a:pt x="25908" y="175260"/>
                </a:lnTo>
                <a:lnTo>
                  <a:pt x="40894" y="175260"/>
                </a:lnTo>
                <a:lnTo>
                  <a:pt x="408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406650" y="4907280"/>
            <a:ext cx="25400" cy="6350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399" y="6096"/>
                </a:lnTo>
                <a:lnTo>
                  <a:pt x="25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406396" y="5076444"/>
            <a:ext cx="26034" cy="6350"/>
          </a:xfrm>
          <a:custGeom>
            <a:avLst/>
            <a:gdLst/>
            <a:ahLst/>
            <a:cxnLst/>
            <a:rect l="l" t="t" r="r" b="b"/>
            <a:pathLst>
              <a:path w="26035" h="6350">
                <a:moveTo>
                  <a:pt x="25908" y="6096"/>
                </a:moveTo>
                <a:lnTo>
                  <a:pt x="25908" y="0"/>
                </a:lnTo>
                <a:lnTo>
                  <a:pt x="0" y="0"/>
                </a:lnTo>
                <a:lnTo>
                  <a:pt x="0" y="6096"/>
                </a:lnTo>
                <a:lnTo>
                  <a:pt x="25908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791460" y="5433072"/>
            <a:ext cx="41910" cy="175260"/>
          </a:xfrm>
          <a:custGeom>
            <a:avLst/>
            <a:gdLst/>
            <a:ahLst/>
            <a:cxnLst/>
            <a:rect l="l" t="t" r="r" b="b"/>
            <a:pathLst>
              <a:path w="41910" h="175260">
                <a:moveTo>
                  <a:pt x="26416" y="169164"/>
                </a:moveTo>
                <a:lnTo>
                  <a:pt x="508" y="169164"/>
                </a:lnTo>
                <a:lnTo>
                  <a:pt x="508" y="175260"/>
                </a:lnTo>
                <a:lnTo>
                  <a:pt x="26416" y="175260"/>
                </a:lnTo>
                <a:lnTo>
                  <a:pt x="26416" y="169164"/>
                </a:lnTo>
                <a:close/>
              </a:path>
              <a:path w="41910" h="175260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7620"/>
                </a:lnTo>
                <a:lnTo>
                  <a:pt x="26670" y="7620"/>
                </a:lnTo>
                <a:lnTo>
                  <a:pt x="26670" y="175260"/>
                </a:lnTo>
                <a:lnTo>
                  <a:pt x="41910" y="17526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402839" y="5433060"/>
            <a:ext cx="26670" cy="7620"/>
          </a:xfrm>
          <a:custGeom>
            <a:avLst/>
            <a:gdLst/>
            <a:ahLst/>
            <a:cxnLst/>
            <a:rect l="l" t="t" r="r" b="b"/>
            <a:pathLst>
              <a:path w="26669" h="7620">
                <a:moveTo>
                  <a:pt x="0" y="0"/>
                </a:moveTo>
                <a:lnTo>
                  <a:pt x="0" y="7620"/>
                </a:lnTo>
                <a:lnTo>
                  <a:pt x="26669" y="7620"/>
                </a:lnTo>
                <a:lnTo>
                  <a:pt x="26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403348" y="5602224"/>
            <a:ext cx="26034" cy="6350"/>
          </a:xfrm>
          <a:custGeom>
            <a:avLst/>
            <a:gdLst/>
            <a:ahLst/>
            <a:cxnLst/>
            <a:rect l="l" t="t" r="r" b="b"/>
            <a:pathLst>
              <a:path w="26035" h="6350">
                <a:moveTo>
                  <a:pt x="25908" y="6096"/>
                </a:moveTo>
                <a:lnTo>
                  <a:pt x="25908" y="0"/>
                </a:lnTo>
                <a:lnTo>
                  <a:pt x="0" y="0"/>
                </a:lnTo>
                <a:lnTo>
                  <a:pt x="0" y="6096"/>
                </a:lnTo>
                <a:lnTo>
                  <a:pt x="25908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2" name="object 52"/>
          <p:cNvGrpSpPr/>
          <p:nvPr/>
        </p:nvGrpSpPr>
        <p:grpSpPr>
          <a:xfrm>
            <a:off x="3182111" y="3866388"/>
            <a:ext cx="1004569" cy="228600"/>
            <a:chOff x="3182111" y="3866388"/>
            <a:chExt cx="1004569" cy="228600"/>
          </a:xfrm>
        </p:grpSpPr>
        <p:sp>
          <p:nvSpPr>
            <p:cNvPr id="53" name="object 53"/>
            <p:cNvSpPr/>
            <p:nvPr/>
          </p:nvSpPr>
          <p:spPr>
            <a:xfrm>
              <a:off x="3182111" y="3866388"/>
              <a:ext cx="1004569" cy="228600"/>
            </a:xfrm>
            <a:custGeom>
              <a:avLst/>
              <a:gdLst/>
              <a:ahLst/>
              <a:cxnLst/>
              <a:rect l="l" t="t" r="r" b="b"/>
              <a:pathLst>
                <a:path w="1004570" h="228600">
                  <a:moveTo>
                    <a:pt x="1004315" y="228599"/>
                  </a:moveTo>
                  <a:lnTo>
                    <a:pt x="1004315" y="0"/>
                  </a:lnTo>
                  <a:lnTo>
                    <a:pt x="0" y="0"/>
                  </a:lnTo>
                  <a:lnTo>
                    <a:pt x="0" y="228599"/>
                  </a:lnTo>
                  <a:lnTo>
                    <a:pt x="1004315" y="228599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96512" y="3901452"/>
              <a:ext cx="26034" cy="177165"/>
            </a:xfrm>
            <a:custGeom>
              <a:avLst/>
              <a:gdLst/>
              <a:ahLst/>
              <a:cxnLst/>
              <a:rect l="l" t="t" r="r" b="b"/>
              <a:pathLst>
                <a:path w="26035" h="177164">
                  <a:moveTo>
                    <a:pt x="25908" y="169164"/>
                  </a:moveTo>
                  <a:lnTo>
                    <a:pt x="0" y="169164"/>
                  </a:lnTo>
                  <a:lnTo>
                    <a:pt x="0" y="176784"/>
                  </a:lnTo>
                  <a:lnTo>
                    <a:pt x="25908" y="176784"/>
                  </a:lnTo>
                  <a:lnTo>
                    <a:pt x="25908" y="169164"/>
                  </a:lnTo>
                  <a:close/>
                </a:path>
                <a:path w="26035" h="177164">
                  <a:moveTo>
                    <a:pt x="25908" y="0"/>
                  </a:moveTo>
                  <a:lnTo>
                    <a:pt x="508" y="0"/>
                  </a:lnTo>
                  <a:lnTo>
                    <a:pt x="508" y="7620"/>
                  </a:lnTo>
                  <a:lnTo>
                    <a:pt x="25908" y="7620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/>
          <p:nvPr/>
        </p:nvSpPr>
        <p:spPr>
          <a:xfrm>
            <a:off x="3710940" y="3901440"/>
            <a:ext cx="25400" cy="7620"/>
          </a:xfrm>
          <a:custGeom>
            <a:avLst/>
            <a:gdLst/>
            <a:ahLst/>
            <a:cxnLst/>
            <a:rect l="l" t="t" r="r" b="b"/>
            <a:pathLst>
              <a:path w="25400" h="7620">
                <a:moveTo>
                  <a:pt x="0" y="0"/>
                </a:moveTo>
                <a:lnTo>
                  <a:pt x="0" y="7620"/>
                </a:lnTo>
                <a:lnTo>
                  <a:pt x="25399" y="7620"/>
                </a:lnTo>
                <a:lnTo>
                  <a:pt x="25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710940" y="4070604"/>
            <a:ext cx="26034" cy="7620"/>
          </a:xfrm>
          <a:custGeom>
            <a:avLst/>
            <a:gdLst/>
            <a:ahLst/>
            <a:cxnLst/>
            <a:rect l="l" t="t" r="r" b="b"/>
            <a:pathLst>
              <a:path w="26035" h="7620">
                <a:moveTo>
                  <a:pt x="25908" y="7620"/>
                </a:moveTo>
                <a:lnTo>
                  <a:pt x="25908" y="0"/>
                </a:lnTo>
                <a:lnTo>
                  <a:pt x="0" y="0"/>
                </a:lnTo>
                <a:lnTo>
                  <a:pt x="0" y="7620"/>
                </a:lnTo>
                <a:lnTo>
                  <a:pt x="25908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7" name="object 57"/>
          <p:cNvGrpSpPr/>
          <p:nvPr/>
        </p:nvGrpSpPr>
        <p:grpSpPr>
          <a:xfrm>
            <a:off x="3188207" y="4386071"/>
            <a:ext cx="982980" cy="228600"/>
            <a:chOff x="3188207" y="4386071"/>
            <a:chExt cx="982980" cy="228600"/>
          </a:xfrm>
        </p:grpSpPr>
        <p:sp>
          <p:nvSpPr>
            <p:cNvPr id="58" name="object 58"/>
            <p:cNvSpPr/>
            <p:nvPr/>
          </p:nvSpPr>
          <p:spPr>
            <a:xfrm>
              <a:off x="3188207" y="4386071"/>
              <a:ext cx="982980" cy="228600"/>
            </a:xfrm>
            <a:custGeom>
              <a:avLst/>
              <a:gdLst/>
              <a:ahLst/>
              <a:cxnLst/>
              <a:rect l="l" t="t" r="r" b="b"/>
              <a:pathLst>
                <a:path w="982979" h="228600">
                  <a:moveTo>
                    <a:pt x="982979" y="228599"/>
                  </a:moveTo>
                  <a:lnTo>
                    <a:pt x="982979" y="0"/>
                  </a:lnTo>
                  <a:lnTo>
                    <a:pt x="0" y="0"/>
                  </a:lnTo>
                  <a:lnTo>
                    <a:pt x="0" y="228599"/>
                  </a:lnTo>
                  <a:lnTo>
                    <a:pt x="982979" y="228599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082796" y="4421136"/>
              <a:ext cx="26034" cy="177165"/>
            </a:xfrm>
            <a:custGeom>
              <a:avLst/>
              <a:gdLst/>
              <a:ahLst/>
              <a:cxnLst/>
              <a:rect l="l" t="t" r="r" b="b"/>
              <a:pathLst>
                <a:path w="26035" h="177164">
                  <a:moveTo>
                    <a:pt x="25654" y="0"/>
                  </a:moveTo>
                  <a:lnTo>
                    <a:pt x="254" y="0"/>
                  </a:lnTo>
                  <a:lnTo>
                    <a:pt x="254" y="7620"/>
                  </a:lnTo>
                  <a:lnTo>
                    <a:pt x="25654" y="7620"/>
                  </a:lnTo>
                  <a:lnTo>
                    <a:pt x="25654" y="0"/>
                  </a:lnTo>
                  <a:close/>
                </a:path>
                <a:path w="26035" h="177164">
                  <a:moveTo>
                    <a:pt x="25908" y="169164"/>
                  </a:moveTo>
                  <a:lnTo>
                    <a:pt x="0" y="169164"/>
                  </a:lnTo>
                  <a:lnTo>
                    <a:pt x="0" y="176784"/>
                  </a:lnTo>
                  <a:lnTo>
                    <a:pt x="25908" y="176784"/>
                  </a:lnTo>
                  <a:lnTo>
                    <a:pt x="25908" y="1691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/>
          <p:nvPr/>
        </p:nvSpPr>
        <p:spPr>
          <a:xfrm>
            <a:off x="3694429" y="4421124"/>
            <a:ext cx="25400" cy="7620"/>
          </a:xfrm>
          <a:custGeom>
            <a:avLst/>
            <a:gdLst/>
            <a:ahLst/>
            <a:cxnLst/>
            <a:rect l="l" t="t" r="r" b="b"/>
            <a:pathLst>
              <a:path w="25400" h="7620">
                <a:moveTo>
                  <a:pt x="0" y="0"/>
                </a:moveTo>
                <a:lnTo>
                  <a:pt x="0" y="7620"/>
                </a:lnTo>
                <a:lnTo>
                  <a:pt x="25400" y="7620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694176" y="4590288"/>
            <a:ext cx="26034" cy="7620"/>
          </a:xfrm>
          <a:custGeom>
            <a:avLst/>
            <a:gdLst/>
            <a:ahLst/>
            <a:cxnLst/>
            <a:rect l="l" t="t" r="r" b="b"/>
            <a:pathLst>
              <a:path w="26035" h="7620">
                <a:moveTo>
                  <a:pt x="25908" y="7620"/>
                </a:moveTo>
                <a:lnTo>
                  <a:pt x="25908" y="0"/>
                </a:lnTo>
                <a:lnTo>
                  <a:pt x="0" y="0"/>
                </a:lnTo>
                <a:lnTo>
                  <a:pt x="0" y="7620"/>
                </a:lnTo>
                <a:lnTo>
                  <a:pt x="25908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104132" y="4907292"/>
            <a:ext cx="41275" cy="175260"/>
          </a:xfrm>
          <a:custGeom>
            <a:avLst/>
            <a:gdLst/>
            <a:ahLst/>
            <a:cxnLst/>
            <a:rect l="l" t="t" r="r" b="b"/>
            <a:pathLst>
              <a:path w="41275" h="175260">
                <a:moveTo>
                  <a:pt x="41148" y="0"/>
                </a:moveTo>
                <a:lnTo>
                  <a:pt x="25908" y="0"/>
                </a:lnTo>
                <a:lnTo>
                  <a:pt x="508" y="0"/>
                </a:lnTo>
                <a:lnTo>
                  <a:pt x="508" y="6096"/>
                </a:lnTo>
                <a:lnTo>
                  <a:pt x="25908" y="6096"/>
                </a:lnTo>
                <a:lnTo>
                  <a:pt x="25908" y="169164"/>
                </a:lnTo>
                <a:lnTo>
                  <a:pt x="0" y="169164"/>
                </a:lnTo>
                <a:lnTo>
                  <a:pt x="0" y="175260"/>
                </a:lnTo>
                <a:lnTo>
                  <a:pt x="25908" y="175260"/>
                </a:lnTo>
                <a:lnTo>
                  <a:pt x="41148" y="175260"/>
                </a:lnTo>
                <a:lnTo>
                  <a:pt x="411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716020" y="4907280"/>
            <a:ext cx="25400" cy="6350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400" y="6096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715511" y="5076444"/>
            <a:ext cx="26034" cy="6350"/>
          </a:xfrm>
          <a:custGeom>
            <a:avLst/>
            <a:gdLst/>
            <a:ahLst/>
            <a:cxnLst/>
            <a:rect l="l" t="t" r="r" b="b"/>
            <a:pathLst>
              <a:path w="26035" h="6350">
                <a:moveTo>
                  <a:pt x="25908" y="6096"/>
                </a:moveTo>
                <a:lnTo>
                  <a:pt x="25908" y="0"/>
                </a:lnTo>
                <a:lnTo>
                  <a:pt x="0" y="0"/>
                </a:lnTo>
                <a:lnTo>
                  <a:pt x="0" y="6096"/>
                </a:lnTo>
                <a:lnTo>
                  <a:pt x="25908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114800" y="5433072"/>
            <a:ext cx="40640" cy="175260"/>
          </a:xfrm>
          <a:custGeom>
            <a:avLst/>
            <a:gdLst/>
            <a:ahLst/>
            <a:cxnLst/>
            <a:rect l="l" t="t" r="r" b="b"/>
            <a:pathLst>
              <a:path w="40639" h="175260">
                <a:moveTo>
                  <a:pt x="40640" y="0"/>
                </a:moveTo>
                <a:lnTo>
                  <a:pt x="25400" y="0"/>
                </a:lnTo>
                <a:lnTo>
                  <a:pt x="0" y="0"/>
                </a:lnTo>
                <a:lnTo>
                  <a:pt x="0" y="7620"/>
                </a:lnTo>
                <a:lnTo>
                  <a:pt x="25400" y="7620"/>
                </a:lnTo>
                <a:lnTo>
                  <a:pt x="25400" y="169164"/>
                </a:lnTo>
                <a:lnTo>
                  <a:pt x="0" y="169164"/>
                </a:lnTo>
                <a:lnTo>
                  <a:pt x="0" y="175260"/>
                </a:lnTo>
                <a:lnTo>
                  <a:pt x="25400" y="175260"/>
                </a:lnTo>
                <a:lnTo>
                  <a:pt x="25908" y="175260"/>
                </a:lnTo>
                <a:lnTo>
                  <a:pt x="40640" y="175260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726179" y="5433060"/>
            <a:ext cx="25400" cy="7620"/>
          </a:xfrm>
          <a:custGeom>
            <a:avLst/>
            <a:gdLst/>
            <a:ahLst/>
            <a:cxnLst/>
            <a:rect l="l" t="t" r="r" b="b"/>
            <a:pathLst>
              <a:path w="25400" h="7620">
                <a:moveTo>
                  <a:pt x="0" y="0"/>
                </a:moveTo>
                <a:lnTo>
                  <a:pt x="0" y="7620"/>
                </a:lnTo>
                <a:lnTo>
                  <a:pt x="25399" y="7620"/>
                </a:lnTo>
                <a:lnTo>
                  <a:pt x="25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726180" y="5602224"/>
            <a:ext cx="26034" cy="6350"/>
          </a:xfrm>
          <a:custGeom>
            <a:avLst/>
            <a:gdLst/>
            <a:ahLst/>
            <a:cxnLst/>
            <a:rect l="l" t="t" r="r" b="b"/>
            <a:pathLst>
              <a:path w="26035" h="6350">
                <a:moveTo>
                  <a:pt x="25908" y="6096"/>
                </a:moveTo>
                <a:lnTo>
                  <a:pt x="25908" y="0"/>
                </a:lnTo>
                <a:lnTo>
                  <a:pt x="0" y="0"/>
                </a:lnTo>
                <a:lnTo>
                  <a:pt x="0" y="6096"/>
                </a:lnTo>
                <a:lnTo>
                  <a:pt x="25908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44</a:t>
            </a:fld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57649"/>
            <a:ext cx="4528185" cy="416559"/>
            <a:chOff x="0" y="1057649"/>
            <a:chExt cx="4528185" cy="416559"/>
          </a:xfrm>
        </p:grpSpPr>
        <p:sp>
          <p:nvSpPr>
            <p:cNvPr id="3" name="object 3"/>
            <p:cNvSpPr/>
            <p:nvPr/>
          </p:nvSpPr>
          <p:spPr>
            <a:xfrm>
              <a:off x="0" y="1057649"/>
              <a:ext cx="4520565" cy="408940"/>
            </a:xfrm>
            <a:custGeom>
              <a:avLst/>
              <a:gdLst/>
              <a:ahLst/>
              <a:cxnLst/>
              <a:rect l="l" t="t" r="r" b="b"/>
              <a:pathLst>
                <a:path w="4520565" h="408940">
                  <a:moveTo>
                    <a:pt x="4520183" y="408431"/>
                  </a:moveTo>
                  <a:lnTo>
                    <a:pt x="4520183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4520183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57649"/>
              <a:ext cx="4528185" cy="416559"/>
            </a:xfrm>
            <a:custGeom>
              <a:avLst/>
              <a:gdLst/>
              <a:ahLst/>
              <a:cxnLst/>
              <a:rect l="l" t="t" r="r" b="b"/>
              <a:pathLst>
                <a:path w="4528185" h="416559">
                  <a:moveTo>
                    <a:pt x="4520184" y="9144"/>
                  </a:moveTo>
                  <a:lnTo>
                    <a:pt x="4512564" y="0"/>
                  </a:lnTo>
                  <a:lnTo>
                    <a:pt x="0" y="0"/>
                  </a:lnTo>
                  <a:lnTo>
                    <a:pt x="0" y="9144"/>
                  </a:lnTo>
                  <a:lnTo>
                    <a:pt x="9138" y="0"/>
                  </a:lnTo>
                  <a:lnTo>
                    <a:pt x="9138" y="9144"/>
                  </a:lnTo>
                  <a:lnTo>
                    <a:pt x="4520184" y="9144"/>
                  </a:lnTo>
                  <a:close/>
                </a:path>
                <a:path w="4528185" h="416559">
                  <a:moveTo>
                    <a:pt x="9138" y="9144"/>
                  </a:moveTo>
                  <a:lnTo>
                    <a:pt x="9138" y="0"/>
                  </a:lnTo>
                  <a:lnTo>
                    <a:pt x="0" y="9144"/>
                  </a:lnTo>
                  <a:lnTo>
                    <a:pt x="9138" y="9144"/>
                  </a:lnTo>
                  <a:close/>
                </a:path>
                <a:path w="4528185" h="416559">
                  <a:moveTo>
                    <a:pt x="9138" y="400812"/>
                  </a:moveTo>
                  <a:lnTo>
                    <a:pt x="9138" y="9144"/>
                  </a:lnTo>
                  <a:lnTo>
                    <a:pt x="0" y="9144"/>
                  </a:lnTo>
                  <a:lnTo>
                    <a:pt x="0" y="400812"/>
                  </a:lnTo>
                  <a:lnTo>
                    <a:pt x="9138" y="400812"/>
                  </a:lnTo>
                  <a:close/>
                </a:path>
                <a:path w="4528185" h="416559">
                  <a:moveTo>
                    <a:pt x="4520184" y="400812"/>
                  </a:moveTo>
                  <a:lnTo>
                    <a:pt x="0" y="400812"/>
                  </a:lnTo>
                  <a:lnTo>
                    <a:pt x="9138" y="408432"/>
                  </a:lnTo>
                  <a:lnTo>
                    <a:pt x="9138" y="416052"/>
                  </a:lnTo>
                  <a:lnTo>
                    <a:pt x="4512564" y="416052"/>
                  </a:lnTo>
                  <a:lnTo>
                    <a:pt x="4512564" y="408432"/>
                  </a:lnTo>
                  <a:lnTo>
                    <a:pt x="4520184" y="400812"/>
                  </a:lnTo>
                  <a:close/>
                </a:path>
                <a:path w="4528185" h="416559">
                  <a:moveTo>
                    <a:pt x="9138" y="416052"/>
                  </a:moveTo>
                  <a:lnTo>
                    <a:pt x="9138" y="408432"/>
                  </a:lnTo>
                  <a:lnTo>
                    <a:pt x="0" y="400812"/>
                  </a:lnTo>
                  <a:lnTo>
                    <a:pt x="0" y="416052"/>
                  </a:lnTo>
                  <a:lnTo>
                    <a:pt x="9138" y="416052"/>
                  </a:lnTo>
                  <a:close/>
                </a:path>
                <a:path w="4528185" h="416559">
                  <a:moveTo>
                    <a:pt x="4527804" y="413004"/>
                  </a:moveTo>
                  <a:lnTo>
                    <a:pt x="4527804" y="0"/>
                  </a:lnTo>
                  <a:lnTo>
                    <a:pt x="4512564" y="0"/>
                  </a:lnTo>
                  <a:lnTo>
                    <a:pt x="4520184" y="9144"/>
                  </a:lnTo>
                  <a:lnTo>
                    <a:pt x="4520184" y="416052"/>
                  </a:lnTo>
                  <a:lnTo>
                    <a:pt x="4524756" y="416052"/>
                  </a:lnTo>
                  <a:lnTo>
                    <a:pt x="4527804" y="413004"/>
                  </a:lnTo>
                  <a:close/>
                </a:path>
                <a:path w="4528185" h="416559">
                  <a:moveTo>
                    <a:pt x="4520184" y="400812"/>
                  </a:moveTo>
                  <a:lnTo>
                    <a:pt x="4520184" y="9144"/>
                  </a:lnTo>
                  <a:lnTo>
                    <a:pt x="4512564" y="9144"/>
                  </a:lnTo>
                  <a:lnTo>
                    <a:pt x="4512564" y="400812"/>
                  </a:lnTo>
                  <a:lnTo>
                    <a:pt x="4520184" y="400812"/>
                  </a:lnTo>
                  <a:close/>
                </a:path>
                <a:path w="4528185" h="416559">
                  <a:moveTo>
                    <a:pt x="4520184" y="416052"/>
                  </a:moveTo>
                  <a:lnTo>
                    <a:pt x="4520184" y="400812"/>
                  </a:lnTo>
                  <a:lnTo>
                    <a:pt x="4512564" y="408432"/>
                  </a:lnTo>
                  <a:lnTo>
                    <a:pt x="4512564" y="416052"/>
                  </a:lnTo>
                  <a:lnTo>
                    <a:pt x="4520184" y="416052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3493" y="1051051"/>
            <a:ext cx="4210685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b="1" spc="-90" dirty="0">
                <a:latin typeface="Calibri"/>
                <a:cs typeface="Calibri"/>
              </a:rPr>
              <a:t>Worked</a:t>
            </a:r>
            <a:r>
              <a:rPr sz="2150" b="1" spc="-70" dirty="0">
                <a:latin typeface="Calibri"/>
                <a:cs typeface="Calibri"/>
              </a:rPr>
              <a:t> Example</a:t>
            </a:r>
            <a:r>
              <a:rPr sz="2150" b="1" spc="-75" dirty="0">
                <a:latin typeface="Calibri"/>
                <a:cs typeface="Calibri"/>
              </a:rPr>
              <a:t> </a:t>
            </a:r>
            <a:r>
              <a:rPr sz="2150" b="1" spc="-5" dirty="0">
                <a:latin typeface="Calibri"/>
                <a:cs typeface="Calibri"/>
              </a:rPr>
              <a:t>–</a:t>
            </a:r>
            <a:r>
              <a:rPr sz="2150" b="1" spc="-30" dirty="0">
                <a:latin typeface="Calibri"/>
                <a:cs typeface="Calibri"/>
              </a:rPr>
              <a:t> </a:t>
            </a:r>
            <a:r>
              <a:rPr sz="2150" b="1" spc="-70" dirty="0">
                <a:latin typeface="Calibri"/>
                <a:cs typeface="Calibri"/>
              </a:rPr>
              <a:t>Forward </a:t>
            </a:r>
            <a:r>
              <a:rPr sz="2150" b="1" spc="-60" dirty="0">
                <a:latin typeface="Calibri"/>
                <a:cs typeface="Calibri"/>
              </a:rPr>
              <a:t>Pass</a:t>
            </a:r>
            <a:r>
              <a:rPr sz="2150" b="1" spc="-70" dirty="0">
                <a:latin typeface="Calibri"/>
                <a:cs typeface="Calibri"/>
              </a:rPr>
              <a:t> </a:t>
            </a:r>
            <a:r>
              <a:rPr sz="2150" b="1" spc="-20" dirty="0">
                <a:latin typeface="Calibri"/>
                <a:cs typeface="Calibri"/>
              </a:rPr>
              <a:t>@</a:t>
            </a:r>
            <a:r>
              <a:rPr sz="2150" b="1" spc="-45" dirty="0">
                <a:latin typeface="Calibri"/>
                <a:cs typeface="Calibri"/>
              </a:rPr>
              <a:t> </a:t>
            </a:r>
            <a:r>
              <a:rPr sz="2150" b="1" spc="-20" dirty="0">
                <a:latin typeface="Calibri"/>
                <a:cs typeface="Calibri"/>
              </a:rPr>
              <a:t>t=0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501" y="1463445"/>
            <a:ext cx="5073650" cy="129032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spc="5" dirty="0">
                <a:latin typeface="Calibri"/>
                <a:cs typeface="Calibri"/>
              </a:rPr>
              <a:t>A</a:t>
            </a:r>
            <a:r>
              <a:rPr sz="2300" dirty="0">
                <a:latin typeface="Calibri"/>
                <a:cs typeface="Calibri"/>
              </a:rPr>
              <a:t> sequence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of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length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2</a:t>
            </a:r>
            <a:endParaRPr sz="2300">
              <a:latin typeface="Calibri"/>
              <a:cs typeface="Calibri"/>
            </a:endParaRPr>
          </a:p>
          <a:p>
            <a:pPr marL="201295" indent="-189230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spc="5" dirty="0">
                <a:latin typeface="Calibri"/>
                <a:cs typeface="Calibri"/>
              </a:rPr>
              <a:t>2D</a:t>
            </a:r>
            <a:r>
              <a:rPr sz="2300" spc="-10" dirty="0">
                <a:latin typeface="Calibri"/>
                <a:cs typeface="Calibri"/>
              </a:rPr>
              <a:t> Feature </a:t>
            </a:r>
            <a:r>
              <a:rPr sz="2300" dirty="0">
                <a:latin typeface="Calibri"/>
                <a:cs typeface="Calibri"/>
              </a:rPr>
              <a:t>Space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–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One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unit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 the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LSTM</a:t>
            </a:r>
            <a:endParaRPr sz="2300">
              <a:latin typeface="Calibri"/>
              <a:cs typeface="Calibri"/>
            </a:endParaRPr>
          </a:p>
          <a:p>
            <a:pPr marL="201295" indent="-189230">
              <a:lnSpc>
                <a:spcPct val="100000"/>
              </a:lnSpc>
              <a:spcBef>
                <a:spcPts val="550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spc="-35" dirty="0">
                <a:latin typeface="Calibri"/>
                <a:cs typeface="Calibri"/>
              </a:rPr>
              <a:t>Two </a:t>
            </a:r>
            <a:r>
              <a:rPr sz="2300" spc="-5" dirty="0">
                <a:latin typeface="Calibri"/>
                <a:cs typeface="Calibri"/>
              </a:rPr>
              <a:t>time-steps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8321" y="2916935"/>
            <a:ext cx="768350" cy="379730"/>
          </a:xfrm>
          <a:custGeom>
            <a:avLst/>
            <a:gdLst/>
            <a:ahLst/>
            <a:cxnLst/>
            <a:rect l="l" t="t" r="r" b="b"/>
            <a:pathLst>
              <a:path w="768350" h="379729">
                <a:moveTo>
                  <a:pt x="768095" y="379475"/>
                </a:moveTo>
                <a:lnTo>
                  <a:pt x="768095" y="0"/>
                </a:lnTo>
                <a:lnTo>
                  <a:pt x="0" y="0"/>
                </a:lnTo>
                <a:lnTo>
                  <a:pt x="0" y="379475"/>
                </a:lnTo>
                <a:lnTo>
                  <a:pt x="768095" y="379475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38321" y="2916935"/>
            <a:ext cx="521970" cy="35433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71755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565"/>
              </a:spcBef>
            </a:pPr>
            <a:r>
              <a:rPr sz="1450" spc="45" dirty="0">
                <a:latin typeface="Cambria"/>
                <a:cs typeface="Cambria"/>
              </a:rPr>
              <a:t>x</a:t>
            </a:r>
            <a:r>
              <a:rPr sz="1650" spc="67" baseline="-15151" dirty="0">
                <a:latin typeface="Cambria"/>
                <a:cs typeface="Cambria"/>
              </a:rPr>
              <a:t>0</a:t>
            </a:r>
            <a:r>
              <a:rPr sz="1650" spc="270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59790" y="2965716"/>
            <a:ext cx="200660" cy="309880"/>
          </a:xfrm>
          <a:custGeom>
            <a:avLst/>
            <a:gdLst/>
            <a:ahLst/>
            <a:cxnLst/>
            <a:rect l="l" t="t" r="r" b="b"/>
            <a:pathLst>
              <a:path w="200659" h="309879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09372"/>
                </a:lnTo>
                <a:lnTo>
                  <a:pt x="16497" y="309372"/>
                </a:lnTo>
                <a:lnTo>
                  <a:pt x="43929" y="309372"/>
                </a:lnTo>
                <a:lnTo>
                  <a:pt x="43929" y="301752"/>
                </a:lnTo>
                <a:lnTo>
                  <a:pt x="16510" y="301752"/>
                </a:lnTo>
                <a:lnTo>
                  <a:pt x="16510" y="7620"/>
                </a:lnTo>
                <a:lnTo>
                  <a:pt x="44450" y="7620"/>
                </a:lnTo>
                <a:lnTo>
                  <a:pt x="44450" y="0"/>
                </a:lnTo>
                <a:close/>
              </a:path>
              <a:path w="200659" h="309879">
                <a:moveTo>
                  <a:pt x="184137" y="301752"/>
                </a:moveTo>
                <a:lnTo>
                  <a:pt x="156705" y="301752"/>
                </a:lnTo>
                <a:lnTo>
                  <a:pt x="156705" y="309372"/>
                </a:lnTo>
                <a:lnTo>
                  <a:pt x="184137" y="309372"/>
                </a:lnTo>
                <a:lnTo>
                  <a:pt x="184137" y="301752"/>
                </a:lnTo>
                <a:close/>
              </a:path>
              <a:path w="200659" h="309879">
                <a:moveTo>
                  <a:pt x="200660" y="0"/>
                </a:moveTo>
                <a:lnTo>
                  <a:pt x="184150" y="0"/>
                </a:lnTo>
                <a:lnTo>
                  <a:pt x="156210" y="0"/>
                </a:lnTo>
                <a:lnTo>
                  <a:pt x="156210" y="7620"/>
                </a:lnTo>
                <a:lnTo>
                  <a:pt x="184150" y="7620"/>
                </a:lnTo>
                <a:lnTo>
                  <a:pt x="184150" y="309372"/>
                </a:lnTo>
                <a:lnTo>
                  <a:pt x="200660" y="309372"/>
                </a:lnTo>
                <a:lnTo>
                  <a:pt x="2006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6300" y="2870706"/>
            <a:ext cx="167640" cy="4737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135"/>
              </a:spcBef>
            </a:pPr>
            <a:r>
              <a:rPr sz="1450" spc="20" dirty="0">
                <a:latin typeface="Cambria"/>
                <a:cs typeface="Cambria"/>
              </a:rPr>
              <a:t>1</a:t>
            </a:r>
            <a:endParaRPr sz="1450">
              <a:latin typeface="Cambria"/>
              <a:cs typeface="Cambria"/>
            </a:endParaRPr>
          </a:p>
          <a:p>
            <a:pPr marL="29845">
              <a:lnSpc>
                <a:spcPct val="100000"/>
              </a:lnSpc>
            </a:pPr>
            <a:r>
              <a:rPr sz="1450" spc="20" dirty="0">
                <a:latin typeface="Cambria"/>
                <a:cs typeface="Cambria"/>
              </a:rPr>
              <a:t>2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711952" y="1397501"/>
            <a:ext cx="3752215" cy="2438400"/>
            <a:chOff x="5711952" y="1397501"/>
            <a:chExt cx="3752215" cy="24384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8723" y="1454285"/>
              <a:ext cx="3560719" cy="234028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711952" y="1397501"/>
              <a:ext cx="3752215" cy="2438400"/>
            </a:xfrm>
            <a:custGeom>
              <a:avLst/>
              <a:gdLst/>
              <a:ahLst/>
              <a:cxnLst/>
              <a:rect l="l" t="t" r="r" b="b"/>
              <a:pathLst>
                <a:path w="3752215" h="2438400">
                  <a:moveTo>
                    <a:pt x="3752088" y="2432310"/>
                  </a:moveTo>
                  <a:lnTo>
                    <a:pt x="3752088" y="4572"/>
                  </a:lnTo>
                  <a:lnTo>
                    <a:pt x="3745992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2432310"/>
                  </a:lnTo>
                  <a:lnTo>
                    <a:pt x="4572" y="2438406"/>
                  </a:lnTo>
                  <a:lnTo>
                    <a:pt x="12192" y="2438406"/>
                  </a:lnTo>
                  <a:lnTo>
                    <a:pt x="12192" y="22860"/>
                  </a:lnTo>
                  <a:lnTo>
                    <a:pt x="22860" y="12192"/>
                  </a:lnTo>
                  <a:lnTo>
                    <a:pt x="22860" y="22860"/>
                  </a:lnTo>
                  <a:lnTo>
                    <a:pt x="3727704" y="22860"/>
                  </a:lnTo>
                  <a:lnTo>
                    <a:pt x="3727704" y="12192"/>
                  </a:lnTo>
                  <a:lnTo>
                    <a:pt x="3739896" y="22860"/>
                  </a:lnTo>
                  <a:lnTo>
                    <a:pt x="3739896" y="2438406"/>
                  </a:lnTo>
                  <a:lnTo>
                    <a:pt x="3745992" y="2438406"/>
                  </a:lnTo>
                  <a:lnTo>
                    <a:pt x="3752088" y="2432310"/>
                  </a:lnTo>
                  <a:close/>
                </a:path>
                <a:path w="3752215" h="2438400">
                  <a:moveTo>
                    <a:pt x="22860" y="22860"/>
                  </a:moveTo>
                  <a:lnTo>
                    <a:pt x="22860" y="12192"/>
                  </a:lnTo>
                  <a:lnTo>
                    <a:pt x="12192" y="22860"/>
                  </a:lnTo>
                  <a:lnTo>
                    <a:pt x="22860" y="22860"/>
                  </a:lnTo>
                  <a:close/>
                </a:path>
                <a:path w="3752215" h="2438400">
                  <a:moveTo>
                    <a:pt x="22860" y="2414022"/>
                  </a:moveTo>
                  <a:lnTo>
                    <a:pt x="22860" y="22860"/>
                  </a:lnTo>
                  <a:lnTo>
                    <a:pt x="12192" y="22860"/>
                  </a:lnTo>
                  <a:lnTo>
                    <a:pt x="12192" y="2414022"/>
                  </a:lnTo>
                  <a:lnTo>
                    <a:pt x="22860" y="2414022"/>
                  </a:lnTo>
                  <a:close/>
                </a:path>
                <a:path w="3752215" h="2438400">
                  <a:moveTo>
                    <a:pt x="3739896" y="2414022"/>
                  </a:moveTo>
                  <a:lnTo>
                    <a:pt x="12192" y="2414022"/>
                  </a:lnTo>
                  <a:lnTo>
                    <a:pt x="22860" y="2426214"/>
                  </a:lnTo>
                  <a:lnTo>
                    <a:pt x="22860" y="2438406"/>
                  </a:lnTo>
                  <a:lnTo>
                    <a:pt x="3727704" y="2438406"/>
                  </a:lnTo>
                  <a:lnTo>
                    <a:pt x="3727704" y="2426214"/>
                  </a:lnTo>
                  <a:lnTo>
                    <a:pt x="3739896" y="2414022"/>
                  </a:lnTo>
                  <a:close/>
                </a:path>
                <a:path w="3752215" h="2438400">
                  <a:moveTo>
                    <a:pt x="22860" y="2438406"/>
                  </a:moveTo>
                  <a:lnTo>
                    <a:pt x="22860" y="2426214"/>
                  </a:lnTo>
                  <a:lnTo>
                    <a:pt x="12192" y="2414022"/>
                  </a:lnTo>
                  <a:lnTo>
                    <a:pt x="12192" y="2438406"/>
                  </a:lnTo>
                  <a:lnTo>
                    <a:pt x="22860" y="2438406"/>
                  </a:lnTo>
                  <a:close/>
                </a:path>
                <a:path w="3752215" h="2438400">
                  <a:moveTo>
                    <a:pt x="3739896" y="22860"/>
                  </a:moveTo>
                  <a:lnTo>
                    <a:pt x="3727704" y="12192"/>
                  </a:lnTo>
                  <a:lnTo>
                    <a:pt x="3727704" y="22860"/>
                  </a:lnTo>
                  <a:lnTo>
                    <a:pt x="3739896" y="22860"/>
                  </a:lnTo>
                  <a:close/>
                </a:path>
                <a:path w="3752215" h="2438400">
                  <a:moveTo>
                    <a:pt x="3739896" y="2414022"/>
                  </a:moveTo>
                  <a:lnTo>
                    <a:pt x="3739896" y="22860"/>
                  </a:lnTo>
                  <a:lnTo>
                    <a:pt x="3727704" y="22860"/>
                  </a:lnTo>
                  <a:lnTo>
                    <a:pt x="3727704" y="2414022"/>
                  </a:lnTo>
                  <a:lnTo>
                    <a:pt x="3739896" y="2414022"/>
                  </a:lnTo>
                  <a:close/>
                </a:path>
                <a:path w="3752215" h="2438400">
                  <a:moveTo>
                    <a:pt x="3739896" y="2438406"/>
                  </a:moveTo>
                  <a:lnTo>
                    <a:pt x="3739896" y="2414022"/>
                  </a:lnTo>
                  <a:lnTo>
                    <a:pt x="3727704" y="2426214"/>
                  </a:lnTo>
                  <a:lnTo>
                    <a:pt x="3727704" y="2438406"/>
                  </a:lnTo>
                  <a:lnTo>
                    <a:pt x="3739896" y="2438406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695188" y="3974592"/>
            <a:ext cx="3423285" cy="546100"/>
            <a:chOff x="5695188" y="3974592"/>
            <a:chExt cx="3423285" cy="54610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2543" y="4145361"/>
              <a:ext cx="3243698" cy="27946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695188" y="3974592"/>
              <a:ext cx="3423285" cy="546100"/>
            </a:xfrm>
            <a:custGeom>
              <a:avLst/>
              <a:gdLst/>
              <a:ahLst/>
              <a:cxnLst/>
              <a:rect l="l" t="t" r="r" b="b"/>
              <a:pathLst>
                <a:path w="3423284" h="546100">
                  <a:moveTo>
                    <a:pt x="3422904" y="539496"/>
                  </a:moveTo>
                  <a:lnTo>
                    <a:pt x="3422904" y="6096"/>
                  </a:lnTo>
                  <a:lnTo>
                    <a:pt x="3418332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539496"/>
                  </a:lnTo>
                  <a:lnTo>
                    <a:pt x="4572" y="545592"/>
                  </a:lnTo>
                  <a:lnTo>
                    <a:pt x="12192" y="545592"/>
                  </a:lnTo>
                  <a:lnTo>
                    <a:pt x="12192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400044" y="24384"/>
                  </a:lnTo>
                  <a:lnTo>
                    <a:pt x="3400044" y="12192"/>
                  </a:lnTo>
                  <a:lnTo>
                    <a:pt x="3410712" y="24384"/>
                  </a:lnTo>
                  <a:lnTo>
                    <a:pt x="3410712" y="545592"/>
                  </a:lnTo>
                  <a:lnTo>
                    <a:pt x="3418332" y="545592"/>
                  </a:lnTo>
                  <a:lnTo>
                    <a:pt x="3422904" y="539496"/>
                  </a:lnTo>
                  <a:close/>
                </a:path>
                <a:path w="3423284" h="546100">
                  <a:moveTo>
                    <a:pt x="22860" y="24384"/>
                  </a:moveTo>
                  <a:lnTo>
                    <a:pt x="22860" y="12192"/>
                  </a:lnTo>
                  <a:lnTo>
                    <a:pt x="12192" y="24384"/>
                  </a:lnTo>
                  <a:lnTo>
                    <a:pt x="22860" y="24384"/>
                  </a:lnTo>
                  <a:close/>
                </a:path>
                <a:path w="3423284" h="546100">
                  <a:moveTo>
                    <a:pt x="22860" y="521208"/>
                  </a:moveTo>
                  <a:lnTo>
                    <a:pt x="22860" y="24384"/>
                  </a:lnTo>
                  <a:lnTo>
                    <a:pt x="12192" y="24384"/>
                  </a:lnTo>
                  <a:lnTo>
                    <a:pt x="12192" y="521208"/>
                  </a:lnTo>
                  <a:lnTo>
                    <a:pt x="22860" y="521208"/>
                  </a:lnTo>
                  <a:close/>
                </a:path>
                <a:path w="3423284" h="546100">
                  <a:moveTo>
                    <a:pt x="3410712" y="521208"/>
                  </a:moveTo>
                  <a:lnTo>
                    <a:pt x="12192" y="521208"/>
                  </a:lnTo>
                  <a:lnTo>
                    <a:pt x="22860" y="533400"/>
                  </a:lnTo>
                  <a:lnTo>
                    <a:pt x="22860" y="545592"/>
                  </a:lnTo>
                  <a:lnTo>
                    <a:pt x="3400044" y="545592"/>
                  </a:lnTo>
                  <a:lnTo>
                    <a:pt x="3400044" y="533400"/>
                  </a:lnTo>
                  <a:lnTo>
                    <a:pt x="3410712" y="521208"/>
                  </a:lnTo>
                  <a:close/>
                </a:path>
                <a:path w="3423284" h="546100">
                  <a:moveTo>
                    <a:pt x="22860" y="545592"/>
                  </a:moveTo>
                  <a:lnTo>
                    <a:pt x="22860" y="533400"/>
                  </a:lnTo>
                  <a:lnTo>
                    <a:pt x="12192" y="521208"/>
                  </a:lnTo>
                  <a:lnTo>
                    <a:pt x="12192" y="545592"/>
                  </a:lnTo>
                  <a:lnTo>
                    <a:pt x="22860" y="545592"/>
                  </a:lnTo>
                  <a:close/>
                </a:path>
                <a:path w="3423284" h="546100">
                  <a:moveTo>
                    <a:pt x="3410712" y="24384"/>
                  </a:moveTo>
                  <a:lnTo>
                    <a:pt x="3400044" y="12192"/>
                  </a:lnTo>
                  <a:lnTo>
                    <a:pt x="3400044" y="24384"/>
                  </a:lnTo>
                  <a:lnTo>
                    <a:pt x="3410712" y="24384"/>
                  </a:lnTo>
                  <a:close/>
                </a:path>
                <a:path w="3423284" h="546100">
                  <a:moveTo>
                    <a:pt x="3410712" y="521208"/>
                  </a:moveTo>
                  <a:lnTo>
                    <a:pt x="3410712" y="24384"/>
                  </a:lnTo>
                  <a:lnTo>
                    <a:pt x="3400044" y="24384"/>
                  </a:lnTo>
                  <a:lnTo>
                    <a:pt x="3400044" y="521208"/>
                  </a:lnTo>
                  <a:lnTo>
                    <a:pt x="3410712" y="521208"/>
                  </a:lnTo>
                  <a:close/>
                </a:path>
                <a:path w="3423284" h="546100">
                  <a:moveTo>
                    <a:pt x="3410712" y="545592"/>
                  </a:moveTo>
                  <a:lnTo>
                    <a:pt x="3410712" y="521208"/>
                  </a:lnTo>
                  <a:lnTo>
                    <a:pt x="3400044" y="533400"/>
                  </a:lnTo>
                  <a:lnTo>
                    <a:pt x="3400044" y="545592"/>
                  </a:lnTo>
                  <a:lnTo>
                    <a:pt x="3410712" y="545592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695188" y="4736591"/>
            <a:ext cx="3732529" cy="32766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2260"/>
              </a:lnSpc>
            </a:pPr>
            <a:r>
              <a:rPr sz="1950" spc="185" dirty="0">
                <a:latin typeface="Cambria"/>
                <a:cs typeface="Cambria"/>
              </a:rPr>
              <a:t>f</a:t>
            </a:r>
            <a:r>
              <a:rPr sz="2100" spc="240" baseline="-15873" dirty="0">
                <a:latin typeface="Cambria"/>
                <a:cs typeface="Cambria"/>
              </a:rPr>
              <a:t>t</a:t>
            </a:r>
            <a:r>
              <a:rPr sz="2100" baseline="-15873" dirty="0">
                <a:latin typeface="Cambria"/>
                <a:cs typeface="Cambria"/>
              </a:rPr>
              <a:t> </a:t>
            </a:r>
            <a:r>
              <a:rPr sz="2100" spc="97" baseline="-15873" dirty="0">
                <a:latin typeface="Cambria"/>
                <a:cs typeface="Cambria"/>
              </a:rPr>
              <a:t> </a:t>
            </a:r>
            <a:r>
              <a:rPr sz="1950" spc="395" dirty="0">
                <a:latin typeface="Cambria"/>
                <a:cs typeface="Cambria"/>
              </a:rPr>
              <a:t>=</a:t>
            </a:r>
            <a:r>
              <a:rPr sz="1950" spc="114" dirty="0">
                <a:latin typeface="Cambria"/>
                <a:cs typeface="Cambria"/>
              </a:rPr>
              <a:t> </a:t>
            </a:r>
            <a:r>
              <a:rPr sz="1950" spc="80" dirty="0">
                <a:latin typeface="Cambria"/>
                <a:cs typeface="Cambria"/>
              </a:rPr>
              <a:t>σ(</a:t>
            </a:r>
            <a:r>
              <a:rPr sz="1950" spc="-180" dirty="0">
                <a:latin typeface="Cambria"/>
                <a:cs typeface="Cambria"/>
              </a:rPr>
              <a:t>W</a:t>
            </a:r>
            <a:r>
              <a:rPr sz="2100" spc="254" baseline="-15873" dirty="0">
                <a:latin typeface="Cambria"/>
                <a:cs typeface="Cambria"/>
              </a:rPr>
              <a:t>x</a:t>
            </a:r>
            <a:r>
              <a:rPr sz="2100" spc="832" baseline="-15873" dirty="0">
                <a:latin typeface="Cambria"/>
                <a:cs typeface="Cambria"/>
              </a:rPr>
              <a:t>ƒ</a:t>
            </a:r>
            <a:r>
              <a:rPr sz="1950" spc="5" dirty="0">
                <a:latin typeface="Cambria"/>
                <a:cs typeface="Cambria"/>
              </a:rPr>
              <a:t>.</a:t>
            </a:r>
            <a:r>
              <a:rPr sz="1950" spc="-105" dirty="0">
                <a:latin typeface="Cambria"/>
                <a:cs typeface="Cambria"/>
              </a:rPr>
              <a:t> </a:t>
            </a:r>
            <a:r>
              <a:rPr sz="1950" spc="85" dirty="0">
                <a:latin typeface="Cambria"/>
                <a:cs typeface="Cambria"/>
              </a:rPr>
              <a:t>x</a:t>
            </a:r>
            <a:r>
              <a:rPr sz="2100" spc="240" baseline="-15873" dirty="0">
                <a:latin typeface="Cambria"/>
                <a:cs typeface="Cambria"/>
              </a:rPr>
              <a:t>t</a:t>
            </a:r>
            <a:r>
              <a:rPr sz="2100" baseline="-15873" dirty="0">
                <a:latin typeface="Cambria"/>
                <a:cs typeface="Cambria"/>
              </a:rPr>
              <a:t> </a:t>
            </a:r>
            <a:r>
              <a:rPr sz="2100" spc="-82" baseline="-15873" dirty="0">
                <a:latin typeface="Cambria"/>
                <a:cs typeface="Cambria"/>
              </a:rPr>
              <a:t> </a:t>
            </a:r>
            <a:r>
              <a:rPr sz="1950" spc="395" dirty="0">
                <a:latin typeface="Cambria"/>
                <a:cs typeface="Cambria"/>
              </a:rPr>
              <a:t>+</a:t>
            </a:r>
            <a:r>
              <a:rPr sz="1950" spc="-5" dirty="0">
                <a:latin typeface="Cambria"/>
                <a:cs typeface="Cambria"/>
              </a:rPr>
              <a:t> </a:t>
            </a:r>
            <a:r>
              <a:rPr sz="1950" spc="-185" dirty="0">
                <a:latin typeface="Cambria"/>
                <a:cs typeface="Cambria"/>
              </a:rPr>
              <a:t>W</a:t>
            </a:r>
            <a:r>
              <a:rPr sz="2100" spc="187" baseline="-15873" dirty="0">
                <a:latin typeface="Cambria"/>
                <a:cs typeface="Cambria"/>
              </a:rPr>
              <a:t>h</a:t>
            </a:r>
            <a:r>
              <a:rPr sz="2100" spc="660" baseline="-15873" dirty="0">
                <a:latin typeface="Cambria"/>
                <a:cs typeface="Cambria"/>
              </a:rPr>
              <a:t>ƒ</a:t>
            </a:r>
            <a:r>
              <a:rPr sz="2100" baseline="-15873" dirty="0">
                <a:latin typeface="Cambria"/>
                <a:cs typeface="Cambria"/>
              </a:rPr>
              <a:t> </a:t>
            </a:r>
            <a:r>
              <a:rPr sz="2100" spc="-104" baseline="-15873" dirty="0">
                <a:latin typeface="Cambria"/>
                <a:cs typeface="Cambria"/>
              </a:rPr>
              <a:t> </a:t>
            </a:r>
            <a:r>
              <a:rPr sz="1950" spc="5" dirty="0">
                <a:latin typeface="Cambria"/>
                <a:cs typeface="Cambria"/>
              </a:rPr>
              <a:t>.</a:t>
            </a:r>
            <a:r>
              <a:rPr sz="1950" spc="-105" dirty="0">
                <a:latin typeface="Cambria"/>
                <a:cs typeface="Cambria"/>
              </a:rPr>
              <a:t> </a:t>
            </a:r>
            <a:r>
              <a:rPr sz="1950" spc="20" dirty="0">
                <a:latin typeface="Cambria"/>
                <a:cs typeface="Cambria"/>
              </a:rPr>
              <a:t>ℎ</a:t>
            </a:r>
            <a:r>
              <a:rPr sz="2100" spc="292" baseline="-15873" dirty="0">
                <a:latin typeface="Cambria"/>
                <a:cs typeface="Cambria"/>
              </a:rPr>
              <a:t>t</a:t>
            </a:r>
            <a:r>
              <a:rPr sz="2100" spc="525" baseline="-15873" dirty="0">
                <a:latin typeface="Cambria"/>
                <a:cs typeface="Cambria"/>
              </a:rPr>
              <a:t>–</a:t>
            </a:r>
            <a:r>
              <a:rPr sz="2100" spc="82" baseline="-15873" dirty="0">
                <a:latin typeface="Cambria"/>
                <a:cs typeface="Cambria"/>
              </a:rPr>
              <a:t>1</a:t>
            </a:r>
            <a:r>
              <a:rPr sz="2100" baseline="-15873" dirty="0">
                <a:latin typeface="Cambria"/>
                <a:cs typeface="Cambria"/>
              </a:rPr>
              <a:t> </a:t>
            </a:r>
            <a:r>
              <a:rPr sz="2100" spc="-142" baseline="-15873" dirty="0">
                <a:latin typeface="Cambria"/>
                <a:cs typeface="Cambria"/>
              </a:rPr>
              <a:t> </a:t>
            </a:r>
            <a:r>
              <a:rPr sz="1950" spc="395" dirty="0">
                <a:latin typeface="Cambria"/>
                <a:cs typeface="Cambria"/>
              </a:rPr>
              <a:t>+</a:t>
            </a:r>
            <a:r>
              <a:rPr sz="1950" spc="10" dirty="0">
                <a:latin typeface="Cambria"/>
                <a:cs typeface="Cambria"/>
              </a:rPr>
              <a:t> </a:t>
            </a:r>
            <a:r>
              <a:rPr sz="1950" spc="-180" dirty="0">
                <a:latin typeface="Cambria"/>
                <a:cs typeface="Cambria"/>
              </a:rPr>
              <a:t>b</a:t>
            </a:r>
            <a:r>
              <a:rPr sz="2100" spc="832" baseline="-15873" dirty="0">
                <a:latin typeface="Cambria"/>
                <a:cs typeface="Cambria"/>
              </a:rPr>
              <a:t>ƒ</a:t>
            </a:r>
            <a:r>
              <a:rPr sz="1950" spc="75" dirty="0">
                <a:latin typeface="Cambria"/>
                <a:cs typeface="Cambria"/>
              </a:rPr>
              <a:t>)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70877" y="1051051"/>
            <a:ext cx="120142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Forget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10" dirty="0">
                <a:solidFill>
                  <a:srgbClr val="FF0000"/>
                </a:solidFill>
                <a:latin typeface="Calibri"/>
                <a:cs typeface="Calibri"/>
              </a:rPr>
              <a:t>Gate: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38321" y="3665220"/>
            <a:ext cx="1164590" cy="386080"/>
          </a:xfrm>
          <a:custGeom>
            <a:avLst/>
            <a:gdLst/>
            <a:ahLst/>
            <a:cxnLst/>
            <a:rect l="l" t="t" r="r" b="b"/>
            <a:pathLst>
              <a:path w="1164590" h="386079">
                <a:moveTo>
                  <a:pt x="1164335" y="385571"/>
                </a:moveTo>
                <a:lnTo>
                  <a:pt x="1164335" y="0"/>
                </a:lnTo>
                <a:lnTo>
                  <a:pt x="0" y="0"/>
                </a:lnTo>
                <a:lnTo>
                  <a:pt x="0" y="385571"/>
                </a:lnTo>
                <a:lnTo>
                  <a:pt x="1164335" y="385571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38321" y="3665220"/>
            <a:ext cx="666750" cy="35433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69850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550"/>
              </a:spcBef>
            </a:pPr>
            <a:r>
              <a:rPr sz="1450" spc="100" dirty="0">
                <a:latin typeface="Cambria"/>
                <a:cs typeface="Cambria"/>
              </a:rPr>
              <a:t>W</a:t>
            </a:r>
            <a:r>
              <a:rPr sz="1650" spc="150" baseline="-15151" dirty="0">
                <a:latin typeface="Cambria"/>
                <a:cs typeface="Cambria"/>
              </a:rPr>
              <a:t>xƒ</a:t>
            </a:r>
            <a:r>
              <a:rPr sz="1650" spc="300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04570" y="3714000"/>
            <a:ext cx="450850" cy="309880"/>
          </a:xfrm>
          <a:custGeom>
            <a:avLst/>
            <a:gdLst/>
            <a:ahLst/>
            <a:cxnLst/>
            <a:rect l="l" t="t" r="r" b="b"/>
            <a:pathLst>
              <a:path w="450850" h="309879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09372"/>
                </a:lnTo>
                <a:lnTo>
                  <a:pt x="16497" y="309372"/>
                </a:lnTo>
                <a:lnTo>
                  <a:pt x="43929" y="309372"/>
                </a:lnTo>
                <a:lnTo>
                  <a:pt x="43929" y="301752"/>
                </a:lnTo>
                <a:lnTo>
                  <a:pt x="16510" y="301752"/>
                </a:lnTo>
                <a:lnTo>
                  <a:pt x="16510" y="7620"/>
                </a:lnTo>
                <a:lnTo>
                  <a:pt x="44450" y="7620"/>
                </a:lnTo>
                <a:lnTo>
                  <a:pt x="44450" y="0"/>
                </a:lnTo>
                <a:close/>
              </a:path>
              <a:path w="450850" h="309879">
                <a:moveTo>
                  <a:pt x="434073" y="301752"/>
                </a:moveTo>
                <a:lnTo>
                  <a:pt x="406641" y="301752"/>
                </a:lnTo>
                <a:lnTo>
                  <a:pt x="406641" y="309372"/>
                </a:lnTo>
                <a:lnTo>
                  <a:pt x="434073" y="309372"/>
                </a:lnTo>
                <a:lnTo>
                  <a:pt x="434073" y="301752"/>
                </a:lnTo>
                <a:close/>
              </a:path>
              <a:path w="450850" h="309879">
                <a:moveTo>
                  <a:pt x="450850" y="0"/>
                </a:moveTo>
                <a:lnTo>
                  <a:pt x="434340" y="0"/>
                </a:lnTo>
                <a:lnTo>
                  <a:pt x="406400" y="0"/>
                </a:lnTo>
                <a:lnTo>
                  <a:pt x="406400" y="7620"/>
                </a:lnTo>
                <a:lnTo>
                  <a:pt x="434340" y="7620"/>
                </a:lnTo>
                <a:lnTo>
                  <a:pt x="434340" y="309372"/>
                </a:lnTo>
                <a:lnTo>
                  <a:pt x="450850" y="309372"/>
                </a:lnTo>
                <a:lnTo>
                  <a:pt x="4508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021080" y="3615942"/>
            <a:ext cx="417830" cy="4737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135"/>
              </a:spcBef>
            </a:pPr>
            <a:r>
              <a:rPr sz="1450" spc="15" dirty="0">
                <a:latin typeface="Cambria"/>
                <a:cs typeface="Cambria"/>
              </a:rPr>
              <a:t>0.70</a:t>
            </a:r>
            <a:endParaRPr sz="1450">
              <a:latin typeface="Cambria"/>
              <a:cs typeface="Cambria"/>
            </a:endParaRPr>
          </a:p>
          <a:p>
            <a:pPr marL="29845">
              <a:lnSpc>
                <a:spcPct val="100000"/>
              </a:lnSpc>
            </a:pPr>
            <a:r>
              <a:rPr sz="1450" spc="15" dirty="0">
                <a:latin typeface="Cambria"/>
                <a:cs typeface="Cambria"/>
              </a:rPr>
              <a:t>0.45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740407" y="3735323"/>
            <a:ext cx="1161415" cy="247015"/>
            <a:chOff x="1740407" y="3735323"/>
            <a:chExt cx="1161415" cy="247015"/>
          </a:xfrm>
        </p:grpSpPr>
        <p:sp>
          <p:nvSpPr>
            <p:cNvPr id="24" name="object 24"/>
            <p:cNvSpPr/>
            <p:nvPr/>
          </p:nvSpPr>
          <p:spPr>
            <a:xfrm>
              <a:off x="1740407" y="3735323"/>
              <a:ext cx="1161415" cy="247015"/>
            </a:xfrm>
            <a:custGeom>
              <a:avLst/>
              <a:gdLst/>
              <a:ahLst/>
              <a:cxnLst/>
              <a:rect l="l" t="t" r="r" b="b"/>
              <a:pathLst>
                <a:path w="1161414" h="247014">
                  <a:moveTo>
                    <a:pt x="1161287" y="246887"/>
                  </a:moveTo>
                  <a:lnTo>
                    <a:pt x="1161287" y="0"/>
                  </a:lnTo>
                  <a:lnTo>
                    <a:pt x="0" y="0"/>
                  </a:lnTo>
                  <a:lnTo>
                    <a:pt x="0" y="246887"/>
                  </a:lnTo>
                  <a:lnTo>
                    <a:pt x="1161287" y="246887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409190" y="3773436"/>
              <a:ext cx="445770" cy="177165"/>
            </a:xfrm>
            <a:custGeom>
              <a:avLst/>
              <a:gdLst/>
              <a:ahLst/>
              <a:cxnLst/>
              <a:rect l="l" t="t" r="r" b="b"/>
              <a:pathLst>
                <a:path w="445769" h="177164">
                  <a:moveTo>
                    <a:pt x="41402" y="169164"/>
                  </a:moveTo>
                  <a:lnTo>
                    <a:pt x="15494" y="169164"/>
                  </a:lnTo>
                  <a:lnTo>
                    <a:pt x="15494" y="176784"/>
                  </a:lnTo>
                  <a:lnTo>
                    <a:pt x="41402" y="176784"/>
                  </a:lnTo>
                  <a:lnTo>
                    <a:pt x="41402" y="169164"/>
                  </a:lnTo>
                  <a:close/>
                </a:path>
                <a:path w="445769" h="177164">
                  <a:moveTo>
                    <a:pt x="41910" y="0"/>
                  </a:moveTo>
                  <a:lnTo>
                    <a:pt x="15240" y="0"/>
                  </a:lnTo>
                  <a:lnTo>
                    <a:pt x="0" y="0"/>
                  </a:lnTo>
                  <a:lnTo>
                    <a:pt x="0" y="176784"/>
                  </a:lnTo>
                  <a:lnTo>
                    <a:pt x="15240" y="176784"/>
                  </a:lnTo>
                  <a:lnTo>
                    <a:pt x="15240" y="7620"/>
                  </a:lnTo>
                  <a:lnTo>
                    <a:pt x="41910" y="7620"/>
                  </a:lnTo>
                  <a:lnTo>
                    <a:pt x="41910" y="0"/>
                  </a:lnTo>
                  <a:close/>
                </a:path>
                <a:path w="445769" h="177164">
                  <a:moveTo>
                    <a:pt x="430022" y="169164"/>
                  </a:moveTo>
                  <a:lnTo>
                    <a:pt x="404114" y="169164"/>
                  </a:lnTo>
                  <a:lnTo>
                    <a:pt x="404114" y="176784"/>
                  </a:lnTo>
                  <a:lnTo>
                    <a:pt x="430022" y="176784"/>
                  </a:lnTo>
                  <a:lnTo>
                    <a:pt x="430022" y="169164"/>
                  </a:lnTo>
                  <a:close/>
                </a:path>
                <a:path w="445769" h="177164">
                  <a:moveTo>
                    <a:pt x="445770" y="0"/>
                  </a:moveTo>
                  <a:lnTo>
                    <a:pt x="430530" y="0"/>
                  </a:lnTo>
                  <a:lnTo>
                    <a:pt x="403860" y="0"/>
                  </a:lnTo>
                  <a:lnTo>
                    <a:pt x="403860" y="7620"/>
                  </a:lnTo>
                  <a:lnTo>
                    <a:pt x="430530" y="7620"/>
                  </a:lnTo>
                  <a:lnTo>
                    <a:pt x="430530" y="176784"/>
                  </a:lnTo>
                  <a:lnTo>
                    <a:pt x="445770" y="176784"/>
                  </a:lnTo>
                  <a:lnTo>
                    <a:pt x="4457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740407" y="3735323"/>
            <a:ext cx="1161415" cy="247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705"/>
              </a:lnSpc>
              <a:tabLst>
                <a:tab pos="713105" algn="l"/>
              </a:tabLst>
            </a:pPr>
            <a:r>
              <a:rPr sz="1450" spc="90" dirty="0">
                <a:latin typeface="Cambria"/>
                <a:cs typeface="Cambria"/>
              </a:rPr>
              <a:t>W</a:t>
            </a:r>
            <a:r>
              <a:rPr sz="1650" spc="135" baseline="-15151" dirty="0">
                <a:latin typeface="Cambria"/>
                <a:cs typeface="Cambria"/>
              </a:rPr>
              <a:t>hƒ</a:t>
            </a:r>
            <a:r>
              <a:rPr sz="1650" spc="352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	</a:t>
            </a:r>
            <a:r>
              <a:rPr sz="1450" spc="15" dirty="0">
                <a:latin typeface="Cambria"/>
                <a:cs typeface="Cambria"/>
              </a:rPr>
              <a:t>0.10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206495" y="3735323"/>
            <a:ext cx="1004569" cy="247015"/>
            <a:chOff x="3206495" y="3735323"/>
            <a:chExt cx="1004569" cy="247015"/>
          </a:xfrm>
        </p:grpSpPr>
        <p:sp>
          <p:nvSpPr>
            <p:cNvPr id="28" name="object 28"/>
            <p:cNvSpPr/>
            <p:nvPr/>
          </p:nvSpPr>
          <p:spPr>
            <a:xfrm>
              <a:off x="3206495" y="3735323"/>
              <a:ext cx="1004569" cy="247015"/>
            </a:xfrm>
            <a:custGeom>
              <a:avLst/>
              <a:gdLst/>
              <a:ahLst/>
              <a:cxnLst/>
              <a:rect l="l" t="t" r="r" b="b"/>
              <a:pathLst>
                <a:path w="1004570" h="247014">
                  <a:moveTo>
                    <a:pt x="1004315" y="246887"/>
                  </a:moveTo>
                  <a:lnTo>
                    <a:pt x="1004315" y="0"/>
                  </a:lnTo>
                  <a:lnTo>
                    <a:pt x="0" y="0"/>
                  </a:lnTo>
                  <a:lnTo>
                    <a:pt x="0" y="246887"/>
                  </a:lnTo>
                  <a:lnTo>
                    <a:pt x="1004315" y="246887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718560" y="3773436"/>
              <a:ext cx="444500" cy="177165"/>
            </a:xfrm>
            <a:custGeom>
              <a:avLst/>
              <a:gdLst/>
              <a:ahLst/>
              <a:cxnLst/>
              <a:rect l="l" t="t" r="r" b="b"/>
              <a:pathLst>
                <a:path w="444500" h="177164">
                  <a:moveTo>
                    <a:pt x="42672" y="169164"/>
                  </a:moveTo>
                  <a:lnTo>
                    <a:pt x="16764" y="169164"/>
                  </a:lnTo>
                  <a:lnTo>
                    <a:pt x="16764" y="176784"/>
                  </a:lnTo>
                  <a:lnTo>
                    <a:pt x="42672" y="176784"/>
                  </a:lnTo>
                  <a:lnTo>
                    <a:pt x="42672" y="169164"/>
                  </a:lnTo>
                  <a:close/>
                </a:path>
                <a:path w="444500" h="177164">
                  <a:moveTo>
                    <a:pt x="43180" y="0"/>
                  </a:moveTo>
                  <a:lnTo>
                    <a:pt x="16510" y="0"/>
                  </a:lnTo>
                  <a:lnTo>
                    <a:pt x="0" y="0"/>
                  </a:lnTo>
                  <a:lnTo>
                    <a:pt x="0" y="176784"/>
                  </a:lnTo>
                  <a:lnTo>
                    <a:pt x="16510" y="176784"/>
                  </a:lnTo>
                  <a:lnTo>
                    <a:pt x="16510" y="7620"/>
                  </a:lnTo>
                  <a:lnTo>
                    <a:pt x="43180" y="7620"/>
                  </a:lnTo>
                  <a:lnTo>
                    <a:pt x="43180" y="0"/>
                  </a:lnTo>
                  <a:close/>
                </a:path>
                <a:path w="444500" h="177164">
                  <a:moveTo>
                    <a:pt x="444500" y="0"/>
                  </a:moveTo>
                  <a:lnTo>
                    <a:pt x="429260" y="0"/>
                  </a:lnTo>
                  <a:lnTo>
                    <a:pt x="403860" y="0"/>
                  </a:lnTo>
                  <a:lnTo>
                    <a:pt x="403860" y="7620"/>
                  </a:lnTo>
                  <a:lnTo>
                    <a:pt x="429260" y="7620"/>
                  </a:lnTo>
                  <a:lnTo>
                    <a:pt x="429260" y="169164"/>
                  </a:lnTo>
                  <a:lnTo>
                    <a:pt x="403860" y="169164"/>
                  </a:lnTo>
                  <a:lnTo>
                    <a:pt x="403860" y="176784"/>
                  </a:lnTo>
                  <a:lnTo>
                    <a:pt x="429260" y="176784"/>
                  </a:lnTo>
                  <a:lnTo>
                    <a:pt x="429768" y="176784"/>
                  </a:lnTo>
                  <a:lnTo>
                    <a:pt x="444500" y="176784"/>
                  </a:lnTo>
                  <a:lnTo>
                    <a:pt x="4445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206495" y="3735323"/>
            <a:ext cx="1004569" cy="247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">
              <a:lnSpc>
                <a:spcPts val="1705"/>
              </a:lnSpc>
              <a:tabLst>
                <a:tab pos="555625" algn="l"/>
              </a:tabLst>
            </a:pPr>
            <a:r>
              <a:rPr sz="1450" spc="95" dirty="0">
                <a:latin typeface="Cambria"/>
                <a:cs typeface="Cambria"/>
              </a:rPr>
              <a:t>b</a:t>
            </a:r>
            <a:r>
              <a:rPr sz="1650" spc="142" baseline="-15151" dirty="0">
                <a:latin typeface="Cambria"/>
                <a:cs typeface="Cambria"/>
              </a:rPr>
              <a:t>ƒ</a:t>
            </a:r>
            <a:r>
              <a:rPr sz="1650" spc="382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	</a:t>
            </a:r>
            <a:r>
              <a:rPr sz="1450" spc="15" dirty="0">
                <a:latin typeface="Cambria"/>
                <a:cs typeface="Cambria"/>
              </a:rPr>
              <a:t>0.15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39851" y="4435854"/>
            <a:ext cx="268605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50" spc="75" dirty="0">
                <a:latin typeface="Cambria"/>
                <a:cs typeface="Cambria"/>
              </a:rPr>
              <a:t>f</a:t>
            </a:r>
            <a:r>
              <a:rPr sz="1650" spc="112" baseline="-15151" dirty="0">
                <a:latin typeface="Cambria"/>
                <a:cs typeface="Cambria"/>
              </a:rPr>
              <a:t>0</a:t>
            </a:r>
            <a:r>
              <a:rPr sz="1450" spc="75" dirty="0">
                <a:latin typeface="Calibri"/>
                <a:cs typeface="Calibri"/>
              </a:rPr>
              <a:t>=</a:t>
            </a:r>
            <a:r>
              <a:rPr sz="1450" spc="5" dirty="0">
                <a:latin typeface="Calibri"/>
                <a:cs typeface="Calibri"/>
              </a:rPr>
              <a:t> </a:t>
            </a:r>
            <a:r>
              <a:rPr sz="1450" spc="40" dirty="0">
                <a:latin typeface="Cambria"/>
                <a:cs typeface="Cambria"/>
              </a:rPr>
              <a:t>σ </a:t>
            </a:r>
            <a:r>
              <a:rPr sz="1450" spc="95" dirty="0">
                <a:latin typeface="Cambria"/>
                <a:cs typeface="Cambria"/>
              </a:rPr>
              <a:t>(W</a:t>
            </a:r>
            <a:r>
              <a:rPr sz="1650" spc="142" baseline="-15151" dirty="0">
                <a:latin typeface="Cambria"/>
                <a:cs typeface="Cambria"/>
              </a:rPr>
              <a:t>xƒ</a:t>
            </a:r>
            <a:r>
              <a:rPr sz="1650" spc="225" baseline="-15151" dirty="0">
                <a:latin typeface="Cambria"/>
                <a:cs typeface="Cambria"/>
              </a:rPr>
              <a:t> </a:t>
            </a:r>
            <a:r>
              <a:rPr sz="1450" spc="5" dirty="0">
                <a:latin typeface="Cambria"/>
                <a:cs typeface="Cambria"/>
              </a:rPr>
              <a:t>.</a:t>
            </a:r>
            <a:r>
              <a:rPr sz="1450" spc="-65" dirty="0">
                <a:latin typeface="Cambria"/>
                <a:cs typeface="Cambria"/>
              </a:rPr>
              <a:t> </a:t>
            </a:r>
            <a:r>
              <a:rPr sz="1450" spc="45" dirty="0">
                <a:latin typeface="Cambria"/>
                <a:cs typeface="Cambria"/>
              </a:rPr>
              <a:t>x</a:t>
            </a:r>
            <a:r>
              <a:rPr sz="1650" spc="67" baseline="-15151" dirty="0">
                <a:latin typeface="Cambria"/>
                <a:cs typeface="Cambria"/>
              </a:rPr>
              <a:t>0</a:t>
            </a:r>
            <a:r>
              <a:rPr sz="1650" spc="202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+</a:t>
            </a:r>
            <a:r>
              <a:rPr sz="1450" dirty="0">
                <a:latin typeface="Cambria"/>
                <a:cs typeface="Cambria"/>
              </a:rPr>
              <a:t> </a:t>
            </a:r>
            <a:r>
              <a:rPr sz="1450" spc="90" dirty="0">
                <a:latin typeface="Cambria"/>
                <a:cs typeface="Cambria"/>
              </a:rPr>
              <a:t>W</a:t>
            </a:r>
            <a:r>
              <a:rPr sz="1650" spc="135" baseline="-15151" dirty="0">
                <a:latin typeface="Cambria"/>
                <a:cs typeface="Cambria"/>
              </a:rPr>
              <a:t>hƒ</a:t>
            </a:r>
            <a:r>
              <a:rPr sz="1650" spc="232" baseline="-15151" dirty="0">
                <a:latin typeface="Cambria"/>
                <a:cs typeface="Cambria"/>
              </a:rPr>
              <a:t> </a:t>
            </a:r>
            <a:r>
              <a:rPr sz="1450" spc="5" dirty="0">
                <a:latin typeface="Cambria"/>
                <a:cs typeface="Cambria"/>
              </a:rPr>
              <a:t>.</a:t>
            </a:r>
            <a:r>
              <a:rPr sz="1450" spc="-70" dirty="0">
                <a:latin typeface="Cambria"/>
                <a:cs typeface="Cambria"/>
              </a:rPr>
              <a:t> </a:t>
            </a:r>
            <a:r>
              <a:rPr sz="1450" spc="90" dirty="0">
                <a:latin typeface="Cambria"/>
                <a:cs typeface="Cambria"/>
              </a:rPr>
              <a:t>ℎ</a:t>
            </a:r>
            <a:r>
              <a:rPr sz="1650" spc="135" baseline="-15151" dirty="0">
                <a:latin typeface="Cambria"/>
                <a:cs typeface="Cambria"/>
              </a:rPr>
              <a:t>–1</a:t>
            </a:r>
            <a:r>
              <a:rPr sz="1650" spc="195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+</a:t>
            </a:r>
            <a:r>
              <a:rPr sz="1450" dirty="0">
                <a:latin typeface="Cambria"/>
                <a:cs typeface="Cambria"/>
              </a:rPr>
              <a:t> </a:t>
            </a:r>
            <a:r>
              <a:rPr sz="1450" spc="114" dirty="0">
                <a:latin typeface="Cambria"/>
                <a:cs typeface="Cambria"/>
              </a:rPr>
              <a:t>b</a:t>
            </a:r>
            <a:r>
              <a:rPr sz="1650" spc="172" baseline="-15151" dirty="0">
                <a:latin typeface="Cambria"/>
                <a:cs typeface="Cambria"/>
              </a:rPr>
              <a:t>ƒ</a:t>
            </a:r>
            <a:r>
              <a:rPr sz="1450" spc="114" dirty="0">
                <a:latin typeface="Cambria"/>
                <a:cs typeface="Cambria"/>
              </a:rPr>
              <a:t>)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947672" y="4919484"/>
            <a:ext cx="41275" cy="177165"/>
          </a:xfrm>
          <a:custGeom>
            <a:avLst/>
            <a:gdLst/>
            <a:ahLst/>
            <a:cxnLst/>
            <a:rect l="l" t="t" r="r" b="b"/>
            <a:pathLst>
              <a:path w="41275" h="177164">
                <a:moveTo>
                  <a:pt x="41148" y="0"/>
                </a:moveTo>
                <a:lnTo>
                  <a:pt x="25908" y="0"/>
                </a:lnTo>
                <a:lnTo>
                  <a:pt x="508" y="0"/>
                </a:lnTo>
                <a:lnTo>
                  <a:pt x="508" y="7620"/>
                </a:lnTo>
                <a:lnTo>
                  <a:pt x="25908" y="7620"/>
                </a:lnTo>
                <a:lnTo>
                  <a:pt x="25908" y="169164"/>
                </a:lnTo>
                <a:lnTo>
                  <a:pt x="0" y="169164"/>
                </a:lnTo>
                <a:lnTo>
                  <a:pt x="0" y="176784"/>
                </a:lnTo>
                <a:lnTo>
                  <a:pt x="25908" y="176784"/>
                </a:lnTo>
                <a:lnTo>
                  <a:pt x="41148" y="176784"/>
                </a:lnTo>
                <a:lnTo>
                  <a:pt x="411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00760" y="4919484"/>
            <a:ext cx="41910" cy="177165"/>
          </a:xfrm>
          <a:custGeom>
            <a:avLst/>
            <a:gdLst/>
            <a:ahLst/>
            <a:cxnLst/>
            <a:rect l="l" t="t" r="r" b="b"/>
            <a:pathLst>
              <a:path w="41909" h="177164">
                <a:moveTo>
                  <a:pt x="41643" y="169164"/>
                </a:moveTo>
                <a:lnTo>
                  <a:pt x="15735" y="169164"/>
                </a:lnTo>
                <a:lnTo>
                  <a:pt x="15735" y="176784"/>
                </a:lnTo>
                <a:lnTo>
                  <a:pt x="41643" y="176784"/>
                </a:lnTo>
                <a:lnTo>
                  <a:pt x="41643" y="169164"/>
                </a:lnTo>
                <a:close/>
              </a:path>
              <a:path w="41909" h="177164">
                <a:moveTo>
                  <a:pt x="4191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6784"/>
                </a:lnTo>
                <a:lnTo>
                  <a:pt x="15240" y="176784"/>
                </a:lnTo>
                <a:lnTo>
                  <a:pt x="15240" y="7620"/>
                </a:lnTo>
                <a:lnTo>
                  <a:pt x="41910" y="762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260092" y="4853952"/>
            <a:ext cx="43815" cy="309880"/>
          </a:xfrm>
          <a:custGeom>
            <a:avLst/>
            <a:gdLst/>
            <a:ahLst/>
            <a:cxnLst/>
            <a:rect l="l" t="t" r="r" b="b"/>
            <a:pathLst>
              <a:path w="43814" h="309879">
                <a:moveTo>
                  <a:pt x="43688" y="0"/>
                </a:moveTo>
                <a:lnTo>
                  <a:pt x="27178" y="0"/>
                </a:lnTo>
                <a:lnTo>
                  <a:pt x="508" y="0"/>
                </a:lnTo>
                <a:lnTo>
                  <a:pt x="508" y="7620"/>
                </a:lnTo>
                <a:lnTo>
                  <a:pt x="27178" y="7620"/>
                </a:lnTo>
                <a:lnTo>
                  <a:pt x="27178" y="301752"/>
                </a:lnTo>
                <a:lnTo>
                  <a:pt x="0" y="301752"/>
                </a:lnTo>
                <a:lnTo>
                  <a:pt x="0" y="309372"/>
                </a:lnTo>
                <a:lnTo>
                  <a:pt x="27178" y="309372"/>
                </a:lnTo>
                <a:lnTo>
                  <a:pt x="27432" y="309372"/>
                </a:lnTo>
                <a:lnTo>
                  <a:pt x="43688" y="309372"/>
                </a:lnTo>
                <a:lnTo>
                  <a:pt x="436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103120" y="4853952"/>
            <a:ext cx="44450" cy="309880"/>
          </a:xfrm>
          <a:custGeom>
            <a:avLst/>
            <a:gdLst/>
            <a:ahLst/>
            <a:cxnLst/>
            <a:rect l="l" t="t" r="r" b="b"/>
            <a:pathLst>
              <a:path w="44450" h="309879">
                <a:moveTo>
                  <a:pt x="44196" y="301752"/>
                </a:moveTo>
                <a:lnTo>
                  <a:pt x="16764" y="301752"/>
                </a:lnTo>
                <a:lnTo>
                  <a:pt x="16764" y="309372"/>
                </a:lnTo>
                <a:lnTo>
                  <a:pt x="44196" y="309372"/>
                </a:lnTo>
                <a:lnTo>
                  <a:pt x="44196" y="301752"/>
                </a:lnTo>
                <a:close/>
              </a:path>
              <a:path w="44450" h="309879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09372"/>
                </a:lnTo>
                <a:lnTo>
                  <a:pt x="16510" y="309372"/>
                </a:lnTo>
                <a:lnTo>
                  <a:pt x="16510" y="7620"/>
                </a:lnTo>
                <a:lnTo>
                  <a:pt x="44450" y="7620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137663" y="4979922"/>
            <a:ext cx="13017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20" dirty="0">
                <a:latin typeface="Cambria"/>
                <a:cs typeface="Cambria"/>
              </a:rPr>
              <a:t>2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974340" y="4919484"/>
            <a:ext cx="41910" cy="177165"/>
          </a:xfrm>
          <a:custGeom>
            <a:avLst/>
            <a:gdLst/>
            <a:ahLst/>
            <a:cxnLst/>
            <a:rect l="l" t="t" r="r" b="b"/>
            <a:pathLst>
              <a:path w="41910" h="177164">
                <a:moveTo>
                  <a:pt x="26416" y="169164"/>
                </a:moveTo>
                <a:lnTo>
                  <a:pt x="508" y="169164"/>
                </a:lnTo>
                <a:lnTo>
                  <a:pt x="508" y="176784"/>
                </a:lnTo>
                <a:lnTo>
                  <a:pt x="26416" y="176784"/>
                </a:lnTo>
                <a:lnTo>
                  <a:pt x="26416" y="169164"/>
                </a:lnTo>
                <a:close/>
              </a:path>
              <a:path w="41910" h="177164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7620"/>
                </a:lnTo>
                <a:lnTo>
                  <a:pt x="26670" y="7620"/>
                </a:lnTo>
                <a:lnTo>
                  <a:pt x="26670" y="176784"/>
                </a:lnTo>
                <a:lnTo>
                  <a:pt x="41910" y="176784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570480" y="4919484"/>
            <a:ext cx="41910" cy="177165"/>
          </a:xfrm>
          <a:custGeom>
            <a:avLst/>
            <a:gdLst/>
            <a:ahLst/>
            <a:cxnLst/>
            <a:rect l="l" t="t" r="r" b="b"/>
            <a:pathLst>
              <a:path w="41910" h="177164">
                <a:moveTo>
                  <a:pt x="41656" y="169164"/>
                </a:moveTo>
                <a:lnTo>
                  <a:pt x="15748" y="169164"/>
                </a:lnTo>
                <a:lnTo>
                  <a:pt x="15748" y="176784"/>
                </a:lnTo>
                <a:lnTo>
                  <a:pt x="41656" y="176784"/>
                </a:lnTo>
                <a:lnTo>
                  <a:pt x="41656" y="169164"/>
                </a:lnTo>
                <a:close/>
              </a:path>
              <a:path w="41910" h="177164">
                <a:moveTo>
                  <a:pt x="4191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6784"/>
                </a:lnTo>
                <a:lnTo>
                  <a:pt x="15240" y="176784"/>
                </a:lnTo>
                <a:lnTo>
                  <a:pt x="15240" y="7620"/>
                </a:lnTo>
                <a:lnTo>
                  <a:pt x="41910" y="762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429000" y="4919484"/>
            <a:ext cx="40640" cy="177165"/>
          </a:xfrm>
          <a:custGeom>
            <a:avLst/>
            <a:gdLst/>
            <a:ahLst/>
            <a:cxnLst/>
            <a:rect l="l" t="t" r="r" b="b"/>
            <a:pathLst>
              <a:path w="40639" h="177164">
                <a:moveTo>
                  <a:pt x="40640" y="0"/>
                </a:moveTo>
                <a:lnTo>
                  <a:pt x="25400" y="0"/>
                </a:lnTo>
                <a:lnTo>
                  <a:pt x="0" y="0"/>
                </a:lnTo>
                <a:lnTo>
                  <a:pt x="0" y="7620"/>
                </a:lnTo>
                <a:lnTo>
                  <a:pt x="25400" y="7620"/>
                </a:lnTo>
                <a:lnTo>
                  <a:pt x="25400" y="169164"/>
                </a:lnTo>
                <a:lnTo>
                  <a:pt x="0" y="169164"/>
                </a:lnTo>
                <a:lnTo>
                  <a:pt x="0" y="176784"/>
                </a:lnTo>
                <a:lnTo>
                  <a:pt x="25400" y="176784"/>
                </a:lnTo>
                <a:lnTo>
                  <a:pt x="25908" y="176784"/>
                </a:lnTo>
                <a:lnTo>
                  <a:pt x="40640" y="176784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275330" y="4919484"/>
            <a:ext cx="41275" cy="177165"/>
          </a:xfrm>
          <a:custGeom>
            <a:avLst/>
            <a:gdLst/>
            <a:ahLst/>
            <a:cxnLst/>
            <a:rect l="l" t="t" r="r" b="b"/>
            <a:pathLst>
              <a:path w="41275" h="177164">
                <a:moveTo>
                  <a:pt x="40894" y="169164"/>
                </a:moveTo>
                <a:lnTo>
                  <a:pt x="15240" y="169164"/>
                </a:lnTo>
                <a:lnTo>
                  <a:pt x="15240" y="7620"/>
                </a:lnTo>
                <a:lnTo>
                  <a:pt x="40640" y="7620"/>
                </a:lnTo>
                <a:lnTo>
                  <a:pt x="40640" y="0"/>
                </a:lnTo>
                <a:lnTo>
                  <a:pt x="15240" y="0"/>
                </a:lnTo>
                <a:lnTo>
                  <a:pt x="0" y="0"/>
                </a:lnTo>
                <a:lnTo>
                  <a:pt x="0" y="176784"/>
                </a:lnTo>
                <a:lnTo>
                  <a:pt x="14986" y="176784"/>
                </a:lnTo>
                <a:lnTo>
                  <a:pt x="15240" y="176784"/>
                </a:lnTo>
                <a:lnTo>
                  <a:pt x="40894" y="176784"/>
                </a:lnTo>
                <a:lnTo>
                  <a:pt x="40894" y="169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15975" y="4870193"/>
            <a:ext cx="4015104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35"/>
              </a:spcBef>
              <a:tabLst>
                <a:tab pos="1271905" algn="l"/>
                <a:tab pos="1833880" algn="l"/>
              </a:tabLst>
            </a:pPr>
            <a:r>
              <a:rPr sz="2175" spc="120" baseline="3831" dirty="0">
                <a:latin typeface="Cambria"/>
                <a:cs typeface="Cambria"/>
              </a:rPr>
              <a:t>f</a:t>
            </a:r>
            <a:r>
              <a:rPr sz="1650" spc="120" baseline="-10101" dirty="0">
                <a:latin typeface="Cambria"/>
                <a:cs typeface="Cambria"/>
              </a:rPr>
              <a:t>0</a:t>
            </a:r>
            <a:r>
              <a:rPr sz="1650" spc="330" baseline="-10101" dirty="0">
                <a:latin typeface="Cambria"/>
                <a:cs typeface="Cambria"/>
              </a:rPr>
              <a:t> </a:t>
            </a:r>
            <a:r>
              <a:rPr sz="2175" spc="457" baseline="3831" dirty="0">
                <a:latin typeface="Cambria"/>
                <a:cs typeface="Cambria"/>
              </a:rPr>
              <a:t>=</a:t>
            </a:r>
            <a:r>
              <a:rPr sz="2175" spc="135" baseline="3831" dirty="0">
                <a:latin typeface="Cambria"/>
                <a:cs typeface="Cambria"/>
              </a:rPr>
              <a:t> </a:t>
            </a:r>
            <a:r>
              <a:rPr sz="2175" spc="104" baseline="3831" dirty="0">
                <a:latin typeface="Cambria"/>
                <a:cs typeface="Cambria"/>
              </a:rPr>
              <a:t>σ(</a:t>
            </a:r>
            <a:r>
              <a:rPr sz="2175" spc="307" baseline="3831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0.70	0.45	</a:t>
            </a:r>
            <a:r>
              <a:rPr sz="2175" spc="30" baseline="34482" dirty="0">
                <a:latin typeface="Cambria"/>
                <a:cs typeface="Cambria"/>
              </a:rPr>
              <a:t>1</a:t>
            </a:r>
            <a:r>
              <a:rPr sz="2175" spc="300" baseline="34482" dirty="0">
                <a:latin typeface="Cambria"/>
                <a:cs typeface="Cambria"/>
              </a:rPr>
              <a:t> </a:t>
            </a:r>
            <a:r>
              <a:rPr sz="2175" spc="457" baseline="3831" dirty="0">
                <a:latin typeface="Cambria"/>
                <a:cs typeface="Cambria"/>
              </a:rPr>
              <a:t>+</a:t>
            </a:r>
            <a:r>
              <a:rPr sz="2175" spc="780" baseline="3831" dirty="0">
                <a:latin typeface="Cambria"/>
                <a:cs typeface="Cambria"/>
              </a:rPr>
              <a:t> </a:t>
            </a:r>
            <a:r>
              <a:rPr sz="2175" spc="22" baseline="3831" dirty="0">
                <a:latin typeface="Cambria"/>
                <a:cs typeface="Cambria"/>
              </a:rPr>
              <a:t>0.10 </a:t>
            </a:r>
            <a:r>
              <a:rPr sz="2175" spc="270" baseline="3831" dirty="0">
                <a:latin typeface="Cambria"/>
                <a:cs typeface="Cambria"/>
              </a:rPr>
              <a:t> </a:t>
            </a:r>
            <a:r>
              <a:rPr sz="2175" spc="390" baseline="3831" dirty="0">
                <a:latin typeface="Cambria"/>
                <a:cs typeface="Cambria"/>
              </a:rPr>
              <a:t>×</a:t>
            </a:r>
            <a:r>
              <a:rPr sz="2175" spc="765" baseline="3831" dirty="0">
                <a:latin typeface="Cambria"/>
                <a:cs typeface="Cambria"/>
              </a:rPr>
              <a:t> </a:t>
            </a:r>
            <a:r>
              <a:rPr sz="2175" spc="30" baseline="3831" dirty="0">
                <a:latin typeface="Cambria"/>
                <a:cs typeface="Cambria"/>
              </a:rPr>
              <a:t>0 </a:t>
            </a:r>
            <a:r>
              <a:rPr sz="2175" spc="277" baseline="3831" dirty="0">
                <a:latin typeface="Cambria"/>
                <a:cs typeface="Cambria"/>
              </a:rPr>
              <a:t> </a:t>
            </a:r>
            <a:r>
              <a:rPr sz="2175" spc="457" baseline="3831" dirty="0">
                <a:latin typeface="Cambria"/>
                <a:cs typeface="Cambria"/>
              </a:rPr>
              <a:t>+</a:t>
            </a:r>
            <a:r>
              <a:rPr sz="2175" baseline="3831" dirty="0">
                <a:latin typeface="Cambria"/>
                <a:cs typeface="Cambria"/>
              </a:rPr>
              <a:t> </a:t>
            </a:r>
            <a:r>
              <a:rPr sz="2175" spc="30" baseline="3831" dirty="0">
                <a:latin typeface="Cambria"/>
                <a:cs typeface="Cambria"/>
              </a:rPr>
              <a:t>[0.15])</a:t>
            </a:r>
            <a:endParaRPr sz="2175" baseline="3831">
              <a:latin typeface="Cambria"/>
              <a:cs typeface="Cambria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45</a:t>
            </a:fld>
            <a:endParaRPr dirty="0"/>
          </a:p>
        </p:txBody>
      </p:sp>
      <p:sp>
        <p:nvSpPr>
          <p:cNvPr id="42" name="object 42"/>
          <p:cNvSpPr txBox="1"/>
          <p:nvPr/>
        </p:nvSpPr>
        <p:spPr>
          <a:xfrm>
            <a:off x="355085" y="5292851"/>
            <a:ext cx="1129665" cy="2286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4130">
              <a:lnSpc>
                <a:spcPts val="1670"/>
              </a:lnSpc>
            </a:pPr>
            <a:r>
              <a:rPr sz="1450" spc="80" dirty="0">
                <a:latin typeface="Cambria"/>
                <a:cs typeface="Cambria"/>
              </a:rPr>
              <a:t>f</a:t>
            </a:r>
            <a:r>
              <a:rPr sz="1650" spc="120" baseline="-15151" dirty="0">
                <a:latin typeface="Cambria"/>
                <a:cs typeface="Cambria"/>
              </a:rPr>
              <a:t>0</a:t>
            </a:r>
            <a:r>
              <a:rPr sz="1650" spc="300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r>
              <a:rPr sz="1450" spc="70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0.85195</a:t>
            </a:r>
            <a:endParaRPr sz="14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57649"/>
            <a:ext cx="4528185" cy="416559"/>
            <a:chOff x="0" y="1057649"/>
            <a:chExt cx="4528185" cy="416559"/>
          </a:xfrm>
        </p:grpSpPr>
        <p:sp>
          <p:nvSpPr>
            <p:cNvPr id="3" name="object 3"/>
            <p:cNvSpPr/>
            <p:nvPr/>
          </p:nvSpPr>
          <p:spPr>
            <a:xfrm>
              <a:off x="0" y="1057649"/>
              <a:ext cx="4520565" cy="408940"/>
            </a:xfrm>
            <a:custGeom>
              <a:avLst/>
              <a:gdLst/>
              <a:ahLst/>
              <a:cxnLst/>
              <a:rect l="l" t="t" r="r" b="b"/>
              <a:pathLst>
                <a:path w="4520565" h="408940">
                  <a:moveTo>
                    <a:pt x="4520183" y="408431"/>
                  </a:moveTo>
                  <a:lnTo>
                    <a:pt x="4520183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4520183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57649"/>
              <a:ext cx="4528185" cy="416559"/>
            </a:xfrm>
            <a:custGeom>
              <a:avLst/>
              <a:gdLst/>
              <a:ahLst/>
              <a:cxnLst/>
              <a:rect l="l" t="t" r="r" b="b"/>
              <a:pathLst>
                <a:path w="4528185" h="416559">
                  <a:moveTo>
                    <a:pt x="4520184" y="9144"/>
                  </a:moveTo>
                  <a:lnTo>
                    <a:pt x="4512564" y="0"/>
                  </a:lnTo>
                  <a:lnTo>
                    <a:pt x="0" y="0"/>
                  </a:lnTo>
                  <a:lnTo>
                    <a:pt x="0" y="9144"/>
                  </a:lnTo>
                  <a:lnTo>
                    <a:pt x="9138" y="0"/>
                  </a:lnTo>
                  <a:lnTo>
                    <a:pt x="9138" y="9144"/>
                  </a:lnTo>
                  <a:lnTo>
                    <a:pt x="4520184" y="9144"/>
                  </a:lnTo>
                  <a:close/>
                </a:path>
                <a:path w="4528185" h="416559">
                  <a:moveTo>
                    <a:pt x="9138" y="9144"/>
                  </a:moveTo>
                  <a:lnTo>
                    <a:pt x="9138" y="0"/>
                  </a:lnTo>
                  <a:lnTo>
                    <a:pt x="0" y="9144"/>
                  </a:lnTo>
                  <a:lnTo>
                    <a:pt x="9138" y="9144"/>
                  </a:lnTo>
                  <a:close/>
                </a:path>
                <a:path w="4528185" h="416559">
                  <a:moveTo>
                    <a:pt x="9138" y="400812"/>
                  </a:moveTo>
                  <a:lnTo>
                    <a:pt x="9138" y="9144"/>
                  </a:lnTo>
                  <a:lnTo>
                    <a:pt x="0" y="9144"/>
                  </a:lnTo>
                  <a:lnTo>
                    <a:pt x="0" y="400812"/>
                  </a:lnTo>
                  <a:lnTo>
                    <a:pt x="9138" y="400812"/>
                  </a:lnTo>
                  <a:close/>
                </a:path>
                <a:path w="4528185" h="416559">
                  <a:moveTo>
                    <a:pt x="4520184" y="400812"/>
                  </a:moveTo>
                  <a:lnTo>
                    <a:pt x="0" y="400812"/>
                  </a:lnTo>
                  <a:lnTo>
                    <a:pt x="9138" y="408432"/>
                  </a:lnTo>
                  <a:lnTo>
                    <a:pt x="9138" y="416052"/>
                  </a:lnTo>
                  <a:lnTo>
                    <a:pt x="4512564" y="416052"/>
                  </a:lnTo>
                  <a:lnTo>
                    <a:pt x="4512564" y="408432"/>
                  </a:lnTo>
                  <a:lnTo>
                    <a:pt x="4520184" y="400812"/>
                  </a:lnTo>
                  <a:close/>
                </a:path>
                <a:path w="4528185" h="416559">
                  <a:moveTo>
                    <a:pt x="9138" y="416052"/>
                  </a:moveTo>
                  <a:lnTo>
                    <a:pt x="9138" y="408432"/>
                  </a:lnTo>
                  <a:lnTo>
                    <a:pt x="0" y="400812"/>
                  </a:lnTo>
                  <a:lnTo>
                    <a:pt x="0" y="416052"/>
                  </a:lnTo>
                  <a:lnTo>
                    <a:pt x="9138" y="416052"/>
                  </a:lnTo>
                  <a:close/>
                </a:path>
                <a:path w="4528185" h="416559">
                  <a:moveTo>
                    <a:pt x="4527804" y="413004"/>
                  </a:moveTo>
                  <a:lnTo>
                    <a:pt x="4527804" y="0"/>
                  </a:lnTo>
                  <a:lnTo>
                    <a:pt x="4512564" y="0"/>
                  </a:lnTo>
                  <a:lnTo>
                    <a:pt x="4520184" y="9144"/>
                  </a:lnTo>
                  <a:lnTo>
                    <a:pt x="4520184" y="416052"/>
                  </a:lnTo>
                  <a:lnTo>
                    <a:pt x="4524756" y="416052"/>
                  </a:lnTo>
                  <a:lnTo>
                    <a:pt x="4527804" y="413004"/>
                  </a:lnTo>
                  <a:close/>
                </a:path>
                <a:path w="4528185" h="416559">
                  <a:moveTo>
                    <a:pt x="4520184" y="400812"/>
                  </a:moveTo>
                  <a:lnTo>
                    <a:pt x="4520184" y="9144"/>
                  </a:lnTo>
                  <a:lnTo>
                    <a:pt x="4512564" y="9144"/>
                  </a:lnTo>
                  <a:lnTo>
                    <a:pt x="4512564" y="400812"/>
                  </a:lnTo>
                  <a:lnTo>
                    <a:pt x="4520184" y="400812"/>
                  </a:lnTo>
                  <a:close/>
                </a:path>
                <a:path w="4528185" h="416559">
                  <a:moveTo>
                    <a:pt x="4520184" y="416052"/>
                  </a:moveTo>
                  <a:lnTo>
                    <a:pt x="4520184" y="400812"/>
                  </a:lnTo>
                  <a:lnTo>
                    <a:pt x="4512564" y="408432"/>
                  </a:lnTo>
                  <a:lnTo>
                    <a:pt x="4512564" y="416052"/>
                  </a:lnTo>
                  <a:lnTo>
                    <a:pt x="4520184" y="416052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3493" y="1051051"/>
            <a:ext cx="4210685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b="1" spc="-90" dirty="0">
                <a:latin typeface="Calibri"/>
                <a:cs typeface="Calibri"/>
              </a:rPr>
              <a:t>Worked</a:t>
            </a:r>
            <a:r>
              <a:rPr sz="2150" b="1" spc="-70" dirty="0">
                <a:latin typeface="Calibri"/>
                <a:cs typeface="Calibri"/>
              </a:rPr>
              <a:t> Example</a:t>
            </a:r>
            <a:r>
              <a:rPr sz="2150" b="1" spc="-75" dirty="0">
                <a:latin typeface="Calibri"/>
                <a:cs typeface="Calibri"/>
              </a:rPr>
              <a:t> </a:t>
            </a:r>
            <a:r>
              <a:rPr sz="2150" b="1" spc="-5" dirty="0">
                <a:latin typeface="Calibri"/>
                <a:cs typeface="Calibri"/>
              </a:rPr>
              <a:t>–</a:t>
            </a:r>
            <a:r>
              <a:rPr sz="2150" b="1" spc="-30" dirty="0">
                <a:latin typeface="Calibri"/>
                <a:cs typeface="Calibri"/>
              </a:rPr>
              <a:t> </a:t>
            </a:r>
            <a:r>
              <a:rPr sz="2150" b="1" spc="-70" dirty="0">
                <a:latin typeface="Calibri"/>
                <a:cs typeface="Calibri"/>
              </a:rPr>
              <a:t>Forward </a:t>
            </a:r>
            <a:r>
              <a:rPr sz="2150" b="1" spc="-60" dirty="0">
                <a:latin typeface="Calibri"/>
                <a:cs typeface="Calibri"/>
              </a:rPr>
              <a:t>Pass</a:t>
            </a:r>
            <a:r>
              <a:rPr sz="2150" b="1" spc="-70" dirty="0">
                <a:latin typeface="Calibri"/>
                <a:cs typeface="Calibri"/>
              </a:rPr>
              <a:t> </a:t>
            </a:r>
            <a:r>
              <a:rPr sz="2150" b="1" spc="-20" dirty="0">
                <a:latin typeface="Calibri"/>
                <a:cs typeface="Calibri"/>
              </a:rPr>
              <a:t>@</a:t>
            </a:r>
            <a:r>
              <a:rPr sz="2150" b="1" spc="-45" dirty="0">
                <a:latin typeface="Calibri"/>
                <a:cs typeface="Calibri"/>
              </a:rPr>
              <a:t> </a:t>
            </a:r>
            <a:r>
              <a:rPr sz="2150" b="1" spc="-20" dirty="0">
                <a:latin typeface="Calibri"/>
                <a:cs typeface="Calibri"/>
              </a:rPr>
              <a:t>t=0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0870" y="1697735"/>
            <a:ext cx="768350" cy="379730"/>
          </a:xfrm>
          <a:custGeom>
            <a:avLst/>
            <a:gdLst/>
            <a:ahLst/>
            <a:cxnLst/>
            <a:rect l="l" t="t" r="r" b="b"/>
            <a:pathLst>
              <a:path w="768350" h="379730">
                <a:moveTo>
                  <a:pt x="768095" y="379475"/>
                </a:moveTo>
                <a:lnTo>
                  <a:pt x="768095" y="0"/>
                </a:lnTo>
                <a:lnTo>
                  <a:pt x="0" y="0"/>
                </a:lnTo>
                <a:lnTo>
                  <a:pt x="0" y="379475"/>
                </a:lnTo>
                <a:lnTo>
                  <a:pt x="768095" y="379475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50870" y="1697735"/>
            <a:ext cx="521334" cy="35433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6985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550"/>
              </a:spcBef>
            </a:pPr>
            <a:r>
              <a:rPr sz="1450" spc="45" dirty="0">
                <a:latin typeface="Cambria"/>
                <a:cs typeface="Cambria"/>
              </a:rPr>
              <a:t>x</a:t>
            </a:r>
            <a:r>
              <a:rPr sz="1650" spc="67" baseline="-15151" dirty="0">
                <a:latin typeface="Cambria"/>
                <a:cs typeface="Cambria"/>
              </a:rPr>
              <a:t>0</a:t>
            </a:r>
            <a:r>
              <a:rPr sz="1650" spc="270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71830" y="1746516"/>
            <a:ext cx="201930" cy="309880"/>
          </a:xfrm>
          <a:custGeom>
            <a:avLst/>
            <a:gdLst/>
            <a:ahLst/>
            <a:cxnLst/>
            <a:rect l="l" t="t" r="r" b="b"/>
            <a:pathLst>
              <a:path w="201930" h="309880">
                <a:moveTo>
                  <a:pt x="44437" y="301752"/>
                </a:moveTo>
                <a:lnTo>
                  <a:pt x="17005" y="301752"/>
                </a:lnTo>
                <a:lnTo>
                  <a:pt x="17005" y="309372"/>
                </a:lnTo>
                <a:lnTo>
                  <a:pt x="44437" y="309372"/>
                </a:lnTo>
                <a:lnTo>
                  <a:pt x="44437" y="301752"/>
                </a:lnTo>
                <a:close/>
              </a:path>
              <a:path w="201930" h="309880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09372"/>
                </a:lnTo>
                <a:lnTo>
                  <a:pt x="16510" y="309372"/>
                </a:lnTo>
                <a:lnTo>
                  <a:pt x="16510" y="7620"/>
                </a:lnTo>
                <a:lnTo>
                  <a:pt x="44450" y="7620"/>
                </a:lnTo>
                <a:lnTo>
                  <a:pt x="44450" y="0"/>
                </a:lnTo>
                <a:close/>
              </a:path>
              <a:path w="201930" h="309880">
                <a:moveTo>
                  <a:pt x="201930" y="0"/>
                </a:moveTo>
                <a:lnTo>
                  <a:pt x="184150" y="0"/>
                </a:lnTo>
                <a:lnTo>
                  <a:pt x="157480" y="0"/>
                </a:lnTo>
                <a:lnTo>
                  <a:pt x="157480" y="7620"/>
                </a:lnTo>
                <a:lnTo>
                  <a:pt x="184150" y="7620"/>
                </a:lnTo>
                <a:lnTo>
                  <a:pt x="184150" y="301752"/>
                </a:lnTo>
                <a:lnTo>
                  <a:pt x="157213" y="301752"/>
                </a:lnTo>
                <a:lnTo>
                  <a:pt x="157213" y="309372"/>
                </a:lnTo>
                <a:lnTo>
                  <a:pt x="184150" y="309372"/>
                </a:lnTo>
                <a:lnTo>
                  <a:pt x="184645" y="309372"/>
                </a:lnTo>
                <a:lnTo>
                  <a:pt x="201930" y="309372"/>
                </a:lnTo>
                <a:lnTo>
                  <a:pt x="2019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88340" y="1649983"/>
            <a:ext cx="167640" cy="4737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35"/>
              </a:spcBef>
            </a:pPr>
            <a:r>
              <a:rPr sz="1450" spc="20" dirty="0">
                <a:latin typeface="Cambria"/>
                <a:cs typeface="Cambria"/>
              </a:rPr>
              <a:t>1</a:t>
            </a:r>
            <a:endParaRPr sz="1450">
              <a:latin typeface="Cambria"/>
              <a:cs typeface="Cambria"/>
            </a:endParaRPr>
          </a:p>
          <a:p>
            <a:pPr marL="30480">
              <a:lnSpc>
                <a:spcPct val="100000"/>
              </a:lnSpc>
            </a:pPr>
            <a:r>
              <a:rPr sz="1450" spc="20" dirty="0">
                <a:latin typeface="Cambria"/>
                <a:cs typeface="Cambria"/>
              </a:rPr>
              <a:t>2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23989" y="1051051"/>
            <a:ext cx="110490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25" dirty="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sz="1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10" dirty="0">
                <a:solidFill>
                  <a:srgbClr val="FF0000"/>
                </a:solidFill>
                <a:latin typeface="Calibri"/>
                <a:cs typeface="Calibri"/>
              </a:rPr>
              <a:t>Gate: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506212" y="1423409"/>
            <a:ext cx="3374390" cy="2150745"/>
            <a:chOff x="5506212" y="1423409"/>
            <a:chExt cx="3374390" cy="215074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7042" y="1431036"/>
              <a:ext cx="3245824" cy="212847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506212" y="1423409"/>
              <a:ext cx="3374390" cy="2150745"/>
            </a:xfrm>
            <a:custGeom>
              <a:avLst/>
              <a:gdLst/>
              <a:ahLst/>
              <a:cxnLst/>
              <a:rect l="l" t="t" r="r" b="b"/>
              <a:pathLst>
                <a:path w="3374390" h="2150745">
                  <a:moveTo>
                    <a:pt x="3374136" y="2148846"/>
                  </a:moveTo>
                  <a:lnTo>
                    <a:pt x="3374136" y="1524"/>
                  </a:lnTo>
                  <a:lnTo>
                    <a:pt x="3372612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2148846"/>
                  </a:lnTo>
                  <a:lnTo>
                    <a:pt x="1524" y="2150370"/>
                  </a:lnTo>
                  <a:lnTo>
                    <a:pt x="4572" y="2150370"/>
                  </a:lnTo>
                  <a:lnTo>
                    <a:pt x="4572" y="7620"/>
                  </a:lnTo>
                  <a:lnTo>
                    <a:pt x="7620" y="4572"/>
                  </a:lnTo>
                  <a:lnTo>
                    <a:pt x="7620" y="7620"/>
                  </a:lnTo>
                  <a:lnTo>
                    <a:pt x="3366516" y="7620"/>
                  </a:lnTo>
                  <a:lnTo>
                    <a:pt x="3366516" y="4572"/>
                  </a:lnTo>
                  <a:lnTo>
                    <a:pt x="3369564" y="7620"/>
                  </a:lnTo>
                  <a:lnTo>
                    <a:pt x="3369564" y="2150370"/>
                  </a:lnTo>
                  <a:lnTo>
                    <a:pt x="3372612" y="2150370"/>
                  </a:lnTo>
                  <a:lnTo>
                    <a:pt x="3374136" y="2148846"/>
                  </a:lnTo>
                  <a:close/>
                </a:path>
                <a:path w="3374390" h="2150745">
                  <a:moveTo>
                    <a:pt x="7620" y="7620"/>
                  </a:moveTo>
                  <a:lnTo>
                    <a:pt x="7620" y="4572"/>
                  </a:lnTo>
                  <a:lnTo>
                    <a:pt x="4572" y="7620"/>
                  </a:lnTo>
                  <a:lnTo>
                    <a:pt x="7620" y="7620"/>
                  </a:lnTo>
                  <a:close/>
                </a:path>
                <a:path w="3374390" h="2150745">
                  <a:moveTo>
                    <a:pt x="7620" y="2142750"/>
                  </a:moveTo>
                  <a:lnTo>
                    <a:pt x="7620" y="7620"/>
                  </a:lnTo>
                  <a:lnTo>
                    <a:pt x="4572" y="7620"/>
                  </a:lnTo>
                  <a:lnTo>
                    <a:pt x="4572" y="2142750"/>
                  </a:lnTo>
                  <a:lnTo>
                    <a:pt x="7620" y="2142750"/>
                  </a:lnTo>
                  <a:close/>
                </a:path>
                <a:path w="3374390" h="2150745">
                  <a:moveTo>
                    <a:pt x="3369564" y="2142750"/>
                  </a:moveTo>
                  <a:lnTo>
                    <a:pt x="4572" y="2142750"/>
                  </a:lnTo>
                  <a:lnTo>
                    <a:pt x="7620" y="2145798"/>
                  </a:lnTo>
                  <a:lnTo>
                    <a:pt x="7620" y="2150370"/>
                  </a:lnTo>
                  <a:lnTo>
                    <a:pt x="3366516" y="2150370"/>
                  </a:lnTo>
                  <a:lnTo>
                    <a:pt x="3366516" y="2145798"/>
                  </a:lnTo>
                  <a:lnTo>
                    <a:pt x="3369564" y="2142750"/>
                  </a:lnTo>
                  <a:close/>
                </a:path>
                <a:path w="3374390" h="2150745">
                  <a:moveTo>
                    <a:pt x="7620" y="2150370"/>
                  </a:moveTo>
                  <a:lnTo>
                    <a:pt x="7620" y="2145798"/>
                  </a:lnTo>
                  <a:lnTo>
                    <a:pt x="4572" y="2142750"/>
                  </a:lnTo>
                  <a:lnTo>
                    <a:pt x="4572" y="2150370"/>
                  </a:lnTo>
                  <a:lnTo>
                    <a:pt x="7620" y="2150370"/>
                  </a:lnTo>
                  <a:close/>
                </a:path>
                <a:path w="3374390" h="2150745">
                  <a:moveTo>
                    <a:pt x="3369564" y="7620"/>
                  </a:moveTo>
                  <a:lnTo>
                    <a:pt x="3366516" y="4572"/>
                  </a:lnTo>
                  <a:lnTo>
                    <a:pt x="3366516" y="7620"/>
                  </a:lnTo>
                  <a:lnTo>
                    <a:pt x="3369564" y="7620"/>
                  </a:lnTo>
                  <a:close/>
                </a:path>
                <a:path w="3374390" h="2150745">
                  <a:moveTo>
                    <a:pt x="3369564" y="2142750"/>
                  </a:moveTo>
                  <a:lnTo>
                    <a:pt x="3369564" y="7620"/>
                  </a:lnTo>
                  <a:lnTo>
                    <a:pt x="3366516" y="7620"/>
                  </a:lnTo>
                  <a:lnTo>
                    <a:pt x="3366516" y="2142750"/>
                  </a:lnTo>
                  <a:lnTo>
                    <a:pt x="3369564" y="2142750"/>
                  </a:lnTo>
                  <a:close/>
                </a:path>
                <a:path w="3374390" h="2150745">
                  <a:moveTo>
                    <a:pt x="3369564" y="2150370"/>
                  </a:moveTo>
                  <a:lnTo>
                    <a:pt x="3369564" y="2142750"/>
                  </a:lnTo>
                  <a:lnTo>
                    <a:pt x="3366516" y="2145798"/>
                  </a:lnTo>
                  <a:lnTo>
                    <a:pt x="3366516" y="2150370"/>
                  </a:lnTo>
                  <a:lnTo>
                    <a:pt x="3369564" y="2150370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522976" y="3730752"/>
            <a:ext cx="3450590" cy="871855"/>
            <a:chOff x="5522976" y="3730752"/>
            <a:chExt cx="3450590" cy="87185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5083" y="3831348"/>
              <a:ext cx="3319920" cy="68591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522976" y="3730752"/>
              <a:ext cx="3450590" cy="871855"/>
            </a:xfrm>
            <a:custGeom>
              <a:avLst/>
              <a:gdLst/>
              <a:ahLst/>
              <a:cxnLst/>
              <a:rect l="l" t="t" r="r" b="b"/>
              <a:pathLst>
                <a:path w="3450590" h="871854">
                  <a:moveTo>
                    <a:pt x="3450336" y="867156"/>
                  </a:moveTo>
                  <a:lnTo>
                    <a:pt x="3450336" y="6096"/>
                  </a:lnTo>
                  <a:lnTo>
                    <a:pt x="3445764" y="0"/>
                  </a:lnTo>
                  <a:lnTo>
                    <a:pt x="6096" y="0"/>
                  </a:lnTo>
                  <a:lnTo>
                    <a:pt x="0" y="6096"/>
                  </a:lnTo>
                  <a:lnTo>
                    <a:pt x="0" y="867156"/>
                  </a:lnTo>
                  <a:lnTo>
                    <a:pt x="6096" y="871728"/>
                  </a:lnTo>
                  <a:lnTo>
                    <a:pt x="12192" y="871728"/>
                  </a:lnTo>
                  <a:lnTo>
                    <a:pt x="12192" y="24384"/>
                  </a:lnTo>
                  <a:lnTo>
                    <a:pt x="24384" y="12192"/>
                  </a:lnTo>
                  <a:lnTo>
                    <a:pt x="24384" y="24384"/>
                  </a:lnTo>
                  <a:lnTo>
                    <a:pt x="3427476" y="24384"/>
                  </a:lnTo>
                  <a:lnTo>
                    <a:pt x="3427476" y="12192"/>
                  </a:lnTo>
                  <a:lnTo>
                    <a:pt x="3439668" y="24384"/>
                  </a:lnTo>
                  <a:lnTo>
                    <a:pt x="3439668" y="871728"/>
                  </a:lnTo>
                  <a:lnTo>
                    <a:pt x="3445764" y="871728"/>
                  </a:lnTo>
                  <a:lnTo>
                    <a:pt x="3450336" y="867156"/>
                  </a:lnTo>
                  <a:close/>
                </a:path>
                <a:path w="3450590" h="871854">
                  <a:moveTo>
                    <a:pt x="24384" y="24384"/>
                  </a:moveTo>
                  <a:lnTo>
                    <a:pt x="24384" y="12192"/>
                  </a:lnTo>
                  <a:lnTo>
                    <a:pt x="12192" y="24384"/>
                  </a:lnTo>
                  <a:lnTo>
                    <a:pt x="24384" y="24384"/>
                  </a:lnTo>
                  <a:close/>
                </a:path>
                <a:path w="3450590" h="871854">
                  <a:moveTo>
                    <a:pt x="24384" y="848868"/>
                  </a:moveTo>
                  <a:lnTo>
                    <a:pt x="24384" y="24384"/>
                  </a:lnTo>
                  <a:lnTo>
                    <a:pt x="12192" y="24384"/>
                  </a:lnTo>
                  <a:lnTo>
                    <a:pt x="12192" y="848868"/>
                  </a:lnTo>
                  <a:lnTo>
                    <a:pt x="24384" y="848868"/>
                  </a:lnTo>
                  <a:close/>
                </a:path>
                <a:path w="3450590" h="871854">
                  <a:moveTo>
                    <a:pt x="3439668" y="848868"/>
                  </a:moveTo>
                  <a:lnTo>
                    <a:pt x="12192" y="848868"/>
                  </a:lnTo>
                  <a:lnTo>
                    <a:pt x="24384" y="859536"/>
                  </a:lnTo>
                  <a:lnTo>
                    <a:pt x="24384" y="871728"/>
                  </a:lnTo>
                  <a:lnTo>
                    <a:pt x="3427476" y="871728"/>
                  </a:lnTo>
                  <a:lnTo>
                    <a:pt x="3427476" y="859536"/>
                  </a:lnTo>
                  <a:lnTo>
                    <a:pt x="3439668" y="848868"/>
                  </a:lnTo>
                  <a:close/>
                </a:path>
                <a:path w="3450590" h="871854">
                  <a:moveTo>
                    <a:pt x="24384" y="871728"/>
                  </a:moveTo>
                  <a:lnTo>
                    <a:pt x="24384" y="859536"/>
                  </a:lnTo>
                  <a:lnTo>
                    <a:pt x="12192" y="848868"/>
                  </a:lnTo>
                  <a:lnTo>
                    <a:pt x="12192" y="871728"/>
                  </a:lnTo>
                  <a:lnTo>
                    <a:pt x="24384" y="871728"/>
                  </a:lnTo>
                  <a:close/>
                </a:path>
                <a:path w="3450590" h="871854">
                  <a:moveTo>
                    <a:pt x="3439668" y="24384"/>
                  </a:moveTo>
                  <a:lnTo>
                    <a:pt x="3427476" y="12192"/>
                  </a:lnTo>
                  <a:lnTo>
                    <a:pt x="3427476" y="24384"/>
                  </a:lnTo>
                  <a:lnTo>
                    <a:pt x="3439668" y="24384"/>
                  </a:lnTo>
                  <a:close/>
                </a:path>
                <a:path w="3450590" h="871854">
                  <a:moveTo>
                    <a:pt x="3439668" y="848868"/>
                  </a:moveTo>
                  <a:lnTo>
                    <a:pt x="3439668" y="24384"/>
                  </a:lnTo>
                  <a:lnTo>
                    <a:pt x="3427476" y="24384"/>
                  </a:lnTo>
                  <a:lnTo>
                    <a:pt x="3427476" y="848868"/>
                  </a:lnTo>
                  <a:lnTo>
                    <a:pt x="3439668" y="848868"/>
                  </a:lnTo>
                  <a:close/>
                </a:path>
                <a:path w="3450590" h="871854">
                  <a:moveTo>
                    <a:pt x="3439668" y="871728"/>
                  </a:moveTo>
                  <a:lnTo>
                    <a:pt x="3439668" y="848868"/>
                  </a:lnTo>
                  <a:lnTo>
                    <a:pt x="3427476" y="859536"/>
                  </a:lnTo>
                  <a:lnTo>
                    <a:pt x="3427476" y="871728"/>
                  </a:lnTo>
                  <a:lnTo>
                    <a:pt x="3439668" y="871728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5487923" y="4914900"/>
            <a:ext cx="4352925" cy="314325"/>
          </a:xfrm>
          <a:custGeom>
            <a:avLst/>
            <a:gdLst/>
            <a:ahLst/>
            <a:cxnLst/>
            <a:rect l="l" t="t" r="r" b="b"/>
            <a:pathLst>
              <a:path w="4352925" h="314325">
                <a:moveTo>
                  <a:pt x="4352543" y="313943"/>
                </a:moveTo>
                <a:lnTo>
                  <a:pt x="4352543" y="0"/>
                </a:lnTo>
                <a:lnTo>
                  <a:pt x="0" y="0"/>
                </a:lnTo>
                <a:lnTo>
                  <a:pt x="0" y="313943"/>
                </a:lnTo>
                <a:lnTo>
                  <a:pt x="4352543" y="313943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510781" y="4598249"/>
            <a:ext cx="4123690" cy="62674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80"/>
              </a:spcBef>
            </a:pPr>
            <a:r>
              <a:rPr sz="1450" spc="10" dirty="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sz="145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50" spc="5" dirty="0">
                <a:solidFill>
                  <a:srgbClr val="FF0000"/>
                </a:solidFill>
                <a:latin typeface="Calibri"/>
                <a:cs typeface="Calibri"/>
              </a:rPr>
              <a:t>Activation:</a:t>
            </a:r>
            <a:endParaRPr sz="1450">
              <a:latin typeface="Calibri"/>
              <a:cs typeface="Calibri"/>
            </a:endParaRPr>
          </a:p>
          <a:p>
            <a:pPr marL="219075">
              <a:lnSpc>
                <a:spcPct val="100000"/>
              </a:lnSpc>
              <a:spcBef>
                <a:spcPts val="365"/>
              </a:spcBef>
            </a:pPr>
            <a:r>
              <a:rPr sz="1950" spc="-755" dirty="0">
                <a:latin typeface="Cambria"/>
                <a:cs typeface="Cambria"/>
              </a:rPr>
              <a:t>C</a:t>
            </a:r>
            <a:r>
              <a:rPr sz="2925" spc="225" baseline="11396" dirty="0">
                <a:latin typeface="Cambria"/>
                <a:cs typeface="Cambria"/>
              </a:rPr>
              <a:t>˜</a:t>
            </a:r>
            <a:r>
              <a:rPr sz="2100" spc="240" baseline="-15873" dirty="0">
                <a:latin typeface="Cambria"/>
                <a:cs typeface="Cambria"/>
              </a:rPr>
              <a:t>t</a:t>
            </a:r>
            <a:r>
              <a:rPr sz="2100" baseline="-15873" dirty="0">
                <a:latin typeface="Cambria"/>
                <a:cs typeface="Cambria"/>
              </a:rPr>
              <a:t> </a:t>
            </a:r>
            <a:r>
              <a:rPr sz="2100" spc="97" baseline="-15873" dirty="0">
                <a:latin typeface="Cambria"/>
                <a:cs typeface="Cambria"/>
              </a:rPr>
              <a:t> </a:t>
            </a:r>
            <a:r>
              <a:rPr sz="1950" spc="395" dirty="0">
                <a:latin typeface="Cambria"/>
                <a:cs typeface="Cambria"/>
              </a:rPr>
              <a:t>=</a:t>
            </a:r>
            <a:r>
              <a:rPr sz="1950" spc="114" dirty="0">
                <a:latin typeface="Cambria"/>
                <a:cs typeface="Cambria"/>
              </a:rPr>
              <a:t> </a:t>
            </a:r>
            <a:r>
              <a:rPr sz="1950" spc="10" dirty="0">
                <a:latin typeface="Cambria"/>
                <a:cs typeface="Cambria"/>
              </a:rPr>
              <a:t>tanh</a:t>
            </a:r>
            <a:r>
              <a:rPr sz="1950" spc="65" dirty="0">
                <a:latin typeface="Cambria"/>
                <a:cs typeface="Cambria"/>
              </a:rPr>
              <a:t>(</a:t>
            </a:r>
            <a:r>
              <a:rPr sz="1950" spc="-335" dirty="0">
                <a:latin typeface="Cambria"/>
                <a:cs typeface="Cambria"/>
              </a:rPr>
              <a:t>W</a:t>
            </a:r>
            <a:r>
              <a:rPr sz="2100" spc="254" baseline="-15873" dirty="0">
                <a:latin typeface="Cambria"/>
                <a:cs typeface="Cambria"/>
              </a:rPr>
              <a:t>x</a:t>
            </a:r>
            <a:r>
              <a:rPr sz="2100" spc="359" baseline="-15873" dirty="0">
                <a:latin typeface="Cambria"/>
                <a:cs typeface="Cambria"/>
              </a:rPr>
              <a:t>c</a:t>
            </a:r>
            <a:r>
              <a:rPr sz="1950" spc="5" dirty="0">
                <a:latin typeface="Cambria"/>
                <a:cs typeface="Cambria"/>
              </a:rPr>
              <a:t>.</a:t>
            </a:r>
            <a:r>
              <a:rPr sz="1950" spc="-120" dirty="0">
                <a:latin typeface="Cambria"/>
                <a:cs typeface="Cambria"/>
              </a:rPr>
              <a:t> </a:t>
            </a:r>
            <a:r>
              <a:rPr sz="1950" spc="85" dirty="0">
                <a:latin typeface="Cambria"/>
                <a:cs typeface="Cambria"/>
              </a:rPr>
              <a:t>x</a:t>
            </a:r>
            <a:r>
              <a:rPr sz="2100" spc="240" baseline="-15873" dirty="0">
                <a:latin typeface="Cambria"/>
                <a:cs typeface="Cambria"/>
              </a:rPr>
              <a:t>t</a:t>
            </a:r>
            <a:r>
              <a:rPr sz="2100" baseline="-15873" dirty="0">
                <a:latin typeface="Cambria"/>
                <a:cs typeface="Cambria"/>
              </a:rPr>
              <a:t> </a:t>
            </a:r>
            <a:r>
              <a:rPr sz="2100" spc="-82" baseline="-15873" dirty="0">
                <a:latin typeface="Cambria"/>
                <a:cs typeface="Cambria"/>
              </a:rPr>
              <a:t> </a:t>
            </a:r>
            <a:r>
              <a:rPr sz="1950" spc="395" dirty="0">
                <a:latin typeface="Cambria"/>
                <a:cs typeface="Cambria"/>
              </a:rPr>
              <a:t>+</a:t>
            </a:r>
            <a:r>
              <a:rPr sz="1950" spc="10" dirty="0">
                <a:latin typeface="Cambria"/>
                <a:cs typeface="Cambria"/>
              </a:rPr>
              <a:t> </a:t>
            </a:r>
            <a:r>
              <a:rPr sz="1950" spc="-185" dirty="0">
                <a:latin typeface="Cambria"/>
                <a:cs typeface="Cambria"/>
              </a:rPr>
              <a:t>W</a:t>
            </a:r>
            <a:r>
              <a:rPr sz="2100" spc="187" baseline="-15873" dirty="0">
                <a:latin typeface="Cambria"/>
                <a:cs typeface="Cambria"/>
              </a:rPr>
              <a:t>h</a:t>
            </a:r>
            <a:r>
              <a:rPr sz="2100" spc="157" baseline="-15873" dirty="0">
                <a:latin typeface="Cambria"/>
                <a:cs typeface="Cambria"/>
              </a:rPr>
              <a:t>c</a:t>
            </a:r>
            <a:r>
              <a:rPr sz="2100" baseline="-15873" dirty="0">
                <a:latin typeface="Cambria"/>
                <a:cs typeface="Cambria"/>
              </a:rPr>
              <a:t> </a:t>
            </a:r>
            <a:r>
              <a:rPr sz="2100" spc="-75" baseline="-15873" dirty="0">
                <a:latin typeface="Cambria"/>
                <a:cs typeface="Cambria"/>
              </a:rPr>
              <a:t> </a:t>
            </a:r>
            <a:r>
              <a:rPr sz="1950" spc="5" dirty="0">
                <a:latin typeface="Cambria"/>
                <a:cs typeface="Cambria"/>
              </a:rPr>
              <a:t>.</a:t>
            </a:r>
            <a:r>
              <a:rPr sz="1950" spc="-120" dirty="0">
                <a:latin typeface="Cambria"/>
                <a:cs typeface="Cambria"/>
              </a:rPr>
              <a:t> </a:t>
            </a:r>
            <a:r>
              <a:rPr sz="1950" spc="20" dirty="0">
                <a:latin typeface="Cambria"/>
                <a:cs typeface="Cambria"/>
              </a:rPr>
              <a:t>ℎ</a:t>
            </a:r>
            <a:r>
              <a:rPr sz="2100" spc="292" baseline="-15873" dirty="0">
                <a:latin typeface="Cambria"/>
                <a:cs typeface="Cambria"/>
              </a:rPr>
              <a:t>t</a:t>
            </a:r>
            <a:r>
              <a:rPr sz="2100" spc="525" baseline="-15873" dirty="0">
                <a:latin typeface="Cambria"/>
                <a:cs typeface="Cambria"/>
              </a:rPr>
              <a:t>–</a:t>
            </a:r>
            <a:r>
              <a:rPr sz="2100" spc="82" baseline="-15873" dirty="0">
                <a:latin typeface="Cambria"/>
                <a:cs typeface="Cambria"/>
              </a:rPr>
              <a:t>1</a:t>
            </a:r>
            <a:r>
              <a:rPr sz="2100" baseline="-15873" dirty="0">
                <a:latin typeface="Cambria"/>
                <a:cs typeface="Cambria"/>
              </a:rPr>
              <a:t> </a:t>
            </a:r>
            <a:r>
              <a:rPr sz="2100" spc="-142" baseline="-15873" dirty="0">
                <a:latin typeface="Cambria"/>
                <a:cs typeface="Cambria"/>
              </a:rPr>
              <a:t> </a:t>
            </a:r>
            <a:r>
              <a:rPr sz="1950" spc="395" dirty="0">
                <a:latin typeface="Cambria"/>
                <a:cs typeface="Cambria"/>
              </a:rPr>
              <a:t>+</a:t>
            </a:r>
            <a:r>
              <a:rPr sz="1950" spc="-5" dirty="0">
                <a:latin typeface="Cambria"/>
                <a:cs typeface="Cambria"/>
              </a:rPr>
              <a:t> </a:t>
            </a:r>
            <a:r>
              <a:rPr sz="1950" spc="-60" dirty="0">
                <a:latin typeface="Cambria"/>
                <a:cs typeface="Cambria"/>
              </a:rPr>
              <a:t>b</a:t>
            </a:r>
            <a:r>
              <a:rPr sz="2100" spc="359" baseline="-15873" dirty="0">
                <a:latin typeface="Cambria"/>
                <a:cs typeface="Cambria"/>
              </a:rPr>
              <a:t>c</a:t>
            </a:r>
            <a:r>
              <a:rPr sz="1950" spc="75" dirty="0">
                <a:latin typeface="Cambria"/>
                <a:cs typeface="Cambria"/>
              </a:rPr>
              <a:t>)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13832" y="5611367"/>
            <a:ext cx="3732529" cy="3048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2240"/>
              </a:lnSpc>
            </a:pPr>
            <a:r>
              <a:rPr sz="1950" spc="80" dirty="0">
                <a:latin typeface="Cambria"/>
                <a:cs typeface="Cambria"/>
              </a:rPr>
              <a:t>i</a:t>
            </a:r>
            <a:r>
              <a:rPr sz="2100" spc="240" baseline="-15873" dirty="0">
                <a:latin typeface="Cambria"/>
                <a:cs typeface="Cambria"/>
              </a:rPr>
              <a:t>t</a:t>
            </a:r>
            <a:r>
              <a:rPr sz="2100" baseline="-15873" dirty="0">
                <a:latin typeface="Cambria"/>
                <a:cs typeface="Cambria"/>
              </a:rPr>
              <a:t> </a:t>
            </a:r>
            <a:r>
              <a:rPr sz="2100" spc="82" baseline="-15873" dirty="0">
                <a:latin typeface="Cambria"/>
                <a:cs typeface="Cambria"/>
              </a:rPr>
              <a:t> </a:t>
            </a:r>
            <a:r>
              <a:rPr sz="1950" spc="395" dirty="0">
                <a:latin typeface="Cambria"/>
                <a:cs typeface="Cambria"/>
              </a:rPr>
              <a:t>=</a:t>
            </a:r>
            <a:r>
              <a:rPr sz="1950" spc="114" dirty="0">
                <a:latin typeface="Cambria"/>
                <a:cs typeface="Cambria"/>
              </a:rPr>
              <a:t> </a:t>
            </a:r>
            <a:r>
              <a:rPr sz="1950" spc="80" dirty="0">
                <a:latin typeface="Cambria"/>
                <a:cs typeface="Cambria"/>
              </a:rPr>
              <a:t>σ(</a:t>
            </a:r>
            <a:r>
              <a:rPr sz="1950" spc="-180" dirty="0">
                <a:latin typeface="Cambria"/>
                <a:cs typeface="Cambria"/>
              </a:rPr>
              <a:t>W</a:t>
            </a:r>
            <a:r>
              <a:rPr sz="2100" spc="254" baseline="-15873" dirty="0">
                <a:latin typeface="Cambria"/>
                <a:cs typeface="Cambria"/>
              </a:rPr>
              <a:t>x</a:t>
            </a:r>
            <a:r>
              <a:rPr sz="2100" spc="367" baseline="-15873" dirty="0">
                <a:latin typeface="Cambria"/>
                <a:cs typeface="Cambria"/>
              </a:rPr>
              <a:t>i</a:t>
            </a:r>
            <a:r>
              <a:rPr sz="1950" spc="5" dirty="0">
                <a:latin typeface="Cambria"/>
                <a:cs typeface="Cambria"/>
              </a:rPr>
              <a:t>.</a:t>
            </a:r>
            <a:r>
              <a:rPr sz="1950" spc="-105" dirty="0">
                <a:latin typeface="Cambria"/>
                <a:cs typeface="Cambria"/>
              </a:rPr>
              <a:t> </a:t>
            </a:r>
            <a:r>
              <a:rPr sz="1950" spc="85" dirty="0">
                <a:latin typeface="Cambria"/>
                <a:cs typeface="Cambria"/>
              </a:rPr>
              <a:t>x</a:t>
            </a:r>
            <a:r>
              <a:rPr sz="2100" spc="240" baseline="-15873" dirty="0">
                <a:latin typeface="Cambria"/>
                <a:cs typeface="Cambria"/>
              </a:rPr>
              <a:t>t</a:t>
            </a:r>
            <a:r>
              <a:rPr sz="2100" baseline="-15873" dirty="0">
                <a:latin typeface="Cambria"/>
                <a:cs typeface="Cambria"/>
              </a:rPr>
              <a:t> </a:t>
            </a:r>
            <a:r>
              <a:rPr sz="2100" spc="-82" baseline="-15873" dirty="0">
                <a:latin typeface="Cambria"/>
                <a:cs typeface="Cambria"/>
              </a:rPr>
              <a:t> </a:t>
            </a:r>
            <a:r>
              <a:rPr sz="1950" spc="395" dirty="0">
                <a:latin typeface="Cambria"/>
                <a:cs typeface="Cambria"/>
              </a:rPr>
              <a:t>+</a:t>
            </a:r>
            <a:r>
              <a:rPr sz="1950" spc="10" dirty="0">
                <a:latin typeface="Cambria"/>
                <a:cs typeface="Cambria"/>
              </a:rPr>
              <a:t> </a:t>
            </a:r>
            <a:r>
              <a:rPr sz="1950" spc="-185" dirty="0">
                <a:latin typeface="Cambria"/>
                <a:cs typeface="Cambria"/>
              </a:rPr>
              <a:t>W</a:t>
            </a:r>
            <a:r>
              <a:rPr sz="2100" spc="187" baseline="-15873" dirty="0">
                <a:latin typeface="Cambria"/>
                <a:cs typeface="Cambria"/>
              </a:rPr>
              <a:t>h</a:t>
            </a:r>
            <a:r>
              <a:rPr sz="2100" spc="172" baseline="-15873" dirty="0">
                <a:latin typeface="Cambria"/>
                <a:cs typeface="Cambria"/>
              </a:rPr>
              <a:t>i</a:t>
            </a:r>
            <a:r>
              <a:rPr sz="2100" baseline="-15873" dirty="0">
                <a:latin typeface="Cambria"/>
                <a:cs typeface="Cambria"/>
              </a:rPr>
              <a:t> </a:t>
            </a:r>
            <a:r>
              <a:rPr sz="2100" spc="-82" baseline="-15873" dirty="0">
                <a:latin typeface="Cambria"/>
                <a:cs typeface="Cambria"/>
              </a:rPr>
              <a:t> </a:t>
            </a:r>
            <a:r>
              <a:rPr sz="1950" spc="5" dirty="0">
                <a:latin typeface="Cambria"/>
                <a:cs typeface="Cambria"/>
              </a:rPr>
              <a:t>.</a:t>
            </a:r>
            <a:r>
              <a:rPr sz="1950" spc="-120" dirty="0">
                <a:latin typeface="Cambria"/>
                <a:cs typeface="Cambria"/>
              </a:rPr>
              <a:t> </a:t>
            </a:r>
            <a:r>
              <a:rPr sz="1950" spc="20" dirty="0">
                <a:latin typeface="Cambria"/>
                <a:cs typeface="Cambria"/>
              </a:rPr>
              <a:t>ℎ</a:t>
            </a:r>
            <a:r>
              <a:rPr sz="2100" spc="292" baseline="-15873" dirty="0">
                <a:latin typeface="Cambria"/>
                <a:cs typeface="Cambria"/>
              </a:rPr>
              <a:t>t</a:t>
            </a:r>
            <a:r>
              <a:rPr sz="2100" spc="525" baseline="-15873" dirty="0">
                <a:latin typeface="Cambria"/>
                <a:cs typeface="Cambria"/>
              </a:rPr>
              <a:t>–</a:t>
            </a:r>
            <a:r>
              <a:rPr sz="2100" spc="82" baseline="-15873" dirty="0">
                <a:latin typeface="Cambria"/>
                <a:cs typeface="Cambria"/>
              </a:rPr>
              <a:t>1</a:t>
            </a:r>
            <a:r>
              <a:rPr sz="2100" baseline="-15873" dirty="0">
                <a:latin typeface="Cambria"/>
                <a:cs typeface="Cambria"/>
              </a:rPr>
              <a:t> </a:t>
            </a:r>
            <a:r>
              <a:rPr sz="2100" spc="-142" baseline="-15873" dirty="0">
                <a:latin typeface="Cambria"/>
                <a:cs typeface="Cambria"/>
              </a:rPr>
              <a:t> </a:t>
            </a:r>
            <a:r>
              <a:rPr sz="1950" spc="395" dirty="0">
                <a:latin typeface="Cambria"/>
                <a:cs typeface="Cambria"/>
              </a:rPr>
              <a:t>+</a:t>
            </a:r>
            <a:r>
              <a:rPr sz="1950" spc="10" dirty="0">
                <a:latin typeface="Cambria"/>
                <a:cs typeface="Cambria"/>
              </a:rPr>
              <a:t> </a:t>
            </a:r>
            <a:r>
              <a:rPr sz="1950" spc="-60" dirty="0">
                <a:latin typeface="Cambria"/>
                <a:cs typeface="Cambria"/>
              </a:rPr>
              <a:t>b</a:t>
            </a:r>
            <a:r>
              <a:rPr sz="2100" spc="367" baseline="-15873" dirty="0">
                <a:latin typeface="Cambria"/>
                <a:cs typeface="Cambria"/>
              </a:rPr>
              <a:t>i</a:t>
            </a:r>
            <a:r>
              <a:rPr sz="1950" spc="75" dirty="0">
                <a:latin typeface="Cambria"/>
                <a:cs typeface="Cambria"/>
              </a:rPr>
              <a:t>)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36181" y="5325869"/>
            <a:ext cx="89154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10" dirty="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sz="145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50" spc="5" dirty="0">
                <a:solidFill>
                  <a:srgbClr val="FF0000"/>
                </a:solidFill>
                <a:latin typeface="Calibri"/>
                <a:cs typeface="Calibri"/>
              </a:rPr>
              <a:t>Gate: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98113" y="2548127"/>
            <a:ext cx="1135380" cy="386080"/>
          </a:xfrm>
          <a:custGeom>
            <a:avLst/>
            <a:gdLst/>
            <a:ahLst/>
            <a:cxnLst/>
            <a:rect l="l" t="t" r="r" b="b"/>
            <a:pathLst>
              <a:path w="1135380" h="386080">
                <a:moveTo>
                  <a:pt x="1135379" y="385571"/>
                </a:moveTo>
                <a:lnTo>
                  <a:pt x="1135379" y="0"/>
                </a:lnTo>
                <a:lnTo>
                  <a:pt x="0" y="0"/>
                </a:lnTo>
                <a:lnTo>
                  <a:pt x="0" y="385571"/>
                </a:lnTo>
                <a:lnTo>
                  <a:pt x="1135379" y="385571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98113" y="2548127"/>
            <a:ext cx="637540" cy="357505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749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90"/>
              </a:spcBef>
            </a:pPr>
            <a:r>
              <a:rPr sz="1450" spc="-25" dirty="0">
                <a:latin typeface="Cambria"/>
                <a:cs typeface="Cambria"/>
              </a:rPr>
              <a:t>W</a:t>
            </a:r>
            <a:r>
              <a:rPr sz="1650" spc="-37" baseline="-15151" dirty="0">
                <a:latin typeface="Cambria"/>
                <a:cs typeface="Cambria"/>
              </a:rPr>
              <a:t>xc</a:t>
            </a:r>
            <a:r>
              <a:rPr sz="1650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5660" y="2599956"/>
            <a:ext cx="450850" cy="309880"/>
          </a:xfrm>
          <a:custGeom>
            <a:avLst/>
            <a:gdLst/>
            <a:ahLst/>
            <a:cxnLst/>
            <a:rect l="l" t="t" r="r" b="b"/>
            <a:pathLst>
              <a:path w="450850" h="309880">
                <a:moveTo>
                  <a:pt x="43675" y="301752"/>
                </a:moveTo>
                <a:lnTo>
                  <a:pt x="16510" y="301752"/>
                </a:lnTo>
                <a:lnTo>
                  <a:pt x="16510" y="7620"/>
                </a:lnTo>
                <a:lnTo>
                  <a:pt x="43180" y="7620"/>
                </a:lnTo>
                <a:lnTo>
                  <a:pt x="43180" y="0"/>
                </a:lnTo>
                <a:lnTo>
                  <a:pt x="16510" y="0"/>
                </a:lnTo>
                <a:lnTo>
                  <a:pt x="0" y="0"/>
                </a:lnTo>
                <a:lnTo>
                  <a:pt x="0" y="309372"/>
                </a:lnTo>
                <a:lnTo>
                  <a:pt x="16243" y="309372"/>
                </a:lnTo>
                <a:lnTo>
                  <a:pt x="16510" y="309372"/>
                </a:lnTo>
                <a:lnTo>
                  <a:pt x="43675" y="309372"/>
                </a:lnTo>
                <a:lnTo>
                  <a:pt x="43675" y="301752"/>
                </a:lnTo>
                <a:close/>
              </a:path>
              <a:path w="450850" h="309880">
                <a:moveTo>
                  <a:pt x="450850" y="0"/>
                </a:moveTo>
                <a:lnTo>
                  <a:pt x="431800" y="0"/>
                </a:lnTo>
                <a:lnTo>
                  <a:pt x="406400" y="0"/>
                </a:lnTo>
                <a:lnTo>
                  <a:pt x="406400" y="7620"/>
                </a:lnTo>
                <a:lnTo>
                  <a:pt x="431800" y="7620"/>
                </a:lnTo>
                <a:lnTo>
                  <a:pt x="431800" y="301752"/>
                </a:lnTo>
                <a:lnTo>
                  <a:pt x="406387" y="301752"/>
                </a:lnTo>
                <a:lnTo>
                  <a:pt x="406387" y="309372"/>
                </a:lnTo>
                <a:lnTo>
                  <a:pt x="431800" y="309372"/>
                </a:lnTo>
                <a:lnTo>
                  <a:pt x="432295" y="309372"/>
                </a:lnTo>
                <a:lnTo>
                  <a:pt x="450850" y="309372"/>
                </a:lnTo>
                <a:lnTo>
                  <a:pt x="4508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52169" y="2506471"/>
            <a:ext cx="415290" cy="4737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35"/>
              </a:spcBef>
            </a:pPr>
            <a:r>
              <a:rPr sz="1450" spc="15" dirty="0">
                <a:latin typeface="Cambria"/>
                <a:cs typeface="Cambria"/>
              </a:rPr>
              <a:t>0.45</a:t>
            </a:r>
            <a:endParaRPr sz="1450">
              <a:latin typeface="Cambria"/>
              <a:cs typeface="Cambria"/>
            </a:endParaRPr>
          </a:p>
          <a:p>
            <a:pPr marL="31115">
              <a:lnSpc>
                <a:spcPct val="100000"/>
              </a:lnSpc>
            </a:pPr>
            <a:r>
              <a:rPr sz="1450" spc="15" dirty="0">
                <a:latin typeface="Cambria"/>
                <a:cs typeface="Cambria"/>
              </a:rPr>
              <a:t>0.25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591055" y="2575560"/>
            <a:ext cx="1149350" cy="228600"/>
          </a:xfrm>
          <a:custGeom>
            <a:avLst/>
            <a:gdLst/>
            <a:ahLst/>
            <a:cxnLst/>
            <a:rect l="l" t="t" r="r" b="b"/>
            <a:pathLst>
              <a:path w="1149350" h="228600">
                <a:moveTo>
                  <a:pt x="1149095" y="228599"/>
                </a:moveTo>
                <a:lnTo>
                  <a:pt x="1149095" y="0"/>
                </a:lnTo>
                <a:lnTo>
                  <a:pt x="0" y="0"/>
                </a:lnTo>
                <a:lnTo>
                  <a:pt x="0" y="228599"/>
                </a:lnTo>
                <a:lnTo>
                  <a:pt x="1149095" y="228599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591055" y="2575560"/>
            <a:ext cx="657225" cy="2286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7305">
              <a:lnSpc>
                <a:spcPts val="1670"/>
              </a:lnSpc>
            </a:pPr>
            <a:r>
              <a:rPr sz="1450" spc="5" dirty="0">
                <a:latin typeface="Cambria"/>
                <a:cs typeface="Cambria"/>
              </a:rPr>
              <a:t>W</a:t>
            </a:r>
            <a:r>
              <a:rPr sz="1650" spc="7" baseline="-15151" dirty="0">
                <a:latin typeface="Cambria"/>
                <a:cs typeface="Cambria"/>
              </a:rPr>
              <a:t>hc</a:t>
            </a:r>
            <a:r>
              <a:rPr sz="1650" spc="292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247900" y="2610624"/>
            <a:ext cx="444500" cy="177165"/>
          </a:xfrm>
          <a:custGeom>
            <a:avLst/>
            <a:gdLst/>
            <a:ahLst/>
            <a:cxnLst/>
            <a:rect l="l" t="t" r="r" b="b"/>
            <a:pathLst>
              <a:path w="444500" h="177164">
                <a:moveTo>
                  <a:pt x="15240" y="0"/>
                </a:moveTo>
                <a:lnTo>
                  <a:pt x="0" y="0"/>
                </a:lnTo>
                <a:lnTo>
                  <a:pt x="0" y="176784"/>
                </a:lnTo>
                <a:lnTo>
                  <a:pt x="15240" y="176784"/>
                </a:lnTo>
                <a:lnTo>
                  <a:pt x="15240" y="0"/>
                </a:lnTo>
                <a:close/>
              </a:path>
              <a:path w="444500" h="177164">
                <a:moveTo>
                  <a:pt x="444500" y="0"/>
                </a:moveTo>
                <a:lnTo>
                  <a:pt x="429260" y="0"/>
                </a:lnTo>
                <a:lnTo>
                  <a:pt x="403860" y="0"/>
                </a:lnTo>
                <a:lnTo>
                  <a:pt x="403860" y="7620"/>
                </a:lnTo>
                <a:lnTo>
                  <a:pt x="429260" y="7620"/>
                </a:lnTo>
                <a:lnTo>
                  <a:pt x="429260" y="169164"/>
                </a:lnTo>
                <a:lnTo>
                  <a:pt x="403860" y="169164"/>
                </a:lnTo>
                <a:lnTo>
                  <a:pt x="403860" y="176784"/>
                </a:lnTo>
                <a:lnTo>
                  <a:pt x="429260" y="176784"/>
                </a:lnTo>
                <a:lnTo>
                  <a:pt x="429768" y="176784"/>
                </a:lnTo>
                <a:lnTo>
                  <a:pt x="444500" y="176784"/>
                </a:lnTo>
                <a:lnTo>
                  <a:pt x="444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263139" y="2610612"/>
            <a:ext cx="25400" cy="7620"/>
          </a:xfrm>
          <a:custGeom>
            <a:avLst/>
            <a:gdLst/>
            <a:ahLst/>
            <a:cxnLst/>
            <a:rect l="l" t="t" r="r" b="b"/>
            <a:pathLst>
              <a:path w="25400" h="7619">
                <a:moveTo>
                  <a:pt x="0" y="0"/>
                </a:moveTo>
                <a:lnTo>
                  <a:pt x="0" y="7620"/>
                </a:lnTo>
                <a:lnTo>
                  <a:pt x="25399" y="7620"/>
                </a:lnTo>
                <a:lnTo>
                  <a:pt x="25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263140" y="2779776"/>
            <a:ext cx="26034" cy="7620"/>
          </a:xfrm>
          <a:custGeom>
            <a:avLst/>
            <a:gdLst/>
            <a:ahLst/>
            <a:cxnLst/>
            <a:rect l="l" t="t" r="r" b="b"/>
            <a:pathLst>
              <a:path w="26035" h="7619">
                <a:moveTo>
                  <a:pt x="25908" y="7620"/>
                </a:moveTo>
                <a:lnTo>
                  <a:pt x="25908" y="0"/>
                </a:lnTo>
                <a:lnTo>
                  <a:pt x="0" y="0"/>
                </a:lnTo>
                <a:lnTo>
                  <a:pt x="0" y="7620"/>
                </a:lnTo>
                <a:lnTo>
                  <a:pt x="25908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263139" y="2549143"/>
            <a:ext cx="41402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35"/>
              </a:spcBef>
            </a:pPr>
            <a:r>
              <a:rPr sz="1450" spc="15" dirty="0">
                <a:latin typeface="Cambria"/>
                <a:cs typeface="Cambria"/>
              </a:rPr>
              <a:t>0.15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941319" y="2561844"/>
            <a:ext cx="1004569" cy="228600"/>
          </a:xfrm>
          <a:custGeom>
            <a:avLst/>
            <a:gdLst/>
            <a:ahLst/>
            <a:cxnLst/>
            <a:rect l="l" t="t" r="r" b="b"/>
            <a:pathLst>
              <a:path w="1004570" h="228600">
                <a:moveTo>
                  <a:pt x="1004315" y="228599"/>
                </a:moveTo>
                <a:lnTo>
                  <a:pt x="1004315" y="0"/>
                </a:lnTo>
                <a:lnTo>
                  <a:pt x="0" y="0"/>
                </a:lnTo>
                <a:lnTo>
                  <a:pt x="0" y="228599"/>
                </a:lnTo>
                <a:lnTo>
                  <a:pt x="1004315" y="228599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2941319" y="2561844"/>
            <a:ext cx="511809" cy="2286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4130">
              <a:lnSpc>
                <a:spcPts val="1680"/>
              </a:lnSpc>
            </a:pPr>
            <a:r>
              <a:rPr sz="1450" spc="10" dirty="0">
                <a:latin typeface="Cambria"/>
                <a:cs typeface="Cambria"/>
              </a:rPr>
              <a:t>b</a:t>
            </a:r>
            <a:r>
              <a:rPr sz="1650" spc="15" baseline="-15151" dirty="0">
                <a:latin typeface="Cambria"/>
                <a:cs typeface="Cambria"/>
              </a:rPr>
              <a:t>c</a:t>
            </a:r>
            <a:r>
              <a:rPr sz="1650" spc="322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453130" y="2598432"/>
            <a:ext cx="443230" cy="175260"/>
          </a:xfrm>
          <a:custGeom>
            <a:avLst/>
            <a:gdLst/>
            <a:ahLst/>
            <a:cxnLst/>
            <a:rect l="l" t="t" r="r" b="b"/>
            <a:pathLst>
              <a:path w="443229" h="175260">
                <a:moveTo>
                  <a:pt x="15240" y="0"/>
                </a:moveTo>
                <a:lnTo>
                  <a:pt x="0" y="0"/>
                </a:lnTo>
                <a:lnTo>
                  <a:pt x="0" y="175260"/>
                </a:lnTo>
                <a:lnTo>
                  <a:pt x="15240" y="175260"/>
                </a:lnTo>
                <a:lnTo>
                  <a:pt x="15240" y="0"/>
                </a:lnTo>
                <a:close/>
              </a:path>
              <a:path w="443229" h="175260">
                <a:moveTo>
                  <a:pt x="443230" y="0"/>
                </a:moveTo>
                <a:lnTo>
                  <a:pt x="427990" y="0"/>
                </a:lnTo>
                <a:lnTo>
                  <a:pt x="402590" y="0"/>
                </a:lnTo>
                <a:lnTo>
                  <a:pt x="402590" y="6096"/>
                </a:lnTo>
                <a:lnTo>
                  <a:pt x="427990" y="6096"/>
                </a:lnTo>
                <a:lnTo>
                  <a:pt x="427990" y="169164"/>
                </a:lnTo>
                <a:lnTo>
                  <a:pt x="402590" y="169164"/>
                </a:lnTo>
                <a:lnTo>
                  <a:pt x="402590" y="175260"/>
                </a:lnTo>
                <a:lnTo>
                  <a:pt x="427990" y="175260"/>
                </a:lnTo>
                <a:lnTo>
                  <a:pt x="428498" y="175260"/>
                </a:lnTo>
                <a:lnTo>
                  <a:pt x="443230" y="175260"/>
                </a:lnTo>
                <a:lnTo>
                  <a:pt x="4432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468370" y="2598420"/>
            <a:ext cx="26670" cy="6350"/>
          </a:xfrm>
          <a:custGeom>
            <a:avLst/>
            <a:gdLst/>
            <a:ahLst/>
            <a:cxnLst/>
            <a:rect l="l" t="t" r="r" b="b"/>
            <a:pathLst>
              <a:path w="26670" h="6350">
                <a:moveTo>
                  <a:pt x="0" y="0"/>
                </a:moveTo>
                <a:lnTo>
                  <a:pt x="0" y="6096"/>
                </a:lnTo>
                <a:lnTo>
                  <a:pt x="26670" y="6096"/>
                </a:lnTo>
                <a:lnTo>
                  <a:pt x="26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468623" y="2767584"/>
            <a:ext cx="26034" cy="6350"/>
          </a:xfrm>
          <a:custGeom>
            <a:avLst/>
            <a:gdLst/>
            <a:ahLst/>
            <a:cxnLst/>
            <a:rect l="l" t="t" r="r" b="b"/>
            <a:pathLst>
              <a:path w="26035" h="6350">
                <a:moveTo>
                  <a:pt x="25908" y="6096"/>
                </a:moveTo>
                <a:lnTo>
                  <a:pt x="25908" y="0"/>
                </a:lnTo>
                <a:lnTo>
                  <a:pt x="0" y="0"/>
                </a:lnTo>
                <a:lnTo>
                  <a:pt x="0" y="6096"/>
                </a:lnTo>
                <a:lnTo>
                  <a:pt x="25908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3468370" y="2536951"/>
            <a:ext cx="41275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35"/>
              </a:spcBef>
            </a:pPr>
            <a:r>
              <a:rPr sz="1450" spc="15" dirty="0">
                <a:latin typeface="Cambria"/>
                <a:cs typeface="Cambria"/>
              </a:rPr>
              <a:t>0.20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037080" y="3608844"/>
            <a:ext cx="41910" cy="175260"/>
          </a:xfrm>
          <a:custGeom>
            <a:avLst/>
            <a:gdLst/>
            <a:ahLst/>
            <a:cxnLst/>
            <a:rect l="l" t="t" r="r" b="b"/>
            <a:pathLst>
              <a:path w="41910" h="175260">
                <a:moveTo>
                  <a:pt x="26416" y="169164"/>
                </a:moveTo>
                <a:lnTo>
                  <a:pt x="508" y="169164"/>
                </a:lnTo>
                <a:lnTo>
                  <a:pt x="508" y="175260"/>
                </a:lnTo>
                <a:lnTo>
                  <a:pt x="26416" y="175260"/>
                </a:lnTo>
                <a:lnTo>
                  <a:pt x="26416" y="169164"/>
                </a:lnTo>
                <a:close/>
              </a:path>
              <a:path w="41910" h="175260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6096"/>
                </a:lnTo>
                <a:lnTo>
                  <a:pt x="26670" y="6096"/>
                </a:lnTo>
                <a:lnTo>
                  <a:pt x="26670" y="175260"/>
                </a:lnTo>
                <a:lnTo>
                  <a:pt x="41910" y="17526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92200" y="3608844"/>
            <a:ext cx="41910" cy="175260"/>
          </a:xfrm>
          <a:custGeom>
            <a:avLst/>
            <a:gdLst/>
            <a:ahLst/>
            <a:cxnLst/>
            <a:rect l="l" t="t" r="r" b="b"/>
            <a:pathLst>
              <a:path w="41909" h="175260">
                <a:moveTo>
                  <a:pt x="41643" y="169164"/>
                </a:moveTo>
                <a:lnTo>
                  <a:pt x="15735" y="169164"/>
                </a:lnTo>
                <a:lnTo>
                  <a:pt x="15735" y="175260"/>
                </a:lnTo>
                <a:lnTo>
                  <a:pt x="41643" y="175260"/>
                </a:lnTo>
                <a:lnTo>
                  <a:pt x="41643" y="169164"/>
                </a:lnTo>
                <a:close/>
              </a:path>
              <a:path w="41909" h="175260">
                <a:moveTo>
                  <a:pt x="4191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5240" y="175260"/>
                </a:lnTo>
                <a:lnTo>
                  <a:pt x="15240" y="6096"/>
                </a:lnTo>
                <a:lnTo>
                  <a:pt x="41910" y="6096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349500" y="3541788"/>
            <a:ext cx="44450" cy="311150"/>
          </a:xfrm>
          <a:custGeom>
            <a:avLst/>
            <a:gdLst/>
            <a:ahLst/>
            <a:cxnLst/>
            <a:rect l="l" t="t" r="r" b="b"/>
            <a:pathLst>
              <a:path w="44450" h="311150">
                <a:moveTo>
                  <a:pt x="44450" y="0"/>
                </a:moveTo>
                <a:lnTo>
                  <a:pt x="27940" y="0"/>
                </a:lnTo>
                <a:lnTo>
                  <a:pt x="0" y="0"/>
                </a:lnTo>
                <a:lnTo>
                  <a:pt x="0" y="9144"/>
                </a:lnTo>
                <a:lnTo>
                  <a:pt x="27940" y="9144"/>
                </a:lnTo>
                <a:lnTo>
                  <a:pt x="27940" y="301752"/>
                </a:lnTo>
                <a:lnTo>
                  <a:pt x="508" y="301752"/>
                </a:lnTo>
                <a:lnTo>
                  <a:pt x="508" y="310896"/>
                </a:lnTo>
                <a:lnTo>
                  <a:pt x="27940" y="310896"/>
                </a:lnTo>
                <a:lnTo>
                  <a:pt x="44450" y="310896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193290" y="3541788"/>
            <a:ext cx="44450" cy="311150"/>
          </a:xfrm>
          <a:custGeom>
            <a:avLst/>
            <a:gdLst/>
            <a:ahLst/>
            <a:cxnLst/>
            <a:rect l="l" t="t" r="r" b="b"/>
            <a:pathLst>
              <a:path w="44450" h="311150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10896"/>
                </a:lnTo>
                <a:lnTo>
                  <a:pt x="16510" y="310896"/>
                </a:lnTo>
                <a:lnTo>
                  <a:pt x="43942" y="310896"/>
                </a:lnTo>
                <a:lnTo>
                  <a:pt x="43942" y="301752"/>
                </a:lnTo>
                <a:lnTo>
                  <a:pt x="16510" y="301752"/>
                </a:lnTo>
                <a:lnTo>
                  <a:pt x="16510" y="9144"/>
                </a:lnTo>
                <a:lnTo>
                  <a:pt x="44450" y="9144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2227579" y="3667758"/>
            <a:ext cx="13017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20" dirty="0">
                <a:latin typeface="Cambria"/>
                <a:cs typeface="Cambria"/>
              </a:rPr>
              <a:t>2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064510" y="3608844"/>
            <a:ext cx="41910" cy="175260"/>
          </a:xfrm>
          <a:custGeom>
            <a:avLst/>
            <a:gdLst/>
            <a:ahLst/>
            <a:cxnLst/>
            <a:rect l="l" t="t" r="r" b="b"/>
            <a:pathLst>
              <a:path w="41910" h="175260">
                <a:moveTo>
                  <a:pt x="26162" y="169164"/>
                </a:moveTo>
                <a:lnTo>
                  <a:pt x="254" y="169164"/>
                </a:lnTo>
                <a:lnTo>
                  <a:pt x="254" y="175260"/>
                </a:lnTo>
                <a:lnTo>
                  <a:pt x="26162" y="175260"/>
                </a:lnTo>
                <a:lnTo>
                  <a:pt x="26162" y="169164"/>
                </a:lnTo>
                <a:close/>
              </a:path>
              <a:path w="41910" h="175260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6096"/>
                </a:lnTo>
                <a:lnTo>
                  <a:pt x="26670" y="6096"/>
                </a:lnTo>
                <a:lnTo>
                  <a:pt x="26670" y="175260"/>
                </a:lnTo>
                <a:lnTo>
                  <a:pt x="41910" y="17526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660650" y="3608844"/>
            <a:ext cx="41910" cy="175260"/>
          </a:xfrm>
          <a:custGeom>
            <a:avLst/>
            <a:gdLst/>
            <a:ahLst/>
            <a:cxnLst/>
            <a:rect l="l" t="t" r="r" b="b"/>
            <a:pathLst>
              <a:path w="41910" h="175260">
                <a:moveTo>
                  <a:pt x="41402" y="169164"/>
                </a:moveTo>
                <a:lnTo>
                  <a:pt x="15494" y="169164"/>
                </a:lnTo>
                <a:lnTo>
                  <a:pt x="15494" y="175260"/>
                </a:lnTo>
                <a:lnTo>
                  <a:pt x="41402" y="175260"/>
                </a:lnTo>
                <a:lnTo>
                  <a:pt x="41402" y="169164"/>
                </a:lnTo>
                <a:close/>
              </a:path>
              <a:path w="41910" h="175260">
                <a:moveTo>
                  <a:pt x="4191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5240" y="175260"/>
                </a:lnTo>
                <a:lnTo>
                  <a:pt x="15240" y="6096"/>
                </a:lnTo>
                <a:lnTo>
                  <a:pt x="41910" y="6096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518916" y="3608844"/>
            <a:ext cx="41275" cy="175260"/>
          </a:xfrm>
          <a:custGeom>
            <a:avLst/>
            <a:gdLst/>
            <a:ahLst/>
            <a:cxnLst/>
            <a:rect l="l" t="t" r="r" b="b"/>
            <a:pathLst>
              <a:path w="41275" h="175260">
                <a:moveTo>
                  <a:pt x="40894" y="0"/>
                </a:moveTo>
                <a:lnTo>
                  <a:pt x="25654" y="0"/>
                </a:lnTo>
                <a:lnTo>
                  <a:pt x="254" y="0"/>
                </a:lnTo>
                <a:lnTo>
                  <a:pt x="254" y="6096"/>
                </a:lnTo>
                <a:lnTo>
                  <a:pt x="25654" y="6096"/>
                </a:lnTo>
                <a:lnTo>
                  <a:pt x="25654" y="169164"/>
                </a:lnTo>
                <a:lnTo>
                  <a:pt x="0" y="169164"/>
                </a:lnTo>
                <a:lnTo>
                  <a:pt x="0" y="175260"/>
                </a:lnTo>
                <a:lnTo>
                  <a:pt x="25654" y="175260"/>
                </a:lnTo>
                <a:lnTo>
                  <a:pt x="25908" y="175260"/>
                </a:lnTo>
                <a:lnTo>
                  <a:pt x="40894" y="175260"/>
                </a:lnTo>
                <a:lnTo>
                  <a:pt x="408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365500" y="3608844"/>
            <a:ext cx="40640" cy="175260"/>
          </a:xfrm>
          <a:custGeom>
            <a:avLst/>
            <a:gdLst/>
            <a:ahLst/>
            <a:cxnLst/>
            <a:rect l="l" t="t" r="r" b="b"/>
            <a:pathLst>
              <a:path w="40639" h="175260">
                <a:moveTo>
                  <a:pt x="4064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4732" y="175260"/>
                </a:lnTo>
                <a:lnTo>
                  <a:pt x="15240" y="175260"/>
                </a:lnTo>
                <a:lnTo>
                  <a:pt x="40640" y="175260"/>
                </a:lnTo>
                <a:lnTo>
                  <a:pt x="40640" y="169164"/>
                </a:lnTo>
                <a:lnTo>
                  <a:pt x="15240" y="169164"/>
                </a:lnTo>
                <a:lnTo>
                  <a:pt x="15240" y="6096"/>
                </a:lnTo>
                <a:lnTo>
                  <a:pt x="40640" y="6096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28523" y="3558030"/>
            <a:ext cx="418782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35"/>
              </a:spcBef>
              <a:tabLst>
                <a:tab pos="1550670" algn="l"/>
                <a:tab pos="2111375" algn="l"/>
              </a:tabLst>
            </a:pPr>
            <a:r>
              <a:rPr sz="2175" spc="-209" baseline="3831" dirty="0">
                <a:latin typeface="Cambria"/>
                <a:cs typeface="Cambria"/>
              </a:rPr>
              <a:t>C</a:t>
            </a:r>
            <a:r>
              <a:rPr sz="2175" spc="-209" baseline="15325" dirty="0">
                <a:latin typeface="Cambria"/>
                <a:cs typeface="Cambria"/>
              </a:rPr>
              <a:t>˜</a:t>
            </a:r>
            <a:r>
              <a:rPr sz="1650" spc="-209" baseline="-10101" dirty="0">
                <a:latin typeface="Cambria"/>
                <a:cs typeface="Cambria"/>
              </a:rPr>
              <a:t>0</a:t>
            </a:r>
            <a:r>
              <a:rPr sz="1650" spc="345" baseline="-10101" dirty="0">
                <a:latin typeface="Cambria"/>
                <a:cs typeface="Cambria"/>
              </a:rPr>
              <a:t> </a:t>
            </a:r>
            <a:r>
              <a:rPr sz="2175" spc="457" baseline="3831" dirty="0">
                <a:latin typeface="Cambria"/>
                <a:cs typeface="Cambria"/>
              </a:rPr>
              <a:t>=</a:t>
            </a:r>
            <a:r>
              <a:rPr sz="2175" spc="142" baseline="3831" dirty="0">
                <a:latin typeface="Cambria"/>
                <a:cs typeface="Cambria"/>
              </a:rPr>
              <a:t> </a:t>
            </a:r>
            <a:r>
              <a:rPr sz="2175" spc="37" baseline="3831" dirty="0">
                <a:latin typeface="Cambria"/>
                <a:cs typeface="Cambria"/>
              </a:rPr>
              <a:t>tanh(</a:t>
            </a:r>
            <a:r>
              <a:rPr sz="2175" spc="300" baseline="3831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0.45	0.25	</a:t>
            </a:r>
            <a:r>
              <a:rPr sz="2175" spc="30" baseline="34482" dirty="0">
                <a:latin typeface="Cambria"/>
                <a:cs typeface="Cambria"/>
              </a:rPr>
              <a:t>1</a:t>
            </a:r>
            <a:r>
              <a:rPr sz="2175" spc="322" baseline="34482" dirty="0">
                <a:latin typeface="Cambria"/>
                <a:cs typeface="Cambria"/>
              </a:rPr>
              <a:t> </a:t>
            </a:r>
            <a:r>
              <a:rPr sz="2175" spc="457" baseline="3831" dirty="0">
                <a:latin typeface="Cambria"/>
                <a:cs typeface="Cambria"/>
              </a:rPr>
              <a:t>+</a:t>
            </a:r>
            <a:r>
              <a:rPr sz="2175" spc="765" baseline="3831" dirty="0">
                <a:latin typeface="Cambria"/>
                <a:cs typeface="Cambria"/>
              </a:rPr>
              <a:t> </a:t>
            </a:r>
            <a:r>
              <a:rPr sz="2175" spc="22" baseline="3831" dirty="0">
                <a:latin typeface="Cambria"/>
                <a:cs typeface="Cambria"/>
              </a:rPr>
              <a:t>0.15 </a:t>
            </a:r>
            <a:r>
              <a:rPr sz="2175" spc="277" baseline="3831" dirty="0">
                <a:latin typeface="Cambria"/>
                <a:cs typeface="Cambria"/>
              </a:rPr>
              <a:t> </a:t>
            </a:r>
            <a:r>
              <a:rPr sz="2175" spc="390" baseline="3831" dirty="0">
                <a:latin typeface="Cambria"/>
                <a:cs typeface="Cambria"/>
              </a:rPr>
              <a:t>×</a:t>
            </a:r>
            <a:r>
              <a:rPr sz="2175" spc="765" baseline="3831" dirty="0">
                <a:latin typeface="Cambria"/>
                <a:cs typeface="Cambria"/>
              </a:rPr>
              <a:t> </a:t>
            </a:r>
            <a:r>
              <a:rPr sz="2175" spc="30" baseline="3831" dirty="0">
                <a:latin typeface="Cambria"/>
                <a:cs typeface="Cambria"/>
              </a:rPr>
              <a:t>0 </a:t>
            </a:r>
            <a:r>
              <a:rPr sz="2175" spc="277" baseline="3831" dirty="0">
                <a:latin typeface="Cambria"/>
                <a:cs typeface="Cambria"/>
              </a:rPr>
              <a:t> </a:t>
            </a:r>
            <a:r>
              <a:rPr sz="2175" spc="457" baseline="3831" dirty="0">
                <a:latin typeface="Cambria"/>
                <a:cs typeface="Cambria"/>
              </a:rPr>
              <a:t>+</a:t>
            </a:r>
            <a:r>
              <a:rPr sz="2175" spc="30" baseline="3831" dirty="0">
                <a:latin typeface="Cambria"/>
                <a:cs typeface="Cambria"/>
              </a:rPr>
              <a:t> </a:t>
            </a:r>
            <a:r>
              <a:rPr sz="2175" spc="22" baseline="3831" dirty="0">
                <a:latin typeface="Cambria"/>
                <a:cs typeface="Cambria"/>
              </a:rPr>
              <a:t>[0.2])</a:t>
            </a:r>
            <a:endParaRPr sz="2175" baseline="3831">
              <a:latin typeface="Cambria"/>
              <a:cs typeface="Cambri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04209" y="3957827"/>
            <a:ext cx="1158240" cy="23622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7305">
              <a:lnSpc>
                <a:spcPct val="100000"/>
              </a:lnSpc>
            </a:pPr>
            <a:r>
              <a:rPr sz="1450" spc="-140" dirty="0">
                <a:latin typeface="Cambria"/>
                <a:cs typeface="Cambria"/>
              </a:rPr>
              <a:t>C</a:t>
            </a:r>
            <a:r>
              <a:rPr sz="2175" spc="-209" baseline="11494" dirty="0">
                <a:latin typeface="Cambria"/>
                <a:cs typeface="Cambria"/>
              </a:rPr>
              <a:t>˜</a:t>
            </a:r>
            <a:r>
              <a:rPr sz="1650" spc="-209" baseline="-15151" dirty="0">
                <a:latin typeface="Cambria"/>
                <a:cs typeface="Cambria"/>
              </a:rPr>
              <a:t>0</a:t>
            </a:r>
            <a:r>
              <a:rPr sz="1650" spc="142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r>
              <a:rPr sz="1450" spc="75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0.81775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033265" y="3217164"/>
            <a:ext cx="2078989" cy="175260"/>
          </a:xfrm>
          <a:custGeom>
            <a:avLst/>
            <a:gdLst/>
            <a:ahLst/>
            <a:cxnLst/>
            <a:rect l="l" t="t" r="r" b="b"/>
            <a:pathLst>
              <a:path w="2078989" h="175260">
                <a:moveTo>
                  <a:pt x="2078742" y="88392"/>
                </a:moveTo>
                <a:lnTo>
                  <a:pt x="2070383" y="43386"/>
                </a:lnTo>
                <a:lnTo>
                  <a:pt x="2046357" y="11239"/>
                </a:lnTo>
                <a:lnTo>
                  <a:pt x="2022354" y="0"/>
                </a:lnTo>
                <a:lnTo>
                  <a:pt x="2020830" y="7620"/>
                </a:lnTo>
                <a:lnTo>
                  <a:pt x="2030545" y="11906"/>
                </a:lnTo>
                <a:lnTo>
                  <a:pt x="2039118" y="17907"/>
                </a:lnTo>
                <a:lnTo>
                  <a:pt x="2059692" y="58102"/>
                </a:lnTo>
                <a:lnTo>
                  <a:pt x="2061978" y="86868"/>
                </a:lnTo>
                <a:lnTo>
                  <a:pt x="2061978" y="146863"/>
                </a:lnTo>
                <a:lnTo>
                  <a:pt x="2063502" y="144780"/>
                </a:lnTo>
                <a:lnTo>
                  <a:pt x="2070383" y="132540"/>
                </a:lnTo>
                <a:lnTo>
                  <a:pt x="2075122" y="118872"/>
                </a:lnTo>
                <a:lnTo>
                  <a:pt x="2077861" y="104060"/>
                </a:lnTo>
                <a:lnTo>
                  <a:pt x="2078742" y="88392"/>
                </a:lnTo>
                <a:close/>
              </a:path>
              <a:path w="2078989" h="175260">
                <a:moveTo>
                  <a:pt x="2061978" y="146863"/>
                </a:moveTo>
                <a:lnTo>
                  <a:pt x="2061978" y="86868"/>
                </a:lnTo>
                <a:lnTo>
                  <a:pt x="2061406" y="102274"/>
                </a:lnTo>
                <a:lnTo>
                  <a:pt x="2059692" y="116395"/>
                </a:lnTo>
                <a:lnTo>
                  <a:pt x="2039118" y="157353"/>
                </a:lnTo>
                <a:lnTo>
                  <a:pt x="2020830" y="167640"/>
                </a:lnTo>
                <a:lnTo>
                  <a:pt x="2022354" y="175260"/>
                </a:lnTo>
                <a:lnTo>
                  <a:pt x="2035212" y="170711"/>
                </a:lnTo>
                <a:lnTo>
                  <a:pt x="2046357" y="164020"/>
                </a:lnTo>
                <a:lnTo>
                  <a:pt x="2055786" y="155328"/>
                </a:lnTo>
                <a:lnTo>
                  <a:pt x="2061978" y="146863"/>
                </a:lnTo>
                <a:close/>
              </a:path>
              <a:path w="2078989" h="175260">
                <a:moveTo>
                  <a:pt x="57912" y="7620"/>
                </a:moveTo>
                <a:lnTo>
                  <a:pt x="56388" y="0"/>
                </a:lnTo>
                <a:lnTo>
                  <a:pt x="43529" y="4548"/>
                </a:lnTo>
                <a:lnTo>
                  <a:pt x="32385" y="11239"/>
                </a:lnTo>
                <a:lnTo>
                  <a:pt x="8358" y="43386"/>
                </a:lnTo>
                <a:lnTo>
                  <a:pt x="0" y="88392"/>
                </a:lnTo>
                <a:lnTo>
                  <a:pt x="881" y="104060"/>
                </a:lnTo>
                <a:lnTo>
                  <a:pt x="3619" y="118872"/>
                </a:lnTo>
                <a:lnTo>
                  <a:pt x="8358" y="132540"/>
                </a:lnTo>
                <a:lnTo>
                  <a:pt x="15240" y="144780"/>
                </a:lnTo>
                <a:lnTo>
                  <a:pt x="16764" y="146863"/>
                </a:lnTo>
                <a:lnTo>
                  <a:pt x="16764" y="86868"/>
                </a:lnTo>
                <a:lnTo>
                  <a:pt x="17335" y="71699"/>
                </a:lnTo>
                <a:lnTo>
                  <a:pt x="32194" y="25622"/>
                </a:lnTo>
                <a:lnTo>
                  <a:pt x="48196" y="11906"/>
                </a:lnTo>
                <a:lnTo>
                  <a:pt x="57912" y="7620"/>
                </a:lnTo>
                <a:close/>
              </a:path>
              <a:path w="2078989" h="175260">
                <a:moveTo>
                  <a:pt x="57912" y="167640"/>
                </a:moveTo>
                <a:lnTo>
                  <a:pt x="25908" y="140208"/>
                </a:lnTo>
                <a:lnTo>
                  <a:pt x="17335" y="102274"/>
                </a:lnTo>
                <a:lnTo>
                  <a:pt x="16764" y="86868"/>
                </a:lnTo>
                <a:lnTo>
                  <a:pt x="16764" y="146863"/>
                </a:lnTo>
                <a:lnTo>
                  <a:pt x="22955" y="155328"/>
                </a:lnTo>
                <a:lnTo>
                  <a:pt x="32385" y="164020"/>
                </a:lnTo>
                <a:lnTo>
                  <a:pt x="43529" y="170711"/>
                </a:lnTo>
                <a:lnTo>
                  <a:pt x="56388" y="175260"/>
                </a:lnTo>
                <a:lnTo>
                  <a:pt x="57912" y="1676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178301" y="3155694"/>
            <a:ext cx="289750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50" spc="-140" dirty="0">
                <a:latin typeface="Cambria"/>
                <a:cs typeface="Cambria"/>
              </a:rPr>
              <a:t>C</a:t>
            </a:r>
            <a:r>
              <a:rPr sz="2175" spc="-209" baseline="11494" dirty="0">
                <a:latin typeface="Cambria"/>
                <a:cs typeface="Cambria"/>
              </a:rPr>
              <a:t>˜</a:t>
            </a:r>
            <a:r>
              <a:rPr sz="1650" spc="-209" baseline="-15151" dirty="0">
                <a:latin typeface="Cambria"/>
                <a:cs typeface="Cambria"/>
              </a:rPr>
              <a:t>0</a:t>
            </a:r>
            <a:r>
              <a:rPr sz="1650" spc="37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r>
              <a:rPr sz="1450" spc="85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tanh</a:t>
            </a:r>
            <a:r>
              <a:rPr sz="1450" spc="270" dirty="0">
                <a:latin typeface="Cambria"/>
                <a:cs typeface="Cambria"/>
              </a:rPr>
              <a:t> </a:t>
            </a:r>
            <a:r>
              <a:rPr sz="1450" spc="-25" dirty="0">
                <a:latin typeface="Cambria"/>
                <a:cs typeface="Cambria"/>
              </a:rPr>
              <a:t>W</a:t>
            </a:r>
            <a:r>
              <a:rPr sz="1650" spc="-37" baseline="-15151" dirty="0">
                <a:latin typeface="Cambria"/>
                <a:cs typeface="Cambria"/>
              </a:rPr>
              <a:t>xc</a:t>
            </a:r>
            <a:r>
              <a:rPr sz="1650" spc="262" baseline="-15151" dirty="0">
                <a:latin typeface="Cambria"/>
                <a:cs typeface="Cambria"/>
              </a:rPr>
              <a:t> </a:t>
            </a:r>
            <a:r>
              <a:rPr sz="1450" spc="5" dirty="0">
                <a:latin typeface="Cambria"/>
                <a:cs typeface="Cambria"/>
              </a:rPr>
              <a:t>.</a:t>
            </a:r>
            <a:r>
              <a:rPr sz="1450" spc="-75" dirty="0">
                <a:latin typeface="Cambria"/>
                <a:cs typeface="Cambria"/>
              </a:rPr>
              <a:t> </a:t>
            </a:r>
            <a:r>
              <a:rPr sz="1450" spc="45" dirty="0">
                <a:latin typeface="Cambria"/>
                <a:cs typeface="Cambria"/>
              </a:rPr>
              <a:t>x</a:t>
            </a:r>
            <a:r>
              <a:rPr sz="1650" spc="67" baseline="-15151" dirty="0">
                <a:latin typeface="Cambria"/>
                <a:cs typeface="Cambria"/>
              </a:rPr>
              <a:t>0</a:t>
            </a:r>
            <a:r>
              <a:rPr sz="1650" spc="209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+</a:t>
            </a:r>
            <a:r>
              <a:rPr sz="1450" dirty="0">
                <a:latin typeface="Cambria"/>
                <a:cs typeface="Cambria"/>
              </a:rPr>
              <a:t> </a:t>
            </a:r>
            <a:r>
              <a:rPr sz="1450" spc="5" dirty="0">
                <a:latin typeface="Cambria"/>
                <a:cs typeface="Cambria"/>
              </a:rPr>
              <a:t>W</a:t>
            </a:r>
            <a:r>
              <a:rPr sz="1650" spc="7" baseline="-15151" dirty="0">
                <a:latin typeface="Cambria"/>
                <a:cs typeface="Cambria"/>
              </a:rPr>
              <a:t>hc</a:t>
            </a:r>
            <a:r>
              <a:rPr sz="1650" spc="262" baseline="-15151" dirty="0">
                <a:latin typeface="Cambria"/>
                <a:cs typeface="Cambria"/>
              </a:rPr>
              <a:t> </a:t>
            </a:r>
            <a:r>
              <a:rPr sz="1450" spc="5" dirty="0">
                <a:latin typeface="Cambria"/>
                <a:cs typeface="Cambria"/>
              </a:rPr>
              <a:t>.</a:t>
            </a:r>
            <a:r>
              <a:rPr sz="1450" spc="-75" dirty="0">
                <a:latin typeface="Cambria"/>
                <a:cs typeface="Cambria"/>
              </a:rPr>
              <a:t> </a:t>
            </a:r>
            <a:r>
              <a:rPr sz="1450" spc="90" dirty="0">
                <a:latin typeface="Cambria"/>
                <a:cs typeface="Cambria"/>
              </a:rPr>
              <a:t>ℎ</a:t>
            </a:r>
            <a:r>
              <a:rPr sz="1650" spc="135" baseline="-15151" dirty="0">
                <a:latin typeface="Cambria"/>
                <a:cs typeface="Cambria"/>
              </a:rPr>
              <a:t>–1</a:t>
            </a:r>
            <a:r>
              <a:rPr sz="1650" spc="195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+</a:t>
            </a:r>
            <a:r>
              <a:rPr sz="1450" spc="5" dirty="0">
                <a:latin typeface="Cambria"/>
                <a:cs typeface="Cambria"/>
              </a:rPr>
              <a:t> </a:t>
            </a:r>
            <a:r>
              <a:rPr sz="1450" spc="10" dirty="0">
                <a:latin typeface="Cambria"/>
                <a:cs typeface="Cambria"/>
              </a:rPr>
              <a:t>b</a:t>
            </a:r>
            <a:r>
              <a:rPr sz="1650" spc="15" baseline="-15151" dirty="0">
                <a:latin typeface="Cambria"/>
                <a:cs typeface="Cambria"/>
              </a:rPr>
              <a:t>c</a:t>
            </a:r>
            <a:endParaRPr sz="1650" baseline="-15151">
              <a:latin typeface="Cambria"/>
              <a:cs typeface="Cambri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44265" y="2204719"/>
            <a:ext cx="129794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10" dirty="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sz="145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50" spc="5" dirty="0">
                <a:solidFill>
                  <a:srgbClr val="FF0000"/>
                </a:solidFill>
                <a:latin typeface="Calibri"/>
                <a:cs typeface="Calibri"/>
              </a:rPr>
              <a:t>Activation: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88969" y="4312920"/>
            <a:ext cx="4916805" cy="55244"/>
          </a:xfrm>
          <a:custGeom>
            <a:avLst/>
            <a:gdLst/>
            <a:ahLst/>
            <a:cxnLst/>
            <a:rect l="l" t="t" r="r" b="b"/>
            <a:pathLst>
              <a:path w="4916805" h="55245">
                <a:moveTo>
                  <a:pt x="4916429" y="47243"/>
                </a:moveTo>
                <a:lnTo>
                  <a:pt x="4916429" y="0"/>
                </a:lnTo>
                <a:lnTo>
                  <a:pt x="0" y="7619"/>
                </a:lnTo>
                <a:lnTo>
                  <a:pt x="0" y="54863"/>
                </a:lnTo>
                <a:lnTo>
                  <a:pt x="4916429" y="47243"/>
                </a:lnTo>
                <a:close/>
              </a:path>
            </a:pathLst>
          </a:custGeom>
          <a:solidFill>
            <a:srgbClr val="5A9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212845" y="4448046"/>
            <a:ext cx="89154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10" dirty="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sz="145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50" spc="5" dirty="0">
                <a:solidFill>
                  <a:srgbClr val="FF0000"/>
                </a:solidFill>
                <a:latin typeface="Calibri"/>
                <a:cs typeface="Calibri"/>
              </a:rPr>
              <a:t>Gate: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88969" y="4799076"/>
            <a:ext cx="1130935" cy="387350"/>
          </a:xfrm>
          <a:custGeom>
            <a:avLst/>
            <a:gdLst/>
            <a:ahLst/>
            <a:cxnLst/>
            <a:rect l="l" t="t" r="r" b="b"/>
            <a:pathLst>
              <a:path w="1130935" h="387350">
                <a:moveTo>
                  <a:pt x="1130807" y="387095"/>
                </a:moveTo>
                <a:lnTo>
                  <a:pt x="1130807" y="0"/>
                </a:lnTo>
                <a:lnTo>
                  <a:pt x="0" y="0"/>
                </a:lnTo>
                <a:lnTo>
                  <a:pt x="0" y="387095"/>
                </a:lnTo>
                <a:lnTo>
                  <a:pt x="1130807" y="387095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188969" y="4799076"/>
            <a:ext cx="633095" cy="35814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749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90"/>
              </a:spcBef>
            </a:pPr>
            <a:r>
              <a:rPr sz="1450" spc="25" dirty="0">
                <a:latin typeface="Cambria"/>
                <a:cs typeface="Cambria"/>
              </a:rPr>
              <a:t>W</a:t>
            </a:r>
            <a:r>
              <a:rPr sz="1650" spc="37" baseline="-15151" dirty="0">
                <a:latin typeface="Cambria"/>
                <a:cs typeface="Cambria"/>
              </a:rPr>
              <a:t>xi</a:t>
            </a:r>
            <a:r>
              <a:rPr sz="1650" spc="300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821690" y="4850904"/>
            <a:ext cx="450850" cy="311150"/>
          </a:xfrm>
          <a:custGeom>
            <a:avLst/>
            <a:gdLst/>
            <a:ahLst/>
            <a:cxnLst/>
            <a:rect l="l" t="t" r="r" b="b"/>
            <a:pathLst>
              <a:path w="450850" h="311150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10896"/>
                </a:lnTo>
                <a:lnTo>
                  <a:pt x="16497" y="310896"/>
                </a:lnTo>
                <a:lnTo>
                  <a:pt x="43929" y="310896"/>
                </a:lnTo>
                <a:lnTo>
                  <a:pt x="43929" y="301752"/>
                </a:lnTo>
                <a:lnTo>
                  <a:pt x="16510" y="301752"/>
                </a:lnTo>
                <a:lnTo>
                  <a:pt x="16510" y="9144"/>
                </a:lnTo>
                <a:lnTo>
                  <a:pt x="44450" y="9144"/>
                </a:lnTo>
                <a:lnTo>
                  <a:pt x="44450" y="0"/>
                </a:lnTo>
                <a:close/>
              </a:path>
              <a:path w="450850" h="311150">
                <a:moveTo>
                  <a:pt x="434073" y="301752"/>
                </a:moveTo>
                <a:lnTo>
                  <a:pt x="406641" y="301752"/>
                </a:lnTo>
                <a:lnTo>
                  <a:pt x="406641" y="310896"/>
                </a:lnTo>
                <a:lnTo>
                  <a:pt x="434073" y="310896"/>
                </a:lnTo>
                <a:lnTo>
                  <a:pt x="434073" y="301752"/>
                </a:lnTo>
                <a:close/>
              </a:path>
              <a:path w="450850" h="311150">
                <a:moveTo>
                  <a:pt x="450850" y="0"/>
                </a:moveTo>
                <a:lnTo>
                  <a:pt x="434340" y="0"/>
                </a:lnTo>
                <a:lnTo>
                  <a:pt x="406400" y="0"/>
                </a:lnTo>
                <a:lnTo>
                  <a:pt x="406400" y="9144"/>
                </a:lnTo>
                <a:lnTo>
                  <a:pt x="434340" y="9144"/>
                </a:lnTo>
                <a:lnTo>
                  <a:pt x="434340" y="310896"/>
                </a:lnTo>
                <a:lnTo>
                  <a:pt x="450850" y="310896"/>
                </a:lnTo>
                <a:lnTo>
                  <a:pt x="4508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528572" y="4792979"/>
            <a:ext cx="1127760" cy="228600"/>
          </a:xfrm>
          <a:custGeom>
            <a:avLst/>
            <a:gdLst/>
            <a:ahLst/>
            <a:cxnLst/>
            <a:rect l="l" t="t" r="r" b="b"/>
            <a:pathLst>
              <a:path w="1127760" h="228600">
                <a:moveTo>
                  <a:pt x="1127759" y="228599"/>
                </a:moveTo>
                <a:lnTo>
                  <a:pt x="1127759" y="0"/>
                </a:lnTo>
                <a:lnTo>
                  <a:pt x="0" y="0"/>
                </a:lnTo>
                <a:lnTo>
                  <a:pt x="0" y="228599"/>
                </a:lnTo>
                <a:lnTo>
                  <a:pt x="1127759" y="228599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1528572" y="4792979"/>
            <a:ext cx="636905" cy="2286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80"/>
              </a:lnSpc>
            </a:pPr>
            <a:r>
              <a:rPr sz="1450" spc="10" dirty="0">
                <a:latin typeface="Cambria"/>
                <a:cs typeface="Cambria"/>
              </a:rPr>
              <a:t>W</a:t>
            </a:r>
            <a:r>
              <a:rPr sz="1650" spc="15" baseline="-15151" dirty="0">
                <a:latin typeface="Cambria"/>
                <a:cs typeface="Cambria"/>
              </a:rPr>
              <a:t>hi</a:t>
            </a:r>
            <a:r>
              <a:rPr sz="1650" spc="300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2165350" y="4828044"/>
            <a:ext cx="445770" cy="177165"/>
          </a:xfrm>
          <a:custGeom>
            <a:avLst/>
            <a:gdLst/>
            <a:ahLst/>
            <a:cxnLst/>
            <a:rect l="l" t="t" r="r" b="b"/>
            <a:pathLst>
              <a:path w="445769" h="177164">
                <a:moveTo>
                  <a:pt x="15240" y="0"/>
                </a:moveTo>
                <a:lnTo>
                  <a:pt x="0" y="0"/>
                </a:lnTo>
                <a:lnTo>
                  <a:pt x="0" y="176784"/>
                </a:lnTo>
                <a:lnTo>
                  <a:pt x="15240" y="176784"/>
                </a:lnTo>
                <a:lnTo>
                  <a:pt x="15240" y="0"/>
                </a:lnTo>
                <a:close/>
              </a:path>
              <a:path w="445769" h="177164">
                <a:moveTo>
                  <a:pt x="430022" y="169164"/>
                </a:moveTo>
                <a:lnTo>
                  <a:pt x="404114" y="169164"/>
                </a:lnTo>
                <a:lnTo>
                  <a:pt x="404114" y="176784"/>
                </a:lnTo>
                <a:lnTo>
                  <a:pt x="430022" y="176784"/>
                </a:lnTo>
                <a:lnTo>
                  <a:pt x="430022" y="169164"/>
                </a:lnTo>
                <a:close/>
              </a:path>
              <a:path w="445769" h="177164">
                <a:moveTo>
                  <a:pt x="445770" y="0"/>
                </a:moveTo>
                <a:lnTo>
                  <a:pt x="430530" y="0"/>
                </a:lnTo>
                <a:lnTo>
                  <a:pt x="403860" y="0"/>
                </a:lnTo>
                <a:lnTo>
                  <a:pt x="403860" y="7620"/>
                </a:lnTo>
                <a:lnTo>
                  <a:pt x="430530" y="7620"/>
                </a:lnTo>
                <a:lnTo>
                  <a:pt x="430530" y="176784"/>
                </a:lnTo>
                <a:lnTo>
                  <a:pt x="445770" y="176784"/>
                </a:lnTo>
                <a:lnTo>
                  <a:pt x="4457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180589" y="4828032"/>
            <a:ext cx="26670" cy="7620"/>
          </a:xfrm>
          <a:custGeom>
            <a:avLst/>
            <a:gdLst/>
            <a:ahLst/>
            <a:cxnLst/>
            <a:rect l="l" t="t" r="r" b="b"/>
            <a:pathLst>
              <a:path w="26669" h="7620">
                <a:moveTo>
                  <a:pt x="0" y="0"/>
                </a:moveTo>
                <a:lnTo>
                  <a:pt x="0" y="7620"/>
                </a:lnTo>
                <a:lnTo>
                  <a:pt x="26669" y="7620"/>
                </a:lnTo>
                <a:lnTo>
                  <a:pt x="26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180844" y="4997196"/>
            <a:ext cx="26034" cy="7620"/>
          </a:xfrm>
          <a:custGeom>
            <a:avLst/>
            <a:gdLst/>
            <a:ahLst/>
            <a:cxnLst/>
            <a:rect l="l" t="t" r="r" b="b"/>
            <a:pathLst>
              <a:path w="26035" h="7620">
                <a:moveTo>
                  <a:pt x="25908" y="7620"/>
                </a:moveTo>
                <a:lnTo>
                  <a:pt x="25908" y="0"/>
                </a:lnTo>
                <a:lnTo>
                  <a:pt x="0" y="0"/>
                </a:lnTo>
                <a:lnTo>
                  <a:pt x="0" y="7620"/>
                </a:lnTo>
                <a:lnTo>
                  <a:pt x="25908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838200" y="4768086"/>
            <a:ext cx="1757680" cy="462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845">
              <a:lnSpc>
                <a:spcPts val="1700"/>
              </a:lnSpc>
              <a:spcBef>
                <a:spcPts val="135"/>
              </a:spcBef>
              <a:tabLst>
                <a:tab pos="1370965" algn="l"/>
              </a:tabLst>
            </a:pPr>
            <a:r>
              <a:rPr sz="2175" spc="22" baseline="3831" dirty="0">
                <a:latin typeface="Cambria"/>
                <a:cs typeface="Cambria"/>
              </a:rPr>
              <a:t>0.95	</a:t>
            </a:r>
            <a:r>
              <a:rPr sz="1450" spc="15" dirty="0">
                <a:latin typeface="Cambria"/>
                <a:cs typeface="Cambria"/>
              </a:rPr>
              <a:t>0.80</a:t>
            </a:r>
            <a:endParaRPr sz="1450">
              <a:latin typeface="Cambria"/>
              <a:cs typeface="Cambria"/>
            </a:endParaRPr>
          </a:p>
          <a:p>
            <a:pPr marL="29845">
              <a:lnSpc>
                <a:spcPts val="1700"/>
              </a:lnSpc>
            </a:pPr>
            <a:r>
              <a:rPr sz="1450" spc="15" dirty="0">
                <a:latin typeface="Cambria"/>
                <a:cs typeface="Cambria"/>
              </a:rPr>
              <a:t>0.80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2763011" y="4792979"/>
            <a:ext cx="982980" cy="228600"/>
          </a:xfrm>
          <a:custGeom>
            <a:avLst/>
            <a:gdLst/>
            <a:ahLst/>
            <a:cxnLst/>
            <a:rect l="l" t="t" r="r" b="b"/>
            <a:pathLst>
              <a:path w="982979" h="228600">
                <a:moveTo>
                  <a:pt x="982979" y="228599"/>
                </a:moveTo>
                <a:lnTo>
                  <a:pt x="982979" y="0"/>
                </a:lnTo>
                <a:lnTo>
                  <a:pt x="0" y="0"/>
                </a:lnTo>
                <a:lnTo>
                  <a:pt x="0" y="228599"/>
                </a:lnTo>
                <a:lnTo>
                  <a:pt x="982979" y="228599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2763011" y="4792979"/>
            <a:ext cx="490855" cy="2286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4130">
              <a:lnSpc>
                <a:spcPts val="1680"/>
              </a:lnSpc>
            </a:pPr>
            <a:r>
              <a:rPr sz="1450" spc="15" dirty="0">
                <a:latin typeface="Cambria"/>
                <a:cs typeface="Cambria"/>
              </a:rPr>
              <a:t>b</a:t>
            </a:r>
            <a:r>
              <a:rPr sz="1650" spc="22" baseline="-15151" dirty="0">
                <a:latin typeface="Cambria"/>
                <a:cs typeface="Cambria"/>
              </a:rPr>
              <a:t>i</a:t>
            </a:r>
            <a:r>
              <a:rPr sz="1650" spc="337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3253740" y="4828044"/>
            <a:ext cx="444500" cy="177165"/>
          </a:xfrm>
          <a:custGeom>
            <a:avLst/>
            <a:gdLst/>
            <a:ahLst/>
            <a:cxnLst/>
            <a:rect l="l" t="t" r="r" b="b"/>
            <a:pathLst>
              <a:path w="444500" h="177164">
                <a:moveTo>
                  <a:pt x="15240" y="0"/>
                </a:moveTo>
                <a:lnTo>
                  <a:pt x="0" y="0"/>
                </a:lnTo>
                <a:lnTo>
                  <a:pt x="0" y="176784"/>
                </a:lnTo>
                <a:lnTo>
                  <a:pt x="15240" y="176784"/>
                </a:lnTo>
                <a:lnTo>
                  <a:pt x="15240" y="0"/>
                </a:lnTo>
                <a:close/>
              </a:path>
              <a:path w="444500" h="177164">
                <a:moveTo>
                  <a:pt x="444500" y="0"/>
                </a:moveTo>
                <a:lnTo>
                  <a:pt x="429260" y="0"/>
                </a:lnTo>
                <a:lnTo>
                  <a:pt x="403860" y="0"/>
                </a:lnTo>
                <a:lnTo>
                  <a:pt x="403860" y="7620"/>
                </a:lnTo>
                <a:lnTo>
                  <a:pt x="429260" y="7620"/>
                </a:lnTo>
                <a:lnTo>
                  <a:pt x="429260" y="169164"/>
                </a:lnTo>
                <a:lnTo>
                  <a:pt x="403860" y="169164"/>
                </a:lnTo>
                <a:lnTo>
                  <a:pt x="403860" y="176784"/>
                </a:lnTo>
                <a:lnTo>
                  <a:pt x="429260" y="176784"/>
                </a:lnTo>
                <a:lnTo>
                  <a:pt x="429768" y="176784"/>
                </a:lnTo>
                <a:lnTo>
                  <a:pt x="444500" y="176784"/>
                </a:lnTo>
                <a:lnTo>
                  <a:pt x="444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268979" y="4828032"/>
            <a:ext cx="25400" cy="7620"/>
          </a:xfrm>
          <a:custGeom>
            <a:avLst/>
            <a:gdLst/>
            <a:ahLst/>
            <a:cxnLst/>
            <a:rect l="l" t="t" r="r" b="b"/>
            <a:pathLst>
              <a:path w="25400" h="7620">
                <a:moveTo>
                  <a:pt x="0" y="0"/>
                </a:moveTo>
                <a:lnTo>
                  <a:pt x="0" y="7620"/>
                </a:lnTo>
                <a:lnTo>
                  <a:pt x="25400" y="7620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268979" y="4997196"/>
            <a:ext cx="26034" cy="7620"/>
          </a:xfrm>
          <a:custGeom>
            <a:avLst/>
            <a:gdLst/>
            <a:ahLst/>
            <a:cxnLst/>
            <a:rect l="l" t="t" r="r" b="b"/>
            <a:pathLst>
              <a:path w="26035" h="7620">
                <a:moveTo>
                  <a:pt x="25908" y="7620"/>
                </a:moveTo>
                <a:lnTo>
                  <a:pt x="25908" y="0"/>
                </a:lnTo>
                <a:lnTo>
                  <a:pt x="0" y="0"/>
                </a:lnTo>
                <a:lnTo>
                  <a:pt x="0" y="7620"/>
                </a:lnTo>
                <a:lnTo>
                  <a:pt x="25908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3268979" y="4768086"/>
            <a:ext cx="41402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35"/>
              </a:spcBef>
            </a:pPr>
            <a:r>
              <a:rPr sz="1450" spc="15" dirty="0">
                <a:latin typeface="Cambria"/>
                <a:cs typeface="Cambria"/>
              </a:rPr>
              <a:t>0.65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88975" y="5322822"/>
            <a:ext cx="258445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50" spc="55" dirty="0">
                <a:latin typeface="Cambria"/>
                <a:cs typeface="Cambria"/>
              </a:rPr>
              <a:t>i</a:t>
            </a:r>
            <a:r>
              <a:rPr sz="1650" spc="82" baseline="-15151" dirty="0">
                <a:latin typeface="Cambria"/>
                <a:cs typeface="Cambria"/>
              </a:rPr>
              <a:t>0</a:t>
            </a:r>
            <a:r>
              <a:rPr sz="1450" spc="55" dirty="0">
                <a:latin typeface="Calibri"/>
                <a:cs typeface="Calibri"/>
              </a:rPr>
              <a:t>=</a:t>
            </a:r>
            <a:r>
              <a:rPr sz="1450" spc="5" dirty="0">
                <a:latin typeface="Calibri"/>
                <a:cs typeface="Calibri"/>
              </a:rPr>
              <a:t> </a:t>
            </a:r>
            <a:r>
              <a:rPr sz="1450" spc="40" dirty="0">
                <a:latin typeface="Cambria"/>
                <a:cs typeface="Cambria"/>
              </a:rPr>
              <a:t>σ</a:t>
            </a:r>
            <a:r>
              <a:rPr sz="1450" spc="45" dirty="0">
                <a:latin typeface="Cambria"/>
                <a:cs typeface="Cambria"/>
              </a:rPr>
              <a:t> </a:t>
            </a:r>
            <a:r>
              <a:rPr sz="1450" spc="30" dirty="0">
                <a:latin typeface="Cambria"/>
                <a:cs typeface="Cambria"/>
              </a:rPr>
              <a:t>(W</a:t>
            </a:r>
            <a:r>
              <a:rPr sz="1650" spc="44" baseline="-15151" dirty="0">
                <a:latin typeface="Cambria"/>
                <a:cs typeface="Cambria"/>
              </a:rPr>
              <a:t>xi</a:t>
            </a:r>
            <a:r>
              <a:rPr sz="1650" spc="262" baseline="-15151" dirty="0">
                <a:latin typeface="Cambria"/>
                <a:cs typeface="Cambria"/>
              </a:rPr>
              <a:t> </a:t>
            </a:r>
            <a:r>
              <a:rPr sz="1450" spc="5" dirty="0">
                <a:latin typeface="Cambria"/>
                <a:cs typeface="Cambria"/>
              </a:rPr>
              <a:t>.</a:t>
            </a:r>
            <a:r>
              <a:rPr sz="1450" spc="-80" dirty="0">
                <a:latin typeface="Cambria"/>
                <a:cs typeface="Cambria"/>
              </a:rPr>
              <a:t> </a:t>
            </a:r>
            <a:r>
              <a:rPr sz="1450" spc="45" dirty="0">
                <a:latin typeface="Cambria"/>
                <a:cs typeface="Cambria"/>
              </a:rPr>
              <a:t>x</a:t>
            </a:r>
            <a:r>
              <a:rPr sz="1650" spc="67" baseline="-15151" dirty="0">
                <a:latin typeface="Cambria"/>
                <a:cs typeface="Cambria"/>
              </a:rPr>
              <a:t>0</a:t>
            </a:r>
            <a:r>
              <a:rPr sz="1650" spc="217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+</a:t>
            </a:r>
            <a:r>
              <a:rPr sz="1450" dirty="0">
                <a:latin typeface="Cambria"/>
                <a:cs typeface="Cambria"/>
              </a:rPr>
              <a:t> </a:t>
            </a:r>
            <a:r>
              <a:rPr sz="1450" spc="10" dirty="0">
                <a:latin typeface="Cambria"/>
                <a:cs typeface="Cambria"/>
              </a:rPr>
              <a:t>W</a:t>
            </a:r>
            <a:r>
              <a:rPr sz="1650" spc="15" baseline="-15151" dirty="0">
                <a:latin typeface="Cambria"/>
                <a:cs typeface="Cambria"/>
              </a:rPr>
              <a:t>hi</a:t>
            </a:r>
            <a:r>
              <a:rPr sz="1650" spc="240" baseline="-15151" dirty="0">
                <a:latin typeface="Cambria"/>
                <a:cs typeface="Cambria"/>
              </a:rPr>
              <a:t> </a:t>
            </a:r>
            <a:r>
              <a:rPr sz="1450" spc="5" dirty="0">
                <a:latin typeface="Cambria"/>
                <a:cs typeface="Cambria"/>
              </a:rPr>
              <a:t>.</a:t>
            </a:r>
            <a:r>
              <a:rPr sz="1450" spc="-75" dirty="0">
                <a:latin typeface="Cambria"/>
                <a:cs typeface="Cambria"/>
              </a:rPr>
              <a:t> </a:t>
            </a:r>
            <a:r>
              <a:rPr sz="1450" spc="90" dirty="0">
                <a:latin typeface="Cambria"/>
                <a:cs typeface="Cambria"/>
              </a:rPr>
              <a:t>ℎ</a:t>
            </a:r>
            <a:r>
              <a:rPr sz="1650" spc="135" baseline="-15151" dirty="0">
                <a:latin typeface="Cambria"/>
                <a:cs typeface="Cambria"/>
              </a:rPr>
              <a:t>–1</a:t>
            </a:r>
            <a:r>
              <a:rPr sz="1650" spc="209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+</a:t>
            </a:r>
            <a:r>
              <a:rPr sz="1450" spc="5" dirty="0">
                <a:latin typeface="Cambria"/>
                <a:cs typeface="Cambria"/>
              </a:rPr>
              <a:t> </a:t>
            </a:r>
            <a:r>
              <a:rPr sz="1450" spc="60" dirty="0">
                <a:latin typeface="Cambria"/>
                <a:cs typeface="Cambria"/>
              </a:rPr>
              <a:t>b</a:t>
            </a:r>
            <a:r>
              <a:rPr sz="1650" spc="89" baseline="-15151" dirty="0">
                <a:latin typeface="Cambria"/>
                <a:cs typeface="Cambria"/>
              </a:rPr>
              <a:t>i</a:t>
            </a:r>
            <a:r>
              <a:rPr sz="1450" spc="60" dirty="0">
                <a:latin typeface="Cambria"/>
                <a:cs typeface="Cambria"/>
              </a:rPr>
              <a:t>)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1796796" y="5809500"/>
            <a:ext cx="41275" cy="177165"/>
          </a:xfrm>
          <a:custGeom>
            <a:avLst/>
            <a:gdLst/>
            <a:ahLst/>
            <a:cxnLst/>
            <a:rect l="l" t="t" r="r" b="b"/>
            <a:pathLst>
              <a:path w="41275" h="177164">
                <a:moveTo>
                  <a:pt x="40894" y="0"/>
                </a:moveTo>
                <a:lnTo>
                  <a:pt x="25654" y="0"/>
                </a:lnTo>
                <a:lnTo>
                  <a:pt x="254" y="0"/>
                </a:lnTo>
                <a:lnTo>
                  <a:pt x="254" y="7620"/>
                </a:lnTo>
                <a:lnTo>
                  <a:pt x="25654" y="7620"/>
                </a:lnTo>
                <a:lnTo>
                  <a:pt x="25654" y="169164"/>
                </a:lnTo>
                <a:lnTo>
                  <a:pt x="0" y="169164"/>
                </a:lnTo>
                <a:lnTo>
                  <a:pt x="0" y="176784"/>
                </a:lnTo>
                <a:lnTo>
                  <a:pt x="25654" y="176784"/>
                </a:lnTo>
                <a:lnTo>
                  <a:pt x="25908" y="176784"/>
                </a:lnTo>
                <a:lnTo>
                  <a:pt x="40894" y="176784"/>
                </a:lnTo>
                <a:lnTo>
                  <a:pt x="408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50900" y="5809500"/>
            <a:ext cx="40640" cy="177165"/>
          </a:xfrm>
          <a:custGeom>
            <a:avLst/>
            <a:gdLst/>
            <a:ahLst/>
            <a:cxnLst/>
            <a:rect l="l" t="t" r="r" b="b"/>
            <a:pathLst>
              <a:path w="40640" h="177164">
                <a:moveTo>
                  <a:pt x="4064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6784"/>
                </a:lnTo>
                <a:lnTo>
                  <a:pt x="14719" y="176784"/>
                </a:lnTo>
                <a:lnTo>
                  <a:pt x="15240" y="176784"/>
                </a:lnTo>
                <a:lnTo>
                  <a:pt x="40627" y="176784"/>
                </a:lnTo>
                <a:lnTo>
                  <a:pt x="40627" y="169164"/>
                </a:lnTo>
                <a:lnTo>
                  <a:pt x="15240" y="169164"/>
                </a:lnTo>
                <a:lnTo>
                  <a:pt x="15240" y="7620"/>
                </a:lnTo>
                <a:lnTo>
                  <a:pt x="40640" y="7620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109216" y="5743968"/>
            <a:ext cx="45085" cy="309880"/>
          </a:xfrm>
          <a:custGeom>
            <a:avLst/>
            <a:gdLst/>
            <a:ahLst/>
            <a:cxnLst/>
            <a:rect l="l" t="t" r="r" b="b"/>
            <a:pathLst>
              <a:path w="45085" h="309879">
                <a:moveTo>
                  <a:pt x="44704" y="0"/>
                </a:moveTo>
                <a:lnTo>
                  <a:pt x="26924" y="0"/>
                </a:lnTo>
                <a:lnTo>
                  <a:pt x="254" y="0"/>
                </a:lnTo>
                <a:lnTo>
                  <a:pt x="254" y="7620"/>
                </a:lnTo>
                <a:lnTo>
                  <a:pt x="26924" y="7620"/>
                </a:lnTo>
                <a:lnTo>
                  <a:pt x="26924" y="301752"/>
                </a:lnTo>
                <a:lnTo>
                  <a:pt x="0" y="301752"/>
                </a:lnTo>
                <a:lnTo>
                  <a:pt x="0" y="309372"/>
                </a:lnTo>
                <a:lnTo>
                  <a:pt x="26924" y="309372"/>
                </a:lnTo>
                <a:lnTo>
                  <a:pt x="27432" y="309372"/>
                </a:lnTo>
                <a:lnTo>
                  <a:pt x="44704" y="309372"/>
                </a:lnTo>
                <a:lnTo>
                  <a:pt x="44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951990" y="5743968"/>
            <a:ext cx="44450" cy="309880"/>
          </a:xfrm>
          <a:custGeom>
            <a:avLst/>
            <a:gdLst/>
            <a:ahLst/>
            <a:cxnLst/>
            <a:rect l="l" t="t" r="r" b="b"/>
            <a:pathLst>
              <a:path w="44450" h="309879">
                <a:moveTo>
                  <a:pt x="44450" y="301752"/>
                </a:moveTo>
                <a:lnTo>
                  <a:pt x="17018" y="301752"/>
                </a:lnTo>
                <a:lnTo>
                  <a:pt x="17018" y="309372"/>
                </a:lnTo>
                <a:lnTo>
                  <a:pt x="44450" y="309372"/>
                </a:lnTo>
                <a:lnTo>
                  <a:pt x="44450" y="301752"/>
                </a:lnTo>
                <a:close/>
              </a:path>
              <a:path w="44450" h="309879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09372"/>
                </a:lnTo>
                <a:lnTo>
                  <a:pt x="16510" y="309372"/>
                </a:lnTo>
                <a:lnTo>
                  <a:pt x="16510" y="7620"/>
                </a:lnTo>
                <a:lnTo>
                  <a:pt x="44450" y="7620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1986787" y="5869937"/>
            <a:ext cx="13017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20" dirty="0">
                <a:latin typeface="Cambria"/>
                <a:cs typeface="Cambria"/>
              </a:rPr>
              <a:t>2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2823972" y="5809500"/>
            <a:ext cx="41275" cy="177165"/>
          </a:xfrm>
          <a:custGeom>
            <a:avLst/>
            <a:gdLst/>
            <a:ahLst/>
            <a:cxnLst/>
            <a:rect l="l" t="t" r="r" b="b"/>
            <a:pathLst>
              <a:path w="41275" h="177164">
                <a:moveTo>
                  <a:pt x="41148" y="0"/>
                </a:moveTo>
                <a:lnTo>
                  <a:pt x="25908" y="0"/>
                </a:lnTo>
                <a:lnTo>
                  <a:pt x="508" y="0"/>
                </a:lnTo>
                <a:lnTo>
                  <a:pt x="508" y="7620"/>
                </a:lnTo>
                <a:lnTo>
                  <a:pt x="25908" y="7620"/>
                </a:lnTo>
                <a:lnTo>
                  <a:pt x="25908" y="169164"/>
                </a:lnTo>
                <a:lnTo>
                  <a:pt x="0" y="169164"/>
                </a:lnTo>
                <a:lnTo>
                  <a:pt x="0" y="176784"/>
                </a:lnTo>
                <a:lnTo>
                  <a:pt x="25908" y="176784"/>
                </a:lnTo>
                <a:lnTo>
                  <a:pt x="41148" y="176784"/>
                </a:lnTo>
                <a:lnTo>
                  <a:pt x="411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420620" y="5809500"/>
            <a:ext cx="40640" cy="177165"/>
          </a:xfrm>
          <a:custGeom>
            <a:avLst/>
            <a:gdLst/>
            <a:ahLst/>
            <a:cxnLst/>
            <a:rect l="l" t="t" r="r" b="b"/>
            <a:pathLst>
              <a:path w="40639" h="177164">
                <a:moveTo>
                  <a:pt x="4064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6784"/>
                </a:lnTo>
                <a:lnTo>
                  <a:pt x="14732" y="176784"/>
                </a:lnTo>
                <a:lnTo>
                  <a:pt x="15240" y="176784"/>
                </a:lnTo>
                <a:lnTo>
                  <a:pt x="40640" y="176784"/>
                </a:lnTo>
                <a:lnTo>
                  <a:pt x="40640" y="169164"/>
                </a:lnTo>
                <a:lnTo>
                  <a:pt x="15240" y="169164"/>
                </a:lnTo>
                <a:lnTo>
                  <a:pt x="15240" y="7620"/>
                </a:lnTo>
                <a:lnTo>
                  <a:pt x="40640" y="7620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3277870" y="5809500"/>
            <a:ext cx="41910" cy="177165"/>
          </a:xfrm>
          <a:custGeom>
            <a:avLst/>
            <a:gdLst/>
            <a:ahLst/>
            <a:cxnLst/>
            <a:rect l="l" t="t" r="r" b="b"/>
            <a:pathLst>
              <a:path w="41910" h="177164">
                <a:moveTo>
                  <a:pt x="26162" y="169164"/>
                </a:moveTo>
                <a:lnTo>
                  <a:pt x="254" y="169164"/>
                </a:lnTo>
                <a:lnTo>
                  <a:pt x="254" y="176784"/>
                </a:lnTo>
                <a:lnTo>
                  <a:pt x="26162" y="176784"/>
                </a:lnTo>
                <a:lnTo>
                  <a:pt x="26162" y="169164"/>
                </a:lnTo>
                <a:close/>
              </a:path>
              <a:path w="41910" h="177164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7620"/>
                </a:lnTo>
                <a:lnTo>
                  <a:pt x="26670" y="7620"/>
                </a:lnTo>
                <a:lnTo>
                  <a:pt x="26670" y="176784"/>
                </a:lnTo>
                <a:lnTo>
                  <a:pt x="41910" y="176784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3124200" y="5809500"/>
            <a:ext cx="41275" cy="177165"/>
          </a:xfrm>
          <a:custGeom>
            <a:avLst/>
            <a:gdLst/>
            <a:ahLst/>
            <a:cxnLst/>
            <a:rect l="l" t="t" r="r" b="b"/>
            <a:pathLst>
              <a:path w="41275" h="177164">
                <a:moveTo>
                  <a:pt x="41148" y="169164"/>
                </a:moveTo>
                <a:lnTo>
                  <a:pt x="15240" y="169164"/>
                </a:lnTo>
                <a:lnTo>
                  <a:pt x="15240" y="7620"/>
                </a:lnTo>
                <a:lnTo>
                  <a:pt x="40640" y="7620"/>
                </a:lnTo>
                <a:lnTo>
                  <a:pt x="40640" y="0"/>
                </a:lnTo>
                <a:lnTo>
                  <a:pt x="15240" y="0"/>
                </a:lnTo>
                <a:lnTo>
                  <a:pt x="0" y="0"/>
                </a:lnTo>
                <a:lnTo>
                  <a:pt x="0" y="176784"/>
                </a:lnTo>
                <a:lnTo>
                  <a:pt x="15240" y="176784"/>
                </a:lnTo>
                <a:lnTo>
                  <a:pt x="41148" y="176784"/>
                </a:lnTo>
                <a:lnTo>
                  <a:pt x="41148" y="169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178815" y="5760209"/>
            <a:ext cx="400177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35"/>
              </a:spcBef>
              <a:tabLst>
                <a:tab pos="1257935" algn="l"/>
                <a:tab pos="1820545" algn="l"/>
              </a:tabLst>
            </a:pPr>
            <a:r>
              <a:rPr sz="2175" spc="60" baseline="3831" dirty="0">
                <a:latin typeface="Cambria"/>
                <a:cs typeface="Cambria"/>
              </a:rPr>
              <a:t>i</a:t>
            </a:r>
            <a:r>
              <a:rPr sz="1650" spc="60" baseline="-10101" dirty="0">
                <a:latin typeface="Cambria"/>
                <a:cs typeface="Cambria"/>
              </a:rPr>
              <a:t>0</a:t>
            </a:r>
            <a:r>
              <a:rPr sz="1650" spc="345" baseline="-10101" dirty="0">
                <a:latin typeface="Cambria"/>
                <a:cs typeface="Cambria"/>
              </a:rPr>
              <a:t> </a:t>
            </a:r>
            <a:r>
              <a:rPr sz="2175" spc="457" baseline="3831" dirty="0">
                <a:latin typeface="Cambria"/>
                <a:cs typeface="Cambria"/>
              </a:rPr>
              <a:t>=</a:t>
            </a:r>
            <a:r>
              <a:rPr sz="2175" spc="142" baseline="3831" dirty="0">
                <a:latin typeface="Cambria"/>
                <a:cs typeface="Cambria"/>
              </a:rPr>
              <a:t> </a:t>
            </a:r>
            <a:r>
              <a:rPr sz="2175" spc="104" baseline="3831" dirty="0">
                <a:latin typeface="Cambria"/>
                <a:cs typeface="Cambria"/>
              </a:rPr>
              <a:t>σ(</a:t>
            </a:r>
            <a:r>
              <a:rPr sz="2175" spc="292" baseline="3831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0.95	0.80	</a:t>
            </a:r>
            <a:r>
              <a:rPr sz="2175" spc="30" baseline="34482" dirty="0">
                <a:latin typeface="Cambria"/>
                <a:cs typeface="Cambria"/>
              </a:rPr>
              <a:t>1</a:t>
            </a:r>
            <a:r>
              <a:rPr sz="2175" spc="307" baseline="34482" dirty="0">
                <a:latin typeface="Cambria"/>
                <a:cs typeface="Cambria"/>
              </a:rPr>
              <a:t> </a:t>
            </a:r>
            <a:r>
              <a:rPr sz="2175" spc="457" baseline="3831" dirty="0">
                <a:latin typeface="Cambria"/>
                <a:cs typeface="Cambria"/>
              </a:rPr>
              <a:t>+</a:t>
            </a:r>
            <a:r>
              <a:rPr sz="2175" spc="780" baseline="3831" dirty="0">
                <a:latin typeface="Cambria"/>
                <a:cs typeface="Cambria"/>
              </a:rPr>
              <a:t> </a:t>
            </a:r>
            <a:r>
              <a:rPr sz="2175" spc="22" baseline="3831" dirty="0">
                <a:latin typeface="Cambria"/>
                <a:cs typeface="Cambria"/>
              </a:rPr>
              <a:t>0.80 </a:t>
            </a:r>
            <a:r>
              <a:rPr sz="2175" spc="270" baseline="3831" dirty="0">
                <a:latin typeface="Cambria"/>
                <a:cs typeface="Cambria"/>
              </a:rPr>
              <a:t> </a:t>
            </a:r>
            <a:r>
              <a:rPr sz="2175" spc="390" baseline="3831" dirty="0">
                <a:latin typeface="Cambria"/>
                <a:cs typeface="Cambria"/>
              </a:rPr>
              <a:t>×</a:t>
            </a:r>
            <a:r>
              <a:rPr sz="2175" spc="772" baseline="3831" dirty="0">
                <a:latin typeface="Cambria"/>
                <a:cs typeface="Cambria"/>
              </a:rPr>
              <a:t> </a:t>
            </a:r>
            <a:r>
              <a:rPr sz="2175" spc="30" baseline="3831" dirty="0">
                <a:latin typeface="Cambria"/>
                <a:cs typeface="Cambria"/>
              </a:rPr>
              <a:t>0 </a:t>
            </a:r>
            <a:r>
              <a:rPr sz="2175" spc="270" baseline="3831" dirty="0">
                <a:latin typeface="Cambria"/>
                <a:cs typeface="Cambria"/>
              </a:rPr>
              <a:t> </a:t>
            </a:r>
            <a:r>
              <a:rPr sz="2175" spc="457" baseline="3831" dirty="0">
                <a:latin typeface="Cambria"/>
                <a:cs typeface="Cambria"/>
              </a:rPr>
              <a:t>+</a:t>
            </a:r>
            <a:r>
              <a:rPr sz="2175" baseline="3831" dirty="0">
                <a:latin typeface="Cambria"/>
                <a:cs typeface="Cambria"/>
              </a:rPr>
              <a:t> </a:t>
            </a:r>
            <a:r>
              <a:rPr sz="2175" spc="30" baseline="3831" dirty="0">
                <a:latin typeface="Cambria"/>
                <a:cs typeface="Cambria"/>
              </a:rPr>
              <a:t>[0.65])</a:t>
            </a:r>
            <a:endParaRPr sz="2175" baseline="3831">
              <a:latin typeface="Cambria"/>
              <a:cs typeface="Cambria"/>
            </a:endParaRPr>
          </a:p>
        </p:txBody>
      </p:sp>
      <p:sp>
        <p:nvSpPr>
          <p:cNvPr id="80" name="object 8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46</a:t>
            </a:fld>
            <a:endParaRPr dirty="0"/>
          </a:p>
        </p:txBody>
      </p:sp>
      <p:sp>
        <p:nvSpPr>
          <p:cNvPr id="79" name="object 79"/>
          <p:cNvSpPr txBox="1"/>
          <p:nvPr/>
        </p:nvSpPr>
        <p:spPr>
          <a:xfrm>
            <a:off x="202685" y="6182867"/>
            <a:ext cx="1117600" cy="2286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7305">
              <a:lnSpc>
                <a:spcPts val="1670"/>
              </a:lnSpc>
            </a:pPr>
            <a:r>
              <a:rPr sz="1450" spc="40" dirty="0">
                <a:latin typeface="Cambria"/>
                <a:cs typeface="Cambria"/>
              </a:rPr>
              <a:t>i</a:t>
            </a:r>
            <a:r>
              <a:rPr sz="1650" spc="60" baseline="-15151" dirty="0">
                <a:latin typeface="Cambria"/>
                <a:cs typeface="Cambria"/>
              </a:rPr>
              <a:t>0</a:t>
            </a:r>
            <a:r>
              <a:rPr sz="1650" spc="300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r>
              <a:rPr sz="1450" spc="70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0.96083</a:t>
            </a:r>
            <a:endParaRPr sz="14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57649"/>
            <a:ext cx="4528185" cy="416559"/>
            <a:chOff x="0" y="1057649"/>
            <a:chExt cx="4528185" cy="416559"/>
          </a:xfrm>
        </p:grpSpPr>
        <p:sp>
          <p:nvSpPr>
            <p:cNvPr id="3" name="object 3"/>
            <p:cNvSpPr/>
            <p:nvPr/>
          </p:nvSpPr>
          <p:spPr>
            <a:xfrm>
              <a:off x="0" y="1057649"/>
              <a:ext cx="4520565" cy="408940"/>
            </a:xfrm>
            <a:custGeom>
              <a:avLst/>
              <a:gdLst/>
              <a:ahLst/>
              <a:cxnLst/>
              <a:rect l="l" t="t" r="r" b="b"/>
              <a:pathLst>
                <a:path w="4520565" h="408940">
                  <a:moveTo>
                    <a:pt x="4520183" y="408431"/>
                  </a:moveTo>
                  <a:lnTo>
                    <a:pt x="4520183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4520183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57649"/>
              <a:ext cx="4528185" cy="416559"/>
            </a:xfrm>
            <a:custGeom>
              <a:avLst/>
              <a:gdLst/>
              <a:ahLst/>
              <a:cxnLst/>
              <a:rect l="l" t="t" r="r" b="b"/>
              <a:pathLst>
                <a:path w="4528185" h="416559">
                  <a:moveTo>
                    <a:pt x="4520184" y="9144"/>
                  </a:moveTo>
                  <a:lnTo>
                    <a:pt x="4512564" y="0"/>
                  </a:lnTo>
                  <a:lnTo>
                    <a:pt x="0" y="0"/>
                  </a:lnTo>
                  <a:lnTo>
                    <a:pt x="0" y="9144"/>
                  </a:lnTo>
                  <a:lnTo>
                    <a:pt x="9138" y="0"/>
                  </a:lnTo>
                  <a:lnTo>
                    <a:pt x="9138" y="9144"/>
                  </a:lnTo>
                  <a:lnTo>
                    <a:pt x="4520184" y="9144"/>
                  </a:lnTo>
                  <a:close/>
                </a:path>
                <a:path w="4528185" h="416559">
                  <a:moveTo>
                    <a:pt x="9138" y="9144"/>
                  </a:moveTo>
                  <a:lnTo>
                    <a:pt x="9138" y="0"/>
                  </a:lnTo>
                  <a:lnTo>
                    <a:pt x="0" y="9144"/>
                  </a:lnTo>
                  <a:lnTo>
                    <a:pt x="9138" y="9144"/>
                  </a:lnTo>
                  <a:close/>
                </a:path>
                <a:path w="4528185" h="416559">
                  <a:moveTo>
                    <a:pt x="9138" y="400812"/>
                  </a:moveTo>
                  <a:lnTo>
                    <a:pt x="9138" y="9144"/>
                  </a:lnTo>
                  <a:lnTo>
                    <a:pt x="0" y="9144"/>
                  </a:lnTo>
                  <a:lnTo>
                    <a:pt x="0" y="400812"/>
                  </a:lnTo>
                  <a:lnTo>
                    <a:pt x="9138" y="400812"/>
                  </a:lnTo>
                  <a:close/>
                </a:path>
                <a:path w="4528185" h="416559">
                  <a:moveTo>
                    <a:pt x="4520184" y="400812"/>
                  </a:moveTo>
                  <a:lnTo>
                    <a:pt x="0" y="400812"/>
                  </a:lnTo>
                  <a:lnTo>
                    <a:pt x="9138" y="408432"/>
                  </a:lnTo>
                  <a:lnTo>
                    <a:pt x="9138" y="416052"/>
                  </a:lnTo>
                  <a:lnTo>
                    <a:pt x="4512564" y="416052"/>
                  </a:lnTo>
                  <a:lnTo>
                    <a:pt x="4512564" y="408432"/>
                  </a:lnTo>
                  <a:lnTo>
                    <a:pt x="4520184" y="400812"/>
                  </a:lnTo>
                  <a:close/>
                </a:path>
                <a:path w="4528185" h="416559">
                  <a:moveTo>
                    <a:pt x="9138" y="416052"/>
                  </a:moveTo>
                  <a:lnTo>
                    <a:pt x="9138" y="408432"/>
                  </a:lnTo>
                  <a:lnTo>
                    <a:pt x="0" y="400812"/>
                  </a:lnTo>
                  <a:lnTo>
                    <a:pt x="0" y="416052"/>
                  </a:lnTo>
                  <a:lnTo>
                    <a:pt x="9138" y="416052"/>
                  </a:lnTo>
                  <a:close/>
                </a:path>
                <a:path w="4528185" h="416559">
                  <a:moveTo>
                    <a:pt x="4527804" y="413004"/>
                  </a:moveTo>
                  <a:lnTo>
                    <a:pt x="4527804" y="0"/>
                  </a:lnTo>
                  <a:lnTo>
                    <a:pt x="4512564" y="0"/>
                  </a:lnTo>
                  <a:lnTo>
                    <a:pt x="4520184" y="9144"/>
                  </a:lnTo>
                  <a:lnTo>
                    <a:pt x="4520184" y="416052"/>
                  </a:lnTo>
                  <a:lnTo>
                    <a:pt x="4524756" y="416052"/>
                  </a:lnTo>
                  <a:lnTo>
                    <a:pt x="4527804" y="413004"/>
                  </a:lnTo>
                  <a:close/>
                </a:path>
                <a:path w="4528185" h="416559">
                  <a:moveTo>
                    <a:pt x="4520184" y="400812"/>
                  </a:moveTo>
                  <a:lnTo>
                    <a:pt x="4520184" y="9144"/>
                  </a:lnTo>
                  <a:lnTo>
                    <a:pt x="4512564" y="9144"/>
                  </a:lnTo>
                  <a:lnTo>
                    <a:pt x="4512564" y="400812"/>
                  </a:lnTo>
                  <a:lnTo>
                    <a:pt x="4520184" y="400812"/>
                  </a:lnTo>
                  <a:close/>
                </a:path>
                <a:path w="4528185" h="416559">
                  <a:moveTo>
                    <a:pt x="4520184" y="416052"/>
                  </a:moveTo>
                  <a:lnTo>
                    <a:pt x="4520184" y="400812"/>
                  </a:lnTo>
                  <a:lnTo>
                    <a:pt x="4512564" y="408432"/>
                  </a:lnTo>
                  <a:lnTo>
                    <a:pt x="4512564" y="416052"/>
                  </a:lnTo>
                  <a:lnTo>
                    <a:pt x="4520184" y="416052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3493" y="1051051"/>
            <a:ext cx="4210685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b="1" spc="-90" dirty="0">
                <a:latin typeface="Calibri"/>
                <a:cs typeface="Calibri"/>
              </a:rPr>
              <a:t>Worked</a:t>
            </a:r>
            <a:r>
              <a:rPr sz="2150" b="1" spc="-70" dirty="0">
                <a:latin typeface="Calibri"/>
                <a:cs typeface="Calibri"/>
              </a:rPr>
              <a:t> Example</a:t>
            </a:r>
            <a:r>
              <a:rPr sz="2150" b="1" spc="-75" dirty="0">
                <a:latin typeface="Calibri"/>
                <a:cs typeface="Calibri"/>
              </a:rPr>
              <a:t> </a:t>
            </a:r>
            <a:r>
              <a:rPr sz="2150" b="1" spc="-5" dirty="0">
                <a:latin typeface="Calibri"/>
                <a:cs typeface="Calibri"/>
              </a:rPr>
              <a:t>–</a:t>
            </a:r>
            <a:r>
              <a:rPr sz="2150" b="1" spc="-30" dirty="0">
                <a:latin typeface="Calibri"/>
                <a:cs typeface="Calibri"/>
              </a:rPr>
              <a:t> </a:t>
            </a:r>
            <a:r>
              <a:rPr sz="2150" b="1" spc="-70" dirty="0">
                <a:latin typeface="Calibri"/>
                <a:cs typeface="Calibri"/>
              </a:rPr>
              <a:t>Forward </a:t>
            </a:r>
            <a:r>
              <a:rPr sz="2150" b="1" spc="-60" dirty="0">
                <a:latin typeface="Calibri"/>
                <a:cs typeface="Calibri"/>
              </a:rPr>
              <a:t>Pass</a:t>
            </a:r>
            <a:r>
              <a:rPr sz="2150" b="1" spc="-70" dirty="0">
                <a:latin typeface="Calibri"/>
                <a:cs typeface="Calibri"/>
              </a:rPr>
              <a:t> </a:t>
            </a:r>
            <a:r>
              <a:rPr sz="2150" b="1" spc="-20" dirty="0">
                <a:latin typeface="Calibri"/>
                <a:cs typeface="Calibri"/>
              </a:rPr>
              <a:t>@</a:t>
            </a:r>
            <a:r>
              <a:rPr sz="2150" b="1" spc="-45" dirty="0">
                <a:latin typeface="Calibri"/>
                <a:cs typeface="Calibri"/>
              </a:rPr>
              <a:t> </a:t>
            </a:r>
            <a:r>
              <a:rPr sz="2150" b="1" spc="-20" dirty="0">
                <a:latin typeface="Calibri"/>
                <a:cs typeface="Calibri"/>
              </a:rPr>
              <a:t>t=0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0870" y="1697735"/>
            <a:ext cx="768350" cy="379730"/>
          </a:xfrm>
          <a:custGeom>
            <a:avLst/>
            <a:gdLst/>
            <a:ahLst/>
            <a:cxnLst/>
            <a:rect l="l" t="t" r="r" b="b"/>
            <a:pathLst>
              <a:path w="768350" h="379730">
                <a:moveTo>
                  <a:pt x="768095" y="379475"/>
                </a:moveTo>
                <a:lnTo>
                  <a:pt x="768095" y="0"/>
                </a:lnTo>
                <a:lnTo>
                  <a:pt x="0" y="0"/>
                </a:lnTo>
                <a:lnTo>
                  <a:pt x="0" y="379475"/>
                </a:lnTo>
                <a:lnTo>
                  <a:pt x="768095" y="379475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50870" y="1697735"/>
            <a:ext cx="521334" cy="35433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6985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550"/>
              </a:spcBef>
            </a:pPr>
            <a:r>
              <a:rPr sz="1450" spc="45" dirty="0">
                <a:latin typeface="Cambria"/>
                <a:cs typeface="Cambria"/>
              </a:rPr>
              <a:t>x</a:t>
            </a:r>
            <a:r>
              <a:rPr sz="1650" spc="67" baseline="-15151" dirty="0">
                <a:latin typeface="Cambria"/>
                <a:cs typeface="Cambria"/>
              </a:rPr>
              <a:t>0</a:t>
            </a:r>
            <a:r>
              <a:rPr sz="1650" spc="270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71830" y="1746516"/>
            <a:ext cx="201930" cy="309880"/>
          </a:xfrm>
          <a:custGeom>
            <a:avLst/>
            <a:gdLst/>
            <a:ahLst/>
            <a:cxnLst/>
            <a:rect l="l" t="t" r="r" b="b"/>
            <a:pathLst>
              <a:path w="201930" h="309880">
                <a:moveTo>
                  <a:pt x="44437" y="301752"/>
                </a:moveTo>
                <a:lnTo>
                  <a:pt x="17005" y="301752"/>
                </a:lnTo>
                <a:lnTo>
                  <a:pt x="17005" y="309372"/>
                </a:lnTo>
                <a:lnTo>
                  <a:pt x="44437" y="309372"/>
                </a:lnTo>
                <a:lnTo>
                  <a:pt x="44437" y="301752"/>
                </a:lnTo>
                <a:close/>
              </a:path>
              <a:path w="201930" h="309880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09372"/>
                </a:lnTo>
                <a:lnTo>
                  <a:pt x="16510" y="309372"/>
                </a:lnTo>
                <a:lnTo>
                  <a:pt x="16510" y="7620"/>
                </a:lnTo>
                <a:lnTo>
                  <a:pt x="44450" y="7620"/>
                </a:lnTo>
                <a:lnTo>
                  <a:pt x="44450" y="0"/>
                </a:lnTo>
                <a:close/>
              </a:path>
              <a:path w="201930" h="309880">
                <a:moveTo>
                  <a:pt x="201930" y="0"/>
                </a:moveTo>
                <a:lnTo>
                  <a:pt x="184150" y="0"/>
                </a:lnTo>
                <a:lnTo>
                  <a:pt x="157480" y="0"/>
                </a:lnTo>
                <a:lnTo>
                  <a:pt x="157480" y="7620"/>
                </a:lnTo>
                <a:lnTo>
                  <a:pt x="184150" y="7620"/>
                </a:lnTo>
                <a:lnTo>
                  <a:pt x="184150" y="301752"/>
                </a:lnTo>
                <a:lnTo>
                  <a:pt x="157213" y="301752"/>
                </a:lnTo>
                <a:lnTo>
                  <a:pt x="157213" y="309372"/>
                </a:lnTo>
                <a:lnTo>
                  <a:pt x="184150" y="309372"/>
                </a:lnTo>
                <a:lnTo>
                  <a:pt x="184645" y="309372"/>
                </a:lnTo>
                <a:lnTo>
                  <a:pt x="201930" y="309372"/>
                </a:lnTo>
                <a:lnTo>
                  <a:pt x="2019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88340" y="1649983"/>
            <a:ext cx="167640" cy="4737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35"/>
              </a:spcBef>
            </a:pPr>
            <a:r>
              <a:rPr sz="1450" spc="20" dirty="0">
                <a:latin typeface="Cambria"/>
                <a:cs typeface="Cambria"/>
              </a:rPr>
              <a:t>1</a:t>
            </a:r>
            <a:endParaRPr sz="1450">
              <a:latin typeface="Cambria"/>
              <a:cs typeface="Cambria"/>
            </a:endParaRPr>
          </a:p>
          <a:p>
            <a:pPr marL="30480">
              <a:lnSpc>
                <a:spcPct val="100000"/>
              </a:lnSpc>
            </a:pPr>
            <a:r>
              <a:rPr sz="1450" spc="20" dirty="0">
                <a:latin typeface="Cambria"/>
                <a:cs typeface="Cambria"/>
              </a:rPr>
              <a:t>2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23989" y="1051051"/>
            <a:ext cx="127825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25" dirty="0">
                <a:solidFill>
                  <a:srgbClr val="FF0000"/>
                </a:solidFill>
                <a:latin typeface="Calibri"/>
                <a:cs typeface="Calibri"/>
              </a:rPr>
              <a:t>Output</a:t>
            </a:r>
            <a:r>
              <a:rPr sz="1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10" dirty="0">
                <a:solidFill>
                  <a:srgbClr val="FF0000"/>
                </a:solidFill>
                <a:latin typeface="Calibri"/>
                <a:cs typeface="Calibri"/>
              </a:rPr>
              <a:t>Gate: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504688" y="1488941"/>
            <a:ext cx="2985770" cy="1912620"/>
            <a:chOff x="5504688" y="1488941"/>
            <a:chExt cx="2985770" cy="191262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7625" y="1550351"/>
              <a:ext cx="2824180" cy="182862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504688" y="1488941"/>
              <a:ext cx="2985770" cy="1912620"/>
            </a:xfrm>
            <a:custGeom>
              <a:avLst/>
              <a:gdLst/>
              <a:ahLst/>
              <a:cxnLst/>
              <a:rect l="l" t="t" r="r" b="b"/>
              <a:pathLst>
                <a:path w="2985770" h="1912620">
                  <a:moveTo>
                    <a:pt x="2985516" y="1909578"/>
                  </a:moveTo>
                  <a:lnTo>
                    <a:pt x="2985516" y="1524"/>
                  </a:lnTo>
                  <a:lnTo>
                    <a:pt x="2983992" y="0"/>
                  </a:lnTo>
                  <a:lnTo>
                    <a:pt x="3048" y="0"/>
                  </a:lnTo>
                  <a:lnTo>
                    <a:pt x="0" y="1524"/>
                  </a:lnTo>
                  <a:lnTo>
                    <a:pt x="0" y="1909578"/>
                  </a:lnTo>
                  <a:lnTo>
                    <a:pt x="3048" y="1912626"/>
                  </a:lnTo>
                  <a:lnTo>
                    <a:pt x="4572" y="1912626"/>
                  </a:lnTo>
                  <a:lnTo>
                    <a:pt x="4572" y="7620"/>
                  </a:lnTo>
                  <a:lnTo>
                    <a:pt x="9144" y="3048"/>
                  </a:lnTo>
                  <a:lnTo>
                    <a:pt x="9144" y="7620"/>
                  </a:lnTo>
                  <a:lnTo>
                    <a:pt x="2977896" y="7620"/>
                  </a:lnTo>
                  <a:lnTo>
                    <a:pt x="2977896" y="3048"/>
                  </a:lnTo>
                  <a:lnTo>
                    <a:pt x="2982468" y="7620"/>
                  </a:lnTo>
                  <a:lnTo>
                    <a:pt x="2982468" y="1912626"/>
                  </a:lnTo>
                  <a:lnTo>
                    <a:pt x="2983992" y="1912626"/>
                  </a:lnTo>
                  <a:lnTo>
                    <a:pt x="2985516" y="1909578"/>
                  </a:lnTo>
                  <a:close/>
                </a:path>
                <a:path w="2985770" h="1912620">
                  <a:moveTo>
                    <a:pt x="9144" y="7620"/>
                  </a:moveTo>
                  <a:lnTo>
                    <a:pt x="9144" y="3048"/>
                  </a:lnTo>
                  <a:lnTo>
                    <a:pt x="4572" y="7620"/>
                  </a:lnTo>
                  <a:lnTo>
                    <a:pt x="9144" y="7620"/>
                  </a:lnTo>
                  <a:close/>
                </a:path>
                <a:path w="2985770" h="1912620">
                  <a:moveTo>
                    <a:pt x="9144" y="1903482"/>
                  </a:moveTo>
                  <a:lnTo>
                    <a:pt x="9144" y="7620"/>
                  </a:lnTo>
                  <a:lnTo>
                    <a:pt x="4572" y="7620"/>
                  </a:lnTo>
                  <a:lnTo>
                    <a:pt x="4572" y="1903482"/>
                  </a:lnTo>
                  <a:lnTo>
                    <a:pt x="9144" y="1903482"/>
                  </a:lnTo>
                  <a:close/>
                </a:path>
                <a:path w="2985770" h="1912620">
                  <a:moveTo>
                    <a:pt x="2982468" y="1903482"/>
                  </a:moveTo>
                  <a:lnTo>
                    <a:pt x="4572" y="1903482"/>
                  </a:lnTo>
                  <a:lnTo>
                    <a:pt x="9144" y="1908054"/>
                  </a:lnTo>
                  <a:lnTo>
                    <a:pt x="9144" y="1912626"/>
                  </a:lnTo>
                  <a:lnTo>
                    <a:pt x="2977896" y="1912626"/>
                  </a:lnTo>
                  <a:lnTo>
                    <a:pt x="2977896" y="1908054"/>
                  </a:lnTo>
                  <a:lnTo>
                    <a:pt x="2982468" y="1903482"/>
                  </a:lnTo>
                  <a:close/>
                </a:path>
                <a:path w="2985770" h="1912620">
                  <a:moveTo>
                    <a:pt x="9144" y="1912626"/>
                  </a:moveTo>
                  <a:lnTo>
                    <a:pt x="9144" y="1908054"/>
                  </a:lnTo>
                  <a:lnTo>
                    <a:pt x="4572" y="1903482"/>
                  </a:lnTo>
                  <a:lnTo>
                    <a:pt x="4572" y="1912626"/>
                  </a:lnTo>
                  <a:lnTo>
                    <a:pt x="9144" y="1912626"/>
                  </a:lnTo>
                  <a:close/>
                </a:path>
                <a:path w="2985770" h="1912620">
                  <a:moveTo>
                    <a:pt x="2982468" y="7620"/>
                  </a:moveTo>
                  <a:lnTo>
                    <a:pt x="2977896" y="3048"/>
                  </a:lnTo>
                  <a:lnTo>
                    <a:pt x="2977896" y="7620"/>
                  </a:lnTo>
                  <a:lnTo>
                    <a:pt x="2982468" y="7620"/>
                  </a:lnTo>
                  <a:close/>
                </a:path>
                <a:path w="2985770" h="1912620">
                  <a:moveTo>
                    <a:pt x="2982468" y="1903482"/>
                  </a:moveTo>
                  <a:lnTo>
                    <a:pt x="2982468" y="7620"/>
                  </a:lnTo>
                  <a:lnTo>
                    <a:pt x="2977896" y="7620"/>
                  </a:lnTo>
                  <a:lnTo>
                    <a:pt x="2977896" y="1903482"/>
                  </a:lnTo>
                  <a:lnTo>
                    <a:pt x="2982468" y="1903482"/>
                  </a:lnTo>
                  <a:close/>
                </a:path>
                <a:path w="2985770" h="1912620">
                  <a:moveTo>
                    <a:pt x="2982468" y="1912626"/>
                  </a:moveTo>
                  <a:lnTo>
                    <a:pt x="2982468" y="1903482"/>
                  </a:lnTo>
                  <a:lnTo>
                    <a:pt x="2977896" y="1908054"/>
                  </a:lnTo>
                  <a:lnTo>
                    <a:pt x="2977896" y="1912626"/>
                  </a:lnTo>
                  <a:lnTo>
                    <a:pt x="2982468" y="1912626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506212" y="3570732"/>
            <a:ext cx="3171825" cy="472440"/>
            <a:chOff x="5506212" y="3570732"/>
            <a:chExt cx="3171825" cy="47244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86547" y="3672795"/>
              <a:ext cx="3001038" cy="24939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506212" y="3570732"/>
              <a:ext cx="3171825" cy="472440"/>
            </a:xfrm>
            <a:custGeom>
              <a:avLst/>
              <a:gdLst/>
              <a:ahLst/>
              <a:cxnLst/>
              <a:rect l="l" t="t" r="r" b="b"/>
              <a:pathLst>
                <a:path w="3171825" h="472439">
                  <a:moveTo>
                    <a:pt x="3171444" y="467868"/>
                  </a:moveTo>
                  <a:lnTo>
                    <a:pt x="3171444" y="6096"/>
                  </a:lnTo>
                  <a:lnTo>
                    <a:pt x="3165348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467868"/>
                  </a:lnTo>
                  <a:lnTo>
                    <a:pt x="4572" y="472440"/>
                  </a:lnTo>
                  <a:lnTo>
                    <a:pt x="10668" y="472440"/>
                  </a:lnTo>
                  <a:lnTo>
                    <a:pt x="10668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147060" y="24384"/>
                  </a:lnTo>
                  <a:lnTo>
                    <a:pt x="3147060" y="12192"/>
                  </a:lnTo>
                  <a:lnTo>
                    <a:pt x="3159252" y="24384"/>
                  </a:lnTo>
                  <a:lnTo>
                    <a:pt x="3159252" y="472440"/>
                  </a:lnTo>
                  <a:lnTo>
                    <a:pt x="3165348" y="472440"/>
                  </a:lnTo>
                  <a:lnTo>
                    <a:pt x="3171444" y="467868"/>
                  </a:lnTo>
                  <a:close/>
                </a:path>
                <a:path w="3171825" h="472439">
                  <a:moveTo>
                    <a:pt x="22860" y="24384"/>
                  </a:moveTo>
                  <a:lnTo>
                    <a:pt x="22860" y="12192"/>
                  </a:lnTo>
                  <a:lnTo>
                    <a:pt x="10668" y="24384"/>
                  </a:lnTo>
                  <a:lnTo>
                    <a:pt x="22860" y="24384"/>
                  </a:lnTo>
                  <a:close/>
                </a:path>
                <a:path w="3171825" h="472439">
                  <a:moveTo>
                    <a:pt x="22860" y="449580"/>
                  </a:moveTo>
                  <a:lnTo>
                    <a:pt x="22860" y="24384"/>
                  </a:lnTo>
                  <a:lnTo>
                    <a:pt x="10668" y="24384"/>
                  </a:lnTo>
                  <a:lnTo>
                    <a:pt x="10668" y="449580"/>
                  </a:lnTo>
                  <a:lnTo>
                    <a:pt x="22860" y="449580"/>
                  </a:lnTo>
                  <a:close/>
                </a:path>
                <a:path w="3171825" h="472439">
                  <a:moveTo>
                    <a:pt x="3159252" y="449580"/>
                  </a:moveTo>
                  <a:lnTo>
                    <a:pt x="10668" y="449580"/>
                  </a:lnTo>
                  <a:lnTo>
                    <a:pt x="22860" y="461772"/>
                  </a:lnTo>
                  <a:lnTo>
                    <a:pt x="22860" y="472440"/>
                  </a:lnTo>
                  <a:lnTo>
                    <a:pt x="3147060" y="472440"/>
                  </a:lnTo>
                  <a:lnTo>
                    <a:pt x="3147060" y="461772"/>
                  </a:lnTo>
                  <a:lnTo>
                    <a:pt x="3159252" y="449580"/>
                  </a:lnTo>
                  <a:close/>
                </a:path>
                <a:path w="3171825" h="472439">
                  <a:moveTo>
                    <a:pt x="22860" y="472440"/>
                  </a:moveTo>
                  <a:lnTo>
                    <a:pt x="22860" y="461772"/>
                  </a:lnTo>
                  <a:lnTo>
                    <a:pt x="10668" y="449580"/>
                  </a:lnTo>
                  <a:lnTo>
                    <a:pt x="10668" y="472440"/>
                  </a:lnTo>
                  <a:lnTo>
                    <a:pt x="22860" y="472440"/>
                  </a:lnTo>
                  <a:close/>
                </a:path>
                <a:path w="3171825" h="472439">
                  <a:moveTo>
                    <a:pt x="3159252" y="24384"/>
                  </a:moveTo>
                  <a:lnTo>
                    <a:pt x="3147060" y="12192"/>
                  </a:lnTo>
                  <a:lnTo>
                    <a:pt x="3147060" y="24384"/>
                  </a:lnTo>
                  <a:lnTo>
                    <a:pt x="3159252" y="24384"/>
                  </a:lnTo>
                  <a:close/>
                </a:path>
                <a:path w="3171825" h="472439">
                  <a:moveTo>
                    <a:pt x="3159252" y="449580"/>
                  </a:moveTo>
                  <a:lnTo>
                    <a:pt x="3159252" y="24384"/>
                  </a:lnTo>
                  <a:lnTo>
                    <a:pt x="3147060" y="24384"/>
                  </a:lnTo>
                  <a:lnTo>
                    <a:pt x="3147060" y="449580"/>
                  </a:lnTo>
                  <a:lnTo>
                    <a:pt x="3159252" y="449580"/>
                  </a:lnTo>
                  <a:close/>
                </a:path>
                <a:path w="3171825" h="472439">
                  <a:moveTo>
                    <a:pt x="3159252" y="472440"/>
                  </a:moveTo>
                  <a:lnTo>
                    <a:pt x="3159252" y="449580"/>
                  </a:lnTo>
                  <a:lnTo>
                    <a:pt x="3147060" y="461772"/>
                  </a:lnTo>
                  <a:lnTo>
                    <a:pt x="3147060" y="472440"/>
                  </a:lnTo>
                  <a:lnTo>
                    <a:pt x="3159252" y="472440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536691" y="4674107"/>
            <a:ext cx="3733800" cy="3048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83185">
              <a:lnSpc>
                <a:spcPts val="2250"/>
              </a:lnSpc>
            </a:pPr>
            <a:r>
              <a:rPr sz="1950" spc="-45" dirty="0">
                <a:latin typeface="Cambria"/>
                <a:cs typeface="Cambria"/>
              </a:rPr>
              <a:t>o</a:t>
            </a:r>
            <a:r>
              <a:rPr sz="2100" spc="240" baseline="-15873" dirty="0">
                <a:latin typeface="Cambria"/>
                <a:cs typeface="Cambria"/>
              </a:rPr>
              <a:t>t</a:t>
            </a:r>
            <a:r>
              <a:rPr sz="2100" baseline="-15873" dirty="0">
                <a:latin typeface="Cambria"/>
                <a:cs typeface="Cambria"/>
              </a:rPr>
              <a:t> </a:t>
            </a:r>
            <a:r>
              <a:rPr sz="2100" spc="67" baseline="-15873" dirty="0">
                <a:latin typeface="Cambria"/>
                <a:cs typeface="Cambria"/>
              </a:rPr>
              <a:t> </a:t>
            </a:r>
            <a:r>
              <a:rPr sz="1950" spc="395" dirty="0">
                <a:latin typeface="Cambria"/>
                <a:cs typeface="Cambria"/>
              </a:rPr>
              <a:t>=</a:t>
            </a:r>
            <a:r>
              <a:rPr sz="1950" spc="114" dirty="0">
                <a:latin typeface="Cambria"/>
                <a:cs typeface="Cambria"/>
              </a:rPr>
              <a:t> </a:t>
            </a:r>
            <a:r>
              <a:rPr sz="1950" spc="80" dirty="0">
                <a:latin typeface="Cambria"/>
                <a:cs typeface="Cambria"/>
              </a:rPr>
              <a:t>σ(</a:t>
            </a:r>
            <a:r>
              <a:rPr sz="1950" spc="-340" dirty="0">
                <a:latin typeface="Cambria"/>
                <a:cs typeface="Cambria"/>
              </a:rPr>
              <a:t>W</a:t>
            </a:r>
            <a:r>
              <a:rPr sz="2100" spc="254" baseline="-15873" dirty="0">
                <a:latin typeface="Cambria"/>
                <a:cs typeface="Cambria"/>
              </a:rPr>
              <a:t>x</a:t>
            </a:r>
            <a:r>
              <a:rPr sz="2100" spc="330" baseline="-15873" dirty="0">
                <a:latin typeface="Cambria"/>
                <a:cs typeface="Cambria"/>
              </a:rPr>
              <a:t>o</a:t>
            </a:r>
            <a:r>
              <a:rPr sz="1950" spc="5" dirty="0">
                <a:latin typeface="Cambria"/>
                <a:cs typeface="Cambria"/>
              </a:rPr>
              <a:t>.</a:t>
            </a:r>
            <a:r>
              <a:rPr sz="1950" spc="-120" dirty="0">
                <a:latin typeface="Cambria"/>
                <a:cs typeface="Cambria"/>
              </a:rPr>
              <a:t> </a:t>
            </a:r>
            <a:r>
              <a:rPr sz="1950" spc="85" dirty="0">
                <a:latin typeface="Cambria"/>
                <a:cs typeface="Cambria"/>
              </a:rPr>
              <a:t>x</a:t>
            </a:r>
            <a:r>
              <a:rPr sz="2100" spc="240" baseline="-15873" dirty="0">
                <a:latin typeface="Cambria"/>
                <a:cs typeface="Cambria"/>
              </a:rPr>
              <a:t>t</a:t>
            </a:r>
            <a:r>
              <a:rPr sz="2100" baseline="-15873" dirty="0">
                <a:latin typeface="Cambria"/>
                <a:cs typeface="Cambria"/>
              </a:rPr>
              <a:t> </a:t>
            </a:r>
            <a:r>
              <a:rPr sz="2100" spc="-82" baseline="-15873" dirty="0">
                <a:latin typeface="Cambria"/>
                <a:cs typeface="Cambria"/>
              </a:rPr>
              <a:t> </a:t>
            </a:r>
            <a:r>
              <a:rPr sz="1950" spc="395" dirty="0">
                <a:latin typeface="Cambria"/>
                <a:cs typeface="Cambria"/>
              </a:rPr>
              <a:t>+</a:t>
            </a:r>
            <a:r>
              <a:rPr sz="1950" spc="10" dirty="0">
                <a:latin typeface="Cambria"/>
                <a:cs typeface="Cambria"/>
              </a:rPr>
              <a:t> </a:t>
            </a:r>
            <a:r>
              <a:rPr sz="1950" spc="-185" dirty="0">
                <a:latin typeface="Cambria"/>
                <a:cs typeface="Cambria"/>
              </a:rPr>
              <a:t>W</a:t>
            </a:r>
            <a:r>
              <a:rPr sz="2100" spc="187" baseline="-15873" dirty="0">
                <a:latin typeface="Cambria"/>
                <a:cs typeface="Cambria"/>
              </a:rPr>
              <a:t>h</a:t>
            </a:r>
            <a:r>
              <a:rPr sz="2100" spc="150" baseline="-15873" dirty="0">
                <a:latin typeface="Cambria"/>
                <a:cs typeface="Cambria"/>
              </a:rPr>
              <a:t>o</a:t>
            </a:r>
            <a:r>
              <a:rPr sz="2100" baseline="-15873" dirty="0">
                <a:latin typeface="Cambria"/>
                <a:cs typeface="Cambria"/>
              </a:rPr>
              <a:t> </a:t>
            </a:r>
            <a:r>
              <a:rPr sz="2100" spc="-97" baseline="-15873" dirty="0">
                <a:latin typeface="Cambria"/>
                <a:cs typeface="Cambria"/>
              </a:rPr>
              <a:t> </a:t>
            </a:r>
            <a:r>
              <a:rPr sz="1950" spc="5" dirty="0">
                <a:latin typeface="Cambria"/>
                <a:cs typeface="Cambria"/>
              </a:rPr>
              <a:t>.</a:t>
            </a:r>
            <a:r>
              <a:rPr sz="1950" spc="-120" dirty="0">
                <a:latin typeface="Cambria"/>
                <a:cs typeface="Cambria"/>
              </a:rPr>
              <a:t> </a:t>
            </a:r>
            <a:r>
              <a:rPr sz="1950" spc="20" dirty="0">
                <a:latin typeface="Cambria"/>
                <a:cs typeface="Cambria"/>
              </a:rPr>
              <a:t>ℎ</a:t>
            </a:r>
            <a:r>
              <a:rPr sz="2100" spc="307" baseline="-15873" dirty="0">
                <a:latin typeface="Cambria"/>
                <a:cs typeface="Cambria"/>
              </a:rPr>
              <a:t>t</a:t>
            </a:r>
            <a:r>
              <a:rPr sz="2100" spc="509" baseline="-15873" dirty="0">
                <a:latin typeface="Cambria"/>
                <a:cs typeface="Cambria"/>
              </a:rPr>
              <a:t>–</a:t>
            </a:r>
            <a:r>
              <a:rPr sz="2100" spc="82" baseline="-15873" dirty="0">
                <a:latin typeface="Cambria"/>
                <a:cs typeface="Cambria"/>
              </a:rPr>
              <a:t>1</a:t>
            </a:r>
            <a:r>
              <a:rPr sz="2100" baseline="-15873" dirty="0">
                <a:latin typeface="Cambria"/>
                <a:cs typeface="Cambria"/>
              </a:rPr>
              <a:t> </a:t>
            </a:r>
            <a:r>
              <a:rPr sz="2100" spc="-142" baseline="-15873" dirty="0">
                <a:latin typeface="Cambria"/>
                <a:cs typeface="Cambria"/>
              </a:rPr>
              <a:t> </a:t>
            </a:r>
            <a:r>
              <a:rPr sz="1950" spc="395" dirty="0">
                <a:latin typeface="Cambria"/>
                <a:cs typeface="Cambria"/>
              </a:rPr>
              <a:t>+</a:t>
            </a:r>
            <a:r>
              <a:rPr sz="1950" spc="10" dirty="0">
                <a:latin typeface="Cambria"/>
                <a:cs typeface="Cambria"/>
              </a:rPr>
              <a:t> </a:t>
            </a:r>
            <a:r>
              <a:rPr sz="1950" spc="-60" dirty="0">
                <a:latin typeface="Cambria"/>
                <a:cs typeface="Cambria"/>
              </a:rPr>
              <a:t>b</a:t>
            </a:r>
            <a:r>
              <a:rPr sz="2100" spc="330" baseline="-15873" dirty="0">
                <a:latin typeface="Cambria"/>
                <a:cs typeface="Cambria"/>
              </a:rPr>
              <a:t>o</a:t>
            </a:r>
            <a:r>
              <a:rPr sz="1950" spc="75" dirty="0">
                <a:latin typeface="Cambria"/>
                <a:cs typeface="Cambria"/>
              </a:rPr>
              <a:t>)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23989" y="4393182"/>
            <a:ext cx="103187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15" dirty="0">
                <a:solidFill>
                  <a:srgbClr val="FF0000"/>
                </a:solidFill>
                <a:latin typeface="Calibri"/>
                <a:cs typeface="Calibri"/>
              </a:rPr>
              <a:t>Output</a:t>
            </a:r>
            <a:r>
              <a:rPr sz="145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50" spc="5" dirty="0">
                <a:solidFill>
                  <a:srgbClr val="FF0000"/>
                </a:solidFill>
                <a:latin typeface="Calibri"/>
                <a:cs typeface="Calibri"/>
              </a:rPr>
              <a:t>Gate: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56965" y="2468879"/>
            <a:ext cx="1146175" cy="381000"/>
          </a:xfrm>
          <a:custGeom>
            <a:avLst/>
            <a:gdLst/>
            <a:ahLst/>
            <a:cxnLst/>
            <a:rect l="l" t="t" r="r" b="b"/>
            <a:pathLst>
              <a:path w="1146175" h="381000">
                <a:moveTo>
                  <a:pt x="1146047" y="380999"/>
                </a:moveTo>
                <a:lnTo>
                  <a:pt x="1146047" y="0"/>
                </a:lnTo>
                <a:lnTo>
                  <a:pt x="0" y="0"/>
                </a:lnTo>
                <a:lnTo>
                  <a:pt x="0" y="380999"/>
                </a:lnTo>
                <a:lnTo>
                  <a:pt x="1146047" y="380999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56965" y="2468879"/>
            <a:ext cx="649605" cy="353695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6985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50"/>
              </a:spcBef>
            </a:pPr>
            <a:r>
              <a:rPr sz="1450" spc="-30" dirty="0">
                <a:latin typeface="Cambria"/>
                <a:cs typeface="Cambria"/>
              </a:rPr>
              <a:t>W</a:t>
            </a:r>
            <a:r>
              <a:rPr sz="1650" spc="-44" baseline="-15151" dirty="0">
                <a:latin typeface="Cambria"/>
                <a:cs typeface="Cambria"/>
              </a:rPr>
              <a:t>xo</a:t>
            </a:r>
            <a:r>
              <a:rPr sz="1650" spc="-15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06450" y="2516136"/>
            <a:ext cx="448309" cy="311150"/>
          </a:xfrm>
          <a:custGeom>
            <a:avLst/>
            <a:gdLst/>
            <a:ahLst/>
            <a:cxnLst/>
            <a:rect l="l" t="t" r="r" b="b"/>
            <a:pathLst>
              <a:path w="448309" h="311150">
                <a:moveTo>
                  <a:pt x="42405" y="301752"/>
                </a:moveTo>
                <a:lnTo>
                  <a:pt x="16510" y="301752"/>
                </a:lnTo>
                <a:lnTo>
                  <a:pt x="16510" y="9144"/>
                </a:lnTo>
                <a:lnTo>
                  <a:pt x="41910" y="9144"/>
                </a:lnTo>
                <a:lnTo>
                  <a:pt x="41910" y="0"/>
                </a:lnTo>
                <a:lnTo>
                  <a:pt x="16510" y="0"/>
                </a:lnTo>
                <a:lnTo>
                  <a:pt x="0" y="0"/>
                </a:lnTo>
                <a:lnTo>
                  <a:pt x="0" y="310896"/>
                </a:lnTo>
                <a:lnTo>
                  <a:pt x="16497" y="310896"/>
                </a:lnTo>
                <a:lnTo>
                  <a:pt x="42405" y="310896"/>
                </a:lnTo>
                <a:lnTo>
                  <a:pt x="42405" y="301752"/>
                </a:lnTo>
                <a:close/>
              </a:path>
              <a:path w="448309" h="311150">
                <a:moveTo>
                  <a:pt x="448310" y="0"/>
                </a:moveTo>
                <a:lnTo>
                  <a:pt x="430530" y="0"/>
                </a:lnTo>
                <a:lnTo>
                  <a:pt x="403860" y="0"/>
                </a:lnTo>
                <a:lnTo>
                  <a:pt x="403860" y="9144"/>
                </a:lnTo>
                <a:lnTo>
                  <a:pt x="430530" y="9144"/>
                </a:lnTo>
                <a:lnTo>
                  <a:pt x="430530" y="301752"/>
                </a:lnTo>
                <a:lnTo>
                  <a:pt x="403593" y="301752"/>
                </a:lnTo>
                <a:lnTo>
                  <a:pt x="403593" y="310896"/>
                </a:lnTo>
                <a:lnTo>
                  <a:pt x="430530" y="310896"/>
                </a:lnTo>
                <a:lnTo>
                  <a:pt x="431025" y="310896"/>
                </a:lnTo>
                <a:lnTo>
                  <a:pt x="448310" y="310896"/>
                </a:lnTo>
                <a:lnTo>
                  <a:pt x="4483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22960" y="2419602"/>
            <a:ext cx="414020" cy="4737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35"/>
              </a:spcBef>
            </a:pPr>
            <a:r>
              <a:rPr sz="1450" spc="15" dirty="0">
                <a:latin typeface="Cambria"/>
                <a:cs typeface="Cambria"/>
              </a:rPr>
              <a:t>0.60</a:t>
            </a:r>
            <a:endParaRPr sz="1450">
              <a:latin typeface="Cambria"/>
              <a:cs typeface="Cambria"/>
            </a:endParaRPr>
          </a:p>
          <a:p>
            <a:pPr marL="28575">
              <a:lnSpc>
                <a:spcPct val="100000"/>
              </a:lnSpc>
            </a:pPr>
            <a:r>
              <a:rPr sz="1450" spc="15" dirty="0">
                <a:latin typeface="Cambria"/>
                <a:cs typeface="Cambria"/>
              </a:rPr>
              <a:t>0.40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557527" y="2546603"/>
            <a:ext cx="1160145" cy="228600"/>
          </a:xfrm>
          <a:custGeom>
            <a:avLst/>
            <a:gdLst/>
            <a:ahLst/>
            <a:cxnLst/>
            <a:rect l="l" t="t" r="r" b="b"/>
            <a:pathLst>
              <a:path w="1160145" h="228600">
                <a:moveTo>
                  <a:pt x="1159763" y="228599"/>
                </a:moveTo>
                <a:lnTo>
                  <a:pt x="1159763" y="0"/>
                </a:lnTo>
                <a:lnTo>
                  <a:pt x="0" y="0"/>
                </a:lnTo>
                <a:lnTo>
                  <a:pt x="0" y="228599"/>
                </a:lnTo>
                <a:lnTo>
                  <a:pt x="1159763" y="228599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557527" y="2546603"/>
            <a:ext cx="668020" cy="2286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7305">
              <a:lnSpc>
                <a:spcPts val="1680"/>
              </a:lnSpc>
            </a:pPr>
            <a:r>
              <a:rPr sz="1450" dirty="0">
                <a:latin typeface="Cambria"/>
                <a:cs typeface="Cambria"/>
              </a:rPr>
              <a:t>W</a:t>
            </a:r>
            <a:r>
              <a:rPr sz="1650" baseline="-15151" dirty="0">
                <a:latin typeface="Cambria"/>
                <a:cs typeface="Cambria"/>
              </a:rPr>
              <a:t>ho</a:t>
            </a:r>
            <a:r>
              <a:rPr sz="1650" spc="292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225040" y="2581668"/>
            <a:ext cx="444500" cy="177165"/>
          </a:xfrm>
          <a:custGeom>
            <a:avLst/>
            <a:gdLst/>
            <a:ahLst/>
            <a:cxnLst/>
            <a:rect l="l" t="t" r="r" b="b"/>
            <a:pathLst>
              <a:path w="444500" h="177164">
                <a:moveTo>
                  <a:pt x="15240" y="0"/>
                </a:moveTo>
                <a:lnTo>
                  <a:pt x="0" y="0"/>
                </a:lnTo>
                <a:lnTo>
                  <a:pt x="0" y="176784"/>
                </a:lnTo>
                <a:lnTo>
                  <a:pt x="15240" y="176784"/>
                </a:lnTo>
                <a:lnTo>
                  <a:pt x="15240" y="0"/>
                </a:lnTo>
                <a:close/>
              </a:path>
              <a:path w="444500" h="177164">
                <a:moveTo>
                  <a:pt x="444500" y="0"/>
                </a:moveTo>
                <a:lnTo>
                  <a:pt x="429260" y="0"/>
                </a:lnTo>
                <a:lnTo>
                  <a:pt x="403860" y="0"/>
                </a:lnTo>
                <a:lnTo>
                  <a:pt x="403860" y="7620"/>
                </a:lnTo>
                <a:lnTo>
                  <a:pt x="429260" y="7620"/>
                </a:lnTo>
                <a:lnTo>
                  <a:pt x="429260" y="169164"/>
                </a:lnTo>
                <a:lnTo>
                  <a:pt x="403860" y="169164"/>
                </a:lnTo>
                <a:lnTo>
                  <a:pt x="403860" y="176784"/>
                </a:lnTo>
                <a:lnTo>
                  <a:pt x="429260" y="176784"/>
                </a:lnTo>
                <a:lnTo>
                  <a:pt x="429768" y="176784"/>
                </a:lnTo>
                <a:lnTo>
                  <a:pt x="444500" y="176784"/>
                </a:lnTo>
                <a:lnTo>
                  <a:pt x="444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240279" y="2581656"/>
            <a:ext cx="25400" cy="7620"/>
          </a:xfrm>
          <a:custGeom>
            <a:avLst/>
            <a:gdLst/>
            <a:ahLst/>
            <a:cxnLst/>
            <a:rect l="l" t="t" r="r" b="b"/>
            <a:pathLst>
              <a:path w="25400" h="7619">
                <a:moveTo>
                  <a:pt x="0" y="0"/>
                </a:moveTo>
                <a:lnTo>
                  <a:pt x="0" y="7620"/>
                </a:lnTo>
                <a:lnTo>
                  <a:pt x="25399" y="7620"/>
                </a:lnTo>
                <a:lnTo>
                  <a:pt x="25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240280" y="2750820"/>
            <a:ext cx="26034" cy="7620"/>
          </a:xfrm>
          <a:custGeom>
            <a:avLst/>
            <a:gdLst/>
            <a:ahLst/>
            <a:cxnLst/>
            <a:rect l="l" t="t" r="r" b="b"/>
            <a:pathLst>
              <a:path w="26035" h="7619">
                <a:moveTo>
                  <a:pt x="25908" y="7620"/>
                </a:moveTo>
                <a:lnTo>
                  <a:pt x="25908" y="0"/>
                </a:lnTo>
                <a:lnTo>
                  <a:pt x="0" y="0"/>
                </a:lnTo>
                <a:lnTo>
                  <a:pt x="0" y="7620"/>
                </a:lnTo>
                <a:lnTo>
                  <a:pt x="25908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240279" y="2521711"/>
            <a:ext cx="41402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35"/>
              </a:spcBef>
            </a:pPr>
            <a:r>
              <a:rPr sz="1450" spc="15" dirty="0">
                <a:latin typeface="Cambria"/>
                <a:cs typeface="Cambria"/>
              </a:rPr>
              <a:t>0.25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023616" y="2546603"/>
            <a:ext cx="1015365" cy="228600"/>
          </a:xfrm>
          <a:custGeom>
            <a:avLst/>
            <a:gdLst/>
            <a:ahLst/>
            <a:cxnLst/>
            <a:rect l="l" t="t" r="r" b="b"/>
            <a:pathLst>
              <a:path w="1015364" h="228600">
                <a:moveTo>
                  <a:pt x="1014983" y="228599"/>
                </a:moveTo>
                <a:lnTo>
                  <a:pt x="1014983" y="0"/>
                </a:lnTo>
                <a:lnTo>
                  <a:pt x="0" y="0"/>
                </a:lnTo>
                <a:lnTo>
                  <a:pt x="0" y="228599"/>
                </a:lnTo>
                <a:lnTo>
                  <a:pt x="1014983" y="228599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023616" y="2546603"/>
            <a:ext cx="525145" cy="2286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80"/>
              </a:lnSpc>
            </a:pPr>
            <a:r>
              <a:rPr sz="1450" spc="5" dirty="0">
                <a:latin typeface="Cambria"/>
                <a:cs typeface="Cambria"/>
              </a:rPr>
              <a:t>b</a:t>
            </a:r>
            <a:r>
              <a:rPr sz="1650" spc="7" baseline="-15151" dirty="0">
                <a:latin typeface="Cambria"/>
                <a:cs typeface="Cambria"/>
              </a:rPr>
              <a:t>o</a:t>
            </a:r>
            <a:r>
              <a:rPr sz="1650" spc="307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548380" y="2581668"/>
            <a:ext cx="444500" cy="177165"/>
          </a:xfrm>
          <a:custGeom>
            <a:avLst/>
            <a:gdLst/>
            <a:ahLst/>
            <a:cxnLst/>
            <a:rect l="l" t="t" r="r" b="b"/>
            <a:pathLst>
              <a:path w="444500" h="177164">
                <a:moveTo>
                  <a:pt x="15240" y="0"/>
                </a:moveTo>
                <a:lnTo>
                  <a:pt x="0" y="0"/>
                </a:lnTo>
                <a:lnTo>
                  <a:pt x="0" y="176784"/>
                </a:lnTo>
                <a:lnTo>
                  <a:pt x="15240" y="176784"/>
                </a:lnTo>
                <a:lnTo>
                  <a:pt x="15240" y="0"/>
                </a:lnTo>
                <a:close/>
              </a:path>
              <a:path w="444500" h="177164">
                <a:moveTo>
                  <a:pt x="444500" y="0"/>
                </a:moveTo>
                <a:lnTo>
                  <a:pt x="429260" y="0"/>
                </a:lnTo>
                <a:lnTo>
                  <a:pt x="403860" y="0"/>
                </a:lnTo>
                <a:lnTo>
                  <a:pt x="403860" y="7620"/>
                </a:lnTo>
                <a:lnTo>
                  <a:pt x="429260" y="7620"/>
                </a:lnTo>
                <a:lnTo>
                  <a:pt x="429260" y="169164"/>
                </a:lnTo>
                <a:lnTo>
                  <a:pt x="403352" y="169164"/>
                </a:lnTo>
                <a:lnTo>
                  <a:pt x="403352" y="176784"/>
                </a:lnTo>
                <a:lnTo>
                  <a:pt x="429260" y="176784"/>
                </a:lnTo>
                <a:lnTo>
                  <a:pt x="444500" y="176784"/>
                </a:lnTo>
                <a:lnTo>
                  <a:pt x="444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563620" y="2581656"/>
            <a:ext cx="25400" cy="7620"/>
          </a:xfrm>
          <a:custGeom>
            <a:avLst/>
            <a:gdLst/>
            <a:ahLst/>
            <a:cxnLst/>
            <a:rect l="l" t="t" r="r" b="b"/>
            <a:pathLst>
              <a:path w="25400" h="7619">
                <a:moveTo>
                  <a:pt x="0" y="0"/>
                </a:moveTo>
                <a:lnTo>
                  <a:pt x="0" y="7620"/>
                </a:lnTo>
                <a:lnTo>
                  <a:pt x="25400" y="7620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563111" y="2750820"/>
            <a:ext cx="26034" cy="7620"/>
          </a:xfrm>
          <a:custGeom>
            <a:avLst/>
            <a:gdLst/>
            <a:ahLst/>
            <a:cxnLst/>
            <a:rect l="l" t="t" r="r" b="b"/>
            <a:pathLst>
              <a:path w="26035" h="7619">
                <a:moveTo>
                  <a:pt x="25908" y="7620"/>
                </a:moveTo>
                <a:lnTo>
                  <a:pt x="25908" y="0"/>
                </a:lnTo>
                <a:lnTo>
                  <a:pt x="0" y="0"/>
                </a:lnTo>
                <a:lnTo>
                  <a:pt x="0" y="7620"/>
                </a:lnTo>
                <a:lnTo>
                  <a:pt x="25908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563620" y="2521711"/>
            <a:ext cx="41402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35"/>
              </a:spcBef>
            </a:pPr>
            <a:r>
              <a:rPr sz="1450" spc="15" dirty="0">
                <a:latin typeface="Cambria"/>
                <a:cs typeface="Cambria"/>
              </a:rPr>
              <a:t>0.10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1627" y="3117594"/>
            <a:ext cx="269684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50" spc="20" dirty="0">
                <a:latin typeface="Cambria"/>
                <a:cs typeface="Cambria"/>
              </a:rPr>
              <a:t>o</a:t>
            </a:r>
            <a:r>
              <a:rPr sz="1650" spc="30" baseline="-15151" dirty="0">
                <a:latin typeface="Cambria"/>
                <a:cs typeface="Cambria"/>
              </a:rPr>
              <a:t>0</a:t>
            </a:r>
            <a:r>
              <a:rPr sz="1450" spc="20" dirty="0">
                <a:latin typeface="Calibri"/>
                <a:cs typeface="Calibri"/>
              </a:rPr>
              <a:t>=</a:t>
            </a:r>
            <a:r>
              <a:rPr sz="1450" spc="5" dirty="0">
                <a:latin typeface="Calibri"/>
                <a:cs typeface="Calibri"/>
              </a:rPr>
              <a:t> </a:t>
            </a:r>
            <a:r>
              <a:rPr sz="1450" spc="40" dirty="0">
                <a:latin typeface="Cambria"/>
                <a:cs typeface="Cambria"/>
              </a:rPr>
              <a:t>σ</a:t>
            </a:r>
            <a:r>
              <a:rPr sz="1450" spc="45" dirty="0">
                <a:latin typeface="Cambria"/>
                <a:cs typeface="Cambria"/>
              </a:rPr>
              <a:t> </a:t>
            </a:r>
            <a:r>
              <a:rPr sz="1450" spc="-10" dirty="0">
                <a:latin typeface="Cambria"/>
                <a:cs typeface="Cambria"/>
              </a:rPr>
              <a:t>(W</a:t>
            </a:r>
            <a:r>
              <a:rPr sz="1650" spc="-15" baseline="-15151" dirty="0">
                <a:latin typeface="Cambria"/>
                <a:cs typeface="Cambria"/>
              </a:rPr>
              <a:t>xo</a:t>
            </a:r>
            <a:r>
              <a:rPr sz="1650" spc="247" baseline="-15151" dirty="0">
                <a:latin typeface="Cambria"/>
                <a:cs typeface="Cambria"/>
              </a:rPr>
              <a:t> </a:t>
            </a:r>
            <a:r>
              <a:rPr sz="1450" spc="5" dirty="0">
                <a:latin typeface="Cambria"/>
                <a:cs typeface="Cambria"/>
              </a:rPr>
              <a:t>.</a:t>
            </a:r>
            <a:r>
              <a:rPr sz="1450" spc="-75" dirty="0">
                <a:latin typeface="Cambria"/>
                <a:cs typeface="Cambria"/>
              </a:rPr>
              <a:t> </a:t>
            </a:r>
            <a:r>
              <a:rPr sz="1450" spc="45" dirty="0">
                <a:latin typeface="Cambria"/>
                <a:cs typeface="Cambria"/>
              </a:rPr>
              <a:t>x</a:t>
            </a:r>
            <a:r>
              <a:rPr sz="1650" spc="67" baseline="-15151" dirty="0">
                <a:latin typeface="Cambria"/>
                <a:cs typeface="Cambria"/>
              </a:rPr>
              <a:t>0</a:t>
            </a:r>
            <a:r>
              <a:rPr sz="1650" spc="209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+</a:t>
            </a:r>
            <a:r>
              <a:rPr sz="1450" dirty="0">
                <a:latin typeface="Cambria"/>
                <a:cs typeface="Cambria"/>
              </a:rPr>
              <a:t> </a:t>
            </a:r>
            <a:r>
              <a:rPr sz="1450" spc="5" dirty="0">
                <a:latin typeface="Cambria"/>
                <a:cs typeface="Cambria"/>
              </a:rPr>
              <a:t>W</a:t>
            </a:r>
            <a:r>
              <a:rPr sz="1650" spc="7" baseline="-15151" dirty="0">
                <a:latin typeface="Cambria"/>
                <a:cs typeface="Cambria"/>
              </a:rPr>
              <a:t>ho</a:t>
            </a:r>
            <a:r>
              <a:rPr sz="1650" spc="232" baseline="-15151" dirty="0">
                <a:latin typeface="Cambria"/>
                <a:cs typeface="Cambria"/>
              </a:rPr>
              <a:t> </a:t>
            </a:r>
            <a:r>
              <a:rPr sz="1450" spc="5" dirty="0">
                <a:latin typeface="Cambria"/>
                <a:cs typeface="Cambria"/>
              </a:rPr>
              <a:t>.</a:t>
            </a:r>
            <a:r>
              <a:rPr sz="1450" spc="-75" dirty="0">
                <a:latin typeface="Cambria"/>
                <a:cs typeface="Cambria"/>
              </a:rPr>
              <a:t> </a:t>
            </a:r>
            <a:r>
              <a:rPr sz="1450" spc="90" dirty="0">
                <a:latin typeface="Cambria"/>
                <a:cs typeface="Cambria"/>
              </a:rPr>
              <a:t>ℎ</a:t>
            </a:r>
            <a:r>
              <a:rPr sz="1650" spc="135" baseline="-15151" dirty="0">
                <a:latin typeface="Cambria"/>
                <a:cs typeface="Cambria"/>
              </a:rPr>
              <a:t>–1</a:t>
            </a:r>
            <a:r>
              <a:rPr sz="1650" spc="195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+</a:t>
            </a:r>
            <a:r>
              <a:rPr sz="1450" spc="5" dirty="0">
                <a:latin typeface="Cambria"/>
                <a:cs typeface="Cambria"/>
              </a:rPr>
              <a:t> </a:t>
            </a:r>
            <a:r>
              <a:rPr sz="1450" spc="55" dirty="0">
                <a:latin typeface="Cambria"/>
                <a:cs typeface="Cambria"/>
              </a:rPr>
              <a:t>b</a:t>
            </a:r>
            <a:r>
              <a:rPr sz="1650" spc="82" baseline="-15151" dirty="0">
                <a:latin typeface="Cambria"/>
                <a:cs typeface="Cambria"/>
              </a:rPr>
              <a:t>o</a:t>
            </a:r>
            <a:r>
              <a:rPr sz="1450" spc="55" dirty="0">
                <a:latin typeface="Cambria"/>
                <a:cs typeface="Cambria"/>
              </a:rPr>
              <a:t>)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659636" y="3587508"/>
            <a:ext cx="41275" cy="177165"/>
          </a:xfrm>
          <a:custGeom>
            <a:avLst/>
            <a:gdLst/>
            <a:ahLst/>
            <a:cxnLst/>
            <a:rect l="l" t="t" r="r" b="b"/>
            <a:pathLst>
              <a:path w="41275" h="177164">
                <a:moveTo>
                  <a:pt x="40894" y="0"/>
                </a:moveTo>
                <a:lnTo>
                  <a:pt x="25654" y="0"/>
                </a:lnTo>
                <a:lnTo>
                  <a:pt x="254" y="0"/>
                </a:lnTo>
                <a:lnTo>
                  <a:pt x="254" y="7620"/>
                </a:lnTo>
                <a:lnTo>
                  <a:pt x="25654" y="7620"/>
                </a:lnTo>
                <a:lnTo>
                  <a:pt x="25654" y="169164"/>
                </a:lnTo>
                <a:lnTo>
                  <a:pt x="0" y="169164"/>
                </a:lnTo>
                <a:lnTo>
                  <a:pt x="0" y="176784"/>
                </a:lnTo>
                <a:lnTo>
                  <a:pt x="25654" y="176784"/>
                </a:lnTo>
                <a:lnTo>
                  <a:pt x="25908" y="176784"/>
                </a:lnTo>
                <a:lnTo>
                  <a:pt x="40894" y="176784"/>
                </a:lnTo>
                <a:lnTo>
                  <a:pt x="408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13740" y="3587508"/>
            <a:ext cx="40640" cy="177165"/>
          </a:xfrm>
          <a:custGeom>
            <a:avLst/>
            <a:gdLst/>
            <a:ahLst/>
            <a:cxnLst/>
            <a:rect l="l" t="t" r="r" b="b"/>
            <a:pathLst>
              <a:path w="40640" h="177164">
                <a:moveTo>
                  <a:pt x="4064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6784"/>
                </a:lnTo>
                <a:lnTo>
                  <a:pt x="14719" y="176784"/>
                </a:lnTo>
                <a:lnTo>
                  <a:pt x="15240" y="176784"/>
                </a:lnTo>
                <a:lnTo>
                  <a:pt x="40627" y="176784"/>
                </a:lnTo>
                <a:lnTo>
                  <a:pt x="40627" y="169164"/>
                </a:lnTo>
                <a:lnTo>
                  <a:pt x="15240" y="169164"/>
                </a:lnTo>
                <a:lnTo>
                  <a:pt x="15240" y="7620"/>
                </a:lnTo>
                <a:lnTo>
                  <a:pt x="40640" y="7620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72056" y="3521976"/>
            <a:ext cx="45085" cy="309880"/>
          </a:xfrm>
          <a:custGeom>
            <a:avLst/>
            <a:gdLst/>
            <a:ahLst/>
            <a:cxnLst/>
            <a:rect l="l" t="t" r="r" b="b"/>
            <a:pathLst>
              <a:path w="45085" h="309879">
                <a:moveTo>
                  <a:pt x="44704" y="0"/>
                </a:moveTo>
                <a:lnTo>
                  <a:pt x="26924" y="0"/>
                </a:lnTo>
                <a:lnTo>
                  <a:pt x="254" y="0"/>
                </a:lnTo>
                <a:lnTo>
                  <a:pt x="254" y="7620"/>
                </a:lnTo>
                <a:lnTo>
                  <a:pt x="26924" y="7620"/>
                </a:lnTo>
                <a:lnTo>
                  <a:pt x="26924" y="301752"/>
                </a:lnTo>
                <a:lnTo>
                  <a:pt x="0" y="301752"/>
                </a:lnTo>
                <a:lnTo>
                  <a:pt x="0" y="309372"/>
                </a:lnTo>
                <a:lnTo>
                  <a:pt x="26924" y="309372"/>
                </a:lnTo>
                <a:lnTo>
                  <a:pt x="27432" y="309372"/>
                </a:lnTo>
                <a:lnTo>
                  <a:pt x="44704" y="309372"/>
                </a:lnTo>
                <a:lnTo>
                  <a:pt x="44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814830" y="3521976"/>
            <a:ext cx="44450" cy="309880"/>
          </a:xfrm>
          <a:custGeom>
            <a:avLst/>
            <a:gdLst/>
            <a:ahLst/>
            <a:cxnLst/>
            <a:rect l="l" t="t" r="r" b="b"/>
            <a:pathLst>
              <a:path w="44450" h="309879">
                <a:moveTo>
                  <a:pt x="44450" y="301752"/>
                </a:moveTo>
                <a:lnTo>
                  <a:pt x="17018" y="301752"/>
                </a:lnTo>
                <a:lnTo>
                  <a:pt x="17018" y="309372"/>
                </a:lnTo>
                <a:lnTo>
                  <a:pt x="44450" y="309372"/>
                </a:lnTo>
                <a:lnTo>
                  <a:pt x="44450" y="301752"/>
                </a:lnTo>
                <a:close/>
              </a:path>
              <a:path w="44450" h="309879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09372"/>
                </a:lnTo>
                <a:lnTo>
                  <a:pt x="16510" y="309372"/>
                </a:lnTo>
                <a:lnTo>
                  <a:pt x="16510" y="7620"/>
                </a:lnTo>
                <a:lnTo>
                  <a:pt x="44450" y="7620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849627" y="3647946"/>
            <a:ext cx="13017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20" dirty="0">
                <a:latin typeface="Cambria"/>
                <a:cs typeface="Cambria"/>
              </a:rPr>
              <a:t>2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684780" y="3587508"/>
            <a:ext cx="41910" cy="177165"/>
          </a:xfrm>
          <a:custGeom>
            <a:avLst/>
            <a:gdLst/>
            <a:ahLst/>
            <a:cxnLst/>
            <a:rect l="l" t="t" r="r" b="b"/>
            <a:pathLst>
              <a:path w="41910" h="177164">
                <a:moveTo>
                  <a:pt x="26416" y="169164"/>
                </a:moveTo>
                <a:lnTo>
                  <a:pt x="508" y="169164"/>
                </a:lnTo>
                <a:lnTo>
                  <a:pt x="508" y="176784"/>
                </a:lnTo>
                <a:lnTo>
                  <a:pt x="26416" y="176784"/>
                </a:lnTo>
                <a:lnTo>
                  <a:pt x="26416" y="169164"/>
                </a:lnTo>
                <a:close/>
              </a:path>
              <a:path w="41910" h="177164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7620"/>
                </a:lnTo>
                <a:lnTo>
                  <a:pt x="26670" y="7620"/>
                </a:lnTo>
                <a:lnTo>
                  <a:pt x="26670" y="176784"/>
                </a:lnTo>
                <a:lnTo>
                  <a:pt x="41910" y="176784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283460" y="3587508"/>
            <a:ext cx="40640" cy="177165"/>
          </a:xfrm>
          <a:custGeom>
            <a:avLst/>
            <a:gdLst/>
            <a:ahLst/>
            <a:cxnLst/>
            <a:rect l="l" t="t" r="r" b="b"/>
            <a:pathLst>
              <a:path w="40639" h="177164">
                <a:moveTo>
                  <a:pt x="4064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6784"/>
                </a:lnTo>
                <a:lnTo>
                  <a:pt x="14732" y="176784"/>
                </a:lnTo>
                <a:lnTo>
                  <a:pt x="15240" y="176784"/>
                </a:lnTo>
                <a:lnTo>
                  <a:pt x="40640" y="176784"/>
                </a:lnTo>
                <a:lnTo>
                  <a:pt x="40640" y="169164"/>
                </a:lnTo>
                <a:lnTo>
                  <a:pt x="15240" y="169164"/>
                </a:lnTo>
                <a:lnTo>
                  <a:pt x="15240" y="7620"/>
                </a:lnTo>
                <a:lnTo>
                  <a:pt x="40640" y="7620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140710" y="3587508"/>
            <a:ext cx="41910" cy="177165"/>
          </a:xfrm>
          <a:custGeom>
            <a:avLst/>
            <a:gdLst/>
            <a:ahLst/>
            <a:cxnLst/>
            <a:rect l="l" t="t" r="r" b="b"/>
            <a:pathLst>
              <a:path w="41910" h="177164">
                <a:moveTo>
                  <a:pt x="26162" y="169164"/>
                </a:moveTo>
                <a:lnTo>
                  <a:pt x="254" y="169164"/>
                </a:lnTo>
                <a:lnTo>
                  <a:pt x="254" y="176784"/>
                </a:lnTo>
                <a:lnTo>
                  <a:pt x="26162" y="176784"/>
                </a:lnTo>
                <a:lnTo>
                  <a:pt x="26162" y="169164"/>
                </a:lnTo>
                <a:close/>
              </a:path>
              <a:path w="41910" h="177164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7620"/>
                </a:lnTo>
                <a:lnTo>
                  <a:pt x="26670" y="7620"/>
                </a:lnTo>
                <a:lnTo>
                  <a:pt x="26670" y="176784"/>
                </a:lnTo>
                <a:lnTo>
                  <a:pt x="41910" y="176784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987040" y="3587508"/>
            <a:ext cx="41275" cy="177165"/>
          </a:xfrm>
          <a:custGeom>
            <a:avLst/>
            <a:gdLst/>
            <a:ahLst/>
            <a:cxnLst/>
            <a:rect l="l" t="t" r="r" b="b"/>
            <a:pathLst>
              <a:path w="41275" h="177164">
                <a:moveTo>
                  <a:pt x="41148" y="169164"/>
                </a:moveTo>
                <a:lnTo>
                  <a:pt x="15240" y="169164"/>
                </a:lnTo>
                <a:lnTo>
                  <a:pt x="15240" y="7620"/>
                </a:lnTo>
                <a:lnTo>
                  <a:pt x="40640" y="7620"/>
                </a:lnTo>
                <a:lnTo>
                  <a:pt x="40640" y="0"/>
                </a:lnTo>
                <a:lnTo>
                  <a:pt x="15240" y="0"/>
                </a:lnTo>
                <a:lnTo>
                  <a:pt x="0" y="0"/>
                </a:lnTo>
                <a:lnTo>
                  <a:pt x="0" y="176784"/>
                </a:lnTo>
                <a:lnTo>
                  <a:pt x="15240" y="176784"/>
                </a:lnTo>
                <a:lnTo>
                  <a:pt x="41148" y="176784"/>
                </a:lnTo>
                <a:lnTo>
                  <a:pt x="41148" y="169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9303" y="3536694"/>
            <a:ext cx="402272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5"/>
              </a:spcBef>
              <a:tabLst>
                <a:tab pos="1280160" algn="l"/>
                <a:tab pos="1842770" algn="l"/>
              </a:tabLst>
            </a:pPr>
            <a:r>
              <a:rPr sz="2175" spc="-7" baseline="1915" dirty="0">
                <a:latin typeface="Cambria"/>
                <a:cs typeface="Cambria"/>
              </a:rPr>
              <a:t>o</a:t>
            </a:r>
            <a:r>
              <a:rPr sz="1650" spc="-7" baseline="-12626" dirty="0">
                <a:latin typeface="Cambria"/>
                <a:cs typeface="Cambria"/>
              </a:rPr>
              <a:t>0</a:t>
            </a:r>
            <a:r>
              <a:rPr sz="1650" spc="345" baseline="-12626" dirty="0">
                <a:latin typeface="Cambria"/>
                <a:cs typeface="Cambria"/>
              </a:rPr>
              <a:t> </a:t>
            </a:r>
            <a:r>
              <a:rPr sz="2175" spc="457" baseline="1915" dirty="0">
                <a:latin typeface="Cambria"/>
                <a:cs typeface="Cambria"/>
              </a:rPr>
              <a:t>=</a:t>
            </a:r>
            <a:r>
              <a:rPr sz="2175" spc="142" baseline="1915" dirty="0">
                <a:latin typeface="Cambria"/>
                <a:cs typeface="Cambria"/>
              </a:rPr>
              <a:t> </a:t>
            </a:r>
            <a:r>
              <a:rPr sz="2175" spc="97" baseline="1915" dirty="0">
                <a:latin typeface="Cambria"/>
                <a:cs typeface="Cambria"/>
              </a:rPr>
              <a:t>σ(</a:t>
            </a:r>
            <a:r>
              <a:rPr sz="2175" spc="300" baseline="1915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0.60	0.40	</a:t>
            </a:r>
            <a:r>
              <a:rPr sz="2175" spc="30" baseline="32567" dirty="0">
                <a:latin typeface="Cambria"/>
                <a:cs typeface="Cambria"/>
              </a:rPr>
              <a:t>1</a:t>
            </a:r>
            <a:r>
              <a:rPr sz="2175" spc="307" baseline="32567" dirty="0">
                <a:latin typeface="Cambria"/>
                <a:cs typeface="Cambria"/>
              </a:rPr>
              <a:t> </a:t>
            </a:r>
            <a:r>
              <a:rPr sz="2175" spc="457" baseline="1915" dirty="0">
                <a:latin typeface="Cambria"/>
                <a:cs typeface="Cambria"/>
              </a:rPr>
              <a:t>+</a:t>
            </a:r>
            <a:r>
              <a:rPr sz="2175" spc="787" baseline="1915" dirty="0">
                <a:latin typeface="Cambria"/>
                <a:cs typeface="Cambria"/>
              </a:rPr>
              <a:t> </a:t>
            </a:r>
            <a:r>
              <a:rPr sz="2175" spc="22" baseline="1915" dirty="0">
                <a:latin typeface="Cambria"/>
                <a:cs typeface="Cambria"/>
              </a:rPr>
              <a:t>0.25 </a:t>
            </a:r>
            <a:r>
              <a:rPr sz="2175" spc="284" baseline="1915" dirty="0">
                <a:latin typeface="Cambria"/>
                <a:cs typeface="Cambria"/>
              </a:rPr>
              <a:t> </a:t>
            </a:r>
            <a:r>
              <a:rPr sz="2175" spc="390" baseline="1915" dirty="0">
                <a:latin typeface="Cambria"/>
                <a:cs typeface="Cambria"/>
              </a:rPr>
              <a:t>×</a:t>
            </a:r>
            <a:r>
              <a:rPr sz="2175" spc="765" baseline="1915" dirty="0">
                <a:latin typeface="Cambria"/>
                <a:cs typeface="Cambria"/>
              </a:rPr>
              <a:t> </a:t>
            </a:r>
            <a:r>
              <a:rPr sz="2175" spc="30" baseline="1915" dirty="0">
                <a:latin typeface="Cambria"/>
                <a:cs typeface="Cambria"/>
              </a:rPr>
              <a:t>0 </a:t>
            </a:r>
            <a:r>
              <a:rPr sz="2175" spc="277" baseline="1915" dirty="0">
                <a:latin typeface="Cambria"/>
                <a:cs typeface="Cambria"/>
              </a:rPr>
              <a:t> </a:t>
            </a:r>
            <a:r>
              <a:rPr sz="2175" spc="457" baseline="1915" dirty="0">
                <a:latin typeface="Cambria"/>
                <a:cs typeface="Cambria"/>
              </a:rPr>
              <a:t>+</a:t>
            </a:r>
            <a:r>
              <a:rPr sz="2175" baseline="1915" dirty="0">
                <a:latin typeface="Cambria"/>
                <a:cs typeface="Cambria"/>
              </a:rPr>
              <a:t> </a:t>
            </a:r>
            <a:r>
              <a:rPr sz="2175" spc="22" baseline="1915" dirty="0">
                <a:latin typeface="Cambria"/>
                <a:cs typeface="Cambria"/>
              </a:rPr>
              <a:t>[0.10])</a:t>
            </a:r>
            <a:endParaRPr sz="2175" baseline="1915">
              <a:latin typeface="Cambria"/>
              <a:cs typeface="Cambria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86862" y="3976115"/>
            <a:ext cx="1150620" cy="228600"/>
          </a:xfrm>
          <a:custGeom>
            <a:avLst/>
            <a:gdLst/>
            <a:ahLst/>
            <a:cxnLst/>
            <a:rect l="l" t="t" r="r" b="b"/>
            <a:pathLst>
              <a:path w="1150620" h="228600">
                <a:moveTo>
                  <a:pt x="1150619" y="228599"/>
                </a:moveTo>
                <a:lnTo>
                  <a:pt x="1150619" y="0"/>
                </a:lnTo>
                <a:lnTo>
                  <a:pt x="0" y="0"/>
                </a:lnTo>
                <a:lnTo>
                  <a:pt x="0" y="228599"/>
                </a:lnTo>
                <a:lnTo>
                  <a:pt x="1150619" y="228599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73145" y="3951222"/>
            <a:ext cx="117475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50" spc="-5" dirty="0">
                <a:latin typeface="Cambria"/>
                <a:cs typeface="Cambria"/>
              </a:rPr>
              <a:t>o</a:t>
            </a:r>
            <a:r>
              <a:rPr sz="1650" spc="-7" baseline="-15151" dirty="0">
                <a:latin typeface="Cambria"/>
                <a:cs typeface="Cambria"/>
              </a:rPr>
              <a:t>0</a:t>
            </a:r>
            <a:r>
              <a:rPr sz="1650" spc="307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r>
              <a:rPr sz="1450" spc="70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0.81757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47</a:t>
            </a:fld>
            <a:endParaRPr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57649"/>
            <a:ext cx="4528185" cy="416559"/>
            <a:chOff x="0" y="1057649"/>
            <a:chExt cx="4528185" cy="416559"/>
          </a:xfrm>
        </p:grpSpPr>
        <p:sp>
          <p:nvSpPr>
            <p:cNvPr id="3" name="object 3"/>
            <p:cNvSpPr/>
            <p:nvPr/>
          </p:nvSpPr>
          <p:spPr>
            <a:xfrm>
              <a:off x="0" y="1057649"/>
              <a:ext cx="4520565" cy="408940"/>
            </a:xfrm>
            <a:custGeom>
              <a:avLst/>
              <a:gdLst/>
              <a:ahLst/>
              <a:cxnLst/>
              <a:rect l="l" t="t" r="r" b="b"/>
              <a:pathLst>
                <a:path w="4520565" h="408940">
                  <a:moveTo>
                    <a:pt x="4520183" y="408431"/>
                  </a:moveTo>
                  <a:lnTo>
                    <a:pt x="4520183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4520183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57649"/>
              <a:ext cx="4528185" cy="416559"/>
            </a:xfrm>
            <a:custGeom>
              <a:avLst/>
              <a:gdLst/>
              <a:ahLst/>
              <a:cxnLst/>
              <a:rect l="l" t="t" r="r" b="b"/>
              <a:pathLst>
                <a:path w="4528185" h="416559">
                  <a:moveTo>
                    <a:pt x="4520184" y="9144"/>
                  </a:moveTo>
                  <a:lnTo>
                    <a:pt x="4512564" y="0"/>
                  </a:lnTo>
                  <a:lnTo>
                    <a:pt x="0" y="0"/>
                  </a:lnTo>
                  <a:lnTo>
                    <a:pt x="0" y="9144"/>
                  </a:lnTo>
                  <a:lnTo>
                    <a:pt x="9138" y="0"/>
                  </a:lnTo>
                  <a:lnTo>
                    <a:pt x="9138" y="9144"/>
                  </a:lnTo>
                  <a:lnTo>
                    <a:pt x="4520184" y="9144"/>
                  </a:lnTo>
                  <a:close/>
                </a:path>
                <a:path w="4528185" h="416559">
                  <a:moveTo>
                    <a:pt x="9138" y="9144"/>
                  </a:moveTo>
                  <a:lnTo>
                    <a:pt x="9138" y="0"/>
                  </a:lnTo>
                  <a:lnTo>
                    <a:pt x="0" y="9144"/>
                  </a:lnTo>
                  <a:lnTo>
                    <a:pt x="9138" y="9144"/>
                  </a:lnTo>
                  <a:close/>
                </a:path>
                <a:path w="4528185" h="416559">
                  <a:moveTo>
                    <a:pt x="9138" y="400812"/>
                  </a:moveTo>
                  <a:lnTo>
                    <a:pt x="9138" y="9144"/>
                  </a:lnTo>
                  <a:lnTo>
                    <a:pt x="0" y="9144"/>
                  </a:lnTo>
                  <a:lnTo>
                    <a:pt x="0" y="400812"/>
                  </a:lnTo>
                  <a:lnTo>
                    <a:pt x="9138" y="400812"/>
                  </a:lnTo>
                  <a:close/>
                </a:path>
                <a:path w="4528185" h="416559">
                  <a:moveTo>
                    <a:pt x="4520184" y="400812"/>
                  </a:moveTo>
                  <a:lnTo>
                    <a:pt x="0" y="400812"/>
                  </a:lnTo>
                  <a:lnTo>
                    <a:pt x="9138" y="408432"/>
                  </a:lnTo>
                  <a:lnTo>
                    <a:pt x="9138" y="416052"/>
                  </a:lnTo>
                  <a:lnTo>
                    <a:pt x="4512564" y="416052"/>
                  </a:lnTo>
                  <a:lnTo>
                    <a:pt x="4512564" y="408432"/>
                  </a:lnTo>
                  <a:lnTo>
                    <a:pt x="4520184" y="400812"/>
                  </a:lnTo>
                  <a:close/>
                </a:path>
                <a:path w="4528185" h="416559">
                  <a:moveTo>
                    <a:pt x="9138" y="416052"/>
                  </a:moveTo>
                  <a:lnTo>
                    <a:pt x="9138" y="408432"/>
                  </a:lnTo>
                  <a:lnTo>
                    <a:pt x="0" y="400812"/>
                  </a:lnTo>
                  <a:lnTo>
                    <a:pt x="0" y="416052"/>
                  </a:lnTo>
                  <a:lnTo>
                    <a:pt x="9138" y="416052"/>
                  </a:lnTo>
                  <a:close/>
                </a:path>
                <a:path w="4528185" h="416559">
                  <a:moveTo>
                    <a:pt x="4527804" y="413004"/>
                  </a:moveTo>
                  <a:lnTo>
                    <a:pt x="4527804" y="0"/>
                  </a:lnTo>
                  <a:lnTo>
                    <a:pt x="4512564" y="0"/>
                  </a:lnTo>
                  <a:lnTo>
                    <a:pt x="4520184" y="9144"/>
                  </a:lnTo>
                  <a:lnTo>
                    <a:pt x="4520184" y="416052"/>
                  </a:lnTo>
                  <a:lnTo>
                    <a:pt x="4524756" y="416052"/>
                  </a:lnTo>
                  <a:lnTo>
                    <a:pt x="4527804" y="413004"/>
                  </a:lnTo>
                  <a:close/>
                </a:path>
                <a:path w="4528185" h="416559">
                  <a:moveTo>
                    <a:pt x="4520184" y="400812"/>
                  </a:moveTo>
                  <a:lnTo>
                    <a:pt x="4520184" y="9144"/>
                  </a:lnTo>
                  <a:lnTo>
                    <a:pt x="4512564" y="9144"/>
                  </a:lnTo>
                  <a:lnTo>
                    <a:pt x="4512564" y="400812"/>
                  </a:lnTo>
                  <a:lnTo>
                    <a:pt x="4520184" y="400812"/>
                  </a:lnTo>
                  <a:close/>
                </a:path>
                <a:path w="4528185" h="416559">
                  <a:moveTo>
                    <a:pt x="4520184" y="416052"/>
                  </a:moveTo>
                  <a:lnTo>
                    <a:pt x="4520184" y="400812"/>
                  </a:lnTo>
                  <a:lnTo>
                    <a:pt x="4512564" y="408432"/>
                  </a:lnTo>
                  <a:lnTo>
                    <a:pt x="4512564" y="416052"/>
                  </a:lnTo>
                  <a:lnTo>
                    <a:pt x="4520184" y="416052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3493" y="1051051"/>
            <a:ext cx="4210685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b="1" spc="-90" dirty="0">
                <a:latin typeface="Calibri"/>
                <a:cs typeface="Calibri"/>
              </a:rPr>
              <a:t>Worked</a:t>
            </a:r>
            <a:r>
              <a:rPr sz="2150" b="1" spc="-70" dirty="0">
                <a:latin typeface="Calibri"/>
                <a:cs typeface="Calibri"/>
              </a:rPr>
              <a:t> Example</a:t>
            </a:r>
            <a:r>
              <a:rPr sz="2150" b="1" spc="-75" dirty="0">
                <a:latin typeface="Calibri"/>
                <a:cs typeface="Calibri"/>
              </a:rPr>
              <a:t> </a:t>
            </a:r>
            <a:r>
              <a:rPr sz="2150" b="1" spc="-5" dirty="0">
                <a:latin typeface="Calibri"/>
                <a:cs typeface="Calibri"/>
              </a:rPr>
              <a:t>–</a:t>
            </a:r>
            <a:r>
              <a:rPr sz="2150" b="1" spc="-30" dirty="0">
                <a:latin typeface="Calibri"/>
                <a:cs typeface="Calibri"/>
              </a:rPr>
              <a:t> </a:t>
            </a:r>
            <a:r>
              <a:rPr sz="2150" b="1" spc="-70" dirty="0">
                <a:latin typeface="Calibri"/>
                <a:cs typeface="Calibri"/>
              </a:rPr>
              <a:t>Forward </a:t>
            </a:r>
            <a:r>
              <a:rPr sz="2150" b="1" spc="-60" dirty="0">
                <a:latin typeface="Calibri"/>
                <a:cs typeface="Calibri"/>
              </a:rPr>
              <a:t>Pass</a:t>
            </a:r>
            <a:r>
              <a:rPr sz="2150" b="1" spc="-70" dirty="0">
                <a:latin typeface="Calibri"/>
                <a:cs typeface="Calibri"/>
              </a:rPr>
              <a:t> </a:t>
            </a:r>
            <a:r>
              <a:rPr sz="2150" b="1" spc="-20" dirty="0">
                <a:latin typeface="Calibri"/>
                <a:cs typeface="Calibri"/>
              </a:rPr>
              <a:t>@</a:t>
            </a:r>
            <a:r>
              <a:rPr sz="2150" b="1" spc="-45" dirty="0">
                <a:latin typeface="Calibri"/>
                <a:cs typeface="Calibri"/>
              </a:rPr>
              <a:t> </a:t>
            </a:r>
            <a:r>
              <a:rPr sz="2150" b="1" spc="-20" dirty="0">
                <a:latin typeface="Calibri"/>
                <a:cs typeface="Calibri"/>
              </a:rPr>
              <a:t>t=0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0870" y="1697735"/>
            <a:ext cx="768350" cy="379730"/>
          </a:xfrm>
          <a:custGeom>
            <a:avLst/>
            <a:gdLst/>
            <a:ahLst/>
            <a:cxnLst/>
            <a:rect l="l" t="t" r="r" b="b"/>
            <a:pathLst>
              <a:path w="768350" h="379730">
                <a:moveTo>
                  <a:pt x="768095" y="379475"/>
                </a:moveTo>
                <a:lnTo>
                  <a:pt x="768095" y="0"/>
                </a:lnTo>
                <a:lnTo>
                  <a:pt x="0" y="0"/>
                </a:lnTo>
                <a:lnTo>
                  <a:pt x="0" y="379475"/>
                </a:lnTo>
                <a:lnTo>
                  <a:pt x="768095" y="379475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50870" y="1697735"/>
            <a:ext cx="521334" cy="35433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6985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550"/>
              </a:spcBef>
            </a:pPr>
            <a:r>
              <a:rPr sz="1450" spc="45" dirty="0">
                <a:latin typeface="Cambria"/>
                <a:cs typeface="Cambria"/>
              </a:rPr>
              <a:t>x</a:t>
            </a:r>
            <a:r>
              <a:rPr sz="1650" spc="67" baseline="-15151" dirty="0">
                <a:latin typeface="Cambria"/>
                <a:cs typeface="Cambria"/>
              </a:rPr>
              <a:t>0</a:t>
            </a:r>
            <a:r>
              <a:rPr sz="1650" spc="270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71830" y="1746516"/>
            <a:ext cx="201930" cy="309880"/>
          </a:xfrm>
          <a:custGeom>
            <a:avLst/>
            <a:gdLst/>
            <a:ahLst/>
            <a:cxnLst/>
            <a:rect l="l" t="t" r="r" b="b"/>
            <a:pathLst>
              <a:path w="201930" h="309880">
                <a:moveTo>
                  <a:pt x="44437" y="301752"/>
                </a:moveTo>
                <a:lnTo>
                  <a:pt x="17005" y="301752"/>
                </a:lnTo>
                <a:lnTo>
                  <a:pt x="17005" y="309372"/>
                </a:lnTo>
                <a:lnTo>
                  <a:pt x="44437" y="309372"/>
                </a:lnTo>
                <a:lnTo>
                  <a:pt x="44437" y="301752"/>
                </a:lnTo>
                <a:close/>
              </a:path>
              <a:path w="201930" h="309880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09372"/>
                </a:lnTo>
                <a:lnTo>
                  <a:pt x="16510" y="309372"/>
                </a:lnTo>
                <a:lnTo>
                  <a:pt x="16510" y="7620"/>
                </a:lnTo>
                <a:lnTo>
                  <a:pt x="44450" y="7620"/>
                </a:lnTo>
                <a:lnTo>
                  <a:pt x="44450" y="0"/>
                </a:lnTo>
                <a:close/>
              </a:path>
              <a:path w="201930" h="309880">
                <a:moveTo>
                  <a:pt x="201930" y="0"/>
                </a:moveTo>
                <a:lnTo>
                  <a:pt x="184150" y="0"/>
                </a:lnTo>
                <a:lnTo>
                  <a:pt x="157480" y="0"/>
                </a:lnTo>
                <a:lnTo>
                  <a:pt x="157480" y="7620"/>
                </a:lnTo>
                <a:lnTo>
                  <a:pt x="184150" y="7620"/>
                </a:lnTo>
                <a:lnTo>
                  <a:pt x="184150" y="301752"/>
                </a:lnTo>
                <a:lnTo>
                  <a:pt x="157213" y="301752"/>
                </a:lnTo>
                <a:lnTo>
                  <a:pt x="157213" y="309372"/>
                </a:lnTo>
                <a:lnTo>
                  <a:pt x="184150" y="309372"/>
                </a:lnTo>
                <a:lnTo>
                  <a:pt x="184645" y="309372"/>
                </a:lnTo>
                <a:lnTo>
                  <a:pt x="201930" y="309372"/>
                </a:lnTo>
                <a:lnTo>
                  <a:pt x="2019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88340" y="1649983"/>
            <a:ext cx="167640" cy="4737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35"/>
              </a:spcBef>
            </a:pPr>
            <a:r>
              <a:rPr sz="1450" spc="20" dirty="0">
                <a:latin typeface="Cambria"/>
                <a:cs typeface="Cambria"/>
              </a:rPr>
              <a:t>1</a:t>
            </a:r>
            <a:endParaRPr sz="1450">
              <a:latin typeface="Cambria"/>
              <a:cs typeface="Cambria"/>
            </a:endParaRPr>
          </a:p>
          <a:p>
            <a:pPr marL="30480">
              <a:lnSpc>
                <a:spcPct val="100000"/>
              </a:lnSpc>
            </a:pPr>
            <a:r>
              <a:rPr sz="1450" spc="20" dirty="0">
                <a:latin typeface="Cambria"/>
                <a:cs typeface="Cambria"/>
              </a:rPr>
              <a:t>2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23989" y="1051051"/>
            <a:ext cx="135572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20" dirty="0">
                <a:solidFill>
                  <a:srgbClr val="FF0000"/>
                </a:solidFill>
                <a:latin typeface="Calibri"/>
                <a:cs typeface="Calibri"/>
              </a:rPr>
              <a:t>Update</a:t>
            </a:r>
            <a:r>
              <a:rPr sz="18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10" dirty="0">
                <a:solidFill>
                  <a:srgbClr val="FF0000"/>
                </a:solidFill>
                <a:latin typeface="Calibri"/>
                <a:cs typeface="Calibri"/>
              </a:rPr>
              <a:t>Layer: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1571" y="2204719"/>
            <a:ext cx="3216275" cy="10814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1450" spc="10" dirty="0">
                <a:solidFill>
                  <a:srgbClr val="FF0000"/>
                </a:solidFill>
                <a:latin typeface="Calibri"/>
                <a:cs typeface="Calibri"/>
              </a:rPr>
              <a:t>Update</a:t>
            </a:r>
            <a:r>
              <a:rPr sz="145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50" spc="10" dirty="0">
                <a:solidFill>
                  <a:srgbClr val="FF0000"/>
                </a:solidFill>
                <a:latin typeface="Calibri"/>
                <a:cs typeface="Calibri"/>
              </a:rPr>
              <a:t>Cell</a:t>
            </a:r>
            <a:r>
              <a:rPr sz="145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50" spc="5" dirty="0">
                <a:solidFill>
                  <a:srgbClr val="FF0000"/>
                </a:solidFill>
                <a:latin typeface="Calibri"/>
                <a:cs typeface="Calibri"/>
              </a:rPr>
              <a:t>State:</a:t>
            </a:r>
            <a:endParaRPr sz="1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50">
              <a:latin typeface="Calibri"/>
              <a:cs typeface="Calibri"/>
            </a:endParaRPr>
          </a:p>
          <a:p>
            <a:pPr marL="66040">
              <a:lnSpc>
                <a:spcPct val="100000"/>
              </a:lnSpc>
            </a:pPr>
            <a:r>
              <a:rPr sz="1450" spc="-15" dirty="0">
                <a:latin typeface="Cambria"/>
                <a:cs typeface="Cambria"/>
              </a:rPr>
              <a:t>C</a:t>
            </a:r>
            <a:r>
              <a:rPr sz="1650" spc="104" baseline="-15151" dirty="0">
                <a:latin typeface="Cambria"/>
                <a:cs typeface="Cambria"/>
              </a:rPr>
              <a:t>0</a:t>
            </a:r>
            <a:r>
              <a:rPr sz="1450" spc="15" dirty="0">
                <a:latin typeface="Calibri"/>
                <a:cs typeface="Calibri"/>
              </a:rPr>
              <a:t>=</a:t>
            </a:r>
            <a:r>
              <a:rPr sz="1450" spc="-434" dirty="0">
                <a:latin typeface="Cambria"/>
                <a:cs typeface="Cambria"/>
              </a:rPr>
              <a:t>C</a:t>
            </a:r>
            <a:r>
              <a:rPr sz="2175" baseline="11494" dirty="0">
                <a:latin typeface="Cambria"/>
                <a:cs typeface="Cambria"/>
              </a:rPr>
              <a:t>˜</a:t>
            </a:r>
            <a:r>
              <a:rPr sz="1650" spc="30" baseline="-15151" dirty="0">
                <a:latin typeface="Cambria"/>
                <a:cs typeface="Cambria"/>
              </a:rPr>
              <a:t>0</a:t>
            </a:r>
            <a:r>
              <a:rPr sz="1650" baseline="-15151" dirty="0">
                <a:latin typeface="Cambria"/>
                <a:cs typeface="Cambria"/>
              </a:rPr>
              <a:t> </a:t>
            </a:r>
            <a:r>
              <a:rPr sz="1650" spc="-150" baseline="-15151" dirty="0">
                <a:latin typeface="Cambria"/>
                <a:cs typeface="Cambria"/>
              </a:rPr>
              <a:t> </a:t>
            </a:r>
            <a:r>
              <a:rPr sz="1450" spc="-95" dirty="0">
                <a:latin typeface="Cambria"/>
                <a:cs typeface="Cambria"/>
              </a:rPr>
              <a:t>∘</a:t>
            </a:r>
            <a:r>
              <a:rPr sz="1450" dirty="0">
                <a:latin typeface="Cambria"/>
                <a:cs typeface="Cambria"/>
              </a:rPr>
              <a:t> </a:t>
            </a:r>
            <a:r>
              <a:rPr sz="1450" spc="60" dirty="0">
                <a:latin typeface="Cambria"/>
                <a:cs typeface="Cambria"/>
              </a:rPr>
              <a:t>i</a:t>
            </a:r>
            <a:r>
              <a:rPr sz="1650" spc="30" baseline="-15151" dirty="0">
                <a:latin typeface="Cambria"/>
                <a:cs typeface="Cambria"/>
              </a:rPr>
              <a:t>0</a:t>
            </a:r>
            <a:r>
              <a:rPr sz="1650" baseline="-15151" dirty="0">
                <a:latin typeface="Cambria"/>
                <a:cs typeface="Cambria"/>
              </a:rPr>
              <a:t> </a:t>
            </a:r>
            <a:r>
              <a:rPr sz="1650" spc="-127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+</a:t>
            </a:r>
            <a:r>
              <a:rPr sz="1450" spc="5" dirty="0">
                <a:latin typeface="Cambria"/>
                <a:cs typeface="Cambria"/>
              </a:rPr>
              <a:t> </a:t>
            </a:r>
            <a:r>
              <a:rPr sz="1450" spc="145" dirty="0">
                <a:latin typeface="Cambria"/>
                <a:cs typeface="Cambria"/>
              </a:rPr>
              <a:t>f</a:t>
            </a:r>
            <a:r>
              <a:rPr sz="1650" spc="30" baseline="-15151" dirty="0">
                <a:latin typeface="Cambria"/>
                <a:cs typeface="Cambria"/>
              </a:rPr>
              <a:t>0</a:t>
            </a:r>
            <a:r>
              <a:rPr sz="1650" baseline="-15151" dirty="0">
                <a:latin typeface="Cambria"/>
                <a:cs typeface="Cambria"/>
              </a:rPr>
              <a:t>  </a:t>
            </a:r>
            <a:r>
              <a:rPr sz="1650" spc="-22" baseline="-15151" dirty="0">
                <a:latin typeface="Cambria"/>
                <a:cs typeface="Cambria"/>
              </a:rPr>
              <a:t> </a:t>
            </a:r>
            <a:r>
              <a:rPr sz="1450" spc="-95" dirty="0">
                <a:latin typeface="Cambria"/>
                <a:cs typeface="Cambria"/>
              </a:rPr>
              <a:t>∘</a:t>
            </a:r>
            <a:r>
              <a:rPr sz="1450" spc="15" dirty="0">
                <a:latin typeface="Cambria"/>
                <a:cs typeface="Cambria"/>
              </a:rPr>
              <a:t> </a:t>
            </a:r>
            <a:r>
              <a:rPr sz="1450" spc="-15" dirty="0">
                <a:latin typeface="Cambria"/>
                <a:cs typeface="Cambria"/>
              </a:rPr>
              <a:t>C</a:t>
            </a:r>
            <a:r>
              <a:rPr sz="1650" spc="352" baseline="-15151" dirty="0">
                <a:latin typeface="Cambria"/>
                <a:cs typeface="Cambria"/>
              </a:rPr>
              <a:t>–</a:t>
            </a:r>
            <a:r>
              <a:rPr sz="1650" spc="30" baseline="-15151" dirty="0">
                <a:latin typeface="Cambria"/>
                <a:cs typeface="Cambria"/>
              </a:rPr>
              <a:t>1</a:t>
            </a:r>
            <a:endParaRPr sz="1650" baseline="-15151">
              <a:latin typeface="Cambria"/>
              <a:cs typeface="Cambria"/>
            </a:endParaRPr>
          </a:p>
          <a:p>
            <a:pPr marL="66040">
              <a:lnSpc>
                <a:spcPct val="100000"/>
              </a:lnSpc>
              <a:spcBef>
                <a:spcPts val="994"/>
              </a:spcBef>
            </a:pPr>
            <a:r>
              <a:rPr sz="1450" spc="25" dirty="0">
                <a:latin typeface="Cambria"/>
                <a:cs typeface="Cambria"/>
              </a:rPr>
              <a:t>C</a:t>
            </a:r>
            <a:r>
              <a:rPr sz="1650" spc="37" baseline="-15151" dirty="0">
                <a:latin typeface="Cambria"/>
                <a:cs typeface="Cambria"/>
              </a:rPr>
              <a:t>0</a:t>
            </a:r>
            <a:r>
              <a:rPr sz="1450" spc="25" dirty="0">
                <a:latin typeface="Calibri"/>
                <a:cs typeface="Calibri"/>
              </a:rPr>
              <a:t>=</a:t>
            </a:r>
            <a:r>
              <a:rPr sz="1450" spc="10" dirty="0">
                <a:latin typeface="Calibri"/>
                <a:cs typeface="Calibri"/>
              </a:rPr>
              <a:t> </a:t>
            </a:r>
            <a:r>
              <a:rPr sz="1450" spc="15" dirty="0">
                <a:latin typeface="Cambria"/>
                <a:cs typeface="Cambria"/>
              </a:rPr>
              <a:t>0.81775</a:t>
            </a:r>
            <a:r>
              <a:rPr sz="1450" spc="-5" dirty="0">
                <a:latin typeface="Cambria"/>
                <a:cs typeface="Cambria"/>
              </a:rPr>
              <a:t> </a:t>
            </a:r>
            <a:r>
              <a:rPr sz="1450" spc="260" dirty="0">
                <a:latin typeface="Cambria"/>
                <a:cs typeface="Cambria"/>
              </a:rPr>
              <a:t>×</a:t>
            </a:r>
            <a:r>
              <a:rPr sz="1450" spc="5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0.96083</a:t>
            </a:r>
            <a:r>
              <a:rPr sz="1450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+</a:t>
            </a:r>
            <a:r>
              <a:rPr sz="1450" spc="5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0.85195</a:t>
            </a:r>
            <a:r>
              <a:rPr sz="1450" spc="-5" dirty="0">
                <a:latin typeface="Cambria"/>
                <a:cs typeface="Cambria"/>
              </a:rPr>
              <a:t> </a:t>
            </a:r>
            <a:r>
              <a:rPr sz="1450" spc="260" dirty="0">
                <a:latin typeface="Cambria"/>
                <a:cs typeface="Cambria"/>
              </a:rPr>
              <a:t>×</a:t>
            </a:r>
            <a:r>
              <a:rPr sz="1450" spc="5" dirty="0">
                <a:latin typeface="Cambria"/>
                <a:cs typeface="Cambria"/>
              </a:rPr>
              <a:t> </a:t>
            </a:r>
            <a:r>
              <a:rPr sz="1450" spc="20" dirty="0">
                <a:latin typeface="Cambria"/>
                <a:cs typeface="Cambria"/>
              </a:rPr>
              <a:t>0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519928" y="1386833"/>
            <a:ext cx="3423285" cy="2162810"/>
            <a:chOff x="5519928" y="1386833"/>
            <a:chExt cx="3423285" cy="216281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88672" y="1425026"/>
              <a:ext cx="3209011" cy="210910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519928" y="1386833"/>
              <a:ext cx="3423285" cy="2162810"/>
            </a:xfrm>
            <a:custGeom>
              <a:avLst/>
              <a:gdLst/>
              <a:ahLst/>
              <a:cxnLst/>
              <a:rect l="l" t="t" r="r" b="b"/>
              <a:pathLst>
                <a:path w="3423284" h="2162810">
                  <a:moveTo>
                    <a:pt x="3422904" y="2161038"/>
                  </a:moveTo>
                  <a:lnTo>
                    <a:pt x="3422904" y="1524"/>
                  </a:lnTo>
                  <a:lnTo>
                    <a:pt x="3421380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2161038"/>
                  </a:lnTo>
                  <a:lnTo>
                    <a:pt x="1524" y="2162562"/>
                  </a:lnTo>
                  <a:lnTo>
                    <a:pt x="4572" y="2162562"/>
                  </a:lnTo>
                  <a:lnTo>
                    <a:pt x="4572" y="7620"/>
                  </a:lnTo>
                  <a:lnTo>
                    <a:pt x="7620" y="4572"/>
                  </a:lnTo>
                  <a:lnTo>
                    <a:pt x="7620" y="7620"/>
                  </a:lnTo>
                  <a:lnTo>
                    <a:pt x="3415284" y="7620"/>
                  </a:lnTo>
                  <a:lnTo>
                    <a:pt x="3415284" y="4572"/>
                  </a:lnTo>
                  <a:lnTo>
                    <a:pt x="3419856" y="7620"/>
                  </a:lnTo>
                  <a:lnTo>
                    <a:pt x="3419856" y="2162562"/>
                  </a:lnTo>
                  <a:lnTo>
                    <a:pt x="3421380" y="2162562"/>
                  </a:lnTo>
                  <a:lnTo>
                    <a:pt x="3422904" y="2161038"/>
                  </a:lnTo>
                  <a:close/>
                </a:path>
                <a:path w="3423284" h="2162810">
                  <a:moveTo>
                    <a:pt x="7620" y="7620"/>
                  </a:moveTo>
                  <a:lnTo>
                    <a:pt x="7620" y="4572"/>
                  </a:lnTo>
                  <a:lnTo>
                    <a:pt x="4572" y="7620"/>
                  </a:lnTo>
                  <a:lnTo>
                    <a:pt x="7620" y="7620"/>
                  </a:lnTo>
                  <a:close/>
                </a:path>
                <a:path w="3423284" h="2162810">
                  <a:moveTo>
                    <a:pt x="7620" y="2154942"/>
                  </a:moveTo>
                  <a:lnTo>
                    <a:pt x="7620" y="7620"/>
                  </a:lnTo>
                  <a:lnTo>
                    <a:pt x="4572" y="7620"/>
                  </a:lnTo>
                  <a:lnTo>
                    <a:pt x="4572" y="2154942"/>
                  </a:lnTo>
                  <a:lnTo>
                    <a:pt x="7620" y="2154942"/>
                  </a:lnTo>
                  <a:close/>
                </a:path>
                <a:path w="3423284" h="2162810">
                  <a:moveTo>
                    <a:pt x="3419856" y="2154942"/>
                  </a:moveTo>
                  <a:lnTo>
                    <a:pt x="4572" y="2154942"/>
                  </a:lnTo>
                  <a:lnTo>
                    <a:pt x="7620" y="2159514"/>
                  </a:lnTo>
                  <a:lnTo>
                    <a:pt x="7620" y="2162562"/>
                  </a:lnTo>
                  <a:lnTo>
                    <a:pt x="3415284" y="2162562"/>
                  </a:lnTo>
                  <a:lnTo>
                    <a:pt x="3415284" y="2159514"/>
                  </a:lnTo>
                  <a:lnTo>
                    <a:pt x="3419856" y="2154942"/>
                  </a:lnTo>
                  <a:close/>
                </a:path>
                <a:path w="3423284" h="2162810">
                  <a:moveTo>
                    <a:pt x="7620" y="2162562"/>
                  </a:moveTo>
                  <a:lnTo>
                    <a:pt x="7620" y="2159514"/>
                  </a:lnTo>
                  <a:lnTo>
                    <a:pt x="4572" y="2154942"/>
                  </a:lnTo>
                  <a:lnTo>
                    <a:pt x="4572" y="2162562"/>
                  </a:lnTo>
                  <a:lnTo>
                    <a:pt x="7620" y="2162562"/>
                  </a:lnTo>
                  <a:close/>
                </a:path>
                <a:path w="3423284" h="2162810">
                  <a:moveTo>
                    <a:pt x="3419856" y="7620"/>
                  </a:moveTo>
                  <a:lnTo>
                    <a:pt x="3415284" y="4572"/>
                  </a:lnTo>
                  <a:lnTo>
                    <a:pt x="3415284" y="7620"/>
                  </a:lnTo>
                  <a:lnTo>
                    <a:pt x="3419856" y="7620"/>
                  </a:lnTo>
                  <a:close/>
                </a:path>
                <a:path w="3423284" h="2162810">
                  <a:moveTo>
                    <a:pt x="3419856" y="2154942"/>
                  </a:moveTo>
                  <a:lnTo>
                    <a:pt x="3419856" y="7620"/>
                  </a:lnTo>
                  <a:lnTo>
                    <a:pt x="3415284" y="7620"/>
                  </a:lnTo>
                  <a:lnTo>
                    <a:pt x="3415284" y="2154942"/>
                  </a:lnTo>
                  <a:lnTo>
                    <a:pt x="3419856" y="2154942"/>
                  </a:lnTo>
                  <a:close/>
                </a:path>
                <a:path w="3423284" h="2162810">
                  <a:moveTo>
                    <a:pt x="3419856" y="2162562"/>
                  </a:moveTo>
                  <a:lnTo>
                    <a:pt x="3419856" y="2154942"/>
                  </a:lnTo>
                  <a:lnTo>
                    <a:pt x="3415284" y="2159514"/>
                  </a:lnTo>
                  <a:lnTo>
                    <a:pt x="3415284" y="2162562"/>
                  </a:lnTo>
                  <a:lnTo>
                    <a:pt x="3419856" y="2162562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5504688" y="3724655"/>
            <a:ext cx="2720340" cy="518159"/>
            <a:chOff x="5504688" y="3724655"/>
            <a:chExt cx="2720340" cy="518159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44369" y="3810584"/>
              <a:ext cx="2544253" cy="29011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504688" y="3724655"/>
              <a:ext cx="2720340" cy="518159"/>
            </a:xfrm>
            <a:custGeom>
              <a:avLst/>
              <a:gdLst/>
              <a:ahLst/>
              <a:cxnLst/>
              <a:rect l="l" t="t" r="r" b="b"/>
              <a:pathLst>
                <a:path w="2720340" h="518160">
                  <a:moveTo>
                    <a:pt x="2720340" y="512064"/>
                  </a:moveTo>
                  <a:lnTo>
                    <a:pt x="2720340" y="4572"/>
                  </a:lnTo>
                  <a:lnTo>
                    <a:pt x="2715768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512064"/>
                  </a:lnTo>
                  <a:lnTo>
                    <a:pt x="4572" y="518160"/>
                  </a:lnTo>
                  <a:lnTo>
                    <a:pt x="10668" y="518160"/>
                  </a:lnTo>
                  <a:lnTo>
                    <a:pt x="10668" y="22860"/>
                  </a:lnTo>
                  <a:lnTo>
                    <a:pt x="22860" y="10668"/>
                  </a:lnTo>
                  <a:lnTo>
                    <a:pt x="22860" y="22860"/>
                  </a:lnTo>
                  <a:lnTo>
                    <a:pt x="2697480" y="22860"/>
                  </a:lnTo>
                  <a:lnTo>
                    <a:pt x="2697480" y="10668"/>
                  </a:lnTo>
                  <a:lnTo>
                    <a:pt x="2708148" y="22860"/>
                  </a:lnTo>
                  <a:lnTo>
                    <a:pt x="2708148" y="518160"/>
                  </a:lnTo>
                  <a:lnTo>
                    <a:pt x="2715768" y="518160"/>
                  </a:lnTo>
                  <a:lnTo>
                    <a:pt x="2720340" y="512064"/>
                  </a:lnTo>
                  <a:close/>
                </a:path>
                <a:path w="2720340" h="518160">
                  <a:moveTo>
                    <a:pt x="22860" y="22860"/>
                  </a:moveTo>
                  <a:lnTo>
                    <a:pt x="22860" y="10668"/>
                  </a:lnTo>
                  <a:lnTo>
                    <a:pt x="10668" y="22860"/>
                  </a:lnTo>
                  <a:lnTo>
                    <a:pt x="22860" y="22860"/>
                  </a:lnTo>
                  <a:close/>
                </a:path>
                <a:path w="2720340" h="518160">
                  <a:moveTo>
                    <a:pt x="22860" y="493776"/>
                  </a:moveTo>
                  <a:lnTo>
                    <a:pt x="22860" y="22860"/>
                  </a:lnTo>
                  <a:lnTo>
                    <a:pt x="10668" y="22860"/>
                  </a:lnTo>
                  <a:lnTo>
                    <a:pt x="10668" y="493776"/>
                  </a:lnTo>
                  <a:lnTo>
                    <a:pt x="22860" y="493776"/>
                  </a:lnTo>
                  <a:close/>
                </a:path>
                <a:path w="2720340" h="518160">
                  <a:moveTo>
                    <a:pt x="2708148" y="493776"/>
                  </a:moveTo>
                  <a:lnTo>
                    <a:pt x="10668" y="493776"/>
                  </a:lnTo>
                  <a:lnTo>
                    <a:pt x="22860" y="505968"/>
                  </a:lnTo>
                  <a:lnTo>
                    <a:pt x="22860" y="518160"/>
                  </a:lnTo>
                  <a:lnTo>
                    <a:pt x="2697480" y="518160"/>
                  </a:lnTo>
                  <a:lnTo>
                    <a:pt x="2697480" y="505968"/>
                  </a:lnTo>
                  <a:lnTo>
                    <a:pt x="2708148" y="493776"/>
                  </a:lnTo>
                  <a:close/>
                </a:path>
                <a:path w="2720340" h="518160">
                  <a:moveTo>
                    <a:pt x="22860" y="518160"/>
                  </a:moveTo>
                  <a:lnTo>
                    <a:pt x="22860" y="505968"/>
                  </a:lnTo>
                  <a:lnTo>
                    <a:pt x="10668" y="493776"/>
                  </a:lnTo>
                  <a:lnTo>
                    <a:pt x="10668" y="518160"/>
                  </a:lnTo>
                  <a:lnTo>
                    <a:pt x="22860" y="518160"/>
                  </a:lnTo>
                  <a:close/>
                </a:path>
                <a:path w="2720340" h="518160">
                  <a:moveTo>
                    <a:pt x="2708148" y="22860"/>
                  </a:moveTo>
                  <a:lnTo>
                    <a:pt x="2697480" y="10668"/>
                  </a:lnTo>
                  <a:lnTo>
                    <a:pt x="2697480" y="22860"/>
                  </a:lnTo>
                  <a:lnTo>
                    <a:pt x="2708148" y="22860"/>
                  </a:lnTo>
                  <a:close/>
                </a:path>
                <a:path w="2720340" h="518160">
                  <a:moveTo>
                    <a:pt x="2708148" y="493776"/>
                  </a:moveTo>
                  <a:lnTo>
                    <a:pt x="2708148" y="22860"/>
                  </a:lnTo>
                  <a:lnTo>
                    <a:pt x="2697480" y="22860"/>
                  </a:lnTo>
                  <a:lnTo>
                    <a:pt x="2697480" y="493776"/>
                  </a:lnTo>
                  <a:lnTo>
                    <a:pt x="2708148" y="493776"/>
                  </a:lnTo>
                  <a:close/>
                </a:path>
                <a:path w="2720340" h="518160">
                  <a:moveTo>
                    <a:pt x="2708148" y="518160"/>
                  </a:moveTo>
                  <a:lnTo>
                    <a:pt x="2708148" y="493776"/>
                  </a:lnTo>
                  <a:lnTo>
                    <a:pt x="2697480" y="505968"/>
                  </a:lnTo>
                  <a:lnTo>
                    <a:pt x="2697480" y="518160"/>
                  </a:lnTo>
                  <a:lnTo>
                    <a:pt x="2708148" y="518160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04209" y="3425951"/>
            <a:ext cx="1158240" cy="2286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7305">
              <a:lnSpc>
                <a:spcPts val="1670"/>
              </a:lnSpc>
            </a:pPr>
            <a:r>
              <a:rPr sz="1450" spc="5" dirty="0">
                <a:latin typeface="Cambria"/>
                <a:cs typeface="Cambria"/>
              </a:rPr>
              <a:t>C</a:t>
            </a:r>
            <a:r>
              <a:rPr sz="1650" spc="7" baseline="-15151" dirty="0">
                <a:latin typeface="Cambria"/>
                <a:cs typeface="Cambria"/>
              </a:rPr>
              <a:t>0</a:t>
            </a:r>
            <a:r>
              <a:rPr sz="1650" spc="277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r>
              <a:rPr sz="1450" spc="70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0.78572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527547" y="5021579"/>
            <a:ext cx="2875915" cy="285115"/>
          </a:xfrm>
          <a:custGeom>
            <a:avLst/>
            <a:gdLst/>
            <a:ahLst/>
            <a:cxnLst/>
            <a:rect l="l" t="t" r="r" b="b"/>
            <a:pathLst>
              <a:path w="2875915" h="285114">
                <a:moveTo>
                  <a:pt x="2875787" y="284987"/>
                </a:moveTo>
                <a:lnTo>
                  <a:pt x="2875787" y="0"/>
                </a:lnTo>
                <a:lnTo>
                  <a:pt x="0" y="0"/>
                </a:lnTo>
                <a:lnTo>
                  <a:pt x="0" y="284987"/>
                </a:lnTo>
                <a:lnTo>
                  <a:pt x="2875787" y="284987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811009" y="5001257"/>
            <a:ext cx="160591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800" spc="-45" dirty="0">
                <a:latin typeface="Cambria"/>
                <a:cs typeface="Cambria"/>
              </a:rPr>
              <a:t>C</a:t>
            </a:r>
            <a:r>
              <a:rPr sz="1950" spc="209" baseline="-14957" dirty="0">
                <a:latin typeface="Cambria"/>
                <a:cs typeface="Cambria"/>
              </a:rPr>
              <a:t>t</a:t>
            </a:r>
            <a:r>
              <a:rPr sz="1950" baseline="-14957" dirty="0">
                <a:latin typeface="Cambria"/>
                <a:cs typeface="Cambria"/>
              </a:rPr>
              <a:t> </a:t>
            </a:r>
            <a:r>
              <a:rPr sz="1950" spc="67" baseline="-14957" dirty="0">
                <a:latin typeface="Cambria"/>
                <a:cs typeface="Cambria"/>
              </a:rPr>
              <a:t> </a:t>
            </a:r>
            <a:r>
              <a:rPr sz="1800" spc="355" dirty="0">
                <a:latin typeface="Cambria"/>
                <a:cs typeface="Cambria"/>
              </a:rPr>
              <a:t>=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-540" dirty="0">
                <a:latin typeface="Cambria"/>
                <a:cs typeface="Cambria"/>
              </a:rPr>
              <a:t>C</a:t>
            </a:r>
            <a:r>
              <a:rPr sz="2700" spc="-37" baseline="10802" dirty="0">
                <a:latin typeface="Cambria"/>
                <a:cs typeface="Cambria"/>
              </a:rPr>
              <a:t>˜</a:t>
            </a:r>
            <a:r>
              <a:rPr sz="1950" spc="209" baseline="-14957" dirty="0">
                <a:latin typeface="Cambria"/>
                <a:cs typeface="Cambria"/>
              </a:rPr>
              <a:t>t</a:t>
            </a:r>
            <a:r>
              <a:rPr sz="1950" baseline="-14957" dirty="0">
                <a:latin typeface="Cambria"/>
                <a:cs typeface="Cambria"/>
              </a:rPr>
              <a:t> </a:t>
            </a:r>
            <a:r>
              <a:rPr sz="1950" spc="-75" baseline="-14957" dirty="0">
                <a:latin typeface="Cambria"/>
                <a:cs typeface="Cambria"/>
              </a:rPr>
              <a:t> </a:t>
            </a:r>
            <a:r>
              <a:rPr sz="1800" spc="-130" dirty="0">
                <a:latin typeface="Cambria"/>
                <a:cs typeface="Cambria"/>
              </a:rPr>
              <a:t>∘</a:t>
            </a:r>
            <a:r>
              <a:rPr sz="1800" spc="1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i</a:t>
            </a:r>
            <a:r>
              <a:rPr sz="1950" spc="209" baseline="-14957" dirty="0">
                <a:latin typeface="Cambria"/>
                <a:cs typeface="Cambria"/>
              </a:rPr>
              <a:t>t</a:t>
            </a:r>
            <a:r>
              <a:rPr sz="1950" baseline="-14957" dirty="0">
                <a:latin typeface="Cambria"/>
                <a:cs typeface="Cambria"/>
              </a:rPr>
              <a:t> </a:t>
            </a:r>
            <a:r>
              <a:rPr sz="1950" spc="-75" baseline="-14957" dirty="0">
                <a:latin typeface="Cambria"/>
                <a:cs typeface="Cambria"/>
              </a:rPr>
              <a:t> </a:t>
            </a:r>
            <a:r>
              <a:rPr sz="1800" spc="355" dirty="0">
                <a:latin typeface="Cambria"/>
                <a:cs typeface="Cambria"/>
              </a:rPr>
              <a:t>+</a:t>
            </a:r>
            <a:r>
              <a:rPr sz="1800" dirty="0">
                <a:latin typeface="Cambria"/>
                <a:cs typeface="Cambria"/>
              </a:rPr>
              <a:t> </a:t>
            </a:r>
            <a:r>
              <a:rPr sz="1800" spc="160" dirty="0">
                <a:latin typeface="Cambria"/>
                <a:cs typeface="Cambria"/>
              </a:rPr>
              <a:t>f</a:t>
            </a:r>
            <a:r>
              <a:rPr sz="1950" spc="209" baseline="-14957" dirty="0">
                <a:latin typeface="Cambria"/>
                <a:cs typeface="Cambria"/>
              </a:rPr>
              <a:t>t</a:t>
            </a:r>
            <a:endParaRPr sz="1950" baseline="-14957">
              <a:latin typeface="Cambria"/>
              <a:cs typeface="Cambri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48</a:t>
            </a:fld>
            <a:endParaRPr dirty="0"/>
          </a:p>
        </p:txBody>
      </p:sp>
      <p:sp>
        <p:nvSpPr>
          <p:cNvPr id="21" name="object 21"/>
          <p:cNvSpPr txBox="1"/>
          <p:nvPr/>
        </p:nvSpPr>
        <p:spPr>
          <a:xfrm>
            <a:off x="7458403" y="5048501"/>
            <a:ext cx="65214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700" spc="-232" baseline="10802" dirty="0">
                <a:latin typeface="Cambria"/>
                <a:cs typeface="Cambria"/>
              </a:rPr>
              <a:t>o</a:t>
            </a:r>
            <a:r>
              <a:rPr sz="2700" spc="15" baseline="10802" dirty="0">
                <a:latin typeface="Cambria"/>
                <a:cs typeface="Cambria"/>
              </a:rPr>
              <a:t> </a:t>
            </a:r>
            <a:r>
              <a:rPr sz="2700" spc="-67" baseline="10802" dirty="0">
                <a:latin typeface="Cambria"/>
                <a:cs typeface="Cambria"/>
              </a:rPr>
              <a:t>C</a:t>
            </a:r>
            <a:r>
              <a:rPr sz="1300" spc="180" dirty="0">
                <a:latin typeface="Cambria"/>
                <a:cs typeface="Cambria"/>
              </a:rPr>
              <a:t>t</a:t>
            </a:r>
            <a:r>
              <a:rPr sz="1300" spc="310" dirty="0">
                <a:latin typeface="Cambria"/>
                <a:cs typeface="Cambria"/>
              </a:rPr>
              <a:t>–</a:t>
            </a:r>
            <a:r>
              <a:rPr sz="1300" spc="40" dirty="0">
                <a:latin typeface="Cambria"/>
                <a:cs typeface="Cambria"/>
              </a:rPr>
              <a:t>1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08749" y="4723889"/>
            <a:ext cx="79375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10" dirty="0">
                <a:solidFill>
                  <a:srgbClr val="FF0000"/>
                </a:solidFill>
                <a:latin typeface="Calibri"/>
                <a:cs typeface="Calibri"/>
              </a:rPr>
              <a:t>Cell</a:t>
            </a:r>
            <a:r>
              <a:rPr sz="145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50" spc="5" dirty="0">
                <a:solidFill>
                  <a:srgbClr val="FF0000"/>
                </a:solidFill>
                <a:latin typeface="Calibri"/>
                <a:cs typeface="Calibri"/>
              </a:rPr>
              <a:t>State: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57649"/>
            <a:ext cx="4528185" cy="416559"/>
            <a:chOff x="0" y="1057649"/>
            <a:chExt cx="4528185" cy="416559"/>
          </a:xfrm>
        </p:grpSpPr>
        <p:sp>
          <p:nvSpPr>
            <p:cNvPr id="3" name="object 3"/>
            <p:cNvSpPr/>
            <p:nvPr/>
          </p:nvSpPr>
          <p:spPr>
            <a:xfrm>
              <a:off x="0" y="1057649"/>
              <a:ext cx="4520565" cy="408940"/>
            </a:xfrm>
            <a:custGeom>
              <a:avLst/>
              <a:gdLst/>
              <a:ahLst/>
              <a:cxnLst/>
              <a:rect l="l" t="t" r="r" b="b"/>
              <a:pathLst>
                <a:path w="4520565" h="408940">
                  <a:moveTo>
                    <a:pt x="4520183" y="408431"/>
                  </a:moveTo>
                  <a:lnTo>
                    <a:pt x="4520183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4520183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57649"/>
              <a:ext cx="4528185" cy="416559"/>
            </a:xfrm>
            <a:custGeom>
              <a:avLst/>
              <a:gdLst/>
              <a:ahLst/>
              <a:cxnLst/>
              <a:rect l="l" t="t" r="r" b="b"/>
              <a:pathLst>
                <a:path w="4528185" h="416559">
                  <a:moveTo>
                    <a:pt x="4520184" y="9144"/>
                  </a:moveTo>
                  <a:lnTo>
                    <a:pt x="4512564" y="0"/>
                  </a:lnTo>
                  <a:lnTo>
                    <a:pt x="0" y="0"/>
                  </a:lnTo>
                  <a:lnTo>
                    <a:pt x="0" y="9144"/>
                  </a:lnTo>
                  <a:lnTo>
                    <a:pt x="9138" y="0"/>
                  </a:lnTo>
                  <a:lnTo>
                    <a:pt x="9138" y="9144"/>
                  </a:lnTo>
                  <a:lnTo>
                    <a:pt x="4520184" y="9144"/>
                  </a:lnTo>
                  <a:close/>
                </a:path>
                <a:path w="4528185" h="416559">
                  <a:moveTo>
                    <a:pt x="9138" y="9144"/>
                  </a:moveTo>
                  <a:lnTo>
                    <a:pt x="9138" y="0"/>
                  </a:lnTo>
                  <a:lnTo>
                    <a:pt x="0" y="9144"/>
                  </a:lnTo>
                  <a:lnTo>
                    <a:pt x="9138" y="9144"/>
                  </a:lnTo>
                  <a:close/>
                </a:path>
                <a:path w="4528185" h="416559">
                  <a:moveTo>
                    <a:pt x="9138" y="400812"/>
                  </a:moveTo>
                  <a:lnTo>
                    <a:pt x="9138" y="9144"/>
                  </a:lnTo>
                  <a:lnTo>
                    <a:pt x="0" y="9144"/>
                  </a:lnTo>
                  <a:lnTo>
                    <a:pt x="0" y="400812"/>
                  </a:lnTo>
                  <a:lnTo>
                    <a:pt x="9138" y="400812"/>
                  </a:lnTo>
                  <a:close/>
                </a:path>
                <a:path w="4528185" h="416559">
                  <a:moveTo>
                    <a:pt x="4520184" y="400812"/>
                  </a:moveTo>
                  <a:lnTo>
                    <a:pt x="0" y="400812"/>
                  </a:lnTo>
                  <a:lnTo>
                    <a:pt x="9138" y="408432"/>
                  </a:lnTo>
                  <a:lnTo>
                    <a:pt x="9138" y="416052"/>
                  </a:lnTo>
                  <a:lnTo>
                    <a:pt x="4512564" y="416052"/>
                  </a:lnTo>
                  <a:lnTo>
                    <a:pt x="4512564" y="408432"/>
                  </a:lnTo>
                  <a:lnTo>
                    <a:pt x="4520184" y="400812"/>
                  </a:lnTo>
                  <a:close/>
                </a:path>
                <a:path w="4528185" h="416559">
                  <a:moveTo>
                    <a:pt x="9138" y="416052"/>
                  </a:moveTo>
                  <a:lnTo>
                    <a:pt x="9138" y="408432"/>
                  </a:lnTo>
                  <a:lnTo>
                    <a:pt x="0" y="400812"/>
                  </a:lnTo>
                  <a:lnTo>
                    <a:pt x="0" y="416052"/>
                  </a:lnTo>
                  <a:lnTo>
                    <a:pt x="9138" y="416052"/>
                  </a:lnTo>
                  <a:close/>
                </a:path>
                <a:path w="4528185" h="416559">
                  <a:moveTo>
                    <a:pt x="4527804" y="413004"/>
                  </a:moveTo>
                  <a:lnTo>
                    <a:pt x="4527804" y="0"/>
                  </a:lnTo>
                  <a:lnTo>
                    <a:pt x="4512564" y="0"/>
                  </a:lnTo>
                  <a:lnTo>
                    <a:pt x="4520184" y="9144"/>
                  </a:lnTo>
                  <a:lnTo>
                    <a:pt x="4520184" y="416052"/>
                  </a:lnTo>
                  <a:lnTo>
                    <a:pt x="4524756" y="416052"/>
                  </a:lnTo>
                  <a:lnTo>
                    <a:pt x="4527804" y="413004"/>
                  </a:lnTo>
                  <a:close/>
                </a:path>
                <a:path w="4528185" h="416559">
                  <a:moveTo>
                    <a:pt x="4520184" y="400812"/>
                  </a:moveTo>
                  <a:lnTo>
                    <a:pt x="4520184" y="9144"/>
                  </a:lnTo>
                  <a:lnTo>
                    <a:pt x="4512564" y="9144"/>
                  </a:lnTo>
                  <a:lnTo>
                    <a:pt x="4512564" y="400812"/>
                  </a:lnTo>
                  <a:lnTo>
                    <a:pt x="4520184" y="400812"/>
                  </a:lnTo>
                  <a:close/>
                </a:path>
                <a:path w="4528185" h="416559">
                  <a:moveTo>
                    <a:pt x="4520184" y="416052"/>
                  </a:moveTo>
                  <a:lnTo>
                    <a:pt x="4520184" y="400812"/>
                  </a:lnTo>
                  <a:lnTo>
                    <a:pt x="4512564" y="408432"/>
                  </a:lnTo>
                  <a:lnTo>
                    <a:pt x="4512564" y="416052"/>
                  </a:lnTo>
                  <a:lnTo>
                    <a:pt x="4520184" y="416052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3493" y="1051051"/>
            <a:ext cx="4210685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b="1" spc="-90" dirty="0">
                <a:latin typeface="Calibri"/>
                <a:cs typeface="Calibri"/>
              </a:rPr>
              <a:t>Worked</a:t>
            </a:r>
            <a:r>
              <a:rPr sz="2150" b="1" spc="-70" dirty="0">
                <a:latin typeface="Calibri"/>
                <a:cs typeface="Calibri"/>
              </a:rPr>
              <a:t> Example</a:t>
            </a:r>
            <a:r>
              <a:rPr sz="2150" b="1" spc="-75" dirty="0">
                <a:latin typeface="Calibri"/>
                <a:cs typeface="Calibri"/>
              </a:rPr>
              <a:t> </a:t>
            </a:r>
            <a:r>
              <a:rPr sz="2150" b="1" spc="-5" dirty="0">
                <a:latin typeface="Calibri"/>
                <a:cs typeface="Calibri"/>
              </a:rPr>
              <a:t>–</a:t>
            </a:r>
            <a:r>
              <a:rPr sz="2150" b="1" spc="-30" dirty="0">
                <a:latin typeface="Calibri"/>
                <a:cs typeface="Calibri"/>
              </a:rPr>
              <a:t> </a:t>
            </a:r>
            <a:r>
              <a:rPr sz="2150" b="1" spc="-70" dirty="0">
                <a:latin typeface="Calibri"/>
                <a:cs typeface="Calibri"/>
              </a:rPr>
              <a:t>Forward </a:t>
            </a:r>
            <a:r>
              <a:rPr sz="2150" b="1" spc="-60" dirty="0">
                <a:latin typeface="Calibri"/>
                <a:cs typeface="Calibri"/>
              </a:rPr>
              <a:t>Pass</a:t>
            </a:r>
            <a:r>
              <a:rPr sz="2150" b="1" spc="-70" dirty="0">
                <a:latin typeface="Calibri"/>
                <a:cs typeface="Calibri"/>
              </a:rPr>
              <a:t> </a:t>
            </a:r>
            <a:r>
              <a:rPr sz="2150" b="1" spc="-20" dirty="0">
                <a:latin typeface="Calibri"/>
                <a:cs typeface="Calibri"/>
              </a:rPr>
              <a:t>@</a:t>
            </a:r>
            <a:r>
              <a:rPr sz="2150" b="1" spc="-45" dirty="0">
                <a:latin typeface="Calibri"/>
                <a:cs typeface="Calibri"/>
              </a:rPr>
              <a:t> </a:t>
            </a:r>
            <a:r>
              <a:rPr sz="2150" b="1" spc="-20" dirty="0">
                <a:latin typeface="Calibri"/>
                <a:cs typeface="Calibri"/>
              </a:rPr>
              <a:t>t=0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0870" y="1697735"/>
            <a:ext cx="768350" cy="379730"/>
          </a:xfrm>
          <a:custGeom>
            <a:avLst/>
            <a:gdLst/>
            <a:ahLst/>
            <a:cxnLst/>
            <a:rect l="l" t="t" r="r" b="b"/>
            <a:pathLst>
              <a:path w="768350" h="379730">
                <a:moveTo>
                  <a:pt x="768095" y="379475"/>
                </a:moveTo>
                <a:lnTo>
                  <a:pt x="768095" y="0"/>
                </a:lnTo>
                <a:lnTo>
                  <a:pt x="0" y="0"/>
                </a:lnTo>
                <a:lnTo>
                  <a:pt x="0" y="379475"/>
                </a:lnTo>
                <a:lnTo>
                  <a:pt x="768095" y="379475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50870" y="1697735"/>
            <a:ext cx="521334" cy="35433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6985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550"/>
              </a:spcBef>
            </a:pPr>
            <a:r>
              <a:rPr sz="1450" spc="45" dirty="0">
                <a:latin typeface="Cambria"/>
                <a:cs typeface="Cambria"/>
              </a:rPr>
              <a:t>x</a:t>
            </a:r>
            <a:r>
              <a:rPr sz="1650" spc="67" baseline="-15151" dirty="0">
                <a:latin typeface="Cambria"/>
                <a:cs typeface="Cambria"/>
              </a:rPr>
              <a:t>0</a:t>
            </a:r>
            <a:r>
              <a:rPr sz="1650" spc="270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71830" y="1746516"/>
            <a:ext cx="201930" cy="309880"/>
          </a:xfrm>
          <a:custGeom>
            <a:avLst/>
            <a:gdLst/>
            <a:ahLst/>
            <a:cxnLst/>
            <a:rect l="l" t="t" r="r" b="b"/>
            <a:pathLst>
              <a:path w="201930" h="309880">
                <a:moveTo>
                  <a:pt x="44437" y="301752"/>
                </a:moveTo>
                <a:lnTo>
                  <a:pt x="17005" y="301752"/>
                </a:lnTo>
                <a:lnTo>
                  <a:pt x="17005" y="309372"/>
                </a:lnTo>
                <a:lnTo>
                  <a:pt x="44437" y="309372"/>
                </a:lnTo>
                <a:lnTo>
                  <a:pt x="44437" y="301752"/>
                </a:lnTo>
                <a:close/>
              </a:path>
              <a:path w="201930" h="309880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09372"/>
                </a:lnTo>
                <a:lnTo>
                  <a:pt x="16510" y="309372"/>
                </a:lnTo>
                <a:lnTo>
                  <a:pt x="16510" y="7620"/>
                </a:lnTo>
                <a:lnTo>
                  <a:pt x="44450" y="7620"/>
                </a:lnTo>
                <a:lnTo>
                  <a:pt x="44450" y="0"/>
                </a:lnTo>
                <a:close/>
              </a:path>
              <a:path w="201930" h="309880">
                <a:moveTo>
                  <a:pt x="201930" y="0"/>
                </a:moveTo>
                <a:lnTo>
                  <a:pt x="184150" y="0"/>
                </a:lnTo>
                <a:lnTo>
                  <a:pt x="157480" y="0"/>
                </a:lnTo>
                <a:lnTo>
                  <a:pt x="157480" y="7620"/>
                </a:lnTo>
                <a:lnTo>
                  <a:pt x="184150" y="7620"/>
                </a:lnTo>
                <a:lnTo>
                  <a:pt x="184150" y="301752"/>
                </a:lnTo>
                <a:lnTo>
                  <a:pt x="157213" y="301752"/>
                </a:lnTo>
                <a:lnTo>
                  <a:pt x="157213" y="309372"/>
                </a:lnTo>
                <a:lnTo>
                  <a:pt x="184150" y="309372"/>
                </a:lnTo>
                <a:lnTo>
                  <a:pt x="184645" y="309372"/>
                </a:lnTo>
                <a:lnTo>
                  <a:pt x="201930" y="309372"/>
                </a:lnTo>
                <a:lnTo>
                  <a:pt x="2019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88340" y="1649983"/>
            <a:ext cx="167640" cy="4737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35"/>
              </a:spcBef>
            </a:pPr>
            <a:r>
              <a:rPr sz="1450" spc="20" dirty="0">
                <a:latin typeface="Cambria"/>
                <a:cs typeface="Cambria"/>
              </a:rPr>
              <a:t>1</a:t>
            </a:r>
            <a:endParaRPr sz="1450">
              <a:latin typeface="Cambria"/>
              <a:cs typeface="Cambria"/>
            </a:endParaRPr>
          </a:p>
          <a:p>
            <a:pPr marL="30480">
              <a:lnSpc>
                <a:spcPct val="100000"/>
              </a:lnSpc>
            </a:pPr>
            <a:r>
              <a:rPr sz="1450" spc="20" dirty="0">
                <a:latin typeface="Cambria"/>
                <a:cs typeface="Cambria"/>
              </a:rPr>
              <a:t>2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23989" y="1051051"/>
            <a:ext cx="77406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20" dirty="0">
                <a:solidFill>
                  <a:srgbClr val="FF0000"/>
                </a:solidFill>
                <a:latin typeface="Calibri"/>
                <a:cs typeface="Calibri"/>
              </a:rPr>
              <a:t>Output: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504688" y="1488941"/>
            <a:ext cx="2985770" cy="1912620"/>
            <a:chOff x="5504688" y="1488941"/>
            <a:chExt cx="2985770" cy="191262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7625" y="1550351"/>
              <a:ext cx="2824180" cy="182862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504688" y="1488941"/>
              <a:ext cx="2985770" cy="1912620"/>
            </a:xfrm>
            <a:custGeom>
              <a:avLst/>
              <a:gdLst/>
              <a:ahLst/>
              <a:cxnLst/>
              <a:rect l="l" t="t" r="r" b="b"/>
              <a:pathLst>
                <a:path w="2985770" h="1912620">
                  <a:moveTo>
                    <a:pt x="2985516" y="1909578"/>
                  </a:moveTo>
                  <a:lnTo>
                    <a:pt x="2985516" y="1524"/>
                  </a:lnTo>
                  <a:lnTo>
                    <a:pt x="2983992" y="0"/>
                  </a:lnTo>
                  <a:lnTo>
                    <a:pt x="3048" y="0"/>
                  </a:lnTo>
                  <a:lnTo>
                    <a:pt x="0" y="1524"/>
                  </a:lnTo>
                  <a:lnTo>
                    <a:pt x="0" y="1909578"/>
                  </a:lnTo>
                  <a:lnTo>
                    <a:pt x="3048" y="1912626"/>
                  </a:lnTo>
                  <a:lnTo>
                    <a:pt x="4572" y="1912626"/>
                  </a:lnTo>
                  <a:lnTo>
                    <a:pt x="4572" y="7620"/>
                  </a:lnTo>
                  <a:lnTo>
                    <a:pt x="9144" y="3048"/>
                  </a:lnTo>
                  <a:lnTo>
                    <a:pt x="9144" y="7620"/>
                  </a:lnTo>
                  <a:lnTo>
                    <a:pt x="2977896" y="7620"/>
                  </a:lnTo>
                  <a:lnTo>
                    <a:pt x="2977896" y="3048"/>
                  </a:lnTo>
                  <a:lnTo>
                    <a:pt x="2982468" y="7620"/>
                  </a:lnTo>
                  <a:lnTo>
                    <a:pt x="2982468" y="1912626"/>
                  </a:lnTo>
                  <a:lnTo>
                    <a:pt x="2983992" y="1912626"/>
                  </a:lnTo>
                  <a:lnTo>
                    <a:pt x="2985516" y="1909578"/>
                  </a:lnTo>
                  <a:close/>
                </a:path>
                <a:path w="2985770" h="1912620">
                  <a:moveTo>
                    <a:pt x="9144" y="7620"/>
                  </a:moveTo>
                  <a:lnTo>
                    <a:pt x="9144" y="3048"/>
                  </a:lnTo>
                  <a:lnTo>
                    <a:pt x="4572" y="7620"/>
                  </a:lnTo>
                  <a:lnTo>
                    <a:pt x="9144" y="7620"/>
                  </a:lnTo>
                  <a:close/>
                </a:path>
                <a:path w="2985770" h="1912620">
                  <a:moveTo>
                    <a:pt x="9144" y="1903482"/>
                  </a:moveTo>
                  <a:lnTo>
                    <a:pt x="9144" y="7620"/>
                  </a:lnTo>
                  <a:lnTo>
                    <a:pt x="4572" y="7620"/>
                  </a:lnTo>
                  <a:lnTo>
                    <a:pt x="4572" y="1903482"/>
                  </a:lnTo>
                  <a:lnTo>
                    <a:pt x="9144" y="1903482"/>
                  </a:lnTo>
                  <a:close/>
                </a:path>
                <a:path w="2985770" h="1912620">
                  <a:moveTo>
                    <a:pt x="2982468" y="1903482"/>
                  </a:moveTo>
                  <a:lnTo>
                    <a:pt x="4572" y="1903482"/>
                  </a:lnTo>
                  <a:lnTo>
                    <a:pt x="9144" y="1908054"/>
                  </a:lnTo>
                  <a:lnTo>
                    <a:pt x="9144" y="1912626"/>
                  </a:lnTo>
                  <a:lnTo>
                    <a:pt x="2977896" y="1912626"/>
                  </a:lnTo>
                  <a:lnTo>
                    <a:pt x="2977896" y="1908054"/>
                  </a:lnTo>
                  <a:lnTo>
                    <a:pt x="2982468" y="1903482"/>
                  </a:lnTo>
                  <a:close/>
                </a:path>
                <a:path w="2985770" h="1912620">
                  <a:moveTo>
                    <a:pt x="9144" y="1912626"/>
                  </a:moveTo>
                  <a:lnTo>
                    <a:pt x="9144" y="1908054"/>
                  </a:lnTo>
                  <a:lnTo>
                    <a:pt x="4572" y="1903482"/>
                  </a:lnTo>
                  <a:lnTo>
                    <a:pt x="4572" y="1912626"/>
                  </a:lnTo>
                  <a:lnTo>
                    <a:pt x="9144" y="1912626"/>
                  </a:lnTo>
                  <a:close/>
                </a:path>
                <a:path w="2985770" h="1912620">
                  <a:moveTo>
                    <a:pt x="2982468" y="7620"/>
                  </a:moveTo>
                  <a:lnTo>
                    <a:pt x="2977896" y="3048"/>
                  </a:lnTo>
                  <a:lnTo>
                    <a:pt x="2977896" y="7620"/>
                  </a:lnTo>
                  <a:lnTo>
                    <a:pt x="2982468" y="7620"/>
                  </a:lnTo>
                  <a:close/>
                </a:path>
                <a:path w="2985770" h="1912620">
                  <a:moveTo>
                    <a:pt x="2982468" y="1903482"/>
                  </a:moveTo>
                  <a:lnTo>
                    <a:pt x="2982468" y="7620"/>
                  </a:lnTo>
                  <a:lnTo>
                    <a:pt x="2977896" y="7620"/>
                  </a:lnTo>
                  <a:lnTo>
                    <a:pt x="2977896" y="1903482"/>
                  </a:lnTo>
                  <a:lnTo>
                    <a:pt x="2982468" y="1903482"/>
                  </a:lnTo>
                  <a:close/>
                </a:path>
                <a:path w="2985770" h="1912620">
                  <a:moveTo>
                    <a:pt x="2982468" y="1912626"/>
                  </a:moveTo>
                  <a:lnTo>
                    <a:pt x="2982468" y="1903482"/>
                  </a:lnTo>
                  <a:lnTo>
                    <a:pt x="2977896" y="1908054"/>
                  </a:lnTo>
                  <a:lnTo>
                    <a:pt x="2977896" y="1912626"/>
                  </a:lnTo>
                  <a:lnTo>
                    <a:pt x="2982468" y="1912626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506212" y="3709416"/>
            <a:ext cx="3171825" cy="501650"/>
            <a:chOff x="5506212" y="3709416"/>
            <a:chExt cx="3171825" cy="50165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0126" y="3816038"/>
              <a:ext cx="1950059" cy="25082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506212" y="3709416"/>
              <a:ext cx="3171825" cy="501650"/>
            </a:xfrm>
            <a:custGeom>
              <a:avLst/>
              <a:gdLst/>
              <a:ahLst/>
              <a:cxnLst/>
              <a:rect l="l" t="t" r="r" b="b"/>
              <a:pathLst>
                <a:path w="3171825" h="501650">
                  <a:moveTo>
                    <a:pt x="3171444" y="496824"/>
                  </a:moveTo>
                  <a:lnTo>
                    <a:pt x="3171444" y="6096"/>
                  </a:lnTo>
                  <a:lnTo>
                    <a:pt x="3165348" y="0"/>
                  </a:lnTo>
                  <a:lnTo>
                    <a:pt x="4572" y="0"/>
                  </a:lnTo>
                  <a:lnTo>
                    <a:pt x="0" y="6096"/>
                  </a:lnTo>
                  <a:lnTo>
                    <a:pt x="0" y="496824"/>
                  </a:lnTo>
                  <a:lnTo>
                    <a:pt x="4572" y="501396"/>
                  </a:lnTo>
                  <a:lnTo>
                    <a:pt x="10668" y="501396"/>
                  </a:lnTo>
                  <a:lnTo>
                    <a:pt x="10668" y="24384"/>
                  </a:lnTo>
                  <a:lnTo>
                    <a:pt x="22860" y="12192"/>
                  </a:lnTo>
                  <a:lnTo>
                    <a:pt x="22860" y="24384"/>
                  </a:lnTo>
                  <a:lnTo>
                    <a:pt x="3147060" y="24384"/>
                  </a:lnTo>
                  <a:lnTo>
                    <a:pt x="3147060" y="12192"/>
                  </a:lnTo>
                  <a:lnTo>
                    <a:pt x="3159252" y="24384"/>
                  </a:lnTo>
                  <a:lnTo>
                    <a:pt x="3159252" y="501396"/>
                  </a:lnTo>
                  <a:lnTo>
                    <a:pt x="3165348" y="501396"/>
                  </a:lnTo>
                  <a:lnTo>
                    <a:pt x="3171444" y="496824"/>
                  </a:lnTo>
                  <a:close/>
                </a:path>
                <a:path w="3171825" h="501650">
                  <a:moveTo>
                    <a:pt x="22860" y="24384"/>
                  </a:moveTo>
                  <a:lnTo>
                    <a:pt x="22860" y="12192"/>
                  </a:lnTo>
                  <a:lnTo>
                    <a:pt x="10668" y="24384"/>
                  </a:lnTo>
                  <a:lnTo>
                    <a:pt x="22860" y="24384"/>
                  </a:lnTo>
                  <a:close/>
                </a:path>
                <a:path w="3171825" h="501650">
                  <a:moveTo>
                    <a:pt x="22860" y="478536"/>
                  </a:moveTo>
                  <a:lnTo>
                    <a:pt x="22860" y="24384"/>
                  </a:lnTo>
                  <a:lnTo>
                    <a:pt x="10668" y="24384"/>
                  </a:lnTo>
                  <a:lnTo>
                    <a:pt x="10668" y="478536"/>
                  </a:lnTo>
                  <a:lnTo>
                    <a:pt x="22860" y="478536"/>
                  </a:lnTo>
                  <a:close/>
                </a:path>
                <a:path w="3171825" h="501650">
                  <a:moveTo>
                    <a:pt x="3159252" y="478536"/>
                  </a:moveTo>
                  <a:lnTo>
                    <a:pt x="10668" y="478536"/>
                  </a:lnTo>
                  <a:lnTo>
                    <a:pt x="22860" y="490728"/>
                  </a:lnTo>
                  <a:lnTo>
                    <a:pt x="22860" y="501396"/>
                  </a:lnTo>
                  <a:lnTo>
                    <a:pt x="3147060" y="501396"/>
                  </a:lnTo>
                  <a:lnTo>
                    <a:pt x="3147060" y="490728"/>
                  </a:lnTo>
                  <a:lnTo>
                    <a:pt x="3159252" y="478536"/>
                  </a:lnTo>
                  <a:close/>
                </a:path>
                <a:path w="3171825" h="501650">
                  <a:moveTo>
                    <a:pt x="22860" y="501396"/>
                  </a:moveTo>
                  <a:lnTo>
                    <a:pt x="22860" y="490728"/>
                  </a:lnTo>
                  <a:lnTo>
                    <a:pt x="10668" y="478536"/>
                  </a:lnTo>
                  <a:lnTo>
                    <a:pt x="10668" y="501396"/>
                  </a:lnTo>
                  <a:lnTo>
                    <a:pt x="22860" y="501396"/>
                  </a:lnTo>
                  <a:close/>
                </a:path>
                <a:path w="3171825" h="501650">
                  <a:moveTo>
                    <a:pt x="3159252" y="24384"/>
                  </a:moveTo>
                  <a:lnTo>
                    <a:pt x="3147060" y="12192"/>
                  </a:lnTo>
                  <a:lnTo>
                    <a:pt x="3147060" y="24384"/>
                  </a:lnTo>
                  <a:lnTo>
                    <a:pt x="3159252" y="24384"/>
                  </a:lnTo>
                  <a:close/>
                </a:path>
                <a:path w="3171825" h="501650">
                  <a:moveTo>
                    <a:pt x="3159252" y="478536"/>
                  </a:moveTo>
                  <a:lnTo>
                    <a:pt x="3159252" y="24384"/>
                  </a:lnTo>
                  <a:lnTo>
                    <a:pt x="3147060" y="24384"/>
                  </a:lnTo>
                  <a:lnTo>
                    <a:pt x="3147060" y="478536"/>
                  </a:lnTo>
                  <a:lnTo>
                    <a:pt x="3159252" y="478536"/>
                  </a:lnTo>
                  <a:close/>
                </a:path>
                <a:path w="3171825" h="501650">
                  <a:moveTo>
                    <a:pt x="3159252" y="501396"/>
                  </a:moveTo>
                  <a:lnTo>
                    <a:pt x="3159252" y="478536"/>
                  </a:lnTo>
                  <a:lnTo>
                    <a:pt x="3147060" y="490728"/>
                  </a:lnTo>
                  <a:lnTo>
                    <a:pt x="3147060" y="501396"/>
                  </a:lnTo>
                  <a:lnTo>
                    <a:pt x="3159252" y="501396"/>
                  </a:lnTo>
                  <a:close/>
                </a:path>
              </a:pathLst>
            </a:custGeom>
            <a:solidFill>
              <a:srgbClr val="ED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5529071" y="4727447"/>
            <a:ext cx="2091055" cy="304800"/>
            <a:chOff x="5529071" y="4727447"/>
            <a:chExt cx="2091055" cy="304800"/>
          </a:xfrm>
        </p:grpSpPr>
        <p:sp>
          <p:nvSpPr>
            <p:cNvPr id="18" name="object 18"/>
            <p:cNvSpPr/>
            <p:nvPr/>
          </p:nvSpPr>
          <p:spPr>
            <a:xfrm>
              <a:off x="5529071" y="4727447"/>
              <a:ext cx="2091055" cy="304800"/>
            </a:xfrm>
            <a:custGeom>
              <a:avLst/>
              <a:gdLst/>
              <a:ahLst/>
              <a:cxnLst/>
              <a:rect l="l" t="t" r="r" b="b"/>
              <a:pathLst>
                <a:path w="2091054" h="304800">
                  <a:moveTo>
                    <a:pt x="2090927" y="304799"/>
                  </a:moveTo>
                  <a:lnTo>
                    <a:pt x="2090927" y="0"/>
                  </a:lnTo>
                  <a:lnTo>
                    <a:pt x="0" y="0"/>
                  </a:lnTo>
                  <a:lnTo>
                    <a:pt x="0" y="304799"/>
                  </a:lnTo>
                  <a:lnTo>
                    <a:pt x="2090927" y="304799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91884" y="4776216"/>
              <a:ext cx="370840" cy="231775"/>
            </a:xfrm>
            <a:custGeom>
              <a:avLst/>
              <a:gdLst/>
              <a:ahLst/>
              <a:cxnLst/>
              <a:rect l="l" t="t" r="r" b="b"/>
              <a:pathLst>
                <a:path w="370840" h="231775">
                  <a:moveTo>
                    <a:pt x="370332" y="115824"/>
                  </a:moveTo>
                  <a:lnTo>
                    <a:pt x="365569" y="74866"/>
                  </a:lnTo>
                  <a:lnTo>
                    <a:pt x="350520" y="39624"/>
                  </a:lnTo>
                  <a:lnTo>
                    <a:pt x="312801" y="5976"/>
                  </a:lnTo>
                  <a:lnTo>
                    <a:pt x="295656" y="0"/>
                  </a:lnTo>
                  <a:lnTo>
                    <a:pt x="292608" y="9144"/>
                  </a:lnTo>
                  <a:lnTo>
                    <a:pt x="306347" y="14859"/>
                  </a:lnTo>
                  <a:lnTo>
                    <a:pt x="317944" y="22860"/>
                  </a:lnTo>
                  <a:lnTo>
                    <a:pt x="341280" y="60293"/>
                  </a:lnTo>
                  <a:lnTo>
                    <a:pt x="348996" y="114300"/>
                  </a:lnTo>
                  <a:lnTo>
                    <a:pt x="348996" y="195760"/>
                  </a:lnTo>
                  <a:lnTo>
                    <a:pt x="352044" y="192024"/>
                  </a:lnTo>
                  <a:lnTo>
                    <a:pt x="360045" y="175188"/>
                  </a:lnTo>
                  <a:lnTo>
                    <a:pt x="365760" y="156781"/>
                  </a:lnTo>
                  <a:lnTo>
                    <a:pt x="369189" y="136945"/>
                  </a:lnTo>
                  <a:lnTo>
                    <a:pt x="370332" y="115824"/>
                  </a:lnTo>
                  <a:close/>
                </a:path>
                <a:path w="370840" h="231775">
                  <a:moveTo>
                    <a:pt x="348996" y="195760"/>
                  </a:moveTo>
                  <a:lnTo>
                    <a:pt x="348996" y="114300"/>
                  </a:lnTo>
                  <a:lnTo>
                    <a:pt x="348138" y="135135"/>
                  </a:lnTo>
                  <a:lnTo>
                    <a:pt x="345567" y="154114"/>
                  </a:lnTo>
                  <a:lnTo>
                    <a:pt x="327540" y="198501"/>
                  </a:lnTo>
                  <a:lnTo>
                    <a:pt x="292608" y="222504"/>
                  </a:lnTo>
                  <a:lnTo>
                    <a:pt x="295656" y="231648"/>
                  </a:lnTo>
                  <a:lnTo>
                    <a:pt x="312824" y="225671"/>
                  </a:lnTo>
                  <a:lnTo>
                    <a:pt x="327850" y="216979"/>
                  </a:lnTo>
                  <a:lnTo>
                    <a:pt x="340875" y="205716"/>
                  </a:lnTo>
                  <a:lnTo>
                    <a:pt x="348996" y="195760"/>
                  </a:lnTo>
                  <a:close/>
                </a:path>
                <a:path w="370840" h="231775">
                  <a:moveTo>
                    <a:pt x="77724" y="9144"/>
                  </a:moveTo>
                  <a:lnTo>
                    <a:pt x="73152" y="0"/>
                  </a:lnTo>
                  <a:lnTo>
                    <a:pt x="56864" y="5976"/>
                  </a:lnTo>
                  <a:lnTo>
                    <a:pt x="42291" y="14668"/>
                  </a:lnTo>
                  <a:lnTo>
                    <a:pt x="10287" y="56459"/>
                  </a:lnTo>
                  <a:lnTo>
                    <a:pt x="1143" y="94702"/>
                  </a:lnTo>
                  <a:lnTo>
                    <a:pt x="0" y="115824"/>
                  </a:lnTo>
                  <a:lnTo>
                    <a:pt x="1143" y="136945"/>
                  </a:lnTo>
                  <a:lnTo>
                    <a:pt x="4572" y="156781"/>
                  </a:lnTo>
                  <a:lnTo>
                    <a:pt x="10287" y="175188"/>
                  </a:lnTo>
                  <a:lnTo>
                    <a:pt x="18288" y="192024"/>
                  </a:lnTo>
                  <a:lnTo>
                    <a:pt x="21336" y="195768"/>
                  </a:lnTo>
                  <a:lnTo>
                    <a:pt x="21336" y="114300"/>
                  </a:lnTo>
                  <a:lnTo>
                    <a:pt x="22193" y="94583"/>
                  </a:lnTo>
                  <a:lnTo>
                    <a:pt x="35052" y="45720"/>
                  </a:lnTo>
                  <a:lnTo>
                    <a:pt x="63984" y="14859"/>
                  </a:lnTo>
                  <a:lnTo>
                    <a:pt x="77724" y="9144"/>
                  </a:lnTo>
                  <a:close/>
                </a:path>
                <a:path w="370840" h="231775">
                  <a:moveTo>
                    <a:pt x="76200" y="222504"/>
                  </a:moveTo>
                  <a:lnTo>
                    <a:pt x="42767" y="198501"/>
                  </a:lnTo>
                  <a:lnTo>
                    <a:pt x="24765" y="154114"/>
                  </a:lnTo>
                  <a:lnTo>
                    <a:pt x="21336" y="114300"/>
                  </a:lnTo>
                  <a:lnTo>
                    <a:pt x="21336" y="195768"/>
                  </a:lnTo>
                  <a:lnTo>
                    <a:pt x="29432" y="205716"/>
                  </a:lnTo>
                  <a:lnTo>
                    <a:pt x="42291" y="216979"/>
                  </a:lnTo>
                  <a:lnTo>
                    <a:pt x="56864" y="225671"/>
                  </a:lnTo>
                  <a:lnTo>
                    <a:pt x="73152" y="231648"/>
                  </a:lnTo>
                  <a:lnTo>
                    <a:pt x="76200" y="2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529071" y="4727447"/>
            <a:ext cx="209105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2250"/>
              </a:lnSpc>
              <a:tabLst>
                <a:tab pos="1610360" algn="l"/>
              </a:tabLst>
            </a:pPr>
            <a:r>
              <a:rPr sz="1950" spc="20" dirty="0">
                <a:latin typeface="Cambria"/>
                <a:cs typeface="Cambria"/>
              </a:rPr>
              <a:t>ℎ</a:t>
            </a:r>
            <a:r>
              <a:rPr sz="2100" spc="240" baseline="-15873" dirty="0">
                <a:latin typeface="Cambria"/>
                <a:cs typeface="Cambria"/>
              </a:rPr>
              <a:t>t</a:t>
            </a:r>
            <a:r>
              <a:rPr sz="2100" baseline="-15873" dirty="0">
                <a:latin typeface="Cambria"/>
                <a:cs typeface="Cambria"/>
              </a:rPr>
              <a:t> </a:t>
            </a:r>
            <a:r>
              <a:rPr sz="2100" spc="82" baseline="-15873" dirty="0">
                <a:latin typeface="Cambria"/>
                <a:cs typeface="Cambria"/>
              </a:rPr>
              <a:t> </a:t>
            </a:r>
            <a:r>
              <a:rPr sz="1950" spc="395" dirty="0">
                <a:latin typeface="Cambria"/>
                <a:cs typeface="Cambria"/>
              </a:rPr>
              <a:t>=</a:t>
            </a:r>
            <a:r>
              <a:rPr sz="1950" spc="114" dirty="0">
                <a:latin typeface="Cambria"/>
                <a:cs typeface="Cambria"/>
              </a:rPr>
              <a:t> </a:t>
            </a:r>
            <a:r>
              <a:rPr sz="1950" spc="10" dirty="0">
                <a:latin typeface="Cambria"/>
                <a:cs typeface="Cambria"/>
              </a:rPr>
              <a:t>tan</a:t>
            </a:r>
            <a:r>
              <a:rPr sz="1950" spc="15" dirty="0">
                <a:latin typeface="Cambria"/>
                <a:cs typeface="Cambria"/>
              </a:rPr>
              <a:t>h</a:t>
            </a:r>
            <a:r>
              <a:rPr sz="1950" dirty="0">
                <a:latin typeface="Cambria"/>
                <a:cs typeface="Cambria"/>
              </a:rPr>
              <a:t> </a:t>
            </a:r>
            <a:r>
              <a:rPr sz="1950" spc="-45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c</a:t>
            </a:r>
            <a:r>
              <a:rPr sz="2100" spc="240" baseline="-15873" dirty="0">
                <a:latin typeface="Cambria"/>
                <a:cs typeface="Cambria"/>
              </a:rPr>
              <a:t>t</a:t>
            </a:r>
            <a:r>
              <a:rPr sz="2100" baseline="-15873" dirty="0">
                <a:latin typeface="Cambria"/>
                <a:cs typeface="Cambria"/>
              </a:rPr>
              <a:t>	</a:t>
            </a:r>
            <a:r>
              <a:rPr sz="1950" spc="-135" dirty="0">
                <a:latin typeface="Cambria"/>
                <a:cs typeface="Cambria"/>
              </a:rPr>
              <a:t>∘</a:t>
            </a:r>
            <a:r>
              <a:rPr sz="1950" spc="10" dirty="0">
                <a:latin typeface="Cambria"/>
                <a:cs typeface="Cambria"/>
              </a:rPr>
              <a:t> </a:t>
            </a:r>
            <a:r>
              <a:rPr sz="1950" spc="-45" dirty="0">
                <a:latin typeface="Cambria"/>
                <a:cs typeface="Cambria"/>
              </a:rPr>
              <a:t>o</a:t>
            </a:r>
            <a:r>
              <a:rPr sz="2100" spc="240" baseline="-15873" dirty="0">
                <a:latin typeface="Cambria"/>
                <a:cs typeface="Cambria"/>
              </a:rPr>
              <a:t>t</a:t>
            </a:r>
            <a:endParaRPr sz="2100" baseline="-15873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27037" y="4373370"/>
            <a:ext cx="168973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10" dirty="0">
                <a:solidFill>
                  <a:srgbClr val="FF0000"/>
                </a:solidFill>
                <a:latin typeface="Calibri"/>
                <a:cs typeface="Calibri"/>
              </a:rPr>
              <a:t>Hidden</a:t>
            </a:r>
            <a:r>
              <a:rPr sz="145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50" spc="10" dirty="0">
                <a:solidFill>
                  <a:srgbClr val="FF0000"/>
                </a:solidFill>
                <a:latin typeface="Calibri"/>
                <a:cs typeface="Calibri"/>
              </a:rPr>
              <a:t>State/Output: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2769" y="2212034"/>
            <a:ext cx="2665730" cy="73279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35"/>
              </a:spcBef>
            </a:pPr>
            <a:r>
              <a:rPr sz="1450" spc="20" dirty="0">
                <a:latin typeface="Cambria"/>
                <a:cs typeface="Cambria"/>
              </a:rPr>
              <a:t>ℎ</a:t>
            </a:r>
            <a:r>
              <a:rPr sz="1650" spc="30" baseline="-15151" dirty="0">
                <a:latin typeface="Cambria"/>
                <a:cs typeface="Cambria"/>
              </a:rPr>
              <a:t>0 </a:t>
            </a:r>
            <a:r>
              <a:rPr sz="1650" spc="-22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r>
              <a:rPr sz="1450" spc="90" dirty="0">
                <a:latin typeface="Cambria"/>
                <a:cs typeface="Cambria"/>
              </a:rPr>
              <a:t> </a:t>
            </a:r>
            <a:r>
              <a:rPr sz="1450" spc="95" dirty="0">
                <a:latin typeface="Cambria"/>
                <a:cs typeface="Cambria"/>
              </a:rPr>
              <a:t>t</a:t>
            </a:r>
            <a:r>
              <a:rPr sz="1450" spc="114" dirty="0">
                <a:latin typeface="Cambria"/>
                <a:cs typeface="Cambria"/>
              </a:rPr>
              <a:t>a</a:t>
            </a:r>
            <a:r>
              <a:rPr sz="1450" spc="35" dirty="0">
                <a:latin typeface="Cambria"/>
                <a:cs typeface="Cambria"/>
              </a:rPr>
              <a:t>n</a:t>
            </a:r>
            <a:r>
              <a:rPr sz="1450" spc="45" dirty="0">
                <a:latin typeface="Cambria"/>
                <a:cs typeface="Cambria"/>
              </a:rPr>
              <a:t>ℎ</a:t>
            </a:r>
            <a:r>
              <a:rPr sz="1450" spc="50" dirty="0">
                <a:latin typeface="Cambria"/>
                <a:cs typeface="Cambria"/>
              </a:rPr>
              <a:t>(</a:t>
            </a:r>
            <a:r>
              <a:rPr sz="1450" spc="-20" dirty="0">
                <a:latin typeface="Cambria"/>
                <a:cs typeface="Cambria"/>
              </a:rPr>
              <a:t>C</a:t>
            </a:r>
            <a:r>
              <a:rPr sz="1650" spc="120" baseline="-15151" dirty="0">
                <a:latin typeface="Cambria"/>
                <a:cs typeface="Cambria"/>
              </a:rPr>
              <a:t>0</a:t>
            </a:r>
            <a:r>
              <a:rPr sz="1450" spc="60" dirty="0">
                <a:latin typeface="Cambria"/>
                <a:cs typeface="Cambria"/>
              </a:rPr>
              <a:t>)</a:t>
            </a:r>
            <a:r>
              <a:rPr sz="1450" spc="10" dirty="0">
                <a:latin typeface="Cambria"/>
                <a:cs typeface="Cambria"/>
              </a:rPr>
              <a:t> </a:t>
            </a:r>
            <a:r>
              <a:rPr sz="1450" spc="-95" dirty="0">
                <a:latin typeface="Cambria"/>
                <a:cs typeface="Cambria"/>
              </a:rPr>
              <a:t>∘</a:t>
            </a:r>
            <a:r>
              <a:rPr sz="1450" spc="15" dirty="0">
                <a:latin typeface="Cambria"/>
                <a:cs typeface="Cambria"/>
              </a:rPr>
              <a:t> </a:t>
            </a:r>
            <a:r>
              <a:rPr sz="1450" spc="-30" dirty="0">
                <a:latin typeface="Cambria"/>
                <a:cs typeface="Cambria"/>
              </a:rPr>
              <a:t>o</a:t>
            </a:r>
            <a:r>
              <a:rPr sz="1650" spc="30" baseline="-15151" dirty="0">
                <a:latin typeface="Cambria"/>
                <a:cs typeface="Cambria"/>
              </a:rPr>
              <a:t>0</a:t>
            </a:r>
            <a:endParaRPr sz="1650" baseline="-15151">
              <a:latin typeface="Cambria"/>
              <a:cs typeface="Cambria"/>
            </a:endParaRPr>
          </a:p>
          <a:p>
            <a:pPr marL="78740">
              <a:lnSpc>
                <a:spcPct val="100000"/>
              </a:lnSpc>
              <a:spcBef>
                <a:spcPts val="1045"/>
              </a:spcBef>
            </a:pPr>
            <a:r>
              <a:rPr sz="1450" spc="20" dirty="0">
                <a:latin typeface="Cambria"/>
                <a:cs typeface="Cambria"/>
              </a:rPr>
              <a:t>ℎ</a:t>
            </a:r>
            <a:r>
              <a:rPr sz="1650" spc="30" baseline="-15151" dirty="0">
                <a:latin typeface="Cambria"/>
                <a:cs typeface="Cambria"/>
              </a:rPr>
              <a:t>0</a:t>
            </a:r>
            <a:r>
              <a:rPr sz="1650" spc="322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r>
              <a:rPr sz="1450" spc="80" dirty="0">
                <a:latin typeface="Cambria"/>
                <a:cs typeface="Cambria"/>
              </a:rPr>
              <a:t> </a:t>
            </a:r>
            <a:r>
              <a:rPr sz="1450" spc="40" dirty="0">
                <a:latin typeface="Cambria"/>
                <a:cs typeface="Cambria"/>
              </a:rPr>
              <a:t>tanℎ(0.78572)</a:t>
            </a:r>
            <a:r>
              <a:rPr sz="1450" spc="-10" dirty="0">
                <a:latin typeface="Cambria"/>
                <a:cs typeface="Cambria"/>
              </a:rPr>
              <a:t> </a:t>
            </a:r>
            <a:r>
              <a:rPr sz="1450" spc="260" dirty="0">
                <a:latin typeface="Cambria"/>
                <a:cs typeface="Cambria"/>
              </a:rPr>
              <a:t>×</a:t>
            </a:r>
            <a:r>
              <a:rPr sz="1450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0.81757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8489" y="3163823"/>
            <a:ext cx="1161415" cy="2286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7305">
              <a:lnSpc>
                <a:spcPts val="1680"/>
              </a:lnSpc>
            </a:pPr>
            <a:r>
              <a:rPr sz="1450" spc="20" dirty="0">
                <a:latin typeface="Cambria"/>
                <a:cs typeface="Cambria"/>
              </a:rPr>
              <a:t>ℎ</a:t>
            </a:r>
            <a:r>
              <a:rPr sz="1650" spc="30" baseline="-15151" dirty="0">
                <a:latin typeface="Cambria"/>
                <a:cs typeface="Cambria"/>
              </a:rPr>
              <a:t>0</a:t>
            </a:r>
            <a:r>
              <a:rPr sz="1650" spc="284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r>
              <a:rPr sz="1450" spc="70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0.53631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58489" y="3709415"/>
            <a:ext cx="3811904" cy="62865"/>
          </a:xfrm>
          <a:custGeom>
            <a:avLst/>
            <a:gdLst/>
            <a:ahLst/>
            <a:cxnLst/>
            <a:rect l="l" t="t" r="r" b="b"/>
            <a:pathLst>
              <a:path w="3811904" h="62864">
                <a:moveTo>
                  <a:pt x="3811530" y="47243"/>
                </a:moveTo>
                <a:lnTo>
                  <a:pt x="3811530" y="0"/>
                </a:lnTo>
                <a:lnTo>
                  <a:pt x="0" y="15239"/>
                </a:lnTo>
                <a:lnTo>
                  <a:pt x="0" y="62483"/>
                </a:lnTo>
                <a:lnTo>
                  <a:pt x="3811530" y="47243"/>
                </a:lnTo>
                <a:close/>
              </a:path>
            </a:pathLst>
          </a:custGeom>
          <a:solidFill>
            <a:srgbClr val="5A9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49</a:t>
            </a:fld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8113" y="1981200"/>
            <a:ext cx="909955" cy="384175"/>
          </a:xfrm>
          <a:custGeom>
            <a:avLst/>
            <a:gdLst/>
            <a:ahLst/>
            <a:cxnLst/>
            <a:rect l="l" t="t" r="r" b="b"/>
            <a:pathLst>
              <a:path w="909955" h="384175">
                <a:moveTo>
                  <a:pt x="909827" y="384047"/>
                </a:moveTo>
                <a:lnTo>
                  <a:pt x="909827" y="0"/>
                </a:lnTo>
                <a:lnTo>
                  <a:pt x="0" y="0"/>
                </a:lnTo>
                <a:lnTo>
                  <a:pt x="0" y="384047"/>
                </a:lnTo>
                <a:lnTo>
                  <a:pt x="909827" y="384047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8113" y="1981200"/>
            <a:ext cx="518159" cy="35814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749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90"/>
              </a:spcBef>
            </a:pPr>
            <a:r>
              <a:rPr sz="1450" spc="30" dirty="0">
                <a:latin typeface="Cambria"/>
                <a:cs typeface="Cambria"/>
              </a:rPr>
              <a:t>x</a:t>
            </a:r>
            <a:r>
              <a:rPr sz="1650" spc="44" baseline="-15151" dirty="0">
                <a:latin typeface="Cambria"/>
                <a:cs typeface="Cambria"/>
              </a:rPr>
              <a:t>1</a:t>
            </a:r>
            <a:r>
              <a:rPr sz="1650" spc="270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6280" y="2033028"/>
            <a:ext cx="344170" cy="311150"/>
          </a:xfrm>
          <a:custGeom>
            <a:avLst/>
            <a:gdLst/>
            <a:ahLst/>
            <a:cxnLst/>
            <a:rect l="l" t="t" r="r" b="b"/>
            <a:pathLst>
              <a:path w="344169" h="311150">
                <a:moveTo>
                  <a:pt x="44183" y="301752"/>
                </a:moveTo>
                <a:lnTo>
                  <a:pt x="16751" y="301752"/>
                </a:lnTo>
                <a:lnTo>
                  <a:pt x="16751" y="310896"/>
                </a:lnTo>
                <a:lnTo>
                  <a:pt x="44183" y="310896"/>
                </a:lnTo>
                <a:lnTo>
                  <a:pt x="44183" y="301752"/>
                </a:lnTo>
                <a:close/>
              </a:path>
              <a:path w="344169" h="311150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10896"/>
                </a:lnTo>
                <a:lnTo>
                  <a:pt x="16510" y="310896"/>
                </a:lnTo>
                <a:lnTo>
                  <a:pt x="16510" y="7620"/>
                </a:lnTo>
                <a:lnTo>
                  <a:pt x="44450" y="7620"/>
                </a:lnTo>
                <a:lnTo>
                  <a:pt x="44450" y="0"/>
                </a:lnTo>
                <a:close/>
              </a:path>
              <a:path w="344169" h="311150">
                <a:moveTo>
                  <a:pt x="326123" y="301752"/>
                </a:moveTo>
                <a:lnTo>
                  <a:pt x="300215" y="301752"/>
                </a:lnTo>
                <a:lnTo>
                  <a:pt x="300215" y="310896"/>
                </a:lnTo>
                <a:lnTo>
                  <a:pt x="326123" y="310896"/>
                </a:lnTo>
                <a:lnTo>
                  <a:pt x="326123" y="301752"/>
                </a:lnTo>
                <a:close/>
              </a:path>
              <a:path w="344169" h="311150">
                <a:moveTo>
                  <a:pt x="344170" y="0"/>
                </a:moveTo>
                <a:lnTo>
                  <a:pt x="326390" y="0"/>
                </a:lnTo>
                <a:lnTo>
                  <a:pt x="299720" y="0"/>
                </a:lnTo>
                <a:lnTo>
                  <a:pt x="299720" y="7620"/>
                </a:lnTo>
                <a:lnTo>
                  <a:pt x="326390" y="7620"/>
                </a:lnTo>
                <a:lnTo>
                  <a:pt x="326390" y="310896"/>
                </a:lnTo>
                <a:lnTo>
                  <a:pt x="344170" y="310896"/>
                </a:lnTo>
                <a:lnTo>
                  <a:pt x="3441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2790" y="1939543"/>
            <a:ext cx="309880" cy="4737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35"/>
              </a:spcBef>
            </a:pPr>
            <a:r>
              <a:rPr sz="1450" spc="10" dirty="0">
                <a:latin typeface="Cambria"/>
                <a:cs typeface="Cambria"/>
              </a:rPr>
              <a:t>0.5</a:t>
            </a:r>
            <a:endParaRPr sz="1450">
              <a:latin typeface="Cambria"/>
              <a:cs typeface="Cambria"/>
            </a:endParaRPr>
          </a:p>
          <a:p>
            <a:pPr marL="102235">
              <a:lnSpc>
                <a:spcPct val="100000"/>
              </a:lnSpc>
            </a:pPr>
            <a:r>
              <a:rPr sz="1450" spc="20" dirty="0">
                <a:latin typeface="Cambria"/>
                <a:cs typeface="Cambria"/>
              </a:rPr>
              <a:t>3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1057649"/>
            <a:ext cx="4528185" cy="416559"/>
            <a:chOff x="0" y="1057649"/>
            <a:chExt cx="4528185" cy="416559"/>
          </a:xfrm>
        </p:grpSpPr>
        <p:sp>
          <p:nvSpPr>
            <p:cNvPr id="7" name="object 7"/>
            <p:cNvSpPr/>
            <p:nvPr/>
          </p:nvSpPr>
          <p:spPr>
            <a:xfrm>
              <a:off x="0" y="1057649"/>
              <a:ext cx="4520565" cy="408940"/>
            </a:xfrm>
            <a:custGeom>
              <a:avLst/>
              <a:gdLst/>
              <a:ahLst/>
              <a:cxnLst/>
              <a:rect l="l" t="t" r="r" b="b"/>
              <a:pathLst>
                <a:path w="4520565" h="408940">
                  <a:moveTo>
                    <a:pt x="4520183" y="408431"/>
                  </a:moveTo>
                  <a:lnTo>
                    <a:pt x="4520183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4520183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1057649"/>
              <a:ext cx="4528185" cy="416559"/>
            </a:xfrm>
            <a:custGeom>
              <a:avLst/>
              <a:gdLst/>
              <a:ahLst/>
              <a:cxnLst/>
              <a:rect l="l" t="t" r="r" b="b"/>
              <a:pathLst>
                <a:path w="4528185" h="416559">
                  <a:moveTo>
                    <a:pt x="4520184" y="9144"/>
                  </a:moveTo>
                  <a:lnTo>
                    <a:pt x="4512564" y="0"/>
                  </a:lnTo>
                  <a:lnTo>
                    <a:pt x="0" y="0"/>
                  </a:lnTo>
                  <a:lnTo>
                    <a:pt x="0" y="9144"/>
                  </a:lnTo>
                  <a:lnTo>
                    <a:pt x="9138" y="0"/>
                  </a:lnTo>
                  <a:lnTo>
                    <a:pt x="9138" y="9144"/>
                  </a:lnTo>
                  <a:lnTo>
                    <a:pt x="4520184" y="9144"/>
                  </a:lnTo>
                  <a:close/>
                </a:path>
                <a:path w="4528185" h="416559">
                  <a:moveTo>
                    <a:pt x="9138" y="9144"/>
                  </a:moveTo>
                  <a:lnTo>
                    <a:pt x="9138" y="0"/>
                  </a:lnTo>
                  <a:lnTo>
                    <a:pt x="0" y="9144"/>
                  </a:lnTo>
                  <a:lnTo>
                    <a:pt x="9138" y="9144"/>
                  </a:lnTo>
                  <a:close/>
                </a:path>
                <a:path w="4528185" h="416559">
                  <a:moveTo>
                    <a:pt x="9138" y="400812"/>
                  </a:moveTo>
                  <a:lnTo>
                    <a:pt x="9138" y="9144"/>
                  </a:lnTo>
                  <a:lnTo>
                    <a:pt x="0" y="9144"/>
                  </a:lnTo>
                  <a:lnTo>
                    <a:pt x="0" y="400812"/>
                  </a:lnTo>
                  <a:lnTo>
                    <a:pt x="9138" y="400812"/>
                  </a:lnTo>
                  <a:close/>
                </a:path>
                <a:path w="4528185" h="416559">
                  <a:moveTo>
                    <a:pt x="4520184" y="400812"/>
                  </a:moveTo>
                  <a:lnTo>
                    <a:pt x="0" y="400812"/>
                  </a:lnTo>
                  <a:lnTo>
                    <a:pt x="9138" y="408432"/>
                  </a:lnTo>
                  <a:lnTo>
                    <a:pt x="9138" y="416052"/>
                  </a:lnTo>
                  <a:lnTo>
                    <a:pt x="4512564" y="416052"/>
                  </a:lnTo>
                  <a:lnTo>
                    <a:pt x="4512564" y="408432"/>
                  </a:lnTo>
                  <a:lnTo>
                    <a:pt x="4520184" y="400812"/>
                  </a:lnTo>
                  <a:close/>
                </a:path>
                <a:path w="4528185" h="416559">
                  <a:moveTo>
                    <a:pt x="9138" y="416052"/>
                  </a:moveTo>
                  <a:lnTo>
                    <a:pt x="9138" y="408432"/>
                  </a:lnTo>
                  <a:lnTo>
                    <a:pt x="0" y="400812"/>
                  </a:lnTo>
                  <a:lnTo>
                    <a:pt x="0" y="416052"/>
                  </a:lnTo>
                  <a:lnTo>
                    <a:pt x="9138" y="416052"/>
                  </a:lnTo>
                  <a:close/>
                </a:path>
                <a:path w="4528185" h="416559">
                  <a:moveTo>
                    <a:pt x="4527804" y="413004"/>
                  </a:moveTo>
                  <a:lnTo>
                    <a:pt x="4527804" y="0"/>
                  </a:lnTo>
                  <a:lnTo>
                    <a:pt x="4512564" y="0"/>
                  </a:lnTo>
                  <a:lnTo>
                    <a:pt x="4520184" y="9144"/>
                  </a:lnTo>
                  <a:lnTo>
                    <a:pt x="4520184" y="416052"/>
                  </a:lnTo>
                  <a:lnTo>
                    <a:pt x="4524756" y="416052"/>
                  </a:lnTo>
                  <a:lnTo>
                    <a:pt x="4527804" y="413004"/>
                  </a:lnTo>
                  <a:close/>
                </a:path>
                <a:path w="4528185" h="416559">
                  <a:moveTo>
                    <a:pt x="4520184" y="400812"/>
                  </a:moveTo>
                  <a:lnTo>
                    <a:pt x="4520184" y="9144"/>
                  </a:lnTo>
                  <a:lnTo>
                    <a:pt x="4512564" y="9144"/>
                  </a:lnTo>
                  <a:lnTo>
                    <a:pt x="4512564" y="400812"/>
                  </a:lnTo>
                  <a:lnTo>
                    <a:pt x="4520184" y="400812"/>
                  </a:lnTo>
                  <a:close/>
                </a:path>
                <a:path w="4528185" h="416559">
                  <a:moveTo>
                    <a:pt x="4520184" y="416052"/>
                  </a:moveTo>
                  <a:lnTo>
                    <a:pt x="4520184" y="400812"/>
                  </a:lnTo>
                  <a:lnTo>
                    <a:pt x="4512564" y="408432"/>
                  </a:lnTo>
                  <a:lnTo>
                    <a:pt x="4512564" y="416052"/>
                  </a:lnTo>
                  <a:lnTo>
                    <a:pt x="4520184" y="416052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3493" y="1051051"/>
            <a:ext cx="4210685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b="1" spc="-90" dirty="0">
                <a:latin typeface="Calibri"/>
                <a:cs typeface="Calibri"/>
              </a:rPr>
              <a:t>Worked</a:t>
            </a:r>
            <a:r>
              <a:rPr sz="2150" b="1" spc="-70" dirty="0">
                <a:latin typeface="Calibri"/>
                <a:cs typeface="Calibri"/>
              </a:rPr>
              <a:t> Example</a:t>
            </a:r>
            <a:r>
              <a:rPr sz="2150" b="1" spc="-75" dirty="0">
                <a:latin typeface="Calibri"/>
                <a:cs typeface="Calibri"/>
              </a:rPr>
              <a:t> </a:t>
            </a:r>
            <a:r>
              <a:rPr sz="2150" b="1" spc="-5" dirty="0">
                <a:latin typeface="Calibri"/>
                <a:cs typeface="Calibri"/>
              </a:rPr>
              <a:t>–</a:t>
            </a:r>
            <a:r>
              <a:rPr sz="2150" b="1" spc="-30" dirty="0">
                <a:latin typeface="Calibri"/>
                <a:cs typeface="Calibri"/>
              </a:rPr>
              <a:t> </a:t>
            </a:r>
            <a:r>
              <a:rPr sz="2150" b="1" spc="-70" dirty="0">
                <a:latin typeface="Calibri"/>
                <a:cs typeface="Calibri"/>
              </a:rPr>
              <a:t>Forward </a:t>
            </a:r>
            <a:r>
              <a:rPr sz="2150" b="1" spc="-60" dirty="0">
                <a:latin typeface="Calibri"/>
                <a:cs typeface="Calibri"/>
              </a:rPr>
              <a:t>Pass</a:t>
            </a:r>
            <a:r>
              <a:rPr sz="2150" b="1" spc="-70" dirty="0">
                <a:latin typeface="Calibri"/>
                <a:cs typeface="Calibri"/>
              </a:rPr>
              <a:t> </a:t>
            </a:r>
            <a:r>
              <a:rPr sz="2150" b="1" spc="-20" dirty="0">
                <a:latin typeface="Calibri"/>
                <a:cs typeface="Calibri"/>
              </a:rPr>
              <a:t>@</a:t>
            </a:r>
            <a:r>
              <a:rPr sz="2150" b="1" spc="-45" dirty="0">
                <a:latin typeface="Calibri"/>
                <a:cs typeface="Calibri"/>
              </a:rPr>
              <a:t> </a:t>
            </a:r>
            <a:r>
              <a:rPr sz="2150" b="1" spc="-20" dirty="0">
                <a:latin typeface="Calibri"/>
                <a:cs typeface="Calibri"/>
              </a:rPr>
              <a:t>t=1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14849" y="2031491"/>
            <a:ext cx="1160145" cy="2286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80"/>
              </a:lnSpc>
            </a:pPr>
            <a:r>
              <a:rPr sz="1450" spc="20" dirty="0">
                <a:latin typeface="Cambria"/>
                <a:cs typeface="Cambria"/>
              </a:rPr>
              <a:t>ℎ</a:t>
            </a:r>
            <a:r>
              <a:rPr sz="1650" spc="30" baseline="-15151" dirty="0">
                <a:latin typeface="Cambria"/>
                <a:cs typeface="Cambria"/>
              </a:rPr>
              <a:t>0</a:t>
            </a:r>
            <a:r>
              <a:rPr sz="1650" spc="284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r>
              <a:rPr sz="1450" spc="70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0.53631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83051" y="2031491"/>
            <a:ext cx="1156970" cy="2286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80"/>
              </a:lnSpc>
            </a:pPr>
            <a:r>
              <a:rPr sz="1450" spc="5" dirty="0">
                <a:latin typeface="Cambria"/>
                <a:cs typeface="Cambria"/>
              </a:rPr>
              <a:t>C</a:t>
            </a:r>
            <a:r>
              <a:rPr sz="1650" spc="7" baseline="-15151" dirty="0">
                <a:latin typeface="Cambria"/>
                <a:cs typeface="Cambria"/>
              </a:rPr>
              <a:t>0</a:t>
            </a:r>
            <a:r>
              <a:rPr sz="1650" spc="277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r>
              <a:rPr sz="1450" spc="70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0.78572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98113" y="2825495"/>
            <a:ext cx="1164590" cy="386080"/>
          </a:xfrm>
          <a:custGeom>
            <a:avLst/>
            <a:gdLst/>
            <a:ahLst/>
            <a:cxnLst/>
            <a:rect l="l" t="t" r="r" b="b"/>
            <a:pathLst>
              <a:path w="1164590" h="386080">
                <a:moveTo>
                  <a:pt x="1164335" y="385571"/>
                </a:moveTo>
                <a:lnTo>
                  <a:pt x="1164335" y="0"/>
                </a:lnTo>
                <a:lnTo>
                  <a:pt x="0" y="0"/>
                </a:lnTo>
                <a:lnTo>
                  <a:pt x="0" y="385571"/>
                </a:lnTo>
                <a:lnTo>
                  <a:pt x="1164335" y="385571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98113" y="2825495"/>
            <a:ext cx="665480" cy="3556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71755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565"/>
              </a:spcBef>
            </a:pPr>
            <a:r>
              <a:rPr sz="1450" spc="100" dirty="0">
                <a:latin typeface="Cambria"/>
                <a:cs typeface="Cambria"/>
              </a:rPr>
              <a:t>W</a:t>
            </a:r>
            <a:r>
              <a:rPr sz="1650" spc="150" baseline="-15151" dirty="0">
                <a:latin typeface="Cambria"/>
                <a:cs typeface="Cambria"/>
              </a:rPr>
              <a:t>xƒ</a:t>
            </a:r>
            <a:r>
              <a:rPr sz="1650" spc="300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63600" y="2874276"/>
            <a:ext cx="452120" cy="311150"/>
          </a:xfrm>
          <a:custGeom>
            <a:avLst/>
            <a:gdLst/>
            <a:ahLst/>
            <a:cxnLst/>
            <a:rect l="l" t="t" r="r" b="b"/>
            <a:pathLst>
              <a:path w="452119" h="311150">
                <a:moveTo>
                  <a:pt x="44691" y="301752"/>
                </a:moveTo>
                <a:lnTo>
                  <a:pt x="17780" y="301752"/>
                </a:lnTo>
                <a:lnTo>
                  <a:pt x="17780" y="7620"/>
                </a:lnTo>
                <a:lnTo>
                  <a:pt x="44450" y="7620"/>
                </a:lnTo>
                <a:lnTo>
                  <a:pt x="44450" y="0"/>
                </a:lnTo>
                <a:lnTo>
                  <a:pt x="17780" y="0"/>
                </a:lnTo>
                <a:lnTo>
                  <a:pt x="0" y="0"/>
                </a:lnTo>
                <a:lnTo>
                  <a:pt x="0" y="310896"/>
                </a:lnTo>
                <a:lnTo>
                  <a:pt x="17259" y="310896"/>
                </a:lnTo>
                <a:lnTo>
                  <a:pt x="17780" y="310896"/>
                </a:lnTo>
                <a:lnTo>
                  <a:pt x="44691" y="310896"/>
                </a:lnTo>
                <a:lnTo>
                  <a:pt x="44691" y="301752"/>
                </a:lnTo>
                <a:close/>
              </a:path>
              <a:path w="452119" h="311150">
                <a:moveTo>
                  <a:pt x="452120" y="0"/>
                </a:moveTo>
                <a:lnTo>
                  <a:pt x="433070" y="0"/>
                </a:lnTo>
                <a:lnTo>
                  <a:pt x="407670" y="0"/>
                </a:lnTo>
                <a:lnTo>
                  <a:pt x="407670" y="7620"/>
                </a:lnTo>
                <a:lnTo>
                  <a:pt x="433070" y="7620"/>
                </a:lnTo>
                <a:lnTo>
                  <a:pt x="433070" y="301752"/>
                </a:lnTo>
                <a:lnTo>
                  <a:pt x="407403" y="301752"/>
                </a:lnTo>
                <a:lnTo>
                  <a:pt x="407403" y="310896"/>
                </a:lnTo>
                <a:lnTo>
                  <a:pt x="433070" y="310896"/>
                </a:lnTo>
                <a:lnTo>
                  <a:pt x="433311" y="310896"/>
                </a:lnTo>
                <a:lnTo>
                  <a:pt x="452120" y="310896"/>
                </a:lnTo>
                <a:lnTo>
                  <a:pt x="4521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81380" y="2777743"/>
            <a:ext cx="415290" cy="4737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135"/>
              </a:spcBef>
            </a:pPr>
            <a:r>
              <a:rPr sz="1450" spc="15" dirty="0">
                <a:latin typeface="Cambria"/>
                <a:cs typeface="Cambria"/>
              </a:rPr>
              <a:t>0.70</a:t>
            </a:r>
            <a:endParaRPr sz="1450">
              <a:latin typeface="Cambria"/>
              <a:cs typeface="Cambria"/>
            </a:endParaRPr>
          </a:p>
          <a:p>
            <a:pPr marL="29845">
              <a:lnSpc>
                <a:spcPct val="100000"/>
              </a:lnSpc>
            </a:pPr>
            <a:r>
              <a:rPr sz="1450" spc="15" dirty="0">
                <a:latin typeface="Cambria"/>
                <a:cs typeface="Cambria"/>
              </a:rPr>
              <a:t>0.45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577339" y="2825495"/>
            <a:ext cx="1161415" cy="247015"/>
            <a:chOff x="1577339" y="2825495"/>
            <a:chExt cx="1161415" cy="247015"/>
          </a:xfrm>
        </p:grpSpPr>
        <p:sp>
          <p:nvSpPr>
            <p:cNvPr id="17" name="object 17"/>
            <p:cNvSpPr/>
            <p:nvPr/>
          </p:nvSpPr>
          <p:spPr>
            <a:xfrm>
              <a:off x="1577339" y="2825495"/>
              <a:ext cx="1161415" cy="247015"/>
            </a:xfrm>
            <a:custGeom>
              <a:avLst/>
              <a:gdLst/>
              <a:ahLst/>
              <a:cxnLst/>
              <a:rect l="l" t="t" r="r" b="b"/>
              <a:pathLst>
                <a:path w="1161414" h="247014">
                  <a:moveTo>
                    <a:pt x="1161287" y="246887"/>
                  </a:moveTo>
                  <a:lnTo>
                    <a:pt x="1161287" y="0"/>
                  </a:lnTo>
                  <a:lnTo>
                    <a:pt x="0" y="0"/>
                  </a:lnTo>
                  <a:lnTo>
                    <a:pt x="0" y="246887"/>
                  </a:lnTo>
                  <a:lnTo>
                    <a:pt x="1161287" y="246887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47900" y="2865132"/>
              <a:ext cx="444500" cy="175260"/>
            </a:xfrm>
            <a:custGeom>
              <a:avLst/>
              <a:gdLst/>
              <a:ahLst/>
              <a:cxnLst/>
              <a:rect l="l" t="t" r="r" b="b"/>
              <a:pathLst>
                <a:path w="444500" h="175260">
                  <a:moveTo>
                    <a:pt x="41148" y="167640"/>
                  </a:moveTo>
                  <a:lnTo>
                    <a:pt x="15240" y="167640"/>
                  </a:lnTo>
                  <a:lnTo>
                    <a:pt x="15240" y="6096"/>
                  </a:lnTo>
                  <a:lnTo>
                    <a:pt x="40640" y="6096"/>
                  </a:lnTo>
                  <a:lnTo>
                    <a:pt x="40640" y="0"/>
                  </a:lnTo>
                  <a:lnTo>
                    <a:pt x="15240" y="0"/>
                  </a:lnTo>
                  <a:lnTo>
                    <a:pt x="0" y="0"/>
                  </a:lnTo>
                  <a:lnTo>
                    <a:pt x="0" y="175260"/>
                  </a:lnTo>
                  <a:lnTo>
                    <a:pt x="15240" y="175260"/>
                  </a:lnTo>
                  <a:lnTo>
                    <a:pt x="41148" y="175260"/>
                  </a:lnTo>
                  <a:lnTo>
                    <a:pt x="41148" y="167640"/>
                  </a:lnTo>
                  <a:close/>
                </a:path>
                <a:path w="444500" h="175260">
                  <a:moveTo>
                    <a:pt x="444500" y="0"/>
                  </a:moveTo>
                  <a:lnTo>
                    <a:pt x="429260" y="0"/>
                  </a:lnTo>
                  <a:lnTo>
                    <a:pt x="403860" y="0"/>
                  </a:lnTo>
                  <a:lnTo>
                    <a:pt x="403860" y="6096"/>
                  </a:lnTo>
                  <a:lnTo>
                    <a:pt x="429260" y="6096"/>
                  </a:lnTo>
                  <a:lnTo>
                    <a:pt x="429260" y="167640"/>
                  </a:lnTo>
                  <a:lnTo>
                    <a:pt x="403860" y="167640"/>
                  </a:lnTo>
                  <a:lnTo>
                    <a:pt x="403860" y="175260"/>
                  </a:lnTo>
                  <a:lnTo>
                    <a:pt x="429260" y="175260"/>
                  </a:lnTo>
                  <a:lnTo>
                    <a:pt x="429768" y="175260"/>
                  </a:lnTo>
                  <a:lnTo>
                    <a:pt x="444500" y="175260"/>
                  </a:lnTo>
                  <a:lnTo>
                    <a:pt x="4445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77339" y="2825495"/>
            <a:ext cx="1161415" cy="247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305">
              <a:lnSpc>
                <a:spcPts val="1705"/>
              </a:lnSpc>
              <a:tabLst>
                <a:tab pos="714375" algn="l"/>
              </a:tabLst>
            </a:pPr>
            <a:r>
              <a:rPr sz="1450" spc="90" dirty="0">
                <a:latin typeface="Cambria"/>
                <a:cs typeface="Cambria"/>
              </a:rPr>
              <a:t>W</a:t>
            </a:r>
            <a:r>
              <a:rPr sz="1650" spc="135" baseline="-15151" dirty="0">
                <a:latin typeface="Cambria"/>
                <a:cs typeface="Cambria"/>
              </a:rPr>
              <a:t>hƒ</a:t>
            </a:r>
            <a:r>
              <a:rPr sz="1650" spc="352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	</a:t>
            </a:r>
            <a:r>
              <a:rPr sz="1450" spc="15" dirty="0">
                <a:latin typeface="Cambria"/>
                <a:cs typeface="Cambria"/>
              </a:rPr>
              <a:t>0.10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906267" y="2804159"/>
            <a:ext cx="1005840" cy="247015"/>
            <a:chOff x="2906267" y="2804159"/>
            <a:chExt cx="1005840" cy="247015"/>
          </a:xfrm>
        </p:grpSpPr>
        <p:sp>
          <p:nvSpPr>
            <p:cNvPr id="21" name="object 21"/>
            <p:cNvSpPr/>
            <p:nvPr/>
          </p:nvSpPr>
          <p:spPr>
            <a:xfrm>
              <a:off x="2906267" y="2804159"/>
              <a:ext cx="1005840" cy="247015"/>
            </a:xfrm>
            <a:custGeom>
              <a:avLst/>
              <a:gdLst/>
              <a:ahLst/>
              <a:cxnLst/>
              <a:rect l="l" t="t" r="r" b="b"/>
              <a:pathLst>
                <a:path w="1005839" h="247014">
                  <a:moveTo>
                    <a:pt x="1005839" y="246887"/>
                  </a:moveTo>
                  <a:lnTo>
                    <a:pt x="1005839" y="0"/>
                  </a:lnTo>
                  <a:lnTo>
                    <a:pt x="0" y="0"/>
                  </a:lnTo>
                  <a:lnTo>
                    <a:pt x="0" y="246887"/>
                  </a:lnTo>
                  <a:lnTo>
                    <a:pt x="1005839" y="246887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420110" y="2842272"/>
              <a:ext cx="444500" cy="177165"/>
            </a:xfrm>
            <a:custGeom>
              <a:avLst/>
              <a:gdLst/>
              <a:ahLst/>
              <a:cxnLst/>
              <a:rect l="l" t="t" r="r" b="b"/>
              <a:pathLst>
                <a:path w="444500" h="177164">
                  <a:moveTo>
                    <a:pt x="40894" y="169164"/>
                  </a:moveTo>
                  <a:lnTo>
                    <a:pt x="15240" y="169164"/>
                  </a:lnTo>
                  <a:lnTo>
                    <a:pt x="15240" y="7620"/>
                  </a:lnTo>
                  <a:lnTo>
                    <a:pt x="40640" y="7620"/>
                  </a:lnTo>
                  <a:lnTo>
                    <a:pt x="40640" y="0"/>
                  </a:lnTo>
                  <a:lnTo>
                    <a:pt x="15240" y="0"/>
                  </a:lnTo>
                  <a:lnTo>
                    <a:pt x="0" y="0"/>
                  </a:lnTo>
                  <a:lnTo>
                    <a:pt x="0" y="176784"/>
                  </a:lnTo>
                  <a:lnTo>
                    <a:pt x="14986" y="176784"/>
                  </a:lnTo>
                  <a:lnTo>
                    <a:pt x="15240" y="176784"/>
                  </a:lnTo>
                  <a:lnTo>
                    <a:pt x="40894" y="176784"/>
                  </a:lnTo>
                  <a:lnTo>
                    <a:pt x="40894" y="169164"/>
                  </a:lnTo>
                  <a:close/>
                </a:path>
                <a:path w="444500" h="177164">
                  <a:moveTo>
                    <a:pt x="444500" y="0"/>
                  </a:moveTo>
                  <a:lnTo>
                    <a:pt x="429260" y="0"/>
                  </a:lnTo>
                  <a:lnTo>
                    <a:pt x="403860" y="0"/>
                  </a:lnTo>
                  <a:lnTo>
                    <a:pt x="403860" y="7620"/>
                  </a:lnTo>
                  <a:lnTo>
                    <a:pt x="429260" y="7620"/>
                  </a:lnTo>
                  <a:lnTo>
                    <a:pt x="429260" y="169164"/>
                  </a:lnTo>
                  <a:lnTo>
                    <a:pt x="403606" y="169164"/>
                  </a:lnTo>
                  <a:lnTo>
                    <a:pt x="403606" y="176784"/>
                  </a:lnTo>
                  <a:lnTo>
                    <a:pt x="429260" y="176784"/>
                  </a:lnTo>
                  <a:lnTo>
                    <a:pt x="429514" y="176784"/>
                  </a:lnTo>
                  <a:lnTo>
                    <a:pt x="444500" y="176784"/>
                  </a:lnTo>
                  <a:lnTo>
                    <a:pt x="4445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906267" y="2804159"/>
            <a:ext cx="1005840" cy="247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95"/>
              </a:lnSpc>
              <a:tabLst>
                <a:tab pos="557530" algn="l"/>
              </a:tabLst>
            </a:pPr>
            <a:r>
              <a:rPr sz="1450" spc="95" dirty="0">
                <a:latin typeface="Cambria"/>
                <a:cs typeface="Cambria"/>
              </a:rPr>
              <a:t>b</a:t>
            </a:r>
            <a:r>
              <a:rPr sz="1650" spc="142" baseline="-15151" dirty="0">
                <a:latin typeface="Cambria"/>
                <a:cs typeface="Cambria"/>
              </a:rPr>
              <a:t>ƒ</a:t>
            </a:r>
            <a:r>
              <a:rPr sz="1650" spc="382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	</a:t>
            </a:r>
            <a:r>
              <a:rPr sz="1450" spc="15" dirty="0">
                <a:latin typeface="Cambria"/>
                <a:cs typeface="Cambria"/>
              </a:rPr>
              <a:t>0.15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6115" y="3466590"/>
            <a:ext cx="257810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50" spc="65" dirty="0">
                <a:latin typeface="Cambria"/>
                <a:cs typeface="Cambria"/>
              </a:rPr>
              <a:t>f</a:t>
            </a:r>
            <a:r>
              <a:rPr sz="1650" spc="97" baseline="-15151" dirty="0">
                <a:latin typeface="Cambria"/>
                <a:cs typeface="Cambria"/>
              </a:rPr>
              <a:t>1</a:t>
            </a:r>
            <a:r>
              <a:rPr sz="1450" spc="65" dirty="0">
                <a:latin typeface="Calibri"/>
                <a:cs typeface="Calibri"/>
              </a:rPr>
              <a:t>=</a:t>
            </a:r>
            <a:r>
              <a:rPr sz="1450" dirty="0">
                <a:latin typeface="Calibri"/>
                <a:cs typeface="Calibri"/>
              </a:rPr>
              <a:t> </a:t>
            </a:r>
            <a:r>
              <a:rPr sz="1450" spc="40" dirty="0">
                <a:latin typeface="Cambria"/>
                <a:cs typeface="Cambria"/>
              </a:rPr>
              <a:t>σ </a:t>
            </a:r>
            <a:r>
              <a:rPr sz="1450" spc="95" dirty="0">
                <a:latin typeface="Cambria"/>
                <a:cs typeface="Cambria"/>
              </a:rPr>
              <a:t>(W</a:t>
            </a:r>
            <a:r>
              <a:rPr sz="1650" spc="142" baseline="-15151" dirty="0">
                <a:latin typeface="Cambria"/>
                <a:cs typeface="Cambria"/>
              </a:rPr>
              <a:t>xƒ</a:t>
            </a:r>
            <a:r>
              <a:rPr sz="1650" spc="240" baseline="-15151" dirty="0">
                <a:latin typeface="Cambria"/>
                <a:cs typeface="Cambria"/>
              </a:rPr>
              <a:t> </a:t>
            </a:r>
            <a:r>
              <a:rPr sz="1450" spc="5" dirty="0">
                <a:latin typeface="Cambria"/>
                <a:cs typeface="Cambria"/>
              </a:rPr>
              <a:t>.</a:t>
            </a:r>
            <a:r>
              <a:rPr sz="1450" spc="-80" dirty="0">
                <a:latin typeface="Cambria"/>
                <a:cs typeface="Cambria"/>
              </a:rPr>
              <a:t> </a:t>
            </a:r>
            <a:r>
              <a:rPr sz="1450" spc="30" dirty="0">
                <a:latin typeface="Cambria"/>
                <a:cs typeface="Cambria"/>
              </a:rPr>
              <a:t>x</a:t>
            </a:r>
            <a:r>
              <a:rPr sz="1650" spc="44" baseline="-15151" dirty="0">
                <a:latin typeface="Cambria"/>
                <a:cs typeface="Cambria"/>
              </a:rPr>
              <a:t>1</a:t>
            </a:r>
            <a:r>
              <a:rPr sz="1650" spc="202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+</a:t>
            </a:r>
            <a:r>
              <a:rPr sz="1450" dirty="0">
                <a:latin typeface="Cambria"/>
                <a:cs typeface="Cambria"/>
              </a:rPr>
              <a:t> </a:t>
            </a:r>
            <a:r>
              <a:rPr sz="1450" spc="95" dirty="0">
                <a:latin typeface="Cambria"/>
                <a:cs typeface="Cambria"/>
              </a:rPr>
              <a:t>W</a:t>
            </a:r>
            <a:r>
              <a:rPr sz="1650" spc="142" baseline="-15151" dirty="0">
                <a:latin typeface="Cambria"/>
                <a:cs typeface="Cambria"/>
              </a:rPr>
              <a:t>hƒ</a:t>
            </a:r>
            <a:r>
              <a:rPr sz="1650" spc="225" baseline="-15151" dirty="0">
                <a:latin typeface="Cambria"/>
                <a:cs typeface="Cambria"/>
              </a:rPr>
              <a:t> </a:t>
            </a:r>
            <a:r>
              <a:rPr sz="1450" spc="5" dirty="0">
                <a:latin typeface="Cambria"/>
                <a:cs typeface="Cambria"/>
              </a:rPr>
              <a:t>.</a:t>
            </a:r>
            <a:r>
              <a:rPr sz="1450" spc="-75" dirty="0">
                <a:latin typeface="Cambria"/>
                <a:cs typeface="Cambria"/>
              </a:rPr>
              <a:t> </a:t>
            </a:r>
            <a:r>
              <a:rPr sz="1450" spc="20" dirty="0">
                <a:latin typeface="Cambria"/>
                <a:cs typeface="Cambria"/>
              </a:rPr>
              <a:t>ℎ</a:t>
            </a:r>
            <a:r>
              <a:rPr sz="1650" spc="30" baseline="-15151" dirty="0">
                <a:latin typeface="Cambria"/>
                <a:cs typeface="Cambria"/>
              </a:rPr>
              <a:t>0</a:t>
            </a:r>
            <a:r>
              <a:rPr sz="1650" spc="202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+</a:t>
            </a:r>
            <a:r>
              <a:rPr sz="1450" dirty="0">
                <a:latin typeface="Cambria"/>
                <a:cs typeface="Cambria"/>
              </a:rPr>
              <a:t> </a:t>
            </a:r>
            <a:r>
              <a:rPr sz="1450" spc="114" dirty="0">
                <a:latin typeface="Cambria"/>
                <a:cs typeface="Cambria"/>
              </a:rPr>
              <a:t>b</a:t>
            </a:r>
            <a:r>
              <a:rPr sz="1650" spc="172" baseline="-15151" dirty="0">
                <a:latin typeface="Cambria"/>
                <a:cs typeface="Cambria"/>
              </a:rPr>
              <a:t>ƒ</a:t>
            </a:r>
            <a:r>
              <a:rPr sz="1450" spc="114" dirty="0">
                <a:latin typeface="Cambria"/>
                <a:cs typeface="Cambria"/>
              </a:rPr>
              <a:t>)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772412" y="3953268"/>
            <a:ext cx="41275" cy="177165"/>
          </a:xfrm>
          <a:custGeom>
            <a:avLst/>
            <a:gdLst/>
            <a:ahLst/>
            <a:cxnLst/>
            <a:rect l="l" t="t" r="r" b="b"/>
            <a:pathLst>
              <a:path w="41275" h="177164">
                <a:moveTo>
                  <a:pt x="41148" y="0"/>
                </a:moveTo>
                <a:lnTo>
                  <a:pt x="25908" y="0"/>
                </a:lnTo>
                <a:lnTo>
                  <a:pt x="508" y="0"/>
                </a:lnTo>
                <a:lnTo>
                  <a:pt x="508" y="7620"/>
                </a:lnTo>
                <a:lnTo>
                  <a:pt x="25908" y="7620"/>
                </a:lnTo>
                <a:lnTo>
                  <a:pt x="25908" y="169164"/>
                </a:lnTo>
                <a:lnTo>
                  <a:pt x="0" y="169164"/>
                </a:lnTo>
                <a:lnTo>
                  <a:pt x="0" y="176784"/>
                </a:lnTo>
                <a:lnTo>
                  <a:pt x="25908" y="176784"/>
                </a:lnTo>
                <a:lnTo>
                  <a:pt x="41148" y="176784"/>
                </a:lnTo>
                <a:lnTo>
                  <a:pt x="411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25500" y="3953268"/>
            <a:ext cx="41910" cy="177165"/>
          </a:xfrm>
          <a:custGeom>
            <a:avLst/>
            <a:gdLst/>
            <a:ahLst/>
            <a:cxnLst/>
            <a:rect l="l" t="t" r="r" b="b"/>
            <a:pathLst>
              <a:path w="41909" h="177164">
                <a:moveTo>
                  <a:pt x="41910" y="0"/>
                </a:moveTo>
                <a:lnTo>
                  <a:pt x="17780" y="0"/>
                </a:lnTo>
                <a:lnTo>
                  <a:pt x="0" y="0"/>
                </a:lnTo>
                <a:lnTo>
                  <a:pt x="0" y="176784"/>
                </a:lnTo>
                <a:lnTo>
                  <a:pt x="17259" y="176784"/>
                </a:lnTo>
                <a:lnTo>
                  <a:pt x="17780" y="176784"/>
                </a:lnTo>
                <a:lnTo>
                  <a:pt x="41643" y="176784"/>
                </a:lnTo>
                <a:lnTo>
                  <a:pt x="41643" y="169164"/>
                </a:lnTo>
                <a:lnTo>
                  <a:pt x="17780" y="169164"/>
                </a:lnTo>
                <a:lnTo>
                  <a:pt x="17780" y="7620"/>
                </a:lnTo>
                <a:lnTo>
                  <a:pt x="41910" y="762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229612" y="3887736"/>
            <a:ext cx="43815" cy="309880"/>
          </a:xfrm>
          <a:custGeom>
            <a:avLst/>
            <a:gdLst/>
            <a:ahLst/>
            <a:cxnLst/>
            <a:rect l="l" t="t" r="r" b="b"/>
            <a:pathLst>
              <a:path w="43814" h="309879">
                <a:moveTo>
                  <a:pt x="43688" y="0"/>
                </a:moveTo>
                <a:lnTo>
                  <a:pt x="27178" y="0"/>
                </a:lnTo>
                <a:lnTo>
                  <a:pt x="508" y="0"/>
                </a:lnTo>
                <a:lnTo>
                  <a:pt x="508" y="7620"/>
                </a:lnTo>
                <a:lnTo>
                  <a:pt x="27178" y="7620"/>
                </a:lnTo>
                <a:lnTo>
                  <a:pt x="27178" y="301752"/>
                </a:lnTo>
                <a:lnTo>
                  <a:pt x="0" y="301752"/>
                </a:lnTo>
                <a:lnTo>
                  <a:pt x="0" y="309372"/>
                </a:lnTo>
                <a:lnTo>
                  <a:pt x="27178" y="309372"/>
                </a:lnTo>
                <a:lnTo>
                  <a:pt x="27432" y="309372"/>
                </a:lnTo>
                <a:lnTo>
                  <a:pt x="43688" y="309372"/>
                </a:lnTo>
                <a:lnTo>
                  <a:pt x="436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27860" y="3887736"/>
            <a:ext cx="44450" cy="309880"/>
          </a:xfrm>
          <a:custGeom>
            <a:avLst/>
            <a:gdLst/>
            <a:ahLst/>
            <a:cxnLst/>
            <a:rect l="l" t="t" r="r" b="b"/>
            <a:pathLst>
              <a:path w="44450" h="309879">
                <a:moveTo>
                  <a:pt x="44196" y="301752"/>
                </a:moveTo>
                <a:lnTo>
                  <a:pt x="18288" y="301752"/>
                </a:lnTo>
                <a:lnTo>
                  <a:pt x="18288" y="309372"/>
                </a:lnTo>
                <a:lnTo>
                  <a:pt x="44196" y="309372"/>
                </a:lnTo>
                <a:lnTo>
                  <a:pt x="44196" y="301752"/>
                </a:lnTo>
                <a:close/>
              </a:path>
              <a:path w="44450" h="309879">
                <a:moveTo>
                  <a:pt x="44450" y="0"/>
                </a:moveTo>
                <a:lnTo>
                  <a:pt x="17780" y="0"/>
                </a:lnTo>
                <a:lnTo>
                  <a:pt x="0" y="0"/>
                </a:lnTo>
                <a:lnTo>
                  <a:pt x="0" y="309372"/>
                </a:lnTo>
                <a:lnTo>
                  <a:pt x="17780" y="309372"/>
                </a:lnTo>
                <a:lnTo>
                  <a:pt x="17780" y="7620"/>
                </a:lnTo>
                <a:lnTo>
                  <a:pt x="44450" y="7620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034031" y="4015230"/>
            <a:ext cx="13017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20" dirty="0">
                <a:latin typeface="Cambria"/>
                <a:cs typeface="Cambria"/>
              </a:rPr>
              <a:t>3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942590" y="3953268"/>
            <a:ext cx="41910" cy="177165"/>
          </a:xfrm>
          <a:custGeom>
            <a:avLst/>
            <a:gdLst/>
            <a:ahLst/>
            <a:cxnLst/>
            <a:rect l="l" t="t" r="r" b="b"/>
            <a:pathLst>
              <a:path w="41910" h="177164">
                <a:moveTo>
                  <a:pt x="26162" y="169164"/>
                </a:moveTo>
                <a:lnTo>
                  <a:pt x="254" y="169164"/>
                </a:lnTo>
                <a:lnTo>
                  <a:pt x="254" y="176784"/>
                </a:lnTo>
                <a:lnTo>
                  <a:pt x="26162" y="176784"/>
                </a:lnTo>
                <a:lnTo>
                  <a:pt x="26162" y="169164"/>
                </a:lnTo>
                <a:close/>
              </a:path>
              <a:path w="41910" h="177164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7620"/>
                </a:lnTo>
                <a:lnTo>
                  <a:pt x="26670" y="7620"/>
                </a:lnTo>
                <a:lnTo>
                  <a:pt x="26670" y="176784"/>
                </a:lnTo>
                <a:lnTo>
                  <a:pt x="41910" y="176784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538730" y="3953268"/>
            <a:ext cx="41910" cy="177165"/>
          </a:xfrm>
          <a:custGeom>
            <a:avLst/>
            <a:gdLst/>
            <a:ahLst/>
            <a:cxnLst/>
            <a:rect l="l" t="t" r="r" b="b"/>
            <a:pathLst>
              <a:path w="41910" h="177164">
                <a:moveTo>
                  <a:pt x="41402" y="169164"/>
                </a:moveTo>
                <a:lnTo>
                  <a:pt x="17018" y="169164"/>
                </a:lnTo>
                <a:lnTo>
                  <a:pt x="17018" y="176784"/>
                </a:lnTo>
                <a:lnTo>
                  <a:pt x="41402" y="176784"/>
                </a:lnTo>
                <a:lnTo>
                  <a:pt x="41402" y="169164"/>
                </a:lnTo>
                <a:close/>
              </a:path>
              <a:path w="41910" h="177164">
                <a:moveTo>
                  <a:pt x="41910" y="0"/>
                </a:moveTo>
                <a:lnTo>
                  <a:pt x="16510" y="0"/>
                </a:lnTo>
                <a:lnTo>
                  <a:pt x="0" y="0"/>
                </a:lnTo>
                <a:lnTo>
                  <a:pt x="0" y="176784"/>
                </a:lnTo>
                <a:lnTo>
                  <a:pt x="16510" y="176784"/>
                </a:lnTo>
                <a:lnTo>
                  <a:pt x="16510" y="7620"/>
                </a:lnTo>
                <a:lnTo>
                  <a:pt x="41910" y="762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962400" y="3953268"/>
            <a:ext cx="40640" cy="177165"/>
          </a:xfrm>
          <a:custGeom>
            <a:avLst/>
            <a:gdLst/>
            <a:ahLst/>
            <a:cxnLst/>
            <a:rect l="l" t="t" r="r" b="b"/>
            <a:pathLst>
              <a:path w="40639" h="177164">
                <a:moveTo>
                  <a:pt x="40640" y="0"/>
                </a:moveTo>
                <a:lnTo>
                  <a:pt x="25400" y="0"/>
                </a:lnTo>
                <a:lnTo>
                  <a:pt x="0" y="0"/>
                </a:lnTo>
                <a:lnTo>
                  <a:pt x="0" y="7620"/>
                </a:lnTo>
                <a:lnTo>
                  <a:pt x="25400" y="7620"/>
                </a:lnTo>
                <a:lnTo>
                  <a:pt x="25400" y="169164"/>
                </a:lnTo>
                <a:lnTo>
                  <a:pt x="0" y="169164"/>
                </a:lnTo>
                <a:lnTo>
                  <a:pt x="0" y="176784"/>
                </a:lnTo>
                <a:lnTo>
                  <a:pt x="25400" y="176784"/>
                </a:lnTo>
                <a:lnTo>
                  <a:pt x="25908" y="176784"/>
                </a:lnTo>
                <a:lnTo>
                  <a:pt x="40640" y="176784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244850" y="3953268"/>
            <a:ext cx="41275" cy="177165"/>
          </a:xfrm>
          <a:custGeom>
            <a:avLst/>
            <a:gdLst/>
            <a:ahLst/>
            <a:cxnLst/>
            <a:rect l="l" t="t" r="r" b="b"/>
            <a:pathLst>
              <a:path w="41275" h="177164">
                <a:moveTo>
                  <a:pt x="40894" y="169164"/>
                </a:moveTo>
                <a:lnTo>
                  <a:pt x="16510" y="169164"/>
                </a:lnTo>
                <a:lnTo>
                  <a:pt x="16510" y="7620"/>
                </a:lnTo>
                <a:lnTo>
                  <a:pt x="40640" y="7620"/>
                </a:lnTo>
                <a:lnTo>
                  <a:pt x="40640" y="0"/>
                </a:lnTo>
                <a:lnTo>
                  <a:pt x="16510" y="0"/>
                </a:lnTo>
                <a:lnTo>
                  <a:pt x="0" y="0"/>
                </a:lnTo>
                <a:lnTo>
                  <a:pt x="0" y="176784"/>
                </a:lnTo>
                <a:lnTo>
                  <a:pt x="16510" y="176784"/>
                </a:lnTo>
                <a:lnTo>
                  <a:pt x="40894" y="176784"/>
                </a:lnTo>
                <a:lnTo>
                  <a:pt x="40894" y="169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45287" y="3903978"/>
            <a:ext cx="471805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35"/>
              </a:spcBef>
              <a:tabLst>
                <a:tab pos="1267460" algn="l"/>
                <a:tab pos="1829435" algn="l"/>
              </a:tabLst>
            </a:pPr>
            <a:r>
              <a:rPr sz="2175" spc="97" baseline="3831" dirty="0">
                <a:latin typeface="Cambria"/>
                <a:cs typeface="Cambria"/>
              </a:rPr>
              <a:t>f</a:t>
            </a:r>
            <a:r>
              <a:rPr sz="1650" spc="97" baseline="-10101" dirty="0">
                <a:latin typeface="Cambria"/>
                <a:cs typeface="Cambria"/>
              </a:rPr>
              <a:t>1</a:t>
            </a:r>
            <a:r>
              <a:rPr sz="1650" spc="322" baseline="-10101" dirty="0">
                <a:latin typeface="Cambria"/>
                <a:cs typeface="Cambria"/>
              </a:rPr>
              <a:t> </a:t>
            </a:r>
            <a:r>
              <a:rPr sz="2175" spc="457" baseline="3831" dirty="0">
                <a:latin typeface="Cambria"/>
                <a:cs typeface="Cambria"/>
              </a:rPr>
              <a:t>=</a:t>
            </a:r>
            <a:r>
              <a:rPr sz="2175" spc="142" baseline="3831" dirty="0">
                <a:latin typeface="Cambria"/>
                <a:cs typeface="Cambria"/>
              </a:rPr>
              <a:t> </a:t>
            </a:r>
            <a:r>
              <a:rPr sz="2175" spc="104" baseline="3831" dirty="0">
                <a:latin typeface="Cambria"/>
                <a:cs typeface="Cambria"/>
              </a:rPr>
              <a:t>σ(</a:t>
            </a:r>
            <a:r>
              <a:rPr sz="2175" spc="300" baseline="3831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0.70	0.45	</a:t>
            </a:r>
            <a:r>
              <a:rPr sz="2175" spc="22" baseline="32567" dirty="0">
                <a:latin typeface="Cambria"/>
                <a:cs typeface="Cambria"/>
              </a:rPr>
              <a:t>0.5</a:t>
            </a:r>
            <a:r>
              <a:rPr sz="2175" spc="315" baseline="32567" dirty="0">
                <a:latin typeface="Cambria"/>
                <a:cs typeface="Cambria"/>
              </a:rPr>
              <a:t> </a:t>
            </a:r>
            <a:r>
              <a:rPr sz="2175" spc="457" baseline="3831" dirty="0">
                <a:latin typeface="Cambria"/>
                <a:cs typeface="Cambria"/>
              </a:rPr>
              <a:t>+</a:t>
            </a:r>
            <a:r>
              <a:rPr sz="2175" spc="772" baseline="3831" dirty="0">
                <a:latin typeface="Cambria"/>
                <a:cs typeface="Cambria"/>
              </a:rPr>
              <a:t> </a:t>
            </a:r>
            <a:r>
              <a:rPr sz="2175" spc="22" baseline="3831" dirty="0">
                <a:latin typeface="Cambria"/>
                <a:cs typeface="Cambria"/>
              </a:rPr>
              <a:t>0.10 </a:t>
            </a:r>
            <a:r>
              <a:rPr sz="2175" spc="277" baseline="3831" dirty="0">
                <a:latin typeface="Cambria"/>
                <a:cs typeface="Cambria"/>
              </a:rPr>
              <a:t> </a:t>
            </a:r>
            <a:r>
              <a:rPr sz="2175" spc="390" baseline="3831" dirty="0">
                <a:latin typeface="Cambria"/>
                <a:cs typeface="Cambria"/>
              </a:rPr>
              <a:t>×</a:t>
            </a:r>
            <a:r>
              <a:rPr sz="2175" spc="787" baseline="3831" dirty="0">
                <a:latin typeface="Cambria"/>
                <a:cs typeface="Cambria"/>
              </a:rPr>
              <a:t> </a:t>
            </a:r>
            <a:r>
              <a:rPr sz="2175" spc="22" baseline="3831" dirty="0">
                <a:latin typeface="Cambria"/>
                <a:cs typeface="Cambria"/>
              </a:rPr>
              <a:t>0.53631 </a:t>
            </a:r>
            <a:r>
              <a:rPr sz="2175" spc="277" baseline="3831" dirty="0">
                <a:latin typeface="Cambria"/>
                <a:cs typeface="Cambria"/>
              </a:rPr>
              <a:t> </a:t>
            </a:r>
            <a:r>
              <a:rPr sz="2175" spc="457" baseline="3831" dirty="0">
                <a:latin typeface="Cambria"/>
                <a:cs typeface="Cambria"/>
              </a:rPr>
              <a:t>+</a:t>
            </a:r>
            <a:r>
              <a:rPr sz="2175" baseline="3831" dirty="0">
                <a:latin typeface="Cambria"/>
                <a:cs typeface="Cambria"/>
              </a:rPr>
              <a:t> </a:t>
            </a:r>
            <a:r>
              <a:rPr sz="2175" spc="30" baseline="3831" dirty="0">
                <a:latin typeface="Cambria"/>
                <a:cs typeface="Cambria"/>
              </a:rPr>
              <a:t>[0.15])</a:t>
            </a:r>
            <a:endParaRPr sz="2175" baseline="3831">
              <a:latin typeface="Cambria"/>
              <a:cs typeface="Cambria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50</a:t>
            </a:fld>
            <a:endParaRPr dirty="0"/>
          </a:p>
        </p:txBody>
      </p:sp>
      <p:sp>
        <p:nvSpPr>
          <p:cNvPr id="35" name="object 35"/>
          <p:cNvSpPr txBox="1"/>
          <p:nvPr/>
        </p:nvSpPr>
        <p:spPr>
          <a:xfrm>
            <a:off x="181349" y="4323588"/>
            <a:ext cx="1126490" cy="2286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7305">
              <a:lnSpc>
                <a:spcPts val="1670"/>
              </a:lnSpc>
            </a:pPr>
            <a:r>
              <a:rPr sz="1450" spc="65" dirty="0">
                <a:latin typeface="Cambria"/>
                <a:cs typeface="Cambria"/>
              </a:rPr>
              <a:t>f</a:t>
            </a:r>
            <a:r>
              <a:rPr sz="1650" spc="97" baseline="-15151" dirty="0">
                <a:latin typeface="Cambria"/>
                <a:cs typeface="Cambria"/>
              </a:rPr>
              <a:t>1</a:t>
            </a:r>
            <a:r>
              <a:rPr sz="1650" spc="284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r>
              <a:rPr sz="1450" spc="70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0.87030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867644" y="1072387"/>
            <a:ext cx="113855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Forget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10" dirty="0">
                <a:solidFill>
                  <a:srgbClr val="FF0000"/>
                </a:solidFill>
                <a:latin typeface="Calibri"/>
                <a:cs typeface="Calibri"/>
              </a:rPr>
              <a:t>Gate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8113" y="1981200"/>
            <a:ext cx="909955" cy="384175"/>
          </a:xfrm>
          <a:custGeom>
            <a:avLst/>
            <a:gdLst/>
            <a:ahLst/>
            <a:cxnLst/>
            <a:rect l="l" t="t" r="r" b="b"/>
            <a:pathLst>
              <a:path w="909955" h="384175">
                <a:moveTo>
                  <a:pt x="909827" y="384047"/>
                </a:moveTo>
                <a:lnTo>
                  <a:pt x="909827" y="0"/>
                </a:lnTo>
                <a:lnTo>
                  <a:pt x="0" y="0"/>
                </a:lnTo>
                <a:lnTo>
                  <a:pt x="0" y="384047"/>
                </a:lnTo>
                <a:lnTo>
                  <a:pt x="909827" y="384047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8113" y="1981200"/>
            <a:ext cx="518159" cy="35814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749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90"/>
              </a:spcBef>
            </a:pPr>
            <a:r>
              <a:rPr sz="1450" spc="30" dirty="0">
                <a:latin typeface="Cambria"/>
                <a:cs typeface="Cambria"/>
              </a:rPr>
              <a:t>x</a:t>
            </a:r>
            <a:r>
              <a:rPr sz="1650" spc="44" baseline="-15151" dirty="0">
                <a:latin typeface="Cambria"/>
                <a:cs typeface="Cambria"/>
              </a:rPr>
              <a:t>1</a:t>
            </a:r>
            <a:r>
              <a:rPr sz="1650" spc="270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6280" y="2033028"/>
            <a:ext cx="344170" cy="311150"/>
          </a:xfrm>
          <a:custGeom>
            <a:avLst/>
            <a:gdLst/>
            <a:ahLst/>
            <a:cxnLst/>
            <a:rect l="l" t="t" r="r" b="b"/>
            <a:pathLst>
              <a:path w="344169" h="311150">
                <a:moveTo>
                  <a:pt x="44183" y="301752"/>
                </a:moveTo>
                <a:lnTo>
                  <a:pt x="16751" y="301752"/>
                </a:lnTo>
                <a:lnTo>
                  <a:pt x="16751" y="310896"/>
                </a:lnTo>
                <a:lnTo>
                  <a:pt x="44183" y="310896"/>
                </a:lnTo>
                <a:lnTo>
                  <a:pt x="44183" y="301752"/>
                </a:lnTo>
                <a:close/>
              </a:path>
              <a:path w="344169" h="311150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10896"/>
                </a:lnTo>
                <a:lnTo>
                  <a:pt x="16510" y="310896"/>
                </a:lnTo>
                <a:lnTo>
                  <a:pt x="16510" y="7620"/>
                </a:lnTo>
                <a:lnTo>
                  <a:pt x="44450" y="7620"/>
                </a:lnTo>
                <a:lnTo>
                  <a:pt x="44450" y="0"/>
                </a:lnTo>
                <a:close/>
              </a:path>
              <a:path w="344169" h="311150">
                <a:moveTo>
                  <a:pt x="326123" y="301752"/>
                </a:moveTo>
                <a:lnTo>
                  <a:pt x="300215" y="301752"/>
                </a:lnTo>
                <a:lnTo>
                  <a:pt x="300215" y="310896"/>
                </a:lnTo>
                <a:lnTo>
                  <a:pt x="326123" y="310896"/>
                </a:lnTo>
                <a:lnTo>
                  <a:pt x="326123" y="301752"/>
                </a:lnTo>
                <a:close/>
              </a:path>
              <a:path w="344169" h="311150">
                <a:moveTo>
                  <a:pt x="344170" y="0"/>
                </a:moveTo>
                <a:lnTo>
                  <a:pt x="326390" y="0"/>
                </a:lnTo>
                <a:lnTo>
                  <a:pt x="299720" y="0"/>
                </a:lnTo>
                <a:lnTo>
                  <a:pt x="299720" y="7620"/>
                </a:lnTo>
                <a:lnTo>
                  <a:pt x="326390" y="7620"/>
                </a:lnTo>
                <a:lnTo>
                  <a:pt x="326390" y="310896"/>
                </a:lnTo>
                <a:lnTo>
                  <a:pt x="344170" y="310896"/>
                </a:lnTo>
                <a:lnTo>
                  <a:pt x="3441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2790" y="1939543"/>
            <a:ext cx="309880" cy="4737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35"/>
              </a:spcBef>
            </a:pPr>
            <a:r>
              <a:rPr sz="1450" spc="10" dirty="0">
                <a:latin typeface="Cambria"/>
                <a:cs typeface="Cambria"/>
              </a:rPr>
              <a:t>0.5</a:t>
            </a:r>
            <a:endParaRPr sz="1450">
              <a:latin typeface="Cambria"/>
              <a:cs typeface="Cambria"/>
            </a:endParaRPr>
          </a:p>
          <a:p>
            <a:pPr marL="102235">
              <a:lnSpc>
                <a:spcPct val="100000"/>
              </a:lnSpc>
            </a:pPr>
            <a:r>
              <a:rPr sz="1450" spc="20" dirty="0">
                <a:latin typeface="Cambria"/>
                <a:cs typeface="Cambria"/>
              </a:rPr>
              <a:t>3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8113" y="2734055"/>
            <a:ext cx="1135380" cy="386080"/>
          </a:xfrm>
          <a:custGeom>
            <a:avLst/>
            <a:gdLst/>
            <a:ahLst/>
            <a:cxnLst/>
            <a:rect l="l" t="t" r="r" b="b"/>
            <a:pathLst>
              <a:path w="1135380" h="386080">
                <a:moveTo>
                  <a:pt x="1135379" y="385571"/>
                </a:moveTo>
                <a:lnTo>
                  <a:pt x="1135379" y="0"/>
                </a:lnTo>
                <a:lnTo>
                  <a:pt x="0" y="0"/>
                </a:lnTo>
                <a:lnTo>
                  <a:pt x="0" y="385571"/>
                </a:lnTo>
                <a:lnTo>
                  <a:pt x="1135379" y="385571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8113" y="2734055"/>
            <a:ext cx="637540" cy="357505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7302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75"/>
              </a:spcBef>
            </a:pPr>
            <a:r>
              <a:rPr sz="1450" spc="-25" dirty="0">
                <a:latin typeface="Cambria"/>
                <a:cs typeface="Cambria"/>
              </a:rPr>
              <a:t>W</a:t>
            </a:r>
            <a:r>
              <a:rPr sz="1650" spc="-37" baseline="-15151" dirty="0">
                <a:latin typeface="Cambria"/>
                <a:cs typeface="Cambria"/>
              </a:rPr>
              <a:t>xc</a:t>
            </a:r>
            <a:r>
              <a:rPr sz="1650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5660" y="2784360"/>
            <a:ext cx="450850" cy="311150"/>
          </a:xfrm>
          <a:custGeom>
            <a:avLst/>
            <a:gdLst/>
            <a:ahLst/>
            <a:cxnLst/>
            <a:rect l="l" t="t" r="r" b="b"/>
            <a:pathLst>
              <a:path w="450850" h="311150">
                <a:moveTo>
                  <a:pt x="43675" y="303276"/>
                </a:moveTo>
                <a:lnTo>
                  <a:pt x="16510" y="303276"/>
                </a:lnTo>
                <a:lnTo>
                  <a:pt x="16510" y="9144"/>
                </a:lnTo>
                <a:lnTo>
                  <a:pt x="43180" y="9144"/>
                </a:lnTo>
                <a:lnTo>
                  <a:pt x="43180" y="0"/>
                </a:lnTo>
                <a:lnTo>
                  <a:pt x="16510" y="0"/>
                </a:lnTo>
                <a:lnTo>
                  <a:pt x="0" y="0"/>
                </a:lnTo>
                <a:lnTo>
                  <a:pt x="0" y="310896"/>
                </a:lnTo>
                <a:lnTo>
                  <a:pt x="16243" y="310896"/>
                </a:lnTo>
                <a:lnTo>
                  <a:pt x="16510" y="310896"/>
                </a:lnTo>
                <a:lnTo>
                  <a:pt x="43675" y="310896"/>
                </a:lnTo>
                <a:lnTo>
                  <a:pt x="43675" y="303276"/>
                </a:lnTo>
                <a:close/>
              </a:path>
              <a:path w="450850" h="311150">
                <a:moveTo>
                  <a:pt x="450850" y="0"/>
                </a:moveTo>
                <a:lnTo>
                  <a:pt x="431800" y="0"/>
                </a:lnTo>
                <a:lnTo>
                  <a:pt x="406400" y="0"/>
                </a:lnTo>
                <a:lnTo>
                  <a:pt x="406400" y="9144"/>
                </a:lnTo>
                <a:lnTo>
                  <a:pt x="431800" y="9144"/>
                </a:lnTo>
                <a:lnTo>
                  <a:pt x="431800" y="303276"/>
                </a:lnTo>
                <a:lnTo>
                  <a:pt x="406387" y="303276"/>
                </a:lnTo>
                <a:lnTo>
                  <a:pt x="406387" y="310896"/>
                </a:lnTo>
                <a:lnTo>
                  <a:pt x="431800" y="310896"/>
                </a:lnTo>
                <a:lnTo>
                  <a:pt x="432295" y="310896"/>
                </a:lnTo>
                <a:lnTo>
                  <a:pt x="450850" y="310896"/>
                </a:lnTo>
                <a:lnTo>
                  <a:pt x="4508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52169" y="2690875"/>
            <a:ext cx="415290" cy="4737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35"/>
              </a:spcBef>
            </a:pPr>
            <a:r>
              <a:rPr sz="1450" spc="15" dirty="0">
                <a:latin typeface="Cambria"/>
                <a:cs typeface="Cambria"/>
              </a:rPr>
              <a:t>0.45</a:t>
            </a:r>
            <a:endParaRPr sz="1450">
              <a:latin typeface="Cambria"/>
              <a:cs typeface="Cambria"/>
            </a:endParaRPr>
          </a:p>
          <a:p>
            <a:pPr marL="31115">
              <a:lnSpc>
                <a:spcPct val="100000"/>
              </a:lnSpc>
            </a:pPr>
            <a:r>
              <a:rPr sz="1450" spc="15" dirty="0">
                <a:latin typeface="Cambria"/>
                <a:cs typeface="Cambria"/>
              </a:rPr>
              <a:t>0.25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14849" y="2741675"/>
            <a:ext cx="1149350" cy="228600"/>
          </a:xfrm>
          <a:custGeom>
            <a:avLst/>
            <a:gdLst/>
            <a:ahLst/>
            <a:cxnLst/>
            <a:rect l="l" t="t" r="r" b="b"/>
            <a:pathLst>
              <a:path w="1149350" h="228600">
                <a:moveTo>
                  <a:pt x="1149095" y="228599"/>
                </a:moveTo>
                <a:lnTo>
                  <a:pt x="1149095" y="0"/>
                </a:lnTo>
                <a:lnTo>
                  <a:pt x="0" y="0"/>
                </a:lnTo>
                <a:lnTo>
                  <a:pt x="0" y="228599"/>
                </a:lnTo>
                <a:lnTo>
                  <a:pt x="1149095" y="228599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14849" y="2741675"/>
            <a:ext cx="655955" cy="2286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80"/>
              </a:lnSpc>
            </a:pPr>
            <a:r>
              <a:rPr sz="1450" spc="5" dirty="0">
                <a:latin typeface="Cambria"/>
                <a:cs typeface="Cambria"/>
              </a:rPr>
              <a:t>W</a:t>
            </a:r>
            <a:r>
              <a:rPr sz="1650" spc="7" baseline="-15151" dirty="0">
                <a:latin typeface="Cambria"/>
                <a:cs typeface="Cambria"/>
              </a:rPr>
              <a:t>hc</a:t>
            </a:r>
            <a:r>
              <a:rPr sz="1650" spc="292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70430" y="2778264"/>
            <a:ext cx="444500" cy="175260"/>
          </a:xfrm>
          <a:custGeom>
            <a:avLst/>
            <a:gdLst/>
            <a:ahLst/>
            <a:cxnLst/>
            <a:rect l="l" t="t" r="r" b="b"/>
            <a:pathLst>
              <a:path w="444500" h="175260">
                <a:moveTo>
                  <a:pt x="15240" y="0"/>
                </a:moveTo>
                <a:lnTo>
                  <a:pt x="0" y="0"/>
                </a:lnTo>
                <a:lnTo>
                  <a:pt x="0" y="175260"/>
                </a:lnTo>
                <a:lnTo>
                  <a:pt x="15240" y="175260"/>
                </a:lnTo>
                <a:lnTo>
                  <a:pt x="15240" y="0"/>
                </a:lnTo>
                <a:close/>
              </a:path>
              <a:path w="444500" h="175260">
                <a:moveTo>
                  <a:pt x="444500" y="0"/>
                </a:moveTo>
                <a:lnTo>
                  <a:pt x="429260" y="0"/>
                </a:lnTo>
                <a:lnTo>
                  <a:pt x="403860" y="0"/>
                </a:lnTo>
                <a:lnTo>
                  <a:pt x="403860" y="6096"/>
                </a:lnTo>
                <a:lnTo>
                  <a:pt x="429260" y="6096"/>
                </a:lnTo>
                <a:lnTo>
                  <a:pt x="429260" y="167640"/>
                </a:lnTo>
                <a:lnTo>
                  <a:pt x="403606" y="167640"/>
                </a:lnTo>
                <a:lnTo>
                  <a:pt x="403606" y="175260"/>
                </a:lnTo>
                <a:lnTo>
                  <a:pt x="429260" y="175260"/>
                </a:lnTo>
                <a:lnTo>
                  <a:pt x="429514" y="175260"/>
                </a:lnTo>
                <a:lnTo>
                  <a:pt x="444500" y="175260"/>
                </a:lnTo>
                <a:lnTo>
                  <a:pt x="444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185670" y="2778252"/>
            <a:ext cx="25400" cy="6350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400" y="6096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185416" y="2945892"/>
            <a:ext cx="26034" cy="7620"/>
          </a:xfrm>
          <a:custGeom>
            <a:avLst/>
            <a:gdLst/>
            <a:ahLst/>
            <a:cxnLst/>
            <a:rect l="l" t="t" r="r" b="b"/>
            <a:pathLst>
              <a:path w="26035" h="7619">
                <a:moveTo>
                  <a:pt x="25908" y="7620"/>
                </a:moveTo>
                <a:lnTo>
                  <a:pt x="25908" y="0"/>
                </a:lnTo>
                <a:lnTo>
                  <a:pt x="0" y="0"/>
                </a:lnTo>
                <a:lnTo>
                  <a:pt x="0" y="7620"/>
                </a:lnTo>
                <a:lnTo>
                  <a:pt x="25908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185670" y="2716782"/>
            <a:ext cx="41402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35"/>
              </a:spcBef>
            </a:pPr>
            <a:r>
              <a:rPr sz="1450" spc="15" dirty="0">
                <a:latin typeface="Cambria"/>
                <a:cs typeface="Cambria"/>
              </a:rPr>
              <a:t>0.15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83051" y="2741675"/>
            <a:ext cx="1004569" cy="228600"/>
          </a:xfrm>
          <a:custGeom>
            <a:avLst/>
            <a:gdLst/>
            <a:ahLst/>
            <a:cxnLst/>
            <a:rect l="l" t="t" r="r" b="b"/>
            <a:pathLst>
              <a:path w="1004570" h="228600">
                <a:moveTo>
                  <a:pt x="1004315" y="228599"/>
                </a:moveTo>
                <a:lnTo>
                  <a:pt x="1004315" y="0"/>
                </a:lnTo>
                <a:lnTo>
                  <a:pt x="0" y="0"/>
                </a:lnTo>
                <a:lnTo>
                  <a:pt x="0" y="228599"/>
                </a:lnTo>
                <a:lnTo>
                  <a:pt x="1004315" y="228599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083051" y="2741675"/>
            <a:ext cx="512445" cy="2286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4130">
              <a:lnSpc>
                <a:spcPts val="1680"/>
              </a:lnSpc>
            </a:pPr>
            <a:r>
              <a:rPr sz="1450" spc="10" dirty="0">
                <a:latin typeface="Cambria"/>
                <a:cs typeface="Cambria"/>
              </a:rPr>
              <a:t>b</a:t>
            </a:r>
            <a:r>
              <a:rPr sz="1650" spc="15" baseline="-15151" dirty="0">
                <a:latin typeface="Cambria"/>
                <a:cs typeface="Cambria"/>
              </a:rPr>
              <a:t>c</a:t>
            </a:r>
            <a:r>
              <a:rPr sz="1650" spc="322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595370" y="2778264"/>
            <a:ext cx="443230" cy="175260"/>
          </a:xfrm>
          <a:custGeom>
            <a:avLst/>
            <a:gdLst/>
            <a:ahLst/>
            <a:cxnLst/>
            <a:rect l="l" t="t" r="r" b="b"/>
            <a:pathLst>
              <a:path w="443229" h="175260">
                <a:moveTo>
                  <a:pt x="15240" y="0"/>
                </a:moveTo>
                <a:lnTo>
                  <a:pt x="0" y="0"/>
                </a:lnTo>
                <a:lnTo>
                  <a:pt x="0" y="175260"/>
                </a:lnTo>
                <a:lnTo>
                  <a:pt x="15240" y="175260"/>
                </a:lnTo>
                <a:lnTo>
                  <a:pt x="15240" y="0"/>
                </a:lnTo>
                <a:close/>
              </a:path>
              <a:path w="443229" h="175260">
                <a:moveTo>
                  <a:pt x="443230" y="0"/>
                </a:moveTo>
                <a:lnTo>
                  <a:pt x="427990" y="0"/>
                </a:lnTo>
                <a:lnTo>
                  <a:pt x="402590" y="0"/>
                </a:lnTo>
                <a:lnTo>
                  <a:pt x="402590" y="6096"/>
                </a:lnTo>
                <a:lnTo>
                  <a:pt x="427990" y="6096"/>
                </a:lnTo>
                <a:lnTo>
                  <a:pt x="427990" y="167640"/>
                </a:lnTo>
                <a:lnTo>
                  <a:pt x="402082" y="167640"/>
                </a:lnTo>
                <a:lnTo>
                  <a:pt x="402082" y="175260"/>
                </a:lnTo>
                <a:lnTo>
                  <a:pt x="427990" y="175260"/>
                </a:lnTo>
                <a:lnTo>
                  <a:pt x="443230" y="175260"/>
                </a:lnTo>
                <a:lnTo>
                  <a:pt x="4432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610609" y="2778252"/>
            <a:ext cx="25400" cy="6350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400" y="6096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610355" y="2945892"/>
            <a:ext cx="26034" cy="7620"/>
          </a:xfrm>
          <a:custGeom>
            <a:avLst/>
            <a:gdLst/>
            <a:ahLst/>
            <a:cxnLst/>
            <a:rect l="l" t="t" r="r" b="b"/>
            <a:pathLst>
              <a:path w="26035" h="7619">
                <a:moveTo>
                  <a:pt x="25908" y="7620"/>
                </a:moveTo>
                <a:lnTo>
                  <a:pt x="25908" y="0"/>
                </a:lnTo>
                <a:lnTo>
                  <a:pt x="0" y="0"/>
                </a:lnTo>
                <a:lnTo>
                  <a:pt x="0" y="7620"/>
                </a:lnTo>
                <a:lnTo>
                  <a:pt x="25908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610609" y="2716782"/>
            <a:ext cx="41275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35"/>
              </a:spcBef>
            </a:pPr>
            <a:r>
              <a:rPr sz="1450" spc="15" dirty="0">
                <a:latin typeface="Cambria"/>
                <a:cs typeface="Cambria"/>
              </a:rPr>
              <a:t>0.20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0199" y="3989322"/>
            <a:ext cx="106045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0" dirty="0">
                <a:latin typeface="Cambria"/>
                <a:cs typeface="Cambria"/>
              </a:rPr>
              <a:t>1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086356" y="3962412"/>
            <a:ext cx="41275" cy="175260"/>
          </a:xfrm>
          <a:custGeom>
            <a:avLst/>
            <a:gdLst/>
            <a:ahLst/>
            <a:cxnLst/>
            <a:rect l="l" t="t" r="r" b="b"/>
            <a:pathLst>
              <a:path w="41275" h="175260">
                <a:moveTo>
                  <a:pt x="40894" y="0"/>
                </a:moveTo>
                <a:lnTo>
                  <a:pt x="25654" y="0"/>
                </a:lnTo>
                <a:lnTo>
                  <a:pt x="254" y="0"/>
                </a:lnTo>
                <a:lnTo>
                  <a:pt x="254" y="7620"/>
                </a:lnTo>
                <a:lnTo>
                  <a:pt x="25654" y="7620"/>
                </a:lnTo>
                <a:lnTo>
                  <a:pt x="25654" y="169164"/>
                </a:lnTo>
                <a:lnTo>
                  <a:pt x="0" y="169164"/>
                </a:lnTo>
                <a:lnTo>
                  <a:pt x="0" y="175260"/>
                </a:lnTo>
                <a:lnTo>
                  <a:pt x="25654" y="175260"/>
                </a:lnTo>
                <a:lnTo>
                  <a:pt x="25908" y="175260"/>
                </a:lnTo>
                <a:lnTo>
                  <a:pt x="40894" y="175260"/>
                </a:lnTo>
                <a:lnTo>
                  <a:pt x="408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40460" y="3962412"/>
            <a:ext cx="40640" cy="175260"/>
          </a:xfrm>
          <a:custGeom>
            <a:avLst/>
            <a:gdLst/>
            <a:ahLst/>
            <a:cxnLst/>
            <a:rect l="l" t="t" r="r" b="b"/>
            <a:pathLst>
              <a:path w="40640" h="175260">
                <a:moveTo>
                  <a:pt x="4064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4719" y="175260"/>
                </a:lnTo>
                <a:lnTo>
                  <a:pt x="15240" y="175260"/>
                </a:lnTo>
                <a:lnTo>
                  <a:pt x="40627" y="175260"/>
                </a:lnTo>
                <a:lnTo>
                  <a:pt x="40627" y="169164"/>
                </a:lnTo>
                <a:lnTo>
                  <a:pt x="15240" y="169164"/>
                </a:lnTo>
                <a:lnTo>
                  <a:pt x="15240" y="7620"/>
                </a:lnTo>
                <a:lnTo>
                  <a:pt x="40640" y="7620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94563" y="3911598"/>
            <a:ext cx="192532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5"/>
              </a:spcBef>
              <a:tabLst>
                <a:tab pos="1531620" algn="l"/>
              </a:tabLst>
            </a:pPr>
            <a:r>
              <a:rPr sz="2175" spc="-277" baseline="3831" dirty="0">
                <a:latin typeface="Cambria"/>
                <a:cs typeface="Cambria"/>
              </a:rPr>
              <a:t>C</a:t>
            </a:r>
            <a:r>
              <a:rPr sz="2175" spc="-277" baseline="15325" dirty="0">
                <a:latin typeface="Cambria"/>
                <a:cs typeface="Cambria"/>
              </a:rPr>
              <a:t>˜</a:t>
            </a:r>
            <a:r>
              <a:rPr sz="2175" spc="22" baseline="15325" dirty="0">
                <a:latin typeface="Cambria"/>
                <a:cs typeface="Cambria"/>
              </a:rPr>
              <a:t>   </a:t>
            </a:r>
            <a:r>
              <a:rPr sz="2175" spc="457" baseline="3831" dirty="0">
                <a:latin typeface="Cambria"/>
                <a:cs typeface="Cambria"/>
              </a:rPr>
              <a:t>=</a:t>
            </a:r>
            <a:r>
              <a:rPr sz="2175" spc="157" baseline="3831" dirty="0">
                <a:latin typeface="Cambria"/>
                <a:cs typeface="Cambria"/>
              </a:rPr>
              <a:t> </a:t>
            </a:r>
            <a:r>
              <a:rPr sz="2175" spc="30" baseline="3831" dirty="0">
                <a:latin typeface="Cambria"/>
                <a:cs typeface="Cambria"/>
              </a:rPr>
              <a:t>tanh(</a:t>
            </a:r>
            <a:r>
              <a:rPr sz="2175" spc="292" baseline="3831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0.45	0.25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542032" y="3896880"/>
            <a:ext cx="43815" cy="309880"/>
          </a:xfrm>
          <a:custGeom>
            <a:avLst/>
            <a:gdLst/>
            <a:ahLst/>
            <a:cxnLst/>
            <a:rect l="l" t="t" r="r" b="b"/>
            <a:pathLst>
              <a:path w="43814" h="309879">
                <a:moveTo>
                  <a:pt x="43688" y="0"/>
                </a:moveTo>
                <a:lnTo>
                  <a:pt x="25908" y="0"/>
                </a:lnTo>
                <a:lnTo>
                  <a:pt x="508" y="0"/>
                </a:lnTo>
                <a:lnTo>
                  <a:pt x="508" y="7620"/>
                </a:lnTo>
                <a:lnTo>
                  <a:pt x="25908" y="7620"/>
                </a:lnTo>
                <a:lnTo>
                  <a:pt x="25908" y="301752"/>
                </a:lnTo>
                <a:lnTo>
                  <a:pt x="0" y="301752"/>
                </a:lnTo>
                <a:lnTo>
                  <a:pt x="0" y="309372"/>
                </a:lnTo>
                <a:lnTo>
                  <a:pt x="25908" y="309372"/>
                </a:lnTo>
                <a:lnTo>
                  <a:pt x="43688" y="309372"/>
                </a:lnTo>
                <a:lnTo>
                  <a:pt x="436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241550" y="3896880"/>
            <a:ext cx="44450" cy="309880"/>
          </a:xfrm>
          <a:custGeom>
            <a:avLst/>
            <a:gdLst/>
            <a:ahLst/>
            <a:cxnLst/>
            <a:rect l="l" t="t" r="r" b="b"/>
            <a:pathLst>
              <a:path w="44450" h="309879">
                <a:moveTo>
                  <a:pt x="44450" y="301752"/>
                </a:moveTo>
                <a:lnTo>
                  <a:pt x="17018" y="301752"/>
                </a:lnTo>
                <a:lnTo>
                  <a:pt x="17018" y="309372"/>
                </a:lnTo>
                <a:lnTo>
                  <a:pt x="44450" y="309372"/>
                </a:lnTo>
                <a:lnTo>
                  <a:pt x="44450" y="301752"/>
                </a:lnTo>
                <a:close/>
              </a:path>
              <a:path w="44450" h="309879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09372"/>
                </a:lnTo>
                <a:lnTo>
                  <a:pt x="16510" y="309372"/>
                </a:lnTo>
                <a:lnTo>
                  <a:pt x="16510" y="7620"/>
                </a:lnTo>
                <a:lnTo>
                  <a:pt x="44450" y="7620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347975" y="4022850"/>
            <a:ext cx="13017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20" dirty="0">
                <a:latin typeface="Cambria"/>
                <a:cs typeface="Cambria"/>
              </a:rPr>
              <a:t>3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256280" y="3962412"/>
            <a:ext cx="41910" cy="175260"/>
          </a:xfrm>
          <a:custGeom>
            <a:avLst/>
            <a:gdLst/>
            <a:ahLst/>
            <a:cxnLst/>
            <a:rect l="l" t="t" r="r" b="b"/>
            <a:pathLst>
              <a:path w="41910" h="175260">
                <a:moveTo>
                  <a:pt x="26416" y="169164"/>
                </a:moveTo>
                <a:lnTo>
                  <a:pt x="508" y="169164"/>
                </a:lnTo>
                <a:lnTo>
                  <a:pt x="508" y="175260"/>
                </a:lnTo>
                <a:lnTo>
                  <a:pt x="26416" y="175260"/>
                </a:lnTo>
                <a:lnTo>
                  <a:pt x="26416" y="169164"/>
                </a:lnTo>
                <a:close/>
              </a:path>
              <a:path w="41910" h="175260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7620"/>
                </a:lnTo>
                <a:lnTo>
                  <a:pt x="26670" y="7620"/>
                </a:lnTo>
                <a:lnTo>
                  <a:pt x="26670" y="175260"/>
                </a:lnTo>
                <a:lnTo>
                  <a:pt x="41910" y="17526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852420" y="3962412"/>
            <a:ext cx="41910" cy="175260"/>
          </a:xfrm>
          <a:custGeom>
            <a:avLst/>
            <a:gdLst/>
            <a:ahLst/>
            <a:cxnLst/>
            <a:rect l="l" t="t" r="r" b="b"/>
            <a:pathLst>
              <a:path w="41910" h="175260">
                <a:moveTo>
                  <a:pt x="41656" y="169164"/>
                </a:moveTo>
                <a:lnTo>
                  <a:pt x="15748" y="169164"/>
                </a:lnTo>
                <a:lnTo>
                  <a:pt x="15748" y="175260"/>
                </a:lnTo>
                <a:lnTo>
                  <a:pt x="41656" y="175260"/>
                </a:lnTo>
                <a:lnTo>
                  <a:pt x="41656" y="169164"/>
                </a:lnTo>
                <a:close/>
              </a:path>
              <a:path w="41910" h="175260">
                <a:moveTo>
                  <a:pt x="4191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5240" y="175260"/>
                </a:lnTo>
                <a:lnTo>
                  <a:pt x="15240" y="7620"/>
                </a:lnTo>
                <a:lnTo>
                  <a:pt x="41910" y="762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76090" y="3962412"/>
            <a:ext cx="41910" cy="175260"/>
          </a:xfrm>
          <a:custGeom>
            <a:avLst/>
            <a:gdLst/>
            <a:ahLst/>
            <a:cxnLst/>
            <a:rect l="l" t="t" r="r" b="b"/>
            <a:pathLst>
              <a:path w="41910" h="175260">
                <a:moveTo>
                  <a:pt x="26162" y="169164"/>
                </a:moveTo>
                <a:lnTo>
                  <a:pt x="254" y="169164"/>
                </a:lnTo>
                <a:lnTo>
                  <a:pt x="254" y="175260"/>
                </a:lnTo>
                <a:lnTo>
                  <a:pt x="26162" y="175260"/>
                </a:lnTo>
                <a:lnTo>
                  <a:pt x="26162" y="169164"/>
                </a:lnTo>
                <a:close/>
              </a:path>
              <a:path w="41910" h="175260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7620"/>
                </a:lnTo>
                <a:lnTo>
                  <a:pt x="26670" y="7620"/>
                </a:lnTo>
                <a:lnTo>
                  <a:pt x="26670" y="175260"/>
                </a:lnTo>
                <a:lnTo>
                  <a:pt x="41910" y="17526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557270" y="3962412"/>
            <a:ext cx="41275" cy="175260"/>
          </a:xfrm>
          <a:custGeom>
            <a:avLst/>
            <a:gdLst/>
            <a:ahLst/>
            <a:cxnLst/>
            <a:rect l="l" t="t" r="r" b="b"/>
            <a:pathLst>
              <a:path w="41275" h="175260">
                <a:moveTo>
                  <a:pt x="40894" y="169164"/>
                </a:moveTo>
                <a:lnTo>
                  <a:pt x="15240" y="169164"/>
                </a:lnTo>
                <a:lnTo>
                  <a:pt x="15240" y="7620"/>
                </a:lnTo>
                <a:lnTo>
                  <a:pt x="40640" y="7620"/>
                </a:lnTo>
                <a:lnTo>
                  <a:pt x="40640" y="0"/>
                </a:ln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4986" y="175260"/>
                </a:lnTo>
                <a:lnTo>
                  <a:pt x="15240" y="175260"/>
                </a:lnTo>
                <a:lnTo>
                  <a:pt x="40894" y="175260"/>
                </a:lnTo>
                <a:lnTo>
                  <a:pt x="40894" y="169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250947" y="3900930"/>
            <a:ext cx="280733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175" spc="15" baseline="30651" dirty="0">
                <a:latin typeface="Cambria"/>
                <a:cs typeface="Cambria"/>
              </a:rPr>
              <a:t>0.5 </a:t>
            </a:r>
            <a:r>
              <a:rPr sz="2175" spc="337" baseline="306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+</a:t>
            </a:r>
            <a:r>
              <a:rPr sz="1450" spc="520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0.15 </a:t>
            </a:r>
            <a:r>
              <a:rPr sz="1450" spc="190" dirty="0">
                <a:latin typeface="Cambria"/>
                <a:cs typeface="Cambria"/>
              </a:rPr>
              <a:t> </a:t>
            </a:r>
            <a:r>
              <a:rPr sz="1450" spc="260" dirty="0">
                <a:latin typeface="Cambria"/>
                <a:cs typeface="Cambria"/>
              </a:rPr>
              <a:t>×</a:t>
            </a:r>
            <a:r>
              <a:rPr sz="1450" spc="520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0.53631 </a:t>
            </a:r>
            <a:r>
              <a:rPr sz="1450" spc="185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+</a:t>
            </a:r>
            <a:r>
              <a:rPr sz="1450" spc="5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[0.2])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68217" y="4413503"/>
            <a:ext cx="1153795" cy="233679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7305">
              <a:lnSpc>
                <a:spcPts val="1730"/>
              </a:lnSpc>
            </a:pPr>
            <a:r>
              <a:rPr sz="1450" spc="-150" dirty="0">
                <a:latin typeface="Cambria"/>
                <a:cs typeface="Cambria"/>
              </a:rPr>
              <a:t>C</a:t>
            </a:r>
            <a:r>
              <a:rPr sz="2175" spc="-225" baseline="11494" dirty="0">
                <a:latin typeface="Cambria"/>
                <a:cs typeface="Cambria"/>
              </a:rPr>
              <a:t>˜</a:t>
            </a:r>
            <a:r>
              <a:rPr sz="1650" spc="-225" baseline="-15151" dirty="0">
                <a:latin typeface="Cambria"/>
                <a:cs typeface="Cambria"/>
              </a:rPr>
              <a:t>1</a:t>
            </a:r>
            <a:r>
              <a:rPr sz="1650" spc="157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r>
              <a:rPr sz="1450" spc="70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0.84980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60697" y="3528060"/>
            <a:ext cx="1975485" cy="175260"/>
          </a:xfrm>
          <a:custGeom>
            <a:avLst/>
            <a:gdLst/>
            <a:ahLst/>
            <a:cxnLst/>
            <a:rect l="l" t="t" r="r" b="b"/>
            <a:pathLst>
              <a:path w="1975485" h="175260">
                <a:moveTo>
                  <a:pt x="1975110" y="88392"/>
                </a:moveTo>
                <a:lnTo>
                  <a:pt x="1966751" y="44029"/>
                </a:lnTo>
                <a:lnTo>
                  <a:pt x="1942725" y="12001"/>
                </a:lnTo>
                <a:lnTo>
                  <a:pt x="1918722" y="0"/>
                </a:lnTo>
                <a:lnTo>
                  <a:pt x="1917198" y="7620"/>
                </a:lnTo>
                <a:lnTo>
                  <a:pt x="1926913" y="11906"/>
                </a:lnTo>
                <a:lnTo>
                  <a:pt x="1935486" y="17907"/>
                </a:lnTo>
                <a:lnTo>
                  <a:pt x="1956060" y="58674"/>
                </a:lnTo>
                <a:lnTo>
                  <a:pt x="1958346" y="86868"/>
                </a:lnTo>
                <a:lnTo>
                  <a:pt x="1958346" y="146990"/>
                </a:lnTo>
                <a:lnTo>
                  <a:pt x="1959870" y="144780"/>
                </a:lnTo>
                <a:lnTo>
                  <a:pt x="1966751" y="132754"/>
                </a:lnTo>
                <a:lnTo>
                  <a:pt x="1971490" y="119443"/>
                </a:lnTo>
                <a:lnTo>
                  <a:pt x="1974229" y="104703"/>
                </a:lnTo>
                <a:lnTo>
                  <a:pt x="1975110" y="88392"/>
                </a:lnTo>
                <a:close/>
              </a:path>
              <a:path w="1975485" h="175260">
                <a:moveTo>
                  <a:pt x="1958346" y="146990"/>
                </a:moveTo>
                <a:lnTo>
                  <a:pt x="1958346" y="86868"/>
                </a:lnTo>
                <a:lnTo>
                  <a:pt x="1957774" y="102274"/>
                </a:lnTo>
                <a:lnTo>
                  <a:pt x="1956060" y="116395"/>
                </a:lnTo>
                <a:lnTo>
                  <a:pt x="1935486" y="158115"/>
                </a:lnTo>
                <a:lnTo>
                  <a:pt x="1917198" y="169164"/>
                </a:lnTo>
                <a:lnTo>
                  <a:pt x="1918722" y="175260"/>
                </a:lnTo>
                <a:lnTo>
                  <a:pt x="1931580" y="170926"/>
                </a:lnTo>
                <a:lnTo>
                  <a:pt x="1942725" y="164592"/>
                </a:lnTo>
                <a:lnTo>
                  <a:pt x="1952154" y="155971"/>
                </a:lnTo>
                <a:lnTo>
                  <a:pt x="1958346" y="146990"/>
                </a:lnTo>
                <a:close/>
              </a:path>
              <a:path w="1975485" h="175260">
                <a:moveTo>
                  <a:pt x="57912" y="7620"/>
                </a:moveTo>
                <a:lnTo>
                  <a:pt x="56388" y="0"/>
                </a:lnTo>
                <a:lnTo>
                  <a:pt x="43529" y="5214"/>
                </a:lnTo>
                <a:lnTo>
                  <a:pt x="32385" y="12001"/>
                </a:lnTo>
                <a:lnTo>
                  <a:pt x="8358" y="44029"/>
                </a:lnTo>
                <a:lnTo>
                  <a:pt x="0" y="88392"/>
                </a:lnTo>
                <a:lnTo>
                  <a:pt x="881" y="104703"/>
                </a:lnTo>
                <a:lnTo>
                  <a:pt x="3619" y="119443"/>
                </a:lnTo>
                <a:lnTo>
                  <a:pt x="8358" y="132754"/>
                </a:lnTo>
                <a:lnTo>
                  <a:pt x="15240" y="144780"/>
                </a:lnTo>
                <a:lnTo>
                  <a:pt x="16764" y="146990"/>
                </a:lnTo>
                <a:lnTo>
                  <a:pt x="16764" y="86868"/>
                </a:lnTo>
                <a:lnTo>
                  <a:pt x="17335" y="72342"/>
                </a:lnTo>
                <a:lnTo>
                  <a:pt x="25908" y="35052"/>
                </a:lnTo>
                <a:lnTo>
                  <a:pt x="48196" y="11906"/>
                </a:lnTo>
                <a:lnTo>
                  <a:pt x="57912" y="7620"/>
                </a:lnTo>
                <a:close/>
              </a:path>
              <a:path w="1975485" h="175260">
                <a:moveTo>
                  <a:pt x="57912" y="169164"/>
                </a:moveTo>
                <a:lnTo>
                  <a:pt x="25908" y="140208"/>
                </a:lnTo>
                <a:lnTo>
                  <a:pt x="17335" y="102274"/>
                </a:lnTo>
                <a:lnTo>
                  <a:pt x="16764" y="86868"/>
                </a:lnTo>
                <a:lnTo>
                  <a:pt x="16764" y="146990"/>
                </a:lnTo>
                <a:lnTo>
                  <a:pt x="22955" y="155971"/>
                </a:lnTo>
                <a:lnTo>
                  <a:pt x="32385" y="164592"/>
                </a:lnTo>
                <a:lnTo>
                  <a:pt x="43529" y="170926"/>
                </a:lnTo>
                <a:lnTo>
                  <a:pt x="56388" y="175260"/>
                </a:lnTo>
                <a:lnTo>
                  <a:pt x="57912" y="169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10305" y="3468114"/>
            <a:ext cx="112903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275590" algn="l"/>
              </a:tabLst>
            </a:pPr>
            <a:r>
              <a:rPr sz="1450" spc="-185" dirty="0">
                <a:latin typeface="Cambria"/>
                <a:cs typeface="Cambria"/>
              </a:rPr>
              <a:t>C</a:t>
            </a:r>
            <a:r>
              <a:rPr sz="2175" spc="-277" baseline="11494" dirty="0">
                <a:latin typeface="Cambria"/>
                <a:cs typeface="Cambria"/>
              </a:rPr>
              <a:t>˜	</a:t>
            </a:r>
            <a:r>
              <a:rPr sz="1450" spc="305" dirty="0">
                <a:latin typeface="Cambria"/>
                <a:cs typeface="Cambria"/>
              </a:rPr>
              <a:t>=</a:t>
            </a:r>
            <a:r>
              <a:rPr sz="1450" spc="60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tanh</a:t>
            </a:r>
            <a:r>
              <a:rPr sz="1450" spc="235" dirty="0">
                <a:latin typeface="Cambria"/>
                <a:cs typeface="Cambria"/>
              </a:rPr>
              <a:t> </a:t>
            </a:r>
            <a:r>
              <a:rPr sz="1450" spc="75" dirty="0">
                <a:latin typeface="Cambria"/>
                <a:cs typeface="Cambria"/>
              </a:rPr>
              <a:t>W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33241" y="3556506"/>
            <a:ext cx="1390650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26465" algn="l"/>
                <a:tab pos="1297305" algn="l"/>
              </a:tabLst>
            </a:pPr>
            <a:r>
              <a:rPr sz="1100" spc="20" dirty="0">
                <a:latin typeface="Cambria"/>
                <a:cs typeface="Cambria"/>
              </a:rPr>
              <a:t>1	</a:t>
            </a:r>
            <a:r>
              <a:rPr sz="1100" spc="110" dirty="0">
                <a:latin typeface="Cambria"/>
                <a:cs typeface="Cambria"/>
              </a:rPr>
              <a:t>x</a:t>
            </a:r>
            <a:r>
              <a:rPr sz="1100" spc="65" dirty="0">
                <a:latin typeface="Cambria"/>
                <a:cs typeface="Cambria"/>
              </a:rPr>
              <a:t>c	</a:t>
            </a:r>
            <a:r>
              <a:rPr sz="1100" spc="20" dirty="0">
                <a:latin typeface="Cambria"/>
                <a:cs typeface="Cambria"/>
              </a:rPr>
              <a:t>1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453340" y="3468114"/>
            <a:ext cx="68389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5" dirty="0">
                <a:latin typeface="Cambria"/>
                <a:cs typeface="Cambria"/>
              </a:rPr>
              <a:t>.</a:t>
            </a:r>
            <a:r>
              <a:rPr sz="1450" spc="-75" dirty="0">
                <a:latin typeface="Cambria"/>
                <a:cs typeface="Cambria"/>
              </a:rPr>
              <a:t> </a:t>
            </a:r>
            <a:r>
              <a:rPr sz="1450" spc="90" dirty="0">
                <a:latin typeface="Cambria"/>
                <a:cs typeface="Cambria"/>
              </a:rPr>
              <a:t>x</a:t>
            </a:r>
            <a:r>
              <a:rPr sz="1450" dirty="0">
                <a:latin typeface="Cambria"/>
                <a:cs typeface="Cambria"/>
              </a:rPr>
              <a:t>  </a:t>
            </a:r>
            <a:r>
              <a:rPr sz="1450" spc="10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+</a:t>
            </a:r>
            <a:r>
              <a:rPr sz="1450" spc="20" dirty="0">
                <a:latin typeface="Cambria"/>
                <a:cs typeface="Cambria"/>
              </a:rPr>
              <a:t> </a:t>
            </a:r>
            <a:r>
              <a:rPr sz="1450" spc="75" dirty="0">
                <a:latin typeface="Cambria"/>
                <a:cs typeface="Cambria"/>
              </a:rPr>
              <a:t>W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294588" y="3468114"/>
            <a:ext cx="61531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16865" algn="l"/>
              </a:tabLst>
            </a:pPr>
            <a:r>
              <a:rPr sz="1450" spc="5" dirty="0">
                <a:latin typeface="Cambria"/>
                <a:cs typeface="Cambria"/>
              </a:rPr>
              <a:t>.</a:t>
            </a:r>
            <a:r>
              <a:rPr sz="1450" spc="-75" dirty="0">
                <a:latin typeface="Cambria"/>
                <a:cs typeface="Cambria"/>
              </a:rPr>
              <a:t> </a:t>
            </a:r>
            <a:r>
              <a:rPr sz="1450" spc="20" dirty="0">
                <a:latin typeface="Cambria"/>
                <a:cs typeface="Cambria"/>
              </a:rPr>
              <a:t>ℎ	</a:t>
            </a:r>
            <a:r>
              <a:rPr sz="1450" spc="305" dirty="0">
                <a:latin typeface="Cambria"/>
                <a:cs typeface="Cambria"/>
              </a:rPr>
              <a:t>+</a:t>
            </a:r>
            <a:r>
              <a:rPr sz="1450" spc="-65" dirty="0">
                <a:latin typeface="Cambria"/>
                <a:cs typeface="Cambria"/>
              </a:rPr>
              <a:t> </a:t>
            </a:r>
            <a:r>
              <a:rPr sz="1450" spc="5" dirty="0">
                <a:latin typeface="Cambria"/>
                <a:cs typeface="Cambria"/>
              </a:rPr>
              <a:t>b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087364" y="3556506"/>
            <a:ext cx="886460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94970" algn="l"/>
                <a:tab pos="803275" algn="l"/>
              </a:tabLst>
            </a:pPr>
            <a:r>
              <a:rPr sz="1100" spc="60" dirty="0">
                <a:latin typeface="Cambria"/>
                <a:cs typeface="Cambria"/>
              </a:rPr>
              <a:t>h</a:t>
            </a:r>
            <a:r>
              <a:rPr sz="1100" spc="65" dirty="0">
                <a:latin typeface="Cambria"/>
                <a:cs typeface="Cambria"/>
              </a:rPr>
              <a:t>c</a:t>
            </a:r>
            <a:r>
              <a:rPr sz="1100" dirty="0">
                <a:latin typeface="Cambria"/>
                <a:cs typeface="Cambria"/>
              </a:rPr>
              <a:t>	</a:t>
            </a:r>
            <a:r>
              <a:rPr sz="1100" spc="20" dirty="0">
                <a:latin typeface="Cambria"/>
                <a:cs typeface="Cambria"/>
              </a:rPr>
              <a:t>0</a:t>
            </a:r>
            <a:r>
              <a:rPr sz="1100" dirty="0">
                <a:latin typeface="Cambria"/>
                <a:cs typeface="Cambria"/>
              </a:rPr>
              <a:t>	</a:t>
            </a:r>
            <a:r>
              <a:rPr sz="1100" spc="65" dirty="0">
                <a:latin typeface="Cambria"/>
                <a:cs typeface="Cambria"/>
              </a:rPr>
              <a:t>c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0" y="1057649"/>
            <a:ext cx="4528185" cy="416559"/>
            <a:chOff x="0" y="1057649"/>
            <a:chExt cx="4528185" cy="416559"/>
          </a:xfrm>
        </p:grpSpPr>
        <p:sp>
          <p:nvSpPr>
            <p:cNvPr id="42" name="object 42"/>
            <p:cNvSpPr/>
            <p:nvPr/>
          </p:nvSpPr>
          <p:spPr>
            <a:xfrm>
              <a:off x="0" y="1057649"/>
              <a:ext cx="4520565" cy="408940"/>
            </a:xfrm>
            <a:custGeom>
              <a:avLst/>
              <a:gdLst/>
              <a:ahLst/>
              <a:cxnLst/>
              <a:rect l="l" t="t" r="r" b="b"/>
              <a:pathLst>
                <a:path w="4520565" h="408940">
                  <a:moveTo>
                    <a:pt x="4520183" y="408431"/>
                  </a:moveTo>
                  <a:lnTo>
                    <a:pt x="4520183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4520183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0" y="1057649"/>
              <a:ext cx="4528185" cy="416559"/>
            </a:xfrm>
            <a:custGeom>
              <a:avLst/>
              <a:gdLst/>
              <a:ahLst/>
              <a:cxnLst/>
              <a:rect l="l" t="t" r="r" b="b"/>
              <a:pathLst>
                <a:path w="4528185" h="416559">
                  <a:moveTo>
                    <a:pt x="4520184" y="9144"/>
                  </a:moveTo>
                  <a:lnTo>
                    <a:pt x="4512564" y="0"/>
                  </a:lnTo>
                  <a:lnTo>
                    <a:pt x="0" y="0"/>
                  </a:lnTo>
                  <a:lnTo>
                    <a:pt x="0" y="9144"/>
                  </a:lnTo>
                  <a:lnTo>
                    <a:pt x="9138" y="0"/>
                  </a:lnTo>
                  <a:lnTo>
                    <a:pt x="9138" y="9144"/>
                  </a:lnTo>
                  <a:lnTo>
                    <a:pt x="4520184" y="9144"/>
                  </a:lnTo>
                  <a:close/>
                </a:path>
                <a:path w="4528185" h="416559">
                  <a:moveTo>
                    <a:pt x="9138" y="9144"/>
                  </a:moveTo>
                  <a:lnTo>
                    <a:pt x="9138" y="0"/>
                  </a:lnTo>
                  <a:lnTo>
                    <a:pt x="0" y="9144"/>
                  </a:lnTo>
                  <a:lnTo>
                    <a:pt x="9138" y="9144"/>
                  </a:lnTo>
                  <a:close/>
                </a:path>
                <a:path w="4528185" h="416559">
                  <a:moveTo>
                    <a:pt x="9138" y="400812"/>
                  </a:moveTo>
                  <a:lnTo>
                    <a:pt x="9138" y="9144"/>
                  </a:lnTo>
                  <a:lnTo>
                    <a:pt x="0" y="9144"/>
                  </a:lnTo>
                  <a:lnTo>
                    <a:pt x="0" y="400812"/>
                  </a:lnTo>
                  <a:lnTo>
                    <a:pt x="9138" y="400812"/>
                  </a:lnTo>
                  <a:close/>
                </a:path>
                <a:path w="4528185" h="416559">
                  <a:moveTo>
                    <a:pt x="4520184" y="400812"/>
                  </a:moveTo>
                  <a:lnTo>
                    <a:pt x="0" y="400812"/>
                  </a:lnTo>
                  <a:lnTo>
                    <a:pt x="9138" y="408432"/>
                  </a:lnTo>
                  <a:lnTo>
                    <a:pt x="9138" y="416052"/>
                  </a:lnTo>
                  <a:lnTo>
                    <a:pt x="4512564" y="416052"/>
                  </a:lnTo>
                  <a:lnTo>
                    <a:pt x="4512564" y="408432"/>
                  </a:lnTo>
                  <a:lnTo>
                    <a:pt x="4520184" y="400812"/>
                  </a:lnTo>
                  <a:close/>
                </a:path>
                <a:path w="4528185" h="416559">
                  <a:moveTo>
                    <a:pt x="9138" y="416052"/>
                  </a:moveTo>
                  <a:lnTo>
                    <a:pt x="9138" y="408432"/>
                  </a:lnTo>
                  <a:lnTo>
                    <a:pt x="0" y="400812"/>
                  </a:lnTo>
                  <a:lnTo>
                    <a:pt x="0" y="416052"/>
                  </a:lnTo>
                  <a:lnTo>
                    <a:pt x="9138" y="416052"/>
                  </a:lnTo>
                  <a:close/>
                </a:path>
                <a:path w="4528185" h="416559">
                  <a:moveTo>
                    <a:pt x="4527804" y="413004"/>
                  </a:moveTo>
                  <a:lnTo>
                    <a:pt x="4527804" y="0"/>
                  </a:lnTo>
                  <a:lnTo>
                    <a:pt x="4512564" y="0"/>
                  </a:lnTo>
                  <a:lnTo>
                    <a:pt x="4520184" y="9144"/>
                  </a:lnTo>
                  <a:lnTo>
                    <a:pt x="4520184" y="416052"/>
                  </a:lnTo>
                  <a:lnTo>
                    <a:pt x="4524756" y="416052"/>
                  </a:lnTo>
                  <a:lnTo>
                    <a:pt x="4527804" y="413004"/>
                  </a:lnTo>
                  <a:close/>
                </a:path>
                <a:path w="4528185" h="416559">
                  <a:moveTo>
                    <a:pt x="4520184" y="400812"/>
                  </a:moveTo>
                  <a:lnTo>
                    <a:pt x="4520184" y="9144"/>
                  </a:lnTo>
                  <a:lnTo>
                    <a:pt x="4512564" y="9144"/>
                  </a:lnTo>
                  <a:lnTo>
                    <a:pt x="4512564" y="400812"/>
                  </a:lnTo>
                  <a:lnTo>
                    <a:pt x="4520184" y="400812"/>
                  </a:lnTo>
                  <a:close/>
                </a:path>
                <a:path w="4528185" h="416559">
                  <a:moveTo>
                    <a:pt x="4520184" y="416052"/>
                  </a:moveTo>
                  <a:lnTo>
                    <a:pt x="4520184" y="400812"/>
                  </a:lnTo>
                  <a:lnTo>
                    <a:pt x="4512564" y="408432"/>
                  </a:lnTo>
                  <a:lnTo>
                    <a:pt x="4512564" y="416052"/>
                  </a:lnTo>
                  <a:lnTo>
                    <a:pt x="4520184" y="416052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>
            <a:spLocks noGrp="1"/>
          </p:cNvSpPr>
          <p:nvPr>
            <p:ph type="title"/>
          </p:nvPr>
        </p:nvSpPr>
        <p:spPr>
          <a:xfrm>
            <a:off x="63493" y="1051051"/>
            <a:ext cx="4210685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b="1" spc="-90" dirty="0">
                <a:latin typeface="Calibri"/>
                <a:cs typeface="Calibri"/>
              </a:rPr>
              <a:t>Worked</a:t>
            </a:r>
            <a:r>
              <a:rPr sz="2150" b="1" spc="-70" dirty="0">
                <a:latin typeface="Calibri"/>
                <a:cs typeface="Calibri"/>
              </a:rPr>
              <a:t> Example</a:t>
            </a:r>
            <a:r>
              <a:rPr sz="2150" b="1" spc="-75" dirty="0">
                <a:latin typeface="Calibri"/>
                <a:cs typeface="Calibri"/>
              </a:rPr>
              <a:t> </a:t>
            </a:r>
            <a:r>
              <a:rPr sz="2150" b="1" spc="-5" dirty="0">
                <a:latin typeface="Calibri"/>
                <a:cs typeface="Calibri"/>
              </a:rPr>
              <a:t>–</a:t>
            </a:r>
            <a:r>
              <a:rPr sz="2150" b="1" spc="-30" dirty="0">
                <a:latin typeface="Calibri"/>
                <a:cs typeface="Calibri"/>
              </a:rPr>
              <a:t> </a:t>
            </a:r>
            <a:r>
              <a:rPr sz="2150" b="1" spc="-70" dirty="0">
                <a:latin typeface="Calibri"/>
                <a:cs typeface="Calibri"/>
              </a:rPr>
              <a:t>Forward </a:t>
            </a:r>
            <a:r>
              <a:rPr sz="2150" b="1" spc="-60" dirty="0">
                <a:latin typeface="Calibri"/>
                <a:cs typeface="Calibri"/>
              </a:rPr>
              <a:t>Pass</a:t>
            </a:r>
            <a:r>
              <a:rPr sz="2150" b="1" spc="-70" dirty="0">
                <a:latin typeface="Calibri"/>
                <a:cs typeface="Calibri"/>
              </a:rPr>
              <a:t> </a:t>
            </a:r>
            <a:r>
              <a:rPr sz="2150" b="1" spc="-20" dirty="0">
                <a:latin typeface="Calibri"/>
                <a:cs typeface="Calibri"/>
              </a:rPr>
              <a:t>@</a:t>
            </a:r>
            <a:r>
              <a:rPr sz="2150" b="1" spc="-45" dirty="0">
                <a:latin typeface="Calibri"/>
                <a:cs typeface="Calibri"/>
              </a:rPr>
              <a:t> </a:t>
            </a:r>
            <a:r>
              <a:rPr sz="2150" b="1" spc="-20" dirty="0">
                <a:latin typeface="Calibri"/>
                <a:cs typeface="Calibri"/>
              </a:rPr>
              <a:t>t=1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514849" y="2031491"/>
            <a:ext cx="1160145" cy="2286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80"/>
              </a:lnSpc>
            </a:pPr>
            <a:r>
              <a:rPr sz="1450" spc="20" dirty="0">
                <a:latin typeface="Cambria"/>
                <a:cs typeface="Cambria"/>
              </a:rPr>
              <a:t>ℎ</a:t>
            </a:r>
            <a:r>
              <a:rPr sz="1650" spc="30" baseline="-15151" dirty="0">
                <a:latin typeface="Cambria"/>
                <a:cs typeface="Cambria"/>
              </a:rPr>
              <a:t>0</a:t>
            </a:r>
            <a:r>
              <a:rPr sz="1650" spc="284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r>
              <a:rPr sz="1450" spc="70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0.53631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083051" y="2031491"/>
            <a:ext cx="1156970" cy="2286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80"/>
              </a:lnSpc>
            </a:pPr>
            <a:r>
              <a:rPr sz="1450" spc="5" dirty="0">
                <a:latin typeface="Cambria"/>
                <a:cs typeface="Cambria"/>
              </a:rPr>
              <a:t>C</a:t>
            </a:r>
            <a:r>
              <a:rPr sz="1650" spc="7" baseline="-15151" dirty="0">
                <a:latin typeface="Cambria"/>
                <a:cs typeface="Cambria"/>
              </a:rPr>
              <a:t>0</a:t>
            </a:r>
            <a:r>
              <a:rPr sz="1650" spc="277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r>
              <a:rPr sz="1450" spc="70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0.78572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370576" y="2753867"/>
            <a:ext cx="1129665" cy="386080"/>
          </a:xfrm>
          <a:custGeom>
            <a:avLst/>
            <a:gdLst/>
            <a:ahLst/>
            <a:cxnLst/>
            <a:rect l="l" t="t" r="r" b="b"/>
            <a:pathLst>
              <a:path w="1129664" h="386080">
                <a:moveTo>
                  <a:pt x="1129283" y="385571"/>
                </a:moveTo>
                <a:lnTo>
                  <a:pt x="1129283" y="0"/>
                </a:lnTo>
                <a:lnTo>
                  <a:pt x="0" y="0"/>
                </a:lnTo>
                <a:lnTo>
                  <a:pt x="0" y="385571"/>
                </a:lnTo>
                <a:lnTo>
                  <a:pt x="1129283" y="385571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5370576" y="2753867"/>
            <a:ext cx="633095" cy="357505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73025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575"/>
              </a:spcBef>
            </a:pPr>
            <a:r>
              <a:rPr sz="1450" spc="25" dirty="0">
                <a:latin typeface="Cambria"/>
                <a:cs typeface="Cambria"/>
              </a:rPr>
              <a:t>W</a:t>
            </a:r>
            <a:r>
              <a:rPr sz="1650" spc="37" baseline="-15151" dirty="0">
                <a:latin typeface="Cambria"/>
                <a:cs typeface="Cambria"/>
              </a:rPr>
              <a:t>xi</a:t>
            </a:r>
            <a:r>
              <a:rPr sz="1650" spc="300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6003290" y="2805696"/>
            <a:ext cx="449580" cy="309880"/>
          </a:xfrm>
          <a:custGeom>
            <a:avLst/>
            <a:gdLst/>
            <a:ahLst/>
            <a:cxnLst/>
            <a:rect l="l" t="t" r="r" b="b"/>
            <a:pathLst>
              <a:path w="449579" h="309880">
                <a:moveTo>
                  <a:pt x="42418" y="301752"/>
                </a:moveTo>
                <a:lnTo>
                  <a:pt x="16510" y="301752"/>
                </a:lnTo>
                <a:lnTo>
                  <a:pt x="16510" y="7620"/>
                </a:lnTo>
                <a:lnTo>
                  <a:pt x="41910" y="7620"/>
                </a:lnTo>
                <a:lnTo>
                  <a:pt x="41910" y="0"/>
                </a:lnTo>
                <a:lnTo>
                  <a:pt x="16510" y="0"/>
                </a:lnTo>
                <a:lnTo>
                  <a:pt x="0" y="0"/>
                </a:lnTo>
                <a:lnTo>
                  <a:pt x="0" y="309372"/>
                </a:lnTo>
                <a:lnTo>
                  <a:pt x="16510" y="309372"/>
                </a:lnTo>
                <a:lnTo>
                  <a:pt x="42418" y="309372"/>
                </a:lnTo>
                <a:lnTo>
                  <a:pt x="42418" y="301752"/>
                </a:lnTo>
                <a:close/>
              </a:path>
              <a:path w="449579" h="309880">
                <a:moveTo>
                  <a:pt x="432562" y="301752"/>
                </a:moveTo>
                <a:lnTo>
                  <a:pt x="406654" y="301752"/>
                </a:lnTo>
                <a:lnTo>
                  <a:pt x="406654" y="309372"/>
                </a:lnTo>
                <a:lnTo>
                  <a:pt x="432562" y="309372"/>
                </a:lnTo>
                <a:lnTo>
                  <a:pt x="432562" y="301752"/>
                </a:lnTo>
                <a:close/>
              </a:path>
              <a:path w="449579" h="309880">
                <a:moveTo>
                  <a:pt x="449580" y="0"/>
                </a:moveTo>
                <a:lnTo>
                  <a:pt x="433070" y="0"/>
                </a:lnTo>
                <a:lnTo>
                  <a:pt x="406400" y="0"/>
                </a:lnTo>
                <a:lnTo>
                  <a:pt x="406400" y="7620"/>
                </a:lnTo>
                <a:lnTo>
                  <a:pt x="433070" y="7620"/>
                </a:lnTo>
                <a:lnTo>
                  <a:pt x="433070" y="309372"/>
                </a:lnTo>
                <a:lnTo>
                  <a:pt x="449580" y="309372"/>
                </a:lnTo>
                <a:lnTo>
                  <a:pt x="4495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710171" y="2746247"/>
            <a:ext cx="1127760" cy="228600"/>
          </a:xfrm>
          <a:custGeom>
            <a:avLst/>
            <a:gdLst/>
            <a:ahLst/>
            <a:cxnLst/>
            <a:rect l="l" t="t" r="r" b="b"/>
            <a:pathLst>
              <a:path w="1127759" h="228600">
                <a:moveTo>
                  <a:pt x="1127759" y="228599"/>
                </a:moveTo>
                <a:lnTo>
                  <a:pt x="1127759" y="0"/>
                </a:lnTo>
                <a:lnTo>
                  <a:pt x="0" y="0"/>
                </a:lnTo>
                <a:lnTo>
                  <a:pt x="0" y="228599"/>
                </a:lnTo>
                <a:lnTo>
                  <a:pt x="1127759" y="228599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6710171" y="2746247"/>
            <a:ext cx="635635" cy="2286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4130">
              <a:lnSpc>
                <a:spcPts val="1680"/>
              </a:lnSpc>
            </a:pPr>
            <a:r>
              <a:rPr sz="1450" spc="10" dirty="0">
                <a:latin typeface="Cambria"/>
                <a:cs typeface="Cambria"/>
              </a:rPr>
              <a:t>W</a:t>
            </a:r>
            <a:r>
              <a:rPr sz="1650" spc="15" baseline="-15151" dirty="0">
                <a:latin typeface="Cambria"/>
                <a:cs typeface="Cambria"/>
              </a:rPr>
              <a:t>hi</a:t>
            </a:r>
            <a:r>
              <a:rPr sz="1650" spc="300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345680" y="2782836"/>
            <a:ext cx="444500" cy="175260"/>
          </a:xfrm>
          <a:custGeom>
            <a:avLst/>
            <a:gdLst/>
            <a:ahLst/>
            <a:cxnLst/>
            <a:rect l="l" t="t" r="r" b="b"/>
            <a:pathLst>
              <a:path w="444500" h="175260">
                <a:moveTo>
                  <a:pt x="16510" y="0"/>
                </a:moveTo>
                <a:lnTo>
                  <a:pt x="0" y="0"/>
                </a:lnTo>
                <a:lnTo>
                  <a:pt x="0" y="175260"/>
                </a:lnTo>
                <a:lnTo>
                  <a:pt x="16510" y="175260"/>
                </a:lnTo>
                <a:lnTo>
                  <a:pt x="16510" y="0"/>
                </a:lnTo>
                <a:close/>
              </a:path>
              <a:path w="444500" h="175260">
                <a:moveTo>
                  <a:pt x="444500" y="0"/>
                </a:moveTo>
                <a:lnTo>
                  <a:pt x="429260" y="0"/>
                </a:lnTo>
                <a:lnTo>
                  <a:pt x="403860" y="0"/>
                </a:lnTo>
                <a:lnTo>
                  <a:pt x="403860" y="6096"/>
                </a:lnTo>
                <a:lnTo>
                  <a:pt x="429260" y="6096"/>
                </a:lnTo>
                <a:lnTo>
                  <a:pt x="429260" y="167640"/>
                </a:lnTo>
                <a:lnTo>
                  <a:pt x="403860" y="167640"/>
                </a:lnTo>
                <a:lnTo>
                  <a:pt x="403860" y="175260"/>
                </a:lnTo>
                <a:lnTo>
                  <a:pt x="429260" y="175260"/>
                </a:lnTo>
                <a:lnTo>
                  <a:pt x="429768" y="175260"/>
                </a:lnTo>
                <a:lnTo>
                  <a:pt x="444500" y="175260"/>
                </a:lnTo>
                <a:lnTo>
                  <a:pt x="444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362190" y="2782824"/>
            <a:ext cx="24130" cy="6350"/>
          </a:xfrm>
          <a:custGeom>
            <a:avLst/>
            <a:gdLst/>
            <a:ahLst/>
            <a:cxnLst/>
            <a:rect l="l" t="t" r="r" b="b"/>
            <a:pathLst>
              <a:path w="24129" h="6350">
                <a:moveTo>
                  <a:pt x="0" y="0"/>
                </a:moveTo>
                <a:lnTo>
                  <a:pt x="0" y="6096"/>
                </a:lnTo>
                <a:lnTo>
                  <a:pt x="24129" y="6096"/>
                </a:lnTo>
                <a:lnTo>
                  <a:pt x="2412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362444" y="2950464"/>
            <a:ext cx="24765" cy="7620"/>
          </a:xfrm>
          <a:custGeom>
            <a:avLst/>
            <a:gdLst/>
            <a:ahLst/>
            <a:cxnLst/>
            <a:rect l="l" t="t" r="r" b="b"/>
            <a:pathLst>
              <a:path w="24765" h="7619">
                <a:moveTo>
                  <a:pt x="24384" y="7620"/>
                </a:moveTo>
                <a:lnTo>
                  <a:pt x="24384" y="0"/>
                </a:lnTo>
                <a:lnTo>
                  <a:pt x="0" y="0"/>
                </a:lnTo>
                <a:lnTo>
                  <a:pt x="0" y="7620"/>
                </a:lnTo>
                <a:lnTo>
                  <a:pt x="24384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6019800" y="2721355"/>
            <a:ext cx="1755139" cy="462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8575">
              <a:lnSpc>
                <a:spcPts val="1700"/>
              </a:lnSpc>
              <a:spcBef>
                <a:spcPts val="135"/>
              </a:spcBef>
              <a:tabLst>
                <a:tab pos="1369695" algn="l"/>
              </a:tabLst>
            </a:pPr>
            <a:r>
              <a:rPr sz="2175" spc="22" baseline="3831" dirty="0">
                <a:latin typeface="Cambria"/>
                <a:cs typeface="Cambria"/>
              </a:rPr>
              <a:t>0.95	</a:t>
            </a:r>
            <a:r>
              <a:rPr sz="1450" spc="15" dirty="0">
                <a:latin typeface="Cambria"/>
                <a:cs typeface="Cambria"/>
              </a:rPr>
              <a:t>0.80</a:t>
            </a:r>
            <a:endParaRPr sz="1450">
              <a:latin typeface="Cambria"/>
              <a:cs typeface="Cambria"/>
            </a:endParaRPr>
          </a:p>
          <a:p>
            <a:pPr marL="28575">
              <a:lnSpc>
                <a:spcPts val="1700"/>
              </a:lnSpc>
            </a:pPr>
            <a:r>
              <a:rPr sz="1450" spc="15" dirty="0">
                <a:latin typeface="Cambria"/>
                <a:cs typeface="Cambria"/>
              </a:rPr>
              <a:t>0.80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7943088" y="2746247"/>
            <a:ext cx="984885" cy="228600"/>
          </a:xfrm>
          <a:custGeom>
            <a:avLst/>
            <a:gdLst/>
            <a:ahLst/>
            <a:cxnLst/>
            <a:rect l="l" t="t" r="r" b="b"/>
            <a:pathLst>
              <a:path w="984884" h="228600">
                <a:moveTo>
                  <a:pt x="984503" y="228599"/>
                </a:moveTo>
                <a:lnTo>
                  <a:pt x="984503" y="0"/>
                </a:lnTo>
                <a:lnTo>
                  <a:pt x="0" y="0"/>
                </a:lnTo>
                <a:lnTo>
                  <a:pt x="0" y="228599"/>
                </a:lnTo>
                <a:lnTo>
                  <a:pt x="984503" y="228599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7943088" y="2746247"/>
            <a:ext cx="492759" cy="2286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80"/>
              </a:lnSpc>
            </a:pPr>
            <a:r>
              <a:rPr sz="1450" spc="15" dirty="0">
                <a:latin typeface="Cambria"/>
                <a:cs typeface="Cambria"/>
              </a:rPr>
              <a:t>b</a:t>
            </a:r>
            <a:r>
              <a:rPr sz="1650" spc="22" baseline="-15151" dirty="0">
                <a:latin typeface="Cambria"/>
                <a:cs typeface="Cambria"/>
              </a:rPr>
              <a:t>i</a:t>
            </a:r>
            <a:r>
              <a:rPr sz="1650" spc="337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8435340" y="2782836"/>
            <a:ext cx="444500" cy="175260"/>
          </a:xfrm>
          <a:custGeom>
            <a:avLst/>
            <a:gdLst/>
            <a:ahLst/>
            <a:cxnLst/>
            <a:rect l="l" t="t" r="r" b="b"/>
            <a:pathLst>
              <a:path w="444500" h="175260">
                <a:moveTo>
                  <a:pt x="15240" y="0"/>
                </a:moveTo>
                <a:lnTo>
                  <a:pt x="0" y="0"/>
                </a:lnTo>
                <a:lnTo>
                  <a:pt x="0" y="175260"/>
                </a:lnTo>
                <a:lnTo>
                  <a:pt x="15240" y="175260"/>
                </a:lnTo>
                <a:lnTo>
                  <a:pt x="15240" y="0"/>
                </a:lnTo>
                <a:close/>
              </a:path>
              <a:path w="444500" h="175260">
                <a:moveTo>
                  <a:pt x="444500" y="0"/>
                </a:moveTo>
                <a:lnTo>
                  <a:pt x="429260" y="0"/>
                </a:lnTo>
                <a:lnTo>
                  <a:pt x="403860" y="0"/>
                </a:lnTo>
                <a:lnTo>
                  <a:pt x="403860" y="6096"/>
                </a:lnTo>
                <a:lnTo>
                  <a:pt x="429260" y="6096"/>
                </a:lnTo>
                <a:lnTo>
                  <a:pt x="429260" y="167640"/>
                </a:lnTo>
                <a:lnTo>
                  <a:pt x="403860" y="167640"/>
                </a:lnTo>
                <a:lnTo>
                  <a:pt x="403860" y="175260"/>
                </a:lnTo>
                <a:lnTo>
                  <a:pt x="429260" y="175260"/>
                </a:lnTo>
                <a:lnTo>
                  <a:pt x="429768" y="175260"/>
                </a:lnTo>
                <a:lnTo>
                  <a:pt x="444500" y="175260"/>
                </a:lnTo>
                <a:lnTo>
                  <a:pt x="444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450580" y="2782824"/>
            <a:ext cx="25400" cy="6350"/>
          </a:xfrm>
          <a:custGeom>
            <a:avLst/>
            <a:gdLst/>
            <a:ahLst/>
            <a:cxnLst/>
            <a:rect l="l" t="t" r="r" b="b"/>
            <a:pathLst>
              <a:path w="25400" h="6350">
                <a:moveTo>
                  <a:pt x="0" y="0"/>
                </a:moveTo>
                <a:lnTo>
                  <a:pt x="0" y="6096"/>
                </a:lnTo>
                <a:lnTo>
                  <a:pt x="25399" y="6096"/>
                </a:lnTo>
                <a:lnTo>
                  <a:pt x="25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450580" y="2950464"/>
            <a:ext cx="26034" cy="7620"/>
          </a:xfrm>
          <a:custGeom>
            <a:avLst/>
            <a:gdLst/>
            <a:ahLst/>
            <a:cxnLst/>
            <a:rect l="l" t="t" r="r" b="b"/>
            <a:pathLst>
              <a:path w="26034" h="7619">
                <a:moveTo>
                  <a:pt x="25908" y="7620"/>
                </a:moveTo>
                <a:lnTo>
                  <a:pt x="25908" y="0"/>
                </a:lnTo>
                <a:lnTo>
                  <a:pt x="0" y="0"/>
                </a:lnTo>
                <a:lnTo>
                  <a:pt x="0" y="7620"/>
                </a:lnTo>
                <a:lnTo>
                  <a:pt x="25908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8450580" y="2721355"/>
            <a:ext cx="41402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35"/>
              </a:spcBef>
            </a:pPr>
            <a:r>
              <a:rPr sz="1450" spc="15" dirty="0">
                <a:latin typeface="Cambria"/>
                <a:cs typeface="Cambria"/>
              </a:rPr>
              <a:t>0.65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369049" y="3277614"/>
            <a:ext cx="247586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50" spc="40" dirty="0">
                <a:latin typeface="Cambria"/>
                <a:cs typeface="Cambria"/>
              </a:rPr>
              <a:t>i</a:t>
            </a:r>
            <a:r>
              <a:rPr sz="1650" spc="60" baseline="-15151" dirty="0">
                <a:latin typeface="Cambria"/>
                <a:cs typeface="Cambria"/>
              </a:rPr>
              <a:t>1</a:t>
            </a:r>
            <a:r>
              <a:rPr sz="1450" spc="40" dirty="0">
                <a:latin typeface="Calibri"/>
                <a:cs typeface="Calibri"/>
              </a:rPr>
              <a:t>=</a:t>
            </a:r>
            <a:r>
              <a:rPr sz="1450" spc="5" dirty="0">
                <a:latin typeface="Calibri"/>
                <a:cs typeface="Calibri"/>
              </a:rPr>
              <a:t> </a:t>
            </a:r>
            <a:r>
              <a:rPr sz="1450" spc="40" dirty="0">
                <a:latin typeface="Cambria"/>
                <a:cs typeface="Cambria"/>
              </a:rPr>
              <a:t>σ</a:t>
            </a:r>
            <a:r>
              <a:rPr sz="1450" spc="45" dirty="0">
                <a:latin typeface="Cambria"/>
                <a:cs typeface="Cambria"/>
              </a:rPr>
              <a:t> </a:t>
            </a:r>
            <a:r>
              <a:rPr sz="1450" spc="30" dirty="0">
                <a:latin typeface="Cambria"/>
                <a:cs typeface="Cambria"/>
              </a:rPr>
              <a:t>(W</a:t>
            </a:r>
            <a:r>
              <a:rPr sz="1650" spc="44" baseline="-15151" dirty="0">
                <a:latin typeface="Cambria"/>
                <a:cs typeface="Cambria"/>
              </a:rPr>
              <a:t>xi</a:t>
            </a:r>
            <a:r>
              <a:rPr sz="1650" spc="254" baseline="-15151" dirty="0">
                <a:latin typeface="Cambria"/>
                <a:cs typeface="Cambria"/>
              </a:rPr>
              <a:t> </a:t>
            </a:r>
            <a:r>
              <a:rPr sz="1450" spc="5" dirty="0">
                <a:latin typeface="Cambria"/>
                <a:cs typeface="Cambria"/>
              </a:rPr>
              <a:t>.</a:t>
            </a:r>
            <a:r>
              <a:rPr sz="1450" spc="-75" dirty="0">
                <a:latin typeface="Cambria"/>
                <a:cs typeface="Cambria"/>
              </a:rPr>
              <a:t> </a:t>
            </a:r>
            <a:r>
              <a:rPr sz="1450" spc="30" dirty="0">
                <a:latin typeface="Cambria"/>
                <a:cs typeface="Cambria"/>
              </a:rPr>
              <a:t>x</a:t>
            </a:r>
            <a:r>
              <a:rPr sz="1650" spc="44" baseline="-15151" dirty="0">
                <a:latin typeface="Cambria"/>
                <a:cs typeface="Cambria"/>
              </a:rPr>
              <a:t>1</a:t>
            </a:r>
            <a:r>
              <a:rPr sz="1650" spc="209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+</a:t>
            </a:r>
            <a:r>
              <a:rPr sz="1450" spc="20" dirty="0">
                <a:latin typeface="Cambria"/>
                <a:cs typeface="Cambria"/>
              </a:rPr>
              <a:t> </a:t>
            </a:r>
            <a:r>
              <a:rPr sz="1450" spc="5" dirty="0">
                <a:latin typeface="Cambria"/>
                <a:cs typeface="Cambria"/>
              </a:rPr>
              <a:t>W</a:t>
            </a:r>
            <a:r>
              <a:rPr sz="1650" spc="7" baseline="-15151" dirty="0">
                <a:latin typeface="Cambria"/>
                <a:cs typeface="Cambria"/>
              </a:rPr>
              <a:t>hi</a:t>
            </a:r>
            <a:r>
              <a:rPr sz="1650" spc="262" baseline="-15151" dirty="0">
                <a:latin typeface="Cambria"/>
                <a:cs typeface="Cambria"/>
              </a:rPr>
              <a:t> </a:t>
            </a:r>
            <a:r>
              <a:rPr sz="1450" spc="5" dirty="0">
                <a:latin typeface="Cambria"/>
                <a:cs typeface="Cambria"/>
              </a:rPr>
              <a:t>.</a:t>
            </a:r>
            <a:r>
              <a:rPr sz="1450" spc="-80" dirty="0">
                <a:latin typeface="Cambria"/>
                <a:cs typeface="Cambria"/>
              </a:rPr>
              <a:t> </a:t>
            </a:r>
            <a:r>
              <a:rPr sz="1450" spc="20" dirty="0">
                <a:latin typeface="Cambria"/>
                <a:cs typeface="Cambria"/>
              </a:rPr>
              <a:t>ℎ</a:t>
            </a:r>
            <a:r>
              <a:rPr sz="1650" spc="30" baseline="-15151" dirty="0">
                <a:latin typeface="Cambria"/>
                <a:cs typeface="Cambria"/>
              </a:rPr>
              <a:t>0</a:t>
            </a:r>
            <a:r>
              <a:rPr sz="1650" spc="209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+</a:t>
            </a:r>
            <a:r>
              <a:rPr sz="1450" spc="5" dirty="0">
                <a:latin typeface="Cambria"/>
                <a:cs typeface="Cambria"/>
              </a:rPr>
              <a:t> </a:t>
            </a:r>
            <a:r>
              <a:rPr sz="1450" spc="60" dirty="0">
                <a:latin typeface="Cambria"/>
                <a:cs typeface="Cambria"/>
              </a:rPr>
              <a:t>b</a:t>
            </a:r>
            <a:r>
              <a:rPr sz="1650" spc="89" baseline="-15151" dirty="0">
                <a:latin typeface="Cambria"/>
                <a:cs typeface="Cambria"/>
              </a:rPr>
              <a:t>i</a:t>
            </a:r>
            <a:r>
              <a:rPr sz="1450" spc="60" dirty="0">
                <a:latin typeface="Cambria"/>
                <a:cs typeface="Cambria"/>
              </a:rPr>
              <a:t>)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6976872" y="3767340"/>
            <a:ext cx="41275" cy="175260"/>
          </a:xfrm>
          <a:custGeom>
            <a:avLst/>
            <a:gdLst/>
            <a:ahLst/>
            <a:cxnLst/>
            <a:rect l="l" t="t" r="r" b="b"/>
            <a:pathLst>
              <a:path w="41275" h="175260">
                <a:moveTo>
                  <a:pt x="41148" y="0"/>
                </a:moveTo>
                <a:lnTo>
                  <a:pt x="25908" y="0"/>
                </a:lnTo>
                <a:lnTo>
                  <a:pt x="508" y="0"/>
                </a:lnTo>
                <a:lnTo>
                  <a:pt x="508" y="6096"/>
                </a:lnTo>
                <a:lnTo>
                  <a:pt x="25908" y="6096"/>
                </a:lnTo>
                <a:lnTo>
                  <a:pt x="25908" y="169164"/>
                </a:lnTo>
                <a:lnTo>
                  <a:pt x="0" y="169164"/>
                </a:lnTo>
                <a:lnTo>
                  <a:pt x="0" y="175260"/>
                </a:lnTo>
                <a:lnTo>
                  <a:pt x="25908" y="175260"/>
                </a:lnTo>
                <a:lnTo>
                  <a:pt x="41148" y="175260"/>
                </a:lnTo>
                <a:lnTo>
                  <a:pt x="411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032500" y="3767340"/>
            <a:ext cx="40640" cy="175260"/>
          </a:xfrm>
          <a:custGeom>
            <a:avLst/>
            <a:gdLst/>
            <a:ahLst/>
            <a:cxnLst/>
            <a:rect l="l" t="t" r="r" b="b"/>
            <a:pathLst>
              <a:path w="40639" h="175260">
                <a:moveTo>
                  <a:pt x="4064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4732" y="175260"/>
                </a:lnTo>
                <a:lnTo>
                  <a:pt x="15240" y="175260"/>
                </a:lnTo>
                <a:lnTo>
                  <a:pt x="40640" y="175260"/>
                </a:lnTo>
                <a:lnTo>
                  <a:pt x="40640" y="169164"/>
                </a:lnTo>
                <a:lnTo>
                  <a:pt x="15240" y="169164"/>
                </a:lnTo>
                <a:lnTo>
                  <a:pt x="15240" y="6096"/>
                </a:lnTo>
                <a:lnTo>
                  <a:pt x="40640" y="6096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434072" y="3700284"/>
            <a:ext cx="43815" cy="311150"/>
          </a:xfrm>
          <a:custGeom>
            <a:avLst/>
            <a:gdLst/>
            <a:ahLst/>
            <a:cxnLst/>
            <a:rect l="l" t="t" r="r" b="b"/>
            <a:pathLst>
              <a:path w="43815" h="311150">
                <a:moveTo>
                  <a:pt x="43688" y="0"/>
                </a:moveTo>
                <a:lnTo>
                  <a:pt x="25908" y="0"/>
                </a:lnTo>
                <a:lnTo>
                  <a:pt x="508" y="0"/>
                </a:lnTo>
                <a:lnTo>
                  <a:pt x="508" y="9144"/>
                </a:lnTo>
                <a:lnTo>
                  <a:pt x="25908" y="9144"/>
                </a:lnTo>
                <a:lnTo>
                  <a:pt x="25908" y="301752"/>
                </a:lnTo>
                <a:lnTo>
                  <a:pt x="0" y="301752"/>
                </a:lnTo>
                <a:lnTo>
                  <a:pt x="0" y="310896"/>
                </a:lnTo>
                <a:lnTo>
                  <a:pt x="25908" y="310896"/>
                </a:lnTo>
                <a:lnTo>
                  <a:pt x="43688" y="310896"/>
                </a:lnTo>
                <a:lnTo>
                  <a:pt x="436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132320" y="3700284"/>
            <a:ext cx="44450" cy="311150"/>
          </a:xfrm>
          <a:custGeom>
            <a:avLst/>
            <a:gdLst/>
            <a:ahLst/>
            <a:cxnLst/>
            <a:rect l="l" t="t" r="r" b="b"/>
            <a:pathLst>
              <a:path w="44450" h="311150">
                <a:moveTo>
                  <a:pt x="44196" y="301752"/>
                </a:moveTo>
                <a:lnTo>
                  <a:pt x="16764" y="301752"/>
                </a:lnTo>
                <a:lnTo>
                  <a:pt x="16764" y="310896"/>
                </a:lnTo>
                <a:lnTo>
                  <a:pt x="44196" y="310896"/>
                </a:lnTo>
                <a:lnTo>
                  <a:pt x="44196" y="301752"/>
                </a:lnTo>
                <a:close/>
              </a:path>
              <a:path w="44450" h="311150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10896"/>
                </a:lnTo>
                <a:lnTo>
                  <a:pt x="16510" y="310896"/>
                </a:lnTo>
                <a:lnTo>
                  <a:pt x="16510" y="9144"/>
                </a:lnTo>
                <a:lnTo>
                  <a:pt x="44450" y="9144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7240013" y="3827778"/>
            <a:ext cx="13017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20" dirty="0">
                <a:latin typeface="Cambria"/>
                <a:cs typeface="Cambria"/>
              </a:rPr>
              <a:t>3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8147050" y="3767340"/>
            <a:ext cx="41910" cy="175260"/>
          </a:xfrm>
          <a:custGeom>
            <a:avLst/>
            <a:gdLst/>
            <a:ahLst/>
            <a:cxnLst/>
            <a:rect l="l" t="t" r="r" b="b"/>
            <a:pathLst>
              <a:path w="41909" h="175260">
                <a:moveTo>
                  <a:pt x="26162" y="169164"/>
                </a:moveTo>
                <a:lnTo>
                  <a:pt x="254" y="169164"/>
                </a:lnTo>
                <a:lnTo>
                  <a:pt x="254" y="175260"/>
                </a:lnTo>
                <a:lnTo>
                  <a:pt x="26162" y="175260"/>
                </a:lnTo>
                <a:lnTo>
                  <a:pt x="26162" y="169164"/>
                </a:lnTo>
                <a:close/>
              </a:path>
              <a:path w="41909" h="175260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6096"/>
                </a:lnTo>
                <a:lnTo>
                  <a:pt x="26670" y="6096"/>
                </a:lnTo>
                <a:lnTo>
                  <a:pt x="26670" y="175260"/>
                </a:lnTo>
                <a:lnTo>
                  <a:pt x="41910" y="17526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744460" y="3767340"/>
            <a:ext cx="41910" cy="175260"/>
          </a:xfrm>
          <a:custGeom>
            <a:avLst/>
            <a:gdLst/>
            <a:ahLst/>
            <a:cxnLst/>
            <a:rect l="l" t="t" r="r" b="b"/>
            <a:pathLst>
              <a:path w="41909" h="175260">
                <a:moveTo>
                  <a:pt x="41656" y="169164"/>
                </a:moveTo>
                <a:lnTo>
                  <a:pt x="15748" y="169164"/>
                </a:lnTo>
                <a:lnTo>
                  <a:pt x="15748" y="175260"/>
                </a:lnTo>
                <a:lnTo>
                  <a:pt x="41656" y="175260"/>
                </a:lnTo>
                <a:lnTo>
                  <a:pt x="41656" y="169164"/>
                </a:lnTo>
                <a:close/>
              </a:path>
              <a:path w="41909" h="175260">
                <a:moveTo>
                  <a:pt x="4191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5240" y="175260"/>
                </a:lnTo>
                <a:lnTo>
                  <a:pt x="15240" y="6096"/>
                </a:lnTo>
                <a:lnTo>
                  <a:pt x="41910" y="6096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9166860" y="3767340"/>
            <a:ext cx="40640" cy="175260"/>
          </a:xfrm>
          <a:custGeom>
            <a:avLst/>
            <a:gdLst/>
            <a:ahLst/>
            <a:cxnLst/>
            <a:rect l="l" t="t" r="r" b="b"/>
            <a:pathLst>
              <a:path w="40640" h="175260">
                <a:moveTo>
                  <a:pt x="40640" y="0"/>
                </a:moveTo>
                <a:lnTo>
                  <a:pt x="25400" y="0"/>
                </a:lnTo>
                <a:lnTo>
                  <a:pt x="0" y="0"/>
                </a:lnTo>
                <a:lnTo>
                  <a:pt x="0" y="6096"/>
                </a:lnTo>
                <a:lnTo>
                  <a:pt x="25400" y="6096"/>
                </a:lnTo>
                <a:lnTo>
                  <a:pt x="25400" y="169164"/>
                </a:lnTo>
                <a:lnTo>
                  <a:pt x="0" y="169164"/>
                </a:lnTo>
                <a:lnTo>
                  <a:pt x="0" y="175260"/>
                </a:lnTo>
                <a:lnTo>
                  <a:pt x="25400" y="175260"/>
                </a:lnTo>
                <a:lnTo>
                  <a:pt x="25908" y="175260"/>
                </a:lnTo>
                <a:lnTo>
                  <a:pt x="40640" y="175260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449310" y="3767340"/>
            <a:ext cx="41275" cy="175260"/>
          </a:xfrm>
          <a:custGeom>
            <a:avLst/>
            <a:gdLst/>
            <a:ahLst/>
            <a:cxnLst/>
            <a:rect l="l" t="t" r="r" b="b"/>
            <a:pathLst>
              <a:path w="41275" h="175260">
                <a:moveTo>
                  <a:pt x="40894" y="169164"/>
                </a:moveTo>
                <a:lnTo>
                  <a:pt x="15240" y="169164"/>
                </a:lnTo>
                <a:lnTo>
                  <a:pt x="15240" y="6096"/>
                </a:lnTo>
                <a:lnTo>
                  <a:pt x="40640" y="6096"/>
                </a:lnTo>
                <a:lnTo>
                  <a:pt x="40640" y="0"/>
                </a:ln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4986" y="175260"/>
                </a:lnTo>
                <a:lnTo>
                  <a:pt x="15240" y="175260"/>
                </a:lnTo>
                <a:lnTo>
                  <a:pt x="40894" y="175260"/>
                </a:lnTo>
                <a:lnTo>
                  <a:pt x="40894" y="169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5363461" y="3716526"/>
            <a:ext cx="470471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35"/>
              </a:spcBef>
              <a:tabLst>
                <a:tab pos="1254760" algn="l"/>
                <a:tab pos="1815464" algn="l"/>
              </a:tabLst>
            </a:pPr>
            <a:r>
              <a:rPr sz="2175" spc="37" baseline="3831" dirty="0">
                <a:latin typeface="Cambria"/>
                <a:cs typeface="Cambria"/>
              </a:rPr>
              <a:t>i</a:t>
            </a:r>
            <a:r>
              <a:rPr sz="1650" spc="37" baseline="-10101" dirty="0">
                <a:latin typeface="Cambria"/>
                <a:cs typeface="Cambria"/>
              </a:rPr>
              <a:t>1</a:t>
            </a:r>
            <a:r>
              <a:rPr sz="1650" spc="352" baseline="-10101" dirty="0">
                <a:latin typeface="Cambria"/>
                <a:cs typeface="Cambria"/>
              </a:rPr>
              <a:t> </a:t>
            </a:r>
            <a:r>
              <a:rPr sz="2175" spc="457" baseline="3831" dirty="0">
                <a:latin typeface="Cambria"/>
                <a:cs typeface="Cambria"/>
              </a:rPr>
              <a:t>=</a:t>
            </a:r>
            <a:r>
              <a:rPr sz="2175" spc="135" baseline="3831" dirty="0">
                <a:latin typeface="Cambria"/>
                <a:cs typeface="Cambria"/>
              </a:rPr>
              <a:t> </a:t>
            </a:r>
            <a:r>
              <a:rPr sz="2175" spc="97" baseline="3831" dirty="0">
                <a:latin typeface="Cambria"/>
                <a:cs typeface="Cambria"/>
              </a:rPr>
              <a:t>σ(</a:t>
            </a:r>
            <a:r>
              <a:rPr sz="2175" spc="300" baseline="3831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0.95	0.80	</a:t>
            </a:r>
            <a:r>
              <a:rPr sz="2175" spc="22" baseline="32567" dirty="0">
                <a:latin typeface="Cambria"/>
                <a:cs typeface="Cambria"/>
              </a:rPr>
              <a:t>0.5</a:t>
            </a:r>
            <a:r>
              <a:rPr sz="2175" spc="315" baseline="32567" dirty="0">
                <a:latin typeface="Cambria"/>
                <a:cs typeface="Cambria"/>
              </a:rPr>
              <a:t> </a:t>
            </a:r>
            <a:r>
              <a:rPr sz="2175" spc="457" baseline="3831" dirty="0">
                <a:latin typeface="Cambria"/>
                <a:cs typeface="Cambria"/>
              </a:rPr>
              <a:t>+</a:t>
            </a:r>
            <a:r>
              <a:rPr sz="2175" spc="802" baseline="3831" dirty="0">
                <a:latin typeface="Cambria"/>
                <a:cs typeface="Cambria"/>
              </a:rPr>
              <a:t> </a:t>
            </a:r>
            <a:r>
              <a:rPr sz="2175" spc="22" baseline="3831" dirty="0">
                <a:latin typeface="Cambria"/>
                <a:cs typeface="Cambria"/>
              </a:rPr>
              <a:t>0.80 </a:t>
            </a:r>
            <a:r>
              <a:rPr sz="2175" spc="292" baseline="3831" dirty="0">
                <a:latin typeface="Cambria"/>
                <a:cs typeface="Cambria"/>
              </a:rPr>
              <a:t> </a:t>
            </a:r>
            <a:r>
              <a:rPr sz="2175" spc="390" baseline="3831" dirty="0">
                <a:latin typeface="Cambria"/>
                <a:cs typeface="Cambria"/>
              </a:rPr>
              <a:t>×</a:t>
            </a:r>
            <a:r>
              <a:rPr sz="2175" spc="780" baseline="3831" dirty="0">
                <a:latin typeface="Cambria"/>
                <a:cs typeface="Cambria"/>
              </a:rPr>
              <a:t> </a:t>
            </a:r>
            <a:r>
              <a:rPr sz="2175" spc="22" baseline="3831" dirty="0">
                <a:latin typeface="Cambria"/>
                <a:cs typeface="Cambria"/>
              </a:rPr>
              <a:t>0.53631 </a:t>
            </a:r>
            <a:r>
              <a:rPr sz="2175" spc="254" baseline="3831" dirty="0">
                <a:latin typeface="Cambria"/>
                <a:cs typeface="Cambria"/>
              </a:rPr>
              <a:t> </a:t>
            </a:r>
            <a:r>
              <a:rPr sz="2175" spc="457" baseline="3831" dirty="0">
                <a:latin typeface="Cambria"/>
                <a:cs typeface="Cambria"/>
              </a:rPr>
              <a:t>+</a:t>
            </a:r>
            <a:r>
              <a:rPr sz="2175" spc="30" baseline="3831" dirty="0">
                <a:latin typeface="Cambria"/>
                <a:cs typeface="Cambria"/>
              </a:rPr>
              <a:t> </a:t>
            </a:r>
            <a:r>
              <a:rPr sz="2175" spc="22" baseline="3831" dirty="0">
                <a:latin typeface="Cambria"/>
                <a:cs typeface="Cambria"/>
              </a:rPr>
              <a:t>[0.65])</a:t>
            </a:r>
            <a:endParaRPr sz="2175" baseline="3831">
              <a:latin typeface="Cambria"/>
              <a:cs typeface="Cambria"/>
            </a:endParaRPr>
          </a:p>
        </p:txBody>
      </p:sp>
      <p:sp>
        <p:nvSpPr>
          <p:cNvPr id="75" name="object 7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51</a:t>
            </a:fld>
            <a:endParaRPr dirty="0"/>
          </a:p>
        </p:txBody>
      </p:sp>
      <p:sp>
        <p:nvSpPr>
          <p:cNvPr id="73" name="object 73"/>
          <p:cNvSpPr txBox="1"/>
          <p:nvPr/>
        </p:nvSpPr>
        <p:spPr>
          <a:xfrm>
            <a:off x="5384291" y="4136135"/>
            <a:ext cx="1112520" cy="2286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80"/>
              </a:lnSpc>
            </a:pPr>
            <a:r>
              <a:rPr sz="1450" spc="25" dirty="0">
                <a:latin typeface="Cambria"/>
                <a:cs typeface="Cambria"/>
              </a:rPr>
              <a:t>i</a:t>
            </a:r>
            <a:r>
              <a:rPr sz="1650" spc="37" baseline="-15151" dirty="0">
                <a:latin typeface="Cambria"/>
                <a:cs typeface="Cambria"/>
              </a:rPr>
              <a:t>1</a:t>
            </a:r>
            <a:r>
              <a:rPr sz="1650" spc="315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r>
              <a:rPr sz="1450" spc="65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0.98118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867644" y="1072387"/>
            <a:ext cx="104140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25" dirty="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sz="18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10" dirty="0">
                <a:solidFill>
                  <a:srgbClr val="FF0000"/>
                </a:solidFill>
                <a:latin typeface="Calibri"/>
                <a:cs typeface="Calibri"/>
              </a:rPr>
              <a:t>Gate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8113" y="2886455"/>
            <a:ext cx="1146175" cy="382905"/>
          </a:xfrm>
          <a:custGeom>
            <a:avLst/>
            <a:gdLst/>
            <a:ahLst/>
            <a:cxnLst/>
            <a:rect l="l" t="t" r="r" b="b"/>
            <a:pathLst>
              <a:path w="1146175" h="382904">
                <a:moveTo>
                  <a:pt x="1146047" y="382523"/>
                </a:moveTo>
                <a:lnTo>
                  <a:pt x="1146047" y="0"/>
                </a:lnTo>
                <a:lnTo>
                  <a:pt x="0" y="0"/>
                </a:lnTo>
                <a:lnTo>
                  <a:pt x="0" y="382523"/>
                </a:lnTo>
                <a:lnTo>
                  <a:pt x="1146047" y="382523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8113" y="2886455"/>
            <a:ext cx="648970" cy="3556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71755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565"/>
              </a:spcBef>
            </a:pPr>
            <a:r>
              <a:rPr sz="1450" spc="-30" dirty="0">
                <a:latin typeface="Cambria"/>
                <a:cs typeface="Cambria"/>
              </a:rPr>
              <a:t>W</a:t>
            </a:r>
            <a:r>
              <a:rPr sz="1650" spc="-44" baseline="-15151" dirty="0">
                <a:latin typeface="Cambria"/>
                <a:cs typeface="Cambria"/>
              </a:rPr>
              <a:t>xo</a:t>
            </a:r>
            <a:r>
              <a:rPr sz="1650" spc="-15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47090" y="2935236"/>
            <a:ext cx="449580" cy="311150"/>
          </a:xfrm>
          <a:custGeom>
            <a:avLst/>
            <a:gdLst/>
            <a:ahLst/>
            <a:cxnLst/>
            <a:rect l="l" t="t" r="r" b="b"/>
            <a:pathLst>
              <a:path w="449580" h="311150">
                <a:moveTo>
                  <a:pt x="44437" y="301752"/>
                </a:moveTo>
                <a:lnTo>
                  <a:pt x="17005" y="301752"/>
                </a:lnTo>
                <a:lnTo>
                  <a:pt x="17005" y="310896"/>
                </a:lnTo>
                <a:lnTo>
                  <a:pt x="44437" y="310896"/>
                </a:lnTo>
                <a:lnTo>
                  <a:pt x="44437" y="301752"/>
                </a:lnTo>
                <a:close/>
              </a:path>
              <a:path w="449580" h="311150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10896"/>
                </a:lnTo>
                <a:lnTo>
                  <a:pt x="16510" y="310896"/>
                </a:lnTo>
                <a:lnTo>
                  <a:pt x="16510" y="9144"/>
                </a:lnTo>
                <a:lnTo>
                  <a:pt x="44450" y="9144"/>
                </a:lnTo>
                <a:lnTo>
                  <a:pt x="44450" y="0"/>
                </a:lnTo>
                <a:close/>
              </a:path>
              <a:path w="449580" h="311150">
                <a:moveTo>
                  <a:pt x="431533" y="301752"/>
                </a:moveTo>
                <a:lnTo>
                  <a:pt x="405625" y="301752"/>
                </a:lnTo>
                <a:lnTo>
                  <a:pt x="405625" y="310896"/>
                </a:lnTo>
                <a:lnTo>
                  <a:pt x="431533" y="310896"/>
                </a:lnTo>
                <a:lnTo>
                  <a:pt x="431533" y="301752"/>
                </a:lnTo>
                <a:close/>
              </a:path>
              <a:path w="449580" h="311150">
                <a:moveTo>
                  <a:pt x="449580" y="0"/>
                </a:moveTo>
                <a:lnTo>
                  <a:pt x="431800" y="0"/>
                </a:lnTo>
                <a:lnTo>
                  <a:pt x="405130" y="0"/>
                </a:lnTo>
                <a:lnTo>
                  <a:pt x="405130" y="9144"/>
                </a:lnTo>
                <a:lnTo>
                  <a:pt x="431800" y="9144"/>
                </a:lnTo>
                <a:lnTo>
                  <a:pt x="431800" y="310896"/>
                </a:lnTo>
                <a:lnTo>
                  <a:pt x="449580" y="310896"/>
                </a:lnTo>
                <a:lnTo>
                  <a:pt x="4495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63600" y="2838702"/>
            <a:ext cx="415290" cy="4737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35"/>
              </a:spcBef>
            </a:pPr>
            <a:r>
              <a:rPr sz="1450" spc="15" dirty="0">
                <a:latin typeface="Cambria"/>
                <a:cs typeface="Cambria"/>
              </a:rPr>
              <a:t>0.60</a:t>
            </a:r>
            <a:endParaRPr sz="1450">
              <a:latin typeface="Cambria"/>
              <a:cs typeface="Cambria"/>
            </a:endParaRPr>
          </a:p>
          <a:p>
            <a:pPr marL="30480">
              <a:lnSpc>
                <a:spcPct val="100000"/>
              </a:lnSpc>
            </a:pPr>
            <a:r>
              <a:rPr sz="1450" spc="15" dirty="0">
                <a:latin typeface="Cambria"/>
                <a:cs typeface="Cambria"/>
              </a:rPr>
              <a:t>0.40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98675" y="2965703"/>
            <a:ext cx="1160145" cy="228600"/>
          </a:xfrm>
          <a:custGeom>
            <a:avLst/>
            <a:gdLst/>
            <a:ahLst/>
            <a:cxnLst/>
            <a:rect l="l" t="t" r="r" b="b"/>
            <a:pathLst>
              <a:path w="1160145" h="228600">
                <a:moveTo>
                  <a:pt x="1159763" y="228599"/>
                </a:moveTo>
                <a:lnTo>
                  <a:pt x="1159763" y="0"/>
                </a:lnTo>
                <a:lnTo>
                  <a:pt x="0" y="0"/>
                </a:lnTo>
                <a:lnTo>
                  <a:pt x="0" y="228599"/>
                </a:lnTo>
                <a:lnTo>
                  <a:pt x="1159763" y="228599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598675" y="2965703"/>
            <a:ext cx="667385" cy="2286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7305">
              <a:lnSpc>
                <a:spcPts val="1680"/>
              </a:lnSpc>
            </a:pPr>
            <a:r>
              <a:rPr sz="1450" dirty="0">
                <a:latin typeface="Cambria"/>
                <a:cs typeface="Cambria"/>
              </a:rPr>
              <a:t>W</a:t>
            </a:r>
            <a:r>
              <a:rPr sz="1650" baseline="-15151" dirty="0">
                <a:latin typeface="Cambria"/>
                <a:cs typeface="Cambria"/>
              </a:rPr>
              <a:t>ho</a:t>
            </a:r>
            <a:r>
              <a:rPr sz="1650" spc="292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65680" y="3000768"/>
            <a:ext cx="445770" cy="177165"/>
          </a:xfrm>
          <a:custGeom>
            <a:avLst/>
            <a:gdLst/>
            <a:ahLst/>
            <a:cxnLst/>
            <a:rect l="l" t="t" r="r" b="b"/>
            <a:pathLst>
              <a:path w="445769" h="177164">
                <a:moveTo>
                  <a:pt x="15240" y="0"/>
                </a:moveTo>
                <a:lnTo>
                  <a:pt x="0" y="0"/>
                </a:lnTo>
                <a:lnTo>
                  <a:pt x="0" y="176784"/>
                </a:lnTo>
                <a:lnTo>
                  <a:pt x="15240" y="176784"/>
                </a:lnTo>
                <a:lnTo>
                  <a:pt x="15240" y="0"/>
                </a:lnTo>
                <a:close/>
              </a:path>
              <a:path w="445769" h="177164">
                <a:moveTo>
                  <a:pt x="430276" y="169164"/>
                </a:moveTo>
                <a:lnTo>
                  <a:pt x="404368" y="169164"/>
                </a:lnTo>
                <a:lnTo>
                  <a:pt x="404368" y="176784"/>
                </a:lnTo>
                <a:lnTo>
                  <a:pt x="430276" y="176784"/>
                </a:lnTo>
                <a:lnTo>
                  <a:pt x="430276" y="169164"/>
                </a:lnTo>
                <a:close/>
              </a:path>
              <a:path w="445769" h="177164">
                <a:moveTo>
                  <a:pt x="445770" y="0"/>
                </a:moveTo>
                <a:lnTo>
                  <a:pt x="430530" y="0"/>
                </a:lnTo>
                <a:lnTo>
                  <a:pt x="403860" y="0"/>
                </a:lnTo>
                <a:lnTo>
                  <a:pt x="403860" y="7620"/>
                </a:lnTo>
                <a:lnTo>
                  <a:pt x="430530" y="7620"/>
                </a:lnTo>
                <a:lnTo>
                  <a:pt x="430530" y="176784"/>
                </a:lnTo>
                <a:lnTo>
                  <a:pt x="445770" y="176784"/>
                </a:lnTo>
                <a:lnTo>
                  <a:pt x="4457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80920" y="3000756"/>
            <a:ext cx="26670" cy="7620"/>
          </a:xfrm>
          <a:custGeom>
            <a:avLst/>
            <a:gdLst/>
            <a:ahLst/>
            <a:cxnLst/>
            <a:rect l="l" t="t" r="r" b="b"/>
            <a:pathLst>
              <a:path w="26669" h="7619">
                <a:moveTo>
                  <a:pt x="0" y="0"/>
                </a:moveTo>
                <a:lnTo>
                  <a:pt x="0" y="7620"/>
                </a:lnTo>
                <a:lnTo>
                  <a:pt x="26670" y="7620"/>
                </a:lnTo>
                <a:lnTo>
                  <a:pt x="26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81427" y="3169920"/>
            <a:ext cx="26034" cy="7620"/>
          </a:xfrm>
          <a:custGeom>
            <a:avLst/>
            <a:gdLst/>
            <a:ahLst/>
            <a:cxnLst/>
            <a:rect l="l" t="t" r="r" b="b"/>
            <a:pathLst>
              <a:path w="26035" h="7619">
                <a:moveTo>
                  <a:pt x="25908" y="7620"/>
                </a:moveTo>
                <a:lnTo>
                  <a:pt x="25908" y="0"/>
                </a:lnTo>
                <a:lnTo>
                  <a:pt x="0" y="0"/>
                </a:lnTo>
                <a:lnTo>
                  <a:pt x="0" y="7620"/>
                </a:lnTo>
                <a:lnTo>
                  <a:pt x="25908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280920" y="2940811"/>
            <a:ext cx="41529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35"/>
              </a:spcBef>
            </a:pPr>
            <a:r>
              <a:rPr sz="1450" spc="15" dirty="0">
                <a:latin typeface="Cambria"/>
                <a:cs typeface="Cambria"/>
              </a:rPr>
              <a:t>0.25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066287" y="2965703"/>
            <a:ext cx="1015365" cy="228600"/>
          </a:xfrm>
          <a:custGeom>
            <a:avLst/>
            <a:gdLst/>
            <a:ahLst/>
            <a:cxnLst/>
            <a:rect l="l" t="t" r="r" b="b"/>
            <a:pathLst>
              <a:path w="1015364" h="228600">
                <a:moveTo>
                  <a:pt x="1014983" y="228599"/>
                </a:moveTo>
                <a:lnTo>
                  <a:pt x="1014983" y="0"/>
                </a:lnTo>
                <a:lnTo>
                  <a:pt x="0" y="0"/>
                </a:lnTo>
                <a:lnTo>
                  <a:pt x="0" y="228599"/>
                </a:lnTo>
                <a:lnTo>
                  <a:pt x="1014983" y="228599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066287" y="2965703"/>
            <a:ext cx="523240" cy="2286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4130">
              <a:lnSpc>
                <a:spcPts val="1680"/>
              </a:lnSpc>
            </a:pPr>
            <a:r>
              <a:rPr sz="1450" spc="5" dirty="0">
                <a:latin typeface="Cambria"/>
                <a:cs typeface="Cambria"/>
              </a:rPr>
              <a:t>b</a:t>
            </a:r>
            <a:r>
              <a:rPr sz="1650" spc="7" baseline="-15151" dirty="0">
                <a:latin typeface="Cambria"/>
                <a:cs typeface="Cambria"/>
              </a:rPr>
              <a:t>o</a:t>
            </a:r>
            <a:r>
              <a:rPr sz="1650" spc="307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589020" y="3000768"/>
            <a:ext cx="444500" cy="177165"/>
          </a:xfrm>
          <a:custGeom>
            <a:avLst/>
            <a:gdLst/>
            <a:ahLst/>
            <a:cxnLst/>
            <a:rect l="l" t="t" r="r" b="b"/>
            <a:pathLst>
              <a:path w="444500" h="177164">
                <a:moveTo>
                  <a:pt x="15240" y="0"/>
                </a:moveTo>
                <a:lnTo>
                  <a:pt x="0" y="0"/>
                </a:lnTo>
                <a:lnTo>
                  <a:pt x="0" y="176784"/>
                </a:lnTo>
                <a:lnTo>
                  <a:pt x="15240" y="176784"/>
                </a:lnTo>
                <a:lnTo>
                  <a:pt x="15240" y="0"/>
                </a:lnTo>
                <a:close/>
              </a:path>
              <a:path w="444500" h="177164">
                <a:moveTo>
                  <a:pt x="444500" y="0"/>
                </a:moveTo>
                <a:lnTo>
                  <a:pt x="429260" y="0"/>
                </a:lnTo>
                <a:lnTo>
                  <a:pt x="403860" y="0"/>
                </a:lnTo>
                <a:lnTo>
                  <a:pt x="403860" y="7620"/>
                </a:lnTo>
                <a:lnTo>
                  <a:pt x="429260" y="7620"/>
                </a:lnTo>
                <a:lnTo>
                  <a:pt x="429260" y="169164"/>
                </a:lnTo>
                <a:lnTo>
                  <a:pt x="403860" y="169164"/>
                </a:lnTo>
                <a:lnTo>
                  <a:pt x="403860" y="176784"/>
                </a:lnTo>
                <a:lnTo>
                  <a:pt x="429260" y="176784"/>
                </a:lnTo>
                <a:lnTo>
                  <a:pt x="429768" y="176784"/>
                </a:lnTo>
                <a:lnTo>
                  <a:pt x="444500" y="176784"/>
                </a:lnTo>
                <a:lnTo>
                  <a:pt x="444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604259" y="3000756"/>
            <a:ext cx="25400" cy="7620"/>
          </a:xfrm>
          <a:custGeom>
            <a:avLst/>
            <a:gdLst/>
            <a:ahLst/>
            <a:cxnLst/>
            <a:rect l="l" t="t" r="r" b="b"/>
            <a:pathLst>
              <a:path w="25400" h="7619">
                <a:moveTo>
                  <a:pt x="0" y="0"/>
                </a:moveTo>
                <a:lnTo>
                  <a:pt x="0" y="7620"/>
                </a:lnTo>
                <a:lnTo>
                  <a:pt x="25400" y="7620"/>
                </a:lnTo>
                <a:lnTo>
                  <a:pt x="2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604260" y="3169920"/>
            <a:ext cx="26034" cy="7620"/>
          </a:xfrm>
          <a:custGeom>
            <a:avLst/>
            <a:gdLst/>
            <a:ahLst/>
            <a:cxnLst/>
            <a:rect l="l" t="t" r="r" b="b"/>
            <a:pathLst>
              <a:path w="26035" h="7619">
                <a:moveTo>
                  <a:pt x="25908" y="7620"/>
                </a:moveTo>
                <a:lnTo>
                  <a:pt x="25908" y="0"/>
                </a:lnTo>
                <a:lnTo>
                  <a:pt x="0" y="0"/>
                </a:lnTo>
                <a:lnTo>
                  <a:pt x="0" y="7620"/>
                </a:lnTo>
                <a:lnTo>
                  <a:pt x="25908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604259" y="2940811"/>
            <a:ext cx="41402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35"/>
              </a:spcBef>
            </a:pPr>
            <a:r>
              <a:rPr sz="1450" spc="15" dirty="0">
                <a:latin typeface="Cambria"/>
                <a:cs typeface="Cambria"/>
              </a:rPr>
              <a:t>0.10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3255" y="3658614"/>
            <a:ext cx="258889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50" spc="10" dirty="0">
                <a:latin typeface="Cambria"/>
                <a:cs typeface="Cambria"/>
              </a:rPr>
              <a:t>o</a:t>
            </a:r>
            <a:r>
              <a:rPr sz="1650" spc="15" baseline="-15151" dirty="0">
                <a:latin typeface="Cambria"/>
                <a:cs typeface="Cambria"/>
              </a:rPr>
              <a:t>1</a:t>
            </a:r>
            <a:r>
              <a:rPr sz="1450" spc="10" dirty="0">
                <a:latin typeface="Calibri"/>
                <a:cs typeface="Calibri"/>
              </a:rPr>
              <a:t>=</a:t>
            </a:r>
            <a:r>
              <a:rPr sz="1450" spc="5" dirty="0">
                <a:latin typeface="Calibri"/>
                <a:cs typeface="Calibri"/>
              </a:rPr>
              <a:t> </a:t>
            </a:r>
            <a:r>
              <a:rPr sz="1450" spc="40" dirty="0">
                <a:latin typeface="Cambria"/>
                <a:cs typeface="Cambria"/>
              </a:rPr>
              <a:t>σ </a:t>
            </a:r>
            <a:r>
              <a:rPr sz="1450" spc="-10" dirty="0">
                <a:latin typeface="Cambria"/>
                <a:cs typeface="Cambria"/>
              </a:rPr>
              <a:t>(W</a:t>
            </a:r>
            <a:r>
              <a:rPr sz="1650" spc="-15" baseline="-15151" dirty="0">
                <a:latin typeface="Cambria"/>
                <a:cs typeface="Cambria"/>
              </a:rPr>
              <a:t>xo</a:t>
            </a:r>
            <a:r>
              <a:rPr sz="1650" spc="247" baseline="-15151" dirty="0">
                <a:latin typeface="Cambria"/>
                <a:cs typeface="Cambria"/>
              </a:rPr>
              <a:t> </a:t>
            </a:r>
            <a:r>
              <a:rPr sz="1450" spc="5" dirty="0">
                <a:latin typeface="Cambria"/>
                <a:cs typeface="Cambria"/>
              </a:rPr>
              <a:t>.</a:t>
            </a:r>
            <a:r>
              <a:rPr sz="1450" spc="-80" dirty="0">
                <a:latin typeface="Cambria"/>
                <a:cs typeface="Cambria"/>
              </a:rPr>
              <a:t> </a:t>
            </a:r>
            <a:r>
              <a:rPr sz="1450" spc="30" dirty="0">
                <a:latin typeface="Cambria"/>
                <a:cs typeface="Cambria"/>
              </a:rPr>
              <a:t>x</a:t>
            </a:r>
            <a:r>
              <a:rPr sz="1650" spc="44" baseline="-15151" dirty="0">
                <a:latin typeface="Cambria"/>
                <a:cs typeface="Cambria"/>
              </a:rPr>
              <a:t>1</a:t>
            </a:r>
            <a:r>
              <a:rPr sz="1650" spc="209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+</a:t>
            </a:r>
            <a:r>
              <a:rPr sz="1450" spc="15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W</a:t>
            </a:r>
            <a:r>
              <a:rPr sz="1650" baseline="-15151" dirty="0">
                <a:latin typeface="Cambria"/>
                <a:cs typeface="Cambria"/>
              </a:rPr>
              <a:t>ho</a:t>
            </a:r>
            <a:r>
              <a:rPr sz="1650" spc="232" baseline="-15151" dirty="0">
                <a:latin typeface="Cambria"/>
                <a:cs typeface="Cambria"/>
              </a:rPr>
              <a:t> </a:t>
            </a:r>
            <a:r>
              <a:rPr sz="1450" spc="5" dirty="0">
                <a:latin typeface="Cambria"/>
                <a:cs typeface="Cambria"/>
              </a:rPr>
              <a:t>.</a:t>
            </a:r>
            <a:r>
              <a:rPr sz="1450" spc="-80" dirty="0">
                <a:latin typeface="Cambria"/>
                <a:cs typeface="Cambria"/>
              </a:rPr>
              <a:t> </a:t>
            </a:r>
            <a:r>
              <a:rPr sz="1450" spc="20" dirty="0">
                <a:latin typeface="Cambria"/>
                <a:cs typeface="Cambria"/>
              </a:rPr>
              <a:t>ℎ</a:t>
            </a:r>
            <a:r>
              <a:rPr sz="1650" spc="30" baseline="-15151" dirty="0">
                <a:latin typeface="Cambria"/>
                <a:cs typeface="Cambria"/>
              </a:rPr>
              <a:t>0</a:t>
            </a:r>
            <a:r>
              <a:rPr sz="1650" spc="209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+</a:t>
            </a:r>
            <a:r>
              <a:rPr sz="1450" dirty="0">
                <a:latin typeface="Cambria"/>
                <a:cs typeface="Cambria"/>
              </a:rPr>
              <a:t> </a:t>
            </a:r>
            <a:r>
              <a:rPr sz="1450" spc="55" dirty="0">
                <a:latin typeface="Cambria"/>
                <a:cs typeface="Cambria"/>
              </a:rPr>
              <a:t>b</a:t>
            </a:r>
            <a:r>
              <a:rPr sz="1650" spc="82" baseline="-15151" dirty="0">
                <a:latin typeface="Cambria"/>
                <a:cs typeface="Cambria"/>
              </a:rPr>
              <a:t>o</a:t>
            </a:r>
            <a:r>
              <a:rPr sz="1450" spc="55" dirty="0">
                <a:latin typeface="Cambria"/>
                <a:cs typeface="Cambria"/>
              </a:rPr>
              <a:t>)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55140" y="4133100"/>
            <a:ext cx="41910" cy="175260"/>
          </a:xfrm>
          <a:custGeom>
            <a:avLst/>
            <a:gdLst/>
            <a:ahLst/>
            <a:cxnLst/>
            <a:rect l="l" t="t" r="r" b="b"/>
            <a:pathLst>
              <a:path w="41910" h="175260">
                <a:moveTo>
                  <a:pt x="26416" y="169164"/>
                </a:moveTo>
                <a:lnTo>
                  <a:pt x="508" y="169164"/>
                </a:lnTo>
                <a:lnTo>
                  <a:pt x="508" y="175260"/>
                </a:lnTo>
                <a:lnTo>
                  <a:pt x="26416" y="175260"/>
                </a:lnTo>
                <a:lnTo>
                  <a:pt x="26416" y="169164"/>
                </a:lnTo>
                <a:close/>
              </a:path>
              <a:path w="41910" h="175260">
                <a:moveTo>
                  <a:pt x="41910" y="0"/>
                </a:moveTo>
                <a:lnTo>
                  <a:pt x="26670" y="0"/>
                </a:lnTo>
                <a:lnTo>
                  <a:pt x="0" y="0"/>
                </a:lnTo>
                <a:lnTo>
                  <a:pt x="0" y="6096"/>
                </a:lnTo>
                <a:lnTo>
                  <a:pt x="26670" y="6096"/>
                </a:lnTo>
                <a:lnTo>
                  <a:pt x="26670" y="175260"/>
                </a:lnTo>
                <a:lnTo>
                  <a:pt x="41910" y="175260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08990" y="4133100"/>
            <a:ext cx="41910" cy="175260"/>
          </a:xfrm>
          <a:custGeom>
            <a:avLst/>
            <a:gdLst/>
            <a:ahLst/>
            <a:cxnLst/>
            <a:rect l="l" t="t" r="r" b="b"/>
            <a:pathLst>
              <a:path w="41909" h="175260">
                <a:moveTo>
                  <a:pt x="41389" y="169164"/>
                </a:moveTo>
                <a:lnTo>
                  <a:pt x="15481" y="169164"/>
                </a:lnTo>
                <a:lnTo>
                  <a:pt x="15481" y="175260"/>
                </a:lnTo>
                <a:lnTo>
                  <a:pt x="41389" y="175260"/>
                </a:lnTo>
                <a:lnTo>
                  <a:pt x="41389" y="169164"/>
                </a:lnTo>
                <a:close/>
              </a:path>
              <a:path w="41909" h="175260">
                <a:moveTo>
                  <a:pt x="4191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5240" y="175260"/>
                </a:lnTo>
                <a:lnTo>
                  <a:pt x="15240" y="6096"/>
                </a:lnTo>
                <a:lnTo>
                  <a:pt x="41910" y="6096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11070" y="4066044"/>
            <a:ext cx="44450" cy="311150"/>
          </a:xfrm>
          <a:custGeom>
            <a:avLst/>
            <a:gdLst/>
            <a:ahLst/>
            <a:cxnLst/>
            <a:rect l="l" t="t" r="r" b="b"/>
            <a:pathLst>
              <a:path w="44450" h="311150">
                <a:moveTo>
                  <a:pt x="27686" y="301752"/>
                </a:moveTo>
                <a:lnTo>
                  <a:pt x="254" y="301752"/>
                </a:lnTo>
                <a:lnTo>
                  <a:pt x="254" y="310896"/>
                </a:lnTo>
                <a:lnTo>
                  <a:pt x="27686" y="310896"/>
                </a:lnTo>
                <a:lnTo>
                  <a:pt x="27686" y="301752"/>
                </a:lnTo>
                <a:close/>
              </a:path>
              <a:path w="44450" h="311150">
                <a:moveTo>
                  <a:pt x="44450" y="0"/>
                </a:moveTo>
                <a:lnTo>
                  <a:pt x="27940" y="0"/>
                </a:lnTo>
                <a:lnTo>
                  <a:pt x="0" y="0"/>
                </a:lnTo>
                <a:lnTo>
                  <a:pt x="0" y="9144"/>
                </a:lnTo>
                <a:lnTo>
                  <a:pt x="27940" y="9144"/>
                </a:lnTo>
                <a:lnTo>
                  <a:pt x="27940" y="310896"/>
                </a:lnTo>
                <a:lnTo>
                  <a:pt x="44450" y="310896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11350" y="4066044"/>
            <a:ext cx="44450" cy="311150"/>
          </a:xfrm>
          <a:custGeom>
            <a:avLst/>
            <a:gdLst/>
            <a:ahLst/>
            <a:cxnLst/>
            <a:rect l="l" t="t" r="r" b="b"/>
            <a:pathLst>
              <a:path w="44450" h="311150">
                <a:moveTo>
                  <a:pt x="43942" y="301752"/>
                </a:moveTo>
                <a:lnTo>
                  <a:pt x="18034" y="301752"/>
                </a:lnTo>
                <a:lnTo>
                  <a:pt x="18034" y="310896"/>
                </a:lnTo>
                <a:lnTo>
                  <a:pt x="43942" y="310896"/>
                </a:lnTo>
                <a:lnTo>
                  <a:pt x="43942" y="301752"/>
                </a:lnTo>
                <a:close/>
              </a:path>
              <a:path w="44450" h="311150">
                <a:moveTo>
                  <a:pt x="44450" y="0"/>
                </a:moveTo>
                <a:lnTo>
                  <a:pt x="17780" y="0"/>
                </a:lnTo>
                <a:lnTo>
                  <a:pt x="0" y="0"/>
                </a:lnTo>
                <a:lnTo>
                  <a:pt x="0" y="310896"/>
                </a:lnTo>
                <a:lnTo>
                  <a:pt x="17780" y="310896"/>
                </a:lnTo>
                <a:lnTo>
                  <a:pt x="17780" y="9144"/>
                </a:lnTo>
                <a:lnTo>
                  <a:pt x="44450" y="9144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017267" y="4193538"/>
            <a:ext cx="13017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20" dirty="0">
                <a:latin typeface="Cambria"/>
                <a:cs typeface="Cambria"/>
              </a:rPr>
              <a:t>3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926080" y="4133100"/>
            <a:ext cx="40640" cy="175260"/>
          </a:xfrm>
          <a:custGeom>
            <a:avLst/>
            <a:gdLst/>
            <a:ahLst/>
            <a:cxnLst/>
            <a:rect l="l" t="t" r="r" b="b"/>
            <a:pathLst>
              <a:path w="40639" h="175260">
                <a:moveTo>
                  <a:pt x="40640" y="0"/>
                </a:moveTo>
                <a:lnTo>
                  <a:pt x="25400" y="0"/>
                </a:lnTo>
                <a:lnTo>
                  <a:pt x="0" y="0"/>
                </a:lnTo>
                <a:lnTo>
                  <a:pt x="0" y="6096"/>
                </a:lnTo>
                <a:lnTo>
                  <a:pt x="25400" y="6096"/>
                </a:lnTo>
                <a:lnTo>
                  <a:pt x="25400" y="169164"/>
                </a:lnTo>
                <a:lnTo>
                  <a:pt x="0" y="169164"/>
                </a:lnTo>
                <a:lnTo>
                  <a:pt x="0" y="175260"/>
                </a:lnTo>
                <a:lnTo>
                  <a:pt x="25400" y="175260"/>
                </a:lnTo>
                <a:lnTo>
                  <a:pt x="25908" y="175260"/>
                </a:lnTo>
                <a:lnTo>
                  <a:pt x="40640" y="175260"/>
                </a:lnTo>
                <a:lnTo>
                  <a:pt x="40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522220" y="4133100"/>
            <a:ext cx="41275" cy="175260"/>
          </a:xfrm>
          <a:custGeom>
            <a:avLst/>
            <a:gdLst/>
            <a:ahLst/>
            <a:cxnLst/>
            <a:rect l="l" t="t" r="r" b="b"/>
            <a:pathLst>
              <a:path w="41275" h="175260">
                <a:moveTo>
                  <a:pt x="41148" y="169164"/>
                </a:moveTo>
                <a:lnTo>
                  <a:pt x="15240" y="169164"/>
                </a:lnTo>
                <a:lnTo>
                  <a:pt x="15240" y="6096"/>
                </a:lnTo>
                <a:lnTo>
                  <a:pt x="40640" y="6096"/>
                </a:lnTo>
                <a:lnTo>
                  <a:pt x="40640" y="0"/>
                </a:ln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5240" y="175260"/>
                </a:lnTo>
                <a:lnTo>
                  <a:pt x="41148" y="175260"/>
                </a:lnTo>
                <a:lnTo>
                  <a:pt x="41148" y="169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945636" y="4133100"/>
            <a:ext cx="41275" cy="175260"/>
          </a:xfrm>
          <a:custGeom>
            <a:avLst/>
            <a:gdLst/>
            <a:ahLst/>
            <a:cxnLst/>
            <a:rect l="l" t="t" r="r" b="b"/>
            <a:pathLst>
              <a:path w="41275" h="175260">
                <a:moveTo>
                  <a:pt x="40894" y="0"/>
                </a:moveTo>
                <a:lnTo>
                  <a:pt x="25654" y="0"/>
                </a:lnTo>
                <a:lnTo>
                  <a:pt x="254" y="0"/>
                </a:lnTo>
                <a:lnTo>
                  <a:pt x="254" y="6096"/>
                </a:lnTo>
                <a:lnTo>
                  <a:pt x="25654" y="6096"/>
                </a:lnTo>
                <a:lnTo>
                  <a:pt x="25654" y="169164"/>
                </a:lnTo>
                <a:lnTo>
                  <a:pt x="0" y="169164"/>
                </a:lnTo>
                <a:lnTo>
                  <a:pt x="0" y="175260"/>
                </a:lnTo>
                <a:lnTo>
                  <a:pt x="25654" y="175260"/>
                </a:lnTo>
                <a:lnTo>
                  <a:pt x="25908" y="175260"/>
                </a:lnTo>
                <a:lnTo>
                  <a:pt x="40894" y="175260"/>
                </a:lnTo>
                <a:lnTo>
                  <a:pt x="408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225800" y="4133100"/>
            <a:ext cx="41910" cy="175260"/>
          </a:xfrm>
          <a:custGeom>
            <a:avLst/>
            <a:gdLst/>
            <a:ahLst/>
            <a:cxnLst/>
            <a:rect l="l" t="t" r="r" b="b"/>
            <a:pathLst>
              <a:path w="41910" h="175260">
                <a:moveTo>
                  <a:pt x="41656" y="169164"/>
                </a:moveTo>
                <a:lnTo>
                  <a:pt x="15748" y="169164"/>
                </a:lnTo>
                <a:lnTo>
                  <a:pt x="15748" y="175260"/>
                </a:lnTo>
                <a:lnTo>
                  <a:pt x="41656" y="175260"/>
                </a:lnTo>
                <a:lnTo>
                  <a:pt x="41656" y="169164"/>
                </a:lnTo>
                <a:close/>
              </a:path>
              <a:path w="41910" h="175260">
                <a:moveTo>
                  <a:pt x="41910" y="0"/>
                </a:moveTo>
                <a:lnTo>
                  <a:pt x="15240" y="0"/>
                </a:lnTo>
                <a:lnTo>
                  <a:pt x="0" y="0"/>
                </a:lnTo>
                <a:lnTo>
                  <a:pt x="0" y="175260"/>
                </a:lnTo>
                <a:lnTo>
                  <a:pt x="15240" y="175260"/>
                </a:lnTo>
                <a:lnTo>
                  <a:pt x="15240" y="6096"/>
                </a:lnTo>
                <a:lnTo>
                  <a:pt x="41910" y="6096"/>
                </a:lnTo>
                <a:lnTo>
                  <a:pt x="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07187" y="4080762"/>
            <a:ext cx="467233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35"/>
              </a:spcBef>
              <a:tabLst>
                <a:tab pos="1288415" algn="l"/>
                <a:tab pos="1851025" algn="l"/>
              </a:tabLst>
            </a:pPr>
            <a:r>
              <a:rPr sz="2175" spc="-30" baseline="1915" dirty="0">
                <a:latin typeface="Cambria"/>
                <a:cs typeface="Cambria"/>
              </a:rPr>
              <a:t>o</a:t>
            </a:r>
            <a:r>
              <a:rPr sz="1650" spc="-30" baseline="-12626" dirty="0">
                <a:latin typeface="Cambria"/>
                <a:cs typeface="Cambria"/>
              </a:rPr>
              <a:t>1</a:t>
            </a:r>
            <a:r>
              <a:rPr sz="1650" spc="345" baseline="-12626" dirty="0">
                <a:latin typeface="Cambria"/>
                <a:cs typeface="Cambria"/>
              </a:rPr>
              <a:t> </a:t>
            </a:r>
            <a:r>
              <a:rPr sz="2175" spc="457" baseline="1915" dirty="0">
                <a:latin typeface="Cambria"/>
                <a:cs typeface="Cambria"/>
              </a:rPr>
              <a:t>=</a:t>
            </a:r>
            <a:r>
              <a:rPr sz="2175" spc="135" baseline="1915" dirty="0">
                <a:latin typeface="Cambria"/>
                <a:cs typeface="Cambria"/>
              </a:rPr>
              <a:t> </a:t>
            </a:r>
            <a:r>
              <a:rPr sz="2175" spc="97" baseline="1915" dirty="0">
                <a:latin typeface="Cambria"/>
                <a:cs typeface="Cambria"/>
              </a:rPr>
              <a:t>σ(</a:t>
            </a:r>
            <a:r>
              <a:rPr sz="2175" spc="307" baseline="1915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0.60	0.40	</a:t>
            </a:r>
            <a:r>
              <a:rPr sz="2175" spc="15" baseline="32567" dirty="0">
                <a:latin typeface="Cambria"/>
                <a:cs typeface="Cambria"/>
              </a:rPr>
              <a:t>0.5</a:t>
            </a:r>
            <a:r>
              <a:rPr sz="2175" spc="345" baseline="32567" dirty="0">
                <a:latin typeface="Cambria"/>
                <a:cs typeface="Cambria"/>
              </a:rPr>
              <a:t> </a:t>
            </a:r>
            <a:r>
              <a:rPr sz="2175" spc="457" baseline="1915" dirty="0">
                <a:latin typeface="Cambria"/>
                <a:cs typeface="Cambria"/>
              </a:rPr>
              <a:t>+</a:t>
            </a:r>
            <a:r>
              <a:rPr sz="2175" spc="780" baseline="1915" dirty="0">
                <a:latin typeface="Cambria"/>
                <a:cs typeface="Cambria"/>
              </a:rPr>
              <a:t> </a:t>
            </a:r>
            <a:r>
              <a:rPr sz="2175" spc="22" baseline="1915" dirty="0">
                <a:latin typeface="Cambria"/>
                <a:cs typeface="Cambria"/>
              </a:rPr>
              <a:t>0.25 </a:t>
            </a:r>
            <a:r>
              <a:rPr sz="2175" spc="277" baseline="1915" dirty="0">
                <a:latin typeface="Cambria"/>
                <a:cs typeface="Cambria"/>
              </a:rPr>
              <a:t> </a:t>
            </a:r>
            <a:r>
              <a:rPr sz="2175" spc="390" baseline="1915" dirty="0">
                <a:latin typeface="Cambria"/>
                <a:cs typeface="Cambria"/>
              </a:rPr>
              <a:t>×</a:t>
            </a:r>
            <a:r>
              <a:rPr sz="2175" spc="780" baseline="1915" dirty="0">
                <a:latin typeface="Cambria"/>
                <a:cs typeface="Cambria"/>
              </a:rPr>
              <a:t> </a:t>
            </a:r>
            <a:r>
              <a:rPr sz="2175" spc="22" baseline="1915" dirty="0">
                <a:latin typeface="Cambria"/>
                <a:cs typeface="Cambria"/>
              </a:rPr>
              <a:t>0.53631 </a:t>
            </a:r>
            <a:r>
              <a:rPr sz="2175" spc="277" baseline="1915" dirty="0">
                <a:latin typeface="Cambria"/>
                <a:cs typeface="Cambria"/>
              </a:rPr>
              <a:t> </a:t>
            </a:r>
            <a:r>
              <a:rPr sz="2175" spc="457" baseline="1915" dirty="0">
                <a:latin typeface="Cambria"/>
                <a:cs typeface="Cambria"/>
              </a:rPr>
              <a:t>+</a:t>
            </a:r>
            <a:r>
              <a:rPr sz="2175" spc="7" baseline="1915" dirty="0">
                <a:latin typeface="Cambria"/>
                <a:cs typeface="Cambria"/>
              </a:rPr>
              <a:t> </a:t>
            </a:r>
            <a:r>
              <a:rPr sz="2175" spc="30" baseline="1915" dirty="0">
                <a:latin typeface="Cambria"/>
                <a:cs typeface="Cambria"/>
              </a:rPr>
              <a:t>[0.10)</a:t>
            </a:r>
            <a:endParaRPr sz="2175" baseline="1915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8113" y="4518659"/>
            <a:ext cx="1146175" cy="227329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7305">
              <a:lnSpc>
                <a:spcPts val="1670"/>
              </a:lnSpc>
            </a:pPr>
            <a:r>
              <a:rPr sz="1450" spc="-20" dirty="0">
                <a:latin typeface="Cambria"/>
                <a:cs typeface="Cambria"/>
              </a:rPr>
              <a:t>o</a:t>
            </a:r>
            <a:r>
              <a:rPr sz="1650" spc="-30" baseline="-15151" dirty="0">
                <a:latin typeface="Cambria"/>
                <a:cs typeface="Cambria"/>
              </a:rPr>
              <a:t>1</a:t>
            </a:r>
            <a:r>
              <a:rPr sz="1650" spc="300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r>
              <a:rPr sz="1450" spc="65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0.84993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0" y="1057649"/>
            <a:ext cx="4528185" cy="416559"/>
            <a:chOff x="0" y="1057649"/>
            <a:chExt cx="4528185" cy="416559"/>
          </a:xfrm>
        </p:grpSpPr>
        <p:sp>
          <p:nvSpPr>
            <p:cNvPr id="31" name="object 31"/>
            <p:cNvSpPr/>
            <p:nvPr/>
          </p:nvSpPr>
          <p:spPr>
            <a:xfrm>
              <a:off x="0" y="1057649"/>
              <a:ext cx="4520565" cy="408940"/>
            </a:xfrm>
            <a:custGeom>
              <a:avLst/>
              <a:gdLst/>
              <a:ahLst/>
              <a:cxnLst/>
              <a:rect l="l" t="t" r="r" b="b"/>
              <a:pathLst>
                <a:path w="4520565" h="408940">
                  <a:moveTo>
                    <a:pt x="4520183" y="408431"/>
                  </a:moveTo>
                  <a:lnTo>
                    <a:pt x="4520183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4520183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0" y="1057649"/>
              <a:ext cx="4528185" cy="416559"/>
            </a:xfrm>
            <a:custGeom>
              <a:avLst/>
              <a:gdLst/>
              <a:ahLst/>
              <a:cxnLst/>
              <a:rect l="l" t="t" r="r" b="b"/>
              <a:pathLst>
                <a:path w="4528185" h="416559">
                  <a:moveTo>
                    <a:pt x="4520184" y="9144"/>
                  </a:moveTo>
                  <a:lnTo>
                    <a:pt x="4512564" y="0"/>
                  </a:lnTo>
                  <a:lnTo>
                    <a:pt x="0" y="0"/>
                  </a:lnTo>
                  <a:lnTo>
                    <a:pt x="0" y="9144"/>
                  </a:lnTo>
                  <a:lnTo>
                    <a:pt x="9138" y="0"/>
                  </a:lnTo>
                  <a:lnTo>
                    <a:pt x="9138" y="9144"/>
                  </a:lnTo>
                  <a:lnTo>
                    <a:pt x="4520184" y="9144"/>
                  </a:lnTo>
                  <a:close/>
                </a:path>
                <a:path w="4528185" h="416559">
                  <a:moveTo>
                    <a:pt x="9138" y="9144"/>
                  </a:moveTo>
                  <a:lnTo>
                    <a:pt x="9138" y="0"/>
                  </a:lnTo>
                  <a:lnTo>
                    <a:pt x="0" y="9144"/>
                  </a:lnTo>
                  <a:lnTo>
                    <a:pt x="9138" y="9144"/>
                  </a:lnTo>
                  <a:close/>
                </a:path>
                <a:path w="4528185" h="416559">
                  <a:moveTo>
                    <a:pt x="9138" y="400812"/>
                  </a:moveTo>
                  <a:lnTo>
                    <a:pt x="9138" y="9144"/>
                  </a:lnTo>
                  <a:lnTo>
                    <a:pt x="0" y="9144"/>
                  </a:lnTo>
                  <a:lnTo>
                    <a:pt x="0" y="400812"/>
                  </a:lnTo>
                  <a:lnTo>
                    <a:pt x="9138" y="400812"/>
                  </a:lnTo>
                  <a:close/>
                </a:path>
                <a:path w="4528185" h="416559">
                  <a:moveTo>
                    <a:pt x="4520184" y="400812"/>
                  </a:moveTo>
                  <a:lnTo>
                    <a:pt x="0" y="400812"/>
                  </a:lnTo>
                  <a:lnTo>
                    <a:pt x="9138" y="408432"/>
                  </a:lnTo>
                  <a:lnTo>
                    <a:pt x="9138" y="416052"/>
                  </a:lnTo>
                  <a:lnTo>
                    <a:pt x="4512564" y="416052"/>
                  </a:lnTo>
                  <a:lnTo>
                    <a:pt x="4512564" y="408432"/>
                  </a:lnTo>
                  <a:lnTo>
                    <a:pt x="4520184" y="400812"/>
                  </a:lnTo>
                  <a:close/>
                </a:path>
                <a:path w="4528185" h="416559">
                  <a:moveTo>
                    <a:pt x="9138" y="416052"/>
                  </a:moveTo>
                  <a:lnTo>
                    <a:pt x="9138" y="408432"/>
                  </a:lnTo>
                  <a:lnTo>
                    <a:pt x="0" y="400812"/>
                  </a:lnTo>
                  <a:lnTo>
                    <a:pt x="0" y="416052"/>
                  </a:lnTo>
                  <a:lnTo>
                    <a:pt x="9138" y="416052"/>
                  </a:lnTo>
                  <a:close/>
                </a:path>
                <a:path w="4528185" h="416559">
                  <a:moveTo>
                    <a:pt x="4527804" y="413004"/>
                  </a:moveTo>
                  <a:lnTo>
                    <a:pt x="4527804" y="0"/>
                  </a:lnTo>
                  <a:lnTo>
                    <a:pt x="4512564" y="0"/>
                  </a:lnTo>
                  <a:lnTo>
                    <a:pt x="4520184" y="9144"/>
                  </a:lnTo>
                  <a:lnTo>
                    <a:pt x="4520184" y="416052"/>
                  </a:lnTo>
                  <a:lnTo>
                    <a:pt x="4524756" y="416052"/>
                  </a:lnTo>
                  <a:lnTo>
                    <a:pt x="4527804" y="413004"/>
                  </a:lnTo>
                  <a:close/>
                </a:path>
                <a:path w="4528185" h="416559">
                  <a:moveTo>
                    <a:pt x="4520184" y="400812"/>
                  </a:moveTo>
                  <a:lnTo>
                    <a:pt x="4520184" y="9144"/>
                  </a:lnTo>
                  <a:lnTo>
                    <a:pt x="4512564" y="9144"/>
                  </a:lnTo>
                  <a:lnTo>
                    <a:pt x="4512564" y="400812"/>
                  </a:lnTo>
                  <a:lnTo>
                    <a:pt x="4520184" y="400812"/>
                  </a:lnTo>
                  <a:close/>
                </a:path>
                <a:path w="4528185" h="416559">
                  <a:moveTo>
                    <a:pt x="4520184" y="416052"/>
                  </a:moveTo>
                  <a:lnTo>
                    <a:pt x="4520184" y="400812"/>
                  </a:lnTo>
                  <a:lnTo>
                    <a:pt x="4512564" y="408432"/>
                  </a:lnTo>
                  <a:lnTo>
                    <a:pt x="4512564" y="416052"/>
                  </a:lnTo>
                  <a:lnTo>
                    <a:pt x="4520184" y="416052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63493" y="1051051"/>
            <a:ext cx="4210685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b="1" spc="-90" dirty="0">
                <a:latin typeface="Calibri"/>
                <a:cs typeface="Calibri"/>
              </a:rPr>
              <a:t>Worked</a:t>
            </a:r>
            <a:r>
              <a:rPr sz="2150" b="1" spc="-70" dirty="0">
                <a:latin typeface="Calibri"/>
                <a:cs typeface="Calibri"/>
              </a:rPr>
              <a:t> Example</a:t>
            </a:r>
            <a:r>
              <a:rPr sz="2150" b="1" spc="-75" dirty="0">
                <a:latin typeface="Calibri"/>
                <a:cs typeface="Calibri"/>
              </a:rPr>
              <a:t> </a:t>
            </a:r>
            <a:r>
              <a:rPr sz="2150" b="1" spc="-5" dirty="0">
                <a:latin typeface="Calibri"/>
                <a:cs typeface="Calibri"/>
              </a:rPr>
              <a:t>–</a:t>
            </a:r>
            <a:r>
              <a:rPr sz="2150" b="1" spc="-30" dirty="0">
                <a:latin typeface="Calibri"/>
                <a:cs typeface="Calibri"/>
              </a:rPr>
              <a:t> </a:t>
            </a:r>
            <a:r>
              <a:rPr sz="2150" b="1" spc="-70" dirty="0">
                <a:latin typeface="Calibri"/>
                <a:cs typeface="Calibri"/>
              </a:rPr>
              <a:t>Forward </a:t>
            </a:r>
            <a:r>
              <a:rPr sz="2150" b="1" spc="-60" dirty="0">
                <a:latin typeface="Calibri"/>
                <a:cs typeface="Calibri"/>
              </a:rPr>
              <a:t>Pass</a:t>
            </a:r>
            <a:r>
              <a:rPr sz="2150" b="1" spc="-70" dirty="0">
                <a:latin typeface="Calibri"/>
                <a:cs typeface="Calibri"/>
              </a:rPr>
              <a:t> </a:t>
            </a:r>
            <a:r>
              <a:rPr sz="2150" b="1" spc="-20" dirty="0">
                <a:latin typeface="Calibri"/>
                <a:cs typeface="Calibri"/>
              </a:rPr>
              <a:t>@</a:t>
            </a:r>
            <a:r>
              <a:rPr sz="2150" b="1" spc="-45" dirty="0">
                <a:latin typeface="Calibri"/>
                <a:cs typeface="Calibri"/>
              </a:rPr>
              <a:t> </a:t>
            </a:r>
            <a:r>
              <a:rPr sz="2150" b="1" spc="-20" dirty="0">
                <a:latin typeface="Calibri"/>
                <a:cs typeface="Calibri"/>
              </a:rPr>
              <a:t>t=1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98113" y="1981200"/>
            <a:ext cx="909955" cy="384175"/>
          </a:xfrm>
          <a:custGeom>
            <a:avLst/>
            <a:gdLst/>
            <a:ahLst/>
            <a:cxnLst/>
            <a:rect l="l" t="t" r="r" b="b"/>
            <a:pathLst>
              <a:path w="909955" h="384175">
                <a:moveTo>
                  <a:pt x="909827" y="384047"/>
                </a:moveTo>
                <a:lnTo>
                  <a:pt x="909827" y="0"/>
                </a:lnTo>
                <a:lnTo>
                  <a:pt x="0" y="0"/>
                </a:lnTo>
                <a:lnTo>
                  <a:pt x="0" y="384047"/>
                </a:lnTo>
                <a:lnTo>
                  <a:pt x="909827" y="384047"/>
                </a:lnTo>
                <a:close/>
              </a:path>
            </a:pathLst>
          </a:custGeom>
          <a:solidFill>
            <a:srgbClr val="FFE6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98113" y="1981200"/>
            <a:ext cx="518159" cy="35814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749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90"/>
              </a:spcBef>
            </a:pPr>
            <a:r>
              <a:rPr sz="1450" spc="30" dirty="0">
                <a:latin typeface="Cambria"/>
                <a:cs typeface="Cambria"/>
              </a:rPr>
              <a:t>x</a:t>
            </a:r>
            <a:r>
              <a:rPr sz="1650" spc="44" baseline="-15151" dirty="0">
                <a:latin typeface="Cambria"/>
                <a:cs typeface="Cambria"/>
              </a:rPr>
              <a:t>1</a:t>
            </a:r>
            <a:r>
              <a:rPr sz="1650" spc="270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16280" y="2033028"/>
            <a:ext cx="344170" cy="311150"/>
          </a:xfrm>
          <a:custGeom>
            <a:avLst/>
            <a:gdLst/>
            <a:ahLst/>
            <a:cxnLst/>
            <a:rect l="l" t="t" r="r" b="b"/>
            <a:pathLst>
              <a:path w="344169" h="311150">
                <a:moveTo>
                  <a:pt x="44183" y="301752"/>
                </a:moveTo>
                <a:lnTo>
                  <a:pt x="16751" y="301752"/>
                </a:lnTo>
                <a:lnTo>
                  <a:pt x="16751" y="310896"/>
                </a:lnTo>
                <a:lnTo>
                  <a:pt x="44183" y="310896"/>
                </a:lnTo>
                <a:lnTo>
                  <a:pt x="44183" y="301752"/>
                </a:lnTo>
                <a:close/>
              </a:path>
              <a:path w="344169" h="311150">
                <a:moveTo>
                  <a:pt x="44450" y="0"/>
                </a:moveTo>
                <a:lnTo>
                  <a:pt x="16510" y="0"/>
                </a:lnTo>
                <a:lnTo>
                  <a:pt x="0" y="0"/>
                </a:lnTo>
                <a:lnTo>
                  <a:pt x="0" y="310896"/>
                </a:lnTo>
                <a:lnTo>
                  <a:pt x="16510" y="310896"/>
                </a:lnTo>
                <a:lnTo>
                  <a:pt x="16510" y="7620"/>
                </a:lnTo>
                <a:lnTo>
                  <a:pt x="44450" y="7620"/>
                </a:lnTo>
                <a:lnTo>
                  <a:pt x="44450" y="0"/>
                </a:lnTo>
                <a:close/>
              </a:path>
              <a:path w="344169" h="311150">
                <a:moveTo>
                  <a:pt x="326123" y="301752"/>
                </a:moveTo>
                <a:lnTo>
                  <a:pt x="300215" y="301752"/>
                </a:lnTo>
                <a:lnTo>
                  <a:pt x="300215" y="310896"/>
                </a:lnTo>
                <a:lnTo>
                  <a:pt x="326123" y="310896"/>
                </a:lnTo>
                <a:lnTo>
                  <a:pt x="326123" y="301752"/>
                </a:lnTo>
                <a:close/>
              </a:path>
              <a:path w="344169" h="311150">
                <a:moveTo>
                  <a:pt x="344170" y="0"/>
                </a:moveTo>
                <a:lnTo>
                  <a:pt x="326390" y="0"/>
                </a:lnTo>
                <a:lnTo>
                  <a:pt x="299720" y="0"/>
                </a:lnTo>
                <a:lnTo>
                  <a:pt x="299720" y="7620"/>
                </a:lnTo>
                <a:lnTo>
                  <a:pt x="326390" y="7620"/>
                </a:lnTo>
                <a:lnTo>
                  <a:pt x="326390" y="310896"/>
                </a:lnTo>
                <a:lnTo>
                  <a:pt x="344170" y="310896"/>
                </a:lnTo>
                <a:lnTo>
                  <a:pt x="3441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32790" y="1939543"/>
            <a:ext cx="309880" cy="4737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35"/>
              </a:spcBef>
            </a:pPr>
            <a:r>
              <a:rPr sz="1450" spc="10" dirty="0">
                <a:latin typeface="Cambria"/>
                <a:cs typeface="Cambria"/>
              </a:rPr>
              <a:t>0.5</a:t>
            </a:r>
            <a:endParaRPr sz="1450">
              <a:latin typeface="Cambria"/>
              <a:cs typeface="Cambria"/>
            </a:endParaRPr>
          </a:p>
          <a:p>
            <a:pPr marL="102235">
              <a:lnSpc>
                <a:spcPct val="100000"/>
              </a:lnSpc>
            </a:pPr>
            <a:r>
              <a:rPr sz="1450" spc="20" dirty="0">
                <a:latin typeface="Cambria"/>
                <a:cs typeface="Cambria"/>
              </a:rPr>
              <a:t>3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52</a:t>
            </a:fld>
            <a:endParaRPr dirty="0"/>
          </a:p>
        </p:txBody>
      </p:sp>
      <p:sp>
        <p:nvSpPr>
          <p:cNvPr id="38" name="object 38"/>
          <p:cNvSpPr txBox="1"/>
          <p:nvPr/>
        </p:nvSpPr>
        <p:spPr>
          <a:xfrm>
            <a:off x="1514849" y="2031491"/>
            <a:ext cx="1160145" cy="2286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80"/>
              </a:lnSpc>
            </a:pPr>
            <a:r>
              <a:rPr sz="1450" spc="20" dirty="0">
                <a:latin typeface="Cambria"/>
                <a:cs typeface="Cambria"/>
              </a:rPr>
              <a:t>ℎ</a:t>
            </a:r>
            <a:r>
              <a:rPr sz="1650" spc="30" baseline="-15151" dirty="0">
                <a:latin typeface="Cambria"/>
                <a:cs typeface="Cambria"/>
              </a:rPr>
              <a:t>0</a:t>
            </a:r>
            <a:r>
              <a:rPr sz="1650" spc="284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r>
              <a:rPr sz="1450" spc="70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0.53631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083051" y="2031491"/>
            <a:ext cx="1156970" cy="2286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80"/>
              </a:lnSpc>
            </a:pPr>
            <a:r>
              <a:rPr sz="1450" spc="5" dirty="0">
                <a:latin typeface="Cambria"/>
                <a:cs typeface="Cambria"/>
              </a:rPr>
              <a:t>C</a:t>
            </a:r>
            <a:r>
              <a:rPr sz="1650" spc="7" baseline="-15151" dirty="0">
                <a:latin typeface="Cambria"/>
                <a:cs typeface="Cambria"/>
              </a:rPr>
              <a:t>0</a:t>
            </a:r>
            <a:r>
              <a:rPr sz="1650" spc="277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r>
              <a:rPr sz="1450" spc="70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0.78572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796016" y="1072387"/>
            <a:ext cx="121475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25" dirty="0">
                <a:solidFill>
                  <a:srgbClr val="FF0000"/>
                </a:solidFill>
                <a:latin typeface="Calibri"/>
                <a:cs typeface="Calibri"/>
              </a:rPr>
              <a:t>Output</a:t>
            </a:r>
            <a:r>
              <a:rPr sz="18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10" dirty="0">
                <a:solidFill>
                  <a:srgbClr val="FF0000"/>
                </a:solidFill>
                <a:latin typeface="Calibri"/>
                <a:cs typeface="Calibri"/>
              </a:rPr>
              <a:t>Gate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013" y="1698446"/>
            <a:ext cx="3778885" cy="714375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65"/>
              </a:spcBef>
            </a:pPr>
            <a:r>
              <a:rPr sz="1450" spc="-50" dirty="0">
                <a:latin typeface="Cambria"/>
                <a:cs typeface="Cambria"/>
              </a:rPr>
              <a:t>C</a:t>
            </a:r>
            <a:r>
              <a:rPr sz="1650" spc="104" baseline="-15151" dirty="0">
                <a:latin typeface="Cambria"/>
                <a:cs typeface="Cambria"/>
              </a:rPr>
              <a:t>1</a:t>
            </a:r>
            <a:r>
              <a:rPr sz="1450" spc="15" dirty="0">
                <a:latin typeface="Calibri"/>
                <a:cs typeface="Calibri"/>
              </a:rPr>
              <a:t>=</a:t>
            </a:r>
            <a:r>
              <a:rPr sz="1450" spc="10" dirty="0">
                <a:latin typeface="Calibri"/>
                <a:cs typeface="Calibri"/>
              </a:rPr>
              <a:t> </a:t>
            </a:r>
            <a:r>
              <a:rPr sz="1450" spc="-770" dirty="0">
                <a:latin typeface="Cambria"/>
                <a:cs typeface="Cambria"/>
              </a:rPr>
              <a:t>C</a:t>
            </a:r>
            <a:r>
              <a:rPr sz="2175" spc="502" baseline="11494" dirty="0">
                <a:latin typeface="Cambria"/>
                <a:cs typeface="Cambria"/>
              </a:rPr>
              <a:t>˜</a:t>
            </a:r>
            <a:r>
              <a:rPr sz="1650" spc="30" baseline="-15151" dirty="0">
                <a:latin typeface="Cambria"/>
                <a:cs typeface="Cambria"/>
              </a:rPr>
              <a:t>0</a:t>
            </a:r>
            <a:r>
              <a:rPr sz="1650" baseline="-15151" dirty="0">
                <a:latin typeface="Cambria"/>
                <a:cs typeface="Cambria"/>
              </a:rPr>
              <a:t> </a:t>
            </a:r>
            <a:r>
              <a:rPr sz="1650" spc="-165" baseline="-15151" dirty="0">
                <a:latin typeface="Cambria"/>
                <a:cs typeface="Cambria"/>
              </a:rPr>
              <a:t> </a:t>
            </a:r>
            <a:r>
              <a:rPr sz="1450" spc="-95" dirty="0">
                <a:latin typeface="Cambria"/>
                <a:cs typeface="Cambria"/>
              </a:rPr>
              <a:t>∘</a:t>
            </a:r>
            <a:r>
              <a:rPr sz="1450" spc="15" dirty="0">
                <a:latin typeface="Cambria"/>
                <a:cs typeface="Cambria"/>
              </a:rPr>
              <a:t> </a:t>
            </a:r>
            <a:r>
              <a:rPr sz="1450" spc="25" dirty="0">
                <a:latin typeface="Cambria"/>
                <a:cs typeface="Cambria"/>
              </a:rPr>
              <a:t>i</a:t>
            </a:r>
            <a:r>
              <a:rPr sz="1650" spc="30" baseline="-15151" dirty="0">
                <a:latin typeface="Cambria"/>
                <a:cs typeface="Cambria"/>
              </a:rPr>
              <a:t>1</a:t>
            </a:r>
            <a:r>
              <a:rPr sz="1650" baseline="-15151" dirty="0">
                <a:latin typeface="Cambria"/>
                <a:cs typeface="Cambria"/>
              </a:rPr>
              <a:t> </a:t>
            </a:r>
            <a:r>
              <a:rPr sz="1650" spc="-150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+</a:t>
            </a:r>
            <a:r>
              <a:rPr sz="1450" spc="20" dirty="0">
                <a:latin typeface="Cambria"/>
                <a:cs typeface="Cambria"/>
              </a:rPr>
              <a:t> </a:t>
            </a:r>
            <a:r>
              <a:rPr sz="1450" spc="105" dirty="0">
                <a:latin typeface="Cambria"/>
                <a:cs typeface="Cambria"/>
              </a:rPr>
              <a:t>f</a:t>
            </a:r>
            <a:r>
              <a:rPr sz="1650" spc="30" baseline="-15151" dirty="0">
                <a:latin typeface="Cambria"/>
                <a:cs typeface="Cambria"/>
              </a:rPr>
              <a:t>1</a:t>
            </a:r>
            <a:r>
              <a:rPr sz="1650" baseline="-15151" dirty="0">
                <a:latin typeface="Cambria"/>
                <a:cs typeface="Cambria"/>
              </a:rPr>
              <a:t>  </a:t>
            </a:r>
            <a:r>
              <a:rPr sz="1650" spc="-22" baseline="-15151" dirty="0">
                <a:latin typeface="Cambria"/>
                <a:cs typeface="Cambria"/>
              </a:rPr>
              <a:t> </a:t>
            </a:r>
            <a:r>
              <a:rPr sz="1450" spc="-95" dirty="0">
                <a:latin typeface="Cambria"/>
                <a:cs typeface="Cambria"/>
              </a:rPr>
              <a:t>∘</a:t>
            </a:r>
            <a:r>
              <a:rPr sz="1450" spc="15" dirty="0">
                <a:latin typeface="Cambria"/>
                <a:cs typeface="Cambria"/>
              </a:rPr>
              <a:t> </a:t>
            </a:r>
            <a:r>
              <a:rPr sz="1450" spc="-15" dirty="0">
                <a:latin typeface="Cambria"/>
                <a:cs typeface="Cambria"/>
              </a:rPr>
              <a:t>C</a:t>
            </a:r>
            <a:r>
              <a:rPr sz="1650" spc="30" baseline="-15151" dirty="0">
                <a:latin typeface="Cambria"/>
                <a:cs typeface="Cambria"/>
              </a:rPr>
              <a:t>0</a:t>
            </a:r>
            <a:endParaRPr sz="1650" baseline="-15151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  <a:spcBef>
                <a:spcPts val="969"/>
              </a:spcBef>
            </a:pPr>
            <a:r>
              <a:rPr sz="1450" spc="10" dirty="0">
                <a:latin typeface="Cambria"/>
                <a:cs typeface="Cambria"/>
              </a:rPr>
              <a:t>C</a:t>
            </a:r>
            <a:r>
              <a:rPr sz="1650" spc="15" baseline="-15151" dirty="0">
                <a:latin typeface="Cambria"/>
                <a:cs typeface="Cambria"/>
              </a:rPr>
              <a:t>1</a:t>
            </a:r>
            <a:r>
              <a:rPr sz="1450" spc="10" dirty="0">
                <a:latin typeface="Calibri"/>
                <a:cs typeface="Calibri"/>
              </a:rPr>
              <a:t>= </a:t>
            </a:r>
            <a:r>
              <a:rPr sz="1450" spc="15" dirty="0">
                <a:latin typeface="Cambria"/>
                <a:cs typeface="Cambria"/>
              </a:rPr>
              <a:t>0.84980</a:t>
            </a:r>
            <a:r>
              <a:rPr sz="1450" spc="330" dirty="0">
                <a:latin typeface="Cambria"/>
                <a:cs typeface="Cambria"/>
              </a:rPr>
              <a:t> </a:t>
            </a:r>
            <a:r>
              <a:rPr sz="1450" spc="260" dirty="0">
                <a:latin typeface="Cambria"/>
                <a:cs typeface="Cambria"/>
              </a:rPr>
              <a:t>×</a:t>
            </a:r>
            <a:r>
              <a:rPr sz="1450" spc="5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0.98118</a:t>
            </a:r>
            <a:r>
              <a:rPr sz="1450" spc="5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+</a:t>
            </a:r>
            <a:r>
              <a:rPr sz="1450" spc="10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0.87030</a:t>
            </a:r>
            <a:r>
              <a:rPr sz="1450" spc="20" dirty="0">
                <a:latin typeface="Cambria"/>
                <a:cs typeface="Cambria"/>
              </a:rPr>
              <a:t> </a:t>
            </a:r>
            <a:r>
              <a:rPr sz="1450" spc="260" dirty="0">
                <a:latin typeface="Cambria"/>
                <a:cs typeface="Cambria"/>
              </a:rPr>
              <a:t>×</a:t>
            </a:r>
            <a:r>
              <a:rPr sz="1450" spc="5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0.78572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4209" y="2552700"/>
            <a:ext cx="1049020" cy="2286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70"/>
              </a:lnSpc>
            </a:pPr>
            <a:r>
              <a:rPr sz="1450" spc="-15" dirty="0">
                <a:latin typeface="Cambria"/>
                <a:cs typeface="Cambria"/>
              </a:rPr>
              <a:t>C</a:t>
            </a:r>
            <a:r>
              <a:rPr sz="1650" spc="-22" baseline="-15151" dirty="0">
                <a:latin typeface="Cambria"/>
                <a:cs typeface="Cambria"/>
              </a:rPr>
              <a:t>1</a:t>
            </a:r>
            <a:r>
              <a:rPr sz="1650" spc="300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r>
              <a:rPr sz="1450" spc="65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1.5176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394" y="3089147"/>
            <a:ext cx="3811904" cy="62865"/>
          </a:xfrm>
          <a:custGeom>
            <a:avLst/>
            <a:gdLst/>
            <a:ahLst/>
            <a:cxnLst/>
            <a:rect l="l" t="t" r="r" b="b"/>
            <a:pathLst>
              <a:path w="3811904" h="62864">
                <a:moveTo>
                  <a:pt x="3811529" y="47243"/>
                </a:moveTo>
                <a:lnTo>
                  <a:pt x="3811529" y="0"/>
                </a:lnTo>
                <a:lnTo>
                  <a:pt x="0" y="15239"/>
                </a:lnTo>
                <a:lnTo>
                  <a:pt x="0" y="62483"/>
                </a:lnTo>
                <a:lnTo>
                  <a:pt x="3811529" y="47243"/>
                </a:lnTo>
                <a:close/>
              </a:path>
            </a:pathLst>
          </a:custGeom>
          <a:solidFill>
            <a:srgbClr val="5A9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30217" y="4105655"/>
            <a:ext cx="687705" cy="175260"/>
          </a:xfrm>
          <a:custGeom>
            <a:avLst/>
            <a:gdLst/>
            <a:ahLst/>
            <a:cxnLst/>
            <a:rect l="l" t="t" r="r" b="b"/>
            <a:pathLst>
              <a:path w="687705" h="175260">
                <a:moveTo>
                  <a:pt x="687330" y="86868"/>
                </a:moveTo>
                <a:lnTo>
                  <a:pt x="679614" y="42719"/>
                </a:lnTo>
                <a:lnTo>
                  <a:pt x="655897" y="11239"/>
                </a:lnTo>
                <a:lnTo>
                  <a:pt x="632466" y="0"/>
                </a:lnTo>
                <a:lnTo>
                  <a:pt x="629418" y="7620"/>
                </a:lnTo>
                <a:lnTo>
                  <a:pt x="639990" y="11906"/>
                </a:lnTo>
                <a:lnTo>
                  <a:pt x="648849" y="17907"/>
                </a:lnTo>
                <a:lnTo>
                  <a:pt x="669613" y="58102"/>
                </a:lnTo>
                <a:lnTo>
                  <a:pt x="672090" y="86868"/>
                </a:lnTo>
                <a:lnTo>
                  <a:pt x="672090" y="146863"/>
                </a:lnTo>
                <a:lnTo>
                  <a:pt x="673614" y="144780"/>
                </a:lnTo>
                <a:lnTo>
                  <a:pt x="679614" y="131873"/>
                </a:lnTo>
                <a:lnTo>
                  <a:pt x="683901" y="118110"/>
                </a:lnTo>
                <a:lnTo>
                  <a:pt x="686472" y="103203"/>
                </a:lnTo>
                <a:lnTo>
                  <a:pt x="687330" y="86868"/>
                </a:lnTo>
                <a:close/>
              </a:path>
              <a:path w="687705" h="175260">
                <a:moveTo>
                  <a:pt x="672090" y="146863"/>
                </a:moveTo>
                <a:lnTo>
                  <a:pt x="672090" y="86868"/>
                </a:lnTo>
                <a:lnTo>
                  <a:pt x="671494" y="102274"/>
                </a:lnTo>
                <a:lnTo>
                  <a:pt x="669613" y="116395"/>
                </a:lnTo>
                <a:lnTo>
                  <a:pt x="648277" y="157353"/>
                </a:lnTo>
                <a:lnTo>
                  <a:pt x="629418" y="167640"/>
                </a:lnTo>
                <a:lnTo>
                  <a:pt x="632466" y="175260"/>
                </a:lnTo>
                <a:lnTo>
                  <a:pt x="645324" y="170711"/>
                </a:lnTo>
                <a:lnTo>
                  <a:pt x="656469" y="164020"/>
                </a:lnTo>
                <a:lnTo>
                  <a:pt x="665898" y="155328"/>
                </a:lnTo>
                <a:lnTo>
                  <a:pt x="672090" y="146863"/>
                </a:lnTo>
                <a:close/>
              </a:path>
              <a:path w="687705" h="175260">
                <a:moveTo>
                  <a:pt x="57912" y="7620"/>
                </a:moveTo>
                <a:lnTo>
                  <a:pt x="54864" y="0"/>
                </a:lnTo>
                <a:lnTo>
                  <a:pt x="42005" y="4548"/>
                </a:lnTo>
                <a:lnTo>
                  <a:pt x="30861" y="11239"/>
                </a:lnTo>
                <a:lnTo>
                  <a:pt x="7715" y="42719"/>
                </a:lnTo>
                <a:lnTo>
                  <a:pt x="0" y="86868"/>
                </a:lnTo>
                <a:lnTo>
                  <a:pt x="857" y="103203"/>
                </a:lnTo>
                <a:lnTo>
                  <a:pt x="3429" y="118110"/>
                </a:lnTo>
                <a:lnTo>
                  <a:pt x="7715" y="131873"/>
                </a:lnTo>
                <a:lnTo>
                  <a:pt x="13716" y="144780"/>
                </a:lnTo>
                <a:lnTo>
                  <a:pt x="15240" y="146863"/>
                </a:lnTo>
                <a:lnTo>
                  <a:pt x="15240" y="86868"/>
                </a:lnTo>
                <a:lnTo>
                  <a:pt x="15835" y="71699"/>
                </a:lnTo>
                <a:lnTo>
                  <a:pt x="31337" y="25622"/>
                </a:lnTo>
                <a:lnTo>
                  <a:pt x="47339" y="11906"/>
                </a:lnTo>
                <a:lnTo>
                  <a:pt x="57912" y="7620"/>
                </a:lnTo>
                <a:close/>
              </a:path>
              <a:path w="687705" h="175260">
                <a:moveTo>
                  <a:pt x="57912" y="167640"/>
                </a:moveTo>
                <a:lnTo>
                  <a:pt x="25908" y="140208"/>
                </a:lnTo>
                <a:lnTo>
                  <a:pt x="15835" y="102274"/>
                </a:lnTo>
                <a:lnTo>
                  <a:pt x="15240" y="86868"/>
                </a:lnTo>
                <a:lnTo>
                  <a:pt x="15240" y="146863"/>
                </a:lnTo>
                <a:lnTo>
                  <a:pt x="21431" y="155328"/>
                </a:lnTo>
                <a:lnTo>
                  <a:pt x="30861" y="164020"/>
                </a:lnTo>
                <a:lnTo>
                  <a:pt x="42005" y="170711"/>
                </a:lnTo>
                <a:lnTo>
                  <a:pt x="54864" y="175260"/>
                </a:lnTo>
                <a:lnTo>
                  <a:pt x="57912" y="1676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8489" y="3563822"/>
            <a:ext cx="2499360" cy="73279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35"/>
              </a:spcBef>
            </a:pPr>
            <a:r>
              <a:rPr sz="1450" spc="-15" dirty="0">
                <a:latin typeface="Cambria"/>
                <a:cs typeface="Cambria"/>
              </a:rPr>
              <a:t>ℎ</a:t>
            </a:r>
            <a:r>
              <a:rPr sz="1650" spc="30" baseline="-15151" dirty="0">
                <a:latin typeface="Cambria"/>
                <a:cs typeface="Cambria"/>
              </a:rPr>
              <a:t>1</a:t>
            </a:r>
            <a:r>
              <a:rPr sz="1650" baseline="-15151" dirty="0">
                <a:latin typeface="Cambria"/>
                <a:cs typeface="Cambria"/>
              </a:rPr>
              <a:t> </a:t>
            </a:r>
            <a:r>
              <a:rPr sz="1650" spc="-22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r>
              <a:rPr sz="1450" spc="90" dirty="0">
                <a:latin typeface="Cambria"/>
                <a:cs typeface="Cambria"/>
              </a:rPr>
              <a:t> </a:t>
            </a:r>
            <a:r>
              <a:rPr sz="1450" spc="95" dirty="0">
                <a:latin typeface="Cambria"/>
                <a:cs typeface="Cambria"/>
              </a:rPr>
              <a:t>t</a:t>
            </a:r>
            <a:r>
              <a:rPr sz="1450" spc="114" dirty="0">
                <a:latin typeface="Cambria"/>
                <a:cs typeface="Cambria"/>
              </a:rPr>
              <a:t>a</a:t>
            </a:r>
            <a:r>
              <a:rPr sz="1450" spc="35" dirty="0">
                <a:latin typeface="Cambria"/>
                <a:cs typeface="Cambria"/>
              </a:rPr>
              <a:t>n</a:t>
            </a:r>
            <a:r>
              <a:rPr sz="1450" spc="45" dirty="0">
                <a:latin typeface="Cambria"/>
                <a:cs typeface="Cambria"/>
              </a:rPr>
              <a:t>ℎ</a:t>
            </a:r>
            <a:r>
              <a:rPr sz="1450" spc="65" dirty="0">
                <a:latin typeface="Cambria"/>
                <a:cs typeface="Cambria"/>
              </a:rPr>
              <a:t>(</a:t>
            </a:r>
            <a:r>
              <a:rPr sz="1450" spc="-55" dirty="0">
                <a:latin typeface="Cambria"/>
                <a:cs typeface="Cambria"/>
              </a:rPr>
              <a:t>C</a:t>
            </a:r>
            <a:r>
              <a:rPr sz="1650" spc="120" baseline="-15151" dirty="0">
                <a:latin typeface="Cambria"/>
                <a:cs typeface="Cambria"/>
              </a:rPr>
              <a:t>1</a:t>
            </a:r>
            <a:r>
              <a:rPr sz="1450" spc="60" dirty="0">
                <a:latin typeface="Cambria"/>
                <a:cs typeface="Cambria"/>
              </a:rPr>
              <a:t>)</a:t>
            </a:r>
            <a:r>
              <a:rPr sz="1450" spc="-5" dirty="0">
                <a:latin typeface="Cambria"/>
                <a:cs typeface="Cambria"/>
              </a:rPr>
              <a:t> </a:t>
            </a:r>
            <a:r>
              <a:rPr sz="1450" spc="-95" dirty="0">
                <a:latin typeface="Cambria"/>
                <a:cs typeface="Cambria"/>
              </a:rPr>
              <a:t>∘</a:t>
            </a:r>
            <a:r>
              <a:rPr sz="1450" dirty="0">
                <a:latin typeface="Cambria"/>
                <a:cs typeface="Cambria"/>
              </a:rPr>
              <a:t> </a:t>
            </a:r>
            <a:r>
              <a:rPr sz="1450" spc="-65" dirty="0">
                <a:latin typeface="Cambria"/>
                <a:cs typeface="Cambria"/>
              </a:rPr>
              <a:t>o</a:t>
            </a:r>
            <a:r>
              <a:rPr sz="1650" spc="30" baseline="-15151" dirty="0">
                <a:latin typeface="Cambria"/>
                <a:cs typeface="Cambria"/>
              </a:rPr>
              <a:t>1</a:t>
            </a:r>
            <a:endParaRPr sz="1650" baseline="-15151">
              <a:latin typeface="Cambria"/>
              <a:cs typeface="Cambria"/>
            </a:endParaRPr>
          </a:p>
          <a:p>
            <a:pPr marL="54610">
              <a:lnSpc>
                <a:spcPct val="100000"/>
              </a:lnSpc>
              <a:spcBef>
                <a:spcPts val="1045"/>
              </a:spcBef>
            </a:pPr>
            <a:r>
              <a:rPr sz="1450" dirty="0">
                <a:latin typeface="Cambria"/>
                <a:cs typeface="Cambria"/>
              </a:rPr>
              <a:t>ℎ</a:t>
            </a:r>
            <a:r>
              <a:rPr sz="1650" baseline="-15151" dirty="0">
                <a:latin typeface="Cambria"/>
                <a:cs typeface="Cambria"/>
              </a:rPr>
              <a:t>1</a:t>
            </a:r>
            <a:r>
              <a:rPr sz="1650" spc="330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r>
              <a:rPr sz="1450" spc="90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tanh</a:t>
            </a:r>
            <a:r>
              <a:rPr sz="1450" spc="270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1.5176 </a:t>
            </a:r>
            <a:r>
              <a:rPr sz="1450" spc="270" dirty="0">
                <a:latin typeface="Cambria"/>
                <a:cs typeface="Cambria"/>
              </a:rPr>
              <a:t> </a:t>
            </a:r>
            <a:r>
              <a:rPr sz="1450" spc="260" dirty="0">
                <a:latin typeface="Cambria"/>
                <a:cs typeface="Cambria"/>
              </a:rPr>
              <a:t>×</a:t>
            </a:r>
            <a:r>
              <a:rPr sz="1450" spc="5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0.84993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209" y="4494276"/>
            <a:ext cx="1156970" cy="228600"/>
          </a:xfrm>
          <a:prstGeom prst="rect">
            <a:avLst/>
          </a:prstGeom>
          <a:solidFill>
            <a:srgbClr val="FFE698"/>
          </a:solidFill>
        </p:spPr>
        <p:txBody>
          <a:bodyPr vert="horz" wrap="square" lIns="0" tIns="0" rIns="0" bIns="0" rtlCol="0">
            <a:spAutoFit/>
          </a:bodyPr>
          <a:lstStyle/>
          <a:p>
            <a:pPr marL="27305">
              <a:lnSpc>
                <a:spcPts val="1680"/>
              </a:lnSpc>
            </a:pPr>
            <a:r>
              <a:rPr sz="1450" dirty="0">
                <a:latin typeface="Cambria"/>
                <a:cs typeface="Cambria"/>
              </a:rPr>
              <a:t>ℎ</a:t>
            </a:r>
            <a:r>
              <a:rPr sz="1650" baseline="-15151" dirty="0">
                <a:latin typeface="Cambria"/>
                <a:cs typeface="Cambria"/>
              </a:rPr>
              <a:t>1</a:t>
            </a:r>
            <a:r>
              <a:rPr sz="1650" spc="292" baseline="-15151" dirty="0">
                <a:latin typeface="Cambria"/>
                <a:cs typeface="Cambria"/>
              </a:rPr>
              <a:t> </a:t>
            </a:r>
            <a:r>
              <a:rPr sz="1450" spc="305" dirty="0">
                <a:latin typeface="Cambria"/>
                <a:cs typeface="Cambria"/>
              </a:rPr>
              <a:t>=</a:t>
            </a:r>
            <a:r>
              <a:rPr sz="1450" spc="65" dirty="0">
                <a:latin typeface="Cambria"/>
                <a:cs typeface="Cambria"/>
              </a:rPr>
              <a:t> </a:t>
            </a:r>
            <a:r>
              <a:rPr sz="1450" spc="15" dirty="0">
                <a:latin typeface="Cambria"/>
                <a:cs typeface="Cambria"/>
              </a:rPr>
              <a:t>0.77197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1057649"/>
            <a:ext cx="4528185" cy="416559"/>
            <a:chOff x="0" y="1057649"/>
            <a:chExt cx="4528185" cy="416559"/>
          </a:xfrm>
        </p:grpSpPr>
        <p:sp>
          <p:nvSpPr>
            <p:cNvPr id="9" name="object 9"/>
            <p:cNvSpPr/>
            <p:nvPr/>
          </p:nvSpPr>
          <p:spPr>
            <a:xfrm>
              <a:off x="0" y="1057649"/>
              <a:ext cx="4520565" cy="408940"/>
            </a:xfrm>
            <a:custGeom>
              <a:avLst/>
              <a:gdLst/>
              <a:ahLst/>
              <a:cxnLst/>
              <a:rect l="l" t="t" r="r" b="b"/>
              <a:pathLst>
                <a:path w="4520565" h="408940">
                  <a:moveTo>
                    <a:pt x="4520183" y="408431"/>
                  </a:moveTo>
                  <a:lnTo>
                    <a:pt x="4520183" y="0"/>
                  </a:lnTo>
                  <a:lnTo>
                    <a:pt x="0" y="0"/>
                  </a:lnTo>
                  <a:lnTo>
                    <a:pt x="0" y="408431"/>
                  </a:lnTo>
                  <a:lnTo>
                    <a:pt x="4520183" y="408431"/>
                  </a:lnTo>
                  <a:close/>
                </a:path>
              </a:pathLst>
            </a:custGeom>
            <a:solidFill>
              <a:srgbClr val="FFE6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1057649"/>
              <a:ext cx="4528185" cy="416559"/>
            </a:xfrm>
            <a:custGeom>
              <a:avLst/>
              <a:gdLst/>
              <a:ahLst/>
              <a:cxnLst/>
              <a:rect l="l" t="t" r="r" b="b"/>
              <a:pathLst>
                <a:path w="4528185" h="416559">
                  <a:moveTo>
                    <a:pt x="4520184" y="9144"/>
                  </a:moveTo>
                  <a:lnTo>
                    <a:pt x="4512564" y="0"/>
                  </a:lnTo>
                  <a:lnTo>
                    <a:pt x="0" y="0"/>
                  </a:lnTo>
                  <a:lnTo>
                    <a:pt x="0" y="9144"/>
                  </a:lnTo>
                  <a:lnTo>
                    <a:pt x="9138" y="0"/>
                  </a:lnTo>
                  <a:lnTo>
                    <a:pt x="9138" y="9144"/>
                  </a:lnTo>
                  <a:lnTo>
                    <a:pt x="4520184" y="9144"/>
                  </a:lnTo>
                  <a:close/>
                </a:path>
                <a:path w="4528185" h="416559">
                  <a:moveTo>
                    <a:pt x="9138" y="9144"/>
                  </a:moveTo>
                  <a:lnTo>
                    <a:pt x="9138" y="0"/>
                  </a:lnTo>
                  <a:lnTo>
                    <a:pt x="0" y="9144"/>
                  </a:lnTo>
                  <a:lnTo>
                    <a:pt x="9138" y="9144"/>
                  </a:lnTo>
                  <a:close/>
                </a:path>
                <a:path w="4528185" h="416559">
                  <a:moveTo>
                    <a:pt x="9138" y="400812"/>
                  </a:moveTo>
                  <a:lnTo>
                    <a:pt x="9138" y="9144"/>
                  </a:lnTo>
                  <a:lnTo>
                    <a:pt x="0" y="9144"/>
                  </a:lnTo>
                  <a:lnTo>
                    <a:pt x="0" y="400812"/>
                  </a:lnTo>
                  <a:lnTo>
                    <a:pt x="9138" y="400812"/>
                  </a:lnTo>
                  <a:close/>
                </a:path>
                <a:path w="4528185" h="416559">
                  <a:moveTo>
                    <a:pt x="4520184" y="400812"/>
                  </a:moveTo>
                  <a:lnTo>
                    <a:pt x="0" y="400812"/>
                  </a:lnTo>
                  <a:lnTo>
                    <a:pt x="9138" y="408432"/>
                  </a:lnTo>
                  <a:lnTo>
                    <a:pt x="9138" y="416052"/>
                  </a:lnTo>
                  <a:lnTo>
                    <a:pt x="4512564" y="416052"/>
                  </a:lnTo>
                  <a:lnTo>
                    <a:pt x="4512564" y="408432"/>
                  </a:lnTo>
                  <a:lnTo>
                    <a:pt x="4520184" y="400812"/>
                  </a:lnTo>
                  <a:close/>
                </a:path>
                <a:path w="4528185" h="416559">
                  <a:moveTo>
                    <a:pt x="9138" y="416052"/>
                  </a:moveTo>
                  <a:lnTo>
                    <a:pt x="9138" y="408432"/>
                  </a:lnTo>
                  <a:lnTo>
                    <a:pt x="0" y="400812"/>
                  </a:lnTo>
                  <a:lnTo>
                    <a:pt x="0" y="416052"/>
                  </a:lnTo>
                  <a:lnTo>
                    <a:pt x="9138" y="416052"/>
                  </a:lnTo>
                  <a:close/>
                </a:path>
                <a:path w="4528185" h="416559">
                  <a:moveTo>
                    <a:pt x="4527804" y="413004"/>
                  </a:moveTo>
                  <a:lnTo>
                    <a:pt x="4527804" y="0"/>
                  </a:lnTo>
                  <a:lnTo>
                    <a:pt x="4512564" y="0"/>
                  </a:lnTo>
                  <a:lnTo>
                    <a:pt x="4520184" y="9144"/>
                  </a:lnTo>
                  <a:lnTo>
                    <a:pt x="4520184" y="416052"/>
                  </a:lnTo>
                  <a:lnTo>
                    <a:pt x="4524756" y="416052"/>
                  </a:lnTo>
                  <a:lnTo>
                    <a:pt x="4527804" y="413004"/>
                  </a:lnTo>
                  <a:close/>
                </a:path>
                <a:path w="4528185" h="416559">
                  <a:moveTo>
                    <a:pt x="4520184" y="400812"/>
                  </a:moveTo>
                  <a:lnTo>
                    <a:pt x="4520184" y="9144"/>
                  </a:lnTo>
                  <a:lnTo>
                    <a:pt x="4512564" y="9144"/>
                  </a:lnTo>
                  <a:lnTo>
                    <a:pt x="4512564" y="400812"/>
                  </a:lnTo>
                  <a:lnTo>
                    <a:pt x="4520184" y="400812"/>
                  </a:lnTo>
                  <a:close/>
                </a:path>
                <a:path w="4528185" h="416559">
                  <a:moveTo>
                    <a:pt x="4520184" y="416052"/>
                  </a:moveTo>
                  <a:lnTo>
                    <a:pt x="4520184" y="400812"/>
                  </a:lnTo>
                  <a:lnTo>
                    <a:pt x="4512564" y="408432"/>
                  </a:lnTo>
                  <a:lnTo>
                    <a:pt x="4512564" y="416052"/>
                  </a:lnTo>
                  <a:lnTo>
                    <a:pt x="4520184" y="416052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3493" y="1051051"/>
            <a:ext cx="4210685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b="1" spc="-90" dirty="0">
                <a:latin typeface="Calibri"/>
                <a:cs typeface="Calibri"/>
              </a:rPr>
              <a:t>Worked</a:t>
            </a:r>
            <a:r>
              <a:rPr sz="2150" b="1" spc="-70" dirty="0">
                <a:latin typeface="Calibri"/>
                <a:cs typeface="Calibri"/>
              </a:rPr>
              <a:t> Example</a:t>
            </a:r>
            <a:r>
              <a:rPr sz="2150" b="1" spc="-75" dirty="0">
                <a:latin typeface="Calibri"/>
                <a:cs typeface="Calibri"/>
              </a:rPr>
              <a:t> </a:t>
            </a:r>
            <a:r>
              <a:rPr sz="2150" b="1" spc="-5" dirty="0">
                <a:latin typeface="Calibri"/>
                <a:cs typeface="Calibri"/>
              </a:rPr>
              <a:t>–</a:t>
            </a:r>
            <a:r>
              <a:rPr sz="2150" b="1" spc="-30" dirty="0">
                <a:latin typeface="Calibri"/>
                <a:cs typeface="Calibri"/>
              </a:rPr>
              <a:t> </a:t>
            </a:r>
            <a:r>
              <a:rPr sz="2150" b="1" spc="-70" dirty="0">
                <a:latin typeface="Calibri"/>
                <a:cs typeface="Calibri"/>
              </a:rPr>
              <a:t>Forward </a:t>
            </a:r>
            <a:r>
              <a:rPr sz="2150" b="1" spc="-60" dirty="0">
                <a:latin typeface="Calibri"/>
                <a:cs typeface="Calibri"/>
              </a:rPr>
              <a:t>Pass</a:t>
            </a:r>
            <a:r>
              <a:rPr sz="2150" b="1" spc="-70" dirty="0">
                <a:latin typeface="Calibri"/>
                <a:cs typeface="Calibri"/>
              </a:rPr>
              <a:t> </a:t>
            </a:r>
            <a:r>
              <a:rPr sz="2150" b="1" spc="-20" dirty="0">
                <a:latin typeface="Calibri"/>
                <a:cs typeface="Calibri"/>
              </a:rPr>
              <a:t>@</a:t>
            </a:r>
            <a:r>
              <a:rPr sz="2150" b="1" spc="-45" dirty="0">
                <a:latin typeface="Calibri"/>
                <a:cs typeface="Calibri"/>
              </a:rPr>
              <a:t> </a:t>
            </a:r>
            <a:r>
              <a:rPr sz="2150" b="1" spc="-20" dirty="0">
                <a:latin typeface="Calibri"/>
                <a:cs typeface="Calibri"/>
              </a:rPr>
              <a:t>t=1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53</a:t>
            </a:fld>
            <a:endParaRPr dirty="0"/>
          </a:p>
        </p:txBody>
      </p:sp>
      <p:sp>
        <p:nvSpPr>
          <p:cNvPr id="12" name="object 12"/>
          <p:cNvSpPr txBox="1"/>
          <p:nvPr/>
        </p:nvSpPr>
        <p:spPr>
          <a:xfrm>
            <a:off x="7947149" y="1072387"/>
            <a:ext cx="208978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00"/>
              </a:spcBef>
            </a:pPr>
            <a:r>
              <a:rPr sz="1800" spc="20" dirty="0">
                <a:solidFill>
                  <a:srgbClr val="FF0000"/>
                </a:solidFill>
                <a:latin typeface="Calibri"/>
                <a:cs typeface="Calibri"/>
              </a:rPr>
              <a:t>Update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15" dirty="0">
                <a:solidFill>
                  <a:srgbClr val="FF0000"/>
                </a:solidFill>
                <a:latin typeface="Calibri"/>
                <a:cs typeface="Calibri"/>
              </a:rPr>
              <a:t>Cell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10" dirty="0">
                <a:solidFill>
                  <a:srgbClr val="FF0000"/>
                </a:solidFill>
                <a:latin typeface="Calibri"/>
                <a:cs typeface="Calibri"/>
              </a:rPr>
              <a:t>State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30" dirty="0">
                <a:solidFill>
                  <a:srgbClr val="FF0000"/>
                </a:solidFill>
                <a:latin typeface="Calibri"/>
                <a:cs typeface="Calibri"/>
              </a:rPr>
              <a:t>and </a:t>
            </a:r>
            <a:r>
              <a:rPr sz="1800" spc="-3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20" dirty="0">
                <a:solidFill>
                  <a:srgbClr val="FF0000"/>
                </a:solidFill>
                <a:latin typeface="Calibri"/>
                <a:cs typeface="Calibri"/>
              </a:rPr>
              <a:t>Give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25" dirty="0">
                <a:solidFill>
                  <a:srgbClr val="FF0000"/>
                </a:solidFill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865" y="1558543"/>
            <a:ext cx="2063750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54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53865" y="2464713"/>
            <a:ext cx="8030845" cy="118681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spc="-5" dirty="0">
                <a:latin typeface="Calibri"/>
                <a:cs typeface="Calibri"/>
              </a:rPr>
              <a:t>Understanding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LSTMs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– </a:t>
            </a:r>
            <a:r>
              <a:rPr sz="2300" spc="-20" dirty="0">
                <a:latin typeface="Calibri"/>
                <a:cs typeface="Calibri"/>
              </a:rPr>
              <a:t>Colah’s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Blog</a:t>
            </a:r>
            <a:endParaRPr sz="2300">
              <a:latin typeface="Calibri"/>
              <a:cs typeface="Calibri"/>
            </a:endParaRPr>
          </a:p>
          <a:p>
            <a:pPr marL="201295" marR="5080" indent="-189230">
              <a:lnSpc>
                <a:spcPts val="2500"/>
              </a:lnSpc>
              <a:spcBef>
                <a:spcPts val="865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spc="-10" dirty="0">
                <a:latin typeface="Calibri"/>
                <a:cs typeface="Calibri"/>
              </a:rPr>
              <a:t>Illustrated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Guide </a:t>
            </a:r>
            <a:r>
              <a:rPr sz="2300" spc="-5" dirty="0">
                <a:latin typeface="Calibri"/>
                <a:cs typeface="Calibri"/>
              </a:rPr>
              <a:t>to </a:t>
            </a:r>
            <a:r>
              <a:rPr sz="2300" spc="-25" dirty="0">
                <a:latin typeface="Calibri"/>
                <a:cs typeface="Calibri"/>
              </a:rPr>
              <a:t>LSTM’s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GRU’s: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A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step</a:t>
            </a:r>
            <a:r>
              <a:rPr sz="2300" spc="-5" dirty="0">
                <a:latin typeface="Calibri"/>
                <a:cs typeface="Calibri"/>
              </a:rPr>
              <a:t> by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step</a:t>
            </a:r>
            <a:r>
              <a:rPr sz="2300" spc="-5" dirty="0">
                <a:latin typeface="Calibri"/>
                <a:cs typeface="Calibri"/>
              </a:rPr>
              <a:t> explanation,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Michael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Nguyen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865" y="1558543"/>
            <a:ext cx="1899285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Next</a:t>
            </a:r>
            <a:r>
              <a:rPr spc="-75" dirty="0"/>
              <a:t> </a:t>
            </a:r>
            <a:r>
              <a:rPr spc="-15" dirty="0"/>
              <a:t>up….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>
              <a:lnSpc>
                <a:spcPts val="1275"/>
              </a:lnSpc>
              <a:spcBef>
                <a:spcPts val="80"/>
              </a:spcBef>
            </a:pPr>
            <a:fld id="{81D60167-4931-47E6-BA6A-407CBD079E47}" type="slidenum">
              <a:rPr dirty="0"/>
              <a:t>55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53865" y="2533902"/>
            <a:ext cx="3170555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114"/>
              </a:spcBef>
              <a:buFont typeface="Arial MT"/>
              <a:buChar char="•"/>
              <a:tabLst>
                <a:tab pos="201930" algn="l"/>
              </a:tabLst>
            </a:pPr>
            <a:r>
              <a:rPr sz="2300" spc="-5" dirty="0">
                <a:latin typeface="Calibri"/>
                <a:cs typeface="Calibri"/>
              </a:rPr>
              <a:t>Applications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5" dirty="0">
                <a:latin typeface="Calibri"/>
                <a:cs typeface="Calibri"/>
              </a:rPr>
              <a:t>of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LSTMs…..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2901</Words>
  <Application>Microsoft Office PowerPoint</Application>
  <PresentationFormat>Custom</PresentationFormat>
  <Paragraphs>456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Aptos</vt:lpstr>
      <vt:lpstr>Arial</vt:lpstr>
      <vt:lpstr>Arial MT</vt:lpstr>
      <vt:lpstr>Calibri</vt:lpstr>
      <vt:lpstr>Cambria</vt:lpstr>
      <vt:lpstr>Times New Roman</vt:lpstr>
      <vt:lpstr>Office Theme</vt:lpstr>
      <vt:lpstr>Long Short Term Memory Networks  (LSTMs)</vt:lpstr>
      <vt:lpstr>Long Short Term Memory Networks - LSTMs</vt:lpstr>
      <vt:lpstr>PowerPoint Presentation</vt:lpstr>
      <vt:lpstr>Long Short Term Memory Networks - LSTMs</vt:lpstr>
      <vt:lpstr>LSTMs</vt:lpstr>
      <vt:lpstr>LSTMs - Gates</vt:lpstr>
      <vt:lpstr>Sigmoid Activation Function</vt:lpstr>
      <vt:lpstr>LSTMs - Gates</vt:lpstr>
      <vt:lpstr>LSTM - Gates</vt:lpstr>
      <vt:lpstr>LSTMs</vt:lpstr>
      <vt:lpstr>LSTMs – Forget Layer</vt:lpstr>
      <vt:lpstr>PowerPoint Presentation</vt:lpstr>
      <vt:lpstr>LSTMs – Input Layer</vt:lpstr>
      <vt:lpstr>PowerPoint Presentation</vt:lpstr>
      <vt:lpstr>PowerPoint Presentation</vt:lpstr>
      <vt:lpstr>PowerPoint Presentation</vt:lpstr>
      <vt:lpstr>PowerPoint Presentation</vt:lpstr>
      <vt:lpstr>Wxƒ)  ℎt–1  xt</vt:lpstr>
      <vt:lpstr>ft  = σ(Whƒ  . ℎt–1  + Wxƒ. xt  + bƒ)</vt:lpstr>
      <vt:lpstr>ft  = σ(Whƒ  . ℎt–1  + Wxƒ. xt  + bƒ)</vt:lpstr>
      <vt:lpstr>Total NW Parameters</vt:lpstr>
      <vt:lpstr>Total NW Parameters</vt:lpstr>
      <vt:lpstr>Total NW Parameters</vt:lpstr>
      <vt:lpstr>Walk Through (RNNs and LSTMs)</vt:lpstr>
      <vt:lpstr>Example</vt:lpstr>
      <vt:lpstr>Example</vt:lpstr>
      <vt:lpstr>Example</vt:lpstr>
      <vt:lpstr>RNN - Walkthrough</vt:lpstr>
      <vt:lpstr>RNN Walkthrough</vt:lpstr>
      <vt:lpstr>RNN Walkthrough</vt:lpstr>
      <vt:lpstr>LSTMs Walkthrough</vt:lpstr>
      <vt:lpstr>LSTMs Walkthrough</vt:lpstr>
      <vt:lpstr>LSTMs Walkthrough</vt:lpstr>
      <vt:lpstr>LSTMs Walkthrough</vt:lpstr>
      <vt:lpstr>LSTMs Walkthrough</vt:lpstr>
      <vt:lpstr>PowerPoint Presentation</vt:lpstr>
      <vt:lpstr>LSTMs Walkthrough - Summary</vt:lpstr>
      <vt:lpstr>LSTMs Walkthrough – Pseudo code</vt:lpstr>
      <vt:lpstr>Other Representations</vt:lpstr>
      <vt:lpstr>Variants of LSTMs</vt:lpstr>
      <vt:lpstr>Variants of LSTMs</vt:lpstr>
      <vt:lpstr>Variants of LSTMs</vt:lpstr>
      <vt:lpstr>Worked Example  (LSTMs – Forward Pass)</vt:lpstr>
      <vt:lpstr>Worked Example</vt:lpstr>
      <vt:lpstr>Worked Example – Forward Pass @ t=0</vt:lpstr>
      <vt:lpstr>Worked Example – Forward Pass @ t=0</vt:lpstr>
      <vt:lpstr>Worked Example – Forward Pass @ t=0</vt:lpstr>
      <vt:lpstr>Worked Example – Forward Pass @ t=0</vt:lpstr>
      <vt:lpstr>Worked Example – Forward Pass @ t=0</vt:lpstr>
      <vt:lpstr>Worked Example – Forward Pass @ t=1</vt:lpstr>
      <vt:lpstr>Worked Example – Forward Pass @ t=1</vt:lpstr>
      <vt:lpstr>Worked Example – Forward Pass @ t=1</vt:lpstr>
      <vt:lpstr>Worked Example – Forward Pass @ t=1</vt:lpstr>
      <vt:lpstr>References</vt:lpstr>
      <vt:lpstr>Next up….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LSTMs</dc:title>
  <dc:creator>DR.IMRAN SIDDIQUE</dc:creator>
  <cp:lastModifiedBy>01-243172-020</cp:lastModifiedBy>
  <cp:revision>4</cp:revision>
  <dcterms:created xsi:type="dcterms:W3CDTF">2024-10-14T18:56:54Z</dcterms:created>
  <dcterms:modified xsi:type="dcterms:W3CDTF">2024-10-17T12:35:27Z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2019-05-10T00:00:00Z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2024-10-14T00:00:00Z</vt:filetime>
  </property>
</Properties>
</file>