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5"/>
  </p:notesMasterIdLst>
  <p:sldIdLst>
    <p:sldId id="352" r:id="rId2"/>
    <p:sldId id="421" r:id="rId3"/>
    <p:sldId id="1755" r:id="rId4"/>
    <p:sldId id="1758" r:id="rId5"/>
    <p:sldId id="277" r:id="rId6"/>
    <p:sldId id="399" r:id="rId7"/>
    <p:sldId id="1756" r:id="rId8"/>
    <p:sldId id="1759" r:id="rId9"/>
    <p:sldId id="1760" r:id="rId10"/>
    <p:sldId id="282" r:id="rId11"/>
    <p:sldId id="1761" r:id="rId12"/>
    <p:sldId id="1762" r:id="rId13"/>
    <p:sldId id="1763" r:id="rId14"/>
    <p:sldId id="1764" r:id="rId15"/>
    <p:sldId id="1765" r:id="rId16"/>
    <p:sldId id="1766" r:id="rId17"/>
    <p:sldId id="1770" r:id="rId18"/>
    <p:sldId id="1767" r:id="rId19"/>
    <p:sldId id="1771" r:id="rId20"/>
    <p:sldId id="1768" r:id="rId21"/>
    <p:sldId id="1773" r:id="rId22"/>
    <p:sldId id="1774" r:id="rId23"/>
    <p:sldId id="1775" r:id="rId24"/>
    <p:sldId id="1776" r:id="rId25"/>
    <p:sldId id="1777" r:id="rId26"/>
    <p:sldId id="1772" r:id="rId27"/>
    <p:sldId id="1778" r:id="rId28"/>
    <p:sldId id="1781" r:id="rId29"/>
    <p:sldId id="1779" r:id="rId30"/>
    <p:sldId id="1790" r:id="rId31"/>
    <p:sldId id="1791" r:id="rId32"/>
    <p:sldId id="1792" r:id="rId33"/>
    <p:sldId id="1782" r:id="rId34"/>
    <p:sldId id="1783" r:id="rId35"/>
    <p:sldId id="1784" r:id="rId36"/>
    <p:sldId id="1785" r:id="rId37"/>
    <p:sldId id="1780" r:id="rId38"/>
    <p:sldId id="1786" r:id="rId39"/>
    <p:sldId id="1787" r:id="rId40"/>
    <p:sldId id="1788" r:id="rId41"/>
    <p:sldId id="1789" r:id="rId42"/>
    <p:sldId id="1754" r:id="rId43"/>
    <p:sldId id="128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2B1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462694D-184E-4063-ACA5-AF19CF4625A1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59F63-B16E-40E8-A9ED-DABFC36C4129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51B0-E8EC-4D81-9734-77ED7BAE3D80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100C-6864-40EF-BF98-56048BC1ED2A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2DC6-43E2-40D1-AE76-504C0F208164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87445-2CDA-4DB4-8A9D-2D5F1C53D722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A42BA-BF13-47A9-85D8-9C49DFFDF33B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7407-B04E-498C-B9F9-0F225287F174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82F8D-713E-41D2-8244-A1191560EEFF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0E2B-69F3-4A24-BB2E-C351BE38AAEC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47E1D-11C8-4BD2-ABDC-A9F86CD439DE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39A3F3F-9155-4624-9572-664418DD8A01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Dr. Muhammad Nouman Noor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jp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lil-log/2018/10/13/flow-based-deep-generative-models.html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8-10-13-flow-models/" TargetMode="External"/><Relationship Id="rId2" Type="http://schemas.openxmlformats.org/officeDocument/2006/relationships/hyperlink" Target="https://salu133445.github.io/flows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D678B-9FB1-4500-921D-368AABF08BD6}" type="datetime1">
              <a:rPr lang="en-US" smtClean="0"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52700" y="457200"/>
            <a:ext cx="6329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99CC"/>
                </a:solidFill>
                <a:latin typeface="arial" panose="020B0604020202020204" pitchFamily="34" charset="0"/>
              </a:rPr>
              <a:t>National University of Computer and Emerging Sciences</a:t>
            </a:r>
            <a:endParaRPr lang="en-US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2400301" y="2589242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Flow-based Models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552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Dr. Muhammad Nouman Noor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Artificial Intelligence and Data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it-IT" sz="28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AI-5004 Adv. Topics in Generative AI</a:t>
            </a:r>
            <a:endParaRPr lang="it-IT" sz="2800" dirty="0"/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49478"/>
            <a:ext cx="954108" cy="95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205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>
                <a:solidFill>
                  <a:srgbClr val="0070C0"/>
                </a:solidFill>
                <a:ea typeface="SimSun" panose="02010600030101010101" pitchFamily="2" charset="-122"/>
              </a:rPr>
              <a:t>Flow-based Models</a:t>
            </a:r>
          </a:p>
          <a:p>
            <a:pPr lvl="1"/>
            <a:r>
              <a:rPr lang="en-US" dirty="0">
                <a:solidFill>
                  <a:srgbClr val="0070C0"/>
                </a:solidFill>
                <a:ea typeface="SimSun" panose="02010600030101010101" pitchFamily="2" charset="-122"/>
              </a:rPr>
              <a:t>Change of variables</a:t>
            </a:r>
          </a:p>
          <a:p>
            <a:pPr lvl="1"/>
            <a:r>
              <a:rPr lang="en-US" dirty="0">
                <a:solidFill>
                  <a:srgbClr val="0070C0"/>
                </a:solidFill>
                <a:ea typeface="SimSun" panose="02010600030101010101" pitchFamily="2" charset="-122"/>
              </a:rPr>
              <a:t>Jacobian Matrix</a:t>
            </a:r>
          </a:p>
          <a:p>
            <a:pPr lvl="1"/>
            <a:endParaRPr lang="en-US" sz="4000" spc="9" dirty="0"/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E1B9-1C39-43DA-A136-1D7131588763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4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F76DB-CFF6-2554-B208-C8A036B6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Review of Previous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3BA4-C6A9-4201-B333-0B26B1F216E2}" type="datetime1">
              <a:rPr lang="en-US" smtClean="0"/>
              <a:t>10/8/2025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1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96389" y="2139642"/>
            <a:ext cx="3891279" cy="3199130"/>
            <a:chOff x="5072387" y="1282392"/>
            <a:chExt cx="3891279" cy="3199130"/>
          </a:xfrm>
        </p:grpSpPr>
        <p:sp>
          <p:nvSpPr>
            <p:cNvPr id="3" name="object 3"/>
            <p:cNvSpPr/>
            <p:nvPr/>
          </p:nvSpPr>
          <p:spPr>
            <a:xfrm>
              <a:off x="6625325" y="2451749"/>
              <a:ext cx="909955" cy="311785"/>
            </a:xfrm>
            <a:custGeom>
              <a:avLst/>
              <a:gdLst/>
              <a:ahLst/>
              <a:cxnLst/>
              <a:rect l="l" t="t" r="r" b="b"/>
              <a:pathLst>
                <a:path w="909954" h="311785">
                  <a:moveTo>
                    <a:pt x="9098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909899" y="0"/>
                  </a:lnTo>
                  <a:lnTo>
                    <a:pt x="909899" y="31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25325" y="2451749"/>
              <a:ext cx="909955" cy="311785"/>
            </a:xfrm>
            <a:custGeom>
              <a:avLst/>
              <a:gdLst/>
              <a:ahLst/>
              <a:cxnLst/>
              <a:rect l="l" t="t" r="r" b="b"/>
              <a:pathLst>
                <a:path w="909954" h="311785">
                  <a:moveTo>
                    <a:pt x="0" y="0"/>
                  </a:moveTo>
                  <a:lnTo>
                    <a:pt x="909899" y="0"/>
                  </a:lnTo>
                  <a:lnTo>
                    <a:pt x="9098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84725" y="2518209"/>
              <a:ext cx="178499" cy="1784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242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8657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865799" y="0"/>
                  </a:lnTo>
                  <a:lnTo>
                    <a:pt x="865799" y="31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242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0" y="0"/>
                  </a:moveTo>
                  <a:lnTo>
                    <a:pt x="865799" y="0"/>
                  </a:lnTo>
                  <a:lnTo>
                    <a:pt x="8657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76575" y="4165162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20282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9" y="0"/>
                  </a:lnTo>
                  <a:lnTo>
                    <a:pt x="20282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76575" y="4165162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5">
                  <a:moveTo>
                    <a:pt x="0" y="0"/>
                  </a:moveTo>
                  <a:lnTo>
                    <a:pt x="2028299" y="0"/>
                  </a:lnTo>
                  <a:lnTo>
                    <a:pt x="20282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51151" y="3716542"/>
              <a:ext cx="739775" cy="448945"/>
            </a:xfrm>
            <a:custGeom>
              <a:avLst/>
              <a:gdLst/>
              <a:ahLst/>
              <a:cxnLst/>
              <a:rect l="l" t="t" r="r" b="b"/>
              <a:pathLst>
                <a:path w="739775" h="448945">
                  <a:moveTo>
                    <a:pt x="739573" y="44861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240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8657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865799" y="0"/>
                  </a:lnTo>
                  <a:lnTo>
                    <a:pt x="865799" y="311399"/>
                  </a:lnTo>
                  <a:close/>
                </a:path>
              </a:pathLst>
            </a:custGeom>
            <a:solidFill>
              <a:srgbClr val="D9E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24075" y="3336699"/>
              <a:ext cx="866140" cy="311785"/>
            </a:xfrm>
            <a:custGeom>
              <a:avLst/>
              <a:gdLst/>
              <a:ahLst/>
              <a:cxnLst/>
              <a:rect l="l" t="t" r="r" b="b"/>
              <a:pathLst>
                <a:path w="866140" h="311785">
                  <a:moveTo>
                    <a:pt x="0" y="0"/>
                  </a:moveTo>
                  <a:lnTo>
                    <a:pt x="865799" y="0"/>
                  </a:lnTo>
                  <a:lnTo>
                    <a:pt x="8657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67711" y="3662181"/>
              <a:ext cx="109284" cy="907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01472" y="4241008"/>
              <a:ext cx="178499" cy="15973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90725" y="3708749"/>
              <a:ext cx="655955" cy="456565"/>
            </a:xfrm>
            <a:custGeom>
              <a:avLst/>
              <a:gdLst/>
              <a:ahLst/>
              <a:cxnLst/>
              <a:rect l="l" t="t" r="r" b="b"/>
              <a:pathLst>
                <a:path w="655954" h="456564">
                  <a:moveTo>
                    <a:pt x="0" y="456412"/>
                  </a:moveTo>
                  <a:lnTo>
                    <a:pt x="65588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19107" y="3649844"/>
              <a:ext cx="107982" cy="9425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56975" y="3108457"/>
              <a:ext cx="563245" cy="228600"/>
            </a:xfrm>
            <a:custGeom>
              <a:avLst/>
              <a:gdLst/>
              <a:ahLst/>
              <a:cxnLst/>
              <a:rect l="l" t="t" r="r" b="b"/>
              <a:pathLst>
                <a:path w="563245" h="228600">
                  <a:moveTo>
                    <a:pt x="0" y="228242"/>
                  </a:moveTo>
                  <a:lnTo>
                    <a:pt x="562779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98404" y="3066441"/>
              <a:ext cx="110988" cy="806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03150" y="3112823"/>
              <a:ext cx="554355" cy="224154"/>
            </a:xfrm>
            <a:custGeom>
              <a:avLst/>
              <a:gdLst/>
              <a:ahLst/>
              <a:cxnLst/>
              <a:rect l="l" t="t" r="r" b="b"/>
              <a:pathLst>
                <a:path w="554354" h="224154">
                  <a:moveTo>
                    <a:pt x="554024" y="223876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13471" y="3070908"/>
              <a:ext cx="110992" cy="806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23075" y="1623274"/>
              <a:ext cx="1835785" cy="311785"/>
            </a:xfrm>
            <a:custGeom>
              <a:avLst/>
              <a:gdLst/>
              <a:ahLst/>
              <a:cxnLst/>
              <a:rect l="l" t="t" r="r" b="b"/>
              <a:pathLst>
                <a:path w="1835784" h="311785">
                  <a:moveTo>
                    <a:pt x="18353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835399" y="0"/>
                  </a:lnTo>
                  <a:lnTo>
                    <a:pt x="18353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23075" y="1623274"/>
              <a:ext cx="1835785" cy="311785"/>
            </a:xfrm>
            <a:custGeom>
              <a:avLst/>
              <a:gdLst/>
              <a:ahLst/>
              <a:cxnLst/>
              <a:rect l="l" t="t" r="r" b="b"/>
              <a:pathLst>
                <a:path w="1835784" h="311785">
                  <a:moveTo>
                    <a:pt x="0" y="0"/>
                  </a:moveTo>
                  <a:lnTo>
                    <a:pt x="1835399" y="0"/>
                  </a:lnTo>
                  <a:lnTo>
                    <a:pt x="18353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82154" y="1337287"/>
              <a:ext cx="558800" cy="286385"/>
            </a:xfrm>
            <a:custGeom>
              <a:avLst/>
              <a:gdLst/>
              <a:ahLst/>
              <a:cxnLst/>
              <a:rect l="l" t="t" r="r" b="b"/>
              <a:pathLst>
                <a:path w="558800" h="286384">
                  <a:moveTo>
                    <a:pt x="558270" y="285987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95686" y="1288347"/>
              <a:ext cx="110338" cy="8647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077150" y="1623274"/>
              <a:ext cx="1880235" cy="311785"/>
            </a:xfrm>
            <a:custGeom>
              <a:avLst/>
              <a:gdLst/>
              <a:ahLst/>
              <a:cxnLst/>
              <a:rect l="l" t="t" r="r" b="b"/>
              <a:pathLst>
                <a:path w="1880234" h="311785">
                  <a:moveTo>
                    <a:pt x="18800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1880099" y="0"/>
                  </a:lnTo>
                  <a:lnTo>
                    <a:pt x="18800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77150" y="1623274"/>
              <a:ext cx="1880235" cy="311785"/>
            </a:xfrm>
            <a:custGeom>
              <a:avLst/>
              <a:gdLst/>
              <a:ahLst/>
              <a:cxnLst/>
              <a:rect l="l" t="t" r="r" b="b"/>
              <a:pathLst>
                <a:path w="1880234" h="311785">
                  <a:moveTo>
                    <a:pt x="0" y="0"/>
                  </a:moveTo>
                  <a:lnTo>
                    <a:pt x="1880099" y="0"/>
                  </a:lnTo>
                  <a:lnTo>
                    <a:pt x="18800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40225" y="1331473"/>
              <a:ext cx="567690" cy="292100"/>
            </a:xfrm>
            <a:custGeom>
              <a:avLst/>
              <a:gdLst/>
              <a:ahLst/>
              <a:cxnLst/>
              <a:rect l="l" t="t" r="r" b="b"/>
              <a:pathLst>
                <a:path w="567690" h="292100">
                  <a:moveTo>
                    <a:pt x="0" y="291801"/>
                  </a:moveTo>
                  <a:lnTo>
                    <a:pt x="567066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83369" y="1282392"/>
              <a:ext cx="110317" cy="8658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/>
          <p:nvPr/>
        </p:nvSpPr>
        <p:spPr>
          <a:xfrm>
            <a:off x="6096002" y="4724222"/>
            <a:ext cx="778199" cy="28364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820425" y="2832425"/>
            <a:ext cx="13690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Decoder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49702" y="3624000"/>
            <a:ext cx="116903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Sample </a:t>
            </a:r>
            <a:r>
              <a:rPr sz="1400" dirty="0">
                <a:latin typeface="Arial"/>
                <a:cs typeface="Arial"/>
              </a:rPr>
              <a:t>z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from</a:t>
            </a:r>
            <a:endParaRPr sz="1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780552" y="1834375"/>
            <a:ext cx="13036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Sample </a:t>
            </a:r>
            <a:r>
              <a:rPr sz="1400" dirty="0">
                <a:latin typeface="Arial"/>
                <a:cs typeface="Arial"/>
              </a:rPr>
              <a:t>x|z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from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068399" y="1833825"/>
            <a:ext cx="4124325" cy="2669540"/>
            <a:chOff x="4544397" y="976575"/>
            <a:chExt cx="4124325" cy="2669540"/>
          </a:xfrm>
        </p:grpSpPr>
        <p:sp>
          <p:nvSpPr>
            <p:cNvPr id="34" name="object 34"/>
            <p:cNvSpPr/>
            <p:nvPr/>
          </p:nvSpPr>
          <p:spPr>
            <a:xfrm>
              <a:off x="6723825" y="2778674"/>
              <a:ext cx="1944340" cy="2712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26025" y="3391411"/>
              <a:ext cx="461920" cy="22546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610563" y="3362324"/>
              <a:ext cx="493236" cy="28364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44187" y="2003316"/>
              <a:ext cx="736600" cy="448945"/>
            </a:xfrm>
            <a:custGeom>
              <a:avLst/>
              <a:gdLst/>
              <a:ahLst/>
              <a:cxnLst/>
              <a:rect l="l" t="t" r="r" b="b"/>
              <a:pathLst>
                <a:path w="736600" h="448944">
                  <a:moveTo>
                    <a:pt x="736087" y="448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05250" y="976575"/>
              <a:ext cx="1950776" cy="27130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80662" y="1665094"/>
              <a:ext cx="461919" cy="22767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22414" y="1659925"/>
              <a:ext cx="493235" cy="28643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60833" y="1948813"/>
              <a:ext cx="109249" cy="90899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080274" y="1995126"/>
              <a:ext cx="659765" cy="457200"/>
            </a:xfrm>
            <a:custGeom>
              <a:avLst/>
              <a:gdLst/>
              <a:ahLst/>
              <a:cxnLst/>
              <a:rect l="l" t="t" r="r" b="b"/>
              <a:pathLst>
                <a:path w="659765" h="457200">
                  <a:moveTo>
                    <a:pt x="0" y="456623"/>
                  </a:moveTo>
                  <a:lnTo>
                    <a:pt x="659334" y="0"/>
                  </a:lnTo>
                </a:path>
              </a:pathLst>
            </a:custGeom>
            <a:ln w="1904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12169" y="1936380"/>
              <a:ext cx="108035" cy="94138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44397" y="2260663"/>
              <a:ext cx="778199" cy="27129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581750" y="5078588"/>
            <a:ext cx="89344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Input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5" dirty="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545262" y="1424924"/>
            <a:ext cx="2038350" cy="321310"/>
            <a:chOff x="6021262" y="567674"/>
            <a:chExt cx="2038350" cy="321310"/>
          </a:xfrm>
        </p:grpSpPr>
        <p:sp>
          <p:nvSpPr>
            <p:cNvPr id="47" name="object 47"/>
            <p:cNvSpPr/>
            <p:nvPr/>
          </p:nvSpPr>
          <p:spPr>
            <a:xfrm>
              <a:off x="6026024" y="572437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4">
                  <a:moveTo>
                    <a:pt x="2028299" y="311399"/>
                  </a:moveTo>
                  <a:lnTo>
                    <a:pt x="0" y="311399"/>
                  </a:lnTo>
                  <a:lnTo>
                    <a:pt x="0" y="0"/>
                  </a:lnTo>
                  <a:lnTo>
                    <a:pt x="2028299" y="0"/>
                  </a:lnTo>
                  <a:lnTo>
                    <a:pt x="2028299" y="3113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26024" y="572437"/>
              <a:ext cx="2028825" cy="311785"/>
            </a:xfrm>
            <a:custGeom>
              <a:avLst/>
              <a:gdLst/>
              <a:ahLst/>
              <a:cxnLst/>
              <a:rect l="l" t="t" r="r" b="b"/>
              <a:pathLst>
                <a:path w="2028825" h="311784">
                  <a:moveTo>
                    <a:pt x="0" y="0"/>
                  </a:moveTo>
                  <a:lnTo>
                    <a:pt x="2028299" y="0"/>
                  </a:lnTo>
                  <a:lnTo>
                    <a:pt x="2028299" y="311399"/>
                  </a:lnTo>
                  <a:lnTo>
                    <a:pt x="0" y="311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57297" y="610362"/>
              <a:ext cx="165774" cy="23557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2029588" y="519397"/>
            <a:ext cx="830897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Variational</a:t>
            </a:r>
            <a:r>
              <a:rPr spc="-85" dirty="0"/>
              <a:t> </a:t>
            </a:r>
            <a:r>
              <a:rPr spc="-5" dirty="0"/>
              <a:t>Autoencoders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1806127" y="1730921"/>
            <a:ext cx="3338195" cy="4952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Putting it all together: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maximizing</a:t>
            </a:r>
            <a:r>
              <a:rPr sz="16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the  likelihood lower</a:t>
            </a:r>
            <a:r>
              <a:rPr sz="16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bound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750249" y="2463204"/>
            <a:ext cx="3512972" cy="63366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416324" y="3775588"/>
            <a:ext cx="3717290" cy="90537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9677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6AA84F"/>
                </a:solidFill>
                <a:latin typeface="Arial"/>
                <a:cs typeface="Arial"/>
              </a:rPr>
              <a:t>Make </a:t>
            </a:r>
            <a:r>
              <a:rPr sz="1400" spc="-5" dirty="0">
                <a:solidFill>
                  <a:srgbClr val="6AA84F"/>
                </a:solidFill>
                <a:latin typeface="Arial"/>
                <a:cs typeface="Arial"/>
              </a:rPr>
              <a:t>approximate  posterior distribution  </a:t>
            </a:r>
            <a:r>
              <a:rPr sz="1400" dirty="0">
                <a:solidFill>
                  <a:srgbClr val="6AA84F"/>
                </a:solidFill>
                <a:latin typeface="Arial"/>
                <a:cs typeface="Arial"/>
              </a:rPr>
              <a:t>close </a:t>
            </a:r>
            <a:r>
              <a:rPr sz="1400" spc="-5" dirty="0">
                <a:solidFill>
                  <a:srgbClr val="6AA84F"/>
                </a:solidFill>
                <a:latin typeface="Arial"/>
                <a:cs typeface="Arial"/>
              </a:rPr>
              <a:t>to</a:t>
            </a:r>
            <a:r>
              <a:rPr sz="1400" spc="-25" dirty="0">
                <a:solidFill>
                  <a:srgbClr val="6AA84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6AA84F"/>
                </a:solidFill>
                <a:latin typeface="Arial"/>
                <a:cs typeface="Arial"/>
              </a:rPr>
              <a:t>prior</a:t>
            </a:r>
            <a:endParaRPr sz="1400">
              <a:latin typeface="Arial"/>
              <a:cs typeface="Arial"/>
            </a:endParaRPr>
          </a:p>
          <a:p>
            <a:pPr marL="2372995">
              <a:spcBef>
                <a:spcPts val="114"/>
              </a:spcBef>
            </a:pPr>
            <a:r>
              <a:rPr sz="1400" spc="-5" dirty="0">
                <a:latin typeface="Arial"/>
                <a:cs typeface="Arial"/>
              </a:rPr>
              <a:t>Encoder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666722" y="2958363"/>
            <a:ext cx="2478405" cy="1412240"/>
            <a:chOff x="3142720" y="2101113"/>
            <a:chExt cx="2478405" cy="1412240"/>
          </a:xfrm>
        </p:grpSpPr>
        <p:sp>
          <p:nvSpPr>
            <p:cNvPr id="55" name="object 55"/>
            <p:cNvSpPr/>
            <p:nvPr/>
          </p:nvSpPr>
          <p:spPr>
            <a:xfrm>
              <a:off x="3191343" y="2187742"/>
              <a:ext cx="2420620" cy="1315720"/>
            </a:xfrm>
            <a:custGeom>
              <a:avLst/>
              <a:gdLst/>
              <a:ahLst/>
              <a:cxnLst/>
              <a:rect l="l" t="t" r="r" b="b"/>
              <a:pathLst>
                <a:path w="2420620" h="1315720">
                  <a:moveTo>
                    <a:pt x="2420006" y="1315557"/>
                  </a:moveTo>
                  <a:lnTo>
                    <a:pt x="2350990" y="1315099"/>
                  </a:lnTo>
                  <a:lnTo>
                    <a:pt x="2282787" y="1313737"/>
                  </a:lnTo>
                  <a:lnTo>
                    <a:pt x="2215410" y="1311490"/>
                  </a:lnTo>
                  <a:lnTo>
                    <a:pt x="2148866" y="1308379"/>
                  </a:lnTo>
                  <a:lnTo>
                    <a:pt x="2083168" y="1304422"/>
                  </a:lnTo>
                  <a:lnTo>
                    <a:pt x="2018323" y="1299638"/>
                  </a:lnTo>
                  <a:lnTo>
                    <a:pt x="1954344" y="1294046"/>
                  </a:lnTo>
                  <a:lnTo>
                    <a:pt x="1891238" y="1287666"/>
                  </a:lnTo>
                  <a:lnTo>
                    <a:pt x="1829017" y="1280517"/>
                  </a:lnTo>
                  <a:lnTo>
                    <a:pt x="1767691" y="1272619"/>
                  </a:lnTo>
                  <a:lnTo>
                    <a:pt x="1707268" y="1263989"/>
                  </a:lnTo>
                  <a:lnTo>
                    <a:pt x="1647760" y="1254649"/>
                  </a:lnTo>
                  <a:lnTo>
                    <a:pt x="1589176" y="1244616"/>
                  </a:lnTo>
                  <a:lnTo>
                    <a:pt x="1531527" y="1233910"/>
                  </a:lnTo>
                  <a:lnTo>
                    <a:pt x="1474822" y="1222551"/>
                  </a:lnTo>
                  <a:lnTo>
                    <a:pt x="1419071" y="1210557"/>
                  </a:lnTo>
                  <a:lnTo>
                    <a:pt x="1364284" y="1197948"/>
                  </a:lnTo>
                  <a:lnTo>
                    <a:pt x="1310471" y="1184743"/>
                  </a:lnTo>
                  <a:lnTo>
                    <a:pt x="1257642" y="1170961"/>
                  </a:lnTo>
                  <a:lnTo>
                    <a:pt x="1205808" y="1156621"/>
                  </a:lnTo>
                  <a:lnTo>
                    <a:pt x="1154977" y="1141743"/>
                  </a:lnTo>
                  <a:lnTo>
                    <a:pt x="1105161" y="1126347"/>
                  </a:lnTo>
                  <a:lnTo>
                    <a:pt x="1056368" y="1110450"/>
                  </a:lnTo>
                  <a:lnTo>
                    <a:pt x="1008610" y="1094072"/>
                  </a:lnTo>
                  <a:lnTo>
                    <a:pt x="961896" y="1077234"/>
                  </a:lnTo>
                  <a:lnTo>
                    <a:pt x="916235" y="1059952"/>
                  </a:lnTo>
                  <a:lnTo>
                    <a:pt x="871639" y="1042248"/>
                  </a:lnTo>
                  <a:lnTo>
                    <a:pt x="828116" y="1024141"/>
                  </a:lnTo>
                  <a:lnTo>
                    <a:pt x="785677" y="1005648"/>
                  </a:lnTo>
                  <a:lnTo>
                    <a:pt x="744332" y="986791"/>
                  </a:lnTo>
                  <a:lnTo>
                    <a:pt x="704091" y="967587"/>
                  </a:lnTo>
                  <a:lnTo>
                    <a:pt x="664964" y="948057"/>
                  </a:lnTo>
                  <a:lnTo>
                    <a:pt x="626960" y="928219"/>
                  </a:lnTo>
                  <a:lnTo>
                    <a:pt x="590091" y="908092"/>
                  </a:lnTo>
                  <a:lnTo>
                    <a:pt x="554364" y="887696"/>
                  </a:lnTo>
                  <a:lnTo>
                    <a:pt x="519792" y="867051"/>
                  </a:lnTo>
                  <a:lnTo>
                    <a:pt x="486383" y="846175"/>
                  </a:lnTo>
                  <a:lnTo>
                    <a:pt x="454148" y="825087"/>
                  </a:lnTo>
                  <a:lnTo>
                    <a:pt x="393239" y="782354"/>
                  </a:lnTo>
                  <a:lnTo>
                    <a:pt x="337143" y="739005"/>
                  </a:lnTo>
                  <a:lnTo>
                    <a:pt x="285942" y="695195"/>
                  </a:lnTo>
                  <a:lnTo>
                    <a:pt x="239715" y="651078"/>
                  </a:lnTo>
                  <a:lnTo>
                    <a:pt x="198541" y="606807"/>
                  </a:lnTo>
                  <a:lnTo>
                    <a:pt x="159389" y="558516"/>
                  </a:lnTo>
                  <a:lnTo>
                    <a:pt x="125895" y="510425"/>
                  </a:lnTo>
                  <a:lnTo>
                    <a:pt x="97606" y="462734"/>
                  </a:lnTo>
                  <a:lnTo>
                    <a:pt x="74071" y="415641"/>
                  </a:lnTo>
                  <a:lnTo>
                    <a:pt x="54838" y="369348"/>
                  </a:lnTo>
                  <a:lnTo>
                    <a:pt x="39455" y="324052"/>
                  </a:lnTo>
                  <a:lnTo>
                    <a:pt x="27470" y="279955"/>
                  </a:lnTo>
                  <a:lnTo>
                    <a:pt x="18433" y="237256"/>
                  </a:lnTo>
                  <a:lnTo>
                    <a:pt x="11890" y="196154"/>
                  </a:lnTo>
                  <a:lnTo>
                    <a:pt x="7390" y="156849"/>
                  </a:lnTo>
                  <a:lnTo>
                    <a:pt x="3171" y="95154"/>
                  </a:lnTo>
                  <a:lnTo>
                    <a:pt x="1577" y="49754"/>
                  </a:lnTo>
                  <a:lnTo>
                    <a:pt x="1001" y="28871"/>
                  </a:lnTo>
                  <a:lnTo>
                    <a:pt x="809" y="22122"/>
                  </a:lnTo>
                  <a:lnTo>
                    <a:pt x="609" y="15590"/>
                  </a:lnTo>
                  <a:lnTo>
                    <a:pt x="376" y="9286"/>
                  </a:lnTo>
                  <a:lnTo>
                    <a:pt x="260" y="6133"/>
                  </a:lnTo>
                  <a:lnTo>
                    <a:pt x="135" y="3037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142720" y="2101113"/>
              <a:ext cx="86211" cy="110384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439527" y="1633613"/>
            <a:ext cx="7766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Maximize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439527" y="1843163"/>
            <a:ext cx="1102995" cy="8814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Arial"/>
                <a:cs typeface="Arial"/>
              </a:rPr>
              <a:t>likelihood of  original input  being  </a:t>
            </a: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reconstructed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519636" y="1559452"/>
            <a:ext cx="4935220" cy="850265"/>
            <a:chOff x="995636" y="702200"/>
            <a:chExt cx="4935220" cy="850265"/>
          </a:xfrm>
        </p:grpSpPr>
        <p:sp>
          <p:nvSpPr>
            <p:cNvPr id="60" name="object 60"/>
            <p:cNvSpPr/>
            <p:nvPr/>
          </p:nvSpPr>
          <p:spPr>
            <a:xfrm>
              <a:off x="1030962" y="711725"/>
              <a:ext cx="4890770" cy="745490"/>
            </a:xfrm>
            <a:custGeom>
              <a:avLst/>
              <a:gdLst/>
              <a:ahLst/>
              <a:cxnLst/>
              <a:rect l="l" t="t" r="r" b="b"/>
              <a:pathLst>
                <a:path w="4890770" h="745490">
                  <a:moveTo>
                    <a:pt x="4890287" y="0"/>
                  </a:moveTo>
                  <a:lnTo>
                    <a:pt x="4815524" y="77"/>
                  </a:lnTo>
                  <a:lnTo>
                    <a:pt x="4741208" y="308"/>
                  </a:lnTo>
                  <a:lnTo>
                    <a:pt x="4667343" y="692"/>
                  </a:lnTo>
                  <a:lnTo>
                    <a:pt x="4593932" y="1225"/>
                  </a:lnTo>
                  <a:lnTo>
                    <a:pt x="4520980" y="1908"/>
                  </a:lnTo>
                  <a:lnTo>
                    <a:pt x="4448488" y="2737"/>
                  </a:lnTo>
                  <a:lnTo>
                    <a:pt x="4376461" y="3712"/>
                  </a:lnTo>
                  <a:lnTo>
                    <a:pt x="4304903" y="4830"/>
                  </a:lnTo>
                  <a:lnTo>
                    <a:pt x="4233816" y="6091"/>
                  </a:lnTo>
                  <a:lnTo>
                    <a:pt x="4163204" y="7491"/>
                  </a:lnTo>
                  <a:lnTo>
                    <a:pt x="4093071" y="9030"/>
                  </a:lnTo>
                  <a:lnTo>
                    <a:pt x="4023421" y="10705"/>
                  </a:lnTo>
                  <a:lnTo>
                    <a:pt x="3954256" y="12516"/>
                  </a:lnTo>
                  <a:lnTo>
                    <a:pt x="3885580" y="14459"/>
                  </a:lnTo>
                  <a:lnTo>
                    <a:pt x="3817396" y="16535"/>
                  </a:lnTo>
                  <a:lnTo>
                    <a:pt x="3749709" y="18740"/>
                  </a:lnTo>
                  <a:lnTo>
                    <a:pt x="3682521" y="21073"/>
                  </a:lnTo>
                  <a:lnTo>
                    <a:pt x="3615836" y="23533"/>
                  </a:lnTo>
                  <a:lnTo>
                    <a:pt x="3549657" y="26118"/>
                  </a:lnTo>
                  <a:lnTo>
                    <a:pt x="3483989" y="28826"/>
                  </a:lnTo>
                  <a:lnTo>
                    <a:pt x="3418834" y="31655"/>
                  </a:lnTo>
                  <a:lnTo>
                    <a:pt x="3354196" y="34603"/>
                  </a:lnTo>
                  <a:lnTo>
                    <a:pt x="3290078" y="37670"/>
                  </a:lnTo>
                  <a:lnTo>
                    <a:pt x="3226484" y="40853"/>
                  </a:lnTo>
                  <a:lnTo>
                    <a:pt x="3163418" y="44150"/>
                  </a:lnTo>
                  <a:lnTo>
                    <a:pt x="3100882" y="47560"/>
                  </a:lnTo>
                  <a:lnTo>
                    <a:pt x="3038880" y="51082"/>
                  </a:lnTo>
                  <a:lnTo>
                    <a:pt x="2977417" y="54712"/>
                  </a:lnTo>
                  <a:lnTo>
                    <a:pt x="2916494" y="58451"/>
                  </a:lnTo>
                  <a:lnTo>
                    <a:pt x="2856116" y="62295"/>
                  </a:lnTo>
                  <a:lnTo>
                    <a:pt x="2796287" y="66243"/>
                  </a:lnTo>
                  <a:lnTo>
                    <a:pt x="2737009" y="70294"/>
                  </a:lnTo>
                  <a:lnTo>
                    <a:pt x="2678286" y="74446"/>
                  </a:lnTo>
                  <a:lnTo>
                    <a:pt x="2620122" y="78697"/>
                  </a:lnTo>
                  <a:lnTo>
                    <a:pt x="2562520" y="83046"/>
                  </a:lnTo>
                  <a:lnTo>
                    <a:pt x="2505483" y="87490"/>
                  </a:lnTo>
                  <a:lnTo>
                    <a:pt x="2449016" y="92028"/>
                  </a:lnTo>
                  <a:lnTo>
                    <a:pt x="2393121" y="96658"/>
                  </a:lnTo>
                  <a:lnTo>
                    <a:pt x="2337802" y="101379"/>
                  </a:lnTo>
                  <a:lnTo>
                    <a:pt x="2283063" y="106189"/>
                  </a:lnTo>
                  <a:lnTo>
                    <a:pt x="2228906" y="111086"/>
                  </a:lnTo>
                  <a:lnTo>
                    <a:pt x="2175336" y="116069"/>
                  </a:lnTo>
                  <a:lnTo>
                    <a:pt x="2122356" y="121135"/>
                  </a:lnTo>
                  <a:lnTo>
                    <a:pt x="2069969" y="126283"/>
                  </a:lnTo>
                  <a:lnTo>
                    <a:pt x="2018179" y="131512"/>
                  </a:lnTo>
                  <a:lnTo>
                    <a:pt x="1966989" y="136819"/>
                  </a:lnTo>
                  <a:lnTo>
                    <a:pt x="1916404" y="142203"/>
                  </a:lnTo>
                  <a:lnTo>
                    <a:pt x="1866425" y="147663"/>
                  </a:lnTo>
                  <a:lnTo>
                    <a:pt x="1817057" y="153195"/>
                  </a:lnTo>
                  <a:lnTo>
                    <a:pt x="1768304" y="158800"/>
                  </a:lnTo>
                  <a:lnTo>
                    <a:pt x="1720168" y="164475"/>
                  </a:lnTo>
                  <a:lnTo>
                    <a:pt x="1672653" y="170218"/>
                  </a:lnTo>
                  <a:lnTo>
                    <a:pt x="1625763" y="176027"/>
                  </a:lnTo>
                  <a:lnTo>
                    <a:pt x="1579501" y="181902"/>
                  </a:lnTo>
                  <a:lnTo>
                    <a:pt x="1533871" y="187840"/>
                  </a:lnTo>
                  <a:lnTo>
                    <a:pt x="1488875" y="193839"/>
                  </a:lnTo>
                  <a:lnTo>
                    <a:pt x="1444519" y="199898"/>
                  </a:lnTo>
                  <a:lnTo>
                    <a:pt x="1400804" y="206016"/>
                  </a:lnTo>
                  <a:lnTo>
                    <a:pt x="1357735" y="212189"/>
                  </a:lnTo>
                  <a:lnTo>
                    <a:pt x="1315315" y="218418"/>
                  </a:lnTo>
                  <a:lnTo>
                    <a:pt x="1273547" y="224699"/>
                  </a:lnTo>
                  <a:lnTo>
                    <a:pt x="1232435" y="231032"/>
                  </a:lnTo>
                  <a:lnTo>
                    <a:pt x="1191983" y="237414"/>
                  </a:lnTo>
                  <a:lnTo>
                    <a:pt x="1152193" y="243844"/>
                  </a:lnTo>
                  <a:lnTo>
                    <a:pt x="1113070" y="250320"/>
                  </a:lnTo>
                  <a:lnTo>
                    <a:pt x="1074617" y="256841"/>
                  </a:lnTo>
                  <a:lnTo>
                    <a:pt x="1036837" y="263404"/>
                  </a:lnTo>
                  <a:lnTo>
                    <a:pt x="963311" y="276652"/>
                  </a:lnTo>
                  <a:lnTo>
                    <a:pt x="892520" y="290051"/>
                  </a:lnTo>
                  <a:lnTo>
                    <a:pt x="824492" y="303586"/>
                  </a:lnTo>
                  <a:lnTo>
                    <a:pt x="759254" y="317244"/>
                  </a:lnTo>
                  <a:lnTo>
                    <a:pt x="696835" y="331012"/>
                  </a:lnTo>
                  <a:lnTo>
                    <a:pt x="637262" y="344875"/>
                  </a:lnTo>
                  <a:lnTo>
                    <a:pt x="580563" y="358821"/>
                  </a:lnTo>
                  <a:lnTo>
                    <a:pt x="526765" y="372834"/>
                  </a:lnTo>
                  <a:lnTo>
                    <a:pt x="475898" y="386903"/>
                  </a:lnTo>
                  <a:lnTo>
                    <a:pt x="427988" y="401012"/>
                  </a:lnTo>
                  <a:lnTo>
                    <a:pt x="383063" y="415149"/>
                  </a:lnTo>
                  <a:lnTo>
                    <a:pt x="341151" y="429299"/>
                  </a:lnTo>
                  <a:lnTo>
                    <a:pt x="256911" y="461470"/>
                  </a:lnTo>
                  <a:lnTo>
                    <a:pt x="187163" y="493480"/>
                  </a:lnTo>
                  <a:lnTo>
                    <a:pt x="130660" y="525168"/>
                  </a:lnTo>
                  <a:lnTo>
                    <a:pt x="86157" y="556372"/>
                  </a:lnTo>
                  <a:lnTo>
                    <a:pt x="52406" y="586933"/>
                  </a:lnTo>
                  <a:lnTo>
                    <a:pt x="28161" y="616689"/>
                  </a:lnTo>
                  <a:lnTo>
                    <a:pt x="3204" y="673142"/>
                  </a:lnTo>
                  <a:lnTo>
                    <a:pt x="0" y="699517"/>
                  </a:lnTo>
                  <a:lnTo>
                    <a:pt x="1315" y="724443"/>
                  </a:lnTo>
                  <a:lnTo>
                    <a:pt x="1974" y="729474"/>
                  </a:lnTo>
                  <a:lnTo>
                    <a:pt x="2845" y="734400"/>
                  </a:lnTo>
                  <a:lnTo>
                    <a:pt x="3879" y="739215"/>
                  </a:lnTo>
                  <a:lnTo>
                    <a:pt x="4138" y="740418"/>
                  </a:lnTo>
                  <a:lnTo>
                    <a:pt x="4406" y="741615"/>
                  </a:lnTo>
                  <a:lnTo>
                    <a:pt x="4684" y="742805"/>
                  </a:lnTo>
                  <a:lnTo>
                    <a:pt x="5336" y="745489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5636" y="1443161"/>
              <a:ext cx="81325" cy="10912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784952" y="4587897"/>
            <a:ext cx="2530475" cy="7645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For every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minibatch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600" spc="-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input  data: </a:t>
            </a:r>
            <a:r>
              <a:rPr sz="1600" dirty="0">
                <a:solidFill>
                  <a:srgbClr val="0000FF"/>
                </a:solidFill>
                <a:latin typeface="Arial"/>
                <a:cs typeface="Arial"/>
              </a:rPr>
              <a:t>compute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this forward  pass, and then</a:t>
            </a:r>
            <a:r>
              <a:rPr sz="1600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Arial"/>
                <a:cs typeface="Arial"/>
              </a:rPr>
              <a:t>backprop!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70727" y="5562152"/>
            <a:ext cx="137985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Lecture 13</a:t>
            </a:r>
            <a:r>
              <a:rPr sz="20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12"/>
          </p:nvPr>
        </p:nvSpPr>
        <p:spPr>
          <a:xfrm>
            <a:off x="8347551" y="4561051"/>
            <a:ext cx="333375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20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310"/>
              </a:lnSpc>
            </a:pPr>
            <a:fld id="{81D60167-4931-47E6-BA6A-407CBD079E47}" type="slidenum">
              <a:rPr lang="en-US" smtClean="0"/>
              <a:pPr marL="12700">
                <a:lnSpc>
                  <a:spcPts val="2310"/>
                </a:lnSpc>
              </a:pPr>
              <a:t>4</a:t>
            </a:fld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043665-5B3D-A6EB-99A9-89C3F289F6DE}"/>
              </a:ext>
            </a:extLst>
          </p:cNvPr>
          <p:cNvSpPr txBox="1"/>
          <p:nvPr/>
        </p:nvSpPr>
        <p:spPr>
          <a:xfrm>
            <a:off x="2538889" y="3222697"/>
            <a:ext cx="29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Kulback-Leibler</a:t>
            </a:r>
            <a:r>
              <a:rPr lang="en-US" dirty="0"/>
              <a:t> Divergence</a:t>
            </a:r>
          </a:p>
        </p:txBody>
      </p:sp>
      <p:sp>
        <p:nvSpPr>
          <p:cNvPr id="65" name="Date Placeholder 64">
            <a:extLst>
              <a:ext uri="{FF2B5EF4-FFF2-40B4-BE49-F238E27FC236}">
                <a16:creationId xmlns:a16="http://schemas.microsoft.com/office/drawing/2014/main" id="{ABA3F496-A469-4EF7-DFAC-6E7F5D05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477000"/>
            <a:ext cx="2844800" cy="457200"/>
          </a:xfrm>
        </p:spPr>
        <p:txBody>
          <a:bodyPr/>
          <a:lstStyle/>
          <a:p>
            <a:fld id="{93558426-E5C6-4DBF-B6AB-85D5B6165F98}" type="datetime1">
              <a:rPr lang="en-US" smtClean="0"/>
              <a:t>10/8/2025</a:t>
            </a:fld>
            <a:endParaRPr lang="en-US"/>
          </a:p>
        </p:txBody>
      </p:sp>
      <p:sp>
        <p:nvSpPr>
          <p:cNvPr id="68" name="Footer Placeholder 67">
            <a:extLst>
              <a:ext uri="{FF2B5EF4-FFF2-40B4-BE49-F238E27FC236}">
                <a16:creationId xmlns:a16="http://schemas.microsoft.com/office/drawing/2014/main" id="{BD46A43C-FBE0-1CC8-D3F3-9A12AADC4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9460-1282-812C-4B4C-4638C1D8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751B82-B4F6-E0A9-3562-D8620E419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1894" y="674526"/>
            <a:ext cx="10890505" cy="860747"/>
          </a:xfrm>
          <a:prstGeom prst="rect">
            <a:avLst/>
          </a:prstGeom>
        </p:spPr>
        <p:txBody>
          <a:bodyPr vert="horz" wrap="square" lIns="0" tIns="303783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Conditional Variational Autoencoders (CVAEs)</a:t>
            </a:r>
            <a:endParaRPr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E03061-C602-EEC0-D9B2-45C77EE1BC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683" y="5410200"/>
            <a:ext cx="199644" cy="150875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D6A28988-0758-A15F-E5DE-34B82A2DB0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075" y="5233415"/>
            <a:ext cx="1385843" cy="829056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88BE0FB-364F-8F13-E7D6-E51DCF95767D}"/>
              </a:ext>
            </a:extLst>
          </p:cNvPr>
          <p:cNvSpPr/>
          <p:nvPr/>
        </p:nvSpPr>
        <p:spPr>
          <a:xfrm>
            <a:off x="2332989" y="5350636"/>
            <a:ext cx="431800" cy="145415"/>
          </a:xfrm>
          <a:custGeom>
            <a:avLst/>
            <a:gdLst/>
            <a:ahLst/>
            <a:cxnLst/>
            <a:rect l="l" t="t" r="r" b="b"/>
            <a:pathLst>
              <a:path w="431800" h="145414">
                <a:moveTo>
                  <a:pt x="355878" y="27442"/>
                </a:moveTo>
                <a:lnTo>
                  <a:pt x="0" y="127000"/>
                </a:lnTo>
                <a:lnTo>
                  <a:pt x="5080" y="145415"/>
                </a:lnTo>
                <a:lnTo>
                  <a:pt x="361003" y="45844"/>
                </a:lnTo>
                <a:lnTo>
                  <a:pt x="355878" y="27442"/>
                </a:lnTo>
                <a:close/>
              </a:path>
              <a:path w="431800" h="145414">
                <a:moveTo>
                  <a:pt x="423122" y="24003"/>
                </a:moveTo>
                <a:lnTo>
                  <a:pt x="368173" y="24003"/>
                </a:lnTo>
                <a:lnTo>
                  <a:pt x="373253" y="42418"/>
                </a:lnTo>
                <a:lnTo>
                  <a:pt x="361003" y="45844"/>
                </a:lnTo>
                <a:lnTo>
                  <a:pt x="368681" y="73406"/>
                </a:lnTo>
                <a:lnTo>
                  <a:pt x="423122" y="24003"/>
                </a:lnTo>
                <a:close/>
              </a:path>
              <a:path w="431800" h="145414">
                <a:moveTo>
                  <a:pt x="368173" y="24003"/>
                </a:moveTo>
                <a:lnTo>
                  <a:pt x="355878" y="27442"/>
                </a:lnTo>
                <a:lnTo>
                  <a:pt x="361003" y="45844"/>
                </a:lnTo>
                <a:lnTo>
                  <a:pt x="373253" y="42418"/>
                </a:lnTo>
                <a:lnTo>
                  <a:pt x="368173" y="24003"/>
                </a:lnTo>
                <a:close/>
              </a:path>
              <a:path w="431800" h="145414">
                <a:moveTo>
                  <a:pt x="348234" y="0"/>
                </a:moveTo>
                <a:lnTo>
                  <a:pt x="355878" y="27442"/>
                </a:lnTo>
                <a:lnTo>
                  <a:pt x="368173" y="24003"/>
                </a:lnTo>
                <a:lnTo>
                  <a:pt x="423122" y="24003"/>
                </a:lnTo>
                <a:lnTo>
                  <a:pt x="431800" y="16128"/>
                </a:lnTo>
                <a:lnTo>
                  <a:pt x="3482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CEA0CF6-1765-4473-D1D8-B5E58021B75E}"/>
              </a:ext>
            </a:extLst>
          </p:cNvPr>
          <p:cNvSpPr/>
          <p:nvPr/>
        </p:nvSpPr>
        <p:spPr>
          <a:xfrm>
            <a:off x="2332608" y="5775261"/>
            <a:ext cx="432434" cy="158750"/>
          </a:xfrm>
          <a:custGeom>
            <a:avLst/>
            <a:gdLst/>
            <a:ahLst/>
            <a:cxnLst/>
            <a:rect l="l" t="t" r="r" b="b"/>
            <a:pathLst>
              <a:path w="432435" h="158750">
                <a:moveTo>
                  <a:pt x="356725" y="131382"/>
                </a:moveTo>
                <a:lnTo>
                  <a:pt x="348107" y="158610"/>
                </a:lnTo>
                <a:lnTo>
                  <a:pt x="432181" y="145351"/>
                </a:lnTo>
                <a:lnTo>
                  <a:pt x="421751" y="135216"/>
                </a:lnTo>
                <a:lnTo>
                  <a:pt x="368808" y="135216"/>
                </a:lnTo>
                <a:lnTo>
                  <a:pt x="356725" y="131382"/>
                </a:lnTo>
                <a:close/>
              </a:path>
              <a:path w="432435" h="158750">
                <a:moveTo>
                  <a:pt x="362479" y="113205"/>
                </a:moveTo>
                <a:lnTo>
                  <a:pt x="356725" y="131382"/>
                </a:lnTo>
                <a:lnTo>
                  <a:pt x="368808" y="135216"/>
                </a:lnTo>
                <a:lnTo>
                  <a:pt x="374650" y="117068"/>
                </a:lnTo>
                <a:lnTo>
                  <a:pt x="362479" y="113205"/>
                </a:lnTo>
                <a:close/>
              </a:path>
              <a:path w="432435" h="158750">
                <a:moveTo>
                  <a:pt x="371094" y="85991"/>
                </a:moveTo>
                <a:lnTo>
                  <a:pt x="362479" y="113205"/>
                </a:lnTo>
                <a:lnTo>
                  <a:pt x="374650" y="117068"/>
                </a:lnTo>
                <a:lnTo>
                  <a:pt x="368808" y="135216"/>
                </a:lnTo>
                <a:lnTo>
                  <a:pt x="421751" y="135216"/>
                </a:lnTo>
                <a:lnTo>
                  <a:pt x="371094" y="85991"/>
                </a:lnTo>
                <a:close/>
              </a:path>
              <a:path w="432435" h="158750">
                <a:moveTo>
                  <a:pt x="5842" y="0"/>
                </a:moveTo>
                <a:lnTo>
                  <a:pt x="0" y="18160"/>
                </a:lnTo>
                <a:lnTo>
                  <a:pt x="356725" y="131382"/>
                </a:lnTo>
                <a:lnTo>
                  <a:pt x="362479" y="113205"/>
                </a:lnTo>
                <a:lnTo>
                  <a:pt x="58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A0208BBB-F17A-F474-9842-4FFCBC395FE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1141" y="6126479"/>
            <a:ext cx="130958" cy="22707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FBA72DE1-A167-35FD-589A-909B1C8011D2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80360" y="5221223"/>
            <a:ext cx="1002791" cy="263651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4855DD12-A818-EB81-E320-78672BF8B69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80360" y="5823203"/>
            <a:ext cx="990600" cy="263652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59A5A06E-CC20-691F-6D88-092BF9E5F79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16323" y="6335267"/>
            <a:ext cx="1213103" cy="259079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2A9F76A1-E7A5-7C7D-0C29-0725DBA6090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15611" y="5690615"/>
            <a:ext cx="1427988" cy="220979"/>
          </a:xfrm>
          <a:prstGeom prst="rect">
            <a:avLst/>
          </a:prstGeom>
        </p:spPr>
      </p:pic>
      <p:sp>
        <p:nvSpPr>
          <p:cNvPr id="12" name="object 12">
            <a:extLst>
              <a:ext uri="{FF2B5EF4-FFF2-40B4-BE49-F238E27FC236}">
                <a16:creationId xmlns:a16="http://schemas.microsoft.com/office/drawing/2014/main" id="{C82ED8E5-9254-6403-755D-C1B81FF9E96F}"/>
              </a:ext>
            </a:extLst>
          </p:cNvPr>
          <p:cNvSpPr/>
          <p:nvPr/>
        </p:nvSpPr>
        <p:spPr>
          <a:xfrm>
            <a:off x="3983101" y="5873445"/>
            <a:ext cx="388620" cy="92710"/>
          </a:xfrm>
          <a:custGeom>
            <a:avLst/>
            <a:gdLst/>
            <a:ahLst/>
            <a:cxnLst/>
            <a:rect l="l" t="t" r="r" b="b"/>
            <a:pathLst>
              <a:path w="388620" h="92710">
                <a:moveTo>
                  <a:pt x="311308" y="28281"/>
                </a:moveTo>
                <a:lnTo>
                  <a:pt x="0" y="73634"/>
                </a:lnTo>
                <a:lnTo>
                  <a:pt x="2794" y="92481"/>
                </a:lnTo>
                <a:lnTo>
                  <a:pt x="314039" y="47137"/>
                </a:lnTo>
                <a:lnTo>
                  <a:pt x="311308" y="28281"/>
                </a:lnTo>
                <a:close/>
              </a:path>
              <a:path w="388620" h="92710">
                <a:moveTo>
                  <a:pt x="387304" y="26454"/>
                </a:moveTo>
                <a:lnTo>
                  <a:pt x="323850" y="26454"/>
                </a:lnTo>
                <a:lnTo>
                  <a:pt x="326644" y="45300"/>
                </a:lnTo>
                <a:lnTo>
                  <a:pt x="314039" y="47137"/>
                </a:lnTo>
                <a:lnTo>
                  <a:pt x="318135" y="75412"/>
                </a:lnTo>
                <a:lnTo>
                  <a:pt x="388112" y="26720"/>
                </a:lnTo>
                <a:lnTo>
                  <a:pt x="387304" y="26454"/>
                </a:lnTo>
                <a:close/>
              </a:path>
              <a:path w="388620" h="92710">
                <a:moveTo>
                  <a:pt x="323850" y="26454"/>
                </a:moveTo>
                <a:lnTo>
                  <a:pt x="311308" y="28281"/>
                </a:lnTo>
                <a:lnTo>
                  <a:pt x="314039" y="47137"/>
                </a:lnTo>
                <a:lnTo>
                  <a:pt x="326644" y="45300"/>
                </a:lnTo>
                <a:lnTo>
                  <a:pt x="323850" y="26454"/>
                </a:lnTo>
                <a:close/>
              </a:path>
              <a:path w="388620" h="92710">
                <a:moveTo>
                  <a:pt x="307213" y="0"/>
                </a:moveTo>
                <a:lnTo>
                  <a:pt x="311308" y="28281"/>
                </a:lnTo>
                <a:lnTo>
                  <a:pt x="323850" y="26454"/>
                </a:lnTo>
                <a:lnTo>
                  <a:pt x="387304" y="26454"/>
                </a:lnTo>
                <a:lnTo>
                  <a:pt x="307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824E8C6-2B62-C687-E7A0-EBF92625D31F}"/>
              </a:ext>
            </a:extLst>
          </p:cNvPr>
          <p:cNvSpPr/>
          <p:nvPr/>
        </p:nvSpPr>
        <p:spPr>
          <a:xfrm>
            <a:off x="3942588" y="5358891"/>
            <a:ext cx="429259" cy="289560"/>
          </a:xfrm>
          <a:custGeom>
            <a:avLst/>
            <a:gdLst/>
            <a:ahLst/>
            <a:cxnLst/>
            <a:rect l="l" t="t" r="r" b="b"/>
            <a:pathLst>
              <a:path w="429260" h="289560">
                <a:moveTo>
                  <a:pt x="360457" y="255246"/>
                </a:moveTo>
                <a:lnTo>
                  <a:pt x="344677" y="279006"/>
                </a:lnTo>
                <a:lnTo>
                  <a:pt x="429133" y="289433"/>
                </a:lnTo>
                <a:lnTo>
                  <a:pt x="413568" y="262229"/>
                </a:lnTo>
                <a:lnTo>
                  <a:pt x="370966" y="262229"/>
                </a:lnTo>
                <a:lnTo>
                  <a:pt x="360457" y="255246"/>
                </a:lnTo>
                <a:close/>
              </a:path>
              <a:path w="429260" h="289560">
                <a:moveTo>
                  <a:pt x="370998" y="239375"/>
                </a:moveTo>
                <a:lnTo>
                  <a:pt x="360457" y="255246"/>
                </a:lnTo>
                <a:lnTo>
                  <a:pt x="370966" y="262229"/>
                </a:lnTo>
                <a:lnTo>
                  <a:pt x="381508" y="246354"/>
                </a:lnTo>
                <a:lnTo>
                  <a:pt x="370998" y="239375"/>
                </a:lnTo>
                <a:close/>
              </a:path>
              <a:path w="429260" h="289560">
                <a:moveTo>
                  <a:pt x="386841" y="215519"/>
                </a:moveTo>
                <a:lnTo>
                  <a:pt x="370998" y="239375"/>
                </a:lnTo>
                <a:lnTo>
                  <a:pt x="381508" y="246354"/>
                </a:lnTo>
                <a:lnTo>
                  <a:pt x="370966" y="262229"/>
                </a:lnTo>
                <a:lnTo>
                  <a:pt x="413568" y="262229"/>
                </a:lnTo>
                <a:lnTo>
                  <a:pt x="386841" y="215519"/>
                </a:lnTo>
                <a:close/>
              </a:path>
              <a:path w="429260" h="289560">
                <a:moveTo>
                  <a:pt x="10540" y="0"/>
                </a:moveTo>
                <a:lnTo>
                  <a:pt x="0" y="15748"/>
                </a:lnTo>
                <a:lnTo>
                  <a:pt x="360457" y="255246"/>
                </a:lnTo>
                <a:lnTo>
                  <a:pt x="370998" y="239375"/>
                </a:lnTo>
                <a:lnTo>
                  <a:pt x="10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1AAD831-DF83-818E-6FC1-242902859B32}"/>
              </a:ext>
            </a:extLst>
          </p:cNvPr>
          <p:cNvSpPr/>
          <p:nvPr/>
        </p:nvSpPr>
        <p:spPr>
          <a:xfrm>
            <a:off x="4662678" y="5956553"/>
            <a:ext cx="76200" cy="290830"/>
          </a:xfrm>
          <a:custGeom>
            <a:avLst/>
            <a:gdLst/>
            <a:ahLst/>
            <a:cxnLst/>
            <a:rect l="l" t="t" r="r" b="b"/>
            <a:pathLst>
              <a:path w="76200" h="290829">
                <a:moveTo>
                  <a:pt x="47625" y="63500"/>
                </a:moveTo>
                <a:lnTo>
                  <a:pt x="28575" y="63500"/>
                </a:lnTo>
                <a:lnTo>
                  <a:pt x="28575" y="290525"/>
                </a:lnTo>
                <a:lnTo>
                  <a:pt x="47625" y="290525"/>
                </a:lnTo>
                <a:lnTo>
                  <a:pt x="47625" y="63500"/>
                </a:lnTo>
                <a:close/>
              </a:path>
              <a:path w="76200" h="290829">
                <a:moveTo>
                  <a:pt x="38100" y="0"/>
                </a:moveTo>
                <a:lnTo>
                  <a:pt x="0" y="76200"/>
                </a:lnTo>
                <a:lnTo>
                  <a:pt x="28575" y="76200"/>
                </a:lnTo>
                <a:lnTo>
                  <a:pt x="28575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290829">
                <a:moveTo>
                  <a:pt x="69850" y="63500"/>
                </a:moveTo>
                <a:lnTo>
                  <a:pt x="47625" y="63500"/>
                </a:lnTo>
                <a:lnTo>
                  <a:pt x="47625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>
            <a:extLst>
              <a:ext uri="{FF2B5EF4-FFF2-40B4-BE49-F238E27FC236}">
                <a16:creationId xmlns:a16="http://schemas.microsoft.com/office/drawing/2014/main" id="{9FBB9257-7D07-E590-932B-26D4D62F1C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5945" y="5201411"/>
            <a:ext cx="1384514" cy="827532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29EDC67B-1546-DC79-C848-C575400BAA5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68291" y="6115811"/>
            <a:ext cx="100374" cy="181356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DABADB9C-5D2A-D9DE-3521-B25321AADE52}"/>
              </a:ext>
            </a:extLst>
          </p:cNvPr>
          <p:cNvSpPr/>
          <p:nvPr/>
        </p:nvSpPr>
        <p:spPr>
          <a:xfrm>
            <a:off x="7625333" y="5610605"/>
            <a:ext cx="429259" cy="76200"/>
          </a:xfrm>
          <a:custGeom>
            <a:avLst/>
            <a:gdLst/>
            <a:ahLst/>
            <a:cxnLst/>
            <a:rect l="l" t="t" r="r" b="b"/>
            <a:pathLst>
              <a:path w="429259" h="76200">
                <a:moveTo>
                  <a:pt x="353060" y="0"/>
                </a:moveTo>
                <a:lnTo>
                  <a:pt x="353060" y="76200"/>
                </a:lnTo>
                <a:lnTo>
                  <a:pt x="410210" y="47625"/>
                </a:lnTo>
                <a:lnTo>
                  <a:pt x="365760" y="47625"/>
                </a:lnTo>
                <a:lnTo>
                  <a:pt x="365760" y="28575"/>
                </a:lnTo>
                <a:lnTo>
                  <a:pt x="410210" y="28575"/>
                </a:lnTo>
                <a:lnTo>
                  <a:pt x="353060" y="0"/>
                </a:lnTo>
                <a:close/>
              </a:path>
              <a:path w="429259" h="76200">
                <a:moveTo>
                  <a:pt x="35306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53060" y="47625"/>
                </a:lnTo>
                <a:lnTo>
                  <a:pt x="353060" y="28575"/>
                </a:lnTo>
                <a:close/>
              </a:path>
              <a:path w="429259" h="76200">
                <a:moveTo>
                  <a:pt x="410210" y="28575"/>
                </a:moveTo>
                <a:lnTo>
                  <a:pt x="365760" y="28575"/>
                </a:lnTo>
                <a:lnTo>
                  <a:pt x="365760" y="47625"/>
                </a:lnTo>
                <a:lnTo>
                  <a:pt x="410210" y="47625"/>
                </a:lnTo>
                <a:lnTo>
                  <a:pt x="429260" y="38100"/>
                </a:lnTo>
                <a:lnTo>
                  <a:pt x="41021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>
            <a:extLst>
              <a:ext uri="{FF2B5EF4-FFF2-40B4-BE49-F238E27FC236}">
                <a16:creationId xmlns:a16="http://schemas.microsoft.com/office/drawing/2014/main" id="{74C9A846-AA04-D6D1-87FB-73BB4BB8CFB7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1876" y="5510784"/>
            <a:ext cx="1170431" cy="252984"/>
          </a:xfrm>
          <a:prstGeom prst="rect">
            <a:avLst/>
          </a:prstGeom>
        </p:spPr>
      </p:pic>
      <p:pic>
        <p:nvPicPr>
          <p:cNvPr id="36" name="object 36">
            <a:extLst>
              <a:ext uri="{FF2B5EF4-FFF2-40B4-BE49-F238E27FC236}">
                <a16:creationId xmlns:a16="http://schemas.microsoft.com/office/drawing/2014/main" id="{EC8E7116-54E4-E8B0-CAAC-89153FEABD91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2063" y="5736335"/>
            <a:ext cx="179832" cy="163068"/>
          </a:xfrm>
          <a:prstGeom prst="rect">
            <a:avLst/>
          </a:prstGeom>
        </p:spPr>
      </p:pic>
      <p:pic>
        <p:nvPicPr>
          <p:cNvPr id="37" name="object 37">
            <a:extLst>
              <a:ext uri="{FF2B5EF4-FFF2-40B4-BE49-F238E27FC236}">
                <a16:creationId xmlns:a16="http://schemas.microsoft.com/office/drawing/2014/main" id="{62A160B3-49B4-AE95-86C7-9E2D406F9E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4728" y="5334000"/>
            <a:ext cx="199644" cy="150875"/>
          </a:xfrm>
          <a:prstGeom prst="rect">
            <a:avLst/>
          </a:prstGeom>
        </p:spPr>
      </p:pic>
      <p:pic>
        <p:nvPicPr>
          <p:cNvPr id="38" name="object 38">
            <a:extLst>
              <a:ext uri="{FF2B5EF4-FFF2-40B4-BE49-F238E27FC236}">
                <a16:creationId xmlns:a16="http://schemas.microsoft.com/office/drawing/2014/main" id="{EE4D0CEE-4115-6409-CB54-6ABEE492D769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2583" y="4585715"/>
            <a:ext cx="1437131" cy="25298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695F98D-6C88-9BB0-B0D6-84F3AB4EC7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7091" y="1600200"/>
            <a:ext cx="2974339" cy="352483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0BB4C02-8600-ECB6-D2B5-A7AE68C15D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562" y="1648531"/>
            <a:ext cx="7429500" cy="2981325"/>
          </a:xfrm>
          <a:prstGeom prst="rect">
            <a:avLst/>
          </a:prstGeo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E00F3184-FB0E-D296-CA93-81397DABB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42DA1-7C71-4947-8FC7-5662F9955679}" type="datetime1">
              <a:rPr lang="en-US" smtClean="0"/>
              <a:t>10/8/2025</a:t>
            </a:fld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8562EA56-3261-FB2C-C60A-BA102BEB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5F3D9FC-4F5F-1CF4-1380-CBAB9BEE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10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332EB470-2206-4925-8A16-E21D345A2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49579"/>
            <a:ext cx="9144000" cy="39588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4C2F6BC-3B4C-400E-B156-A8F2E99C6D89}"/>
              </a:ext>
            </a:extLst>
          </p:cNvPr>
          <p:cNvSpPr txBox="1"/>
          <p:nvPr/>
        </p:nvSpPr>
        <p:spPr>
          <a:xfrm>
            <a:off x="3657600" y="685800"/>
            <a:ext cx="5257800" cy="519898"/>
          </a:xfrm>
          <a:prstGeom prst="rect">
            <a:avLst/>
          </a:prstGeom>
        </p:spPr>
        <p:txBody>
          <a:bodyPr vert="horz" wrap="square" lIns="0" tIns="27190" rIns="0" bIns="0" rtlCol="0">
            <a:spAutoFit/>
          </a:bodyPr>
          <a:lstStyle/>
          <a:p>
            <a:pPr marL="20141">
              <a:spcBef>
                <a:spcPts val="214"/>
              </a:spcBef>
            </a:pPr>
            <a:r>
              <a:rPr sz="3200" b="1" spc="-71" dirty="0">
                <a:solidFill>
                  <a:srgbClr val="0070C0"/>
                </a:solidFill>
                <a:latin typeface="Georgia"/>
                <a:cs typeface="Georgia"/>
              </a:rPr>
              <a:t>Denoising</a:t>
            </a:r>
            <a:r>
              <a:rPr sz="3200" b="1" spc="198" dirty="0">
                <a:solidFill>
                  <a:srgbClr val="0070C0"/>
                </a:solidFill>
                <a:latin typeface="Georgia"/>
                <a:cs typeface="Georgia"/>
              </a:rPr>
              <a:t> </a:t>
            </a:r>
            <a:r>
              <a:rPr sz="3200" b="1" spc="-48" dirty="0">
                <a:solidFill>
                  <a:srgbClr val="0070C0"/>
                </a:solidFill>
                <a:latin typeface="Georgia"/>
                <a:cs typeface="Georgia"/>
              </a:rPr>
              <a:t>Autoencoders</a:t>
            </a:r>
            <a:endParaRPr sz="3200" dirty="0">
              <a:solidFill>
                <a:srgbClr val="0070C0"/>
              </a:solidFill>
              <a:latin typeface="Georgia"/>
              <a:cs typeface="Georgia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7524-7855-48AB-9250-DD9668077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87FBD-55BD-42AB-9720-E91985854AF3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2B92B-1E94-4CE9-94E1-85D0CB79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8039B-FBF8-417A-B21C-358948C7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F76DB-CFF6-2554-B208-C8A036B6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0ECB84-5728-5F81-D7B5-57039645C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4F9D59-4269-74EC-4309-B36575E2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51" y="3009900"/>
            <a:ext cx="109728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554DD-48D1-DEF1-CB6B-D6A04845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CB153-10C7-4DD0-8669-7D0663BBDD65}" type="datetime1">
              <a:rPr lang="en-US" smtClean="0"/>
              <a:t>10/8/2025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48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37A1AE-DFB0-E870-C928-C5E955B7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-apple-system"/>
              </a:rPr>
              <a:t>VAEs do not </a:t>
            </a:r>
            <a:r>
              <a:rPr lang="en-US" b="0" i="0" dirty="0">
                <a:solidFill>
                  <a:srgbClr val="0070C0"/>
                </a:solidFill>
                <a:effectLst/>
                <a:latin typeface="-apple-system"/>
              </a:rPr>
              <a:t>explicitly learn the probability density function </a:t>
            </a:r>
            <a:r>
              <a:rPr lang="en-US" b="0" i="0" dirty="0">
                <a:solidFill>
                  <a:srgbClr val="1F1F1F"/>
                </a:solidFill>
                <a:effectLst/>
                <a:latin typeface="-apple-system"/>
              </a:rPr>
              <a:t>of real data, P(X).</a:t>
            </a:r>
          </a:p>
          <a:p>
            <a:endParaRPr lang="en-US" b="0" i="0" dirty="0">
              <a:solidFill>
                <a:srgbClr val="1F1F1F"/>
              </a:solidFill>
              <a:effectLst/>
              <a:latin typeface="MathJax_Main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MathJax_Main"/>
              </a:rPr>
              <a:t> In L</a:t>
            </a:r>
            <a:r>
              <a:rPr lang="en-US" b="0" i="0" dirty="0">
                <a:solidFill>
                  <a:srgbClr val="1F1F1F"/>
                </a:solidFill>
                <a:effectLst/>
                <a:latin typeface="-apple-system"/>
              </a:rPr>
              <a:t>atent variables, not </a:t>
            </a:r>
            <a:r>
              <a:rPr lang="en-US" b="0" i="0" dirty="0">
                <a:solidFill>
                  <a:srgbClr val="1F1F1F"/>
                </a:solidFill>
                <a:effectLst/>
                <a:latin typeface="MathJax_Main"/>
              </a:rPr>
              <a:t>possible to calculate PDF as it is intractable to go through </a:t>
            </a:r>
            <a:r>
              <a:rPr lang="en-US" b="0" i="0" dirty="0">
                <a:solidFill>
                  <a:srgbClr val="FF0000"/>
                </a:solidFill>
                <a:effectLst/>
                <a:latin typeface="MathJax_Main"/>
              </a:rPr>
              <a:t>all possible values of the latent code Z</a:t>
            </a:r>
            <a:r>
              <a:rPr lang="en-US" b="0" i="0" dirty="0">
                <a:solidFill>
                  <a:srgbClr val="1F1F1F"/>
                </a:solidFill>
                <a:effectLst/>
                <a:latin typeface="MathJax_Main"/>
              </a:rPr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70FA9-77B1-4B12-B150-A3C28690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323B0-07AA-4B87-9E6A-621EC7D758BD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B4464-4227-6D8A-3336-997BEE44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B956B-4DF1-B41B-EC1B-489C892E6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0FF67D-D826-89F8-D163-4CD2AB827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VAEs vs Flow-based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31D8D-7E31-02D0-6A5B-660B166B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733" y="2133600"/>
            <a:ext cx="4382218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9296FD-2BC5-90F6-C6D2-AA82F20DA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247" y="3981958"/>
            <a:ext cx="5805506" cy="255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80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EF0929-F328-2D71-EABD-BDEF3BA9E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Finding the exact </a:t>
            </a:r>
            <a:r>
              <a:rPr lang="en-US" sz="3200" dirty="0">
                <a:solidFill>
                  <a:srgbClr val="FF0000"/>
                </a:solidFill>
              </a:rPr>
              <a:t>P(x) of the real data may be desirable</a:t>
            </a:r>
            <a:r>
              <a:rPr lang="en-US" sz="3200" dirty="0"/>
              <a:t>. </a:t>
            </a:r>
          </a:p>
          <a:p>
            <a:r>
              <a:rPr lang="en-US" sz="3200" dirty="0"/>
              <a:t>Useful for tasks such as sampling unobserved but </a:t>
            </a:r>
            <a:r>
              <a:rPr lang="en-US" sz="3200" dirty="0">
                <a:solidFill>
                  <a:srgbClr val="0070C0"/>
                </a:solidFill>
              </a:rPr>
              <a:t>realistic data generation, density estimation, fill in incomplete data samples</a:t>
            </a:r>
            <a:r>
              <a:rPr lang="en-US" sz="3200" dirty="0"/>
              <a:t>, etc.</a:t>
            </a:r>
          </a:p>
          <a:p>
            <a:r>
              <a:rPr lang="en-US" sz="3200" b="0" i="0" dirty="0">
                <a:solidFill>
                  <a:srgbClr val="00B050"/>
                </a:solidFill>
                <a:effectLst/>
                <a:latin typeface="-apple-system"/>
              </a:rPr>
              <a:t>Flow-based generative models</a:t>
            </a:r>
            <a:r>
              <a:rPr lang="en-US" sz="3200" b="0" i="0" dirty="0">
                <a:solidFill>
                  <a:srgbClr val="1F1F1F"/>
                </a:solidFill>
                <a:effectLst/>
                <a:latin typeface="-apple-system"/>
              </a:rPr>
              <a:t> estimate the P(x) of data with the help of </a:t>
            </a:r>
            <a:r>
              <a:rPr lang="en-US" sz="3200" b="1" i="0" u="none" strike="noStrike" dirty="0">
                <a:effectLst/>
                <a:latin typeface="-apple-system"/>
              </a:rPr>
              <a:t>normalizing flows</a:t>
            </a:r>
            <a:endParaRPr lang="en-US" sz="3200" u="none" strike="noStrike" dirty="0">
              <a:solidFill>
                <a:srgbClr val="1F1F1F"/>
              </a:solidFill>
              <a:latin typeface="-apple-system"/>
            </a:endParaRPr>
          </a:p>
          <a:p>
            <a:pPr lvl="1"/>
            <a:r>
              <a:rPr lang="en-US" sz="2800" b="0" i="0" dirty="0">
                <a:solidFill>
                  <a:srgbClr val="1F1F1F"/>
                </a:solidFill>
                <a:effectLst/>
                <a:latin typeface="-apple-system"/>
              </a:rPr>
              <a:t>Normalizing Flow is a powerful statistics tool for </a:t>
            </a:r>
            <a:r>
              <a:rPr lang="en-US" sz="2800" b="0" i="0" dirty="0">
                <a:solidFill>
                  <a:srgbClr val="FFC000"/>
                </a:solidFill>
                <a:effectLst/>
                <a:latin typeface="-apple-system"/>
              </a:rPr>
              <a:t>density estimation</a:t>
            </a:r>
            <a:r>
              <a:rPr lang="en-US" sz="2800" b="0" i="0" dirty="0">
                <a:solidFill>
                  <a:srgbClr val="1F1F1F"/>
                </a:solidFill>
                <a:effectLst/>
                <a:latin typeface="-apple-system"/>
              </a:rPr>
              <a:t>. </a:t>
            </a:r>
          </a:p>
          <a:p>
            <a:r>
              <a:rPr lang="en-US" sz="3200" dirty="0">
                <a:solidFill>
                  <a:srgbClr val="1F1F1F"/>
                </a:solidFill>
                <a:latin typeface="-apple-system"/>
              </a:rPr>
              <a:t>Flow-based models learn p(x) by </a:t>
            </a:r>
            <a:r>
              <a:rPr lang="en-US" sz="3200" dirty="0">
                <a:solidFill>
                  <a:srgbClr val="0F22B1"/>
                </a:solidFill>
                <a:latin typeface="-apple-system"/>
              </a:rPr>
              <a:t>optimizing the log-likelihood</a:t>
            </a:r>
            <a:r>
              <a:rPr lang="en-US" sz="3200" dirty="0">
                <a:solidFill>
                  <a:srgbClr val="1F1F1F"/>
                </a:solidFill>
                <a:latin typeface="-apple-system"/>
              </a:rPr>
              <a:t>.</a:t>
            </a:r>
            <a:endParaRPr lang="en-US" sz="3200" b="0" i="0" dirty="0">
              <a:solidFill>
                <a:srgbClr val="1F1F1F"/>
              </a:solidFill>
              <a:effectLst/>
              <a:latin typeface="-apple-system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D1F7-E74F-A55D-4A7A-0C54C9B4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25C3-2846-4DDE-A8AB-906DBB32A68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409D1-4318-796F-4A0B-07E4DF46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015A5-3F32-DA37-4F90-448A6267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DE782A-25C1-C6D8-2BED-A6BBF391D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VAEs vs Flow-based models</a:t>
            </a:r>
          </a:p>
        </p:txBody>
      </p:sp>
    </p:spTree>
    <p:extLst>
      <p:ext uri="{BB962C8B-B14F-4D97-AF65-F5344CB8AC3E}">
        <p14:creationId xmlns:p14="http://schemas.microsoft.com/office/powerpoint/2010/main" val="543152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6295" y="1877212"/>
            <a:ext cx="7351655" cy="37283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1738" y="6223984"/>
            <a:ext cx="5184433" cy="213413"/>
          </a:xfrm>
          <a:prstGeom prst="rect">
            <a:avLst/>
          </a:prstGeom>
        </p:spPr>
        <p:txBody>
          <a:bodyPr vert="horz" wrap="square" lIns="0" tIns="18118" rIns="0" bIns="0" rtlCol="0">
            <a:spAutoFit/>
          </a:bodyPr>
          <a:lstStyle/>
          <a:p>
            <a:pPr marL="13421">
              <a:spcBef>
                <a:spcPts val="143"/>
              </a:spcBef>
            </a:pPr>
            <a:r>
              <a:rPr sz="1268" dirty="0">
                <a:solidFill>
                  <a:srgbClr val="999999"/>
                </a:solidFill>
                <a:latin typeface="Noto Sans"/>
                <a:cs typeface="Noto Sans"/>
              </a:rPr>
              <a:t>Lilian</a:t>
            </a:r>
            <a:r>
              <a:rPr sz="1268" spc="37" dirty="0">
                <a:solidFill>
                  <a:srgbClr val="999999"/>
                </a:solidFill>
                <a:latin typeface="Noto Sans"/>
                <a:cs typeface="Noto Sans"/>
              </a:rPr>
              <a:t> </a:t>
            </a:r>
            <a:r>
              <a:rPr sz="1268" dirty="0">
                <a:solidFill>
                  <a:srgbClr val="999999"/>
                </a:solidFill>
                <a:latin typeface="Noto Sans"/>
                <a:cs typeface="Noto Sans"/>
              </a:rPr>
              <a:t>Weng,</a:t>
            </a:r>
            <a:r>
              <a:rPr sz="1268" spc="37" dirty="0">
                <a:solidFill>
                  <a:srgbClr val="999999"/>
                </a:solidFill>
                <a:latin typeface="Noto Sans"/>
                <a:cs typeface="Noto Sans"/>
              </a:rPr>
              <a:t> </a:t>
            </a:r>
            <a:r>
              <a:rPr sz="1268" dirty="0">
                <a:solidFill>
                  <a:srgbClr val="999999"/>
                </a:solidFill>
                <a:latin typeface="Noto Sans"/>
                <a:cs typeface="Noto Sans"/>
              </a:rPr>
              <a:t>"</a:t>
            </a:r>
            <a:r>
              <a:rPr sz="1268" u="sng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Flow-based</a:t>
            </a:r>
            <a:r>
              <a:rPr sz="1268" u="sng" spc="42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 </a:t>
            </a:r>
            <a:r>
              <a:rPr sz="1268" u="sng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Deep</a:t>
            </a:r>
            <a:r>
              <a:rPr sz="1268" u="sng" spc="37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 </a:t>
            </a:r>
            <a:r>
              <a:rPr sz="1268" u="sng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Generative</a:t>
            </a:r>
            <a:r>
              <a:rPr sz="1268" u="sng" spc="42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 </a:t>
            </a:r>
            <a:r>
              <a:rPr sz="1268" u="sng" dirty="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Noto Sans"/>
                <a:cs typeface="Noto Sans"/>
                <a:hlinkClick r:id="rId3"/>
              </a:rPr>
              <a:t>Models</a:t>
            </a:r>
            <a:r>
              <a:rPr sz="1268" dirty="0">
                <a:solidFill>
                  <a:srgbClr val="999999"/>
                </a:solidFill>
                <a:latin typeface="Noto Sans"/>
                <a:cs typeface="Noto Sans"/>
              </a:rPr>
              <a:t>,"</a:t>
            </a:r>
            <a:r>
              <a:rPr sz="1268" spc="37" dirty="0">
                <a:solidFill>
                  <a:srgbClr val="999999"/>
                </a:solidFill>
                <a:latin typeface="Noto Sans"/>
                <a:cs typeface="Noto Sans"/>
              </a:rPr>
              <a:t> </a:t>
            </a:r>
            <a:r>
              <a:rPr sz="1268" i="1" dirty="0">
                <a:solidFill>
                  <a:srgbClr val="999999"/>
                </a:solidFill>
                <a:latin typeface="Noto Sans"/>
                <a:cs typeface="Noto Sans"/>
              </a:rPr>
              <a:t>blog</a:t>
            </a:r>
            <a:r>
              <a:rPr sz="1268" i="1" spc="37" dirty="0">
                <a:solidFill>
                  <a:srgbClr val="999999"/>
                </a:solidFill>
                <a:latin typeface="Noto Sans"/>
                <a:cs typeface="Noto Sans"/>
              </a:rPr>
              <a:t> </a:t>
            </a:r>
            <a:r>
              <a:rPr sz="1268" i="1" dirty="0">
                <a:solidFill>
                  <a:srgbClr val="999999"/>
                </a:solidFill>
                <a:latin typeface="Noto Sans"/>
                <a:cs typeface="Noto Sans"/>
              </a:rPr>
              <a:t>post</a:t>
            </a:r>
            <a:r>
              <a:rPr sz="1268" dirty="0">
                <a:solidFill>
                  <a:srgbClr val="999999"/>
                </a:solidFill>
                <a:latin typeface="Noto Sans"/>
                <a:cs typeface="Noto Sans"/>
              </a:rPr>
              <a:t>,</a:t>
            </a:r>
            <a:r>
              <a:rPr sz="1268" spc="42" dirty="0">
                <a:solidFill>
                  <a:srgbClr val="999999"/>
                </a:solidFill>
                <a:latin typeface="Noto Sans"/>
                <a:cs typeface="Noto Sans"/>
              </a:rPr>
              <a:t> </a:t>
            </a:r>
            <a:r>
              <a:rPr sz="1268" spc="-11" dirty="0">
                <a:solidFill>
                  <a:srgbClr val="999999"/>
                </a:solidFill>
                <a:latin typeface="Noto Sans"/>
                <a:cs typeface="Noto Sans"/>
              </a:rPr>
              <a:t>2018.</a:t>
            </a:r>
            <a:endParaRPr sz="1268">
              <a:latin typeface="Noto Sans"/>
              <a:cs typeface="Noto San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430D27-7DE1-7111-5EA1-2E663F38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800" b="0" i="0">
                <a:solidFill>
                  <a:schemeClr val="tx1"/>
                </a:solidFill>
                <a:latin typeface="Noto Sans"/>
                <a:cs typeface="Noto Sans"/>
              </a:defRPr>
            </a:lvl1pPr>
          </a:lstStyle>
          <a:p>
            <a:pPr marL="163830">
              <a:spcBef>
                <a:spcPts val="225"/>
              </a:spcBef>
            </a:pPr>
            <a:fld id="{81D60167-4931-47E6-BA6A-407CBD079E47}" type="slidenum">
              <a:rPr lang="en-US" spc="-50" smtClean="0"/>
              <a:pPr marL="163830">
                <a:spcBef>
                  <a:spcPts val="225"/>
                </a:spcBef>
              </a:pPr>
              <a:t>10</a:t>
            </a:fld>
            <a:endParaRPr spc="-26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D08E0F1-AA3C-208F-0B88-1A590E399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Generative Models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B2206-79D2-A952-9F23-94861CE0A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72B-5F9A-45AF-BDA5-86999429D64C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47AE1-7C68-BD3D-5288-2BAF50D30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3CECE-4E8F-3AB7-E092-BD3D8C72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91CF7-7D92-4A70-989B-2E9EDC032F12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9BE85-8C61-C536-5B41-CCE28ACC8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0DA7F-9BCC-9360-F879-4B5F8038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DE34157-367F-7C95-684E-8C5DB1DB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-apple-system"/>
              </a:rPr>
              <a:t>What is Normalizing Flows?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7389E54E-56F0-93C6-E179-1DC6E28F2613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609600" y="1600201"/>
            <a:ext cx="723900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dirty="0"/>
              <a:t>A normalizing flow transforms a </a:t>
            </a:r>
            <a:r>
              <a:rPr lang="en-US" dirty="0">
                <a:solidFill>
                  <a:srgbClr val="FF0000"/>
                </a:solidFill>
              </a:rPr>
              <a:t>simple distribution into a complex</a:t>
            </a:r>
            <a:r>
              <a:rPr lang="en-US" dirty="0"/>
              <a:t> one by applying a sequence of </a:t>
            </a:r>
            <a:r>
              <a:rPr lang="en-US" dirty="0">
                <a:solidFill>
                  <a:srgbClr val="0070C0"/>
                </a:solidFill>
              </a:rPr>
              <a:t>invertible transformation functions</a:t>
            </a:r>
            <a:r>
              <a:rPr lang="en-US" dirty="0"/>
              <a:t>. </a:t>
            </a:r>
          </a:p>
          <a:p>
            <a:r>
              <a:rPr lang="en-US" dirty="0"/>
              <a:t>Flowing through a </a:t>
            </a:r>
            <a:r>
              <a:rPr lang="en-US" dirty="0">
                <a:solidFill>
                  <a:srgbClr val="00B050"/>
                </a:solidFill>
              </a:rPr>
              <a:t>chain of transformations</a:t>
            </a:r>
          </a:p>
          <a:p>
            <a:r>
              <a:rPr lang="en-US" dirty="0"/>
              <a:t>We repeatedly substitute the variable for the new one according to the </a:t>
            </a:r>
            <a:r>
              <a:rPr lang="en-US" dirty="0">
                <a:solidFill>
                  <a:srgbClr val="FFC000"/>
                </a:solidFill>
              </a:rPr>
              <a:t>change of variables theorem</a:t>
            </a:r>
            <a:r>
              <a:rPr lang="en-US" dirty="0"/>
              <a:t> to get the probability distribution of the final target variable.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07C3E3C-ED1C-BBA9-0F57-044CD242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09800"/>
            <a:ext cx="4048125" cy="334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95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E4B83B-4E03-4E92-B6A6-BAC77A851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5D2D8-A677-8F37-2F29-19B93A3D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96D0A-5CB9-4D4F-B748-2A1A41147803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28350-E5D6-6811-0207-9AD56D6D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0002F-E8EA-C376-94E3-E71CB952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B21963-90AC-6C93-CDD1-B7E5C01F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-apple-system"/>
              </a:rPr>
              <a:t>What is Normalizing Flows?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FF3F75-82B1-30E3-047E-C15C56F25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81200"/>
            <a:ext cx="10399059" cy="313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725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867F7C-AF41-786A-A3B3-7428B92E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F22B1"/>
                </a:solidFill>
              </a:rPr>
              <a:t>Change of variables formula</a:t>
            </a:r>
          </a:p>
          <a:p>
            <a:r>
              <a:rPr lang="en-US" dirty="0">
                <a:solidFill>
                  <a:srgbClr val="0F22B1"/>
                </a:solidFill>
              </a:rPr>
              <a:t>Jacobian matrix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ED996-E1C8-3C0B-4A45-8A22554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879F0-FB0D-41C5-B5C8-C55C1C0DB5F1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5948C-7082-4DDA-84E5-2F126F5A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A5248-44C1-DE7D-819C-E2776897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FE5FEA7-6FAB-097A-BA9D-77094902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Basics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D2436A-B1EC-A4A7-10CD-4D62AB4B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33" y="2971800"/>
            <a:ext cx="10253133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28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E4B52F-4C6C-3709-EC73-2F1546A63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772400" cy="4525963"/>
          </a:xfrm>
        </p:spPr>
        <p:txBody>
          <a:bodyPr>
            <a:normAutofit/>
          </a:bodyPr>
          <a:lstStyle/>
          <a:p>
            <a:r>
              <a:rPr lang="en-US" dirty="0"/>
              <a:t>The solution can be obtained by the </a:t>
            </a:r>
            <a:r>
              <a:rPr lang="en-US" dirty="0">
                <a:solidFill>
                  <a:srgbClr val="0F22B1"/>
                </a:solidFill>
              </a:rPr>
              <a:t>change of variables formula</a:t>
            </a:r>
            <a:r>
              <a:rPr lang="en-US" dirty="0"/>
              <a:t> to calculate this distribution.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</a:t>
            </a:r>
            <a:r>
              <a:rPr lang="en-US" dirty="0">
                <a:solidFill>
                  <a:srgbClr val="FF0000"/>
                </a:solidFill>
              </a:rPr>
              <a:t>f is an invertible function </a:t>
            </a:r>
            <a:r>
              <a:rPr lang="en-US" dirty="0"/>
              <a:t>(a bijection). </a:t>
            </a:r>
          </a:p>
          <a:p>
            <a:pPr lvl="1"/>
            <a:r>
              <a:rPr lang="en-US" dirty="0"/>
              <a:t>Invertible function maps </a:t>
            </a:r>
            <a:r>
              <a:rPr lang="en-US" dirty="0">
                <a:solidFill>
                  <a:srgbClr val="00B050"/>
                </a:solidFill>
              </a:rPr>
              <a:t>one point to another distinctive point, and we can always invert the function to obtain the original point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ABDB4-6CDF-146E-A0A5-8F8879FC6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67CBE-C4BF-410E-9D51-00573C40D21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B2A58-790F-0B76-C021-322532F2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C7CD1-FD84-B749-1D74-06040C7F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6F69E6-79E2-0606-B331-D5F2BFC6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DCECB8-BDAE-26DE-8F23-40BA0B344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911157"/>
            <a:ext cx="4545512" cy="10356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C5371-9A35-A4C1-F244-CBC634A52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132" y="2110581"/>
            <a:ext cx="3860891" cy="30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0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BEFCEA-C981-8209-DA0C-17C752A40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E691A-B87D-BF82-FC4F-F14B1EA4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5A7E4-A61F-4C37-9985-74AF0434027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3D0FD-3BFB-F546-7E2E-961EE6EE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1895C-F891-8CAC-B92C-F074E5CC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63BBC9A-2540-9FA9-3E02-DA38229F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B95446-AA2D-F40F-37E2-DD472EFD1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341491"/>
            <a:ext cx="6012701" cy="38789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4644AE-07CE-1593-862D-A8E9FCDB1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663694"/>
            <a:ext cx="2159000" cy="4878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2D78E6-96D4-94B4-C3DD-16867312CC8C}"/>
                  </a:ext>
                </a:extLst>
              </p:cNvPr>
              <p:cNvSpPr txBox="1"/>
              <p:nvPr/>
            </p:nvSpPr>
            <p:spPr>
              <a:xfrm>
                <a:off x="8026400" y="1883799"/>
                <a:ext cx="3429000" cy="13880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𝑥</m:t>
                      </m:r>
                      <m:r>
                        <a:rPr lang="en-US" sz="2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= </m:t>
                      </m:r>
                      <m:r>
                        <a:rPr lang="en-US" sz="2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𝑎𝑧</m:t>
                      </m:r>
                      <m:r>
                        <a:rPr lang="en-US" sz="2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+ </m:t>
                      </m:r>
                      <m:r>
                        <a:rPr lang="en-US" sz="200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𝑏</m:t>
                      </m:r>
                    </m:oMath>
                  </m:oMathPara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𝑁𝑒𝑤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𝑚𝑒𝑎𝑛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=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𝑎</m:t>
                      </m:r>
                      <m:sSub>
                        <m:sSub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μ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𝑧</m:t>
                          </m:r>
                        </m:sub>
                      </m:sSub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+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𝑏</m:t>
                      </m:r>
                    </m:oMath>
                  </m:oMathPara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𝑁𝑒𝑤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𝑣𝑎𝑟𝑖𝑎𝑛𝑐𝑒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0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r>
                        <a:rPr lang="en-US" sz="20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𝑎</m:t>
                      </m:r>
                      <m:sSubSup>
                        <m:sSubSupPr>
                          <m:ctrlP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σ</m:t>
                          </m:r>
                        </m:e>
                        <m:sub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𝑧</m:t>
                          </m:r>
                        </m:sub>
                        <m:sup>
                          <m:r>
                            <a:rPr lang="en-US" sz="20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6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22D78E6-96D4-94B4-C3DD-16867312C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00" y="1883799"/>
                <a:ext cx="3429000" cy="1388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8262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D47D76-03CA-1993-A8C6-C65981636C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10600" y="1714490"/>
                <a:ext cx="3429000" cy="1219199"/>
              </a:xfr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𝑧</m:t>
                          </m:r>
                        </m:sub>
                      </m:sSub>
                      <m:d>
                        <m:d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d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𝑧</m:t>
                          </m:r>
                        </m:e>
                      </m:d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US" sz="2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π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pPr>
                        <m:e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8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D47D76-03CA-1993-A8C6-C65981636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10600" y="1714490"/>
                <a:ext cx="3429000" cy="1219199"/>
              </a:xfrm>
              <a:blipFill>
                <a:blip r:embed="rId2"/>
                <a:stretch>
                  <a:fillRect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547EAD-F1A0-8A2B-1ABD-18266073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8090-BF11-47D9-8112-619C9F898DF1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1ACCF-C212-697C-8D22-0DE9155B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42529-4C67-19A9-CC2B-4DFEC254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238194-2873-E367-1DAE-7EDA6767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F5869-0B1E-820B-ED1F-EEE1EE08C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552550"/>
            <a:ext cx="4054191" cy="8535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836565-1529-275E-E4C3-A76342B89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07" y="2541652"/>
            <a:ext cx="7445385" cy="10440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A2EE61-93FA-53E9-DA63-935769D3E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2241" y="3619616"/>
            <a:ext cx="3186718" cy="77338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B4A8E7-26AB-2692-09C3-976CE3E11F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580696"/>
            <a:ext cx="9496425" cy="12096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56D79F-75A6-64DD-E362-778F0F6D4D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9798" y="3579076"/>
            <a:ext cx="2622602" cy="658305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41273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132958-815A-74F2-1776-1C95E195B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indicates that we can calculate a </a:t>
            </a:r>
            <a:r>
              <a:rPr lang="en-US" dirty="0">
                <a:solidFill>
                  <a:srgbClr val="00B050"/>
                </a:solidFill>
              </a:rPr>
              <a:t>new distribution of a continuous random variable </a:t>
            </a:r>
            <a:r>
              <a:rPr lang="en-US" dirty="0"/>
              <a:t>by applying a known bijective transformation f to a random variable </a:t>
            </a:r>
            <a:r>
              <a:rPr lang="en-US" dirty="0">
                <a:solidFill>
                  <a:srgbClr val="FF0000"/>
                </a:solidFill>
              </a:rPr>
              <a:t>with a known distribution</a:t>
            </a:r>
            <a:r>
              <a:rPr lang="en-US" dirty="0"/>
              <a:t>     </a:t>
            </a:r>
            <a:r>
              <a:rPr lang="en-US" dirty="0">
                <a:solidFill>
                  <a:srgbClr val="0099CC"/>
                </a:solidFill>
              </a:rPr>
              <a:t>z ∼ p(z).</a:t>
            </a:r>
          </a:p>
          <a:p>
            <a:pPr marL="0" indent="0">
              <a:buNone/>
            </a:pPr>
            <a:r>
              <a:rPr lang="en-US" dirty="0"/>
              <a:t>						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9F15E0-A033-573C-A071-E276F78A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4638-CCE5-4B5A-B5F9-182FA827C795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5FA9D-2D12-38B6-A78B-3709EC94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43E89-4341-12F8-943D-BC4CA0ED5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7B181C-CBA1-EACA-A6C7-A15F504A6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5C9946-B6F8-4956-DDFB-0A5E47086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62" y="3733800"/>
            <a:ext cx="7940615" cy="239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89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A29EC7-FADD-B194-3D03-D644B40C8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690" y="1600200"/>
            <a:ext cx="5144619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C59B72-7D93-899B-58FE-D7E3C26F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E5F2-1726-4EDC-9C8A-B3F23272A265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F4C5A-E664-CE03-0279-706CA336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41CA5-F407-94C8-65A0-206A34CE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F13CCD4-F27F-3F5F-8B73-E7CB2A34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</p:spTree>
    <p:extLst>
      <p:ext uri="{BB962C8B-B14F-4D97-AF65-F5344CB8AC3E}">
        <p14:creationId xmlns:p14="http://schemas.microsoft.com/office/powerpoint/2010/main" val="921758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5013C3-06F2-AC1E-1A07-4564C8694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E3863-DA42-236F-A423-DCD29CD1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22ED-70C4-4876-B1AA-5D062C8E5C52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70642-E13A-1390-973C-D018E4FF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0FC82-927C-AE25-7ABF-0BDFDBE52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BE2D80-F525-9114-230B-FB49955F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Jacobian matrix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CEADF3-0EEA-F682-C0F7-224124A46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34457"/>
            <a:ext cx="10219306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96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2E05F0-FC57-3B79-D979-98BDC65D1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004DDC-F025-39D8-63C3-7ACB0B2DB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B11B2-7762-4334-9534-794054D48336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5CC9A4-546E-1A74-DB1E-039EFB5D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03D4F-9D48-6CB3-40DD-1F9008CE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D637FE-23E9-ED22-D699-6C7C9509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 theorem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665E85-63D2-5649-E5DA-DF5C2F74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1" y="1634412"/>
            <a:ext cx="10989739" cy="415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28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CD91FE-6E8F-FB4E-8741-437B2F11C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981200"/>
            <a:ext cx="8991600" cy="360045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A12CA-D193-5601-789A-0F5B9D9B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017FD-A955-4CA5-AABE-869A6A21200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4DDE9-9BB0-4C24-6260-D49ECCCB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8BA0B-204A-6FC7-6964-F4D9C339E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07FB959-6E92-DF73-5310-D0B98978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</p:spTree>
    <p:extLst>
      <p:ext uri="{BB962C8B-B14F-4D97-AF65-F5344CB8AC3E}">
        <p14:creationId xmlns:p14="http://schemas.microsoft.com/office/powerpoint/2010/main" val="1172247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7934A-A485-C987-6CCC-18B1CEBC7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F688-2443-4EDC-8F7E-1FE0CEF72B12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6E7CA-2B24-5218-6411-8FCF664E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39BFE-EAB5-E6B3-BF18-1E307BFD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777BFE1-F0D5-D619-B9F7-B0E552887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70" y="500763"/>
            <a:ext cx="10972800" cy="838200"/>
          </a:xfrm>
        </p:spPr>
        <p:txBody>
          <a:bodyPr/>
          <a:lstStyle/>
          <a:p>
            <a:r>
              <a:rPr lang="en-US" dirty="0"/>
              <a:t>Change of Variables for Deep Generative Modeling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4BF8178-A44E-3E46-3F78-2E6DF1527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D03D78-69DF-F9A5-E026-4D84A750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24" y="1354287"/>
            <a:ext cx="11158376" cy="514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87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441DA5-7E35-6AED-7F6E-D998B3F1DC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05000"/>
            <a:ext cx="10549214" cy="334530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2CB9C6-95AC-238F-7DE3-3C2E14E4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4053D-59C3-4401-BC0F-9FD7C9C9D70A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D5AE7-F42A-79BC-9876-DB16962C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FC20F-A92E-454F-BFB8-D29FD5B2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263D9B0-329E-945C-89C5-9132AFA6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for Deep Generative Modeling</a:t>
            </a:r>
          </a:p>
        </p:txBody>
      </p:sp>
    </p:spTree>
    <p:extLst>
      <p:ext uri="{BB962C8B-B14F-4D97-AF65-F5344CB8AC3E}">
        <p14:creationId xmlns:p14="http://schemas.microsoft.com/office/powerpoint/2010/main" val="3543912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C6C598B-B6B4-EC86-4F3F-204F1327D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 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18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The expression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ln</m:t>
                        </m:r>
                      </m:fName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𝑁</m:t>
                        </m:r>
                      </m:e>
                    </m:func>
                    <m:d>
                      <m:d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0,</m:t>
                        </m:r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𝐼</m:t>
                        </m:r>
                      </m:e>
                    </m:d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 </m:t>
                    </m:r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essentially evaluates how well the transformed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 = </m:t>
                    </m:r>
                    <m:sSup>
                      <m:sSup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matches the standard normal distribution.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It acts similarly to a </a:t>
                </a:r>
                <a:r>
                  <a:rPr lang="en-US" sz="2400" kern="10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Mean Square Error (MSE) loss function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It measures the "distance" between the </a:t>
                </a:r>
                <a:r>
                  <a:rPr lang="en-US" sz="240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distribution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pPr>
                      <m:e>
                        <m:r>
                          <a:rPr lang="en-US" sz="2400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𝑓</m:t>
                        </m:r>
                      </m:e>
                      <m:sup>
                        <m:r>
                          <a:rPr lang="en-US" sz="2400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400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kern="100" dirty="0">
                    <a:solidFill>
                      <a:srgbClr val="00B0F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and the normal distribution</a:t>
                </a: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 </a:t>
                </a:r>
              </a:p>
              <a:p>
                <a:r>
                  <a:rPr lang="en-US" sz="2400" dirty="0" err="1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Enourages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 the </a:t>
                </a:r>
                <a:r>
                  <a:rPr lang="en-US" sz="2400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inverse-transformed data to follow a normal distribution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C6C598B-B6B4-EC86-4F3F-204F1327D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546E2-407F-149E-C956-31B2FCE1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955F-72D5-4F0E-9250-483B03CC6122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7570F7-B848-BBE1-7411-219BF4557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5E281-1A69-0C0F-BF5F-230D2AA0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CDD38D-2EAD-7EAB-EB3B-58286700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for Deep Generative Modeling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260638-70A6-B1F6-3DA1-B095DA1BA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1638602"/>
            <a:ext cx="8592745" cy="3790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C4CA91-5FBD-2E7D-EA12-AD2462302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843" y="2056095"/>
            <a:ext cx="7035056" cy="125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0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6BDB90-B7A1-A419-A83D-5F5D1A4A85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b="1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Second Part: </a:t>
                </a:r>
                <a14:m>
                  <m:oMath xmlns:m="http://schemas.openxmlformats.org/officeDocument/2006/math">
                    <m:r>
                      <a:rPr lang="en-US" sz="24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4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naryPr>
                      <m:sub>
                        <m:r>
                          <a:rPr lang="en-US" sz="24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𝒊</m:t>
                        </m:r>
                        <m:r>
                          <a:rPr lang="en-US" sz="24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=</m:t>
                        </m:r>
                        <m:r>
                          <a:rPr lang="en-US" sz="24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𝑲</m:t>
                        </m:r>
                      </m:sup>
                      <m:e>
                        <m:func>
                          <m:funcPr>
                            <m:ctrlPr>
                              <a:rPr lang="en-US" sz="2400" b="1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funcPr>
                          <m:fName>
                            <m:r>
                              <a:rPr lang="en-US" sz="2400" b="1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𝒍𝒏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</a:rPr>
                                      <m:t>𝑱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  <m:t>𝒇</m:t>
                                        </m:r>
                                      </m:e>
                                      <m:sub>
                                        <m: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b="1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  <m:t>𝒛</m:t>
                                        </m:r>
                                      </m:e>
                                      <m:sub>
                                        <m: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  <m:t>𝒊</m:t>
                                        </m:r>
                                        <m: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b="1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sz="2400" b="1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It describes for the change in volume (or density) as the data is transformed from one space to another. 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This part acts as a regularizer in the model</a:t>
                </a: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400" kern="100" dirty="0">
                    <a:effectLst/>
                    <a:latin typeface="Times New Roman" panose="02020603050405020304" pitchFamily="18" charset="0"/>
                    <a:ea typeface="Aptos" panose="020B0004020202020204" pitchFamily="34" charset="0"/>
                  </a:rPr>
                  <a:t>Jacobian determinant penalizes large distortions of space. </a:t>
                </a:r>
              </a:p>
              <a:p>
                <a:endParaRPr lang="en-US" sz="3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6BDB90-B7A1-A419-A83D-5F5D1A4A85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33" t="-135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18B84-368B-D58F-063E-77248675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60555-321F-455C-A709-0D1F2693242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DD3F1-191F-3123-7053-0F9901B5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02B0D-4F1C-3589-FD1E-4DFC14DB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D5C0927-A021-0D03-FFF2-0DB0923B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for Deep Generative Modeling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F75C7A56-56E7-B118-06F8-5227CDC28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201406"/>
            <a:ext cx="6662536" cy="211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2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182D3B-653A-0605-90C8-9F4E4F253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6B345D-D5F6-26BA-3D57-8DD13A0F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E8D90-41D4-4A08-ADBC-F8DAA1A5DA97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79D3E-DF7C-3827-622C-13306ABD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2FE41-0965-FA8F-F974-90060B07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67E2-B942-F72B-6111-95D10252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D136FD-17DD-5BF9-54CE-329B07E2D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77672"/>
            <a:ext cx="9658350" cy="4429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5307B7-96C9-AAA9-99F5-C8DA25413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8538"/>
            <a:ext cx="3025402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950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119224-A53D-62DD-73A1-94F7BCED9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of variables for expressing density functions: </a:t>
            </a:r>
            <a:r>
              <a:rPr lang="en-US" dirty="0">
                <a:solidFill>
                  <a:srgbClr val="FF0000"/>
                </a:solidFill>
              </a:rPr>
              <a:t>Done</a:t>
            </a:r>
          </a:p>
          <a:p>
            <a:r>
              <a:rPr lang="en-US" dirty="0">
                <a:solidFill>
                  <a:srgbClr val="0099CC"/>
                </a:solidFill>
              </a:rPr>
              <a:t>How to model the invertible transformations? </a:t>
            </a:r>
          </a:p>
          <a:p>
            <a:r>
              <a:rPr lang="en-US" dirty="0">
                <a:solidFill>
                  <a:srgbClr val="0099CC"/>
                </a:solidFill>
              </a:rPr>
              <a:t>What is the difficulty here? </a:t>
            </a:r>
          </a:p>
          <a:p>
            <a:r>
              <a:rPr lang="en-US" dirty="0"/>
              <a:t>We can use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neural networks </a:t>
            </a:r>
          </a:p>
          <a:p>
            <a:pPr lvl="1"/>
            <a:r>
              <a:rPr lang="en-US" dirty="0"/>
              <a:t>We must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pick an invertible neural network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Calculating the </a:t>
            </a:r>
            <a:r>
              <a:rPr lang="en-US" dirty="0">
                <a:solidFill>
                  <a:srgbClr val="FF0000"/>
                </a:solidFill>
              </a:rPr>
              <a:t>second part is non-trivial and computationally intractable</a:t>
            </a:r>
          </a:p>
          <a:p>
            <a:r>
              <a:rPr lang="en-US" dirty="0"/>
              <a:t>Neural networks that are both </a:t>
            </a:r>
            <a:r>
              <a:rPr lang="en-US" dirty="0">
                <a:solidFill>
                  <a:srgbClr val="7030A0"/>
                </a:solidFill>
              </a:rPr>
              <a:t>invertible and the logarithm of a Jacobian-determinant is (relatively) easy to calculate</a:t>
            </a:r>
            <a:r>
              <a:rPr lang="en-US" dirty="0"/>
              <a:t>.</a:t>
            </a:r>
            <a:endParaRPr lang="en-US" dirty="0">
              <a:solidFill>
                <a:srgbClr val="0099CC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79A0A-3A52-8220-771F-CB75479B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771A-96AE-4DA1-B95F-C16A65C1B8D2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2E403-1150-99EC-FF3C-7ACEB4A17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A048-E37B-B44F-DB4C-EF3EF486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9DA41D-13E7-FB6A-25B8-5C7176E26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for Deep Generative Modeling</a:t>
            </a:r>
          </a:p>
        </p:txBody>
      </p:sp>
    </p:spTree>
    <p:extLst>
      <p:ext uri="{BB962C8B-B14F-4D97-AF65-F5344CB8AC3E}">
        <p14:creationId xmlns:p14="http://schemas.microsoft.com/office/powerpoint/2010/main" val="26180453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5080-AFD2-BA79-F612-F78E0F88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823C3-DBB2-441E-99C1-EB74A4228AA6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9F5EF-BC43-3120-B253-23F7576C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C0101-DADE-C58A-9623-9E01638D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5B41BE-DA5F-8634-8619-A6B80AAF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of Variables for Deep Generative Modeling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CF993A-F881-292D-8DB2-3B16C4D32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6E30E2-2BAA-B6CA-2744-5C4A759EF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21972"/>
            <a:ext cx="1108941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64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B5A4A4-72DD-6C60-F8A4-46823FA2F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resulting model that consists of invertible transformations (neural networks) with tractable Jacobian-determinants is referred to as </a:t>
            </a:r>
            <a:r>
              <a:rPr lang="en-US" dirty="0">
                <a:solidFill>
                  <a:srgbClr val="00B050"/>
                </a:solidFill>
              </a:rPr>
              <a:t>Normalizing flows or flow-based models.</a:t>
            </a:r>
          </a:p>
          <a:p>
            <a:r>
              <a:rPr lang="en-US" dirty="0"/>
              <a:t>There are various possible invertible neural networks with tractable Jacobian determinants:</a:t>
            </a:r>
          </a:p>
          <a:p>
            <a:pPr lvl="1"/>
            <a:r>
              <a:rPr lang="en-US" b="0" i="0" dirty="0">
                <a:solidFill>
                  <a:srgbClr val="FF0000"/>
                </a:solidFill>
                <a:effectLst/>
                <a:latin typeface="Noto Sans" panose="020B0502040504020204" pitchFamily="34" charset="0"/>
              </a:rPr>
              <a:t>Non-linear Independent Components Estimation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RealNVP</a:t>
            </a:r>
            <a:r>
              <a:rPr lang="en-US" dirty="0">
                <a:solidFill>
                  <a:srgbClr val="FF0000"/>
                </a:solidFill>
              </a:rPr>
              <a:t>, Real-valued Non-Volume Preserving flows</a:t>
            </a:r>
          </a:p>
          <a:p>
            <a:pPr lvl="1"/>
            <a:r>
              <a:rPr lang="en-US" dirty="0"/>
              <a:t>Planar Normalizing Flows </a:t>
            </a:r>
          </a:p>
          <a:p>
            <a:pPr lvl="1"/>
            <a:r>
              <a:rPr lang="en-US" dirty="0"/>
              <a:t>Sylvester Normalizing Flows </a:t>
            </a:r>
          </a:p>
          <a:p>
            <a:pPr lvl="1"/>
            <a:r>
              <a:rPr lang="en-US" dirty="0"/>
              <a:t>Residual Flows </a:t>
            </a:r>
          </a:p>
          <a:p>
            <a:pPr lvl="1"/>
            <a:r>
              <a:rPr lang="en-US" dirty="0"/>
              <a:t>Invertible </a:t>
            </a:r>
            <a:r>
              <a:rPr lang="en-US" dirty="0" err="1"/>
              <a:t>DenseNets</a:t>
            </a:r>
            <a:r>
              <a:rPr lang="en-US" dirty="0"/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7846C0-2FC3-80F9-2EC5-572D4BBC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D061-D801-4865-BEA3-E297510C528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DC509-7750-C851-B9A4-749DBAB6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36521-8577-03D7-5B42-DFD93DDA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8AD5D5-12EB-1213-A43C-6AF08B98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Normalizing flows</a:t>
            </a:r>
          </a:p>
        </p:txBody>
      </p:sp>
    </p:spTree>
    <p:extLst>
      <p:ext uri="{BB962C8B-B14F-4D97-AF65-F5344CB8AC3E}">
        <p14:creationId xmlns:p14="http://schemas.microsoft.com/office/powerpoint/2010/main" val="1681207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41A2EF-37AE-3293-1B66-9F3E1649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simple yet effective transformation that could be combined with a coupling layer is a </a:t>
            </a:r>
            <a:r>
              <a:rPr lang="en-US" sz="2400" dirty="0">
                <a:solidFill>
                  <a:srgbClr val="00B050"/>
                </a:solidFill>
              </a:rPr>
              <a:t>permutation layer</a:t>
            </a:r>
            <a:r>
              <a:rPr lang="en-US" sz="2400" dirty="0"/>
              <a:t>. </a:t>
            </a:r>
          </a:p>
          <a:p>
            <a:r>
              <a:rPr lang="en-US" sz="2400" dirty="0"/>
              <a:t>Since permutation is volume-preserving, i.e., its Jacobian-determinant is equal to 1</a:t>
            </a:r>
          </a:p>
          <a:p>
            <a:r>
              <a:rPr lang="en-US" sz="2400" dirty="0"/>
              <a:t>We can apply it each time after the coupling layer.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457F63-21AA-FA66-1EB2-16250336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99E5E-E003-4AAD-AFC7-A21A503D77DC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F32DC-9926-AC22-3942-7858907D9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FFE27-4016-A120-3E7F-F6B573D9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25350B-58EF-8E84-DF8D-8F806CC6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 Layers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8B35CB-D012-06CD-A74C-4C88A81D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659626"/>
            <a:ext cx="7370450" cy="281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56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A855AF-B522-CEDC-8BA9-540A32EB4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Flow-based models assume that x is a vector </a:t>
            </a:r>
            <a:r>
              <a:rPr lang="en-US" dirty="0">
                <a:solidFill>
                  <a:srgbClr val="FF0000"/>
                </a:solidFill>
              </a:rPr>
              <a:t>of real-valued random variables</a:t>
            </a:r>
            <a:r>
              <a:rPr lang="en-US" dirty="0"/>
              <a:t>.</a:t>
            </a:r>
          </a:p>
          <a:p>
            <a:r>
              <a:rPr lang="en-US" dirty="0"/>
              <a:t> Many objects are discrete, for instance, images are typically represented as integers (0-255)</a:t>
            </a:r>
          </a:p>
          <a:p>
            <a:r>
              <a:rPr lang="en-US" dirty="0"/>
              <a:t>Adding a uniform noise U to original data, y allows applying </a:t>
            </a:r>
            <a:r>
              <a:rPr lang="en-US" dirty="0">
                <a:solidFill>
                  <a:srgbClr val="FF0000"/>
                </a:solidFill>
              </a:rPr>
              <a:t>density estimation to </a:t>
            </a:r>
            <a:r>
              <a:rPr lang="en-US" b="1" dirty="0">
                <a:solidFill>
                  <a:srgbClr val="FF0000"/>
                </a:solidFill>
              </a:rPr>
              <a:t>x = y + u</a:t>
            </a:r>
            <a:r>
              <a:rPr lang="en-US" dirty="0"/>
              <a:t>.</a:t>
            </a:r>
          </a:p>
          <a:p>
            <a:r>
              <a:rPr lang="en-US" dirty="0"/>
              <a:t>This procedure is known as </a:t>
            </a:r>
            <a:r>
              <a:rPr lang="en-US" dirty="0">
                <a:solidFill>
                  <a:srgbClr val="00B050"/>
                </a:solidFill>
              </a:rPr>
              <a:t>uniform dequantization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C776A6-30CD-60E1-4899-C1E1AF40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BFA35-FD0C-4AD5-8FB9-33391759E53F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F262C-1FE6-C170-CCE5-C9258ACA4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2E3DB-9454-A88C-CC71-DDA009FE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558C83-5B45-6468-4051-D084F02D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Dequantization</a:t>
            </a:r>
          </a:p>
        </p:txBody>
      </p:sp>
    </p:spTree>
    <p:extLst>
      <p:ext uri="{BB962C8B-B14F-4D97-AF65-F5344CB8AC3E}">
        <p14:creationId xmlns:p14="http://schemas.microsoft.com/office/powerpoint/2010/main" val="2101096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B7439B-A0E7-8B85-5597-BE7288BD6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adding u ∈ [−0.5, 0.5]</a:t>
            </a:r>
            <a:r>
              <a:rPr lang="en-US" baseline="30000" dirty="0"/>
              <a:t>2</a:t>
            </a:r>
            <a:r>
              <a:rPr lang="en-US" dirty="0"/>
              <a:t> to each discrete value, we obtain a continuous space and now probabilities originally associated with </a:t>
            </a:r>
            <a:r>
              <a:rPr lang="en-US" dirty="0" err="1"/>
              <a:t>volumeless</a:t>
            </a:r>
            <a:r>
              <a:rPr lang="en-US" dirty="0"/>
              <a:t> points are </a:t>
            </a:r>
            <a:r>
              <a:rPr lang="en-US" dirty="0">
                <a:solidFill>
                  <a:srgbClr val="FF0000"/>
                </a:solidFill>
              </a:rPr>
              <a:t>“spread” across small square regions</a:t>
            </a:r>
            <a:r>
              <a:rPr lang="en-US" dirty="0"/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9B43C-AFBA-558D-8951-ABA7D032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61519-1C55-44CE-AEC1-104233E39C6E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A3C46-D560-53A1-07AA-281DAE39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9065-5670-5056-6626-C7DB755C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EB9A1BA-0ECD-05EB-E7D7-200BFDDC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Dequantization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6154E8-4C33-307B-CB56-325C77CEE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16" y="3186120"/>
            <a:ext cx="8618967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48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E395A1-D5F6-35E5-5242-7DAA778D1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85766-83FB-2905-18BA-239A8FE3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57AD1-0566-4FF9-9BF3-3DB6137948A3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1D7F4F-6702-ACE8-6A0A-D4E0DDC7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E9BA5-FFD8-75C4-2BE3-5B1DEF82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2F06C0-84C1-6147-D99D-15D84E7E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Independent Components Estimation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74A719-B528-57FA-839D-4E4651A89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49" y="1620417"/>
            <a:ext cx="10676447" cy="333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11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2EB1E3-FE18-2F65-FF76-E2D81C1CA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676400"/>
            <a:ext cx="8363476" cy="33528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76937-7505-7B3A-395B-58E681AE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22443-0495-48F0-8038-CC60C65CA90A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4B83-07B4-42F0-9857-AA0264E3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5228BA-29A1-B3E6-1E0B-A1313FBFA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80F4B1-8FD8-8132-C53E-3C8931703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NICE - Additive coupling layers</a:t>
            </a:r>
          </a:p>
        </p:txBody>
      </p:sp>
    </p:spTree>
    <p:extLst>
      <p:ext uri="{BB962C8B-B14F-4D97-AF65-F5344CB8AC3E}">
        <p14:creationId xmlns:p14="http://schemas.microsoft.com/office/powerpoint/2010/main" val="4109188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48C0C54-5F22-AD07-1644-6D66579EE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28800"/>
            <a:ext cx="10364098" cy="386367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20008-7453-5855-48C9-15C77C70D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73A8F-F1D9-4470-865D-6B09B924646E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D94C1-2A68-4DC2-DF21-88B772FC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62E3D-7053-6F08-1595-C2AF4CEE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877C54-9F6B-1A2D-A741-EB3DA1AC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NICE - Additive coupling layers</a:t>
            </a:r>
          </a:p>
        </p:txBody>
      </p:sp>
    </p:spTree>
    <p:extLst>
      <p:ext uri="{BB962C8B-B14F-4D97-AF65-F5344CB8AC3E}">
        <p14:creationId xmlns:p14="http://schemas.microsoft.com/office/powerpoint/2010/main" val="3728365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C7D21B2-9F4D-4802-C928-308F9A773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1305" y="1600200"/>
            <a:ext cx="7229390" cy="4525963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973CF-CC43-2992-AE30-329CA11E5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FEF2-2764-42AE-A911-1E619189AA67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DFE97-6477-7A79-C84B-EFECE1B88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B1ECC-B91B-3DB6-6E2C-4AA11533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7BAD6C-FB8F-99CD-60B4-3EB9A110F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NICE - Experiments on MNIST</a:t>
            </a:r>
          </a:p>
        </p:txBody>
      </p:sp>
    </p:spTree>
    <p:extLst>
      <p:ext uri="{BB962C8B-B14F-4D97-AF65-F5344CB8AC3E}">
        <p14:creationId xmlns:p14="http://schemas.microsoft.com/office/powerpoint/2010/main" val="3768132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4492EB8-3923-9EE6-A145-35A1E623B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981200"/>
            <a:ext cx="9960203" cy="368077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2C043-5BA2-39CA-4FE6-A67648EB6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E4D-DD3E-4FEA-941C-2437FE981CD8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67B41-4C7F-EF29-ADBB-F57874C72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E3198-1032-A810-A9EE-E2ACCF3CC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5FE36E-BDD0-0070-6FC5-C9328248B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RealNVP</a:t>
            </a:r>
            <a:r>
              <a:rPr lang="en-US" dirty="0"/>
              <a:t>: Real-valued Non-Volume Preserving flows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36139D-566B-890E-5123-7E8BAE2F6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284" y="1577305"/>
            <a:ext cx="6134632" cy="4038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550906-2C06-4DDC-6CBE-0ADC627F7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103" y="5526161"/>
            <a:ext cx="8740897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75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0CAC2-ACB3-D50E-AC11-ADA9211A9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BBEBB-C3C7-ABB4-729B-FB43F110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A4C4-6998-4986-9CD5-201AB760311C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5CB09-B82D-E9FA-3684-CEBA767F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A1BEF-1C8C-65D8-75FB-4DB9459F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3B5DDDF-795D-7724-F27C-64CC88BA4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RealNVP</a:t>
            </a:r>
            <a:r>
              <a:rPr lang="en-US" dirty="0"/>
              <a:t> - Affine coupling layers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45F0E7-3D2B-0392-B9C6-BC2BDD96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23528"/>
            <a:ext cx="9115750" cy="363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32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B9DECF-A0EA-4034-1AB9-11C623048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524000"/>
            <a:ext cx="8839200" cy="471146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67FEC-018B-B656-120A-F2B199914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CCA9-24BD-4097-B19B-D961F7635970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C9C13-87BC-3C85-FD78-B417FF83C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0C7AE-7121-5119-1BC4-96AD7EBA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CAEF2-FFAA-9DC9-88A4-6F9A73D5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RealNVP</a:t>
            </a:r>
            <a:r>
              <a:rPr lang="en-US" dirty="0"/>
              <a:t> - Affine coupling layers</a:t>
            </a:r>
          </a:p>
        </p:txBody>
      </p:sp>
    </p:spTree>
    <p:extLst>
      <p:ext uri="{BB962C8B-B14F-4D97-AF65-F5344CB8AC3E}">
        <p14:creationId xmlns:p14="http://schemas.microsoft.com/office/powerpoint/2010/main" val="2788158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862157A-0CE4-1D92-6AA1-C21358FDFA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069" y="1729396"/>
            <a:ext cx="9243861" cy="426757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765B7-CB11-8EBD-8075-0E1280FE5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9B2BD-4361-456A-9716-FEC1C09755A1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0DA6E-A487-463D-8723-08E1B4806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B85922-4761-2BF9-A8D6-70957A3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269D98-11DB-2BAB-00C3-504452BD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RealNVP</a:t>
            </a:r>
            <a:r>
              <a:rPr lang="en-US" dirty="0"/>
              <a:t> - Experiments on toy data</a:t>
            </a:r>
          </a:p>
        </p:txBody>
      </p:sp>
    </p:spTree>
    <p:extLst>
      <p:ext uri="{BB962C8B-B14F-4D97-AF65-F5344CB8AC3E}">
        <p14:creationId xmlns:p14="http://schemas.microsoft.com/office/powerpoint/2010/main" val="532510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4BEDBD-0E1C-757B-582A-0385F6920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920" y="1523999"/>
            <a:ext cx="9891711" cy="4724399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E2E19-13BD-8D23-9C66-78DE292E7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911A-E16F-4C9B-86D2-DEB254D57883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16666-5F56-22A2-5BB4-18ACDCB1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3B1F3-C2E4-16FB-07C2-495CB3CB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37DAA-09DE-8FD9-0B1F-91C6ACC1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RealNVP</a:t>
            </a:r>
            <a:r>
              <a:rPr lang="en-US" dirty="0"/>
              <a:t> - Experiments on MNIST</a:t>
            </a:r>
          </a:p>
        </p:txBody>
      </p:sp>
    </p:spTree>
    <p:extLst>
      <p:ext uri="{BB962C8B-B14F-4D97-AF65-F5344CB8AC3E}">
        <p14:creationId xmlns:p14="http://schemas.microsoft.com/office/powerpoint/2010/main" val="18935021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15B0D5-2940-27B9-35C3-F4E952DF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Noto Sans" panose="020B0502040504020204" pitchFamily="34" charset="0"/>
                <a:hlinkClick r:id="rId2"/>
              </a:rPr>
              <a:t>https://salu133445.github.io/flows</a:t>
            </a:r>
            <a:endParaRPr lang="en-US" b="0" i="0" dirty="0">
              <a:solidFill>
                <a:srgbClr val="000000"/>
              </a:solidFill>
              <a:effectLst/>
              <a:latin typeface="Noto Sans" panose="020B0502040504020204" pitchFamily="34" charset="0"/>
            </a:endParaRPr>
          </a:p>
          <a:p>
            <a:r>
              <a:rPr lang="en-US" b="0" i="0" dirty="0">
                <a:effectLst/>
                <a:latin typeface="Segoe UI" panose="020B0502040204020203" pitchFamily="34" charset="0"/>
              </a:rPr>
              <a:t>Deep Generative Modeling, Book Chapter 3</a:t>
            </a:r>
          </a:p>
          <a:p>
            <a:r>
              <a:rPr lang="en-US" b="0" i="0" dirty="0">
                <a:effectLst/>
                <a:latin typeface="Segoe UI" panose="020B0502040204020203" pitchFamily="34" charset="0"/>
                <a:hlinkClick r:id="rId3"/>
              </a:rPr>
              <a:t>https://lilianweng.github.io/posts/2018-10-13-flow-models/</a:t>
            </a:r>
            <a:endParaRPr lang="en-US" dirty="0">
              <a:latin typeface="Segoe UI" panose="020B0502040204020203" pitchFamily="34" charset="0"/>
            </a:endParaRPr>
          </a:p>
          <a:p>
            <a:endParaRPr lang="en-US" b="0" i="0" dirty="0">
              <a:effectLst/>
              <a:latin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B3E8AE-6D26-5C68-587C-2DF1FE2B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AA2E9-6AE7-42A2-9A32-E2878A0B0955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2106B-E9FA-FC28-8EAC-F5D47AA5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C80CE-04F5-B760-AB66-B67B1E9C1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97DF2C-A1E2-4E78-69E8-0AAAD667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824976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C232-B888-0EB2-61B2-BEB4A983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AC1AA-A3FB-9995-AC6E-943FF959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62930-1E6D-DB8B-BF0D-190341163676}"/>
              </a:ext>
            </a:extLst>
          </p:cNvPr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9C136B-6D9E-DD01-551C-E8A7BE12B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BC09-5E7A-E3EF-EDF4-FBE56520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FDFC4-18EF-4EED-A28A-CE40F14F5EE2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263B-13BE-7E81-C490-6BF84DA2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Dr. Muhammad Nouman Noor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30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27345</TotalTime>
  <Words>1354</Words>
  <Application>Microsoft Office PowerPoint</Application>
  <PresentationFormat>Widescreen</PresentationFormat>
  <Paragraphs>256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-apple-system</vt:lpstr>
      <vt:lpstr>MathJax_Main</vt:lpstr>
      <vt:lpstr>SimSun</vt:lpstr>
      <vt:lpstr>Arial</vt:lpstr>
      <vt:lpstr>Arial</vt:lpstr>
      <vt:lpstr>Calibri</vt:lpstr>
      <vt:lpstr>Cambria Math</vt:lpstr>
      <vt:lpstr>Georgia</vt:lpstr>
      <vt:lpstr>Noto Sans</vt:lpstr>
      <vt:lpstr>Segoe UI</vt:lpstr>
      <vt:lpstr>Times New Roman</vt:lpstr>
      <vt:lpstr>Wingdings</vt:lpstr>
      <vt:lpstr>Office Theme</vt:lpstr>
      <vt:lpstr>PowerPoint Presentation</vt:lpstr>
      <vt:lpstr>Goals</vt:lpstr>
      <vt:lpstr>Review of Previous Lecture</vt:lpstr>
      <vt:lpstr>Variational Autoencoders</vt:lpstr>
      <vt:lpstr>Conditional Variational Autoencoders (CVAEs)</vt:lpstr>
      <vt:lpstr>PowerPoint Presentation</vt:lpstr>
      <vt:lpstr>Today’s Lecture</vt:lpstr>
      <vt:lpstr>VAEs vs Flow-based models</vt:lpstr>
      <vt:lpstr>VAEs vs Flow-based models</vt:lpstr>
      <vt:lpstr>Types of Generative Models</vt:lpstr>
      <vt:lpstr>What is Normalizing Flows?</vt:lpstr>
      <vt:lpstr>What is Normalizing Flows?</vt:lpstr>
      <vt:lpstr>Algebra Basics</vt:lpstr>
      <vt:lpstr>Change of variables</vt:lpstr>
      <vt:lpstr>Change of variables</vt:lpstr>
      <vt:lpstr>Change of variables</vt:lpstr>
      <vt:lpstr>Change of variables</vt:lpstr>
      <vt:lpstr>Change of variables</vt:lpstr>
      <vt:lpstr>Jacobian matrix</vt:lpstr>
      <vt:lpstr>Change of variable theorem</vt:lpstr>
      <vt:lpstr>Change of variables</vt:lpstr>
      <vt:lpstr>Change of Variables for Deep Generative Modeling</vt:lpstr>
      <vt:lpstr>Change of Variables for Deep Generative Modeling</vt:lpstr>
      <vt:lpstr>Change of Variables for Deep Generative Modeling</vt:lpstr>
      <vt:lpstr>Change of Variables for Deep Generative Modeling</vt:lpstr>
      <vt:lpstr>Change of variables</vt:lpstr>
      <vt:lpstr>Change of Variables for Deep Generative Modeling</vt:lpstr>
      <vt:lpstr>Change of Variables for Deep Generative Modeling</vt:lpstr>
      <vt:lpstr>Normalizing flows</vt:lpstr>
      <vt:lpstr>Permutation Layers</vt:lpstr>
      <vt:lpstr>Dequantization</vt:lpstr>
      <vt:lpstr>Dequantization</vt:lpstr>
      <vt:lpstr>Non-linear Independent Components Estimation</vt:lpstr>
      <vt:lpstr>NICE - Additive coupling layers</vt:lpstr>
      <vt:lpstr>NICE - Additive coupling layers</vt:lpstr>
      <vt:lpstr>NICE - Experiments on MNIST</vt:lpstr>
      <vt:lpstr>RealNVP: Real-valued Non-Volume Preserving flows</vt:lpstr>
      <vt:lpstr>RealNVP - Affine coupling layers</vt:lpstr>
      <vt:lpstr>RealNVP - Affine coupling layers</vt:lpstr>
      <vt:lpstr>RealNVP - Experiments on toy data</vt:lpstr>
      <vt:lpstr>RealNVP - Experiments on MNIST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01-243172-020</cp:lastModifiedBy>
  <cp:revision>1769</cp:revision>
  <dcterms:created xsi:type="dcterms:W3CDTF">2006-08-16T00:00:00Z</dcterms:created>
  <dcterms:modified xsi:type="dcterms:W3CDTF">2025-10-08T12:06:45Z</dcterms:modified>
</cp:coreProperties>
</file>