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2"/>
  </p:notesMasterIdLst>
  <p:sldIdLst>
    <p:sldId id="352" r:id="rId2"/>
    <p:sldId id="421" r:id="rId3"/>
    <p:sldId id="1623" r:id="rId4"/>
    <p:sldId id="1612" r:id="rId5"/>
    <p:sldId id="1611" r:id="rId6"/>
    <p:sldId id="1608" r:id="rId7"/>
    <p:sldId id="1631" r:id="rId8"/>
    <p:sldId id="1634" r:id="rId9"/>
    <p:sldId id="1637" r:id="rId10"/>
    <p:sldId id="1638" r:id="rId11"/>
    <p:sldId id="1639" r:id="rId12"/>
    <p:sldId id="1640" r:id="rId13"/>
    <p:sldId id="1641" r:id="rId14"/>
    <p:sldId id="1642" r:id="rId15"/>
    <p:sldId id="643" r:id="rId16"/>
    <p:sldId id="1643" r:id="rId17"/>
    <p:sldId id="1644" r:id="rId18"/>
    <p:sldId id="1645" r:id="rId19"/>
    <p:sldId id="1658" r:id="rId20"/>
    <p:sldId id="1646" r:id="rId21"/>
    <p:sldId id="1647" r:id="rId22"/>
    <p:sldId id="1648" r:id="rId23"/>
    <p:sldId id="1649" r:id="rId24"/>
    <p:sldId id="1650" r:id="rId25"/>
    <p:sldId id="1651" r:id="rId26"/>
    <p:sldId id="1652" r:id="rId27"/>
    <p:sldId id="1659" r:id="rId28"/>
    <p:sldId id="1660" r:id="rId29"/>
    <p:sldId id="1653" r:id="rId30"/>
    <p:sldId id="1654" r:id="rId31"/>
    <p:sldId id="1655" r:id="rId32"/>
    <p:sldId id="1656" r:id="rId33"/>
    <p:sldId id="1661" r:id="rId34"/>
    <p:sldId id="1662" r:id="rId35"/>
    <p:sldId id="1657" r:id="rId36"/>
    <p:sldId id="1663" r:id="rId37"/>
    <p:sldId id="1664" r:id="rId38"/>
    <p:sldId id="1665" r:id="rId39"/>
    <p:sldId id="1287" r:id="rId40"/>
    <p:sldId id="128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2B1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F8572A0B-33DC-49A4-A875-3898B3E438D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0D78-57BC-4977-A623-D58E3EAC18F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B3A2-974E-4288-9E77-ADB9B5FB7C5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AA62F-4AB8-48DC-9C0A-9B41B389017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79BA-9289-4FDD-A962-A286BA865855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EE6D-2EEF-4032-825E-7065DFCF9F4D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6672-6412-47D0-AB1F-1858CCBB330C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6BDF5-5DE3-47BD-896A-674A978C762A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5C11-8ACA-4E2E-BF68-9F0AEF993CD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677E3-420D-4A6E-9E73-708E82C618B3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77F8-35B1-4E2B-8510-73BFC11E75A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ABB3203-F2E2-4FAB-BC01-B710FD59FE4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601.06759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EB25-B187-430D-A895-E0EE9FBC553E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 err="1">
                <a:solidFill>
                  <a:schemeClr val="bg1"/>
                </a:solidFill>
              </a:rPr>
              <a:t>PixelRNN</a:t>
            </a:r>
            <a:r>
              <a:rPr lang="en-US" sz="3200" dirty="0">
                <a:solidFill>
                  <a:schemeClr val="bg1"/>
                </a:solidFill>
              </a:rPr>
              <a:t> and </a:t>
            </a:r>
            <a:r>
              <a:rPr lang="en-US" sz="3200" dirty="0" err="1">
                <a:solidFill>
                  <a:schemeClr val="bg1"/>
                </a:solidFill>
              </a:rPr>
              <a:t>PixelCNN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AI &amp; 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AI-4009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Pixel Recurrent Neural Networks (</a:t>
            </a:r>
            <a:r>
              <a:rPr lang="en-US" dirty="0" err="1">
                <a:ea typeface="SimSun" panose="02010600030101010101" pitchFamily="2" charset="-122"/>
              </a:rPr>
              <a:t>PixelRNN</a:t>
            </a:r>
            <a:r>
              <a:rPr lang="en-US" dirty="0">
                <a:ea typeface="SimSun" panose="02010600030101010101" pitchFamily="2" charset="-122"/>
              </a:rPr>
              <a:t>)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Pixel Convolutional Neural Networks (</a:t>
            </a:r>
            <a:r>
              <a:rPr lang="en-US" dirty="0" err="1">
                <a:ea typeface="SimSun" panose="02010600030101010101" pitchFamily="2" charset="-122"/>
              </a:rPr>
              <a:t>PixelCNN</a:t>
            </a:r>
            <a:r>
              <a:rPr lang="en-US" dirty="0">
                <a:ea typeface="SimSun" panose="02010600030101010101" pitchFamily="2" charset="-122"/>
              </a:rPr>
              <a:t>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DA5CC-C475-4098-9C5C-15230F656911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D865-2304-C540-D1E5-74CD4F85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23E94-11D4-D5E4-B563-0BD978BA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FE1D-76FD-4F3E-A4B3-7C7833A3DB97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C462B-1597-4177-40B1-E730E80B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B8636-36E5-9790-061E-91FF3C2C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89FF9E-9362-9EA1-1719-7DC1E20E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</p:spPr>
        <p:txBody>
          <a:bodyPr/>
          <a:lstStyle/>
          <a:p>
            <a:r>
              <a:rPr lang="en-US" dirty="0"/>
              <a:t>Review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114247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BAE50F-7709-5C74-AEC9-A660090E7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Popular examples of a Autoregressive Models: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Söhne"/>
              </a:rPr>
              <a:t>PixelRNN</a:t>
            </a:r>
            <a:r>
              <a:rPr lang="en-US" b="0" i="0" dirty="0">
                <a:solidFill>
                  <a:srgbClr val="00B0F0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Söhne"/>
              </a:rPr>
              <a:t>PixelCNN</a:t>
            </a:r>
            <a:r>
              <a:rPr lang="en-US" b="0" i="0" dirty="0">
                <a:solidFill>
                  <a:srgbClr val="00B0F0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Söhne"/>
              </a:rPr>
              <a:t>WaveNet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etc.</a:t>
            </a:r>
          </a:p>
          <a:p>
            <a:r>
              <a:rPr lang="en-US" b="1" i="0" dirty="0">
                <a:solidFill>
                  <a:srgbClr val="FFC000"/>
                </a:solidFill>
                <a:effectLst/>
                <a:latin typeface="Söhne"/>
              </a:rPr>
              <a:t>Causal convolutions</a:t>
            </a:r>
            <a:r>
              <a:rPr lang="en-US" b="0" i="0" dirty="0">
                <a:solidFill>
                  <a:srgbClr val="FFC000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allow the model to generate </a:t>
            </a:r>
            <a:r>
              <a:rPr lang="en-US" b="0" i="0" dirty="0">
                <a:solidFill>
                  <a:srgbClr val="C00000"/>
                </a:solidFill>
                <a:effectLst/>
                <a:latin typeface="Söhne"/>
              </a:rPr>
              <a:t>output samples one timestep at a time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With each sample being dependent only on previous samples, mimicking how actual output is produced in the real world.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advantage of causal convolutions is that they can be used in </a:t>
            </a:r>
            <a:r>
              <a:rPr lang="en-US" b="0" i="0" dirty="0">
                <a:solidFill>
                  <a:srgbClr val="00B050"/>
                </a:solidFill>
                <a:effectLst/>
                <a:latin typeface="Söhne"/>
              </a:rPr>
              <a:t>real-time applications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No need of the entire sequence in advance.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They can process data as it comes in, making predictions for the next time step using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only currently available information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D37F6-B334-F080-92BB-D4D68606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A7F39-D6AB-41D0-A773-A9127627E8B4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F8789-3BB9-780A-9ECD-62A0BB8B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FDC72-B48E-4355-DEAC-34E0AE53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07BB4C-7355-2BC6-2267-5E6DC468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35158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DB0C8-2C11-9FEF-3A4B-61D0E09F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62ECC-5266-4013-9A05-48D57A770BF9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90BA1-7388-B17E-4413-856C88AD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D6D33-7960-719F-BF8E-C0C20B3A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6EC95D-691A-22C5-93FA-C00F577A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C417F5-6FE9-305A-262B-E752DD698A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9430633" cy="24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C403CE-98E4-62C0-02C8-C6564E892932}"/>
              </a:ext>
            </a:extLst>
          </p:cNvPr>
          <p:cNvSpPr txBox="1"/>
          <p:nvPr/>
        </p:nvSpPr>
        <p:spPr>
          <a:xfrm>
            <a:off x="4953000" y="448921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u="none" strike="noStrike" dirty="0">
                <a:solidFill>
                  <a:srgbClr val="131314"/>
                </a:solidFill>
                <a:effectLst/>
                <a:latin typeface="inherit"/>
              </a:rPr>
              <a:t>Steffen et al. 2015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093E3A-6092-24F3-7066-57A390C7F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981972"/>
            <a:ext cx="565484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6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AB2BE7-F572-C576-3FB5-D63569AD8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065347"/>
            <a:ext cx="7704938" cy="444760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D89E-BE69-0192-498E-B51DCF8B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45E4-5E8E-4AA4-AFBC-CF9DA3E47952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F8AC7-C9E5-DFDB-7EC6-4E5C41F2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7C39B-3CBD-DC2B-F48A-2225F916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74CA7D-7648-E1D4-603D-EBC0D8EC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227147"/>
            <a:ext cx="10972800" cy="838200"/>
          </a:xfrm>
        </p:spPr>
        <p:txBody>
          <a:bodyPr/>
          <a:lstStyle/>
          <a:p>
            <a:r>
              <a:rPr lang="en-US" dirty="0"/>
              <a:t>Autoregressive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88DBC-7299-6760-ECB0-48259A9D2F93}"/>
              </a:ext>
            </a:extLst>
          </p:cNvPr>
          <p:cNvSpPr txBox="1"/>
          <p:nvPr/>
        </p:nvSpPr>
        <p:spPr>
          <a:xfrm>
            <a:off x="1295400" y="56388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The first CausalConv1D is of type A. </a:t>
            </a:r>
            <a:r>
              <a:rPr lang="en-US" sz="2800" dirty="0">
                <a:solidFill>
                  <a:srgbClr val="0070C0"/>
                </a:solidFill>
                <a:latin typeface="Times-Roman"/>
              </a:rPr>
              <a:t>N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ext, two layers use CausalConv1D (option B) with dilations 2 and 3.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06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3C01-7DE0-51DF-81ED-F07496CD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Dilated convolutions (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atrous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convolutions).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variation of the standard convolution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operation.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Introduce an additional parameter called the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dilation rate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which defines the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spacing between the kernel's elements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Can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capture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information over larger contexts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without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losing resolution or increasing computational cost significantly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b="0" i="0" dirty="0">
                <a:solidFill>
                  <a:srgbClr val="00B050"/>
                </a:solidFill>
                <a:effectLst/>
                <a:latin typeface="Söhne"/>
              </a:rPr>
              <a:t>dilation rate of 1 means standard convolution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As the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dilation rate increases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the kernel elements are spread 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50AF9-E3FA-6DFC-A975-A8CE4089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4FBC1-D50B-49C7-A289-AF4724CD1722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8A22A-3E97-0E08-05D7-6587C3DE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60F31-9087-B7C2-8C65-10C4176D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B0E049-634B-B174-864C-BFCC217A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convolutions</a:t>
            </a:r>
          </a:p>
        </p:txBody>
      </p:sp>
    </p:spTree>
    <p:extLst>
      <p:ext uri="{BB962C8B-B14F-4D97-AF65-F5344CB8AC3E}">
        <p14:creationId xmlns:p14="http://schemas.microsoft.com/office/powerpoint/2010/main" val="2667818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C5C0-9FE9-AB31-D3DC-749DC1ED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224D18-C71D-A539-12B0-C57E489C4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065347"/>
            <a:ext cx="7704938" cy="444760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D8835-9132-973C-5AF4-92E68886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07B6C-EB2F-4BD0-AF6E-EFA42A8BB0D9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26D5F-AA3D-2A72-E079-308DCD00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1F98B-D047-F077-B632-351420A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3F5ECA-B4BF-9273-D83F-2F116849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227147"/>
            <a:ext cx="10972800" cy="838200"/>
          </a:xfrm>
        </p:spPr>
        <p:txBody>
          <a:bodyPr/>
          <a:lstStyle/>
          <a:p>
            <a:r>
              <a:rPr lang="en-US" dirty="0"/>
              <a:t>Autoregressive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F320F8-B468-8207-618B-41E555680B38}"/>
              </a:ext>
            </a:extLst>
          </p:cNvPr>
          <p:cNvSpPr txBox="1"/>
          <p:nvPr/>
        </p:nvSpPr>
        <p:spPr>
          <a:xfrm>
            <a:off x="1295400" y="56388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The first CausalConv1D is of type A. </a:t>
            </a:r>
            <a:r>
              <a:rPr lang="en-US" sz="2800" dirty="0">
                <a:solidFill>
                  <a:srgbClr val="0070C0"/>
                </a:solidFill>
                <a:latin typeface="Times-Roman"/>
              </a:rPr>
              <a:t>N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ext, two layers use CausalConv1D (option B) with dilations 2 and 3.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6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D7F48B-2C45-2A84-6829-2899FD28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PixelRNNs</a:t>
            </a:r>
            <a:r>
              <a:rPr lang="en-US" dirty="0"/>
              <a:t> Components: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Twelve fast two-dimensional Long Short-Term Memory (LSTM) layers</a:t>
            </a:r>
            <a:r>
              <a:rPr lang="en-US" dirty="0"/>
              <a:t>. </a:t>
            </a:r>
          </a:p>
          <a:p>
            <a:r>
              <a:rPr lang="en-US" dirty="0"/>
              <a:t>Two types of these layers are designed: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Row LSTM layer</a:t>
            </a:r>
            <a:r>
              <a:rPr lang="en-US" dirty="0"/>
              <a:t>: where the convolution is applied along each row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Diagonal </a:t>
            </a:r>
            <a:r>
              <a:rPr lang="en-US" dirty="0" err="1">
                <a:solidFill>
                  <a:srgbClr val="FFC000"/>
                </a:solidFill>
              </a:rPr>
              <a:t>BiLSTM</a:t>
            </a:r>
            <a:r>
              <a:rPr lang="en-US" dirty="0">
                <a:solidFill>
                  <a:srgbClr val="FFC000"/>
                </a:solidFill>
              </a:rPr>
              <a:t> layer</a:t>
            </a:r>
            <a:r>
              <a:rPr lang="en-US" dirty="0"/>
              <a:t>: where the convolution is applied in a novel fashion along the diagonals of the image. </a:t>
            </a:r>
          </a:p>
          <a:p>
            <a:r>
              <a:rPr lang="en-US" dirty="0"/>
              <a:t>The networks also incorporate </a:t>
            </a:r>
            <a:r>
              <a:rPr lang="en-US" dirty="0">
                <a:solidFill>
                  <a:srgbClr val="FFC000"/>
                </a:solidFill>
              </a:rPr>
              <a:t>residual connections </a:t>
            </a:r>
            <a:r>
              <a:rPr lang="en-US" dirty="0"/>
              <a:t>around LSTM layers</a:t>
            </a:r>
          </a:p>
          <a:p>
            <a:pPr lvl="1"/>
            <a:r>
              <a:rPr lang="en-US" dirty="0"/>
              <a:t>Helps with the </a:t>
            </a:r>
            <a:r>
              <a:rPr lang="en-US" dirty="0">
                <a:solidFill>
                  <a:srgbClr val="00B0F0"/>
                </a:solidFill>
              </a:rPr>
              <a:t>training of the </a:t>
            </a:r>
            <a:r>
              <a:rPr lang="en-US" dirty="0" err="1">
                <a:solidFill>
                  <a:srgbClr val="00B0F0"/>
                </a:solidFill>
              </a:rPr>
              <a:t>PixelRNN</a:t>
            </a:r>
            <a:r>
              <a:rPr lang="en-US" dirty="0">
                <a:solidFill>
                  <a:srgbClr val="00B0F0"/>
                </a:solidFill>
              </a:rPr>
              <a:t> for up to twelve layers of depth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753E1-8C15-A368-74FA-C454A8E1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3286-0697-4B3A-8693-893A51FA3F84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F7A6C-93AE-B1B9-22F9-3BB80CB8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3FAF5-F7DB-624B-E252-8EA6FE21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186689-1B44-EDEB-FAC0-97F0DA1C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2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C32931-B490-0DC1-EF85-8923C790C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Convolutional Neural Networks (CNN) is used as sequence model with a </a:t>
            </a:r>
            <a:r>
              <a:rPr lang="en-US" dirty="0">
                <a:solidFill>
                  <a:srgbClr val="00B0F0"/>
                </a:solidFill>
              </a:rPr>
              <a:t>fixed dependency range</a:t>
            </a:r>
          </a:p>
          <a:p>
            <a:pPr lvl="1"/>
            <a:r>
              <a:rPr lang="en-US" dirty="0"/>
              <a:t>Need Masked convolutions. </a:t>
            </a:r>
          </a:p>
          <a:p>
            <a:r>
              <a:rPr lang="en-US" dirty="0"/>
              <a:t>The </a:t>
            </a:r>
            <a:r>
              <a:rPr lang="en-US" dirty="0" err="1"/>
              <a:t>PixelCNN</a:t>
            </a:r>
            <a:r>
              <a:rPr lang="en-US" dirty="0"/>
              <a:t> architecture is a </a:t>
            </a:r>
            <a:r>
              <a:rPr lang="en-US" dirty="0">
                <a:solidFill>
                  <a:srgbClr val="FF0000"/>
                </a:solidFill>
              </a:rPr>
              <a:t>fully convolutional network of fifteen layers </a:t>
            </a:r>
            <a:r>
              <a:rPr lang="en-US" dirty="0"/>
              <a:t>that preserves the </a:t>
            </a:r>
            <a:r>
              <a:rPr lang="en-US" dirty="0">
                <a:solidFill>
                  <a:srgbClr val="0F22B1"/>
                </a:solidFill>
              </a:rPr>
              <a:t>spatial resolution </a:t>
            </a:r>
            <a:r>
              <a:rPr lang="en-US" dirty="0"/>
              <a:t>of its input throughout the layers and outputs a </a:t>
            </a:r>
            <a:r>
              <a:rPr lang="en-US" dirty="0">
                <a:solidFill>
                  <a:srgbClr val="00B0F0"/>
                </a:solidFill>
              </a:rPr>
              <a:t>conditional distribution at each location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6D2B2-E02A-3C6E-2A4B-6FCB5F316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6CA3-1909-4AA0-8E83-DEECBA905579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9E08D-BA40-CBA7-3DF6-10A27B05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A55E8-C324-D942-12EB-4F8251C8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5679A5-3532-31D4-A7F8-16648708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19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D2EBA0-20F0-10F3-4EC9-C5438D5ED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network scans the image </a:t>
            </a:r>
            <a:r>
              <a:rPr lang="en-US" dirty="0">
                <a:solidFill>
                  <a:srgbClr val="0F22B1"/>
                </a:solidFill>
              </a:rPr>
              <a:t>one row at a time </a:t>
            </a:r>
            <a:r>
              <a:rPr lang="en-US" dirty="0"/>
              <a:t>and </a:t>
            </a:r>
            <a:r>
              <a:rPr lang="en-US" dirty="0">
                <a:solidFill>
                  <a:srgbClr val="0F22B1"/>
                </a:solidFill>
              </a:rPr>
              <a:t>one pixel </a:t>
            </a:r>
            <a:r>
              <a:rPr lang="en-US" dirty="0"/>
              <a:t>at a time within each row. </a:t>
            </a:r>
          </a:p>
          <a:p>
            <a:r>
              <a:rPr lang="en-US" dirty="0"/>
              <a:t>For each pixel it </a:t>
            </a:r>
            <a:r>
              <a:rPr lang="en-US" dirty="0">
                <a:solidFill>
                  <a:srgbClr val="0F22B1"/>
                </a:solidFill>
              </a:rPr>
              <a:t>predicts the conditional distribution </a:t>
            </a:r>
            <a:r>
              <a:rPr lang="en-US" dirty="0"/>
              <a:t>over the possible pixel values given the </a:t>
            </a:r>
            <a:r>
              <a:rPr lang="en-US" dirty="0">
                <a:solidFill>
                  <a:srgbClr val="00B0F0"/>
                </a:solidFill>
              </a:rPr>
              <a:t>scanned context</a:t>
            </a:r>
            <a:r>
              <a:rPr lang="en-US" dirty="0"/>
              <a:t>.</a:t>
            </a:r>
          </a:p>
          <a:p>
            <a:r>
              <a:rPr lang="en-US" dirty="0"/>
              <a:t>The joint distribution over the image pixels is </a:t>
            </a:r>
            <a:r>
              <a:rPr lang="en-US" dirty="0">
                <a:solidFill>
                  <a:srgbClr val="FF0000"/>
                </a:solidFill>
              </a:rPr>
              <a:t>factorized into a product of conditional distributions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263CB-20B8-4771-DC7E-422D676E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7A01-189A-4FE5-AA32-8EE1708D8B99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8225B-279F-6FC9-98B6-99E906AC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D9972-104A-2AF6-9ED7-FAF1BD53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838FD9-3DDD-A25C-BFC3-31A892A7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9BF09-76C5-A8EE-AFA8-57CD81BB6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416" y="1722436"/>
            <a:ext cx="60153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38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EE97FF-3B1E-2C8A-AB7E-94BB05760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The goal is to assign a </a:t>
                </a:r>
                <a:r>
                  <a:rPr lang="en-US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probability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</m:t>
                    </m:r>
                    <m:d>
                      <m:dPr>
                        <m:ctrlPr>
                          <a:rPr lang="en-US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to each pixel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of image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</a:p>
              <a:p>
                <a:pPr marL="400050" lv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ssume</m:t>
                    </m:r>
                    <m:r>
                      <a:rPr lang="en-US" b="0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pixels.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Assume the image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as a </a:t>
                </a:r>
                <a:r>
                  <a:rPr lang="en-US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one-dimensional </a:t>
                </a:r>
                <a:r>
                  <a:rPr lang="en-US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Aptos" panose="020B0004020202020204" pitchFamily="34" charset="0"/>
                  </a:rPr>
                  <a:t>sequence </a:t>
                </a:r>
                <a:r>
                  <a:rPr lang="en-US" kern="100" dirty="0">
                    <a:latin typeface="Times New Roman" panose="02020603050405020304" pitchFamily="18" charset="0"/>
                    <a:ea typeface="Aptos" panose="020B0004020202020204" pitchFamily="34" charset="0"/>
                  </a:rPr>
                  <a:t>of  pixels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  <m:r>
                        <a:rPr lang="en-US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…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latin typeface="Times New Roman" panose="02020603050405020304" pitchFamily="18" charset="0"/>
                    <a:ea typeface="Aptos" panose="020B0004020202020204" pitchFamily="34" charset="0"/>
                  </a:rPr>
                  <a:t>P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ixels are taken from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image row by row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To estimate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joint distribution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</m:t>
                    </m:r>
                    <m:d>
                      <m:dPr>
                        <m:ctrlPr>
                          <a:rPr lang="en-US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we write it as the product of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conditional distributions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over the pixels: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EE97FF-3B1E-2C8A-AB7E-94BB05760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F9069-23E3-0B6A-DBC1-6F7DA79E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A763F-6520-46F1-A653-1A5660EE093A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43A75-40FB-AAE2-F5F7-B2D7DFF9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A7E76-762A-5CE5-A5D2-EE87DC0C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9982FB-F8CA-09E4-96EF-A782EB29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an Image Pixel by Pixel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C4F02-F2EF-0062-4F8F-523309C0D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604" y="5284236"/>
            <a:ext cx="4270791" cy="125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94B87-68BC-6F69-6D0A-A1D6B199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color image, each </a:t>
            </a:r>
            <a:r>
              <a:rPr lang="en-US" dirty="0">
                <a:solidFill>
                  <a:srgbClr val="FF0000"/>
                </a:solidFill>
              </a:rPr>
              <a:t>pixel x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is jointly determined by three values</a:t>
            </a:r>
          </a:p>
          <a:p>
            <a:pPr lvl="1"/>
            <a:r>
              <a:rPr lang="en-US" dirty="0"/>
              <a:t>One for each of the color channels: </a:t>
            </a:r>
            <a:r>
              <a:rPr lang="en-US" dirty="0">
                <a:solidFill>
                  <a:srgbClr val="0070C0"/>
                </a:solidFill>
              </a:rPr>
              <a:t>Red, Green and Blue (RGB).</a:t>
            </a:r>
          </a:p>
          <a:p>
            <a:r>
              <a:rPr lang="en-US" dirty="0"/>
              <a:t>The distribution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|x</a:t>
            </a:r>
            <a:r>
              <a:rPr lang="en-US" baseline="-25000" dirty="0"/>
              <a:t>&lt;</a:t>
            </a:r>
            <a:r>
              <a:rPr lang="en-US" baseline="-25000" dirty="0" err="1"/>
              <a:t>i</a:t>
            </a:r>
            <a:r>
              <a:rPr lang="en-US" dirty="0"/>
              <a:t>) as the following product: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of the </a:t>
            </a:r>
            <a:r>
              <a:rPr lang="en-US" dirty="0">
                <a:solidFill>
                  <a:srgbClr val="FF0000"/>
                </a:solidFill>
              </a:rPr>
              <a:t>color values is conditioned on the other channels </a:t>
            </a:r>
            <a:r>
              <a:rPr lang="en-US" dirty="0"/>
              <a:t>as well as on all the </a:t>
            </a:r>
            <a:r>
              <a:rPr lang="en-US" dirty="0">
                <a:solidFill>
                  <a:srgbClr val="0070C0"/>
                </a:solidFill>
              </a:rPr>
              <a:t>previously generated pixels</a:t>
            </a:r>
            <a:r>
              <a:rPr lang="en-US" dirty="0"/>
              <a:t>.</a:t>
            </a:r>
          </a:p>
          <a:p>
            <a:r>
              <a:rPr lang="en-US" dirty="0"/>
              <a:t>During training and evaluation the distributions over the pixel values are </a:t>
            </a:r>
            <a:r>
              <a:rPr lang="en-US" dirty="0">
                <a:solidFill>
                  <a:srgbClr val="FF0000"/>
                </a:solidFill>
              </a:rPr>
              <a:t>computed in parallel</a:t>
            </a:r>
            <a:r>
              <a:rPr lang="en-US" dirty="0"/>
              <a:t>, while the </a:t>
            </a:r>
            <a:r>
              <a:rPr lang="en-US" dirty="0">
                <a:solidFill>
                  <a:srgbClr val="00B050"/>
                </a:solidFill>
              </a:rPr>
              <a:t>generation of an image is sequential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C294A-748B-740C-6469-6345A4D0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DBBE0-F16F-497E-8DE9-0A80C293A3FC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93890-7478-5D22-D218-2D8A63A0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9E3D2-36A2-D685-F52B-D3A301DC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FC6873-0893-E259-9AAA-787A2707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an Image Pixel by Pixel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0BB6F1-58FC-D0DA-40FB-370F7C94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86100"/>
            <a:ext cx="7409324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7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C320A1-A230-4C77-D971-287CBE109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848600" cy="4525963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Previous approaches use a </a:t>
            </a:r>
            <a:r>
              <a:rPr lang="en-US" sz="3200" dirty="0">
                <a:solidFill>
                  <a:srgbClr val="00B050"/>
                </a:solidFill>
              </a:rPr>
              <a:t>continuous distribution</a:t>
            </a:r>
            <a:r>
              <a:rPr lang="en-US" sz="3200" dirty="0"/>
              <a:t> for the values of the pixels in the image.</a:t>
            </a:r>
          </a:p>
          <a:p>
            <a:r>
              <a:rPr lang="en-US" sz="3200" dirty="0" err="1"/>
              <a:t>PixelRNN</a:t>
            </a:r>
            <a:r>
              <a:rPr lang="en-US" sz="3200" dirty="0"/>
              <a:t> model </a:t>
            </a:r>
            <a:r>
              <a:rPr lang="en-US" sz="3200" dirty="0">
                <a:solidFill>
                  <a:srgbClr val="FF0000"/>
                </a:solidFill>
              </a:rPr>
              <a:t>p(x) as a discrete distribution</a:t>
            </a:r>
          </a:p>
          <a:p>
            <a:pPr lvl="1"/>
            <a:r>
              <a:rPr lang="en-US" sz="2800" dirty="0"/>
              <a:t>Every conditional distribution is multinomial that is modeled with a </a:t>
            </a:r>
            <a:r>
              <a:rPr lang="en-US" sz="2800" dirty="0" err="1"/>
              <a:t>softmax</a:t>
            </a:r>
            <a:r>
              <a:rPr lang="en-US" sz="2800" dirty="0"/>
              <a:t> layer. </a:t>
            </a:r>
          </a:p>
          <a:p>
            <a:r>
              <a:rPr lang="en-US" sz="3200" dirty="0"/>
              <a:t>Each channel variable x</a:t>
            </a:r>
            <a:r>
              <a:rPr lang="en-US" sz="3200" baseline="-25000" dirty="0"/>
              <a:t>i</a:t>
            </a:r>
            <a:r>
              <a:rPr lang="en-US" sz="3200" dirty="0"/>
              <a:t> simply takes one of 256 distinct values.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07FAD-0A30-20B0-397C-E89C29A7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CCBB8-51B8-47DE-8C6A-83FE94CE3252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394F8-C460-5A7E-6037-D23C9B93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954C-4F5D-EC45-61CE-F815F327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966A68-05C8-2424-108F-0A90233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Pixels as Discrete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6431A-6356-1BF9-BED0-90F52C4B5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52599"/>
            <a:ext cx="3576797" cy="213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2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52FA-2E57-77FE-688B-7F0C1AAFB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A1B23-320D-E633-A297-A6B31ACA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65ED-2448-4DD5-932C-A1AD86DA089B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D0AE4-7A5B-C69A-E40E-AB0C388B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CCFBE-9318-2D34-DFE7-287C5AF5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66C3D0-2EE4-C650-992C-5588740C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1651009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18D761-90B6-C996-FDA1-96F793166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types of </a:t>
            </a:r>
            <a:r>
              <a:rPr lang="en-US" dirty="0">
                <a:solidFill>
                  <a:srgbClr val="FF0000"/>
                </a:solidFill>
              </a:rPr>
              <a:t>LSTM layers </a:t>
            </a:r>
            <a:r>
              <a:rPr lang="en-US" dirty="0"/>
              <a:t>that use convolutions to compute at once the states along one of the spatial dimensions. </a:t>
            </a:r>
          </a:p>
          <a:p>
            <a:r>
              <a:rPr lang="en-US" dirty="0"/>
              <a:t>Incorporate </a:t>
            </a:r>
            <a:r>
              <a:rPr lang="en-US" dirty="0">
                <a:solidFill>
                  <a:srgbClr val="FF0000"/>
                </a:solidFill>
              </a:rPr>
              <a:t>residual connections </a:t>
            </a:r>
            <a:r>
              <a:rPr lang="en-US" dirty="0"/>
              <a:t>to improve the training of a </a:t>
            </a:r>
            <a:r>
              <a:rPr lang="en-US" dirty="0" err="1"/>
              <a:t>PixelRNN</a:t>
            </a:r>
            <a:r>
              <a:rPr lang="en-US" dirty="0"/>
              <a:t> with many LSTM layers. </a:t>
            </a:r>
          </a:p>
          <a:p>
            <a:r>
              <a:rPr lang="en-US" dirty="0" err="1">
                <a:solidFill>
                  <a:srgbClr val="FF0000"/>
                </a:solidFill>
              </a:rPr>
              <a:t>Softmax</a:t>
            </a:r>
            <a:r>
              <a:rPr lang="en-US" dirty="0">
                <a:solidFill>
                  <a:srgbClr val="FF0000"/>
                </a:solidFill>
              </a:rPr>
              <a:t> layer </a:t>
            </a:r>
            <a:r>
              <a:rPr lang="en-US" dirty="0"/>
              <a:t>that computes the discrete joint distribution of the colors and the masking technique that ensures the proper conditioning scheme.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B5F79-2B8A-43F3-731D-0DBAF8043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39E7A-C5F8-4278-A607-588022DABA92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A5CDC-A6D8-E857-95DE-0A4BC7CD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923A1-F866-E366-812E-4CAE5D2A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96F10D-CCA6-3D24-D9EF-96F581A1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Components pf </a:t>
            </a:r>
            <a:r>
              <a:rPr lang="en-US" dirty="0" err="1"/>
              <a:t>PixelRNN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34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797622-39A8-5554-B0E2-49C98B95F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Row LSTM</a:t>
            </a:r>
          </a:p>
          <a:p>
            <a:r>
              <a:rPr lang="en-US" dirty="0"/>
              <a:t>It is a </a:t>
            </a:r>
            <a:r>
              <a:rPr lang="en-US" dirty="0">
                <a:solidFill>
                  <a:srgbClr val="FF0000"/>
                </a:solidFill>
              </a:rPr>
              <a:t>unidirectional layer </a:t>
            </a:r>
            <a:r>
              <a:rPr lang="en-US" dirty="0"/>
              <a:t>that processes the image row by row from top to bottom computing features for a whole row at once; </a:t>
            </a:r>
          </a:p>
          <a:p>
            <a:r>
              <a:rPr lang="en-US" dirty="0"/>
              <a:t>The computation is performed with a </a:t>
            </a:r>
            <a:r>
              <a:rPr lang="en-US" dirty="0">
                <a:solidFill>
                  <a:srgbClr val="FF0000"/>
                </a:solidFill>
              </a:rPr>
              <a:t>one-dimensional convolution</a:t>
            </a:r>
            <a:r>
              <a:rPr lang="en-US" dirty="0"/>
              <a:t>. </a:t>
            </a:r>
          </a:p>
          <a:p>
            <a:r>
              <a:rPr lang="en-US" dirty="0"/>
              <a:t>For a pixel x</a:t>
            </a:r>
            <a:r>
              <a:rPr lang="en-US" baseline="-25000" dirty="0"/>
              <a:t>i</a:t>
            </a:r>
            <a:r>
              <a:rPr lang="en-US" dirty="0"/>
              <a:t> the layer captures a </a:t>
            </a:r>
            <a:r>
              <a:rPr lang="en-US" dirty="0">
                <a:solidFill>
                  <a:srgbClr val="00B0F0"/>
                </a:solidFill>
              </a:rPr>
              <a:t>roughly triangular context </a:t>
            </a:r>
            <a:r>
              <a:rPr lang="en-US" dirty="0"/>
              <a:t>above the pixel as shown: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FA16E-93C9-DAB7-CE58-428C61BE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6FE2-5FDF-46BD-A52B-2EE307B174EC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C7E0D-C000-CE03-F597-947435D0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FF99B-F9AE-1C0C-B705-589A0281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5F3122-35A0-4C3A-14D7-50A0431E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</p:spTree>
    <p:extLst>
      <p:ext uri="{BB962C8B-B14F-4D97-AF65-F5344CB8AC3E}">
        <p14:creationId xmlns:p14="http://schemas.microsoft.com/office/powerpoint/2010/main" val="2560514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2FC65C-9BC6-15F1-9D07-0E2EEF014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1631"/>
            <a:ext cx="10972800" cy="4525963"/>
          </a:xfrm>
        </p:spPr>
        <p:txBody>
          <a:bodyPr/>
          <a:lstStyle/>
          <a:p>
            <a:r>
              <a:rPr lang="en-US" dirty="0"/>
              <a:t>The kernel of the one-dimensional convolution has size </a:t>
            </a:r>
            <a:r>
              <a:rPr lang="en-US" dirty="0">
                <a:solidFill>
                  <a:srgbClr val="00B050"/>
                </a:solidFill>
              </a:rPr>
              <a:t>k × 1 where k ≥ 3</a:t>
            </a:r>
            <a:r>
              <a:rPr lang="en-US" dirty="0"/>
              <a:t>; </a:t>
            </a:r>
          </a:p>
          <a:p>
            <a:r>
              <a:rPr lang="en-US" dirty="0"/>
              <a:t>The larger the value of k the broader the context that is captured.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0E923-D354-E4B2-4FF7-257DEB94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5D4F-B04D-4FB9-BA14-B8C224201F05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4AA11-BEB3-7AEF-75AD-B5978920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B4DF9-8807-0271-4F8F-776AC7A5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8F4A8B-525E-07A7-D9E8-83E4FB4E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  <p:pic>
        <p:nvPicPr>
          <p:cNvPr id="7" name="Picture 6" descr="A group of symbols on a black background&#10;&#10;Description automatically generated">
            <a:extLst>
              <a:ext uri="{FF2B5EF4-FFF2-40B4-BE49-F238E27FC236}">
                <a16:creationId xmlns:a16="http://schemas.microsoft.com/office/drawing/2014/main" id="{05651552-B546-486E-65B0-FFBA13F854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23" y="3859728"/>
            <a:ext cx="4368977" cy="2013733"/>
          </a:xfrm>
          <a:prstGeom prst="rect">
            <a:avLst/>
          </a:prstGeom>
        </p:spPr>
      </p:pic>
      <p:grpSp>
        <p:nvGrpSpPr>
          <p:cNvPr id="8" name="object 4">
            <a:extLst>
              <a:ext uri="{FF2B5EF4-FFF2-40B4-BE49-F238E27FC236}">
                <a16:creationId xmlns:a16="http://schemas.microsoft.com/office/drawing/2014/main" id="{B607055A-C261-A431-5A17-AAB3464B0185}"/>
              </a:ext>
            </a:extLst>
          </p:cNvPr>
          <p:cNvGrpSpPr/>
          <p:nvPr/>
        </p:nvGrpSpPr>
        <p:grpSpPr>
          <a:xfrm>
            <a:off x="919465" y="3733677"/>
            <a:ext cx="5069869" cy="2139784"/>
            <a:chOff x="1905000" y="3060192"/>
            <a:chExt cx="5968365" cy="224345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3FA7BADB-01F7-6ABF-06AD-CE2CD6825481}"/>
                </a:ext>
              </a:extLst>
            </p:cNvPr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010C0584-44CC-ACE9-9F36-DA38D4985884}"/>
                </a:ext>
              </a:extLst>
            </p:cNvPr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1FF59B79-100C-78C0-7939-0E86FCCDBBF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6B289538-7DE9-3675-A7CA-ADF2E4FBB79E}"/>
                </a:ext>
              </a:extLst>
            </p:cNvPr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9CD69A07-DB9C-67ED-BAF8-7ADF32849FF9}"/>
                </a:ext>
              </a:extLst>
            </p:cNvPr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30341C3E-D6FD-2522-51B8-27F03814A6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6FB3AB3F-5FDF-A1B9-FE67-41B892466703}"/>
                </a:ext>
              </a:extLst>
            </p:cNvPr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1C901598-7927-4450-7622-E29DC30BEBB9}"/>
                </a:ext>
              </a:extLst>
            </p:cNvPr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BEF18280-D441-38FF-BA73-34C623745BCF}"/>
                </a:ext>
              </a:extLst>
            </p:cNvPr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F07C80AC-0503-94BF-1BD3-5D48B257E89A}"/>
                </a:ext>
              </a:extLst>
            </p:cNvPr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5">
              <a:extLst>
                <a:ext uri="{FF2B5EF4-FFF2-40B4-BE49-F238E27FC236}">
                  <a16:creationId xmlns:a16="http://schemas.microsoft.com/office/drawing/2014/main" id="{9F3FCA26-1D05-3811-F920-6388E51C43B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AFFE1F10-95BC-C79F-D6DA-B8267C7EB2D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21" name="object 17">
              <a:extLst>
                <a:ext uri="{FF2B5EF4-FFF2-40B4-BE49-F238E27FC236}">
                  <a16:creationId xmlns:a16="http://schemas.microsoft.com/office/drawing/2014/main" id="{40845B94-845A-2CE5-509E-FFBCA816B0E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78BF83AF-75A5-F6F2-70B0-29BB8D41976A}"/>
                </a:ext>
              </a:extLst>
            </p:cNvPr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C4693CB-74F2-FE68-B4CF-BB0940A7F8B4}"/>
              </a:ext>
            </a:extLst>
          </p:cNvPr>
          <p:cNvSpPr txBox="1"/>
          <p:nvPr/>
        </p:nvSpPr>
        <p:spPr>
          <a:xfrm>
            <a:off x="2225565" y="6034000"/>
            <a:ext cx="167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LSTM Cell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98230C-8400-9A20-6D23-3DE23B45F61B}"/>
              </a:ext>
            </a:extLst>
          </p:cNvPr>
          <p:cNvSpPr txBox="1"/>
          <p:nvPr/>
        </p:nvSpPr>
        <p:spPr>
          <a:xfrm>
            <a:off x="8764037" y="5986405"/>
            <a:ext cx="167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RNN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B66985-6D29-5259-9A73-48B7CC7F817C}"/>
              </a:ext>
            </a:extLst>
          </p:cNvPr>
          <p:cNvSpPr txBox="1"/>
          <p:nvPr/>
        </p:nvSpPr>
        <p:spPr>
          <a:xfrm>
            <a:off x="4350708" y="3382948"/>
            <a:ext cx="167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Cell State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054613-80AD-A3FC-8BAA-176FB5D5E76F}"/>
              </a:ext>
            </a:extLst>
          </p:cNvPr>
          <p:cNvCxnSpPr/>
          <p:nvPr/>
        </p:nvCxnSpPr>
        <p:spPr>
          <a:xfrm flipH="1">
            <a:off x="4219383" y="3708959"/>
            <a:ext cx="352617" cy="695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73DB5-86AA-37A7-E8D7-7BF9CC51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Forget Gate</a:t>
            </a:r>
            <a:r>
              <a:rPr lang="en-US" dirty="0"/>
              <a:t>: Decides what portions of the cell state should be erased.</a:t>
            </a:r>
            <a:endParaRPr lang="en-US" b="1" dirty="0"/>
          </a:p>
          <a:p>
            <a:r>
              <a:rPr lang="en-US" b="1" dirty="0"/>
              <a:t>Input Gate</a:t>
            </a:r>
            <a:r>
              <a:rPr lang="en-US" dirty="0"/>
              <a:t>: Selects which values in the input should update the cell state.</a:t>
            </a:r>
          </a:p>
          <a:p>
            <a:r>
              <a:rPr lang="en-US" b="1" dirty="0"/>
              <a:t>Output Gate</a:t>
            </a:r>
            <a:r>
              <a:rPr lang="en-US" dirty="0"/>
              <a:t>: Determines which parts of the cell state are passed to the output.</a:t>
            </a:r>
          </a:p>
          <a:p>
            <a:r>
              <a:rPr lang="en-US" b="1" dirty="0"/>
              <a:t>Cell State</a:t>
            </a:r>
            <a:r>
              <a:rPr lang="en-US" dirty="0"/>
              <a:t>: Holds the LSTM unit's long-term memory across sequence processing steps.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2BDB1-E558-A03B-B432-B7F19547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B6B1-35B1-408C-A5B6-C013C2BC2308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770DB-C390-0981-86B0-0D8E3F1E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31B5A-890D-7136-46F7-BBE5333E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90B181-ECC1-DBA0-0D19-FB515684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</p:spTree>
    <p:extLst>
      <p:ext uri="{BB962C8B-B14F-4D97-AF65-F5344CB8AC3E}">
        <p14:creationId xmlns:p14="http://schemas.microsoft.com/office/powerpoint/2010/main" val="779288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0F83A-1681-6C48-A57C-E2708EEF7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4671-7864-FFE6-B449-922CBEA3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E5D0-21CD-45BD-AE6B-7315A24C2323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CAC74-6310-EB97-E5CE-71B750FC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99199-7214-86CC-BBD5-0FFBEF35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1C2EB1-B91A-8FE7-A852-FB650D1D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6A31F9-2C5D-8D56-BB44-289F956A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98637"/>
            <a:ext cx="6512203" cy="406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85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659AD6-7976-ABC2-1EC2-F28EDD2C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 LSTM </a:t>
            </a:r>
            <a:r>
              <a:rPr lang="en-US" dirty="0">
                <a:solidFill>
                  <a:srgbClr val="00B0F0"/>
                </a:solidFill>
              </a:rPr>
              <a:t>layer has two components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input-to-state component </a:t>
            </a:r>
            <a:endParaRPr lang="en-US" dirty="0"/>
          </a:p>
          <a:p>
            <a:pPr lvl="1"/>
            <a:r>
              <a:rPr lang="en-US" b="1" dirty="0"/>
              <a:t>recurrent state-to-state component </a:t>
            </a:r>
          </a:p>
          <a:p>
            <a:r>
              <a:rPr lang="en-US" dirty="0"/>
              <a:t>These together determine the </a:t>
            </a:r>
            <a:r>
              <a:rPr lang="en-US" dirty="0">
                <a:solidFill>
                  <a:srgbClr val="00B0F0"/>
                </a:solidFill>
              </a:rPr>
              <a:t>four gates inside the LSTM core</a:t>
            </a:r>
            <a:r>
              <a:rPr lang="en-US" dirty="0"/>
              <a:t>. </a:t>
            </a:r>
          </a:p>
          <a:p>
            <a:r>
              <a:rPr lang="en-US" dirty="0"/>
              <a:t>To enhance </a:t>
            </a:r>
            <a:r>
              <a:rPr lang="en-US" dirty="0">
                <a:solidFill>
                  <a:srgbClr val="FF0000"/>
                </a:solidFill>
              </a:rPr>
              <a:t>parallelization</a:t>
            </a:r>
            <a:r>
              <a:rPr lang="en-US" dirty="0"/>
              <a:t> in the Row LSTM the input-to-state component is </a:t>
            </a:r>
            <a:r>
              <a:rPr lang="en-US" dirty="0">
                <a:solidFill>
                  <a:srgbClr val="00B050"/>
                </a:solidFill>
              </a:rPr>
              <a:t>first computed for the entire two-dimensional input map</a:t>
            </a:r>
            <a:r>
              <a:rPr lang="en-US" dirty="0"/>
              <a:t>; </a:t>
            </a:r>
          </a:p>
          <a:p>
            <a:r>
              <a:rPr lang="en-US" dirty="0"/>
              <a:t>For input-to-state calculation, a </a:t>
            </a:r>
            <a:r>
              <a:rPr lang="en-US" dirty="0">
                <a:solidFill>
                  <a:srgbClr val="00B0F0"/>
                </a:solidFill>
              </a:rPr>
              <a:t>k × 1 convolution </a:t>
            </a:r>
            <a:r>
              <a:rPr lang="en-US" dirty="0"/>
              <a:t>is used.</a:t>
            </a:r>
          </a:p>
          <a:p>
            <a:r>
              <a:rPr lang="en-US" dirty="0">
                <a:solidFill>
                  <a:srgbClr val="FF0000"/>
                </a:solidFill>
              </a:rPr>
              <a:t>Convolution is masked </a:t>
            </a:r>
            <a:r>
              <a:rPr lang="en-US" dirty="0"/>
              <a:t>to include only the valid context and produces a tensor of size </a:t>
            </a:r>
            <a:r>
              <a:rPr lang="en-US" dirty="0">
                <a:solidFill>
                  <a:srgbClr val="00B050"/>
                </a:solidFill>
              </a:rPr>
              <a:t>4h×n×n</a:t>
            </a:r>
          </a:p>
          <a:p>
            <a:pPr lvl="1"/>
            <a:r>
              <a:rPr lang="en-US" dirty="0"/>
              <a:t>where h is the number of </a:t>
            </a:r>
            <a:r>
              <a:rPr lang="en-US" dirty="0">
                <a:solidFill>
                  <a:srgbClr val="FF0000"/>
                </a:solidFill>
              </a:rPr>
              <a:t>output feature maps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C8051-526C-1742-2F55-6518CA71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B574-927B-4FEC-AF21-493798651767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F7A49-A43D-368C-4D13-8B05B072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40B19-23C4-E335-D0AF-CD124F89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A7D379-741E-1F1A-55AD-D18A72F0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</p:spTree>
    <p:extLst>
      <p:ext uri="{BB962C8B-B14F-4D97-AF65-F5344CB8AC3E}">
        <p14:creationId xmlns:p14="http://schemas.microsoft.com/office/powerpoint/2010/main" val="1696404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2F3984-19B0-155F-CF52-51A61B826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state-to-state component </a:t>
            </a:r>
            <a:r>
              <a:rPr lang="en-US" dirty="0"/>
              <a:t>of the LSTM layer is calculated: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x</a:t>
            </a:r>
            <a:r>
              <a:rPr lang="en-US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/>
              <a:t>of size h × n × 1 is row </a:t>
            </a:r>
            <a:r>
              <a:rPr lang="en-US" dirty="0" err="1"/>
              <a:t>i</a:t>
            </a:r>
            <a:r>
              <a:rPr lang="en-US" dirty="0"/>
              <a:t> of the input map</a:t>
            </a:r>
          </a:p>
          <a:p>
            <a:r>
              <a:rPr lang="en-US" dirty="0"/>
              <a:t>Where x</a:t>
            </a:r>
            <a:r>
              <a:rPr lang="en-US" baseline="-25000" dirty="0"/>
              <a:t>i</a:t>
            </a:r>
            <a:r>
              <a:rPr lang="en-US" dirty="0"/>
              <a:t> is row </a:t>
            </a:r>
            <a:r>
              <a:rPr lang="en-US" dirty="0" err="1"/>
              <a:t>i</a:t>
            </a:r>
            <a:r>
              <a:rPr lang="en-US" dirty="0"/>
              <a:t>,    represents the convolution operation and    the element- wise multiplication. </a:t>
            </a:r>
          </a:p>
          <a:p>
            <a:r>
              <a:rPr lang="en-US" dirty="0"/>
              <a:t>                                      are the </a:t>
            </a:r>
            <a:r>
              <a:rPr lang="en-US" dirty="0">
                <a:solidFill>
                  <a:srgbClr val="FF0000"/>
                </a:solidFill>
              </a:rPr>
              <a:t>kernel weights </a:t>
            </a:r>
            <a:r>
              <a:rPr lang="en-US" dirty="0"/>
              <a:t>for the state-to-state and the input-to-state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C8B13-F0EC-334D-C107-824221AE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87C74-9049-4FC0-AAD3-840FACD09B95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8C798-0969-0DBE-06EA-E04B5A21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C5B15-9C2F-7BDA-A919-FEFFABE7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DE3E16-E9AE-434A-C5C7-68836BFE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7E08D6-B501-A5E8-A6CB-BD2989082D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863"/>
          <a:stretch/>
        </p:blipFill>
        <p:spPr>
          <a:xfrm>
            <a:off x="210589" y="2154877"/>
            <a:ext cx="6566905" cy="15579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E7A7B0-DD2F-6883-1799-D59BEB86F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4381223"/>
            <a:ext cx="313429" cy="327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0DFB21-675E-FF5B-69CF-02104E027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764" y="4353393"/>
            <a:ext cx="313429" cy="327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DA631F-BB49-1412-BAD4-164993532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059734"/>
            <a:ext cx="3429000" cy="396130"/>
          </a:xfrm>
          <a:prstGeom prst="rect">
            <a:avLst/>
          </a:prstGeom>
        </p:spPr>
      </p:pic>
      <p:grpSp>
        <p:nvGrpSpPr>
          <p:cNvPr id="8" name="object 4">
            <a:extLst>
              <a:ext uri="{FF2B5EF4-FFF2-40B4-BE49-F238E27FC236}">
                <a16:creationId xmlns:a16="http://schemas.microsoft.com/office/drawing/2014/main" id="{A84947C0-A5B6-62B3-0492-0A34586CECA8}"/>
              </a:ext>
            </a:extLst>
          </p:cNvPr>
          <p:cNvGrpSpPr/>
          <p:nvPr/>
        </p:nvGrpSpPr>
        <p:grpSpPr>
          <a:xfrm>
            <a:off x="6858000" y="1986841"/>
            <a:ext cx="5058020" cy="2015716"/>
            <a:chOff x="1905000" y="3060192"/>
            <a:chExt cx="5968365" cy="224345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3FCD7B4A-3BE7-B7CA-5A20-55CE4910D994}"/>
                </a:ext>
              </a:extLst>
            </p:cNvPr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2FAC5F96-21CE-895D-885B-C628E7236737}"/>
                </a:ext>
              </a:extLst>
            </p:cNvPr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A5C6AB05-C703-5C2C-0E21-2033F727514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CB8E01A5-B245-1EE6-C80A-F925ECB25AF2}"/>
                </a:ext>
              </a:extLst>
            </p:cNvPr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FD9DA8FB-4FB5-F1DE-D5CE-2B37252B262F}"/>
                </a:ext>
              </a:extLst>
            </p:cNvPr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" name="object 10">
              <a:extLst>
                <a:ext uri="{FF2B5EF4-FFF2-40B4-BE49-F238E27FC236}">
                  <a16:creationId xmlns:a16="http://schemas.microsoft.com/office/drawing/2014/main" id="{E1E2D62D-412E-9484-81FF-A542055CC3C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6AABE457-78EA-A4DF-FB9C-2707557DE072}"/>
                </a:ext>
              </a:extLst>
            </p:cNvPr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12">
              <a:extLst>
                <a:ext uri="{FF2B5EF4-FFF2-40B4-BE49-F238E27FC236}">
                  <a16:creationId xmlns:a16="http://schemas.microsoft.com/office/drawing/2014/main" id="{235983E1-0041-15F0-1C54-ED2D912D68AC}"/>
                </a:ext>
              </a:extLst>
            </p:cNvPr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20A31180-E7DC-07C4-2239-6D4F3B91FED5}"/>
                </a:ext>
              </a:extLst>
            </p:cNvPr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0A27671-4CDB-C1EB-C551-83F6B4A92C44}"/>
                </a:ext>
              </a:extLst>
            </p:cNvPr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15">
              <a:extLst>
                <a:ext uri="{FF2B5EF4-FFF2-40B4-BE49-F238E27FC236}">
                  <a16:creationId xmlns:a16="http://schemas.microsoft.com/office/drawing/2014/main" id="{7B1D6911-7D32-0A02-A64B-54C492B304A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24" name="object 16">
              <a:extLst>
                <a:ext uri="{FF2B5EF4-FFF2-40B4-BE49-F238E27FC236}">
                  <a16:creationId xmlns:a16="http://schemas.microsoft.com/office/drawing/2014/main" id="{BE40EA48-08CA-B2D7-5FCE-EB4E691DB90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25" name="object 17">
              <a:extLst>
                <a:ext uri="{FF2B5EF4-FFF2-40B4-BE49-F238E27FC236}">
                  <a16:creationId xmlns:a16="http://schemas.microsoft.com/office/drawing/2014/main" id="{6AEB119F-C6BD-E918-7F43-13F040F8894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26" name="object 18">
              <a:extLst>
                <a:ext uri="{FF2B5EF4-FFF2-40B4-BE49-F238E27FC236}">
                  <a16:creationId xmlns:a16="http://schemas.microsoft.com/office/drawing/2014/main" id="{8462008B-2261-7F52-DC72-C4CBDDE1FE92}"/>
                </a:ext>
              </a:extLst>
            </p:cNvPr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  <p:extLst>
      <p:ext uri="{BB962C8B-B14F-4D97-AF65-F5344CB8AC3E}">
        <p14:creationId xmlns:p14="http://schemas.microsoft.com/office/powerpoint/2010/main" val="137975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E44C9-7B2E-AEF7-2614-8701323C5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output, forget and input gates </a:t>
            </a:r>
            <a:r>
              <a:rPr lang="en-US" dirty="0"/>
              <a:t>o</a:t>
            </a:r>
            <a:r>
              <a:rPr lang="en-US" baseline="-25000" dirty="0"/>
              <a:t>i</a:t>
            </a:r>
            <a:r>
              <a:rPr lang="en-US" dirty="0"/>
              <a:t>, f</a:t>
            </a:r>
            <a:r>
              <a:rPr lang="en-US" baseline="-25000" dirty="0"/>
              <a:t>i</a:t>
            </a:r>
            <a:r>
              <a:rPr lang="en-US" dirty="0"/>
              <a:t> and i</a:t>
            </a:r>
            <a:r>
              <a:rPr lang="en-US" baseline="-25000" dirty="0"/>
              <a:t>i</a:t>
            </a:r>
            <a:r>
              <a:rPr lang="en-US" dirty="0"/>
              <a:t>, the activation σ is the logistic sigmoid function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content gate </a:t>
            </a:r>
            <a:r>
              <a:rPr lang="en-US" dirty="0" err="1"/>
              <a:t>g</a:t>
            </a:r>
            <a:r>
              <a:rPr lang="en-US" baseline="-25000" dirty="0" err="1"/>
              <a:t>i</a:t>
            </a:r>
            <a:r>
              <a:rPr lang="en-US" dirty="0"/>
              <a:t>, σ is the </a:t>
            </a:r>
            <a:r>
              <a:rPr lang="en-US" dirty="0">
                <a:solidFill>
                  <a:srgbClr val="FF0000"/>
                </a:solidFill>
              </a:rPr>
              <a:t>tanh</a:t>
            </a:r>
            <a:r>
              <a:rPr lang="en-US" dirty="0"/>
              <a:t> function. </a:t>
            </a:r>
          </a:p>
          <a:p>
            <a:r>
              <a:rPr lang="en-US" dirty="0"/>
              <a:t>Each step computes the new state for an entire row of the input map. </a:t>
            </a:r>
          </a:p>
          <a:p>
            <a:r>
              <a:rPr lang="en-US" dirty="0"/>
              <a:t>The Row LSTM has a </a:t>
            </a:r>
            <a:r>
              <a:rPr lang="en-US" dirty="0">
                <a:solidFill>
                  <a:srgbClr val="FF0000"/>
                </a:solidFill>
              </a:rPr>
              <a:t>triangular receptive </a:t>
            </a:r>
            <a:r>
              <a:rPr lang="en-US" dirty="0"/>
              <a:t>field, it is unable to capture the entire available context.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C7124-4C75-8F9F-2919-906B7755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BD-1726-4411-9C92-86F6972D7F67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F33FB-0517-3B3A-D1C8-2804B912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DACAF-3F3C-3D6B-4D37-FD3C1544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80F417-7651-93AA-6285-D00A004D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</p:spTree>
    <p:extLst>
      <p:ext uri="{BB962C8B-B14F-4D97-AF65-F5344CB8AC3E}">
        <p14:creationId xmlns:p14="http://schemas.microsoft.com/office/powerpoint/2010/main" val="3193864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038F36-4C3D-5B6C-C852-F4C44298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848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Diagonal </a:t>
            </a:r>
            <a:r>
              <a:rPr lang="en-US" dirty="0" err="1">
                <a:solidFill>
                  <a:srgbClr val="00B050"/>
                </a:solidFill>
              </a:rPr>
              <a:t>BiLSTM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 designed to both parallelize the computation and </a:t>
            </a:r>
            <a:r>
              <a:rPr lang="en-US" dirty="0">
                <a:solidFill>
                  <a:srgbClr val="FF0000"/>
                </a:solidFill>
              </a:rPr>
              <a:t>to capture the entire available context for any image size</a:t>
            </a:r>
            <a:r>
              <a:rPr lang="en-US" dirty="0"/>
              <a:t>. </a:t>
            </a:r>
          </a:p>
          <a:p>
            <a:r>
              <a:rPr lang="en-US" dirty="0"/>
              <a:t>In both directions of the layer scans the image in a </a:t>
            </a:r>
            <a:r>
              <a:rPr lang="en-US" dirty="0">
                <a:solidFill>
                  <a:srgbClr val="FF0000"/>
                </a:solidFill>
              </a:rPr>
              <a:t>diagonal fashion </a:t>
            </a:r>
          </a:p>
          <a:p>
            <a:pPr lvl="1"/>
            <a:r>
              <a:rPr lang="en-US" dirty="0"/>
              <a:t>From the top corner to the bottom right corner. </a:t>
            </a:r>
          </a:p>
          <a:p>
            <a:r>
              <a:rPr lang="en-US" dirty="0"/>
              <a:t>Each step in the computation computes at once the </a:t>
            </a:r>
            <a:r>
              <a:rPr lang="en-US" dirty="0">
                <a:solidFill>
                  <a:srgbClr val="FF0000"/>
                </a:solidFill>
              </a:rPr>
              <a:t>LSTM state along a diagonal </a:t>
            </a:r>
            <a:r>
              <a:rPr lang="en-US" dirty="0"/>
              <a:t>in the image. </a:t>
            </a:r>
          </a:p>
          <a:p>
            <a:r>
              <a:rPr lang="en-US" dirty="0"/>
              <a:t>Resulting </a:t>
            </a:r>
            <a:r>
              <a:rPr lang="en-US" dirty="0">
                <a:solidFill>
                  <a:srgbClr val="0070C0"/>
                </a:solidFill>
              </a:rPr>
              <a:t>receptive field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A3BE6-9774-F0C0-3BF5-B2DD4D54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9F181-E61D-4819-B8EE-B8DD8A04411F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F65C7-8D2F-8E7C-3B2D-DA3C595E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62A46-A856-F8D8-FB89-2E147B16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02637C-25F4-5FED-2839-969BB67F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Diagonal </a:t>
            </a:r>
            <a:r>
              <a:rPr lang="en-US" dirty="0" err="1"/>
              <a:t>BiLSTM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6BABD-E948-340C-9D71-01F677D2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600201"/>
            <a:ext cx="3060842" cy="427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49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AE273D-3B78-E48B-8B51-26F4F933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943600" cy="4525963"/>
          </a:xfrm>
        </p:spPr>
        <p:txBody>
          <a:bodyPr/>
          <a:lstStyle/>
          <a:p>
            <a:r>
              <a:rPr lang="en-US" dirty="0"/>
              <a:t>Working: </a:t>
            </a:r>
            <a:r>
              <a:rPr lang="en-US" dirty="0">
                <a:solidFill>
                  <a:srgbClr val="FF0000"/>
                </a:solidFill>
              </a:rPr>
              <a:t>First, skew the input map into a space</a:t>
            </a:r>
          </a:p>
          <a:p>
            <a:pPr lvl="1"/>
            <a:r>
              <a:rPr lang="en-US" dirty="0"/>
              <a:t>Easy to apply </a:t>
            </a:r>
            <a:r>
              <a:rPr lang="en-US" dirty="0">
                <a:solidFill>
                  <a:srgbClr val="00B050"/>
                </a:solidFill>
              </a:rPr>
              <a:t>convolutions along diagonals</a:t>
            </a:r>
            <a:r>
              <a:rPr lang="en-US" dirty="0"/>
              <a:t>. </a:t>
            </a:r>
          </a:p>
          <a:p>
            <a:r>
              <a:rPr lang="en-US" dirty="0"/>
              <a:t>The skewing operation </a:t>
            </a:r>
            <a:r>
              <a:rPr lang="en-US" dirty="0">
                <a:solidFill>
                  <a:srgbClr val="FF0000"/>
                </a:solidFill>
              </a:rPr>
              <a:t>offsets each row </a:t>
            </a:r>
            <a:r>
              <a:rPr lang="en-US" dirty="0"/>
              <a:t>of the input map by one position with respect to the previous row</a:t>
            </a:r>
          </a:p>
          <a:p>
            <a:r>
              <a:rPr lang="en-US" dirty="0"/>
              <a:t>This results in a map of size n × (2n − 1).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186E-7045-C122-E19B-2EE2F674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BBC-1A24-411A-9909-DAC0F8F74CAB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B769F-F4D1-F426-CF5F-8C30A40A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D2F98-3E42-2121-B0D4-A5894AFB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362086-C387-9C3E-B558-5544E8B2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Diagonal </a:t>
            </a:r>
            <a:r>
              <a:rPr lang="en-US" dirty="0" err="1"/>
              <a:t>BiLSTM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FAA06D-4040-2018-0DF4-267ACF939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727410"/>
            <a:ext cx="5707925" cy="340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3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E1D67F-1217-F475-CD82-616F905FE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each of the two directions, </a:t>
            </a:r>
            <a:r>
              <a:rPr lang="en-US" dirty="0">
                <a:solidFill>
                  <a:srgbClr val="FF0000"/>
                </a:solidFill>
              </a:rPr>
              <a:t>the input-to-state component </a:t>
            </a:r>
            <a:r>
              <a:rPr lang="en-US" dirty="0"/>
              <a:t>is simply a </a:t>
            </a:r>
            <a:r>
              <a:rPr lang="en-US" dirty="0">
                <a:solidFill>
                  <a:srgbClr val="0070C0"/>
                </a:solidFill>
              </a:rPr>
              <a:t>1×1 convolution K</a:t>
            </a:r>
            <a:r>
              <a:rPr lang="en-US" baseline="30000" dirty="0">
                <a:solidFill>
                  <a:srgbClr val="0070C0"/>
                </a:solidFill>
              </a:rPr>
              <a:t>is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that contributes to the four gates in the LSTM core</a:t>
            </a:r>
          </a:p>
          <a:p>
            <a:r>
              <a:rPr lang="en-US" dirty="0"/>
              <a:t>The operation generates a </a:t>
            </a:r>
            <a:r>
              <a:rPr lang="en-US" dirty="0">
                <a:solidFill>
                  <a:srgbClr val="FF0000"/>
                </a:solidFill>
              </a:rPr>
              <a:t>4h × n × n tensor</a:t>
            </a:r>
            <a:r>
              <a:rPr lang="en-US" dirty="0"/>
              <a:t>. </a:t>
            </a:r>
          </a:p>
          <a:p>
            <a:r>
              <a:rPr lang="en-US" dirty="0"/>
              <a:t>The state-to-state recurrent component is then computed with a </a:t>
            </a:r>
            <a:r>
              <a:rPr lang="en-US" dirty="0">
                <a:solidFill>
                  <a:srgbClr val="FF0000"/>
                </a:solidFill>
              </a:rPr>
              <a:t>column-wise convolution </a:t>
            </a:r>
            <a:r>
              <a:rPr lang="en-US" dirty="0" err="1">
                <a:solidFill>
                  <a:srgbClr val="FF0000"/>
                </a:solidFill>
              </a:rPr>
              <a:t>K</a:t>
            </a:r>
            <a:r>
              <a:rPr lang="en-US" baseline="30000" dirty="0" err="1">
                <a:solidFill>
                  <a:srgbClr val="FF0000"/>
                </a:solidFill>
              </a:rPr>
              <a:t>ss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that has a kernel of size </a:t>
            </a:r>
            <a:r>
              <a:rPr lang="en-US" dirty="0">
                <a:solidFill>
                  <a:srgbClr val="FF0000"/>
                </a:solidFill>
              </a:rPr>
              <a:t>2 × 1</a:t>
            </a:r>
            <a:r>
              <a:rPr lang="en-US" dirty="0"/>
              <a:t>. </a:t>
            </a:r>
          </a:p>
          <a:p>
            <a:r>
              <a:rPr lang="en-US" dirty="0"/>
              <a:t>It takes the previous hidden and cell states, combines the contribution of the </a:t>
            </a:r>
            <a:r>
              <a:rPr lang="en-US" dirty="0">
                <a:solidFill>
                  <a:srgbClr val="00B050"/>
                </a:solidFill>
              </a:rPr>
              <a:t>input-to-state component </a:t>
            </a:r>
            <a:r>
              <a:rPr lang="en-US" dirty="0"/>
              <a:t>and produces the next hidden and cell states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962B1-20C9-2ADC-BE74-295B0207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AD27-8498-481C-8E63-AE2E7F6CD6F9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7C503-A293-C3CF-BC90-D3B9D975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596B8-D04D-22DC-CA2C-1B835216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E82F7C-ABDA-C1D8-90CB-9DBA1FF0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Diagonal </a:t>
            </a:r>
            <a:r>
              <a:rPr lang="en-US" dirty="0" err="1"/>
              <a:t>BiLSTM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72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83627-198F-CF95-A5A7-33CB7E67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output feature </a:t>
            </a:r>
            <a:r>
              <a:rPr lang="en-US" dirty="0"/>
              <a:t>map is then skewed back into an </a:t>
            </a:r>
            <a:r>
              <a:rPr lang="en-US" dirty="0">
                <a:solidFill>
                  <a:srgbClr val="FF0000"/>
                </a:solidFill>
              </a:rPr>
              <a:t>n × n map </a:t>
            </a:r>
            <a:r>
              <a:rPr lang="en-US" dirty="0"/>
              <a:t>by removing the offset positions</a:t>
            </a:r>
          </a:p>
          <a:p>
            <a:r>
              <a:rPr lang="en-US" dirty="0"/>
              <a:t>This computation is repeated for </a:t>
            </a:r>
            <a:r>
              <a:rPr lang="en-US" dirty="0">
                <a:solidFill>
                  <a:srgbClr val="FF0000"/>
                </a:solidFill>
              </a:rPr>
              <a:t>each of the two directions</a:t>
            </a:r>
            <a:r>
              <a:rPr lang="en-US" dirty="0"/>
              <a:t>. </a:t>
            </a:r>
          </a:p>
          <a:p>
            <a:r>
              <a:rPr lang="en-US" dirty="0"/>
              <a:t>Uses a convolutional kernel of size 2 × 1 that processes a minimal amount of information at each step</a:t>
            </a:r>
          </a:p>
          <a:p>
            <a:r>
              <a:rPr lang="en-US" dirty="0"/>
              <a:t>Given the two output maps are added</a:t>
            </a:r>
          </a:p>
          <a:p>
            <a:pPr lvl="1"/>
            <a:r>
              <a:rPr lang="en-US" dirty="0"/>
              <a:t>Left and the Right output map</a:t>
            </a:r>
          </a:p>
          <a:p>
            <a:r>
              <a:rPr lang="en-US" dirty="0"/>
              <a:t>Kernel sizes larger than 2 × 1 are </a:t>
            </a:r>
            <a:r>
              <a:rPr lang="en-US" dirty="0">
                <a:solidFill>
                  <a:srgbClr val="FF0000"/>
                </a:solidFill>
              </a:rPr>
              <a:t>not particularly useful as they do not broaden the already global receptive field </a:t>
            </a:r>
            <a:r>
              <a:rPr lang="en-US" dirty="0"/>
              <a:t>of the Diagonal </a:t>
            </a:r>
            <a:r>
              <a:rPr lang="en-US" dirty="0" err="1"/>
              <a:t>BiLSTM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7AAB5-0B64-EC72-5041-6A6013DF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A941F-4249-43B1-8C62-6249345CED5C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7FFF1-B96E-4105-5372-BEC48ED7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31278-94BD-FF1E-2012-5FDDEEF0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575B4A-DB5D-E1FA-B633-AB3D80D7C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Diagonal </a:t>
            </a:r>
            <a:r>
              <a:rPr lang="en-US" dirty="0" err="1"/>
              <a:t>BiLSTM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121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5991E2-F8C7-48FB-53DE-6859E51B2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999" y="1905000"/>
            <a:ext cx="8403115" cy="41148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0D8F2-F2F7-BD87-1C53-771F020B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AFBC-808B-4C7D-A1B3-54FE9DB13AEE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1A718-5931-7357-4EA2-8CED0CC8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82753-6726-8B0C-B189-41447581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80E565-5FB1-E63F-68BD-D9F0CE37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Diagonal </a:t>
            </a:r>
            <a:r>
              <a:rPr lang="en-US" dirty="0" err="1"/>
              <a:t>BiLSTM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13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F9AA30-E468-DF6A-0C8B-4D4F2787E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Residual connections (He et al., 2015)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Residual connections  were introduced in the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ResNet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architecture.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Create shortcuts that allow the signal to skip one or more layers.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These connections do this by adding the input of the current layer to its output, which helps to preserve the strength of the signal across the network. </a:t>
            </a:r>
            <a:endParaRPr lang="en-US" dirty="0"/>
          </a:p>
          <a:p>
            <a:r>
              <a:rPr lang="en-US" dirty="0" err="1"/>
              <a:t>PixelRNNs</a:t>
            </a:r>
            <a:r>
              <a:rPr lang="en-US" dirty="0"/>
              <a:t> is trained up to </a:t>
            </a:r>
            <a:r>
              <a:rPr lang="en-US" dirty="0">
                <a:solidFill>
                  <a:srgbClr val="FF0000"/>
                </a:solidFill>
              </a:rPr>
              <a:t>twelve layers of depth</a:t>
            </a:r>
            <a:r>
              <a:rPr lang="en-US" dirty="0"/>
              <a:t>. </a:t>
            </a:r>
          </a:p>
          <a:p>
            <a:r>
              <a:rPr lang="en-US" dirty="0"/>
              <a:t>To increase both </a:t>
            </a:r>
            <a:r>
              <a:rPr lang="en-US" dirty="0">
                <a:solidFill>
                  <a:srgbClr val="00B050"/>
                </a:solidFill>
              </a:rPr>
              <a:t>convergence speed and propagate signals </a:t>
            </a:r>
            <a:r>
              <a:rPr lang="en-US" dirty="0"/>
              <a:t>more directly through the network, </a:t>
            </a:r>
            <a:r>
              <a:rPr lang="en-US" dirty="0">
                <a:solidFill>
                  <a:srgbClr val="FF0000"/>
                </a:solidFill>
              </a:rPr>
              <a:t>residual connections are used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LSTM layer to the next.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44DB0-167B-1E02-B7FD-6DDBCD2D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477E3-30AA-422D-99E7-5D4865731FBC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E936F-A3A4-0DA2-D224-36C89EE3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7C596-4247-9A3E-66AC-22849B18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2E1530-A0B0-341E-0CAE-54A59DC0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Connections</a:t>
            </a:r>
          </a:p>
        </p:txBody>
      </p:sp>
    </p:spTree>
    <p:extLst>
      <p:ext uri="{BB962C8B-B14F-4D97-AF65-F5344CB8AC3E}">
        <p14:creationId xmlns:p14="http://schemas.microsoft.com/office/powerpoint/2010/main" val="1509951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BCB8AA-56F8-CCBC-CFA9-0DD54AACA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48768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input map to the </a:t>
            </a:r>
            <a:r>
              <a:rPr lang="en-US" dirty="0" err="1"/>
              <a:t>PixelRNN</a:t>
            </a:r>
            <a:r>
              <a:rPr lang="en-US" dirty="0"/>
              <a:t> LSTM layer has 2h features. </a:t>
            </a:r>
          </a:p>
          <a:p>
            <a:r>
              <a:rPr lang="en-US" dirty="0"/>
              <a:t>The input-to-state component reduces the number of features by </a:t>
            </a:r>
            <a:r>
              <a:rPr lang="en-US" dirty="0">
                <a:solidFill>
                  <a:srgbClr val="00B050"/>
                </a:solidFill>
              </a:rPr>
              <a:t>producing h features per gate.</a:t>
            </a:r>
          </a:p>
          <a:p>
            <a:r>
              <a:rPr lang="en-US" dirty="0"/>
              <a:t>After applying the recurrent layer, the output map is </a:t>
            </a:r>
            <a:r>
              <a:rPr lang="en-US" dirty="0" err="1">
                <a:solidFill>
                  <a:srgbClr val="00B050"/>
                </a:solidFill>
              </a:rPr>
              <a:t>upsampled</a:t>
            </a:r>
            <a:r>
              <a:rPr lang="en-US" dirty="0">
                <a:solidFill>
                  <a:srgbClr val="00B050"/>
                </a:solidFill>
              </a:rPr>
              <a:t> back to 2h features per position via a 1 × 1 convolution </a:t>
            </a:r>
            <a:r>
              <a:rPr lang="en-US" dirty="0"/>
              <a:t>and the input map is added to the output map.</a:t>
            </a:r>
          </a:p>
          <a:p>
            <a:r>
              <a:rPr lang="en-US" dirty="0"/>
              <a:t>We can also use </a:t>
            </a:r>
            <a:r>
              <a:rPr lang="en-US" dirty="0">
                <a:solidFill>
                  <a:srgbClr val="FF0000"/>
                </a:solidFill>
              </a:rPr>
              <a:t>learnable skip connections</a:t>
            </a:r>
            <a:r>
              <a:rPr lang="en-US" dirty="0"/>
              <a:t> from each layer to the output. 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addition of residual and layer-to-output skip connections is more effective.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298D5-D261-A9F4-A3E1-989B6510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A2264-D02B-4B6E-9538-C54EBB647355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BBB98-E510-1846-8787-A97701841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F1E4F-1C51-7986-ECB6-4214CDED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47EEAF-875A-24EC-F06A-9C8A8BB3E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Connections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643880-AE8B-0365-2AD6-2BFE5199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807" y="1905000"/>
            <a:ext cx="6307559" cy="25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00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D7D994-C690-8411-0024-69242BC9C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h features for each input position at every layer in the network are </a:t>
            </a:r>
            <a:r>
              <a:rPr lang="en-US" dirty="0">
                <a:solidFill>
                  <a:srgbClr val="FF0000"/>
                </a:solidFill>
              </a:rPr>
              <a:t>split into three parts</a:t>
            </a:r>
          </a:p>
          <a:p>
            <a:pPr lvl="1"/>
            <a:r>
              <a:rPr lang="en-US" dirty="0"/>
              <a:t>Each corresponding to one of the RGB channels. </a:t>
            </a:r>
          </a:p>
          <a:p>
            <a:r>
              <a:rPr lang="en-US" dirty="0"/>
              <a:t>When predicting the R channel for the current </a:t>
            </a:r>
            <a:r>
              <a:rPr lang="en-US" dirty="0">
                <a:solidFill>
                  <a:srgbClr val="FF0000"/>
                </a:solidFill>
              </a:rPr>
              <a:t>pixel x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, only the generated pixels left and above of x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can be used as context</a:t>
            </a:r>
            <a:r>
              <a:rPr lang="en-US" dirty="0"/>
              <a:t>.</a:t>
            </a:r>
          </a:p>
          <a:p>
            <a:r>
              <a:rPr lang="en-US" dirty="0"/>
              <a:t>When predicting the G channel, the value of the </a:t>
            </a:r>
            <a:r>
              <a:rPr lang="en-US" dirty="0">
                <a:solidFill>
                  <a:srgbClr val="FF0000"/>
                </a:solidFill>
              </a:rPr>
              <a:t>R channel can also be used as context </a:t>
            </a:r>
            <a:r>
              <a:rPr lang="en-US" dirty="0"/>
              <a:t>in addition to the previously generated pixels. </a:t>
            </a:r>
          </a:p>
          <a:p>
            <a:r>
              <a:rPr lang="en-US" dirty="0"/>
              <a:t>When predicting the B channel, </a:t>
            </a:r>
            <a:r>
              <a:rPr lang="en-US" dirty="0">
                <a:solidFill>
                  <a:srgbClr val="00B0F0"/>
                </a:solidFill>
              </a:rPr>
              <a:t>the values of both the R and G channels can be used</a:t>
            </a:r>
            <a:r>
              <a:rPr lang="en-US" dirty="0"/>
              <a:t>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3EC1F-8850-52EB-8D6A-BD3BD8F2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2B00-DE49-4926-BE4B-04AACA38E8FC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70859-7A72-9649-F636-FF2BEC37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320E3-EFB7-C5FE-3613-8C19CF4A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35CDAF-B0B0-98B2-9A70-66A7A287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Convolution</a:t>
            </a:r>
          </a:p>
        </p:txBody>
      </p:sp>
    </p:spTree>
    <p:extLst>
      <p:ext uri="{BB962C8B-B14F-4D97-AF65-F5344CB8AC3E}">
        <p14:creationId xmlns:p14="http://schemas.microsoft.com/office/powerpoint/2010/main" val="2650854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96220-9DDF-9F00-3E81-F251F06D5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7724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To restrict connections in the network to these dependencies, we apply </a:t>
            </a:r>
            <a:r>
              <a:rPr lang="en-US" dirty="0">
                <a:solidFill>
                  <a:srgbClr val="00B0F0"/>
                </a:solidFill>
              </a:rPr>
              <a:t>a mask to the input- to-state convolutions and to other convolutional layers</a:t>
            </a:r>
          </a:p>
          <a:p>
            <a:r>
              <a:rPr lang="en-US" dirty="0"/>
              <a:t>Two types of masks are used as indicate with mask A and mask B</a:t>
            </a:r>
          </a:p>
          <a:p>
            <a:r>
              <a:rPr lang="en-US" b="1" dirty="0"/>
              <a:t>Mask A </a:t>
            </a:r>
            <a:r>
              <a:rPr lang="en-US" dirty="0"/>
              <a:t>is applied only to the first convolutional layer in a </a:t>
            </a:r>
            <a:r>
              <a:rPr lang="en-US" dirty="0" err="1"/>
              <a:t>PixelRNN</a:t>
            </a:r>
            <a:r>
              <a:rPr lang="en-US" dirty="0"/>
              <a:t> and restricts the connections to those neighboring pixels and to those colors in the current pixels that have </a:t>
            </a:r>
            <a:r>
              <a:rPr lang="en-US" dirty="0">
                <a:solidFill>
                  <a:srgbClr val="FF0000"/>
                </a:solidFill>
              </a:rPr>
              <a:t>already been predicted</a:t>
            </a:r>
            <a:r>
              <a:rPr lang="en-US" dirty="0"/>
              <a:t>. </a:t>
            </a:r>
          </a:p>
          <a:p>
            <a:r>
              <a:rPr lang="en-US" dirty="0"/>
              <a:t>Mask B is applied to all the subsequent input-to-state convolutional transitions and relaxes the restrictions of mask A by also </a:t>
            </a:r>
            <a:r>
              <a:rPr lang="en-US" dirty="0">
                <a:solidFill>
                  <a:srgbClr val="FF0000"/>
                </a:solidFill>
              </a:rPr>
              <a:t>allowing the connection from a color to itself</a:t>
            </a:r>
            <a:r>
              <a:rPr lang="en-US" dirty="0"/>
              <a:t>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A0946-7C15-A223-2962-3AC28156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D14E-4051-4F2B-B785-78BA776711DB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CCEC8-E35D-66D1-CD34-C56BE9297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E29BD-BE97-F326-3B02-2AB13725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35EA89-05A1-0727-E600-A799AA18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Convolution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656AF9-0E0D-C01B-49F4-9C3F07E73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752600"/>
            <a:ext cx="3297397" cy="196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77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2C842E-DAA7-156E-52C2-3829434AF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Row and Diagonal LSTM layers have a potentially </a:t>
            </a:r>
            <a:r>
              <a:rPr lang="en-US" b="1" dirty="0"/>
              <a:t>unbounded dependency range </a:t>
            </a:r>
            <a:r>
              <a:rPr lang="en-US" dirty="0"/>
              <a:t>within their receptive field. </a:t>
            </a:r>
          </a:p>
          <a:p>
            <a:r>
              <a:rPr lang="en-US" dirty="0"/>
              <a:t>High computational cost as each state needs to be computed sequentially. </a:t>
            </a:r>
          </a:p>
          <a:p>
            <a:r>
              <a:rPr lang="en-US" dirty="0">
                <a:solidFill>
                  <a:srgbClr val="00B0F0"/>
                </a:solidFill>
              </a:rPr>
              <a:t>How about making receptive field large, but not unbounded?</a:t>
            </a:r>
            <a:r>
              <a:rPr lang="en-US" dirty="0"/>
              <a:t> </a:t>
            </a:r>
          </a:p>
          <a:p>
            <a:r>
              <a:rPr lang="en-US" dirty="0"/>
              <a:t>We can use standard convolutional layers </a:t>
            </a:r>
          </a:p>
          <a:p>
            <a:pPr lvl="1"/>
            <a:r>
              <a:rPr lang="en-US" dirty="0"/>
              <a:t>Compute features for all pixel positions at once. </a:t>
            </a:r>
          </a:p>
          <a:p>
            <a:r>
              <a:rPr lang="en-US" dirty="0"/>
              <a:t>The </a:t>
            </a:r>
            <a:r>
              <a:rPr lang="en-US" dirty="0" err="1"/>
              <a:t>PixelCNN</a:t>
            </a:r>
            <a:r>
              <a:rPr lang="en-US" dirty="0"/>
              <a:t> uses </a:t>
            </a:r>
            <a:r>
              <a:rPr lang="en-US" dirty="0">
                <a:solidFill>
                  <a:srgbClr val="00B0F0"/>
                </a:solidFill>
              </a:rPr>
              <a:t>multiple convolutional layers </a:t>
            </a:r>
            <a:r>
              <a:rPr lang="en-US" dirty="0"/>
              <a:t>that preserve the </a:t>
            </a:r>
            <a:r>
              <a:rPr lang="en-US" dirty="0">
                <a:solidFill>
                  <a:srgbClr val="FF0000"/>
                </a:solidFill>
              </a:rPr>
              <a:t>spatial resolution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Pooling layers are not used.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ACB96-5DEF-F2D0-AE00-6F8D208F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5EC-CE69-48E2-B086-1F4B3385DC44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437C3-ECBC-DAA1-5708-4F82859B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CEA3B-8DB2-8EB6-62B2-322B75E6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CA88E7-CD43-6FBB-0B68-E467A9DC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206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998AD3-1C24-B0D1-DFBD-FF7B4F3D1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Masks are adopted in the convolutions to </a:t>
            </a:r>
            <a:r>
              <a:rPr lang="en-US" dirty="0">
                <a:solidFill>
                  <a:srgbClr val="FF0000"/>
                </a:solidFill>
              </a:rPr>
              <a:t>avoid seeing the future context</a:t>
            </a:r>
            <a:r>
              <a:rPr lang="en-US" dirty="0"/>
              <a:t>;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51D29-08FE-82A6-FE25-3FC01826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3EBB-D87A-478B-8A4E-77BAEE3624FE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9ABF4-C574-7506-B762-4EC10B0C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04A62-F5C0-C03F-AA5A-E3B309EF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D28E2C-D6E8-21BE-2D9F-E83EA636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F21086-0B25-7D7F-62E6-AECC37B96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5" y="3276600"/>
            <a:ext cx="11284538" cy="241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33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58B469-DB3E-B6B9-E92A-02BA2F62B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447801"/>
            <a:ext cx="7424856" cy="500848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82925-0B54-CADD-3E46-BE71B9E6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80E6-2945-4080-9F13-56739C203E25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4EBDD-FA0B-9F77-8E66-B3535651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D2880-686D-7917-9E82-19B33CDE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2DF414-C12A-AFFE-0DD5-8B9CE6DC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r>
              <a:rPr lang="en-US" dirty="0"/>
              <a:t> and </a:t>
            </a:r>
            <a:r>
              <a:rPr lang="en-US" dirty="0" err="1"/>
              <a:t>PixelCNN</a:t>
            </a:r>
            <a:r>
              <a:rPr lang="en-US" dirty="0"/>
              <a:t> Specification</a:t>
            </a:r>
          </a:p>
        </p:txBody>
      </p:sp>
    </p:spTree>
    <p:extLst>
      <p:ext uri="{BB962C8B-B14F-4D97-AF65-F5344CB8AC3E}">
        <p14:creationId xmlns:p14="http://schemas.microsoft.com/office/powerpoint/2010/main" val="3654545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FD723F-3125-43CB-083F-C9D53F8762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our models are trained and evaluated on the </a:t>
                </a:r>
                <a:r>
                  <a:rPr lang="en-US" dirty="0">
                    <a:solidFill>
                      <a:srgbClr val="FF0000"/>
                    </a:solidFill>
                  </a:rPr>
                  <a:t>Negative Log-Likelihood (NLL) </a:t>
                </a:r>
                <a:r>
                  <a:rPr lang="en-US" dirty="0"/>
                  <a:t>function.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NLL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Two datasets: CIFAR-10 and MNIST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FD723F-3125-43CB-083F-C9D53F8762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4E611-131A-54F3-A14B-3EE8004B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C333-70C3-4156-B740-DAC1A4875695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59AF5-4918-65DE-9AE8-903A36FC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B19F3-7CA5-EB9C-53A6-CC2E9C04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67F58F-ADE7-043D-7B85-05F8668DC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826653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7D7919-D5EE-63C2-0D0B-698CD464E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546826"/>
            <a:ext cx="7110765" cy="470157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D4CAD-C5AE-DD52-37B5-E066B38E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D5540-9372-40CE-91A9-92E5E294B89A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6B2B8-16C6-DD2B-64FC-6A19405E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8CEB8-1DA0-118F-247B-AD87CFC3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7770CE-4A84-43F3-0C35-D2407FFC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 Generated</a:t>
            </a:r>
          </a:p>
        </p:txBody>
      </p:sp>
    </p:spTree>
    <p:extLst>
      <p:ext uri="{BB962C8B-B14F-4D97-AF65-F5344CB8AC3E}">
        <p14:creationId xmlns:p14="http://schemas.microsoft.com/office/powerpoint/2010/main" val="12973521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CC3685-F665-E04B-928E-3A2CD76E1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students will research and learn about the following topics:</a:t>
            </a:r>
          </a:p>
          <a:p>
            <a:r>
              <a:rPr lang="en-US" dirty="0"/>
              <a:t>1. Explain the working of 1x1 convolutions. What is the purpose of using 1x1 convolutions? Give use cases. </a:t>
            </a:r>
          </a:p>
          <a:p>
            <a:r>
              <a:rPr lang="en-US" dirty="0"/>
              <a:t>2. What are Skip connections? Why they are useful? How can we select the number of skip connections?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936CD-802F-189A-8366-72D47088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BB5E-EE40-424D-9D7F-CB5862A65767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545AE-992E-DA9B-18C4-62FD23B9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1C664-9031-391C-9120-FC6FF20F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C2CD65-B6CF-5AD0-F1D4-E99D3A94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1859061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4EBE-4493-381C-BBC2-7F907581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3DE3D-2EC0-FF0E-D6DD-5BB94039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Lucida Grande"/>
                <a:hlinkClick r:id="rId2"/>
              </a:rPr>
              <a:t>Pixel Recurrent Neural Networks</a:t>
            </a:r>
            <a:endParaRPr lang="en-US" b="1" i="0" dirty="0">
              <a:solidFill>
                <a:srgbClr val="000000"/>
              </a:solidFill>
              <a:effectLst/>
              <a:latin typeface="Lucida Grande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D9B8A-BB10-B81C-7B73-476E2C3B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E249-60BA-4366-9512-2F03E0999487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7BA1F-DFA4-266A-F989-5A0D454C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46DEE-39B1-81A4-1855-C5DE6D44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48668A-B5B6-EFD2-4E01-0316F2D7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11284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974F6-73C0-492D-942A-18DC5FBE82A6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24880</TotalTime>
  <Words>2346</Words>
  <Application>Microsoft Office PowerPoint</Application>
  <PresentationFormat>Widescreen</PresentationFormat>
  <Paragraphs>306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inherit</vt:lpstr>
      <vt:lpstr>Lucida Grande</vt:lpstr>
      <vt:lpstr>SimSun</vt:lpstr>
      <vt:lpstr>Söhne</vt:lpstr>
      <vt:lpstr>Times-Roman</vt:lpstr>
      <vt:lpstr>arial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PowerPoint Presentation</vt:lpstr>
      <vt:lpstr>Goals</vt:lpstr>
      <vt:lpstr>Review of Previous Lecture</vt:lpstr>
      <vt:lpstr>Autoregressive models</vt:lpstr>
      <vt:lpstr>Autoregressive models</vt:lpstr>
      <vt:lpstr>Autoregressive models</vt:lpstr>
      <vt:lpstr>Dilated convolutions</vt:lpstr>
      <vt:lpstr>Autoregressive models</vt:lpstr>
      <vt:lpstr>PixelRNN</vt:lpstr>
      <vt:lpstr>PixelCNN</vt:lpstr>
      <vt:lpstr>Model</vt:lpstr>
      <vt:lpstr>Generating an Image Pixel by Pixel</vt:lpstr>
      <vt:lpstr>Generating an Image Pixel by Pixel</vt:lpstr>
      <vt:lpstr>Pixels as Discrete Variables</vt:lpstr>
      <vt:lpstr>Today’s Lecture</vt:lpstr>
      <vt:lpstr>Architectural Components pf PixelRNN</vt:lpstr>
      <vt:lpstr>LSTM Layers</vt:lpstr>
      <vt:lpstr>LSTM Layers</vt:lpstr>
      <vt:lpstr>LSTM Layers</vt:lpstr>
      <vt:lpstr>LSTM Layers</vt:lpstr>
      <vt:lpstr>LSTM Layers</vt:lpstr>
      <vt:lpstr>LSTM Layers</vt:lpstr>
      <vt:lpstr>LSTM Layers</vt:lpstr>
      <vt:lpstr>Diagonal BiLSTM</vt:lpstr>
      <vt:lpstr>Diagonal BiLSTM</vt:lpstr>
      <vt:lpstr>Diagonal BiLSTM</vt:lpstr>
      <vt:lpstr>Diagonal BiLSTM</vt:lpstr>
      <vt:lpstr>Diagonal BiLSTM</vt:lpstr>
      <vt:lpstr>Residual Connections</vt:lpstr>
      <vt:lpstr>Residual Connections</vt:lpstr>
      <vt:lpstr>Masked Convolution</vt:lpstr>
      <vt:lpstr>Masked Convolution</vt:lpstr>
      <vt:lpstr>PixelCNN</vt:lpstr>
      <vt:lpstr>PixelCNN</vt:lpstr>
      <vt:lpstr>PixelRNN and PixelCNN Specification</vt:lpstr>
      <vt:lpstr>Evaluation</vt:lpstr>
      <vt:lpstr>Samples Generated</vt:lpstr>
      <vt:lpstr>Research Questions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1658</cp:revision>
  <dcterms:created xsi:type="dcterms:W3CDTF">2006-08-16T00:00:00Z</dcterms:created>
  <dcterms:modified xsi:type="dcterms:W3CDTF">2025-09-29T10:39:08Z</dcterms:modified>
</cp:coreProperties>
</file>