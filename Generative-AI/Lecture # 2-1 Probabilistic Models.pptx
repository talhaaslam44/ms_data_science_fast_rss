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</p:sldIdLst>
  <p:sldSz cx="12192000" cy="6858000"/>
  <p:notesSz cx="6858000" cy="9144000"/>
  <p:embeddedFontLst>
    <p:embeddedFont>
      <p:font typeface="Lucida Sans" panose="020B0602030504020204" pitchFamily="34" charset="0"/>
      <p:regular r:id="rId38"/>
      <p:bold r:id="rId39"/>
      <p:italic r:id="rId40"/>
      <p:boldItalic r:id="rId41"/>
    </p:embeddedFont>
    <p:embeddedFont>
      <p:font typeface="Roboto" panose="02000000000000000000" pitchFamily="2" charset="0"/>
      <p:regular r:id="rId42"/>
      <p:bold r:id="rId43"/>
      <p:italic r:id="rId44"/>
      <p:boldItalic r:id="rId45"/>
    </p:embeddedFont>
    <p:embeddedFont>
      <p:font typeface="Tahoma" panose="020B0604030504040204" pitchFamily="34" charset="0"/>
      <p:regular r:id="rId46"/>
      <p:bold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Language#/media/File:Floor_7a_bookstacks_in_Sterling_Memorial_Library.jpg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commons.wikimedia.org/w/index.php?title=Special:Search&amp;limit=500&amp;offset=0&amp;ns0=1&amp;ns6=1&amp;ns12=1&amp;ns14=1&amp;ns100=1&amp;ns106=1&amp;search=Autonomous+cars&amp;advancedSearch-current=%7b%7d" TargetMode="External"/><Relationship Id="rId5" Type="http://schemas.openxmlformats.org/officeDocument/2006/relationships/hyperlink" Target="https://commons.wikimedia.org/wiki/File:Waveform_of_Habana_syndrome_sound.png" TargetMode="External"/><Relationship Id="rId4" Type="http://schemas.openxmlformats.org/officeDocument/2006/relationships/hyperlink" Target="https://commons.wikimedia.org/wiki/File:EmiMa-099-semantic-segmentation.png" TargetMode="Externa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Problem: making sense of complex, unstructured sensory inputs. Images, speech, text, video,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https://commons.wikimedia.org/wiki/Language#/media/File:Floor_7a_bookstacks_in_Sterling_Memorial_Library.jpg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https://commons.wikimedia.org/wiki/File:EmiMa-099-semantic-segmentation.png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https://commons.wikimedia.org/wiki/File:Waveform_of_Habana_syndrome_sound.png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https://commons.wikimedia.org/w/index.php?title=Special:Search&amp;limit=500&amp;offset=0&amp;ns0=1&amp;ns6=1&amp;ns12=1&amp;ns14=1&amp;ns100=1&amp;ns106=1&amp;search=Autonomous+cars&amp;advancedSearch-current={}</a:t>
            </a:r>
            <a:endParaRPr/>
          </a:p>
        </p:txBody>
      </p:sp>
      <p:sp>
        <p:nvSpPr>
          <p:cNvPr id="128" name="Google Shape;12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27/1/2025</a:t>
            </a: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Presented by  Dr. Nouman Noor </a:t>
            </a: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  <a:defRPr sz="3600" b="0">
                <a:solidFill>
                  <a:srgbClr val="0070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27/1/2025</a:t>
            </a: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Presented by  Dr. Nouman Noor </a:t>
            </a: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609600" y="64928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27/1/2025</a:t>
            </a: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4165600" y="6492876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Presented by  Dr. Nouman Noor </a:t>
            </a:r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737600" y="647700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27/1/2025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Presented by  Dr. Nouman Noor 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27/1/2025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Presented by  Dr. Nouman Noor </a:t>
            </a: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27/1/2025</a:t>
            </a:r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Presented by  Dr. Nouman Noor 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27/1/2025</a:t>
            </a: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Presented by  Dr. Nouman Noor </a:t>
            </a:r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" name="Google Shape;59;p8"/>
          <p:cNvCxnSpPr/>
          <p:nvPr/>
        </p:nvCxnSpPr>
        <p:spPr>
          <a:xfrm>
            <a:off x="609600" y="1524000"/>
            <a:ext cx="10972800" cy="0"/>
          </a:xfrm>
          <a:prstGeom prst="straightConnector1">
            <a:avLst/>
          </a:prstGeom>
          <a:noFill/>
          <a:ln w="19050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27/1/2025</a:t>
            </a:r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Presented by  Dr. Nouman Noor </a:t>
            </a:r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27/1/2025</a:t>
            </a:r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Presented by  Dr. Nouman Noor </a:t>
            </a:r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body" idx="1"/>
          </p:nvPr>
        </p:nvSpPr>
        <p:spPr>
          <a:xfrm rot="5400000">
            <a:off x="3947319" y="-1508918"/>
            <a:ext cx="42973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27/1/2025</a:t>
            </a:r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Presented by  Dr. Nouman Noor </a:t>
            </a:r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27/1/2025</a:t>
            </a:r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Presented by  Dr. Nouman Noor </a:t>
            </a:r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27/1/2025</a:t>
            </a: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Presented by  Dr. Nouman Noor </a:t>
            </a:r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cornell.edu/~kuleshov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552700" y="457200"/>
            <a:ext cx="63292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99CC"/>
                </a:solidFill>
                <a:latin typeface="arial"/>
                <a:ea typeface="arial"/>
                <a:cs typeface="arial"/>
                <a:sym typeface="arial"/>
              </a:rPr>
              <a:t>National University of Computer and Emerging Sciences</a:t>
            </a:r>
            <a:endParaRPr sz="1800" b="1" i="0" u="none" strike="noStrike" cap="none">
              <a:solidFill>
                <a:srgbClr val="0099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2400301" y="2589242"/>
            <a:ext cx="7391399" cy="83820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45791" dir="3378596" algn="ctr" rotWithShape="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Probabilistic Models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2552700" y="4829633"/>
            <a:ext cx="70866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Dr. Muhammad Nouman Noor</a:t>
            </a:r>
            <a:endParaRPr dirty="0"/>
          </a:p>
          <a:p>
            <a:pPr marL="0" marR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Department of AI &amp; DS</a:t>
            </a:r>
            <a:endParaRPr dirty="0"/>
          </a:p>
        </p:txBody>
      </p:sp>
      <p:sp>
        <p:nvSpPr>
          <p:cNvPr id="96" name="Google Shape;96;p13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it-IT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AI-5004 Adv. Topics in Generative AI</a:t>
            </a:r>
            <a:endParaRPr lang="it-IT" sz="2800" dirty="0"/>
          </a:p>
        </p:txBody>
      </p:sp>
      <p:pic>
        <p:nvPicPr>
          <p:cNvPr id="98" name="Google Shape;98;p13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00" y="349478"/>
            <a:ext cx="954108" cy="954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Review of Previous Lecture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00B050"/>
              </a:buClr>
              <a:buSzPts val="2800"/>
              <a:buChar char="•"/>
            </a:pPr>
            <a:r>
              <a:rPr lang="en-US">
                <a:solidFill>
                  <a:srgbClr val="00B050"/>
                </a:solidFill>
              </a:rPr>
              <a:t>Today’s Lecture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Bayesian Networks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Terminologies: Loss functions, linear regression, gradient descent, overfitting, underfitting generalization, regularization, cross-validation</a:t>
            </a:r>
            <a:endParaRPr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Goals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title"/>
          </p:nvPr>
        </p:nvSpPr>
        <p:spPr>
          <a:xfrm>
            <a:off x="1981200" y="3009900"/>
            <a:ext cx="7239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Review of Previous Lecture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Generative learn the </a:t>
            </a:r>
            <a:r>
              <a:rPr lang="en-US">
                <a:solidFill>
                  <a:srgbClr val="7030A0"/>
                </a:solidFill>
              </a:rPr>
              <a:t>joint probability distribution </a:t>
            </a:r>
            <a:r>
              <a:rPr lang="en-US"/>
              <a:t>P(X, Y) , where  X  is the input data and  Y  is the output label. 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Discriminative models learn the </a:t>
            </a:r>
            <a:r>
              <a:rPr lang="en-US" sz="2800">
                <a:solidFill>
                  <a:srgbClr val="00B0F0"/>
                </a:solidFill>
              </a:rPr>
              <a:t>conditional probability  </a:t>
            </a:r>
            <a:r>
              <a:rPr lang="en-US" sz="2800"/>
              <a:t>P(Y | X) , which is the probability of the output label  Y  given the input data  X . </a:t>
            </a:r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Discriminative Vs Generative Model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What are Generative Models?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>
            <a:spLocks noGrp="1"/>
          </p:cNvSpPr>
          <p:nvPr>
            <p:ph type="body" idx="1"/>
          </p:nvPr>
        </p:nvSpPr>
        <p:spPr>
          <a:xfrm>
            <a:off x="838200" y="1718704"/>
            <a:ext cx="10515600" cy="45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/>
              <a:t>Generative machine learning algorithms model complex, </a:t>
            </a:r>
            <a:r>
              <a:rPr lang="en-US" sz="2400" b="1"/>
              <a:t>high-dimensional</a:t>
            </a:r>
            <a:r>
              <a:rPr lang="en-US" sz="2400"/>
              <a:t> objects.</a:t>
            </a:r>
            <a:endParaRPr/>
          </a:p>
        </p:txBody>
      </p:sp>
      <p:pic>
        <p:nvPicPr>
          <p:cNvPr id="132" name="Google Shape;13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932719"/>
            <a:ext cx="4672263" cy="3504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0" y="3012192"/>
            <a:ext cx="4535995" cy="325953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1925053" y="2490616"/>
            <a:ext cx="23140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Discriminative Models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7595938" y="2490616"/>
            <a:ext cx="19979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Models</a:t>
            </a:r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137" name="Google Shape;137;p17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138" name="Google Shape;138;p17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1908381" y="386044"/>
            <a:ext cx="7274554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ctr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Learning a Generative Model</a:t>
            </a:r>
            <a:endParaRPr/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5216" y="1290312"/>
            <a:ext cx="129332" cy="12933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2326666" y="1148755"/>
            <a:ext cx="6433937" cy="329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900" rIns="0" bIns="0" anchor="t" anchorCtr="0">
            <a:spAutoFit/>
          </a:bodyPr>
          <a:lstStyle/>
          <a:p>
            <a:pPr marL="2516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 are given a training set of examples, e.g., images of dogs</a:t>
            </a:r>
            <a:endParaRPr sz="1982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46" name="Google Shape;146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2800" y="1752600"/>
            <a:ext cx="5826599" cy="2372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5216" y="4124640"/>
            <a:ext cx="129332" cy="12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59450" y="4575984"/>
            <a:ext cx="104215" cy="104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59450" y="5177726"/>
            <a:ext cx="104215" cy="10421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2276331" y="3857733"/>
            <a:ext cx="7821895" cy="226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9725" rIns="0" bIns="0" anchor="t" anchorCtr="0">
            <a:spAutoFit/>
          </a:bodyPr>
          <a:lstStyle/>
          <a:p>
            <a:pPr marL="624156" marR="0" lvl="0" indent="-549912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 want to learn a probability distribution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over images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such that</a:t>
            </a:r>
            <a:endParaRPr sz="1982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24156" marR="110737" lvl="0" indent="0" algn="l" rtl="0">
              <a:spcBef>
                <a:spcPts val="971"/>
              </a:spcBef>
              <a:spcAft>
                <a:spcPts val="0"/>
              </a:spcAft>
              <a:buNone/>
            </a:pPr>
            <a:r>
              <a:rPr lang="en-US" sz="1982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Generation: 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we sample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081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</a:t>
            </a:r>
            <a:r>
              <a:rPr lang="en-US" sz="1982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∼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),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081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should look like a dog  (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sampling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982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24156" marR="266776" lvl="0" indent="0" algn="l" rtl="0">
              <a:lnSpc>
                <a:spcPct val="119979"/>
              </a:lnSpc>
              <a:spcBef>
                <a:spcPts val="69"/>
              </a:spcBef>
              <a:spcAft>
                <a:spcPts val="0"/>
              </a:spcAft>
              <a:buNone/>
            </a:pPr>
            <a:r>
              <a:rPr lang="en-US" sz="1982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Representation learning: 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 should be able to learn what these  images have in common, e.g., ears, tail, etc. (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982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5503" marR="0" lvl="0" indent="0" algn="l" rtl="0"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First step: how to represent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</p:txBody>
      </p:sp>
      <p:pic>
        <p:nvPicPr>
          <p:cNvPr id="151" name="Google Shape;151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85216" y="5904801"/>
            <a:ext cx="129332" cy="12933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>
            <a:spLocks noGrp="1"/>
          </p:cNvSpPr>
          <p:nvPr>
            <p:ph type="dt" idx="4294967295"/>
          </p:nvPr>
        </p:nvSpPr>
        <p:spPr>
          <a:xfrm>
            <a:off x="140665" y="3351784"/>
            <a:ext cx="1255395" cy="1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marR="0" lvl="0" indent="0" algn="l" rtl="0">
              <a:lnSpc>
                <a:spcPct val="2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27/1/2025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3" name="Google Shape;153;p18"/>
          <p:cNvSpPr txBox="1">
            <a:spLocks noGrp="1"/>
          </p:cNvSpPr>
          <p:nvPr>
            <p:ph type="ftr" idx="4294967295"/>
          </p:nvPr>
        </p:nvSpPr>
        <p:spPr>
          <a:xfrm>
            <a:off x="3794023" y="3351784"/>
            <a:ext cx="342264" cy="1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marR="0" lvl="0" indent="0" algn="l" rtl="0">
              <a:lnSpc>
                <a:spcPct val="2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Presented by  Dr. Nouman Noor 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" name="Google Shape;154;p18"/>
          <p:cNvSpPr txBox="1">
            <a:spLocks noGrp="1"/>
          </p:cNvSpPr>
          <p:nvPr>
            <p:ph type="sldNum" idx="4294967295"/>
          </p:nvPr>
        </p:nvSpPr>
        <p:spPr>
          <a:xfrm>
            <a:off x="4273613" y="3351784"/>
            <a:ext cx="317500" cy="1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3810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/ 31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Defining </a:t>
            </a:r>
            <a:r>
              <a:rPr lang="en-US" sz="2800" dirty="0">
                <a:solidFill>
                  <a:srgbClr val="FFC000"/>
                </a:solidFill>
                <a:latin typeface="Tahoma"/>
                <a:ea typeface="Tahoma"/>
                <a:cs typeface="Tahoma"/>
                <a:sym typeface="Tahoma"/>
              </a:rPr>
              <a:t>Probabilistic Models of the Data</a:t>
            </a:r>
            <a:endParaRPr dirty="0"/>
          </a:p>
          <a:p>
            <a:pPr marL="342900" lvl="0" indent="-342900" algn="l" rtl="0">
              <a:spcBef>
                <a:spcPts val="967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Examples of Probabilistic Models </a:t>
            </a:r>
            <a:endParaRPr dirty="0"/>
          </a:p>
          <a:p>
            <a:pPr marL="742950" lvl="1" indent="-285750" algn="l" rtl="0">
              <a:spcBef>
                <a:spcPts val="967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</a:pPr>
            <a:r>
              <a:rPr lang="en-US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lang="en-US" dirty="0">
                <a:solidFill>
                  <a:srgbClr val="00B0F0"/>
                </a:solidFill>
                <a:latin typeface="Tahoma"/>
                <a:ea typeface="Tahoma"/>
                <a:cs typeface="Tahoma"/>
                <a:sym typeface="Tahoma"/>
              </a:rPr>
              <a:t>Curse of Dimensionality</a:t>
            </a:r>
            <a:endParaRPr dirty="0"/>
          </a:p>
          <a:p>
            <a:pPr marL="342900" lvl="0" indent="-165100" algn="l" rtl="0">
              <a:lnSpc>
                <a:spcPct val="84928"/>
              </a:lnSpc>
              <a:spcBef>
                <a:spcPts val="75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342900" algn="l" rtl="0">
              <a:lnSpc>
                <a:spcPct val="84928"/>
              </a:lnSpc>
              <a:spcBef>
                <a:spcPts val="75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 sz="2800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Parameter-Efficient Models</a:t>
            </a:r>
            <a:r>
              <a:rPr lang="en-US" sz="28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through Conditional Independence </a:t>
            </a:r>
            <a:endParaRPr dirty="0"/>
          </a:p>
          <a:p>
            <a:pPr marL="342900" lvl="0" indent="-165100" algn="l" rtl="0">
              <a:lnSpc>
                <a:spcPct val="84928"/>
              </a:lnSpc>
              <a:spcBef>
                <a:spcPts val="75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42950" lvl="1" indent="-285750" algn="l" rtl="0">
              <a:lnSpc>
                <a:spcPct val="99083"/>
              </a:lnSpc>
              <a:spcBef>
                <a:spcPts val="75"/>
              </a:spcBef>
              <a:spcAft>
                <a:spcPts val="0"/>
              </a:spcAft>
              <a:buClr>
                <a:srgbClr val="00B0F0"/>
              </a:buClr>
              <a:buSzPts val="2400"/>
              <a:buChar char="–"/>
            </a:pPr>
            <a:r>
              <a:rPr lang="en-US" dirty="0">
                <a:solidFill>
                  <a:srgbClr val="00B0F0"/>
                </a:solidFill>
                <a:latin typeface="Tahoma"/>
                <a:ea typeface="Tahoma"/>
                <a:cs typeface="Tahoma"/>
                <a:sym typeface="Tahoma"/>
              </a:rPr>
              <a:t>Bayesian Networks</a:t>
            </a:r>
            <a:r>
              <a:rPr lang="en-US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An Example of Shallow Generative Models</a:t>
            </a:r>
            <a:endParaRPr dirty="0"/>
          </a:p>
          <a:p>
            <a:pPr marL="342900" lvl="0" indent="-165100" algn="l" rtl="0">
              <a:spcBef>
                <a:spcPts val="967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60" name="Google Shape;160;p19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r>
              <a:rPr lang="en-US"/>
              <a:t> / 31</a:t>
            </a:r>
            <a:endParaRPr/>
          </a:p>
        </p:txBody>
      </p:sp>
      <p:sp>
        <p:nvSpPr>
          <p:cNvPr id="161" name="Google Shape;161;p19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975" rIns="91425" bIns="45700" anchor="ctr" anchorCtr="0">
            <a:no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Learning a Generative Model</a:t>
            </a:r>
            <a:endParaRPr/>
          </a:p>
        </p:txBody>
      </p:sp>
      <p:sp>
        <p:nvSpPr>
          <p:cNvPr id="162" name="Google Shape;162;p19"/>
          <p:cNvSpPr txBox="1">
            <a:spLocks noGrp="1"/>
          </p:cNvSpPr>
          <p:nvPr>
            <p:ph type="ftr" idx="4294967295"/>
          </p:nvPr>
        </p:nvSpPr>
        <p:spPr>
          <a:xfrm>
            <a:off x="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2037826" y="4841497"/>
            <a:ext cx="132127" cy="207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900" rIns="0" bIns="0" anchor="t" anchorCtr="0">
            <a:spAutoFit/>
          </a:bodyPr>
          <a:lstStyle/>
          <a:p>
            <a:pPr marL="2516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sz="1189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19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ctr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Probabilistic Models: Basic Discrete Distributions</a:t>
            </a:r>
            <a:endParaRPr/>
          </a:p>
        </p:txBody>
      </p:sp>
      <p:sp>
        <p:nvSpPr>
          <p:cNvPr id="170" name="Google Shape;170;p20"/>
          <p:cNvSpPr txBox="1">
            <a:spLocks noGrp="1"/>
          </p:cNvSpPr>
          <p:nvPr>
            <p:ph type="dt" idx="4294967295"/>
          </p:nvPr>
        </p:nvSpPr>
        <p:spPr>
          <a:xfrm>
            <a:off x="0" y="3351213"/>
            <a:ext cx="1254125" cy="103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marR="0" lvl="0" indent="0" algn="l" rtl="0">
              <a:lnSpc>
                <a:spcPct val="2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27/1/2025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1" name="Google Shape;171;p20"/>
          <p:cNvSpPr txBox="1">
            <a:spLocks noGrp="1"/>
          </p:cNvSpPr>
          <p:nvPr>
            <p:ph type="ftr" idx="4294967295"/>
          </p:nvPr>
        </p:nvSpPr>
        <p:spPr>
          <a:xfrm>
            <a:off x="0" y="3351213"/>
            <a:ext cx="342900" cy="103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marR="0" lvl="0" indent="0" algn="l" rtl="0">
              <a:lnSpc>
                <a:spcPct val="2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Presented by  Dr. Nouman Noor 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2" name="Google Shape;172;p20"/>
          <p:cNvSpPr txBox="1">
            <a:spLocks noGrp="1"/>
          </p:cNvSpPr>
          <p:nvPr>
            <p:ph type="sldNum" idx="4294967295"/>
          </p:nvPr>
        </p:nvSpPr>
        <p:spPr>
          <a:xfrm>
            <a:off x="0" y="3351213"/>
            <a:ext cx="317500" cy="103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3810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/ 31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73" name="Google Shape;17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5216" y="1967706"/>
            <a:ext cx="129332" cy="12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59450" y="2343850"/>
            <a:ext cx="104215" cy="104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59450" y="2644720"/>
            <a:ext cx="104215" cy="104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59450" y="2945592"/>
            <a:ext cx="104215" cy="104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59450" y="3246464"/>
            <a:ext cx="104215" cy="10421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2492081" y="1706678"/>
            <a:ext cx="6670506" cy="2064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725" rIns="0" bIns="0" anchor="t" anchorCtr="0">
            <a:spAutoFit/>
          </a:bodyPr>
          <a:lstStyle/>
          <a:p>
            <a:pPr marL="2516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Bernoulli distribution: (biased) coin flip</a:t>
            </a:r>
            <a:endParaRPr sz="2180">
              <a:solidFill>
                <a:srgbClr val="0070C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573821" marR="0" lvl="0" indent="0" algn="l" rtl="0">
              <a:lnSpc>
                <a:spcPct val="119979"/>
              </a:lnSpc>
              <a:spcBef>
                <a:spcPts val="347"/>
              </a:spcBef>
              <a:spcAft>
                <a:spcPts val="0"/>
              </a:spcAft>
              <a:buNone/>
            </a:pP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Domain: </a:t>
            </a:r>
            <a:r>
              <a:rPr lang="en-US" sz="1982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{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Heads</a:t>
            </a:r>
            <a:r>
              <a:rPr lang="en-US" sz="1982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Tails</a:t>
            </a:r>
            <a:r>
              <a:rPr lang="en-US" sz="1982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}</a:t>
            </a:r>
            <a:endParaRPr sz="1982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573821" marR="10067" lvl="0" indent="0" algn="l" rtl="0">
              <a:lnSpc>
                <a:spcPct val="119979"/>
              </a:lnSpc>
              <a:spcBef>
                <a:spcPts val="79"/>
              </a:spcBef>
              <a:spcAft>
                <a:spcPts val="0"/>
              </a:spcAft>
              <a:buNone/>
            </a:pP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Specify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Heads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Then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Tails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1 </a:t>
            </a:r>
            <a:r>
              <a:rPr lang="en-US" sz="1982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 Write: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982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∼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 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 : </a:t>
            </a:r>
            <a:r>
              <a:rPr lang="en-US" sz="1982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only one parameter p</a:t>
            </a:r>
            <a:endParaRPr sz="1982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573821" marR="0" lvl="0" indent="0" algn="l" rtl="0">
              <a:lnSpc>
                <a:spcPct val="11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Sampling: flip a (biased) coin</a:t>
            </a:r>
            <a:endParaRPr sz="1982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5168" marR="0" lvl="0" indent="0" algn="l" rtl="0">
              <a:spcBef>
                <a:spcPts val="386"/>
              </a:spcBef>
              <a:spcAft>
                <a:spcPts val="0"/>
              </a:spcAft>
              <a:buNone/>
            </a:pPr>
            <a:r>
              <a:rPr lang="en-US" sz="218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Categorical distribution: (biased) </a:t>
            </a:r>
            <a:r>
              <a:rPr lang="en-US" sz="2180" i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18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-sided dice</a:t>
            </a:r>
            <a:endParaRPr sz="2180">
              <a:solidFill>
                <a:srgbClr val="0070C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79" name="Google Shape;179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85216" y="3597444"/>
            <a:ext cx="129332" cy="12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59450" y="3973588"/>
            <a:ext cx="104215" cy="10421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2875786" y="3806917"/>
            <a:ext cx="2226019" cy="329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900" rIns="0" bIns="0" anchor="t" anchorCtr="0">
            <a:spAutoFit/>
          </a:bodyPr>
          <a:lstStyle/>
          <a:p>
            <a:pPr marL="2516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Domain: </a:t>
            </a:r>
            <a:r>
              <a:rPr lang="en-US" sz="1982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{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982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982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· · · </a:t>
            </a:r>
            <a:r>
              <a:rPr lang="en-US" sz="1982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982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}</a:t>
            </a:r>
            <a:endParaRPr sz="1982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59450" y="4274458"/>
            <a:ext cx="104215" cy="10421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6471466" y="3919741"/>
            <a:ext cx="315846" cy="329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900" rIns="0" bIns="0" anchor="t" anchorCtr="0">
            <a:spAutoFit/>
          </a:bodyPr>
          <a:lstStyle/>
          <a:p>
            <a:pPr marL="2516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endParaRPr sz="198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825452" y="4107787"/>
            <a:ext cx="4717549" cy="329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900" rIns="0" bIns="0" anchor="t" anchorCtr="0">
            <a:spAutoFit/>
          </a:bodyPr>
          <a:lstStyle/>
          <a:p>
            <a:pPr marL="75503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Specify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081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such that	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081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1</a:t>
            </a:r>
            <a:endParaRPr sz="1982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5" name="Google Shape;18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59450" y="4575330"/>
            <a:ext cx="104215" cy="10421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2800284" y="4408660"/>
            <a:ext cx="5353116" cy="65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900" rIns="0" bIns="0" anchor="t" anchorCtr="0">
            <a:spAutoFit/>
          </a:bodyPr>
          <a:lstStyle/>
          <a:p>
            <a:pPr marL="100670" marR="8557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Write: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 </a:t>
            </a:r>
            <a:r>
              <a:rPr lang="en-US" sz="1982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∼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081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982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982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· · · </a:t>
            </a:r>
            <a:r>
              <a:rPr lang="en-US" sz="1982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982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081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: </a:t>
            </a:r>
            <a:r>
              <a:rPr lang="en-US" sz="1982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m-1 parameters</a:t>
            </a:r>
            <a:endParaRPr/>
          </a:p>
          <a:p>
            <a:pPr marL="100670" marR="85570" lvl="0" indent="0" algn="l" rtl="0">
              <a:spcBef>
                <a:spcPts val="188"/>
              </a:spcBef>
              <a:spcAft>
                <a:spcPts val="0"/>
              </a:spcAft>
              <a:buNone/>
            </a:pPr>
            <a:r>
              <a:rPr lang="en-US" sz="198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Sampling: roll a (biased) die</a:t>
            </a:r>
            <a:endParaRPr sz="1982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7" name="Google Shape;187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59450" y="4876200"/>
            <a:ext cx="104215" cy="104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>
            <a:spLocks noGrp="1"/>
          </p:cNvSpPr>
          <p:nvPr>
            <p:ph type="title"/>
          </p:nvPr>
        </p:nvSpPr>
        <p:spPr>
          <a:xfrm>
            <a:off x="1528195" y="267870"/>
            <a:ext cx="8281192" cy="114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ctr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Probabilistic Models: A Multi-Variate Joint Distribution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05648" y="1933320"/>
            <a:ext cx="8325365" cy="177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825" rIns="0" bIns="0" anchor="t" anchorCtr="0">
            <a:spAutoFit/>
          </a:bodyPr>
          <a:lstStyle/>
          <a:p>
            <a:pPr marL="368068" marR="10067" lvl="0" indent="-342900" algn="l" rtl="0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80"/>
              <a:buFont typeface="Arial"/>
              <a:buChar char="•"/>
            </a:pP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Suppose we want to define a </a:t>
            </a:r>
            <a:r>
              <a:rPr lang="en-US" sz="2180">
                <a:solidFill>
                  <a:srgbClr val="FFC000"/>
                </a:solidFill>
                <a:latin typeface="Tahoma"/>
                <a:ea typeface="Tahoma"/>
                <a:cs typeface="Tahoma"/>
                <a:sym typeface="Tahoma"/>
              </a:rPr>
              <a:t>distribution over one pixel in an image.  We use three discrete random variables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218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916721" marR="2482783" lvl="0" indent="-342900" algn="l" rtl="0">
              <a:lnSpc>
                <a:spcPct val="103099"/>
              </a:lnSpc>
              <a:spcBef>
                <a:spcPts val="99"/>
              </a:spcBef>
              <a:spcAft>
                <a:spcPts val="0"/>
              </a:spcAft>
              <a:buClr>
                <a:schemeClr val="dk1"/>
              </a:buClr>
              <a:buSzPts val="2180"/>
              <a:buFont typeface="Arial"/>
              <a:buChar char="•"/>
            </a:pP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Red Channel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Val(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{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lang="en-US" sz="218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· · · </a:t>
            </a:r>
            <a:r>
              <a:rPr lang="en-US" sz="218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255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} </a:t>
            </a:r>
            <a:endParaRPr sz="218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916721" marR="2482783" lvl="0" indent="-342900" algn="l" rtl="0">
              <a:lnSpc>
                <a:spcPct val="103099"/>
              </a:lnSpc>
              <a:spcBef>
                <a:spcPts val="99"/>
              </a:spcBef>
              <a:spcAft>
                <a:spcPts val="0"/>
              </a:spcAft>
              <a:buClr>
                <a:schemeClr val="dk1"/>
              </a:buClr>
              <a:buSzPts val="2180"/>
              <a:buFont typeface="Arial"/>
              <a:buChar char="•"/>
            </a:pP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Green Channel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Val(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{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lang="en-US" sz="218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· · · </a:t>
            </a:r>
            <a:r>
              <a:rPr lang="en-US" sz="218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255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}</a:t>
            </a:r>
            <a:endParaRPr sz="218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916721" marR="2482783" lvl="0" indent="-342900" algn="l" rtl="0">
              <a:lnSpc>
                <a:spcPct val="103099"/>
              </a:lnSpc>
              <a:spcBef>
                <a:spcPts val="99"/>
              </a:spcBef>
              <a:spcAft>
                <a:spcPts val="0"/>
              </a:spcAft>
              <a:buClr>
                <a:schemeClr val="dk1"/>
              </a:buClr>
              <a:buSzPts val="2180"/>
              <a:buFont typeface="Arial"/>
              <a:buChar char="•"/>
            </a:pP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Blue Channel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Val(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{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lang="en-US" sz="218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· · · </a:t>
            </a:r>
            <a:r>
              <a:rPr lang="en-US" sz="218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255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}</a:t>
            </a:r>
            <a:endParaRPr sz="218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8678" y="1646488"/>
            <a:ext cx="3447134" cy="251334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466048" y="4158274"/>
            <a:ext cx="9592352" cy="1885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825" rIns="0" bIns="0" anchor="t" anchorCtr="0">
            <a:spAutoFit/>
          </a:bodyPr>
          <a:lstStyle/>
          <a:p>
            <a:pPr marL="368068" marR="10067" lvl="0" indent="-342900" algn="just" rtl="0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80"/>
              <a:buFont typeface="Arial"/>
              <a:buChar char="•"/>
            </a:pP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Sampling from the joint distribution (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18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18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∼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18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18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randomly  generates a color for the pixel. </a:t>
            </a:r>
            <a:endParaRPr sz="218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68068" marR="10067" lvl="0" indent="-342900" algn="just" rtl="0">
              <a:lnSpc>
                <a:spcPct val="102600"/>
              </a:lnSpc>
              <a:spcBef>
                <a:spcPts val="109"/>
              </a:spcBef>
              <a:spcAft>
                <a:spcPts val="0"/>
              </a:spcAft>
              <a:buClr>
                <a:srgbClr val="0070C0"/>
              </a:buClr>
              <a:buSzPts val="2180"/>
              <a:buFont typeface="Arial"/>
              <a:buChar char="•"/>
            </a:pPr>
            <a:r>
              <a:rPr lang="en-US" sz="218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How many parameters do we need to  specify the joint distribution </a:t>
            </a:r>
            <a:r>
              <a:rPr lang="en-US" sz="2180" i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18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180" i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18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2180" i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180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80" i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218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2180" i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180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80" i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US" sz="218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2180" i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18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)?</a:t>
            </a:r>
            <a:endParaRPr sz="2180">
              <a:solidFill>
                <a:srgbClr val="0070C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00917" marR="0" lvl="0" indent="0" algn="ctr" rtl="0"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256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∗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256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∗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256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sz="218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6" name="Google Shape;196;p21"/>
          <p:cNvSpPr txBox="1">
            <a:spLocks noGrp="1"/>
          </p:cNvSpPr>
          <p:nvPr>
            <p:ph type="dt" idx="10"/>
          </p:nvPr>
        </p:nvSpPr>
        <p:spPr>
          <a:xfrm>
            <a:off x="140665" y="3351784"/>
            <a:ext cx="1255395" cy="1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2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27/1/2025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" name="Google Shape;197;p21"/>
          <p:cNvSpPr txBox="1">
            <a:spLocks noGrp="1"/>
          </p:cNvSpPr>
          <p:nvPr>
            <p:ph type="ftr" idx="11"/>
          </p:nvPr>
        </p:nvSpPr>
        <p:spPr>
          <a:xfrm>
            <a:off x="3794023" y="3351784"/>
            <a:ext cx="342264" cy="1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2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Presented by  Dr. Nouman Noor 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8" name="Google Shape;198;p21"/>
          <p:cNvSpPr txBox="1">
            <a:spLocks noGrp="1"/>
          </p:cNvSpPr>
          <p:nvPr>
            <p:ph type="sldNum" idx="12"/>
          </p:nvPr>
        </p:nvSpPr>
        <p:spPr>
          <a:xfrm>
            <a:off x="4273613" y="3351784"/>
            <a:ext cx="317500" cy="1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/ 31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>
            <a:spLocks noGrp="1"/>
          </p:cNvSpPr>
          <p:nvPr>
            <p:ph type="title"/>
          </p:nvPr>
        </p:nvSpPr>
        <p:spPr>
          <a:xfrm>
            <a:off x="228600" y="195729"/>
            <a:ext cx="10832135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ctr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The Curse of Dimensionality in Probabilistic Models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1777573" y="803729"/>
            <a:ext cx="8320201" cy="35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650" rIns="0" bIns="0" anchor="t" anchorCtr="0">
            <a:spAutoFit/>
          </a:bodyPr>
          <a:lstStyle/>
          <a:p>
            <a:pPr marL="2516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Suppose we want to model a BW image of digit with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28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·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28 pixels.</a:t>
            </a:r>
            <a:endParaRPr sz="218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5" name="Google Shape;20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0061" y="1305164"/>
            <a:ext cx="5209324" cy="1657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85216" y="3430989"/>
            <a:ext cx="129332" cy="12933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2225998" y="3265614"/>
            <a:ext cx="8243442" cy="1066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825" rIns="0" bIns="0" anchor="t" anchorCtr="0">
            <a:spAutoFit/>
          </a:bodyPr>
          <a:lstStyle/>
          <a:p>
            <a:pPr marL="125837" marR="110737" lvl="0" indent="0" algn="l" rtl="0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Pixels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378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218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378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are modeled as binary (Bernoulli) random variables,  i.e., Val(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378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{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lang="en-US" sz="218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}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{</a:t>
            </a:r>
            <a:r>
              <a:rPr lang="en-US" sz="21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Black</a:t>
            </a:r>
            <a:r>
              <a:rPr lang="en-US" sz="218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White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}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218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25837" marR="0" lvl="0" indent="0" algn="l" rtl="0">
              <a:spcBef>
                <a:spcPts val="178"/>
              </a:spcBef>
              <a:spcAft>
                <a:spcPts val="0"/>
              </a:spcAft>
              <a:buNone/>
            </a:pP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many possible states?</a:t>
            </a:r>
            <a:endParaRPr sz="218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8" name="Google Shape;208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85216" y="4126905"/>
            <a:ext cx="129332" cy="12933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5136382" y="4455786"/>
            <a:ext cx="2339270" cy="35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650" rIns="0" bIns="0" anchor="t" anchorCtr="0">
            <a:spAutoFit/>
          </a:bodyPr>
          <a:lstStyle/>
          <a:p>
            <a:pPr marL="2516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</a:t>
            </a:r>
            <a:r>
              <a:rPr lang="en-US" sz="2180" u="sng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218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</a:t>
            </a:r>
            <a:r>
              <a:rPr lang="en-US" sz="2180" u="sng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×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 · </a:t>
            </a:r>
            <a:r>
              <a:rPr lang="en-US" sz="2180" u="sng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·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lang="en-US" sz="2180" u="sng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· ×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= 2</a:t>
            </a:r>
            <a:endParaRPr sz="218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7615733" y="4295753"/>
            <a:ext cx="161069" cy="26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900" rIns="0" bIns="0" anchor="t" anchorCtr="0">
            <a:spAutoFit/>
          </a:bodyPr>
          <a:lstStyle/>
          <a:p>
            <a:pPr marL="2516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5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58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2426218" y="4888920"/>
            <a:ext cx="8030781" cy="1546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900" rIns="0" bIns="0" anchor="t" anchorCtr="0">
            <a:spAutoFit/>
          </a:bodyPr>
          <a:lstStyle/>
          <a:p>
            <a:pPr marL="0" marR="405198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5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15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times</a:t>
            </a:r>
            <a:endParaRPr sz="15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99"/>
              </a:spcBef>
              <a:spcAft>
                <a:spcPts val="0"/>
              </a:spcAft>
              <a:buNone/>
            </a:pPr>
            <a:endParaRPr sz="148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5837" marR="0" lvl="0" indent="0" algn="l" rtl="0"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Sampling from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378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218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378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generates an image</a:t>
            </a:r>
            <a:endParaRPr sz="218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25837" marR="110737" lvl="0" indent="0" algn="l" rtl="0">
              <a:lnSpc>
                <a:spcPct val="102699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en-US" sz="2180">
                <a:solidFill>
                  <a:srgbClr val="FFC000"/>
                </a:solidFill>
                <a:latin typeface="Tahoma"/>
                <a:ea typeface="Tahoma"/>
                <a:cs typeface="Tahoma"/>
                <a:sym typeface="Tahoma"/>
              </a:rPr>
              <a:t>How many parameters to specify the joint distribution </a:t>
            </a:r>
            <a:r>
              <a:rPr lang="en-US" sz="2180" i="1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180">
                <a:solidFill>
                  <a:srgbClr val="FFC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180" i="1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378" baseline="-25000">
                <a:solidFill>
                  <a:srgbClr val="FFC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2180" i="1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2180" i="1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378" i="1" baseline="-25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180">
                <a:solidFill>
                  <a:srgbClr val="FFC000"/>
                </a:solidFill>
                <a:latin typeface="Tahoma"/>
                <a:ea typeface="Tahoma"/>
                <a:cs typeface="Tahoma"/>
                <a:sym typeface="Tahoma"/>
              </a:rPr>
              <a:t>) 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over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binary pixels? </a:t>
            </a:r>
            <a:r>
              <a:rPr lang="en-US" sz="218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-US" sz="2378" i="1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2180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218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1 (exponential) =&gt; curse of dimensionality</a:t>
            </a:r>
            <a:endParaRPr sz="218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2" name="Google Shape;212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85216" y="5568394"/>
            <a:ext cx="129332" cy="12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85216" y="5923324"/>
            <a:ext cx="129332" cy="12933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>
            <a:spLocks noGrp="1"/>
          </p:cNvSpPr>
          <p:nvPr>
            <p:ph type="dt" idx="10"/>
          </p:nvPr>
        </p:nvSpPr>
        <p:spPr>
          <a:xfrm>
            <a:off x="140665" y="3351784"/>
            <a:ext cx="1255395" cy="1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2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27/1/2025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5" name="Google Shape;215;p22"/>
          <p:cNvSpPr txBox="1">
            <a:spLocks noGrp="1"/>
          </p:cNvSpPr>
          <p:nvPr>
            <p:ph type="ftr" idx="11"/>
          </p:nvPr>
        </p:nvSpPr>
        <p:spPr>
          <a:xfrm>
            <a:off x="3794023" y="3351784"/>
            <a:ext cx="342264" cy="1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2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Presented by  Dr. Nouman Noor 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6" name="Google Shape;216;p22"/>
          <p:cNvSpPr txBox="1">
            <a:spLocks noGrp="1"/>
          </p:cNvSpPr>
          <p:nvPr>
            <p:ph type="sldNum" idx="12"/>
          </p:nvPr>
        </p:nvSpPr>
        <p:spPr>
          <a:xfrm>
            <a:off x="4273613" y="3351784"/>
            <a:ext cx="317500" cy="1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/ 31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254" name="Google Shape;254;p25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255" name="Google Shape;255;p25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56" name="Google Shape;256;p25"/>
          <p:cNvSpPr txBox="1">
            <a:spLocks noGrp="1"/>
          </p:cNvSpPr>
          <p:nvPr>
            <p:ph type="title"/>
          </p:nvPr>
        </p:nvSpPr>
        <p:spPr>
          <a:xfrm>
            <a:off x="1981200" y="3009900"/>
            <a:ext cx="7239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Today’s Lecture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"/>
          <p:cNvSpPr txBox="1">
            <a:spLocks noGrp="1"/>
          </p:cNvSpPr>
          <p:nvPr>
            <p:ph type="title"/>
          </p:nvPr>
        </p:nvSpPr>
        <p:spPr>
          <a:xfrm>
            <a:off x="1696031" y="554889"/>
            <a:ext cx="7807953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ctr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Two Important Rules in Probability</a:t>
            </a:r>
            <a:endParaRPr/>
          </a:p>
        </p:txBody>
      </p:sp>
      <p:pic>
        <p:nvPicPr>
          <p:cNvPr id="262" name="Google Shape;26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9361" y="2161257"/>
            <a:ext cx="226332" cy="22633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6"/>
          <p:cNvSpPr txBox="1"/>
          <p:nvPr/>
        </p:nvSpPr>
        <p:spPr>
          <a:xfrm>
            <a:off x="2027406" y="2135628"/>
            <a:ext cx="130868" cy="207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900" rIns="0" bIns="0" anchor="t" anchorCtr="0">
            <a:spAutoFit/>
          </a:bodyPr>
          <a:lstStyle/>
          <a:p>
            <a:pPr marL="2516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sz="1189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4" name="Google Shape;264;p26"/>
          <p:cNvSpPr txBox="1"/>
          <p:nvPr/>
        </p:nvSpPr>
        <p:spPr>
          <a:xfrm>
            <a:off x="2276332" y="2054001"/>
            <a:ext cx="5729261" cy="35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650" rIns="0" bIns="0" anchor="t" anchorCtr="0">
            <a:spAutoFit/>
          </a:bodyPr>
          <a:lstStyle/>
          <a:p>
            <a:pPr marL="75503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Chain rule	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Let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378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218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. . .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378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 events,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378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218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0.</a:t>
            </a:r>
            <a:endParaRPr sz="218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5" name="Google Shape;265;p26"/>
          <p:cNvSpPr txBox="1"/>
          <p:nvPr/>
        </p:nvSpPr>
        <p:spPr>
          <a:xfrm>
            <a:off x="2276331" y="2670790"/>
            <a:ext cx="7969120" cy="97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650" rIns="0" bIns="0" anchor="t" anchorCtr="0">
            <a:spAutoFit/>
          </a:bodyPr>
          <a:lstStyle/>
          <a:p>
            <a:pPr marL="289427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378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∩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378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∩ · · · ∩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378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378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378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|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378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· · ·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378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|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378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∩ </a:t>
            </a:r>
            <a:r>
              <a:rPr lang="en-US" sz="218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. .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∩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378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378" baseline="-25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−</a:t>
            </a:r>
            <a:r>
              <a:rPr lang="en-US" sz="2378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218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5503" marR="0" lvl="0" indent="0" algn="l" rtl="0">
              <a:spcBef>
                <a:spcPts val="2239"/>
              </a:spcBef>
              <a:spcAft>
                <a:spcPts val="0"/>
              </a:spcAft>
              <a:buNone/>
            </a:pPr>
            <a:r>
              <a:rPr lang="en-US" sz="218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Bayes’ rule	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Let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378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218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378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 events,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378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218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 and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378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218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0.</a:t>
            </a:r>
            <a:endParaRPr sz="218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66" name="Google Shape;26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9361" y="3394842"/>
            <a:ext cx="226332" cy="22633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6"/>
          <p:cNvSpPr txBox="1"/>
          <p:nvPr/>
        </p:nvSpPr>
        <p:spPr>
          <a:xfrm>
            <a:off x="2027406" y="3369211"/>
            <a:ext cx="130868" cy="207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900" rIns="0" bIns="0" anchor="t" anchorCtr="0">
            <a:spAutoFit/>
          </a:bodyPr>
          <a:lstStyle/>
          <a:p>
            <a:pPr marL="2516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sz="1189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8" name="Google Shape;268;p26"/>
          <p:cNvSpPr txBox="1"/>
          <p:nvPr/>
        </p:nvSpPr>
        <p:spPr>
          <a:xfrm>
            <a:off x="4264751" y="4163897"/>
            <a:ext cx="658116" cy="26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900" rIns="0" bIns="0" anchor="t" anchorCtr="0">
            <a:spAutoFit/>
          </a:bodyPr>
          <a:lstStyle/>
          <a:p>
            <a:pPr marL="2516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5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	2</a:t>
            </a:r>
            <a:endParaRPr sz="1585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9" name="Google Shape;269;p26"/>
          <p:cNvSpPr txBox="1"/>
          <p:nvPr/>
        </p:nvSpPr>
        <p:spPr>
          <a:xfrm>
            <a:off x="3852918" y="4048759"/>
            <a:ext cx="1478560" cy="35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650" rIns="0" bIns="0" anchor="t" anchorCtr="0">
            <a:spAutoFit/>
          </a:bodyPr>
          <a:lstStyle/>
          <a:p>
            <a:pPr marL="2516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 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|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</a:t>
            </a:r>
            <a:endParaRPr sz="218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0" name="Google Shape;270;p26"/>
          <p:cNvSpPr txBox="1"/>
          <p:nvPr/>
        </p:nvSpPr>
        <p:spPr>
          <a:xfrm>
            <a:off x="6707908" y="4048757"/>
            <a:ext cx="264253" cy="35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650" rIns="0" bIns="0" anchor="t" anchorCtr="0">
            <a:spAutoFit/>
          </a:bodyPr>
          <a:lstStyle/>
          <a:p>
            <a:pPr marL="2516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</a:t>
            </a:r>
            <a:endParaRPr sz="218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5311670" y="3863028"/>
            <a:ext cx="2577098" cy="35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650" rIns="0" bIns="0" anchor="t" anchorCtr="0">
            <a:spAutoFit/>
          </a:bodyPr>
          <a:lstStyle/>
          <a:p>
            <a:pPr marL="10067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0" i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18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180" i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378" u="sng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lang="en-US" sz="2180" u="sng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∩ </a:t>
            </a:r>
            <a:r>
              <a:rPr lang="en-US" sz="2180" i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378" u="sng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-US" sz="218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lang="en-US" sz="2180" i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18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180" i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80" u="sng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| </a:t>
            </a:r>
            <a:endParaRPr sz="218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2" name="Google Shape;272;p26"/>
          <p:cNvSpPr txBox="1"/>
          <p:nvPr/>
        </p:nvSpPr>
        <p:spPr>
          <a:xfrm>
            <a:off x="7439613" y="3978165"/>
            <a:ext cx="1308683" cy="26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900" rIns="0" bIns="0" anchor="t" anchorCtr="0">
            <a:spAutoFit/>
          </a:bodyPr>
          <a:lstStyle/>
          <a:p>
            <a:pPr marL="2516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5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</a:t>
            </a:r>
            <a:r>
              <a:rPr lang="en-US" sz="1585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lang="en-US" sz="1585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585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lang="en-US" sz="1585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sz="1585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7787496" y="3863028"/>
            <a:ext cx="1067080" cy="35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650" rIns="0" bIns="0" anchor="t" anchorCtr="0">
            <a:spAutoFit/>
          </a:bodyPr>
          <a:lstStyle/>
          <a:p>
            <a:pPr marL="2516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0" i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8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en-US" sz="2180" i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18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180" i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8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218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5600008" y="4237085"/>
            <a:ext cx="2760817" cy="35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650" rIns="0" bIns="0" anchor="t" anchorCtr="0">
            <a:spAutoFit/>
          </a:bodyPr>
          <a:lstStyle/>
          <a:p>
            <a:pPr marL="10067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378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	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378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218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5" name="Google Shape;275;p26"/>
          <p:cNvSpPr txBox="1">
            <a:spLocks noGrp="1"/>
          </p:cNvSpPr>
          <p:nvPr>
            <p:ph type="dt" idx="10"/>
          </p:nvPr>
        </p:nvSpPr>
        <p:spPr>
          <a:xfrm>
            <a:off x="140665" y="3351784"/>
            <a:ext cx="1255395" cy="1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2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27/1/2025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6" name="Google Shape;276;p26"/>
          <p:cNvSpPr txBox="1">
            <a:spLocks noGrp="1"/>
          </p:cNvSpPr>
          <p:nvPr>
            <p:ph type="ftr" idx="11"/>
          </p:nvPr>
        </p:nvSpPr>
        <p:spPr>
          <a:xfrm>
            <a:off x="3794023" y="3351784"/>
            <a:ext cx="342264" cy="1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2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Presented by  Dr. Nouman Noor 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7" name="Google Shape;277;p26"/>
          <p:cNvSpPr txBox="1">
            <a:spLocks noGrp="1"/>
          </p:cNvSpPr>
          <p:nvPr>
            <p:ph type="sldNum" idx="12"/>
          </p:nvPr>
        </p:nvSpPr>
        <p:spPr>
          <a:xfrm>
            <a:off x="4273613" y="3351784"/>
            <a:ext cx="317500" cy="1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/ 31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8" name="Google Shape;278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77033" y="1916299"/>
            <a:ext cx="8237934" cy="3025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"/>
          <p:cNvSpPr txBox="1">
            <a:spLocks noGrp="1"/>
          </p:cNvSpPr>
          <p:nvPr>
            <p:ph type="title"/>
          </p:nvPr>
        </p:nvSpPr>
        <p:spPr>
          <a:xfrm>
            <a:off x="1434038" y="234167"/>
            <a:ext cx="9103353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ctr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Assumption with conditional independence</a:t>
            </a:r>
            <a:endParaRPr/>
          </a:p>
        </p:txBody>
      </p:sp>
      <p:pic>
        <p:nvPicPr>
          <p:cNvPr id="284" name="Google Shape;284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5216" y="1077374"/>
            <a:ext cx="129332" cy="12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85216" y="2506380"/>
            <a:ext cx="129332" cy="12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59450" y="2858413"/>
            <a:ext cx="104215" cy="104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59450" y="3159285"/>
            <a:ext cx="104215" cy="104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59450" y="3761028"/>
            <a:ext cx="104215" cy="104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85216" y="4116008"/>
            <a:ext cx="129332" cy="12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5216" y="4455964"/>
            <a:ext cx="129332" cy="12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5216" y="6234992"/>
            <a:ext cx="129332" cy="12933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7"/>
          <p:cNvSpPr txBox="1">
            <a:spLocks noGrp="1"/>
          </p:cNvSpPr>
          <p:nvPr>
            <p:ph type="dt" idx="10"/>
          </p:nvPr>
        </p:nvSpPr>
        <p:spPr>
          <a:xfrm>
            <a:off x="140665" y="3351784"/>
            <a:ext cx="1255395" cy="1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2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27/1/2025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3" name="Google Shape;293;p27"/>
          <p:cNvSpPr txBox="1">
            <a:spLocks noGrp="1"/>
          </p:cNvSpPr>
          <p:nvPr>
            <p:ph type="sldNum" idx="12"/>
          </p:nvPr>
        </p:nvSpPr>
        <p:spPr>
          <a:xfrm>
            <a:off x="4273613" y="3351784"/>
            <a:ext cx="317500" cy="1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/ 31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94" name="Google Shape;294;p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37546" y="926748"/>
            <a:ext cx="8573254" cy="5464013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7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8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ctr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Bayesian Networks: General Idea</a:t>
            </a:r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dt" idx="4294967295"/>
          </p:nvPr>
        </p:nvSpPr>
        <p:spPr>
          <a:xfrm>
            <a:off x="0" y="3351213"/>
            <a:ext cx="1254125" cy="103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marR="0" lvl="0" indent="0" algn="l" rtl="0">
              <a:lnSpc>
                <a:spcPct val="2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27/1/2025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2" name="Google Shape;302;p28"/>
          <p:cNvSpPr txBox="1">
            <a:spLocks noGrp="1"/>
          </p:cNvSpPr>
          <p:nvPr>
            <p:ph type="ftr" idx="4294967295"/>
          </p:nvPr>
        </p:nvSpPr>
        <p:spPr>
          <a:xfrm>
            <a:off x="0" y="3351213"/>
            <a:ext cx="342900" cy="103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marR="0" lvl="0" indent="0" algn="l" rtl="0">
              <a:lnSpc>
                <a:spcPct val="2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Presented by  Dr. Nouman Noor 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3" name="Google Shape;303;p28"/>
          <p:cNvSpPr txBox="1">
            <a:spLocks noGrp="1"/>
          </p:cNvSpPr>
          <p:nvPr>
            <p:ph type="sldNum" idx="4294967295"/>
          </p:nvPr>
        </p:nvSpPr>
        <p:spPr>
          <a:xfrm>
            <a:off x="0" y="3351213"/>
            <a:ext cx="317500" cy="103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3810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/ 31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04" name="Google Shape;30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5216" y="1718174"/>
            <a:ext cx="129332" cy="12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5216" y="2134386"/>
            <a:ext cx="129332" cy="12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85216" y="2891585"/>
            <a:ext cx="129332" cy="129332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8"/>
          <p:cNvSpPr txBox="1"/>
          <p:nvPr/>
        </p:nvSpPr>
        <p:spPr>
          <a:xfrm>
            <a:off x="2200831" y="1466046"/>
            <a:ext cx="8185558" cy="1639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151006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 </a:t>
            </a:r>
            <a:r>
              <a:rPr lang="en-US" sz="2180">
                <a:solidFill>
                  <a:srgbClr val="00B0F0"/>
                </a:solidFill>
                <a:latin typeface="Tahoma"/>
                <a:ea typeface="Tahoma"/>
                <a:cs typeface="Tahoma"/>
                <a:sym typeface="Tahoma"/>
              </a:rPr>
              <a:t>conditional parameterization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(instead of joint parameterization)</a:t>
            </a:r>
            <a:endParaRPr sz="218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51006" marR="135905" lvl="0" indent="0" algn="l" rtl="0">
              <a:lnSpc>
                <a:spcPct val="1026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each random variable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378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specify 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18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378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218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218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378" b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784" b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for set </a:t>
            </a:r>
            <a:r>
              <a:rPr lang="en-US" sz="218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378" b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784" b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of random  variables</a:t>
            </a:r>
            <a:endParaRPr sz="218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51006" marR="0" lvl="0" indent="0" algn="l" rtl="0">
              <a:spcBef>
                <a:spcPts val="654"/>
              </a:spcBef>
              <a:spcAft>
                <a:spcPts val="0"/>
              </a:spcAft>
              <a:buNone/>
            </a:pP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Then get joint parametrization as</a:t>
            </a:r>
            <a:endParaRPr sz="218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8" name="Google Shape;308;p28"/>
          <p:cNvSpPr txBox="1"/>
          <p:nvPr/>
        </p:nvSpPr>
        <p:spPr>
          <a:xfrm>
            <a:off x="2316601" y="4442571"/>
            <a:ext cx="8069788" cy="1504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900" rIns="0" bIns="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a </a:t>
            </a:r>
            <a:r>
              <a:rPr lang="en-US" sz="2400">
                <a:solidFill>
                  <a:srgbClr val="0F22B1"/>
                </a:solidFill>
                <a:latin typeface="Arial"/>
                <a:ea typeface="Arial"/>
                <a:cs typeface="Arial"/>
                <a:sym typeface="Arial"/>
              </a:rPr>
              <a:t>Bayesian Network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457200" marR="0" lvl="0" indent="-457200" algn="l" rtl="0">
              <a:spcBef>
                <a:spcPts val="10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a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classical approach for data generation</a:t>
            </a:r>
            <a:endParaRPr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8068" marR="10067" lvl="0" indent="-342900" algn="l" rtl="0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Need to guarantee it is a </a:t>
            </a:r>
            <a:r>
              <a:rPr lang="en-US" sz="2400" i="1">
                <a:solidFill>
                  <a:srgbClr val="0F22B1"/>
                </a:solidFill>
                <a:latin typeface="Arial"/>
                <a:ea typeface="Arial"/>
                <a:cs typeface="Arial"/>
                <a:sym typeface="Arial"/>
              </a:rPr>
              <a:t>valid </a:t>
            </a:r>
            <a:r>
              <a:rPr lang="en-US" sz="2400">
                <a:solidFill>
                  <a:srgbClr val="0F22B1"/>
                </a:solidFill>
                <a:latin typeface="Tahoma"/>
                <a:ea typeface="Tahoma"/>
                <a:cs typeface="Tahoma"/>
                <a:sym typeface="Tahoma"/>
              </a:rPr>
              <a:t>probability distribution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68068" marR="10067" lvl="0" indent="-342900" algn="l" rtl="0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FFC000"/>
                </a:solidFill>
                <a:latin typeface="Tahoma"/>
                <a:ea typeface="Tahoma"/>
                <a:cs typeface="Tahoma"/>
                <a:sym typeface="Tahoma"/>
              </a:rPr>
              <a:t>Choosing those variable is important. How?</a:t>
            </a:r>
            <a:endParaRPr sz="2400">
              <a:solidFill>
                <a:srgbClr val="FFC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09" name="Google Shape;30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5216" y="4612879"/>
            <a:ext cx="129332" cy="12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81400" y="3380406"/>
            <a:ext cx="4767296" cy="1171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"/>
          <p:cNvSpPr txBox="1">
            <a:spLocks noGrp="1"/>
          </p:cNvSpPr>
          <p:nvPr>
            <p:ph type="title"/>
          </p:nvPr>
        </p:nvSpPr>
        <p:spPr>
          <a:xfrm>
            <a:off x="1752600" y="393813"/>
            <a:ext cx="7838254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ctr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Bayesian Networks: Formal Definition</a:t>
            </a:r>
            <a:endParaRPr/>
          </a:p>
        </p:txBody>
      </p:sp>
      <p:sp>
        <p:nvSpPr>
          <p:cNvPr id="316" name="Google Shape;316;p29"/>
          <p:cNvSpPr txBox="1">
            <a:spLocks noGrp="1"/>
          </p:cNvSpPr>
          <p:nvPr>
            <p:ph type="dt" idx="10"/>
          </p:nvPr>
        </p:nvSpPr>
        <p:spPr>
          <a:xfrm>
            <a:off x="140665" y="3351784"/>
            <a:ext cx="1255395" cy="1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2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27/1/2025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17" name="Google Shape;31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2912" y="1326271"/>
            <a:ext cx="8100762" cy="41532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9A40C6A-718C-93DE-81E9-09979FA71E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Presented by  Dr. Nouman Noor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C615C4-2555-6421-DCE4-5C8A904110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"/>
          <p:cNvSpPr txBox="1"/>
          <p:nvPr/>
        </p:nvSpPr>
        <p:spPr>
          <a:xfrm>
            <a:off x="2819400" y="659232"/>
            <a:ext cx="5163004" cy="46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74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What is a Directed Acyclic Graph?</a:t>
            </a:r>
            <a:endParaRPr sz="2774">
              <a:solidFill>
                <a:srgbClr val="0070C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23" name="Google Shape;32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4412" y="2008685"/>
            <a:ext cx="7099086" cy="2145649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0"/>
          <p:cNvSpPr txBox="1"/>
          <p:nvPr/>
        </p:nvSpPr>
        <p:spPr>
          <a:xfrm>
            <a:off x="3817080" y="4496481"/>
            <a:ext cx="4553964" cy="35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650" rIns="0" bIns="0" anchor="t" anchorCtr="0">
            <a:spAutoFit/>
          </a:bodyPr>
          <a:lstStyle/>
          <a:p>
            <a:pPr marL="2516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DAG stands for Directed Acyclic Graph</a:t>
            </a:r>
            <a:endParaRPr sz="218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5" name="Google Shape;325;p30"/>
          <p:cNvSpPr txBox="1">
            <a:spLocks noGrp="1"/>
          </p:cNvSpPr>
          <p:nvPr>
            <p:ph type="dt" idx="10"/>
          </p:nvPr>
        </p:nvSpPr>
        <p:spPr>
          <a:xfrm>
            <a:off x="140665" y="3351784"/>
            <a:ext cx="1255395" cy="1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2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27/1/2025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6" name="Google Shape;326;p30"/>
          <p:cNvSpPr txBox="1">
            <a:spLocks noGrp="1"/>
          </p:cNvSpPr>
          <p:nvPr>
            <p:ph type="ftr" idx="11"/>
          </p:nvPr>
        </p:nvSpPr>
        <p:spPr>
          <a:xfrm>
            <a:off x="3794023" y="3351784"/>
            <a:ext cx="342264" cy="1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2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Presented by  Dr. Nouman Noor 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7" name="Google Shape;327;p30"/>
          <p:cNvSpPr txBox="1">
            <a:spLocks noGrp="1"/>
          </p:cNvSpPr>
          <p:nvPr>
            <p:ph type="sldNum" idx="12"/>
          </p:nvPr>
        </p:nvSpPr>
        <p:spPr>
          <a:xfrm>
            <a:off x="4273613" y="3351784"/>
            <a:ext cx="317500" cy="1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/ 31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"/>
          <p:cNvSpPr txBox="1">
            <a:spLocks noGrp="1"/>
          </p:cNvSpPr>
          <p:nvPr>
            <p:ph type="title"/>
          </p:nvPr>
        </p:nvSpPr>
        <p:spPr>
          <a:xfrm>
            <a:off x="1676400" y="213250"/>
            <a:ext cx="7960354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ctr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Bayesian Networks: An Example</a:t>
            </a:r>
            <a:endParaRPr/>
          </a:p>
        </p:txBody>
      </p:sp>
      <p:sp>
        <p:nvSpPr>
          <p:cNvPr id="333" name="Google Shape;333;p31"/>
          <p:cNvSpPr txBox="1">
            <a:spLocks noGrp="1"/>
          </p:cNvSpPr>
          <p:nvPr>
            <p:ph type="dt" idx="10"/>
          </p:nvPr>
        </p:nvSpPr>
        <p:spPr>
          <a:xfrm>
            <a:off x="140665" y="3351784"/>
            <a:ext cx="1255395" cy="1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2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27/1/2025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34" name="Google Shape;33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35204" y="735096"/>
            <a:ext cx="7521592" cy="538780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AD66F0D-5A65-6328-A706-668E8AA753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Presented by  Dr. Nouman Noor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0FA8C5-806A-057A-B15A-F8985C528F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"/>
          <p:cNvSpPr txBox="1">
            <a:spLocks noGrp="1"/>
          </p:cNvSpPr>
          <p:nvPr>
            <p:ph type="title"/>
          </p:nvPr>
        </p:nvSpPr>
        <p:spPr>
          <a:xfrm>
            <a:off x="711497" y="399564"/>
            <a:ext cx="10668000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ctr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Graph Structure Encodes Conditional Independencies</a:t>
            </a:r>
            <a:endParaRPr/>
          </a:p>
        </p:txBody>
      </p:sp>
      <p:sp>
        <p:nvSpPr>
          <p:cNvPr id="340" name="Google Shape;340;p32"/>
          <p:cNvSpPr txBox="1">
            <a:spLocks noGrp="1"/>
          </p:cNvSpPr>
          <p:nvPr>
            <p:ph type="dt" idx="10"/>
          </p:nvPr>
        </p:nvSpPr>
        <p:spPr>
          <a:xfrm>
            <a:off x="140665" y="3351784"/>
            <a:ext cx="1255395" cy="1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2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27/1/2025</a:t>
            </a:r>
            <a:endParaRPr sz="600" b="0" i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41" name="Google Shape;341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1326" y="987869"/>
            <a:ext cx="8169348" cy="546401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D92659-78D4-6F24-0EAE-E04023CD751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Presented by  Dr. Nouman Noor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D82479-8F9A-BEF2-383B-0EC41C0ABB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800"/>
              <a:buChar char="•"/>
            </a:pPr>
            <a:r>
              <a:rPr lang="en-US" b="0" i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Consider a Bayesian Network with five variables. 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Exercise (E): Whether the person exercises regularly (Yes or No).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Diet (D): Whether the person has a healthy diet (Yes or No).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Body Weight (BW): Categorized as Underweight, Normal, Overweight.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Blood Pressure (BP): Categorized as Low, Normal, High.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Heart Disease Risk (HR): Risk level of heart disease, categorized as Low, Medium, High.</a:t>
            </a:r>
            <a:endParaRPr/>
          </a:p>
        </p:txBody>
      </p:sp>
      <p:sp>
        <p:nvSpPr>
          <p:cNvPr id="347" name="Google Shape;347;p33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348" name="Google Shape;348;p33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349" name="Google Shape;349;p33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50" name="Google Shape;350;p33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Bayesian Networks: An Example 2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800"/>
              <a:buChar char="•"/>
            </a:pPr>
            <a:r>
              <a:rPr lang="en-US" b="0" i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We'll assume the following dependencies: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Exercise (E) and Diet (D) are independent variables.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Body Weight (BW) depends on both Exercise (E) and Diet (D).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Blood Pressure (BP) is influenced by Body Weight (BW).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Heart Disease Risk (HR) is influenced by Blood Pressure (BP) and directly by Body Weight (BW).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Draw a possible Gaussian Network</a:t>
            </a:r>
            <a:endParaRPr/>
          </a:p>
        </p:txBody>
      </p:sp>
      <p:sp>
        <p:nvSpPr>
          <p:cNvPr id="356" name="Google Shape;356;p34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357" name="Google Shape;357;p34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358" name="Google Shape;358;p34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59" name="Google Shape;359;p34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Bayesian Networks: An Example 2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8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392" name="Google Shape;392;p38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393" name="Google Shape;393;p38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94" name="Google Shape;394;p38"/>
          <p:cNvSpPr txBox="1">
            <a:spLocks noGrp="1"/>
          </p:cNvSpPr>
          <p:nvPr>
            <p:ph type="title"/>
          </p:nvPr>
        </p:nvSpPr>
        <p:spPr>
          <a:xfrm>
            <a:off x="457200" y="34290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Machine Learning Fundamentals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9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400" name="Google Shape;400;p39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401" name="Google Shape;401;p39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402" name="Google Shape;402;p39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Workflow of ML tasks</a:t>
            </a:r>
            <a:endParaRPr/>
          </a:p>
        </p:txBody>
      </p:sp>
      <p:pic>
        <p:nvPicPr>
          <p:cNvPr id="403" name="Google Shape;403;p3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828800"/>
            <a:ext cx="9296400" cy="3840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ct val="100000"/>
              <a:buChar char="•"/>
            </a:pPr>
            <a:r>
              <a:rPr lang="en-US">
                <a:solidFill>
                  <a:srgbClr val="FFC000"/>
                </a:solidFill>
              </a:rPr>
              <a:t>Hyperparameters and parameters </a:t>
            </a:r>
            <a:r>
              <a:rPr lang="en-US"/>
              <a:t>are both essential components of a machine learning model.</a:t>
            </a:r>
            <a:endParaRPr/>
          </a:p>
          <a:p>
            <a:pPr marL="742950" lvl="1" indent="-28575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Have different purposes and distinct characteristics.</a:t>
            </a:r>
            <a:endParaRPr/>
          </a:p>
          <a:p>
            <a:pPr marL="342900" lvl="0" indent="-34290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Parameters:</a:t>
            </a:r>
            <a:endParaRPr/>
          </a:p>
          <a:p>
            <a:pPr marL="742950" lvl="1" indent="-28575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Parameters are the </a:t>
            </a:r>
            <a:r>
              <a:rPr lang="en-US">
                <a:solidFill>
                  <a:srgbClr val="00B050"/>
                </a:solidFill>
              </a:rPr>
              <a:t>internal variables </a:t>
            </a:r>
            <a:r>
              <a:rPr lang="en-US"/>
              <a:t>of a machine learning model that are </a:t>
            </a:r>
            <a:r>
              <a:rPr lang="en-US">
                <a:solidFill>
                  <a:srgbClr val="00B050"/>
                </a:solidFill>
              </a:rPr>
              <a:t>learned during the training process.</a:t>
            </a:r>
            <a:r>
              <a:rPr lang="en-US"/>
              <a:t> </a:t>
            </a:r>
            <a:endParaRPr/>
          </a:p>
          <a:p>
            <a:pPr marL="742950" lvl="1" indent="-285750" algn="l" rtl="0"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en-US">
                <a:solidFill>
                  <a:srgbClr val="FF0000"/>
                </a:solidFill>
              </a:rPr>
              <a:t>Model adjusts </a:t>
            </a:r>
            <a:r>
              <a:rPr lang="en-US"/>
              <a:t>to fit the training data to understand the relationships in data. </a:t>
            </a:r>
            <a:endParaRPr/>
          </a:p>
          <a:p>
            <a:pPr marL="742950" lvl="1" indent="-28575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For example, in a </a:t>
            </a:r>
            <a:r>
              <a:rPr lang="en-US">
                <a:solidFill>
                  <a:srgbClr val="FF0000"/>
                </a:solidFill>
              </a:rPr>
              <a:t>linear regression model, </a:t>
            </a:r>
            <a:r>
              <a:rPr lang="en-US"/>
              <a:t>the parameters are </a:t>
            </a:r>
            <a:r>
              <a:rPr lang="en-US">
                <a:solidFill>
                  <a:srgbClr val="0070C0"/>
                </a:solidFill>
              </a:rPr>
              <a:t>the coefficients assigned to each feature</a:t>
            </a:r>
            <a:r>
              <a:rPr lang="en-US"/>
              <a:t>, and in a neural network, the parameters include the </a:t>
            </a:r>
            <a:r>
              <a:rPr lang="en-US">
                <a:solidFill>
                  <a:srgbClr val="0070C0"/>
                </a:solidFill>
              </a:rPr>
              <a:t>weights and biases of the network's neurons</a:t>
            </a:r>
            <a:r>
              <a:rPr lang="en-US"/>
              <a:t>.</a:t>
            </a:r>
            <a:endParaRPr/>
          </a:p>
          <a:p>
            <a:pPr marL="742950" lvl="1" indent="-28575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Keep updating these parameters iteratively to minimize a chosen </a:t>
            </a:r>
            <a:r>
              <a:rPr lang="en-US">
                <a:solidFill>
                  <a:srgbClr val="FF0000"/>
                </a:solidFill>
              </a:rPr>
              <a:t>loss function</a:t>
            </a:r>
            <a:endParaRPr/>
          </a:p>
        </p:txBody>
      </p:sp>
      <p:sp>
        <p:nvSpPr>
          <p:cNvPr id="409" name="Google Shape;409;p40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410" name="Google Shape;410;p40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411" name="Google Shape;411;p40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412" name="Google Shape;412;p40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Hyperparameters vs Parameters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418" name="Google Shape;418;p41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419" name="Google Shape;419;p41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420" name="Google Shape;420;p41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421" name="Google Shape;421;p41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Training, Validation and Testing Data</a:t>
            </a:r>
            <a:endParaRPr/>
          </a:p>
        </p:txBody>
      </p:sp>
      <p:pic>
        <p:nvPicPr>
          <p:cNvPr id="422" name="Google Shape;422;p41" descr="Image result for test data training data validation dat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1200" y="1600200"/>
            <a:ext cx="8352014" cy="4525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100000"/>
              <a:buChar char="•"/>
            </a:pPr>
            <a:r>
              <a:rPr lang="en-US">
                <a:solidFill>
                  <a:srgbClr val="7030A0"/>
                </a:solidFill>
              </a:rPr>
              <a:t>Cross-Validation</a:t>
            </a:r>
            <a:endParaRPr/>
          </a:p>
          <a:p>
            <a:pPr marL="342900" lvl="0" indent="-34290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Set aside some </a:t>
            </a:r>
            <a:r>
              <a:rPr lang="en-US">
                <a:solidFill>
                  <a:srgbClr val="FF0000"/>
                </a:solidFill>
              </a:rPr>
              <a:t>portion of the data for validation </a:t>
            </a:r>
            <a:r>
              <a:rPr lang="en-US"/>
              <a:t>and </a:t>
            </a:r>
            <a:r>
              <a:rPr lang="en-US">
                <a:solidFill>
                  <a:srgbClr val="FF0000"/>
                </a:solidFill>
              </a:rPr>
              <a:t>Train on rest of it</a:t>
            </a:r>
            <a:r>
              <a:rPr lang="en-US"/>
              <a:t>.</a:t>
            </a:r>
            <a:endParaRPr/>
          </a:p>
          <a:p>
            <a:pPr marL="342900" lvl="0" indent="-34290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LOOCV (Leave One Out Cross Validation)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800"/>
              <a:t>Perform training on the </a:t>
            </a:r>
            <a:r>
              <a:rPr lang="en-US" sz="2800">
                <a:solidFill>
                  <a:srgbClr val="FF0000"/>
                </a:solidFill>
              </a:rPr>
              <a:t>whole training data set but leaves only one sample </a:t>
            </a:r>
            <a:r>
              <a:rPr lang="en-US" sz="2800"/>
              <a:t>for validation</a:t>
            </a:r>
            <a:endParaRPr/>
          </a:p>
          <a:p>
            <a:pPr marL="342900" lvl="0" indent="-34290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K-Fold Cross Validation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800"/>
              <a:t>The </a:t>
            </a:r>
            <a:r>
              <a:rPr lang="en-US" sz="2800">
                <a:solidFill>
                  <a:srgbClr val="7030A0"/>
                </a:solidFill>
              </a:rPr>
              <a:t>data-set into split into k subsets(folds)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800"/>
              <a:t>Perform </a:t>
            </a:r>
            <a:r>
              <a:rPr lang="en-US" sz="2800">
                <a:solidFill>
                  <a:srgbClr val="00B050"/>
                </a:solidFill>
              </a:rPr>
              <a:t>training on the all the subsets but leave one(k-1)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800"/>
              <a:t>Iterate for all folds</a:t>
            </a:r>
            <a:endParaRPr/>
          </a:p>
        </p:txBody>
      </p:sp>
      <p:sp>
        <p:nvSpPr>
          <p:cNvPr id="428" name="Google Shape;428;p42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429" name="Google Shape;429;p42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430" name="Google Shape;430;p42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431" name="Google Shape;431;p42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600"/>
              <a:buFont typeface="Roboto"/>
              <a:buNone/>
            </a:pPr>
            <a:r>
              <a:rPr lang="en-US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Train, Test and Evaluate model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720" t="-188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37" name="Google Shape;437;p43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438" name="Google Shape;438;p43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439" name="Google Shape;439;p43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440" name="Google Shape;440;p43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Cost function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Gradient descent is an </a:t>
            </a:r>
            <a:r>
              <a:rPr lang="en-US">
                <a:solidFill>
                  <a:srgbClr val="FF0000"/>
                </a:solidFill>
              </a:rPr>
              <a:t>optimization algorithm  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helps for </a:t>
            </a:r>
            <a:r>
              <a:rPr lang="en-US">
                <a:solidFill>
                  <a:srgbClr val="00B050"/>
                </a:solidFill>
              </a:rPr>
              <a:t>searching for the optimal model parameters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>
                <a:solidFill>
                  <a:srgbClr val="0070C0"/>
                </a:solidFill>
              </a:rPr>
              <a:t>Update parameters </a:t>
            </a:r>
            <a:r>
              <a:rPr lang="en-US"/>
              <a:t>according to the </a:t>
            </a:r>
            <a:r>
              <a:rPr lang="en-US">
                <a:solidFill>
                  <a:srgbClr val="00B050"/>
                </a:solidFill>
              </a:rPr>
              <a:t>gradient values</a:t>
            </a:r>
            <a:r>
              <a:rPr lang="en-US"/>
              <a:t>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gradient measures </a:t>
            </a:r>
            <a:r>
              <a:rPr lang="en-US">
                <a:solidFill>
                  <a:srgbClr val="FF0000"/>
                </a:solidFill>
              </a:rPr>
              <a:t>how much the output of a function changes if you change the parameter values</a:t>
            </a:r>
            <a:r>
              <a:rPr lang="en-US"/>
              <a:t>.</a:t>
            </a:r>
            <a:endParaRPr/>
          </a:p>
        </p:txBody>
      </p:sp>
      <p:sp>
        <p:nvSpPr>
          <p:cNvPr id="446" name="Google Shape;446;p44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447" name="Google Shape;447;p44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448" name="Google Shape;448;p44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49" name="Google Shape;449;p44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Gradient Descent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77" t="-148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55" name="Google Shape;455;p45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456" name="Google Shape;456;p45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457" name="Google Shape;457;p45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458" name="Google Shape;458;p45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Gradient Descent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6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32" t="-13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64" name="Google Shape;464;p46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465" name="Google Shape;465;p46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466" name="Google Shape;466;p46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467" name="Google Shape;467;p46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Gradient Descent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7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473" name="Google Shape;473;p47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474" name="Google Shape;474;p47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475" name="Google Shape;475;p47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Gradient Descent</a:t>
            </a:r>
            <a:endParaRPr/>
          </a:p>
        </p:txBody>
      </p:sp>
      <p:pic>
        <p:nvPicPr>
          <p:cNvPr id="476" name="Google Shape;476;p4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362201" y="1624698"/>
            <a:ext cx="7060579" cy="4695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8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482" name="Google Shape;482;p48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483" name="Google Shape;483;p48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484" name="Google Shape;484;p48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Gradient Descent</a:t>
            </a:r>
            <a:endParaRPr/>
          </a:p>
        </p:txBody>
      </p:sp>
      <p:pic>
        <p:nvPicPr>
          <p:cNvPr id="485" name="Google Shape;485;p48" descr="Gradient Descent and Stochastic Gradient Descent - mlxten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81200" y="1633457"/>
            <a:ext cx="8229600" cy="445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9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491" name="Google Shape;491;p49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492" name="Google Shape;492;p49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493" name="Google Shape;493;p49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Gradient Descent</a:t>
            </a:r>
            <a:endParaRPr/>
          </a:p>
        </p:txBody>
      </p:sp>
      <p:pic>
        <p:nvPicPr>
          <p:cNvPr id="494" name="Google Shape;494;p49" descr="gradient descent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277437" y="1600201"/>
            <a:ext cx="5637127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How can we evaluate the performance on the test data set when we can observe only the training set</a:t>
            </a:r>
            <a:r>
              <a:rPr lang="en-US"/>
              <a:t>?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500" name="Google Shape;500;p50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501" name="Google Shape;501;p50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502" name="Google Shape;502;p50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503" name="Google Shape;503;p50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Thought Provoking Question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Chapter 20, Deep Learning, MIT Press, Ian Goodfellow, Yoshua Bengio, Aaron Courville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Lecture slides of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https://www.cs.cornell.edu/~kuleshov/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509" name="Google Shape;509;p51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510" name="Google Shape;510;p51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  <p:sp>
        <p:nvSpPr>
          <p:cNvPr id="511" name="Google Shape;511;p51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512" name="Google Shape;512;p51"/>
          <p:cNvSpPr txBox="1"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/>
              <a:t>References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2"/>
          <p:cNvSpPr txBox="1"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7200"/>
              <a:buFont typeface="Arial"/>
              <a:buNone/>
            </a:pPr>
            <a:r>
              <a:rPr lang="en-US" sz="7200"/>
              <a:t>Thank You ☺ </a:t>
            </a:r>
            <a:endParaRPr sz="7200"/>
          </a:p>
        </p:txBody>
      </p:sp>
      <p:sp>
        <p:nvSpPr>
          <p:cNvPr id="518" name="Google Shape;518;p52"/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52"/>
          <p:cNvSpPr txBox="1">
            <a:spLocks noGrp="1"/>
          </p:cNvSpPr>
          <p:nvPr>
            <p:ph type="sldNum" idx="12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520" name="Google Shape;520;p52"/>
          <p:cNvSpPr txBox="1">
            <a:spLocks noGrp="1"/>
          </p:cNvSpPr>
          <p:nvPr>
            <p:ph type="dt" idx="10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27/1/2025</a:t>
            </a:r>
            <a:endParaRPr/>
          </a:p>
        </p:txBody>
      </p:sp>
      <p:sp>
        <p:nvSpPr>
          <p:cNvPr id="521" name="Google Shape;521;p52"/>
          <p:cNvSpPr txBox="1">
            <a:spLocks noGrp="1"/>
          </p:cNvSpPr>
          <p:nvPr>
            <p:ph type="ftr" idx="11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Presented by  Dr. Nouman Noor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1821</Words>
  <Application>Microsoft Office PowerPoint</Application>
  <PresentationFormat>Widescreen</PresentationFormat>
  <Paragraphs>261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Tahoma</vt:lpstr>
      <vt:lpstr>Lucida Sans</vt:lpstr>
      <vt:lpstr>Roboto</vt:lpstr>
      <vt:lpstr>Calibri</vt:lpstr>
      <vt:lpstr>Times New Roman</vt:lpstr>
      <vt:lpstr>Arial</vt:lpstr>
      <vt:lpstr>Arial</vt:lpstr>
      <vt:lpstr>Office Theme</vt:lpstr>
      <vt:lpstr>PowerPoint Presentation</vt:lpstr>
      <vt:lpstr>Goals</vt:lpstr>
      <vt:lpstr>Review of Previous Lecture</vt:lpstr>
      <vt:lpstr>Discriminative Vs Generative Model</vt:lpstr>
      <vt:lpstr>What are Generative Models?</vt:lpstr>
      <vt:lpstr>Learning a Generative Model</vt:lpstr>
      <vt:lpstr>Learning a Generative Model</vt:lpstr>
      <vt:lpstr>Probabilistic Models: Basic Discrete Distributions</vt:lpstr>
      <vt:lpstr>Probabilistic Models: A Multi-Variate Joint Distribution</vt:lpstr>
      <vt:lpstr>The Curse of Dimensionality in Probabilistic Models</vt:lpstr>
      <vt:lpstr>Today’s Lecture</vt:lpstr>
      <vt:lpstr>Two Important Rules in Probability</vt:lpstr>
      <vt:lpstr>Assumption with conditional independence</vt:lpstr>
      <vt:lpstr>Bayesian Networks: General Idea</vt:lpstr>
      <vt:lpstr>Bayesian Networks: Formal Definition</vt:lpstr>
      <vt:lpstr>PowerPoint Presentation</vt:lpstr>
      <vt:lpstr>Bayesian Networks: An Example</vt:lpstr>
      <vt:lpstr>Graph Structure Encodes Conditional Independencies</vt:lpstr>
      <vt:lpstr>Bayesian Networks: An Example 2</vt:lpstr>
      <vt:lpstr>Bayesian Networks: An Example 2</vt:lpstr>
      <vt:lpstr>Machine Learning Fundamentals</vt:lpstr>
      <vt:lpstr>Workflow of ML tasks</vt:lpstr>
      <vt:lpstr>Hyperparameters vs Parameters </vt:lpstr>
      <vt:lpstr>Training, Validation and Testing Data</vt:lpstr>
      <vt:lpstr>Train, Test and Evaluate model </vt:lpstr>
      <vt:lpstr>Cost function</vt:lpstr>
      <vt:lpstr>Gradient Descent</vt:lpstr>
      <vt:lpstr>Gradient Descent</vt:lpstr>
      <vt:lpstr>Gradient Descent</vt:lpstr>
      <vt:lpstr>Gradient Descent</vt:lpstr>
      <vt:lpstr>Gradient Descent</vt:lpstr>
      <vt:lpstr>Gradient Descent</vt:lpstr>
      <vt:lpstr>Thought Provoking Question</vt:lpstr>
      <vt:lpstr>References</vt:lpstr>
      <vt:lpstr>Thank You ☺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01-243172-020</cp:lastModifiedBy>
  <cp:revision>8</cp:revision>
  <dcterms:modified xsi:type="dcterms:W3CDTF">2025-08-20T10:58:30Z</dcterms:modified>
</cp:coreProperties>
</file>