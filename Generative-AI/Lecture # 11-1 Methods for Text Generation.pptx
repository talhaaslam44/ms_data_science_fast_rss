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1"/>
  </p:notesMasterIdLst>
  <p:sldIdLst>
    <p:sldId id="352" r:id="rId2"/>
    <p:sldId id="421" r:id="rId3"/>
    <p:sldId id="1756" r:id="rId4"/>
    <p:sldId id="272" r:id="rId5"/>
    <p:sldId id="278" r:id="rId6"/>
    <p:sldId id="279" r:id="rId7"/>
    <p:sldId id="1857" r:id="rId8"/>
    <p:sldId id="1858" r:id="rId9"/>
    <p:sldId id="1859" r:id="rId10"/>
    <p:sldId id="1860" r:id="rId11"/>
    <p:sldId id="275" r:id="rId12"/>
    <p:sldId id="1861" r:id="rId13"/>
    <p:sldId id="1862" r:id="rId14"/>
    <p:sldId id="1863" r:id="rId15"/>
    <p:sldId id="280" r:id="rId16"/>
    <p:sldId id="285" r:id="rId17"/>
    <p:sldId id="286" r:id="rId18"/>
    <p:sldId id="287" r:id="rId19"/>
    <p:sldId id="12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5187E5E-1EA6-4BCE-A511-56E703A11BB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4A7-64EC-41D1-B8BC-7F0FD87C0AF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4F75-66CE-4D2B-91B9-37AC1CB8D738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A0C9-3798-4D0C-8BA2-38F0C3D6F978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5E4B-EA46-4A46-868F-AB2071545AE4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AACF-EE7E-47C1-916E-C6B944BE54D5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5095B-1F76-4917-9803-E52C5581ECC6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CA38F-6492-4106-98C1-07AE14877B65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A7DB-6D63-4C6F-8DA2-B0806E3C37E8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863B4-356E-4400-95F2-00C2C40A32B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55EA-55E7-46E1-800B-F63AAF1F366E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8FCB46-75EA-42AE-93CC-ABEC4CCFED2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E4D8-CE1F-4659-8466-10C552D9CB9D}" type="datetime1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6580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Text Representation for Generation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AI-5004 Adv. Topics in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solidFill>
                  <a:srgbClr val="FF0000"/>
                </a:solidFill>
                <a:ea typeface="SimSun" panose="02010600030101010101" pitchFamily="2" charset="-122"/>
              </a:rPr>
              <a:t>Methods for Text Representation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1EEF-B9E5-4DF2-8883-BEDEB111488B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F76DB-CFF6-2554-B208-C8A036B6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58376-9862-4129-A1A0-512BECDBDDF5}" type="datetime1">
              <a:rPr lang="en-US" smtClean="0"/>
              <a:t>10/22/2025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960F58B-1719-296E-65F1-F8D8C3764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64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00" spc="-22" dirty="0">
                <a:latin typeface="Arial MT"/>
                <a:cs typeface="Arial MT"/>
              </a:rPr>
              <a:t>Word2Vec</a:t>
            </a:r>
            <a:endParaRPr lang="en-US" sz="2400" dirty="0">
              <a:latin typeface="Arial MT"/>
              <a:cs typeface="Arial MT"/>
            </a:endParaRPr>
          </a:p>
          <a:p>
            <a:pPr marL="667346" lvl="1" indent="-253827">
              <a:spcBef>
                <a:spcPts val="516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i="1" spc="-18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lang="en-US" i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representations</a:t>
            </a:r>
            <a:r>
              <a:rPr lang="en-US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US" i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words</a:t>
            </a:r>
            <a:endParaRPr lang="en-US" dirty="0">
              <a:latin typeface="Arial"/>
              <a:cs typeface="Arial"/>
            </a:endParaRPr>
          </a:p>
          <a:p>
            <a:pPr marL="667346" marR="4483" lvl="1" indent="-253266">
              <a:spcBef>
                <a:spcPts val="543"/>
              </a:spcBef>
              <a:buChar char="–"/>
              <a:tabLst>
                <a:tab pos="667906" algn="l"/>
              </a:tabLst>
            </a:pPr>
            <a:r>
              <a:rPr lang="en-US" dirty="0">
                <a:latin typeface="Arial MT"/>
                <a:cs typeface="Arial MT"/>
              </a:rPr>
              <a:t>One of the most popular representations of document </a:t>
            </a:r>
            <a:r>
              <a:rPr lang="en-US" spc="-627" dirty="0">
                <a:latin typeface="Arial MT"/>
                <a:cs typeface="Arial MT"/>
              </a:rPr>
              <a:t> </a:t>
            </a:r>
            <a:r>
              <a:rPr lang="en-US" spc="-18" dirty="0">
                <a:latin typeface="Arial MT"/>
                <a:cs typeface="Arial MT"/>
              </a:rPr>
              <a:t>vocabulary.</a:t>
            </a:r>
            <a:endParaRPr lang="en-US" dirty="0">
              <a:latin typeface="Arial MT"/>
              <a:cs typeface="Arial MT"/>
            </a:endParaRPr>
          </a:p>
          <a:p>
            <a:pPr marL="667346" marR="213483" lvl="1" indent="-253266">
              <a:spcBef>
                <a:spcPts val="552"/>
              </a:spcBef>
              <a:buChar char="–"/>
              <a:tabLst>
                <a:tab pos="667906" algn="l"/>
              </a:tabLst>
            </a:pPr>
            <a:r>
              <a:rPr lang="en-US" dirty="0">
                <a:latin typeface="Arial MT"/>
                <a:cs typeface="Arial MT"/>
              </a:rPr>
              <a:t>Capable of capturing </a:t>
            </a:r>
            <a:r>
              <a:rPr lang="en-US" dirty="0">
                <a:solidFill>
                  <a:srgbClr val="00B0F0"/>
                </a:solidFill>
                <a:latin typeface="Arial MT"/>
                <a:cs typeface="Arial MT"/>
              </a:rPr>
              <a:t>context of a word </a:t>
            </a:r>
            <a:r>
              <a:rPr lang="en-US" spc="-4" dirty="0">
                <a:latin typeface="Arial MT"/>
                <a:cs typeface="Arial MT"/>
              </a:rPr>
              <a:t>in </a:t>
            </a:r>
            <a:r>
              <a:rPr lang="en-US" dirty="0">
                <a:latin typeface="Arial MT"/>
                <a:cs typeface="Arial MT"/>
              </a:rPr>
              <a:t>a 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document, semantic and syntactic </a:t>
            </a:r>
            <a:r>
              <a:rPr lang="en-US" spc="-18" dirty="0">
                <a:latin typeface="Arial MT"/>
                <a:cs typeface="Arial MT"/>
              </a:rPr>
              <a:t>similarity, </a:t>
            </a:r>
            <a:r>
              <a:rPr lang="en-US" spc="-4" dirty="0">
                <a:latin typeface="Arial MT"/>
                <a:cs typeface="Arial MT"/>
              </a:rPr>
              <a:t>relation </a:t>
            </a:r>
            <a:r>
              <a:rPr lang="en-US" spc="-627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with </a:t>
            </a:r>
            <a:r>
              <a:rPr lang="en-US" dirty="0">
                <a:latin typeface="Arial MT"/>
                <a:cs typeface="Arial MT"/>
              </a:rPr>
              <a:t>other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words,</a:t>
            </a:r>
            <a:r>
              <a:rPr lang="en-US" spc="-18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etc.</a:t>
            </a:r>
          </a:p>
          <a:p>
            <a:pPr marL="313221" marR="1875404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 MT"/>
                <a:cs typeface="Arial MT"/>
              </a:rPr>
              <a:t>In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one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hot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encoding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representations,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all</a:t>
            </a:r>
            <a:r>
              <a:rPr lang="en-US" spc="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words </a:t>
            </a:r>
            <a:r>
              <a:rPr lang="en-US" spc="-52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are</a:t>
            </a:r>
            <a:r>
              <a:rPr lang="en-US" spc="9" dirty="0">
                <a:latin typeface="Arial MT"/>
                <a:cs typeface="Arial MT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independent</a:t>
            </a: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each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other</a:t>
            </a:r>
            <a:r>
              <a:rPr lang="en-US" i="1" spc="-4" dirty="0">
                <a:latin typeface="Arial"/>
                <a:cs typeface="Arial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 marL="313781" marR="103660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 MT"/>
                <a:cs typeface="Arial MT"/>
              </a:rPr>
              <a:t>It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makes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sense to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introduce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some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dependence</a:t>
            </a:r>
            <a:r>
              <a:rPr lang="en-US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one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word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on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the </a:t>
            </a:r>
            <a:r>
              <a:rPr lang="en-US" spc="-525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other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words.</a:t>
            </a:r>
            <a:endParaRPr lang="en-US" dirty="0">
              <a:latin typeface="Arial MT"/>
              <a:cs typeface="Arial MT"/>
            </a:endParaRPr>
          </a:p>
          <a:p>
            <a:pPr marL="667346" marR="213483" lvl="1" indent="-253266">
              <a:spcBef>
                <a:spcPts val="552"/>
              </a:spcBef>
              <a:buChar char="–"/>
              <a:tabLst>
                <a:tab pos="667906" algn="l"/>
              </a:tabLst>
            </a:pPr>
            <a:endParaRPr lang="en-US" dirty="0">
              <a:latin typeface="Arial MT"/>
              <a:cs typeface="Arial MT"/>
            </a:endParaRPr>
          </a:p>
          <a:p>
            <a:endParaRPr lang="en-US" sz="3200"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" dirty="0"/>
              <a:t>Introduction:</a:t>
            </a:r>
            <a:r>
              <a:rPr spc="-53" dirty="0"/>
              <a:t> </a:t>
            </a:r>
            <a:r>
              <a:rPr spc="-35" dirty="0"/>
              <a:t>Word2Vec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4</a:t>
            </a:fld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B71A3D8-0FF2-45D0-B768-4BDB2CDC354E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" dirty="0"/>
              <a:t>I</a:t>
            </a:r>
            <a:r>
              <a:rPr lang="en-US" spc="-4" dirty="0"/>
              <a:t>n</a:t>
            </a:r>
            <a:r>
              <a:rPr spc="-4" dirty="0"/>
              <a:t>troduction:</a:t>
            </a:r>
            <a:r>
              <a:rPr spc="-53" dirty="0"/>
              <a:t> </a:t>
            </a:r>
            <a:r>
              <a:rPr spc="-35" dirty="0"/>
              <a:t>Word2Vec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0DFBACB-2A82-9916-C6F6-3E88F45C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46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i="1" spc="-13" dirty="0">
                <a:solidFill>
                  <a:srgbClr val="FF0000"/>
                </a:solidFill>
                <a:latin typeface="Arial"/>
                <a:cs typeface="Arial"/>
              </a:rPr>
              <a:t>Word2Vec</a:t>
            </a:r>
            <a:r>
              <a:rPr lang="en-US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4" dirty="0">
                <a:latin typeface="Arial MT"/>
                <a:cs typeface="Arial MT"/>
              </a:rPr>
              <a:t>learns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word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embeddings</a:t>
            </a:r>
            <a:r>
              <a:rPr lang="en-US" spc="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using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shallow</a:t>
            </a: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neural</a:t>
            </a:r>
            <a:r>
              <a:rPr lang="en-US" i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networks</a:t>
            </a:r>
            <a:endParaRPr lang="en-US" dirty="0">
              <a:latin typeface="Arial"/>
              <a:cs typeface="Arial"/>
            </a:endParaRPr>
          </a:p>
          <a:p>
            <a:pPr marL="667346" marR="535109" lvl="1" indent="-253266" algn="just">
              <a:spcBef>
                <a:spcPts val="468"/>
              </a:spcBef>
              <a:buChar char="–"/>
              <a:tabLst>
                <a:tab pos="667906" algn="l"/>
              </a:tabLst>
            </a:pP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two-layer neural net </a:t>
            </a:r>
            <a:r>
              <a:rPr lang="en-US" sz="2800" spc="-4" dirty="0">
                <a:latin typeface="Arial MT"/>
                <a:cs typeface="Arial MT"/>
              </a:rPr>
              <a:t>that processes text. </a:t>
            </a:r>
          </a:p>
          <a:p>
            <a:pPr marL="667346" marR="535109" lvl="1" indent="-253266" algn="just">
              <a:spcBef>
                <a:spcPts val="468"/>
              </a:spcBef>
              <a:buChar char="–"/>
              <a:tabLst>
                <a:tab pos="667906" algn="l"/>
              </a:tabLst>
            </a:pPr>
            <a:r>
              <a:rPr lang="en-US" sz="2800" spc="-4" dirty="0">
                <a:latin typeface="Arial MT"/>
                <a:cs typeface="Arial MT"/>
              </a:rPr>
              <a:t>Its input is a text corpus and its output is a set of vectors: feature vectors for words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corpus.</a:t>
            </a:r>
            <a:endParaRPr lang="en-US" sz="2800" dirty="0">
              <a:latin typeface="Arial MT"/>
              <a:cs typeface="Arial MT"/>
            </a:endParaRPr>
          </a:p>
          <a:p>
            <a:pPr marL="667346" marR="4483" lvl="1" indent="-253266" algn="just">
              <a:spcBef>
                <a:spcPts val="463"/>
              </a:spcBef>
              <a:buChar char="–"/>
              <a:tabLst>
                <a:tab pos="667906" algn="l"/>
              </a:tabLst>
            </a:pPr>
            <a:r>
              <a:rPr lang="en-US" sz="2800" spc="-4" dirty="0">
                <a:latin typeface="Arial MT"/>
                <a:cs typeface="Arial MT"/>
              </a:rPr>
              <a:t>While </a:t>
            </a:r>
            <a:r>
              <a:rPr lang="en-US" sz="2800" spc="-9" dirty="0">
                <a:latin typeface="Arial MT"/>
                <a:cs typeface="Arial MT"/>
              </a:rPr>
              <a:t>Word2vec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is not a deep neural network</a:t>
            </a:r>
            <a:r>
              <a:rPr lang="en-US" sz="2800" spc="-4" dirty="0">
                <a:latin typeface="Arial MT"/>
                <a:cs typeface="Arial MT"/>
              </a:rPr>
              <a:t>, it turns text into a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numerical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form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understand</a:t>
            </a:r>
            <a:endParaRPr lang="en-US" sz="2800" dirty="0">
              <a:latin typeface="Arial MT"/>
              <a:cs typeface="Arial MT"/>
            </a:endParaRPr>
          </a:p>
          <a:p>
            <a:endParaRPr lang="en-US" sz="400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5</a:t>
            </a:fld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A096EB9-27E9-40CA-A7CB-E823546B2316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8293ED-2D21-75F2-2479-C0B4847E3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63054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118" spc="-9" dirty="0">
                <a:latin typeface="Arial MT"/>
                <a:cs typeface="Arial MT"/>
              </a:rPr>
              <a:t>Word2vec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trains</a:t>
            </a:r>
            <a:r>
              <a:rPr lang="en-US" sz="2118" spc="-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words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against</a:t>
            </a:r>
            <a:r>
              <a:rPr lang="en-US" sz="2118" spc="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other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words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that</a:t>
            </a:r>
            <a:r>
              <a:rPr lang="en-US" sz="2118" spc="-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neighbor </a:t>
            </a:r>
            <a:r>
              <a:rPr lang="en-US" sz="2118" spc="-574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them</a:t>
            </a:r>
            <a:r>
              <a:rPr lang="en-US" sz="2118" spc="-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in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the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input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corpus.</a:t>
            </a:r>
            <a:endParaRPr lang="en-US" sz="2118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118" spc="-26" dirty="0">
                <a:latin typeface="Arial MT"/>
                <a:cs typeface="Arial MT"/>
              </a:rPr>
              <a:t>Word2Vec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employs</a:t>
            </a:r>
            <a:r>
              <a:rPr lang="en-US" sz="2118" spc="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one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of</a:t>
            </a:r>
            <a:r>
              <a:rPr lang="en-US" sz="2118" spc="-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the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two</a:t>
            </a:r>
            <a:r>
              <a:rPr lang="en-US" sz="2118" spc="-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algorithms:</a:t>
            </a:r>
            <a:endParaRPr lang="en-US" sz="2118" dirty="0">
              <a:latin typeface="Arial MT"/>
              <a:cs typeface="Arial MT"/>
            </a:endParaRPr>
          </a:p>
          <a:p>
            <a:pPr marL="667346" marR="170338" lvl="1" indent="-253266">
              <a:spcBef>
                <a:spcPts val="507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118" b="1" spc="-4" dirty="0">
                <a:solidFill>
                  <a:srgbClr val="FF0000"/>
                </a:solidFill>
                <a:latin typeface="Arial"/>
                <a:cs typeface="Arial"/>
              </a:rPr>
              <a:t>Continuous bag of </a:t>
            </a:r>
            <a:r>
              <a:rPr lang="en-US" sz="2118" b="1" dirty="0">
                <a:solidFill>
                  <a:srgbClr val="FF0000"/>
                </a:solidFill>
                <a:latin typeface="Arial"/>
                <a:cs typeface="Arial"/>
              </a:rPr>
              <a:t>words </a:t>
            </a:r>
            <a:r>
              <a:rPr lang="en-US" sz="2118" b="1" spc="-4" dirty="0">
                <a:solidFill>
                  <a:srgbClr val="FF0000"/>
                </a:solidFill>
                <a:latin typeface="Arial"/>
                <a:cs typeface="Arial"/>
              </a:rPr>
              <a:t>(CBOW): </a:t>
            </a:r>
            <a:r>
              <a:rPr lang="en-US" sz="2118" spc="-4" dirty="0">
                <a:latin typeface="Arial MT"/>
                <a:cs typeface="Arial MT"/>
              </a:rPr>
              <a:t>Using context </a:t>
            </a:r>
            <a:r>
              <a:rPr lang="en-US" sz="2118" dirty="0">
                <a:latin typeface="Arial MT"/>
                <a:cs typeface="Arial MT"/>
              </a:rPr>
              <a:t>to </a:t>
            </a:r>
            <a:r>
              <a:rPr lang="en-US" sz="2118" spc="-57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predict</a:t>
            </a:r>
            <a:r>
              <a:rPr lang="en-US" sz="2118" spc="4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target word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(a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method</a:t>
            </a:r>
            <a:r>
              <a:rPr lang="en-US" sz="2118" spc="-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known</a:t>
            </a:r>
            <a:r>
              <a:rPr lang="en-US" sz="2118" spc="22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as),</a:t>
            </a:r>
            <a:endParaRPr lang="en-US" sz="2118" dirty="0">
              <a:latin typeface="Arial MT"/>
              <a:cs typeface="Arial MT"/>
            </a:endParaRPr>
          </a:p>
          <a:p>
            <a:pPr marL="667346" lvl="1" indent="-253827">
              <a:spcBef>
                <a:spcPts val="50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118" b="1" spc="-4" dirty="0">
                <a:solidFill>
                  <a:srgbClr val="FF0000"/>
                </a:solidFill>
                <a:latin typeface="Arial"/>
                <a:cs typeface="Arial"/>
              </a:rPr>
              <a:t>Skip-gram:</a:t>
            </a:r>
            <a:r>
              <a:rPr lang="en-US" sz="2118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Using</a:t>
            </a:r>
            <a:r>
              <a:rPr lang="en-US" sz="2118" spc="22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</a:t>
            </a:r>
            <a:r>
              <a:rPr lang="en-US" sz="2118" spc="-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word</a:t>
            </a:r>
            <a:r>
              <a:rPr lang="en-US" sz="2118" spc="9" dirty="0">
                <a:latin typeface="Arial MT"/>
                <a:cs typeface="Arial MT"/>
              </a:rPr>
              <a:t> </a:t>
            </a:r>
            <a:r>
              <a:rPr lang="en-US" sz="2118" dirty="0">
                <a:latin typeface="Arial MT"/>
                <a:cs typeface="Arial MT"/>
              </a:rPr>
              <a:t>to</a:t>
            </a:r>
            <a:r>
              <a:rPr lang="en-US" sz="2118" spc="-9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predict</a:t>
            </a:r>
            <a:r>
              <a:rPr lang="en-US" sz="2118" spc="4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a</a:t>
            </a:r>
            <a:r>
              <a:rPr lang="en-US" sz="2118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target</a:t>
            </a:r>
            <a:r>
              <a:rPr lang="en-US" sz="2118" spc="-13" dirty="0">
                <a:latin typeface="Arial MT"/>
                <a:cs typeface="Arial MT"/>
              </a:rPr>
              <a:t> </a:t>
            </a:r>
            <a:r>
              <a:rPr lang="en-US" sz="2118" spc="-4" dirty="0">
                <a:latin typeface="Arial MT"/>
                <a:cs typeface="Arial MT"/>
              </a:rPr>
              <a:t>context</a:t>
            </a:r>
            <a:endParaRPr lang="en-US" sz="2118" dirty="0">
              <a:latin typeface="Arial MT"/>
              <a:cs typeface="Arial MT"/>
            </a:endParaRPr>
          </a:p>
          <a:p>
            <a:pPr marL="1019790" marR="310980" lvl="2" indent="-201717">
              <a:spcBef>
                <a:spcPts val="427"/>
              </a:spcBef>
              <a:buChar char="•"/>
              <a:tabLst>
                <a:tab pos="1019229" algn="l"/>
                <a:tab pos="1019790" algn="l"/>
              </a:tabLst>
            </a:pPr>
            <a:r>
              <a:rPr lang="en-US" sz="1765" spc="-4" dirty="0">
                <a:latin typeface="Arial MT"/>
                <a:cs typeface="Arial MT"/>
              </a:rPr>
              <a:t>Example: Given</a:t>
            </a:r>
            <a:r>
              <a:rPr lang="en-US" sz="1765" spc="-9" dirty="0">
                <a:latin typeface="Arial MT"/>
                <a:cs typeface="Arial MT"/>
              </a:rPr>
              <a:t> </a:t>
            </a:r>
            <a:r>
              <a:rPr lang="en-US" sz="1765" spc="-4" dirty="0">
                <a:latin typeface="Arial MT"/>
                <a:cs typeface="Arial MT"/>
              </a:rPr>
              <a:t>the </a:t>
            </a:r>
            <a:r>
              <a:rPr lang="en-US" sz="1765" dirty="0">
                <a:latin typeface="Arial MT"/>
                <a:cs typeface="Arial MT"/>
              </a:rPr>
              <a:t>word</a:t>
            </a:r>
            <a:r>
              <a:rPr lang="en-US" sz="1765" spc="-22" dirty="0">
                <a:latin typeface="Arial MT"/>
                <a:cs typeface="Arial MT"/>
              </a:rPr>
              <a:t> </a:t>
            </a:r>
            <a:r>
              <a:rPr lang="en-US" sz="1765" spc="-4" dirty="0">
                <a:latin typeface="Arial MT"/>
                <a:cs typeface="Arial MT"/>
              </a:rPr>
              <a:t>‘</a:t>
            </a:r>
            <a:r>
              <a:rPr lang="en-US" sz="1765" i="1" spc="-4" dirty="0">
                <a:solidFill>
                  <a:srgbClr val="C00000"/>
                </a:solidFill>
                <a:latin typeface="Arial"/>
                <a:cs typeface="Arial"/>
              </a:rPr>
              <a:t>delightful</a:t>
            </a:r>
            <a:r>
              <a:rPr lang="en-US" sz="1765" spc="-4" dirty="0">
                <a:latin typeface="Arial MT"/>
                <a:cs typeface="Arial MT"/>
              </a:rPr>
              <a:t>’</a:t>
            </a:r>
            <a:r>
              <a:rPr lang="en-US" sz="1765" spc="-49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,</a:t>
            </a:r>
            <a:r>
              <a:rPr lang="en-US" sz="1765" spc="-18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most</a:t>
            </a:r>
            <a:r>
              <a:rPr lang="en-US" sz="1765" spc="-18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probable</a:t>
            </a:r>
            <a:r>
              <a:rPr lang="en-US" sz="1765" spc="-26" dirty="0">
                <a:latin typeface="Arial MT"/>
                <a:cs typeface="Arial MT"/>
              </a:rPr>
              <a:t> </a:t>
            </a:r>
            <a:r>
              <a:rPr lang="en-US" sz="1765" spc="-4" dirty="0">
                <a:latin typeface="Arial MT"/>
                <a:cs typeface="Arial MT"/>
              </a:rPr>
              <a:t>context </a:t>
            </a:r>
            <a:r>
              <a:rPr lang="en-US" sz="1765" spc="-476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would</a:t>
            </a:r>
            <a:r>
              <a:rPr lang="en-US" sz="1765" spc="-18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be</a:t>
            </a:r>
            <a:r>
              <a:rPr lang="en-US" sz="1765" spc="-4" dirty="0">
                <a:latin typeface="Arial MT"/>
                <a:cs typeface="Arial MT"/>
              </a:rPr>
              <a:t> </a:t>
            </a:r>
            <a:r>
              <a:rPr lang="en-US" sz="1765" dirty="0">
                <a:latin typeface="Arial MT"/>
                <a:cs typeface="Arial MT"/>
              </a:rPr>
              <a:t>‘</a:t>
            </a:r>
            <a:r>
              <a:rPr lang="en-US" sz="1765" i="1" dirty="0">
                <a:solidFill>
                  <a:srgbClr val="C00000"/>
                </a:solidFill>
                <a:latin typeface="Arial"/>
                <a:cs typeface="Arial"/>
              </a:rPr>
              <a:t>yesterday</a:t>
            </a:r>
            <a:r>
              <a:rPr lang="en-US" sz="1765" i="1" spc="-4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765" i="1" dirty="0">
                <a:solidFill>
                  <a:srgbClr val="C00000"/>
                </a:solidFill>
                <a:latin typeface="Arial"/>
                <a:cs typeface="Arial"/>
              </a:rPr>
              <a:t>was</a:t>
            </a:r>
            <a:r>
              <a:rPr lang="en-US" sz="1765" i="1" spc="-22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765" i="1" spc="-4" dirty="0">
                <a:solidFill>
                  <a:srgbClr val="C00000"/>
                </a:solidFill>
                <a:latin typeface="Arial"/>
                <a:cs typeface="Arial"/>
              </a:rPr>
              <a:t>really</a:t>
            </a:r>
            <a:r>
              <a:rPr lang="en-US" sz="1765" i="1" spc="-9" dirty="0">
                <a:solidFill>
                  <a:srgbClr val="C00000"/>
                </a:solidFill>
                <a:latin typeface="Arial"/>
                <a:cs typeface="Arial"/>
              </a:rPr>
              <a:t> [...]</a:t>
            </a:r>
            <a:r>
              <a:rPr lang="en-US" sz="1765" i="1" spc="-22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765" i="1" dirty="0">
                <a:solidFill>
                  <a:srgbClr val="C00000"/>
                </a:solidFill>
                <a:latin typeface="Arial"/>
                <a:cs typeface="Arial"/>
              </a:rPr>
              <a:t>day’</a:t>
            </a:r>
            <a:endParaRPr lang="en-US" sz="1765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buFont typeface="Arial MT"/>
              <a:buChar char="•"/>
            </a:pPr>
            <a:endParaRPr lang="en-US" sz="1765" dirty="0">
              <a:latin typeface="Arial"/>
              <a:cs typeface="Arial"/>
            </a:endParaRPr>
          </a:p>
          <a:p>
            <a:pPr marL="313221" marR="4483" indent="-302575">
              <a:spcBef>
                <a:spcPts val="122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00" spc="-4" dirty="0">
                <a:latin typeface="Arial MT"/>
                <a:cs typeface="Arial MT"/>
              </a:rPr>
              <a:t>For</a:t>
            </a:r>
            <a:r>
              <a:rPr lang="en-US" sz="2400" spc="9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a</a:t>
            </a:r>
            <a:r>
              <a:rPr lang="en-US" sz="2400" spc="4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small</a:t>
            </a:r>
            <a:r>
              <a:rPr lang="en-US" sz="2400" spc="9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dataset,</a:t>
            </a:r>
            <a:r>
              <a:rPr lang="en-US" sz="2400" spc="9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its better</a:t>
            </a:r>
            <a:r>
              <a:rPr lang="en-US" sz="2400" spc="13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to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use</a:t>
            </a:r>
            <a:r>
              <a:rPr lang="en-US" sz="2400" spc="4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the</a:t>
            </a:r>
            <a:r>
              <a:rPr lang="en-US" sz="2400" spc="4" dirty="0">
                <a:latin typeface="Arial MT"/>
                <a:cs typeface="Arial MT"/>
              </a:rPr>
              <a:t> </a:t>
            </a:r>
            <a:r>
              <a:rPr lang="en-US" sz="2400" spc="-9" dirty="0">
                <a:latin typeface="Arial MT"/>
                <a:cs typeface="Arial MT"/>
              </a:rPr>
              <a:t>CBOW</a:t>
            </a:r>
            <a:r>
              <a:rPr lang="en-US" sz="2400" spc="18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model</a:t>
            </a:r>
            <a:r>
              <a:rPr lang="en-US" sz="2400" spc="13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and</a:t>
            </a:r>
            <a:r>
              <a:rPr lang="en-US" sz="2400" spc="4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for</a:t>
            </a:r>
            <a:r>
              <a:rPr lang="en-US" sz="2400" spc="13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a </a:t>
            </a:r>
            <a:r>
              <a:rPr lang="en-US" sz="2400" spc="-529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large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dataset</a:t>
            </a:r>
            <a:r>
              <a:rPr lang="en-US" sz="2400" spc="9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better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use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the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skip-gram</a:t>
            </a:r>
            <a:r>
              <a:rPr lang="en-US" sz="2400" spc="13" dirty="0">
                <a:latin typeface="Arial MT"/>
                <a:cs typeface="Arial MT"/>
              </a:rPr>
              <a:t> </a:t>
            </a:r>
            <a:r>
              <a:rPr lang="en-US" sz="2400" spc="-4" dirty="0">
                <a:latin typeface="Arial MT"/>
                <a:cs typeface="Arial MT"/>
              </a:rPr>
              <a:t>model.</a:t>
            </a:r>
            <a:endParaRPr lang="en-US" sz="24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" dirty="0"/>
              <a:t>Introduction:</a:t>
            </a:r>
            <a:r>
              <a:rPr spc="-53" dirty="0"/>
              <a:t> </a:t>
            </a:r>
            <a:r>
              <a:rPr spc="-35" dirty="0"/>
              <a:t>Word2Vec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6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EE054C0-0852-4CAB-A34D-BC5F63F68E46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99D6D6-61ED-7626-04BD-7E70FC461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Continuous Bag of Words model is an </a:t>
            </a:r>
            <a:r>
              <a:rPr lang="en-US" dirty="0">
                <a:solidFill>
                  <a:srgbClr val="00B0F0"/>
                </a:solidFill>
              </a:rPr>
              <a:t>extension</a:t>
            </a:r>
            <a:r>
              <a:rPr lang="en-US" dirty="0"/>
              <a:t> of the Bag of Words model</a:t>
            </a:r>
          </a:p>
          <a:p>
            <a:r>
              <a:rPr lang="en-US" dirty="0"/>
              <a:t>The key aspect of this model is the </a:t>
            </a:r>
            <a:r>
              <a:rPr lang="en-US" dirty="0">
                <a:solidFill>
                  <a:srgbClr val="FF0000"/>
                </a:solidFill>
              </a:rPr>
              <a:t>context window. </a:t>
            </a:r>
          </a:p>
          <a:p>
            <a:r>
              <a:rPr lang="en-US" dirty="0"/>
              <a:t>A context window is defined as a </a:t>
            </a:r>
            <a:r>
              <a:rPr lang="en-US" dirty="0">
                <a:solidFill>
                  <a:srgbClr val="FFC000"/>
                </a:solidFill>
              </a:rPr>
              <a:t>sliding window of a fixed size </a:t>
            </a:r>
            <a:r>
              <a:rPr lang="en-US" dirty="0"/>
              <a:t>moving along a sentence.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word in the middle is termed the target</a:t>
            </a:r>
            <a:r>
              <a:rPr lang="en-US" dirty="0"/>
              <a:t>, and the terms to its </a:t>
            </a:r>
            <a:r>
              <a:rPr lang="en-US" dirty="0">
                <a:solidFill>
                  <a:srgbClr val="FF0000"/>
                </a:solidFill>
              </a:rPr>
              <a:t>left and right within the window are the context terms</a:t>
            </a:r>
            <a:r>
              <a:rPr lang="en-US" dirty="0"/>
              <a:t>. </a:t>
            </a:r>
          </a:p>
          <a:p>
            <a:r>
              <a:rPr lang="en-US" dirty="0"/>
              <a:t>The CBOW model works by </a:t>
            </a:r>
            <a:r>
              <a:rPr lang="en-US" dirty="0">
                <a:solidFill>
                  <a:srgbClr val="00B0F0"/>
                </a:solidFill>
              </a:rPr>
              <a:t>predicting the target term</a:t>
            </a:r>
            <a:r>
              <a:rPr lang="en-US" dirty="0"/>
              <a:t>, given its context terms.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BA589-0643-F4E4-8851-2A0F604B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396B-7ED6-4E82-ABF2-296673399C7E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00815-E04A-88DF-6951-B7DA8148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94930-F387-7F5B-2B18-E124EEBA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E90FE7-D051-CE2B-B9D9-1BA8CD6A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Bag of Words (CBOW) Mode</a:t>
            </a:r>
          </a:p>
        </p:txBody>
      </p:sp>
    </p:spTree>
    <p:extLst>
      <p:ext uri="{BB962C8B-B14F-4D97-AF65-F5344CB8AC3E}">
        <p14:creationId xmlns:p14="http://schemas.microsoft.com/office/powerpoint/2010/main" val="144721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98021A-8AA4-F937-9F44-2B7E9E53F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Example: "</a:t>
            </a:r>
            <a:r>
              <a:rPr lang="en-US" b="1" dirty="0"/>
              <a:t>some say the world will end in fire</a:t>
            </a:r>
            <a:r>
              <a:rPr lang="en-US" dirty="0"/>
              <a:t>". </a:t>
            </a:r>
          </a:p>
          <a:p>
            <a:r>
              <a:rPr lang="en-US" dirty="0"/>
              <a:t>Consider a window size of </a:t>
            </a:r>
            <a:r>
              <a:rPr lang="en-US" b="1" dirty="0"/>
              <a:t>4</a:t>
            </a:r>
            <a:r>
              <a:rPr lang="en-US" dirty="0"/>
              <a:t> and a target term = “</a:t>
            </a:r>
            <a:r>
              <a:rPr lang="en-US" b="1" dirty="0"/>
              <a:t>world</a:t>
            </a:r>
            <a:r>
              <a:rPr lang="en-US" dirty="0"/>
              <a:t>”, the context terms would be </a:t>
            </a:r>
            <a:r>
              <a:rPr lang="en-US" b="1" dirty="0"/>
              <a:t>{say, the}</a:t>
            </a:r>
            <a:r>
              <a:rPr lang="en-US" dirty="0"/>
              <a:t> and </a:t>
            </a:r>
            <a:r>
              <a:rPr lang="en-US" b="1" dirty="0"/>
              <a:t>{will, end}</a:t>
            </a:r>
            <a:r>
              <a:rPr lang="en-US" dirty="0"/>
              <a:t>.</a:t>
            </a:r>
          </a:p>
          <a:p>
            <a:r>
              <a:rPr lang="en-US" dirty="0"/>
              <a:t>The model inputs are tuples of the form (context terms, target term)</a:t>
            </a:r>
          </a:p>
          <a:p>
            <a:pPr lvl="1"/>
            <a:r>
              <a:rPr lang="en-US" dirty="0"/>
              <a:t>Passed through a neural network to learn the embeddings.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426EE-3D10-208D-6B2C-877BB26B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D499-FE12-487C-B847-D1D237C0F733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BB060-5EEB-7345-93CF-570EC2B28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5BF76-7F1B-1868-BAE9-2F45E6EF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A3DFA-79F9-461F-8B9F-8A2A8D60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bag of words (CBOW)</a:t>
            </a:r>
          </a:p>
        </p:txBody>
      </p:sp>
    </p:spTree>
    <p:extLst>
      <p:ext uri="{BB962C8B-B14F-4D97-AF65-F5344CB8AC3E}">
        <p14:creationId xmlns:p14="http://schemas.microsoft.com/office/powerpoint/2010/main" val="201977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D69647-58FB-D7D1-2D04-5FF56945C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695300"/>
            <a:ext cx="5181600" cy="4641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E6880-2BF1-F21F-1C39-33D1CE1E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B12D-5216-46DE-9DCC-3AC235296E75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1B0C5-FD46-7563-BA7F-69A9CD85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34535-BFEE-3042-5069-16F7D40A2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501A5C-4162-8DC0-09C5-A604E927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bag of words (CBOW)</a:t>
            </a:r>
          </a:p>
        </p:txBody>
      </p:sp>
    </p:spTree>
    <p:extLst>
      <p:ext uri="{BB962C8B-B14F-4D97-AF65-F5344CB8AC3E}">
        <p14:creationId xmlns:p14="http://schemas.microsoft.com/office/powerpoint/2010/main" val="45066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7853D6-6847-4386-A65D-22B3862FB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00200"/>
            <a:ext cx="11165690" cy="4191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FA777-909C-8092-DC77-78A8B37B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91BF-D04C-4DD5-9437-534A161A0CEF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27B3F-F38F-BF55-F0CB-48FFA852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02D8-DCF7-6297-460B-DA7E3799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5EA1F7-3123-FC33-34CE-2DBFAA09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bag of words (CBOW)</a:t>
            </a:r>
          </a:p>
        </p:txBody>
      </p:sp>
    </p:spTree>
    <p:extLst>
      <p:ext uri="{BB962C8B-B14F-4D97-AF65-F5344CB8AC3E}">
        <p14:creationId xmlns:p14="http://schemas.microsoft.com/office/powerpoint/2010/main" val="170918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EB3C2CD-8376-16A6-62A3-615F9F00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latin typeface="Arial MT"/>
                <a:cs typeface="Arial MT"/>
              </a:rPr>
              <a:t>Word2vec</a:t>
            </a:r>
            <a:r>
              <a:rPr lang="en-US" sz="2000" spc="18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groups</a:t>
            </a:r>
            <a:r>
              <a:rPr lang="en-US" sz="2000" spc="18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the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vectors</a:t>
            </a:r>
            <a:r>
              <a:rPr lang="en-US" sz="2000" spc="4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of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solidFill>
                  <a:srgbClr val="00B0F0"/>
                </a:solidFill>
                <a:latin typeface="Arial MT"/>
                <a:cs typeface="Arial MT"/>
              </a:rPr>
              <a:t>similar</a:t>
            </a:r>
            <a:r>
              <a:rPr lang="en-US" sz="2000" spc="18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000" spc="-13" dirty="0">
                <a:solidFill>
                  <a:srgbClr val="00B0F0"/>
                </a:solidFill>
                <a:latin typeface="Arial MT"/>
                <a:cs typeface="Arial MT"/>
              </a:rPr>
              <a:t>words</a:t>
            </a:r>
            <a:r>
              <a:rPr lang="en-US" sz="2000" spc="3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000" spc="-4" dirty="0">
                <a:solidFill>
                  <a:srgbClr val="00B0F0"/>
                </a:solidFill>
                <a:latin typeface="Arial MT"/>
                <a:cs typeface="Arial MT"/>
              </a:rPr>
              <a:t>together</a:t>
            </a:r>
            <a:r>
              <a:rPr lang="en-US" sz="20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000" spc="-4" dirty="0">
                <a:solidFill>
                  <a:srgbClr val="00B0F0"/>
                </a:solidFill>
                <a:latin typeface="Arial MT"/>
                <a:cs typeface="Arial MT"/>
              </a:rPr>
              <a:t>in</a:t>
            </a:r>
            <a:r>
              <a:rPr lang="en-US" sz="200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000" spc="-4" dirty="0">
                <a:solidFill>
                  <a:srgbClr val="00B0F0"/>
                </a:solidFill>
                <a:latin typeface="Arial MT"/>
                <a:cs typeface="Arial MT"/>
              </a:rPr>
              <a:t>vector</a:t>
            </a:r>
            <a:r>
              <a:rPr lang="en-US" sz="20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000" spc="-4" dirty="0">
                <a:solidFill>
                  <a:srgbClr val="00B0F0"/>
                </a:solidFill>
                <a:latin typeface="Arial MT"/>
                <a:cs typeface="Arial MT"/>
              </a:rPr>
              <a:t>space</a:t>
            </a:r>
            <a:r>
              <a:rPr lang="en-US" sz="2000" spc="-4" dirty="0">
                <a:latin typeface="Arial MT"/>
                <a:cs typeface="Arial MT"/>
              </a:rPr>
              <a:t>.</a:t>
            </a:r>
            <a:endParaRPr lang="en-US" sz="2000" dirty="0">
              <a:latin typeface="Arial MT"/>
              <a:cs typeface="Arial MT"/>
            </a:endParaRPr>
          </a:p>
          <a:p>
            <a:pPr marL="313781" indent="-302575">
              <a:spcBef>
                <a:spcPts val="3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latin typeface="Arial MT"/>
                <a:cs typeface="Arial MT"/>
              </a:rPr>
              <a:t>Words</a:t>
            </a:r>
            <a:r>
              <a:rPr lang="en-US" sz="2000" spc="-4" dirty="0">
                <a:latin typeface="Arial MT"/>
                <a:cs typeface="Arial MT"/>
              </a:rPr>
              <a:t> that</a:t>
            </a:r>
            <a:r>
              <a:rPr lang="en-US" sz="2000" spc="4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appear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in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similar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contexts</a:t>
            </a:r>
            <a:r>
              <a:rPr lang="en-US" sz="2000" spc="13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have</a:t>
            </a:r>
            <a:r>
              <a:rPr lang="en-US" sz="2000" spc="-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similar</a:t>
            </a:r>
            <a:r>
              <a:rPr lang="en-US" sz="2000" spc="13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embeddings</a:t>
            </a:r>
            <a:endParaRPr lang="en-US" sz="2000" dirty="0">
              <a:latin typeface="Arial MT"/>
              <a:cs typeface="Arial MT"/>
            </a:endParaRPr>
          </a:p>
          <a:p>
            <a:pPr marL="667346" lvl="1" indent="-253827">
              <a:spcBef>
                <a:spcPts val="300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1800" spc="-4" dirty="0">
                <a:latin typeface="Arial MT"/>
                <a:cs typeface="Arial MT"/>
              </a:rPr>
              <a:t>The</a:t>
            </a:r>
            <a:r>
              <a:rPr lang="en-US" sz="1800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8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kid</a:t>
            </a:r>
            <a:r>
              <a:rPr lang="en-US" sz="1800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said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he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wants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to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be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superman</a:t>
            </a:r>
            <a:endParaRPr lang="en-US" sz="1800" dirty="0">
              <a:latin typeface="Arial MT"/>
              <a:cs typeface="Arial MT"/>
            </a:endParaRPr>
          </a:p>
          <a:p>
            <a:pPr marL="667346" lvl="1" indent="-253827">
              <a:spcBef>
                <a:spcPts val="300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1800" spc="-4" dirty="0">
                <a:latin typeface="Arial MT"/>
                <a:cs typeface="Arial MT"/>
              </a:rPr>
              <a:t>The</a:t>
            </a:r>
            <a:r>
              <a:rPr lang="en-US" sz="1800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8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child</a:t>
            </a:r>
            <a:r>
              <a:rPr lang="en-US" sz="1800" b="1" spc="-3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said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he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wants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to</a:t>
            </a:r>
            <a:r>
              <a:rPr lang="en-US" sz="1800" spc="-18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be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9" dirty="0">
                <a:latin typeface="Arial MT"/>
                <a:cs typeface="Arial MT"/>
              </a:rPr>
              <a:t> </a:t>
            </a:r>
            <a:r>
              <a:rPr lang="en-US" sz="1800" spc="-4" dirty="0">
                <a:latin typeface="Arial MT"/>
                <a:cs typeface="Arial MT"/>
              </a:rPr>
              <a:t>superman</a:t>
            </a:r>
            <a:endParaRPr lang="en-US" sz="1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73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000" spc="-4" dirty="0">
                <a:latin typeface="Arial MT"/>
                <a:cs typeface="Arial MT"/>
              </a:rPr>
              <a:t>Creates</a:t>
            </a:r>
            <a:r>
              <a:rPr lang="en-US" sz="2000" spc="18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vectors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that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are</a:t>
            </a:r>
            <a:r>
              <a:rPr lang="en-US" sz="2000" spc="18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distributed</a:t>
            </a:r>
            <a:r>
              <a:rPr lang="en-US" sz="2000" spc="13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numerical</a:t>
            </a:r>
            <a:r>
              <a:rPr lang="en-US" sz="2000" spc="26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representations</a:t>
            </a:r>
            <a:r>
              <a:rPr lang="en-US" sz="2000" spc="31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of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13" dirty="0">
                <a:latin typeface="Arial MT"/>
                <a:cs typeface="Arial MT"/>
              </a:rPr>
              <a:t>word</a:t>
            </a:r>
            <a:r>
              <a:rPr lang="en-US" sz="2000" spc="4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features, </a:t>
            </a:r>
            <a:r>
              <a:rPr lang="en-US" sz="2000" spc="-427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features such</a:t>
            </a:r>
            <a:r>
              <a:rPr lang="en-US" sz="2000" spc="9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as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the context</a:t>
            </a:r>
            <a:r>
              <a:rPr lang="en-US" sz="2000" spc="13" dirty="0">
                <a:latin typeface="Arial MT"/>
                <a:cs typeface="Arial MT"/>
              </a:rPr>
              <a:t> </a:t>
            </a:r>
            <a:r>
              <a:rPr lang="en-US" sz="2000" spc="-4" dirty="0">
                <a:latin typeface="Arial MT"/>
                <a:cs typeface="Arial MT"/>
              </a:rPr>
              <a:t>of individual</a:t>
            </a:r>
            <a:r>
              <a:rPr lang="en-US" sz="2000" spc="31" dirty="0">
                <a:latin typeface="Arial MT"/>
                <a:cs typeface="Arial MT"/>
              </a:rPr>
              <a:t> </a:t>
            </a:r>
            <a:r>
              <a:rPr lang="en-US" sz="2000" spc="-9" dirty="0">
                <a:latin typeface="Arial MT"/>
                <a:cs typeface="Arial MT"/>
              </a:rPr>
              <a:t>words.</a:t>
            </a:r>
            <a:endParaRPr lang="en-US" sz="2000" dirty="0">
              <a:latin typeface="Arial MT"/>
              <a:cs typeface="Arial MT"/>
            </a:endParaRPr>
          </a:p>
          <a:p>
            <a:pPr marL="313781" indent="-302575">
              <a:spcBef>
                <a:spcPts val="379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000" b="1" i="1" spc="-9" dirty="0">
                <a:latin typeface="Arial"/>
                <a:cs typeface="Arial"/>
              </a:rPr>
              <a:t>Example</a:t>
            </a:r>
            <a:r>
              <a:rPr lang="en-US" sz="2000" i="1" spc="-4" dirty="0">
                <a:latin typeface="Arial"/>
                <a:cs typeface="Arial"/>
              </a:rPr>
              <a:t>:</a:t>
            </a:r>
            <a:r>
              <a:rPr lang="en-US" sz="2000" i="1" spc="4" dirty="0">
                <a:latin typeface="Arial"/>
                <a:cs typeface="Arial"/>
              </a:rPr>
              <a:t> </a:t>
            </a:r>
            <a:r>
              <a:rPr lang="en-US" sz="2000" i="1" spc="-4" dirty="0">
                <a:latin typeface="Arial"/>
                <a:cs typeface="Arial"/>
              </a:rPr>
              <a:t>List</a:t>
            </a:r>
            <a:r>
              <a:rPr lang="en-US" sz="2000" i="1" spc="9" dirty="0">
                <a:latin typeface="Arial"/>
                <a:cs typeface="Arial"/>
              </a:rPr>
              <a:t> </a:t>
            </a:r>
            <a:r>
              <a:rPr lang="en-US" sz="2000" i="1" spc="-4" dirty="0">
                <a:latin typeface="Arial"/>
                <a:cs typeface="Arial"/>
              </a:rPr>
              <a:t>of words</a:t>
            </a:r>
            <a:r>
              <a:rPr lang="en-US" sz="2000" i="1" spc="4" dirty="0">
                <a:latin typeface="Arial"/>
                <a:cs typeface="Arial"/>
              </a:rPr>
              <a:t> </a:t>
            </a:r>
            <a:r>
              <a:rPr lang="en-US" sz="2000" i="1" spc="-4" dirty="0">
                <a:latin typeface="Arial"/>
                <a:cs typeface="Arial"/>
              </a:rPr>
              <a:t>associated</a:t>
            </a:r>
            <a:r>
              <a:rPr lang="en-US" sz="2000" i="1" spc="9" dirty="0">
                <a:latin typeface="Arial"/>
                <a:cs typeface="Arial"/>
              </a:rPr>
              <a:t> </a:t>
            </a:r>
            <a:r>
              <a:rPr lang="en-US" sz="2000" i="1" spc="-4" dirty="0">
                <a:latin typeface="Arial"/>
                <a:cs typeface="Arial"/>
              </a:rPr>
              <a:t>with:</a:t>
            </a:r>
            <a:endParaRPr lang="en-US" sz="2000" dirty="0">
              <a:latin typeface="Arial"/>
              <a:cs typeface="Arial"/>
            </a:endParaRPr>
          </a:p>
          <a:p>
            <a:endParaRPr lang="en-US" sz="4000"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" dirty="0"/>
              <a:t>Introduction:</a:t>
            </a:r>
            <a:r>
              <a:rPr spc="-53" dirty="0"/>
              <a:t> </a:t>
            </a:r>
            <a:r>
              <a:rPr spc="-35" dirty="0"/>
              <a:t>Word2Vec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11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4F036F8-689B-4AAE-B3E4-B8DBA68B40A0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  <p:grpSp>
        <p:nvGrpSpPr>
          <p:cNvPr id="13" name="object 13"/>
          <p:cNvGrpSpPr/>
          <p:nvPr/>
        </p:nvGrpSpPr>
        <p:grpSpPr>
          <a:xfrm>
            <a:off x="2162144" y="4245769"/>
            <a:ext cx="4583828" cy="1835952"/>
            <a:chOff x="772661" y="3948684"/>
            <a:chExt cx="4482465" cy="14605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684" y="3959352"/>
              <a:ext cx="4372698" cy="13854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2661" y="3948684"/>
              <a:ext cx="4482465" cy="1460500"/>
            </a:xfrm>
            <a:custGeom>
              <a:avLst/>
              <a:gdLst/>
              <a:ahLst/>
              <a:cxnLst/>
              <a:rect l="l" t="t" r="r" b="b"/>
              <a:pathLst>
                <a:path w="4482465" h="1460500">
                  <a:moveTo>
                    <a:pt x="4482090" y="1458468"/>
                  </a:moveTo>
                  <a:lnTo>
                    <a:pt x="4482090" y="3048"/>
                  </a:lnTo>
                  <a:lnTo>
                    <a:pt x="4480566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1458468"/>
                  </a:lnTo>
                  <a:lnTo>
                    <a:pt x="1524" y="1459992"/>
                  </a:lnTo>
                  <a:lnTo>
                    <a:pt x="4572" y="1459992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4472946" y="10668"/>
                  </a:lnTo>
                  <a:lnTo>
                    <a:pt x="4472946" y="6096"/>
                  </a:lnTo>
                  <a:lnTo>
                    <a:pt x="4477518" y="10668"/>
                  </a:lnTo>
                  <a:lnTo>
                    <a:pt x="4477518" y="1459992"/>
                  </a:lnTo>
                  <a:lnTo>
                    <a:pt x="4480566" y="1459992"/>
                  </a:lnTo>
                  <a:lnTo>
                    <a:pt x="4482090" y="1458468"/>
                  </a:lnTo>
                  <a:close/>
                </a:path>
                <a:path w="4482465" h="1460500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4482465" h="1460500">
                  <a:moveTo>
                    <a:pt x="9144" y="1450848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1450848"/>
                  </a:lnTo>
                  <a:lnTo>
                    <a:pt x="9144" y="1450848"/>
                  </a:lnTo>
                  <a:close/>
                </a:path>
                <a:path w="4482465" h="1460500">
                  <a:moveTo>
                    <a:pt x="4477518" y="1450848"/>
                  </a:moveTo>
                  <a:lnTo>
                    <a:pt x="4572" y="1450848"/>
                  </a:lnTo>
                  <a:lnTo>
                    <a:pt x="9144" y="1455420"/>
                  </a:lnTo>
                  <a:lnTo>
                    <a:pt x="9144" y="1459992"/>
                  </a:lnTo>
                  <a:lnTo>
                    <a:pt x="4472946" y="1459992"/>
                  </a:lnTo>
                  <a:lnTo>
                    <a:pt x="4472946" y="1455420"/>
                  </a:lnTo>
                  <a:lnTo>
                    <a:pt x="4477518" y="1450848"/>
                  </a:lnTo>
                  <a:close/>
                </a:path>
                <a:path w="4482465" h="1460500">
                  <a:moveTo>
                    <a:pt x="9144" y="1459992"/>
                  </a:moveTo>
                  <a:lnTo>
                    <a:pt x="9144" y="1455420"/>
                  </a:lnTo>
                  <a:lnTo>
                    <a:pt x="4572" y="1450848"/>
                  </a:lnTo>
                  <a:lnTo>
                    <a:pt x="4572" y="1459992"/>
                  </a:lnTo>
                  <a:lnTo>
                    <a:pt x="9144" y="1459992"/>
                  </a:lnTo>
                  <a:close/>
                </a:path>
                <a:path w="4482465" h="1460500">
                  <a:moveTo>
                    <a:pt x="4477518" y="10668"/>
                  </a:moveTo>
                  <a:lnTo>
                    <a:pt x="4472946" y="6096"/>
                  </a:lnTo>
                  <a:lnTo>
                    <a:pt x="4472946" y="10668"/>
                  </a:lnTo>
                  <a:lnTo>
                    <a:pt x="4477518" y="10668"/>
                  </a:lnTo>
                  <a:close/>
                </a:path>
                <a:path w="4482465" h="1460500">
                  <a:moveTo>
                    <a:pt x="4477518" y="1450848"/>
                  </a:moveTo>
                  <a:lnTo>
                    <a:pt x="4477518" y="10668"/>
                  </a:lnTo>
                  <a:lnTo>
                    <a:pt x="4472946" y="10668"/>
                  </a:lnTo>
                  <a:lnTo>
                    <a:pt x="4472946" y="1450848"/>
                  </a:lnTo>
                  <a:lnTo>
                    <a:pt x="4477518" y="1450848"/>
                  </a:lnTo>
                  <a:close/>
                </a:path>
                <a:path w="4482465" h="1460500">
                  <a:moveTo>
                    <a:pt x="4477518" y="1459992"/>
                  </a:moveTo>
                  <a:lnTo>
                    <a:pt x="4477518" y="1450848"/>
                  </a:lnTo>
                  <a:lnTo>
                    <a:pt x="4472946" y="1455420"/>
                  </a:lnTo>
                  <a:lnTo>
                    <a:pt x="4472946" y="1459992"/>
                  </a:lnTo>
                  <a:lnTo>
                    <a:pt x="4477518" y="145999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1000" y="6176896"/>
            <a:ext cx="526116" cy="255678"/>
          </a:xfrm>
          <a:prstGeom prst="rect">
            <a:avLst/>
          </a:prstGeom>
          <a:noFill/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i="1" spc="-4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588" i="1" spc="-9" dirty="0">
                <a:solidFill>
                  <a:srgbClr val="FF0000"/>
                </a:solidFill>
                <a:latin typeface="Arial"/>
                <a:cs typeface="Arial"/>
              </a:rPr>
              <a:t>oli</a:t>
            </a:r>
            <a:r>
              <a:rPr sz="1588" i="1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588" i="1" spc="-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EF3085-322B-43EF-673F-CD0676616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model works in exactly the </a:t>
            </a:r>
            <a:r>
              <a:rPr lang="en-US" dirty="0">
                <a:solidFill>
                  <a:srgbClr val="FF0000"/>
                </a:solidFill>
              </a:rPr>
              <a:t>opposite way to the CBOW model. </a:t>
            </a:r>
          </a:p>
          <a:p>
            <a:r>
              <a:rPr lang="en-US" dirty="0"/>
              <a:t>In the case of skip-gram, </a:t>
            </a:r>
            <a:r>
              <a:rPr lang="en-US" dirty="0">
                <a:solidFill>
                  <a:srgbClr val="FF0000"/>
                </a:solidFill>
              </a:rPr>
              <a:t>input a word (center/target word) and predict the context terms as the model output</a:t>
            </a:r>
            <a:r>
              <a:rPr lang="en-US" dirty="0"/>
              <a:t>. </a:t>
            </a:r>
          </a:p>
          <a:p>
            <a:r>
              <a:rPr lang="en-US" dirty="0"/>
              <a:t>Example: "</a:t>
            </a:r>
            <a:r>
              <a:rPr lang="en-US" b="1" dirty="0"/>
              <a:t>some say the </a:t>
            </a:r>
            <a:r>
              <a:rPr lang="en-US" b="1" dirty="0">
                <a:solidFill>
                  <a:srgbClr val="00B050"/>
                </a:solidFill>
              </a:rPr>
              <a:t>world</a:t>
            </a:r>
            <a:r>
              <a:rPr lang="en-US" b="1" dirty="0"/>
              <a:t> will end in fire</a:t>
            </a:r>
            <a:r>
              <a:rPr lang="en-US" dirty="0"/>
              <a:t>". </a:t>
            </a:r>
          </a:p>
          <a:p>
            <a:r>
              <a:rPr lang="en-US" dirty="0"/>
              <a:t>“world” as input term and train a model to predict: {say, the, will, end} as context terms with </a:t>
            </a:r>
            <a:r>
              <a:rPr lang="en-US" b="1" dirty="0"/>
              <a:t>high probability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7837A-5E1A-BE5C-5317-4DEB62D5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A802-FFFA-42EC-827F-EF5F36F21334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EC56D-509A-A2EA-5509-A381E881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B7E91-1948-F81F-8ED3-A5FDEA73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44291F-0DA5-C5DB-894C-1D3764BB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</p:spTree>
    <p:extLst>
      <p:ext uri="{BB962C8B-B14F-4D97-AF65-F5344CB8AC3E}">
        <p14:creationId xmlns:p14="http://schemas.microsoft.com/office/powerpoint/2010/main" val="268135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92134A-3EA6-A2D5-99C5-EABF9E518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0" y="1494471"/>
            <a:ext cx="5480981" cy="492963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AC5C0-5135-A536-0D16-ACBC7569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B88A-41D3-473D-BEEA-8E4B9DE286A7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A3FBC-0E36-875D-2A2A-B68BC73AE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003C0-8A62-F771-BCC3-0DC667D1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8999EA-942E-71B5-6688-CB03ED8F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</p:spTree>
    <p:extLst>
      <p:ext uri="{BB962C8B-B14F-4D97-AF65-F5344CB8AC3E}">
        <p14:creationId xmlns:p14="http://schemas.microsoft.com/office/powerpoint/2010/main" val="173357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F6286B-4D93-88BA-A06E-2B602931A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016" y="1600200"/>
            <a:ext cx="10852810" cy="32766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D6555-2275-20D4-A036-B5D75B73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B7AF-2266-4724-B200-F431395E2ADA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88FD5-D7BE-9EDC-5AF7-07C871F6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CDC73-1818-67F5-241E-2F7D7414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301B1F-FE96-47DD-87B4-714C7EB8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</p:spTree>
    <p:extLst>
      <p:ext uri="{BB962C8B-B14F-4D97-AF65-F5344CB8AC3E}">
        <p14:creationId xmlns:p14="http://schemas.microsoft.com/office/powerpoint/2010/main" val="658529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B19B2B-68CE-3501-60D3-BBD047768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 MT"/>
                <a:cs typeface="Arial MT"/>
              </a:rPr>
              <a:t>Predict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target 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Context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CBOW</a:t>
            </a:r>
            <a:r>
              <a:rPr spc="-53" dirty="0"/>
              <a:t> </a:t>
            </a:r>
            <a:r>
              <a:rPr spc="4" dirty="0"/>
              <a:t>vs.</a:t>
            </a:r>
            <a:r>
              <a:rPr spc="-62" dirty="0"/>
              <a:t> </a:t>
            </a:r>
            <a:r>
              <a:rPr dirty="0"/>
              <a:t>Skip-Gram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15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F03A680-B617-4937-B0D6-4C12F6124AE2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  <p:sp>
        <p:nvSpPr>
          <p:cNvPr id="7" name="object 7"/>
          <p:cNvSpPr txBox="1"/>
          <p:nvPr/>
        </p:nvSpPr>
        <p:spPr>
          <a:xfrm>
            <a:off x="831008" y="3741321"/>
            <a:ext cx="516815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sz="2118" spc="-4" dirty="0">
                <a:latin typeface="Arial MT"/>
                <a:cs typeface="Arial MT"/>
              </a:rPr>
              <a:t>Predict</a:t>
            </a:r>
            <a:r>
              <a:rPr sz="2118" spc="4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the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context</a:t>
            </a:r>
            <a:r>
              <a:rPr sz="2118" spc="4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words</a:t>
            </a:r>
            <a:r>
              <a:rPr sz="2118" spc="13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from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the target</a:t>
            </a:r>
            <a:endParaRPr sz="2118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273823"/>
            <a:ext cx="4796566" cy="1079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00" y="4584177"/>
            <a:ext cx="4858421" cy="13702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108EB0-40A3-C8CD-1CC8-2D24329E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Example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2: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Hope</a:t>
            </a:r>
            <a:r>
              <a:rPr lang="en-US" sz="2800" i="1" spc="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lang="en-US" sz="2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set</a:t>
            </a:r>
            <a:r>
              <a:rPr lang="en-US" sz="2800" i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you</a:t>
            </a:r>
            <a:r>
              <a:rPr lang="en-US" sz="2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free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Predict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central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word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context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2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words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CBOW</a:t>
            </a:r>
            <a:r>
              <a:rPr spc="-79" dirty="0"/>
              <a:t> </a:t>
            </a:r>
            <a:r>
              <a:rPr spc="-4" dirty="0"/>
              <a:t>Model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16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3FC1DB5-CC08-4A40-A258-1586321CC454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3008556"/>
            <a:ext cx="5410200" cy="3117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3179601-2DAD-3366-E1AB-3F96C20DA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Update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weights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slide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window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Repeated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entire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corpus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CBOW</a:t>
            </a:r>
            <a:r>
              <a:rPr spc="-79" dirty="0"/>
              <a:t> </a:t>
            </a:r>
            <a:r>
              <a:rPr spc="-4" dirty="0"/>
              <a:t>Model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17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6BC2F5B-5828-4FDA-8B67-25A4FC223CC4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037705"/>
            <a:ext cx="4637891" cy="30511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6670" y="3733800"/>
            <a:ext cx="2232211" cy="12707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0B99B7-5F19-AFCE-DF98-FABF5E65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 MT"/>
                <a:cs typeface="Arial MT"/>
              </a:rPr>
              <a:t>Predict 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context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words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target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" dirty="0"/>
              <a:t>Skip</a:t>
            </a:r>
            <a:r>
              <a:rPr spc="-31" dirty="0"/>
              <a:t> </a:t>
            </a:r>
            <a:r>
              <a:rPr dirty="0"/>
              <a:t>Gram</a:t>
            </a:r>
            <a:r>
              <a:rPr spc="-62" dirty="0"/>
              <a:t> </a:t>
            </a:r>
            <a:r>
              <a:rPr spc="-4" dirty="0"/>
              <a:t>Model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E74350F-57BF-42BA-89D7-41B494EF2B6B}" type="datetime1">
              <a:rPr lang="en-US" spc="-9" smtClean="0"/>
              <a:t>10/22/2025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Muhammad Nouman Noor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448599"/>
            <a:ext cx="5919394" cy="38122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7102-A377-4B18-8FC4-DA3B02CD00A1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32629</TotalTime>
  <Words>846</Words>
  <Application>Microsoft Office PowerPoint</Application>
  <PresentationFormat>Widescreen</PresentationFormat>
  <Paragraphs>127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MT</vt:lpstr>
      <vt:lpstr>SimSun</vt:lpstr>
      <vt:lpstr>arial</vt:lpstr>
      <vt:lpstr>arial</vt:lpstr>
      <vt:lpstr>Calibri</vt:lpstr>
      <vt:lpstr>Wingdings</vt:lpstr>
      <vt:lpstr>Office Theme</vt:lpstr>
      <vt:lpstr>PowerPoint Presentation</vt:lpstr>
      <vt:lpstr>Goals</vt:lpstr>
      <vt:lpstr>Today’s Lecture</vt:lpstr>
      <vt:lpstr>Introduction: Word2Vec</vt:lpstr>
      <vt:lpstr>Introduction: Word2Vec</vt:lpstr>
      <vt:lpstr>Introduction: Word2Vec</vt:lpstr>
      <vt:lpstr>Continuous Bag of Words (CBOW) Mode</vt:lpstr>
      <vt:lpstr>Continuous bag of words (CBOW)</vt:lpstr>
      <vt:lpstr>Continuous bag of words (CBOW)</vt:lpstr>
      <vt:lpstr>Continuous bag of words (CBOW)</vt:lpstr>
      <vt:lpstr>Introduction: Word2Vec</vt:lpstr>
      <vt:lpstr>Skip-gram model</vt:lpstr>
      <vt:lpstr>Skip-gram model</vt:lpstr>
      <vt:lpstr>Skip-gram model</vt:lpstr>
      <vt:lpstr>CBOW vs. Skip-Gram</vt:lpstr>
      <vt:lpstr>CBOW Model</vt:lpstr>
      <vt:lpstr>CBOW Model</vt:lpstr>
      <vt:lpstr>Skip Gram Model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1970</cp:revision>
  <dcterms:created xsi:type="dcterms:W3CDTF">2006-08-16T00:00:00Z</dcterms:created>
  <dcterms:modified xsi:type="dcterms:W3CDTF">2025-10-22T09:50:03Z</dcterms:modified>
</cp:coreProperties>
</file>