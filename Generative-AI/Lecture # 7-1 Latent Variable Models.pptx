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9"/>
  </p:notesMasterIdLst>
  <p:sldIdLst>
    <p:sldId id="352" r:id="rId2"/>
    <p:sldId id="421" r:id="rId3"/>
    <p:sldId id="1749" r:id="rId4"/>
    <p:sldId id="1750" r:id="rId5"/>
    <p:sldId id="1751" r:id="rId6"/>
    <p:sldId id="1735" r:id="rId7"/>
    <p:sldId id="1736" r:id="rId8"/>
    <p:sldId id="1740" r:id="rId9"/>
    <p:sldId id="1738" r:id="rId10"/>
    <p:sldId id="1737" r:id="rId11"/>
    <p:sldId id="1739" r:id="rId12"/>
    <p:sldId id="1744" r:id="rId13"/>
    <p:sldId id="1747" r:id="rId14"/>
    <p:sldId id="1753" r:id="rId15"/>
    <p:sldId id="1748" r:id="rId16"/>
    <p:sldId id="1742" r:id="rId17"/>
    <p:sldId id="1743" r:id="rId18"/>
    <p:sldId id="259" r:id="rId19"/>
    <p:sldId id="260" r:id="rId20"/>
    <p:sldId id="1752" r:id="rId21"/>
    <p:sldId id="261" r:id="rId22"/>
    <p:sldId id="262" r:id="rId23"/>
    <p:sldId id="263" r:id="rId24"/>
    <p:sldId id="1732" r:id="rId25"/>
    <p:sldId id="266" r:id="rId26"/>
    <p:sldId id="1754" r:id="rId27"/>
    <p:sldId id="1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2B1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6278D21-434F-4C6A-B020-32D0923DCA43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73495-ED3E-42E5-BD33-EA52D0644A78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084D-751A-4611-A76C-4F831AD623C9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8DA71-3C95-43AE-B13A-1EEAA067851F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2D31-E84B-49A5-8292-98FD20D4CF76}" type="datetime1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B59C-2AB9-4B34-8FCA-1CF7B11CF620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B611-BD3B-453D-B723-0E3EE0D0F61D}" type="datetime1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EC537-2987-4664-ADD3-C9BED3C740AB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7158-E9B0-49C6-A7E3-B0C074BDB191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AA93-D54F-47D8-8D58-7CCD06155157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A4D3C-4AE7-43B6-9E9E-1AD8F99673BB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4421" y="605155"/>
            <a:ext cx="67265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92D0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5E8BF-25E2-46C3-9AF7-B00D696FB223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531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BC4BB68-2DC1-404A-8BE2-A683F4341036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6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5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9.png"/><Relationship Id="rId18" Type="http://schemas.openxmlformats.org/officeDocument/2006/relationships/image" Target="../media/image28.png"/><Relationship Id="rId3" Type="http://schemas.openxmlformats.org/officeDocument/2006/relationships/image" Target="../media/image35.jpg"/><Relationship Id="rId7" Type="http://schemas.openxmlformats.org/officeDocument/2006/relationships/image" Target="../media/image17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34.jp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21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26.png"/><Relationship Id="rId19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20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.png"/><Relationship Id="rId4" Type="http://schemas.openxmlformats.org/officeDocument/2006/relationships/image" Target="../media/image4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12" Type="http://schemas.openxmlformats.org/officeDocument/2006/relationships/image" Target="../media/image6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10.jpg"/><Relationship Id="rId10" Type="http://schemas.openxmlformats.org/officeDocument/2006/relationships/image" Target="../media/image61.png"/><Relationship Id="rId4" Type="http://schemas.openxmlformats.org/officeDocument/2006/relationships/image" Target="../media/image17.pn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64.jp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17.png"/><Relationship Id="rId9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8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20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6.png"/><Relationship Id="rId5" Type="http://schemas.openxmlformats.org/officeDocument/2006/relationships/image" Target="../media/image10.jpg"/><Relationship Id="rId15" Type="http://schemas.openxmlformats.org/officeDocument/2006/relationships/image" Target="../media/image70.png"/><Relationship Id="rId10" Type="http://schemas.openxmlformats.org/officeDocument/2006/relationships/image" Target="../media/image63.png"/><Relationship Id="rId4" Type="http://schemas.openxmlformats.org/officeDocument/2006/relationships/image" Target="../media/image17.png"/><Relationship Id="rId9" Type="http://schemas.openxmlformats.org/officeDocument/2006/relationships/image" Target="../media/image62.png"/><Relationship Id="rId1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4.png"/><Relationship Id="rId7" Type="http://schemas.openxmlformats.org/officeDocument/2006/relationships/image" Target="../media/image5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0.png"/><Relationship Id="rId7" Type="http://schemas.openxmlformats.org/officeDocument/2006/relationships/image" Target="../media/image5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54.png"/><Relationship Id="rId5" Type="http://schemas.openxmlformats.org/officeDocument/2006/relationships/image" Target="../media/image82.png"/><Relationship Id="rId10" Type="http://schemas.openxmlformats.org/officeDocument/2006/relationships/image" Target="../media/image84.png"/><Relationship Id="rId4" Type="http://schemas.openxmlformats.org/officeDocument/2006/relationships/image" Target="../media/image81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3.png"/><Relationship Id="rId7" Type="http://schemas.openxmlformats.org/officeDocument/2006/relationships/image" Target="../media/image54.png"/><Relationship Id="rId12" Type="http://schemas.openxmlformats.org/officeDocument/2006/relationships/image" Target="../media/image89.png"/><Relationship Id="rId2" Type="http://schemas.openxmlformats.org/officeDocument/2006/relationships/image" Target="../media/image51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11" Type="http://schemas.openxmlformats.org/officeDocument/2006/relationships/image" Target="../media/image88.png"/><Relationship Id="rId5" Type="http://schemas.openxmlformats.org/officeDocument/2006/relationships/image" Target="../media/image50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3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png"/><Relationship Id="rId11" Type="http://schemas.openxmlformats.org/officeDocument/2006/relationships/image" Target="../media/image98.png"/><Relationship Id="rId5" Type="http://schemas.openxmlformats.org/officeDocument/2006/relationships/image" Target="../media/image88.png"/><Relationship Id="rId10" Type="http://schemas.openxmlformats.org/officeDocument/2006/relationships/image" Target="../media/image97.png"/><Relationship Id="rId4" Type="http://schemas.openxmlformats.org/officeDocument/2006/relationships/image" Target="../media/image87.png"/><Relationship Id="rId9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png"/><Relationship Id="rId11" Type="http://schemas.openxmlformats.org/officeDocument/2006/relationships/image" Target="../media/image98.png"/><Relationship Id="rId5" Type="http://schemas.openxmlformats.org/officeDocument/2006/relationships/image" Target="../media/image88.png"/><Relationship Id="rId10" Type="http://schemas.openxmlformats.org/officeDocument/2006/relationships/image" Target="../media/image100.png"/><Relationship Id="rId4" Type="http://schemas.openxmlformats.org/officeDocument/2006/relationships/image" Target="../media/image87.png"/><Relationship Id="rId9" Type="http://schemas.openxmlformats.org/officeDocument/2006/relationships/image" Target="../media/image9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28.png"/><Relationship Id="rId3" Type="http://schemas.openxmlformats.org/officeDocument/2006/relationships/image" Target="../media/image119.png"/><Relationship Id="rId7" Type="http://schemas.openxmlformats.org/officeDocument/2006/relationships/image" Target="../media/image124.png"/><Relationship Id="rId12" Type="http://schemas.openxmlformats.org/officeDocument/2006/relationships/image" Target="../media/image13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3.png"/><Relationship Id="rId11" Type="http://schemas.openxmlformats.org/officeDocument/2006/relationships/image" Target="../media/image131.png"/><Relationship Id="rId5" Type="http://schemas.openxmlformats.org/officeDocument/2006/relationships/image" Target="../media/image121.png"/><Relationship Id="rId10" Type="http://schemas.openxmlformats.org/officeDocument/2006/relationships/image" Target="../media/image130.png"/><Relationship Id="rId4" Type="http://schemas.openxmlformats.org/officeDocument/2006/relationships/image" Target="../media/image120.png"/><Relationship Id="rId9" Type="http://schemas.openxmlformats.org/officeDocument/2006/relationships/image" Target="../media/image12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15.png"/><Relationship Id="rId18" Type="http://schemas.openxmlformats.org/officeDocument/2006/relationships/image" Target="../media/image50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6.png"/><Relationship Id="rId2" Type="http://schemas.openxmlformats.org/officeDocument/2006/relationships/image" Target="../media/image133.png"/><Relationship Id="rId16" Type="http://schemas.openxmlformats.org/officeDocument/2006/relationships/image" Target="../media/image53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147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678DB-16BA-4DEB-BB2A-FBAE81392DCE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Latent Variable Models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AI-4009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Latent Variable Models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Autoencoders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Variational Inference with autoencoders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DDAF-6B50-43AD-8F77-3A95C61DFB40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6D4DB086-8A98-282F-7B6F-22D660D5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Probabilistic</a:t>
            </a:r>
            <a:r>
              <a:rPr sz="6000" spc="-75" dirty="0"/>
              <a:t> </a:t>
            </a:r>
            <a:r>
              <a:rPr sz="6000" spc="-5" dirty="0"/>
              <a:t>models</a:t>
            </a:r>
            <a:endParaRPr sz="6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2497" y="2215895"/>
            <a:ext cx="655319" cy="4487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44061" y="1829561"/>
            <a:ext cx="1714500" cy="1181100"/>
            <a:chOff x="3544061" y="1829561"/>
            <a:chExt cx="1714500" cy="1181100"/>
          </a:xfrm>
        </p:grpSpPr>
        <p:sp>
          <p:nvSpPr>
            <p:cNvPr id="5" name="object 5"/>
            <p:cNvSpPr/>
            <p:nvPr/>
          </p:nvSpPr>
          <p:spPr>
            <a:xfrm>
              <a:off x="3544062" y="1829561"/>
              <a:ext cx="1714500" cy="1181100"/>
            </a:xfrm>
            <a:custGeom>
              <a:avLst/>
              <a:gdLst/>
              <a:ahLst/>
              <a:cxnLst/>
              <a:rect l="l" t="t" r="r" b="b"/>
              <a:pathLst>
                <a:path w="1714500" h="1181100">
                  <a:moveTo>
                    <a:pt x="1714500" y="1143000"/>
                  </a:moveTo>
                  <a:lnTo>
                    <a:pt x="1695450" y="1133475"/>
                  </a:lnTo>
                  <a:lnTo>
                    <a:pt x="1638300" y="1104900"/>
                  </a:lnTo>
                  <a:lnTo>
                    <a:pt x="16383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1638300" y="1152525"/>
                  </a:lnTo>
                  <a:lnTo>
                    <a:pt x="1638300" y="1181100"/>
                  </a:lnTo>
                  <a:lnTo>
                    <a:pt x="1695450" y="1152525"/>
                  </a:lnTo>
                  <a:lnTo>
                    <a:pt x="17145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6783" y="2066543"/>
              <a:ext cx="152400" cy="126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3608" y="2063368"/>
              <a:ext cx="158750" cy="1328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0999" y="2706623"/>
              <a:ext cx="152400" cy="126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7824" y="2703448"/>
              <a:ext cx="158750" cy="1328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052827"/>
              <a:ext cx="152400" cy="1264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1225" y="2049652"/>
              <a:ext cx="158750" cy="1328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9847" y="2304287"/>
              <a:ext cx="152400" cy="1264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6672" y="2301112"/>
              <a:ext cx="158750" cy="13284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61837" y="1974449"/>
              <a:ext cx="1115695" cy="835025"/>
            </a:xfrm>
            <a:custGeom>
              <a:avLst/>
              <a:gdLst/>
              <a:ahLst/>
              <a:cxnLst/>
              <a:rect l="l" t="t" r="r" b="b"/>
              <a:pathLst>
                <a:path w="1115695" h="835025">
                  <a:moveTo>
                    <a:pt x="22838" y="671722"/>
                  </a:moveTo>
                  <a:lnTo>
                    <a:pt x="10118" y="638690"/>
                  </a:lnTo>
                  <a:lnTo>
                    <a:pt x="2559" y="604257"/>
                  </a:lnTo>
                  <a:lnTo>
                    <a:pt x="0" y="568670"/>
                  </a:lnTo>
                  <a:lnTo>
                    <a:pt x="2283" y="532173"/>
                  </a:lnTo>
                  <a:lnTo>
                    <a:pt x="20741" y="457431"/>
                  </a:lnTo>
                  <a:lnTo>
                    <a:pt x="36598" y="419677"/>
                  </a:lnTo>
                  <a:lnTo>
                    <a:pt x="56664" y="381993"/>
                  </a:lnTo>
                  <a:lnTo>
                    <a:pt x="80778" y="344626"/>
                  </a:lnTo>
                  <a:lnTo>
                    <a:pt x="108782" y="307821"/>
                  </a:lnTo>
                  <a:lnTo>
                    <a:pt x="140518" y="271822"/>
                  </a:lnTo>
                  <a:lnTo>
                    <a:pt x="175826" y="236876"/>
                  </a:lnTo>
                  <a:lnTo>
                    <a:pt x="214549" y="203226"/>
                  </a:lnTo>
                  <a:lnTo>
                    <a:pt x="256527" y="171120"/>
                  </a:lnTo>
                  <a:lnTo>
                    <a:pt x="301603" y="140800"/>
                  </a:lnTo>
                  <a:lnTo>
                    <a:pt x="349616" y="112514"/>
                  </a:lnTo>
                  <a:lnTo>
                    <a:pt x="400409" y="86506"/>
                  </a:lnTo>
                  <a:lnTo>
                    <a:pt x="452662" y="63526"/>
                  </a:lnTo>
                  <a:lnTo>
                    <a:pt x="504923" y="44140"/>
                  </a:lnTo>
                  <a:lnTo>
                    <a:pt x="556902" y="28315"/>
                  </a:lnTo>
                  <a:lnTo>
                    <a:pt x="608309" y="16021"/>
                  </a:lnTo>
                  <a:lnTo>
                    <a:pt x="658855" y="7224"/>
                  </a:lnTo>
                  <a:lnTo>
                    <a:pt x="708249" y="1895"/>
                  </a:lnTo>
                  <a:lnTo>
                    <a:pt x="756202" y="0"/>
                  </a:lnTo>
                  <a:lnTo>
                    <a:pt x="802424" y="1507"/>
                  </a:lnTo>
                  <a:lnTo>
                    <a:pt x="846625" y="6386"/>
                  </a:lnTo>
                  <a:lnTo>
                    <a:pt x="888515" y="14604"/>
                  </a:lnTo>
                  <a:lnTo>
                    <a:pt x="927804" y="26130"/>
                  </a:lnTo>
                  <a:lnTo>
                    <a:pt x="964202" y="40931"/>
                  </a:lnTo>
                  <a:lnTo>
                    <a:pt x="1027166" y="80234"/>
                  </a:lnTo>
                  <a:lnTo>
                    <a:pt x="1075090" y="132257"/>
                  </a:lnTo>
                  <a:lnTo>
                    <a:pt x="1105405" y="195992"/>
                  </a:lnTo>
                  <a:lnTo>
                    <a:pt x="1115524" y="266012"/>
                  </a:lnTo>
                  <a:lnTo>
                    <a:pt x="1113241" y="302509"/>
                  </a:lnTo>
                  <a:lnTo>
                    <a:pt x="1094783" y="377251"/>
                  </a:lnTo>
                  <a:lnTo>
                    <a:pt x="1078925" y="415005"/>
                  </a:lnTo>
                  <a:lnTo>
                    <a:pt x="1058860" y="452689"/>
                  </a:lnTo>
                  <a:lnTo>
                    <a:pt x="1034746" y="490056"/>
                  </a:lnTo>
                  <a:lnTo>
                    <a:pt x="1006742" y="526861"/>
                  </a:lnTo>
                  <a:lnTo>
                    <a:pt x="975006" y="562860"/>
                  </a:lnTo>
                  <a:lnTo>
                    <a:pt x="939697" y="597806"/>
                  </a:lnTo>
                  <a:lnTo>
                    <a:pt x="900975" y="631455"/>
                  </a:lnTo>
                  <a:lnTo>
                    <a:pt x="858996" y="663562"/>
                  </a:lnTo>
                  <a:lnTo>
                    <a:pt x="813921" y="693881"/>
                  </a:lnTo>
                  <a:lnTo>
                    <a:pt x="765908" y="722168"/>
                  </a:lnTo>
                  <a:lnTo>
                    <a:pt x="715115" y="748176"/>
                  </a:lnTo>
                  <a:lnTo>
                    <a:pt x="662862" y="771176"/>
                  </a:lnTo>
                  <a:lnTo>
                    <a:pt x="610601" y="790577"/>
                  </a:lnTo>
                  <a:lnTo>
                    <a:pt x="558622" y="806412"/>
                  </a:lnTo>
                  <a:lnTo>
                    <a:pt x="507215" y="818714"/>
                  </a:lnTo>
                  <a:lnTo>
                    <a:pt x="456669" y="827513"/>
                  </a:lnTo>
                  <a:lnTo>
                    <a:pt x="407274" y="832844"/>
                  </a:lnTo>
                  <a:lnTo>
                    <a:pt x="359321" y="834737"/>
                  </a:lnTo>
                  <a:lnTo>
                    <a:pt x="313100" y="833225"/>
                  </a:lnTo>
                  <a:lnTo>
                    <a:pt x="268899" y="828340"/>
                  </a:lnTo>
                  <a:lnTo>
                    <a:pt x="227009" y="820116"/>
                  </a:lnTo>
                  <a:lnTo>
                    <a:pt x="187720" y="808583"/>
                  </a:lnTo>
                  <a:lnTo>
                    <a:pt x="151322" y="793774"/>
                  </a:lnTo>
                  <a:lnTo>
                    <a:pt x="88357" y="754458"/>
                  </a:lnTo>
                  <a:lnTo>
                    <a:pt x="40434" y="702426"/>
                  </a:lnTo>
                  <a:lnTo>
                    <a:pt x="22838" y="671722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0797" y="4830255"/>
            <a:ext cx="655320" cy="301953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645801" y="3337324"/>
            <a:ext cx="2795196" cy="2712955"/>
            <a:chOff x="3243986" y="4230066"/>
            <a:chExt cx="2506345" cy="241490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3986" y="4230066"/>
              <a:ext cx="2320975" cy="14946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5324" y="5455920"/>
              <a:ext cx="2014727" cy="118872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728943" y="5125282"/>
            <a:ext cx="558165" cy="476250"/>
            <a:chOff x="5821553" y="5812409"/>
            <a:chExt cx="558165" cy="47625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24728" y="5815584"/>
              <a:ext cx="551688" cy="4693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24728" y="5815584"/>
              <a:ext cx="551815" cy="469900"/>
            </a:xfrm>
            <a:custGeom>
              <a:avLst/>
              <a:gdLst/>
              <a:ahLst/>
              <a:cxnLst/>
              <a:rect l="l" t="t" r="r" b="b"/>
              <a:pathLst>
                <a:path w="551814" h="469900">
                  <a:moveTo>
                    <a:pt x="0" y="117347"/>
                  </a:moveTo>
                  <a:lnTo>
                    <a:pt x="316992" y="117347"/>
                  </a:lnTo>
                  <a:lnTo>
                    <a:pt x="316992" y="0"/>
                  </a:lnTo>
                  <a:lnTo>
                    <a:pt x="551688" y="234695"/>
                  </a:lnTo>
                  <a:lnTo>
                    <a:pt x="316992" y="469391"/>
                  </a:lnTo>
                  <a:lnTo>
                    <a:pt x="316992" y="352043"/>
                  </a:lnTo>
                  <a:lnTo>
                    <a:pt x="0" y="352043"/>
                  </a:lnTo>
                  <a:lnTo>
                    <a:pt x="0" y="11734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576441" y="5122107"/>
            <a:ext cx="558165" cy="476250"/>
            <a:chOff x="7423277" y="5812409"/>
            <a:chExt cx="558165" cy="47625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26452" y="5815584"/>
              <a:ext cx="551688" cy="4693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6452" y="5815584"/>
              <a:ext cx="551815" cy="469900"/>
            </a:xfrm>
            <a:custGeom>
              <a:avLst/>
              <a:gdLst/>
              <a:ahLst/>
              <a:cxnLst/>
              <a:rect l="l" t="t" r="r" b="b"/>
              <a:pathLst>
                <a:path w="551815" h="469900">
                  <a:moveTo>
                    <a:pt x="0" y="117347"/>
                  </a:moveTo>
                  <a:lnTo>
                    <a:pt x="316992" y="117347"/>
                  </a:lnTo>
                  <a:lnTo>
                    <a:pt x="316992" y="0"/>
                  </a:lnTo>
                  <a:lnTo>
                    <a:pt x="551688" y="234695"/>
                  </a:lnTo>
                  <a:lnTo>
                    <a:pt x="316992" y="469391"/>
                  </a:lnTo>
                  <a:lnTo>
                    <a:pt x="316992" y="352043"/>
                  </a:lnTo>
                  <a:lnTo>
                    <a:pt x="0" y="352043"/>
                  </a:lnTo>
                  <a:lnTo>
                    <a:pt x="0" y="11734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315570" y="5234430"/>
            <a:ext cx="1230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5" dirty="0">
                <a:latin typeface="Tahoma"/>
                <a:cs typeface="Tahoma"/>
              </a:rPr>
              <a:t>[</a:t>
            </a:r>
            <a:r>
              <a:rPr sz="1600" spc="110" dirty="0">
                <a:latin typeface="Tahoma"/>
                <a:cs typeface="Tahoma"/>
              </a:rPr>
              <a:t>o</a:t>
            </a:r>
            <a:r>
              <a:rPr sz="1600" spc="130" dirty="0">
                <a:latin typeface="Tahoma"/>
                <a:cs typeface="Tahoma"/>
              </a:rPr>
              <a:t>b</a:t>
            </a:r>
            <a:r>
              <a:rPr sz="1600" spc="-70" dirty="0">
                <a:latin typeface="Tahoma"/>
                <a:cs typeface="Tahoma"/>
              </a:rPr>
              <a:t>j</a:t>
            </a:r>
            <a:r>
              <a:rPr sz="1600" spc="65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c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130" dirty="0">
                <a:latin typeface="Tahoma"/>
                <a:cs typeface="Tahoma"/>
              </a:rPr>
              <a:t>b</a:t>
            </a:r>
            <a:r>
              <a:rPr sz="1600" spc="65" dirty="0">
                <a:latin typeface="Tahoma"/>
                <a:cs typeface="Tahoma"/>
              </a:rPr>
              <a:t>e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-135" dirty="0">
                <a:latin typeface="Tahoma"/>
                <a:cs typeface="Tahoma"/>
              </a:rPr>
              <a:t>]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51676" y="5257799"/>
            <a:ext cx="874776" cy="222503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464808" y="2215895"/>
            <a:ext cx="3147060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spc="-15" dirty="0">
                <a:latin typeface="Calibri"/>
                <a:cs typeface="Calibri"/>
              </a:rPr>
              <a:t>Why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 want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5A38AC7B-B998-C495-302A-238F8B33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91761-9FA1-4623-9B5D-2EC900FF83BB}" type="datetime1">
              <a:rPr lang="en-US" smtClean="0"/>
              <a:t>2/18/2025</a:t>
            </a:fld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052E34AF-1C75-6DCF-3054-CE8E4BA8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975DBA4-087D-820D-DEFD-D07162A6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ontent Placeholder 81">
            <a:extLst>
              <a:ext uri="{FF2B5EF4-FFF2-40B4-BE49-F238E27FC236}">
                <a16:creationId xmlns:a16="http://schemas.microsoft.com/office/drawing/2014/main" id="{84243895-44EE-BDD7-4ED1-6FA0AD5D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683735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Generative</a:t>
            </a:r>
            <a:r>
              <a:rPr sz="4400" spc="-65" dirty="0"/>
              <a:t> </a:t>
            </a:r>
            <a:r>
              <a:rPr sz="4400" spc="-5" dirty="0"/>
              <a:t>models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1761744"/>
            <a:ext cx="452628" cy="25298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081022" y="1707642"/>
            <a:ext cx="1714500" cy="1181100"/>
            <a:chOff x="2081022" y="1707642"/>
            <a:chExt cx="1714500" cy="1181100"/>
          </a:xfrm>
        </p:grpSpPr>
        <p:sp>
          <p:nvSpPr>
            <p:cNvPr id="5" name="object 5"/>
            <p:cNvSpPr/>
            <p:nvPr/>
          </p:nvSpPr>
          <p:spPr>
            <a:xfrm>
              <a:off x="2081022" y="1707641"/>
              <a:ext cx="1714500" cy="1181100"/>
            </a:xfrm>
            <a:custGeom>
              <a:avLst/>
              <a:gdLst/>
              <a:ahLst/>
              <a:cxnLst/>
              <a:rect l="l" t="t" r="r" b="b"/>
              <a:pathLst>
                <a:path w="1714500" h="1181100">
                  <a:moveTo>
                    <a:pt x="1714500" y="1143000"/>
                  </a:moveTo>
                  <a:lnTo>
                    <a:pt x="1695450" y="1133475"/>
                  </a:lnTo>
                  <a:lnTo>
                    <a:pt x="1638300" y="1104900"/>
                  </a:lnTo>
                  <a:lnTo>
                    <a:pt x="16383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1638300" y="1152525"/>
                  </a:lnTo>
                  <a:lnTo>
                    <a:pt x="1638300" y="1181100"/>
                  </a:lnTo>
                  <a:lnTo>
                    <a:pt x="1695450" y="1152525"/>
                  </a:lnTo>
                  <a:lnTo>
                    <a:pt x="17145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3744" y="1944624"/>
              <a:ext cx="152400" cy="126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569" y="1941449"/>
              <a:ext cx="158750" cy="1328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7959" y="2584704"/>
              <a:ext cx="152400" cy="1264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4784" y="2581529"/>
              <a:ext cx="158750" cy="1328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1360" y="1930908"/>
              <a:ext cx="152400" cy="126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8185" y="1927733"/>
              <a:ext cx="158750" cy="1328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6808" y="2182368"/>
              <a:ext cx="152400" cy="1264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3633" y="2179193"/>
              <a:ext cx="158750" cy="13284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98797" y="1852529"/>
              <a:ext cx="1115695" cy="835025"/>
            </a:xfrm>
            <a:custGeom>
              <a:avLst/>
              <a:gdLst/>
              <a:ahLst/>
              <a:cxnLst/>
              <a:rect l="l" t="t" r="r" b="b"/>
              <a:pathLst>
                <a:path w="1115695" h="835025">
                  <a:moveTo>
                    <a:pt x="22838" y="671722"/>
                  </a:moveTo>
                  <a:lnTo>
                    <a:pt x="10118" y="638690"/>
                  </a:lnTo>
                  <a:lnTo>
                    <a:pt x="2559" y="604257"/>
                  </a:lnTo>
                  <a:lnTo>
                    <a:pt x="0" y="568670"/>
                  </a:lnTo>
                  <a:lnTo>
                    <a:pt x="2283" y="532173"/>
                  </a:lnTo>
                  <a:lnTo>
                    <a:pt x="20741" y="457431"/>
                  </a:lnTo>
                  <a:lnTo>
                    <a:pt x="36598" y="419677"/>
                  </a:lnTo>
                  <a:lnTo>
                    <a:pt x="56664" y="381993"/>
                  </a:lnTo>
                  <a:lnTo>
                    <a:pt x="80778" y="344626"/>
                  </a:lnTo>
                  <a:lnTo>
                    <a:pt x="108782" y="307821"/>
                  </a:lnTo>
                  <a:lnTo>
                    <a:pt x="140518" y="271822"/>
                  </a:lnTo>
                  <a:lnTo>
                    <a:pt x="175826" y="236876"/>
                  </a:lnTo>
                  <a:lnTo>
                    <a:pt x="214549" y="203226"/>
                  </a:lnTo>
                  <a:lnTo>
                    <a:pt x="256527" y="171120"/>
                  </a:lnTo>
                  <a:lnTo>
                    <a:pt x="301603" y="140800"/>
                  </a:lnTo>
                  <a:lnTo>
                    <a:pt x="349616" y="112514"/>
                  </a:lnTo>
                  <a:lnTo>
                    <a:pt x="400409" y="86506"/>
                  </a:lnTo>
                  <a:lnTo>
                    <a:pt x="452662" y="63526"/>
                  </a:lnTo>
                  <a:lnTo>
                    <a:pt x="504923" y="44140"/>
                  </a:lnTo>
                  <a:lnTo>
                    <a:pt x="556902" y="28315"/>
                  </a:lnTo>
                  <a:lnTo>
                    <a:pt x="608309" y="16021"/>
                  </a:lnTo>
                  <a:lnTo>
                    <a:pt x="658855" y="7224"/>
                  </a:lnTo>
                  <a:lnTo>
                    <a:pt x="708249" y="1895"/>
                  </a:lnTo>
                  <a:lnTo>
                    <a:pt x="756202" y="0"/>
                  </a:lnTo>
                  <a:lnTo>
                    <a:pt x="802424" y="1507"/>
                  </a:lnTo>
                  <a:lnTo>
                    <a:pt x="846625" y="6386"/>
                  </a:lnTo>
                  <a:lnTo>
                    <a:pt x="888515" y="14604"/>
                  </a:lnTo>
                  <a:lnTo>
                    <a:pt x="927804" y="26130"/>
                  </a:lnTo>
                  <a:lnTo>
                    <a:pt x="964202" y="40931"/>
                  </a:lnTo>
                  <a:lnTo>
                    <a:pt x="1027166" y="80234"/>
                  </a:lnTo>
                  <a:lnTo>
                    <a:pt x="1075090" y="132257"/>
                  </a:lnTo>
                  <a:lnTo>
                    <a:pt x="1105405" y="195992"/>
                  </a:lnTo>
                  <a:lnTo>
                    <a:pt x="1115524" y="266012"/>
                  </a:lnTo>
                  <a:lnTo>
                    <a:pt x="1113241" y="302509"/>
                  </a:lnTo>
                  <a:lnTo>
                    <a:pt x="1094783" y="377251"/>
                  </a:lnTo>
                  <a:lnTo>
                    <a:pt x="1078925" y="415005"/>
                  </a:lnTo>
                  <a:lnTo>
                    <a:pt x="1058860" y="452689"/>
                  </a:lnTo>
                  <a:lnTo>
                    <a:pt x="1034746" y="490056"/>
                  </a:lnTo>
                  <a:lnTo>
                    <a:pt x="1006742" y="526861"/>
                  </a:lnTo>
                  <a:lnTo>
                    <a:pt x="975006" y="562860"/>
                  </a:lnTo>
                  <a:lnTo>
                    <a:pt x="939697" y="597806"/>
                  </a:lnTo>
                  <a:lnTo>
                    <a:pt x="900975" y="631455"/>
                  </a:lnTo>
                  <a:lnTo>
                    <a:pt x="858996" y="663562"/>
                  </a:lnTo>
                  <a:lnTo>
                    <a:pt x="813921" y="693881"/>
                  </a:lnTo>
                  <a:lnTo>
                    <a:pt x="765908" y="722168"/>
                  </a:lnTo>
                  <a:lnTo>
                    <a:pt x="715115" y="748176"/>
                  </a:lnTo>
                  <a:lnTo>
                    <a:pt x="662862" y="771176"/>
                  </a:lnTo>
                  <a:lnTo>
                    <a:pt x="610601" y="790577"/>
                  </a:lnTo>
                  <a:lnTo>
                    <a:pt x="558622" y="806412"/>
                  </a:lnTo>
                  <a:lnTo>
                    <a:pt x="507215" y="818714"/>
                  </a:lnTo>
                  <a:lnTo>
                    <a:pt x="456669" y="827513"/>
                  </a:lnTo>
                  <a:lnTo>
                    <a:pt x="407274" y="832844"/>
                  </a:lnTo>
                  <a:lnTo>
                    <a:pt x="359321" y="834737"/>
                  </a:lnTo>
                  <a:lnTo>
                    <a:pt x="313100" y="833225"/>
                  </a:lnTo>
                  <a:lnTo>
                    <a:pt x="268899" y="828340"/>
                  </a:lnTo>
                  <a:lnTo>
                    <a:pt x="227009" y="820116"/>
                  </a:lnTo>
                  <a:lnTo>
                    <a:pt x="187720" y="808583"/>
                  </a:lnTo>
                  <a:lnTo>
                    <a:pt x="151322" y="793774"/>
                  </a:lnTo>
                  <a:lnTo>
                    <a:pt x="88357" y="754458"/>
                  </a:lnTo>
                  <a:lnTo>
                    <a:pt x="40434" y="702426"/>
                  </a:lnTo>
                  <a:lnTo>
                    <a:pt x="22838" y="671722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559" y="2389632"/>
            <a:ext cx="842772" cy="2590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4394" y="5546597"/>
            <a:ext cx="231012" cy="762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646804" y="5150992"/>
            <a:ext cx="187960" cy="820419"/>
            <a:chOff x="3646804" y="5150992"/>
            <a:chExt cx="187960" cy="820419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49979" y="5154167"/>
              <a:ext cx="181355" cy="8138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49979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5" y="813815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212209" y="5161660"/>
            <a:ext cx="187960" cy="821690"/>
            <a:chOff x="4212209" y="5161660"/>
            <a:chExt cx="187960" cy="82169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15384" y="5164835"/>
              <a:ext cx="181355" cy="8153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15384" y="5164835"/>
              <a:ext cx="181610" cy="815340"/>
            </a:xfrm>
            <a:custGeom>
              <a:avLst/>
              <a:gdLst/>
              <a:ahLst/>
              <a:cxnLst/>
              <a:rect l="l" t="t" r="r" b="b"/>
              <a:pathLst>
                <a:path w="181610" h="815339">
                  <a:moveTo>
                    <a:pt x="0" y="815339"/>
                  </a:moveTo>
                  <a:lnTo>
                    <a:pt x="181355" y="815339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5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48990" y="5546597"/>
            <a:ext cx="231012" cy="76200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081401" y="5150992"/>
            <a:ext cx="187960" cy="820419"/>
            <a:chOff x="3081401" y="5150992"/>
            <a:chExt cx="187960" cy="820419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4576" y="5154167"/>
              <a:ext cx="181355" cy="81381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084576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5" y="813815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519045" y="5150992"/>
            <a:ext cx="187960" cy="820419"/>
            <a:chOff x="2519045" y="5150992"/>
            <a:chExt cx="187960" cy="820419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22220" y="5154167"/>
              <a:ext cx="181356" cy="81381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522220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6" y="813815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86633" y="5546597"/>
            <a:ext cx="231013" cy="7620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2535935" y="4585715"/>
            <a:ext cx="227329" cy="487045"/>
            <a:chOff x="2535935" y="4585715"/>
            <a:chExt cx="227329" cy="487045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3941" y="4839461"/>
              <a:ext cx="76200" cy="2330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35935" y="4585715"/>
              <a:ext cx="227075" cy="213360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095244" y="4585715"/>
            <a:ext cx="230504" cy="487045"/>
            <a:chOff x="3095244" y="4585715"/>
            <a:chExt cx="230504" cy="487045"/>
          </a:xfrm>
        </p:grpSpPr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3062" y="4839461"/>
              <a:ext cx="76200" cy="2330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95244" y="4585715"/>
              <a:ext cx="230123" cy="216407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25417" y="4839461"/>
            <a:ext cx="76200" cy="233044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4226052" y="4585715"/>
            <a:ext cx="227329" cy="490220"/>
            <a:chOff x="4226052" y="4585715"/>
            <a:chExt cx="227329" cy="490220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87774" y="4842509"/>
              <a:ext cx="76200" cy="23304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6052" y="4585715"/>
              <a:ext cx="227075" cy="216407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59123" y="4570476"/>
            <a:ext cx="231648" cy="21336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64129" y="6058661"/>
            <a:ext cx="76200" cy="2330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43250" y="6058661"/>
            <a:ext cx="76200" cy="23304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05605" y="6058661"/>
            <a:ext cx="76200" cy="23304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67961" y="6061709"/>
            <a:ext cx="76200" cy="23304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2467482" y="6383832"/>
            <a:ext cx="1966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sz="1200" spc="-5" dirty="0">
                <a:latin typeface="Calibri"/>
                <a:cs typeface="Calibri"/>
              </a:rPr>
              <a:t>“I</a:t>
            </a:r>
            <a:r>
              <a:rPr sz="1200" dirty="0">
                <a:latin typeface="Calibri"/>
                <a:cs typeface="Calibri"/>
              </a:rPr>
              <a:t>”	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hi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”</a:t>
            </a:r>
            <a:r>
              <a:rPr sz="1200" spc="-8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he</a:t>
            </a:r>
            <a:r>
              <a:rPr sz="1200" spc="-10" dirty="0">
                <a:latin typeface="Calibri"/>
                <a:cs typeface="Calibri"/>
              </a:rPr>
              <a:t>re</a:t>
            </a:r>
            <a:r>
              <a:rPr sz="1200" spc="-35" dirty="0">
                <a:latin typeface="Calibri"/>
                <a:cs typeface="Calibri"/>
              </a:rPr>
              <a:t>f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e”   </a:t>
            </a:r>
            <a:r>
              <a:rPr sz="1200" spc="-10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“I”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22145" y="4286757"/>
            <a:ext cx="1936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850" algn="l"/>
              </a:tabLst>
            </a:pPr>
            <a:r>
              <a:rPr sz="1200" spc="-5" dirty="0">
                <a:latin typeface="Calibri"/>
                <a:cs typeface="Calibri"/>
              </a:rPr>
              <a:t>“I</a:t>
            </a:r>
            <a:r>
              <a:rPr sz="1200" dirty="0">
                <a:latin typeface="Calibri"/>
                <a:cs typeface="Calibri"/>
              </a:rPr>
              <a:t>”	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hi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”</a:t>
            </a:r>
            <a:r>
              <a:rPr sz="1200" spc="-8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he</a:t>
            </a:r>
            <a:r>
              <a:rPr sz="1200" spc="-10" dirty="0">
                <a:latin typeface="Calibri"/>
                <a:cs typeface="Calibri"/>
              </a:rPr>
              <a:t>re</a:t>
            </a:r>
            <a:r>
              <a:rPr sz="1200" spc="-35" dirty="0">
                <a:latin typeface="Calibri"/>
                <a:cs typeface="Calibri"/>
              </a:rPr>
              <a:t>f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e”   </a:t>
            </a:r>
            <a:r>
              <a:rPr sz="1200" spc="-10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“I”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31690" y="4280407"/>
            <a:ext cx="34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“</a:t>
            </a:r>
            <a:r>
              <a:rPr sz="1200" dirty="0">
                <a:latin typeface="Calibri"/>
                <a:cs typeface="Calibri"/>
              </a:rPr>
              <a:t>am”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87417" y="5535929"/>
            <a:ext cx="231012" cy="76200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4785233" y="5150992"/>
            <a:ext cx="187960" cy="820419"/>
            <a:chOff x="4785233" y="5150992"/>
            <a:chExt cx="187960" cy="820419"/>
          </a:xfrm>
        </p:grpSpPr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88408" y="5154167"/>
              <a:ext cx="181355" cy="81381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788408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5" y="813815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4783835" y="4590288"/>
            <a:ext cx="230504" cy="473075"/>
            <a:chOff x="4783835" y="4590288"/>
            <a:chExt cx="230504" cy="473075"/>
          </a:xfrm>
        </p:grpSpPr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60797" y="4830318"/>
              <a:ext cx="76200" cy="2330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83835" y="4590288"/>
              <a:ext cx="230124" cy="216407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40985" y="6051041"/>
            <a:ext cx="76200" cy="233045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709286" y="6364630"/>
            <a:ext cx="34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“</a:t>
            </a:r>
            <a:r>
              <a:rPr sz="1200" dirty="0">
                <a:latin typeface="Calibri"/>
                <a:cs typeface="Calibri"/>
              </a:rPr>
              <a:t>am”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65090" y="4260850"/>
            <a:ext cx="420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&lt;</a:t>
            </a:r>
            <a:r>
              <a:rPr sz="1200" spc="-2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OS&gt;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86177" y="5569458"/>
            <a:ext cx="231013" cy="76200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1920113" y="5173853"/>
            <a:ext cx="186690" cy="820419"/>
            <a:chOff x="1920113" y="5173853"/>
            <a:chExt cx="186690" cy="820419"/>
          </a:xfrm>
        </p:grpSpPr>
        <p:pic>
          <p:nvPicPr>
            <p:cNvPr id="61" name="object 6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23288" y="5177028"/>
              <a:ext cx="179831" cy="81381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923288" y="5177028"/>
              <a:ext cx="180340" cy="814069"/>
            </a:xfrm>
            <a:custGeom>
              <a:avLst/>
              <a:gdLst/>
              <a:ahLst/>
              <a:cxnLst/>
              <a:rect l="l" t="t" r="r" b="b"/>
              <a:pathLst>
                <a:path w="180339" h="814070">
                  <a:moveTo>
                    <a:pt x="0" y="813816"/>
                  </a:moveTo>
                  <a:lnTo>
                    <a:pt x="179831" y="813816"/>
                  </a:lnTo>
                  <a:lnTo>
                    <a:pt x="179831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3" name="object 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85010" y="4862321"/>
            <a:ext cx="76200" cy="23304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23288" y="4568952"/>
            <a:ext cx="222504" cy="21336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65198" y="6081521"/>
            <a:ext cx="76200" cy="233045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1736217" y="6399682"/>
            <a:ext cx="552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&lt;</a:t>
            </a:r>
            <a:r>
              <a:rPr sz="1200" spc="-10" dirty="0">
                <a:latin typeface="Calibri"/>
                <a:cs typeface="Calibri"/>
              </a:rPr>
              <a:t>S</a:t>
            </a:r>
            <a:r>
              <a:rPr sz="1200" spc="-9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T&gt;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70559" y="3595143"/>
            <a:ext cx="452628" cy="248384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233442" y="3588220"/>
            <a:ext cx="6487375" cy="252983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1412747" y="6207252"/>
            <a:ext cx="1003300" cy="547370"/>
            <a:chOff x="1412747" y="6207252"/>
            <a:chExt cx="1003300" cy="547370"/>
          </a:xfrm>
        </p:grpSpPr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12747" y="6207252"/>
              <a:ext cx="230123" cy="1524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651253" y="6340602"/>
              <a:ext cx="745490" cy="394970"/>
            </a:xfrm>
            <a:custGeom>
              <a:avLst/>
              <a:gdLst/>
              <a:ahLst/>
              <a:cxnLst/>
              <a:rect l="l" t="t" r="r" b="b"/>
              <a:pathLst>
                <a:path w="745489" h="394970">
                  <a:moveTo>
                    <a:pt x="0" y="197358"/>
                  </a:moveTo>
                  <a:lnTo>
                    <a:pt x="19001" y="134975"/>
                  </a:lnTo>
                  <a:lnTo>
                    <a:pt x="71908" y="80798"/>
                  </a:lnTo>
                  <a:lnTo>
                    <a:pt x="109156" y="57802"/>
                  </a:lnTo>
                  <a:lnTo>
                    <a:pt x="152576" y="38076"/>
                  </a:lnTo>
                  <a:lnTo>
                    <a:pt x="201401" y="22027"/>
                  </a:lnTo>
                  <a:lnTo>
                    <a:pt x="254861" y="10060"/>
                  </a:lnTo>
                  <a:lnTo>
                    <a:pt x="312189" y="2582"/>
                  </a:lnTo>
                  <a:lnTo>
                    <a:pt x="372618" y="0"/>
                  </a:lnTo>
                  <a:lnTo>
                    <a:pt x="433046" y="2582"/>
                  </a:lnTo>
                  <a:lnTo>
                    <a:pt x="490374" y="10060"/>
                  </a:lnTo>
                  <a:lnTo>
                    <a:pt x="543834" y="22027"/>
                  </a:lnTo>
                  <a:lnTo>
                    <a:pt x="592659" y="38076"/>
                  </a:lnTo>
                  <a:lnTo>
                    <a:pt x="636079" y="57802"/>
                  </a:lnTo>
                  <a:lnTo>
                    <a:pt x="673327" y="80798"/>
                  </a:lnTo>
                  <a:lnTo>
                    <a:pt x="703635" y="106657"/>
                  </a:lnTo>
                  <a:lnTo>
                    <a:pt x="740357" y="165343"/>
                  </a:lnTo>
                  <a:lnTo>
                    <a:pt x="745235" y="197358"/>
                  </a:lnTo>
                  <a:lnTo>
                    <a:pt x="740357" y="229372"/>
                  </a:lnTo>
                  <a:lnTo>
                    <a:pt x="703635" y="288058"/>
                  </a:lnTo>
                  <a:lnTo>
                    <a:pt x="673327" y="313917"/>
                  </a:lnTo>
                  <a:lnTo>
                    <a:pt x="636079" y="336913"/>
                  </a:lnTo>
                  <a:lnTo>
                    <a:pt x="592659" y="356639"/>
                  </a:lnTo>
                  <a:lnTo>
                    <a:pt x="543834" y="372688"/>
                  </a:lnTo>
                  <a:lnTo>
                    <a:pt x="490374" y="384655"/>
                  </a:lnTo>
                  <a:lnTo>
                    <a:pt x="433046" y="392133"/>
                  </a:lnTo>
                  <a:lnTo>
                    <a:pt x="372618" y="394716"/>
                  </a:lnTo>
                  <a:lnTo>
                    <a:pt x="312189" y="392133"/>
                  </a:lnTo>
                  <a:lnTo>
                    <a:pt x="254861" y="384655"/>
                  </a:lnTo>
                  <a:lnTo>
                    <a:pt x="201401" y="372688"/>
                  </a:lnTo>
                  <a:lnTo>
                    <a:pt x="152576" y="356639"/>
                  </a:lnTo>
                  <a:lnTo>
                    <a:pt x="109156" y="336913"/>
                  </a:lnTo>
                  <a:lnTo>
                    <a:pt x="71908" y="313917"/>
                  </a:lnTo>
                  <a:lnTo>
                    <a:pt x="41600" y="288058"/>
                  </a:lnTo>
                  <a:lnTo>
                    <a:pt x="4878" y="229372"/>
                  </a:lnTo>
                  <a:lnTo>
                    <a:pt x="0" y="19735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95706" y="6139383"/>
            <a:ext cx="751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actually  a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variable!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38377" y="2742438"/>
            <a:ext cx="506095" cy="748665"/>
          </a:xfrm>
          <a:custGeom>
            <a:avLst/>
            <a:gdLst/>
            <a:ahLst/>
            <a:cxnLst/>
            <a:rect l="l" t="t" r="r" b="b"/>
            <a:pathLst>
              <a:path w="506094" h="748664">
                <a:moveTo>
                  <a:pt x="252984" y="0"/>
                </a:moveTo>
                <a:lnTo>
                  <a:pt x="0" y="252984"/>
                </a:lnTo>
                <a:lnTo>
                  <a:pt x="126491" y="252984"/>
                </a:lnTo>
                <a:lnTo>
                  <a:pt x="126491" y="495300"/>
                </a:lnTo>
                <a:lnTo>
                  <a:pt x="0" y="495300"/>
                </a:lnTo>
                <a:lnTo>
                  <a:pt x="252984" y="748284"/>
                </a:lnTo>
                <a:lnTo>
                  <a:pt x="505968" y="495300"/>
                </a:lnTo>
                <a:lnTo>
                  <a:pt x="379475" y="495300"/>
                </a:lnTo>
                <a:lnTo>
                  <a:pt x="379475" y="252984"/>
                </a:lnTo>
                <a:lnTo>
                  <a:pt x="505968" y="252984"/>
                </a:lnTo>
                <a:lnTo>
                  <a:pt x="25298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1344294" y="3056382"/>
            <a:ext cx="434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Just </a:t>
            </a:r>
            <a:r>
              <a:rPr sz="1800" spc="-15" dirty="0">
                <a:latin typeface="Calibri"/>
                <a:cs typeface="Calibri"/>
              </a:rPr>
              <a:t>different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solve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 </a:t>
            </a:r>
            <a:r>
              <a:rPr sz="1800" spc="-10" dirty="0">
                <a:latin typeface="Calibri"/>
                <a:cs typeface="Calibri"/>
              </a:rPr>
              <a:t>problem!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542788" y="4091940"/>
            <a:ext cx="3148965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4"/>
              </a:spcBef>
            </a:pPr>
            <a:r>
              <a:rPr sz="1800" spc="-15" dirty="0">
                <a:latin typeface="Calibri"/>
                <a:cs typeface="Calibri"/>
              </a:rPr>
              <a:t>Why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 want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542788" y="4605528"/>
            <a:ext cx="3644265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4"/>
              </a:spcBef>
            </a:pPr>
            <a:r>
              <a:rPr sz="1800" spc="-5" dirty="0">
                <a:latin typeface="Calibri"/>
                <a:cs typeface="Calibri"/>
              </a:rPr>
              <a:t>Same reasons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language modeling!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617845" y="4935220"/>
            <a:ext cx="4055110" cy="1616468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04165" indent="-287020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304165" algn="l"/>
              </a:tabLst>
            </a:pPr>
            <a:r>
              <a:rPr sz="1600" dirty="0">
                <a:latin typeface="Calibri"/>
                <a:cs typeface="Calibri"/>
              </a:rPr>
              <a:t>Unsupervised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pretraining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lots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data</a:t>
            </a:r>
            <a:endParaRPr sz="1600" dirty="0">
              <a:latin typeface="Calibri"/>
              <a:cs typeface="Calibri"/>
            </a:endParaRPr>
          </a:p>
          <a:p>
            <a:pPr marL="304165" indent="-28702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04165" algn="l"/>
              </a:tabLst>
            </a:pPr>
            <a:r>
              <a:rPr sz="1600" spc="-10" dirty="0">
                <a:latin typeface="Calibri"/>
                <a:cs typeface="Calibri"/>
              </a:rPr>
              <a:t>Representation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learning</a:t>
            </a:r>
            <a:endParaRPr sz="1600" dirty="0">
              <a:latin typeface="Calibri"/>
              <a:cs typeface="Calibri"/>
            </a:endParaRPr>
          </a:p>
          <a:p>
            <a:pPr marL="304165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04165" algn="l"/>
              </a:tabLst>
            </a:pPr>
            <a:r>
              <a:rPr sz="1600" spc="-10" dirty="0">
                <a:latin typeface="Calibri"/>
                <a:cs typeface="Calibri"/>
              </a:rPr>
              <a:t>Pretraining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 later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finetuning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-5" dirty="0">
                <a:latin typeface="Calibri"/>
                <a:cs typeface="Calibri"/>
              </a:rPr>
              <a:t>Actually</a:t>
            </a:r>
            <a:r>
              <a:rPr sz="1600" spc="-10" dirty="0">
                <a:latin typeface="Calibri"/>
                <a:cs typeface="Calibri"/>
              </a:rPr>
              <a:t> generating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things!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5013959" y="1830323"/>
            <a:ext cx="6474460" cy="3708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b="1" spc="-35" dirty="0">
                <a:latin typeface="Calibri"/>
                <a:cs typeface="Calibri"/>
              </a:rPr>
              <a:t>Today: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</a:t>
            </a:r>
            <a:r>
              <a:rPr sz="1800" spc="-10" dirty="0">
                <a:latin typeface="Calibri"/>
                <a:cs typeface="Calibri"/>
              </a:rPr>
              <a:t> from</a:t>
            </a:r>
            <a:r>
              <a:rPr sz="1800" spc="-5" dirty="0">
                <a:latin typeface="Calibri"/>
                <a:cs typeface="Calibri"/>
              </a:rPr>
              <a:t> “language </a:t>
            </a:r>
            <a:r>
              <a:rPr sz="1800" dirty="0">
                <a:latin typeface="Calibri"/>
                <a:cs typeface="Calibri"/>
              </a:rPr>
              <a:t>models”</a:t>
            </a:r>
            <a:r>
              <a:rPr sz="1800" spc="-10" dirty="0">
                <a:latin typeface="Calibri"/>
                <a:cs typeface="Calibri"/>
              </a:rPr>
              <a:t> to “everything </a:t>
            </a:r>
            <a:r>
              <a:rPr sz="1800" dirty="0">
                <a:latin typeface="Calibri"/>
                <a:cs typeface="Calibri"/>
              </a:rPr>
              <a:t>models”?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489191" y="2433827"/>
            <a:ext cx="3523615" cy="3708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unsupervised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Date Placeholder 67">
            <a:extLst>
              <a:ext uri="{FF2B5EF4-FFF2-40B4-BE49-F238E27FC236}">
                <a16:creationId xmlns:a16="http://schemas.microsoft.com/office/drawing/2014/main" id="{BFD75D61-E124-4F88-3FDA-7BD46CD7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05F7-EFA5-4913-B81C-6269F5D49903}" type="datetime1">
              <a:rPr lang="en-US" smtClean="0"/>
              <a:t>2/18/2025</a:t>
            </a:fld>
            <a:endParaRPr lang="en-US"/>
          </a:p>
        </p:txBody>
      </p:sp>
      <p:sp>
        <p:nvSpPr>
          <p:cNvPr id="70" name="Footer Placeholder 69">
            <a:extLst>
              <a:ext uri="{FF2B5EF4-FFF2-40B4-BE49-F238E27FC236}">
                <a16:creationId xmlns:a16="http://schemas.microsoft.com/office/drawing/2014/main" id="{04607F14-B87C-EA7B-23EA-982DEE9C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CD137453-CBD2-6CB8-2952-FD37C72F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ontent Placeholder 87">
            <a:extLst>
              <a:ext uri="{FF2B5EF4-FFF2-40B4-BE49-F238E27FC236}">
                <a16:creationId xmlns:a16="http://schemas.microsoft.com/office/drawing/2014/main" id="{B38328CC-C5CD-1D58-91E7-D6BD7E4B2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45289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Can</a:t>
            </a:r>
            <a:r>
              <a:rPr spc="-15" dirty="0"/>
              <a:t> </a:t>
            </a:r>
            <a:r>
              <a:rPr spc="-35" dirty="0"/>
              <a:t>we</a:t>
            </a:r>
            <a:r>
              <a:rPr spc="-15" dirty="0"/>
              <a:t> </a:t>
            </a:r>
            <a:r>
              <a:rPr spc="-10" dirty="0"/>
              <a:t>“language</a:t>
            </a:r>
            <a:r>
              <a:rPr spc="-15" dirty="0"/>
              <a:t> </a:t>
            </a:r>
            <a:r>
              <a:rPr spc="-5" dirty="0"/>
              <a:t>model”</a:t>
            </a:r>
            <a:r>
              <a:rPr spc="-10" dirty="0"/>
              <a:t> </a:t>
            </a:r>
            <a:r>
              <a:rPr spc="-15" dirty="0"/>
              <a:t>images?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874" y="1642872"/>
            <a:ext cx="692397" cy="2209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6255511"/>
            <a:ext cx="4344670" cy="55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&lt;START&gt;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00" spc="-25" dirty="0">
                <a:latin typeface="Calibri"/>
                <a:cs typeface="Calibri"/>
              </a:rPr>
              <a:t>Van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Oord et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 </a:t>
            </a:r>
            <a:r>
              <a:rPr sz="1400" b="1" spc="-10" dirty="0">
                <a:latin typeface="Calibri"/>
                <a:cs typeface="Calibri"/>
              </a:rPr>
              <a:t>Pixel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Recurrent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Neural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Networks</a:t>
            </a:r>
            <a:r>
              <a:rPr sz="1400" spc="-5" dirty="0">
                <a:latin typeface="Calibri"/>
                <a:cs typeface="Calibri"/>
              </a:rPr>
              <a:t>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2016.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591" y="1642872"/>
            <a:ext cx="722376" cy="22098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49197" y="2424557"/>
            <a:ext cx="646430" cy="646430"/>
            <a:chOff x="1449197" y="2424557"/>
            <a:chExt cx="646430" cy="6464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2372" y="2427732"/>
              <a:ext cx="640079" cy="6400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52372" y="2427732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160019"/>
                  </a:moveTo>
                  <a:lnTo>
                    <a:pt x="320040" y="160019"/>
                  </a:lnTo>
                  <a:lnTo>
                    <a:pt x="320040" y="0"/>
                  </a:lnTo>
                  <a:lnTo>
                    <a:pt x="640079" y="320039"/>
                  </a:lnTo>
                  <a:lnTo>
                    <a:pt x="320040" y="640079"/>
                  </a:lnTo>
                  <a:lnTo>
                    <a:pt x="320040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3044189" y="2266950"/>
            <a:ext cx="706755" cy="490855"/>
          </a:xfrm>
          <a:custGeom>
            <a:avLst/>
            <a:gdLst/>
            <a:ahLst/>
            <a:cxnLst/>
            <a:rect l="l" t="t" r="r" b="b"/>
            <a:pathLst>
              <a:path w="706754" h="490855">
                <a:moveTo>
                  <a:pt x="68104" y="35383"/>
                </a:moveTo>
                <a:lnTo>
                  <a:pt x="57337" y="51026"/>
                </a:lnTo>
                <a:lnTo>
                  <a:pt x="695579" y="490474"/>
                </a:lnTo>
                <a:lnTo>
                  <a:pt x="706501" y="474725"/>
                </a:lnTo>
                <a:lnTo>
                  <a:pt x="68104" y="35383"/>
                </a:lnTo>
                <a:close/>
              </a:path>
              <a:path w="706754" h="490855">
                <a:moveTo>
                  <a:pt x="0" y="0"/>
                </a:moveTo>
                <a:lnTo>
                  <a:pt x="41148" y="74549"/>
                </a:lnTo>
                <a:lnTo>
                  <a:pt x="57337" y="51026"/>
                </a:lnTo>
                <a:lnTo>
                  <a:pt x="46862" y="43814"/>
                </a:lnTo>
                <a:lnTo>
                  <a:pt x="57658" y="28194"/>
                </a:lnTo>
                <a:lnTo>
                  <a:pt x="73052" y="28194"/>
                </a:lnTo>
                <a:lnTo>
                  <a:pt x="84328" y="11811"/>
                </a:lnTo>
                <a:lnTo>
                  <a:pt x="0" y="0"/>
                </a:lnTo>
                <a:close/>
              </a:path>
              <a:path w="706754" h="490855">
                <a:moveTo>
                  <a:pt x="57658" y="28194"/>
                </a:moveTo>
                <a:lnTo>
                  <a:pt x="46862" y="43814"/>
                </a:lnTo>
                <a:lnTo>
                  <a:pt x="57337" y="51026"/>
                </a:lnTo>
                <a:lnTo>
                  <a:pt x="68104" y="35383"/>
                </a:lnTo>
                <a:lnTo>
                  <a:pt x="57658" y="28194"/>
                </a:lnTo>
                <a:close/>
              </a:path>
              <a:path w="706754" h="490855">
                <a:moveTo>
                  <a:pt x="73052" y="28194"/>
                </a:moveTo>
                <a:lnTo>
                  <a:pt x="57658" y="28194"/>
                </a:lnTo>
                <a:lnTo>
                  <a:pt x="68104" y="35383"/>
                </a:lnTo>
                <a:lnTo>
                  <a:pt x="73052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4001" y="2853689"/>
            <a:ext cx="680720" cy="76200"/>
          </a:xfrm>
          <a:custGeom>
            <a:avLst/>
            <a:gdLst/>
            <a:ahLst/>
            <a:cxnLst/>
            <a:rect l="l" t="t" r="r" b="b"/>
            <a:pathLst>
              <a:path w="68072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68072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680720" h="76200">
                <a:moveTo>
                  <a:pt x="680720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680720" y="47625"/>
                </a:lnTo>
                <a:lnTo>
                  <a:pt x="68072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64001" y="3026536"/>
            <a:ext cx="687705" cy="631825"/>
          </a:xfrm>
          <a:custGeom>
            <a:avLst/>
            <a:gdLst/>
            <a:ahLst/>
            <a:cxnLst/>
            <a:rect l="l" t="t" r="r" b="b"/>
            <a:pathLst>
              <a:path w="687704" h="631825">
                <a:moveTo>
                  <a:pt x="30353" y="552196"/>
                </a:moveTo>
                <a:lnTo>
                  <a:pt x="0" y="631825"/>
                </a:lnTo>
                <a:lnTo>
                  <a:pt x="81915" y="608330"/>
                </a:lnTo>
                <a:lnTo>
                  <a:pt x="70482" y="595883"/>
                </a:lnTo>
                <a:lnTo>
                  <a:pt x="53212" y="595883"/>
                </a:lnTo>
                <a:lnTo>
                  <a:pt x="40386" y="581913"/>
                </a:lnTo>
                <a:lnTo>
                  <a:pt x="49752" y="573315"/>
                </a:lnTo>
                <a:lnTo>
                  <a:pt x="30353" y="552196"/>
                </a:lnTo>
                <a:close/>
              </a:path>
              <a:path w="687704" h="631825">
                <a:moveTo>
                  <a:pt x="49752" y="573315"/>
                </a:moveTo>
                <a:lnTo>
                  <a:pt x="40386" y="581913"/>
                </a:lnTo>
                <a:lnTo>
                  <a:pt x="53212" y="595883"/>
                </a:lnTo>
                <a:lnTo>
                  <a:pt x="62582" y="587283"/>
                </a:lnTo>
                <a:lnTo>
                  <a:pt x="49752" y="573315"/>
                </a:lnTo>
                <a:close/>
              </a:path>
              <a:path w="687704" h="631825">
                <a:moveTo>
                  <a:pt x="62582" y="587283"/>
                </a:moveTo>
                <a:lnTo>
                  <a:pt x="53212" y="595883"/>
                </a:lnTo>
                <a:lnTo>
                  <a:pt x="70482" y="595883"/>
                </a:lnTo>
                <a:lnTo>
                  <a:pt x="62582" y="587283"/>
                </a:lnTo>
                <a:close/>
              </a:path>
              <a:path w="687704" h="631825">
                <a:moveTo>
                  <a:pt x="674243" y="0"/>
                </a:moveTo>
                <a:lnTo>
                  <a:pt x="49752" y="573315"/>
                </a:lnTo>
                <a:lnTo>
                  <a:pt x="62582" y="587283"/>
                </a:lnTo>
                <a:lnTo>
                  <a:pt x="687197" y="13970"/>
                </a:lnTo>
                <a:lnTo>
                  <a:pt x="674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23208" y="2585720"/>
            <a:ext cx="3032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ask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“image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language </a:t>
            </a:r>
            <a:r>
              <a:rPr sz="1800" dirty="0">
                <a:latin typeface="Calibri"/>
                <a:cs typeface="Calibri"/>
              </a:rPr>
              <a:t>model”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fill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blanks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0548" y="1629283"/>
            <a:ext cx="36195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3830" algn="ctr">
              <a:lnSpc>
                <a:spcPct val="100000"/>
              </a:lnSpc>
              <a:spcBef>
                <a:spcPts val="100"/>
              </a:spcBef>
              <a:tabLst>
                <a:tab pos="2222500" algn="l"/>
              </a:tabLst>
            </a:pPr>
            <a:r>
              <a:rPr sz="1800" b="1" spc="-15" dirty="0">
                <a:latin typeface="Calibri"/>
                <a:cs typeface="Calibri"/>
              </a:rPr>
              <a:t>before	</a:t>
            </a:r>
            <a:r>
              <a:rPr sz="1800" b="1" dirty="0">
                <a:latin typeface="Calibri"/>
                <a:cs typeface="Calibri"/>
              </a:rPr>
              <a:t>now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084070" algn="l"/>
              </a:tabLst>
            </a:pP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	</a:t>
            </a:r>
            <a:r>
              <a:rPr sz="2700" spc="-7" baseline="1543" dirty="0">
                <a:latin typeface="Calibri"/>
                <a:cs typeface="Calibri"/>
              </a:rPr>
              <a:t>time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spc="-22" baseline="1543" dirty="0">
                <a:latin typeface="Calibri"/>
                <a:cs typeface="Calibri"/>
              </a:rPr>
              <a:t>step </a:t>
            </a:r>
            <a:r>
              <a:rPr sz="2700" baseline="1543" dirty="0">
                <a:latin typeface="Calibri"/>
                <a:cs typeface="Calibri"/>
              </a:rPr>
              <a:t>=</a:t>
            </a:r>
            <a:r>
              <a:rPr sz="2700" spc="-30" baseline="1543" dirty="0">
                <a:latin typeface="Calibri"/>
                <a:cs typeface="Calibri"/>
              </a:rPr>
              <a:t> </a:t>
            </a:r>
            <a:r>
              <a:rPr sz="2700" spc="-22" baseline="1543" dirty="0">
                <a:latin typeface="Calibri"/>
                <a:cs typeface="Calibri"/>
              </a:rPr>
              <a:t>pixel</a:t>
            </a:r>
            <a:endParaRPr sz="2700" baseline="1543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5276" y="3564663"/>
            <a:ext cx="452627" cy="24838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48300" y="3209798"/>
            <a:ext cx="6000115" cy="600710"/>
            <a:chOff x="5448300" y="3209798"/>
            <a:chExt cx="6000115" cy="6007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8300" y="3557016"/>
              <a:ext cx="5999988" cy="2529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061198" y="3209798"/>
              <a:ext cx="485140" cy="309880"/>
            </a:xfrm>
            <a:custGeom>
              <a:avLst/>
              <a:gdLst/>
              <a:ahLst/>
              <a:cxnLst/>
              <a:rect l="l" t="t" r="r" b="b"/>
              <a:pathLst>
                <a:path w="485140" h="309879">
                  <a:moveTo>
                    <a:pt x="44196" y="236981"/>
                  </a:moveTo>
                  <a:lnTo>
                    <a:pt x="0" y="309752"/>
                  </a:lnTo>
                  <a:lnTo>
                    <a:pt x="84835" y="301498"/>
                  </a:lnTo>
                  <a:lnTo>
                    <a:pt x="73876" y="284099"/>
                  </a:lnTo>
                  <a:lnTo>
                    <a:pt x="58800" y="284099"/>
                  </a:lnTo>
                  <a:lnTo>
                    <a:pt x="48641" y="267969"/>
                  </a:lnTo>
                  <a:lnTo>
                    <a:pt x="59440" y="261182"/>
                  </a:lnTo>
                  <a:lnTo>
                    <a:pt x="44196" y="236981"/>
                  </a:lnTo>
                  <a:close/>
                </a:path>
                <a:path w="485140" h="309879">
                  <a:moveTo>
                    <a:pt x="59440" y="261182"/>
                  </a:moveTo>
                  <a:lnTo>
                    <a:pt x="48641" y="267969"/>
                  </a:lnTo>
                  <a:lnTo>
                    <a:pt x="58800" y="284099"/>
                  </a:lnTo>
                  <a:lnTo>
                    <a:pt x="69600" y="277311"/>
                  </a:lnTo>
                  <a:lnTo>
                    <a:pt x="59440" y="261182"/>
                  </a:lnTo>
                  <a:close/>
                </a:path>
                <a:path w="485140" h="309879">
                  <a:moveTo>
                    <a:pt x="69600" y="277311"/>
                  </a:moveTo>
                  <a:lnTo>
                    <a:pt x="58800" y="284099"/>
                  </a:lnTo>
                  <a:lnTo>
                    <a:pt x="73876" y="284099"/>
                  </a:lnTo>
                  <a:lnTo>
                    <a:pt x="69600" y="277311"/>
                  </a:lnTo>
                  <a:close/>
                </a:path>
                <a:path w="485140" h="309879">
                  <a:moveTo>
                    <a:pt x="474979" y="0"/>
                  </a:moveTo>
                  <a:lnTo>
                    <a:pt x="59440" y="261182"/>
                  </a:lnTo>
                  <a:lnTo>
                    <a:pt x="69600" y="277311"/>
                  </a:lnTo>
                  <a:lnTo>
                    <a:pt x="485140" y="16128"/>
                  </a:lnTo>
                  <a:lnTo>
                    <a:pt x="4749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620506" y="2986481"/>
            <a:ext cx="3239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some</a:t>
            </a:r>
            <a:r>
              <a:rPr sz="1800" spc="-10" dirty="0">
                <a:latin typeface="Calibri"/>
                <a:cs typeface="Calibri"/>
              </a:rPr>
              <a:t> (arbitrary)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pixels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8054" y="5401817"/>
            <a:ext cx="231012" cy="762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2450464" y="5006213"/>
            <a:ext cx="187960" cy="820419"/>
            <a:chOff x="2450464" y="5006213"/>
            <a:chExt cx="187960" cy="820419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3639" y="5009388"/>
              <a:ext cx="181356" cy="8138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53639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15869" y="5018404"/>
            <a:ext cx="187960" cy="820419"/>
            <a:chOff x="3015869" y="5018404"/>
            <a:chExt cx="187960" cy="820419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19044" y="5021579"/>
              <a:ext cx="181356" cy="81381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19044" y="5021579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52650" y="5401817"/>
            <a:ext cx="231012" cy="7620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885060" y="5006213"/>
            <a:ext cx="187960" cy="820419"/>
            <a:chOff x="1885060" y="5006213"/>
            <a:chExt cx="187960" cy="820419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8235" y="5009388"/>
              <a:ext cx="181356" cy="81381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888235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0294" y="5401817"/>
            <a:ext cx="231012" cy="7620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1322705" y="5006213"/>
            <a:ext cx="187960" cy="820419"/>
            <a:chOff x="1322705" y="5006213"/>
            <a:chExt cx="187960" cy="820419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5880" y="5009388"/>
              <a:ext cx="181356" cy="81381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325880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09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339596" y="4440935"/>
            <a:ext cx="388620" cy="487045"/>
            <a:chOff x="1339596" y="4440935"/>
            <a:chExt cx="388620" cy="48704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7602" y="4694681"/>
              <a:ext cx="76200" cy="2330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9596" y="4440935"/>
              <a:ext cx="388620" cy="246887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898904" y="4440935"/>
            <a:ext cx="390525" cy="487045"/>
            <a:chOff x="1898904" y="4440935"/>
            <a:chExt cx="390525" cy="487045"/>
          </a:xfrm>
        </p:grpSpPr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66722" y="4694681"/>
              <a:ext cx="76200" cy="2330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8904" y="4440935"/>
              <a:ext cx="390144" cy="246887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3029711" y="4440935"/>
            <a:ext cx="388620" cy="490220"/>
            <a:chOff x="3029711" y="4440935"/>
            <a:chExt cx="388620" cy="490220"/>
          </a:xfrm>
        </p:grpSpPr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91433" y="4697729"/>
              <a:ext cx="76200" cy="2330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29711" y="4440935"/>
              <a:ext cx="388620" cy="246887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462783" y="4427220"/>
            <a:ext cx="382905" cy="501015"/>
            <a:chOff x="2462783" y="4427220"/>
            <a:chExt cx="382905" cy="501015"/>
          </a:xfrm>
        </p:grpSpPr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9077" y="4694682"/>
              <a:ext cx="76200" cy="23304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62783" y="4427220"/>
              <a:ext cx="382524" cy="246887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67789" y="5915405"/>
            <a:ext cx="76200" cy="23304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6910" y="5915405"/>
            <a:ext cx="76200" cy="23304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09266" y="5915405"/>
            <a:ext cx="76200" cy="23304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71622" y="5916929"/>
            <a:ext cx="76200" cy="23304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91078" y="5391150"/>
            <a:ext cx="231012" cy="76200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588892" y="5006213"/>
            <a:ext cx="187960" cy="820419"/>
            <a:chOff x="3588892" y="5006213"/>
            <a:chExt cx="187960" cy="820419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2067" y="5009388"/>
              <a:ext cx="181355" cy="81381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592067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5" y="813816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3587496" y="4445508"/>
            <a:ext cx="390525" cy="474980"/>
            <a:chOff x="3587496" y="4445508"/>
            <a:chExt cx="390525" cy="474980"/>
          </a:xfrm>
        </p:grpSpPr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64458" y="4687062"/>
              <a:ext cx="76200" cy="2330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87496" y="4445508"/>
              <a:ext cx="390144" cy="246887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44646" y="5906261"/>
            <a:ext cx="76200" cy="23304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9838" y="5424678"/>
            <a:ext cx="231038" cy="76200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723773" y="5029072"/>
            <a:ext cx="186690" cy="820419"/>
            <a:chOff x="723773" y="5029072"/>
            <a:chExt cx="186690" cy="820419"/>
          </a:xfrm>
        </p:grpSpPr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6948" y="5032247"/>
              <a:ext cx="179832" cy="81381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26948" y="5032247"/>
              <a:ext cx="180340" cy="814069"/>
            </a:xfrm>
            <a:custGeom>
              <a:avLst/>
              <a:gdLst/>
              <a:ahLst/>
              <a:cxnLst/>
              <a:rect l="l" t="t" r="r" b="b"/>
              <a:pathLst>
                <a:path w="180340" h="814070">
                  <a:moveTo>
                    <a:pt x="0" y="813815"/>
                  </a:moveTo>
                  <a:lnTo>
                    <a:pt x="179832" y="813815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2" name="object 6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88669" y="4717541"/>
            <a:ext cx="76199" cy="23304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6948" y="4424171"/>
            <a:ext cx="382523" cy="24688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8858" y="5938265"/>
            <a:ext cx="76200" cy="23304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50385" y="5378958"/>
            <a:ext cx="231012" cy="76200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4149852" y="5416296"/>
            <a:ext cx="544195" cy="0"/>
          </a:xfrm>
          <a:custGeom>
            <a:avLst/>
            <a:gdLst/>
            <a:ahLst/>
            <a:cxnLst/>
            <a:rect l="l" t="t" r="r" b="b"/>
            <a:pathLst>
              <a:path w="544195">
                <a:moveTo>
                  <a:pt x="0" y="0"/>
                </a:moveTo>
                <a:lnTo>
                  <a:pt x="543940" y="0"/>
                </a:lnTo>
              </a:path>
            </a:pathLst>
          </a:custGeom>
          <a:ln w="762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72083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287780" y="6240779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87780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860804" y="6240779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4"/>
                </a:lnTo>
                <a:lnTo>
                  <a:pt x="234695" y="230124"/>
                </a:lnTo>
                <a:lnTo>
                  <a:pt x="234695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876044" y="4126991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3"/>
                </a:lnTo>
                <a:lnTo>
                  <a:pt x="234695" y="230123"/>
                </a:lnTo>
                <a:lnTo>
                  <a:pt x="234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423160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4"/>
                </a:lnTo>
                <a:lnTo>
                  <a:pt x="234695" y="230124"/>
                </a:lnTo>
                <a:lnTo>
                  <a:pt x="234695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91611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4"/>
                </a:lnTo>
                <a:lnTo>
                  <a:pt x="234695" y="230124"/>
                </a:lnTo>
                <a:lnTo>
                  <a:pt x="23469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579876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35351" y="623163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3"/>
                </a:lnTo>
                <a:lnTo>
                  <a:pt x="234695" y="230123"/>
                </a:lnTo>
                <a:lnTo>
                  <a:pt x="234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991611" y="6230111"/>
            <a:ext cx="234950" cy="231775"/>
          </a:xfrm>
          <a:custGeom>
            <a:avLst/>
            <a:gdLst/>
            <a:ahLst/>
            <a:cxnLst/>
            <a:rect l="l" t="t" r="r" b="b"/>
            <a:pathLst>
              <a:path w="234950" h="231775">
                <a:moveTo>
                  <a:pt x="234695" y="0"/>
                </a:moveTo>
                <a:lnTo>
                  <a:pt x="0" y="0"/>
                </a:lnTo>
                <a:lnTo>
                  <a:pt x="0" y="231647"/>
                </a:lnTo>
                <a:lnTo>
                  <a:pt x="234695" y="231647"/>
                </a:lnTo>
                <a:lnTo>
                  <a:pt x="234695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579876" y="6230111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3"/>
                </a:lnTo>
                <a:lnTo>
                  <a:pt x="234696" y="230123"/>
                </a:lnTo>
                <a:lnTo>
                  <a:pt x="234696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4387341" y="4183379"/>
            <a:ext cx="721360" cy="704850"/>
            <a:chOff x="4387341" y="4183379"/>
            <a:chExt cx="721360" cy="704850"/>
          </a:xfrm>
        </p:grpSpPr>
        <p:sp>
          <p:nvSpPr>
            <p:cNvPr id="79" name="object 79"/>
            <p:cNvSpPr/>
            <p:nvPr/>
          </p:nvSpPr>
          <p:spPr>
            <a:xfrm>
              <a:off x="4398263" y="4183379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32959" y="4187951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67655" y="4183379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398263" y="4413503"/>
              <a:ext cx="234950" cy="239395"/>
            </a:xfrm>
            <a:custGeom>
              <a:avLst/>
              <a:gdLst/>
              <a:ahLst/>
              <a:cxnLst/>
              <a:rect l="l" t="t" r="r" b="b"/>
              <a:pathLst>
                <a:path w="234950" h="239395">
                  <a:moveTo>
                    <a:pt x="234696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234696" y="239268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32959" y="4418075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67655" y="4416551"/>
              <a:ext cx="234950" cy="231775"/>
            </a:xfrm>
            <a:custGeom>
              <a:avLst/>
              <a:gdLst/>
              <a:ahLst/>
              <a:cxnLst/>
              <a:rect l="l" t="t" r="r" b="b"/>
              <a:pathLst>
                <a:path w="234950" h="231775">
                  <a:moveTo>
                    <a:pt x="234696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34696" y="231648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393691" y="4651247"/>
              <a:ext cx="708660" cy="230504"/>
            </a:xfrm>
            <a:custGeom>
              <a:avLst/>
              <a:gdLst/>
              <a:ahLst/>
              <a:cxnLst/>
              <a:rect l="l" t="t" r="r" b="b"/>
              <a:pathLst>
                <a:path w="708660" h="230504">
                  <a:moveTo>
                    <a:pt x="0" y="227075"/>
                  </a:moveTo>
                  <a:lnTo>
                    <a:pt x="234696" y="227075"/>
                  </a:lnTo>
                  <a:lnTo>
                    <a:pt x="234696" y="1524"/>
                  </a:lnTo>
                  <a:lnTo>
                    <a:pt x="0" y="1524"/>
                  </a:lnTo>
                  <a:lnTo>
                    <a:pt x="0" y="227075"/>
                  </a:lnTo>
                  <a:close/>
                </a:path>
                <a:path w="708660" h="230504">
                  <a:moveTo>
                    <a:pt x="239268" y="230124"/>
                  </a:moveTo>
                  <a:lnTo>
                    <a:pt x="473964" y="230124"/>
                  </a:lnTo>
                  <a:lnTo>
                    <a:pt x="473964" y="0"/>
                  </a:lnTo>
                  <a:lnTo>
                    <a:pt x="239268" y="0"/>
                  </a:lnTo>
                  <a:lnTo>
                    <a:pt x="239268" y="230124"/>
                  </a:lnTo>
                  <a:close/>
                </a:path>
                <a:path w="708660" h="230504">
                  <a:moveTo>
                    <a:pt x="473963" y="230124"/>
                  </a:moveTo>
                  <a:lnTo>
                    <a:pt x="708660" y="230124"/>
                  </a:lnTo>
                  <a:lnTo>
                    <a:pt x="708660" y="0"/>
                  </a:lnTo>
                  <a:lnTo>
                    <a:pt x="473963" y="0"/>
                  </a:lnTo>
                  <a:lnTo>
                    <a:pt x="473963" y="2301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436871" y="4261230"/>
              <a:ext cx="654050" cy="551180"/>
            </a:xfrm>
            <a:custGeom>
              <a:avLst/>
              <a:gdLst/>
              <a:ahLst/>
              <a:cxnLst/>
              <a:rect l="l" t="t" r="r" b="b"/>
              <a:pathLst>
                <a:path w="654050" h="551179">
                  <a:moveTo>
                    <a:pt x="483615" y="465201"/>
                  </a:moveTo>
                  <a:lnTo>
                    <a:pt x="483615" y="550926"/>
                  </a:lnTo>
                  <a:lnTo>
                    <a:pt x="540850" y="522351"/>
                  </a:lnTo>
                  <a:lnTo>
                    <a:pt x="497839" y="522351"/>
                  </a:lnTo>
                  <a:lnTo>
                    <a:pt x="497839" y="493776"/>
                  </a:lnTo>
                  <a:lnTo>
                    <a:pt x="540681" y="493776"/>
                  </a:lnTo>
                  <a:lnTo>
                    <a:pt x="483615" y="465201"/>
                  </a:lnTo>
                  <a:close/>
                </a:path>
                <a:path w="654050" h="551179">
                  <a:moveTo>
                    <a:pt x="570611" y="228473"/>
                  </a:moveTo>
                  <a:lnTo>
                    <a:pt x="28066" y="522351"/>
                  </a:lnTo>
                  <a:lnTo>
                    <a:pt x="483615" y="522351"/>
                  </a:lnTo>
                  <a:lnTo>
                    <a:pt x="483615" y="520700"/>
                  </a:lnTo>
                  <a:lnTo>
                    <a:pt x="91186" y="520700"/>
                  </a:lnTo>
                  <a:lnTo>
                    <a:pt x="84454" y="493776"/>
                  </a:lnTo>
                  <a:lnTo>
                    <a:pt x="140870" y="493776"/>
                  </a:lnTo>
                  <a:lnTo>
                    <a:pt x="580998" y="255270"/>
                  </a:lnTo>
                  <a:lnTo>
                    <a:pt x="577341" y="255270"/>
                  </a:lnTo>
                  <a:lnTo>
                    <a:pt x="570611" y="228473"/>
                  </a:lnTo>
                  <a:close/>
                </a:path>
                <a:path w="654050" h="551179">
                  <a:moveTo>
                    <a:pt x="540681" y="493776"/>
                  </a:moveTo>
                  <a:lnTo>
                    <a:pt x="497839" y="493776"/>
                  </a:lnTo>
                  <a:lnTo>
                    <a:pt x="497839" y="522351"/>
                  </a:lnTo>
                  <a:lnTo>
                    <a:pt x="540850" y="522351"/>
                  </a:lnTo>
                  <a:lnTo>
                    <a:pt x="569340" y="508127"/>
                  </a:lnTo>
                  <a:lnTo>
                    <a:pt x="540681" y="493776"/>
                  </a:lnTo>
                  <a:close/>
                </a:path>
                <a:path w="654050" h="551179">
                  <a:moveTo>
                    <a:pt x="140870" y="493776"/>
                  </a:moveTo>
                  <a:lnTo>
                    <a:pt x="84454" y="493776"/>
                  </a:lnTo>
                  <a:lnTo>
                    <a:pt x="91186" y="520700"/>
                  </a:lnTo>
                  <a:lnTo>
                    <a:pt x="140870" y="493776"/>
                  </a:lnTo>
                  <a:close/>
                </a:path>
                <a:path w="654050" h="551179">
                  <a:moveTo>
                    <a:pt x="483615" y="493776"/>
                  </a:moveTo>
                  <a:lnTo>
                    <a:pt x="140870" y="493776"/>
                  </a:lnTo>
                  <a:lnTo>
                    <a:pt x="91186" y="520700"/>
                  </a:lnTo>
                  <a:lnTo>
                    <a:pt x="483615" y="520700"/>
                  </a:lnTo>
                  <a:lnTo>
                    <a:pt x="483615" y="493776"/>
                  </a:lnTo>
                  <a:close/>
                </a:path>
                <a:path w="654050" h="551179">
                  <a:moveTo>
                    <a:pt x="579754" y="1270"/>
                  </a:moveTo>
                  <a:lnTo>
                    <a:pt x="0" y="255270"/>
                  </a:lnTo>
                  <a:lnTo>
                    <a:pt x="521139" y="255270"/>
                  </a:lnTo>
                  <a:lnTo>
                    <a:pt x="523249" y="254127"/>
                  </a:lnTo>
                  <a:lnTo>
                    <a:pt x="73913" y="254127"/>
                  </a:lnTo>
                  <a:lnTo>
                    <a:pt x="68199" y="226695"/>
                  </a:lnTo>
                  <a:lnTo>
                    <a:pt x="136496" y="226695"/>
                  </a:lnTo>
                  <a:lnTo>
                    <a:pt x="588479" y="28575"/>
                  </a:lnTo>
                  <a:lnTo>
                    <a:pt x="585469" y="28575"/>
                  </a:lnTo>
                  <a:lnTo>
                    <a:pt x="579754" y="1270"/>
                  </a:lnTo>
                  <a:close/>
                </a:path>
                <a:path w="654050" h="551179">
                  <a:moveTo>
                    <a:pt x="630448" y="228473"/>
                  </a:moveTo>
                  <a:lnTo>
                    <a:pt x="570611" y="228473"/>
                  </a:lnTo>
                  <a:lnTo>
                    <a:pt x="577341" y="255270"/>
                  </a:lnTo>
                  <a:lnTo>
                    <a:pt x="580998" y="255270"/>
                  </a:lnTo>
                  <a:lnTo>
                    <a:pt x="630448" y="228473"/>
                  </a:lnTo>
                  <a:close/>
                </a:path>
                <a:path w="654050" h="551179">
                  <a:moveTo>
                    <a:pt x="136496" y="226695"/>
                  </a:moveTo>
                  <a:lnTo>
                    <a:pt x="68199" y="226695"/>
                  </a:lnTo>
                  <a:lnTo>
                    <a:pt x="73913" y="254127"/>
                  </a:lnTo>
                  <a:lnTo>
                    <a:pt x="136496" y="226695"/>
                  </a:lnTo>
                  <a:close/>
                </a:path>
                <a:path w="654050" h="551179">
                  <a:moveTo>
                    <a:pt x="633729" y="226695"/>
                  </a:moveTo>
                  <a:lnTo>
                    <a:pt x="136496" y="226695"/>
                  </a:lnTo>
                  <a:lnTo>
                    <a:pt x="73913" y="254127"/>
                  </a:lnTo>
                  <a:lnTo>
                    <a:pt x="523249" y="254127"/>
                  </a:lnTo>
                  <a:lnTo>
                    <a:pt x="570611" y="228473"/>
                  </a:lnTo>
                  <a:lnTo>
                    <a:pt x="630448" y="228473"/>
                  </a:lnTo>
                  <a:lnTo>
                    <a:pt x="633729" y="226695"/>
                  </a:lnTo>
                  <a:close/>
                </a:path>
                <a:path w="654050" h="551179">
                  <a:moveTo>
                    <a:pt x="653668" y="0"/>
                  </a:moveTo>
                  <a:lnTo>
                    <a:pt x="52069" y="0"/>
                  </a:lnTo>
                  <a:lnTo>
                    <a:pt x="52069" y="28575"/>
                  </a:lnTo>
                  <a:lnTo>
                    <a:pt x="517431" y="28575"/>
                  </a:lnTo>
                  <a:lnTo>
                    <a:pt x="579754" y="1270"/>
                  </a:lnTo>
                  <a:lnTo>
                    <a:pt x="650771" y="1270"/>
                  </a:lnTo>
                  <a:lnTo>
                    <a:pt x="653668" y="0"/>
                  </a:lnTo>
                  <a:close/>
                </a:path>
                <a:path w="654050" h="551179">
                  <a:moveTo>
                    <a:pt x="650771" y="1270"/>
                  </a:moveTo>
                  <a:lnTo>
                    <a:pt x="579754" y="1270"/>
                  </a:lnTo>
                  <a:lnTo>
                    <a:pt x="585469" y="28575"/>
                  </a:lnTo>
                  <a:lnTo>
                    <a:pt x="588479" y="28575"/>
                  </a:lnTo>
                  <a:lnTo>
                    <a:pt x="650771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5454141" y="4212082"/>
            <a:ext cx="3197860" cy="163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basically </a:t>
            </a:r>
            <a:r>
              <a:rPr sz="1800" dirty="0">
                <a:latin typeface="Calibri"/>
                <a:cs typeface="Calibri"/>
              </a:rPr>
              <a:t>the main idea, </a:t>
            </a:r>
            <a:r>
              <a:rPr sz="1800" spc="-5" dirty="0">
                <a:latin typeface="Calibri"/>
                <a:cs typeface="Calibri"/>
              </a:rPr>
              <a:t>but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 are </a:t>
            </a:r>
            <a:r>
              <a:rPr sz="1800" spc="-5" dirty="0">
                <a:latin typeface="Calibri"/>
                <a:cs typeface="Calibri"/>
              </a:rPr>
              <a:t>some </a:t>
            </a:r>
            <a:r>
              <a:rPr sz="1800" spc="-10" dirty="0">
                <a:latin typeface="Calibri"/>
                <a:cs typeface="Calibri"/>
              </a:rPr>
              <a:t>details we </a:t>
            </a:r>
            <a:r>
              <a:rPr sz="1800" dirty="0">
                <a:latin typeface="Calibri"/>
                <a:cs typeface="Calibri"/>
              </a:rPr>
              <a:t>need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figure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out!</a:t>
            </a:r>
            <a:endParaRPr sz="1800">
              <a:latin typeface="Calibri"/>
              <a:cs typeface="Calibri"/>
            </a:endParaRPr>
          </a:p>
          <a:p>
            <a:pPr marL="412750" indent="-287020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413384" algn="l"/>
              </a:tabLst>
            </a:pP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pixels?</a:t>
            </a:r>
            <a:endParaRPr sz="1800">
              <a:latin typeface="Calibri"/>
              <a:cs typeface="Calibri"/>
            </a:endParaRPr>
          </a:p>
          <a:p>
            <a:pPr marL="412750" indent="-287020">
              <a:lnSpc>
                <a:spcPct val="100000"/>
              </a:lnSpc>
              <a:spcBef>
                <a:spcPts val="745"/>
              </a:spcBef>
              <a:buFont typeface="Wingdings"/>
              <a:buChar char=""/>
              <a:tabLst>
                <a:tab pos="413384" algn="l"/>
              </a:tabLst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kind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model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use?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9" name="Date Placeholder 88">
            <a:extLst>
              <a:ext uri="{FF2B5EF4-FFF2-40B4-BE49-F238E27FC236}">
                <a16:creationId xmlns:a16="http://schemas.microsoft.com/office/drawing/2014/main" id="{682FCA17-5133-0C67-5370-8A5351A7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85C1-A3E6-4983-8ACB-1C0B8D20D292}" type="datetime1">
              <a:rPr lang="en-US" smtClean="0"/>
              <a:t>2/18/2025</a:t>
            </a:fld>
            <a:endParaRPr lang="en-US"/>
          </a:p>
        </p:txBody>
      </p:sp>
      <p:sp>
        <p:nvSpPr>
          <p:cNvPr id="90" name="Footer Placeholder 89">
            <a:extLst>
              <a:ext uri="{FF2B5EF4-FFF2-40B4-BE49-F238E27FC236}">
                <a16:creationId xmlns:a16="http://schemas.microsoft.com/office/drawing/2014/main" id="{E8509E04-122B-4963-5C53-CF3369AD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1" name="Slide Number Placeholder 90">
            <a:extLst>
              <a:ext uri="{FF2B5EF4-FFF2-40B4-BE49-F238E27FC236}">
                <a16:creationId xmlns:a16="http://schemas.microsoft.com/office/drawing/2014/main" id="{9B1CB709-B81F-638A-C3A7-1D4C0C87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3E7DAC-3889-A727-61D2-5C841C8B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Observed vs. Latent: </a:t>
            </a:r>
          </a:p>
          <a:p>
            <a:r>
              <a:rPr lang="en-US" b="1" dirty="0"/>
              <a:t>Observed: </a:t>
            </a:r>
            <a:r>
              <a:rPr lang="en-US" dirty="0"/>
              <a:t>something that we can see from our data, e.g. X or Y </a:t>
            </a:r>
          </a:p>
          <a:p>
            <a:r>
              <a:rPr lang="en-US" b="1" dirty="0"/>
              <a:t>Latent: </a:t>
            </a:r>
            <a:r>
              <a:rPr lang="en-US" dirty="0"/>
              <a:t>a variable that we assume exists, but we aren’t given the value </a:t>
            </a:r>
          </a:p>
          <a:p>
            <a:r>
              <a:rPr lang="en-US" dirty="0">
                <a:solidFill>
                  <a:srgbClr val="FF0000"/>
                </a:solidFill>
              </a:rPr>
              <a:t>Deterministic vs. Random: </a:t>
            </a:r>
          </a:p>
          <a:p>
            <a:r>
              <a:rPr lang="en-US" b="1" dirty="0"/>
              <a:t>Deterministic</a:t>
            </a:r>
            <a:r>
              <a:rPr lang="en-US" dirty="0"/>
              <a:t>: variables that are calculated directly according to some deterministic function </a:t>
            </a:r>
          </a:p>
          <a:p>
            <a:r>
              <a:rPr lang="en-US" b="1" dirty="0"/>
              <a:t>Random </a:t>
            </a:r>
            <a:r>
              <a:rPr lang="en-US" dirty="0"/>
              <a:t>(stochastic): variables that obey a probability distribution, and may take any of several (or infinite) values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FDD5D-BEE0-ADA5-1B6B-79DA2B38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3B85-2B47-4B16-9225-B88FFD3397B0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4DAB6-F6F6-A46E-E920-CBB18027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D8A93-5288-59E3-AA66-B0A299B6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E8CFB8-8422-A1E7-B791-BC5F63D5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</a:t>
            </a:r>
          </a:p>
        </p:txBody>
      </p:sp>
    </p:spTree>
    <p:extLst>
      <p:ext uri="{BB962C8B-B14F-4D97-AF65-F5344CB8AC3E}">
        <p14:creationId xmlns:p14="http://schemas.microsoft.com/office/powerpoint/2010/main" val="312539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40A776-9E5C-F660-12D4-61E9F527D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dirty="0">
                    <a:solidFill>
                      <a:srgbClr val="FF0000"/>
                    </a:solidFill>
                  </a:rPr>
                  <a:t>latent variable model (LVM) </a:t>
                </a:r>
                <a:r>
                  <a:rPr lang="en-US" dirty="0"/>
                  <a:t>is a probability distribution over two sets of variables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𝑝</m:t>
                      </m:r>
                      <m:d>
                        <m:dPr>
                          <m:ctrlP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,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𝑧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;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Segoe UI Symbol" panose="020B0502040204020203" pitchFamily="34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r>
                  <a:rPr lang="en-US" dirty="0"/>
                  <a:t>where the </a:t>
                </a:r>
                <a:r>
                  <a:rPr lang="en-US" dirty="0">
                    <a:solidFill>
                      <a:srgbClr val="FF0000"/>
                    </a:solidFill>
                  </a:rPr>
                  <a:t>x variables are observed</a:t>
                </a:r>
                <a:r>
                  <a:rPr lang="en-US" dirty="0"/>
                  <a:t> at learning time in a dataset and </a:t>
                </a:r>
                <a:r>
                  <a:rPr lang="en-US" dirty="0">
                    <a:solidFill>
                      <a:srgbClr val="FF0000"/>
                    </a:solidFill>
                  </a:rPr>
                  <a:t>z are latent variables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Should be a simple distribution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40A776-9E5C-F660-12D4-61E9F527D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26488-853C-5DD4-94D0-695BCF1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61E2-6F27-4217-B061-C40878501215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9865E-689F-9AA7-AFD9-2CD821BF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BF487-6897-D005-CC1A-3BFD793D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8A5CE3-EF7E-2787-EDB4-93F385D6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Variable Models </a:t>
            </a:r>
          </a:p>
        </p:txBody>
      </p:sp>
    </p:spTree>
    <p:extLst>
      <p:ext uri="{BB962C8B-B14F-4D97-AF65-F5344CB8AC3E}">
        <p14:creationId xmlns:p14="http://schemas.microsoft.com/office/powerpoint/2010/main" val="167501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17988B5-A6C5-CDB3-7331-1713E27EF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Latent</a:t>
            </a:r>
            <a:r>
              <a:rPr spc="-20" dirty="0"/>
              <a:t> </a:t>
            </a:r>
            <a:r>
              <a:rPr spc="-10" dirty="0"/>
              <a:t>variable</a:t>
            </a:r>
            <a:r>
              <a:rPr spc="-15" dirty="0"/>
              <a:t> </a:t>
            </a:r>
            <a:r>
              <a:rPr spc="-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2580" y="2324100"/>
            <a:ext cx="1760220" cy="877569"/>
            <a:chOff x="1592580" y="2324100"/>
            <a:chExt cx="1760220" cy="87756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2580" y="2324100"/>
              <a:ext cx="1760220" cy="533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63062" y="2743962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47625" y="63500"/>
                  </a:moveTo>
                  <a:lnTo>
                    <a:pt x="28575" y="63500"/>
                  </a:lnTo>
                  <a:lnTo>
                    <a:pt x="28575" y="457200"/>
                  </a:lnTo>
                  <a:lnTo>
                    <a:pt x="47625" y="457200"/>
                  </a:lnTo>
                  <a:lnTo>
                    <a:pt x="47625" y="63500"/>
                  </a:lnTo>
                  <a:close/>
                </a:path>
                <a:path w="76200" h="457200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57200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724400"/>
            <a:ext cx="655319" cy="25298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26146" y="1730401"/>
            <a:ext cx="2895601" cy="2432976"/>
            <a:chOff x="3592511" y="1494106"/>
            <a:chExt cx="2963293" cy="2656891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2511" y="1494106"/>
              <a:ext cx="2963293" cy="26568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388358" y="2972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83" y="156350"/>
                  </a:lnTo>
                  <a:lnTo>
                    <a:pt x="38277" y="123551"/>
                  </a:lnTo>
                  <a:lnTo>
                    <a:pt x="66165" y="93597"/>
                  </a:lnTo>
                  <a:lnTo>
                    <a:pt x="100441" y="66960"/>
                  </a:lnTo>
                  <a:lnTo>
                    <a:pt x="140396" y="44110"/>
                  </a:lnTo>
                  <a:lnTo>
                    <a:pt x="185327" y="25518"/>
                  </a:lnTo>
                  <a:lnTo>
                    <a:pt x="234525" y="11655"/>
                  </a:lnTo>
                  <a:lnTo>
                    <a:pt x="287285" y="2992"/>
                  </a:lnTo>
                  <a:lnTo>
                    <a:pt x="342900" y="0"/>
                  </a:lnTo>
                  <a:lnTo>
                    <a:pt x="398514" y="2992"/>
                  </a:lnTo>
                  <a:lnTo>
                    <a:pt x="451274" y="11655"/>
                  </a:lnTo>
                  <a:lnTo>
                    <a:pt x="500472" y="25518"/>
                  </a:lnTo>
                  <a:lnTo>
                    <a:pt x="545403" y="44110"/>
                  </a:lnTo>
                  <a:lnTo>
                    <a:pt x="585358" y="66960"/>
                  </a:lnTo>
                  <a:lnTo>
                    <a:pt x="619634" y="93597"/>
                  </a:lnTo>
                  <a:lnTo>
                    <a:pt x="647522" y="123551"/>
                  </a:lnTo>
                  <a:lnTo>
                    <a:pt x="668316" y="156350"/>
                  </a:lnTo>
                  <a:lnTo>
                    <a:pt x="685800" y="228600"/>
                  </a:lnTo>
                  <a:lnTo>
                    <a:pt x="681311" y="265676"/>
                  </a:lnTo>
                  <a:lnTo>
                    <a:pt x="647522" y="333648"/>
                  </a:lnTo>
                  <a:lnTo>
                    <a:pt x="619634" y="363602"/>
                  </a:lnTo>
                  <a:lnTo>
                    <a:pt x="585358" y="390239"/>
                  </a:lnTo>
                  <a:lnTo>
                    <a:pt x="545403" y="413089"/>
                  </a:lnTo>
                  <a:lnTo>
                    <a:pt x="500472" y="431681"/>
                  </a:lnTo>
                  <a:lnTo>
                    <a:pt x="451274" y="445544"/>
                  </a:lnTo>
                  <a:lnTo>
                    <a:pt x="398514" y="454207"/>
                  </a:lnTo>
                  <a:lnTo>
                    <a:pt x="342900" y="457200"/>
                  </a:lnTo>
                  <a:lnTo>
                    <a:pt x="287285" y="454207"/>
                  </a:lnTo>
                  <a:lnTo>
                    <a:pt x="234525" y="445544"/>
                  </a:lnTo>
                  <a:lnTo>
                    <a:pt x="185327" y="431681"/>
                  </a:lnTo>
                  <a:lnTo>
                    <a:pt x="140396" y="413089"/>
                  </a:lnTo>
                  <a:lnTo>
                    <a:pt x="100441" y="390239"/>
                  </a:lnTo>
                  <a:lnTo>
                    <a:pt x="66165" y="363602"/>
                  </a:lnTo>
                  <a:lnTo>
                    <a:pt x="38277" y="333648"/>
                  </a:lnTo>
                  <a:lnTo>
                    <a:pt x="17483" y="300849"/>
                  </a:lnTo>
                  <a:lnTo>
                    <a:pt x="0" y="228600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93652" y="2334924"/>
              <a:ext cx="382418" cy="546861"/>
            </a:xfrm>
            <a:custGeom>
              <a:avLst/>
              <a:gdLst/>
              <a:ahLst/>
              <a:cxnLst/>
              <a:rect l="l" t="t" r="r" b="b"/>
              <a:pathLst>
                <a:path w="284479" h="438150">
                  <a:moveTo>
                    <a:pt x="127253" y="0"/>
                  </a:moveTo>
                  <a:lnTo>
                    <a:pt x="165623" y="5192"/>
                  </a:lnTo>
                  <a:lnTo>
                    <a:pt x="201120" y="24901"/>
                  </a:lnTo>
                  <a:lnTo>
                    <a:pt x="232251" y="57134"/>
                  </a:lnTo>
                  <a:lnTo>
                    <a:pt x="257518" y="99897"/>
                  </a:lnTo>
                  <a:lnTo>
                    <a:pt x="275426" y="151197"/>
                  </a:lnTo>
                  <a:lnTo>
                    <a:pt x="284479" y="209041"/>
                  </a:lnTo>
                  <a:lnTo>
                    <a:pt x="283423" y="267585"/>
                  </a:lnTo>
                  <a:lnTo>
                    <a:pt x="272683" y="320858"/>
                  </a:lnTo>
                  <a:lnTo>
                    <a:pt x="253476" y="366680"/>
                  </a:lnTo>
                  <a:lnTo>
                    <a:pt x="227019" y="402872"/>
                  </a:lnTo>
                  <a:lnTo>
                    <a:pt x="194530" y="427252"/>
                  </a:lnTo>
                  <a:lnTo>
                    <a:pt x="157225" y="437641"/>
                  </a:lnTo>
                  <a:lnTo>
                    <a:pt x="118900" y="432396"/>
                  </a:lnTo>
                  <a:lnTo>
                    <a:pt x="83415" y="412655"/>
                  </a:lnTo>
                  <a:lnTo>
                    <a:pt x="52276" y="380412"/>
                  </a:lnTo>
                  <a:lnTo>
                    <a:pt x="26989" y="337660"/>
                  </a:lnTo>
                  <a:lnTo>
                    <a:pt x="9062" y="286391"/>
                  </a:lnTo>
                  <a:lnTo>
                    <a:pt x="0" y="228600"/>
                  </a:lnTo>
                  <a:lnTo>
                    <a:pt x="1100" y="170056"/>
                  </a:lnTo>
                  <a:lnTo>
                    <a:pt x="11853" y="116783"/>
                  </a:lnTo>
                  <a:lnTo>
                    <a:pt x="31051" y="70961"/>
                  </a:lnTo>
                  <a:lnTo>
                    <a:pt x="57488" y="34769"/>
                  </a:lnTo>
                  <a:lnTo>
                    <a:pt x="89958" y="10389"/>
                  </a:lnTo>
                  <a:lnTo>
                    <a:pt x="127253" y="0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25931" y="1755397"/>
              <a:ext cx="502689" cy="277598"/>
            </a:xfrm>
            <a:custGeom>
              <a:avLst/>
              <a:gdLst/>
              <a:ahLst/>
              <a:cxnLst/>
              <a:rect l="l" t="t" r="r" b="b"/>
              <a:pathLst>
                <a:path w="439420" h="285114">
                  <a:moveTo>
                    <a:pt x="438912" y="142493"/>
                  </a:moveTo>
                  <a:lnTo>
                    <a:pt x="431069" y="180389"/>
                  </a:lnTo>
                  <a:lnTo>
                    <a:pt x="408939" y="214432"/>
                  </a:lnTo>
                  <a:lnTo>
                    <a:pt x="374618" y="243268"/>
                  </a:lnTo>
                  <a:lnTo>
                    <a:pt x="330200" y="265542"/>
                  </a:lnTo>
                  <a:lnTo>
                    <a:pt x="277780" y="279900"/>
                  </a:lnTo>
                  <a:lnTo>
                    <a:pt x="219456" y="284988"/>
                  </a:lnTo>
                  <a:lnTo>
                    <a:pt x="161131" y="279900"/>
                  </a:lnTo>
                  <a:lnTo>
                    <a:pt x="108712" y="265542"/>
                  </a:lnTo>
                  <a:lnTo>
                    <a:pt x="64293" y="243268"/>
                  </a:lnTo>
                  <a:lnTo>
                    <a:pt x="29972" y="214432"/>
                  </a:lnTo>
                  <a:lnTo>
                    <a:pt x="7842" y="180389"/>
                  </a:lnTo>
                  <a:lnTo>
                    <a:pt x="0" y="142493"/>
                  </a:lnTo>
                  <a:lnTo>
                    <a:pt x="7842" y="104598"/>
                  </a:lnTo>
                  <a:lnTo>
                    <a:pt x="29972" y="70555"/>
                  </a:lnTo>
                  <a:lnTo>
                    <a:pt x="64293" y="41719"/>
                  </a:lnTo>
                  <a:lnTo>
                    <a:pt x="108712" y="19445"/>
                  </a:lnTo>
                  <a:lnTo>
                    <a:pt x="161131" y="5087"/>
                  </a:lnTo>
                  <a:lnTo>
                    <a:pt x="219456" y="0"/>
                  </a:lnTo>
                  <a:lnTo>
                    <a:pt x="277780" y="5087"/>
                  </a:lnTo>
                  <a:lnTo>
                    <a:pt x="330200" y="19445"/>
                  </a:lnTo>
                  <a:lnTo>
                    <a:pt x="374618" y="41719"/>
                  </a:lnTo>
                  <a:lnTo>
                    <a:pt x="408939" y="70555"/>
                  </a:lnTo>
                  <a:lnTo>
                    <a:pt x="431069" y="104598"/>
                  </a:lnTo>
                  <a:lnTo>
                    <a:pt x="438912" y="142493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02127" y="3229483"/>
            <a:ext cx="798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mixture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6800" y="2360676"/>
            <a:ext cx="452628" cy="25298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7944" y="4677155"/>
            <a:ext cx="2004059" cy="5334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0359" y="5476684"/>
            <a:ext cx="2895600" cy="227075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7190358" y="4601146"/>
            <a:ext cx="2715641" cy="875538"/>
          </a:xfrm>
          <a:custGeom>
            <a:avLst/>
            <a:gdLst/>
            <a:ahLst/>
            <a:cxnLst/>
            <a:rect l="l" t="t" r="r" b="b"/>
            <a:pathLst>
              <a:path w="2536190" h="594360">
                <a:moveTo>
                  <a:pt x="0" y="594233"/>
                </a:moveTo>
                <a:lnTo>
                  <a:pt x="40525" y="593662"/>
                </a:lnTo>
                <a:lnTo>
                  <a:pt x="87583" y="590551"/>
                </a:lnTo>
                <a:lnTo>
                  <a:pt x="138792" y="584602"/>
                </a:lnTo>
                <a:lnTo>
                  <a:pt x="191775" y="575514"/>
                </a:lnTo>
                <a:lnTo>
                  <a:pt x="244151" y="562986"/>
                </a:lnTo>
                <a:lnTo>
                  <a:pt x="293541" y="546720"/>
                </a:lnTo>
                <a:lnTo>
                  <a:pt x="337565" y="526414"/>
                </a:lnTo>
                <a:lnTo>
                  <a:pt x="371973" y="500764"/>
                </a:lnTo>
                <a:lnTo>
                  <a:pt x="404302" y="465707"/>
                </a:lnTo>
                <a:lnTo>
                  <a:pt x="434794" y="425217"/>
                </a:lnTo>
                <a:lnTo>
                  <a:pt x="463692" y="383270"/>
                </a:lnTo>
                <a:lnTo>
                  <a:pt x="491239" y="343841"/>
                </a:lnTo>
                <a:lnTo>
                  <a:pt x="517677" y="310905"/>
                </a:lnTo>
                <a:lnTo>
                  <a:pt x="543249" y="288439"/>
                </a:lnTo>
                <a:lnTo>
                  <a:pt x="568197" y="280415"/>
                </a:lnTo>
                <a:lnTo>
                  <a:pt x="593710" y="292354"/>
                </a:lnTo>
                <a:lnTo>
                  <a:pt x="615205" y="322819"/>
                </a:lnTo>
                <a:lnTo>
                  <a:pt x="634695" y="365577"/>
                </a:lnTo>
                <a:lnTo>
                  <a:pt x="654196" y="414399"/>
                </a:lnTo>
                <a:lnTo>
                  <a:pt x="675724" y="463051"/>
                </a:lnTo>
                <a:lnTo>
                  <a:pt x="701292" y="505303"/>
                </a:lnTo>
                <a:lnTo>
                  <a:pt x="732916" y="534924"/>
                </a:lnTo>
                <a:lnTo>
                  <a:pt x="774098" y="552642"/>
                </a:lnTo>
                <a:lnTo>
                  <a:pt x="824284" y="564316"/>
                </a:lnTo>
                <a:lnTo>
                  <a:pt x="879244" y="571240"/>
                </a:lnTo>
                <a:lnTo>
                  <a:pt x="934748" y="574709"/>
                </a:lnTo>
                <a:lnTo>
                  <a:pt x="986567" y="576019"/>
                </a:lnTo>
                <a:lnTo>
                  <a:pt x="1030470" y="576465"/>
                </a:lnTo>
                <a:lnTo>
                  <a:pt x="1062227" y="577341"/>
                </a:lnTo>
              </a:path>
              <a:path w="2536190" h="594360">
                <a:moveTo>
                  <a:pt x="524255" y="569849"/>
                </a:moveTo>
                <a:lnTo>
                  <a:pt x="566597" y="569738"/>
                </a:lnTo>
                <a:lnTo>
                  <a:pt x="614380" y="568507"/>
                </a:lnTo>
                <a:lnTo>
                  <a:pt x="666353" y="566065"/>
                </a:lnTo>
                <a:lnTo>
                  <a:pt x="721268" y="562320"/>
                </a:lnTo>
                <a:lnTo>
                  <a:pt x="777874" y="557180"/>
                </a:lnTo>
                <a:lnTo>
                  <a:pt x="834923" y="550555"/>
                </a:lnTo>
                <a:lnTo>
                  <a:pt x="891164" y="542352"/>
                </a:lnTo>
                <a:lnTo>
                  <a:pt x="945347" y="532480"/>
                </a:lnTo>
                <a:lnTo>
                  <a:pt x="996223" y="520848"/>
                </a:lnTo>
                <a:lnTo>
                  <a:pt x="1042542" y="507364"/>
                </a:lnTo>
                <a:lnTo>
                  <a:pt x="1089651" y="486829"/>
                </a:lnTo>
                <a:lnTo>
                  <a:pt x="1134207" y="459114"/>
                </a:lnTo>
                <a:lnTo>
                  <a:pt x="1176471" y="426795"/>
                </a:lnTo>
                <a:lnTo>
                  <a:pt x="1216703" y="392446"/>
                </a:lnTo>
                <a:lnTo>
                  <a:pt x="1255163" y="358645"/>
                </a:lnTo>
                <a:lnTo>
                  <a:pt x="1292112" y="327965"/>
                </a:lnTo>
                <a:lnTo>
                  <a:pt x="1327809" y="302984"/>
                </a:lnTo>
                <a:lnTo>
                  <a:pt x="1362516" y="286275"/>
                </a:lnTo>
                <a:lnTo>
                  <a:pt x="1396491" y="280415"/>
                </a:lnTo>
                <a:lnTo>
                  <a:pt x="1431193" y="288995"/>
                </a:lnTo>
                <a:lnTo>
                  <a:pt x="1460861" y="311211"/>
                </a:lnTo>
                <a:lnTo>
                  <a:pt x="1487570" y="343211"/>
                </a:lnTo>
                <a:lnTo>
                  <a:pt x="1513395" y="381142"/>
                </a:lnTo>
                <a:lnTo>
                  <a:pt x="1540411" y="421151"/>
                </a:lnTo>
                <a:lnTo>
                  <a:pt x="1570692" y="459384"/>
                </a:lnTo>
                <a:lnTo>
                  <a:pt x="1606313" y="491989"/>
                </a:lnTo>
                <a:lnTo>
                  <a:pt x="1649349" y="515112"/>
                </a:lnTo>
                <a:lnTo>
                  <a:pt x="1691866" y="527231"/>
                </a:lnTo>
                <a:lnTo>
                  <a:pt x="1742114" y="536431"/>
                </a:lnTo>
                <a:lnTo>
                  <a:pt x="1797864" y="543123"/>
                </a:lnTo>
                <a:lnTo>
                  <a:pt x="1856887" y="547717"/>
                </a:lnTo>
                <a:lnTo>
                  <a:pt x="1916953" y="550624"/>
                </a:lnTo>
                <a:lnTo>
                  <a:pt x="1975835" y="552254"/>
                </a:lnTo>
                <a:lnTo>
                  <a:pt x="2031303" y="553019"/>
                </a:lnTo>
                <a:lnTo>
                  <a:pt x="2081128" y="553329"/>
                </a:lnTo>
                <a:lnTo>
                  <a:pt x="2123082" y="553595"/>
                </a:lnTo>
                <a:lnTo>
                  <a:pt x="2154935" y="554227"/>
                </a:lnTo>
              </a:path>
              <a:path w="2536190" h="594360">
                <a:moveTo>
                  <a:pt x="1339595" y="554609"/>
                </a:moveTo>
                <a:lnTo>
                  <a:pt x="1379088" y="553978"/>
                </a:lnTo>
                <a:lnTo>
                  <a:pt x="1424457" y="549949"/>
                </a:lnTo>
                <a:lnTo>
                  <a:pt x="1473914" y="542169"/>
                </a:lnTo>
                <a:lnTo>
                  <a:pt x="1525666" y="530288"/>
                </a:lnTo>
                <a:lnTo>
                  <a:pt x="1577925" y="513954"/>
                </a:lnTo>
                <a:lnTo>
                  <a:pt x="1628900" y="492815"/>
                </a:lnTo>
                <a:lnTo>
                  <a:pt x="1676799" y="466521"/>
                </a:lnTo>
                <a:lnTo>
                  <a:pt x="1719833" y="434721"/>
                </a:lnTo>
                <a:lnTo>
                  <a:pt x="1748253" y="403699"/>
                </a:lnTo>
                <a:lnTo>
                  <a:pt x="1775393" y="362868"/>
                </a:lnTo>
                <a:lnTo>
                  <a:pt x="1801359" y="314930"/>
                </a:lnTo>
                <a:lnTo>
                  <a:pt x="1826258" y="262590"/>
                </a:lnTo>
                <a:lnTo>
                  <a:pt x="1850195" y="208549"/>
                </a:lnTo>
                <a:lnTo>
                  <a:pt x="1873275" y="155512"/>
                </a:lnTo>
                <a:lnTo>
                  <a:pt x="1895606" y="106183"/>
                </a:lnTo>
                <a:lnTo>
                  <a:pt x="1917293" y="63263"/>
                </a:lnTo>
                <a:lnTo>
                  <a:pt x="1938442" y="29457"/>
                </a:lnTo>
                <a:lnTo>
                  <a:pt x="1959158" y="7468"/>
                </a:lnTo>
                <a:lnTo>
                  <a:pt x="1979549" y="0"/>
                </a:lnTo>
                <a:lnTo>
                  <a:pt x="1998494" y="9074"/>
                </a:lnTo>
                <a:lnTo>
                  <a:pt x="2030452" y="69001"/>
                </a:lnTo>
                <a:lnTo>
                  <a:pt x="2044634" y="114181"/>
                </a:lnTo>
                <a:lnTo>
                  <a:pt x="2058397" y="165722"/>
                </a:lnTo>
                <a:lnTo>
                  <a:pt x="2072328" y="220788"/>
                </a:lnTo>
                <a:lnTo>
                  <a:pt x="2087011" y="276543"/>
                </a:lnTo>
                <a:lnTo>
                  <a:pt x="2103032" y="330148"/>
                </a:lnTo>
                <a:lnTo>
                  <a:pt x="2120975" y="378769"/>
                </a:lnTo>
                <a:lnTo>
                  <a:pt x="2141425" y="419567"/>
                </a:lnTo>
                <a:lnTo>
                  <a:pt x="2164968" y="449706"/>
                </a:lnTo>
                <a:lnTo>
                  <a:pt x="2204911" y="477757"/>
                </a:lnTo>
                <a:lnTo>
                  <a:pt x="2253079" y="497401"/>
                </a:lnTo>
                <a:lnTo>
                  <a:pt x="2306276" y="510172"/>
                </a:lnTo>
                <a:lnTo>
                  <a:pt x="2361310" y="517604"/>
                </a:lnTo>
                <a:lnTo>
                  <a:pt x="2414987" y="521232"/>
                </a:lnTo>
                <a:lnTo>
                  <a:pt x="2464113" y="522591"/>
                </a:lnTo>
                <a:lnTo>
                  <a:pt x="2505494" y="523214"/>
                </a:lnTo>
                <a:lnTo>
                  <a:pt x="2535935" y="524637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5EEB1B0-9BF3-B63F-FCCE-F32BA7FC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E22E-E5D6-4586-9FA5-57641F786397}" type="datetime1">
              <a:rPr lang="en-US" smtClean="0"/>
              <a:t>2/18/2025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42047E2-561A-BA46-6B76-E7EB508D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8322E3A-75F0-4827-8DCF-778ED0FB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70C1-DB60-3D66-BE9B-96A47879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A46632-F7CD-ED70-3C36-976BFBAFF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Latent</a:t>
            </a:r>
            <a:r>
              <a:rPr sz="4400" spc="-85" dirty="0"/>
              <a:t> </a:t>
            </a:r>
            <a:r>
              <a:rPr sz="4400" dirty="0"/>
              <a:t>variable</a:t>
            </a:r>
            <a:r>
              <a:rPr sz="4400" spc="-85" dirty="0"/>
              <a:t> </a:t>
            </a:r>
            <a:r>
              <a:rPr sz="4400" dirty="0"/>
              <a:t>models</a:t>
            </a:r>
            <a:r>
              <a:rPr sz="4400" spc="-85" dirty="0"/>
              <a:t> </a:t>
            </a:r>
            <a:r>
              <a:rPr sz="4400" dirty="0"/>
              <a:t>in</a:t>
            </a:r>
            <a:r>
              <a:rPr sz="4400" spc="-85" dirty="0"/>
              <a:t> </a:t>
            </a:r>
            <a:r>
              <a:rPr sz="4400" spc="-10" dirty="0"/>
              <a:t>general</a:t>
            </a:r>
            <a:endParaRPr sz="440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64C6F43-DA9D-02E4-67D5-2788B3DDCBFC}"/>
              </a:ext>
            </a:extLst>
          </p:cNvPr>
          <p:cNvGrpSpPr/>
          <p:nvPr/>
        </p:nvGrpSpPr>
        <p:grpSpPr>
          <a:xfrm>
            <a:off x="6058661" y="1789938"/>
            <a:ext cx="3695700" cy="1181100"/>
            <a:chOff x="6058661" y="1789938"/>
            <a:chExt cx="3695700" cy="1181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5ABA2C-8D14-7362-C5A5-DD4E151BC1BD}"/>
                </a:ext>
              </a:extLst>
            </p:cNvPr>
            <p:cNvSpPr/>
            <p:nvPr/>
          </p:nvSpPr>
          <p:spPr>
            <a:xfrm>
              <a:off x="6058662" y="1789937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CBBC546-0FFB-469C-F333-6E43139DD73F}"/>
                </a:ext>
              </a:extLst>
            </p:cNvPr>
            <p:cNvSpPr/>
            <p:nvPr/>
          </p:nvSpPr>
          <p:spPr>
            <a:xfrm>
              <a:off x="6128003" y="1913255"/>
              <a:ext cx="3531235" cy="977900"/>
            </a:xfrm>
            <a:custGeom>
              <a:avLst/>
              <a:gdLst/>
              <a:ahLst/>
              <a:cxnLst/>
              <a:rect l="l" t="t" r="r" b="b"/>
              <a:pathLst>
                <a:path w="3531234" h="977900">
                  <a:moveTo>
                    <a:pt x="0" y="830580"/>
                  </a:moveTo>
                  <a:lnTo>
                    <a:pt x="36574" y="850789"/>
                  </a:lnTo>
                  <a:lnTo>
                    <a:pt x="73646" y="869570"/>
                  </a:lnTo>
                  <a:lnTo>
                    <a:pt x="111712" y="885495"/>
                  </a:lnTo>
                  <a:lnTo>
                    <a:pt x="151272" y="897137"/>
                  </a:lnTo>
                  <a:lnTo>
                    <a:pt x="192822" y="903068"/>
                  </a:lnTo>
                  <a:lnTo>
                    <a:pt x="236859" y="901859"/>
                  </a:lnTo>
                  <a:lnTo>
                    <a:pt x="283882" y="892084"/>
                  </a:lnTo>
                  <a:lnTo>
                    <a:pt x="334388" y="872314"/>
                  </a:lnTo>
                  <a:lnTo>
                    <a:pt x="388874" y="841121"/>
                  </a:lnTo>
                  <a:lnTo>
                    <a:pt x="442335" y="795634"/>
                  </a:lnTo>
                  <a:lnTo>
                    <a:pt x="470768" y="765054"/>
                  </a:lnTo>
                  <a:lnTo>
                    <a:pt x="500196" y="730180"/>
                  </a:lnTo>
                  <a:lnTo>
                    <a:pt x="530510" y="691711"/>
                  </a:lnTo>
                  <a:lnTo>
                    <a:pt x="561606" y="650344"/>
                  </a:lnTo>
                  <a:lnTo>
                    <a:pt x="593376" y="606776"/>
                  </a:lnTo>
                  <a:lnTo>
                    <a:pt x="625715" y="561706"/>
                  </a:lnTo>
                  <a:lnTo>
                    <a:pt x="658516" y="515832"/>
                  </a:lnTo>
                  <a:lnTo>
                    <a:pt x="691673" y="469852"/>
                  </a:lnTo>
                  <a:lnTo>
                    <a:pt x="725080" y="424463"/>
                  </a:lnTo>
                  <a:lnTo>
                    <a:pt x="758629" y="380363"/>
                  </a:lnTo>
                  <a:lnTo>
                    <a:pt x="792216" y="338251"/>
                  </a:lnTo>
                  <a:lnTo>
                    <a:pt x="825733" y="298824"/>
                  </a:lnTo>
                  <a:lnTo>
                    <a:pt x="859075" y="262780"/>
                  </a:lnTo>
                  <a:lnTo>
                    <a:pt x="892135" y="230817"/>
                  </a:lnTo>
                  <a:lnTo>
                    <a:pt x="924806" y="203633"/>
                  </a:lnTo>
                  <a:lnTo>
                    <a:pt x="956983" y="181926"/>
                  </a:lnTo>
                  <a:lnTo>
                    <a:pt x="1019428" y="157734"/>
                  </a:lnTo>
                  <a:lnTo>
                    <a:pt x="1049656" y="156923"/>
                  </a:lnTo>
                  <a:lnTo>
                    <a:pt x="1079421" y="163899"/>
                  </a:lnTo>
                  <a:lnTo>
                    <a:pt x="1137815" y="197776"/>
                  </a:lnTo>
                  <a:lnTo>
                    <a:pt x="1166570" y="222958"/>
                  </a:lnTo>
                  <a:lnTo>
                    <a:pt x="1195114" y="252489"/>
                  </a:lnTo>
                  <a:lnTo>
                    <a:pt x="1223512" y="285511"/>
                  </a:lnTo>
                  <a:lnTo>
                    <a:pt x="1251824" y="321163"/>
                  </a:lnTo>
                  <a:lnTo>
                    <a:pt x="1280116" y="358587"/>
                  </a:lnTo>
                  <a:lnTo>
                    <a:pt x="1308449" y="396922"/>
                  </a:lnTo>
                  <a:lnTo>
                    <a:pt x="1336887" y="435310"/>
                  </a:lnTo>
                  <a:lnTo>
                    <a:pt x="1365492" y="472891"/>
                  </a:lnTo>
                  <a:lnTo>
                    <a:pt x="1394329" y="508805"/>
                  </a:lnTo>
                  <a:lnTo>
                    <a:pt x="1423459" y="542193"/>
                  </a:lnTo>
                  <a:lnTo>
                    <a:pt x="1452947" y="572196"/>
                  </a:lnTo>
                  <a:lnTo>
                    <a:pt x="1482855" y="597954"/>
                  </a:lnTo>
                  <a:lnTo>
                    <a:pt x="1544182" y="633298"/>
                  </a:lnTo>
                  <a:lnTo>
                    <a:pt x="1607947" y="641350"/>
                  </a:lnTo>
                  <a:lnTo>
                    <a:pt x="1636516" y="634548"/>
                  </a:lnTo>
                  <a:lnTo>
                    <a:pt x="1695011" y="602595"/>
                  </a:lnTo>
                  <a:lnTo>
                    <a:pt x="1724869" y="578705"/>
                  </a:lnTo>
                  <a:lnTo>
                    <a:pt x="1755089" y="550378"/>
                  </a:lnTo>
                  <a:lnTo>
                    <a:pt x="1785638" y="518245"/>
                  </a:lnTo>
                  <a:lnTo>
                    <a:pt x="1816481" y="482936"/>
                  </a:lnTo>
                  <a:lnTo>
                    <a:pt x="1847586" y="445080"/>
                  </a:lnTo>
                  <a:lnTo>
                    <a:pt x="1878918" y="405307"/>
                  </a:lnTo>
                  <a:lnTo>
                    <a:pt x="1910444" y="364248"/>
                  </a:lnTo>
                  <a:lnTo>
                    <a:pt x="1942130" y="322532"/>
                  </a:lnTo>
                  <a:lnTo>
                    <a:pt x="1973942" y="280789"/>
                  </a:lnTo>
                  <a:lnTo>
                    <a:pt x="2005846" y="239649"/>
                  </a:lnTo>
                  <a:lnTo>
                    <a:pt x="2037810" y="199742"/>
                  </a:lnTo>
                  <a:lnTo>
                    <a:pt x="2069799" y="161698"/>
                  </a:lnTo>
                  <a:lnTo>
                    <a:pt x="2101779" y="126147"/>
                  </a:lnTo>
                  <a:lnTo>
                    <a:pt x="2133718" y="93718"/>
                  </a:lnTo>
                  <a:lnTo>
                    <a:pt x="2165580" y="65042"/>
                  </a:lnTo>
                  <a:lnTo>
                    <a:pt x="2197333" y="40749"/>
                  </a:lnTo>
                  <a:lnTo>
                    <a:pt x="2260376" y="7830"/>
                  </a:lnTo>
                  <a:lnTo>
                    <a:pt x="2322576" y="0"/>
                  </a:lnTo>
                  <a:lnTo>
                    <a:pt x="2353581" y="6398"/>
                  </a:lnTo>
                  <a:lnTo>
                    <a:pt x="2416416" y="36805"/>
                  </a:lnTo>
                  <a:lnTo>
                    <a:pt x="2448153" y="59813"/>
                  </a:lnTo>
                  <a:lnTo>
                    <a:pt x="2480040" y="87356"/>
                  </a:lnTo>
                  <a:lnTo>
                    <a:pt x="2512032" y="118936"/>
                  </a:lnTo>
                  <a:lnTo>
                    <a:pt x="2544081" y="154051"/>
                  </a:lnTo>
                  <a:lnTo>
                    <a:pt x="2576141" y="192201"/>
                  </a:lnTo>
                  <a:lnTo>
                    <a:pt x="2608165" y="232886"/>
                  </a:lnTo>
                  <a:lnTo>
                    <a:pt x="2640107" y="275606"/>
                  </a:lnTo>
                  <a:lnTo>
                    <a:pt x="2671920" y="319861"/>
                  </a:lnTo>
                  <a:lnTo>
                    <a:pt x="2703558" y="365150"/>
                  </a:lnTo>
                  <a:lnTo>
                    <a:pt x="2734974" y="410973"/>
                  </a:lnTo>
                  <a:lnTo>
                    <a:pt x="2766120" y="456831"/>
                  </a:lnTo>
                  <a:lnTo>
                    <a:pt x="2796952" y="502222"/>
                  </a:lnTo>
                  <a:lnTo>
                    <a:pt x="2827422" y="546647"/>
                  </a:lnTo>
                  <a:lnTo>
                    <a:pt x="2857483" y="589605"/>
                  </a:lnTo>
                  <a:lnTo>
                    <a:pt x="2887089" y="630596"/>
                  </a:lnTo>
                  <a:lnTo>
                    <a:pt x="2916194" y="669120"/>
                  </a:lnTo>
                  <a:lnTo>
                    <a:pt x="2944750" y="704677"/>
                  </a:lnTo>
                  <a:lnTo>
                    <a:pt x="2972711" y="736767"/>
                  </a:lnTo>
                  <a:lnTo>
                    <a:pt x="3000032" y="764889"/>
                  </a:lnTo>
                  <a:lnTo>
                    <a:pt x="3080397" y="829381"/>
                  </a:lnTo>
                  <a:lnTo>
                    <a:pt x="3131880" y="863469"/>
                  </a:lnTo>
                  <a:lnTo>
                    <a:pt x="3181339" y="891481"/>
                  </a:lnTo>
                  <a:lnTo>
                    <a:pt x="3228997" y="914092"/>
                  </a:lnTo>
                  <a:lnTo>
                    <a:pt x="3275081" y="931975"/>
                  </a:lnTo>
                  <a:lnTo>
                    <a:pt x="3319814" y="945806"/>
                  </a:lnTo>
                  <a:lnTo>
                    <a:pt x="3363423" y="956258"/>
                  </a:lnTo>
                  <a:lnTo>
                    <a:pt x="3406131" y="964007"/>
                  </a:lnTo>
                  <a:lnTo>
                    <a:pt x="3448165" y="969726"/>
                  </a:lnTo>
                  <a:lnTo>
                    <a:pt x="3489749" y="974089"/>
                  </a:lnTo>
                  <a:lnTo>
                    <a:pt x="3531107" y="977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6CEC5919-493A-507B-CFF0-A0DEA6D6BD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059" y="1722120"/>
            <a:ext cx="452627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3D433D05-47BE-E31F-D48B-595DFD9F83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817876"/>
            <a:ext cx="126490" cy="114300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E2974C26-43A4-91EF-889A-00F9161C3EAB}"/>
              </a:ext>
            </a:extLst>
          </p:cNvPr>
          <p:cNvGrpSpPr/>
          <p:nvPr/>
        </p:nvGrpSpPr>
        <p:grpSpPr>
          <a:xfrm>
            <a:off x="6058661" y="3112007"/>
            <a:ext cx="5383530" cy="3023235"/>
            <a:chOff x="6058661" y="3112007"/>
            <a:chExt cx="5383530" cy="302323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304FBF-223C-7248-BFF4-D41E84C81883}"/>
                </a:ext>
              </a:extLst>
            </p:cNvPr>
            <p:cNvSpPr/>
            <p:nvPr/>
          </p:nvSpPr>
          <p:spPr>
            <a:xfrm>
              <a:off x="6058662" y="4953761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9B162B5-79F3-65FF-831D-9744B7E6A528}"/>
                </a:ext>
              </a:extLst>
            </p:cNvPr>
            <p:cNvSpPr/>
            <p:nvPr/>
          </p:nvSpPr>
          <p:spPr>
            <a:xfrm>
              <a:off x="6117335" y="5265547"/>
              <a:ext cx="3469004" cy="836930"/>
            </a:xfrm>
            <a:custGeom>
              <a:avLst/>
              <a:gdLst/>
              <a:ahLst/>
              <a:cxnLst/>
              <a:rect l="l" t="t" r="r" b="b"/>
              <a:pathLst>
                <a:path w="3469004" h="836929">
                  <a:moveTo>
                    <a:pt x="0" y="799376"/>
                  </a:moveTo>
                  <a:lnTo>
                    <a:pt x="756792" y="767829"/>
                  </a:lnTo>
                  <a:lnTo>
                    <a:pt x="810125" y="750322"/>
                  </a:lnTo>
                  <a:lnTo>
                    <a:pt x="859634" y="729584"/>
                  </a:lnTo>
                  <a:lnTo>
                    <a:pt x="905843" y="705947"/>
                  </a:lnTo>
                  <a:lnTo>
                    <a:pt x="949272" y="679741"/>
                  </a:lnTo>
                  <a:lnTo>
                    <a:pt x="990445" y="651300"/>
                  </a:lnTo>
                  <a:lnTo>
                    <a:pt x="1029883" y="620954"/>
                  </a:lnTo>
                  <a:lnTo>
                    <a:pt x="1068108" y="589036"/>
                  </a:lnTo>
                  <a:lnTo>
                    <a:pt x="1105643" y="555876"/>
                  </a:lnTo>
                  <a:lnTo>
                    <a:pt x="1143010" y="521808"/>
                  </a:lnTo>
                  <a:lnTo>
                    <a:pt x="1180730" y="487163"/>
                  </a:lnTo>
                  <a:lnTo>
                    <a:pt x="1219327" y="452272"/>
                  </a:lnTo>
                  <a:lnTo>
                    <a:pt x="1252172" y="419376"/>
                  </a:lnTo>
                  <a:lnTo>
                    <a:pt x="1284453" y="380742"/>
                  </a:lnTo>
                  <a:lnTo>
                    <a:pt x="1316227" y="337847"/>
                  </a:lnTo>
                  <a:lnTo>
                    <a:pt x="1347551" y="292172"/>
                  </a:lnTo>
                  <a:lnTo>
                    <a:pt x="1378483" y="245195"/>
                  </a:lnTo>
                  <a:lnTo>
                    <a:pt x="1409081" y="198396"/>
                  </a:lnTo>
                  <a:lnTo>
                    <a:pt x="1439402" y="153252"/>
                  </a:lnTo>
                  <a:lnTo>
                    <a:pt x="1469504" y="111244"/>
                  </a:lnTo>
                  <a:lnTo>
                    <a:pt x="1499445" y="73851"/>
                  </a:lnTo>
                  <a:lnTo>
                    <a:pt x="1529281" y="42550"/>
                  </a:lnTo>
                  <a:lnTo>
                    <a:pt x="1588872" y="4146"/>
                  </a:lnTo>
                  <a:lnTo>
                    <a:pt x="1618741" y="0"/>
                  </a:lnTo>
                  <a:lnTo>
                    <a:pt x="1645527" y="6603"/>
                  </a:lnTo>
                  <a:lnTo>
                    <a:pt x="1694534" y="46721"/>
                  </a:lnTo>
                  <a:lnTo>
                    <a:pt x="1717606" y="77752"/>
                  </a:lnTo>
                  <a:lnTo>
                    <a:pt x="1740289" y="114442"/>
                  </a:lnTo>
                  <a:lnTo>
                    <a:pt x="1763009" y="155548"/>
                  </a:lnTo>
                  <a:lnTo>
                    <a:pt x="1786191" y="199829"/>
                  </a:lnTo>
                  <a:lnTo>
                    <a:pt x="1810259" y="246042"/>
                  </a:lnTo>
                  <a:lnTo>
                    <a:pt x="1835638" y="292946"/>
                  </a:lnTo>
                  <a:lnTo>
                    <a:pt x="1862754" y="339298"/>
                  </a:lnTo>
                  <a:lnTo>
                    <a:pt x="1892030" y="383856"/>
                  </a:lnTo>
                  <a:lnTo>
                    <a:pt x="1923893" y="425378"/>
                  </a:lnTo>
                  <a:lnTo>
                    <a:pt x="1958766" y="462623"/>
                  </a:lnTo>
                  <a:lnTo>
                    <a:pt x="1997074" y="494347"/>
                  </a:lnTo>
                  <a:lnTo>
                    <a:pt x="2033652" y="519132"/>
                  </a:lnTo>
                  <a:lnTo>
                    <a:pt x="2072901" y="543478"/>
                  </a:lnTo>
                  <a:lnTo>
                    <a:pt x="2114535" y="567315"/>
                  </a:lnTo>
                  <a:lnTo>
                    <a:pt x="2158271" y="590575"/>
                  </a:lnTo>
                  <a:lnTo>
                    <a:pt x="2203824" y="613187"/>
                  </a:lnTo>
                  <a:lnTo>
                    <a:pt x="2250908" y="635082"/>
                  </a:lnTo>
                  <a:lnTo>
                    <a:pt x="2299238" y="656192"/>
                  </a:lnTo>
                  <a:lnTo>
                    <a:pt x="2348531" y="676446"/>
                  </a:lnTo>
                  <a:lnTo>
                    <a:pt x="2398501" y="695776"/>
                  </a:lnTo>
                  <a:lnTo>
                    <a:pt x="2448863" y="714112"/>
                  </a:lnTo>
                  <a:lnTo>
                    <a:pt x="2499333" y="731385"/>
                  </a:lnTo>
                  <a:lnTo>
                    <a:pt x="2549626" y="747525"/>
                  </a:lnTo>
                  <a:lnTo>
                    <a:pt x="2599456" y="762464"/>
                  </a:lnTo>
                  <a:lnTo>
                    <a:pt x="2648540" y="776131"/>
                  </a:lnTo>
                  <a:lnTo>
                    <a:pt x="2696591" y="788458"/>
                  </a:lnTo>
                  <a:lnTo>
                    <a:pt x="2743327" y="799376"/>
                  </a:lnTo>
                  <a:lnTo>
                    <a:pt x="2795799" y="809960"/>
                  </a:lnTo>
                  <a:lnTo>
                    <a:pt x="2848124" y="818526"/>
                  </a:lnTo>
                  <a:lnTo>
                    <a:pt x="2900313" y="825229"/>
                  </a:lnTo>
                  <a:lnTo>
                    <a:pt x="2952376" y="830225"/>
                  </a:lnTo>
                  <a:lnTo>
                    <a:pt x="3004325" y="833669"/>
                  </a:lnTo>
                  <a:lnTo>
                    <a:pt x="3056172" y="835715"/>
                  </a:lnTo>
                  <a:lnTo>
                    <a:pt x="3107928" y="836520"/>
                  </a:lnTo>
                  <a:lnTo>
                    <a:pt x="3159604" y="836238"/>
                  </a:lnTo>
                  <a:lnTo>
                    <a:pt x="3211211" y="835024"/>
                  </a:lnTo>
                  <a:lnTo>
                    <a:pt x="3262762" y="833035"/>
                  </a:lnTo>
                  <a:lnTo>
                    <a:pt x="3314267" y="830424"/>
                  </a:lnTo>
                  <a:lnTo>
                    <a:pt x="3365738" y="827348"/>
                  </a:lnTo>
                  <a:lnTo>
                    <a:pt x="3417187" y="823961"/>
                  </a:lnTo>
                  <a:lnTo>
                    <a:pt x="3468623" y="820419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1C58CE4-BECD-97C7-E625-0B0B7BF1A9A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079" y="3112007"/>
              <a:ext cx="1219200" cy="1981122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8B7EFE84-A6F4-D8F1-1343-EDEDC8AF7A7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011" y="3683507"/>
              <a:ext cx="2964179" cy="259080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EA6C01C7-A323-52F1-DFA2-72198B1C796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0704" y="5981700"/>
            <a:ext cx="103498" cy="11430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7C85BCC4-1CED-83D8-3C0B-1535B76BD79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33059" y="4892040"/>
            <a:ext cx="435863" cy="25298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F3A79F78-11E0-8195-CA6E-80999E8446C4}"/>
              </a:ext>
            </a:extLst>
          </p:cNvPr>
          <p:cNvSpPr/>
          <p:nvPr/>
        </p:nvSpPr>
        <p:spPr>
          <a:xfrm>
            <a:off x="5106161" y="5601461"/>
            <a:ext cx="763270" cy="76200"/>
          </a:xfrm>
          <a:custGeom>
            <a:avLst/>
            <a:gdLst/>
            <a:ahLst/>
            <a:cxnLst/>
            <a:rect l="l" t="t" r="r" b="b"/>
            <a:pathLst>
              <a:path w="763270" h="76200">
                <a:moveTo>
                  <a:pt x="687070" y="0"/>
                </a:moveTo>
                <a:lnTo>
                  <a:pt x="687070" y="76200"/>
                </a:lnTo>
                <a:lnTo>
                  <a:pt x="744220" y="47625"/>
                </a:lnTo>
                <a:lnTo>
                  <a:pt x="699770" y="47625"/>
                </a:lnTo>
                <a:lnTo>
                  <a:pt x="699770" y="28575"/>
                </a:lnTo>
                <a:lnTo>
                  <a:pt x="744220" y="28575"/>
                </a:lnTo>
                <a:lnTo>
                  <a:pt x="687070" y="0"/>
                </a:lnTo>
                <a:close/>
              </a:path>
              <a:path w="763270" h="76200">
                <a:moveTo>
                  <a:pt x="68707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87070" y="47625"/>
                </a:lnTo>
                <a:lnTo>
                  <a:pt x="687070" y="28575"/>
                </a:lnTo>
                <a:close/>
              </a:path>
              <a:path w="763270" h="76200">
                <a:moveTo>
                  <a:pt x="744220" y="28575"/>
                </a:moveTo>
                <a:lnTo>
                  <a:pt x="699770" y="28575"/>
                </a:lnTo>
                <a:lnTo>
                  <a:pt x="699770" y="47625"/>
                </a:lnTo>
                <a:lnTo>
                  <a:pt x="744220" y="47625"/>
                </a:lnTo>
                <a:lnTo>
                  <a:pt x="763270" y="38100"/>
                </a:lnTo>
                <a:lnTo>
                  <a:pt x="74422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3001185-56FB-8593-7738-3C32FAE8FEA6}"/>
              </a:ext>
            </a:extLst>
          </p:cNvPr>
          <p:cNvSpPr txBox="1"/>
          <p:nvPr/>
        </p:nvSpPr>
        <p:spPr>
          <a:xfrm>
            <a:off x="3241675" y="5334380"/>
            <a:ext cx="1753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D0E2C-9538-CD82-7B7B-3849D167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65E1D-4C82-4A32-BD6C-C375941E3C51}" type="datetime1">
              <a:rPr lang="en-US" smtClean="0"/>
              <a:t>2/18/2025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64EF727-021E-8703-97EA-9858DCD2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F4E867B-57D1-657F-DEF4-14114C4D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5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EA28-9FE1-6832-AD1F-D0DF7B13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9761E5-A0BC-2D20-8067-A5575B839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Latent</a:t>
            </a:r>
            <a:r>
              <a:rPr sz="4400" spc="-85" dirty="0"/>
              <a:t> </a:t>
            </a:r>
            <a:r>
              <a:rPr sz="4400" dirty="0"/>
              <a:t>variable</a:t>
            </a:r>
            <a:r>
              <a:rPr sz="4400" spc="-85" dirty="0"/>
              <a:t> </a:t>
            </a:r>
            <a:r>
              <a:rPr sz="4400" dirty="0"/>
              <a:t>models</a:t>
            </a:r>
            <a:r>
              <a:rPr sz="4400" spc="-85" dirty="0"/>
              <a:t> </a:t>
            </a:r>
            <a:r>
              <a:rPr sz="4400" dirty="0"/>
              <a:t>in</a:t>
            </a:r>
            <a:r>
              <a:rPr sz="4400" spc="-85" dirty="0"/>
              <a:t> </a:t>
            </a:r>
            <a:r>
              <a:rPr sz="4400" spc="-10" dirty="0"/>
              <a:t>general</a:t>
            </a:r>
            <a:endParaRPr sz="440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466F105-41EA-2951-9AFC-6CC9F8C885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360676"/>
            <a:ext cx="452628" cy="252984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99DF86D9-750D-5C24-19DC-33AE14100FCB}"/>
              </a:ext>
            </a:extLst>
          </p:cNvPr>
          <p:cNvGrpSpPr/>
          <p:nvPr/>
        </p:nvGrpSpPr>
        <p:grpSpPr>
          <a:xfrm>
            <a:off x="6058661" y="1789938"/>
            <a:ext cx="3695700" cy="1181100"/>
            <a:chOff x="6058661" y="1789938"/>
            <a:chExt cx="3695700" cy="1181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FFC7DEB-2173-8F72-56D9-81475C50E212}"/>
                </a:ext>
              </a:extLst>
            </p:cNvPr>
            <p:cNvSpPr/>
            <p:nvPr/>
          </p:nvSpPr>
          <p:spPr>
            <a:xfrm>
              <a:off x="6058662" y="1789937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18412B2-5145-4174-5853-09B51589B426}"/>
                </a:ext>
              </a:extLst>
            </p:cNvPr>
            <p:cNvSpPr/>
            <p:nvPr/>
          </p:nvSpPr>
          <p:spPr>
            <a:xfrm>
              <a:off x="6128003" y="1913255"/>
              <a:ext cx="3531235" cy="977900"/>
            </a:xfrm>
            <a:custGeom>
              <a:avLst/>
              <a:gdLst/>
              <a:ahLst/>
              <a:cxnLst/>
              <a:rect l="l" t="t" r="r" b="b"/>
              <a:pathLst>
                <a:path w="3531234" h="977900">
                  <a:moveTo>
                    <a:pt x="0" y="830580"/>
                  </a:moveTo>
                  <a:lnTo>
                    <a:pt x="36574" y="850789"/>
                  </a:lnTo>
                  <a:lnTo>
                    <a:pt x="73646" y="869570"/>
                  </a:lnTo>
                  <a:lnTo>
                    <a:pt x="111712" y="885495"/>
                  </a:lnTo>
                  <a:lnTo>
                    <a:pt x="151272" y="897137"/>
                  </a:lnTo>
                  <a:lnTo>
                    <a:pt x="192822" y="903068"/>
                  </a:lnTo>
                  <a:lnTo>
                    <a:pt x="236859" y="901859"/>
                  </a:lnTo>
                  <a:lnTo>
                    <a:pt x="283882" y="892084"/>
                  </a:lnTo>
                  <a:lnTo>
                    <a:pt x="334388" y="872314"/>
                  </a:lnTo>
                  <a:lnTo>
                    <a:pt x="388874" y="841121"/>
                  </a:lnTo>
                  <a:lnTo>
                    <a:pt x="442335" y="795634"/>
                  </a:lnTo>
                  <a:lnTo>
                    <a:pt x="470768" y="765054"/>
                  </a:lnTo>
                  <a:lnTo>
                    <a:pt x="500196" y="730180"/>
                  </a:lnTo>
                  <a:lnTo>
                    <a:pt x="530510" y="691711"/>
                  </a:lnTo>
                  <a:lnTo>
                    <a:pt x="561606" y="650344"/>
                  </a:lnTo>
                  <a:lnTo>
                    <a:pt x="593376" y="606776"/>
                  </a:lnTo>
                  <a:lnTo>
                    <a:pt x="625715" y="561706"/>
                  </a:lnTo>
                  <a:lnTo>
                    <a:pt x="658516" y="515832"/>
                  </a:lnTo>
                  <a:lnTo>
                    <a:pt x="691673" y="469852"/>
                  </a:lnTo>
                  <a:lnTo>
                    <a:pt x="725080" y="424463"/>
                  </a:lnTo>
                  <a:lnTo>
                    <a:pt x="758629" y="380363"/>
                  </a:lnTo>
                  <a:lnTo>
                    <a:pt x="792216" y="338251"/>
                  </a:lnTo>
                  <a:lnTo>
                    <a:pt x="825733" y="298824"/>
                  </a:lnTo>
                  <a:lnTo>
                    <a:pt x="859075" y="262780"/>
                  </a:lnTo>
                  <a:lnTo>
                    <a:pt x="892135" y="230817"/>
                  </a:lnTo>
                  <a:lnTo>
                    <a:pt x="924806" y="203633"/>
                  </a:lnTo>
                  <a:lnTo>
                    <a:pt x="956983" y="181926"/>
                  </a:lnTo>
                  <a:lnTo>
                    <a:pt x="1019428" y="157734"/>
                  </a:lnTo>
                  <a:lnTo>
                    <a:pt x="1049656" y="156923"/>
                  </a:lnTo>
                  <a:lnTo>
                    <a:pt x="1079421" y="163899"/>
                  </a:lnTo>
                  <a:lnTo>
                    <a:pt x="1137815" y="197776"/>
                  </a:lnTo>
                  <a:lnTo>
                    <a:pt x="1166570" y="222958"/>
                  </a:lnTo>
                  <a:lnTo>
                    <a:pt x="1195114" y="252489"/>
                  </a:lnTo>
                  <a:lnTo>
                    <a:pt x="1223512" y="285511"/>
                  </a:lnTo>
                  <a:lnTo>
                    <a:pt x="1251824" y="321163"/>
                  </a:lnTo>
                  <a:lnTo>
                    <a:pt x="1280116" y="358587"/>
                  </a:lnTo>
                  <a:lnTo>
                    <a:pt x="1308449" y="396922"/>
                  </a:lnTo>
                  <a:lnTo>
                    <a:pt x="1336887" y="435310"/>
                  </a:lnTo>
                  <a:lnTo>
                    <a:pt x="1365492" y="472891"/>
                  </a:lnTo>
                  <a:lnTo>
                    <a:pt x="1394329" y="508805"/>
                  </a:lnTo>
                  <a:lnTo>
                    <a:pt x="1423459" y="542193"/>
                  </a:lnTo>
                  <a:lnTo>
                    <a:pt x="1452947" y="572196"/>
                  </a:lnTo>
                  <a:lnTo>
                    <a:pt x="1482855" y="597954"/>
                  </a:lnTo>
                  <a:lnTo>
                    <a:pt x="1544182" y="633298"/>
                  </a:lnTo>
                  <a:lnTo>
                    <a:pt x="1607947" y="641350"/>
                  </a:lnTo>
                  <a:lnTo>
                    <a:pt x="1636516" y="634548"/>
                  </a:lnTo>
                  <a:lnTo>
                    <a:pt x="1695011" y="602595"/>
                  </a:lnTo>
                  <a:lnTo>
                    <a:pt x="1724869" y="578705"/>
                  </a:lnTo>
                  <a:lnTo>
                    <a:pt x="1755089" y="550378"/>
                  </a:lnTo>
                  <a:lnTo>
                    <a:pt x="1785638" y="518245"/>
                  </a:lnTo>
                  <a:lnTo>
                    <a:pt x="1816481" y="482936"/>
                  </a:lnTo>
                  <a:lnTo>
                    <a:pt x="1847586" y="445080"/>
                  </a:lnTo>
                  <a:lnTo>
                    <a:pt x="1878918" y="405307"/>
                  </a:lnTo>
                  <a:lnTo>
                    <a:pt x="1910444" y="364248"/>
                  </a:lnTo>
                  <a:lnTo>
                    <a:pt x="1942130" y="322532"/>
                  </a:lnTo>
                  <a:lnTo>
                    <a:pt x="1973942" y="280789"/>
                  </a:lnTo>
                  <a:lnTo>
                    <a:pt x="2005846" y="239649"/>
                  </a:lnTo>
                  <a:lnTo>
                    <a:pt x="2037810" y="199742"/>
                  </a:lnTo>
                  <a:lnTo>
                    <a:pt x="2069799" y="161698"/>
                  </a:lnTo>
                  <a:lnTo>
                    <a:pt x="2101779" y="126147"/>
                  </a:lnTo>
                  <a:lnTo>
                    <a:pt x="2133718" y="93718"/>
                  </a:lnTo>
                  <a:lnTo>
                    <a:pt x="2165580" y="65042"/>
                  </a:lnTo>
                  <a:lnTo>
                    <a:pt x="2197333" y="40749"/>
                  </a:lnTo>
                  <a:lnTo>
                    <a:pt x="2260376" y="7830"/>
                  </a:lnTo>
                  <a:lnTo>
                    <a:pt x="2322576" y="0"/>
                  </a:lnTo>
                  <a:lnTo>
                    <a:pt x="2353581" y="6398"/>
                  </a:lnTo>
                  <a:lnTo>
                    <a:pt x="2416416" y="36805"/>
                  </a:lnTo>
                  <a:lnTo>
                    <a:pt x="2448153" y="59813"/>
                  </a:lnTo>
                  <a:lnTo>
                    <a:pt x="2480040" y="87356"/>
                  </a:lnTo>
                  <a:lnTo>
                    <a:pt x="2512032" y="118936"/>
                  </a:lnTo>
                  <a:lnTo>
                    <a:pt x="2544081" y="154051"/>
                  </a:lnTo>
                  <a:lnTo>
                    <a:pt x="2576141" y="192201"/>
                  </a:lnTo>
                  <a:lnTo>
                    <a:pt x="2608165" y="232886"/>
                  </a:lnTo>
                  <a:lnTo>
                    <a:pt x="2640107" y="275606"/>
                  </a:lnTo>
                  <a:lnTo>
                    <a:pt x="2671920" y="319861"/>
                  </a:lnTo>
                  <a:lnTo>
                    <a:pt x="2703558" y="365150"/>
                  </a:lnTo>
                  <a:lnTo>
                    <a:pt x="2734974" y="410973"/>
                  </a:lnTo>
                  <a:lnTo>
                    <a:pt x="2766120" y="456831"/>
                  </a:lnTo>
                  <a:lnTo>
                    <a:pt x="2796952" y="502222"/>
                  </a:lnTo>
                  <a:lnTo>
                    <a:pt x="2827422" y="546647"/>
                  </a:lnTo>
                  <a:lnTo>
                    <a:pt x="2857483" y="589605"/>
                  </a:lnTo>
                  <a:lnTo>
                    <a:pt x="2887089" y="630596"/>
                  </a:lnTo>
                  <a:lnTo>
                    <a:pt x="2916194" y="669120"/>
                  </a:lnTo>
                  <a:lnTo>
                    <a:pt x="2944750" y="704677"/>
                  </a:lnTo>
                  <a:lnTo>
                    <a:pt x="2972711" y="736767"/>
                  </a:lnTo>
                  <a:lnTo>
                    <a:pt x="3000032" y="764889"/>
                  </a:lnTo>
                  <a:lnTo>
                    <a:pt x="3080397" y="829381"/>
                  </a:lnTo>
                  <a:lnTo>
                    <a:pt x="3131880" y="863469"/>
                  </a:lnTo>
                  <a:lnTo>
                    <a:pt x="3181339" y="891481"/>
                  </a:lnTo>
                  <a:lnTo>
                    <a:pt x="3228997" y="914092"/>
                  </a:lnTo>
                  <a:lnTo>
                    <a:pt x="3275081" y="931975"/>
                  </a:lnTo>
                  <a:lnTo>
                    <a:pt x="3319814" y="945806"/>
                  </a:lnTo>
                  <a:lnTo>
                    <a:pt x="3363423" y="956258"/>
                  </a:lnTo>
                  <a:lnTo>
                    <a:pt x="3406131" y="964007"/>
                  </a:lnTo>
                  <a:lnTo>
                    <a:pt x="3448165" y="969726"/>
                  </a:lnTo>
                  <a:lnTo>
                    <a:pt x="3489749" y="974089"/>
                  </a:lnTo>
                  <a:lnTo>
                    <a:pt x="3531107" y="977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13C326A9-E4F0-50C3-05B1-34D1E47B51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059" y="1722120"/>
            <a:ext cx="452627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2346B067-BBBA-04FB-E264-FD6A541DC6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817876"/>
            <a:ext cx="126490" cy="114300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7E9D0EB5-3D1B-5F81-38B6-E3C2E46E8E1C}"/>
              </a:ext>
            </a:extLst>
          </p:cNvPr>
          <p:cNvGrpSpPr/>
          <p:nvPr/>
        </p:nvGrpSpPr>
        <p:grpSpPr>
          <a:xfrm>
            <a:off x="6058661" y="3112007"/>
            <a:ext cx="5383530" cy="3023235"/>
            <a:chOff x="6058661" y="3112007"/>
            <a:chExt cx="5383530" cy="302323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853F322-67F9-1E44-D251-4E34A2DECEF2}"/>
                </a:ext>
              </a:extLst>
            </p:cNvPr>
            <p:cNvSpPr/>
            <p:nvPr/>
          </p:nvSpPr>
          <p:spPr>
            <a:xfrm>
              <a:off x="6058662" y="4953761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AA75EAB-458C-B38C-880F-21A7E6935E67}"/>
                </a:ext>
              </a:extLst>
            </p:cNvPr>
            <p:cNvSpPr/>
            <p:nvPr/>
          </p:nvSpPr>
          <p:spPr>
            <a:xfrm>
              <a:off x="6117335" y="5265547"/>
              <a:ext cx="3469004" cy="836930"/>
            </a:xfrm>
            <a:custGeom>
              <a:avLst/>
              <a:gdLst/>
              <a:ahLst/>
              <a:cxnLst/>
              <a:rect l="l" t="t" r="r" b="b"/>
              <a:pathLst>
                <a:path w="3469004" h="836929">
                  <a:moveTo>
                    <a:pt x="0" y="799376"/>
                  </a:moveTo>
                  <a:lnTo>
                    <a:pt x="756792" y="767829"/>
                  </a:lnTo>
                  <a:lnTo>
                    <a:pt x="810125" y="750322"/>
                  </a:lnTo>
                  <a:lnTo>
                    <a:pt x="859634" y="729584"/>
                  </a:lnTo>
                  <a:lnTo>
                    <a:pt x="905843" y="705947"/>
                  </a:lnTo>
                  <a:lnTo>
                    <a:pt x="949272" y="679741"/>
                  </a:lnTo>
                  <a:lnTo>
                    <a:pt x="990445" y="651300"/>
                  </a:lnTo>
                  <a:lnTo>
                    <a:pt x="1029883" y="620954"/>
                  </a:lnTo>
                  <a:lnTo>
                    <a:pt x="1068108" y="589036"/>
                  </a:lnTo>
                  <a:lnTo>
                    <a:pt x="1105643" y="555876"/>
                  </a:lnTo>
                  <a:lnTo>
                    <a:pt x="1143010" y="521808"/>
                  </a:lnTo>
                  <a:lnTo>
                    <a:pt x="1180730" y="487163"/>
                  </a:lnTo>
                  <a:lnTo>
                    <a:pt x="1219327" y="452272"/>
                  </a:lnTo>
                  <a:lnTo>
                    <a:pt x="1252172" y="419376"/>
                  </a:lnTo>
                  <a:lnTo>
                    <a:pt x="1284453" y="380742"/>
                  </a:lnTo>
                  <a:lnTo>
                    <a:pt x="1316227" y="337847"/>
                  </a:lnTo>
                  <a:lnTo>
                    <a:pt x="1347551" y="292172"/>
                  </a:lnTo>
                  <a:lnTo>
                    <a:pt x="1378483" y="245195"/>
                  </a:lnTo>
                  <a:lnTo>
                    <a:pt x="1409081" y="198396"/>
                  </a:lnTo>
                  <a:lnTo>
                    <a:pt x="1439402" y="153252"/>
                  </a:lnTo>
                  <a:lnTo>
                    <a:pt x="1469504" y="111244"/>
                  </a:lnTo>
                  <a:lnTo>
                    <a:pt x="1499445" y="73851"/>
                  </a:lnTo>
                  <a:lnTo>
                    <a:pt x="1529281" y="42550"/>
                  </a:lnTo>
                  <a:lnTo>
                    <a:pt x="1588872" y="4146"/>
                  </a:lnTo>
                  <a:lnTo>
                    <a:pt x="1618741" y="0"/>
                  </a:lnTo>
                  <a:lnTo>
                    <a:pt x="1645527" y="6603"/>
                  </a:lnTo>
                  <a:lnTo>
                    <a:pt x="1694534" y="46721"/>
                  </a:lnTo>
                  <a:lnTo>
                    <a:pt x="1717606" y="77752"/>
                  </a:lnTo>
                  <a:lnTo>
                    <a:pt x="1740289" y="114442"/>
                  </a:lnTo>
                  <a:lnTo>
                    <a:pt x="1763009" y="155548"/>
                  </a:lnTo>
                  <a:lnTo>
                    <a:pt x="1786191" y="199829"/>
                  </a:lnTo>
                  <a:lnTo>
                    <a:pt x="1810259" y="246042"/>
                  </a:lnTo>
                  <a:lnTo>
                    <a:pt x="1835638" y="292946"/>
                  </a:lnTo>
                  <a:lnTo>
                    <a:pt x="1862754" y="339298"/>
                  </a:lnTo>
                  <a:lnTo>
                    <a:pt x="1892030" y="383856"/>
                  </a:lnTo>
                  <a:lnTo>
                    <a:pt x="1923893" y="425378"/>
                  </a:lnTo>
                  <a:lnTo>
                    <a:pt x="1958766" y="462623"/>
                  </a:lnTo>
                  <a:lnTo>
                    <a:pt x="1997074" y="494347"/>
                  </a:lnTo>
                  <a:lnTo>
                    <a:pt x="2033652" y="519132"/>
                  </a:lnTo>
                  <a:lnTo>
                    <a:pt x="2072901" y="543478"/>
                  </a:lnTo>
                  <a:lnTo>
                    <a:pt x="2114535" y="567315"/>
                  </a:lnTo>
                  <a:lnTo>
                    <a:pt x="2158271" y="590575"/>
                  </a:lnTo>
                  <a:lnTo>
                    <a:pt x="2203824" y="613187"/>
                  </a:lnTo>
                  <a:lnTo>
                    <a:pt x="2250908" y="635082"/>
                  </a:lnTo>
                  <a:lnTo>
                    <a:pt x="2299238" y="656192"/>
                  </a:lnTo>
                  <a:lnTo>
                    <a:pt x="2348531" y="676446"/>
                  </a:lnTo>
                  <a:lnTo>
                    <a:pt x="2398501" y="695776"/>
                  </a:lnTo>
                  <a:lnTo>
                    <a:pt x="2448863" y="714112"/>
                  </a:lnTo>
                  <a:lnTo>
                    <a:pt x="2499333" y="731385"/>
                  </a:lnTo>
                  <a:lnTo>
                    <a:pt x="2549626" y="747525"/>
                  </a:lnTo>
                  <a:lnTo>
                    <a:pt x="2599456" y="762464"/>
                  </a:lnTo>
                  <a:lnTo>
                    <a:pt x="2648540" y="776131"/>
                  </a:lnTo>
                  <a:lnTo>
                    <a:pt x="2696591" y="788458"/>
                  </a:lnTo>
                  <a:lnTo>
                    <a:pt x="2743327" y="799376"/>
                  </a:lnTo>
                  <a:lnTo>
                    <a:pt x="2795799" y="809960"/>
                  </a:lnTo>
                  <a:lnTo>
                    <a:pt x="2848124" y="818526"/>
                  </a:lnTo>
                  <a:lnTo>
                    <a:pt x="2900313" y="825229"/>
                  </a:lnTo>
                  <a:lnTo>
                    <a:pt x="2952376" y="830225"/>
                  </a:lnTo>
                  <a:lnTo>
                    <a:pt x="3004325" y="833669"/>
                  </a:lnTo>
                  <a:lnTo>
                    <a:pt x="3056172" y="835715"/>
                  </a:lnTo>
                  <a:lnTo>
                    <a:pt x="3107928" y="836520"/>
                  </a:lnTo>
                  <a:lnTo>
                    <a:pt x="3159604" y="836238"/>
                  </a:lnTo>
                  <a:lnTo>
                    <a:pt x="3211211" y="835024"/>
                  </a:lnTo>
                  <a:lnTo>
                    <a:pt x="3262762" y="833035"/>
                  </a:lnTo>
                  <a:lnTo>
                    <a:pt x="3314267" y="830424"/>
                  </a:lnTo>
                  <a:lnTo>
                    <a:pt x="3365738" y="827348"/>
                  </a:lnTo>
                  <a:lnTo>
                    <a:pt x="3417187" y="823961"/>
                  </a:lnTo>
                  <a:lnTo>
                    <a:pt x="3468623" y="820419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9DF9F96-F018-6CD8-B192-447D2616A4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079" y="3112007"/>
              <a:ext cx="1219200" cy="1981122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1E68844F-851D-01C4-36A7-2BECCF260F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011" y="3683507"/>
              <a:ext cx="2964179" cy="259080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499CFB2A-24BB-A10B-E108-8E9BC63E3F4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0704" y="5981700"/>
            <a:ext cx="103498" cy="11430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A38EA07C-4153-32B5-D16D-43327CE86D1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33059" y="4892040"/>
            <a:ext cx="435863" cy="25298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E2B56774-0F32-F5F6-6BC0-0D324CA00713}"/>
              </a:ext>
            </a:extLst>
          </p:cNvPr>
          <p:cNvSpPr/>
          <p:nvPr/>
        </p:nvSpPr>
        <p:spPr>
          <a:xfrm>
            <a:off x="5106161" y="5601461"/>
            <a:ext cx="763270" cy="76200"/>
          </a:xfrm>
          <a:custGeom>
            <a:avLst/>
            <a:gdLst/>
            <a:ahLst/>
            <a:cxnLst/>
            <a:rect l="l" t="t" r="r" b="b"/>
            <a:pathLst>
              <a:path w="763270" h="76200">
                <a:moveTo>
                  <a:pt x="687070" y="0"/>
                </a:moveTo>
                <a:lnTo>
                  <a:pt x="687070" y="76200"/>
                </a:lnTo>
                <a:lnTo>
                  <a:pt x="744220" y="47625"/>
                </a:lnTo>
                <a:lnTo>
                  <a:pt x="699770" y="47625"/>
                </a:lnTo>
                <a:lnTo>
                  <a:pt x="699770" y="28575"/>
                </a:lnTo>
                <a:lnTo>
                  <a:pt x="744220" y="28575"/>
                </a:lnTo>
                <a:lnTo>
                  <a:pt x="687070" y="0"/>
                </a:lnTo>
                <a:close/>
              </a:path>
              <a:path w="763270" h="76200">
                <a:moveTo>
                  <a:pt x="68707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87070" y="47625"/>
                </a:lnTo>
                <a:lnTo>
                  <a:pt x="687070" y="28575"/>
                </a:lnTo>
                <a:close/>
              </a:path>
              <a:path w="763270" h="76200">
                <a:moveTo>
                  <a:pt x="744220" y="28575"/>
                </a:moveTo>
                <a:lnTo>
                  <a:pt x="699770" y="28575"/>
                </a:lnTo>
                <a:lnTo>
                  <a:pt x="699770" y="47625"/>
                </a:lnTo>
                <a:lnTo>
                  <a:pt x="744220" y="47625"/>
                </a:lnTo>
                <a:lnTo>
                  <a:pt x="763270" y="38100"/>
                </a:lnTo>
                <a:lnTo>
                  <a:pt x="74422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6DD03E9-015B-00A9-EB6E-9DC1BC1B700F}"/>
              </a:ext>
            </a:extLst>
          </p:cNvPr>
          <p:cNvSpPr txBox="1"/>
          <p:nvPr/>
        </p:nvSpPr>
        <p:spPr>
          <a:xfrm>
            <a:off x="3241675" y="5334380"/>
            <a:ext cx="1753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671AF260-6FBF-82C2-1F9A-77E8B3535BE3}"/>
              </a:ext>
            </a:extLst>
          </p:cNvPr>
          <p:cNvGrpSpPr/>
          <p:nvPr/>
        </p:nvGrpSpPr>
        <p:grpSpPr>
          <a:xfrm>
            <a:off x="1600200" y="2221992"/>
            <a:ext cx="1930400" cy="1060450"/>
            <a:chOff x="1600200" y="2221992"/>
            <a:chExt cx="1930400" cy="1060450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BAF3FE16-00E4-A48E-92C5-B30EB19637A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2221992"/>
              <a:ext cx="1921764" cy="560831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188AA15-3411-D808-D55B-6194DF1069E0}"/>
                </a:ext>
              </a:extLst>
            </p:cNvPr>
            <p:cNvSpPr/>
            <p:nvPr/>
          </p:nvSpPr>
          <p:spPr>
            <a:xfrm>
              <a:off x="2214626" y="2756153"/>
              <a:ext cx="1315720" cy="526415"/>
            </a:xfrm>
            <a:custGeom>
              <a:avLst/>
              <a:gdLst/>
              <a:ahLst/>
              <a:cxnLst/>
              <a:rect l="l" t="t" r="r" b="b"/>
              <a:pathLst>
                <a:path w="1315720" h="526414">
                  <a:moveTo>
                    <a:pt x="319151" y="0"/>
                  </a:moveTo>
                  <a:lnTo>
                    <a:pt x="246634" y="44577"/>
                  </a:lnTo>
                  <a:lnTo>
                    <a:pt x="270802" y="59639"/>
                  </a:lnTo>
                  <a:lnTo>
                    <a:pt x="0" y="494284"/>
                  </a:lnTo>
                  <a:lnTo>
                    <a:pt x="16256" y="504444"/>
                  </a:lnTo>
                  <a:lnTo>
                    <a:pt x="287020" y="69735"/>
                  </a:lnTo>
                  <a:lnTo>
                    <a:pt x="311277" y="84836"/>
                  </a:lnTo>
                  <a:lnTo>
                    <a:pt x="314604" y="48895"/>
                  </a:lnTo>
                  <a:lnTo>
                    <a:pt x="319151" y="0"/>
                  </a:lnTo>
                  <a:close/>
                </a:path>
                <a:path w="1315720" h="526414">
                  <a:moveTo>
                    <a:pt x="1315593" y="514858"/>
                  </a:moveTo>
                  <a:lnTo>
                    <a:pt x="981519" y="61823"/>
                  </a:lnTo>
                  <a:lnTo>
                    <a:pt x="995426" y="51562"/>
                  </a:lnTo>
                  <a:lnTo>
                    <a:pt x="1004570" y="44831"/>
                  </a:lnTo>
                  <a:lnTo>
                    <a:pt x="928624" y="6096"/>
                  </a:lnTo>
                  <a:lnTo>
                    <a:pt x="943229" y="90043"/>
                  </a:lnTo>
                  <a:lnTo>
                    <a:pt x="966165" y="73139"/>
                  </a:lnTo>
                  <a:lnTo>
                    <a:pt x="1300226" y="526161"/>
                  </a:lnTo>
                  <a:lnTo>
                    <a:pt x="1315593" y="514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4F3D5F73-F315-A42B-A7FF-2593A8F3741D}"/>
              </a:ext>
            </a:extLst>
          </p:cNvPr>
          <p:cNvSpPr txBox="1"/>
          <p:nvPr/>
        </p:nvSpPr>
        <p:spPr>
          <a:xfrm>
            <a:off x="3363214" y="3315970"/>
            <a:ext cx="1753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288D0F9-A2B3-E396-220A-0626E57F6937}"/>
              </a:ext>
            </a:extLst>
          </p:cNvPr>
          <p:cNvSpPr txBox="1"/>
          <p:nvPr/>
        </p:nvSpPr>
        <p:spPr>
          <a:xfrm>
            <a:off x="546303" y="3302634"/>
            <a:ext cx="254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conditional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0AF45647-5272-927B-E19F-A45A2395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8144-C04B-4DC7-9B9F-D7430FD709B8}" type="datetime1">
              <a:rPr lang="en-US" smtClean="0"/>
              <a:t>2/18/2025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BDFDD7AA-8E07-2003-1C87-421A7F84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6B4B307-8692-1499-0DE5-7123459D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53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15180">
              <a:spcBef>
                <a:spcPts val="70"/>
              </a:spcBef>
            </a:pPr>
            <a:r>
              <a:rPr spc="221" dirty="0">
                <a:latin typeface="Trebuchet MS"/>
                <a:cs typeface="Trebuchet MS"/>
              </a:rPr>
              <a:t>An</a:t>
            </a:r>
            <a:r>
              <a:rPr spc="-120" dirty="0">
                <a:latin typeface="Trebuchet MS"/>
                <a:cs typeface="Trebuchet MS"/>
              </a:rPr>
              <a:t> </a:t>
            </a:r>
            <a:r>
              <a:rPr spc="60" dirty="0">
                <a:latin typeface="Trebuchet MS"/>
                <a:cs typeface="Trebuchet MS"/>
              </a:rPr>
              <a:t>Example</a:t>
            </a:r>
            <a:r>
              <a:rPr spc="-749" dirty="0">
                <a:latin typeface="Trebuchet MS"/>
                <a:cs typeface="Trebuchet MS"/>
              </a:rPr>
              <a:t> </a:t>
            </a:r>
            <a:r>
              <a:rPr sz="3375" spc="80" dirty="0">
                <a:latin typeface="Trebuchet MS"/>
                <a:cs typeface="Trebuchet MS"/>
              </a:rPr>
              <a:t>(Goersch</a:t>
            </a:r>
            <a:r>
              <a:rPr sz="3375" spc="-74" dirty="0">
                <a:latin typeface="Trebuchet MS"/>
                <a:cs typeface="Trebuchet MS"/>
              </a:rPr>
              <a:t> </a:t>
            </a:r>
            <a:r>
              <a:rPr sz="3375" spc="42" dirty="0">
                <a:latin typeface="Trebuchet MS"/>
                <a:cs typeface="Trebuchet MS"/>
              </a:rPr>
              <a:t>2016)</a:t>
            </a:r>
            <a:endParaRPr sz="3375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04367" y="1741289"/>
            <a:ext cx="8938617" cy="4054078"/>
            <a:chOff x="114300" y="2476500"/>
            <a:chExt cx="12712700" cy="5765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" y="2476500"/>
              <a:ext cx="12712700" cy="5765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58729" y="3473701"/>
              <a:ext cx="598170" cy="615950"/>
            </a:xfrm>
            <a:custGeom>
              <a:avLst/>
              <a:gdLst/>
              <a:ahLst/>
              <a:cxnLst/>
              <a:rect l="l" t="t" r="r" b="b"/>
              <a:pathLst>
                <a:path w="598170" h="615950">
                  <a:moveTo>
                    <a:pt x="510387" y="90152"/>
                  </a:moveTo>
                  <a:lnTo>
                    <a:pt x="541912" y="128305"/>
                  </a:lnTo>
                  <a:lnTo>
                    <a:pt x="566431" y="170042"/>
                  </a:lnTo>
                  <a:lnTo>
                    <a:pt x="583945" y="214468"/>
                  </a:lnTo>
                  <a:lnTo>
                    <a:pt x="594453" y="260686"/>
                  </a:lnTo>
                  <a:lnTo>
                    <a:pt x="597956" y="307800"/>
                  </a:lnTo>
                  <a:lnTo>
                    <a:pt x="594453" y="354915"/>
                  </a:lnTo>
                  <a:lnTo>
                    <a:pt x="583945" y="401133"/>
                  </a:lnTo>
                  <a:lnTo>
                    <a:pt x="566431" y="445559"/>
                  </a:lnTo>
                  <a:lnTo>
                    <a:pt x="541912" y="487296"/>
                  </a:lnTo>
                  <a:lnTo>
                    <a:pt x="510387" y="525449"/>
                  </a:lnTo>
                  <a:lnTo>
                    <a:pt x="473328" y="557904"/>
                  </a:lnTo>
                  <a:lnTo>
                    <a:pt x="432788" y="583146"/>
                  </a:lnTo>
                  <a:lnTo>
                    <a:pt x="389635" y="601177"/>
                  </a:lnTo>
                  <a:lnTo>
                    <a:pt x="344742" y="611995"/>
                  </a:lnTo>
                  <a:lnTo>
                    <a:pt x="298978" y="615601"/>
                  </a:lnTo>
                  <a:lnTo>
                    <a:pt x="253214" y="611995"/>
                  </a:lnTo>
                  <a:lnTo>
                    <a:pt x="208320" y="601177"/>
                  </a:lnTo>
                  <a:lnTo>
                    <a:pt x="165168" y="583146"/>
                  </a:lnTo>
                  <a:lnTo>
                    <a:pt x="124627" y="557904"/>
                  </a:lnTo>
                  <a:lnTo>
                    <a:pt x="87568" y="525449"/>
                  </a:lnTo>
                  <a:lnTo>
                    <a:pt x="56043" y="487296"/>
                  </a:lnTo>
                  <a:lnTo>
                    <a:pt x="31524" y="445559"/>
                  </a:lnTo>
                  <a:lnTo>
                    <a:pt x="14010" y="401133"/>
                  </a:lnTo>
                  <a:lnTo>
                    <a:pt x="3502" y="354915"/>
                  </a:lnTo>
                  <a:lnTo>
                    <a:pt x="0" y="307800"/>
                  </a:lnTo>
                  <a:lnTo>
                    <a:pt x="3502" y="260686"/>
                  </a:lnTo>
                  <a:lnTo>
                    <a:pt x="14010" y="214468"/>
                  </a:lnTo>
                  <a:lnTo>
                    <a:pt x="31524" y="170042"/>
                  </a:lnTo>
                  <a:lnTo>
                    <a:pt x="56043" y="128305"/>
                  </a:lnTo>
                  <a:lnTo>
                    <a:pt x="87568" y="90152"/>
                  </a:lnTo>
                  <a:lnTo>
                    <a:pt x="124627" y="57697"/>
                  </a:lnTo>
                  <a:lnTo>
                    <a:pt x="165168" y="32455"/>
                  </a:lnTo>
                  <a:lnTo>
                    <a:pt x="208320" y="14424"/>
                  </a:lnTo>
                  <a:lnTo>
                    <a:pt x="253214" y="3606"/>
                  </a:lnTo>
                  <a:lnTo>
                    <a:pt x="298978" y="0"/>
                  </a:lnTo>
                  <a:lnTo>
                    <a:pt x="344742" y="3606"/>
                  </a:lnTo>
                  <a:lnTo>
                    <a:pt x="389635" y="14424"/>
                  </a:lnTo>
                  <a:lnTo>
                    <a:pt x="432788" y="32455"/>
                  </a:lnTo>
                  <a:lnTo>
                    <a:pt x="473328" y="57697"/>
                  </a:lnTo>
                  <a:lnTo>
                    <a:pt x="510387" y="90152"/>
                  </a:lnTo>
                  <a:close/>
                </a:path>
              </a:pathLst>
            </a:custGeom>
            <a:ln w="38100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9405190" y="2956280"/>
              <a:ext cx="509905" cy="497205"/>
            </a:xfrm>
            <a:custGeom>
              <a:avLst/>
              <a:gdLst/>
              <a:ahLst/>
              <a:cxnLst/>
              <a:rect l="l" t="t" r="r" b="b"/>
              <a:pathLst>
                <a:path w="509904" h="497204">
                  <a:moveTo>
                    <a:pt x="435508" y="72163"/>
                  </a:moveTo>
                  <a:lnTo>
                    <a:pt x="465090" y="106713"/>
                  </a:lnTo>
                  <a:lnTo>
                    <a:pt x="487277" y="144750"/>
                  </a:lnTo>
                  <a:lnTo>
                    <a:pt x="502068" y="185277"/>
                  </a:lnTo>
                  <a:lnTo>
                    <a:pt x="509464" y="227300"/>
                  </a:lnTo>
                  <a:lnTo>
                    <a:pt x="509464" y="269820"/>
                  </a:lnTo>
                  <a:lnTo>
                    <a:pt x="502068" y="311843"/>
                  </a:lnTo>
                  <a:lnTo>
                    <a:pt x="487277" y="352370"/>
                  </a:lnTo>
                  <a:lnTo>
                    <a:pt x="465090" y="390407"/>
                  </a:lnTo>
                  <a:lnTo>
                    <a:pt x="435508" y="424957"/>
                  </a:lnTo>
                  <a:lnTo>
                    <a:pt x="400101" y="453822"/>
                  </a:lnTo>
                  <a:lnTo>
                    <a:pt x="361119" y="475471"/>
                  </a:lnTo>
                  <a:lnTo>
                    <a:pt x="319585" y="489904"/>
                  </a:lnTo>
                  <a:lnTo>
                    <a:pt x="276520" y="497121"/>
                  </a:lnTo>
                  <a:lnTo>
                    <a:pt x="232943" y="497121"/>
                  </a:lnTo>
                  <a:lnTo>
                    <a:pt x="189878" y="489904"/>
                  </a:lnTo>
                  <a:lnTo>
                    <a:pt x="148344" y="475471"/>
                  </a:lnTo>
                  <a:lnTo>
                    <a:pt x="109362" y="453822"/>
                  </a:lnTo>
                  <a:lnTo>
                    <a:pt x="73955" y="424957"/>
                  </a:lnTo>
                  <a:lnTo>
                    <a:pt x="44373" y="390407"/>
                  </a:lnTo>
                  <a:lnTo>
                    <a:pt x="22186" y="352370"/>
                  </a:lnTo>
                  <a:lnTo>
                    <a:pt x="7395" y="311843"/>
                  </a:lnTo>
                  <a:lnTo>
                    <a:pt x="0" y="269820"/>
                  </a:lnTo>
                  <a:lnTo>
                    <a:pt x="0" y="227300"/>
                  </a:lnTo>
                  <a:lnTo>
                    <a:pt x="7395" y="185277"/>
                  </a:lnTo>
                  <a:lnTo>
                    <a:pt x="22186" y="144750"/>
                  </a:lnTo>
                  <a:lnTo>
                    <a:pt x="44373" y="106713"/>
                  </a:lnTo>
                  <a:lnTo>
                    <a:pt x="73955" y="72163"/>
                  </a:lnTo>
                  <a:lnTo>
                    <a:pt x="109362" y="43298"/>
                  </a:lnTo>
                  <a:lnTo>
                    <a:pt x="148344" y="21649"/>
                  </a:lnTo>
                  <a:lnTo>
                    <a:pt x="189878" y="7216"/>
                  </a:lnTo>
                  <a:lnTo>
                    <a:pt x="232943" y="0"/>
                  </a:lnTo>
                  <a:lnTo>
                    <a:pt x="276520" y="0"/>
                  </a:lnTo>
                  <a:lnTo>
                    <a:pt x="319585" y="7216"/>
                  </a:lnTo>
                  <a:lnTo>
                    <a:pt x="361119" y="21649"/>
                  </a:lnTo>
                  <a:lnTo>
                    <a:pt x="400101" y="43298"/>
                  </a:lnTo>
                  <a:lnTo>
                    <a:pt x="435508" y="72163"/>
                  </a:lnTo>
                  <a:close/>
                </a:path>
              </a:pathLst>
            </a:custGeom>
            <a:ln w="38100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7" name="object 7"/>
            <p:cNvSpPr/>
            <p:nvPr/>
          </p:nvSpPr>
          <p:spPr>
            <a:xfrm>
              <a:off x="3948935" y="2918085"/>
              <a:ext cx="5337810" cy="732790"/>
            </a:xfrm>
            <a:custGeom>
              <a:avLst/>
              <a:gdLst/>
              <a:ahLst/>
              <a:cxnLst/>
              <a:rect l="l" t="t" r="r" b="b"/>
              <a:pathLst>
                <a:path w="5337809" h="732789">
                  <a:moveTo>
                    <a:pt x="0" y="732297"/>
                  </a:moveTo>
                  <a:lnTo>
                    <a:pt x="47376" y="712027"/>
                  </a:lnTo>
                  <a:lnTo>
                    <a:pt x="94781" y="692042"/>
                  </a:lnTo>
                  <a:lnTo>
                    <a:pt x="142212" y="672341"/>
                  </a:lnTo>
                  <a:lnTo>
                    <a:pt x="189671" y="652925"/>
                  </a:lnTo>
                  <a:lnTo>
                    <a:pt x="237158" y="633793"/>
                  </a:lnTo>
                  <a:lnTo>
                    <a:pt x="284671" y="614945"/>
                  </a:lnTo>
                  <a:lnTo>
                    <a:pt x="332212" y="596383"/>
                  </a:lnTo>
                  <a:lnTo>
                    <a:pt x="379780" y="578104"/>
                  </a:lnTo>
                  <a:lnTo>
                    <a:pt x="427376" y="560110"/>
                  </a:lnTo>
                  <a:lnTo>
                    <a:pt x="474999" y="542401"/>
                  </a:lnTo>
                  <a:lnTo>
                    <a:pt x="522649" y="524976"/>
                  </a:lnTo>
                  <a:lnTo>
                    <a:pt x="570327" y="507835"/>
                  </a:lnTo>
                  <a:lnTo>
                    <a:pt x="618032" y="490979"/>
                  </a:lnTo>
                  <a:lnTo>
                    <a:pt x="665764" y="474408"/>
                  </a:lnTo>
                  <a:lnTo>
                    <a:pt x="713524" y="458121"/>
                  </a:lnTo>
                  <a:lnTo>
                    <a:pt x="761311" y="442118"/>
                  </a:lnTo>
                  <a:lnTo>
                    <a:pt x="809125" y="426400"/>
                  </a:lnTo>
                  <a:lnTo>
                    <a:pt x="856966" y="410967"/>
                  </a:lnTo>
                  <a:lnTo>
                    <a:pt x="904835" y="395818"/>
                  </a:lnTo>
                  <a:lnTo>
                    <a:pt x="952732" y="380953"/>
                  </a:lnTo>
                  <a:lnTo>
                    <a:pt x="1000655" y="366373"/>
                  </a:lnTo>
                  <a:lnTo>
                    <a:pt x="1048606" y="352077"/>
                  </a:lnTo>
                  <a:lnTo>
                    <a:pt x="1096584" y="338066"/>
                  </a:lnTo>
                  <a:lnTo>
                    <a:pt x="1144590" y="324339"/>
                  </a:lnTo>
                  <a:lnTo>
                    <a:pt x="1192623" y="310897"/>
                  </a:lnTo>
                  <a:lnTo>
                    <a:pt x="1240683" y="297739"/>
                  </a:lnTo>
                  <a:lnTo>
                    <a:pt x="1288771" y="284866"/>
                  </a:lnTo>
                  <a:lnTo>
                    <a:pt x="1336886" y="272277"/>
                  </a:lnTo>
                  <a:lnTo>
                    <a:pt x="1385028" y="259973"/>
                  </a:lnTo>
                  <a:lnTo>
                    <a:pt x="1433197" y="247953"/>
                  </a:lnTo>
                  <a:lnTo>
                    <a:pt x="1481394" y="236218"/>
                  </a:lnTo>
                  <a:lnTo>
                    <a:pt x="1529619" y="224767"/>
                  </a:lnTo>
                  <a:lnTo>
                    <a:pt x="1577870" y="213601"/>
                  </a:lnTo>
                  <a:lnTo>
                    <a:pt x="1626149" y="202719"/>
                  </a:lnTo>
                  <a:lnTo>
                    <a:pt x="1674455" y="192121"/>
                  </a:lnTo>
                  <a:lnTo>
                    <a:pt x="1722789" y="181808"/>
                  </a:lnTo>
                  <a:lnTo>
                    <a:pt x="1771150" y="171780"/>
                  </a:lnTo>
                  <a:lnTo>
                    <a:pt x="1819538" y="162036"/>
                  </a:lnTo>
                  <a:lnTo>
                    <a:pt x="1867953" y="152577"/>
                  </a:lnTo>
                  <a:lnTo>
                    <a:pt x="1916396" y="143402"/>
                  </a:lnTo>
                  <a:lnTo>
                    <a:pt x="1964867" y="134511"/>
                  </a:lnTo>
                  <a:lnTo>
                    <a:pt x="2013364" y="125905"/>
                  </a:lnTo>
                  <a:lnTo>
                    <a:pt x="2061889" y="117584"/>
                  </a:lnTo>
                  <a:lnTo>
                    <a:pt x="2110441" y="109546"/>
                  </a:lnTo>
                  <a:lnTo>
                    <a:pt x="2159021" y="101794"/>
                  </a:lnTo>
                  <a:lnTo>
                    <a:pt x="2207628" y="94326"/>
                  </a:lnTo>
                  <a:lnTo>
                    <a:pt x="2256262" y="87142"/>
                  </a:lnTo>
                  <a:lnTo>
                    <a:pt x="2304923" y="80243"/>
                  </a:lnTo>
                  <a:lnTo>
                    <a:pt x="2353612" y="73628"/>
                  </a:lnTo>
                  <a:lnTo>
                    <a:pt x="2402328" y="67298"/>
                  </a:lnTo>
                  <a:lnTo>
                    <a:pt x="2451072" y="61253"/>
                  </a:lnTo>
                  <a:lnTo>
                    <a:pt x="2499843" y="55491"/>
                  </a:lnTo>
                  <a:lnTo>
                    <a:pt x="2548641" y="50015"/>
                  </a:lnTo>
                  <a:lnTo>
                    <a:pt x="2597466" y="44822"/>
                  </a:lnTo>
                  <a:lnTo>
                    <a:pt x="2646319" y="39915"/>
                  </a:lnTo>
                  <a:lnTo>
                    <a:pt x="2695199" y="35291"/>
                  </a:lnTo>
                  <a:lnTo>
                    <a:pt x="2744107" y="30953"/>
                  </a:lnTo>
                  <a:lnTo>
                    <a:pt x="2793042" y="26898"/>
                  </a:lnTo>
                  <a:lnTo>
                    <a:pt x="2842004" y="23128"/>
                  </a:lnTo>
                  <a:lnTo>
                    <a:pt x="2890993" y="19643"/>
                  </a:lnTo>
                  <a:lnTo>
                    <a:pt x="2940010" y="16442"/>
                  </a:lnTo>
                  <a:lnTo>
                    <a:pt x="2989055" y="13526"/>
                  </a:lnTo>
                  <a:lnTo>
                    <a:pt x="3038126" y="10894"/>
                  </a:lnTo>
                  <a:lnTo>
                    <a:pt x="3087225" y="8546"/>
                  </a:lnTo>
                  <a:lnTo>
                    <a:pt x="3136351" y="6483"/>
                  </a:lnTo>
                  <a:lnTo>
                    <a:pt x="3185505" y="4705"/>
                  </a:lnTo>
                  <a:lnTo>
                    <a:pt x="3234685" y="3211"/>
                  </a:lnTo>
                  <a:lnTo>
                    <a:pt x="3283894" y="2001"/>
                  </a:lnTo>
                  <a:lnTo>
                    <a:pt x="3333129" y="1076"/>
                  </a:lnTo>
                  <a:lnTo>
                    <a:pt x="3382392" y="436"/>
                  </a:lnTo>
                  <a:lnTo>
                    <a:pt x="3431682" y="80"/>
                  </a:lnTo>
                  <a:lnTo>
                    <a:pt x="3480999" y="8"/>
                  </a:lnTo>
                  <a:lnTo>
                    <a:pt x="3530344" y="221"/>
                  </a:lnTo>
                  <a:lnTo>
                    <a:pt x="3579716" y="719"/>
                  </a:lnTo>
                  <a:lnTo>
                    <a:pt x="3629116" y="1500"/>
                  </a:lnTo>
                  <a:lnTo>
                    <a:pt x="3678543" y="2567"/>
                  </a:lnTo>
                  <a:lnTo>
                    <a:pt x="3727997" y="3918"/>
                  </a:lnTo>
                  <a:lnTo>
                    <a:pt x="3777478" y="5553"/>
                  </a:lnTo>
                  <a:lnTo>
                    <a:pt x="3826987" y="7473"/>
                  </a:lnTo>
                  <a:lnTo>
                    <a:pt x="3876523" y="9677"/>
                  </a:lnTo>
                  <a:lnTo>
                    <a:pt x="3926087" y="12166"/>
                  </a:lnTo>
                  <a:lnTo>
                    <a:pt x="3975678" y="14939"/>
                  </a:lnTo>
                  <a:lnTo>
                    <a:pt x="4025296" y="17997"/>
                  </a:lnTo>
                  <a:lnTo>
                    <a:pt x="4074941" y="21339"/>
                  </a:lnTo>
                  <a:lnTo>
                    <a:pt x="4124614" y="24966"/>
                  </a:lnTo>
                  <a:lnTo>
                    <a:pt x="4174314" y="28877"/>
                  </a:lnTo>
                  <a:lnTo>
                    <a:pt x="4224042" y="33072"/>
                  </a:lnTo>
                  <a:lnTo>
                    <a:pt x="4273796" y="37553"/>
                  </a:lnTo>
                  <a:lnTo>
                    <a:pt x="4323579" y="42317"/>
                  </a:lnTo>
                  <a:lnTo>
                    <a:pt x="4373388" y="47366"/>
                  </a:lnTo>
                  <a:lnTo>
                    <a:pt x="4423225" y="52700"/>
                  </a:lnTo>
                  <a:lnTo>
                    <a:pt x="4473089" y="58318"/>
                  </a:lnTo>
                  <a:lnTo>
                    <a:pt x="4522980" y="64220"/>
                  </a:lnTo>
                  <a:lnTo>
                    <a:pt x="4572899" y="70407"/>
                  </a:lnTo>
                  <a:lnTo>
                    <a:pt x="4622845" y="76879"/>
                  </a:lnTo>
                  <a:lnTo>
                    <a:pt x="4672819" y="83635"/>
                  </a:lnTo>
                  <a:lnTo>
                    <a:pt x="4722820" y="90675"/>
                  </a:lnTo>
                  <a:lnTo>
                    <a:pt x="4772848" y="98000"/>
                  </a:lnTo>
                  <a:lnTo>
                    <a:pt x="4822903" y="105610"/>
                  </a:lnTo>
                  <a:lnTo>
                    <a:pt x="4872986" y="113504"/>
                  </a:lnTo>
                  <a:lnTo>
                    <a:pt x="4923096" y="121682"/>
                  </a:lnTo>
                  <a:lnTo>
                    <a:pt x="4973233" y="130145"/>
                  </a:lnTo>
                  <a:lnTo>
                    <a:pt x="5023398" y="138892"/>
                  </a:lnTo>
                  <a:lnTo>
                    <a:pt x="5073590" y="147924"/>
                  </a:lnTo>
                  <a:lnTo>
                    <a:pt x="5123810" y="157240"/>
                  </a:lnTo>
                  <a:lnTo>
                    <a:pt x="5174057" y="166841"/>
                  </a:lnTo>
                  <a:lnTo>
                    <a:pt x="5224331" y="176727"/>
                  </a:lnTo>
                  <a:lnTo>
                    <a:pt x="5274632" y="186896"/>
                  </a:lnTo>
                  <a:lnTo>
                    <a:pt x="5324961" y="197351"/>
                  </a:lnTo>
                  <a:lnTo>
                    <a:pt x="5337350" y="20003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8" name="object 8"/>
            <p:cNvSpPr/>
            <p:nvPr/>
          </p:nvSpPr>
          <p:spPr>
            <a:xfrm>
              <a:off x="9260945" y="3055848"/>
              <a:ext cx="132080" cy="119380"/>
            </a:xfrm>
            <a:custGeom>
              <a:avLst/>
              <a:gdLst/>
              <a:ahLst/>
              <a:cxnLst/>
              <a:rect l="l" t="t" r="r" b="b"/>
              <a:pathLst>
                <a:path w="132079" h="119380">
                  <a:moveTo>
                    <a:pt x="25858" y="0"/>
                  </a:moveTo>
                  <a:lnTo>
                    <a:pt x="0" y="119146"/>
                  </a:lnTo>
                  <a:lnTo>
                    <a:pt x="132074" y="85431"/>
                  </a:lnTo>
                  <a:lnTo>
                    <a:pt x="25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51039" y="6072188"/>
            <a:ext cx="178594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spc="-35" dirty="0">
                <a:latin typeface="Arial"/>
                <a:cs typeface="Arial"/>
              </a:rPr>
              <a:t>z</a:t>
            </a:r>
            <a:endParaRPr sz="2531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26649" y="6072188"/>
            <a:ext cx="196900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spc="-35" dirty="0">
                <a:latin typeface="Arial"/>
                <a:cs typeface="Arial"/>
              </a:rPr>
              <a:t>x</a:t>
            </a:r>
            <a:endParaRPr sz="2531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7671" y="1656031"/>
            <a:ext cx="108049" cy="37693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391" spc="-35" dirty="0">
                <a:latin typeface="Arial MT"/>
                <a:cs typeface="Arial MT"/>
              </a:rPr>
              <a:t>f</a:t>
            </a:r>
            <a:endParaRPr sz="2391">
              <a:latin typeface="Arial MT"/>
              <a:cs typeface="Arial MT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91C6CC5-02E5-EE05-F198-1B9C8B10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9A2D0-04CC-4496-8570-BBDB06E6D663}" type="datetime1">
              <a:rPr lang="en-US" smtClean="0"/>
              <a:t>2/18/2025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46E679-FA00-730F-3CEF-42B30403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0A97D7-B606-5C31-BFAB-F7F55514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86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Latent</a:t>
            </a:r>
            <a:r>
              <a:rPr dirty="0"/>
              <a:t> </a:t>
            </a:r>
            <a:r>
              <a:rPr spc="-10" dirty="0"/>
              <a:t>variable</a:t>
            </a:r>
            <a:r>
              <a:rPr dirty="0"/>
              <a:t> </a:t>
            </a:r>
            <a:r>
              <a:rPr spc="-5" dirty="0"/>
              <a:t>models</a:t>
            </a:r>
            <a:r>
              <a:rPr dirty="0"/>
              <a:t> in deep</a:t>
            </a:r>
            <a:r>
              <a:rPr spc="5" dirty="0"/>
              <a:t> </a:t>
            </a:r>
            <a:r>
              <a:rPr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677" y="2417826"/>
            <a:ext cx="231013" cy="76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90217" y="1860676"/>
            <a:ext cx="707390" cy="1141730"/>
            <a:chOff x="1990217" y="1860676"/>
            <a:chExt cx="707390" cy="11417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92" y="1863851"/>
              <a:ext cx="701039" cy="11353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3392" y="1863851"/>
              <a:ext cx="701040" cy="1135380"/>
            </a:xfrm>
            <a:custGeom>
              <a:avLst/>
              <a:gdLst/>
              <a:ahLst/>
              <a:cxnLst/>
              <a:rect l="l" t="t" r="r" b="b"/>
              <a:pathLst>
                <a:path w="701039" h="1135380">
                  <a:moveTo>
                    <a:pt x="701039" y="1135380"/>
                  </a:moveTo>
                  <a:lnTo>
                    <a:pt x="701039" y="0"/>
                  </a:lnTo>
                  <a:lnTo>
                    <a:pt x="0" y="227075"/>
                  </a:lnTo>
                  <a:lnTo>
                    <a:pt x="0" y="908303"/>
                  </a:lnTo>
                  <a:lnTo>
                    <a:pt x="701039" y="113538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3398" y="2394966"/>
            <a:ext cx="231012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3260" y="1863851"/>
            <a:ext cx="1930908" cy="11399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1388" y="3172967"/>
            <a:ext cx="765048" cy="2529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08" y="3172967"/>
            <a:ext cx="435864" cy="2529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3585971"/>
            <a:ext cx="774192" cy="2590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33678" y="4051807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15" dirty="0">
                <a:latin typeface="Calibri"/>
                <a:cs typeface="Calibri"/>
              </a:rPr>
              <a:t> 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generation</a:t>
            </a:r>
            <a:r>
              <a:rPr sz="1800" spc="-1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5296" y="4578096"/>
            <a:ext cx="2026919" cy="2529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5296" y="5041391"/>
            <a:ext cx="2269236" cy="25298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93393" y="4532503"/>
            <a:ext cx="7845425" cy="1005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846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“generate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-5" dirty="0">
                <a:latin typeface="Calibri"/>
                <a:cs typeface="Calibri"/>
              </a:rPr>
              <a:t> of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numbers”</a:t>
            </a:r>
            <a:endParaRPr sz="1800" dirty="0">
              <a:latin typeface="Calibri"/>
              <a:cs typeface="Calibri"/>
            </a:endParaRPr>
          </a:p>
          <a:p>
            <a:pPr marL="2958465">
              <a:lnSpc>
                <a:spcPct val="100000"/>
              </a:lnSpc>
              <a:spcBef>
                <a:spcPts val="1485"/>
              </a:spcBef>
            </a:pPr>
            <a:r>
              <a:rPr sz="1800" spc="-5" dirty="0">
                <a:latin typeface="Calibri"/>
                <a:cs typeface="Calibri"/>
              </a:rPr>
              <a:t>“turn 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5" dirty="0">
                <a:latin typeface="Calibri"/>
                <a:cs typeface="Calibri"/>
              </a:rPr>
              <a:t>image”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29741" y="1909445"/>
            <a:ext cx="238125" cy="1045844"/>
            <a:chOff x="1229741" y="1909445"/>
            <a:chExt cx="238125" cy="1045844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2916" y="1912620"/>
              <a:ext cx="231647" cy="10393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32916" y="1912620"/>
              <a:ext cx="231775" cy="1039494"/>
            </a:xfrm>
            <a:custGeom>
              <a:avLst/>
              <a:gdLst/>
              <a:ahLst/>
              <a:cxnLst/>
              <a:rect l="l" t="t" r="r" b="b"/>
              <a:pathLst>
                <a:path w="231775" h="1039494">
                  <a:moveTo>
                    <a:pt x="0" y="1039367"/>
                  </a:moveTo>
                  <a:lnTo>
                    <a:pt x="231647" y="1039367"/>
                  </a:lnTo>
                  <a:lnTo>
                    <a:pt x="231647" y="0"/>
                  </a:lnTo>
                  <a:lnTo>
                    <a:pt x="0" y="0"/>
                  </a:lnTo>
                  <a:lnTo>
                    <a:pt x="0" y="10393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5400" y="2378964"/>
              <a:ext cx="108203" cy="1143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022847" y="1882139"/>
            <a:ext cx="4447540" cy="9239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0805" marR="43815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latent</a:t>
            </a:r>
            <a:r>
              <a:rPr sz="1800" spc="-5" dirty="0">
                <a:latin typeface="Calibri"/>
                <a:cs typeface="Calibri"/>
              </a:rPr>
              <a:t> variable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deep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generative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(usually)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just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 </a:t>
            </a:r>
            <a:r>
              <a:rPr sz="1800" spc="-5" dirty="0">
                <a:latin typeface="Calibri"/>
                <a:cs typeface="Calibri"/>
              </a:rPr>
              <a:t>that turns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5" dirty="0">
                <a:latin typeface="Calibri"/>
                <a:cs typeface="Calibri"/>
              </a:rPr>
              <a:t> images)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22847" y="3008562"/>
            <a:ext cx="4447540" cy="6464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805" marR="26352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There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models: </a:t>
            </a:r>
            <a:r>
              <a:rPr sz="1800" spc="-20" dirty="0">
                <a:latin typeface="Calibri"/>
                <a:cs typeface="Calibri"/>
              </a:rPr>
              <a:t>VAEs,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GANs,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flows,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7147081-B703-78E7-391A-B8D5851F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AAF8F-E0CC-404A-87D1-497223B100D9}" type="datetime1">
              <a:rPr lang="en-US" smtClean="0"/>
              <a:t>2/18/2025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07076CD2-D122-152A-6E20-60754438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618EB3D-4C9A-61FA-E622-8556167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76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Representing</a:t>
            </a:r>
            <a:r>
              <a:rPr spc="-30" dirty="0"/>
              <a:t> </a:t>
            </a:r>
            <a:r>
              <a:rPr spc="-25" dirty="0"/>
              <a:t>latent</a:t>
            </a:r>
            <a:r>
              <a:rPr spc="25" dirty="0"/>
              <a:t> </a:t>
            </a:r>
            <a:r>
              <a:rPr spc="-10" dirty="0"/>
              <a:t>variable</a:t>
            </a:r>
            <a:r>
              <a:rPr spc="-15" dirty="0"/>
              <a:t> </a:t>
            </a:r>
            <a:r>
              <a:rPr spc="-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14677" y="1661541"/>
            <a:ext cx="1419860" cy="1764664"/>
            <a:chOff x="1614677" y="1661541"/>
            <a:chExt cx="1419860" cy="17646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677" y="2417826"/>
              <a:ext cx="231013" cy="7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91" y="1863852"/>
              <a:ext cx="701039" cy="11353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3391" y="1863852"/>
              <a:ext cx="701040" cy="1135380"/>
            </a:xfrm>
            <a:custGeom>
              <a:avLst/>
              <a:gdLst/>
              <a:ahLst/>
              <a:cxnLst/>
              <a:rect l="l" t="t" r="r" b="b"/>
              <a:pathLst>
                <a:path w="701039" h="1135380">
                  <a:moveTo>
                    <a:pt x="701039" y="1135380"/>
                  </a:moveTo>
                  <a:lnTo>
                    <a:pt x="701039" y="0"/>
                  </a:lnTo>
                  <a:lnTo>
                    <a:pt x="0" y="227075"/>
                  </a:lnTo>
                  <a:lnTo>
                    <a:pt x="0" y="908303"/>
                  </a:lnTo>
                  <a:lnTo>
                    <a:pt x="701039" y="113538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3397" y="2394966"/>
              <a:ext cx="231012" cy="7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7" y="3172968"/>
              <a:ext cx="765048" cy="2529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86127" y="1690116"/>
              <a:ext cx="1173480" cy="1483360"/>
            </a:xfrm>
            <a:custGeom>
              <a:avLst/>
              <a:gdLst/>
              <a:ahLst/>
              <a:cxnLst/>
              <a:rect l="l" t="t" r="r" b="b"/>
              <a:pathLst>
                <a:path w="1173480" h="1483360">
                  <a:moveTo>
                    <a:pt x="0" y="741426"/>
                  </a:moveTo>
                  <a:lnTo>
                    <a:pt x="1472" y="688479"/>
                  </a:lnTo>
                  <a:lnTo>
                    <a:pt x="5825" y="636538"/>
                  </a:lnTo>
                  <a:lnTo>
                    <a:pt x="12958" y="585726"/>
                  </a:lnTo>
                  <a:lnTo>
                    <a:pt x="22772" y="536169"/>
                  </a:lnTo>
                  <a:lnTo>
                    <a:pt x="35168" y="487992"/>
                  </a:lnTo>
                  <a:lnTo>
                    <a:pt x="50048" y="441322"/>
                  </a:lnTo>
                  <a:lnTo>
                    <a:pt x="67310" y="396284"/>
                  </a:lnTo>
                  <a:lnTo>
                    <a:pt x="86858" y="353003"/>
                  </a:lnTo>
                  <a:lnTo>
                    <a:pt x="108590" y="311605"/>
                  </a:lnTo>
                  <a:lnTo>
                    <a:pt x="132409" y="272215"/>
                  </a:lnTo>
                  <a:lnTo>
                    <a:pt x="158214" y="234958"/>
                  </a:lnTo>
                  <a:lnTo>
                    <a:pt x="185907" y="199961"/>
                  </a:lnTo>
                  <a:lnTo>
                    <a:pt x="215388" y="167349"/>
                  </a:lnTo>
                  <a:lnTo>
                    <a:pt x="246559" y="137247"/>
                  </a:lnTo>
                  <a:lnTo>
                    <a:pt x="279319" y="109781"/>
                  </a:lnTo>
                  <a:lnTo>
                    <a:pt x="313570" y="85076"/>
                  </a:lnTo>
                  <a:lnTo>
                    <a:pt x="349213" y="63257"/>
                  </a:lnTo>
                  <a:lnTo>
                    <a:pt x="386149" y="44452"/>
                  </a:lnTo>
                  <a:lnTo>
                    <a:pt x="424277" y="28784"/>
                  </a:lnTo>
                  <a:lnTo>
                    <a:pt x="463500" y="16379"/>
                  </a:lnTo>
                  <a:lnTo>
                    <a:pt x="503717" y="7363"/>
                  </a:lnTo>
                  <a:lnTo>
                    <a:pt x="544830" y="1861"/>
                  </a:lnTo>
                  <a:lnTo>
                    <a:pt x="586740" y="0"/>
                  </a:lnTo>
                  <a:lnTo>
                    <a:pt x="628649" y="1861"/>
                  </a:lnTo>
                  <a:lnTo>
                    <a:pt x="669762" y="7363"/>
                  </a:lnTo>
                  <a:lnTo>
                    <a:pt x="709979" y="16379"/>
                  </a:lnTo>
                  <a:lnTo>
                    <a:pt x="749202" y="28784"/>
                  </a:lnTo>
                  <a:lnTo>
                    <a:pt x="787330" y="44452"/>
                  </a:lnTo>
                  <a:lnTo>
                    <a:pt x="824266" y="63257"/>
                  </a:lnTo>
                  <a:lnTo>
                    <a:pt x="859909" y="85076"/>
                  </a:lnTo>
                  <a:lnTo>
                    <a:pt x="894160" y="109781"/>
                  </a:lnTo>
                  <a:lnTo>
                    <a:pt x="926920" y="137247"/>
                  </a:lnTo>
                  <a:lnTo>
                    <a:pt x="958091" y="167349"/>
                  </a:lnTo>
                  <a:lnTo>
                    <a:pt x="987572" y="199961"/>
                  </a:lnTo>
                  <a:lnTo>
                    <a:pt x="1015265" y="234958"/>
                  </a:lnTo>
                  <a:lnTo>
                    <a:pt x="1041070" y="272215"/>
                  </a:lnTo>
                  <a:lnTo>
                    <a:pt x="1064889" y="311605"/>
                  </a:lnTo>
                  <a:lnTo>
                    <a:pt x="1086621" y="353003"/>
                  </a:lnTo>
                  <a:lnTo>
                    <a:pt x="1106169" y="396284"/>
                  </a:lnTo>
                  <a:lnTo>
                    <a:pt x="1123431" y="441322"/>
                  </a:lnTo>
                  <a:lnTo>
                    <a:pt x="1138311" y="487992"/>
                  </a:lnTo>
                  <a:lnTo>
                    <a:pt x="1150707" y="536169"/>
                  </a:lnTo>
                  <a:lnTo>
                    <a:pt x="1160521" y="585726"/>
                  </a:lnTo>
                  <a:lnTo>
                    <a:pt x="1167654" y="636538"/>
                  </a:lnTo>
                  <a:lnTo>
                    <a:pt x="1172007" y="688479"/>
                  </a:lnTo>
                  <a:lnTo>
                    <a:pt x="1173480" y="741426"/>
                  </a:lnTo>
                  <a:lnTo>
                    <a:pt x="1172007" y="794372"/>
                  </a:lnTo>
                  <a:lnTo>
                    <a:pt x="1167654" y="846313"/>
                  </a:lnTo>
                  <a:lnTo>
                    <a:pt x="1160521" y="897125"/>
                  </a:lnTo>
                  <a:lnTo>
                    <a:pt x="1150707" y="946682"/>
                  </a:lnTo>
                  <a:lnTo>
                    <a:pt x="1138311" y="994859"/>
                  </a:lnTo>
                  <a:lnTo>
                    <a:pt x="1123431" y="1041529"/>
                  </a:lnTo>
                  <a:lnTo>
                    <a:pt x="1106169" y="1086567"/>
                  </a:lnTo>
                  <a:lnTo>
                    <a:pt x="1086621" y="1129848"/>
                  </a:lnTo>
                  <a:lnTo>
                    <a:pt x="1064889" y="1171246"/>
                  </a:lnTo>
                  <a:lnTo>
                    <a:pt x="1041070" y="1210636"/>
                  </a:lnTo>
                  <a:lnTo>
                    <a:pt x="1015265" y="1247893"/>
                  </a:lnTo>
                  <a:lnTo>
                    <a:pt x="987572" y="1282890"/>
                  </a:lnTo>
                  <a:lnTo>
                    <a:pt x="958091" y="1315502"/>
                  </a:lnTo>
                  <a:lnTo>
                    <a:pt x="926920" y="1345604"/>
                  </a:lnTo>
                  <a:lnTo>
                    <a:pt x="894160" y="1373070"/>
                  </a:lnTo>
                  <a:lnTo>
                    <a:pt x="859909" y="1397775"/>
                  </a:lnTo>
                  <a:lnTo>
                    <a:pt x="824266" y="1419594"/>
                  </a:lnTo>
                  <a:lnTo>
                    <a:pt x="787330" y="1438399"/>
                  </a:lnTo>
                  <a:lnTo>
                    <a:pt x="749202" y="1454067"/>
                  </a:lnTo>
                  <a:lnTo>
                    <a:pt x="709979" y="1466472"/>
                  </a:lnTo>
                  <a:lnTo>
                    <a:pt x="669762" y="1475488"/>
                  </a:lnTo>
                  <a:lnTo>
                    <a:pt x="628649" y="1480990"/>
                  </a:lnTo>
                  <a:lnTo>
                    <a:pt x="586740" y="1482852"/>
                  </a:lnTo>
                  <a:lnTo>
                    <a:pt x="544830" y="1480990"/>
                  </a:lnTo>
                  <a:lnTo>
                    <a:pt x="503717" y="1475488"/>
                  </a:lnTo>
                  <a:lnTo>
                    <a:pt x="463500" y="1466472"/>
                  </a:lnTo>
                  <a:lnTo>
                    <a:pt x="424277" y="1454067"/>
                  </a:lnTo>
                  <a:lnTo>
                    <a:pt x="386149" y="1438399"/>
                  </a:lnTo>
                  <a:lnTo>
                    <a:pt x="349213" y="1419594"/>
                  </a:lnTo>
                  <a:lnTo>
                    <a:pt x="313570" y="1397775"/>
                  </a:lnTo>
                  <a:lnTo>
                    <a:pt x="279319" y="1373070"/>
                  </a:lnTo>
                  <a:lnTo>
                    <a:pt x="246559" y="1345604"/>
                  </a:lnTo>
                  <a:lnTo>
                    <a:pt x="215388" y="1315502"/>
                  </a:lnTo>
                  <a:lnTo>
                    <a:pt x="185907" y="1282890"/>
                  </a:lnTo>
                  <a:lnTo>
                    <a:pt x="158214" y="1247893"/>
                  </a:lnTo>
                  <a:lnTo>
                    <a:pt x="132409" y="1210636"/>
                  </a:lnTo>
                  <a:lnTo>
                    <a:pt x="108590" y="1171246"/>
                  </a:lnTo>
                  <a:lnTo>
                    <a:pt x="86858" y="1129848"/>
                  </a:lnTo>
                  <a:lnTo>
                    <a:pt x="67310" y="1086567"/>
                  </a:lnTo>
                  <a:lnTo>
                    <a:pt x="50048" y="1041529"/>
                  </a:lnTo>
                  <a:lnTo>
                    <a:pt x="35168" y="994859"/>
                  </a:lnTo>
                  <a:lnTo>
                    <a:pt x="22772" y="946682"/>
                  </a:lnTo>
                  <a:lnTo>
                    <a:pt x="12958" y="897125"/>
                  </a:lnTo>
                  <a:lnTo>
                    <a:pt x="5825" y="846313"/>
                  </a:lnTo>
                  <a:lnTo>
                    <a:pt x="1472" y="794372"/>
                  </a:lnTo>
                  <a:lnTo>
                    <a:pt x="0" y="741426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23260" y="1863851"/>
            <a:ext cx="1930908" cy="11399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08" y="3172967"/>
            <a:ext cx="435864" cy="2529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3585971"/>
            <a:ext cx="774192" cy="25907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229741" y="1909445"/>
            <a:ext cx="238125" cy="1045844"/>
            <a:chOff x="1229741" y="1909445"/>
            <a:chExt cx="238125" cy="1045844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916" y="1912620"/>
              <a:ext cx="231647" cy="10393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32916" y="1912620"/>
              <a:ext cx="231775" cy="1039494"/>
            </a:xfrm>
            <a:custGeom>
              <a:avLst/>
              <a:gdLst/>
              <a:ahLst/>
              <a:cxnLst/>
              <a:rect l="l" t="t" r="r" b="b"/>
              <a:pathLst>
                <a:path w="231775" h="1039494">
                  <a:moveTo>
                    <a:pt x="0" y="1039367"/>
                  </a:moveTo>
                  <a:lnTo>
                    <a:pt x="231647" y="1039367"/>
                  </a:lnTo>
                  <a:lnTo>
                    <a:pt x="231647" y="0"/>
                  </a:lnTo>
                  <a:lnTo>
                    <a:pt x="0" y="0"/>
                  </a:lnTo>
                  <a:lnTo>
                    <a:pt x="0" y="10393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5400" y="2378964"/>
              <a:ext cx="108203" cy="1143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229357" y="3133471"/>
            <a:ext cx="6629400" cy="168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45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architecture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should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use?</a:t>
            </a: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 marL="1187450" marR="5080" indent="-1174750">
              <a:lnSpc>
                <a:spcPct val="119800"/>
              </a:lnSpc>
            </a:pPr>
            <a:r>
              <a:rPr sz="1800" b="1" spc="-15" dirty="0">
                <a:latin typeface="Calibri"/>
                <a:cs typeface="Calibri"/>
              </a:rPr>
              <a:t>Easy </a:t>
            </a:r>
            <a:r>
              <a:rPr sz="1800" b="1" spc="-5" dirty="0">
                <a:latin typeface="Calibri"/>
                <a:cs typeface="Calibri"/>
              </a:rPr>
              <a:t>choice: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just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5" dirty="0">
                <a:latin typeface="Calibri"/>
                <a:cs typeface="Calibri"/>
              </a:rPr>
              <a:t>big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fully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(linear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ReLU) 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 </a:t>
            </a:r>
            <a:r>
              <a:rPr sz="1800" spc="-5" dirty="0">
                <a:latin typeface="Calibri"/>
                <a:cs typeface="Calibri"/>
              </a:rPr>
              <a:t>well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tiny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5" dirty="0">
                <a:latin typeface="Calibri"/>
                <a:cs typeface="Calibri"/>
              </a:rPr>
              <a:t> MNIST)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non-image </a:t>
            </a:r>
            <a:r>
              <a:rPr sz="1800" spc="-15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Better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choice: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transpose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94430" y="4874261"/>
            <a:ext cx="3729354" cy="1678939"/>
            <a:chOff x="2473451" y="4986909"/>
            <a:chExt cx="3729354" cy="1678939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73451" y="5015484"/>
              <a:ext cx="3432048" cy="165029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59351" y="5015484"/>
              <a:ext cx="2214880" cy="1386840"/>
            </a:xfrm>
            <a:custGeom>
              <a:avLst/>
              <a:gdLst/>
              <a:ahLst/>
              <a:cxnLst/>
              <a:rect l="l" t="t" r="r" b="b"/>
              <a:pathLst>
                <a:path w="2214879" h="1386839">
                  <a:moveTo>
                    <a:pt x="0" y="693420"/>
                  </a:moveTo>
                  <a:lnTo>
                    <a:pt x="6087" y="620277"/>
                  </a:lnTo>
                  <a:lnTo>
                    <a:pt x="23942" y="549326"/>
                  </a:lnTo>
                  <a:lnTo>
                    <a:pt x="52951" y="480949"/>
                  </a:lnTo>
                  <a:lnTo>
                    <a:pt x="92504" y="415532"/>
                  </a:lnTo>
                  <a:lnTo>
                    <a:pt x="116043" y="384053"/>
                  </a:lnTo>
                  <a:lnTo>
                    <a:pt x="141988" y="353458"/>
                  </a:lnTo>
                  <a:lnTo>
                    <a:pt x="170263" y="323794"/>
                  </a:lnTo>
                  <a:lnTo>
                    <a:pt x="200791" y="295109"/>
                  </a:lnTo>
                  <a:lnTo>
                    <a:pt x="233495" y="267453"/>
                  </a:lnTo>
                  <a:lnTo>
                    <a:pt x="268300" y="240871"/>
                  </a:lnTo>
                  <a:lnTo>
                    <a:pt x="305129" y="215413"/>
                  </a:lnTo>
                  <a:lnTo>
                    <a:pt x="343905" y="191126"/>
                  </a:lnTo>
                  <a:lnTo>
                    <a:pt x="384551" y="168059"/>
                  </a:lnTo>
                  <a:lnTo>
                    <a:pt x="426992" y="146259"/>
                  </a:lnTo>
                  <a:lnTo>
                    <a:pt x="471150" y="125774"/>
                  </a:lnTo>
                  <a:lnTo>
                    <a:pt x="516950" y="106652"/>
                  </a:lnTo>
                  <a:lnTo>
                    <a:pt x="564315" y="88941"/>
                  </a:lnTo>
                  <a:lnTo>
                    <a:pt x="613167" y="72690"/>
                  </a:lnTo>
                  <a:lnTo>
                    <a:pt x="663431" y="57945"/>
                  </a:lnTo>
                  <a:lnTo>
                    <a:pt x="715031" y="44756"/>
                  </a:lnTo>
                  <a:lnTo>
                    <a:pt x="767889" y="33170"/>
                  </a:lnTo>
                  <a:lnTo>
                    <a:pt x="821929" y="23234"/>
                  </a:lnTo>
                  <a:lnTo>
                    <a:pt x="877075" y="14998"/>
                  </a:lnTo>
                  <a:lnTo>
                    <a:pt x="933250" y="8508"/>
                  </a:lnTo>
                  <a:lnTo>
                    <a:pt x="990378" y="3813"/>
                  </a:lnTo>
                  <a:lnTo>
                    <a:pt x="1048382" y="961"/>
                  </a:lnTo>
                  <a:lnTo>
                    <a:pt x="1107186" y="0"/>
                  </a:lnTo>
                  <a:lnTo>
                    <a:pt x="1165989" y="961"/>
                  </a:lnTo>
                  <a:lnTo>
                    <a:pt x="1223993" y="3813"/>
                  </a:lnTo>
                  <a:lnTo>
                    <a:pt x="1281121" y="8508"/>
                  </a:lnTo>
                  <a:lnTo>
                    <a:pt x="1337296" y="14998"/>
                  </a:lnTo>
                  <a:lnTo>
                    <a:pt x="1392442" y="23234"/>
                  </a:lnTo>
                  <a:lnTo>
                    <a:pt x="1446482" y="33170"/>
                  </a:lnTo>
                  <a:lnTo>
                    <a:pt x="1499340" y="44756"/>
                  </a:lnTo>
                  <a:lnTo>
                    <a:pt x="1550940" y="57945"/>
                  </a:lnTo>
                  <a:lnTo>
                    <a:pt x="1601204" y="72690"/>
                  </a:lnTo>
                  <a:lnTo>
                    <a:pt x="1650056" y="88941"/>
                  </a:lnTo>
                  <a:lnTo>
                    <a:pt x="1697421" y="106652"/>
                  </a:lnTo>
                  <a:lnTo>
                    <a:pt x="1743221" y="125774"/>
                  </a:lnTo>
                  <a:lnTo>
                    <a:pt x="1787379" y="146259"/>
                  </a:lnTo>
                  <a:lnTo>
                    <a:pt x="1829820" y="168059"/>
                  </a:lnTo>
                  <a:lnTo>
                    <a:pt x="1870466" y="191126"/>
                  </a:lnTo>
                  <a:lnTo>
                    <a:pt x="1909242" y="215413"/>
                  </a:lnTo>
                  <a:lnTo>
                    <a:pt x="1946071" y="240871"/>
                  </a:lnTo>
                  <a:lnTo>
                    <a:pt x="1980876" y="267453"/>
                  </a:lnTo>
                  <a:lnTo>
                    <a:pt x="2013580" y="295109"/>
                  </a:lnTo>
                  <a:lnTo>
                    <a:pt x="2044108" y="323794"/>
                  </a:lnTo>
                  <a:lnTo>
                    <a:pt x="2072383" y="353458"/>
                  </a:lnTo>
                  <a:lnTo>
                    <a:pt x="2098328" y="384053"/>
                  </a:lnTo>
                  <a:lnTo>
                    <a:pt x="2121867" y="415532"/>
                  </a:lnTo>
                  <a:lnTo>
                    <a:pt x="2142923" y="447847"/>
                  </a:lnTo>
                  <a:lnTo>
                    <a:pt x="2177281" y="514792"/>
                  </a:lnTo>
                  <a:lnTo>
                    <a:pt x="2200789" y="584503"/>
                  </a:lnTo>
                  <a:lnTo>
                    <a:pt x="2212837" y="656598"/>
                  </a:lnTo>
                  <a:lnTo>
                    <a:pt x="2214372" y="693420"/>
                  </a:lnTo>
                  <a:lnTo>
                    <a:pt x="2212837" y="730247"/>
                  </a:lnTo>
                  <a:lnTo>
                    <a:pt x="2200789" y="802351"/>
                  </a:lnTo>
                  <a:lnTo>
                    <a:pt x="2177281" y="872069"/>
                  </a:lnTo>
                  <a:lnTo>
                    <a:pt x="2142923" y="939018"/>
                  </a:lnTo>
                  <a:lnTo>
                    <a:pt x="2121867" y="971334"/>
                  </a:lnTo>
                  <a:lnTo>
                    <a:pt x="2098328" y="1002814"/>
                  </a:lnTo>
                  <a:lnTo>
                    <a:pt x="2072383" y="1033409"/>
                  </a:lnTo>
                  <a:lnTo>
                    <a:pt x="2044108" y="1063073"/>
                  </a:lnTo>
                  <a:lnTo>
                    <a:pt x="2013580" y="1091757"/>
                  </a:lnTo>
                  <a:lnTo>
                    <a:pt x="1980876" y="1119413"/>
                  </a:lnTo>
                  <a:lnTo>
                    <a:pt x="1946071" y="1145994"/>
                  </a:lnTo>
                  <a:lnTo>
                    <a:pt x="1909242" y="1171451"/>
                  </a:lnTo>
                  <a:lnTo>
                    <a:pt x="1870466" y="1195736"/>
                  </a:lnTo>
                  <a:lnTo>
                    <a:pt x="1829820" y="1218802"/>
                  </a:lnTo>
                  <a:lnTo>
                    <a:pt x="1787379" y="1240600"/>
                  </a:lnTo>
                  <a:lnTo>
                    <a:pt x="1743221" y="1261083"/>
                  </a:lnTo>
                  <a:lnTo>
                    <a:pt x="1697421" y="1280203"/>
                  </a:lnTo>
                  <a:lnTo>
                    <a:pt x="1650056" y="1297911"/>
                  </a:lnTo>
                  <a:lnTo>
                    <a:pt x="1601204" y="1314161"/>
                  </a:lnTo>
                  <a:lnTo>
                    <a:pt x="1550940" y="1328903"/>
                  </a:lnTo>
                  <a:lnTo>
                    <a:pt x="1499340" y="1342091"/>
                  </a:lnTo>
                  <a:lnTo>
                    <a:pt x="1446482" y="1353675"/>
                  </a:lnTo>
                  <a:lnTo>
                    <a:pt x="1392442" y="1363609"/>
                  </a:lnTo>
                  <a:lnTo>
                    <a:pt x="1337296" y="1371844"/>
                  </a:lnTo>
                  <a:lnTo>
                    <a:pt x="1281121" y="1378333"/>
                  </a:lnTo>
                  <a:lnTo>
                    <a:pt x="1223993" y="1383027"/>
                  </a:lnTo>
                  <a:lnTo>
                    <a:pt x="1165989" y="1385878"/>
                  </a:lnTo>
                  <a:lnTo>
                    <a:pt x="1107186" y="1386840"/>
                  </a:lnTo>
                  <a:lnTo>
                    <a:pt x="1048382" y="1385878"/>
                  </a:lnTo>
                  <a:lnTo>
                    <a:pt x="990378" y="1383027"/>
                  </a:lnTo>
                  <a:lnTo>
                    <a:pt x="933250" y="1378333"/>
                  </a:lnTo>
                  <a:lnTo>
                    <a:pt x="877075" y="1371844"/>
                  </a:lnTo>
                  <a:lnTo>
                    <a:pt x="821929" y="1363609"/>
                  </a:lnTo>
                  <a:lnTo>
                    <a:pt x="767889" y="1353675"/>
                  </a:lnTo>
                  <a:lnTo>
                    <a:pt x="715031" y="1342091"/>
                  </a:lnTo>
                  <a:lnTo>
                    <a:pt x="663431" y="1328903"/>
                  </a:lnTo>
                  <a:lnTo>
                    <a:pt x="613167" y="1314161"/>
                  </a:lnTo>
                  <a:lnTo>
                    <a:pt x="564315" y="1297911"/>
                  </a:lnTo>
                  <a:lnTo>
                    <a:pt x="516950" y="1280203"/>
                  </a:lnTo>
                  <a:lnTo>
                    <a:pt x="471150" y="1261083"/>
                  </a:lnTo>
                  <a:lnTo>
                    <a:pt x="426992" y="1240600"/>
                  </a:lnTo>
                  <a:lnTo>
                    <a:pt x="384551" y="1218802"/>
                  </a:lnTo>
                  <a:lnTo>
                    <a:pt x="343905" y="1195736"/>
                  </a:lnTo>
                  <a:lnTo>
                    <a:pt x="305129" y="1171451"/>
                  </a:lnTo>
                  <a:lnTo>
                    <a:pt x="268300" y="1145994"/>
                  </a:lnTo>
                  <a:lnTo>
                    <a:pt x="233495" y="1119413"/>
                  </a:lnTo>
                  <a:lnTo>
                    <a:pt x="200791" y="1091757"/>
                  </a:lnTo>
                  <a:lnTo>
                    <a:pt x="170263" y="1063073"/>
                  </a:lnTo>
                  <a:lnTo>
                    <a:pt x="141988" y="1033409"/>
                  </a:lnTo>
                  <a:lnTo>
                    <a:pt x="116043" y="1002814"/>
                  </a:lnTo>
                  <a:lnTo>
                    <a:pt x="92504" y="971334"/>
                  </a:lnTo>
                  <a:lnTo>
                    <a:pt x="71448" y="939018"/>
                  </a:lnTo>
                  <a:lnTo>
                    <a:pt x="37090" y="872069"/>
                  </a:lnTo>
                  <a:lnTo>
                    <a:pt x="13582" y="802351"/>
                  </a:lnTo>
                  <a:lnTo>
                    <a:pt x="1534" y="730247"/>
                  </a:lnTo>
                  <a:lnTo>
                    <a:pt x="0" y="69342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14D23952-E3DF-7543-6948-130B8038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5FCF-CE0D-4F61-866D-1CE9A1E5683F}" type="datetime1">
              <a:rPr lang="en-US" smtClean="0"/>
              <a:t>2/18/2025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FE8178EF-8AA2-52F2-47F6-0595A57B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C0723D4-BBCB-EC32-DC70-C527E5E4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682974-C9BE-7CC4-9FD4-38F45ED21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01400" cy="4525963"/>
          </a:xfrm>
        </p:spPr>
        <p:txBody>
          <a:bodyPr>
            <a:normAutofit/>
          </a:bodyPr>
          <a:lstStyle/>
          <a:p>
            <a:r>
              <a:rPr lang="en-US" sz="2800" b="1" spc="-10" dirty="0">
                <a:latin typeface="Calibri"/>
                <a:cs typeface="Calibri"/>
              </a:rPr>
              <a:t>Transposed</a:t>
            </a:r>
            <a:r>
              <a:rPr lang="en-US" sz="2800" b="1" dirty="0">
                <a:latin typeface="Calibri"/>
                <a:cs typeface="Calibri"/>
              </a:rPr>
              <a:t> C</a:t>
            </a:r>
            <a:r>
              <a:rPr lang="en-US" sz="2800" b="1" spc="-10" dirty="0">
                <a:latin typeface="Calibri"/>
                <a:cs typeface="Calibri"/>
              </a:rPr>
              <a:t>onvolutions (</a:t>
            </a:r>
            <a:r>
              <a:rPr lang="en-US" b="1" dirty="0"/>
              <a:t>fractionally-strided or deconvolutions)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ransposed convolutional layers to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increase the spatial dimensions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Opposite to conventional convolutions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Inserting </a:t>
            </a:r>
            <a:r>
              <a:rPr lang="en-US" dirty="0">
                <a:solidFill>
                  <a:srgbClr val="FFC000"/>
                </a:solidFill>
                <a:latin typeface="Söhne"/>
              </a:rPr>
              <a:t>zeros between the input values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(up-sampling or dilating) 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Used in VAEs, GANs etc. </a:t>
            </a:r>
          </a:p>
          <a:p>
            <a:pPr lvl="1"/>
            <a:r>
              <a:rPr lang="en-US" dirty="0" err="1">
                <a:solidFill>
                  <a:srgbClr val="0D0D0D"/>
                </a:solidFill>
                <a:latin typeface="Söhne"/>
              </a:rPr>
              <a:t>Upsampling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, image generation, and semantic segmentation. 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EC966-57B5-08F8-6AC9-F2FE2FF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34C6-8EE1-4D32-849D-8D34D032B401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7556A-D5B6-0662-77F1-B9D20A51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F458F-E4C0-795E-CEDD-B771D2C4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E65F97-7162-D55C-BAFA-E0D891AF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/>
              <a:t>Representing</a:t>
            </a:r>
            <a:r>
              <a:rPr lang="en-US" spc="-30" dirty="0"/>
              <a:t> </a:t>
            </a:r>
            <a:r>
              <a:rPr lang="en-US" spc="-25" dirty="0"/>
              <a:t>latent</a:t>
            </a:r>
            <a:r>
              <a:rPr lang="en-US" spc="25" dirty="0"/>
              <a:t> </a:t>
            </a:r>
            <a:r>
              <a:rPr lang="en-US" spc="-10" dirty="0"/>
              <a:t>variable</a:t>
            </a:r>
            <a:r>
              <a:rPr lang="en-US" spc="-15" dirty="0"/>
              <a:t> </a:t>
            </a:r>
            <a:r>
              <a:rPr lang="en-US" spc="-5" dirty="0"/>
              <a:t>models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BBB2A5-92D8-8AE4-100C-B8BACB1BF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487917"/>
            <a:ext cx="5819335" cy="198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5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8935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Training</a:t>
            </a:r>
            <a:r>
              <a:rPr spc="-20" dirty="0"/>
              <a:t> </a:t>
            </a:r>
            <a:r>
              <a:rPr spc="-25" dirty="0"/>
              <a:t>latent</a:t>
            </a:r>
            <a:r>
              <a:rPr spc="5" dirty="0"/>
              <a:t> </a:t>
            </a:r>
            <a:r>
              <a:rPr spc="-10" dirty="0"/>
              <a:t>variable</a:t>
            </a:r>
            <a:r>
              <a:rPr dirty="0"/>
              <a:t> </a:t>
            </a:r>
            <a:r>
              <a:rPr spc="-5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677" y="2417826"/>
            <a:ext cx="231013" cy="76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90217" y="1860676"/>
            <a:ext cx="707390" cy="1141730"/>
            <a:chOff x="1990217" y="1860676"/>
            <a:chExt cx="707390" cy="11417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92" y="1863851"/>
              <a:ext cx="701039" cy="11353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3392" y="1863851"/>
              <a:ext cx="701040" cy="1135380"/>
            </a:xfrm>
            <a:custGeom>
              <a:avLst/>
              <a:gdLst/>
              <a:ahLst/>
              <a:cxnLst/>
              <a:rect l="l" t="t" r="r" b="b"/>
              <a:pathLst>
                <a:path w="701039" h="1135380">
                  <a:moveTo>
                    <a:pt x="701039" y="1135380"/>
                  </a:moveTo>
                  <a:lnTo>
                    <a:pt x="701039" y="0"/>
                  </a:lnTo>
                  <a:lnTo>
                    <a:pt x="0" y="227075"/>
                  </a:lnTo>
                  <a:lnTo>
                    <a:pt x="0" y="908303"/>
                  </a:lnTo>
                  <a:lnTo>
                    <a:pt x="701039" y="113538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3398" y="2394966"/>
            <a:ext cx="231012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3260" y="1863851"/>
            <a:ext cx="1930908" cy="11399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1388" y="3172967"/>
            <a:ext cx="765048" cy="2529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08" y="3172967"/>
            <a:ext cx="435864" cy="2529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3585971"/>
            <a:ext cx="774192" cy="25907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229741" y="1909445"/>
            <a:ext cx="238125" cy="1045844"/>
            <a:chOff x="1229741" y="1909445"/>
            <a:chExt cx="238125" cy="1045844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916" y="1912620"/>
              <a:ext cx="231647" cy="10393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32916" y="1912620"/>
              <a:ext cx="231775" cy="1039494"/>
            </a:xfrm>
            <a:custGeom>
              <a:avLst/>
              <a:gdLst/>
              <a:ahLst/>
              <a:cxnLst/>
              <a:rect l="l" t="t" r="r" b="b"/>
              <a:pathLst>
                <a:path w="231775" h="1039494">
                  <a:moveTo>
                    <a:pt x="0" y="1039367"/>
                  </a:moveTo>
                  <a:lnTo>
                    <a:pt x="231647" y="1039367"/>
                  </a:lnTo>
                  <a:lnTo>
                    <a:pt x="231647" y="0"/>
                  </a:lnTo>
                  <a:lnTo>
                    <a:pt x="0" y="0"/>
                  </a:lnTo>
                  <a:lnTo>
                    <a:pt x="0" y="10393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5400" y="2378964"/>
              <a:ext cx="108203" cy="11430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0936" y="4201667"/>
            <a:ext cx="2174748" cy="178307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838365" y="3422777"/>
            <a:ext cx="9596755" cy="1504950"/>
            <a:chOff x="838365" y="3422777"/>
            <a:chExt cx="9596755" cy="150495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8365" y="4594860"/>
              <a:ext cx="7475054" cy="2529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13628" y="3422777"/>
              <a:ext cx="690245" cy="1504950"/>
            </a:xfrm>
            <a:custGeom>
              <a:avLst/>
              <a:gdLst/>
              <a:ahLst/>
              <a:cxnLst/>
              <a:rect l="l" t="t" r="r" b="b"/>
              <a:pathLst>
                <a:path w="690245" h="1504950">
                  <a:moveTo>
                    <a:pt x="0" y="1419479"/>
                  </a:moveTo>
                  <a:lnTo>
                    <a:pt x="3301" y="1504696"/>
                  </a:lnTo>
                  <a:lnTo>
                    <a:pt x="69342" y="1450848"/>
                  </a:lnTo>
                  <a:lnTo>
                    <a:pt x="69061" y="1450721"/>
                  </a:lnTo>
                  <a:lnTo>
                    <a:pt x="38100" y="1450721"/>
                  </a:lnTo>
                  <a:lnTo>
                    <a:pt x="20700" y="1442847"/>
                  </a:lnTo>
                  <a:lnTo>
                    <a:pt x="25952" y="1431219"/>
                  </a:lnTo>
                  <a:lnTo>
                    <a:pt x="0" y="1419479"/>
                  </a:lnTo>
                  <a:close/>
                </a:path>
                <a:path w="690245" h="1504950">
                  <a:moveTo>
                    <a:pt x="25952" y="1431219"/>
                  </a:moveTo>
                  <a:lnTo>
                    <a:pt x="20700" y="1442847"/>
                  </a:lnTo>
                  <a:lnTo>
                    <a:pt x="38100" y="1450721"/>
                  </a:lnTo>
                  <a:lnTo>
                    <a:pt x="43352" y="1439090"/>
                  </a:lnTo>
                  <a:lnTo>
                    <a:pt x="25952" y="1431219"/>
                  </a:lnTo>
                  <a:close/>
                </a:path>
                <a:path w="690245" h="1504950">
                  <a:moveTo>
                    <a:pt x="43352" y="1439090"/>
                  </a:moveTo>
                  <a:lnTo>
                    <a:pt x="38100" y="1450721"/>
                  </a:lnTo>
                  <a:lnTo>
                    <a:pt x="69061" y="1450721"/>
                  </a:lnTo>
                  <a:lnTo>
                    <a:pt x="43352" y="1439090"/>
                  </a:lnTo>
                  <a:close/>
                </a:path>
                <a:path w="690245" h="1504950">
                  <a:moveTo>
                    <a:pt x="672338" y="0"/>
                  </a:moveTo>
                  <a:lnTo>
                    <a:pt x="25952" y="1431219"/>
                  </a:lnTo>
                  <a:lnTo>
                    <a:pt x="43352" y="1439090"/>
                  </a:lnTo>
                  <a:lnTo>
                    <a:pt x="689737" y="7874"/>
                  </a:lnTo>
                  <a:lnTo>
                    <a:pt x="672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67119" y="3425952"/>
              <a:ext cx="3767708" cy="25298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0808" y="5003291"/>
            <a:ext cx="5617464" cy="28041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64452" y="3086100"/>
            <a:ext cx="2453640" cy="25298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0526014" y="3018154"/>
            <a:ext cx="513080" cy="541020"/>
            <a:chOff x="10526014" y="3018154"/>
            <a:chExt cx="513080" cy="541020"/>
          </a:xfrm>
        </p:grpSpPr>
        <p:sp>
          <p:nvSpPr>
            <p:cNvPr id="24" name="object 24"/>
            <p:cNvSpPr/>
            <p:nvPr/>
          </p:nvSpPr>
          <p:spPr>
            <a:xfrm>
              <a:off x="10532364" y="3024504"/>
              <a:ext cx="499109" cy="292735"/>
            </a:xfrm>
            <a:custGeom>
              <a:avLst/>
              <a:gdLst/>
              <a:ahLst/>
              <a:cxnLst/>
              <a:rect l="l" t="t" r="r" b="b"/>
              <a:pathLst>
                <a:path w="499109" h="292735">
                  <a:moveTo>
                    <a:pt x="124967" y="0"/>
                  </a:moveTo>
                  <a:lnTo>
                    <a:pt x="0" y="119507"/>
                  </a:lnTo>
                  <a:lnTo>
                    <a:pt x="124967" y="249936"/>
                  </a:lnTo>
                  <a:lnTo>
                    <a:pt x="124967" y="187452"/>
                  </a:lnTo>
                  <a:lnTo>
                    <a:pt x="189917" y="194942"/>
                  </a:lnTo>
                  <a:lnTo>
                    <a:pt x="250623" y="205297"/>
                  </a:lnTo>
                  <a:lnTo>
                    <a:pt x="306388" y="218299"/>
                  </a:lnTo>
                  <a:lnTo>
                    <a:pt x="356515" y="233734"/>
                  </a:lnTo>
                  <a:lnTo>
                    <a:pt x="400306" y="251387"/>
                  </a:lnTo>
                  <a:lnTo>
                    <a:pt x="437063" y="271040"/>
                  </a:lnTo>
                  <a:lnTo>
                    <a:pt x="466089" y="292481"/>
                  </a:lnTo>
                  <a:lnTo>
                    <a:pt x="487713" y="267981"/>
                  </a:lnTo>
                  <a:lnTo>
                    <a:pt x="498499" y="243274"/>
                  </a:lnTo>
                  <a:lnTo>
                    <a:pt x="498887" y="218705"/>
                  </a:lnTo>
                  <a:lnTo>
                    <a:pt x="489319" y="194621"/>
                  </a:lnTo>
                  <a:lnTo>
                    <a:pt x="442077" y="149294"/>
                  </a:lnTo>
                  <a:lnTo>
                    <a:pt x="405285" y="128743"/>
                  </a:lnTo>
                  <a:lnTo>
                    <a:pt x="360300" y="110062"/>
                  </a:lnTo>
                  <a:lnTo>
                    <a:pt x="307562" y="93599"/>
                  </a:lnTo>
                  <a:lnTo>
                    <a:pt x="247513" y="79698"/>
                  </a:lnTo>
                  <a:lnTo>
                    <a:pt x="180593" y="68707"/>
                  </a:lnTo>
                  <a:lnTo>
                    <a:pt x="124967" y="62484"/>
                  </a:lnTo>
                  <a:lnTo>
                    <a:pt x="12496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32364" y="3254501"/>
              <a:ext cx="500380" cy="298450"/>
            </a:xfrm>
            <a:custGeom>
              <a:avLst/>
              <a:gdLst/>
              <a:ahLst/>
              <a:cxnLst/>
              <a:rect l="l" t="t" r="r" b="b"/>
              <a:pathLst>
                <a:path w="500379" h="298450">
                  <a:moveTo>
                    <a:pt x="499871" y="0"/>
                  </a:moveTo>
                  <a:lnTo>
                    <a:pt x="482017" y="45974"/>
                  </a:lnTo>
                  <a:lnTo>
                    <a:pt x="431630" y="87291"/>
                  </a:lnTo>
                  <a:lnTo>
                    <a:pt x="395725" y="105687"/>
                  </a:lnTo>
                  <a:lnTo>
                    <a:pt x="353472" y="122300"/>
                  </a:lnTo>
                  <a:lnTo>
                    <a:pt x="305468" y="136924"/>
                  </a:lnTo>
                  <a:lnTo>
                    <a:pt x="252306" y="149351"/>
                  </a:lnTo>
                  <a:lnTo>
                    <a:pt x="194583" y="159377"/>
                  </a:lnTo>
                  <a:lnTo>
                    <a:pt x="132894" y="166793"/>
                  </a:lnTo>
                  <a:lnTo>
                    <a:pt x="67835" y="171394"/>
                  </a:lnTo>
                  <a:lnTo>
                    <a:pt x="0" y="172974"/>
                  </a:lnTo>
                  <a:lnTo>
                    <a:pt x="0" y="297942"/>
                  </a:lnTo>
                  <a:lnTo>
                    <a:pt x="67835" y="296362"/>
                  </a:lnTo>
                  <a:lnTo>
                    <a:pt x="132894" y="291761"/>
                  </a:lnTo>
                  <a:lnTo>
                    <a:pt x="194583" y="284345"/>
                  </a:lnTo>
                  <a:lnTo>
                    <a:pt x="252306" y="274320"/>
                  </a:lnTo>
                  <a:lnTo>
                    <a:pt x="305468" y="261892"/>
                  </a:lnTo>
                  <a:lnTo>
                    <a:pt x="353472" y="247269"/>
                  </a:lnTo>
                  <a:lnTo>
                    <a:pt x="395725" y="230655"/>
                  </a:lnTo>
                  <a:lnTo>
                    <a:pt x="431630" y="212259"/>
                  </a:lnTo>
                  <a:lnTo>
                    <a:pt x="482017" y="170942"/>
                  </a:lnTo>
                  <a:lnTo>
                    <a:pt x="499871" y="124968"/>
                  </a:lnTo>
                  <a:lnTo>
                    <a:pt x="499871" y="0"/>
                  </a:lnTo>
                  <a:close/>
                </a:path>
              </a:pathLst>
            </a:custGeom>
            <a:solidFill>
              <a:srgbClr val="5A8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32364" y="3024504"/>
              <a:ext cx="500380" cy="528320"/>
            </a:xfrm>
            <a:custGeom>
              <a:avLst/>
              <a:gdLst/>
              <a:ahLst/>
              <a:cxnLst/>
              <a:rect l="l" t="t" r="r" b="b"/>
              <a:pathLst>
                <a:path w="500379" h="528320">
                  <a:moveTo>
                    <a:pt x="499871" y="229997"/>
                  </a:moveTo>
                  <a:lnTo>
                    <a:pt x="482017" y="275971"/>
                  </a:lnTo>
                  <a:lnTo>
                    <a:pt x="431630" y="317288"/>
                  </a:lnTo>
                  <a:lnTo>
                    <a:pt x="395725" y="335684"/>
                  </a:lnTo>
                  <a:lnTo>
                    <a:pt x="353472" y="352298"/>
                  </a:lnTo>
                  <a:lnTo>
                    <a:pt x="305468" y="366921"/>
                  </a:lnTo>
                  <a:lnTo>
                    <a:pt x="252306" y="379349"/>
                  </a:lnTo>
                  <a:lnTo>
                    <a:pt x="194583" y="389374"/>
                  </a:lnTo>
                  <a:lnTo>
                    <a:pt x="132894" y="396790"/>
                  </a:lnTo>
                  <a:lnTo>
                    <a:pt x="67835" y="401391"/>
                  </a:lnTo>
                  <a:lnTo>
                    <a:pt x="0" y="402971"/>
                  </a:lnTo>
                  <a:lnTo>
                    <a:pt x="0" y="527939"/>
                  </a:lnTo>
                  <a:lnTo>
                    <a:pt x="67835" y="526359"/>
                  </a:lnTo>
                  <a:lnTo>
                    <a:pt x="132894" y="521758"/>
                  </a:lnTo>
                  <a:lnTo>
                    <a:pt x="194583" y="514342"/>
                  </a:lnTo>
                  <a:lnTo>
                    <a:pt x="252306" y="504317"/>
                  </a:lnTo>
                  <a:lnTo>
                    <a:pt x="305468" y="491889"/>
                  </a:lnTo>
                  <a:lnTo>
                    <a:pt x="353472" y="477266"/>
                  </a:lnTo>
                  <a:lnTo>
                    <a:pt x="395725" y="460652"/>
                  </a:lnTo>
                  <a:lnTo>
                    <a:pt x="431630" y="442256"/>
                  </a:lnTo>
                  <a:lnTo>
                    <a:pt x="482017" y="400939"/>
                  </a:lnTo>
                  <a:lnTo>
                    <a:pt x="499871" y="354965"/>
                  </a:lnTo>
                  <a:lnTo>
                    <a:pt x="499871" y="229997"/>
                  </a:lnTo>
                  <a:lnTo>
                    <a:pt x="477992" y="179333"/>
                  </a:lnTo>
                  <a:lnTo>
                    <a:pt x="416200" y="134209"/>
                  </a:lnTo>
                  <a:lnTo>
                    <a:pt x="372140" y="114527"/>
                  </a:lnTo>
                  <a:lnTo>
                    <a:pt x="320265" y="97192"/>
                  </a:lnTo>
                  <a:lnTo>
                    <a:pt x="261298" y="82526"/>
                  </a:lnTo>
                  <a:lnTo>
                    <a:pt x="195958" y="70850"/>
                  </a:lnTo>
                  <a:lnTo>
                    <a:pt x="124967" y="62484"/>
                  </a:lnTo>
                  <a:lnTo>
                    <a:pt x="124967" y="0"/>
                  </a:lnTo>
                  <a:lnTo>
                    <a:pt x="0" y="119507"/>
                  </a:lnTo>
                  <a:lnTo>
                    <a:pt x="124967" y="249936"/>
                  </a:lnTo>
                  <a:lnTo>
                    <a:pt x="124967" y="187452"/>
                  </a:lnTo>
                  <a:lnTo>
                    <a:pt x="189917" y="194942"/>
                  </a:lnTo>
                  <a:lnTo>
                    <a:pt x="250623" y="205297"/>
                  </a:lnTo>
                  <a:lnTo>
                    <a:pt x="306388" y="218299"/>
                  </a:lnTo>
                  <a:lnTo>
                    <a:pt x="356515" y="233734"/>
                  </a:lnTo>
                  <a:lnTo>
                    <a:pt x="400306" y="251387"/>
                  </a:lnTo>
                  <a:lnTo>
                    <a:pt x="437063" y="271040"/>
                  </a:lnTo>
                  <a:lnTo>
                    <a:pt x="466089" y="292481"/>
                  </a:lnTo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38200" y="5501640"/>
            <a:ext cx="3953255" cy="2270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8390" y="5946647"/>
            <a:ext cx="6917245" cy="27889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603238" y="3765042"/>
            <a:ext cx="304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variational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autoencoders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(VAEs)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4563" y="5396917"/>
            <a:ext cx="5963285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normalizing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flows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b="1" spc="-15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enerative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adversarial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networks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(GANs)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DE4B6C2C-CB7E-5CE8-C861-3A693469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A0C-5A96-4FE9-80C1-C796BA764C14}" type="datetime1">
              <a:rPr lang="en-US" smtClean="0"/>
              <a:t>2/18/2025</a:t>
            </a:fld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B155DDE0-9A3B-6F96-C000-1FA22704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5BEA8234-92A7-FCF0-3AE8-7EE7613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911E-9055-9218-95AA-41E73A78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A5826BA-2149-40E2-9132-1311E00E1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DED4E39-3B63-96C5-1B46-703EB075F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How</a:t>
            </a:r>
            <a:r>
              <a:rPr spc="15" dirty="0"/>
              <a:t> </a:t>
            </a:r>
            <a:r>
              <a:rPr dirty="0"/>
              <a:t>do</a:t>
            </a:r>
            <a:r>
              <a:rPr spc="5" dirty="0"/>
              <a:t> </a:t>
            </a:r>
            <a:r>
              <a:rPr spc="-30" dirty="0"/>
              <a:t>we</a:t>
            </a:r>
            <a:r>
              <a:rPr spc="-5" dirty="0"/>
              <a:t> </a:t>
            </a:r>
            <a:r>
              <a:rPr spc="-15" dirty="0"/>
              <a:t>train</a:t>
            </a:r>
            <a:r>
              <a:rPr dirty="0"/>
              <a:t> </a:t>
            </a:r>
            <a:r>
              <a:rPr spc="-30" dirty="0"/>
              <a:t>latent</a:t>
            </a:r>
            <a:r>
              <a:rPr spc="25" dirty="0"/>
              <a:t> </a:t>
            </a:r>
            <a:r>
              <a:rPr spc="-10" dirty="0"/>
              <a:t>variable </a:t>
            </a:r>
            <a:r>
              <a:rPr spc="-5" dirty="0"/>
              <a:t>models?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A80B209-4174-EAAB-BAF7-7C7233F612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057400"/>
            <a:ext cx="1840992" cy="25298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2DFEDC67-CC52-B65E-D859-D9E9658A9C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590800"/>
            <a:ext cx="3779520" cy="252984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1F1C362-A850-24A2-8D87-0F3ECEA7D33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027" y="3208020"/>
            <a:ext cx="2613660" cy="18135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DA460AA4-F9C5-A39C-A329-F68BE32104B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027" y="3738371"/>
            <a:ext cx="3174492" cy="640080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DCCA4D3C-9D77-D1CB-05D3-187B6152863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7864" y="3884676"/>
            <a:ext cx="452627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A838FC11-E57D-263A-3D85-2D1244F6DAA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1264" y="3745991"/>
            <a:ext cx="1921764" cy="56235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35D86FF1-42FB-2B51-1AFA-7B65DEBD12BF}"/>
              </a:ext>
            </a:extLst>
          </p:cNvPr>
          <p:cNvGrpSpPr/>
          <p:nvPr/>
        </p:nvGrpSpPr>
        <p:grpSpPr>
          <a:xfrm>
            <a:off x="986027" y="4727447"/>
            <a:ext cx="4726305" cy="1432560"/>
            <a:chOff x="986027" y="4727447"/>
            <a:chExt cx="4726305" cy="1432560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31F2BC3-F7F9-862F-6B84-349931ED5A2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027" y="4727447"/>
              <a:ext cx="4725924" cy="669035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D20B005-3AF3-7A06-4E6C-64800E1F33B5}"/>
                </a:ext>
              </a:extLst>
            </p:cNvPr>
            <p:cNvSpPr/>
            <p:nvPr/>
          </p:nvSpPr>
          <p:spPr>
            <a:xfrm>
              <a:off x="4301489" y="5397245"/>
              <a:ext cx="76200" cy="763270"/>
            </a:xfrm>
            <a:custGeom>
              <a:avLst/>
              <a:gdLst/>
              <a:ahLst/>
              <a:cxnLst/>
              <a:rect l="l" t="t" r="r" b="b"/>
              <a:pathLst>
                <a:path w="76200" h="763270">
                  <a:moveTo>
                    <a:pt x="47625" y="63499"/>
                  </a:moveTo>
                  <a:lnTo>
                    <a:pt x="28575" y="63499"/>
                  </a:lnTo>
                  <a:lnTo>
                    <a:pt x="28575" y="762749"/>
                  </a:lnTo>
                  <a:lnTo>
                    <a:pt x="47625" y="762749"/>
                  </a:lnTo>
                  <a:lnTo>
                    <a:pt x="47625" y="63499"/>
                  </a:lnTo>
                  <a:close/>
                </a:path>
                <a:path w="76200" h="763270">
                  <a:moveTo>
                    <a:pt x="38100" y="0"/>
                  </a:moveTo>
                  <a:lnTo>
                    <a:pt x="0" y="76199"/>
                  </a:lnTo>
                  <a:lnTo>
                    <a:pt x="28575" y="76199"/>
                  </a:lnTo>
                  <a:lnTo>
                    <a:pt x="28575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763270">
                  <a:moveTo>
                    <a:pt x="69850" y="63499"/>
                  </a:moveTo>
                  <a:lnTo>
                    <a:pt x="47625" y="63499"/>
                  </a:lnTo>
                  <a:lnTo>
                    <a:pt x="47625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>
            <a:extLst>
              <a:ext uri="{FF2B5EF4-FFF2-40B4-BE49-F238E27FC236}">
                <a16:creationId xmlns:a16="http://schemas.microsoft.com/office/drawing/2014/main" id="{F1F6D8FE-584E-5D14-3717-8B6FB587D7E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15055" y="6347459"/>
            <a:ext cx="2446020" cy="227076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0CCE1E-0448-81CE-E158-833E7AA7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9DDDE-2E42-40F7-9964-4FC409737DEB}" type="datetime1">
              <a:rPr lang="en-US" smtClean="0"/>
              <a:t>2/18/2025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0B6FFF-6553-654E-57FF-B109E889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A7C300-C234-D041-7CFD-26A9401B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49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7C1E-FDBF-5E8D-7D7E-1CF85EC6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9EFC7A-DCBB-63C1-AF40-DC4CB56B0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88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Estimating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5" dirty="0"/>
              <a:t>log-likelihood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1B3317B-3075-4CA8-4458-701C833136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905000"/>
            <a:ext cx="3878579" cy="227075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B014F08F-49C8-2943-0B18-E9CEA4E2DB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514600"/>
            <a:ext cx="4632960" cy="640079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B793394-9951-4CF8-117C-BFD42ED8F7C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94931" y="1905000"/>
            <a:ext cx="4482083" cy="530351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C7D4295F-E199-8983-496C-6B5A6C380AC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4931" y="2586227"/>
            <a:ext cx="4536948" cy="544068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6AFFCC0-FA5D-CA68-6135-895F34686BC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979164"/>
            <a:ext cx="3861816" cy="252984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ACF61F61-D683-9E5E-F5B9-631946835FF7}"/>
              </a:ext>
            </a:extLst>
          </p:cNvPr>
          <p:cNvGrpSpPr/>
          <p:nvPr/>
        </p:nvGrpSpPr>
        <p:grpSpPr>
          <a:xfrm>
            <a:off x="6648450" y="3480053"/>
            <a:ext cx="2522855" cy="3048000"/>
            <a:chOff x="6648450" y="3480053"/>
            <a:chExt cx="2522855" cy="30480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08DEBFC-3DC4-6F96-6FAD-D981F8F45B56}"/>
                </a:ext>
              </a:extLst>
            </p:cNvPr>
            <p:cNvSpPr/>
            <p:nvPr/>
          </p:nvSpPr>
          <p:spPr>
            <a:xfrm>
              <a:off x="6648450" y="3480053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F08589A-9EA7-CD10-50DA-15B197CFD05B}"/>
                </a:ext>
              </a:extLst>
            </p:cNvPr>
            <p:cNvSpPr/>
            <p:nvPr/>
          </p:nvSpPr>
          <p:spPr>
            <a:xfrm>
              <a:off x="6707123" y="3565143"/>
              <a:ext cx="2399030" cy="683895"/>
            </a:xfrm>
            <a:custGeom>
              <a:avLst/>
              <a:gdLst/>
              <a:ahLst/>
              <a:cxnLst/>
              <a:rect l="l" t="t" r="r" b="b"/>
              <a:pathLst>
                <a:path w="2399029" h="683895">
                  <a:moveTo>
                    <a:pt x="0" y="580770"/>
                  </a:moveTo>
                  <a:lnTo>
                    <a:pt x="37391" y="601671"/>
                  </a:lnTo>
                  <a:lnTo>
                    <a:pt x="75908" y="619200"/>
                  </a:lnTo>
                  <a:lnTo>
                    <a:pt x="116697" y="629983"/>
                  </a:lnTo>
                  <a:lnTo>
                    <a:pt x="160904" y="630649"/>
                  </a:lnTo>
                  <a:lnTo>
                    <a:pt x="209676" y="617824"/>
                  </a:lnTo>
                  <a:lnTo>
                    <a:pt x="264159" y="588136"/>
                  </a:lnTo>
                  <a:lnTo>
                    <a:pt x="316993" y="538217"/>
                  </a:lnTo>
                  <a:lnTo>
                    <a:pt x="345613" y="503139"/>
                  </a:lnTo>
                  <a:lnTo>
                    <a:pt x="375421" y="463212"/>
                  </a:lnTo>
                  <a:lnTo>
                    <a:pt x="406207" y="419859"/>
                  </a:lnTo>
                  <a:lnTo>
                    <a:pt x="437759" y="374502"/>
                  </a:lnTo>
                  <a:lnTo>
                    <a:pt x="469868" y="328564"/>
                  </a:lnTo>
                  <a:lnTo>
                    <a:pt x="502323" y="283468"/>
                  </a:lnTo>
                  <a:lnTo>
                    <a:pt x="534913" y="240637"/>
                  </a:lnTo>
                  <a:lnTo>
                    <a:pt x="567428" y="201492"/>
                  </a:lnTo>
                  <a:lnTo>
                    <a:pt x="599658" y="167457"/>
                  </a:lnTo>
                  <a:lnTo>
                    <a:pt x="631392" y="139954"/>
                  </a:lnTo>
                  <a:lnTo>
                    <a:pt x="692530" y="110235"/>
                  </a:lnTo>
                  <a:lnTo>
                    <a:pt x="723990" y="111663"/>
                  </a:lnTo>
                  <a:lnTo>
                    <a:pt x="784992" y="148697"/>
                  </a:lnTo>
                  <a:lnTo>
                    <a:pt x="814848" y="179927"/>
                  </a:lnTo>
                  <a:lnTo>
                    <a:pt x="844481" y="216714"/>
                  </a:lnTo>
                  <a:lnTo>
                    <a:pt x="874048" y="256869"/>
                  </a:lnTo>
                  <a:lnTo>
                    <a:pt x="903707" y="298205"/>
                  </a:lnTo>
                  <a:lnTo>
                    <a:pt x="933613" y="338531"/>
                  </a:lnTo>
                  <a:lnTo>
                    <a:pt x="963923" y="375661"/>
                  </a:lnTo>
                  <a:lnTo>
                    <a:pt x="994792" y="407405"/>
                  </a:lnTo>
                  <a:lnTo>
                    <a:pt x="1026379" y="431574"/>
                  </a:lnTo>
                  <a:lnTo>
                    <a:pt x="1092327" y="448436"/>
                  </a:lnTo>
                  <a:lnTo>
                    <a:pt x="1120334" y="440198"/>
                  </a:lnTo>
                  <a:lnTo>
                    <a:pt x="1178165" y="398792"/>
                  </a:lnTo>
                  <a:lnTo>
                    <a:pt x="1207853" y="368242"/>
                  </a:lnTo>
                  <a:lnTo>
                    <a:pt x="1237965" y="332872"/>
                  </a:lnTo>
                  <a:lnTo>
                    <a:pt x="1268433" y="293991"/>
                  </a:lnTo>
                  <a:lnTo>
                    <a:pt x="1299190" y="252908"/>
                  </a:lnTo>
                  <a:lnTo>
                    <a:pt x="1330166" y="210931"/>
                  </a:lnTo>
                  <a:lnTo>
                    <a:pt x="1361294" y="169369"/>
                  </a:lnTo>
                  <a:lnTo>
                    <a:pt x="1392505" y="129531"/>
                  </a:lnTo>
                  <a:lnTo>
                    <a:pt x="1423733" y="92726"/>
                  </a:lnTo>
                  <a:lnTo>
                    <a:pt x="1454908" y="60263"/>
                  </a:lnTo>
                  <a:lnTo>
                    <a:pt x="1485962" y="33450"/>
                  </a:lnTo>
                  <a:lnTo>
                    <a:pt x="1547436" y="2009"/>
                  </a:lnTo>
                  <a:lnTo>
                    <a:pt x="1577721" y="0"/>
                  </a:lnTo>
                  <a:lnTo>
                    <a:pt x="1608064" y="7766"/>
                  </a:lnTo>
                  <a:lnTo>
                    <a:pt x="1669796" y="47493"/>
                  </a:lnTo>
                  <a:lnTo>
                    <a:pt x="1700996" y="77374"/>
                  </a:lnTo>
                  <a:lnTo>
                    <a:pt x="1732293" y="112548"/>
                  </a:lnTo>
                  <a:lnTo>
                    <a:pt x="1763594" y="151974"/>
                  </a:lnTo>
                  <a:lnTo>
                    <a:pt x="1794805" y="194613"/>
                  </a:lnTo>
                  <a:lnTo>
                    <a:pt x="1825831" y="239426"/>
                  </a:lnTo>
                  <a:lnTo>
                    <a:pt x="1856579" y="285373"/>
                  </a:lnTo>
                  <a:lnTo>
                    <a:pt x="1886954" y="331415"/>
                  </a:lnTo>
                  <a:lnTo>
                    <a:pt x="1916864" y="376511"/>
                  </a:lnTo>
                  <a:lnTo>
                    <a:pt x="1946213" y="419623"/>
                  </a:lnTo>
                  <a:lnTo>
                    <a:pt x="1974908" y="459711"/>
                  </a:lnTo>
                  <a:lnTo>
                    <a:pt x="2002855" y="495735"/>
                  </a:lnTo>
                  <a:lnTo>
                    <a:pt x="2029960" y="526656"/>
                  </a:lnTo>
                  <a:lnTo>
                    <a:pt x="2105904" y="589452"/>
                  </a:lnTo>
                  <a:lnTo>
                    <a:pt x="2152905" y="618884"/>
                  </a:lnTo>
                  <a:lnTo>
                    <a:pt x="2197529" y="640956"/>
                  </a:lnTo>
                  <a:lnTo>
                    <a:pt x="2240168" y="656891"/>
                  </a:lnTo>
                  <a:lnTo>
                    <a:pt x="2281218" y="667915"/>
                  </a:lnTo>
                  <a:lnTo>
                    <a:pt x="2321073" y="675253"/>
                  </a:lnTo>
                  <a:lnTo>
                    <a:pt x="2360128" y="680128"/>
                  </a:lnTo>
                  <a:lnTo>
                    <a:pt x="2398776" y="68376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0AF532A-F99B-AA60-B2E6-9C53BC2E3B01}"/>
                </a:ext>
              </a:extLst>
            </p:cNvPr>
            <p:cNvSpPr/>
            <p:nvPr/>
          </p:nvSpPr>
          <p:spPr>
            <a:xfrm>
              <a:off x="6648450" y="5691377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82"/>
                  </a:lnTo>
                  <a:lnTo>
                    <a:pt x="38100" y="798982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87A751C-108F-A6A8-76BF-4C9C47B61F40}"/>
                </a:ext>
              </a:extLst>
            </p:cNvPr>
            <p:cNvSpPr/>
            <p:nvPr/>
          </p:nvSpPr>
          <p:spPr>
            <a:xfrm>
              <a:off x="6701027" y="5908624"/>
              <a:ext cx="2356485" cy="584200"/>
            </a:xfrm>
            <a:custGeom>
              <a:avLst/>
              <a:gdLst/>
              <a:ahLst/>
              <a:cxnLst/>
              <a:rect l="l" t="t" r="r" b="b"/>
              <a:pathLst>
                <a:path w="2356484" h="584200">
                  <a:moveTo>
                    <a:pt x="0" y="557682"/>
                  </a:moveTo>
                  <a:lnTo>
                    <a:pt x="514096" y="535673"/>
                  </a:lnTo>
                  <a:lnTo>
                    <a:pt x="563225" y="518288"/>
                  </a:lnTo>
                  <a:lnTo>
                    <a:pt x="607693" y="496804"/>
                  </a:lnTo>
                  <a:lnTo>
                    <a:pt x="648418" y="471823"/>
                  </a:lnTo>
                  <a:lnTo>
                    <a:pt x="686323" y="443947"/>
                  </a:lnTo>
                  <a:lnTo>
                    <a:pt x="722330" y="413778"/>
                  </a:lnTo>
                  <a:lnTo>
                    <a:pt x="757358" y="381918"/>
                  </a:lnTo>
                  <a:lnTo>
                    <a:pt x="792330" y="348968"/>
                  </a:lnTo>
                  <a:lnTo>
                    <a:pt x="828167" y="315531"/>
                  </a:lnTo>
                  <a:lnTo>
                    <a:pt x="860294" y="281035"/>
                  </a:lnTo>
                  <a:lnTo>
                    <a:pt x="891648" y="239141"/>
                  </a:lnTo>
                  <a:lnTo>
                    <a:pt x="922349" y="192960"/>
                  </a:lnTo>
                  <a:lnTo>
                    <a:pt x="952516" y="145600"/>
                  </a:lnTo>
                  <a:lnTo>
                    <a:pt x="982271" y="100174"/>
                  </a:lnTo>
                  <a:lnTo>
                    <a:pt x="1011733" y="59791"/>
                  </a:lnTo>
                  <a:lnTo>
                    <a:pt x="1041023" y="27560"/>
                  </a:lnTo>
                  <a:lnTo>
                    <a:pt x="1070260" y="6593"/>
                  </a:lnTo>
                  <a:lnTo>
                    <a:pt x="1099566" y="0"/>
                  </a:lnTo>
                  <a:lnTo>
                    <a:pt x="1124710" y="8335"/>
                  </a:lnTo>
                  <a:lnTo>
                    <a:pt x="1169822" y="59082"/>
                  </a:lnTo>
                  <a:lnTo>
                    <a:pt x="1191373" y="96740"/>
                  </a:lnTo>
                  <a:lnTo>
                    <a:pt x="1213310" y="139417"/>
                  </a:lnTo>
                  <a:lnTo>
                    <a:pt x="1236424" y="184736"/>
                  </a:lnTo>
                  <a:lnTo>
                    <a:pt x="1261507" y="230319"/>
                  </a:lnTo>
                  <a:lnTo>
                    <a:pt x="1289350" y="273789"/>
                  </a:lnTo>
                  <a:lnTo>
                    <a:pt x="1320746" y="312769"/>
                  </a:lnTo>
                  <a:lnTo>
                    <a:pt x="1356487" y="344881"/>
                  </a:lnTo>
                  <a:lnTo>
                    <a:pt x="1393250" y="369933"/>
                  </a:lnTo>
                  <a:lnTo>
                    <a:pt x="1433663" y="394291"/>
                  </a:lnTo>
                  <a:lnTo>
                    <a:pt x="1477131" y="417805"/>
                  </a:lnTo>
                  <a:lnTo>
                    <a:pt x="1523059" y="440326"/>
                  </a:lnTo>
                  <a:lnTo>
                    <a:pt x="1570852" y="461706"/>
                  </a:lnTo>
                  <a:lnTo>
                    <a:pt x="1619916" y="481796"/>
                  </a:lnTo>
                  <a:lnTo>
                    <a:pt x="1669655" y="500447"/>
                  </a:lnTo>
                  <a:lnTo>
                    <a:pt x="1719475" y="517510"/>
                  </a:lnTo>
                  <a:lnTo>
                    <a:pt x="1768781" y="532836"/>
                  </a:lnTo>
                  <a:lnTo>
                    <a:pt x="1816977" y="546276"/>
                  </a:lnTo>
                  <a:lnTo>
                    <a:pt x="1863471" y="557682"/>
                  </a:lnTo>
                  <a:lnTo>
                    <a:pt x="1913351" y="567619"/>
                  </a:lnTo>
                  <a:lnTo>
                    <a:pt x="1963033" y="574882"/>
                  </a:lnTo>
                  <a:lnTo>
                    <a:pt x="2012541" y="579767"/>
                  </a:lnTo>
                  <a:lnTo>
                    <a:pt x="2061895" y="582573"/>
                  </a:lnTo>
                  <a:lnTo>
                    <a:pt x="2111121" y="583596"/>
                  </a:lnTo>
                  <a:lnTo>
                    <a:pt x="2160239" y="583133"/>
                  </a:lnTo>
                  <a:lnTo>
                    <a:pt x="2209274" y="581481"/>
                  </a:lnTo>
                  <a:lnTo>
                    <a:pt x="2258247" y="578938"/>
                  </a:lnTo>
                  <a:lnTo>
                    <a:pt x="2307183" y="575799"/>
                  </a:lnTo>
                  <a:lnTo>
                    <a:pt x="2356104" y="57236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12C8FC0-2BEF-D012-A8B8-61C7363D649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79208" y="4402861"/>
              <a:ext cx="829055" cy="1385843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840AD53-EA21-E584-D605-0822AF3C7338}"/>
                </a:ext>
              </a:extLst>
            </p:cNvPr>
            <p:cNvSpPr/>
            <p:nvPr/>
          </p:nvSpPr>
          <p:spPr>
            <a:xfrm>
              <a:off x="6680961" y="3935856"/>
              <a:ext cx="913765" cy="2117090"/>
            </a:xfrm>
            <a:custGeom>
              <a:avLst/>
              <a:gdLst/>
              <a:ahLst/>
              <a:cxnLst/>
              <a:rect l="l" t="t" r="r" b="b"/>
              <a:pathLst>
                <a:path w="913765" h="2117090">
                  <a:moveTo>
                    <a:pt x="715067" y="2067459"/>
                  </a:moveTo>
                  <a:lnTo>
                    <a:pt x="692531" y="2089848"/>
                  </a:lnTo>
                  <a:lnTo>
                    <a:pt x="773303" y="2116988"/>
                  </a:lnTo>
                  <a:lnTo>
                    <a:pt x="759936" y="2076450"/>
                  </a:lnTo>
                  <a:lnTo>
                    <a:pt x="724027" y="2076450"/>
                  </a:lnTo>
                  <a:lnTo>
                    <a:pt x="715067" y="2067459"/>
                  </a:lnTo>
                  <a:close/>
                </a:path>
                <a:path w="913765" h="2117090">
                  <a:moveTo>
                    <a:pt x="724082" y="2058504"/>
                  </a:moveTo>
                  <a:lnTo>
                    <a:pt x="715067" y="2067459"/>
                  </a:lnTo>
                  <a:lnTo>
                    <a:pt x="724027" y="2076450"/>
                  </a:lnTo>
                  <a:lnTo>
                    <a:pt x="733044" y="2067496"/>
                  </a:lnTo>
                  <a:lnTo>
                    <a:pt x="724082" y="2058504"/>
                  </a:lnTo>
                  <a:close/>
                </a:path>
                <a:path w="913765" h="2117090">
                  <a:moveTo>
                    <a:pt x="746633" y="2036102"/>
                  </a:moveTo>
                  <a:lnTo>
                    <a:pt x="724082" y="2058504"/>
                  </a:lnTo>
                  <a:lnTo>
                    <a:pt x="733044" y="2067496"/>
                  </a:lnTo>
                  <a:lnTo>
                    <a:pt x="724027" y="2076450"/>
                  </a:lnTo>
                  <a:lnTo>
                    <a:pt x="759936" y="2076450"/>
                  </a:lnTo>
                  <a:lnTo>
                    <a:pt x="746633" y="2036102"/>
                  </a:lnTo>
                  <a:close/>
                </a:path>
                <a:path w="913765" h="2117090">
                  <a:moveTo>
                    <a:pt x="906399" y="0"/>
                  </a:moveTo>
                  <a:lnTo>
                    <a:pt x="742188" y="115443"/>
                  </a:lnTo>
                  <a:lnTo>
                    <a:pt x="661670" y="173355"/>
                  </a:lnTo>
                  <a:lnTo>
                    <a:pt x="622046" y="202311"/>
                  </a:lnTo>
                  <a:lnTo>
                    <a:pt x="582803" y="231394"/>
                  </a:lnTo>
                  <a:lnTo>
                    <a:pt x="544322" y="260604"/>
                  </a:lnTo>
                  <a:lnTo>
                    <a:pt x="506349" y="289814"/>
                  </a:lnTo>
                  <a:lnTo>
                    <a:pt x="469265" y="319151"/>
                  </a:lnTo>
                  <a:lnTo>
                    <a:pt x="433070" y="348488"/>
                  </a:lnTo>
                  <a:lnTo>
                    <a:pt x="397764" y="378079"/>
                  </a:lnTo>
                  <a:lnTo>
                    <a:pt x="363347" y="407670"/>
                  </a:lnTo>
                  <a:lnTo>
                    <a:pt x="330073" y="437388"/>
                  </a:lnTo>
                  <a:lnTo>
                    <a:pt x="297815" y="467360"/>
                  </a:lnTo>
                  <a:lnTo>
                    <a:pt x="266954" y="497332"/>
                  </a:lnTo>
                  <a:lnTo>
                    <a:pt x="237236" y="527558"/>
                  </a:lnTo>
                  <a:lnTo>
                    <a:pt x="209042" y="557911"/>
                  </a:lnTo>
                  <a:lnTo>
                    <a:pt x="182118" y="588391"/>
                  </a:lnTo>
                  <a:lnTo>
                    <a:pt x="156845" y="619125"/>
                  </a:lnTo>
                  <a:lnTo>
                    <a:pt x="133096" y="649986"/>
                  </a:lnTo>
                  <a:lnTo>
                    <a:pt x="110998" y="681101"/>
                  </a:lnTo>
                  <a:lnTo>
                    <a:pt x="72263" y="743966"/>
                  </a:lnTo>
                  <a:lnTo>
                    <a:pt x="41021" y="807720"/>
                  </a:lnTo>
                  <a:lnTo>
                    <a:pt x="18288" y="872363"/>
                  </a:lnTo>
                  <a:lnTo>
                    <a:pt x="6985" y="921766"/>
                  </a:lnTo>
                  <a:lnTo>
                    <a:pt x="1016" y="971677"/>
                  </a:lnTo>
                  <a:lnTo>
                    <a:pt x="0" y="1005332"/>
                  </a:lnTo>
                  <a:lnTo>
                    <a:pt x="508" y="1022223"/>
                  </a:lnTo>
                  <a:lnTo>
                    <a:pt x="5334" y="1073150"/>
                  </a:lnTo>
                  <a:lnTo>
                    <a:pt x="19558" y="1141857"/>
                  </a:lnTo>
                  <a:lnTo>
                    <a:pt x="42037" y="1211326"/>
                  </a:lnTo>
                  <a:lnTo>
                    <a:pt x="72136" y="1281430"/>
                  </a:lnTo>
                  <a:lnTo>
                    <a:pt x="89916" y="1316736"/>
                  </a:lnTo>
                  <a:lnTo>
                    <a:pt x="109347" y="1352169"/>
                  </a:lnTo>
                  <a:lnTo>
                    <a:pt x="130429" y="1387983"/>
                  </a:lnTo>
                  <a:lnTo>
                    <a:pt x="152908" y="1423670"/>
                  </a:lnTo>
                  <a:lnTo>
                    <a:pt x="176911" y="1459611"/>
                  </a:lnTo>
                  <a:lnTo>
                    <a:pt x="202311" y="1495679"/>
                  </a:lnTo>
                  <a:lnTo>
                    <a:pt x="228981" y="1531747"/>
                  </a:lnTo>
                  <a:lnTo>
                    <a:pt x="256794" y="1568069"/>
                  </a:lnTo>
                  <a:lnTo>
                    <a:pt x="285877" y="1604518"/>
                  </a:lnTo>
                  <a:lnTo>
                    <a:pt x="315849" y="1640967"/>
                  </a:lnTo>
                  <a:lnTo>
                    <a:pt x="346964" y="1677644"/>
                  </a:lnTo>
                  <a:lnTo>
                    <a:pt x="378841" y="1714284"/>
                  </a:lnTo>
                  <a:lnTo>
                    <a:pt x="411734" y="1751101"/>
                  </a:lnTo>
                  <a:lnTo>
                    <a:pt x="445262" y="1787918"/>
                  </a:lnTo>
                  <a:lnTo>
                    <a:pt x="479425" y="1824812"/>
                  </a:lnTo>
                  <a:lnTo>
                    <a:pt x="514350" y="1861807"/>
                  </a:lnTo>
                  <a:lnTo>
                    <a:pt x="549783" y="1898802"/>
                  </a:lnTo>
                  <a:lnTo>
                    <a:pt x="621792" y="1972945"/>
                  </a:lnTo>
                  <a:lnTo>
                    <a:pt x="694944" y="2047265"/>
                  </a:lnTo>
                  <a:lnTo>
                    <a:pt x="715067" y="2067459"/>
                  </a:lnTo>
                  <a:lnTo>
                    <a:pt x="724082" y="2058504"/>
                  </a:lnTo>
                  <a:lnTo>
                    <a:pt x="703986" y="2038337"/>
                  </a:lnTo>
                  <a:lnTo>
                    <a:pt x="630834" y="1964067"/>
                  </a:lnTo>
                  <a:lnTo>
                    <a:pt x="558964" y="1890001"/>
                  </a:lnTo>
                  <a:lnTo>
                    <a:pt x="523657" y="1853082"/>
                  </a:lnTo>
                  <a:lnTo>
                    <a:pt x="488732" y="1816163"/>
                  </a:lnTo>
                  <a:lnTo>
                    <a:pt x="454580" y="1779346"/>
                  </a:lnTo>
                  <a:lnTo>
                    <a:pt x="421178" y="1742630"/>
                  </a:lnTo>
                  <a:lnTo>
                    <a:pt x="388411" y="1705914"/>
                  </a:lnTo>
                  <a:lnTo>
                    <a:pt x="356544" y="1669402"/>
                  </a:lnTo>
                  <a:lnTo>
                    <a:pt x="325628" y="1632839"/>
                  </a:lnTo>
                  <a:lnTo>
                    <a:pt x="295760" y="1596644"/>
                  </a:lnTo>
                  <a:lnTo>
                    <a:pt x="266927" y="1560322"/>
                  </a:lnTo>
                  <a:lnTo>
                    <a:pt x="239111" y="1524254"/>
                  </a:lnTo>
                  <a:lnTo>
                    <a:pt x="239047" y="1524127"/>
                  </a:lnTo>
                  <a:lnTo>
                    <a:pt x="212564" y="1488313"/>
                  </a:lnTo>
                  <a:lnTo>
                    <a:pt x="187414" y="1452499"/>
                  </a:lnTo>
                  <a:lnTo>
                    <a:pt x="187367" y="1452372"/>
                  </a:lnTo>
                  <a:lnTo>
                    <a:pt x="163660" y="1416812"/>
                  </a:lnTo>
                  <a:lnTo>
                    <a:pt x="163622" y="1416685"/>
                  </a:lnTo>
                  <a:lnTo>
                    <a:pt x="141304" y="1381379"/>
                  </a:lnTo>
                  <a:lnTo>
                    <a:pt x="120418" y="1346073"/>
                  </a:lnTo>
                  <a:lnTo>
                    <a:pt x="101230" y="1311021"/>
                  </a:lnTo>
                  <a:lnTo>
                    <a:pt x="83576" y="1275842"/>
                  </a:lnTo>
                  <a:lnTo>
                    <a:pt x="53950" y="1207008"/>
                  </a:lnTo>
                  <a:lnTo>
                    <a:pt x="53885" y="1206754"/>
                  </a:lnTo>
                  <a:lnTo>
                    <a:pt x="41916" y="1172718"/>
                  </a:lnTo>
                  <a:lnTo>
                    <a:pt x="31825" y="1138682"/>
                  </a:lnTo>
                  <a:lnTo>
                    <a:pt x="31816" y="1138428"/>
                  </a:lnTo>
                  <a:lnTo>
                    <a:pt x="23839" y="1105027"/>
                  </a:lnTo>
                  <a:lnTo>
                    <a:pt x="23807" y="1104646"/>
                  </a:lnTo>
                  <a:lnTo>
                    <a:pt x="17825" y="1071372"/>
                  </a:lnTo>
                  <a:lnTo>
                    <a:pt x="17874" y="1071118"/>
                  </a:lnTo>
                  <a:lnTo>
                    <a:pt x="15780" y="1054862"/>
                  </a:lnTo>
                  <a:lnTo>
                    <a:pt x="14327" y="1039114"/>
                  </a:lnTo>
                  <a:lnTo>
                    <a:pt x="14208" y="1037971"/>
                  </a:lnTo>
                  <a:lnTo>
                    <a:pt x="13200" y="1021461"/>
                  </a:lnTo>
                  <a:lnTo>
                    <a:pt x="12701" y="1005078"/>
                  </a:lnTo>
                  <a:lnTo>
                    <a:pt x="12827" y="988695"/>
                  </a:lnTo>
                  <a:lnTo>
                    <a:pt x="13599" y="972439"/>
                  </a:lnTo>
                  <a:lnTo>
                    <a:pt x="14964" y="956437"/>
                  </a:lnTo>
                  <a:lnTo>
                    <a:pt x="15015" y="956183"/>
                  </a:lnTo>
                  <a:lnTo>
                    <a:pt x="16876" y="940181"/>
                  </a:lnTo>
                  <a:lnTo>
                    <a:pt x="19391" y="924052"/>
                  </a:lnTo>
                  <a:lnTo>
                    <a:pt x="19480" y="923798"/>
                  </a:lnTo>
                  <a:lnTo>
                    <a:pt x="22581" y="907923"/>
                  </a:lnTo>
                  <a:lnTo>
                    <a:pt x="26229" y="892048"/>
                  </a:lnTo>
                  <a:lnTo>
                    <a:pt x="30412" y="876046"/>
                  </a:lnTo>
                  <a:lnTo>
                    <a:pt x="40517" y="844423"/>
                  </a:lnTo>
                  <a:lnTo>
                    <a:pt x="40640" y="844042"/>
                  </a:lnTo>
                  <a:lnTo>
                    <a:pt x="52832" y="812419"/>
                  </a:lnTo>
                  <a:lnTo>
                    <a:pt x="67183" y="781050"/>
                  </a:lnTo>
                  <a:lnTo>
                    <a:pt x="83439" y="749935"/>
                  </a:lnTo>
                  <a:lnTo>
                    <a:pt x="101451" y="719201"/>
                  </a:lnTo>
                  <a:lnTo>
                    <a:pt x="121539" y="688086"/>
                  </a:lnTo>
                  <a:lnTo>
                    <a:pt x="143292" y="657606"/>
                  </a:lnTo>
                  <a:lnTo>
                    <a:pt x="166779" y="627126"/>
                  </a:lnTo>
                  <a:lnTo>
                    <a:pt x="191897" y="596519"/>
                  </a:lnTo>
                  <a:lnTo>
                    <a:pt x="218328" y="566420"/>
                  </a:lnTo>
                  <a:lnTo>
                    <a:pt x="246388" y="536448"/>
                  </a:lnTo>
                  <a:lnTo>
                    <a:pt x="275971" y="506349"/>
                  </a:lnTo>
                  <a:lnTo>
                    <a:pt x="306578" y="476504"/>
                  </a:lnTo>
                  <a:lnTo>
                    <a:pt x="306714" y="476504"/>
                  </a:lnTo>
                  <a:lnTo>
                    <a:pt x="338582" y="446786"/>
                  </a:lnTo>
                  <a:lnTo>
                    <a:pt x="338723" y="446786"/>
                  </a:lnTo>
                  <a:lnTo>
                    <a:pt x="371729" y="417195"/>
                  </a:lnTo>
                  <a:lnTo>
                    <a:pt x="371876" y="417195"/>
                  </a:lnTo>
                  <a:lnTo>
                    <a:pt x="406019" y="387731"/>
                  </a:lnTo>
                  <a:lnTo>
                    <a:pt x="441198" y="358267"/>
                  </a:lnTo>
                  <a:lnTo>
                    <a:pt x="477266" y="329057"/>
                  </a:lnTo>
                  <a:lnTo>
                    <a:pt x="514223" y="299720"/>
                  </a:lnTo>
                  <a:lnTo>
                    <a:pt x="514387" y="299720"/>
                  </a:lnTo>
                  <a:lnTo>
                    <a:pt x="552069" y="270637"/>
                  </a:lnTo>
                  <a:lnTo>
                    <a:pt x="590423" y="241554"/>
                  </a:lnTo>
                  <a:lnTo>
                    <a:pt x="629539" y="212471"/>
                  </a:lnTo>
                  <a:lnTo>
                    <a:pt x="629712" y="212471"/>
                  </a:lnTo>
                  <a:lnTo>
                    <a:pt x="669163" y="183642"/>
                  </a:lnTo>
                  <a:lnTo>
                    <a:pt x="749554" y="125730"/>
                  </a:lnTo>
                  <a:lnTo>
                    <a:pt x="913765" y="10414"/>
                  </a:lnTo>
                  <a:lnTo>
                    <a:pt x="906399" y="0"/>
                  </a:lnTo>
                  <a:close/>
                </a:path>
                <a:path w="913765" h="2117090">
                  <a:moveTo>
                    <a:pt x="703961" y="2038311"/>
                  </a:moveTo>
                  <a:close/>
                </a:path>
                <a:path w="913765" h="2117090">
                  <a:moveTo>
                    <a:pt x="630911" y="1964042"/>
                  </a:moveTo>
                  <a:close/>
                </a:path>
                <a:path w="913765" h="2117090">
                  <a:moveTo>
                    <a:pt x="558927" y="1889963"/>
                  </a:moveTo>
                  <a:close/>
                </a:path>
                <a:path w="913765" h="2117090">
                  <a:moveTo>
                    <a:pt x="523621" y="1853044"/>
                  </a:moveTo>
                  <a:close/>
                </a:path>
                <a:path w="913765" h="2117090">
                  <a:moveTo>
                    <a:pt x="488787" y="1816125"/>
                  </a:moveTo>
                  <a:close/>
                </a:path>
                <a:path w="913765" h="2117090">
                  <a:moveTo>
                    <a:pt x="454613" y="1779295"/>
                  </a:moveTo>
                  <a:close/>
                </a:path>
                <a:path w="913765" h="2117090">
                  <a:moveTo>
                    <a:pt x="421132" y="1742579"/>
                  </a:moveTo>
                  <a:close/>
                </a:path>
                <a:path w="913765" h="2117090">
                  <a:moveTo>
                    <a:pt x="388366" y="1705864"/>
                  </a:moveTo>
                  <a:close/>
                </a:path>
                <a:path w="913765" h="2117090">
                  <a:moveTo>
                    <a:pt x="356562" y="1669338"/>
                  </a:moveTo>
                  <a:close/>
                </a:path>
                <a:path w="913765" h="2117090">
                  <a:moveTo>
                    <a:pt x="295682" y="1596517"/>
                  </a:moveTo>
                  <a:close/>
                </a:path>
                <a:path w="913765" h="2117090">
                  <a:moveTo>
                    <a:pt x="266827" y="1560195"/>
                  </a:moveTo>
                  <a:close/>
                </a:path>
                <a:path w="913765" h="2117090">
                  <a:moveTo>
                    <a:pt x="239047" y="1524127"/>
                  </a:moveTo>
                  <a:lnTo>
                    <a:pt x="239141" y="1524254"/>
                  </a:lnTo>
                  <a:lnTo>
                    <a:pt x="239047" y="1524127"/>
                  </a:lnTo>
                  <a:close/>
                </a:path>
                <a:path w="913765" h="2117090">
                  <a:moveTo>
                    <a:pt x="212508" y="1488186"/>
                  </a:moveTo>
                  <a:close/>
                </a:path>
                <a:path w="913765" h="2117090">
                  <a:moveTo>
                    <a:pt x="187367" y="1452372"/>
                  </a:moveTo>
                  <a:lnTo>
                    <a:pt x="187452" y="1452499"/>
                  </a:lnTo>
                  <a:lnTo>
                    <a:pt x="187367" y="1452372"/>
                  </a:lnTo>
                  <a:close/>
                </a:path>
                <a:path w="913765" h="2117090">
                  <a:moveTo>
                    <a:pt x="163622" y="1416685"/>
                  </a:moveTo>
                  <a:lnTo>
                    <a:pt x="163703" y="1416812"/>
                  </a:lnTo>
                  <a:lnTo>
                    <a:pt x="163622" y="1416685"/>
                  </a:lnTo>
                  <a:close/>
                </a:path>
                <a:path w="913765" h="2117090">
                  <a:moveTo>
                    <a:pt x="141224" y="1381252"/>
                  </a:moveTo>
                  <a:lnTo>
                    <a:pt x="141224" y="1381379"/>
                  </a:lnTo>
                  <a:lnTo>
                    <a:pt x="141224" y="1381252"/>
                  </a:lnTo>
                  <a:close/>
                </a:path>
                <a:path w="913765" h="2117090">
                  <a:moveTo>
                    <a:pt x="120269" y="1345819"/>
                  </a:moveTo>
                  <a:lnTo>
                    <a:pt x="120396" y="1346073"/>
                  </a:lnTo>
                  <a:lnTo>
                    <a:pt x="120269" y="1345819"/>
                  </a:lnTo>
                  <a:close/>
                </a:path>
                <a:path w="913765" h="2117090">
                  <a:moveTo>
                    <a:pt x="101092" y="1310767"/>
                  </a:moveTo>
                  <a:lnTo>
                    <a:pt x="101219" y="1311021"/>
                  </a:lnTo>
                  <a:lnTo>
                    <a:pt x="101092" y="1310767"/>
                  </a:lnTo>
                  <a:close/>
                </a:path>
                <a:path w="913765" h="2117090">
                  <a:moveTo>
                    <a:pt x="83688" y="1276085"/>
                  </a:moveTo>
                  <a:close/>
                </a:path>
                <a:path w="913765" h="2117090">
                  <a:moveTo>
                    <a:pt x="83576" y="1275842"/>
                  </a:moveTo>
                  <a:lnTo>
                    <a:pt x="83688" y="1276085"/>
                  </a:lnTo>
                  <a:lnTo>
                    <a:pt x="83576" y="1275842"/>
                  </a:lnTo>
                  <a:close/>
                </a:path>
                <a:path w="913765" h="2117090">
                  <a:moveTo>
                    <a:pt x="67715" y="1241171"/>
                  </a:moveTo>
                  <a:lnTo>
                    <a:pt x="67818" y="1241425"/>
                  </a:lnTo>
                  <a:lnTo>
                    <a:pt x="67715" y="1241171"/>
                  </a:lnTo>
                  <a:close/>
                </a:path>
                <a:path w="913765" h="2117090">
                  <a:moveTo>
                    <a:pt x="53885" y="1206754"/>
                  </a:moveTo>
                  <a:lnTo>
                    <a:pt x="53975" y="1207008"/>
                  </a:lnTo>
                  <a:lnTo>
                    <a:pt x="53885" y="1206754"/>
                  </a:lnTo>
                  <a:close/>
                </a:path>
                <a:path w="913765" h="2117090">
                  <a:moveTo>
                    <a:pt x="41872" y="1172591"/>
                  </a:moveTo>
                  <a:close/>
                </a:path>
                <a:path w="913765" h="2117090">
                  <a:moveTo>
                    <a:pt x="41797" y="1172337"/>
                  </a:moveTo>
                  <a:lnTo>
                    <a:pt x="41872" y="1172591"/>
                  </a:lnTo>
                  <a:lnTo>
                    <a:pt x="41797" y="1172337"/>
                  </a:lnTo>
                  <a:close/>
                </a:path>
                <a:path w="913765" h="2117090">
                  <a:moveTo>
                    <a:pt x="31816" y="1138428"/>
                  </a:moveTo>
                  <a:lnTo>
                    <a:pt x="31877" y="1138682"/>
                  </a:lnTo>
                  <a:lnTo>
                    <a:pt x="31816" y="1138428"/>
                  </a:lnTo>
                  <a:close/>
                </a:path>
                <a:path w="913765" h="2117090">
                  <a:moveTo>
                    <a:pt x="23807" y="1104646"/>
                  </a:moveTo>
                  <a:lnTo>
                    <a:pt x="23876" y="1105027"/>
                  </a:lnTo>
                  <a:lnTo>
                    <a:pt x="23807" y="1104646"/>
                  </a:lnTo>
                  <a:close/>
                </a:path>
                <a:path w="913765" h="2117090">
                  <a:moveTo>
                    <a:pt x="17874" y="1071118"/>
                  </a:moveTo>
                  <a:lnTo>
                    <a:pt x="17907" y="1071372"/>
                  </a:lnTo>
                  <a:lnTo>
                    <a:pt x="17874" y="1071118"/>
                  </a:lnTo>
                  <a:close/>
                </a:path>
                <a:path w="913765" h="2117090">
                  <a:moveTo>
                    <a:pt x="15748" y="1054608"/>
                  </a:moveTo>
                  <a:lnTo>
                    <a:pt x="15748" y="1054862"/>
                  </a:lnTo>
                  <a:lnTo>
                    <a:pt x="15748" y="1054608"/>
                  </a:lnTo>
                  <a:close/>
                </a:path>
                <a:path w="913765" h="2117090">
                  <a:moveTo>
                    <a:pt x="14224" y="1037971"/>
                  </a:moveTo>
                  <a:lnTo>
                    <a:pt x="14224" y="1038225"/>
                  </a:lnTo>
                  <a:lnTo>
                    <a:pt x="14224" y="1037971"/>
                  </a:lnTo>
                  <a:close/>
                </a:path>
                <a:path w="913765" h="2117090">
                  <a:moveTo>
                    <a:pt x="13208" y="1021461"/>
                  </a:moveTo>
                  <a:lnTo>
                    <a:pt x="13208" y="1021715"/>
                  </a:lnTo>
                  <a:lnTo>
                    <a:pt x="13208" y="1021461"/>
                  </a:lnTo>
                  <a:close/>
                </a:path>
                <a:path w="913765" h="2117090">
                  <a:moveTo>
                    <a:pt x="12838" y="988695"/>
                  </a:moveTo>
                  <a:lnTo>
                    <a:pt x="12827" y="988949"/>
                  </a:lnTo>
                  <a:lnTo>
                    <a:pt x="12838" y="988695"/>
                  </a:lnTo>
                  <a:close/>
                </a:path>
                <a:path w="913765" h="2117090">
                  <a:moveTo>
                    <a:pt x="13599" y="972439"/>
                  </a:moveTo>
                  <a:lnTo>
                    <a:pt x="13589" y="972566"/>
                  </a:lnTo>
                  <a:lnTo>
                    <a:pt x="13599" y="972439"/>
                  </a:lnTo>
                  <a:close/>
                </a:path>
                <a:path w="913765" h="2117090">
                  <a:moveTo>
                    <a:pt x="15015" y="956183"/>
                  </a:moveTo>
                  <a:lnTo>
                    <a:pt x="14986" y="956437"/>
                  </a:lnTo>
                  <a:lnTo>
                    <a:pt x="15015" y="956183"/>
                  </a:lnTo>
                  <a:close/>
                </a:path>
                <a:path w="913765" h="2117090">
                  <a:moveTo>
                    <a:pt x="16910" y="940054"/>
                  </a:moveTo>
                  <a:close/>
                </a:path>
                <a:path w="913765" h="2117090">
                  <a:moveTo>
                    <a:pt x="19480" y="923798"/>
                  </a:moveTo>
                  <a:lnTo>
                    <a:pt x="19431" y="924052"/>
                  </a:lnTo>
                  <a:lnTo>
                    <a:pt x="19480" y="923798"/>
                  </a:lnTo>
                  <a:close/>
                </a:path>
                <a:path w="913765" h="2117090">
                  <a:moveTo>
                    <a:pt x="22606" y="907796"/>
                  </a:moveTo>
                  <a:lnTo>
                    <a:pt x="22479" y="907923"/>
                  </a:lnTo>
                  <a:lnTo>
                    <a:pt x="22606" y="907796"/>
                  </a:lnTo>
                  <a:close/>
                </a:path>
                <a:path w="913765" h="2117090">
                  <a:moveTo>
                    <a:pt x="26289" y="891794"/>
                  </a:moveTo>
                  <a:lnTo>
                    <a:pt x="26162" y="892048"/>
                  </a:lnTo>
                  <a:lnTo>
                    <a:pt x="26289" y="891794"/>
                  </a:lnTo>
                  <a:close/>
                </a:path>
                <a:path w="913765" h="2117090">
                  <a:moveTo>
                    <a:pt x="30480" y="875792"/>
                  </a:moveTo>
                  <a:lnTo>
                    <a:pt x="30353" y="876046"/>
                  </a:lnTo>
                  <a:lnTo>
                    <a:pt x="30480" y="875792"/>
                  </a:lnTo>
                  <a:close/>
                </a:path>
                <a:path w="913765" h="2117090">
                  <a:moveTo>
                    <a:pt x="40659" y="844042"/>
                  </a:moveTo>
                  <a:lnTo>
                    <a:pt x="40540" y="844351"/>
                  </a:lnTo>
                  <a:lnTo>
                    <a:pt x="40659" y="844042"/>
                  </a:lnTo>
                  <a:close/>
                </a:path>
                <a:path w="913765" h="2117090">
                  <a:moveTo>
                    <a:pt x="52878" y="812419"/>
                  </a:moveTo>
                  <a:lnTo>
                    <a:pt x="52705" y="812800"/>
                  </a:lnTo>
                  <a:lnTo>
                    <a:pt x="52878" y="812419"/>
                  </a:lnTo>
                  <a:close/>
                </a:path>
                <a:path w="913765" h="2117090">
                  <a:moveTo>
                    <a:pt x="67254" y="781050"/>
                  </a:moveTo>
                  <a:lnTo>
                    <a:pt x="67056" y="781431"/>
                  </a:lnTo>
                  <a:lnTo>
                    <a:pt x="67254" y="781050"/>
                  </a:lnTo>
                  <a:close/>
                </a:path>
                <a:path w="913765" h="2117090">
                  <a:moveTo>
                    <a:pt x="83460" y="749935"/>
                  </a:moveTo>
                  <a:lnTo>
                    <a:pt x="83312" y="750189"/>
                  </a:lnTo>
                  <a:lnTo>
                    <a:pt x="83460" y="749935"/>
                  </a:lnTo>
                  <a:close/>
                </a:path>
                <a:path w="913765" h="2117090">
                  <a:moveTo>
                    <a:pt x="101600" y="718947"/>
                  </a:moveTo>
                  <a:lnTo>
                    <a:pt x="101346" y="719201"/>
                  </a:lnTo>
                  <a:lnTo>
                    <a:pt x="101600" y="718947"/>
                  </a:lnTo>
                  <a:close/>
                </a:path>
                <a:path w="913765" h="2117090">
                  <a:moveTo>
                    <a:pt x="121592" y="688086"/>
                  </a:moveTo>
                  <a:lnTo>
                    <a:pt x="121412" y="688340"/>
                  </a:lnTo>
                  <a:lnTo>
                    <a:pt x="121592" y="688086"/>
                  </a:lnTo>
                  <a:close/>
                </a:path>
                <a:path w="913765" h="2117090">
                  <a:moveTo>
                    <a:pt x="143383" y="657479"/>
                  </a:moveTo>
                  <a:close/>
                </a:path>
                <a:path w="913765" h="2117090">
                  <a:moveTo>
                    <a:pt x="166878" y="626999"/>
                  </a:moveTo>
                  <a:close/>
                </a:path>
                <a:path w="913765" h="2117090">
                  <a:moveTo>
                    <a:pt x="191992" y="596519"/>
                  </a:moveTo>
                  <a:lnTo>
                    <a:pt x="191770" y="596773"/>
                  </a:lnTo>
                  <a:lnTo>
                    <a:pt x="191992" y="596519"/>
                  </a:lnTo>
                  <a:close/>
                </a:path>
                <a:path w="913765" h="2117090">
                  <a:moveTo>
                    <a:pt x="306714" y="476504"/>
                  </a:moveTo>
                  <a:lnTo>
                    <a:pt x="306578" y="476504"/>
                  </a:lnTo>
                  <a:lnTo>
                    <a:pt x="306714" y="476504"/>
                  </a:lnTo>
                  <a:close/>
                </a:path>
                <a:path w="913765" h="2117090">
                  <a:moveTo>
                    <a:pt x="338723" y="446786"/>
                  </a:moveTo>
                  <a:lnTo>
                    <a:pt x="338582" y="446786"/>
                  </a:lnTo>
                  <a:lnTo>
                    <a:pt x="338723" y="446786"/>
                  </a:lnTo>
                  <a:close/>
                </a:path>
                <a:path w="913765" h="2117090">
                  <a:moveTo>
                    <a:pt x="371876" y="417195"/>
                  </a:moveTo>
                  <a:lnTo>
                    <a:pt x="371729" y="417195"/>
                  </a:lnTo>
                  <a:lnTo>
                    <a:pt x="371729" y="417322"/>
                  </a:lnTo>
                  <a:lnTo>
                    <a:pt x="371876" y="417195"/>
                  </a:lnTo>
                  <a:close/>
                </a:path>
                <a:path w="913765" h="2117090">
                  <a:moveTo>
                    <a:pt x="441227" y="358267"/>
                  </a:moveTo>
                  <a:lnTo>
                    <a:pt x="441071" y="358394"/>
                  </a:lnTo>
                  <a:lnTo>
                    <a:pt x="441227" y="358267"/>
                  </a:lnTo>
                  <a:close/>
                </a:path>
                <a:path w="913765" h="2117090">
                  <a:moveTo>
                    <a:pt x="514387" y="299720"/>
                  </a:moveTo>
                  <a:lnTo>
                    <a:pt x="514223" y="299720"/>
                  </a:lnTo>
                  <a:lnTo>
                    <a:pt x="514223" y="299847"/>
                  </a:lnTo>
                  <a:lnTo>
                    <a:pt x="514387" y="299720"/>
                  </a:lnTo>
                  <a:close/>
                </a:path>
                <a:path w="913765" h="2117090">
                  <a:moveTo>
                    <a:pt x="629712" y="212471"/>
                  </a:moveTo>
                  <a:lnTo>
                    <a:pt x="629539" y="212471"/>
                  </a:lnTo>
                  <a:lnTo>
                    <a:pt x="629539" y="212598"/>
                  </a:lnTo>
                  <a:lnTo>
                    <a:pt x="629712" y="212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A1BA135-0705-A067-B9A9-83CFDE313A7C}"/>
                </a:ext>
              </a:extLst>
            </p:cNvPr>
            <p:cNvSpPr/>
            <p:nvPr/>
          </p:nvSpPr>
          <p:spPr>
            <a:xfrm>
              <a:off x="6918959" y="6074663"/>
              <a:ext cx="1513840" cy="399415"/>
            </a:xfrm>
            <a:custGeom>
              <a:avLst/>
              <a:gdLst/>
              <a:ahLst/>
              <a:cxnLst/>
              <a:rect l="l" t="t" r="r" b="b"/>
              <a:pathLst>
                <a:path w="1513840" h="399414">
                  <a:moveTo>
                    <a:pt x="1155954" y="0"/>
                  </a:moveTo>
                  <a:lnTo>
                    <a:pt x="1135785" y="11985"/>
                  </a:lnTo>
                  <a:lnTo>
                    <a:pt x="1114619" y="43999"/>
                  </a:lnTo>
                  <a:lnTo>
                    <a:pt x="1092459" y="90133"/>
                  </a:lnTo>
                  <a:lnTo>
                    <a:pt x="1045168" y="201118"/>
                  </a:lnTo>
                  <a:lnTo>
                    <a:pt x="1020044" y="254147"/>
                  </a:lnTo>
                  <a:lnTo>
                    <a:pt x="993937" y="297655"/>
                  </a:lnTo>
                  <a:lnTo>
                    <a:pt x="966851" y="325729"/>
                  </a:lnTo>
                  <a:lnTo>
                    <a:pt x="927018" y="343461"/>
                  </a:lnTo>
                  <a:lnTo>
                    <a:pt x="882805" y="349081"/>
                  </a:lnTo>
                  <a:lnTo>
                    <a:pt x="836834" y="344778"/>
                  </a:lnTo>
                  <a:lnTo>
                    <a:pt x="791732" y="332739"/>
                  </a:lnTo>
                  <a:lnTo>
                    <a:pt x="750121" y="315153"/>
                  </a:lnTo>
                  <a:lnTo>
                    <a:pt x="714629" y="294208"/>
                  </a:lnTo>
                  <a:lnTo>
                    <a:pt x="687189" y="261884"/>
                  </a:lnTo>
                  <a:lnTo>
                    <a:pt x="666016" y="214820"/>
                  </a:lnTo>
                  <a:lnTo>
                    <a:pt x="648335" y="162209"/>
                  </a:lnTo>
                  <a:lnTo>
                    <a:pt x="631373" y="113246"/>
                  </a:lnTo>
                  <a:lnTo>
                    <a:pt x="612358" y="77126"/>
                  </a:lnTo>
                  <a:lnTo>
                    <a:pt x="588518" y="63042"/>
                  </a:lnTo>
                  <a:lnTo>
                    <a:pt x="565489" y="72907"/>
                  </a:lnTo>
                  <a:lnTo>
                    <a:pt x="542318" y="99069"/>
                  </a:lnTo>
                  <a:lnTo>
                    <a:pt x="517991" y="136383"/>
                  </a:lnTo>
                  <a:lnTo>
                    <a:pt x="491497" y="179700"/>
                  </a:lnTo>
                  <a:lnTo>
                    <a:pt x="461821" y="223875"/>
                  </a:lnTo>
                  <a:lnTo>
                    <a:pt x="427951" y="263760"/>
                  </a:lnTo>
                  <a:lnTo>
                    <a:pt x="388874" y="294208"/>
                  </a:lnTo>
                  <a:lnTo>
                    <a:pt x="349943" y="313808"/>
                  </a:lnTo>
                  <a:lnTo>
                    <a:pt x="307145" y="330822"/>
                  </a:lnTo>
                  <a:lnTo>
                    <a:pt x="261032" y="345619"/>
                  </a:lnTo>
                  <a:lnTo>
                    <a:pt x="212153" y="358568"/>
                  </a:lnTo>
                  <a:lnTo>
                    <a:pt x="161060" y="370040"/>
                  </a:lnTo>
                  <a:lnTo>
                    <a:pt x="108303" y="380404"/>
                  </a:lnTo>
                  <a:lnTo>
                    <a:pt x="54432" y="390030"/>
                  </a:lnTo>
                  <a:lnTo>
                    <a:pt x="0" y="399288"/>
                  </a:lnTo>
                  <a:lnTo>
                    <a:pt x="1513332" y="388785"/>
                  </a:lnTo>
                  <a:lnTo>
                    <a:pt x="1462031" y="388785"/>
                  </a:lnTo>
                  <a:lnTo>
                    <a:pt x="1411992" y="385632"/>
                  </a:lnTo>
                  <a:lnTo>
                    <a:pt x="1364476" y="376174"/>
                  </a:lnTo>
                  <a:lnTo>
                    <a:pt x="1320747" y="357257"/>
                  </a:lnTo>
                  <a:lnTo>
                    <a:pt x="1282065" y="325729"/>
                  </a:lnTo>
                  <a:lnTo>
                    <a:pt x="1261738" y="293130"/>
                  </a:lnTo>
                  <a:lnTo>
                    <a:pt x="1244679" y="247498"/>
                  </a:lnTo>
                  <a:lnTo>
                    <a:pt x="1229906" y="194192"/>
                  </a:lnTo>
                  <a:lnTo>
                    <a:pt x="1216437" y="138566"/>
                  </a:lnTo>
                  <a:lnTo>
                    <a:pt x="1203290" y="85978"/>
                  </a:lnTo>
                  <a:lnTo>
                    <a:pt x="1189482" y="41783"/>
                  </a:lnTo>
                  <a:lnTo>
                    <a:pt x="1174030" y="11338"/>
                  </a:lnTo>
                  <a:lnTo>
                    <a:pt x="1155954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441771D-A010-502A-A284-9E43FC55648A}"/>
                </a:ext>
              </a:extLst>
            </p:cNvPr>
            <p:cNvSpPr/>
            <p:nvPr/>
          </p:nvSpPr>
          <p:spPr>
            <a:xfrm>
              <a:off x="6918959" y="6074663"/>
              <a:ext cx="1513840" cy="399415"/>
            </a:xfrm>
            <a:custGeom>
              <a:avLst/>
              <a:gdLst/>
              <a:ahLst/>
              <a:cxnLst/>
              <a:rect l="l" t="t" r="r" b="b"/>
              <a:pathLst>
                <a:path w="1513840" h="399414">
                  <a:moveTo>
                    <a:pt x="0" y="399288"/>
                  </a:moveTo>
                  <a:lnTo>
                    <a:pt x="54432" y="390030"/>
                  </a:lnTo>
                  <a:lnTo>
                    <a:pt x="108303" y="380404"/>
                  </a:lnTo>
                  <a:lnTo>
                    <a:pt x="161060" y="370040"/>
                  </a:lnTo>
                  <a:lnTo>
                    <a:pt x="212153" y="358568"/>
                  </a:lnTo>
                  <a:lnTo>
                    <a:pt x="261032" y="345619"/>
                  </a:lnTo>
                  <a:lnTo>
                    <a:pt x="307145" y="330822"/>
                  </a:lnTo>
                  <a:lnTo>
                    <a:pt x="349943" y="313808"/>
                  </a:lnTo>
                  <a:lnTo>
                    <a:pt x="388874" y="294208"/>
                  </a:lnTo>
                  <a:lnTo>
                    <a:pt x="427951" y="263760"/>
                  </a:lnTo>
                  <a:lnTo>
                    <a:pt x="461821" y="223875"/>
                  </a:lnTo>
                  <a:lnTo>
                    <a:pt x="491497" y="179700"/>
                  </a:lnTo>
                  <a:lnTo>
                    <a:pt x="517991" y="136383"/>
                  </a:lnTo>
                  <a:lnTo>
                    <a:pt x="542318" y="99069"/>
                  </a:lnTo>
                  <a:lnTo>
                    <a:pt x="565489" y="72907"/>
                  </a:lnTo>
                  <a:lnTo>
                    <a:pt x="588518" y="63042"/>
                  </a:lnTo>
                  <a:lnTo>
                    <a:pt x="612358" y="77126"/>
                  </a:lnTo>
                  <a:lnTo>
                    <a:pt x="631373" y="113246"/>
                  </a:lnTo>
                  <a:lnTo>
                    <a:pt x="648335" y="162209"/>
                  </a:lnTo>
                  <a:lnTo>
                    <a:pt x="666016" y="214820"/>
                  </a:lnTo>
                  <a:lnTo>
                    <a:pt x="687189" y="261884"/>
                  </a:lnTo>
                  <a:lnTo>
                    <a:pt x="714629" y="294208"/>
                  </a:lnTo>
                  <a:lnTo>
                    <a:pt x="750121" y="315153"/>
                  </a:lnTo>
                  <a:lnTo>
                    <a:pt x="791732" y="332739"/>
                  </a:lnTo>
                  <a:lnTo>
                    <a:pt x="836834" y="344778"/>
                  </a:lnTo>
                  <a:lnTo>
                    <a:pt x="882805" y="349081"/>
                  </a:lnTo>
                  <a:lnTo>
                    <a:pt x="927018" y="343461"/>
                  </a:lnTo>
                  <a:lnTo>
                    <a:pt x="966851" y="325729"/>
                  </a:lnTo>
                  <a:lnTo>
                    <a:pt x="993937" y="297655"/>
                  </a:lnTo>
                  <a:lnTo>
                    <a:pt x="1020044" y="254147"/>
                  </a:lnTo>
                  <a:lnTo>
                    <a:pt x="1045168" y="201118"/>
                  </a:lnTo>
                  <a:lnTo>
                    <a:pt x="1069308" y="144476"/>
                  </a:lnTo>
                  <a:lnTo>
                    <a:pt x="1092459" y="90133"/>
                  </a:lnTo>
                  <a:lnTo>
                    <a:pt x="1114619" y="43999"/>
                  </a:lnTo>
                  <a:lnTo>
                    <a:pt x="1135785" y="11985"/>
                  </a:lnTo>
                  <a:lnTo>
                    <a:pt x="1155954" y="0"/>
                  </a:lnTo>
                  <a:lnTo>
                    <a:pt x="1174030" y="11338"/>
                  </a:lnTo>
                  <a:lnTo>
                    <a:pt x="1189482" y="41783"/>
                  </a:lnTo>
                  <a:lnTo>
                    <a:pt x="1203290" y="85978"/>
                  </a:lnTo>
                  <a:lnTo>
                    <a:pt x="1216437" y="138566"/>
                  </a:lnTo>
                  <a:lnTo>
                    <a:pt x="1229906" y="194192"/>
                  </a:lnTo>
                  <a:lnTo>
                    <a:pt x="1244679" y="247498"/>
                  </a:lnTo>
                  <a:lnTo>
                    <a:pt x="1261738" y="293130"/>
                  </a:lnTo>
                  <a:lnTo>
                    <a:pt x="1282065" y="325729"/>
                  </a:lnTo>
                  <a:lnTo>
                    <a:pt x="1320747" y="357257"/>
                  </a:lnTo>
                  <a:lnTo>
                    <a:pt x="1364476" y="376174"/>
                  </a:lnTo>
                  <a:lnTo>
                    <a:pt x="1411992" y="385632"/>
                  </a:lnTo>
                  <a:lnTo>
                    <a:pt x="1462031" y="388785"/>
                  </a:lnTo>
                  <a:lnTo>
                    <a:pt x="1513332" y="388785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>
            <a:extLst>
              <a:ext uri="{FF2B5EF4-FFF2-40B4-BE49-F238E27FC236}">
                <a16:creationId xmlns:a16="http://schemas.microsoft.com/office/drawing/2014/main" id="{9577B8DF-F968-9667-BAD7-0EA19E80F16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36208" y="3432047"/>
            <a:ext cx="307847" cy="176783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54D39351-D76B-B49F-6BC3-182E54A6263A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73540" y="4197096"/>
            <a:ext cx="86866" cy="79248"/>
          </a:xfrm>
          <a:prstGeom prst="rect">
            <a:avLst/>
          </a:prstGeom>
        </p:spPr>
      </p:pic>
      <p:pic>
        <p:nvPicPr>
          <p:cNvPr id="19" name="object 19">
            <a:extLst>
              <a:ext uri="{FF2B5EF4-FFF2-40B4-BE49-F238E27FC236}">
                <a16:creationId xmlns:a16="http://schemas.microsoft.com/office/drawing/2014/main" id="{7FFF495B-0EFF-22F9-F990-E009F0127E83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78207" y="6408420"/>
            <a:ext cx="70007" cy="80772"/>
          </a:xfrm>
          <a:prstGeom prst="rect">
            <a:avLst/>
          </a:prstGeom>
        </p:spPr>
      </p:pic>
      <p:pic>
        <p:nvPicPr>
          <p:cNvPr id="20" name="object 20">
            <a:extLst>
              <a:ext uri="{FF2B5EF4-FFF2-40B4-BE49-F238E27FC236}">
                <a16:creationId xmlns:a16="http://schemas.microsoft.com/office/drawing/2014/main" id="{59F9331D-FE97-EE75-F02B-0FF9231CF84A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36208" y="5647944"/>
            <a:ext cx="295656" cy="176784"/>
          </a:xfrm>
          <a:prstGeom prst="rect">
            <a:avLst/>
          </a:prstGeom>
        </p:spPr>
      </p:pic>
      <p:sp>
        <p:nvSpPr>
          <p:cNvPr id="21" name="object 21">
            <a:extLst>
              <a:ext uri="{FF2B5EF4-FFF2-40B4-BE49-F238E27FC236}">
                <a16:creationId xmlns:a16="http://schemas.microsoft.com/office/drawing/2014/main" id="{8111CD3C-A65B-CDF7-88AC-BD2DBB72A1FD}"/>
              </a:ext>
            </a:extLst>
          </p:cNvPr>
          <p:cNvSpPr txBox="1"/>
          <p:nvPr/>
        </p:nvSpPr>
        <p:spPr>
          <a:xfrm>
            <a:off x="1233322" y="4421885"/>
            <a:ext cx="3311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probabilistic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inference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59B4866-7318-3777-2094-2E9BEDD7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AE72-AA31-4536-A1D1-9DC094FD8BA2}" type="datetime1">
              <a:rPr lang="en-US" smtClean="0"/>
              <a:t>2/18/2025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695C35E-9D88-B43E-13E7-95EAC8A5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01816B5-94D5-F074-9190-308D178E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25561" y="2971800"/>
            <a:ext cx="2522855" cy="3048000"/>
            <a:chOff x="6791706" y="3422141"/>
            <a:chExt cx="2522855" cy="3048000"/>
          </a:xfrm>
        </p:grpSpPr>
        <p:sp>
          <p:nvSpPr>
            <p:cNvPr id="3" name="object 3"/>
            <p:cNvSpPr/>
            <p:nvPr/>
          </p:nvSpPr>
          <p:spPr>
            <a:xfrm>
              <a:off x="7254240" y="5975667"/>
              <a:ext cx="1167765" cy="443230"/>
            </a:xfrm>
            <a:custGeom>
              <a:avLst/>
              <a:gdLst/>
              <a:ahLst/>
              <a:cxnLst/>
              <a:rect l="l" t="t" r="r" b="b"/>
              <a:pathLst>
                <a:path w="1167765" h="443229">
                  <a:moveTo>
                    <a:pt x="544829" y="0"/>
                  </a:moveTo>
                  <a:lnTo>
                    <a:pt x="523058" y="11754"/>
                  </a:lnTo>
                  <a:lnTo>
                    <a:pt x="501297" y="45424"/>
                  </a:lnTo>
                  <a:lnTo>
                    <a:pt x="479345" y="93032"/>
                  </a:lnTo>
                  <a:lnTo>
                    <a:pt x="457002" y="146604"/>
                  </a:lnTo>
                  <a:lnTo>
                    <a:pt x="434066" y="198164"/>
                  </a:lnTo>
                  <a:lnTo>
                    <a:pt x="410336" y="239737"/>
                  </a:lnTo>
                  <a:lnTo>
                    <a:pt x="382135" y="280235"/>
                  </a:lnTo>
                  <a:lnTo>
                    <a:pt x="354349" y="319082"/>
                  </a:lnTo>
                  <a:lnTo>
                    <a:pt x="325105" y="354407"/>
                  </a:lnTo>
                  <a:lnTo>
                    <a:pt x="292533" y="384336"/>
                  </a:lnTo>
                  <a:lnTo>
                    <a:pt x="254761" y="406996"/>
                  </a:lnTo>
                  <a:lnTo>
                    <a:pt x="0" y="423722"/>
                  </a:lnTo>
                  <a:lnTo>
                    <a:pt x="1167383" y="434873"/>
                  </a:lnTo>
                  <a:lnTo>
                    <a:pt x="1118906" y="439868"/>
                  </a:lnTo>
                  <a:lnTo>
                    <a:pt x="1070343" y="443056"/>
                  </a:lnTo>
                  <a:lnTo>
                    <a:pt x="1021610" y="442632"/>
                  </a:lnTo>
                  <a:lnTo>
                    <a:pt x="972620" y="436790"/>
                  </a:lnTo>
                  <a:lnTo>
                    <a:pt x="923289" y="423722"/>
                  </a:lnTo>
                  <a:lnTo>
                    <a:pt x="880402" y="406648"/>
                  </a:lnTo>
                  <a:lnTo>
                    <a:pt x="835500" y="384694"/>
                  </a:lnTo>
                  <a:lnTo>
                    <a:pt x="790400" y="358559"/>
                  </a:lnTo>
                  <a:lnTo>
                    <a:pt x="746919" y="328939"/>
                  </a:lnTo>
                  <a:lnTo>
                    <a:pt x="706875" y="296533"/>
                  </a:lnTo>
                  <a:lnTo>
                    <a:pt x="672083" y="262039"/>
                  </a:lnTo>
                  <a:lnTo>
                    <a:pt x="643810" y="218363"/>
                  </a:lnTo>
                  <a:lnTo>
                    <a:pt x="620776" y="163538"/>
                  </a:lnTo>
                  <a:lnTo>
                    <a:pt x="601170" y="105925"/>
                  </a:lnTo>
                  <a:lnTo>
                    <a:pt x="583183" y="53889"/>
                  </a:lnTo>
                  <a:lnTo>
                    <a:pt x="565007" y="15793"/>
                  </a:lnTo>
                  <a:lnTo>
                    <a:pt x="544829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54240" y="5975667"/>
              <a:ext cx="1167765" cy="443230"/>
            </a:xfrm>
            <a:custGeom>
              <a:avLst/>
              <a:gdLst/>
              <a:ahLst/>
              <a:cxnLst/>
              <a:rect l="l" t="t" r="r" b="b"/>
              <a:pathLst>
                <a:path w="1167765" h="443229">
                  <a:moveTo>
                    <a:pt x="0" y="423722"/>
                  </a:moveTo>
                  <a:lnTo>
                    <a:pt x="254761" y="406996"/>
                  </a:lnTo>
                  <a:lnTo>
                    <a:pt x="292533" y="384336"/>
                  </a:lnTo>
                  <a:lnTo>
                    <a:pt x="325105" y="354407"/>
                  </a:lnTo>
                  <a:lnTo>
                    <a:pt x="354349" y="319082"/>
                  </a:lnTo>
                  <a:lnTo>
                    <a:pt x="382135" y="280235"/>
                  </a:lnTo>
                  <a:lnTo>
                    <a:pt x="410336" y="239737"/>
                  </a:lnTo>
                  <a:lnTo>
                    <a:pt x="434066" y="198164"/>
                  </a:lnTo>
                  <a:lnTo>
                    <a:pt x="457002" y="146604"/>
                  </a:lnTo>
                  <a:lnTo>
                    <a:pt x="479345" y="93032"/>
                  </a:lnTo>
                  <a:lnTo>
                    <a:pt x="501297" y="45424"/>
                  </a:lnTo>
                  <a:lnTo>
                    <a:pt x="523058" y="11754"/>
                  </a:lnTo>
                  <a:lnTo>
                    <a:pt x="544829" y="0"/>
                  </a:lnTo>
                  <a:lnTo>
                    <a:pt x="565007" y="15793"/>
                  </a:lnTo>
                  <a:lnTo>
                    <a:pt x="583183" y="53889"/>
                  </a:lnTo>
                  <a:lnTo>
                    <a:pt x="601170" y="105925"/>
                  </a:lnTo>
                  <a:lnTo>
                    <a:pt x="620776" y="163538"/>
                  </a:lnTo>
                  <a:lnTo>
                    <a:pt x="643810" y="218363"/>
                  </a:lnTo>
                  <a:lnTo>
                    <a:pt x="672083" y="262039"/>
                  </a:lnTo>
                  <a:lnTo>
                    <a:pt x="706875" y="296533"/>
                  </a:lnTo>
                  <a:lnTo>
                    <a:pt x="746919" y="328939"/>
                  </a:lnTo>
                  <a:lnTo>
                    <a:pt x="790400" y="358559"/>
                  </a:lnTo>
                  <a:lnTo>
                    <a:pt x="835500" y="384694"/>
                  </a:lnTo>
                  <a:lnTo>
                    <a:pt x="880402" y="406648"/>
                  </a:lnTo>
                  <a:lnTo>
                    <a:pt x="923289" y="423722"/>
                  </a:lnTo>
                  <a:lnTo>
                    <a:pt x="972620" y="436790"/>
                  </a:lnTo>
                  <a:lnTo>
                    <a:pt x="1021610" y="442632"/>
                  </a:lnTo>
                  <a:lnTo>
                    <a:pt x="1070343" y="443056"/>
                  </a:lnTo>
                  <a:lnTo>
                    <a:pt x="1118906" y="439868"/>
                  </a:lnTo>
                  <a:lnTo>
                    <a:pt x="1167383" y="43487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1706" y="3422141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0380" y="3507231"/>
              <a:ext cx="2399030" cy="683895"/>
            </a:xfrm>
            <a:custGeom>
              <a:avLst/>
              <a:gdLst/>
              <a:ahLst/>
              <a:cxnLst/>
              <a:rect l="l" t="t" r="r" b="b"/>
              <a:pathLst>
                <a:path w="2399029" h="683895">
                  <a:moveTo>
                    <a:pt x="0" y="580770"/>
                  </a:moveTo>
                  <a:lnTo>
                    <a:pt x="37391" y="601671"/>
                  </a:lnTo>
                  <a:lnTo>
                    <a:pt x="75908" y="619200"/>
                  </a:lnTo>
                  <a:lnTo>
                    <a:pt x="116697" y="629983"/>
                  </a:lnTo>
                  <a:lnTo>
                    <a:pt x="160904" y="630649"/>
                  </a:lnTo>
                  <a:lnTo>
                    <a:pt x="209676" y="617824"/>
                  </a:lnTo>
                  <a:lnTo>
                    <a:pt x="264160" y="588136"/>
                  </a:lnTo>
                  <a:lnTo>
                    <a:pt x="316993" y="538217"/>
                  </a:lnTo>
                  <a:lnTo>
                    <a:pt x="345613" y="503139"/>
                  </a:lnTo>
                  <a:lnTo>
                    <a:pt x="375421" y="463212"/>
                  </a:lnTo>
                  <a:lnTo>
                    <a:pt x="406207" y="419859"/>
                  </a:lnTo>
                  <a:lnTo>
                    <a:pt x="437759" y="374502"/>
                  </a:lnTo>
                  <a:lnTo>
                    <a:pt x="469868" y="328564"/>
                  </a:lnTo>
                  <a:lnTo>
                    <a:pt x="502323" y="283468"/>
                  </a:lnTo>
                  <a:lnTo>
                    <a:pt x="534913" y="240637"/>
                  </a:lnTo>
                  <a:lnTo>
                    <a:pt x="567428" y="201492"/>
                  </a:lnTo>
                  <a:lnTo>
                    <a:pt x="599658" y="167457"/>
                  </a:lnTo>
                  <a:lnTo>
                    <a:pt x="631392" y="139954"/>
                  </a:lnTo>
                  <a:lnTo>
                    <a:pt x="692530" y="110235"/>
                  </a:lnTo>
                  <a:lnTo>
                    <a:pt x="723990" y="111663"/>
                  </a:lnTo>
                  <a:lnTo>
                    <a:pt x="784992" y="148697"/>
                  </a:lnTo>
                  <a:lnTo>
                    <a:pt x="814848" y="179927"/>
                  </a:lnTo>
                  <a:lnTo>
                    <a:pt x="844481" y="216714"/>
                  </a:lnTo>
                  <a:lnTo>
                    <a:pt x="874048" y="256869"/>
                  </a:lnTo>
                  <a:lnTo>
                    <a:pt x="903707" y="298205"/>
                  </a:lnTo>
                  <a:lnTo>
                    <a:pt x="933613" y="338531"/>
                  </a:lnTo>
                  <a:lnTo>
                    <a:pt x="963923" y="375661"/>
                  </a:lnTo>
                  <a:lnTo>
                    <a:pt x="994792" y="407405"/>
                  </a:lnTo>
                  <a:lnTo>
                    <a:pt x="1026379" y="431574"/>
                  </a:lnTo>
                  <a:lnTo>
                    <a:pt x="1092327" y="448436"/>
                  </a:lnTo>
                  <a:lnTo>
                    <a:pt x="1120334" y="440198"/>
                  </a:lnTo>
                  <a:lnTo>
                    <a:pt x="1178165" y="398792"/>
                  </a:lnTo>
                  <a:lnTo>
                    <a:pt x="1207853" y="368242"/>
                  </a:lnTo>
                  <a:lnTo>
                    <a:pt x="1237965" y="332872"/>
                  </a:lnTo>
                  <a:lnTo>
                    <a:pt x="1268433" y="293991"/>
                  </a:lnTo>
                  <a:lnTo>
                    <a:pt x="1299190" y="252908"/>
                  </a:lnTo>
                  <a:lnTo>
                    <a:pt x="1330166" y="210931"/>
                  </a:lnTo>
                  <a:lnTo>
                    <a:pt x="1361294" y="169369"/>
                  </a:lnTo>
                  <a:lnTo>
                    <a:pt x="1392505" y="129531"/>
                  </a:lnTo>
                  <a:lnTo>
                    <a:pt x="1423733" y="92726"/>
                  </a:lnTo>
                  <a:lnTo>
                    <a:pt x="1454908" y="60263"/>
                  </a:lnTo>
                  <a:lnTo>
                    <a:pt x="1485962" y="33450"/>
                  </a:lnTo>
                  <a:lnTo>
                    <a:pt x="1547436" y="2009"/>
                  </a:lnTo>
                  <a:lnTo>
                    <a:pt x="1577721" y="0"/>
                  </a:lnTo>
                  <a:lnTo>
                    <a:pt x="1608064" y="7766"/>
                  </a:lnTo>
                  <a:lnTo>
                    <a:pt x="1669796" y="47493"/>
                  </a:lnTo>
                  <a:lnTo>
                    <a:pt x="1700996" y="77374"/>
                  </a:lnTo>
                  <a:lnTo>
                    <a:pt x="1732293" y="112548"/>
                  </a:lnTo>
                  <a:lnTo>
                    <a:pt x="1763594" y="151974"/>
                  </a:lnTo>
                  <a:lnTo>
                    <a:pt x="1794805" y="194613"/>
                  </a:lnTo>
                  <a:lnTo>
                    <a:pt x="1825831" y="239426"/>
                  </a:lnTo>
                  <a:lnTo>
                    <a:pt x="1856579" y="285373"/>
                  </a:lnTo>
                  <a:lnTo>
                    <a:pt x="1886954" y="331415"/>
                  </a:lnTo>
                  <a:lnTo>
                    <a:pt x="1916864" y="376511"/>
                  </a:lnTo>
                  <a:lnTo>
                    <a:pt x="1946213" y="419623"/>
                  </a:lnTo>
                  <a:lnTo>
                    <a:pt x="1974908" y="459711"/>
                  </a:lnTo>
                  <a:lnTo>
                    <a:pt x="2002855" y="495735"/>
                  </a:lnTo>
                  <a:lnTo>
                    <a:pt x="2029960" y="526656"/>
                  </a:lnTo>
                  <a:lnTo>
                    <a:pt x="2105904" y="589452"/>
                  </a:lnTo>
                  <a:lnTo>
                    <a:pt x="2152905" y="618884"/>
                  </a:lnTo>
                  <a:lnTo>
                    <a:pt x="2197529" y="640956"/>
                  </a:lnTo>
                  <a:lnTo>
                    <a:pt x="2240168" y="656891"/>
                  </a:lnTo>
                  <a:lnTo>
                    <a:pt x="2281218" y="667915"/>
                  </a:lnTo>
                  <a:lnTo>
                    <a:pt x="2321073" y="675253"/>
                  </a:lnTo>
                  <a:lnTo>
                    <a:pt x="2360128" y="680128"/>
                  </a:lnTo>
                  <a:lnTo>
                    <a:pt x="2398776" y="68376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1706" y="5633465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69"/>
                  </a:lnTo>
                  <a:lnTo>
                    <a:pt x="38100" y="798969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44284" y="5850712"/>
              <a:ext cx="2354580" cy="585470"/>
            </a:xfrm>
            <a:custGeom>
              <a:avLst/>
              <a:gdLst/>
              <a:ahLst/>
              <a:cxnLst/>
              <a:rect l="l" t="t" r="r" b="b"/>
              <a:pathLst>
                <a:path w="2354579" h="585470">
                  <a:moveTo>
                    <a:pt x="0" y="559142"/>
                  </a:moveTo>
                  <a:lnTo>
                    <a:pt x="513715" y="537070"/>
                  </a:lnTo>
                  <a:lnTo>
                    <a:pt x="562802" y="519640"/>
                  </a:lnTo>
                  <a:lnTo>
                    <a:pt x="607238" y="498101"/>
                  </a:lnTo>
                  <a:lnTo>
                    <a:pt x="647941" y="473055"/>
                  </a:lnTo>
                  <a:lnTo>
                    <a:pt x="685831" y="445106"/>
                  </a:lnTo>
                  <a:lnTo>
                    <a:pt x="721828" y="414858"/>
                  </a:lnTo>
                  <a:lnTo>
                    <a:pt x="756852" y="382915"/>
                  </a:lnTo>
                  <a:lnTo>
                    <a:pt x="791822" y="349880"/>
                  </a:lnTo>
                  <a:lnTo>
                    <a:pt x="827659" y="316356"/>
                  </a:lnTo>
                  <a:lnTo>
                    <a:pt x="859748" y="281772"/>
                  </a:lnTo>
                  <a:lnTo>
                    <a:pt x="891071" y="239769"/>
                  </a:lnTo>
                  <a:lnTo>
                    <a:pt x="921747" y="193467"/>
                  </a:lnTo>
                  <a:lnTo>
                    <a:pt x="951892" y="145983"/>
                  </a:lnTo>
                  <a:lnTo>
                    <a:pt x="981626" y="100438"/>
                  </a:lnTo>
                  <a:lnTo>
                    <a:pt x="1011065" y="59948"/>
                  </a:lnTo>
                  <a:lnTo>
                    <a:pt x="1040329" y="27633"/>
                  </a:lnTo>
                  <a:lnTo>
                    <a:pt x="1069536" y="6611"/>
                  </a:lnTo>
                  <a:lnTo>
                    <a:pt x="1098804" y="0"/>
                  </a:lnTo>
                  <a:lnTo>
                    <a:pt x="1123948" y="8356"/>
                  </a:lnTo>
                  <a:lnTo>
                    <a:pt x="1169060" y="59237"/>
                  </a:lnTo>
                  <a:lnTo>
                    <a:pt x="1190611" y="96993"/>
                  </a:lnTo>
                  <a:lnTo>
                    <a:pt x="1212548" y="139782"/>
                  </a:lnTo>
                  <a:lnTo>
                    <a:pt x="1235662" y="185219"/>
                  </a:lnTo>
                  <a:lnTo>
                    <a:pt x="1260745" y="230922"/>
                  </a:lnTo>
                  <a:lnTo>
                    <a:pt x="1288588" y="274506"/>
                  </a:lnTo>
                  <a:lnTo>
                    <a:pt x="1319984" y="313587"/>
                  </a:lnTo>
                  <a:lnTo>
                    <a:pt x="1355725" y="345782"/>
                  </a:lnTo>
                  <a:lnTo>
                    <a:pt x="1392425" y="370900"/>
                  </a:lnTo>
                  <a:lnTo>
                    <a:pt x="1432785" y="395321"/>
                  </a:lnTo>
                  <a:lnTo>
                    <a:pt x="1476208" y="418897"/>
                  </a:lnTo>
                  <a:lnTo>
                    <a:pt x="1522096" y="441477"/>
                  </a:lnTo>
                  <a:lnTo>
                    <a:pt x="1569854" y="462913"/>
                  </a:lnTo>
                  <a:lnTo>
                    <a:pt x="1618882" y="483056"/>
                  </a:lnTo>
                  <a:lnTo>
                    <a:pt x="1668586" y="501756"/>
                  </a:lnTo>
                  <a:lnTo>
                    <a:pt x="1718366" y="518863"/>
                  </a:lnTo>
                  <a:lnTo>
                    <a:pt x="1767627" y="534230"/>
                  </a:lnTo>
                  <a:lnTo>
                    <a:pt x="1815771" y="547706"/>
                  </a:lnTo>
                  <a:lnTo>
                    <a:pt x="1862201" y="559142"/>
                  </a:lnTo>
                  <a:lnTo>
                    <a:pt x="1912046" y="569106"/>
                  </a:lnTo>
                  <a:lnTo>
                    <a:pt x="1961700" y="576387"/>
                  </a:lnTo>
                  <a:lnTo>
                    <a:pt x="2011184" y="581286"/>
                  </a:lnTo>
                  <a:lnTo>
                    <a:pt x="2060518" y="584098"/>
                  </a:lnTo>
                  <a:lnTo>
                    <a:pt x="2109724" y="585123"/>
                  </a:lnTo>
                  <a:lnTo>
                    <a:pt x="2158823" y="584659"/>
                  </a:lnTo>
                  <a:lnTo>
                    <a:pt x="2207837" y="583002"/>
                  </a:lnTo>
                  <a:lnTo>
                    <a:pt x="2256786" y="580452"/>
                  </a:lnTo>
                  <a:lnTo>
                    <a:pt x="2305694" y="577306"/>
                  </a:lnTo>
                  <a:lnTo>
                    <a:pt x="2354580" y="57386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2464" y="4346485"/>
              <a:ext cx="829055" cy="138451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22694" y="3877944"/>
              <a:ext cx="915669" cy="2117090"/>
            </a:xfrm>
            <a:custGeom>
              <a:avLst/>
              <a:gdLst/>
              <a:ahLst/>
              <a:cxnLst/>
              <a:rect l="l" t="t" r="r" b="b"/>
              <a:pathLst>
                <a:path w="915670" h="2117090">
                  <a:moveTo>
                    <a:pt x="716517" y="2067556"/>
                  </a:moveTo>
                  <a:lnTo>
                    <a:pt x="694054" y="2089950"/>
                  </a:lnTo>
                  <a:lnTo>
                    <a:pt x="774826" y="2116988"/>
                  </a:lnTo>
                  <a:lnTo>
                    <a:pt x="761411" y="2076513"/>
                  </a:lnTo>
                  <a:lnTo>
                    <a:pt x="725424" y="2076513"/>
                  </a:lnTo>
                  <a:lnTo>
                    <a:pt x="716517" y="2067556"/>
                  </a:lnTo>
                  <a:close/>
                </a:path>
                <a:path w="915670" h="2117090">
                  <a:moveTo>
                    <a:pt x="725520" y="2058580"/>
                  </a:moveTo>
                  <a:lnTo>
                    <a:pt x="716517" y="2067556"/>
                  </a:lnTo>
                  <a:lnTo>
                    <a:pt x="725424" y="2076513"/>
                  </a:lnTo>
                  <a:lnTo>
                    <a:pt x="734440" y="2067547"/>
                  </a:lnTo>
                  <a:lnTo>
                    <a:pt x="725520" y="2058580"/>
                  </a:lnTo>
                  <a:close/>
                </a:path>
                <a:path w="915670" h="2117090">
                  <a:moveTo>
                    <a:pt x="748029" y="2036140"/>
                  </a:moveTo>
                  <a:lnTo>
                    <a:pt x="725520" y="2058580"/>
                  </a:lnTo>
                  <a:lnTo>
                    <a:pt x="734440" y="2067547"/>
                  </a:lnTo>
                  <a:lnTo>
                    <a:pt x="725424" y="2076513"/>
                  </a:lnTo>
                  <a:lnTo>
                    <a:pt x="761411" y="2076513"/>
                  </a:lnTo>
                  <a:lnTo>
                    <a:pt x="748029" y="2036140"/>
                  </a:lnTo>
                  <a:close/>
                </a:path>
                <a:path w="915670" h="2117090">
                  <a:moveTo>
                    <a:pt x="907923" y="0"/>
                  </a:moveTo>
                  <a:lnTo>
                    <a:pt x="743457" y="115315"/>
                  </a:lnTo>
                  <a:lnTo>
                    <a:pt x="622934" y="202310"/>
                  </a:lnTo>
                  <a:lnTo>
                    <a:pt x="583819" y="231393"/>
                  </a:lnTo>
                  <a:lnTo>
                    <a:pt x="545210" y="260603"/>
                  </a:lnTo>
                  <a:lnTo>
                    <a:pt x="507237" y="289813"/>
                  </a:lnTo>
                  <a:lnTo>
                    <a:pt x="470153" y="319150"/>
                  </a:lnTo>
                  <a:lnTo>
                    <a:pt x="433831" y="348487"/>
                  </a:lnTo>
                  <a:lnTo>
                    <a:pt x="398399" y="378078"/>
                  </a:lnTo>
                  <a:lnTo>
                    <a:pt x="363981" y="407669"/>
                  </a:lnTo>
                  <a:lnTo>
                    <a:pt x="330580" y="437387"/>
                  </a:lnTo>
                  <a:lnTo>
                    <a:pt x="298450" y="467359"/>
                  </a:lnTo>
                  <a:lnTo>
                    <a:pt x="267334" y="497331"/>
                  </a:lnTo>
                  <a:lnTo>
                    <a:pt x="237744" y="527557"/>
                  </a:lnTo>
                  <a:lnTo>
                    <a:pt x="209296" y="557910"/>
                  </a:lnTo>
                  <a:lnTo>
                    <a:pt x="182372" y="588390"/>
                  </a:lnTo>
                  <a:lnTo>
                    <a:pt x="156972" y="619124"/>
                  </a:lnTo>
                  <a:lnTo>
                    <a:pt x="133223" y="649985"/>
                  </a:lnTo>
                  <a:lnTo>
                    <a:pt x="90804" y="712469"/>
                  </a:lnTo>
                  <a:lnTo>
                    <a:pt x="55752" y="775715"/>
                  </a:lnTo>
                  <a:lnTo>
                    <a:pt x="28701" y="839977"/>
                  </a:lnTo>
                  <a:lnTo>
                    <a:pt x="13842" y="888872"/>
                  </a:lnTo>
                  <a:lnTo>
                    <a:pt x="4317" y="938402"/>
                  </a:lnTo>
                  <a:lnTo>
                    <a:pt x="253" y="988440"/>
                  </a:lnTo>
                  <a:lnTo>
                    <a:pt x="0" y="1005331"/>
                  </a:lnTo>
                  <a:lnTo>
                    <a:pt x="507" y="1022222"/>
                  </a:lnTo>
                  <a:lnTo>
                    <a:pt x="5333" y="1073149"/>
                  </a:lnTo>
                  <a:lnTo>
                    <a:pt x="19557" y="1141856"/>
                  </a:lnTo>
                  <a:lnTo>
                    <a:pt x="42036" y="1211325"/>
                  </a:lnTo>
                  <a:lnTo>
                    <a:pt x="72262" y="1281429"/>
                  </a:lnTo>
                  <a:lnTo>
                    <a:pt x="90042" y="1316862"/>
                  </a:lnTo>
                  <a:lnTo>
                    <a:pt x="109474" y="1352168"/>
                  </a:lnTo>
                  <a:lnTo>
                    <a:pt x="130555" y="1387982"/>
                  </a:lnTo>
                  <a:lnTo>
                    <a:pt x="153161" y="1423669"/>
                  </a:lnTo>
                  <a:lnTo>
                    <a:pt x="177164" y="1459610"/>
                  </a:lnTo>
                  <a:lnTo>
                    <a:pt x="202564" y="1495678"/>
                  </a:lnTo>
                  <a:lnTo>
                    <a:pt x="229361" y="1531746"/>
                  </a:lnTo>
                  <a:lnTo>
                    <a:pt x="257175" y="1568068"/>
                  </a:lnTo>
                  <a:lnTo>
                    <a:pt x="286257" y="1604517"/>
                  </a:lnTo>
                  <a:lnTo>
                    <a:pt x="316356" y="1640966"/>
                  </a:lnTo>
                  <a:lnTo>
                    <a:pt x="347472" y="1677669"/>
                  </a:lnTo>
                  <a:lnTo>
                    <a:pt x="379602" y="1714296"/>
                  </a:lnTo>
                  <a:lnTo>
                    <a:pt x="412496" y="1751101"/>
                  </a:lnTo>
                  <a:lnTo>
                    <a:pt x="446024" y="1787918"/>
                  </a:lnTo>
                  <a:lnTo>
                    <a:pt x="480313" y="1824824"/>
                  </a:lnTo>
                  <a:lnTo>
                    <a:pt x="507075" y="1853069"/>
                  </a:lnTo>
                  <a:lnTo>
                    <a:pt x="550672" y="1898802"/>
                  </a:lnTo>
                  <a:lnTo>
                    <a:pt x="622934" y="1972944"/>
                  </a:lnTo>
                  <a:lnTo>
                    <a:pt x="687522" y="2038337"/>
                  </a:lnTo>
                  <a:lnTo>
                    <a:pt x="716517" y="2067556"/>
                  </a:lnTo>
                  <a:lnTo>
                    <a:pt x="725520" y="2058580"/>
                  </a:lnTo>
                  <a:lnTo>
                    <a:pt x="705383" y="2038337"/>
                  </a:lnTo>
                  <a:lnTo>
                    <a:pt x="631977" y="1964067"/>
                  </a:lnTo>
                  <a:lnTo>
                    <a:pt x="559853" y="1890001"/>
                  </a:lnTo>
                  <a:lnTo>
                    <a:pt x="524534" y="1853069"/>
                  </a:lnTo>
                  <a:lnTo>
                    <a:pt x="489621" y="1816150"/>
                  </a:lnTo>
                  <a:lnTo>
                    <a:pt x="455342" y="1779346"/>
                  </a:lnTo>
                  <a:lnTo>
                    <a:pt x="421928" y="1742617"/>
                  </a:lnTo>
                  <a:lnTo>
                    <a:pt x="389000" y="1705864"/>
                  </a:lnTo>
                  <a:lnTo>
                    <a:pt x="357235" y="1669414"/>
                  </a:lnTo>
                  <a:lnTo>
                    <a:pt x="326135" y="1632839"/>
                  </a:lnTo>
                  <a:lnTo>
                    <a:pt x="296268" y="1596643"/>
                  </a:lnTo>
                  <a:lnTo>
                    <a:pt x="267308" y="1560321"/>
                  </a:lnTo>
                  <a:lnTo>
                    <a:pt x="239395" y="1524126"/>
                  </a:lnTo>
                  <a:lnTo>
                    <a:pt x="212946" y="1488312"/>
                  </a:lnTo>
                  <a:lnTo>
                    <a:pt x="187668" y="1452498"/>
                  </a:lnTo>
                  <a:lnTo>
                    <a:pt x="187620" y="1452371"/>
                  </a:lnTo>
                  <a:lnTo>
                    <a:pt x="163788" y="1416811"/>
                  </a:lnTo>
                  <a:lnTo>
                    <a:pt x="141431" y="1381378"/>
                  </a:lnTo>
                  <a:lnTo>
                    <a:pt x="141403" y="1381251"/>
                  </a:lnTo>
                  <a:lnTo>
                    <a:pt x="120672" y="1346072"/>
                  </a:lnTo>
                  <a:lnTo>
                    <a:pt x="101358" y="1311020"/>
                  </a:lnTo>
                  <a:lnTo>
                    <a:pt x="83820" y="1276095"/>
                  </a:lnTo>
                  <a:lnTo>
                    <a:pt x="83692" y="1276095"/>
                  </a:lnTo>
                  <a:lnTo>
                    <a:pt x="67933" y="1241424"/>
                  </a:lnTo>
                  <a:lnTo>
                    <a:pt x="54002" y="1207007"/>
                  </a:lnTo>
                  <a:lnTo>
                    <a:pt x="41916" y="1172717"/>
                  </a:lnTo>
                  <a:lnTo>
                    <a:pt x="31825" y="1138681"/>
                  </a:lnTo>
                  <a:lnTo>
                    <a:pt x="31815" y="1138427"/>
                  </a:lnTo>
                  <a:lnTo>
                    <a:pt x="23714" y="1105027"/>
                  </a:lnTo>
                  <a:lnTo>
                    <a:pt x="23683" y="1104645"/>
                  </a:lnTo>
                  <a:lnTo>
                    <a:pt x="17950" y="1071371"/>
                  </a:lnTo>
                  <a:lnTo>
                    <a:pt x="15780" y="1054861"/>
                  </a:lnTo>
                  <a:lnTo>
                    <a:pt x="14327" y="1039113"/>
                  </a:lnTo>
                  <a:lnTo>
                    <a:pt x="14208" y="1037970"/>
                  </a:lnTo>
                  <a:lnTo>
                    <a:pt x="13200" y="1021460"/>
                  </a:lnTo>
                  <a:lnTo>
                    <a:pt x="12701" y="1005077"/>
                  </a:lnTo>
                  <a:lnTo>
                    <a:pt x="12826" y="988694"/>
                  </a:lnTo>
                  <a:lnTo>
                    <a:pt x="13599" y="972438"/>
                  </a:lnTo>
                  <a:lnTo>
                    <a:pt x="14964" y="956436"/>
                  </a:lnTo>
                  <a:lnTo>
                    <a:pt x="15015" y="956182"/>
                  </a:lnTo>
                  <a:lnTo>
                    <a:pt x="16876" y="940180"/>
                  </a:lnTo>
                  <a:lnTo>
                    <a:pt x="19391" y="924051"/>
                  </a:lnTo>
                  <a:lnTo>
                    <a:pt x="19480" y="923797"/>
                  </a:lnTo>
                  <a:lnTo>
                    <a:pt x="22581" y="907922"/>
                  </a:lnTo>
                  <a:lnTo>
                    <a:pt x="26228" y="892047"/>
                  </a:lnTo>
                  <a:lnTo>
                    <a:pt x="30378" y="876172"/>
                  </a:lnTo>
                  <a:lnTo>
                    <a:pt x="40518" y="844422"/>
                  </a:lnTo>
                  <a:lnTo>
                    <a:pt x="40639" y="844041"/>
                  </a:lnTo>
                  <a:lnTo>
                    <a:pt x="52958" y="812418"/>
                  </a:lnTo>
                  <a:lnTo>
                    <a:pt x="67309" y="781049"/>
                  </a:lnTo>
                  <a:lnTo>
                    <a:pt x="83433" y="750188"/>
                  </a:lnTo>
                  <a:lnTo>
                    <a:pt x="101726" y="718946"/>
                  </a:lnTo>
                  <a:lnTo>
                    <a:pt x="121792" y="688085"/>
                  </a:lnTo>
                  <a:lnTo>
                    <a:pt x="143420" y="657605"/>
                  </a:lnTo>
                  <a:lnTo>
                    <a:pt x="166906" y="627125"/>
                  </a:lnTo>
                  <a:lnTo>
                    <a:pt x="192150" y="596518"/>
                  </a:lnTo>
                  <a:lnTo>
                    <a:pt x="218709" y="566419"/>
                  </a:lnTo>
                  <a:lnTo>
                    <a:pt x="218566" y="566419"/>
                  </a:lnTo>
                  <a:lnTo>
                    <a:pt x="246768" y="536447"/>
                  </a:lnTo>
                  <a:lnTo>
                    <a:pt x="276351" y="506348"/>
                  </a:lnTo>
                  <a:lnTo>
                    <a:pt x="307212" y="476503"/>
                  </a:lnTo>
                  <a:lnTo>
                    <a:pt x="339216" y="446785"/>
                  </a:lnTo>
                  <a:lnTo>
                    <a:pt x="372363" y="417194"/>
                  </a:lnTo>
                  <a:lnTo>
                    <a:pt x="406653" y="387730"/>
                  </a:lnTo>
                  <a:lnTo>
                    <a:pt x="441832" y="358266"/>
                  </a:lnTo>
                  <a:lnTo>
                    <a:pt x="441990" y="358266"/>
                  </a:lnTo>
                  <a:lnTo>
                    <a:pt x="478154" y="329056"/>
                  </a:lnTo>
                  <a:lnTo>
                    <a:pt x="515111" y="299719"/>
                  </a:lnTo>
                  <a:lnTo>
                    <a:pt x="552957" y="270636"/>
                  </a:lnTo>
                  <a:lnTo>
                    <a:pt x="591438" y="241553"/>
                  </a:lnTo>
                  <a:lnTo>
                    <a:pt x="630554" y="212470"/>
                  </a:lnTo>
                  <a:lnTo>
                    <a:pt x="670178" y="183641"/>
                  </a:lnTo>
                  <a:lnTo>
                    <a:pt x="750824" y="125729"/>
                  </a:lnTo>
                  <a:lnTo>
                    <a:pt x="915288" y="10413"/>
                  </a:lnTo>
                  <a:lnTo>
                    <a:pt x="907923" y="0"/>
                  </a:lnTo>
                  <a:close/>
                </a:path>
                <a:path w="915670" h="2117090">
                  <a:moveTo>
                    <a:pt x="705357" y="2038311"/>
                  </a:moveTo>
                  <a:close/>
                </a:path>
                <a:path w="915670" h="2117090">
                  <a:moveTo>
                    <a:pt x="632054" y="1964042"/>
                  </a:moveTo>
                  <a:close/>
                </a:path>
                <a:path w="915670" h="2117090">
                  <a:moveTo>
                    <a:pt x="559815" y="1889963"/>
                  </a:moveTo>
                  <a:close/>
                </a:path>
                <a:path w="915670" h="2117090">
                  <a:moveTo>
                    <a:pt x="524509" y="1853044"/>
                  </a:moveTo>
                  <a:close/>
                </a:path>
                <a:path w="915670" h="2117090">
                  <a:moveTo>
                    <a:pt x="489584" y="1816112"/>
                  </a:moveTo>
                  <a:close/>
                </a:path>
                <a:path w="915670" h="2117090">
                  <a:moveTo>
                    <a:pt x="455375" y="1779295"/>
                  </a:moveTo>
                  <a:close/>
                </a:path>
                <a:path w="915670" h="2117090">
                  <a:moveTo>
                    <a:pt x="421894" y="1742579"/>
                  </a:moveTo>
                  <a:close/>
                </a:path>
                <a:path w="915670" h="2117090">
                  <a:moveTo>
                    <a:pt x="357124" y="1669288"/>
                  </a:moveTo>
                  <a:close/>
                </a:path>
                <a:path w="915670" h="2117090">
                  <a:moveTo>
                    <a:pt x="296163" y="1596516"/>
                  </a:moveTo>
                  <a:close/>
                </a:path>
                <a:path w="915670" h="2117090">
                  <a:moveTo>
                    <a:pt x="267207" y="1560194"/>
                  </a:moveTo>
                  <a:close/>
                </a:path>
                <a:path w="915670" h="2117090">
                  <a:moveTo>
                    <a:pt x="212851" y="1488185"/>
                  </a:moveTo>
                  <a:lnTo>
                    <a:pt x="212851" y="1488312"/>
                  </a:lnTo>
                  <a:lnTo>
                    <a:pt x="212851" y="1488185"/>
                  </a:lnTo>
                  <a:close/>
                </a:path>
                <a:path w="915670" h="2117090">
                  <a:moveTo>
                    <a:pt x="187620" y="1452371"/>
                  </a:moveTo>
                  <a:lnTo>
                    <a:pt x="187705" y="1452498"/>
                  </a:lnTo>
                  <a:lnTo>
                    <a:pt x="187620" y="1452371"/>
                  </a:lnTo>
                  <a:close/>
                </a:path>
                <a:path w="915670" h="2117090">
                  <a:moveTo>
                    <a:pt x="163749" y="1416684"/>
                  </a:moveTo>
                  <a:close/>
                </a:path>
                <a:path w="915670" h="2117090">
                  <a:moveTo>
                    <a:pt x="141403" y="1381251"/>
                  </a:moveTo>
                  <a:lnTo>
                    <a:pt x="141477" y="1381378"/>
                  </a:lnTo>
                  <a:lnTo>
                    <a:pt x="141403" y="1381251"/>
                  </a:lnTo>
                  <a:close/>
                </a:path>
                <a:path w="915670" h="2117090">
                  <a:moveTo>
                    <a:pt x="120523" y="1345818"/>
                  </a:moveTo>
                  <a:lnTo>
                    <a:pt x="120650" y="1346072"/>
                  </a:lnTo>
                  <a:lnTo>
                    <a:pt x="120523" y="1345818"/>
                  </a:lnTo>
                  <a:close/>
                </a:path>
                <a:path w="915670" h="2117090">
                  <a:moveTo>
                    <a:pt x="101219" y="1310766"/>
                  </a:moveTo>
                  <a:lnTo>
                    <a:pt x="101346" y="1311020"/>
                  </a:lnTo>
                  <a:lnTo>
                    <a:pt x="101219" y="1310766"/>
                  </a:lnTo>
                  <a:close/>
                </a:path>
                <a:path w="915670" h="2117090">
                  <a:moveTo>
                    <a:pt x="83692" y="1275841"/>
                  </a:moveTo>
                  <a:lnTo>
                    <a:pt x="83692" y="1276095"/>
                  </a:lnTo>
                  <a:lnTo>
                    <a:pt x="83820" y="1276095"/>
                  </a:lnTo>
                  <a:lnTo>
                    <a:pt x="83692" y="1275841"/>
                  </a:lnTo>
                  <a:close/>
                </a:path>
                <a:path w="915670" h="2117090">
                  <a:moveTo>
                    <a:pt x="67842" y="1241170"/>
                  </a:moveTo>
                  <a:lnTo>
                    <a:pt x="67945" y="1241424"/>
                  </a:lnTo>
                  <a:lnTo>
                    <a:pt x="67842" y="1241170"/>
                  </a:lnTo>
                  <a:close/>
                </a:path>
                <a:path w="915670" h="2117090">
                  <a:moveTo>
                    <a:pt x="53848" y="1206627"/>
                  </a:moveTo>
                  <a:lnTo>
                    <a:pt x="53975" y="1207007"/>
                  </a:lnTo>
                  <a:lnTo>
                    <a:pt x="53848" y="1206627"/>
                  </a:lnTo>
                  <a:close/>
                </a:path>
                <a:path w="915670" h="2117090">
                  <a:moveTo>
                    <a:pt x="41872" y="1172591"/>
                  </a:moveTo>
                  <a:close/>
                </a:path>
                <a:path w="915670" h="2117090">
                  <a:moveTo>
                    <a:pt x="41797" y="1172336"/>
                  </a:moveTo>
                  <a:lnTo>
                    <a:pt x="41872" y="1172591"/>
                  </a:lnTo>
                  <a:lnTo>
                    <a:pt x="41797" y="1172336"/>
                  </a:lnTo>
                  <a:close/>
                </a:path>
                <a:path w="915670" h="2117090">
                  <a:moveTo>
                    <a:pt x="31815" y="1138427"/>
                  </a:moveTo>
                  <a:lnTo>
                    <a:pt x="31876" y="1138681"/>
                  </a:lnTo>
                  <a:lnTo>
                    <a:pt x="31815" y="1138427"/>
                  </a:lnTo>
                  <a:close/>
                </a:path>
                <a:path w="915670" h="2117090">
                  <a:moveTo>
                    <a:pt x="23683" y="1104645"/>
                  </a:moveTo>
                  <a:lnTo>
                    <a:pt x="23749" y="1105027"/>
                  </a:lnTo>
                  <a:lnTo>
                    <a:pt x="23683" y="1104645"/>
                  </a:lnTo>
                  <a:close/>
                </a:path>
                <a:path w="915670" h="2117090">
                  <a:moveTo>
                    <a:pt x="17906" y="1071117"/>
                  </a:moveTo>
                  <a:lnTo>
                    <a:pt x="17906" y="1071371"/>
                  </a:lnTo>
                  <a:lnTo>
                    <a:pt x="17906" y="1071117"/>
                  </a:lnTo>
                  <a:close/>
                </a:path>
                <a:path w="915670" h="2117090">
                  <a:moveTo>
                    <a:pt x="15748" y="1054607"/>
                  </a:moveTo>
                  <a:lnTo>
                    <a:pt x="15748" y="1054861"/>
                  </a:lnTo>
                  <a:lnTo>
                    <a:pt x="15748" y="1054607"/>
                  </a:lnTo>
                  <a:close/>
                </a:path>
                <a:path w="915670" h="2117090">
                  <a:moveTo>
                    <a:pt x="14224" y="1037970"/>
                  </a:moveTo>
                  <a:lnTo>
                    <a:pt x="14224" y="1038224"/>
                  </a:lnTo>
                  <a:lnTo>
                    <a:pt x="14224" y="1037970"/>
                  </a:lnTo>
                  <a:close/>
                </a:path>
                <a:path w="915670" h="2117090">
                  <a:moveTo>
                    <a:pt x="13207" y="1021460"/>
                  </a:moveTo>
                  <a:lnTo>
                    <a:pt x="13207" y="1021714"/>
                  </a:lnTo>
                  <a:lnTo>
                    <a:pt x="13207" y="1021460"/>
                  </a:lnTo>
                  <a:close/>
                </a:path>
                <a:path w="915670" h="2117090">
                  <a:moveTo>
                    <a:pt x="12838" y="988694"/>
                  </a:moveTo>
                  <a:lnTo>
                    <a:pt x="12826" y="988948"/>
                  </a:lnTo>
                  <a:lnTo>
                    <a:pt x="12838" y="988694"/>
                  </a:lnTo>
                  <a:close/>
                </a:path>
                <a:path w="915670" h="2117090">
                  <a:moveTo>
                    <a:pt x="13599" y="972438"/>
                  </a:moveTo>
                  <a:lnTo>
                    <a:pt x="13588" y="972565"/>
                  </a:lnTo>
                  <a:lnTo>
                    <a:pt x="13599" y="972438"/>
                  </a:lnTo>
                  <a:close/>
                </a:path>
                <a:path w="915670" h="2117090">
                  <a:moveTo>
                    <a:pt x="15015" y="956182"/>
                  </a:moveTo>
                  <a:lnTo>
                    <a:pt x="14985" y="956436"/>
                  </a:lnTo>
                  <a:lnTo>
                    <a:pt x="15015" y="956182"/>
                  </a:lnTo>
                  <a:close/>
                </a:path>
                <a:path w="915670" h="2117090">
                  <a:moveTo>
                    <a:pt x="16910" y="940053"/>
                  </a:moveTo>
                  <a:close/>
                </a:path>
                <a:path w="915670" h="2117090">
                  <a:moveTo>
                    <a:pt x="19480" y="923797"/>
                  </a:moveTo>
                  <a:lnTo>
                    <a:pt x="19430" y="924051"/>
                  </a:lnTo>
                  <a:lnTo>
                    <a:pt x="19480" y="923797"/>
                  </a:lnTo>
                  <a:close/>
                </a:path>
                <a:path w="915670" h="2117090">
                  <a:moveTo>
                    <a:pt x="22605" y="907795"/>
                  </a:moveTo>
                  <a:close/>
                </a:path>
                <a:path w="915670" h="2117090">
                  <a:moveTo>
                    <a:pt x="26288" y="891793"/>
                  </a:moveTo>
                  <a:lnTo>
                    <a:pt x="26161" y="892047"/>
                  </a:lnTo>
                  <a:lnTo>
                    <a:pt x="26288" y="891793"/>
                  </a:lnTo>
                  <a:close/>
                </a:path>
                <a:path w="915670" h="2117090">
                  <a:moveTo>
                    <a:pt x="30479" y="875791"/>
                  </a:moveTo>
                  <a:lnTo>
                    <a:pt x="30352" y="876172"/>
                  </a:lnTo>
                  <a:lnTo>
                    <a:pt x="30479" y="875791"/>
                  </a:lnTo>
                  <a:close/>
                </a:path>
                <a:path w="915670" h="2117090">
                  <a:moveTo>
                    <a:pt x="40661" y="844041"/>
                  </a:moveTo>
                  <a:lnTo>
                    <a:pt x="40541" y="844349"/>
                  </a:lnTo>
                  <a:lnTo>
                    <a:pt x="40661" y="844041"/>
                  </a:lnTo>
                  <a:close/>
                </a:path>
                <a:path w="915670" h="2117090">
                  <a:moveTo>
                    <a:pt x="53005" y="812418"/>
                  </a:moveTo>
                  <a:lnTo>
                    <a:pt x="52831" y="812799"/>
                  </a:lnTo>
                  <a:lnTo>
                    <a:pt x="53005" y="812418"/>
                  </a:lnTo>
                  <a:close/>
                </a:path>
                <a:path w="915670" h="2117090">
                  <a:moveTo>
                    <a:pt x="67381" y="781049"/>
                  </a:moveTo>
                  <a:lnTo>
                    <a:pt x="67182" y="781430"/>
                  </a:lnTo>
                  <a:lnTo>
                    <a:pt x="67381" y="781049"/>
                  </a:lnTo>
                  <a:close/>
                </a:path>
                <a:path w="915670" h="2117090">
                  <a:moveTo>
                    <a:pt x="83565" y="749934"/>
                  </a:moveTo>
                  <a:lnTo>
                    <a:pt x="83311" y="750188"/>
                  </a:lnTo>
                  <a:lnTo>
                    <a:pt x="83565" y="749934"/>
                  </a:lnTo>
                  <a:close/>
                </a:path>
                <a:path w="915670" h="2117090">
                  <a:moveTo>
                    <a:pt x="101764" y="718946"/>
                  </a:moveTo>
                  <a:lnTo>
                    <a:pt x="101600" y="719200"/>
                  </a:lnTo>
                  <a:lnTo>
                    <a:pt x="101764" y="718946"/>
                  </a:lnTo>
                  <a:close/>
                </a:path>
                <a:path w="915670" h="2117090">
                  <a:moveTo>
                    <a:pt x="121845" y="688085"/>
                  </a:moveTo>
                  <a:lnTo>
                    <a:pt x="121665" y="688339"/>
                  </a:lnTo>
                  <a:lnTo>
                    <a:pt x="121845" y="688085"/>
                  </a:lnTo>
                  <a:close/>
                </a:path>
                <a:path w="915670" h="2117090">
                  <a:moveTo>
                    <a:pt x="143509" y="657478"/>
                  </a:moveTo>
                  <a:close/>
                </a:path>
                <a:path w="915670" h="2117090">
                  <a:moveTo>
                    <a:pt x="167004" y="626998"/>
                  </a:moveTo>
                  <a:close/>
                </a:path>
                <a:path w="915670" h="2117090">
                  <a:moveTo>
                    <a:pt x="192247" y="596518"/>
                  </a:moveTo>
                  <a:lnTo>
                    <a:pt x="192024" y="596772"/>
                  </a:lnTo>
                  <a:lnTo>
                    <a:pt x="192247" y="596518"/>
                  </a:lnTo>
                  <a:close/>
                </a:path>
                <a:path w="915670" h="2117090">
                  <a:moveTo>
                    <a:pt x="218821" y="566292"/>
                  </a:moveTo>
                  <a:lnTo>
                    <a:pt x="218566" y="566419"/>
                  </a:lnTo>
                  <a:lnTo>
                    <a:pt x="218709" y="566419"/>
                  </a:lnTo>
                  <a:close/>
                </a:path>
                <a:path w="915670" h="2117090">
                  <a:moveTo>
                    <a:pt x="372384" y="417194"/>
                  </a:moveTo>
                  <a:lnTo>
                    <a:pt x="372236" y="417321"/>
                  </a:lnTo>
                  <a:lnTo>
                    <a:pt x="372384" y="417194"/>
                  </a:lnTo>
                  <a:close/>
                </a:path>
                <a:path w="915670" h="2117090">
                  <a:moveTo>
                    <a:pt x="441990" y="358266"/>
                  </a:moveTo>
                  <a:lnTo>
                    <a:pt x="441832" y="358266"/>
                  </a:lnTo>
                  <a:lnTo>
                    <a:pt x="441990" y="358266"/>
                  </a:lnTo>
                  <a:close/>
                </a:path>
                <a:path w="915670" h="2117090">
                  <a:moveTo>
                    <a:pt x="515150" y="299719"/>
                  </a:moveTo>
                  <a:lnTo>
                    <a:pt x="514984" y="299846"/>
                  </a:lnTo>
                  <a:lnTo>
                    <a:pt x="515150" y="299719"/>
                  </a:lnTo>
                  <a:close/>
                </a:path>
                <a:path w="915670" h="2117090">
                  <a:moveTo>
                    <a:pt x="630602" y="212470"/>
                  </a:moveTo>
                  <a:lnTo>
                    <a:pt x="630427" y="212597"/>
                  </a:lnTo>
                  <a:lnTo>
                    <a:pt x="630602" y="212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2216" y="6018275"/>
              <a:ext cx="1513840" cy="399415"/>
            </a:xfrm>
            <a:custGeom>
              <a:avLst/>
              <a:gdLst/>
              <a:ahLst/>
              <a:cxnLst/>
              <a:rect l="l" t="t" r="r" b="b"/>
              <a:pathLst>
                <a:path w="1513840" h="399414">
                  <a:moveTo>
                    <a:pt x="1155953" y="0"/>
                  </a:moveTo>
                  <a:lnTo>
                    <a:pt x="1135785" y="11985"/>
                  </a:lnTo>
                  <a:lnTo>
                    <a:pt x="1114619" y="43999"/>
                  </a:lnTo>
                  <a:lnTo>
                    <a:pt x="1092459" y="90133"/>
                  </a:lnTo>
                  <a:lnTo>
                    <a:pt x="1045168" y="201118"/>
                  </a:lnTo>
                  <a:lnTo>
                    <a:pt x="1020044" y="254147"/>
                  </a:lnTo>
                  <a:lnTo>
                    <a:pt x="993937" y="297655"/>
                  </a:lnTo>
                  <a:lnTo>
                    <a:pt x="966851" y="325729"/>
                  </a:lnTo>
                  <a:lnTo>
                    <a:pt x="927018" y="343461"/>
                  </a:lnTo>
                  <a:lnTo>
                    <a:pt x="882805" y="349081"/>
                  </a:lnTo>
                  <a:lnTo>
                    <a:pt x="836834" y="344778"/>
                  </a:lnTo>
                  <a:lnTo>
                    <a:pt x="791732" y="332739"/>
                  </a:lnTo>
                  <a:lnTo>
                    <a:pt x="750121" y="315153"/>
                  </a:lnTo>
                  <a:lnTo>
                    <a:pt x="714628" y="294208"/>
                  </a:lnTo>
                  <a:lnTo>
                    <a:pt x="687189" y="261884"/>
                  </a:lnTo>
                  <a:lnTo>
                    <a:pt x="666016" y="214820"/>
                  </a:lnTo>
                  <a:lnTo>
                    <a:pt x="648334" y="162209"/>
                  </a:lnTo>
                  <a:lnTo>
                    <a:pt x="631373" y="113246"/>
                  </a:lnTo>
                  <a:lnTo>
                    <a:pt x="612358" y="77126"/>
                  </a:lnTo>
                  <a:lnTo>
                    <a:pt x="588517" y="63042"/>
                  </a:lnTo>
                  <a:lnTo>
                    <a:pt x="565489" y="72907"/>
                  </a:lnTo>
                  <a:lnTo>
                    <a:pt x="542318" y="99069"/>
                  </a:lnTo>
                  <a:lnTo>
                    <a:pt x="517991" y="136383"/>
                  </a:lnTo>
                  <a:lnTo>
                    <a:pt x="491497" y="179700"/>
                  </a:lnTo>
                  <a:lnTo>
                    <a:pt x="461821" y="223875"/>
                  </a:lnTo>
                  <a:lnTo>
                    <a:pt x="427951" y="263760"/>
                  </a:lnTo>
                  <a:lnTo>
                    <a:pt x="388874" y="294208"/>
                  </a:lnTo>
                  <a:lnTo>
                    <a:pt x="349943" y="313808"/>
                  </a:lnTo>
                  <a:lnTo>
                    <a:pt x="307145" y="330822"/>
                  </a:lnTo>
                  <a:lnTo>
                    <a:pt x="261032" y="345619"/>
                  </a:lnTo>
                  <a:lnTo>
                    <a:pt x="212153" y="358568"/>
                  </a:lnTo>
                  <a:lnTo>
                    <a:pt x="161060" y="370040"/>
                  </a:lnTo>
                  <a:lnTo>
                    <a:pt x="108303" y="380404"/>
                  </a:lnTo>
                  <a:lnTo>
                    <a:pt x="54432" y="390030"/>
                  </a:lnTo>
                  <a:lnTo>
                    <a:pt x="0" y="399288"/>
                  </a:lnTo>
                  <a:lnTo>
                    <a:pt x="1513331" y="388785"/>
                  </a:lnTo>
                  <a:lnTo>
                    <a:pt x="1462031" y="388785"/>
                  </a:lnTo>
                  <a:lnTo>
                    <a:pt x="1411992" y="385632"/>
                  </a:lnTo>
                  <a:lnTo>
                    <a:pt x="1364476" y="376174"/>
                  </a:lnTo>
                  <a:lnTo>
                    <a:pt x="1320747" y="357257"/>
                  </a:lnTo>
                  <a:lnTo>
                    <a:pt x="1282064" y="325729"/>
                  </a:lnTo>
                  <a:lnTo>
                    <a:pt x="1261738" y="293130"/>
                  </a:lnTo>
                  <a:lnTo>
                    <a:pt x="1244679" y="247498"/>
                  </a:lnTo>
                  <a:lnTo>
                    <a:pt x="1229906" y="194192"/>
                  </a:lnTo>
                  <a:lnTo>
                    <a:pt x="1216437" y="138566"/>
                  </a:lnTo>
                  <a:lnTo>
                    <a:pt x="1203290" y="85978"/>
                  </a:lnTo>
                  <a:lnTo>
                    <a:pt x="1189481" y="41783"/>
                  </a:lnTo>
                  <a:lnTo>
                    <a:pt x="1174030" y="11338"/>
                  </a:lnTo>
                  <a:lnTo>
                    <a:pt x="1155953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62216" y="6018275"/>
              <a:ext cx="1513840" cy="399415"/>
            </a:xfrm>
            <a:custGeom>
              <a:avLst/>
              <a:gdLst/>
              <a:ahLst/>
              <a:cxnLst/>
              <a:rect l="l" t="t" r="r" b="b"/>
              <a:pathLst>
                <a:path w="1513840" h="399414">
                  <a:moveTo>
                    <a:pt x="0" y="399288"/>
                  </a:moveTo>
                  <a:lnTo>
                    <a:pt x="54432" y="390030"/>
                  </a:lnTo>
                  <a:lnTo>
                    <a:pt x="108303" y="380404"/>
                  </a:lnTo>
                  <a:lnTo>
                    <a:pt x="161060" y="370040"/>
                  </a:lnTo>
                  <a:lnTo>
                    <a:pt x="212153" y="358568"/>
                  </a:lnTo>
                  <a:lnTo>
                    <a:pt x="261032" y="345619"/>
                  </a:lnTo>
                  <a:lnTo>
                    <a:pt x="307145" y="330822"/>
                  </a:lnTo>
                  <a:lnTo>
                    <a:pt x="349943" y="313808"/>
                  </a:lnTo>
                  <a:lnTo>
                    <a:pt x="388874" y="294208"/>
                  </a:lnTo>
                  <a:lnTo>
                    <a:pt x="427951" y="263760"/>
                  </a:lnTo>
                  <a:lnTo>
                    <a:pt x="461821" y="223875"/>
                  </a:lnTo>
                  <a:lnTo>
                    <a:pt x="491497" y="179700"/>
                  </a:lnTo>
                  <a:lnTo>
                    <a:pt x="517991" y="136383"/>
                  </a:lnTo>
                  <a:lnTo>
                    <a:pt x="542318" y="99069"/>
                  </a:lnTo>
                  <a:lnTo>
                    <a:pt x="565489" y="72907"/>
                  </a:lnTo>
                  <a:lnTo>
                    <a:pt x="588517" y="63042"/>
                  </a:lnTo>
                  <a:lnTo>
                    <a:pt x="612358" y="77126"/>
                  </a:lnTo>
                  <a:lnTo>
                    <a:pt x="631373" y="113246"/>
                  </a:lnTo>
                  <a:lnTo>
                    <a:pt x="648334" y="162209"/>
                  </a:lnTo>
                  <a:lnTo>
                    <a:pt x="666016" y="214820"/>
                  </a:lnTo>
                  <a:lnTo>
                    <a:pt x="687189" y="261884"/>
                  </a:lnTo>
                  <a:lnTo>
                    <a:pt x="714628" y="294208"/>
                  </a:lnTo>
                  <a:lnTo>
                    <a:pt x="750121" y="315153"/>
                  </a:lnTo>
                  <a:lnTo>
                    <a:pt x="791732" y="332739"/>
                  </a:lnTo>
                  <a:lnTo>
                    <a:pt x="836834" y="344778"/>
                  </a:lnTo>
                  <a:lnTo>
                    <a:pt x="882805" y="349081"/>
                  </a:lnTo>
                  <a:lnTo>
                    <a:pt x="927018" y="343461"/>
                  </a:lnTo>
                  <a:lnTo>
                    <a:pt x="966851" y="325729"/>
                  </a:lnTo>
                  <a:lnTo>
                    <a:pt x="993937" y="297655"/>
                  </a:lnTo>
                  <a:lnTo>
                    <a:pt x="1020044" y="254147"/>
                  </a:lnTo>
                  <a:lnTo>
                    <a:pt x="1045168" y="201118"/>
                  </a:lnTo>
                  <a:lnTo>
                    <a:pt x="1069308" y="144476"/>
                  </a:lnTo>
                  <a:lnTo>
                    <a:pt x="1092459" y="90133"/>
                  </a:lnTo>
                  <a:lnTo>
                    <a:pt x="1114619" y="43999"/>
                  </a:lnTo>
                  <a:lnTo>
                    <a:pt x="1135785" y="11985"/>
                  </a:lnTo>
                  <a:lnTo>
                    <a:pt x="1155953" y="0"/>
                  </a:lnTo>
                  <a:lnTo>
                    <a:pt x="1174030" y="11338"/>
                  </a:lnTo>
                  <a:lnTo>
                    <a:pt x="1189481" y="41783"/>
                  </a:lnTo>
                  <a:lnTo>
                    <a:pt x="1203290" y="85978"/>
                  </a:lnTo>
                  <a:lnTo>
                    <a:pt x="1216437" y="138566"/>
                  </a:lnTo>
                  <a:lnTo>
                    <a:pt x="1229906" y="194192"/>
                  </a:lnTo>
                  <a:lnTo>
                    <a:pt x="1244679" y="247498"/>
                  </a:lnTo>
                  <a:lnTo>
                    <a:pt x="1261738" y="293130"/>
                  </a:lnTo>
                  <a:lnTo>
                    <a:pt x="1282064" y="325729"/>
                  </a:lnTo>
                  <a:lnTo>
                    <a:pt x="1320747" y="357257"/>
                  </a:lnTo>
                  <a:lnTo>
                    <a:pt x="1364476" y="376174"/>
                  </a:lnTo>
                  <a:lnTo>
                    <a:pt x="1411992" y="385632"/>
                  </a:lnTo>
                  <a:lnTo>
                    <a:pt x="1462031" y="388785"/>
                  </a:lnTo>
                  <a:lnTo>
                    <a:pt x="1513331" y="388785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120" dirty="0"/>
              <a:t> </a:t>
            </a:r>
            <a:r>
              <a:rPr sz="4400" dirty="0"/>
              <a:t>variational</a:t>
            </a:r>
            <a:r>
              <a:rPr sz="4400" spc="-114" dirty="0"/>
              <a:t> </a:t>
            </a:r>
            <a:r>
              <a:rPr sz="4400" spc="-10" dirty="0"/>
              <a:t>approximation</a:t>
            </a:r>
            <a:endParaRPr sz="4400"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981200"/>
            <a:ext cx="3861816" cy="25298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8467" y="3420747"/>
            <a:ext cx="306323" cy="1767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41527" y="3660013"/>
            <a:ext cx="86868" cy="8077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45381" y="5906595"/>
            <a:ext cx="69970" cy="7924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78031" y="5519245"/>
            <a:ext cx="295656" cy="17678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87211" y="1984248"/>
            <a:ext cx="5126736" cy="25907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4400" y="2575560"/>
            <a:ext cx="2206752" cy="2529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9827" y="3232404"/>
            <a:ext cx="3099816" cy="57607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05000" y="4070603"/>
            <a:ext cx="2682240" cy="59740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05000" y="4997196"/>
            <a:ext cx="3032760" cy="6050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13DC03-440A-5997-6087-E43AC6FE70C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3689" y="2488218"/>
            <a:ext cx="2514628" cy="680652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rgbClr val="0F22B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2954C1E-F911-B3B9-C1D5-36D0D98FC7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1536" y="3356201"/>
            <a:ext cx="2476259" cy="482660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rgbClr val="0099CC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DB3EFC1-7BD3-2934-6D3E-9CBFF77E94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9124" y="3996696"/>
            <a:ext cx="2645353" cy="642076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rgbClr val="0099CC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8826514-CE6C-FB22-AB71-E9BD94187C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8135" y="4802875"/>
            <a:ext cx="2739377" cy="1164474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rnd">
            <a:solidFill>
              <a:srgbClr val="0099CC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48D87C-E960-DDE8-B893-8FC2A4CC9F07}"/>
              </a:ext>
            </a:extLst>
          </p:cNvPr>
          <p:cNvCxnSpPr/>
          <p:nvPr/>
        </p:nvCxnSpPr>
        <p:spPr>
          <a:xfrm>
            <a:off x="9067800" y="2430658"/>
            <a:ext cx="0" cy="35893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B7639F8D-4498-169A-859D-C2EB2698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71AF-2FCB-4DA5-AE49-F09C954059C2}" type="datetime1">
              <a:rPr lang="en-US" smtClean="0"/>
              <a:t>2/18/2025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1DCB84F5-573E-FAB2-F651-5DB869C4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212DC07B-51EE-A47E-3200-9A46AEC7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95" dirty="0"/>
              <a:t> </a:t>
            </a:r>
            <a:r>
              <a:rPr sz="4400" spc="-10" dirty="0"/>
              <a:t>variational</a:t>
            </a:r>
            <a:r>
              <a:rPr sz="4400" spc="-80" dirty="0"/>
              <a:t> </a:t>
            </a:r>
            <a:r>
              <a:rPr sz="4400" spc="-10" dirty="0"/>
              <a:t>approximation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045207"/>
            <a:ext cx="3861816" cy="252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639567"/>
            <a:ext cx="2206752" cy="252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027" y="3296411"/>
            <a:ext cx="3099816" cy="5760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200" y="4134611"/>
            <a:ext cx="2682240" cy="5974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9200" y="5061203"/>
            <a:ext cx="3032760" cy="60502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663553" y="1570350"/>
            <a:ext cx="2597150" cy="1655445"/>
            <a:chOff x="8683625" y="1633601"/>
            <a:chExt cx="2597150" cy="165544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86800" y="1636776"/>
              <a:ext cx="2590800" cy="164896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10" name="object 10"/>
            <p:cNvSpPr/>
            <p:nvPr/>
          </p:nvSpPr>
          <p:spPr>
            <a:xfrm>
              <a:off x="8686800" y="1636776"/>
              <a:ext cx="2590800" cy="1649095"/>
            </a:xfrm>
            <a:custGeom>
              <a:avLst/>
              <a:gdLst/>
              <a:ahLst/>
              <a:cxnLst/>
              <a:rect l="l" t="t" r="r" b="b"/>
              <a:pathLst>
                <a:path w="2590800" h="1649095">
                  <a:moveTo>
                    <a:pt x="0" y="150749"/>
                  </a:moveTo>
                  <a:lnTo>
                    <a:pt x="7679" y="103079"/>
                  </a:lnTo>
                  <a:lnTo>
                    <a:pt x="29069" y="61694"/>
                  </a:lnTo>
                  <a:lnTo>
                    <a:pt x="61694" y="29069"/>
                  </a:lnTo>
                  <a:lnTo>
                    <a:pt x="103079" y="7679"/>
                  </a:lnTo>
                  <a:lnTo>
                    <a:pt x="150749" y="0"/>
                  </a:lnTo>
                  <a:lnTo>
                    <a:pt x="2440051" y="0"/>
                  </a:lnTo>
                  <a:lnTo>
                    <a:pt x="2487720" y="7679"/>
                  </a:lnTo>
                  <a:lnTo>
                    <a:pt x="2529105" y="29069"/>
                  </a:lnTo>
                  <a:lnTo>
                    <a:pt x="2561730" y="61694"/>
                  </a:lnTo>
                  <a:lnTo>
                    <a:pt x="2583120" y="103079"/>
                  </a:lnTo>
                  <a:lnTo>
                    <a:pt x="2590800" y="150749"/>
                  </a:lnTo>
                  <a:lnTo>
                    <a:pt x="2590800" y="1498219"/>
                  </a:lnTo>
                  <a:lnTo>
                    <a:pt x="2583120" y="1545888"/>
                  </a:lnTo>
                  <a:lnTo>
                    <a:pt x="2561730" y="1587273"/>
                  </a:lnTo>
                  <a:lnTo>
                    <a:pt x="2529105" y="1619898"/>
                  </a:lnTo>
                  <a:lnTo>
                    <a:pt x="2487720" y="1641288"/>
                  </a:lnTo>
                  <a:lnTo>
                    <a:pt x="2440051" y="1648968"/>
                  </a:lnTo>
                  <a:lnTo>
                    <a:pt x="150749" y="1648968"/>
                  </a:lnTo>
                  <a:lnTo>
                    <a:pt x="103079" y="1641288"/>
                  </a:lnTo>
                  <a:lnTo>
                    <a:pt x="61694" y="1619898"/>
                  </a:lnTo>
                  <a:lnTo>
                    <a:pt x="29069" y="1587273"/>
                  </a:lnTo>
                  <a:lnTo>
                    <a:pt x="7679" y="1545888"/>
                  </a:lnTo>
                  <a:lnTo>
                    <a:pt x="0" y="1498219"/>
                  </a:lnTo>
                  <a:lnTo>
                    <a:pt x="0" y="150749"/>
                  </a:lnTo>
                  <a:close/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23197" y="1732915"/>
            <a:ext cx="1762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Jensen’s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inequality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5400" y="2534411"/>
            <a:ext cx="1988820" cy="25298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9200" y="5896355"/>
            <a:ext cx="3023616" cy="60502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43400" y="6083808"/>
            <a:ext cx="5753100" cy="27889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031229" y="5133340"/>
            <a:ext cx="323215" cy="821690"/>
          </a:xfrm>
          <a:custGeom>
            <a:avLst/>
            <a:gdLst/>
            <a:ahLst/>
            <a:cxnLst/>
            <a:rect l="l" t="t" r="r" b="b"/>
            <a:pathLst>
              <a:path w="323214" h="821689">
                <a:moveTo>
                  <a:pt x="0" y="736549"/>
                </a:moveTo>
                <a:lnTo>
                  <a:pt x="9144" y="821258"/>
                </a:lnTo>
                <a:lnTo>
                  <a:pt x="69429" y="765086"/>
                </a:lnTo>
                <a:lnTo>
                  <a:pt x="40259" y="765086"/>
                </a:lnTo>
                <a:lnTo>
                  <a:pt x="22352" y="758431"/>
                </a:lnTo>
                <a:lnTo>
                  <a:pt x="26792" y="746518"/>
                </a:lnTo>
                <a:lnTo>
                  <a:pt x="0" y="736549"/>
                </a:lnTo>
                <a:close/>
              </a:path>
              <a:path w="323214" h="821689">
                <a:moveTo>
                  <a:pt x="26792" y="746518"/>
                </a:moveTo>
                <a:lnTo>
                  <a:pt x="22352" y="758431"/>
                </a:lnTo>
                <a:lnTo>
                  <a:pt x="40259" y="765086"/>
                </a:lnTo>
                <a:lnTo>
                  <a:pt x="44694" y="753180"/>
                </a:lnTo>
                <a:lnTo>
                  <a:pt x="26792" y="746518"/>
                </a:lnTo>
                <a:close/>
              </a:path>
              <a:path w="323214" h="821689">
                <a:moveTo>
                  <a:pt x="44694" y="753180"/>
                </a:moveTo>
                <a:lnTo>
                  <a:pt x="40259" y="765086"/>
                </a:lnTo>
                <a:lnTo>
                  <a:pt x="69429" y="765086"/>
                </a:lnTo>
                <a:lnTo>
                  <a:pt x="71500" y="763155"/>
                </a:lnTo>
                <a:lnTo>
                  <a:pt x="44694" y="753180"/>
                </a:lnTo>
                <a:close/>
              </a:path>
              <a:path w="323214" h="821689">
                <a:moveTo>
                  <a:pt x="305054" y="0"/>
                </a:moveTo>
                <a:lnTo>
                  <a:pt x="26792" y="746518"/>
                </a:lnTo>
                <a:lnTo>
                  <a:pt x="44694" y="753180"/>
                </a:lnTo>
                <a:lnTo>
                  <a:pt x="322834" y="6604"/>
                </a:lnTo>
                <a:lnTo>
                  <a:pt x="305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49952" y="4808220"/>
            <a:ext cx="3970020" cy="2529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327253-6C16-5066-D12C-28330E8618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4146" y="3662550"/>
            <a:ext cx="3291196" cy="520829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rnd">
            <a:solidFill>
              <a:srgbClr val="0099CC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805121D-DC12-0078-A5D4-6FA6ADB4F4C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BC07A31-118A-42C7-8272-0FE80055278D}" type="datetime1">
              <a:rPr lang="en-US" smtClean="0"/>
              <a:t>2/18/2025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6B8AE5F-5CC0-562D-14F3-F07306802B5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653BADF-220A-FDA7-EDF1-0751B89F57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8ABB-1110-ED5A-8A20-C63EC152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75699E-DC17-C896-8313-41ADC441FC1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95" dirty="0"/>
              <a:t> </a:t>
            </a:r>
            <a:r>
              <a:rPr sz="4400" spc="-10" dirty="0"/>
              <a:t>variational</a:t>
            </a:r>
            <a:r>
              <a:rPr sz="4400" spc="-80" dirty="0"/>
              <a:t> </a:t>
            </a:r>
            <a:r>
              <a:rPr sz="4400" spc="-10" dirty="0"/>
              <a:t>approximation</a:t>
            </a:r>
            <a:endParaRPr sz="440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8C709CD-1939-BD87-2D4E-35455B0EDF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045207"/>
            <a:ext cx="3861816" cy="25298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8B2AC65E-66A4-6B3B-00DC-66EF641C43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639567"/>
            <a:ext cx="2206752" cy="252984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2868B1B-658E-F131-7E81-9AE85CE1E72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027" y="3296411"/>
            <a:ext cx="3099816" cy="576071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6935451-FAF8-D478-A208-9FC5AF0275E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200" y="4134611"/>
            <a:ext cx="2682240" cy="597407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C301A9EB-7069-15AA-7834-830EF531DA2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9200" y="5061203"/>
            <a:ext cx="3032760" cy="605028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09A5AC80-2889-EA11-0A12-39880F2CA971}"/>
              </a:ext>
            </a:extLst>
          </p:cNvPr>
          <p:cNvGrpSpPr/>
          <p:nvPr/>
        </p:nvGrpSpPr>
        <p:grpSpPr>
          <a:xfrm>
            <a:off x="8683625" y="1633601"/>
            <a:ext cx="2597150" cy="1655445"/>
            <a:chOff x="8683625" y="1633601"/>
            <a:chExt cx="2597150" cy="165544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567CA8EC-0E91-744C-D40B-B37635331AF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86800" y="1636776"/>
              <a:ext cx="2590800" cy="164896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9B9DB82-3573-9E2F-40E0-7679A553EDB2}"/>
                </a:ext>
              </a:extLst>
            </p:cNvPr>
            <p:cNvSpPr/>
            <p:nvPr/>
          </p:nvSpPr>
          <p:spPr>
            <a:xfrm>
              <a:off x="8686800" y="1636776"/>
              <a:ext cx="2590800" cy="1649095"/>
            </a:xfrm>
            <a:custGeom>
              <a:avLst/>
              <a:gdLst/>
              <a:ahLst/>
              <a:cxnLst/>
              <a:rect l="l" t="t" r="r" b="b"/>
              <a:pathLst>
                <a:path w="2590800" h="1649095">
                  <a:moveTo>
                    <a:pt x="0" y="150749"/>
                  </a:moveTo>
                  <a:lnTo>
                    <a:pt x="7679" y="103079"/>
                  </a:lnTo>
                  <a:lnTo>
                    <a:pt x="29069" y="61694"/>
                  </a:lnTo>
                  <a:lnTo>
                    <a:pt x="61694" y="29069"/>
                  </a:lnTo>
                  <a:lnTo>
                    <a:pt x="103079" y="7679"/>
                  </a:lnTo>
                  <a:lnTo>
                    <a:pt x="150749" y="0"/>
                  </a:lnTo>
                  <a:lnTo>
                    <a:pt x="2440051" y="0"/>
                  </a:lnTo>
                  <a:lnTo>
                    <a:pt x="2487720" y="7679"/>
                  </a:lnTo>
                  <a:lnTo>
                    <a:pt x="2529105" y="29069"/>
                  </a:lnTo>
                  <a:lnTo>
                    <a:pt x="2561730" y="61694"/>
                  </a:lnTo>
                  <a:lnTo>
                    <a:pt x="2583120" y="103079"/>
                  </a:lnTo>
                  <a:lnTo>
                    <a:pt x="2590800" y="150749"/>
                  </a:lnTo>
                  <a:lnTo>
                    <a:pt x="2590800" y="1498219"/>
                  </a:lnTo>
                  <a:lnTo>
                    <a:pt x="2583120" y="1545888"/>
                  </a:lnTo>
                  <a:lnTo>
                    <a:pt x="2561730" y="1587273"/>
                  </a:lnTo>
                  <a:lnTo>
                    <a:pt x="2529105" y="1619898"/>
                  </a:lnTo>
                  <a:lnTo>
                    <a:pt x="2487720" y="1641288"/>
                  </a:lnTo>
                  <a:lnTo>
                    <a:pt x="2440051" y="1648968"/>
                  </a:lnTo>
                  <a:lnTo>
                    <a:pt x="150749" y="1648968"/>
                  </a:lnTo>
                  <a:lnTo>
                    <a:pt x="103079" y="1641288"/>
                  </a:lnTo>
                  <a:lnTo>
                    <a:pt x="61694" y="1619898"/>
                  </a:lnTo>
                  <a:lnTo>
                    <a:pt x="29069" y="1587273"/>
                  </a:lnTo>
                  <a:lnTo>
                    <a:pt x="7679" y="1545888"/>
                  </a:lnTo>
                  <a:lnTo>
                    <a:pt x="0" y="1498219"/>
                  </a:lnTo>
                  <a:lnTo>
                    <a:pt x="0" y="15074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F11227AC-7419-1D3B-A995-CFEBDC5919D1}"/>
              </a:ext>
            </a:extLst>
          </p:cNvPr>
          <p:cNvSpPr txBox="1"/>
          <p:nvPr/>
        </p:nvSpPr>
        <p:spPr>
          <a:xfrm>
            <a:off x="8823197" y="1732915"/>
            <a:ext cx="1762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Jensen’s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inequality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D824CAE8-5B5E-D968-C2B9-C4D412C9E6C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5400" y="2534411"/>
            <a:ext cx="1988820" cy="252984"/>
          </a:xfrm>
          <a:prstGeom prst="rect">
            <a:avLst/>
          </a:prstGeom>
        </p:spPr>
      </p:pic>
      <p:pic>
        <p:nvPicPr>
          <p:cNvPr id="13" name="object 13">
            <a:extLst>
              <a:ext uri="{FF2B5EF4-FFF2-40B4-BE49-F238E27FC236}">
                <a16:creationId xmlns:a16="http://schemas.microsoft.com/office/drawing/2014/main" id="{7AC03525-5767-1782-E7D1-D0C6B8C269C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9200" y="5896355"/>
            <a:ext cx="3023616" cy="605028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C992B932-A0D2-D64E-D6D6-CB2B71B9E8E8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3786" y="6113399"/>
            <a:ext cx="4439411" cy="278892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A6E93AC7-2DC5-2A36-27EB-80E9ABF46F0F}"/>
              </a:ext>
            </a:extLst>
          </p:cNvPr>
          <p:cNvSpPr/>
          <p:nvPr/>
        </p:nvSpPr>
        <p:spPr>
          <a:xfrm>
            <a:off x="6031229" y="5133340"/>
            <a:ext cx="323215" cy="821690"/>
          </a:xfrm>
          <a:custGeom>
            <a:avLst/>
            <a:gdLst/>
            <a:ahLst/>
            <a:cxnLst/>
            <a:rect l="l" t="t" r="r" b="b"/>
            <a:pathLst>
              <a:path w="323214" h="821689">
                <a:moveTo>
                  <a:pt x="0" y="736549"/>
                </a:moveTo>
                <a:lnTo>
                  <a:pt x="9144" y="821258"/>
                </a:lnTo>
                <a:lnTo>
                  <a:pt x="69429" y="765086"/>
                </a:lnTo>
                <a:lnTo>
                  <a:pt x="40259" y="765086"/>
                </a:lnTo>
                <a:lnTo>
                  <a:pt x="22352" y="758431"/>
                </a:lnTo>
                <a:lnTo>
                  <a:pt x="26792" y="746518"/>
                </a:lnTo>
                <a:lnTo>
                  <a:pt x="0" y="736549"/>
                </a:lnTo>
                <a:close/>
              </a:path>
              <a:path w="323214" h="821689">
                <a:moveTo>
                  <a:pt x="26792" y="746518"/>
                </a:moveTo>
                <a:lnTo>
                  <a:pt x="22352" y="758431"/>
                </a:lnTo>
                <a:lnTo>
                  <a:pt x="40259" y="765086"/>
                </a:lnTo>
                <a:lnTo>
                  <a:pt x="44694" y="753180"/>
                </a:lnTo>
                <a:lnTo>
                  <a:pt x="26792" y="746518"/>
                </a:lnTo>
                <a:close/>
              </a:path>
              <a:path w="323214" h="821689">
                <a:moveTo>
                  <a:pt x="44694" y="753180"/>
                </a:moveTo>
                <a:lnTo>
                  <a:pt x="40259" y="765086"/>
                </a:lnTo>
                <a:lnTo>
                  <a:pt x="69429" y="765086"/>
                </a:lnTo>
                <a:lnTo>
                  <a:pt x="71500" y="763155"/>
                </a:lnTo>
                <a:lnTo>
                  <a:pt x="44694" y="753180"/>
                </a:lnTo>
                <a:close/>
              </a:path>
              <a:path w="323214" h="821689">
                <a:moveTo>
                  <a:pt x="305054" y="0"/>
                </a:moveTo>
                <a:lnTo>
                  <a:pt x="26792" y="746518"/>
                </a:lnTo>
                <a:lnTo>
                  <a:pt x="44694" y="753180"/>
                </a:lnTo>
                <a:lnTo>
                  <a:pt x="322834" y="6604"/>
                </a:lnTo>
                <a:lnTo>
                  <a:pt x="305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>
            <a:extLst>
              <a:ext uri="{FF2B5EF4-FFF2-40B4-BE49-F238E27FC236}">
                <a16:creationId xmlns:a16="http://schemas.microsoft.com/office/drawing/2014/main" id="{CF69F9EA-381E-2002-257D-706083CFFDF7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49952" y="4808220"/>
            <a:ext cx="3970020" cy="252983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BE850E1-4865-866C-002A-85C9968BF83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1EF06C1-695C-4167-B78D-495A9996724D}" type="datetime1">
              <a:rPr lang="en-US" smtClean="0"/>
              <a:t>2/18/2025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F76FC7B-C9AB-1141-01D4-83E4D7AB12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B5F08D-4E98-D575-0288-23E5ACDE67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43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60092" y="5574919"/>
            <a:ext cx="3106420" cy="973455"/>
            <a:chOff x="2260092" y="5574919"/>
            <a:chExt cx="3106420" cy="973455"/>
          </a:xfrm>
        </p:grpSpPr>
        <p:sp>
          <p:nvSpPr>
            <p:cNvPr id="3" name="object 3"/>
            <p:cNvSpPr/>
            <p:nvPr/>
          </p:nvSpPr>
          <p:spPr>
            <a:xfrm>
              <a:off x="2788920" y="5934532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59">
                  <a:moveTo>
                    <a:pt x="1201166" y="0"/>
                  </a:moveTo>
                  <a:lnTo>
                    <a:pt x="1137279" y="25431"/>
                  </a:lnTo>
                  <a:lnTo>
                    <a:pt x="1105299" y="55304"/>
                  </a:lnTo>
                  <a:lnTo>
                    <a:pt x="1073125" y="92862"/>
                  </a:lnTo>
                  <a:lnTo>
                    <a:pt x="1040629" y="135291"/>
                  </a:lnTo>
                  <a:lnTo>
                    <a:pt x="1007683" y="179776"/>
                  </a:lnTo>
                  <a:lnTo>
                    <a:pt x="974161" y="223502"/>
                  </a:lnTo>
                  <a:lnTo>
                    <a:pt x="939934" y="263655"/>
                  </a:lnTo>
                  <a:lnTo>
                    <a:pt x="904875" y="297421"/>
                  </a:lnTo>
                  <a:lnTo>
                    <a:pt x="865684" y="331232"/>
                  </a:lnTo>
                  <a:lnTo>
                    <a:pt x="827448" y="365446"/>
                  </a:lnTo>
                  <a:lnTo>
                    <a:pt x="789159" y="399246"/>
                  </a:lnTo>
                  <a:lnTo>
                    <a:pt x="749807" y="431812"/>
                  </a:lnTo>
                  <a:lnTo>
                    <a:pt x="708384" y="462329"/>
                  </a:lnTo>
                  <a:lnTo>
                    <a:pt x="663880" y="489977"/>
                  </a:lnTo>
                  <a:lnTo>
                    <a:pt x="615286" y="513940"/>
                  </a:lnTo>
                  <a:lnTo>
                    <a:pt x="561594" y="533400"/>
                  </a:lnTo>
                  <a:lnTo>
                    <a:pt x="518755" y="544128"/>
                  </a:lnTo>
                  <a:lnTo>
                    <a:pt x="472794" y="551987"/>
                  </a:lnTo>
                  <a:lnTo>
                    <a:pt x="424205" y="557431"/>
                  </a:lnTo>
                  <a:lnTo>
                    <a:pt x="373480" y="560913"/>
                  </a:lnTo>
                  <a:lnTo>
                    <a:pt x="321111" y="562885"/>
                  </a:lnTo>
                  <a:lnTo>
                    <a:pt x="267593" y="563800"/>
                  </a:lnTo>
                  <a:lnTo>
                    <a:pt x="159077" y="564271"/>
                  </a:lnTo>
                  <a:lnTo>
                    <a:pt x="105065" y="564734"/>
                  </a:lnTo>
                  <a:lnTo>
                    <a:pt x="51875" y="565951"/>
                  </a:lnTo>
                  <a:lnTo>
                    <a:pt x="0" y="568375"/>
                  </a:lnTo>
                  <a:lnTo>
                    <a:pt x="2574035" y="553745"/>
                  </a:lnTo>
                  <a:lnTo>
                    <a:pt x="2533471" y="556006"/>
                  </a:lnTo>
                  <a:lnTo>
                    <a:pt x="2488563" y="558036"/>
                  </a:lnTo>
                  <a:lnTo>
                    <a:pt x="2440024" y="559747"/>
                  </a:lnTo>
                  <a:lnTo>
                    <a:pt x="2388570" y="561053"/>
                  </a:lnTo>
                  <a:lnTo>
                    <a:pt x="2334913" y="561868"/>
                  </a:lnTo>
                  <a:lnTo>
                    <a:pt x="2279768" y="562104"/>
                  </a:lnTo>
                  <a:lnTo>
                    <a:pt x="2223849" y="561676"/>
                  </a:lnTo>
                  <a:lnTo>
                    <a:pt x="2167870" y="560497"/>
                  </a:lnTo>
                  <a:lnTo>
                    <a:pt x="2112544" y="558480"/>
                  </a:lnTo>
                  <a:lnTo>
                    <a:pt x="2058586" y="555539"/>
                  </a:lnTo>
                  <a:lnTo>
                    <a:pt x="2006709" y="551587"/>
                  </a:lnTo>
                  <a:lnTo>
                    <a:pt x="1957629" y="546538"/>
                  </a:lnTo>
                  <a:lnTo>
                    <a:pt x="1912057" y="540306"/>
                  </a:lnTo>
                  <a:lnTo>
                    <a:pt x="1870709" y="532803"/>
                  </a:lnTo>
                  <a:lnTo>
                    <a:pt x="1813121" y="518565"/>
                  </a:lnTo>
                  <a:lnTo>
                    <a:pt x="1761117" y="501451"/>
                  </a:lnTo>
                  <a:lnTo>
                    <a:pt x="1713846" y="481746"/>
                  </a:lnTo>
                  <a:lnTo>
                    <a:pt x="1670456" y="459736"/>
                  </a:lnTo>
                  <a:lnTo>
                    <a:pt x="1630099" y="435706"/>
                  </a:lnTo>
                  <a:lnTo>
                    <a:pt x="1591921" y="409941"/>
                  </a:lnTo>
                  <a:lnTo>
                    <a:pt x="1555073" y="382727"/>
                  </a:lnTo>
                  <a:lnTo>
                    <a:pt x="1518704" y="354350"/>
                  </a:lnTo>
                  <a:lnTo>
                    <a:pt x="1481963" y="325094"/>
                  </a:lnTo>
                  <a:lnTo>
                    <a:pt x="1446134" y="290710"/>
                  </a:lnTo>
                  <a:lnTo>
                    <a:pt x="1412649" y="248787"/>
                  </a:lnTo>
                  <a:lnTo>
                    <a:pt x="1380998" y="202369"/>
                  </a:lnTo>
                  <a:lnTo>
                    <a:pt x="1321166" y="108230"/>
                  </a:lnTo>
                  <a:lnTo>
                    <a:pt x="1291971" y="66599"/>
                  </a:lnTo>
                  <a:lnTo>
                    <a:pt x="1262577" y="32654"/>
                  </a:lnTo>
                  <a:lnTo>
                    <a:pt x="1232478" y="9439"/>
                  </a:lnTo>
                  <a:lnTo>
                    <a:pt x="1201166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88920" y="5934532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59">
                  <a:moveTo>
                    <a:pt x="0" y="568375"/>
                  </a:moveTo>
                  <a:lnTo>
                    <a:pt x="51875" y="565951"/>
                  </a:lnTo>
                  <a:lnTo>
                    <a:pt x="105065" y="564734"/>
                  </a:lnTo>
                  <a:lnTo>
                    <a:pt x="159077" y="564271"/>
                  </a:lnTo>
                  <a:lnTo>
                    <a:pt x="213417" y="564111"/>
                  </a:lnTo>
                  <a:lnTo>
                    <a:pt x="267593" y="563800"/>
                  </a:lnTo>
                  <a:lnTo>
                    <a:pt x="321111" y="562885"/>
                  </a:lnTo>
                  <a:lnTo>
                    <a:pt x="373480" y="560913"/>
                  </a:lnTo>
                  <a:lnTo>
                    <a:pt x="424205" y="557431"/>
                  </a:lnTo>
                  <a:lnTo>
                    <a:pt x="472794" y="551987"/>
                  </a:lnTo>
                  <a:lnTo>
                    <a:pt x="518755" y="544128"/>
                  </a:lnTo>
                  <a:lnTo>
                    <a:pt x="561594" y="533400"/>
                  </a:lnTo>
                  <a:lnTo>
                    <a:pt x="615286" y="513940"/>
                  </a:lnTo>
                  <a:lnTo>
                    <a:pt x="663880" y="489977"/>
                  </a:lnTo>
                  <a:lnTo>
                    <a:pt x="708384" y="462329"/>
                  </a:lnTo>
                  <a:lnTo>
                    <a:pt x="749807" y="431812"/>
                  </a:lnTo>
                  <a:lnTo>
                    <a:pt x="789159" y="399246"/>
                  </a:lnTo>
                  <a:lnTo>
                    <a:pt x="827448" y="365446"/>
                  </a:lnTo>
                  <a:lnTo>
                    <a:pt x="865684" y="331232"/>
                  </a:lnTo>
                  <a:lnTo>
                    <a:pt x="904875" y="297421"/>
                  </a:lnTo>
                  <a:lnTo>
                    <a:pt x="939934" y="263655"/>
                  </a:lnTo>
                  <a:lnTo>
                    <a:pt x="974161" y="223502"/>
                  </a:lnTo>
                  <a:lnTo>
                    <a:pt x="1007683" y="179776"/>
                  </a:lnTo>
                  <a:lnTo>
                    <a:pt x="1040629" y="135291"/>
                  </a:lnTo>
                  <a:lnTo>
                    <a:pt x="1073125" y="92862"/>
                  </a:lnTo>
                  <a:lnTo>
                    <a:pt x="1105299" y="55304"/>
                  </a:lnTo>
                  <a:lnTo>
                    <a:pt x="1137279" y="25431"/>
                  </a:lnTo>
                  <a:lnTo>
                    <a:pt x="1169192" y="6058"/>
                  </a:lnTo>
                  <a:lnTo>
                    <a:pt x="1201166" y="0"/>
                  </a:lnTo>
                  <a:lnTo>
                    <a:pt x="1232478" y="9439"/>
                  </a:lnTo>
                  <a:lnTo>
                    <a:pt x="1291971" y="66599"/>
                  </a:lnTo>
                  <a:lnTo>
                    <a:pt x="1321166" y="108230"/>
                  </a:lnTo>
                  <a:lnTo>
                    <a:pt x="1350673" y="154502"/>
                  </a:lnTo>
                  <a:lnTo>
                    <a:pt x="1380998" y="202369"/>
                  </a:lnTo>
                  <a:lnTo>
                    <a:pt x="1412649" y="248787"/>
                  </a:lnTo>
                  <a:lnTo>
                    <a:pt x="1446134" y="290710"/>
                  </a:lnTo>
                  <a:lnTo>
                    <a:pt x="1481963" y="325094"/>
                  </a:lnTo>
                  <a:lnTo>
                    <a:pt x="1518704" y="354350"/>
                  </a:lnTo>
                  <a:lnTo>
                    <a:pt x="1555073" y="382727"/>
                  </a:lnTo>
                  <a:lnTo>
                    <a:pt x="1591921" y="409941"/>
                  </a:lnTo>
                  <a:lnTo>
                    <a:pt x="1630099" y="435706"/>
                  </a:lnTo>
                  <a:lnTo>
                    <a:pt x="1670456" y="459736"/>
                  </a:lnTo>
                  <a:lnTo>
                    <a:pt x="1713846" y="481746"/>
                  </a:lnTo>
                  <a:lnTo>
                    <a:pt x="1761117" y="501451"/>
                  </a:lnTo>
                  <a:lnTo>
                    <a:pt x="1813121" y="518565"/>
                  </a:lnTo>
                  <a:lnTo>
                    <a:pt x="1870709" y="532803"/>
                  </a:lnTo>
                  <a:lnTo>
                    <a:pt x="1912057" y="540306"/>
                  </a:lnTo>
                  <a:lnTo>
                    <a:pt x="1957629" y="546538"/>
                  </a:lnTo>
                  <a:lnTo>
                    <a:pt x="2006709" y="551587"/>
                  </a:lnTo>
                  <a:lnTo>
                    <a:pt x="2058586" y="555539"/>
                  </a:lnTo>
                  <a:lnTo>
                    <a:pt x="2112544" y="558480"/>
                  </a:lnTo>
                  <a:lnTo>
                    <a:pt x="2167870" y="560497"/>
                  </a:lnTo>
                  <a:lnTo>
                    <a:pt x="2223849" y="561676"/>
                  </a:lnTo>
                  <a:lnTo>
                    <a:pt x="2279768" y="562104"/>
                  </a:lnTo>
                  <a:lnTo>
                    <a:pt x="2334913" y="561868"/>
                  </a:lnTo>
                  <a:lnTo>
                    <a:pt x="2388570" y="561053"/>
                  </a:lnTo>
                  <a:lnTo>
                    <a:pt x="2440024" y="559747"/>
                  </a:lnTo>
                  <a:lnTo>
                    <a:pt x="2488563" y="558036"/>
                  </a:lnTo>
                  <a:lnTo>
                    <a:pt x="2533471" y="556006"/>
                  </a:lnTo>
                  <a:lnTo>
                    <a:pt x="2574035" y="5537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41498" y="5711189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82"/>
                  </a:lnTo>
                  <a:lnTo>
                    <a:pt x="38100" y="798982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0092" y="5657088"/>
              <a:ext cx="528828" cy="176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92552" y="5928461"/>
              <a:ext cx="2356485" cy="585470"/>
            </a:xfrm>
            <a:custGeom>
              <a:avLst/>
              <a:gdLst/>
              <a:ahLst/>
              <a:cxnLst/>
              <a:rect l="l" t="t" r="r" b="b"/>
              <a:pathLst>
                <a:path w="2356485" h="585470">
                  <a:moveTo>
                    <a:pt x="0" y="559117"/>
                  </a:moveTo>
                  <a:lnTo>
                    <a:pt x="46527" y="552951"/>
                  </a:lnTo>
                  <a:lnTo>
                    <a:pt x="92564" y="539428"/>
                  </a:lnTo>
                  <a:lnTo>
                    <a:pt x="137968" y="519994"/>
                  </a:lnTo>
                  <a:lnTo>
                    <a:pt x="182594" y="496093"/>
                  </a:lnTo>
                  <a:lnTo>
                    <a:pt x="226299" y="469172"/>
                  </a:lnTo>
                  <a:lnTo>
                    <a:pt x="268939" y="440677"/>
                  </a:lnTo>
                  <a:lnTo>
                    <a:pt x="310370" y="412052"/>
                  </a:lnTo>
                  <a:lnTo>
                    <a:pt x="350449" y="384743"/>
                  </a:lnTo>
                  <a:lnTo>
                    <a:pt x="389033" y="360196"/>
                  </a:lnTo>
                  <a:lnTo>
                    <a:pt x="425976" y="339857"/>
                  </a:lnTo>
                  <a:lnTo>
                    <a:pt x="461137" y="325170"/>
                  </a:lnTo>
                  <a:lnTo>
                    <a:pt x="511205" y="313966"/>
                  </a:lnTo>
                  <a:lnTo>
                    <a:pt x="555176" y="313151"/>
                  </a:lnTo>
                  <a:lnTo>
                    <a:pt x="595021" y="318264"/>
                  </a:lnTo>
                  <a:lnTo>
                    <a:pt x="632713" y="324844"/>
                  </a:lnTo>
                  <a:lnTo>
                    <a:pt x="670226" y="328429"/>
                  </a:lnTo>
                  <a:lnTo>
                    <a:pt x="709531" y="324560"/>
                  </a:lnTo>
                  <a:lnTo>
                    <a:pt x="752601" y="308775"/>
                  </a:lnTo>
                  <a:lnTo>
                    <a:pt x="785459" y="286794"/>
                  </a:lnTo>
                  <a:lnTo>
                    <a:pt x="819885" y="255261"/>
                  </a:lnTo>
                  <a:lnTo>
                    <a:pt x="855445" y="217017"/>
                  </a:lnTo>
                  <a:lnTo>
                    <a:pt x="891704" y="174901"/>
                  </a:lnTo>
                  <a:lnTo>
                    <a:pt x="928227" y="131756"/>
                  </a:lnTo>
                  <a:lnTo>
                    <a:pt x="964578" y="90420"/>
                  </a:lnTo>
                  <a:lnTo>
                    <a:pt x="1000322" y="53737"/>
                  </a:lnTo>
                  <a:lnTo>
                    <a:pt x="1035025" y="24545"/>
                  </a:lnTo>
                  <a:lnTo>
                    <a:pt x="1068251" y="5685"/>
                  </a:lnTo>
                  <a:lnTo>
                    <a:pt x="1099565" y="0"/>
                  </a:lnTo>
                  <a:lnTo>
                    <a:pt x="1127765" y="8665"/>
                  </a:lnTo>
                  <a:lnTo>
                    <a:pt x="1175367" y="59797"/>
                  </a:lnTo>
                  <a:lnTo>
                    <a:pt x="1196805" y="97541"/>
                  </a:lnTo>
                  <a:lnTo>
                    <a:pt x="1218025" y="140257"/>
                  </a:lnTo>
                  <a:lnTo>
                    <a:pt x="1240045" y="185582"/>
                  </a:lnTo>
                  <a:lnTo>
                    <a:pt x="1263883" y="231158"/>
                  </a:lnTo>
                  <a:lnTo>
                    <a:pt x="1290557" y="274621"/>
                  </a:lnTo>
                  <a:lnTo>
                    <a:pt x="1321086" y="313612"/>
                  </a:lnTo>
                  <a:lnTo>
                    <a:pt x="1356487" y="345770"/>
                  </a:lnTo>
                  <a:lnTo>
                    <a:pt x="1393250" y="370887"/>
                  </a:lnTo>
                  <a:lnTo>
                    <a:pt x="1433663" y="395307"/>
                  </a:lnTo>
                  <a:lnTo>
                    <a:pt x="1477131" y="418882"/>
                  </a:lnTo>
                  <a:lnTo>
                    <a:pt x="1523059" y="441460"/>
                  </a:lnTo>
                  <a:lnTo>
                    <a:pt x="1570852" y="462895"/>
                  </a:lnTo>
                  <a:lnTo>
                    <a:pt x="1619916" y="483036"/>
                  </a:lnTo>
                  <a:lnTo>
                    <a:pt x="1669655" y="501734"/>
                  </a:lnTo>
                  <a:lnTo>
                    <a:pt x="1719475" y="518840"/>
                  </a:lnTo>
                  <a:lnTo>
                    <a:pt x="1768781" y="534206"/>
                  </a:lnTo>
                  <a:lnTo>
                    <a:pt x="1816977" y="547681"/>
                  </a:lnTo>
                  <a:lnTo>
                    <a:pt x="1863471" y="559117"/>
                  </a:lnTo>
                  <a:lnTo>
                    <a:pt x="1913351" y="569080"/>
                  </a:lnTo>
                  <a:lnTo>
                    <a:pt x="1963033" y="576362"/>
                  </a:lnTo>
                  <a:lnTo>
                    <a:pt x="2012541" y="581260"/>
                  </a:lnTo>
                  <a:lnTo>
                    <a:pt x="2061895" y="584073"/>
                  </a:lnTo>
                  <a:lnTo>
                    <a:pt x="2111120" y="585098"/>
                  </a:lnTo>
                  <a:lnTo>
                    <a:pt x="2160239" y="584633"/>
                  </a:lnTo>
                  <a:lnTo>
                    <a:pt x="2209274" y="582977"/>
                  </a:lnTo>
                  <a:lnTo>
                    <a:pt x="2258247" y="580427"/>
                  </a:lnTo>
                  <a:lnTo>
                    <a:pt x="2307183" y="577280"/>
                  </a:lnTo>
                  <a:lnTo>
                    <a:pt x="2356104" y="573836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43528" y="5939078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143891" y="0"/>
                  </a:moveTo>
                  <a:lnTo>
                    <a:pt x="140145" y="9862"/>
                  </a:lnTo>
                  <a:lnTo>
                    <a:pt x="136360" y="39693"/>
                  </a:lnTo>
                  <a:lnTo>
                    <a:pt x="132413" y="84826"/>
                  </a:lnTo>
                  <a:lnTo>
                    <a:pt x="123541" y="202337"/>
                  </a:lnTo>
                  <a:lnTo>
                    <a:pt x="118368" y="265384"/>
                  </a:lnTo>
                  <a:lnTo>
                    <a:pt x="112540" y="325072"/>
                  </a:lnTo>
                  <a:lnTo>
                    <a:pt x="105933" y="376736"/>
                  </a:lnTo>
                  <a:lnTo>
                    <a:pt x="98425" y="415709"/>
                  </a:lnTo>
                  <a:lnTo>
                    <a:pt x="78152" y="473931"/>
                  </a:lnTo>
                  <a:lnTo>
                    <a:pt x="54165" y="513022"/>
                  </a:lnTo>
                  <a:lnTo>
                    <a:pt x="0" y="559320"/>
                  </a:lnTo>
                  <a:lnTo>
                    <a:pt x="249936" y="566877"/>
                  </a:lnTo>
                  <a:lnTo>
                    <a:pt x="202612" y="536878"/>
                  </a:lnTo>
                  <a:lnTo>
                    <a:pt x="182481" y="502838"/>
                  </a:lnTo>
                  <a:lnTo>
                    <a:pt x="166624" y="445947"/>
                  </a:lnTo>
                  <a:lnTo>
                    <a:pt x="161571" y="405938"/>
                  </a:lnTo>
                  <a:lnTo>
                    <a:pt x="157952" y="352148"/>
                  </a:lnTo>
                  <a:lnTo>
                    <a:pt x="155424" y="289463"/>
                  </a:lnTo>
                  <a:lnTo>
                    <a:pt x="153642" y="222764"/>
                  </a:lnTo>
                  <a:lnTo>
                    <a:pt x="150941" y="96862"/>
                  </a:lnTo>
                  <a:lnTo>
                    <a:pt x="149335" y="47426"/>
                  </a:lnTo>
                  <a:lnTo>
                    <a:pt x="147099" y="13510"/>
                  </a:lnTo>
                  <a:lnTo>
                    <a:pt x="143891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43528" y="5939078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0" y="559320"/>
                  </a:moveTo>
                  <a:lnTo>
                    <a:pt x="54165" y="513022"/>
                  </a:lnTo>
                  <a:lnTo>
                    <a:pt x="78152" y="473931"/>
                  </a:lnTo>
                  <a:lnTo>
                    <a:pt x="98425" y="415709"/>
                  </a:lnTo>
                  <a:lnTo>
                    <a:pt x="105933" y="376736"/>
                  </a:lnTo>
                  <a:lnTo>
                    <a:pt x="112540" y="325072"/>
                  </a:lnTo>
                  <a:lnTo>
                    <a:pt x="118368" y="265384"/>
                  </a:lnTo>
                  <a:lnTo>
                    <a:pt x="123541" y="202337"/>
                  </a:lnTo>
                  <a:lnTo>
                    <a:pt x="128182" y="140596"/>
                  </a:lnTo>
                  <a:lnTo>
                    <a:pt x="132413" y="84826"/>
                  </a:lnTo>
                  <a:lnTo>
                    <a:pt x="136360" y="39693"/>
                  </a:lnTo>
                  <a:lnTo>
                    <a:pt x="140145" y="9862"/>
                  </a:lnTo>
                  <a:lnTo>
                    <a:pt x="143891" y="0"/>
                  </a:lnTo>
                  <a:lnTo>
                    <a:pt x="147099" y="13510"/>
                  </a:lnTo>
                  <a:lnTo>
                    <a:pt x="149335" y="47426"/>
                  </a:lnTo>
                  <a:lnTo>
                    <a:pt x="150941" y="96862"/>
                  </a:lnTo>
                  <a:lnTo>
                    <a:pt x="152262" y="156936"/>
                  </a:lnTo>
                  <a:lnTo>
                    <a:pt x="153642" y="222764"/>
                  </a:lnTo>
                  <a:lnTo>
                    <a:pt x="155424" y="289463"/>
                  </a:lnTo>
                  <a:lnTo>
                    <a:pt x="157952" y="352148"/>
                  </a:lnTo>
                  <a:lnTo>
                    <a:pt x="161571" y="405938"/>
                  </a:lnTo>
                  <a:lnTo>
                    <a:pt x="166624" y="445947"/>
                  </a:lnTo>
                  <a:lnTo>
                    <a:pt x="182481" y="502838"/>
                  </a:lnTo>
                  <a:lnTo>
                    <a:pt x="202612" y="536878"/>
                  </a:lnTo>
                  <a:lnTo>
                    <a:pt x="225577" y="555684"/>
                  </a:lnTo>
                  <a:lnTo>
                    <a:pt x="249936" y="5668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70604" y="5574918"/>
              <a:ext cx="1283335" cy="762635"/>
            </a:xfrm>
            <a:custGeom>
              <a:avLst/>
              <a:gdLst/>
              <a:ahLst/>
              <a:cxnLst/>
              <a:rect l="l" t="t" r="r" b="b"/>
              <a:pathLst>
                <a:path w="1283335" h="762635">
                  <a:moveTo>
                    <a:pt x="647827" y="8890"/>
                  </a:moveTo>
                  <a:lnTo>
                    <a:pt x="638810" y="0"/>
                  </a:lnTo>
                  <a:lnTo>
                    <a:pt x="49491" y="587946"/>
                  </a:lnTo>
                  <a:lnTo>
                    <a:pt x="27051" y="565454"/>
                  </a:lnTo>
                  <a:lnTo>
                    <a:pt x="0" y="646239"/>
                  </a:lnTo>
                  <a:lnTo>
                    <a:pt x="80899" y="619391"/>
                  </a:lnTo>
                  <a:lnTo>
                    <a:pt x="67411" y="605891"/>
                  </a:lnTo>
                  <a:lnTo>
                    <a:pt x="58420" y="596887"/>
                  </a:lnTo>
                  <a:lnTo>
                    <a:pt x="647827" y="8890"/>
                  </a:lnTo>
                  <a:close/>
                </a:path>
                <a:path w="1283335" h="762635">
                  <a:moveTo>
                    <a:pt x="1282827" y="429463"/>
                  </a:moveTo>
                  <a:lnTo>
                    <a:pt x="1278255" y="417626"/>
                  </a:lnTo>
                  <a:lnTo>
                    <a:pt x="493941" y="721106"/>
                  </a:lnTo>
                  <a:lnTo>
                    <a:pt x="482473" y="691502"/>
                  </a:lnTo>
                  <a:lnTo>
                    <a:pt x="425196" y="754532"/>
                  </a:lnTo>
                  <a:lnTo>
                    <a:pt x="510032" y="762571"/>
                  </a:lnTo>
                  <a:lnTo>
                    <a:pt x="500316" y="737539"/>
                  </a:lnTo>
                  <a:lnTo>
                    <a:pt x="498538" y="732955"/>
                  </a:lnTo>
                  <a:lnTo>
                    <a:pt x="1282827" y="429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09600" y="536772"/>
            <a:ext cx="10972800" cy="983858"/>
          </a:xfrm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Entropy</a:t>
            </a:r>
            <a:endParaRPr sz="4400" dirty="0"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6705" y="609601"/>
            <a:ext cx="1905000" cy="183832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16939" y="3132455"/>
            <a:ext cx="6428740" cy="8026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random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probability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under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2476500"/>
            <a:ext cx="5399532" cy="57607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799893" y="3214878"/>
            <a:ext cx="2522855" cy="836930"/>
            <a:chOff x="8490966" y="2605277"/>
            <a:chExt cx="2522855" cy="836930"/>
          </a:xfrm>
        </p:grpSpPr>
        <p:sp>
          <p:nvSpPr>
            <p:cNvPr id="17" name="object 17"/>
            <p:cNvSpPr/>
            <p:nvPr/>
          </p:nvSpPr>
          <p:spPr>
            <a:xfrm>
              <a:off x="8490966" y="2605277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42020" y="2822575"/>
              <a:ext cx="2356485" cy="585470"/>
            </a:xfrm>
            <a:custGeom>
              <a:avLst/>
              <a:gdLst/>
              <a:ahLst/>
              <a:cxnLst/>
              <a:rect l="l" t="t" r="r" b="b"/>
              <a:pathLst>
                <a:path w="2356484" h="585470">
                  <a:moveTo>
                    <a:pt x="0" y="559053"/>
                  </a:moveTo>
                  <a:lnTo>
                    <a:pt x="514096" y="537083"/>
                  </a:lnTo>
                  <a:lnTo>
                    <a:pt x="563225" y="519634"/>
                  </a:lnTo>
                  <a:lnTo>
                    <a:pt x="607693" y="498076"/>
                  </a:lnTo>
                  <a:lnTo>
                    <a:pt x="648418" y="473014"/>
                  </a:lnTo>
                  <a:lnTo>
                    <a:pt x="686323" y="445055"/>
                  </a:lnTo>
                  <a:lnTo>
                    <a:pt x="722330" y="414804"/>
                  </a:lnTo>
                  <a:lnTo>
                    <a:pt x="757358" y="382867"/>
                  </a:lnTo>
                  <a:lnTo>
                    <a:pt x="792330" y="349849"/>
                  </a:lnTo>
                  <a:lnTo>
                    <a:pt x="828166" y="316357"/>
                  </a:lnTo>
                  <a:lnTo>
                    <a:pt x="860294" y="281763"/>
                  </a:lnTo>
                  <a:lnTo>
                    <a:pt x="891648" y="239753"/>
                  </a:lnTo>
                  <a:lnTo>
                    <a:pt x="922349" y="193444"/>
                  </a:lnTo>
                  <a:lnTo>
                    <a:pt x="952516" y="145956"/>
                  </a:lnTo>
                  <a:lnTo>
                    <a:pt x="982271" y="100409"/>
                  </a:lnTo>
                  <a:lnTo>
                    <a:pt x="1011733" y="59920"/>
                  </a:lnTo>
                  <a:lnTo>
                    <a:pt x="1041023" y="27610"/>
                  </a:lnTo>
                  <a:lnTo>
                    <a:pt x="1070260" y="6596"/>
                  </a:lnTo>
                  <a:lnTo>
                    <a:pt x="1099565" y="0"/>
                  </a:lnTo>
                  <a:lnTo>
                    <a:pt x="1124710" y="8338"/>
                  </a:lnTo>
                  <a:lnTo>
                    <a:pt x="1169822" y="59203"/>
                  </a:lnTo>
                  <a:lnTo>
                    <a:pt x="1191373" y="96958"/>
                  </a:lnTo>
                  <a:lnTo>
                    <a:pt x="1213310" y="139747"/>
                  </a:lnTo>
                  <a:lnTo>
                    <a:pt x="1236424" y="185184"/>
                  </a:lnTo>
                  <a:lnTo>
                    <a:pt x="1261507" y="230883"/>
                  </a:lnTo>
                  <a:lnTo>
                    <a:pt x="1289350" y="274458"/>
                  </a:lnTo>
                  <a:lnTo>
                    <a:pt x="1320746" y="313523"/>
                  </a:lnTo>
                  <a:lnTo>
                    <a:pt x="1356486" y="345694"/>
                  </a:lnTo>
                  <a:lnTo>
                    <a:pt x="1393250" y="370818"/>
                  </a:lnTo>
                  <a:lnTo>
                    <a:pt x="1433663" y="395245"/>
                  </a:lnTo>
                  <a:lnTo>
                    <a:pt x="1477131" y="418825"/>
                  </a:lnTo>
                  <a:lnTo>
                    <a:pt x="1523059" y="441409"/>
                  </a:lnTo>
                  <a:lnTo>
                    <a:pt x="1570852" y="462847"/>
                  </a:lnTo>
                  <a:lnTo>
                    <a:pt x="1619916" y="482991"/>
                  </a:lnTo>
                  <a:lnTo>
                    <a:pt x="1669655" y="501690"/>
                  </a:lnTo>
                  <a:lnTo>
                    <a:pt x="1719475" y="518795"/>
                  </a:lnTo>
                  <a:lnTo>
                    <a:pt x="1768781" y="534157"/>
                  </a:lnTo>
                  <a:lnTo>
                    <a:pt x="1816977" y="547626"/>
                  </a:lnTo>
                  <a:lnTo>
                    <a:pt x="1863471" y="559053"/>
                  </a:lnTo>
                  <a:lnTo>
                    <a:pt x="1913351" y="569040"/>
                  </a:lnTo>
                  <a:lnTo>
                    <a:pt x="1963033" y="576338"/>
                  </a:lnTo>
                  <a:lnTo>
                    <a:pt x="2012541" y="581246"/>
                  </a:lnTo>
                  <a:lnTo>
                    <a:pt x="2061895" y="584063"/>
                  </a:lnTo>
                  <a:lnTo>
                    <a:pt x="2111121" y="585088"/>
                  </a:lnTo>
                  <a:lnTo>
                    <a:pt x="2160239" y="584620"/>
                  </a:lnTo>
                  <a:lnTo>
                    <a:pt x="2209274" y="582957"/>
                  </a:lnTo>
                  <a:lnTo>
                    <a:pt x="2258247" y="580398"/>
                  </a:lnTo>
                  <a:lnTo>
                    <a:pt x="2307183" y="577241"/>
                  </a:lnTo>
                  <a:lnTo>
                    <a:pt x="2356104" y="57378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47450" y="3938398"/>
            <a:ext cx="85344" cy="792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5360" y="2982467"/>
            <a:ext cx="307848" cy="17678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9030629" y="4915090"/>
            <a:ext cx="2522855" cy="836930"/>
            <a:chOff x="8490966" y="3748278"/>
            <a:chExt cx="2522855" cy="836930"/>
          </a:xfrm>
        </p:grpSpPr>
        <p:sp>
          <p:nvSpPr>
            <p:cNvPr id="22" name="object 22"/>
            <p:cNvSpPr/>
            <p:nvPr/>
          </p:nvSpPr>
          <p:spPr>
            <a:xfrm>
              <a:off x="8490966" y="3748278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87840" y="3962527"/>
              <a:ext cx="464820" cy="591820"/>
            </a:xfrm>
            <a:custGeom>
              <a:avLst/>
              <a:gdLst/>
              <a:ahLst/>
              <a:cxnLst/>
              <a:rect l="l" t="t" r="r" b="b"/>
              <a:pathLst>
                <a:path w="464820" h="591820">
                  <a:moveTo>
                    <a:pt x="0" y="573151"/>
                  </a:moveTo>
                  <a:lnTo>
                    <a:pt x="31031" y="579340"/>
                  </a:lnTo>
                  <a:lnTo>
                    <a:pt x="63182" y="589613"/>
                  </a:lnTo>
                  <a:lnTo>
                    <a:pt x="93047" y="591814"/>
                  </a:lnTo>
                  <a:lnTo>
                    <a:pt x="130535" y="539644"/>
                  </a:lnTo>
                  <a:lnTo>
                    <a:pt x="139552" y="491945"/>
                  </a:lnTo>
                  <a:lnTo>
                    <a:pt x="146344" y="435510"/>
                  </a:lnTo>
                  <a:lnTo>
                    <a:pt x="152984" y="375162"/>
                  </a:lnTo>
                  <a:lnTo>
                    <a:pt x="161543" y="315722"/>
                  </a:lnTo>
                  <a:lnTo>
                    <a:pt x="169124" y="267861"/>
                  </a:lnTo>
                  <a:lnTo>
                    <a:pt x="177179" y="210442"/>
                  </a:lnTo>
                  <a:lnTo>
                    <a:pt x="185563" y="149750"/>
                  </a:lnTo>
                  <a:lnTo>
                    <a:pt x="194130" y="92073"/>
                  </a:lnTo>
                  <a:lnTo>
                    <a:pt x="202731" y="43697"/>
                  </a:lnTo>
                  <a:lnTo>
                    <a:pt x="211222" y="10910"/>
                  </a:lnTo>
                  <a:lnTo>
                    <a:pt x="219455" y="0"/>
                  </a:lnTo>
                  <a:lnTo>
                    <a:pt x="227379" y="15755"/>
                  </a:lnTo>
                  <a:lnTo>
                    <a:pt x="235106" y="54256"/>
                  </a:lnTo>
                  <a:lnTo>
                    <a:pt x="242732" y="108565"/>
                  </a:lnTo>
                  <a:lnTo>
                    <a:pt x="250356" y="171739"/>
                  </a:lnTo>
                  <a:lnTo>
                    <a:pt x="258076" y="236840"/>
                  </a:lnTo>
                  <a:lnTo>
                    <a:pt x="265989" y="296926"/>
                  </a:lnTo>
                  <a:lnTo>
                    <a:pt x="274192" y="345059"/>
                  </a:lnTo>
                  <a:lnTo>
                    <a:pt x="287855" y="412216"/>
                  </a:lnTo>
                  <a:lnTo>
                    <a:pt x="301101" y="472170"/>
                  </a:lnTo>
                  <a:lnTo>
                    <a:pt x="316609" y="521813"/>
                  </a:lnTo>
                  <a:lnTo>
                    <a:pt x="337057" y="558038"/>
                  </a:lnTo>
                  <a:lnTo>
                    <a:pt x="399796" y="583961"/>
                  </a:lnTo>
                  <a:lnTo>
                    <a:pt x="434641" y="580630"/>
                  </a:lnTo>
                  <a:lnTo>
                    <a:pt x="464819" y="57264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30140" y="5595535"/>
            <a:ext cx="85344" cy="7924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76705" y="4665602"/>
            <a:ext cx="307848" cy="1767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492168" y="2679015"/>
            <a:ext cx="425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high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50947" y="2476500"/>
            <a:ext cx="36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low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544" y="4672584"/>
            <a:ext cx="4174235" cy="27889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3544" y="4315967"/>
            <a:ext cx="3328415" cy="22707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71464" y="6429757"/>
            <a:ext cx="68275" cy="7924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172839" y="5218303"/>
            <a:ext cx="457644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maximizes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1270635" marR="5080">
              <a:lnSpc>
                <a:spcPct val="100000"/>
              </a:lnSpc>
              <a:spcBef>
                <a:spcPts val="172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maximizes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 </a:t>
            </a:r>
            <a:r>
              <a:rPr sz="1800" dirty="0">
                <a:latin typeface="Calibri"/>
                <a:cs typeface="Calibri"/>
              </a:rPr>
              <a:t>(makes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D69A11A-FDF4-6E1E-F0BA-22E49B2B8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4384-D62F-4455-9153-7EFC18C1CF93}" type="datetime1">
              <a:rPr lang="en-US" smtClean="0"/>
              <a:t>2/18/2025</a:t>
            </a:fld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8CE0C8DA-C4FF-133A-AA91-91CFB436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F07006E-722B-403C-567F-5B5D0888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536772"/>
            <a:ext cx="10972800" cy="983858"/>
          </a:xfrm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" dirty="0">
                <a:latin typeface="Calibri"/>
                <a:cs typeface="Calibri"/>
              </a:rPr>
              <a:t>KL-Divergence</a:t>
            </a:r>
            <a:endParaRPr lang="en-US" sz="4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187" y="2683764"/>
            <a:ext cx="3390900" cy="6050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3964" y="2848355"/>
            <a:ext cx="4175760" cy="2788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0600" y="2846832"/>
            <a:ext cx="3095244" cy="27889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916161" y="4447794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383279" y="5530722"/>
            <a:ext cx="2897505" cy="973455"/>
            <a:chOff x="3383279" y="5530722"/>
            <a:chExt cx="2897505" cy="973455"/>
          </a:xfrm>
        </p:grpSpPr>
        <p:sp>
          <p:nvSpPr>
            <p:cNvPr id="9" name="object 9"/>
            <p:cNvSpPr/>
            <p:nvPr/>
          </p:nvSpPr>
          <p:spPr>
            <a:xfrm>
              <a:off x="3703319" y="5890336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60">
                  <a:moveTo>
                    <a:pt x="1201165" y="0"/>
                  </a:moveTo>
                  <a:lnTo>
                    <a:pt x="1137279" y="25431"/>
                  </a:lnTo>
                  <a:lnTo>
                    <a:pt x="1105299" y="55304"/>
                  </a:lnTo>
                  <a:lnTo>
                    <a:pt x="1073125" y="92862"/>
                  </a:lnTo>
                  <a:lnTo>
                    <a:pt x="1040629" y="135291"/>
                  </a:lnTo>
                  <a:lnTo>
                    <a:pt x="1007683" y="179776"/>
                  </a:lnTo>
                  <a:lnTo>
                    <a:pt x="974161" y="223502"/>
                  </a:lnTo>
                  <a:lnTo>
                    <a:pt x="939934" y="263655"/>
                  </a:lnTo>
                  <a:lnTo>
                    <a:pt x="904875" y="297421"/>
                  </a:lnTo>
                  <a:lnTo>
                    <a:pt x="865684" y="331232"/>
                  </a:lnTo>
                  <a:lnTo>
                    <a:pt x="827448" y="365446"/>
                  </a:lnTo>
                  <a:lnTo>
                    <a:pt x="789159" y="399246"/>
                  </a:lnTo>
                  <a:lnTo>
                    <a:pt x="749807" y="431812"/>
                  </a:lnTo>
                  <a:lnTo>
                    <a:pt x="708384" y="462329"/>
                  </a:lnTo>
                  <a:lnTo>
                    <a:pt x="663880" y="489977"/>
                  </a:lnTo>
                  <a:lnTo>
                    <a:pt x="615286" y="513940"/>
                  </a:lnTo>
                  <a:lnTo>
                    <a:pt x="561593" y="533400"/>
                  </a:lnTo>
                  <a:lnTo>
                    <a:pt x="518755" y="544128"/>
                  </a:lnTo>
                  <a:lnTo>
                    <a:pt x="472794" y="551987"/>
                  </a:lnTo>
                  <a:lnTo>
                    <a:pt x="424205" y="557431"/>
                  </a:lnTo>
                  <a:lnTo>
                    <a:pt x="373480" y="560913"/>
                  </a:lnTo>
                  <a:lnTo>
                    <a:pt x="321111" y="562885"/>
                  </a:lnTo>
                  <a:lnTo>
                    <a:pt x="267593" y="563800"/>
                  </a:lnTo>
                  <a:lnTo>
                    <a:pt x="159077" y="564271"/>
                  </a:lnTo>
                  <a:lnTo>
                    <a:pt x="105065" y="564734"/>
                  </a:lnTo>
                  <a:lnTo>
                    <a:pt x="51875" y="565951"/>
                  </a:lnTo>
                  <a:lnTo>
                    <a:pt x="0" y="568375"/>
                  </a:lnTo>
                  <a:lnTo>
                    <a:pt x="2574035" y="553745"/>
                  </a:lnTo>
                  <a:lnTo>
                    <a:pt x="2533471" y="556006"/>
                  </a:lnTo>
                  <a:lnTo>
                    <a:pt x="2488563" y="558036"/>
                  </a:lnTo>
                  <a:lnTo>
                    <a:pt x="2440024" y="559747"/>
                  </a:lnTo>
                  <a:lnTo>
                    <a:pt x="2388570" y="561053"/>
                  </a:lnTo>
                  <a:lnTo>
                    <a:pt x="2334913" y="561868"/>
                  </a:lnTo>
                  <a:lnTo>
                    <a:pt x="2279768" y="562104"/>
                  </a:lnTo>
                  <a:lnTo>
                    <a:pt x="2223849" y="561676"/>
                  </a:lnTo>
                  <a:lnTo>
                    <a:pt x="2167870" y="560497"/>
                  </a:lnTo>
                  <a:lnTo>
                    <a:pt x="2112544" y="558480"/>
                  </a:lnTo>
                  <a:lnTo>
                    <a:pt x="2058586" y="555539"/>
                  </a:lnTo>
                  <a:lnTo>
                    <a:pt x="2006709" y="551587"/>
                  </a:lnTo>
                  <a:lnTo>
                    <a:pt x="1957629" y="546538"/>
                  </a:lnTo>
                  <a:lnTo>
                    <a:pt x="1912057" y="540306"/>
                  </a:lnTo>
                  <a:lnTo>
                    <a:pt x="1870709" y="532803"/>
                  </a:lnTo>
                  <a:lnTo>
                    <a:pt x="1813121" y="518565"/>
                  </a:lnTo>
                  <a:lnTo>
                    <a:pt x="1761117" y="501451"/>
                  </a:lnTo>
                  <a:lnTo>
                    <a:pt x="1713846" y="481746"/>
                  </a:lnTo>
                  <a:lnTo>
                    <a:pt x="1670456" y="459736"/>
                  </a:lnTo>
                  <a:lnTo>
                    <a:pt x="1630099" y="435706"/>
                  </a:lnTo>
                  <a:lnTo>
                    <a:pt x="1591921" y="409941"/>
                  </a:lnTo>
                  <a:lnTo>
                    <a:pt x="1555073" y="382727"/>
                  </a:lnTo>
                  <a:lnTo>
                    <a:pt x="1518704" y="354350"/>
                  </a:lnTo>
                  <a:lnTo>
                    <a:pt x="1481963" y="325094"/>
                  </a:lnTo>
                  <a:lnTo>
                    <a:pt x="1446134" y="290710"/>
                  </a:lnTo>
                  <a:lnTo>
                    <a:pt x="1412649" y="248787"/>
                  </a:lnTo>
                  <a:lnTo>
                    <a:pt x="1380998" y="202369"/>
                  </a:lnTo>
                  <a:lnTo>
                    <a:pt x="1321166" y="108230"/>
                  </a:lnTo>
                  <a:lnTo>
                    <a:pt x="1291971" y="66599"/>
                  </a:lnTo>
                  <a:lnTo>
                    <a:pt x="1262577" y="32654"/>
                  </a:lnTo>
                  <a:lnTo>
                    <a:pt x="1232478" y="9439"/>
                  </a:lnTo>
                  <a:lnTo>
                    <a:pt x="1201165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3319" y="5890336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60">
                  <a:moveTo>
                    <a:pt x="0" y="568375"/>
                  </a:moveTo>
                  <a:lnTo>
                    <a:pt x="51875" y="565951"/>
                  </a:lnTo>
                  <a:lnTo>
                    <a:pt x="105065" y="564734"/>
                  </a:lnTo>
                  <a:lnTo>
                    <a:pt x="159077" y="564271"/>
                  </a:lnTo>
                  <a:lnTo>
                    <a:pt x="213417" y="564111"/>
                  </a:lnTo>
                  <a:lnTo>
                    <a:pt x="267593" y="563800"/>
                  </a:lnTo>
                  <a:lnTo>
                    <a:pt x="321111" y="562885"/>
                  </a:lnTo>
                  <a:lnTo>
                    <a:pt x="373480" y="560913"/>
                  </a:lnTo>
                  <a:lnTo>
                    <a:pt x="424205" y="557431"/>
                  </a:lnTo>
                  <a:lnTo>
                    <a:pt x="472794" y="551987"/>
                  </a:lnTo>
                  <a:lnTo>
                    <a:pt x="518755" y="544128"/>
                  </a:lnTo>
                  <a:lnTo>
                    <a:pt x="561593" y="533400"/>
                  </a:lnTo>
                  <a:lnTo>
                    <a:pt x="615286" y="513940"/>
                  </a:lnTo>
                  <a:lnTo>
                    <a:pt x="663880" y="489977"/>
                  </a:lnTo>
                  <a:lnTo>
                    <a:pt x="708384" y="462329"/>
                  </a:lnTo>
                  <a:lnTo>
                    <a:pt x="749807" y="431812"/>
                  </a:lnTo>
                  <a:lnTo>
                    <a:pt x="789159" y="399246"/>
                  </a:lnTo>
                  <a:lnTo>
                    <a:pt x="827448" y="365446"/>
                  </a:lnTo>
                  <a:lnTo>
                    <a:pt x="865684" y="331232"/>
                  </a:lnTo>
                  <a:lnTo>
                    <a:pt x="904875" y="297421"/>
                  </a:lnTo>
                  <a:lnTo>
                    <a:pt x="939934" y="263655"/>
                  </a:lnTo>
                  <a:lnTo>
                    <a:pt x="974161" y="223502"/>
                  </a:lnTo>
                  <a:lnTo>
                    <a:pt x="1007683" y="179776"/>
                  </a:lnTo>
                  <a:lnTo>
                    <a:pt x="1040629" y="135291"/>
                  </a:lnTo>
                  <a:lnTo>
                    <a:pt x="1073125" y="92862"/>
                  </a:lnTo>
                  <a:lnTo>
                    <a:pt x="1105299" y="55304"/>
                  </a:lnTo>
                  <a:lnTo>
                    <a:pt x="1137279" y="25431"/>
                  </a:lnTo>
                  <a:lnTo>
                    <a:pt x="1169192" y="6058"/>
                  </a:lnTo>
                  <a:lnTo>
                    <a:pt x="1201165" y="0"/>
                  </a:lnTo>
                  <a:lnTo>
                    <a:pt x="1232478" y="9439"/>
                  </a:lnTo>
                  <a:lnTo>
                    <a:pt x="1291971" y="66599"/>
                  </a:lnTo>
                  <a:lnTo>
                    <a:pt x="1321166" y="108230"/>
                  </a:lnTo>
                  <a:lnTo>
                    <a:pt x="1350673" y="154502"/>
                  </a:lnTo>
                  <a:lnTo>
                    <a:pt x="1380998" y="202369"/>
                  </a:lnTo>
                  <a:lnTo>
                    <a:pt x="1412649" y="248787"/>
                  </a:lnTo>
                  <a:lnTo>
                    <a:pt x="1446134" y="290710"/>
                  </a:lnTo>
                  <a:lnTo>
                    <a:pt x="1481963" y="325094"/>
                  </a:lnTo>
                  <a:lnTo>
                    <a:pt x="1518704" y="354350"/>
                  </a:lnTo>
                  <a:lnTo>
                    <a:pt x="1555073" y="382727"/>
                  </a:lnTo>
                  <a:lnTo>
                    <a:pt x="1591921" y="409941"/>
                  </a:lnTo>
                  <a:lnTo>
                    <a:pt x="1630099" y="435706"/>
                  </a:lnTo>
                  <a:lnTo>
                    <a:pt x="1670456" y="459736"/>
                  </a:lnTo>
                  <a:lnTo>
                    <a:pt x="1713846" y="481746"/>
                  </a:lnTo>
                  <a:lnTo>
                    <a:pt x="1761117" y="501451"/>
                  </a:lnTo>
                  <a:lnTo>
                    <a:pt x="1813121" y="518565"/>
                  </a:lnTo>
                  <a:lnTo>
                    <a:pt x="1870709" y="532803"/>
                  </a:lnTo>
                  <a:lnTo>
                    <a:pt x="1912057" y="540306"/>
                  </a:lnTo>
                  <a:lnTo>
                    <a:pt x="1957629" y="546538"/>
                  </a:lnTo>
                  <a:lnTo>
                    <a:pt x="2006709" y="551587"/>
                  </a:lnTo>
                  <a:lnTo>
                    <a:pt x="2058586" y="555539"/>
                  </a:lnTo>
                  <a:lnTo>
                    <a:pt x="2112544" y="558480"/>
                  </a:lnTo>
                  <a:lnTo>
                    <a:pt x="2167870" y="560497"/>
                  </a:lnTo>
                  <a:lnTo>
                    <a:pt x="2223849" y="561676"/>
                  </a:lnTo>
                  <a:lnTo>
                    <a:pt x="2279768" y="562104"/>
                  </a:lnTo>
                  <a:lnTo>
                    <a:pt x="2334913" y="561868"/>
                  </a:lnTo>
                  <a:lnTo>
                    <a:pt x="2388570" y="561053"/>
                  </a:lnTo>
                  <a:lnTo>
                    <a:pt x="2440024" y="559747"/>
                  </a:lnTo>
                  <a:lnTo>
                    <a:pt x="2488563" y="558036"/>
                  </a:lnTo>
                  <a:lnTo>
                    <a:pt x="2533471" y="556006"/>
                  </a:lnTo>
                  <a:lnTo>
                    <a:pt x="2574035" y="5537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55898" y="5666993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69"/>
                  </a:lnTo>
                  <a:lnTo>
                    <a:pt x="38100" y="798969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79" y="5629736"/>
              <a:ext cx="295655" cy="17213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06951" y="5884265"/>
              <a:ext cx="2356485" cy="585470"/>
            </a:xfrm>
            <a:custGeom>
              <a:avLst/>
              <a:gdLst/>
              <a:ahLst/>
              <a:cxnLst/>
              <a:rect l="l" t="t" r="r" b="b"/>
              <a:pathLst>
                <a:path w="2356485" h="585470">
                  <a:moveTo>
                    <a:pt x="0" y="559117"/>
                  </a:moveTo>
                  <a:lnTo>
                    <a:pt x="46527" y="552951"/>
                  </a:lnTo>
                  <a:lnTo>
                    <a:pt x="92564" y="539428"/>
                  </a:lnTo>
                  <a:lnTo>
                    <a:pt x="137968" y="519994"/>
                  </a:lnTo>
                  <a:lnTo>
                    <a:pt x="182594" y="496093"/>
                  </a:lnTo>
                  <a:lnTo>
                    <a:pt x="226299" y="469172"/>
                  </a:lnTo>
                  <a:lnTo>
                    <a:pt x="268939" y="440677"/>
                  </a:lnTo>
                  <a:lnTo>
                    <a:pt x="310370" y="412052"/>
                  </a:lnTo>
                  <a:lnTo>
                    <a:pt x="350449" y="384743"/>
                  </a:lnTo>
                  <a:lnTo>
                    <a:pt x="389033" y="360196"/>
                  </a:lnTo>
                  <a:lnTo>
                    <a:pt x="425976" y="339857"/>
                  </a:lnTo>
                  <a:lnTo>
                    <a:pt x="461137" y="325170"/>
                  </a:lnTo>
                  <a:lnTo>
                    <a:pt x="511205" y="313966"/>
                  </a:lnTo>
                  <a:lnTo>
                    <a:pt x="555176" y="313151"/>
                  </a:lnTo>
                  <a:lnTo>
                    <a:pt x="595021" y="318264"/>
                  </a:lnTo>
                  <a:lnTo>
                    <a:pt x="632713" y="324844"/>
                  </a:lnTo>
                  <a:lnTo>
                    <a:pt x="670226" y="328429"/>
                  </a:lnTo>
                  <a:lnTo>
                    <a:pt x="709531" y="324560"/>
                  </a:lnTo>
                  <a:lnTo>
                    <a:pt x="752601" y="308775"/>
                  </a:lnTo>
                  <a:lnTo>
                    <a:pt x="785459" y="286794"/>
                  </a:lnTo>
                  <a:lnTo>
                    <a:pt x="819885" y="255261"/>
                  </a:lnTo>
                  <a:lnTo>
                    <a:pt x="855445" y="217017"/>
                  </a:lnTo>
                  <a:lnTo>
                    <a:pt x="891704" y="174901"/>
                  </a:lnTo>
                  <a:lnTo>
                    <a:pt x="928227" y="131756"/>
                  </a:lnTo>
                  <a:lnTo>
                    <a:pt x="964578" y="90420"/>
                  </a:lnTo>
                  <a:lnTo>
                    <a:pt x="1000322" y="53737"/>
                  </a:lnTo>
                  <a:lnTo>
                    <a:pt x="1035025" y="24545"/>
                  </a:lnTo>
                  <a:lnTo>
                    <a:pt x="1068251" y="5685"/>
                  </a:lnTo>
                  <a:lnTo>
                    <a:pt x="1099565" y="0"/>
                  </a:lnTo>
                  <a:lnTo>
                    <a:pt x="1127765" y="8665"/>
                  </a:lnTo>
                  <a:lnTo>
                    <a:pt x="1175367" y="59797"/>
                  </a:lnTo>
                  <a:lnTo>
                    <a:pt x="1196805" y="97541"/>
                  </a:lnTo>
                  <a:lnTo>
                    <a:pt x="1218025" y="140257"/>
                  </a:lnTo>
                  <a:lnTo>
                    <a:pt x="1240045" y="185582"/>
                  </a:lnTo>
                  <a:lnTo>
                    <a:pt x="1263883" y="231158"/>
                  </a:lnTo>
                  <a:lnTo>
                    <a:pt x="1290557" y="274621"/>
                  </a:lnTo>
                  <a:lnTo>
                    <a:pt x="1321086" y="313612"/>
                  </a:lnTo>
                  <a:lnTo>
                    <a:pt x="1356487" y="345770"/>
                  </a:lnTo>
                  <a:lnTo>
                    <a:pt x="1393250" y="370887"/>
                  </a:lnTo>
                  <a:lnTo>
                    <a:pt x="1433663" y="395307"/>
                  </a:lnTo>
                  <a:lnTo>
                    <a:pt x="1477131" y="418882"/>
                  </a:lnTo>
                  <a:lnTo>
                    <a:pt x="1523059" y="441460"/>
                  </a:lnTo>
                  <a:lnTo>
                    <a:pt x="1570852" y="462895"/>
                  </a:lnTo>
                  <a:lnTo>
                    <a:pt x="1619916" y="483036"/>
                  </a:lnTo>
                  <a:lnTo>
                    <a:pt x="1669655" y="501734"/>
                  </a:lnTo>
                  <a:lnTo>
                    <a:pt x="1719475" y="518840"/>
                  </a:lnTo>
                  <a:lnTo>
                    <a:pt x="1768781" y="534206"/>
                  </a:lnTo>
                  <a:lnTo>
                    <a:pt x="1816977" y="547681"/>
                  </a:lnTo>
                  <a:lnTo>
                    <a:pt x="1863471" y="559117"/>
                  </a:lnTo>
                  <a:lnTo>
                    <a:pt x="1913351" y="569080"/>
                  </a:lnTo>
                  <a:lnTo>
                    <a:pt x="1963033" y="576362"/>
                  </a:lnTo>
                  <a:lnTo>
                    <a:pt x="2012541" y="581260"/>
                  </a:lnTo>
                  <a:lnTo>
                    <a:pt x="2061895" y="584073"/>
                  </a:lnTo>
                  <a:lnTo>
                    <a:pt x="2111120" y="585098"/>
                  </a:lnTo>
                  <a:lnTo>
                    <a:pt x="2160239" y="584633"/>
                  </a:lnTo>
                  <a:lnTo>
                    <a:pt x="2209274" y="582977"/>
                  </a:lnTo>
                  <a:lnTo>
                    <a:pt x="2258247" y="580427"/>
                  </a:lnTo>
                  <a:lnTo>
                    <a:pt x="2307183" y="577280"/>
                  </a:lnTo>
                  <a:lnTo>
                    <a:pt x="2356104" y="57383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57927" y="5894882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143891" y="0"/>
                  </a:moveTo>
                  <a:lnTo>
                    <a:pt x="140145" y="9862"/>
                  </a:lnTo>
                  <a:lnTo>
                    <a:pt x="136360" y="39693"/>
                  </a:lnTo>
                  <a:lnTo>
                    <a:pt x="132413" y="84826"/>
                  </a:lnTo>
                  <a:lnTo>
                    <a:pt x="123541" y="202337"/>
                  </a:lnTo>
                  <a:lnTo>
                    <a:pt x="118368" y="265384"/>
                  </a:lnTo>
                  <a:lnTo>
                    <a:pt x="112540" y="325072"/>
                  </a:lnTo>
                  <a:lnTo>
                    <a:pt x="105933" y="376736"/>
                  </a:lnTo>
                  <a:lnTo>
                    <a:pt x="98425" y="415709"/>
                  </a:lnTo>
                  <a:lnTo>
                    <a:pt x="78152" y="473931"/>
                  </a:lnTo>
                  <a:lnTo>
                    <a:pt x="54165" y="513022"/>
                  </a:lnTo>
                  <a:lnTo>
                    <a:pt x="0" y="559320"/>
                  </a:lnTo>
                  <a:lnTo>
                    <a:pt x="249936" y="566877"/>
                  </a:lnTo>
                  <a:lnTo>
                    <a:pt x="202612" y="536878"/>
                  </a:lnTo>
                  <a:lnTo>
                    <a:pt x="182481" y="502838"/>
                  </a:lnTo>
                  <a:lnTo>
                    <a:pt x="166624" y="445947"/>
                  </a:lnTo>
                  <a:lnTo>
                    <a:pt x="161571" y="405938"/>
                  </a:lnTo>
                  <a:lnTo>
                    <a:pt x="157952" y="352148"/>
                  </a:lnTo>
                  <a:lnTo>
                    <a:pt x="155424" y="289463"/>
                  </a:lnTo>
                  <a:lnTo>
                    <a:pt x="153642" y="222764"/>
                  </a:lnTo>
                  <a:lnTo>
                    <a:pt x="150941" y="96862"/>
                  </a:lnTo>
                  <a:lnTo>
                    <a:pt x="149335" y="47426"/>
                  </a:lnTo>
                  <a:lnTo>
                    <a:pt x="147099" y="13510"/>
                  </a:lnTo>
                  <a:lnTo>
                    <a:pt x="143891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57927" y="5894882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0" y="559320"/>
                  </a:moveTo>
                  <a:lnTo>
                    <a:pt x="54165" y="513022"/>
                  </a:lnTo>
                  <a:lnTo>
                    <a:pt x="78152" y="473931"/>
                  </a:lnTo>
                  <a:lnTo>
                    <a:pt x="98425" y="415709"/>
                  </a:lnTo>
                  <a:lnTo>
                    <a:pt x="105933" y="376736"/>
                  </a:lnTo>
                  <a:lnTo>
                    <a:pt x="112540" y="325072"/>
                  </a:lnTo>
                  <a:lnTo>
                    <a:pt x="118368" y="265384"/>
                  </a:lnTo>
                  <a:lnTo>
                    <a:pt x="123541" y="202337"/>
                  </a:lnTo>
                  <a:lnTo>
                    <a:pt x="128182" y="140596"/>
                  </a:lnTo>
                  <a:lnTo>
                    <a:pt x="132413" y="84826"/>
                  </a:lnTo>
                  <a:lnTo>
                    <a:pt x="136360" y="39693"/>
                  </a:lnTo>
                  <a:lnTo>
                    <a:pt x="140145" y="9862"/>
                  </a:lnTo>
                  <a:lnTo>
                    <a:pt x="143891" y="0"/>
                  </a:lnTo>
                  <a:lnTo>
                    <a:pt x="147099" y="13510"/>
                  </a:lnTo>
                  <a:lnTo>
                    <a:pt x="149335" y="47426"/>
                  </a:lnTo>
                  <a:lnTo>
                    <a:pt x="150941" y="96862"/>
                  </a:lnTo>
                  <a:lnTo>
                    <a:pt x="152262" y="156936"/>
                  </a:lnTo>
                  <a:lnTo>
                    <a:pt x="153642" y="222764"/>
                  </a:lnTo>
                  <a:lnTo>
                    <a:pt x="155424" y="289463"/>
                  </a:lnTo>
                  <a:lnTo>
                    <a:pt x="157952" y="352148"/>
                  </a:lnTo>
                  <a:lnTo>
                    <a:pt x="161571" y="405938"/>
                  </a:lnTo>
                  <a:lnTo>
                    <a:pt x="166624" y="445947"/>
                  </a:lnTo>
                  <a:lnTo>
                    <a:pt x="182481" y="502838"/>
                  </a:lnTo>
                  <a:lnTo>
                    <a:pt x="202612" y="536878"/>
                  </a:lnTo>
                  <a:lnTo>
                    <a:pt x="225577" y="555684"/>
                  </a:lnTo>
                  <a:lnTo>
                    <a:pt x="249936" y="5668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85004" y="5530722"/>
              <a:ext cx="1283335" cy="762635"/>
            </a:xfrm>
            <a:custGeom>
              <a:avLst/>
              <a:gdLst/>
              <a:ahLst/>
              <a:cxnLst/>
              <a:rect l="l" t="t" r="r" b="b"/>
              <a:pathLst>
                <a:path w="1283335" h="762635">
                  <a:moveTo>
                    <a:pt x="647827" y="8890"/>
                  </a:moveTo>
                  <a:lnTo>
                    <a:pt x="638810" y="0"/>
                  </a:lnTo>
                  <a:lnTo>
                    <a:pt x="49491" y="587946"/>
                  </a:lnTo>
                  <a:lnTo>
                    <a:pt x="27051" y="565454"/>
                  </a:lnTo>
                  <a:lnTo>
                    <a:pt x="0" y="646239"/>
                  </a:lnTo>
                  <a:lnTo>
                    <a:pt x="80899" y="619391"/>
                  </a:lnTo>
                  <a:lnTo>
                    <a:pt x="67411" y="605891"/>
                  </a:lnTo>
                  <a:lnTo>
                    <a:pt x="58420" y="596887"/>
                  </a:lnTo>
                  <a:lnTo>
                    <a:pt x="647827" y="8890"/>
                  </a:lnTo>
                  <a:close/>
                </a:path>
                <a:path w="1283335" h="762635">
                  <a:moveTo>
                    <a:pt x="1282827" y="429463"/>
                  </a:moveTo>
                  <a:lnTo>
                    <a:pt x="1278255" y="417626"/>
                  </a:lnTo>
                  <a:lnTo>
                    <a:pt x="493941" y="721106"/>
                  </a:lnTo>
                  <a:lnTo>
                    <a:pt x="482473" y="691502"/>
                  </a:lnTo>
                  <a:lnTo>
                    <a:pt x="425196" y="754532"/>
                  </a:lnTo>
                  <a:lnTo>
                    <a:pt x="510032" y="762571"/>
                  </a:lnTo>
                  <a:lnTo>
                    <a:pt x="500316" y="737539"/>
                  </a:lnTo>
                  <a:lnTo>
                    <a:pt x="498538" y="732955"/>
                  </a:lnTo>
                  <a:lnTo>
                    <a:pt x="1282827" y="429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9371" y="3601973"/>
            <a:ext cx="9628505" cy="2639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different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distributions?</a:t>
            </a:r>
            <a:endParaRPr sz="18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probability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another,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why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entropy?</a:t>
            </a:r>
            <a:endParaRPr sz="1800">
              <a:latin typeface="Calibri"/>
              <a:cs typeface="Calibri"/>
            </a:endParaRPr>
          </a:p>
          <a:p>
            <a:pPr marL="439039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maximizes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5648325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maximizes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56483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(makes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5864" y="6385561"/>
            <a:ext cx="68274" cy="7924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59712-BBEE-EC77-474D-04F7196F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2FFF3-2737-45AE-A267-A9B751092FF7}" type="datetime1">
              <a:rPr lang="en-US" smtClean="0"/>
              <a:t>2/18/2025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67BA7BF-E281-D848-D669-4C070123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A33611C-ED80-0C23-FEA8-530B6568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62127"/>
            <a:ext cx="10972800" cy="114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120" dirty="0"/>
              <a:t> </a:t>
            </a:r>
            <a:r>
              <a:rPr sz="4400" dirty="0"/>
              <a:t>variational</a:t>
            </a:r>
            <a:r>
              <a:rPr sz="4400" spc="-114" dirty="0"/>
              <a:t> </a:t>
            </a:r>
            <a:r>
              <a:rPr sz="4400" spc="-10" dirty="0"/>
              <a:t>approximation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828800"/>
            <a:ext cx="888491" cy="252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2438400"/>
            <a:ext cx="2846832" cy="252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6403" y="2438400"/>
            <a:ext cx="4724400" cy="252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2845307"/>
            <a:ext cx="3052572" cy="2270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6022" y="2819400"/>
            <a:ext cx="6061329" cy="252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5584" y="3276600"/>
            <a:ext cx="545579" cy="230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9475" y="3752088"/>
            <a:ext cx="2426208" cy="26212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70276" y="3581400"/>
            <a:ext cx="2314955" cy="6050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49823" y="3581400"/>
            <a:ext cx="2903220" cy="6050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45664" y="4479035"/>
            <a:ext cx="8218932" cy="28041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1600" y="1850135"/>
            <a:ext cx="4430268" cy="2788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45664" y="5003291"/>
            <a:ext cx="5867399" cy="2788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39567" y="5468111"/>
            <a:ext cx="2551176" cy="25298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599438" y="1607058"/>
            <a:ext cx="4203700" cy="169545"/>
          </a:xfrm>
          <a:custGeom>
            <a:avLst/>
            <a:gdLst/>
            <a:ahLst/>
            <a:cxnLst/>
            <a:rect l="l" t="t" r="r" b="b"/>
            <a:pathLst>
              <a:path w="4203700" h="169544">
                <a:moveTo>
                  <a:pt x="0" y="169163"/>
                </a:moveTo>
                <a:lnTo>
                  <a:pt x="1113" y="136231"/>
                </a:lnTo>
                <a:lnTo>
                  <a:pt x="4143" y="109347"/>
                </a:lnTo>
                <a:lnTo>
                  <a:pt x="8626" y="91225"/>
                </a:lnTo>
                <a:lnTo>
                  <a:pt x="14096" y="84581"/>
                </a:lnTo>
                <a:lnTo>
                  <a:pt x="2087499" y="84581"/>
                </a:lnTo>
                <a:lnTo>
                  <a:pt x="2092969" y="77938"/>
                </a:lnTo>
                <a:lnTo>
                  <a:pt x="2097452" y="59816"/>
                </a:lnTo>
                <a:lnTo>
                  <a:pt x="2100482" y="32932"/>
                </a:lnTo>
                <a:lnTo>
                  <a:pt x="2101596" y="0"/>
                </a:lnTo>
                <a:lnTo>
                  <a:pt x="2102709" y="32932"/>
                </a:lnTo>
                <a:lnTo>
                  <a:pt x="2105739" y="59816"/>
                </a:lnTo>
                <a:lnTo>
                  <a:pt x="2110222" y="77938"/>
                </a:lnTo>
                <a:lnTo>
                  <a:pt x="2115692" y="84581"/>
                </a:lnTo>
                <a:lnTo>
                  <a:pt x="4189095" y="84581"/>
                </a:lnTo>
                <a:lnTo>
                  <a:pt x="4194565" y="91225"/>
                </a:lnTo>
                <a:lnTo>
                  <a:pt x="4199048" y="109346"/>
                </a:lnTo>
                <a:lnTo>
                  <a:pt x="4202078" y="136231"/>
                </a:lnTo>
                <a:lnTo>
                  <a:pt x="4203192" y="1691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76600" y="1202436"/>
            <a:ext cx="861060" cy="2529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33472" y="5880130"/>
            <a:ext cx="4529328" cy="25298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06578" y="6249383"/>
            <a:ext cx="2118360" cy="2529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8F3E91D-809B-C41E-3B78-659DA2AE1358}"/>
              </a:ext>
            </a:extLst>
          </p:cNvPr>
          <p:cNvSpPr txBox="1"/>
          <p:nvPr/>
        </p:nvSpPr>
        <p:spPr>
          <a:xfrm>
            <a:off x="7544562" y="1546598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Evidence Lower Bound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F6B94DFC-6598-8B3B-8649-3E1B220C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D2D6-787E-42C8-BB8E-B49096BBCA81}" type="datetime1">
              <a:rPr lang="en-US" smtClean="0"/>
              <a:t>2/18/2025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84052D5-1BC5-C3DD-B224-1FE80280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7202E37-4494-6C09-E4BE-79AFD689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47" y="1883664"/>
            <a:ext cx="888491" cy="2529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524" y="3806952"/>
            <a:ext cx="2426208" cy="2621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73323" y="3636264"/>
            <a:ext cx="2314955" cy="6050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52871" y="3636264"/>
            <a:ext cx="2903220" cy="6050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4647" y="1905000"/>
            <a:ext cx="4430268" cy="2788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670682" y="4539996"/>
            <a:ext cx="5868670" cy="492125"/>
            <a:chOff x="2670682" y="4539996"/>
            <a:chExt cx="5868670" cy="49212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70682" y="4539996"/>
              <a:ext cx="5868289" cy="2788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74669" y="4866894"/>
              <a:ext cx="4203700" cy="155575"/>
            </a:xfrm>
            <a:custGeom>
              <a:avLst/>
              <a:gdLst/>
              <a:ahLst/>
              <a:cxnLst/>
              <a:rect l="l" t="t" r="r" b="b"/>
              <a:pathLst>
                <a:path w="4203700" h="155575">
                  <a:moveTo>
                    <a:pt x="0" y="0"/>
                  </a:moveTo>
                  <a:lnTo>
                    <a:pt x="1023" y="30253"/>
                  </a:lnTo>
                  <a:lnTo>
                    <a:pt x="3810" y="54959"/>
                  </a:lnTo>
                  <a:lnTo>
                    <a:pt x="7929" y="71616"/>
                  </a:lnTo>
                  <a:lnTo>
                    <a:pt x="12954" y="77723"/>
                  </a:lnTo>
                  <a:lnTo>
                    <a:pt x="2088642" y="77723"/>
                  </a:lnTo>
                  <a:lnTo>
                    <a:pt x="2093666" y="83831"/>
                  </a:lnTo>
                  <a:lnTo>
                    <a:pt x="2097785" y="100488"/>
                  </a:lnTo>
                  <a:lnTo>
                    <a:pt x="2100572" y="125194"/>
                  </a:lnTo>
                  <a:lnTo>
                    <a:pt x="2101596" y="155447"/>
                  </a:lnTo>
                  <a:lnTo>
                    <a:pt x="2102619" y="125194"/>
                  </a:lnTo>
                  <a:lnTo>
                    <a:pt x="2105406" y="100488"/>
                  </a:lnTo>
                  <a:lnTo>
                    <a:pt x="2109525" y="83831"/>
                  </a:lnTo>
                  <a:lnTo>
                    <a:pt x="2114550" y="77723"/>
                  </a:lnTo>
                  <a:lnTo>
                    <a:pt x="4190237" y="77723"/>
                  </a:lnTo>
                  <a:lnTo>
                    <a:pt x="4195262" y="71616"/>
                  </a:lnTo>
                  <a:lnTo>
                    <a:pt x="4199382" y="54959"/>
                  </a:lnTo>
                  <a:lnTo>
                    <a:pt x="4202168" y="30253"/>
                  </a:lnTo>
                  <a:lnTo>
                    <a:pt x="4203191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54296" y="5181600"/>
            <a:ext cx="1042415" cy="25298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39061" y="1626870"/>
            <a:ext cx="4204970" cy="170815"/>
          </a:xfrm>
          <a:custGeom>
            <a:avLst/>
            <a:gdLst/>
            <a:ahLst/>
            <a:cxnLst/>
            <a:rect l="l" t="t" r="r" b="b"/>
            <a:pathLst>
              <a:path w="4204970" h="170814">
                <a:moveTo>
                  <a:pt x="0" y="170687"/>
                </a:moveTo>
                <a:lnTo>
                  <a:pt x="1115" y="137475"/>
                </a:lnTo>
                <a:lnTo>
                  <a:pt x="4159" y="110347"/>
                </a:lnTo>
                <a:lnTo>
                  <a:pt x="8679" y="92053"/>
                </a:lnTo>
                <a:lnTo>
                  <a:pt x="14224" y="85343"/>
                </a:lnTo>
                <a:lnTo>
                  <a:pt x="2088134" y="85343"/>
                </a:lnTo>
                <a:lnTo>
                  <a:pt x="2093678" y="78634"/>
                </a:lnTo>
                <a:lnTo>
                  <a:pt x="2098198" y="60340"/>
                </a:lnTo>
                <a:lnTo>
                  <a:pt x="2101242" y="33212"/>
                </a:lnTo>
                <a:lnTo>
                  <a:pt x="2102358" y="0"/>
                </a:lnTo>
                <a:lnTo>
                  <a:pt x="2103473" y="33212"/>
                </a:lnTo>
                <a:lnTo>
                  <a:pt x="2106517" y="60340"/>
                </a:lnTo>
                <a:lnTo>
                  <a:pt x="2111037" y="78634"/>
                </a:lnTo>
                <a:lnTo>
                  <a:pt x="2116582" y="85343"/>
                </a:lnTo>
                <a:lnTo>
                  <a:pt x="4190491" y="85343"/>
                </a:lnTo>
                <a:lnTo>
                  <a:pt x="4196036" y="92053"/>
                </a:lnTo>
                <a:lnTo>
                  <a:pt x="4200556" y="110347"/>
                </a:lnTo>
                <a:lnTo>
                  <a:pt x="4203600" y="137475"/>
                </a:lnTo>
                <a:lnTo>
                  <a:pt x="4204716" y="17068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17747" y="1223772"/>
            <a:ext cx="861060" cy="25298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8637269" y="4769739"/>
            <a:ext cx="614045" cy="304800"/>
          </a:xfrm>
          <a:custGeom>
            <a:avLst/>
            <a:gdLst/>
            <a:ahLst/>
            <a:cxnLst/>
            <a:rect l="l" t="t" r="r" b="b"/>
            <a:pathLst>
              <a:path w="614045" h="304800">
                <a:moveTo>
                  <a:pt x="72742" y="25710"/>
                </a:moveTo>
                <a:lnTo>
                  <a:pt x="64412" y="42880"/>
                </a:lnTo>
                <a:lnTo>
                  <a:pt x="605408" y="304673"/>
                </a:lnTo>
                <a:lnTo>
                  <a:pt x="613790" y="287528"/>
                </a:lnTo>
                <a:lnTo>
                  <a:pt x="72742" y="25710"/>
                </a:lnTo>
                <a:close/>
              </a:path>
              <a:path w="614045" h="304800">
                <a:moveTo>
                  <a:pt x="85216" y="0"/>
                </a:moveTo>
                <a:lnTo>
                  <a:pt x="0" y="1143"/>
                </a:lnTo>
                <a:lnTo>
                  <a:pt x="51943" y="68580"/>
                </a:lnTo>
                <a:lnTo>
                  <a:pt x="64412" y="42880"/>
                </a:lnTo>
                <a:lnTo>
                  <a:pt x="52958" y="37337"/>
                </a:lnTo>
                <a:lnTo>
                  <a:pt x="61340" y="20193"/>
                </a:lnTo>
                <a:lnTo>
                  <a:pt x="75419" y="20193"/>
                </a:lnTo>
                <a:lnTo>
                  <a:pt x="85216" y="0"/>
                </a:lnTo>
                <a:close/>
              </a:path>
              <a:path w="614045" h="304800">
                <a:moveTo>
                  <a:pt x="61340" y="20193"/>
                </a:moveTo>
                <a:lnTo>
                  <a:pt x="52958" y="37337"/>
                </a:lnTo>
                <a:lnTo>
                  <a:pt x="64412" y="42880"/>
                </a:lnTo>
                <a:lnTo>
                  <a:pt x="72742" y="25710"/>
                </a:lnTo>
                <a:lnTo>
                  <a:pt x="61340" y="20193"/>
                </a:lnTo>
                <a:close/>
              </a:path>
              <a:path w="614045" h="304800">
                <a:moveTo>
                  <a:pt x="75419" y="20193"/>
                </a:moveTo>
                <a:lnTo>
                  <a:pt x="61340" y="20193"/>
                </a:lnTo>
                <a:lnTo>
                  <a:pt x="72742" y="25710"/>
                </a:lnTo>
                <a:lnTo>
                  <a:pt x="75419" y="20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66176" y="5177028"/>
            <a:ext cx="1959864" cy="23012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2083" y="5657088"/>
            <a:ext cx="6467348" cy="2529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2524" y="2674620"/>
            <a:ext cx="4430268" cy="2468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2524" y="3115055"/>
            <a:ext cx="2118360" cy="25298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09600" y="233172"/>
            <a:ext cx="10972800" cy="114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120" dirty="0"/>
              <a:t> </a:t>
            </a:r>
            <a:r>
              <a:rPr sz="4400" dirty="0"/>
              <a:t>variational</a:t>
            </a:r>
            <a:r>
              <a:rPr sz="4400" spc="-114" dirty="0"/>
              <a:t> </a:t>
            </a:r>
            <a:r>
              <a:rPr sz="4400" spc="-10" dirty="0"/>
              <a:t>approximation</a:t>
            </a:r>
            <a:endParaRPr sz="4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48587-33DB-A2D6-3F7B-A63224A224B9}"/>
              </a:ext>
            </a:extLst>
          </p:cNvPr>
          <p:cNvSpPr txBox="1"/>
          <p:nvPr/>
        </p:nvSpPr>
        <p:spPr>
          <a:xfrm>
            <a:off x="7194714" y="1662422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Evidence Lower Bound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EEC976A-B388-A43D-9D0F-CE267DAD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8F5F-455D-43BC-8AEF-820DB6EBC54A}" type="datetime1">
              <a:rPr lang="en-US" smtClean="0"/>
              <a:t>2/18/2025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2AC0C24-9072-1264-982E-CD33B133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5B78E34-0790-FF8E-E8FD-2F890580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60D50-C961-54C8-26F6-7FA22D10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DC4FE1-5CCB-BA6B-C01D-B7AD38709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What’s</a:t>
            </a:r>
            <a:r>
              <a:rPr sz="4400" spc="-100" dirty="0"/>
              <a:t> </a:t>
            </a:r>
            <a:r>
              <a:rPr sz="4400" dirty="0"/>
              <a:t>the</a:t>
            </a:r>
            <a:r>
              <a:rPr sz="4400" spc="-105" dirty="0"/>
              <a:t> </a:t>
            </a:r>
            <a:r>
              <a:rPr sz="4400" spc="-10" dirty="0"/>
              <a:t>problem?</a:t>
            </a:r>
            <a:endParaRPr sz="440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1F2F0D5-18E9-472A-304A-74A8E05174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670304"/>
            <a:ext cx="3005328" cy="25298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17DD8893-F625-55A0-ACBA-B3E5EA1202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2288" y="2557272"/>
            <a:ext cx="1810512" cy="25450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1F7E92F-7AD2-2D69-CA00-FD241D79D51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" y="2132076"/>
            <a:ext cx="2313431" cy="25298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785A356A-70E7-E462-A9F0-06998C580BB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2288" y="2982467"/>
            <a:ext cx="3122676" cy="25298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624849E3-939F-7A7A-13BC-301DAFFD88A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5400" y="3445764"/>
            <a:ext cx="2299716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F8FF27A9-E6CE-4DCF-2042-09C3A2CA0EB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7780" y="3870959"/>
            <a:ext cx="3433572" cy="252983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713A7870-D336-C2BE-FC95-241C7A024F6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58000" y="2063495"/>
            <a:ext cx="2819400" cy="259079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5205DC76-5EEF-BEF8-E0B2-8D787ED4AC1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8000" y="2558795"/>
            <a:ext cx="4605528" cy="265175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B708EFB3-F120-0811-B906-62B84DD91C03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58000" y="3058667"/>
            <a:ext cx="2705100" cy="230124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7FC20452-412B-942D-8EEC-37ABB79D0CEA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75360" y="4447032"/>
            <a:ext cx="3659124" cy="230124"/>
          </a:xfrm>
          <a:prstGeom prst="rect">
            <a:avLst/>
          </a:prstGeom>
        </p:spPr>
      </p:pic>
      <p:pic>
        <p:nvPicPr>
          <p:cNvPr id="13" name="object 13">
            <a:extLst>
              <a:ext uri="{FF2B5EF4-FFF2-40B4-BE49-F238E27FC236}">
                <a16:creationId xmlns:a16="http://schemas.microsoft.com/office/drawing/2014/main" id="{0272C527-7BD3-92BC-750D-7A8DA78D93D3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63184" y="4436364"/>
            <a:ext cx="2389632" cy="252984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5C3B6799-D207-F19F-7974-D3D48ECCD271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75360" y="4928615"/>
            <a:ext cx="4724400" cy="252984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594D7BD5-AA31-EBF5-4856-CA087A9C7E8D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26479" y="4946903"/>
            <a:ext cx="5853683" cy="252984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27C49572-E38D-4E8D-924A-348992D97C00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46079" y="5664708"/>
            <a:ext cx="1385843" cy="827532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7D308E58-1841-4734-CF25-A2FC9C835297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51692" y="6012179"/>
            <a:ext cx="103499" cy="114299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12F95E38-9EA6-EBC9-6231-866C10EFA68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755392" y="5942076"/>
            <a:ext cx="768095" cy="252984"/>
          </a:xfrm>
          <a:prstGeom prst="rect">
            <a:avLst/>
          </a:prstGeom>
        </p:spPr>
      </p:pic>
      <p:pic>
        <p:nvPicPr>
          <p:cNvPr id="19" name="object 19">
            <a:extLst>
              <a:ext uri="{FF2B5EF4-FFF2-40B4-BE49-F238E27FC236}">
                <a16:creationId xmlns:a16="http://schemas.microsoft.com/office/drawing/2014/main" id="{7B31E5E6-1B40-A854-2085-FD5E010CD580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29156" y="5699759"/>
            <a:ext cx="1385843" cy="827531"/>
          </a:xfrm>
          <a:prstGeom prst="rect">
            <a:avLst/>
          </a:prstGeom>
        </p:spPr>
      </p:pic>
      <p:pic>
        <p:nvPicPr>
          <p:cNvPr id="20" name="object 20">
            <a:extLst>
              <a:ext uri="{FF2B5EF4-FFF2-40B4-BE49-F238E27FC236}">
                <a16:creationId xmlns:a16="http://schemas.microsoft.com/office/drawing/2014/main" id="{367B607C-42FD-8D1F-5D4C-717EC7351392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130040" y="6045708"/>
            <a:ext cx="126491" cy="114300"/>
          </a:xfrm>
          <a:prstGeom prst="rect">
            <a:avLst/>
          </a:prstGeom>
        </p:spPr>
      </p:pic>
      <p:pic>
        <p:nvPicPr>
          <p:cNvPr id="21" name="object 21">
            <a:extLst>
              <a:ext uri="{FF2B5EF4-FFF2-40B4-BE49-F238E27FC236}">
                <a16:creationId xmlns:a16="http://schemas.microsoft.com/office/drawing/2014/main" id="{AF2DBE74-FF3B-70AF-4C55-73E1B5F2DB31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38444" y="5977128"/>
            <a:ext cx="752855" cy="263652"/>
          </a:xfrm>
          <a:prstGeom prst="rect">
            <a:avLst/>
          </a:prstGeom>
        </p:spPr>
      </p:pic>
      <p:pic>
        <p:nvPicPr>
          <p:cNvPr id="22" name="object 22">
            <a:extLst>
              <a:ext uri="{FF2B5EF4-FFF2-40B4-BE49-F238E27FC236}">
                <a16:creationId xmlns:a16="http://schemas.microsoft.com/office/drawing/2014/main" id="{34D37B82-90DF-7899-B0D6-AF17928381DB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705600" y="5971032"/>
            <a:ext cx="2033016" cy="26974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2A12AA8-3ADD-9888-2F1F-CDB098A7E928}"/>
              </a:ext>
            </a:extLst>
          </p:cNvPr>
          <p:cNvSpPr/>
          <p:nvPr/>
        </p:nvSpPr>
        <p:spPr>
          <a:xfrm>
            <a:off x="5334000" y="4191000"/>
            <a:ext cx="3048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E133F758-4475-7227-0178-9DFD99AE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1AE6-80C8-4203-A71E-95509FDFB6E0}" type="datetime1">
              <a:rPr lang="en-US" smtClean="0"/>
              <a:t>2/18/2025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E3FB3B02-87CA-9C49-AAAD-EBF2A150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1668ACD-778A-0D01-7F4E-F3BD4D47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47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15B0D5-2940-27B9-35C3-F4E952DF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thanks to </a:t>
            </a:r>
            <a:r>
              <a:rPr lang="en-US" b="1" dirty="0"/>
              <a:t>Prof. Dr. Sergey Levine </a:t>
            </a:r>
            <a:r>
              <a:rPr lang="en-US" dirty="0"/>
              <a:t>for giving me permission to use his slides</a:t>
            </a:r>
          </a:p>
          <a:p>
            <a:pPr lvl="1"/>
            <a:r>
              <a:rPr lang="en-US" dirty="0"/>
              <a:t>https://cs182sp21.github.io/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3E8AE-6D26-5C68-587C-2DF1FE2B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EA82-50E8-4065-A9A4-127120570C6E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2106B-E9FA-FC28-8EAC-F5D47AA5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C80CE-04F5-B760-AB66-B67B1E9C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97DF2C-A1E2-4E78-69E8-0AAAD667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824976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27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EFE-0D60-4C98-93C8-231B150E20D2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26351</TotalTime>
  <Words>1033</Words>
  <Application>Microsoft Office PowerPoint</Application>
  <PresentationFormat>Widescreen</PresentationFormat>
  <Paragraphs>209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SimSun</vt:lpstr>
      <vt:lpstr>Arial</vt:lpstr>
      <vt:lpstr>Arial</vt:lpstr>
      <vt:lpstr>Arial MT</vt:lpstr>
      <vt:lpstr>Calibri</vt:lpstr>
      <vt:lpstr>Calibri Light</vt:lpstr>
      <vt:lpstr>Cambria Math</vt:lpstr>
      <vt:lpstr>Söhne</vt:lpstr>
      <vt:lpstr>Tahoma</vt:lpstr>
      <vt:lpstr>Times New Roman</vt:lpstr>
      <vt:lpstr>Trebuchet MS</vt:lpstr>
      <vt:lpstr>Wingdings</vt:lpstr>
      <vt:lpstr>Office Theme</vt:lpstr>
      <vt:lpstr>PowerPoint Presentation</vt:lpstr>
      <vt:lpstr>Goals</vt:lpstr>
      <vt:lpstr>Probabilistic models</vt:lpstr>
      <vt:lpstr>Generative models</vt:lpstr>
      <vt:lpstr>Can we “language model” images?</vt:lpstr>
      <vt:lpstr>Types of Variables</vt:lpstr>
      <vt:lpstr>Latent Variable Models </vt:lpstr>
      <vt:lpstr>Latent variable models</vt:lpstr>
      <vt:lpstr>Latent variable models in general</vt:lpstr>
      <vt:lpstr>Latent variable models in general</vt:lpstr>
      <vt:lpstr>An Example (Goersch 2016)</vt:lpstr>
      <vt:lpstr>Latent variable models in deep learning</vt:lpstr>
      <vt:lpstr>Representing latent variable models</vt:lpstr>
      <vt:lpstr>Representing latent variable models</vt:lpstr>
      <vt:lpstr>Training latent variable models</vt:lpstr>
      <vt:lpstr>How do we train latent variable models?</vt:lpstr>
      <vt:lpstr>Estimating the log-likelihood</vt:lpstr>
      <vt:lpstr>The variational approximation</vt:lpstr>
      <vt:lpstr>The variational approximation</vt:lpstr>
      <vt:lpstr>The variational approximation</vt:lpstr>
      <vt:lpstr>Entropy</vt:lpstr>
      <vt:lpstr>KL-Divergence</vt:lpstr>
      <vt:lpstr>The variational approximation</vt:lpstr>
      <vt:lpstr>The variational approximation</vt:lpstr>
      <vt:lpstr>What’s the problem?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1693</cp:revision>
  <dcterms:created xsi:type="dcterms:W3CDTF">2006-08-16T00:00:00Z</dcterms:created>
  <dcterms:modified xsi:type="dcterms:W3CDTF">2025-02-18T04:09:00Z</dcterms:modified>
</cp:coreProperties>
</file>