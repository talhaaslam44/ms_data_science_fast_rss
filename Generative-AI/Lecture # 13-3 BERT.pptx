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65"/>
  </p:notesMasterIdLst>
  <p:sldIdLst>
    <p:sldId id="352" r:id="rId2"/>
    <p:sldId id="421" r:id="rId3"/>
    <p:sldId id="1756" r:id="rId4"/>
    <p:sldId id="282" r:id="rId5"/>
    <p:sldId id="281" r:id="rId6"/>
    <p:sldId id="1842" r:id="rId7"/>
    <p:sldId id="1843" r:id="rId8"/>
    <p:sldId id="1850" r:id="rId9"/>
    <p:sldId id="1885" r:id="rId10"/>
    <p:sldId id="259" r:id="rId11"/>
    <p:sldId id="1887" r:id="rId12"/>
    <p:sldId id="1888" r:id="rId13"/>
    <p:sldId id="1889" r:id="rId14"/>
    <p:sldId id="261" r:id="rId15"/>
    <p:sldId id="262" r:id="rId16"/>
    <p:sldId id="264" r:id="rId17"/>
    <p:sldId id="272" r:id="rId18"/>
    <p:sldId id="409" r:id="rId19"/>
    <p:sldId id="1884" r:id="rId20"/>
    <p:sldId id="401" r:id="rId21"/>
    <p:sldId id="257" r:id="rId22"/>
    <p:sldId id="1886" r:id="rId23"/>
    <p:sldId id="1862" r:id="rId24"/>
    <p:sldId id="1863" r:id="rId25"/>
    <p:sldId id="1864" r:id="rId26"/>
    <p:sldId id="1867" r:id="rId27"/>
    <p:sldId id="263" r:id="rId28"/>
    <p:sldId id="1868" r:id="rId29"/>
    <p:sldId id="1869" r:id="rId30"/>
    <p:sldId id="1870" r:id="rId31"/>
    <p:sldId id="274" r:id="rId32"/>
    <p:sldId id="276" r:id="rId33"/>
    <p:sldId id="279" r:id="rId34"/>
    <p:sldId id="280" r:id="rId35"/>
    <p:sldId id="283" r:id="rId36"/>
    <p:sldId id="284" r:id="rId37"/>
    <p:sldId id="285" r:id="rId38"/>
    <p:sldId id="286" r:id="rId39"/>
    <p:sldId id="291" r:id="rId40"/>
    <p:sldId id="1805" r:id="rId41"/>
    <p:sldId id="1883" r:id="rId42"/>
    <p:sldId id="382" r:id="rId43"/>
    <p:sldId id="298" r:id="rId44"/>
    <p:sldId id="383" r:id="rId45"/>
    <p:sldId id="384" r:id="rId46"/>
    <p:sldId id="300" r:id="rId47"/>
    <p:sldId id="302" r:id="rId48"/>
    <p:sldId id="303" r:id="rId49"/>
    <p:sldId id="304" r:id="rId50"/>
    <p:sldId id="305" r:id="rId51"/>
    <p:sldId id="306" r:id="rId52"/>
    <p:sldId id="308" r:id="rId53"/>
    <p:sldId id="310" r:id="rId54"/>
    <p:sldId id="311" r:id="rId55"/>
    <p:sldId id="312" r:id="rId56"/>
    <p:sldId id="314" r:id="rId57"/>
    <p:sldId id="315" r:id="rId58"/>
    <p:sldId id="316" r:id="rId59"/>
    <p:sldId id="1873" r:id="rId60"/>
    <p:sldId id="386" r:id="rId61"/>
    <p:sldId id="1874" r:id="rId62"/>
    <p:sldId id="1856" r:id="rId63"/>
    <p:sldId id="1288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738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bb12cd8dfb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bb12cd8dfb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4987A38-83C3-4404-AC86-6DBCF62A6824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3D87-A762-4487-A297-F5CE9790538B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4FDC-891C-471C-ABC4-72237C68A31E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B281-5ADC-4707-BC6F-638DA0189650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A04A-D61A-408A-86A8-883EEAC29821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2735-77AA-4F1C-8371-31546FCCCE27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1AEA-4A11-4B66-BAB6-271A6BA0EEA2}" type="datetime1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B2F7-A800-4558-A780-771F740C049F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868A-9F41-44C7-880A-55A78E9B3623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0B007-45BD-4864-B949-7DA15198BE94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40F2-2577-4605-A24D-715B30566CBE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0" y="85367"/>
            <a:ext cx="12192000" cy="763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6261533"/>
            <a:ext cx="12192000" cy="596400"/>
          </a:xfrm>
          <a:prstGeom prst="rect">
            <a:avLst/>
          </a:prstGeom>
          <a:solidFill>
            <a:srgbClr val="333399">
              <a:alpha val="426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UC Berkeley -- Spring 2024 -- Deep Unsupervised Learning -- Pieter Abbeel, Kevin Frans, Philipp Wu, Wilson Yan  -- L6 Diffusion Models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210495" y="1052520"/>
            <a:ext cx="11118000" cy="47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6709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Calibri"/>
              <a:buChar char="■"/>
              <a:defRPr sz="32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marR="0" lvl="1" indent="-397923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Calibri"/>
              <a:buChar char="■"/>
              <a:defRPr sz="2667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88609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99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77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EDEDF7-177E-46AE-9E39-11B3D315810D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2" Type="http://schemas.openxmlformats.org/officeDocument/2006/relationships/image" Target="../media/image3.jp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12.png"/><Relationship Id="rId5" Type="http://schemas.openxmlformats.org/officeDocument/2006/relationships/image" Target="../media/image6.jp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kproj/bert-from-scratch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kproj/bert-from-scratch" TargetMode="External"/><Relationship Id="rId4" Type="http://schemas.openxmlformats.org/officeDocument/2006/relationships/image" Target="../media/image2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kproj/bert-from-scratch" TargetMode="Externa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6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kproj/bert-from-scratch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kproj/bert-from-scratch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kproj/bert-from-scratch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kproj/bert-from-scratch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kproj/bert-from-scratch" TargetMode="External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kproj/bert-from-scratch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kproj/bert-from-scratch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kproj/bert-from-scratch" TargetMode="External"/><Relationship Id="rId4" Type="http://schemas.openxmlformats.org/officeDocument/2006/relationships/image" Target="../media/image62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kproj/bert-from-scratch" TargetMode="External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kproj/bert-from-scratch" TargetMode="External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kproj/bert-from-scratch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kproj/bert-from-scratch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kproj/bert-from-scratch" TargetMode="External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kproj/bert-from-scratch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501901" y="2430404"/>
            <a:ext cx="7658099" cy="141234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Language Modeling, BERT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00600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Artificial Intelligence and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700" y="4020186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AI-4009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6D3671-E154-B3DA-D836-8B1E297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4AB60-C315-404B-A563-6BEC56C238C6}" type="datetime1">
              <a:rPr lang="en-US" smtClean="0"/>
              <a:t>5/12/2025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B347CB-686B-83C4-DBEA-48C54528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7E803A-A619-3ACB-0639-B2041098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sz="2400" spc="-3" dirty="0">
                <a:solidFill>
                  <a:srgbClr val="00B0F0"/>
                </a:solidFill>
              </a:rPr>
              <a:t>Language Modeling</a:t>
            </a:r>
          </a:p>
          <a:p>
            <a:pPr lvl="1"/>
            <a:r>
              <a:rPr lang="en-US" spc="-3" dirty="0">
                <a:solidFill>
                  <a:srgbClr val="00B0F0"/>
                </a:solidFill>
              </a:rPr>
              <a:t>Large Language Modeling (LLM)</a:t>
            </a:r>
            <a:endParaRPr lang="en-US" sz="2400" spc="-3" dirty="0">
              <a:solidFill>
                <a:srgbClr val="00B0F0"/>
              </a:solidFill>
            </a:endParaRPr>
          </a:p>
          <a:p>
            <a:pPr lvl="1"/>
            <a:r>
              <a:rPr lang="en-US" sz="2400" spc="-3" dirty="0">
                <a:solidFill>
                  <a:srgbClr val="00B0F0"/>
                </a:solidFill>
              </a:rPr>
              <a:t>Bidirectional Encoder Representations from Transformers (BERT)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sz="2400" spc="-3" dirty="0"/>
              <a:t>Generative Pre-trained Transformer (GPT)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882101-8825-B1AF-25AC-A42CBA88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D8FE-536F-4FB6-BB0D-19493E573015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5F800-3D41-BE6D-B17B-D178FBDC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8DCF9-FCA7-7BE3-78B3-2BD48C04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Recap of Previous Lecture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C1112-2EB9-5073-D93B-6A90261E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FA70-718B-46FB-AC78-FD2FC7E34EFC}" type="datetime1">
              <a:rPr lang="en-US" smtClean="0"/>
              <a:t>5/12/2025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E5F0BB-EE45-9217-8B6E-BB2A1989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3B8287-C7CF-A7FE-B07C-AA7E39B0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F49B8595-846B-4936-D743-F694FB704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6CAFFB47-777E-8349-958C-C522BEC4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22FD-B8AE-468A-95D4-A69AEBDA698A}" type="datetime1">
              <a:rPr lang="en-US" smtClean="0"/>
              <a:t>5/12/2025</a:t>
            </a:fld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B7B63E8B-D761-2651-971B-8B7D99AC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0CA0055-227F-2E20-5441-098D8B2F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701" rIns="0" bIns="0" rtlCol="0" anchor="ctr">
            <a:spAutoFit/>
          </a:bodyPr>
          <a:lstStyle/>
          <a:p>
            <a:pPr marL="1693">
              <a:spcBef>
                <a:spcPts val="67"/>
              </a:spcBef>
            </a:pPr>
            <a:r>
              <a:rPr spc="-13" dirty="0"/>
              <a:t>Diffusion</a:t>
            </a:r>
            <a:r>
              <a:rPr lang="en-US" spc="-13" dirty="0"/>
              <a:t> </a:t>
            </a:r>
            <a:r>
              <a:rPr spc="-13" dirty="0"/>
              <a:t>Parameters</a:t>
            </a:r>
          </a:p>
          <a:p>
            <a:pPr marL="1693">
              <a:spcBef>
                <a:spcPts val="60"/>
              </a:spcBef>
            </a:pPr>
            <a:r>
              <a:rPr sz="2000" spc="-3" dirty="0">
                <a:solidFill>
                  <a:srgbClr val="890C58"/>
                </a:solidFill>
              </a:rPr>
              <a:t>Noise</a:t>
            </a:r>
            <a:r>
              <a:rPr sz="2000" spc="-27" dirty="0">
                <a:solidFill>
                  <a:srgbClr val="890C58"/>
                </a:solidFill>
              </a:rPr>
              <a:t> </a:t>
            </a:r>
            <a:r>
              <a:rPr sz="2000" spc="-3" dirty="0">
                <a:solidFill>
                  <a:srgbClr val="890C58"/>
                </a:solidFill>
              </a:rPr>
              <a:t>Schedule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626660" y="4348480"/>
            <a:ext cx="10814473" cy="212688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  <a:tabLst>
                <a:tab pos="913599" algn="l"/>
                <a:tab pos="1590543" algn="l"/>
              </a:tabLst>
            </a:pPr>
            <a:r>
              <a:rPr sz="1533" spc="7" dirty="0">
                <a:latin typeface="Trebuchet MS"/>
                <a:cs typeface="Trebuchet MS"/>
              </a:rPr>
              <a:t>Above,	and	control</a:t>
            </a:r>
            <a:r>
              <a:rPr sz="1533" spc="1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variance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of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forward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diffusion</a:t>
            </a:r>
            <a:r>
              <a:rPr sz="1533" spc="2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and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reverse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denoising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processes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respectively.</a:t>
            </a:r>
            <a:endParaRPr sz="1533" dirty="0">
              <a:latin typeface="Trebuchet MS"/>
              <a:cs typeface="Trebuchet MS"/>
            </a:endParaRPr>
          </a:p>
          <a:p>
            <a:pPr>
              <a:spcBef>
                <a:spcPts val="3"/>
              </a:spcBef>
            </a:pPr>
            <a:endParaRPr sz="1567" dirty="0">
              <a:latin typeface="Trebuchet MS"/>
              <a:cs typeface="Trebuchet MS"/>
            </a:endParaRPr>
          </a:p>
          <a:p>
            <a:pPr marL="8467">
              <a:tabLst>
                <a:tab pos="3290735" algn="l"/>
                <a:tab pos="4099342" algn="l"/>
                <a:tab pos="5588279" algn="l"/>
              </a:tabLst>
            </a:pPr>
            <a:r>
              <a:rPr sz="1533" spc="7" dirty="0">
                <a:latin typeface="Trebuchet MS"/>
                <a:cs typeface="Trebuchet MS"/>
              </a:rPr>
              <a:t>Often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dirty="0">
                <a:latin typeface="Trebuchet MS"/>
                <a:cs typeface="Trebuchet MS"/>
              </a:rPr>
              <a:t>a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linear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schedule</a:t>
            </a:r>
            <a:r>
              <a:rPr sz="1533" spc="23" dirty="0">
                <a:latin typeface="Trebuchet MS"/>
                <a:cs typeface="Trebuchet MS"/>
              </a:rPr>
              <a:t> </a:t>
            </a:r>
            <a:r>
              <a:rPr sz="1533" dirty="0">
                <a:latin typeface="Trebuchet MS"/>
                <a:cs typeface="Trebuchet MS"/>
              </a:rPr>
              <a:t>is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used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for	</a:t>
            </a:r>
            <a:r>
              <a:rPr sz="1533" dirty="0">
                <a:latin typeface="Trebuchet MS"/>
                <a:cs typeface="Trebuchet MS"/>
              </a:rPr>
              <a:t>,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and	</a:t>
            </a:r>
            <a:r>
              <a:rPr sz="1533" dirty="0">
                <a:latin typeface="Trebuchet MS"/>
                <a:cs typeface="Trebuchet MS"/>
              </a:rPr>
              <a:t>is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set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equal </a:t>
            </a:r>
            <a:r>
              <a:rPr sz="1533" spc="3" dirty="0">
                <a:latin typeface="Trebuchet MS"/>
                <a:cs typeface="Trebuchet MS"/>
              </a:rPr>
              <a:t>to	</a:t>
            </a:r>
            <a:r>
              <a:rPr sz="1533" dirty="0">
                <a:latin typeface="Trebuchet MS"/>
                <a:cs typeface="Trebuchet MS"/>
              </a:rPr>
              <a:t>.</a:t>
            </a:r>
          </a:p>
          <a:p>
            <a:pPr>
              <a:spcBef>
                <a:spcPts val="10"/>
              </a:spcBef>
            </a:pPr>
            <a:endParaRPr sz="1733" dirty="0">
              <a:latin typeface="Trebuchet MS"/>
              <a:cs typeface="Trebuchet MS"/>
            </a:endParaRPr>
          </a:p>
          <a:p>
            <a:pPr marL="8467" marR="223955">
              <a:lnSpc>
                <a:spcPts val="1667"/>
              </a:lnSpc>
              <a:spcBef>
                <a:spcPts val="3"/>
              </a:spcBef>
            </a:pP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Kingma</a:t>
            </a:r>
            <a:r>
              <a:rPr sz="1533" u="sng" spc="1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et</a:t>
            </a:r>
            <a:r>
              <a:rPr sz="1533" u="sng" spc="1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al.</a:t>
            </a:r>
            <a:r>
              <a:rPr sz="1533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NeurIPS</a:t>
            </a:r>
            <a:r>
              <a:rPr sz="1533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2022</a:t>
            </a:r>
            <a:r>
              <a:rPr sz="1533" u="sng" spc="1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introduce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dirty="0">
                <a:latin typeface="Trebuchet MS"/>
                <a:cs typeface="Trebuchet MS"/>
              </a:rPr>
              <a:t>a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solidFill>
                  <a:srgbClr val="FF0000"/>
                </a:solidFill>
                <a:latin typeface="Trebuchet MS"/>
                <a:cs typeface="Trebuchet MS"/>
              </a:rPr>
              <a:t>new</a:t>
            </a:r>
            <a:r>
              <a:rPr sz="1533" spc="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7" dirty="0">
                <a:solidFill>
                  <a:srgbClr val="FF0000"/>
                </a:solidFill>
                <a:latin typeface="Trebuchet MS"/>
                <a:cs typeface="Trebuchet MS"/>
              </a:rPr>
              <a:t>parameterization</a:t>
            </a:r>
            <a:r>
              <a:rPr sz="1533" spc="17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3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1533" spc="17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7" dirty="0">
                <a:solidFill>
                  <a:srgbClr val="FF0000"/>
                </a:solidFill>
                <a:latin typeface="Trebuchet MS"/>
                <a:cs typeface="Trebuchet MS"/>
              </a:rPr>
              <a:t>diffusion</a:t>
            </a:r>
            <a:r>
              <a:rPr sz="1533" spc="17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7" dirty="0">
                <a:solidFill>
                  <a:srgbClr val="FF0000"/>
                </a:solidFill>
                <a:latin typeface="Trebuchet MS"/>
                <a:cs typeface="Trebuchet MS"/>
              </a:rPr>
              <a:t>models</a:t>
            </a:r>
            <a:r>
              <a:rPr sz="1533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7" dirty="0">
                <a:solidFill>
                  <a:srgbClr val="FF0000"/>
                </a:solidFill>
                <a:latin typeface="Trebuchet MS"/>
                <a:cs typeface="Trebuchet MS"/>
              </a:rPr>
              <a:t>using</a:t>
            </a:r>
            <a:r>
              <a:rPr sz="1533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7" dirty="0">
                <a:solidFill>
                  <a:srgbClr val="FF0000"/>
                </a:solidFill>
                <a:latin typeface="Trebuchet MS"/>
                <a:cs typeface="Trebuchet MS"/>
              </a:rPr>
              <a:t>signal-to-noise</a:t>
            </a:r>
            <a:r>
              <a:rPr sz="1533" spc="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3" dirty="0">
                <a:solidFill>
                  <a:srgbClr val="FF0000"/>
                </a:solidFill>
                <a:latin typeface="Trebuchet MS"/>
                <a:cs typeface="Trebuchet MS"/>
              </a:rPr>
              <a:t>ratio</a:t>
            </a:r>
            <a:r>
              <a:rPr sz="1533" spc="17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7" dirty="0">
                <a:solidFill>
                  <a:srgbClr val="FF0000"/>
                </a:solidFill>
                <a:latin typeface="Trebuchet MS"/>
                <a:cs typeface="Trebuchet MS"/>
              </a:rPr>
              <a:t>(SNR),</a:t>
            </a:r>
            <a:r>
              <a:rPr sz="1533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10" dirty="0">
                <a:latin typeface="Trebuchet MS"/>
                <a:cs typeface="Trebuchet MS"/>
              </a:rPr>
              <a:t>and </a:t>
            </a:r>
            <a:r>
              <a:rPr sz="1533" spc="-45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show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how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to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learn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3" dirty="0">
                <a:solidFill>
                  <a:srgbClr val="FF0000"/>
                </a:solidFill>
                <a:latin typeface="Trebuchet MS"/>
                <a:cs typeface="Trebuchet MS"/>
              </a:rPr>
              <a:t>noise</a:t>
            </a:r>
            <a:r>
              <a:rPr sz="1533" spc="17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7" dirty="0">
                <a:solidFill>
                  <a:srgbClr val="FF0000"/>
                </a:solidFill>
                <a:latin typeface="Trebuchet MS"/>
                <a:cs typeface="Trebuchet MS"/>
              </a:rPr>
              <a:t>schedule</a:t>
            </a:r>
            <a:r>
              <a:rPr sz="1533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by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minimizing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variance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of</a:t>
            </a:r>
            <a:r>
              <a:rPr sz="1533" spc="1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training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objective.</a:t>
            </a:r>
            <a:endParaRPr sz="1533" dirty="0">
              <a:latin typeface="Trebuchet MS"/>
              <a:cs typeface="Trebuchet MS"/>
            </a:endParaRPr>
          </a:p>
          <a:p>
            <a:pPr>
              <a:spcBef>
                <a:spcPts val="33"/>
              </a:spcBef>
            </a:pPr>
            <a:endParaRPr sz="1733" dirty="0">
              <a:latin typeface="Trebuchet MS"/>
              <a:cs typeface="Trebuchet MS"/>
            </a:endParaRPr>
          </a:p>
          <a:p>
            <a:pPr marL="8467" marR="3387">
              <a:lnSpc>
                <a:spcPts val="1680"/>
              </a:lnSpc>
              <a:tabLst>
                <a:tab pos="1897898" algn="l"/>
              </a:tabLst>
            </a:pPr>
            <a:r>
              <a:rPr sz="1533" spc="7" dirty="0">
                <a:latin typeface="Trebuchet MS"/>
                <a:cs typeface="Trebuchet MS"/>
              </a:rPr>
              <a:t>We</a:t>
            </a:r>
            <a:r>
              <a:rPr sz="1533" spc="2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can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also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train	</a:t>
            </a:r>
            <a:r>
              <a:rPr sz="1533" spc="7" dirty="0">
                <a:latin typeface="Trebuchet MS"/>
                <a:cs typeface="Trebuchet MS"/>
              </a:rPr>
              <a:t>while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training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diffusion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model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by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minimizing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variational</a:t>
            </a:r>
            <a:r>
              <a:rPr sz="1533" spc="1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bound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10" dirty="0">
                <a:latin typeface="Trebuchet MS"/>
                <a:cs typeface="Trebuchet MS"/>
              </a:rPr>
              <a:t>(</a:t>
            </a:r>
            <a:r>
              <a:rPr sz="1533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Improved</a:t>
            </a:r>
            <a:r>
              <a:rPr sz="1533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DPM</a:t>
            </a:r>
            <a:r>
              <a:rPr sz="1533" u="sng" spc="1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by</a:t>
            </a:r>
            <a:r>
              <a:rPr sz="1533" u="sng" spc="1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Nichol</a:t>
            </a:r>
            <a:r>
              <a:rPr sz="1533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and </a:t>
            </a:r>
            <a:r>
              <a:rPr sz="1533" spc="-450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Dhariwal</a:t>
            </a:r>
            <a:r>
              <a:rPr sz="1533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ICML</a:t>
            </a:r>
            <a:r>
              <a:rPr sz="1533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2021</a:t>
            </a:r>
            <a:r>
              <a:rPr sz="1533" spc="7" dirty="0">
                <a:latin typeface="Trebuchet MS"/>
                <a:cs typeface="Trebuchet MS"/>
              </a:rPr>
              <a:t>)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or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after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training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diffusion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model</a:t>
            </a:r>
            <a:r>
              <a:rPr sz="1533" spc="1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(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Analytic-DPM</a:t>
            </a:r>
            <a:r>
              <a:rPr sz="1533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by</a:t>
            </a:r>
            <a:r>
              <a:rPr sz="1533" u="sng" spc="1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Bao</a:t>
            </a:r>
            <a:r>
              <a:rPr sz="1533" u="sng" spc="1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et</a:t>
            </a:r>
            <a:r>
              <a:rPr sz="1533" u="sng" spc="1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al.</a:t>
            </a:r>
            <a:r>
              <a:rPr sz="1533" u="sng" spc="1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ICLR</a:t>
            </a:r>
            <a:r>
              <a:rPr sz="1533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2022</a:t>
            </a:r>
            <a:r>
              <a:rPr sz="1533" spc="7" dirty="0">
                <a:latin typeface="Trebuchet MS"/>
                <a:cs typeface="Trebuchet MS"/>
              </a:rPr>
              <a:t>).</a:t>
            </a:r>
            <a:endParaRPr sz="1533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99204" y="2181393"/>
            <a:ext cx="4143163" cy="95250"/>
          </a:xfrm>
          <a:custGeom>
            <a:avLst/>
            <a:gdLst/>
            <a:ahLst/>
            <a:cxnLst/>
            <a:rect l="l" t="t" r="r" b="b"/>
            <a:pathLst>
              <a:path w="6214745" h="142875">
                <a:moveTo>
                  <a:pt x="6187046" y="55435"/>
                </a:moveTo>
                <a:lnTo>
                  <a:pt x="6182725" y="55435"/>
                </a:lnTo>
                <a:lnTo>
                  <a:pt x="6182725" y="87185"/>
                </a:lnTo>
                <a:lnTo>
                  <a:pt x="6124035" y="87185"/>
                </a:lnTo>
                <a:lnTo>
                  <a:pt x="6079506" y="113160"/>
                </a:lnTo>
                <a:lnTo>
                  <a:pt x="6074797" y="117352"/>
                </a:lnTo>
                <a:lnTo>
                  <a:pt x="6072153" y="122833"/>
                </a:lnTo>
                <a:lnTo>
                  <a:pt x="6071757" y="128906"/>
                </a:lnTo>
                <a:lnTo>
                  <a:pt x="6073792" y="134872"/>
                </a:lnTo>
                <a:lnTo>
                  <a:pt x="6077984" y="139581"/>
                </a:lnTo>
                <a:lnTo>
                  <a:pt x="6083465" y="142225"/>
                </a:lnTo>
                <a:lnTo>
                  <a:pt x="6089538" y="142621"/>
                </a:lnTo>
                <a:lnTo>
                  <a:pt x="6095504" y="140586"/>
                </a:lnTo>
                <a:lnTo>
                  <a:pt x="6187047" y="87185"/>
                </a:lnTo>
                <a:lnTo>
                  <a:pt x="6182725" y="87185"/>
                </a:lnTo>
                <a:lnTo>
                  <a:pt x="6187049" y="87184"/>
                </a:lnTo>
                <a:lnTo>
                  <a:pt x="6214261" y="71310"/>
                </a:lnTo>
                <a:lnTo>
                  <a:pt x="6187046" y="55435"/>
                </a:lnTo>
                <a:close/>
              </a:path>
              <a:path w="6214745" h="142875">
                <a:moveTo>
                  <a:pt x="6151248" y="71310"/>
                </a:moveTo>
                <a:lnTo>
                  <a:pt x="6124035" y="87185"/>
                </a:lnTo>
                <a:lnTo>
                  <a:pt x="6182725" y="87185"/>
                </a:lnTo>
                <a:lnTo>
                  <a:pt x="6182725" y="85023"/>
                </a:lnTo>
                <a:lnTo>
                  <a:pt x="6174756" y="85023"/>
                </a:lnTo>
                <a:lnTo>
                  <a:pt x="6151248" y="71310"/>
                </a:lnTo>
                <a:close/>
              </a:path>
              <a:path w="6214745" h="142875">
                <a:moveTo>
                  <a:pt x="6124033" y="55435"/>
                </a:moveTo>
                <a:lnTo>
                  <a:pt x="0" y="55435"/>
                </a:lnTo>
                <a:lnTo>
                  <a:pt x="0" y="87184"/>
                </a:lnTo>
                <a:lnTo>
                  <a:pt x="6124037" y="87184"/>
                </a:lnTo>
                <a:lnTo>
                  <a:pt x="6151248" y="71310"/>
                </a:lnTo>
                <a:lnTo>
                  <a:pt x="6124033" y="55435"/>
                </a:lnTo>
                <a:close/>
              </a:path>
              <a:path w="6214745" h="142875">
                <a:moveTo>
                  <a:pt x="6174756" y="57598"/>
                </a:moveTo>
                <a:lnTo>
                  <a:pt x="6151248" y="71310"/>
                </a:lnTo>
                <a:lnTo>
                  <a:pt x="6174756" y="85023"/>
                </a:lnTo>
                <a:lnTo>
                  <a:pt x="6174756" y="57598"/>
                </a:lnTo>
                <a:close/>
              </a:path>
              <a:path w="6214745" h="142875">
                <a:moveTo>
                  <a:pt x="6182725" y="57598"/>
                </a:moveTo>
                <a:lnTo>
                  <a:pt x="6174756" y="57598"/>
                </a:lnTo>
                <a:lnTo>
                  <a:pt x="6174756" y="85023"/>
                </a:lnTo>
                <a:lnTo>
                  <a:pt x="6182725" y="85023"/>
                </a:lnTo>
                <a:lnTo>
                  <a:pt x="6182725" y="57598"/>
                </a:lnTo>
                <a:close/>
              </a:path>
              <a:path w="6214745" h="142875">
                <a:moveTo>
                  <a:pt x="6089538" y="0"/>
                </a:moveTo>
                <a:lnTo>
                  <a:pt x="6083465" y="396"/>
                </a:lnTo>
                <a:lnTo>
                  <a:pt x="6077984" y="3040"/>
                </a:lnTo>
                <a:lnTo>
                  <a:pt x="6073792" y="7749"/>
                </a:lnTo>
                <a:lnTo>
                  <a:pt x="6071757" y="13715"/>
                </a:lnTo>
                <a:lnTo>
                  <a:pt x="6072153" y="19788"/>
                </a:lnTo>
                <a:lnTo>
                  <a:pt x="6074797" y="25269"/>
                </a:lnTo>
                <a:lnTo>
                  <a:pt x="6079506" y="29461"/>
                </a:lnTo>
                <a:lnTo>
                  <a:pt x="6151249" y="71310"/>
                </a:lnTo>
                <a:lnTo>
                  <a:pt x="6174756" y="57598"/>
                </a:lnTo>
                <a:lnTo>
                  <a:pt x="6182725" y="57598"/>
                </a:lnTo>
                <a:lnTo>
                  <a:pt x="6182725" y="55435"/>
                </a:lnTo>
                <a:lnTo>
                  <a:pt x="6187046" y="55435"/>
                </a:lnTo>
                <a:lnTo>
                  <a:pt x="6095504" y="2035"/>
                </a:lnTo>
                <a:lnTo>
                  <a:pt x="6089538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5" name="object 5"/>
          <p:cNvSpPr/>
          <p:nvPr/>
        </p:nvSpPr>
        <p:spPr>
          <a:xfrm>
            <a:off x="3999155" y="3517173"/>
            <a:ext cx="4143163" cy="95250"/>
          </a:xfrm>
          <a:custGeom>
            <a:avLst/>
            <a:gdLst/>
            <a:ahLst/>
            <a:cxnLst/>
            <a:rect l="l" t="t" r="r" b="b"/>
            <a:pathLst>
              <a:path w="6214745" h="142875">
                <a:moveTo>
                  <a:pt x="124723" y="0"/>
                </a:moveTo>
                <a:lnTo>
                  <a:pt x="118757" y="2036"/>
                </a:lnTo>
                <a:lnTo>
                  <a:pt x="0" y="71311"/>
                </a:lnTo>
                <a:lnTo>
                  <a:pt x="118757" y="140585"/>
                </a:lnTo>
                <a:lnTo>
                  <a:pt x="124723" y="142621"/>
                </a:lnTo>
                <a:lnTo>
                  <a:pt x="130796" y="142225"/>
                </a:lnTo>
                <a:lnTo>
                  <a:pt x="136277" y="139580"/>
                </a:lnTo>
                <a:lnTo>
                  <a:pt x="140468" y="134871"/>
                </a:lnTo>
                <a:lnTo>
                  <a:pt x="142504" y="128905"/>
                </a:lnTo>
                <a:lnTo>
                  <a:pt x="142108" y="122833"/>
                </a:lnTo>
                <a:lnTo>
                  <a:pt x="139464" y="117352"/>
                </a:lnTo>
                <a:lnTo>
                  <a:pt x="134755" y="113161"/>
                </a:lnTo>
                <a:lnTo>
                  <a:pt x="90226" y="87186"/>
                </a:lnTo>
                <a:lnTo>
                  <a:pt x="31535" y="87186"/>
                </a:lnTo>
                <a:lnTo>
                  <a:pt x="31535" y="55436"/>
                </a:lnTo>
                <a:lnTo>
                  <a:pt x="90226" y="55436"/>
                </a:lnTo>
                <a:lnTo>
                  <a:pt x="134755" y="29460"/>
                </a:lnTo>
                <a:lnTo>
                  <a:pt x="139464" y="25269"/>
                </a:lnTo>
                <a:lnTo>
                  <a:pt x="142108" y="19788"/>
                </a:lnTo>
                <a:lnTo>
                  <a:pt x="142504" y="13716"/>
                </a:lnTo>
                <a:lnTo>
                  <a:pt x="140468" y="7750"/>
                </a:lnTo>
                <a:lnTo>
                  <a:pt x="136277" y="3040"/>
                </a:lnTo>
                <a:lnTo>
                  <a:pt x="130796" y="395"/>
                </a:lnTo>
                <a:lnTo>
                  <a:pt x="124723" y="0"/>
                </a:lnTo>
                <a:close/>
              </a:path>
              <a:path w="6214745" h="142875">
                <a:moveTo>
                  <a:pt x="90226" y="55436"/>
                </a:moveTo>
                <a:lnTo>
                  <a:pt x="63012" y="71311"/>
                </a:lnTo>
                <a:lnTo>
                  <a:pt x="90226" y="87186"/>
                </a:lnTo>
                <a:lnTo>
                  <a:pt x="6214261" y="87187"/>
                </a:lnTo>
                <a:lnTo>
                  <a:pt x="6214261" y="55437"/>
                </a:lnTo>
                <a:lnTo>
                  <a:pt x="90226" y="55436"/>
                </a:lnTo>
                <a:close/>
              </a:path>
              <a:path w="6214745" h="142875">
                <a:moveTo>
                  <a:pt x="31535" y="55436"/>
                </a:moveTo>
                <a:lnTo>
                  <a:pt x="31535" y="87186"/>
                </a:lnTo>
                <a:lnTo>
                  <a:pt x="90226" y="87186"/>
                </a:lnTo>
                <a:lnTo>
                  <a:pt x="86519" y="85023"/>
                </a:lnTo>
                <a:lnTo>
                  <a:pt x="39505" y="85023"/>
                </a:lnTo>
                <a:lnTo>
                  <a:pt x="39505" y="57598"/>
                </a:lnTo>
                <a:lnTo>
                  <a:pt x="86519" y="57598"/>
                </a:lnTo>
                <a:lnTo>
                  <a:pt x="90226" y="55436"/>
                </a:lnTo>
                <a:lnTo>
                  <a:pt x="31535" y="55436"/>
                </a:lnTo>
                <a:close/>
              </a:path>
              <a:path w="6214745" h="142875">
                <a:moveTo>
                  <a:pt x="39505" y="57598"/>
                </a:moveTo>
                <a:lnTo>
                  <a:pt x="39505" y="85023"/>
                </a:lnTo>
                <a:lnTo>
                  <a:pt x="63012" y="71311"/>
                </a:lnTo>
                <a:lnTo>
                  <a:pt x="39505" y="57598"/>
                </a:lnTo>
                <a:close/>
              </a:path>
              <a:path w="6214745" h="142875">
                <a:moveTo>
                  <a:pt x="63012" y="71311"/>
                </a:moveTo>
                <a:lnTo>
                  <a:pt x="39505" y="85023"/>
                </a:lnTo>
                <a:lnTo>
                  <a:pt x="86519" y="85023"/>
                </a:lnTo>
                <a:lnTo>
                  <a:pt x="63012" y="71311"/>
                </a:lnTo>
                <a:close/>
              </a:path>
              <a:path w="6214745" h="142875">
                <a:moveTo>
                  <a:pt x="86519" y="57598"/>
                </a:moveTo>
                <a:lnTo>
                  <a:pt x="39505" y="57598"/>
                </a:lnTo>
                <a:lnTo>
                  <a:pt x="63012" y="71311"/>
                </a:lnTo>
                <a:lnTo>
                  <a:pt x="86519" y="57598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6" name="object 6"/>
          <p:cNvSpPr txBox="1"/>
          <p:nvPr/>
        </p:nvSpPr>
        <p:spPr>
          <a:xfrm>
            <a:off x="1290554" y="2759118"/>
            <a:ext cx="436033" cy="254771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600" dirty="0">
                <a:latin typeface="Trebuchet MS"/>
                <a:cs typeface="Trebuchet MS"/>
              </a:rPr>
              <a:t>Da</a:t>
            </a:r>
            <a:r>
              <a:rPr sz="1600" spc="-3" dirty="0">
                <a:latin typeface="Trebuchet MS"/>
                <a:cs typeface="Trebuchet MS"/>
              </a:rPr>
              <a:t>t</a:t>
            </a:r>
            <a:r>
              <a:rPr sz="1600" dirty="0">
                <a:latin typeface="Trebuchet MS"/>
                <a:cs typeface="Trebuchet MS"/>
              </a:rPr>
              <a:t>a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36868" y="2759118"/>
            <a:ext cx="508000" cy="254771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600" spc="3" dirty="0">
                <a:latin typeface="Trebuchet MS"/>
                <a:cs typeface="Trebuchet MS"/>
              </a:rPr>
              <a:t>N</a:t>
            </a:r>
            <a:r>
              <a:rPr sz="1600" spc="-3" dirty="0">
                <a:latin typeface="Trebuchet MS"/>
                <a:cs typeface="Trebuchet MS"/>
              </a:rPr>
              <a:t>o</a:t>
            </a:r>
            <a:r>
              <a:rPr sz="1600" dirty="0">
                <a:latin typeface="Trebuchet MS"/>
                <a:cs typeface="Trebuchet MS"/>
              </a:rPr>
              <a:t>ise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9551" y="2331662"/>
            <a:ext cx="1114704" cy="11147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1628" y="2331662"/>
            <a:ext cx="1114709" cy="11147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06282" y="2331662"/>
            <a:ext cx="1114709" cy="11147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0935" y="2331662"/>
            <a:ext cx="1114709" cy="11147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5589" y="2331662"/>
            <a:ext cx="1114709" cy="111470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70242" y="2331662"/>
            <a:ext cx="1114708" cy="111470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24896" y="2331662"/>
            <a:ext cx="1114709" cy="11147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97867" y="1770902"/>
            <a:ext cx="3945467" cy="31326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61103" y="3669793"/>
            <a:ext cx="3618992" cy="29057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76096" y="4385055"/>
            <a:ext cx="197104" cy="21539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97889" y="4336288"/>
            <a:ext cx="221487" cy="28854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96207" y="4846321"/>
            <a:ext cx="197104" cy="21335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37888" y="4773168"/>
            <a:ext cx="223519" cy="28854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02529" y="4838193"/>
            <a:ext cx="195071" cy="21335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10815" y="5943600"/>
            <a:ext cx="221488" cy="29057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059947" y="6532647"/>
            <a:ext cx="154517" cy="125248"/>
          </a:xfrm>
          <a:prstGeom prst="rect">
            <a:avLst/>
          </a:prstGeom>
        </p:spPr>
        <p:txBody>
          <a:bodyPr vert="horz" wrap="square" lIns="0" tIns="2117" rIns="0" bIns="0" rtlCol="0">
            <a:spAutoFit/>
          </a:bodyPr>
          <a:lstStyle/>
          <a:p>
            <a:pPr marL="25401">
              <a:spcBef>
                <a:spcPts val="17"/>
              </a:spcBef>
            </a:pPr>
            <a:r>
              <a:rPr sz="800" dirty="0">
                <a:solidFill>
                  <a:srgbClr val="8C8C8C"/>
                </a:solidFill>
                <a:latin typeface="Trebuchet MS"/>
                <a:cs typeface="Trebuchet MS"/>
              </a:rPr>
              <a:t>29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2C5EDCB4-D749-5A3D-AB08-A2ED11FC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F80DFE07-885F-D3C7-AF79-7A0DEFC4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2563E-B5C8-46A6-B335-15E6BA2222D1}" type="datetime1">
              <a:rPr lang="en-US" smtClean="0"/>
              <a:t>5/12/2025</a:t>
            </a:fld>
            <a:endParaRPr lang="en-US"/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3B50FD5E-FB44-0BF6-1B95-21207151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D5853EAA-F0EA-79B6-859F-73E33A0B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701" rIns="0" bIns="0" rtlCol="0" anchor="ctr">
            <a:spAutoFit/>
          </a:bodyPr>
          <a:lstStyle/>
          <a:p>
            <a:pPr marL="847">
              <a:spcBef>
                <a:spcPts val="67"/>
              </a:spcBef>
            </a:pPr>
            <a:r>
              <a:rPr spc="-13" dirty="0"/>
              <a:t>Implementation</a:t>
            </a:r>
            <a:r>
              <a:rPr spc="-53" dirty="0"/>
              <a:t> </a:t>
            </a:r>
            <a:r>
              <a:rPr spc="-13" dirty="0"/>
              <a:t>Considerations</a:t>
            </a:r>
          </a:p>
          <a:p>
            <a:pPr marL="847">
              <a:spcBef>
                <a:spcPts val="60"/>
              </a:spcBef>
            </a:pPr>
            <a:r>
              <a:rPr sz="2000" spc="-3" dirty="0">
                <a:solidFill>
                  <a:srgbClr val="890C58"/>
                </a:solidFill>
              </a:rPr>
              <a:t>Network</a:t>
            </a:r>
            <a:r>
              <a:rPr sz="2000" spc="-23" dirty="0">
                <a:solidFill>
                  <a:srgbClr val="890C58"/>
                </a:solidFill>
              </a:rPr>
              <a:t> </a:t>
            </a:r>
            <a:r>
              <a:rPr sz="2000" spc="-3" dirty="0">
                <a:solidFill>
                  <a:srgbClr val="890C58"/>
                </a:solidFill>
              </a:rPr>
              <a:t>Architectures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626660" y="1885695"/>
            <a:ext cx="9315450" cy="244448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533" spc="3" dirty="0">
                <a:latin typeface="Trebuchet MS"/>
                <a:cs typeface="Trebuchet MS"/>
              </a:rPr>
              <a:t>Diffusion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models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often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use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U-Net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architectures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with</a:t>
            </a:r>
            <a:r>
              <a:rPr sz="1533" spc="10" dirty="0">
                <a:latin typeface="Trebuchet MS"/>
                <a:cs typeface="Trebuchet MS"/>
              </a:rPr>
              <a:t> ResNet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blocks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and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self-attention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layers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to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10" dirty="0">
                <a:latin typeface="Trebuchet MS"/>
                <a:cs typeface="Trebuchet MS"/>
              </a:rPr>
              <a:t>represent</a:t>
            </a:r>
            <a:endParaRPr sz="1533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7932" y="1882504"/>
            <a:ext cx="739631" cy="2767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442209" y="2733364"/>
            <a:ext cx="4624493" cy="2228850"/>
            <a:chOff x="5163313" y="4100046"/>
            <a:chExt cx="6936740" cy="3343275"/>
          </a:xfrm>
        </p:grpSpPr>
        <p:sp>
          <p:nvSpPr>
            <p:cNvPr id="6" name="object 6"/>
            <p:cNvSpPr/>
            <p:nvPr/>
          </p:nvSpPr>
          <p:spPr>
            <a:xfrm>
              <a:off x="6781646" y="4112746"/>
              <a:ext cx="471805" cy="2228850"/>
            </a:xfrm>
            <a:custGeom>
              <a:avLst/>
              <a:gdLst/>
              <a:ahLst/>
              <a:cxnLst/>
              <a:rect l="l" t="t" r="r" b="b"/>
              <a:pathLst>
                <a:path w="471804" h="2228850">
                  <a:moveTo>
                    <a:pt x="471426" y="0"/>
                  </a:moveTo>
                  <a:lnTo>
                    <a:pt x="0" y="0"/>
                  </a:lnTo>
                  <a:lnTo>
                    <a:pt x="0" y="2228562"/>
                  </a:lnTo>
                  <a:lnTo>
                    <a:pt x="471426" y="2228562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7" name="object 7"/>
            <p:cNvSpPr/>
            <p:nvPr/>
          </p:nvSpPr>
          <p:spPr>
            <a:xfrm>
              <a:off x="6781646" y="4112746"/>
              <a:ext cx="471805" cy="2228850"/>
            </a:xfrm>
            <a:custGeom>
              <a:avLst/>
              <a:gdLst/>
              <a:ahLst/>
              <a:cxnLst/>
              <a:rect l="l" t="t" r="r" b="b"/>
              <a:pathLst>
                <a:path w="471804" h="2228850">
                  <a:moveTo>
                    <a:pt x="0" y="0"/>
                  </a:moveTo>
                  <a:lnTo>
                    <a:pt x="471427" y="0"/>
                  </a:lnTo>
                  <a:lnTo>
                    <a:pt x="471427" y="2228564"/>
                  </a:lnTo>
                  <a:lnTo>
                    <a:pt x="0" y="222856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8" name="object 8"/>
            <p:cNvSpPr/>
            <p:nvPr/>
          </p:nvSpPr>
          <p:spPr>
            <a:xfrm>
              <a:off x="10964965" y="4112746"/>
              <a:ext cx="471805" cy="2228850"/>
            </a:xfrm>
            <a:custGeom>
              <a:avLst/>
              <a:gdLst/>
              <a:ahLst/>
              <a:cxnLst/>
              <a:rect l="l" t="t" r="r" b="b"/>
              <a:pathLst>
                <a:path w="471804" h="2228850">
                  <a:moveTo>
                    <a:pt x="471426" y="0"/>
                  </a:moveTo>
                  <a:lnTo>
                    <a:pt x="0" y="0"/>
                  </a:lnTo>
                  <a:lnTo>
                    <a:pt x="0" y="2228562"/>
                  </a:lnTo>
                  <a:lnTo>
                    <a:pt x="471426" y="2228562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9" name="object 9"/>
            <p:cNvSpPr/>
            <p:nvPr/>
          </p:nvSpPr>
          <p:spPr>
            <a:xfrm>
              <a:off x="10964965" y="4112746"/>
              <a:ext cx="471805" cy="2228850"/>
            </a:xfrm>
            <a:custGeom>
              <a:avLst/>
              <a:gdLst/>
              <a:ahLst/>
              <a:cxnLst/>
              <a:rect l="l" t="t" r="r" b="b"/>
              <a:pathLst>
                <a:path w="471804" h="2228850">
                  <a:moveTo>
                    <a:pt x="0" y="0"/>
                  </a:moveTo>
                  <a:lnTo>
                    <a:pt x="471427" y="0"/>
                  </a:lnTo>
                  <a:lnTo>
                    <a:pt x="471427" y="2228564"/>
                  </a:lnTo>
                  <a:lnTo>
                    <a:pt x="0" y="222856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511231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40" h="629284">
                  <a:moveTo>
                    <a:pt x="179771" y="0"/>
                  </a:moveTo>
                  <a:lnTo>
                    <a:pt x="0" y="0"/>
                  </a:lnTo>
                  <a:lnTo>
                    <a:pt x="0" y="629202"/>
                  </a:lnTo>
                  <a:lnTo>
                    <a:pt x="179771" y="629202"/>
                  </a:lnTo>
                  <a:lnTo>
                    <a:pt x="179771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511231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40" h="629284">
                  <a:moveTo>
                    <a:pt x="0" y="0"/>
                  </a:moveTo>
                  <a:lnTo>
                    <a:pt x="179771" y="0"/>
                  </a:lnTo>
                  <a:lnTo>
                    <a:pt x="179771" y="629203"/>
                  </a:lnTo>
                  <a:lnTo>
                    <a:pt x="0" y="6292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691002" y="6341309"/>
              <a:ext cx="4573270" cy="784225"/>
            </a:xfrm>
            <a:custGeom>
              <a:avLst/>
              <a:gdLst/>
              <a:ahLst/>
              <a:cxnLst/>
              <a:rect l="l" t="t" r="r" b="b"/>
              <a:pathLst>
                <a:path w="4573270" h="784225">
                  <a:moveTo>
                    <a:pt x="76200" y="764673"/>
                  </a:moveTo>
                  <a:lnTo>
                    <a:pt x="0" y="764673"/>
                  </a:lnTo>
                  <a:lnTo>
                    <a:pt x="0" y="783723"/>
                  </a:lnTo>
                  <a:lnTo>
                    <a:pt x="76200" y="783723"/>
                  </a:lnTo>
                  <a:lnTo>
                    <a:pt x="76200" y="764673"/>
                  </a:lnTo>
                  <a:close/>
                </a:path>
                <a:path w="4573270" h="784225">
                  <a:moveTo>
                    <a:pt x="209550" y="764673"/>
                  </a:moveTo>
                  <a:lnTo>
                    <a:pt x="133350" y="764673"/>
                  </a:lnTo>
                  <a:lnTo>
                    <a:pt x="133350" y="783723"/>
                  </a:lnTo>
                  <a:lnTo>
                    <a:pt x="209550" y="783723"/>
                  </a:lnTo>
                  <a:lnTo>
                    <a:pt x="209550" y="764673"/>
                  </a:lnTo>
                  <a:close/>
                </a:path>
                <a:path w="4573270" h="784225">
                  <a:moveTo>
                    <a:pt x="342900" y="764673"/>
                  </a:moveTo>
                  <a:lnTo>
                    <a:pt x="266700" y="764673"/>
                  </a:lnTo>
                  <a:lnTo>
                    <a:pt x="266700" y="783723"/>
                  </a:lnTo>
                  <a:lnTo>
                    <a:pt x="342900" y="783723"/>
                  </a:lnTo>
                  <a:lnTo>
                    <a:pt x="342900" y="764673"/>
                  </a:lnTo>
                  <a:close/>
                </a:path>
                <a:path w="4573270" h="784225">
                  <a:moveTo>
                    <a:pt x="476250" y="764673"/>
                  </a:moveTo>
                  <a:lnTo>
                    <a:pt x="400050" y="764673"/>
                  </a:lnTo>
                  <a:lnTo>
                    <a:pt x="400050" y="783723"/>
                  </a:lnTo>
                  <a:lnTo>
                    <a:pt x="476250" y="783723"/>
                  </a:lnTo>
                  <a:lnTo>
                    <a:pt x="476250" y="764673"/>
                  </a:lnTo>
                  <a:close/>
                </a:path>
                <a:path w="4573270" h="784225">
                  <a:moveTo>
                    <a:pt x="609600" y="764673"/>
                  </a:moveTo>
                  <a:lnTo>
                    <a:pt x="533400" y="764673"/>
                  </a:lnTo>
                  <a:lnTo>
                    <a:pt x="533400" y="783723"/>
                  </a:lnTo>
                  <a:lnTo>
                    <a:pt x="609600" y="783723"/>
                  </a:lnTo>
                  <a:lnTo>
                    <a:pt x="609600" y="764673"/>
                  </a:lnTo>
                  <a:close/>
                </a:path>
                <a:path w="4573270" h="784225">
                  <a:moveTo>
                    <a:pt x="742950" y="764673"/>
                  </a:moveTo>
                  <a:lnTo>
                    <a:pt x="666750" y="764673"/>
                  </a:lnTo>
                  <a:lnTo>
                    <a:pt x="666750" y="783723"/>
                  </a:lnTo>
                  <a:lnTo>
                    <a:pt x="742950" y="783723"/>
                  </a:lnTo>
                  <a:lnTo>
                    <a:pt x="742950" y="764673"/>
                  </a:lnTo>
                  <a:close/>
                </a:path>
                <a:path w="4573270" h="784225">
                  <a:moveTo>
                    <a:pt x="876300" y="764673"/>
                  </a:moveTo>
                  <a:lnTo>
                    <a:pt x="800100" y="764673"/>
                  </a:lnTo>
                  <a:lnTo>
                    <a:pt x="800100" y="783723"/>
                  </a:lnTo>
                  <a:lnTo>
                    <a:pt x="876300" y="783723"/>
                  </a:lnTo>
                  <a:lnTo>
                    <a:pt x="876300" y="764673"/>
                  </a:lnTo>
                  <a:close/>
                </a:path>
                <a:path w="4573270" h="784225">
                  <a:moveTo>
                    <a:pt x="1009650" y="764673"/>
                  </a:moveTo>
                  <a:lnTo>
                    <a:pt x="933450" y="764673"/>
                  </a:lnTo>
                  <a:lnTo>
                    <a:pt x="933450" y="783723"/>
                  </a:lnTo>
                  <a:lnTo>
                    <a:pt x="1009650" y="783723"/>
                  </a:lnTo>
                  <a:lnTo>
                    <a:pt x="1009650" y="764673"/>
                  </a:lnTo>
                  <a:close/>
                </a:path>
                <a:path w="4573270" h="784225">
                  <a:moveTo>
                    <a:pt x="1143000" y="764673"/>
                  </a:moveTo>
                  <a:lnTo>
                    <a:pt x="1066800" y="764673"/>
                  </a:lnTo>
                  <a:lnTo>
                    <a:pt x="1066800" y="783723"/>
                  </a:lnTo>
                  <a:lnTo>
                    <a:pt x="1143000" y="783723"/>
                  </a:lnTo>
                  <a:lnTo>
                    <a:pt x="1143000" y="764673"/>
                  </a:lnTo>
                  <a:close/>
                </a:path>
                <a:path w="4573270" h="784225">
                  <a:moveTo>
                    <a:pt x="1276350" y="764673"/>
                  </a:moveTo>
                  <a:lnTo>
                    <a:pt x="1200150" y="764673"/>
                  </a:lnTo>
                  <a:lnTo>
                    <a:pt x="1200150" y="783723"/>
                  </a:lnTo>
                  <a:lnTo>
                    <a:pt x="1276350" y="783723"/>
                  </a:lnTo>
                  <a:lnTo>
                    <a:pt x="1276350" y="764673"/>
                  </a:lnTo>
                  <a:close/>
                </a:path>
                <a:path w="4573270" h="784225">
                  <a:moveTo>
                    <a:pt x="1409700" y="764673"/>
                  </a:moveTo>
                  <a:lnTo>
                    <a:pt x="1333500" y="764673"/>
                  </a:lnTo>
                  <a:lnTo>
                    <a:pt x="1333500" y="783723"/>
                  </a:lnTo>
                  <a:lnTo>
                    <a:pt x="1409700" y="783723"/>
                  </a:lnTo>
                  <a:lnTo>
                    <a:pt x="1409700" y="764673"/>
                  </a:lnTo>
                  <a:close/>
                </a:path>
                <a:path w="4573270" h="784225">
                  <a:moveTo>
                    <a:pt x="1543050" y="764673"/>
                  </a:moveTo>
                  <a:lnTo>
                    <a:pt x="1466850" y="764673"/>
                  </a:lnTo>
                  <a:lnTo>
                    <a:pt x="1466850" y="783723"/>
                  </a:lnTo>
                  <a:lnTo>
                    <a:pt x="1543050" y="783723"/>
                  </a:lnTo>
                  <a:lnTo>
                    <a:pt x="1543050" y="764673"/>
                  </a:lnTo>
                  <a:close/>
                </a:path>
                <a:path w="4573270" h="784225">
                  <a:moveTo>
                    <a:pt x="1676400" y="764673"/>
                  </a:moveTo>
                  <a:lnTo>
                    <a:pt x="1600200" y="764673"/>
                  </a:lnTo>
                  <a:lnTo>
                    <a:pt x="1600200" y="783723"/>
                  </a:lnTo>
                  <a:lnTo>
                    <a:pt x="1676400" y="783723"/>
                  </a:lnTo>
                  <a:lnTo>
                    <a:pt x="1676400" y="764673"/>
                  </a:lnTo>
                  <a:close/>
                </a:path>
                <a:path w="4573270" h="784225">
                  <a:moveTo>
                    <a:pt x="1809750" y="764673"/>
                  </a:moveTo>
                  <a:lnTo>
                    <a:pt x="1733550" y="764673"/>
                  </a:lnTo>
                  <a:lnTo>
                    <a:pt x="1733550" y="783723"/>
                  </a:lnTo>
                  <a:lnTo>
                    <a:pt x="1809750" y="783723"/>
                  </a:lnTo>
                  <a:lnTo>
                    <a:pt x="1809750" y="764673"/>
                  </a:lnTo>
                  <a:close/>
                </a:path>
                <a:path w="4573270" h="784225">
                  <a:moveTo>
                    <a:pt x="1943100" y="764673"/>
                  </a:moveTo>
                  <a:lnTo>
                    <a:pt x="1866900" y="764673"/>
                  </a:lnTo>
                  <a:lnTo>
                    <a:pt x="1866900" y="783723"/>
                  </a:lnTo>
                  <a:lnTo>
                    <a:pt x="1943100" y="783723"/>
                  </a:lnTo>
                  <a:lnTo>
                    <a:pt x="1943100" y="764673"/>
                  </a:lnTo>
                  <a:close/>
                </a:path>
                <a:path w="4573270" h="784225">
                  <a:moveTo>
                    <a:pt x="2076450" y="764673"/>
                  </a:moveTo>
                  <a:lnTo>
                    <a:pt x="2000250" y="764673"/>
                  </a:lnTo>
                  <a:lnTo>
                    <a:pt x="2000250" y="783723"/>
                  </a:lnTo>
                  <a:lnTo>
                    <a:pt x="2076450" y="783723"/>
                  </a:lnTo>
                  <a:lnTo>
                    <a:pt x="2076450" y="764673"/>
                  </a:lnTo>
                  <a:close/>
                </a:path>
                <a:path w="4573270" h="784225">
                  <a:moveTo>
                    <a:pt x="2209800" y="764673"/>
                  </a:moveTo>
                  <a:lnTo>
                    <a:pt x="2133600" y="764673"/>
                  </a:lnTo>
                  <a:lnTo>
                    <a:pt x="2133600" y="783723"/>
                  </a:lnTo>
                  <a:lnTo>
                    <a:pt x="2209800" y="783723"/>
                  </a:lnTo>
                  <a:lnTo>
                    <a:pt x="2209800" y="764673"/>
                  </a:lnTo>
                  <a:close/>
                </a:path>
                <a:path w="4573270" h="784225">
                  <a:moveTo>
                    <a:pt x="2343150" y="764673"/>
                  </a:moveTo>
                  <a:lnTo>
                    <a:pt x="2266950" y="764673"/>
                  </a:lnTo>
                  <a:lnTo>
                    <a:pt x="2266950" y="783723"/>
                  </a:lnTo>
                  <a:lnTo>
                    <a:pt x="2343150" y="783723"/>
                  </a:lnTo>
                  <a:lnTo>
                    <a:pt x="2343150" y="764673"/>
                  </a:lnTo>
                  <a:close/>
                </a:path>
                <a:path w="4573270" h="784225">
                  <a:moveTo>
                    <a:pt x="2476500" y="764673"/>
                  </a:moveTo>
                  <a:lnTo>
                    <a:pt x="2400300" y="764673"/>
                  </a:lnTo>
                  <a:lnTo>
                    <a:pt x="2400300" y="783723"/>
                  </a:lnTo>
                  <a:lnTo>
                    <a:pt x="2476500" y="783723"/>
                  </a:lnTo>
                  <a:lnTo>
                    <a:pt x="2476500" y="764673"/>
                  </a:lnTo>
                  <a:close/>
                </a:path>
                <a:path w="4573270" h="784225">
                  <a:moveTo>
                    <a:pt x="2609850" y="764673"/>
                  </a:moveTo>
                  <a:lnTo>
                    <a:pt x="2533650" y="764673"/>
                  </a:lnTo>
                  <a:lnTo>
                    <a:pt x="2533650" y="783723"/>
                  </a:lnTo>
                  <a:lnTo>
                    <a:pt x="2609850" y="783723"/>
                  </a:lnTo>
                  <a:lnTo>
                    <a:pt x="2609850" y="764673"/>
                  </a:lnTo>
                  <a:close/>
                </a:path>
                <a:path w="4573270" h="784225">
                  <a:moveTo>
                    <a:pt x="2743200" y="764673"/>
                  </a:moveTo>
                  <a:lnTo>
                    <a:pt x="2667000" y="764673"/>
                  </a:lnTo>
                  <a:lnTo>
                    <a:pt x="2667000" y="783723"/>
                  </a:lnTo>
                  <a:lnTo>
                    <a:pt x="2743200" y="783723"/>
                  </a:lnTo>
                  <a:lnTo>
                    <a:pt x="2743200" y="764673"/>
                  </a:lnTo>
                  <a:close/>
                </a:path>
                <a:path w="4573270" h="784225">
                  <a:moveTo>
                    <a:pt x="2876550" y="764673"/>
                  </a:moveTo>
                  <a:lnTo>
                    <a:pt x="2800350" y="764673"/>
                  </a:lnTo>
                  <a:lnTo>
                    <a:pt x="2800350" y="783723"/>
                  </a:lnTo>
                  <a:lnTo>
                    <a:pt x="2876550" y="783723"/>
                  </a:lnTo>
                  <a:lnTo>
                    <a:pt x="2876550" y="764673"/>
                  </a:lnTo>
                  <a:close/>
                </a:path>
                <a:path w="4573270" h="784225">
                  <a:moveTo>
                    <a:pt x="3009900" y="764673"/>
                  </a:moveTo>
                  <a:lnTo>
                    <a:pt x="2933700" y="764673"/>
                  </a:lnTo>
                  <a:lnTo>
                    <a:pt x="2933700" y="783723"/>
                  </a:lnTo>
                  <a:lnTo>
                    <a:pt x="3009900" y="783723"/>
                  </a:lnTo>
                  <a:lnTo>
                    <a:pt x="3009900" y="764673"/>
                  </a:lnTo>
                  <a:close/>
                </a:path>
                <a:path w="4573270" h="784225">
                  <a:moveTo>
                    <a:pt x="3143250" y="764673"/>
                  </a:moveTo>
                  <a:lnTo>
                    <a:pt x="3067050" y="764673"/>
                  </a:lnTo>
                  <a:lnTo>
                    <a:pt x="3067050" y="783723"/>
                  </a:lnTo>
                  <a:lnTo>
                    <a:pt x="3143250" y="783723"/>
                  </a:lnTo>
                  <a:lnTo>
                    <a:pt x="3143250" y="764673"/>
                  </a:lnTo>
                  <a:close/>
                </a:path>
                <a:path w="4573270" h="784225">
                  <a:moveTo>
                    <a:pt x="3276600" y="764673"/>
                  </a:moveTo>
                  <a:lnTo>
                    <a:pt x="3200400" y="764673"/>
                  </a:lnTo>
                  <a:lnTo>
                    <a:pt x="3200400" y="783723"/>
                  </a:lnTo>
                  <a:lnTo>
                    <a:pt x="3276600" y="783723"/>
                  </a:lnTo>
                  <a:lnTo>
                    <a:pt x="3276600" y="764673"/>
                  </a:lnTo>
                  <a:close/>
                </a:path>
                <a:path w="4573270" h="784225">
                  <a:moveTo>
                    <a:pt x="3409950" y="764673"/>
                  </a:moveTo>
                  <a:lnTo>
                    <a:pt x="3333750" y="764673"/>
                  </a:lnTo>
                  <a:lnTo>
                    <a:pt x="3333750" y="783723"/>
                  </a:lnTo>
                  <a:lnTo>
                    <a:pt x="3409950" y="783723"/>
                  </a:lnTo>
                  <a:lnTo>
                    <a:pt x="3409950" y="764673"/>
                  </a:lnTo>
                  <a:close/>
                </a:path>
                <a:path w="4573270" h="784225">
                  <a:moveTo>
                    <a:pt x="3543300" y="764673"/>
                  </a:moveTo>
                  <a:lnTo>
                    <a:pt x="3467100" y="764673"/>
                  </a:lnTo>
                  <a:lnTo>
                    <a:pt x="3467100" y="783723"/>
                  </a:lnTo>
                  <a:lnTo>
                    <a:pt x="3543300" y="783723"/>
                  </a:lnTo>
                  <a:lnTo>
                    <a:pt x="3543300" y="764673"/>
                  </a:lnTo>
                  <a:close/>
                </a:path>
                <a:path w="4573270" h="784225">
                  <a:moveTo>
                    <a:pt x="3676650" y="764673"/>
                  </a:moveTo>
                  <a:lnTo>
                    <a:pt x="3600450" y="764673"/>
                  </a:lnTo>
                  <a:lnTo>
                    <a:pt x="3600450" y="783723"/>
                  </a:lnTo>
                  <a:lnTo>
                    <a:pt x="3676650" y="783723"/>
                  </a:lnTo>
                  <a:lnTo>
                    <a:pt x="3676650" y="764673"/>
                  </a:lnTo>
                  <a:close/>
                </a:path>
                <a:path w="4573270" h="784225">
                  <a:moveTo>
                    <a:pt x="3810000" y="764673"/>
                  </a:moveTo>
                  <a:lnTo>
                    <a:pt x="3733800" y="764673"/>
                  </a:lnTo>
                  <a:lnTo>
                    <a:pt x="3733800" y="783723"/>
                  </a:lnTo>
                  <a:lnTo>
                    <a:pt x="3810000" y="783723"/>
                  </a:lnTo>
                  <a:lnTo>
                    <a:pt x="3810000" y="764673"/>
                  </a:lnTo>
                  <a:close/>
                </a:path>
                <a:path w="4573270" h="784225">
                  <a:moveTo>
                    <a:pt x="3943350" y="764673"/>
                  </a:moveTo>
                  <a:lnTo>
                    <a:pt x="3867150" y="764673"/>
                  </a:lnTo>
                  <a:lnTo>
                    <a:pt x="3867150" y="783723"/>
                  </a:lnTo>
                  <a:lnTo>
                    <a:pt x="3943350" y="783723"/>
                  </a:lnTo>
                  <a:lnTo>
                    <a:pt x="3943350" y="764673"/>
                  </a:lnTo>
                  <a:close/>
                </a:path>
                <a:path w="4573270" h="784225">
                  <a:moveTo>
                    <a:pt x="4076700" y="764673"/>
                  </a:moveTo>
                  <a:lnTo>
                    <a:pt x="4000500" y="764673"/>
                  </a:lnTo>
                  <a:lnTo>
                    <a:pt x="4000500" y="783723"/>
                  </a:lnTo>
                  <a:lnTo>
                    <a:pt x="4076700" y="783723"/>
                  </a:lnTo>
                  <a:lnTo>
                    <a:pt x="4076700" y="764673"/>
                  </a:lnTo>
                  <a:close/>
                </a:path>
                <a:path w="4573270" h="784225">
                  <a:moveTo>
                    <a:pt x="4210050" y="764673"/>
                  </a:moveTo>
                  <a:lnTo>
                    <a:pt x="4133850" y="764673"/>
                  </a:lnTo>
                  <a:lnTo>
                    <a:pt x="4133850" y="783723"/>
                  </a:lnTo>
                  <a:lnTo>
                    <a:pt x="4210050" y="783723"/>
                  </a:lnTo>
                  <a:lnTo>
                    <a:pt x="4210050" y="764673"/>
                  </a:lnTo>
                  <a:close/>
                </a:path>
                <a:path w="4573270" h="784225">
                  <a:moveTo>
                    <a:pt x="4343400" y="764673"/>
                  </a:moveTo>
                  <a:lnTo>
                    <a:pt x="4267200" y="764673"/>
                  </a:lnTo>
                  <a:lnTo>
                    <a:pt x="4267200" y="783723"/>
                  </a:lnTo>
                  <a:lnTo>
                    <a:pt x="4343400" y="783723"/>
                  </a:lnTo>
                  <a:lnTo>
                    <a:pt x="4343400" y="764673"/>
                  </a:lnTo>
                  <a:close/>
                </a:path>
                <a:path w="4573270" h="784225">
                  <a:moveTo>
                    <a:pt x="4476750" y="764673"/>
                  </a:moveTo>
                  <a:lnTo>
                    <a:pt x="4400550" y="764673"/>
                  </a:lnTo>
                  <a:lnTo>
                    <a:pt x="4400550" y="783723"/>
                  </a:lnTo>
                  <a:lnTo>
                    <a:pt x="4476750" y="783723"/>
                  </a:lnTo>
                  <a:lnTo>
                    <a:pt x="4476750" y="764673"/>
                  </a:lnTo>
                  <a:close/>
                </a:path>
                <a:path w="4573270" h="784225">
                  <a:moveTo>
                    <a:pt x="4519202" y="673775"/>
                  </a:moveTo>
                  <a:lnTo>
                    <a:pt x="4500152" y="673775"/>
                  </a:lnTo>
                  <a:lnTo>
                    <a:pt x="4500152" y="749975"/>
                  </a:lnTo>
                  <a:lnTo>
                    <a:pt x="4519202" y="749975"/>
                  </a:lnTo>
                  <a:lnTo>
                    <a:pt x="4519202" y="673775"/>
                  </a:lnTo>
                  <a:close/>
                </a:path>
                <a:path w="4573270" h="784225">
                  <a:moveTo>
                    <a:pt x="4519202" y="540425"/>
                  </a:moveTo>
                  <a:lnTo>
                    <a:pt x="4500152" y="540425"/>
                  </a:lnTo>
                  <a:lnTo>
                    <a:pt x="4500152" y="616625"/>
                  </a:lnTo>
                  <a:lnTo>
                    <a:pt x="4519202" y="616625"/>
                  </a:lnTo>
                  <a:lnTo>
                    <a:pt x="4519202" y="540425"/>
                  </a:lnTo>
                  <a:close/>
                </a:path>
                <a:path w="4573270" h="784225">
                  <a:moveTo>
                    <a:pt x="4519202" y="407075"/>
                  </a:moveTo>
                  <a:lnTo>
                    <a:pt x="4500152" y="407075"/>
                  </a:lnTo>
                  <a:lnTo>
                    <a:pt x="4500152" y="483275"/>
                  </a:lnTo>
                  <a:lnTo>
                    <a:pt x="4519202" y="483275"/>
                  </a:lnTo>
                  <a:lnTo>
                    <a:pt x="4519202" y="407075"/>
                  </a:lnTo>
                  <a:close/>
                </a:path>
                <a:path w="4573270" h="784225">
                  <a:moveTo>
                    <a:pt x="4519202" y="273725"/>
                  </a:moveTo>
                  <a:lnTo>
                    <a:pt x="4500152" y="273725"/>
                  </a:lnTo>
                  <a:lnTo>
                    <a:pt x="4500152" y="349925"/>
                  </a:lnTo>
                  <a:lnTo>
                    <a:pt x="4519202" y="349925"/>
                  </a:lnTo>
                  <a:lnTo>
                    <a:pt x="4519202" y="273725"/>
                  </a:lnTo>
                  <a:close/>
                </a:path>
                <a:path w="4573270" h="784225">
                  <a:moveTo>
                    <a:pt x="4519202" y="140375"/>
                  </a:moveTo>
                  <a:lnTo>
                    <a:pt x="4500152" y="140375"/>
                  </a:lnTo>
                  <a:lnTo>
                    <a:pt x="4500152" y="216575"/>
                  </a:lnTo>
                  <a:lnTo>
                    <a:pt x="4519202" y="216575"/>
                  </a:lnTo>
                  <a:lnTo>
                    <a:pt x="4519202" y="140375"/>
                  </a:lnTo>
                  <a:close/>
                </a:path>
                <a:path w="4573270" h="784225">
                  <a:moveTo>
                    <a:pt x="4509677" y="0"/>
                  </a:moveTo>
                  <a:lnTo>
                    <a:pt x="4446177" y="127000"/>
                  </a:lnTo>
                  <a:lnTo>
                    <a:pt x="4573177" y="127000"/>
                  </a:lnTo>
                  <a:lnTo>
                    <a:pt x="450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3313" y="5070576"/>
              <a:ext cx="509127" cy="35532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09564" y="5163515"/>
              <a:ext cx="1072515" cy="127000"/>
            </a:xfrm>
            <a:custGeom>
              <a:avLst/>
              <a:gdLst/>
              <a:ahLst/>
              <a:cxnLst/>
              <a:rect l="l" t="t" r="r" b="b"/>
              <a:pathLst>
                <a:path w="1072515" h="127000">
                  <a:moveTo>
                    <a:pt x="76201" y="53972"/>
                  </a:moveTo>
                  <a:lnTo>
                    <a:pt x="1" y="53972"/>
                  </a:lnTo>
                  <a:lnTo>
                    <a:pt x="0" y="73022"/>
                  </a:lnTo>
                  <a:lnTo>
                    <a:pt x="76200" y="73022"/>
                  </a:lnTo>
                  <a:lnTo>
                    <a:pt x="76201" y="53972"/>
                  </a:lnTo>
                  <a:close/>
                </a:path>
                <a:path w="1072515" h="127000">
                  <a:moveTo>
                    <a:pt x="133351" y="53972"/>
                  </a:moveTo>
                  <a:lnTo>
                    <a:pt x="133350" y="73022"/>
                  </a:lnTo>
                  <a:lnTo>
                    <a:pt x="209550" y="73023"/>
                  </a:lnTo>
                  <a:lnTo>
                    <a:pt x="209551" y="53973"/>
                  </a:lnTo>
                  <a:lnTo>
                    <a:pt x="133351" y="53972"/>
                  </a:lnTo>
                  <a:close/>
                </a:path>
                <a:path w="1072515" h="127000">
                  <a:moveTo>
                    <a:pt x="342901" y="53973"/>
                  </a:moveTo>
                  <a:lnTo>
                    <a:pt x="266701" y="53973"/>
                  </a:lnTo>
                  <a:lnTo>
                    <a:pt x="266700" y="73023"/>
                  </a:lnTo>
                  <a:lnTo>
                    <a:pt x="342900" y="73023"/>
                  </a:lnTo>
                  <a:lnTo>
                    <a:pt x="342901" y="53973"/>
                  </a:lnTo>
                  <a:close/>
                </a:path>
                <a:path w="1072515" h="127000">
                  <a:moveTo>
                    <a:pt x="476251" y="53973"/>
                  </a:moveTo>
                  <a:lnTo>
                    <a:pt x="400051" y="53973"/>
                  </a:lnTo>
                  <a:lnTo>
                    <a:pt x="400050" y="73023"/>
                  </a:lnTo>
                  <a:lnTo>
                    <a:pt x="476250" y="73023"/>
                  </a:lnTo>
                  <a:lnTo>
                    <a:pt x="476251" y="53973"/>
                  </a:lnTo>
                  <a:close/>
                </a:path>
                <a:path w="1072515" h="127000">
                  <a:moveTo>
                    <a:pt x="609600" y="53973"/>
                  </a:moveTo>
                  <a:lnTo>
                    <a:pt x="533400" y="53973"/>
                  </a:lnTo>
                  <a:lnTo>
                    <a:pt x="533400" y="73023"/>
                  </a:lnTo>
                  <a:lnTo>
                    <a:pt x="609600" y="73023"/>
                  </a:lnTo>
                  <a:lnTo>
                    <a:pt x="609600" y="53973"/>
                  </a:lnTo>
                  <a:close/>
                </a:path>
                <a:path w="1072515" h="127000">
                  <a:moveTo>
                    <a:pt x="742950" y="53973"/>
                  </a:moveTo>
                  <a:lnTo>
                    <a:pt x="666750" y="53973"/>
                  </a:lnTo>
                  <a:lnTo>
                    <a:pt x="666750" y="73023"/>
                  </a:lnTo>
                  <a:lnTo>
                    <a:pt x="742950" y="73023"/>
                  </a:lnTo>
                  <a:lnTo>
                    <a:pt x="742950" y="53973"/>
                  </a:lnTo>
                  <a:close/>
                </a:path>
                <a:path w="1072515" h="127000">
                  <a:moveTo>
                    <a:pt x="876300" y="53973"/>
                  </a:moveTo>
                  <a:lnTo>
                    <a:pt x="800100" y="53973"/>
                  </a:lnTo>
                  <a:lnTo>
                    <a:pt x="800100" y="73023"/>
                  </a:lnTo>
                  <a:lnTo>
                    <a:pt x="876300" y="73023"/>
                  </a:lnTo>
                  <a:lnTo>
                    <a:pt x="876300" y="53973"/>
                  </a:lnTo>
                  <a:close/>
                </a:path>
                <a:path w="1072515" h="127000">
                  <a:moveTo>
                    <a:pt x="945080" y="0"/>
                  </a:moveTo>
                  <a:lnTo>
                    <a:pt x="945080" y="127000"/>
                  </a:lnTo>
                  <a:lnTo>
                    <a:pt x="1053030" y="73025"/>
                  </a:lnTo>
                  <a:lnTo>
                    <a:pt x="957780" y="73025"/>
                  </a:lnTo>
                  <a:lnTo>
                    <a:pt x="957780" y="53975"/>
                  </a:lnTo>
                  <a:lnTo>
                    <a:pt x="1053030" y="53975"/>
                  </a:lnTo>
                  <a:lnTo>
                    <a:pt x="945080" y="0"/>
                  </a:lnTo>
                  <a:close/>
                </a:path>
                <a:path w="1072515" h="127000">
                  <a:moveTo>
                    <a:pt x="945080" y="53975"/>
                  </a:moveTo>
                  <a:lnTo>
                    <a:pt x="933450" y="53975"/>
                  </a:lnTo>
                  <a:lnTo>
                    <a:pt x="933450" y="73025"/>
                  </a:lnTo>
                  <a:lnTo>
                    <a:pt x="945080" y="73025"/>
                  </a:lnTo>
                  <a:lnTo>
                    <a:pt x="945080" y="53975"/>
                  </a:lnTo>
                  <a:close/>
                </a:path>
                <a:path w="1072515" h="127000">
                  <a:moveTo>
                    <a:pt x="1053030" y="53975"/>
                  </a:moveTo>
                  <a:lnTo>
                    <a:pt x="957780" y="53975"/>
                  </a:lnTo>
                  <a:lnTo>
                    <a:pt x="957780" y="73025"/>
                  </a:lnTo>
                  <a:lnTo>
                    <a:pt x="1053030" y="73025"/>
                  </a:lnTo>
                  <a:lnTo>
                    <a:pt x="1072080" y="63500"/>
                  </a:lnTo>
                  <a:lnTo>
                    <a:pt x="1053030" y="53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6885" y="6895418"/>
              <a:ext cx="181911" cy="38184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86896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39" h="629284">
                  <a:moveTo>
                    <a:pt x="179771" y="0"/>
                  </a:moveTo>
                  <a:lnTo>
                    <a:pt x="0" y="0"/>
                  </a:lnTo>
                  <a:lnTo>
                    <a:pt x="0" y="629202"/>
                  </a:lnTo>
                  <a:lnTo>
                    <a:pt x="179771" y="629202"/>
                  </a:lnTo>
                  <a:lnTo>
                    <a:pt x="179771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986896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39" h="629284">
                  <a:moveTo>
                    <a:pt x="0" y="0"/>
                  </a:moveTo>
                  <a:lnTo>
                    <a:pt x="179771" y="0"/>
                  </a:lnTo>
                  <a:lnTo>
                    <a:pt x="179771" y="629203"/>
                  </a:lnTo>
                  <a:lnTo>
                    <a:pt x="0" y="6292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5548795" y="5163540"/>
              <a:ext cx="6551295" cy="2014855"/>
            </a:xfrm>
            <a:custGeom>
              <a:avLst/>
              <a:gdLst/>
              <a:ahLst/>
              <a:cxnLst/>
              <a:rect l="l" t="t" r="r" b="b"/>
              <a:pathLst>
                <a:path w="6551295" h="2014854">
                  <a:moveTo>
                    <a:pt x="76200" y="1941283"/>
                  </a:moveTo>
                  <a:lnTo>
                    <a:pt x="0" y="1941283"/>
                  </a:lnTo>
                  <a:lnTo>
                    <a:pt x="0" y="1960333"/>
                  </a:lnTo>
                  <a:lnTo>
                    <a:pt x="76200" y="1960333"/>
                  </a:lnTo>
                  <a:lnTo>
                    <a:pt x="76200" y="1941283"/>
                  </a:lnTo>
                  <a:close/>
                </a:path>
                <a:path w="6551295" h="2014854">
                  <a:moveTo>
                    <a:pt x="209550" y="1941283"/>
                  </a:moveTo>
                  <a:lnTo>
                    <a:pt x="133350" y="1941283"/>
                  </a:lnTo>
                  <a:lnTo>
                    <a:pt x="133350" y="1960333"/>
                  </a:lnTo>
                  <a:lnTo>
                    <a:pt x="209550" y="1960333"/>
                  </a:lnTo>
                  <a:lnTo>
                    <a:pt x="209550" y="1941283"/>
                  </a:lnTo>
                  <a:close/>
                </a:path>
                <a:path w="6551295" h="2014854">
                  <a:moveTo>
                    <a:pt x="438099" y="1950808"/>
                  </a:moveTo>
                  <a:lnTo>
                    <a:pt x="419049" y="1941283"/>
                  </a:lnTo>
                  <a:lnTo>
                    <a:pt x="311099" y="1887308"/>
                  </a:lnTo>
                  <a:lnTo>
                    <a:pt x="311099" y="1941283"/>
                  </a:lnTo>
                  <a:lnTo>
                    <a:pt x="266700" y="1941283"/>
                  </a:lnTo>
                  <a:lnTo>
                    <a:pt x="266700" y="1960333"/>
                  </a:lnTo>
                  <a:lnTo>
                    <a:pt x="311099" y="1960333"/>
                  </a:lnTo>
                  <a:lnTo>
                    <a:pt x="311099" y="2014308"/>
                  </a:lnTo>
                  <a:lnTo>
                    <a:pt x="419049" y="1960333"/>
                  </a:lnTo>
                  <a:lnTo>
                    <a:pt x="438099" y="1950808"/>
                  </a:lnTo>
                  <a:close/>
                </a:path>
                <a:path w="6551295" h="2014854">
                  <a:moveTo>
                    <a:pt x="1478089" y="1880806"/>
                  </a:moveTo>
                  <a:lnTo>
                    <a:pt x="1459039" y="1880806"/>
                  </a:lnTo>
                  <a:lnTo>
                    <a:pt x="1459039" y="1957006"/>
                  </a:lnTo>
                  <a:lnTo>
                    <a:pt x="1478089" y="1957006"/>
                  </a:lnTo>
                  <a:lnTo>
                    <a:pt x="1478089" y="1880806"/>
                  </a:lnTo>
                  <a:close/>
                </a:path>
                <a:path w="6551295" h="2014854">
                  <a:moveTo>
                    <a:pt x="1478089" y="1747456"/>
                  </a:moveTo>
                  <a:lnTo>
                    <a:pt x="1459039" y="1747456"/>
                  </a:lnTo>
                  <a:lnTo>
                    <a:pt x="1459039" y="1823656"/>
                  </a:lnTo>
                  <a:lnTo>
                    <a:pt x="1478089" y="1823656"/>
                  </a:lnTo>
                  <a:lnTo>
                    <a:pt x="1478089" y="1747456"/>
                  </a:lnTo>
                  <a:close/>
                </a:path>
                <a:path w="6551295" h="2014854">
                  <a:moveTo>
                    <a:pt x="1478089" y="1614106"/>
                  </a:moveTo>
                  <a:lnTo>
                    <a:pt x="1459039" y="1614106"/>
                  </a:lnTo>
                  <a:lnTo>
                    <a:pt x="1459039" y="1690306"/>
                  </a:lnTo>
                  <a:lnTo>
                    <a:pt x="1478089" y="1690306"/>
                  </a:lnTo>
                  <a:lnTo>
                    <a:pt x="1478089" y="1614106"/>
                  </a:lnTo>
                  <a:close/>
                </a:path>
                <a:path w="6551295" h="2014854">
                  <a:moveTo>
                    <a:pt x="1478089" y="1480756"/>
                  </a:moveTo>
                  <a:lnTo>
                    <a:pt x="1459039" y="1480756"/>
                  </a:lnTo>
                  <a:lnTo>
                    <a:pt x="1459039" y="1556956"/>
                  </a:lnTo>
                  <a:lnTo>
                    <a:pt x="1478089" y="1556956"/>
                  </a:lnTo>
                  <a:lnTo>
                    <a:pt x="1478089" y="1480756"/>
                  </a:lnTo>
                  <a:close/>
                </a:path>
                <a:path w="6551295" h="2014854">
                  <a:moveTo>
                    <a:pt x="1478089" y="1347406"/>
                  </a:moveTo>
                  <a:lnTo>
                    <a:pt x="1459039" y="1347406"/>
                  </a:lnTo>
                  <a:lnTo>
                    <a:pt x="1459039" y="1423606"/>
                  </a:lnTo>
                  <a:lnTo>
                    <a:pt x="1478089" y="1423606"/>
                  </a:lnTo>
                  <a:lnTo>
                    <a:pt x="1478089" y="1347406"/>
                  </a:lnTo>
                  <a:close/>
                </a:path>
                <a:path w="6551295" h="2014854">
                  <a:moveTo>
                    <a:pt x="1532064" y="1304772"/>
                  </a:moveTo>
                  <a:lnTo>
                    <a:pt x="1468564" y="1177772"/>
                  </a:lnTo>
                  <a:lnTo>
                    <a:pt x="1405064" y="1304772"/>
                  </a:lnTo>
                  <a:lnTo>
                    <a:pt x="1532064" y="1304772"/>
                  </a:lnTo>
                  <a:close/>
                </a:path>
                <a:path w="6551295" h="2014854">
                  <a:moveTo>
                    <a:pt x="5963793" y="53975"/>
                  </a:moveTo>
                  <a:lnTo>
                    <a:pt x="5887593" y="53975"/>
                  </a:lnTo>
                  <a:lnTo>
                    <a:pt x="5887593" y="73025"/>
                  </a:lnTo>
                  <a:lnTo>
                    <a:pt x="5963793" y="73025"/>
                  </a:lnTo>
                  <a:lnTo>
                    <a:pt x="5963793" y="53975"/>
                  </a:lnTo>
                  <a:close/>
                </a:path>
                <a:path w="6551295" h="2014854">
                  <a:moveTo>
                    <a:pt x="6097143" y="53975"/>
                  </a:moveTo>
                  <a:lnTo>
                    <a:pt x="6020943" y="53975"/>
                  </a:lnTo>
                  <a:lnTo>
                    <a:pt x="6020943" y="73025"/>
                  </a:lnTo>
                  <a:lnTo>
                    <a:pt x="6097143" y="73025"/>
                  </a:lnTo>
                  <a:lnTo>
                    <a:pt x="6097143" y="53975"/>
                  </a:lnTo>
                  <a:close/>
                </a:path>
                <a:path w="6551295" h="2014854">
                  <a:moveTo>
                    <a:pt x="6230493" y="53975"/>
                  </a:moveTo>
                  <a:lnTo>
                    <a:pt x="6154293" y="53975"/>
                  </a:lnTo>
                  <a:lnTo>
                    <a:pt x="6154293" y="73025"/>
                  </a:lnTo>
                  <a:lnTo>
                    <a:pt x="6230493" y="73025"/>
                  </a:lnTo>
                  <a:lnTo>
                    <a:pt x="6230493" y="53975"/>
                  </a:lnTo>
                  <a:close/>
                </a:path>
                <a:path w="6551295" h="2014854">
                  <a:moveTo>
                    <a:pt x="6363843" y="53975"/>
                  </a:moveTo>
                  <a:lnTo>
                    <a:pt x="6287643" y="53975"/>
                  </a:lnTo>
                  <a:lnTo>
                    <a:pt x="6287643" y="73025"/>
                  </a:lnTo>
                  <a:lnTo>
                    <a:pt x="6363843" y="73025"/>
                  </a:lnTo>
                  <a:lnTo>
                    <a:pt x="6363843" y="53975"/>
                  </a:lnTo>
                  <a:close/>
                </a:path>
                <a:path w="6551295" h="2014854">
                  <a:moveTo>
                    <a:pt x="6550838" y="63500"/>
                  </a:moveTo>
                  <a:lnTo>
                    <a:pt x="6531788" y="53975"/>
                  </a:lnTo>
                  <a:lnTo>
                    <a:pt x="6423838" y="0"/>
                  </a:lnTo>
                  <a:lnTo>
                    <a:pt x="6423838" y="53975"/>
                  </a:lnTo>
                  <a:lnTo>
                    <a:pt x="6420993" y="53975"/>
                  </a:lnTo>
                  <a:lnTo>
                    <a:pt x="6420993" y="73025"/>
                  </a:lnTo>
                  <a:lnTo>
                    <a:pt x="6423838" y="73025"/>
                  </a:lnTo>
                  <a:lnTo>
                    <a:pt x="6423838" y="127000"/>
                  </a:lnTo>
                  <a:lnTo>
                    <a:pt x="6531788" y="73025"/>
                  </a:lnTo>
                  <a:lnTo>
                    <a:pt x="6550838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379262" y="4385436"/>
              <a:ext cx="471805" cy="1683385"/>
            </a:xfrm>
            <a:custGeom>
              <a:avLst/>
              <a:gdLst/>
              <a:ahLst/>
              <a:cxnLst/>
              <a:rect l="l" t="t" r="r" b="b"/>
              <a:pathLst>
                <a:path w="471804" h="1683385">
                  <a:moveTo>
                    <a:pt x="471427" y="0"/>
                  </a:moveTo>
                  <a:lnTo>
                    <a:pt x="0" y="0"/>
                  </a:lnTo>
                  <a:lnTo>
                    <a:pt x="0" y="1683180"/>
                  </a:lnTo>
                  <a:lnTo>
                    <a:pt x="471427" y="1683180"/>
                  </a:lnTo>
                  <a:lnTo>
                    <a:pt x="471427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379262" y="4385436"/>
              <a:ext cx="471805" cy="1683385"/>
            </a:xfrm>
            <a:custGeom>
              <a:avLst/>
              <a:gdLst/>
              <a:ahLst/>
              <a:cxnLst/>
              <a:rect l="l" t="t" r="r" b="b"/>
              <a:pathLst>
                <a:path w="471804" h="1683385">
                  <a:moveTo>
                    <a:pt x="0" y="0"/>
                  </a:moveTo>
                  <a:lnTo>
                    <a:pt x="471427" y="0"/>
                  </a:lnTo>
                  <a:lnTo>
                    <a:pt x="471427" y="1683181"/>
                  </a:lnTo>
                  <a:lnTo>
                    <a:pt x="0" y="168318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551477" y="6068617"/>
              <a:ext cx="127000" cy="1052195"/>
            </a:xfrm>
            <a:custGeom>
              <a:avLst/>
              <a:gdLst/>
              <a:ahLst/>
              <a:cxnLst/>
              <a:rect l="l" t="t" r="r" b="b"/>
              <a:pathLst>
                <a:path w="127000" h="1052195">
                  <a:moveTo>
                    <a:pt x="73025" y="975720"/>
                  </a:moveTo>
                  <a:lnTo>
                    <a:pt x="53975" y="975720"/>
                  </a:lnTo>
                  <a:lnTo>
                    <a:pt x="53975" y="1051920"/>
                  </a:lnTo>
                  <a:lnTo>
                    <a:pt x="73025" y="1051920"/>
                  </a:lnTo>
                  <a:lnTo>
                    <a:pt x="73025" y="975720"/>
                  </a:lnTo>
                  <a:close/>
                </a:path>
                <a:path w="127000" h="1052195">
                  <a:moveTo>
                    <a:pt x="73025" y="842370"/>
                  </a:moveTo>
                  <a:lnTo>
                    <a:pt x="53975" y="842370"/>
                  </a:lnTo>
                  <a:lnTo>
                    <a:pt x="53975" y="918570"/>
                  </a:lnTo>
                  <a:lnTo>
                    <a:pt x="73025" y="918570"/>
                  </a:lnTo>
                  <a:lnTo>
                    <a:pt x="73025" y="842370"/>
                  </a:lnTo>
                  <a:close/>
                </a:path>
                <a:path w="127000" h="1052195">
                  <a:moveTo>
                    <a:pt x="73025" y="709020"/>
                  </a:moveTo>
                  <a:lnTo>
                    <a:pt x="53975" y="709020"/>
                  </a:lnTo>
                  <a:lnTo>
                    <a:pt x="53975" y="785220"/>
                  </a:lnTo>
                  <a:lnTo>
                    <a:pt x="73025" y="785220"/>
                  </a:lnTo>
                  <a:lnTo>
                    <a:pt x="73025" y="709020"/>
                  </a:lnTo>
                  <a:close/>
                </a:path>
                <a:path w="127000" h="1052195">
                  <a:moveTo>
                    <a:pt x="73025" y="575670"/>
                  </a:moveTo>
                  <a:lnTo>
                    <a:pt x="53975" y="575670"/>
                  </a:lnTo>
                  <a:lnTo>
                    <a:pt x="53975" y="651870"/>
                  </a:lnTo>
                  <a:lnTo>
                    <a:pt x="73025" y="651870"/>
                  </a:lnTo>
                  <a:lnTo>
                    <a:pt x="73025" y="575670"/>
                  </a:lnTo>
                  <a:close/>
                </a:path>
                <a:path w="127000" h="1052195">
                  <a:moveTo>
                    <a:pt x="73025" y="442320"/>
                  </a:moveTo>
                  <a:lnTo>
                    <a:pt x="53975" y="442320"/>
                  </a:lnTo>
                  <a:lnTo>
                    <a:pt x="53975" y="518520"/>
                  </a:lnTo>
                  <a:lnTo>
                    <a:pt x="73025" y="518520"/>
                  </a:lnTo>
                  <a:lnTo>
                    <a:pt x="73025" y="442320"/>
                  </a:lnTo>
                  <a:close/>
                </a:path>
                <a:path w="127000" h="1052195">
                  <a:moveTo>
                    <a:pt x="73025" y="308970"/>
                  </a:moveTo>
                  <a:lnTo>
                    <a:pt x="53975" y="308970"/>
                  </a:lnTo>
                  <a:lnTo>
                    <a:pt x="53975" y="385170"/>
                  </a:lnTo>
                  <a:lnTo>
                    <a:pt x="73025" y="385170"/>
                  </a:lnTo>
                  <a:lnTo>
                    <a:pt x="73025" y="308970"/>
                  </a:lnTo>
                  <a:close/>
                </a:path>
                <a:path w="127000" h="1052195">
                  <a:moveTo>
                    <a:pt x="73025" y="175620"/>
                  </a:moveTo>
                  <a:lnTo>
                    <a:pt x="53975" y="175620"/>
                  </a:lnTo>
                  <a:lnTo>
                    <a:pt x="53975" y="251820"/>
                  </a:lnTo>
                  <a:lnTo>
                    <a:pt x="73025" y="251820"/>
                  </a:lnTo>
                  <a:lnTo>
                    <a:pt x="73025" y="175620"/>
                  </a:lnTo>
                  <a:close/>
                </a:path>
                <a:path w="127000" h="1052195">
                  <a:moveTo>
                    <a:pt x="63501" y="0"/>
                  </a:moveTo>
                  <a:lnTo>
                    <a:pt x="0" y="127000"/>
                  </a:lnTo>
                  <a:lnTo>
                    <a:pt x="127000" y="127000"/>
                  </a:lnTo>
                  <a:lnTo>
                    <a:pt x="122735" y="118470"/>
                  </a:lnTo>
                  <a:lnTo>
                    <a:pt x="53975" y="118470"/>
                  </a:lnTo>
                  <a:lnTo>
                    <a:pt x="53975" y="114300"/>
                  </a:lnTo>
                  <a:lnTo>
                    <a:pt x="120650" y="114300"/>
                  </a:lnTo>
                  <a:lnTo>
                    <a:pt x="63501" y="0"/>
                  </a:lnTo>
                  <a:close/>
                </a:path>
                <a:path w="127000" h="1052195">
                  <a:moveTo>
                    <a:pt x="73025" y="114300"/>
                  </a:moveTo>
                  <a:lnTo>
                    <a:pt x="53975" y="114300"/>
                  </a:lnTo>
                  <a:lnTo>
                    <a:pt x="53975" y="118470"/>
                  </a:lnTo>
                  <a:lnTo>
                    <a:pt x="73025" y="118470"/>
                  </a:lnTo>
                  <a:lnTo>
                    <a:pt x="73025" y="114300"/>
                  </a:lnTo>
                  <a:close/>
                </a:path>
                <a:path w="127000" h="1052195">
                  <a:moveTo>
                    <a:pt x="120650" y="114300"/>
                  </a:moveTo>
                  <a:lnTo>
                    <a:pt x="73025" y="114300"/>
                  </a:lnTo>
                  <a:lnTo>
                    <a:pt x="73025" y="118470"/>
                  </a:lnTo>
                  <a:lnTo>
                    <a:pt x="122735" y="11847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976879" y="4602661"/>
              <a:ext cx="471805" cy="1249045"/>
            </a:xfrm>
            <a:custGeom>
              <a:avLst/>
              <a:gdLst/>
              <a:ahLst/>
              <a:cxnLst/>
              <a:rect l="l" t="t" r="r" b="b"/>
              <a:pathLst>
                <a:path w="471804" h="1249045">
                  <a:moveTo>
                    <a:pt x="471426" y="0"/>
                  </a:moveTo>
                  <a:lnTo>
                    <a:pt x="0" y="0"/>
                  </a:lnTo>
                  <a:lnTo>
                    <a:pt x="0" y="1248732"/>
                  </a:lnTo>
                  <a:lnTo>
                    <a:pt x="471426" y="1248732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976879" y="4602661"/>
              <a:ext cx="471805" cy="1249045"/>
            </a:xfrm>
            <a:custGeom>
              <a:avLst/>
              <a:gdLst/>
              <a:ahLst/>
              <a:cxnLst/>
              <a:rect l="l" t="t" r="r" b="b"/>
              <a:pathLst>
                <a:path w="471804" h="1249045">
                  <a:moveTo>
                    <a:pt x="0" y="0"/>
                  </a:moveTo>
                  <a:lnTo>
                    <a:pt x="471427" y="0"/>
                  </a:lnTo>
                  <a:lnTo>
                    <a:pt x="471427" y="1248732"/>
                  </a:lnTo>
                  <a:lnTo>
                    <a:pt x="0" y="12487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8149094" y="5851394"/>
              <a:ext cx="127000" cy="1264920"/>
            </a:xfrm>
            <a:custGeom>
              <a:avLst/>
              <a:gdLst/>
              <a:ahLst/>
              <a:cxnLst/>
              <a:rect l="l" t="t" r="r" b="b"/>
              <a:pathLst>
                <a:path w="127000" h="1264920">
                  <a:moveTo>
                    <a:pt x="73023" y="1188394"/>
                  </a:moveTo>
                  <a:lnTo>
                    <a:pt x="53973" y="1188394"/>
                  </a:lnTo>
                  <a:lnTo>
                    <a:pt x="53973" y="1264594"/>
                  </a:lnTo>
                  <a:lnTo>
                    <a:pt x="73023" y="1264594"/>
                  </a:lnTo>
                  <a:lnTo>
                    <a:pt x="73023" y="1188394"/>
                  </a:lnTo>
                  <a:close/>
                </a:path>
                <a:path w="127000" h="1264920">
                  <a:moveTo>
                    <a:pt x="73025" y="1055044"/>
                  </a:moveTo>
                  <a:lnTo>
                    <a:pt x="53975" y="1055044"/>
                  </a:lnTo>
                  <a:lnTo>
                    <a:pt x="53975" y="1131244"/>
                  </a:lnTo>
                  <a:lnTo>
                    <a:pt x="73025" y="1131244"/>
                  </a:lnTo>
                  <a:lnTo>
                    <a:pt x="73025" y="1055044"/>
                  </a:lnTo>
                  <a:close/>
                </a:path>
                <a:path w="127000" h="1264920">
                  <a:moveTo>
                    <a:pt x="73025" y="921694"/>
                  </a:moveTo>
                  <a:lnTo>
                    <a:pt x="53975" y="921694"/>
                  </a:lnTo>
                  <a:lnTo>
                    <a:pt x="53975" y="997894"/>
                  </a:lnTo>
                  <a:lnTo>
                    <a:pt x="73025" y="997894"/>
                  </a:lnTo>
                  <a:lnTo>
                    <a:pt x="73025" y="921694"/>
                  </a:lnTo>
                  <a:close/>
                </a:path>
                <a:path w="127000" h="1264920">
                  <a:moveTo>
                    <a:pt x="73025" y="788344"/>
                  </a:moveTo>
                  <a:lnTo>
                    <a:pt x="53975" y="788344"/>
                  </a:lnTo>
                  <a:lnTo>
                    <a:pt x="53975" y="864544"/>
                  </a:lnTo>
                  <a:lnTo>
                    <a:pt x="73025" y="864544"/>
                  </a:lnTo>
                  <a:lnTo>
                    <a:pt x="73025" y="788344"/>
                  </a:lnTo>
                  <a:close/>
                </a:path>
                <a:path w="127000" h="1264920">
                  <a:moveTo>
                    <a:pt x="73025" y="654994"/>
                  </a:moveTo>
                  <a:lnTo>
                    <a:pt x="53975" y="654994"/>
                  </a:lnTo>
                  <a:lnTo>
                    <a:pt x="53975" y="731194"/>
                  </a:lnTo>
                  <a:lnTo>
                    <a:pt x="73025" y="731194"/>
                  </a:lnTo>
                  <a:lnTo>
                    <a:pt x="73025" y="654994"/>
                  </a:lnTo>
                  <a:close/>
                </a:path>
                <a:path w="127000" h="1264920">
                  <a:moveTo>
                    <a:pt x="73025" y="521644"/>
                  </a:moveTo>
                  <a:lnTo>
                    <a:pt x="53975" y="521644"/>
                  </a:lnTo>
                  <a:lnTo>
                    <a:pt x="53975" y="597844"/>
                  </a:lnTo>
                  <a:lnTo>
                    <a:pt x="73025" y="597844"/>
                  </a:lnTo>
                  <a:lnTo>
                    <a:pt x="73025" y="521644"/>
                  </a:lnTo>
                  <a:close/>
                </a:path>
                <a:path w="127000" h="1264920">
                  <a:moveTo>
                    <a:pt x="73025" y="388294"/>
                  </a:moveTo>
                  <a:lnTo>
                    <a:pt x="53975" y="388294"/>
                  </a:lnTo>
                  <a:lnTo>
                    <a:pt x="53975" y="464494"/>
                  </a:lnTo>
                  <a:lnTo>
                    <a:pt x="73025" y="464494"/>
                  </a:lnTo>
                  <a:lnTo>
                    <a:pt x="73025" y="388294"/>
                  </a:lnTo>
                  <a:close/>
                </a:path>
                <a:path w="127000" h="1264920">
                  <a:moveTo>
                    <a:pt x="73025" y="254944"/>
                  </a:moveTo>
                  <a:lnTo>
                    <a:pt x="53975" y="254944"/>
                  </a:lnTo>
                  <a:lnTo>
                    <a:pt x="53975" y="331144"/>
                  </a:lnTo>
                  <a:lnTo>
                    <a:pt x="73025" y="331144"/>
                  </a:lnTo>
                  <a:lnTo>
                    <a:pt x="73025" y="254944"/>
                  </a:lnTo>
                  <a:close/>
                </a:path>
                <a:path w="127000" h="1264920">
                  <a:moveTo>
                    <a:pt x="73025" y="121594"/>
                  </a:moveTo>
                  <a:lnTo>
                    <a:pt x="53975" y="121594"/>
                  </a:lnTo>
                  <a:lnTo>
                    <a:pt x="53975" y="197794"/>
                  </a:lnTo>
                  <a:lnTo>
                    <a:pt x="73025" y="197794"/>
                  </a:lnTo>
                  <a:lnTo>
                    <a:pt x="73025" y="121594"/>
                  </a:lnTo>
                  <a:close/>
                </a:path>
                <a:path w="127000" h="1264920">
                  <a:moveTo>
                    <a:pt x="63500" y="0"/>
                  </a:moveTo>
                  <a:lnTo>
                    <a:pt x="0" y="127000"/>
                  </a:lnTo>
                  <a:lnTo>
                    <a:pt x="53975" y="127000"/>
                  </a:lnTo>
                  <a:lnTo>
                    <a:pt x="53975" y="121594"/>
                  </a:lnTo>
                  <a:lnTo>
                    <a:pt x="124297" y="121594"/>
                  </a:lnTo>
                  <a:lnTo>
                    <a:pt x="63500" y="0"/>
                  </a:lnTo>
                  <a:close/>
                </a:path>
                <a:path w="127000" h="1264920">
                  <a:moveTo>
                    <a:pt x="124297" y="121594"/>
                  </a:moveTo>
                  <a:lnTo>
                    <a:pt x="73025" y="121594"/>
                  </a:lnTo>
                  <a:lnTo>
                    <a:pt x="73025" y="127000"/>
                  </a:lnTo>
                  <a:lnTo>
                    <a:pt x="127000" y="127000"/>
                  </a:lnTo>
                  <a:lnTo>
                    <a:pt x="124297" y="1215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8574497" y="4857338"/>
              <a:ext cx="471805" cy="739775"/>
            </a:xfrm>
            <a:custGeom>
              <a:avLst/>
              <a:gdLst/>
              <a:ahLst/>
              <a:cxnLst/>
              <a:rect l="l" t="t" r="r" b="b"/>
              <a:pathLst>
                <a:path w="471804" h="739775">
                  <a:moveTo>
                    <a:pt x="471426" y="0"/>
                  </a:moveTo>
                  <a:lnTo>
                    <a:pt x="0" y="0"/>
                  </a:lnTo>
                  <a:lnTo>
                    <a:pt x="0" y="739378"/>
                  </a:lnTo>
                  <a:lnTo>
                    <a:pt x="471426" y="739378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8574497" y="4857338"/>
              <a:ext cx="471805" cy="739775"/>
            </a:xfrm>
            <a:custGeom>
              <a:avLst/>
              <a:gdLst/>
              <a:ahLst/>
              <a:cxnLst/>
              <a:rect l="l" t="t" r="r" b="b"/>
              <a:pathLst>
                <a:path w="471804" h="739775">
                  <a:moveTo>
                    <a:pt x="0" y="0"/>
                  </a:moveTo>
                  <a:lnTo>
                    <a:pt x="471427" y="0"/>
                  </a:lnTo>
                  <a:lnTo>
                    <a:pt x="471427" y="739379"/>
                  </a:lnTo>
                  <a:lnTo>
                    <a:pt x="0" y="7393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8746712" y="5596717"/>
              <a:ext cx="127000" cy="1524000"/>
            </a:xfrm>
            <a:custGeom>
              <a:avLst/>
              <a:gdLst/>
              <a:ahLst/>
              <a:cxnLst/>
              <a:rect l="l" t="t" r="r" b="b"/>
              <a:pathLst>
                <a:path w="127000" h="1524000">
                  <a:moveTo>
                    <a:pt x="73023" y="1447620"/>
                  </a:moveTo>
                  <a:lnTo>
                    <a:pt x="53973" y="1447620"/>
                  </a:lnTo>
                  <a:lnTo>
                    <a:pt x="53973" y="1523820"/>
                  </a:lnTo>
                  <a:lnTo>
                    <a:pt x="73023" y="1523820"/>
                  </a:lnTo>
                  <a:lnTo>
                    <a:pt x="73023" y="1447620"/>
                  </a:lnTo>
                  <a:close/>
                </a:path>
                <a:path w="127000" h="1524000">
                  <a:moveTo>
                    <a:pt x="73023" y="1314270"/>
                  </a:moveTo>
                  <a:lnTo>
                    <a:pt x="53973" y="1314270"/>
                  </a:lnTo>
                  <a:lnTo>
                    <a:pt x="53973" y="1390470"/>
                  </a:lnTo>
                  <a:lnTo>
                    <a:pt x="73023" y="1390470"/>
                  </a:lnTo>
                  <a:lnTo>
                    <a:pt x="73023" y="1314270"/>
                  </a:lnTo>
                  <a:close/>
                </a:path>
                <a:path w="127000" h="1524000">
                  <a:moveTo>
                    <a:pt x="73023" y="1180920"/>
                  </a:moveTo>
                  <a:lnTo>
                    <a:pt x="53973" y="1180920"/>
                  </a:lnTo>
                  <a:lnTo>
                    <a:pt x="53973" y="1257120"/>
                  </a:lnTo>
                  <a:lnTo>
                    <a:pt x="73023" y="1257120"/>
                  </a:lnTo>
                  <a:lnTo>
                    <a:pt x="73023" y="1180920"/>
                  </a:lnTo>
                  <a:close/>
                </a:path>
                <a:path w="127000" h="1524000">
                  <a:moveTo>
                    <a:pt x="73023" y="1047570"/>
                  </a:moveTo>
                  <a:lnTo>
                    <a:pt x="53973" y="1047570"/>
                  </a:lnTo>
                  <a:lnTo>
                    <a:pt x="53973" y="1123770"/>
                  </a:lnTo>
                  <a:lnTo>
                    <a:pt x="73023" y="1123770"/>
                  </a:lnTo>
                  <a:lnTo>
                    <a:pt x="73023" y="1047570"/>
                  </a:lnTo>
                  <a:close/>
                </a:path>
                <a:path w="127000" h="1524000">
                  <a:moveTo>
                    <a:pt x="73023" y="914220"/>
                  </a:moveTo>
                  <a:lnTo>
                    <a:pt x="53973" y="914220"/>
                  </a:lnTo>
                  <a:lnTo>
                    <a:pt x="53973" y="990420"/>
                  </a:lnTo>
                  <a:lnTo>
                    <a:pt x="73023" y="990420"/>
                  </a:lnTo>
                  <a:lnTo>
                    <a:pt x="73023" y="914220"/>
                  </a:lnTo>
                  <a:close/>
                </a:path>
                <a:path w="127000" h="1524000">
                  <a:moveTo>
                    <a:pt x="73023" y="780870"/>
                  </a:moveTo>
                  <a:lnTo>
                    <a:pt x="53973" y="780870"/>
                  </a:lnTo>
                  <a:lnTo>
                    <a:pt x="53973" y="857070"/>
                  </a:lnTo>
                  <a:lnTo>
                    <a:pt x="73023" y="857070"/>
                  </a:lnTo>
                  <a:lnTo>
                    <a:pt x="73023" y="780870"/>
                  </a:lnTo>
                  <a:close/>
                </a:path>
                <a:path w="127000" h="1524000">
                  <a:moveTo>
                    <a:pt x="73025" y="647520"/>
                  </a:moveTo>
                  <a:lnTo>
                    <a:pt x="53975" y="647520"/>
                  </a:lnTo>
                  <a:lnTo>
                    <a:pt x="53973" y="723720"/>
                  </a:lnTo>
                  <a:lnTo>
                    <a:pt x="73023" y="723720"/>
                  </a:lnTo>
                  <a:lnTo>
                    <a:pt x="73025" y="647520"/>
                  </a:lnTo>
                  <a:close/>
                </a:path>
                <a:path w="127000" h="1524000">
                  <a:moveTo>
                    <a:pt x="73025" y="514170"/>
                  </a:moveTo>
                  <a:lnTo>
                    <a:pt x="53975" y="514170"/>
                  </a:lnTo>
                  <a:lnTo>
                    <a:pt x="53975" y="590370"/>
                  </a:lnTo>
                  <a:lnTo>
                    <a:pt x="73025" y="590370"/>
                  </a:lnTo>
                  <a:lnTo>
                    <a:pt x="73025" y="514170"/>
                  </a:lnTo>
                  <a:close/>
                </a:path>
                <a:path w="127000" h="1524000">
                  <a:moveTo>
                    <a:pt x="73025" y="380820"/>
                  </a:moveTo>
                  <a:lnTo>
                    <a:pt x="53975" y="380820"/>
                  </a:lnTo>
                  <a:lnTo>
                    <a:pt x="53975" y="457020"/>
                  </a:lnTo>
                  <a:lnTo>
                    <a:pt x="73025" y="457020"/>
                  </a:lnTo>
                  <a:lnTo>
                    <a:pt x="73025" y="380820"/>
                  </a:lnTo>
                  <a:close/>
                </a:path>
                <a:path w="127000" h="1524000">
                  <a:moveTo>
                    <a:pt x="73025" y="247470"/>
                  </a:moveTo>
                  <a:lnTo>
                    <a:pt x="53975" y="247470"/>
                  </a:lnTo>
                  <a:lnTo>
                    <a:pt x="53975" y="323670"/>
                  </a:lnTo>
                  <a:lnTo>
                    <a:pt x="73025" y="323670"/>
                  </a:lnTo>
                  <a:lnTo>
                    <a:pt x="73025" y="247470"/>
                  </a:lnTo>
                  <a:close/>
                </a:path>
                <a:path w="127000" h="1524000">
                  <a:moveTo>
                    <a:pt x="73025" y="114300"/>
                  </a:moveTo>
                  <a:lnTo>
                    <a:pt x="53975" y="114300"/>
                  </a:lnTo>
                  <a:lnTo>
                    <a:pt x="53975" y="190320"/>
                  </a:lnTo>
                  <a:lnTo>
                    <a:pt x="73025" y="190320"/>
                  </a:lnTo>
                  <a:lnTo>
                    <a:pt x="73025" y="114300"/>
                  </a:lnTo>
                  <a:close/>
                </a:path>
                <a:path w="127000" h="1524000">
                  <a:moveTo>
                    <a:pt x="63500" y="0"/>
                  </a:moveTo>
                  <a:lnTo>
                    <a:pt x="0" y="127000"/>
                  </a:lnTo>
                  <a:lnTo>
                    <a:pt x="53975" y="127000"/>
                  </a:lnTo>
                  <a:lnTo>
                    <a:pt x="53975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1524000">
                  <a:moveTo>
                    <a:pt x="120650" y="114300"/>
                  </a:moveTo>
                  <a:lnTo>
                    <a:pt x="73025" y="114300"/>
                  </a:lnTo>
                  <a:lnTo>
                    <a:pt x="73025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9172113" y="4857338"/>
              <a:ext cx="471805" cy="739775"/>
            </a:xfrm>
            <a:custGeom>
              <a:avLst/>
              <a:gdLst/>
              <a:ahLst/>
              <a:cxnLst/>
              <a:rect l="l" t="t" r="r" b="b"/>
              <a:pathLst>
                <a:path w="471804" h="739775">
                  <a:moveTo>
                    <a:pt x="471426" y="0"/>
                  </a:moveTo>
                  <a:lnTo>
                    <a:pt x="0" y="0"/>
                  </a:lnTo>
                  <a:lnTo>
                    <a:pt x="0" y="739378"/>
                  </a:lnTo>
                  <a:lnTo>
                    <a:pt x="471426" y="739378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9172113" y="4857338"/>
              <a:ext cx="471805" cy="739775"/>
            </a:xfrm>
            <a:custGeom>
              <a:avLst/>
              <a:gdLst/>
              <a:ahLst/>
              <a:cxnLst/>
              <a:rect l="l" t="t" r="r" b="b"/>
              <a:pathLst>
                <a:path w="471804" h="739775">
                  <a:moveTo>
                    <a:pt x="0" y="0"/>
                  </a:moveTo>
                  <a:lnTo>
                    <a:pt x="471427" y="0"/>
                  </a:lnTo>
                  <a:lnTo>
                    <a:pt x="471427" y="739379"/>
                  </a:lnTo>
                  <a:lnTo>
                    <a:pt x="0" y="7393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9342664" y="5596717"/>
              <a:ext cx="127000" cy="1524000"/>
            </a:xfrm>
            <a:custGeom>
              <a:avLst/>
              <a:gdLst/>
              <a:ahLst/>
              <a:cxnLst/>
              <a:rect l="l" t="t" r="r" b="b"/>
              <a:pathLst>
                <a:path w="127000" h="1524000">
                  <a:moveTo>
                    <a:pt x="73023" y="1447620"/>
                  </a:moveTo>
                  <a:lnTo>
                    <a:pt x="53973" y="1447620"/>
                  </a:lnTo>
                  <a:lnTo>
                    <a:pt x="53973" y="1523820"/>
                  </a:lnTo>
                  <a:lnTo>
                    <a:pt x="73023" y="1523820"/>
                  </a:lnTo>
                  <a:lnTo>
                    <a:pt x="73023" y="1447620"/>
                  </a:lnTo>
                  <a:close/>
                </a:path>
                <a:path w="127000" h="1524000">
                  <a:moveTo>
                    <a:pt x="73023" y="1314270"/>
                  </a:moveTo>
                  <a:lnTo>
                    <a:pt x="53973" y="1314270"/>
                  </a:lnTo>
                  <a:lnTo>
                    <a:pt x="53973" y="1390470"/>
                  </a:lnTo>
                  <a:lnTo>
                    <a:pt x="73023" y="1390470"/>
                  </a:lnTo>
                  <a:lnTo>
                    <a:pt x="73023" y="1314270"/>
                  </a:lnTo>
                  <a:close/>
                </a:path>
                <a:path w="127000" h="1524000">
                  <a:moveTo>
                    <a:pt x="73023" y="1180920"/>
                  </a:moveTo>
                  <a:lnTo>
                    <a:pt x="53973" y="1180920"/>
                  </a:lnTo>
                  <a:lnTo>
                    <a:pt x="53973" y="1257120"/>
                  </a:lnTo>
                  <a:lnTo>
                    <a:pt x="73023" y="1257120"/>
                  </a:lnTo>
                  <a:lnTo>
                    <a:pt x="73023" y="1180920"/>
                  </a:lnTo>
                  <a:close/>
                </a:path>
                <a:path w="127000" h="1524000">
                  <a:moveTo>
                    <a:pt x="73023" y="1047570"/>
                  </a:moveTo>
                  <a:lnTo>
                    <a:pt x="53973" y="1047570"/>
                  </a:lnTo>
                  <a:lnTo>
                    <a:pt x="53973" y="1123770"/>
                  </a:lnTo>
                  <a:lnTo>
                    <a:pt x="73023" y="1123770"/>
                  </a:lnTo>
                  <a:lnTo>
                    <a:pt x="73023" y="1047570"/>
                  </a:lnTo>
                  <a:close/>
                </a:path>
                <a:path w="127000" h="1524000">
                  <a:moveTo>
                    <a:pt x="73023" y="914220"/>
                  </a:moveTo>
                  <a:lnTo>
                    <a:pt x="53973" y="914220"/>
                  </a:lnTo>
                  <a:lnTo>
                    <a:pt x="53973" y="990420"/>
                  </a:lnTo>
                  <a:lnTo>
                    <a:pt x="73023" y="990420"/>
                  </a:lnTo>
                  <a:lnTo>
                    <a:pt x="73023" y="914220"/>
                  </a:lnTo>
                  <a:close/>
                </a:path>
                <a:path w="127000" h="1524000">
                  <a:moveTo>
                    <a:pt x="73023" y="780870"/>
                  </a:moveTo>
                  <a:lnTo>
                    <a:pt x="53973" y="780870"/>
                  </a:lnTo>
                  <a:lnTo>
                    <a:pt x="53973" y="857070"/>
                  </a:lnTo>
                  <a:lnTo>
                    <a:pt x="73023" y="857070"/>
                  </a:lnTo>
                  <a:lnTo>
                    <a:pt x="73023" y="780870"/>
                  </a:lnTo>
                  <a:close/>
                </a:path>
                <a:path w="127000" h="1524000">
                  <a:moveTo>
                    <a:pt x="73023" y="647520"/>
                  </a:moveTo>
                  <a:lnTo>
                    <a:pt x="53973" y="647520"/>
                  </a:lnTo>
                  <a:lnTo>
                    <a:pt x="53973" y="723720"/>
                  </a:lnTo>
                  <a:lnTo>
                    <a:pt x="73023" y="723720"/>
                  </a:lnTo>
                  <a:lnTo>
                    <a:pt x="73023" y="647520"/>
                  </a:lnTo>
                  <a:close/>
                </a:path>
                <a:path w="127000" h="1524000">
                  <a:moveTo>
                    <a:pt x="73023" y="514170"/>
                  </a:moveTo>
                  <a:lnTo>
                    <a:pt x="53973" y="514170"/>
                  </a:lnTo>
                  <a:lnTo>
                    <a:pt x="53973" y="590370"/>
                  </a:lnTo>
                  <a:lnTo>
                    <a:pt x="73023" y="590370"/>
                  </a:lnTo>
                  <a:lnTo>
                    <a:pt x="73023" y="514170"/>
                  </a:lnTo>
                  <a:close/>
                </a:path>
                <a:path w="127000" h="1524000">
                  <a:moveTo>
                    <a:pt x="73025" y="380820"/>
                  </a:moveTo>
                  <a:lnTo>
                    <a:pt x="53975" y="380820"/>
                  </a:lnTo>
                  <a:lnTo>
                    <a:pt x="53975" y="457020"/>
                  </a:lnTo>
                  <a:lnTo>
                    <a:pt x="73025" y="457020"/>
                  </a:lnTo>
                  <a:lnTo>
                    <a:pt x="73025" y="380820"/>
                  </a:lnTo>
                  <a:close/>
                </a:path>
                <a:path w="127000" h="1524000">
                  <a:moveTo>
                    <a:pt x="73025" y="247470"/>
                  </a:moveTo>
                  <a:lnTo>
                    <a:pt x="53975" y="247470"/>
                  </a:lnTo>
                  <a:lnTo>
                    <a:pt x="53975" y="323670"/>
                  </a:lnTo>
                  <a:lnTo>
                    <a:pt x="73025" y="323670"/>
                  </a:lnTo>
                  <a:lnTo>
                    <a:pt x="73025" y="247470"/>
                  </a:lnTo>
                  <a:close/>
                </a:path>
                <a:path w="127000" h="1524000">
                  <a:moveTo>
                    <a:pt x="73025" y="114300"/>
                  </a:moveTo>
                  <a:lnTo>
                    <a:pt x="53975" y="114300"/>
                  </a:lnTo>
                  <a:lnTo>
                    <a:pt x="53975" y="190320"/>
                  </a:lnTo>
                  <a:lnTo>
                    <a:pt x="73025" y="190320"/>
                  </a:lnTo>
                  <a:lnTo>
                    <a:pt x="73025" y="114300"/>
                  </a:lnTo>
                  <a:close/>
                </a:path>
                <a:path w="127000" h="1524000">
                  <a:moveTo>
                    <a:pt x="63500" y="0"/>
                  </a:moveTo>
                  <a:lnTo>
                    <a:pt x="0" y="127000"/>
                  </a:lnTo>
                  <a:lnTo>
                    <a:pt x="53975" y="127000"/>
                  </a:lnTo>
                  <a:lnTo>
                    <a:pt x="53975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1524000">
                  <a:moveTo>
                    <a:pt x="120650" y="114300"/>
                  </a:moveTo>
                  <a:lnTo>
                    <a:pt x="73025" y="114300"/>
                  </a:lnTo>
                  <a:lnTo>
                    <a:pt x="73025" y="127000"/>
                  </a:lnTo>
                  <a:lnTo>
                    <a:pt x="127000" y="12700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9769730" y="4602661"/>
              <a:ext cx="471805" cy="1249045"/>
            </a:xfrm>
            <a:custGeom>
              <a:avLst/>
              <a:gdLst/>
              <a:ahLst/>
              <a:cxnLst/>
              <a:rect l="l" t="t" r="r" b="b"/>
              <a:pathLst>
                <a:path w="471804" h="1249045">
                  <a:moveTo>
                    <a:pt x="471427" y="0"/>
                  </a:moveTo>
                  <a:lnTo>
                    <a:pt x="0" y="0"/>
                  </a:lnTo>
                  <a:lnTo>
                    <a:pt x="0" y="1248732"/>
                  </a:lnTo>
                  <a:lnTo>
                    <a:pt x="471427" y="1248732"/>
                  </a:lnTo>
                  <a:lnTo>
                    <a:pt x="471427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9769730" y="4602661"/>
              <a:ext cx="471805" cy="1249045"/>
            </a:xfrm>
            <a:custGeom>
              <a:avLst/>
              <a:gdLst/>
              <a:ahLst/>
              <a:cxnLst/>
              <a:rect l="l" t="t" r="r" b="b"/>
              <a:pathLst>
                <a:path w="471804" h="1249045">
                  <a:moveTo>
                    <a:pt x="0" y="0"/>
                  </a:moveTo>
                  <a:lnTo>
                    <a:pt x="471427" y="0"/>
                  </a:lnTo>
                  <a:lnTo>
                    <a:pt x="471427" y="1248732"/>
                  </a:lnTo>
                  <a:lnTo>
                    <a:pt x="0" y="12487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9936951" y="5851394"/>
              <a:ext cx="127000" cy="1264920"/>
            </a:xfrm>
            <a:custGeom>
              <a:avLst/>
              <a:gdLst/>
              <a:ahLst/>
              <a:cxnLst/>
              <a:rect l="l" t="t" r="r" b="b"/>
              <a:pathLst>
                <a:path w="127000" h="1264920">
                  <a:moveTo>
                    <a:pt x="73023" y="1188394"/>
                  </a:moveTo>
                  <a:lnTo>
                    <a:pt x="53973" y="1188394"/>
                  </a:lnTo>
                  <a:lnTo>
                    <a:pt x="53973" y="1264594"/>
                  </a:lnTo>
                  <a:lnTo>
                    <a:pt x="73023" y="1264594"/>
                  </a:lnTo>
                  <a:lnTo>
                    <a:pt x="73023" y="1188394"/>
                  </a:lnTo>
                  <a:close/>
                </a:path>
                <a:path w="127000" h="1264920">
                  <a:moveTo>
                    <a:pt x="73023" y="1055044"/>
                  </a:moveTo>
                  <a:lnTo>
                    <a:pt x="53973" y="1055044"/>
                  </a:lnTo>
                  <a:lnTo>
                    <a:pt x="53973" y="1131244"/>
                  </a:lnTo>
                  <a:lnTo>
                    <a:pt x="73023" y="1131244"/>
                  </a:lnTo>
                  <a:lnTo>
                    <a:pt x="73023" y="1055044"/>
                  </a:lnTo>
                  <a:close/>
                </a:path>
                <a:path w="127000" h="1264920">
                  <a:moveTo>
                    <a:pt x="73023" y="921694"/>
                  </a:moveTo>
                  <a:lnTo>
                    <a:pt x="53973" y="921694"/>
                  </a:lnTo>
                  <a:lnTo>
                    <a:pt x="53973" y="997894"/>
                  </a:lnTo>
                  <a:lnTo>
                    <a:pt x="73023" y="997894"/>
                  </a:lnTo>
                  <a:lnTo>
                    <a:pt x="73023" y="921694"/>
                  </a:lnTo>
                  <a:close/>
                </a:path>
                <a:path w="127000" h="1264920">
                  <a:moveTo>
                    <a:pt x="73023" y="788344"/>
                  </a:moveTo>
                  <a:lnTo>
                    <a:pt x="53973" y="788344"/>
                  </a:lnTo>
                  <a:lnTo>
                    <a:pt x="53973" y="864544"/>
                  </a:lnTo>
                  <a:lnTo>
                    <a:pt x="73023" y="864544"/>
                  </a:lnTo>
                  <a:lnTo>
                    <a:pt x="73023" y="788344"/>
                  </a:lnTo>
                  <a:close/>
                </a:path>
                <a:path w="127000" h="1264920">
                  <a:moveTo>
                    <a:pt x="73023" y="654994"/>
                  </a:moveTo>
                  <a:lnTo>
                    <a:pt x="53973" y="654994"/>
                  </a:lnTo>
                  <a:lnTo>
                    <a:pt x="53973" y="731194"/>
                  </a:lnTo>
                  <a:lnTo>
                    <a:pt x="73023" y="731194"/>
                  </a:lnTo>
                  <a:lnTo>
                    <a:pt x="73023" y="654994"/>
                  </a:lnTo>
                  <a:close/>
                </a:path>
                <a:path w="127000" h="1264920">
                  <a:moveTo>
                    <a:pt x="73023" y="521644"/>
                  </a:moveTo>
                  <a:lnTo>
                    <a:pt x="53973" y="521644"/>
                  </a:lnTo>
                  <a:lnTo>
                    <a:pt x="53973" y="597844"/>
                  </a:lnTo>
                  <a:lnTo>
                    <a:pt x="73023" y="597844"/>
                  </a:lnTo>
                  <a:lnTo>
                    <a:pt x="73023" y="521644"/>
                  </a:lnTo>
                  <a:close/>
                </a:path>
                <a:path w="127000" h="1264920">
                  <a:moveTo>
                    <a:pt x="73023" y="388294"/>
                  </a:moveTo>
                  <a:lnTo>
                    <a:pt x="53973" y="388294"/>
                  </a:lnTo>
                  <a:lnTo>
                    <a:pt x="53973" y="464494"/>
                  </a:lnTo>
                  <a:lnTo>
                    <a:pt x="73023" y="464494"/>
                  </a:lnTo>
                  <a:lnTo>
                    <a:pt x="73023" y="388294"/>
                  </a:lnTo>
                  <a:close/>
                </a:path>
                <a:path w="127000" h="1264920">
                  <a:moveTo>
                    <a:pt x="73025" y="254944"/>
                  </a:moveTo>
                  <a:lnTo>
                    <a:pt x="53975" y="254944"/>
                  </a:lnTo>
                  <a:lnTo>
                    <a:pt x="53975" y="331144"/>
                  </a:lnTo>
                  <a:lnTo>
                    <a:pt x="73025" y="331144"/>
                  </a:lnTo>
                  <a:lnTo>
                    <a:pt x="73025" y="254944"/>
                  </a:lnTo>
                  <a:close/>
                </a:path>
                <a:path w="127000" h="1264920">
                  <a:moveTo>
                    <a:pt x="73025" y="121594"/>
                  </a:moveTo>
                  <a:lnTo>
                    <a:pt x="53975" y="121594"/>
                  </a:lnTo>
                  <a:lnTo>
                    <a:pt x="53975" y="197794"/>
                  </a:lnTo>
                  <a:lnTo>
                    <a:pt x="73025" y="197794"/>
                  </a:lnTo>
                  <a:lnTo>
                    <a:pt x="73025" y="121594"/>
                  </a:lnTo>
                  <a:close/>
                </a:path>
                <a:path w="127000" h="1264920">
                  <a:moveTo>
                    <a:pt x="63500" y="0"/>
                  </a:moveTo>
                  <a:lnTo>
                    <a:pt x="0" y="127000"/>
                  </a:lnTo>
                  <a:lnTo>
                    <a:pt x="53975" y="127000"/>
                  </a:lnTo>
                  <a:lnTo>
                    <a:pt x="53975" y="121594"/>
                  </a:lnTo>
                  <a:lnTo>
                    <a:pt x="124297" y="121594"/>
                  </a:lnTo>
                  <a:lnTo>
                    <a:pt x="63500" y="0"/>
                  </a:lnTo>
                  <a:close/>
                </a:path>
                <a:path w="127000" h="1264920">
                  <a:moveTo>
                    <a:pt x="124297" y="121594"/>
                  </a:moveTo>
                  <a:lnTo>
                    <a:pt x="73025" y="121594"/>
                  </a:lnTo>
                  <a:lnTo>
                    <a:pt x="73025" y="127000"/>
                  </a:lnTo>
                  <a:lnTo>
                    <a:pt x="127000" y="127000"/>
                  </a:lnTo>
                  <a:lnTo>
                    <a:pt x="124297" y="1215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10367348" y="4385436"/>
              <a:ext cx="471805" cy="1683385"/>
            </a:xfrm>
            <a:custGeom>
              <a:avLst/>
              <a:gdLst/>
              <a:ahLst/>
              <a:cxnLst/>
              <a:rect l="l" t="t" r="r" b="b"/>
              <a:pathLst>
                <a:path w="471804" h="1683385">
                  <a:moveTo>
                    <a:pt x="471426" y="0"/>
                  </a:moveTo>
                  <a:lnTo>
                    <a:pt x="0" y="0"/>
                  </a:lnTo>
                  <a:lnTo>
                    <a:pt x="0" y="1683180"/>
                  </a:lnTo>
                  <a:lnTo>
                    <a:pt x="471426" y="1683180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10367348" y="4385436"/>
              <a:ext cx="471805" cy="1683385"/>
            </a:xfrm>
            <a:custGeom>
              <a:avLst/>
              <a:gdLst/>
              <a:ahLst/>
              <a:cxnLst/>
              <a:rect l="l" t="t" r="r" b="b"/>
              <a:pathLst>
                <a:path w="471804" h="1683385">
                  <a:moveTo>
                    <a:pt x="0" y="0"/>
                  </a:moveTo>
                  <a:lnTo>
                    <a:pt x="471427" y="0"/>
                  </a:lnTo>
                  <a:lnTo>
                    <a:pt x="471427" y="1683181"/>
                  </a:lnTo>
                  <a:lnTo>
                    <a:pt x="0" y="168318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0535787" y="6068617"/>
              <a:ext cx="127000" cy="1052195"/>
            </a:xfrm>
            <a:custGeom>
              <a:avLst/>
              <a:gdLst/>
              <a:ahLst/>
              <a:cxnLst/>
              <a:rect l="l" t="t" r="r" b="b"/>
              <a:pathLst>
                <a:path w="127000" h="1052195">
                  <a:moveTo>
                    <a:pt x="73023" y="975720"/>
                  </a:moveTo>
                  <a:lnTo>
                    <a:pt x="53973" y="975720"/>
                  </a:lnTo>
                  <a:lnTo>
                    <a:pt x="53973" y="1051920"/>
                  </a:lnTo>
                  <a:lnTo>
                    <a:pt x="73023" y="1051920"/>
                  </a:lnTo>
                  <a:lnTo>
                    <a:pt x="73023" y="975720"/>
                  </a:lnTo>
                  <a:close/>
                </a:path>
                <a:path w="127000" h="1052195">
                  <a:moveTo>
                    <a:pt x="73023" y="842370"/>
                  </a:moveTo>
                  <a:lnTo>
                    <a:pt x="53973" y="842370"/>
                  </a:lnTo>
                  <a:lnTo>
                    <a:pt x="53973" y="918570"/>
                  </a:lnTo>
                  <a:lnTo>
                    <a:pt x="73023" y="918570"/>
                  </a:lnTo>
                  <a:lnTo>
                    <a:pt x="73023" y="842370"/>
                  </a:lnTo>
                  <a:close/>
                </a:path>
                <a:path w="127000" h="1052195">
                  <a:moveTo>
                    <a:pt x="73023" y="709020"/>
                  </a:moveTo>
                  <a:lnTo>
                    <a:pt x="53973" y="709020"/>
                  </a:lnTo>
                  <a:lnTo>
                    <a:pt x="53973" y="785220"/>
                  </a:lnTo>
                  <a:lnTo>
                    <a:pt x="73023" y="785220"/>
                  </a:lnTo>
                  <a:lnTo>
                    <a:pt x="73023" y="709020"/>
                  </a:lnTo>
                  <a:close/>
                </a:path>
                <a:path w="127000" h="1052195">
                  <a:moveTo>
                    <a:pt x="73023" y="575670"/>
                  </a:moveTo>
                  <a:lnTo>
                    <a:pt x="53973" y="575670"/>
                  </a:lnTo>
                  <a:lnTo>
                    <a:pt x="53973" y="651870"/>
                  </a:lnTo>
                  <a:lnTo>
                    <a:pt x="73023" y="651870"/>
                  </a:lnTo>
                  <a:lnTo>
                    <a:pt x="73023" y="575670"/>
                  </a:lnTo>
                  <a:close/>
                </a:path>
                <a:path w="127000" h="1052195">
                  <a:moveTo>
                    <a:pt x="73023" y="442320"/>
                  </a:moveTo>
                  <a:lnTo>
                    <a:pt x="53973" y="442320"/>
                  </a:lnTo>
                  <a:lnTo>
                    <a:pt x="53973" y="518520"/>
                  </a:lnTo>
                  <a:lnTo>
                    <a:pt x="73023" y="518520"/>
                  </a:lnTo>
                  <a:lnTo>
                    <a:pt x="73023" y="442320"/>
                  </a:lnTo>
                  <a:close/>
                </a:path>
                <a:path w="127000" h="1052195">
                  <a:moveTo>
                    <a:pt x="73023" y="308970"/>
                  </a:moveTo>
                  <a:lnTo>
                    <a:pt x="53973" y="308970"/>
                  </a:lnTo>
                  <a:lnTo>
                    <a:pt x="53973" y="385170"/>
                  </a:lnTo>
                  <a:lnTo>
                    <a:pt x="73023" y="385170"/>
                  </a:lnTo>
                  <a:lnTo>
                    <a:pt x="73023" y="308970"/>
                  </a:lnTo>
                  <a:close/>
                </a:path>
                <a:path w="127000" h="1052195">
                  <a:moveTo>
                    <a:pt x="73025" y="175620"/>
                  </a:moveTo>
                  <a:lnTo>
                    <a:pt x="53975" y="175620"/>
                  </a:lnTo>
                  <a:lnTo>
                    <a:pt x="53975" y="251820"/>
                  </a:lnTo>
                  <a:lnTo>
                    <a:pt x="73025" y="251820"/>
                  </a:lnTo>
                  <a:lnTo>
                    <a:pt x="73025" y="175620"/>
                  </a:lnTo>
                  <a:close/>
                </a:path>
                <a:path w="127000" h="1052195">
                  <a:moveTo>
                    <a:pt x="63500" y="0"/>
                  </a:moveTo>
                  <a:lnTo>
                    <a:pt x="0" y="127000"/>
                  </a:lnTo>
                  <a:lnTo>
                    <a:pt x="127000" y="127000"/>
                  </a:lnTo>
                  <a:lnTo>
                    <a:pt x="122735" y="118470"/>
                  </a:lnTo>
                  <a:lnTo>
                    <a:pt x="53975" y="118470"/>
                  </a:lnTo>
                  <a:lnTo>
                    <a:pt x="53975" y="114300"/>
                  </a:lnTo>
                  <a:lnTo>
                    <a:pt x="120650" y="114300"/>
                  </a:lnTo>
                  <a:lnTo>
                    <a:pt x="63500" y="0"/>
                  </a:lnTo>
                  <a:close/>
                </a:path>
                <a:path w="127000" h="1052195">
                  <a:moveTo>
                    <a:pt x="73025" y="114300"/>
                  </a:moveTo>
                  <a:lnTo>
                    <a:pt x="53975" y="114300"/>
                  </a:lnTo>
                  <a:lnTo>
                    <a:pt x="53975" y="118470"/>
                  </a:lnTo>
                  <a:lnTo>
                    <a:pt x="73025" y="118470"/>
                  </a:lnTo>
                  <a:lnTo>
                    <a:pt x="73025" y="114300"/>
                  </a:lnTo>
                  <a:close/>
                </a:path>
                <a:path w="127000" h="1052195">
                  <a:moveTo>
                    <a:pt x="120650" y="114300"/>
                  </a:moveTo>
                  <a:lnTo>
                    <a:pt x="73025" y="114300"/>
                  </a:lnTo>
                  <a:lnTo>
                    <a:pt x="73025" y="118470"/>
                  </a:lnTo>
                  <a:lnTo>
                    <a:pt x="122735" y="118470"/>
                  </a:lnTo>
                  <a:lnTo>
                    <a:pt x="120650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80480" y="3354754"/>
            <a:ext cx="860961" cy="272987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4152583" y="4525472"/>
            <a:ext cx="137160" cy="436457"/>
            <a:chOff x="6228874" y="6788208"/>
            <a:chExt cx="205740" cy="654685"/>
          </a:xfrm>
        </p:grpSpPr>
        <p:sp>
          <p:nvSpPr>
            <p:cNvPr id="39" name="object 39"/>
            <p:cNvSpPr/>
            <p:nvPr/>
          </p:nvSpPr>
          <p:spPr>
            <a:xfrm>
              <a:off x="6241574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39" h="629284">
                  <a:moveTo>
                    <a:pt x="179771" y="0"/>
                  </a:moveTo>
                  <a:lnTo>
                    <a:pt x="0" y="0"/>
                  </a:lnTo>
                  <a:lnTo>
                    <a:pt x="0" y="629202"/>
                  </a:lnTo>
                  <a:lnTo>
                    <a:pt x="179771" y="629202"/>
                  </a:lnTo>
                  <a:lnTo>
                    <a:pt x="179771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6241574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39" h="629284">
                  <a:moveTo>
                    <a:pt x="0" y="0"/>
                  </a:moveTo>
                  <a:lnTo>
                    <a:pt x="179771" y="0"/>
                  </a:lnTo>
                  <a:lnTo>
                    <a:pt x="179771" y="629203"/>
                  </a:lnTo>
                  <a:lnTo>
                    <a:pt x="0" y="6292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26660" y="4768088"/>
            <a:ext cx="10515600" cy="1830715"/>
          </a:xfrm>
          <a:prstGeom prst="rect">
            <a:avLst/>
          </a:prstGeom>
        </p:spPr>
        <p:txBody>
          <a:bodyPr vert="horz" wrap="square" lIns="0" tIns="22437" rIns="0" bIns="0" rtlCol="0">
            <a:spAutoFit/>
          </a:bodyPr>
          <a:lstStyle/>
          <a:p>
            <a:pPr marL="1154064">
              <a:spcBef>
                <a:spcPts val="177"/>
              </a:spcBef>
            </a:pPr>
            <a:r>
              <a:rPr sz="1333" spc="-17" dirty="0">
                <a:latin typeface="Trebuchet MS"/>
                <a:cs typeface="Trebuchet MS"/>
              </a:rPr>
              <a:t>Time</a:t>
            </a:r>
            <a:r>
              <a:rPr sz="1333" spc="-13" dirty="0">
                <a:latin typeface="Trebuchet MS"/>
                <a:cs typeface="Trebuchet MS"/>
              </a:rPr>
              <a:t> </a:t>
            </a:r>
            <a:r>
              <a:rPr sz="1333" spc="-10" dirty="0">
                <a:latin typeface="Trebuchet MS"/>
                <a:cs typeface="Trebuchet MS"/>
              </a:rPr>
              <a:t>Representation</a:t>
            </a:r>
            <a:endParaRPr sz="1333">
              <a:latin typeface="Trebuchet MS"/>
              <a:cs typeface="Trebuchet MS"/>
            </a:endParaRPr>
          </a:p>
          <a:p>
            <a:pPr marL="3380062" marR="6280887" indent="-364932">
              <a:lnSpc>
                <a:spcPts val="1473"/>
              </a:lnSpc>
              <a:spcBef>
                <a:spcPts val="267"/>
              </a:spcBef>
            </a:pPr>
            <a:r>
              <a:rPr sz="1333" dirty="0">
                <a:latin typeface="Trebuchet MS"/>
                <a:cs typeface="Trebuchet MS"/>
              </a:rPr>
              <a:t>F</a:t>
            </a:r>
            <a:r>
              <a:rPr sz="1333" spc="-3" dirty="0">
                <a:latin typeface="Trebuchet MS"/>
                <a:cs typeface="Trebuchet MS"/>
              </a:rPr>
              <a:t>ull</a:t>
            </a:r>
            <a:r>
              <a:rPr sz="1333" dirty="0">
                <a:latin typeface="Trebuchet MS"/>
                <a:cs typeface="Trebuchet MS"/>
              </a:rPr>
              <a:t>y-</a:t>
            </a:r>
            <a:r>
              <a:rPr sz="1333" spc="-3" dirty="0">
                <a:latin typeface="Trebuchet MS"/>
                <a:cs typeface="Trebuchet MS"/>
              </a:rPr>
              <a:t>c</a:t>
            </a:r>
            <a:r>
              <a:rPr sz="1333" dirty="0">
                <a:latin typeface="Trebuchet MS"/>
                <a:cs typeface="Trebuchet MS"/>
              </a:rPr>
              <a:t>o</a:t>
            </a:r>
            <a:r>
              <a:rPr sz="1333" spc="-7" dirty="0">
                <a:latin typeface="Trebuchet MS"/>
                <a:cs typeface="Trebuchet MS"/>
              </a:rPr>
              <a:t>nn</a:t>
            </a:r>
            <a:r>
              <a:rPr sz="1333" spc="-3" dirty="0">
                <a:latin typeface="Trebuchet MS"/>
                <a:cs typeface="Trebuchet MS"/>
              </a:rPr>
              <a:t>ec</a:t>
            </a:r>
            <a:r>
              <a:rPr sz="1333" spc="-7" dirty="0">
                <a:latin typeface="Trebuchet MS"/>
                <a:cs typeface="Trebuchet MS"/>
              </a:rPr>
              <a:t>t</a:t>
            </a:r>
            <a:r>
              <a:rPr sz="1333" spc="-3" dirty="0">
                <a:latin typeface="Trebuchet MS"/>
                <a:cs typeface="Trebuchet MS"/>
              </a:rPr>
              <a:t>ed  Layers</a:t>
            </a:r>
            <a:endParaRPr sz="1333">
              <a:latin typeface="Trebuchet MS"/>
              <a:cs typeface="Trebuchet MS"/>
            </a:endParaRPr>
          </a:p>
          <a:p>
            <a:pPr>
              <a:spcBef>
                <a:spcPts val="30"/>
              </a:spcBef>
            </a:pPr>
            <a:endParaRPr sz="1500">
              <a:latin typeface="Trebuchet MS"/>
              <a:cs typeface="Trebuchet MS"/>
            </a:endParaRPr>
          </a:p>
          <a:p>
            <a:pPr marL="8467"/>
            <a:r>
              <a:rPr sz="1533" spc="7" dirty="0">
                <a:latin typeface="Trebuchet MS"/>
                <a:cs typeface="Trebuchet MS"/>
              </a:rPr>
              <a:t>Time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representation: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sinusoidal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positional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embeddings</a:t>
            </a:r>
            <a:r>
              <a:rPr sz="1533" spc="2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or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random</a:t>
            </a:r>
            <a:r>
              <a:rPr sz="1533" spc="2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Fourier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features.</a:t>
            </a:r>
            <a:endParaRPr sz="1533">
              <a:latin typeface="Trebuchet MS"/>
              <a:cs typeface="Trebuchet MS"/>
            </a:endParaRPr>
          </a:p>
          <a:p>
            <a:pPr>
              <a:spcBef>
                <a:spcPts val="13"/>
              </a:spcBef>
            </a:pPr>
            <a:endParaRPr>
              <a:latin typeface="Trebuchet MS"/>
              <a:cs typeface="Trebuchet MS"/>
            </a:endParaRPr>
          </a:p>
          <a:p>
            <a:pPr marL="8467" marR="3387">
              <a:lnSpc>
                <a:spcPts val="1667"/>
              </a:lnSpc>
            </a:pPr>
            <a:r>
              <a:rPr sz="1533" spc="7" dirty="0">
                <a:latin typeface="Trebuchet MS"/>
                <a:cs typeface="Trebuchet MS"/>
              </a:rPr>
              <a:t>Time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features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are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fed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to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the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residual</a:t>
            </a:r>
            <a:r>
              <a:rPr sz="1533" spc="1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blocks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using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either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simple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spatial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addition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3" dirty="0">
                <a:latin typeface="Trebuchet MS"/>
                <a:cs typeface="Trebuchet MS"/>
              </a:rPr>
              <a:t>or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using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adaptive</a:t>
            </a:r>
            <a:r>
              <a:rPr sz="1533" spc="17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group</a:t>
            </a:r>
            <a:r>
              <a:rPr sz="1533" spc="13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normalization </a:t>
            </a:r>
            <a:r>
              <a:rPr sz="1533" spc="-45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layers.</a:t>
            </a:r>
            <a:r>
              <a:rPr sz="1533" spc="10" dirty="0">
                <a:latin typeface="Trebuchet MS"/>
                <a:cs typeface="Trebuchet MS"/>
              </a:rPr>
              <a:t> </a:t>
            </a:r>
            <a:r>
              <a:rPr sz="1533" spc="7" dirty="0">
                <a:latin typeface="Trebuchet MS"/>
                <a:cs typeface="Trebuchet MS"/>
              </a:rPr>
              <a:t>(see</a:t>
            </a:r>
            <a:r>
              <a:rPr sz="1533" spc="20" dirty="0"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Dharivwal</a:t>
            </a:r>
            <a:r>
              <a:rPr sz="1533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and</a:t>
            </a:r>
            <a:r>
              <a:rPr sz="1533" u="sng" spc="1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Nichol</a:t>
            </a:r>
            <a:r>
              <a:rPr sz="1533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NeurIPS</a:t>
            </a:r>
            <a:r>
              <a:rPr sz="1533" u="sng" spc="13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 </a:t>
            </a:r>
            <a:r>
              <a:rPr sz="1533" u="sng" spc="7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</a:rPr>
              <a:t>2021</a:t>
            </a:r>
            <a:r>
              <a:rPr sz="1533" spc="7" dirty="0">
                <a:latin typeface="Trebuchet MS"/>
                <a:cs typeface="Trebuchet MS"/>
              </a:rPr>
              <a:t>)</a:t>
            </a:r>
            <a:endParaRPr sz="1533">
              <a:latin typeface="Trebuchet MS"/>
              <a:cs typeface="Trebuchet MS"/>
            </a:endParaRPr>
          </a:p>
        </p:txBody>
      </p:sp>
      <p:pic>
        <p:nvPicPr>
          <p:cNvPr id="42" name="object 4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13801" y="2863248"/>
            <a:ext cx="1114708" cy="111470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32358" y="2863248"/>
            <a:ext cx="1114709" cy="1114709"/>
          </a:xfrm>
          <a:prstGeom prst="rect">
            <a:avLst/>
          </a:prstGeom>
        </p:spPr>
      </p:pic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2161317" y="4507386"/>
          <a:ext cx="758612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11059947" y="6532647"/>
            <a:ext cx="154517" cy="125248"/>
          </a:xfrm>
          <a:prstGeom prst="rect">
            <a:avLst/>
          </a:prstGeom>
        </p:spPr>
        <p:txBody>
          <a:bodyPr vert="horz" wrap="square" lIns="0" tIns="2117" rIns="0" bIns="0" rtlCol="0">
            <a:spAutoFit/>
          </a:bodyPr>
          <a:lstStyle/>
          <a:p>
            <a:pPr marL="25401">
              <a:spcBef>
                <a:spcPts val="17"/>
              </a:spcBef>
            </a:pPr>
            <a:r>
              <a:rPr sz="800" dirty="0">
                <a:solidFill>
                  <a:srgbClr val="8C8C8C"/>
                </a:solidFill>
                <a:latin typeface="Trebuchet MS"/>
                <a:cs typeface="Trebuchet MS"/>
              </a:rPr>
              <a:t>28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34449D-9905-22BC-9C10-E151121D9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939152"/>
            <a:ext cx="10972800" cy="3848059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AF1B9F-87E5-123B-D21C-E2913C41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E3638-8687-483A-BA57-9D245A91C324}" type="datetime1">
              <a:rPr lang="en-US" smtClean="0"/>
              <a:t>5/12/2025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11B7C3-B04B-4C7E-90EA-E64368E48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A3353-D78E-8A6C-500D-BCE916E0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D24BF6-56A5-6DCB-DA8E-8753DB86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(LDM)</a:t>
            </a:r>
          </a:p>
        </p:txBody>
      </p:sp>
    </p:spTree>
    <p:extLst>
      <p:ext uri="{BB962C8B-B14F-4D97-AF65-F5344CB8AC3E}">
        <p14:creationId xmlns:p14="http://schemas.microsoft.com/office/powerpoint/2010/main" val="167800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F6C2D-0F92-BC60-EA18-D43F6078C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D4E03-F036-C0FB-654E-686086B9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1D644-3CF4-40CB-8288-B46D9B66A99B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96F4D-D0AB-F72E-9CE1-43AD7697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97E09-3CA1-3C44-6E93-E9A93015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67" name="Google Shape;867;p1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GB"/>
              <a:t>Latent Diffusion Model</a:t>
            </a:r>
            <a:endParaRPr/>
          </a:p>
        </p:txBody>
      </p:sp>
      <p:pic>
        <p:nvPicPr>
          <p:cNvPr id="870" name="Google Shape;87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934" y="1427364"/>
            <a:ext cx="8962133" cy="439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51B7D2-8C1A-F60D-A163-CA3AB9FFE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The main change to the system: </a:t>
            </a:r>
          </a:p>
          <a:p>
            <a:pPr lvl="1"/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add support for text inputs 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(technical term: text conditioning) </a:t>
            </a:r>
          </a:p>
          <a:p>
            <a:pPr lvl="1"/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an attention layer between the </a:t>
            </a:r>
            <a:r>
              <a:rPr lang="en-US" b="1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ResNet</a:t>
            </a:r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 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blocks.</a:t>
            </a:r>
          </a:p>
          <a:p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ResNet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 block doesn’t directly look at the text. 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Attention layers merge those text representations in the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latents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. </a:t>
            </a:r>
          </a:p>
          <a:p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ResNet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 can utilize that incorporated text information in its processing.</a:t>
            </a:r>
          </a:p>
          <a:p>
            <a:r>
              <a:rPr lang="en-US" dirty="0">
                <a:solidFill>
                  <a:srgbClr val="0099CC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Work in latent space</a:t>
            </a:r>
            <a:endParaRPr lang="en-US" dirty="0">
              <a:solidFill>
                <a:srgbClr val="0099CC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05D4E4-9CA2-5C46-C742-2228EC46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6457-E6DC-4590-9054-C7EA44EF3452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5B27B-87B6-E623-6607-BEEB5D2C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0C1B4-B6A8-B359-B713-7B7239AF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76F760-12BB-124E-FB36-36408A72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Latent Diffusion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69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F1FA4-D24B-D414-C580-0DF04105A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4E11-5D9D-46D3-9D7D-C834AE6AFB55}" type="datetime1">
              <a:rPr lang="en-US" smtClean="0"/>
              <a:t>5/12/2025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9F70559-E7EA-1CC3-350E-2CBFE8C4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3B2B01-6BE7-FF2D-CBA9-64BCAFAC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11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27049" y="1614296"/>
            <a:ext cx="9704070" cy="4306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36703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800" spc="180" dirty="0">
                <a:latin typeface="Tahoma"/>
                <a:cs typeface="Tahoma"/>
              </a:rPr>
              <a:t>A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language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model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FF0000"/>
                </a:solidFill>
                <a:latin typeface="Tahoma"/>
                <a:cs typeface="Tahoma"/>
              </a:rPr>
              <a:t>probabilistic</a:t>
            </a:r>
            <a:r>
              <a:rPr sz="1800" spc="-1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85" dirty="0">
                <a:solidFill>
                  <a:srgbClr val="FF0000"/>
                </a:solidFill>
                <a:latin typeface="Tahoma"/>
                <a:cs typeface="Tahoma"/>
              </a:rPr>
              <a:t>model</a:t>
            </a:r>
            <a:r>
              <a:rPr sz="1800" spc="-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assigns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probabilities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lang="en-US" sz="1800" spc="-70" dirty="0">
                <a:latin typeface="Tahoma"/>
                <a:cs typeface="Tahoma"/>
              </a:rPr>
              <a:t>a </a:t>
            </a:r>
            <a:r>
              <a:rPr sz="1800" spc="65" dirty="0">
                <a:solidFill>
                  <a:srgbClr val="FF0000"/>
                </a:solidFill>
                <a:latin typeface="Tahoma"/>
                <a:cs typeface="Tahoma"/>
              </a:rPr>
              <a:t>sequence</a:t>
            </a:r>
            <a:r>
              <a:rPr sz="1800" spc="-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8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words</a:t>
            </a:r>
            <a:r>
              <a:rPr sz="1800" spc="-10" dirty="0">
                <a:latin typeface="Tahoma"/>
                <a:cs typeface="Tahoma"/>
              </a:rPr>
              <a:t>. </a:t>
            </a:r>
            <a:endParaRPr lang="en-US" sz="1800" spc="-10" dirty="0">
              <a:latin typeface="Tahoma"/>
              <a:cs typeface="Tahoma"/>
            </a:endParaRPr>
          </a:p>
          <a:p>
            <a:pPr marL="298450" marR="36703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Language modeling is </a:t>
            </a:r>
            <a:r>
              <a:rPr lang="en-US" b="1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 </a:t>
            </a:r>
            <a:r>
              <a:rPr lang="en-US" b="1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technique that predicts the order of words in a sentence</a:t>
            </a:r>
            <a:r>
              <a:rPr lang="en-US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  <a:endParaRPr lang="en-US" sz="1800" spc="-10" dirty="0">
              <a:latin typeface="Tahoma"/>
              <a:cs typeface="Tahoma"/>
            </a:endParaRPr>
          </a:p>
          <a:p>
            <a:pPr marL="298450" marR="36703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spc="-95" dirty="0">
                <a:latin typeface="Tahoma"/>
                <a:cs typeface="Tahoma"/>
              </a:rPr>
              <a:t>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language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model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allows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compute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following: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 dirty="0">
              <a:latin typeface="Tahoma"/>
              <a:cs typeface="Tahoma"/>
            </a:endParaRPr>
          </a:p>
          <a:p>
            <a:pPr marL="3609340">
              <a:lnSpc>
                <a:spcPct val="100000"/>
              </a:lnSpc>
            </a:pPr>
            <a:r>
              <a:rPr sz="1800" dirty="0">
                <a:solidFill>
                  <a:srgbClr val="1266DC"/>
                </a:solidFill>
                <a:latin typeface="Tahoma"/>
                <a:cs typeface="Tahoma"/>
              </a:rPr>
              <a:t>P</a:t>
            </a:r>
            <a:r>
              <a:rPr sz="1800" spc="-35" dirty="0">
                <a:solidFill>
                  <a:srgbClr val="1266DC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1266DC"/>
                </a:solidFill>
                <a:latin typeface="Tahoma"/>
                <a:cs typeface="Tahoma"/>
              </a:rPr>
              <a:t>[</a:t>
            </a:r>
            <a:r>
              <a:rPr sz="1800" spc="-45" dirty="0">
                <a:solidFill>
                  <a:srgbClr val="1266DC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“</a:t>
            </a:r>
            <a:r>
              <a:rPr lang="en-US" sz="1800" dirty="0">
                <a:latin typeface="Tahoma"/>
                <a:cs typeface="Tahoma"/>
              </a:rPr>
              <a:t>Islamabad</a:t>
            </a:r>
            <a:r>
              <a:rPr sz="1800" dirty="0">
                <a:latin typeface="Tahoma"/>
                <a:cs typeface="Tahoma"/>
              </a:rPr>
              <a:t>”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290" dirty="0">
                <a:solidFill>
                  <a:srgbClr val="1266DC"/>
                </a:solidFill>
                <a:latin typeface="Tahoma"/>
                <a:cs typeface="Tahoma"/>
              </a:rPr>
              <a:t>|</a:t>
            </a:r>
            <a:r>
              <a:rPr sz="1800" spc="-40" dirty="0">
                <a:solidFill>
                  <a:srgbClr val="1266DC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“</a:t>
            </a:r>
            <a:r>
              <a:rPr lang="en-US" sz="1800" dirty="0">
                <a:latin typeface="Tahoma"/>
                <a:cs typeface="Tahoma"/>
              </a:rPr>
              <a:t>Capital of Pakistan is</a:t>
            </a:r>
            <a:r>
              <a:rPr sz="1800" dirty="0">
                <a:latin typeface="Tahoma"/>
                <a:cs typeface="Tahoma"/>
              </a:rPr>
              <a:t>”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1266DC"/>
                </a:solidFill>
                <a:latin typeface="Tahoma"/>
                <a:cs typeface="Tahoma"/>
              </a:rPr>
              <a:t>]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800" dirty="0">
              <a:latin typeface="Tahoma"/>
              <a:cs typeface="Tahoma"/>
            </a:endParaRPr>
          </a:p>
          <a:p>
            <a:pPr marL="3686175">
              <a:lnSpc>
                <a:spcPct val="100000"/>
              </a:lnSpc>
              <a:tabLst>
                <a:tab pos="5530850" algn="l"/>
              </a:tabLst>
            </a:pPr>
            <a:r>
              <a:rPr sz="1800" b="1" spc="-40" dirty="0">
                <a:latin typeface="Tahoma"/>
                <a:cs typeface="Tahoma"/>
              </a:rPr>
              <a:t>Next</a:t>
            </a:r>
            <a:r>
              <a:rPr sz="1800" b="1" spc="-9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Token</a:t>
            </a:r>
            <a:r>
              <a:rPr sz="1800" b="1" dirty="0">
                <a:latin typeface="Tahoma"/>
                <a:cs typeface="Tahoma"/>
              </a:rPr>
              <a:t>	</a:t>
            </a:r>
            <a:r>
              <a:rPr lang="en-US" sz="1800" b="1" dirty="0">
                <a:latin typeface="Tahoma"/>
                <a:cs typeface="Tahoma"/>
              </a:rPr>
              <a:t>         </a:t>
            </a:r>
            <a:r>
              <a:rPr sz="1800" b="1" spc="-10" dirty="0">
                <a:latin typeface="Tahoma"/>
                <a:cs typeface="Tahoma"/>
              </a:rPr>
              <a:t>Prompt</a:t>
            </a:r>
            <a:endParaRPr sz="1800" dirty="0">
              <a:latin typeface="Tahoma"/>
              <a:cs typeface="Tahoma"/>
            </a:endParaRPr>
          </a:p>
          <a:p>
            <a:pPr marL="298450" marR="5080" indent="-285750">
              <a:lnSpc>
                <a:spcPct val="100000"/>
              </a:lnSpc>
              <a:spcBef>
                <a:spcPts val="1925"/>
              </a:spcBef>
              <a:buFont typeface="Arial" panose="020B0604020202020204" pitchFamily="34" charset="0"/>
              <a:buChar char="•"/>
            </a:pPr>
            <a:r>
              <a:rPr lang="en-US" sz="1800" spc="60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rain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neural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network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predict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these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probabilities.</a:t>
            </a:r>
            <a:r>
              <a:rPr sz="1800" spc="-145" dirty="0">
                <a:latin typeface="Tahoma"/>
                <a:cs typeface="Tahoma"/>
              </a:rPr>
              <a:t> </a:t>
            </a:r>
            <a:endParaRPr lang="en-US" sz="1800" spc="-145" dirty="0">
              <a:latin typeface="Tahoma"/>
              <a:cs typeface="Tahoma"/>
            </a:endParaRPr>
          </a:p>
          <a:p>
            <a:pPr marL="298450" marR="5080" indent="-285750">
              <a:lnSpc>
                <a:spcPct val="100000"/>
              </a:lnSpc>
              <a:spcBef>
                <a:spcPts val="1925"/>
              </a:spcBef>
              <a:buFont typeface="Arial" panose="020B0604020202020204" pitchFamily="34" charset="0"/>
              <a:buChar char="•"/>
            </a:pPr>
            <a:r>
              <a:rPr sz="1800" spc="180" dirty="0">
                <a:latin typeface="Tahoma"/>
                <a:cs typeface="Tahoma"/>
              </a:rPr>
              <a:t>A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neural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network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trained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on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lang="en-US" sz="1800" spc="-50" dirty="0">
                <a:latin typeface="Tahoma"/>
                <a:cs typeface="Tahoma"/>
              </a:rPr>
              <a:t>a large corpus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 text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known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Large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FF0000"/>
                </a:solidFill>
                <a:latin typeface="Tahoma"/>
                <a:cs typeface="Tahoma"/>
              </a:rPr>
              <a:t>Language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FF0000"/>
                </a:solidFill>
                <a:latin typeface="Tahoma"/>
                <a:cs typeface="Tahoma"/>
              </a:rPr>
              <a:t>Model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(LLM).</a:t>
            </a:r>
            <a:endParaRPr sz="18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5974E-3086-3FE3-4540-53E050B0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674-269E-465C-A4D1-7002C4B9BBC7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033EED-7E39-329B-2DC9-407617EB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317D3E-149C-3253-2FE2-745D98E1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0" dirty="0"/>
              <a:t>What</a:t>
            </a:r>
            <a:r>
              <a:rPr sz="4400" spc="-185" dirty="0"/>
              <a:t> </a:t>
            </a:r>
            <a:r>
              <a:rPr sz="4400" spc="-385" dirty="0"/>
              <a:t>is</a:t>
            </a:r>
            <a:r>
              <a:rPr sz="4400" spc="-10" dirty="0"/>
              <a:t> </a:t>
            </a:r>
            <a:r>
              <a:rPr sz="4400" dirty="0"/>
              <a:t>a</a:t>
            </a:r>
            <a:r>
              <a:rPr sz="4400" spc="-105" dirty="0"/>
              <a:t> </a:t>
            </a:r>
            <a:r>
              <a:rPr sz="4400" spc="-180" dirty="0"/>
              <a:t>language</a:t>
            </a:r>
            <a:r>
              <a:rPr sz="4400" spc="-85" dirty="0"/>
              <a:t> </a:t>
            </a:r>
            <a:r>
              <a:rPr sz="4400" spc="-350" dirty="0"/>
              <a:t>model?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6096000" y="3934856"/>
            <a:ext cx="2285998" cy="277495"/>
          </a:xfrm>
          <a:custGeom>
            <a:avLst/>
            <a:gdLst/>
            <a:ahLst/>
            <a:cxnLst/>
            <a:rect l="l" t="t" r="r" b="b"/>
            <a:pathLst>
              <a:path w="2089784" h="277495">
                <a:moveTo>
                  <a:pt x="2089403" y="0"/>
                </a:moveTo>
                <a:lnTo>
                  <a:pt x="2087596" y="53976"/>
                </a:lnTo>
                <a:lnTo>
                  <a:pt x="2082657" y="98059"/>
                </a:lnTo>
                <a:lnTo>
                  <a:pt x="2075312" y="127783"/>
                </a:lnTo>
                <a:lnTo>
                  <a:pt x="2066289" y="138684"/>
                </a:lnTo>
                <a:lnTo>
                  <a:pt x="1067815" y="138684"/>
                </a:lnTo>
                <a:lnTo>
                  <a:pt x="1058793" y="149584"/>
                </a:lnTo>
                <a:lnTo>
                  <a:pt x="1051448" y="179308"/>
                </a:lnTo>
                <a:lnTo>
                  <a:pt x="1046509" y="223391"/>
                </a:lnTo>
                <a:lnTo>
                  <a:pt x="1044701" y="277367"/>
                </a:lnTo>
                <a:lnTo>
                  <a:pt x="1042894" y="223391"/>
                </a:lnTo>
                <a:lnTo>
                  <a:pt x="1037955" y="179308"/>
                </a:lnTo>
                <a:lnTo>
                  <a:pt x="1030610" y="149584"/>
                </a:lnTo>
                <a:lnTo>
                  <a:pt x="1021587" y="138684"/>
                </a:lnTo>
                <a:lnTo>
                  <a:pt x="23113" y="138684"/>
                </a:lnTo>
                <a:lnTo>
                  <a:pt x="14091" y="127783"/>
                </a:lnTo>
                <a:lnTo>
                  <a:pt x="6746" y="98059"/>
                </a:lnTo>
                <a:lnTo>
                  <a:pt x="1807" y="53976"/>
                </a:lnTo>
                <a:lnTo>
                  <a:pt x="0" y="0"/>
                </a:lnTo>
              </a:path>
            </a:pathLst>
          </a:custGeom>
          <a:ln w="3810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0" y="3934856"/>
            <a:ext cx="1371600" cy="277495"/>
          </a:xfrm>
          <a:custGeom>
            <a:avLst/>
            <a:gdLst/>
            <a:ahLst/>
            <a:cxnLst/>
            <a:rect l="l" t="t" r="r" b="b"/>
            <a:pathLst>
              <a:path w="798829" h="277495">
                <a:moveTo>
                  <a:pt x="798576" y="0"/>
                </a:moveTo>
                <a:lnTo>
                  <a:pt x="796768" y="53976"/>
                </a:lnTo>
                <a:lnTo>
                  <a:pt x="791829" y="98059"/>
                </a:lnTo>
                <a:lnTo>
                  <a:pt x="784484" y="127783"/>
                </a:lnTo>
                <a:lnTo>
                  <a:pt x="775462" y="138684"/>
                </a:lnTo>
                <a:lnTo>
                  <a:pt x="422401" y="138684"/>
                </a:lnTo>
                <a:lnTo>
                  <a:pt x="413379" y="149584"/>
                </a:lnTo>
                <a:lnTo>
                  <a:pt x="406034" y="179308"/>
                </a:lnTo>
                <a:lnTo>
                  <a:pt x="401095" y="223391"/>
                </a:lnTo>
                <a:lnTo>
                  <a:pt x="399288" y="277367"/>
                </a:lnTo>
                <a:lnTo>
                  <a:pt x="397480" y="223391"/>
                </a:lnTo>
                <a:lnTo>
                  <a:pt x="392541" y="179308"/>
                </a:lnTo>
                <a:lnTo>
                  <a:pt x="385196" y="149584"/>
                </a:lnTo>
                <a:lnTo>
                  <a:pt x="376174" y="138684"/>
                </a:lnTo>
                <a:lnTo>
                  <a:pt x="23113" y="138684"/>
                </a:lnTo>
                <a:lnTo>
                  <a:pt x="14091" y="127783"/>
                </a:lnTo>
                <a:lnTo>
                  <a:pt x="6746" y="98059"/>
                </a:lnTo>
                <a:lnTo>
                  <a:pt x="1807" y="53976"/>
                </a:lnTo>
                <a:lnTo>
                  <a:pt x="0" y="0"/>
                </a:lnTo>
              </a:path>
            </a:pathLst>
          </a:custGeom>
          <a:ln w="38099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39694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8A1521-3506-2274-19D0-8D11CBD50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Large Language Models (LLMs): AI systems designed to understand, generate, and interact using human language at a large scale. </a:t>
            </a:r>
          </a:p>
          <a:p>
            <a:r>
              <a:rPr lang="en-US" dirty="0"/>
              <a:t>Uses deep learning techniques (neural networks)</a:t>
            </a:r>
          </a:p>
          <a:p>
            <a:r>
              <a:rPr lang="en-US" b="1" dirty="0"/>
              <a:t>Scale:</a:t>
            </a:r>
            <a:r>
              <a:rPr lang="en-US" dirty="0"/>
              <a:t> The "large" in LLMs typically refers to:</a:t>
            </a:r>
          </a:p>
          <a:p>
            <a:pPr lvl="1"/>
            <a:r>
              <a:rPr lang="en-US" dirty="0"/>
              <a:t>The size of the training datasets (often billions of words)</a:t>
            </a:r>
          </a:p>
          <a:p>
            <a:pPr lvl="1"/>
            <a:r>
              <a:rPr lang="en-US" dirty="0"/>
              <a:t>The complexity of the model itself (millions to billions of parameters). </a:t>
            </a:r>
          </a:p>
          <a:p>
            <a:r>
              <a:rPr lang="en-US" b="1" dirty="0"/>
              <a:t>Training</a:t>
            </a:r>
            <a:r>
              <a:rPr lang="en-US" dirty="0"/>
              <a:t>: Trained on diverse and extensive text datasets </a:t>
            </a:r>
          </a:p>
          <a:p>
            <a:pPr lvl="1"/>
            <a:r>
              <a:rPr lang="en-US" dirty="0"/>
              <a:t>From books, websites, and other forms of media to learn patterns, grammar, context, and nuances of languages. </a:t>
            </a:r>
          </a:p>
          <a:p>
            <a:pPr lvl="1"/>
            <a:r>
              <a:rPr lang="en-US" dirty="0"/>
              <a:t>This training enables the models to understand and produce human-like text.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E4A1B-2C5B-ACFF-822E-E5E0A62D4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874A9-14E9-4242-AE3A-740F3261AFC1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A5BBE-3A87-CD7D-12E3-945FB08C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31A53-B382-570F-8AB3-94E316D6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A49559-58A2-0474-93EB-F1FA86C3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</p:spTree>
    <p:extLst>
      <p:ext uri="{BB962C8B-B14F-4D97-AF65-F5344CB8AC3E}">
        <p14:creationId xmlns:p14="http://schemas.microsoft.com/office/powerpoint/2010/main" val="33743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8A1521-3506-2274-19D0-8D11CBD50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Capabilities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LLMs can perform a wide variety of language-based tasks without needing task-specific training. </a:t>
            </a:r>
          </a:p>
          <a:p>
            <a:pPr lvl="1"/>
            <a:r>
              <a:rPr lang="en-US" dirty="0"/>
              <a:t>Translating languages, summarizing long documents, generating readable text, answering questions, and even creating content like poems, stories, and code.</a:t>
            </a:r>
          </a:p>
          <a:p>
            <a:r>
              <a:rPr lang="en-US" b="1" dirty="0"/>
              <a:t>Transformer Architecture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Most modern LLMs, such as GPT (Generative Pre-trained Transformer) and </a:t>
            </a:r>
            <a:r>
              <a:rPr lang="en-US" dirty="0">
                <a:solidFill>
                  <a:srgbClr val="FF0000"/>
                </a:solidFill>
              </a:rPr>
              <a:t>BERT (Bidirectional Encoder Representations from Transformers)</a:t>
            </a:r>
            <a:r>
              <a:rPr lang="en-US" dirty="0"/>
              <a:t>, are based on the transformer architecture</a:t>
            </a:r>
          </a:p>
          <a:p>
            <a:pPr lvl="1"/>
            <a:r>
              <a:rPr lang="en-US" dirty="0"/>
              <a:t>Effective at handling sequences of data and maintains context over long distances within text.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E4A1B-2C5B-ACFF-822E-E5E0A62D4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3759-81B1-48D4-BA6E-062201DE5DD3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A5BBE-3A87-CD7D-12E3-945FB08C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31A53-B382-570F-8AB3-94E316D6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A49559-58A2-0474-93EB-F1FA86C3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</p:spTree>
    <p:extLst>
      <p:ext uri="{BB962C8B-B14F-4D97-AF65-F5344CB8AC3E}">
        <p14:creationId xmlns:p14="http://schemas.microsoft.com/office/powerpoint/2010/main" val="4080689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8A1521-3506-2274-19D0-8D11CBD50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of Large Language Models: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Generating articles, writing assistance, creative writing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Chatbots and virtual assistants.</a:t>
            </a:r>
          </a:p>
          <a:p>
            <a:pPr lvl="1"/>
            <a:r>
              <a:rPr lang="en-US" dirty="0"/>
              <a:t>Extracting structured information from </a:t>
            </a:r>
            <a:r>
              <a:rPr lang="en-US" dirty="0">
                <a:solidFill>
                  <a:srgbClr val="FF0000"/>
                </a:solidFill>
              </a:rPr>
              <a:t>unstructured text</a:t>
            </a:r>
            <a:r>
              <a:rPr lang="en-US" dirty="0"/>
              <a:t>, such as names, dates, and facts.</a:t>
            </a:r>
          </a:p>
          <a:p>
            <a:pPr lvl="1"/>
            <a:r>
              <a:rPr lang="en-US" dirty="0"/>
              <a:t>Determining the sentiment behind text entries</a:t>
            </a:r>
          </a:p>
          <a:p>
            <a:pPr lvl="1"/>
            <a:r>
              <a:rPr lang="en-US" dirty="0"/>
              <a:t>Translating text between languages with high accuracy.</a:t>
            </a:r>
          </a:p>
          <a:p>
            <a:pPr lvl="1"/>
            <a:r>
              <a:rPr lang="en-US" b="1" dirty="0"/>
              <a:t>Assisting in doing assignments</a:t>
            </a:r>
            <a:r>
              <a:rPr lang="en-US" dirty="0"/>
              <a:t>: providing explanations, generating practice questions, and more.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E4A1B-2C5B-ACFF-822E-E5E0A62D4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A8C9-2C86-4C92-B682-86B6E71B926A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A5BBE-3A87-CD7D-12E3-945FB08C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31A53-B382-570F-8AB3-94E316D6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A49559-58A2-0474-93EB-F1FA86C3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</p:spTree>
    <p:extLst>
      <p:ext uri="{BB962C8B-B14F-4D97-AF65-F5344CB8AC3E}">
        <p14:creationId xmlns:p14="http://schemas.microsoft.com/office/powerpoint/2010/main" val="394216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8C1891E-3C0F-F8D8-BDD2-5786BB7B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F5DE-84E3-453A-B9F4-56C0023189D0}" type="datetime1">
              <a:rPr lang="en-US" smtClean="0"/>
              <a:t>5/12/2025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AA08DA-8E84-796B-6998-6A41D628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600E617-74F1-F674-6A16-67882351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0" dirty="0"/>
              <a:t>How</a:t>
            </a:r>
            <a:r>
              <a:rPr sz="4400" spc="-10" dirty="0"/>
              <a:t> </a:t>
            </a:r>
            <a:r>
              <a:rPr sz="4400" spc="-35" dirty="0"/>
              <a:t>to</a:t>
            </a:r>
            <a:r>
              <a:rPr sz="4400" spc="-245" dirty="0"/>
              <a:t> </a:t>
            </a:r>
            <a:r>
              <a:rPr sz="4400" spc="-100" dirty="0"/>
              <a:t>train</a:t>
            </a:r>
            <a:r>
              <a:rPr sz="4400" spc="-114" dirty="0"/>
              <a:t> </a:t>
            </a:r>
            <a:r>
              <a:rPr sz="4400" dirty="0"/>
              <a:t>a</a:t>
            </a:r>
            <a:r>
              <a:rPr sz="4400" spc="-130" dirty="0"/>
              <a:t> </a:t>
            </a:r>
            <a:r>
              <a:rPr sz="4400" spc="-190" dirty="0"/>
              <a:t>language</a:t>
            </a:r>
            <a:r>
              <a:rPr sz="4400" spc="-114" dirty="0"/>
              <a:t> </a:t>
            </a:r>
            <a:r>
              <a:rPr sz="4400" spc="-350" dirty="0"/>
              <a:t>model?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27049" y="1614296"/>
            <a:ext cx="9840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ahoma"/>
                <a:cs typeface="Tahoma"/>
              </a:rPr>
              <a:t>Consider the following two Languages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7210" y="2604932"/>
            <a:ext cx="840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ahoma"/>
                <a:cs typeface="Tahoma"/>
              </a:rPr>
              <a:t>English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55" y="3076444"/>
            <a:ext cx="450850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How are you?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I am fine. And you? </a:t>
            </a:r>
            <a:endParaRPr lang="ur-PK" sz="2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What is your name?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I am pleased to meet you. </a:t>
            </a:r>
            <a:endParaRPr lang="ur-PK" sz="2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/>
            <a:endParaRPr lang="ur-PK" sz="2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34400" y="2435809"/>
            <a:ext cx="2242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-20" dirty="0">
                <a:latin typeface="Tahoma"/>
                <a:cs typeface="Tahoma"/>
              </a:rPr>
              <a:t>Urdu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0800" y="2921654"/>
            <a:ext cx="4496309" cy="2218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ur-PK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آپ کیسے ہو؟</a:t>
            </a:r>
            <a:endParaRPr lang="en-US" sz="2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r>
              <a:rPr lang="ur-PK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میں ٹھیک ہوں. اور آپ؟</a:t>
            </a:r>
            <a:endParaRPr lang="en-US" sz="2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12700" marR="5080" algn="r">
              <a:spcBef>
                <a:spcPts val="100"/>
              </a:spcBef>
            </a:pPr>
            <a:r>
              <a:rPr lang="ur-PK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آپ کا نام کیا ہے؟</a:t>
            </a:r>
            <a:endParaRPr lang="en-US" sz="2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12700" marR="5080" algn="r">
              <a:spcBef>
                <a:spcPts val="100"/>
              </a:spcBef>
            </a:pPr>
            <a:r>
              <a:rPr lang="ur-PK" sz="2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تم سے مل کے خوشی ہوی.</a:t>
            </a:r>
          </a:p>
          <a:p>
            <a:pPr marL="12700" marR="5080" algn="r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680206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E2F7F6E-281F-E9CD-34F6-83502386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F82F-26B5-4871-B966-BA1A1F8C68BF}" type="datetime1">
              <a:rPr lang="en-US" smtClean="0"/>
              <a:t>5/12/2025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72BEB868-3624-8645-4F18-0DC79280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F8F91EC7-0F3A-DB2B-B4CA-68E8D79E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0" dirty="0"/>
              <a:t>How</a:t>
            </a:r>
            <a:r>
              <a:rPr sz="4400" spc="-10" dirty="0"/>
              <a:t> </a:t>
            </a:r>
            <a:r>
              <a:rPr sz="4400" spc="-35" dirty="0"/>
              <a:t>to</a:t>
            </a:r>
            <a:r>
              <a:rPr sz="4400" spc="-245" dirty="0"/>
              <a:t> </a:t>
            </a:r>
            <a:r>
              <a:rPr sz="4400" spc="-100" dirty="0"/>
              <a:t>train</a:t>
            </a:r>
            <a:r>
              <a:rPr sz="4400" spc="-114" dirty="0"/>
              <a:t> </a:t>
            </a:r>
            <a:r>
              <a:rPr sz="4400" dirty="0"/>
              <a:t>a</a:t>
            </a:r>
            <a:r>
              <a:rPr sz="4400" spc="-130" dirty="0"/>
              <a:t> </a:t>
            </a:r>
            <a:r>
              <a:rPr sz="4400" spc="-190" dirty="0"/>
              <a:t>language</a:t>
            </a:r>
            <a:r>
              <a:rPr sz="4400" spc="-114" dirty="0"/>
              <a:t> </a:t>
            </a:r>
            <a:r>
              <a:rPr sz="4400" spc="-350" dirty="0"/>
              <a:t>model?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672584" y="3799332"/>
            <a:ext cx="2847340" cy="1967864"/>
          </a:xfrm>
          <a:prstGeom prst="rect">
            <a:avLst/>
          </a:prstGeom>
          <a:solidFill>
            <a:srgbClr val="ED7660"/>
          </a:solidFill>
          <a:ln w="12700">
            <a:solidFill>
              <a:srgbClr val="632D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800">
              <a:latin typeface="Times New Roman"/>
              <a:cs typeface="Times New Roman"/>
            </a:endParaRPr>
          </a:p>
          <a:p>
            <a:pPr marL="203200" marR="193675" indent="3994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Neural</a:t>
            </a:r>
            <a:r>
              <a:rPr sz="1800" spc="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Network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800" b="1" spc="-80" dirty="0">
                <a:solidFill>
                  <a:srgbClr val="FFFFFF"/>
                </a:solidFill>
                <a:latin typeface="Tahoma"/>
                <a:cs typeface="Tahoma"/>
              </a:rPr>
              <a:t>Transformer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9926" y="6026607"/>
            <a:ext cx="4963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[SOS]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Before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my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114" dirty="0">
                <a:latin typeface="Tahoma"/>
                <a:cs typeface="Tahoma"/>
              </a:rPr>
              <a:t>bed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lies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pool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moon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bright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8021" y="1540205"/>
            <a:ext cx="49733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Before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my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114" dirty="0">
                <a:latin typeface="Tahoma"/>
                <a:cs typeface="Tahoma"/>
              </a:rPr>
              <a:t>bed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lies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105" dirty="0">
                <a:latin typeface="Tahoma"/>
                <a:cs typeface="Tahoma"/>
              </a:rPr>
              <a:t>pool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moon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bright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[EOS]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65882" y="6108191"/>
            <a:ext cx="770255" cy="114300"/>
          </a:xfrm>
          <a:custGeom>
            <a:avLst/>
            <a:gdLst/>
            <a:ahLst/>
            <a:cxnLst/>
            <a:rect l="l" t="t" r="r" b="b"/>
            <a:pathLst>
              <a:path w="770254" h="114300">
                <a:moveTo>
                  <a:pt x="655446" y="0"/>
                </a:moveTo>
                <a:lnTo>
                  <a:pt x="655446" y="114300"/>
                </a:lnTo>
                <a:lnTo>
                  <a:pt x="731646" y="76200"/>
                </a:lnTo>
                <a:lnTo>
                  <a:pt x="674496" y="76200"/>
                </a:lnTo>
                <a:lnTo>
                  <a:pt x="674496" y="38100"/>
                </a:lnTo>
                <a:lnTo>
                  <a:pt x="731646" y="38100"/>
                </a:lnTo>
                <a:lnTo>
                  <a:pt x="655446" y="0"/>
                </a:lnTo>
                <a:close/>
              </a:path>
              <a:path w="770254" h="114300">
                <a:moveTo>
                  <a:pt x="65544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55446" y="76200"/>
                </a:lnTo>
                <a:lnTo>
                  <a:pt x="655446" y="38100"/>
                </a:lnTo>
                <a:close/>
              </a:path>
              <a:path w="770254" h="114300">
                <a:moveTo>
                  <a:pt x="731646" y="38100"/>
                </a:moveTo>
                <a:lnTo>
                  <a:pt x="674496" y="38100"/>
                </a:lnTo>
                <a:lnTo>
                  <a:pt x="674496" y="76200"/>
                </a:lnTo>
                <a:lnTo>
                  <a:pt x="731646" y="76200"/>
                </a:lnTo>
                <a:lnTo>
                  <a:pt x="769746" y="57150"/>
                </a:lnTo>
                <a:lnTo>
                  <a:pt x="731646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5206" y="6018987"/>
            <a:ext cx="19424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latin typeface="Tahoma"/>
                <a:cs typeface="Tahoma"/>
              </a:rPr>
              <a:t>Input</a:t>
            </a:r>
            <a:r>
              <a:rPr sz="1200" b="1" spc="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sequence</a:t>
            </a:r>
            <a:r>
              <a:rPr sz="1200" spc="6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(10</a:t>
            </a:r>
            <a:r>
              <a:rPr sz="1200" spc="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65882" y="1641348"/>
            <a:ext cx="868044" cy="114300"/>
          </a:xfrm>
          <a:custGeom>
            <a:avLst/>
            <a:gdLst/>
            <a:ahLst/>
            <a:cxnLst/>
            <a:rect l="l" t="t" r="r" b="b"/>
            <a:pathLst>
              <a:path w="868045" h="114300">
                <a:moveTo>
                  <a:pt x="753744" y="0"/>
                </a:moveTo>
                <a:lnTo>
                  <a:pt x="753744" y="114300"/>
                </a:lnTo>
                <a:lnTo>
                  <a:pt x="829944" y="76200"/>
                </a:lnTo>
                <a:lnTo>
                  <a:pt x="772794" y="76200"/>
                </a:lnTo>
                <a:lnTo>
                  <a:pt x="772794" y="38100"/>
                </a:lnTo>
                <a:lnTo>
                  <a:pt x="829944" y="38100"/>
                </a:lnTo>
                <a:lnTo>
                  <a:pt x="753744" y="0"/>
                </a:lnTo>
                <a:close/>
              </a:path>
              <a:path w="868045" h="114300">
                <a:moveTo>
                  <a:pt x="7537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53744" y="76200"/>
                </a:lnTo>
                <a:lnTo>
                  <a:pt x="753744" y="38100"/>
                </a:lnTo>
                <a:close/>
              </a:path>
              <a:path w="868045" h="114300">
                <a:moveTo>
                  <a:pt x="829944" y="38100"/>
                </a:moveTo>
                <a:lnTo>
                  <a:pt x="772794" y="38100"/>
                </a:lnTo>
                <a:lnTo>
                  <a:pt x="772794" y="76200"/>
                </a:lnTo>
                <a:lnTo>
                  <a:pt x="829944" y="76200"/>
                </a:lnTo>
                <a:lnTo>
                  <a:pt x="868044" y="57150"/>
                </a:lnTo>
                <a:lnTo>
                  <a:pt x="829944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5206" y="1584705"/>
            <a:ext cx="2014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latin typeface="Tahoma"/>
                <a:cs typeface="Tahoma"/>
              </a:rPr>
              <a:t>Target</a:t>
            </a:r>
            <a:r>
              <a:rPr sz="1200" b="1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sequence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(10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611" y="5767578"/>
            <a:ext cx="114300" cy="23590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039611" y="3533394"/>
            <a:ext cx="114300" cy="266700"/>
          </a:xfrm>
          <a:custGeom>
            <a:avLst/>
            <a:gdLst/>
            <a:ahLst/>
            <a:cxnLst/>
            <a:rect l="l" t="t" r="r" b="b"/>
            <a:pathLst>
              <a:path w="114300" h="266700">
                <a:moveTo>
                  <a:pt x="76200" y="95249"/>
                </a:moveTo>
                <a:lnTo>
                  <a:pt x="38100" y="95249"/>
                </a:lnTo>
                <a:lnTo>
                  <a:pt x="38100" y="266318"/>
                </a:lnTo>
                <a:lnTo>
                  <a:pt x="76200" y="266318"/>
                </a:lnTo>
                <a:lnTo>
                  <a:pt x="76200" y="95249"/>
                </a:lnTo>
                <a:close/>
              </a:path>
              <a:path w="114300" h="266700">
                <a:moveTo>
                  <a:pt x="57150" y="0"/>
                </a:moveTo>
                <a:lnTo>
                  <a:pt x="0" y="114299"/>
                </a:lnTo>
                <a:lnTo>
                  <a:pt x="38100" y="114299"/>
                </a:lnTo>
                <a:lnTo>
                  <a:pt x="38100" y="95249"/>
                </a:lnTo>
                <a:lnTo>
                  <a:pt x="104775" y="95249"/>
                </a:lnTo>
                <a:lnTo>
                  <a:pt x="57150" y="0"/>
                </a:lnTo>
                <a:close/>
              </a:path>
              <a:path w="114300" h="266700">
                <a:moveTo>
                  <a:pt x="104775" y="95249"/>
                </a:moveTo>
                <a:lnTo>
                  <a:pt x="76200" y="95249"/>
                </a:lnTo>
                <a:lnTo>
                  <a:pt x="76200" y="114299"/>
                </a:lnTo>
                <a:lnTo>
                  <a:pt x="114300" y="114299"/>
                </a:lnTo>
                <a:lnTo>
                  <a:pt x="104775" y="95249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5206" y="3122421"/>
            <a:ext cx="2080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ahoma"/>
                <a:cs typeface="Tahoma"/>
              </a:rPr>
              <a:t>Output</a:t>
            </a:r>
            <a:r>
              <a:rPr sz="1200" b="1" spc="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sequence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(10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65882" y="3200400"/>
            <a:ext cx="868044" cy="114300"/>
          </a:xfrm>
          <a:custGeom>
            <a:avLst/>
            <a:gdLst/>
            <a:ahLst/>
            <a:cxnLst/>
            <a:rect l="l" t="t" r="r" b="b"/>
            <a:pathLst>
              <a:path w="868045" h="114300">
                <a:moveTo>
                  <a:pt x="753744" y="0"/>
                </a:moveTo>
                <a:lnTo>
                  <a:pt x="753744" y="114300"/>
                </a:lnTo>
                <a:lnTo>
                  <a:pt x="829944" y="76200"/>
                </a:lnTo>
                <a:lnTo>
                  <a:pt x="772794" y="76200"/>
                </a:lnTo>
                <a:lnTo>
                  <a:pt x="772794" y="38100"/>
                </a:lnTo>
                <a:lnTo>
                  <a:pt x="829944" y="38100"/>
                </a:lnTo>
                <a:lnTo>
                  <a:pt x="753744" y="0"/>
                </a:lnTo>
                <a:close/>
              </a:path>
              <a:path w="868045" h="114300">
                <a:moveTo>
                  <a:pt x="7537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53744" y="76200"/>
                </a:lnTo>
                <a:lnTo>
                  <a:pt x="753744" y="38100"/>
                </a:lnTo>
                <a:close/>
              </a:path>
              <a:path w="868045" h="114300">
                <a:moveTo>
                  <a:pt x="829944" y="38100"/>
                </a:moveTo>
                <a:lnTo>
                  <a:pt x="772794" y="38100"/>
                </a:lnTo>
                <a:lnTo>
                  <a:pt x="772794" y="76200"/>
                </a:lnTo>
                <a:lnTo>
                  <a:pt x="829944" y="76200"/>
                </a:lnTo>
                <a:lnTo>
                  <a:pt x="868044" y="57150"/>
                </a:lnTo>
                <a:lnTo>
                  <a:pt x="829944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39611" y="2679954"/>
            <a:ext cx="114300" cy="331470"/>
          </a:xfrm>
          <a:custGeom>
            <a:avLst/>
            <a:gdLst/>
            <a:ahLst/>
            <a:cxnLst/>
            <a:rect l="l" t="t" r="r" b="b"/>
            <a:pathLst>
              <a:path w="114300" h="331469">
                <a:moveTo>
                  <a:pt x="76200" y="95250"/>
                </a:moveTo>
                <a:lnTo>
                  <a:pt x="38100" y="95250"/>
                </a:lnTo>
                <a:lnTo>
                  <a:pt x="38100" y="330962"/>
                </a:lnTo>
                <a:lnTo>
                  <a:pt x="76200" y="330962"/>
                </a:lnTo>
                <a:lnTo>
                  <a:pt x="76200" y="95250"/>
                </a:lnTo>
                <a:close/>
              </a:path>
              <a:path w="114300" h="33146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146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39611" y="1945385"/>
            <a:ext cx="114300" cy="365125"/>
          </a:xfrm>
          <a:custGeom>
            <a:avLst/>
            <a:gdLst/>
            <a:ahLst/>
            <a:cxnLst/>
            <a:rect l="l" t="t" r="r" b="b"/>
            <a:pathLst>
              <a:path w="114300" h="365125">
                <a:moveTo>
                  <a:pt x="38100" y="250316"/>
                </a:moveTo>
                <a:lnTo>
                  <a:pt x="0" y="250316"/>
                </a:lnTo>
                <a:lnTo>
                  <a:pt x="57150" y="364616"/>
                </a:lnTo>
                <a:lnTo>
                  <a:pt x="104775" y="269366"/>
                </a:lnTo>
                <a:lnTo>
                  <a:pt x="38100" y="269366"/>
                </a:lnTo>
                <a:lnTo>
                  <a:pt x="38100" y="250316"/>
                </a:lnTo>
                <a:close/>
              </a:path>
              <a:path w="114300" h="365125">
                <a:moveTo>
                  <a:pt x="76200" y="0"/>
                </a:moveTo>
                <a:lnTo>
                  <a:pt x="38100" y="0"/>
                </a:lnTo>
                <a:lnTo>
                  <a:pt x="38100" y="269366"/>
                </a:lnTo>
                <a:lnTo>
                  <a:pt x="76200" y="269366"/>
                </a:lnTo>
                <a:lnTo>
                  <a:pt x="76200" y="0"/>
                </a:lnTo>
                <a:close/>
              </a:path>
              <a:path w="114300" h="365125">
                <a:moveTo>
                  <a:pt x="114300" y="250316"/>
                </a:moveTo>
                <a:lnTo>
                  <a:pt x="76200" y="250316"/>
                </a:lnTo>
                <a:lnTo>
                  <a:pt x="76200" y="269366"/>
                </a:lnTo>
                <a:lnTo>
                  <a:pt x="104775" y="269366"/>
                </a:lnTo>
                <a:lnTo>
                  <a:pt x="114300" y="250316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037201" y="2332101"/>
            <a:ext cx="20948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Cross</a:t>
            </a:r>
            <a:r>
              <a:rPr sz="1800" b="1" spc="-55" dirty="0">
                <a:latin typeface="Tahoma"/>
                <a:cs typeface="Tahoma"/>
              </a:rPr>
              <a:t> </a:t>
            </a:r>
            <a:r>
              <a:rPr sz="1800" b="1" spc="-35" dirty="0">
                <a:latin typeface="Tahoma"/>
                <a:cs typeface="Tahoma"/>
              </a:rPr>
              <a:t>Entropy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Loss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48800" y="3136717"/>
            <a:ext cx="2038603" cy="288988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309866" y="2441448"/>
            <a:ext cx="868044" cy="114300"/>
          </a:xfrm>
          <a:custGeom>
            <a:avLst/>
            <a:gdLst/>
            <a:ahLst/>
            <a:cxnLst/>
            <a:rect l="l" t="t" r="r" b="b"/>
            <a:pathLst>
              <a:path w="868045" h="114300">
                <a:moveTo>
                  <a:pt x="753744" y="0"/>
                </a:moveTo>
                <a:lnTo>
                  <a:pt x="753744" y="114300"/>
                </a:lnTo>
                <a:lnTo>
                  <a:pt x="829944" y="76200"/>
                </a:lnTo>
                <a:lnTo>
                  <a:pt x="772794" y="76200"/>
                </a:lnTo>
                <a:lnTo>
                  <a:pt x="772794" y="38100"/>
                </a:lnTo>
                <a:lnTo>
                  <a:pt x="829944" y="38100"/>
                </a:lnTo>
                <a:lnTo>
                  <a:pt x="753744" y="0"/>
                </a:lnTo>
                <a:close/>
              </a:path>
              <a:path w="868045" h="114300">
                <a:moveTo>
                  <a:pt x="7537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53744" y="76200"/>
                </a:lnTo>
                <a:lnTo>
                  <a:pt x="753744" y="38100"/>
                </a:lnTo>
                <a:close/>
              </a:path>
              <a:path w="868045" h="114300">
                <a:moveTo>
                  <a:pt x="829944" y="38100"/>
                </a:moveTo>
                <a:lnTo>
                  <a:pt x="772794" y="38100"/>
                </a:lnTo>
                <a:lnTo>
                  <a:pt x="772794" y="76200"/>
                </a:lnTo>
                <a:lnTo>
                  <a:pt x="829944" y="76200"/>
                </a:lnTo>
                <a:lnTo>
                  <a:pt x="868044" y="57150"/>
                </a:lnTo>
                <a:lnTo>
                  <a:pt x="829944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332723" y="2367788"/>
            <a:ext cx="3154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Run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ahoma"/>
                <a:cs typeface="Tahoma"/>
              </a:rPr>
              <a:t>backpropagation</a:t>
            </a:r>
            <a:r>
              <a:rPr sz="1200" b="1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update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weights</a:t>
            </a:r>
            <a:endParaRPr sz="1200">
              <a:latin typeface="Tahoma"/>
              <a:cs typeface="Tahoma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892422" y="3110992"/>
          <a:ext cx="5302250" cy="351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115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044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C29EFD9-D5B7-44FE-8444-87FDA601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8460-F8BE-40AC-B78B-D09B12479591}" type="datetime1">
              <a:rPr lang="en-US" smtClean="0"/>
              <a:t>5/12/2025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E3DC938-CA0E-1222-8A29-5C4CA171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AECEDA5-2CC7-9CBB-8683-0430DA5E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683735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85" dirty="0"/>
              <a:t>L</a:t>
            </a:r>
            <a:r>
              <a:rPr sz="4400" spc="-185" dirty="0"/>
              <a:t>anguage</a:t>
            </a:r>
            <a:r>
              <a:rPr sz="4400" spc="-95" dirty="0"/>
              <a:t> </a:t>
            </a:r>
            <a:r>
              <a:rPr lang="en-US" sz="4400" spc="-95" dirty="0"/>
              <a:t>M</a:t>
            </a:r>
            <a:r>
              <a:rPr sz="4400" spc="-350" dirty="0"/>
              <a:t>odel</a:t>
            </a:r>
            <a:r>
              <a:rPr lang="en-US" sz="4400" spc="-350" dirty="0"/>
              <a:t> </a:t>
            </a:r>
            <a:r>
              <a:rPr lang="en-US" sz="4400" spc="-229" dirty="0"/>
              <a:t>Inference</a:t>
            </a:r>
            <a:r>
              <a:rPr lang="en-US" sz="4400" spc="-75" dirty="0"/>
              <a:t> 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2827226" y="4195575"/>
            <a:ext cx="84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ahoma"/>
                <a:cs typeface="Tahoma"/>
              </a:rPr>
              <a:t>English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5400" y="4674872"/>
            <a:ext cx="633463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Before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my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114" dirty="0">
                <a:latin typeface="Tahoma"/>
                <a:cs typeface="Tahoma"/>
              </a:rPr>
              <a:t>bed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lies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pool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bright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spc="-215" dirty="0">
                <a:latin typeface="Tahoma"/>
                <a:cs typeface="Tahoma"/>
              </a:rPr>
              <a:t>I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could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imagine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that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it's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frost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on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ground </a:t>
            </a:r>
            <a:endParaRPr lang="en-US" sz="1800" spc="6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spc="-215" dirty="0">
                <a:latin typeface="Tahoma"/>
                <a:cs typeface="Tahoma"/>
              </a:rPr>
              <a:t>I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look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up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and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see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bright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shining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moon </a:t>
            </a:r>
            <a:endParaRPr lang="en-US" sz="1800" spc="65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spc="65" dirty="0">
                <a:latin typeface="Tahoma"/>
                <a:cs typeface="Tahoma"/>
              </a:rPr>
              <a:t>Bowing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my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head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15" dirty="0">
                <a:latin typeface="Tahoma"/>
                <a:cs typeface="Tahoma"/>
              </a:rPr>
              <a:t>I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am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thinking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home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65668" y="4213352"/>
            <a:ext cx="2239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ahoma"/>
                <a:cs typeface="Tahoma"/>
              </a:rPr>
              <a:t>Chinese</a:t>
            </a:r>
            <a:r>
              <a:rPr sz="1800" b="1" spc="-90" dirty="0">
                <a:latin typeface="Tahoma"/>
                <a:cs typeface="Tahoma"/>
              </a:rPr>
              <a:t> </a:t>
            </a:r>
            <a:r>
              <a:rPr sz="1800" b="1" spc="-40" dirty="0">
                <a:latin typeface="Tahoma"/>
                <a:cs typeface="Tahoma"/>
              </a:rPr>
              <a:t>(simplified)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87439" y="4534702"/>
            <a:ext cx="2438399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 err="1">
                <a:latin typeface="Microsoft YaHei"/>
                <a:cs typeface="Microsoft YaHei"/>
              </a:rPr>
              <a:t>床前明月光疑是</a:t>
            </a:r>
            <a:endParaRPr lang="en-US" sz="1800" spc="-10" dirty="0">
              <a:latin typeface="Microsoft YaHei"/>
              <a:cs typeface="Microsoft YaHei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 err="1">
                <a:latin typeface="Microsoft YaHei"/>
                <a:cs typeface="Microsoft YaHei"/>
              </a:rPr>
              <a:t>地上霜举头</a:t>
            </a:r>
            <a:endParaRPr lang="en-US" sz="1800" spc="-10" dirty="0">
              <a:latin typeface="Microsoft YaHei"/>
              <a:cs typeface="Microsoft YaHei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 err="1">
                <a:latin typeface="Microsoft YaHei"/>
                <a:cs typeface="Microsoft YaHei"/>
              </a:rPr>
              <a:t>望明月</a:t>
            </a:r>
            <a:r>
              <a:rPr sz="1800" spc="-20" dirty="0" err="1">
                <a:latin typeface="Microsoft YaHei"/>
                <a:cs typeface="Microsoft YaHei"/>
              </a:rPr>
              <a:t>低头思故乡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1532" y="2656078"/>
            <a:ext cx="1071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5" dirty="0">
                <a:latin typeface="Verdana"/>
                <a:cs typeface="Verdana"/>
              </a:rPr>
              <a:t>Before</a:t>
            </a:r>
            <a:r>
              <a:rPr sz="1800" i="1" spc="-135" dirty="0">
                <a:latin typeface="Verdana"/>
                <a:cs typeface="Verdana"/>
              </a:rPr>
              <a:t> </a:t>
            </a:r>
            <a:r>
              <a:rPr sz="1800" i="1" spc="-145" dirty="0">
                <a:latin typeface="Verdana"/>
                <a:cs typeface="Verdana"/>
              </a:rPr>
              <a:t>my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95722" y="2794254"/>
            <a:ext cx="1619250" cy="114300"/>
          </a:xfrm>
          <a:custGeom>
            <a:avLst/>
            <a:gdLst/>
            <a:ahLst/>
            <a:cxnLst/>
            <a:rect l="l" t="t" r="r" b="b"/>
            <a:pathLst>
              <a:path w="1619250" h="114300">
                <a:moveTo>
                  <a:pt x="1581797" y="37973"/>
                </a:moveTo>
                <a:lnTo>
                  <a:pt x="1523873" y="37973"/>
                </a:lnTo>
                <a:lnTo>
                  <a:pt x="1524127" y="76073"/>
                </a:lnTo>
                <a:lnTo>
                  <a:pt x="1505077" y="76203"/>
                </a:lnTo>
                <a:lnTo>
                  <a:pt x="1505330" y="114300"/>
                </a:lnTo>
                <a:lnTo>
                  <a:pt x="1619250" y="56387"/>
                </a:lnTo>
                <a:lnTo>
                  <a:pt x="1581797" y="37973"/>
                </a:lnTo>
                <a:close/>
              </a:path>
              <a:path w="1619250" h="114300">
                <a:moveTo>
                  <a:pt x="1504823" y="38103"/>
                </a:moveTo>
                <a:lnTo>
                  <a:pt x="0" y="48387"/>
                </a:lnTo>
                <a:lnTo>
                  <a:pt x="253" y="86487"/>
                </a:lnTo>
                <a:lnTo>
                  <a:pt x="1505077" y="76203"/>
                </a:lnTo>
                <a:lnTo>
                  <a:pt x="1504823" y="38103"/>
                </a:lnTo>
                <a:close/>
              </a:path>
              <a:path w="1619250" h="114300">
                <a:moveTo>
                  <a:pt x="1523873" y="37973"/>
                </a:moveTo>
                <a:lnTo>
                  <a:pt x="1504823" y="38103"/>
                </a:lnTo>
                <a:lnTo>
                  <a:pt x="1505077" y="76203"/>
                </a:lnTo>
                <a:lnTo>
                  <a:pt x="1524127" y="76073"/>
                </a:lnTo>
                <a:lnTo>
                  <a:pt x="1523873" y="37973"/>
                </a:lnTo>
                <a:close/>
              </a:path>
              <a:path w="1619250" h="114300">
                <a:moveTo>
                  <a:pt x="1504568" y="0"/>
                </a:moveTo>
                <a:lnTo>
                  <a:pt x="1504823" y="38103"/>
                </a:lnTo>
                <a:lnTo>
                  <a:pt x="1581797" y="37973"/>
                </a:lnTo>
                <a:lnTo>
                  <a:pt x="1504568" y="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15708" y="2561335"/>
            <a:ext cx="3474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Tahoma"/>
                <a:cs typeface="Tahoma"/>
              </a:rPr>
              <a:t>Ask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Language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114" dirty="0">
                <a:latin typeface="Tahoma"/>
                <a:cs typeface="Tahoma"/>
              </a:rPr>
              <a:t>Model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write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rest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poem!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47822" y="3006089"/>
            <a:ext cx="1123315" cy="243840"/>
          </a:xfrm>
          <a:custGeom>
            <a:avLst/>
            <a:gdLst/>
            <a:ahLst/>
            <a:cxnLst/>
            <a:rect l="l" t="t" r="r" b="b"/>
            <a:pathLst>
              <a:path w="1123314" h="243839">
                <a:moveTo>
                  <a:pt x="1123188" y="0"/>
                </a:moveTo>
                <a:lnTo>
                  <a:pt x="1121584" y="47446"/>
                </a:lnTo>
                <a:lnTo>
                  <a:pt x="1117218" y="86201"/>
                </a:lnTo>
                <a:lnTo>
                  <a:pt x="1110757" y="112335"/>
                </a:lnTo>
                <a:lnTo>
                  <a:pt x="1102867" y="121920"/>
                </a:lnTo>
                <a:lnTo>
                  <a:pt x="581913" y="121920"/>
                </a:lnTo>
                <a:lnTo>
                  <a:pt x="574024" y="131504"/>
                </a:lnTo>
                <a:lnTo>
                  <a:pt x="567563" y="157638"/>
                </a:lnTo>
                <a:lnTo>
                  <a:pt x="563197" y="196393"/>
                </a:lnTo>
                <a:lnTo>
                  <a:pt x="561593" y="243839"/>
                </a:lnTo>
                <a:lnTo>
                  <a:pt x="559990" y="196393"/>
                </a:lnTo>
                <a:lnTo>
                  <a:pt x="555625" y="157638"/>
                </a:lnTo>
                <a:lnTo>
                  <a:pt x="549163" y="131504"/>
                </a:lnTo>
                <a:lnTo>
                  <a:pt x="541274" y="121920"/>
                </a:lnTo>
                <a:lnTo>
                  <a:pt x="20319" y="121920"/>
                </a:lnTo>
                <a:lnTo>
                  <a:pt x="12430" y="112335"/>
                </a:lnTo>
                <a:lnTo>
                  <a:pt x="5968" y="86201"/>
                </a:lnTo>
                <a:lnTo>
                  <a:pt x="1603" y="47446"/>
                </a:lnTo>
                <a:lnTo>
                  <a:pt x="0" y="0"/>
                </a:lnTo>
              </a:path>
            </a:pathLst>
          </a:custGeom>
          <a:ln w="3810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84601" y="3328796"/>
            <a:ext cx="84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latin typeface="Tahoma"/>
                <a:cs typeface="Tahoma"/>
              </a:rPr>
              <a:t>Prompt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67138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54239E2-B606-4F9D-5DED-211FD2AF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B2BB-1E46-4E60-B063-10D3B67817E6}" type="datetime1">
              <a:rPr lang="en-US" smtClean="0"/>
              <a:t>5/12/2025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C5AC56C-7F45-0C96-EC93-CA5C759C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98AD834-089B-FB6B-BE0F-C13817A6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683735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85" dirty="0"/>
              <a:t>Language</a:t>
            </a:r>
            <a:r>
              <a:rPr lang="en-US" sz="4400" spc="-95" dirty="0"/>
              <a:t> M</a:t>
            </a:r>
            <a:r>
              <a:rPr lang="en-US" sz="4400" spc="-350" dirty="0"/>
              <a:t>odel </a:t>
            </a:r>
            <a:r>
              <a:rPr lang="en-US" sz="4400" spc="-229" dirty="0"/>
              <a:t>Inference</a:t>
            </a:r>
            <a:r>
              <a:rPr lang="en-US" sz="4400" spc="-75" dirty="0"/>
              <a:t> 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516879" y="2775204"/>
            <a:ext cx="2848610" cy="1967864"/>
          </a:xfrm>
          <a:prstGeom prst="rect">
            <a:avLst/>
          </a:prstGeom>
          <a:solidFill>
            <a:srgbClr val="ED7660"/>
          </a:solidFill>
          <a:ln w="12700">
            <a:solidFill>
              <a:srgbClr val="632D2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800">
              <a:latin typeface="Times New Roman"/>
              <a:cs typeface="Times New Roman"/>
            </a:endParaRPr>
          </a:p>
          <a:p>
            <a:pPr marL="203835" marR="194310" indent="3987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Neural</a:t>
            </a:r>
            <a:r>
              <a:rPr sz="1800" spc="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Network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800" b="1" spc="-80" dirty="0">
                <a:solidFill>
                  <a:srgbClr val="FFFFFF"/>
                </a:solidFill>
                <a:latin typeface="Tahoma"/>
                <a:cs typeface="Tahoma"/>
              </a:rPr>
              <a:t>Transformer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Encoder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5110" y="5001590"/>
            <a:ext cx="4963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B0F0"/>
                </a:solidFill>
                <a:latin typeface="Tahoma"/>
                <a:cs typeface="Tahoma"/>
              </a:rPr>
              <a:t>[SOS]</a:t>
            </a:r>
            <a:r>
              <a:rPr sz="1800" spc="-80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B050"/>
                </a:solidFill>
                <a:latin typeface="Tahoma"/>
                <a:cs typeface="Tahoma"/>
              </a:rPr>
              <a:t>Before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C000"/>
                </a:solidFill>
                <a:latin typeface="Tahoma"/>
                <a:cs typeface="Tahoma"/>
              </a:rPr>
              <a:t>my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0070C0"/>
                </a:solidFill>
                <a:latin typeface="Tahoma"/>
                <a:cs typeface="Tahoma"/>
              </a:rPr>
              <a:t>bed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lies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105" dirty="0">
                <a:latin typeface="Tahoma"/>
                <a:cs typeface="Tahoma"/>
              </a:rPr>
              <a:t>pool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moon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FF0000"/>
                </a:solidFill>
                <a:latin typeface="Tahoma"/>
                <a:cs typeface="Tahoma"/>
              </a:rPr>
              <a:t>bright</a:t>
            </a:r>
            <a:endParaRPr sz="18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77817" y="5106923"/>
            <a:ext cx="770255" cy="114300"/>
          </a:xfrm>
          <a:custGeom>
            <a:avLst/>
            <a:gdLst/>
            <a:ahLst/>
            <a:cxnLst/>
            <a:rect l="l" t="t" r="r" b="b"/>
            <a:pathLst>
              <a:path w="770254" h="114300">
                <a:moveTo>
                  <a:pt x="655447" y="0"/>
                </a:moveTo>
                <a:lnTo>
                  <a:pt x="655447" y="114300"/>
                </a:lnTo>
                <a:lnTo>
                  <a:pt x="731647" y="76200"/>
                </a:lnTo>
                <a:lnTo>
                  <a:pt x="674497" y="76200"/>
                </a:lnTo>
                <a:lnTo>
                  <a:pt x="674497" y="38100"/>
                </a:lnTo>
                <a:lnTo>
                  <a:pt x="731647" y="38100"/>
                </a:lnTo>
                <a:lnTo>
                  <a:pt x="655447" y="0"/>
                </a:lnTo>
                <a:close/>
              </a:path>
              <a:path w="770254" h="114300">
                <a:moveTo>
                  <a:pt x="6554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55447" y="76200"/>
                </a:lnTo>
                <a:lnTo>
                  <a:pt x="655447" y="38100"/>
                </a:lnTo>
                <a:close/>
              </a:path>
              <a:path w="770254" h="114300">
                <a:moveTo>
                  <a:pt x="731647" y="38100"/>
                </a:moveTo>
                <a:lnTo>
                  <a:pt x="674497" y="38100"/>
                </a:lnTo>
                <a:lnTo>
                  <a:pt x="674497" y="76200"/>
                </a:lnTo>
                <a:lnTo>
                  <a:pt x="731647" y="76200"/>
                </a:lnTo>
                <a:lnTo>
                  <a:pt x="769747" y="57150"/>
                </a:lnTo>
                <a:lnTo>
                  <a:pt x="731647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6408" y="4991480"/>
            <a:ext cx="1693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Tahoma"/>
                <a:cs typeface="Tahoma"/>
              </a:rPr>
              <a:t>Input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sequence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9664" y="2094991"/>
            <a:ext cx="1898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ahoma"/>
                <a:cs typeface="Tahoma"/>
              </a:rPr>
              <a:t>Output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sequence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2952" y="2138934"/>
            <a:ext cx="4975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B0F0"/>
                </a:solidFill>
                <a:latin typeface="Tahoma"/>
                <a:cs typeface="Tahoma"/>
              </a:rPr>
              <a:t>Before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B050"/>
                </a:solidFill>
                <a:latin typeface="Tahoma"/>
                <a:cs typeface="Tahoma"/>
              </a:rPr>
              <a:t>my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FFC000"/>
                </a:solidFill>
                <a:latin typeface="Tahoma"/>
                <a:cs typeface="Tahoma"/>
              </a:rPr>
              <a:t>bed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70C0"/>
                </a:solidFill>
                <a:latin typeface="Tahoma"/>
                <a:cs typeface="Tahoma"/>
              </a:rPr>
              <a:t>lies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pool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moon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bright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[EOS]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83907" y="2509266"/>
            <a:ext cx="114300" cy="266700"/>
          </a:xfrm>
          <a:custGeom>
            <a:avLst/>
            <a:gdLst/>
            <a:ahLst/>
            <a:cxnLst/>
            <a:rect l="l" t="t" r="r" b="b"/>
            <a:pathLst>
              <a:path w="114300" h="266700">
                <a:moveTo>
                  <a:pt x="76200" y="95250"/>
                </a:moveTo>
                <a:lnTo>
                  <a:pt x="38100" y="95250"/>
                </a:lnTo>
                <a:lnTo>
                  <a:pt x="38100" y="266319"/>
                </a:lnTo>
                <a:lnTo>
                  <a:pt x="76200" y="266319"/>
                </a:lnTo>
                <a:lnTo>
                  <a:pt x="76200" y="95250"/>
                </a:lnTo>
                <a:close/>
              </a:path>
              <a:path w="114300" h="2667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667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3907" y="4743450"/>
            <a:ext cx="114300" cy="23596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833621" y="2232660"/>
            <a:ext cx="770255" cy="114300"/>
          </a:xfrm>
          <a:custGeom>
            <a:avLst/>
            <a:gdLst/>
            <a:ahLst/>
            <a:cxnLst/>
            <a:rect l="l" t="t" r="r" b="b"/>
            <a:pathLst>
              <a:path w="770254" h="114300">
                <a:moveTo>
                  <a:pt x="655447" y="0"/>
                </a:moveTo>
                <a:lnTo>
                  <a:pt x="655447" y="114300"/>
                </a:lnTo>
                <a:lnTo>
                  <a:pt x="731647" y="76200"/>
                </a:lnTo>
                <a:lnTo>
                  <a:pt x="674497" y="76200"/>
                </a:lnTo>
                <a:lnTo>
                  <a:pt x="674497" y="38100"/>
                </a:lnTo>
                <a:lnTo>
                  <a:pt x="731647" y="38100"/>
                </a:lnTo>
                <a:lnTo>
                  <a:pt x="655447" y="0"/>
                </a:lnTo>
                <a:close/>
              </a:path>
              <a:path w="770254" h="114300">
                <a:moveTo>
                  <a:pt x="6554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55447" y="76200"/>
                </a:lnTo>
                <a:lnTo>
                  <a:pt x="655447" y="38100"/>
                </a:lnTo>
                <a:close/>
              </a:path>
              <a:path w="770254" h="114300">
                <a:moveTo>
                  <a:pt x="731647" y="38100"/>
                </a:moveTo>
                <a:lnTo>
                  <a:pt x="674497" y="38100"/>
                </a:lnTo>
                <a:lnTo>
                  <a:pt x="674497" y="76200"/>
                </a:lnTo>
                <a:lnTo>
                  <a:pt x="731647" y="76200"/>
                </a:lnTo>
                <a:lnTo>
                  <a:pt x="769747" y="57150"/>
                </a:lnTo>
                <a:lnTo>
                  <a:pt x="731647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11590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E0B79E-1B34-D781-DBAD-1E9E836C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434F-AAAE-4E93-A0B8-A81D23777219}" type="datetime1">
              <a:rPr lang="en-US" smtClean="0"/>
              <a:t>5/12/2025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F7F365D-0FD9-060A-7E3B-2ED3BF06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A1A38F-DE93-CD91-C44A-CA3998829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Paradigm</a:t>
            </a:r>
            <a:r>
              <a:rPr spc="-35" dirty="0"/>
              <a:t> </a:t>
            </a:r>
            <a:r>
              <a:rPr dirty="0"/>
              <a:t>Shift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Machine</a:t>
            </a:r>
            <a:r>
              <a:rPr spc="-30" dirty="0"/>
              <a:t> </a:t>
            </a:r>
            <a:r>
              <a:rPr spc="-10" dirty="0"/>
              <a:t>Learning</a:t>
            </a:r>
            <a:r>
              <a:rPr lang="en-US" spc="-10" dirty="0"/>
              <a:t> (LLM)</a:t>
            </a:r>
            <a:endParaRPr spc="-10" dirty="0"/>
          </a:p>
        </p:txBody>
      </p:sp>
      <p:sp>
        <p:nvSpPr>
          <p:cNvPr id="2" name="object 2"/>
          <p:cNvSpPr txBox="1"/>
          <p:nvPr/>
        </p:nvSpPr>
        <p:spPr>
          <a:xfrm>
            <a:off x="600181" y="1652220"/>
            <a:ext cx="10492105" cy="153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3B3838"/>
                </a:solidFill>
                <a:latin typeface="Calibri"/>
                <a:cs typeface="Calibri"/>
              </a:rPr>
              <a:t>From</a:t>
            </a:r>
            <a:r>
              <a:rPr lang="en-US" sz="2400" b="1" spc="-5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3B3838"/>
                </a:solidFill>
                <a:latin typeface="Calibri"/>
                <a:cs typeface="Calibri"/>
              </a:rPr>
              <a:t>both</a:t>
            </a:r>
            <a:r>
              <a:rPr lang="en-US" sz="2400" b="1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3B3838"/>
                </a:solidFill>
                <a:latin typeface="Calibri"/>
                <a:cs typeface="Calibri"/>
              </a:rPr>
              <a:t>BERT</a:t>
            </a:r>
            <a:r>
              <a:rPr lang="en-US" sz="2400" b="1" spc="-4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3B3838"/>
                </a:solidFill>
                <a:latin typeface="Calibri"/>
                <a:cs typeface="Calibri"/>
              </a:rPr>
              <a:t>and</a:t>
            </a:r>
            <a:r>
              <a:rPr lang="en-US" sz="2400" b="1" spc="-35" dirty="0">
                <a:solidFill>
                  <a:srgbClr val="3B3838"/>
                </a:solidFill>
                <a:latin typeface="Calibri"/>
                <a:cs typeface="Calibri"/>
              </a:rPr>
              <a:t> GPT,</a:t>
            </a:r>
            <a:r>
              <a:rPr lang="en-US" sz="2400" b="1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3B3838"/>
                </a:solidFill>
                <a:latin typeface="Calibri"/>
                <a:cs typeface="Calibri"/>
              </a:rPr>
              <a:t>we</a:t>
            </a:r>
            <a:r>
              <a:rPr lang="en-US" sz="2400" b="1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3B3838"/>
                </a:solidFill>
                <a:latin typeface="Calibri"/>
                <a:cs typeface="Calibri"/>
              </a:rPr>
              <a:t>learn</a:t>
            </a:r>
            <a:r>
              <a:rPr lang="en-US" sz="2400" b="1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b="1" spc="-10" dirty="0">
                <a:solidFill>
                  <a:srgbClr val="3B3838"/>
                </a:solidFill>
                <a:latin typeface="Calibri"/>
                <a:cs typeface="Calibri"/>
              </a:rPr>
              <a:t>that…</a:t>
            </a:r>
            <a:endParaRPr lang="en-US" sz="2400" dirty="0">
              <a:latin typeface="Calibri"/>
              <a:cs typeface="Calibri"/>
            </a:endParaRPr>
          </a:p>
          <a:p>
            <a:pPr marL="354965" marR="5080" indent="-342265">
              <a:lnSpc>
                <a:spcPct val="1008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25" dirty="0">
                <a:solidFill>
                  <a:srgbClr val="FF0000"/>
                </a:solidFill>
                <a:latin typeface="Calibri"/>
                <a:cs typeface="Calibri"/>
              </a:rPr>
              <a:t>Transformers</a:t>
            </a:r>
            <a:r>
              <a:rPr lang="en-US" sz="2400" spc="-4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seem</a:t>
            </a:r>
            <a:r>
              <a:rPr lang="en-US" sz="24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to</a:t>
            </a:r>
            <a:r>
              <a:rPr lang="en-US" sz="24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provide</a:t>
            </a:r>
            <a:r>
              <a:rPr lang="en-US" sz="24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a</a:t>
            </a:r>
            <a:r>
              <a:rPr lang="en-US" sz="24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new</a:t>
            </a:r>
            <a:r>
              <a:rPr lang="en-US" sz="24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class</a:t>
            </a:r>
            <a:r>
              <a:rPr lang="en-US" sz="24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of</a:t>
            </a:r>
            <a:r>
              <a:rPr lang="en-US" sz="24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generalist</a:t>
            </a:r>
            <a:r>
              <a:rPr lang="en-US" sz="2400" spc="-4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models</a:t>
            </a:r>
            <a:r>
              <a:rPr lang="en-US" sz="24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that</a:t>
            </a:r>
            <a:r>
              <a:rPr lang="en-US" sz="2400" spc="-4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are</a:t>
            </a:r>
            <a:r>
              <a:rPr lang="en-US" sz="24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capable</a:t>
            </a:r>
            <a:r>
              <a:rPr lang="en-US" sz="24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spc="-25" dirty="0">
                <a:solidFill>
                  <a:srgbClr val="3B3838"/>
                </a:solidFill>
                <a:latin typeface="Calibri"/>
                <a:cs typeface="Calibri"/>
              </a:rPr>
              <a:t>of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capturing</a:t>
            </a:r>
            <a:r>
              <a:rPr lang="en-US" sz="2400" spc="-4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knowledge</a:t>
            </a:r>
            <a:r>
              <a:rPr lang="en-US" sz="24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which</a:t>
            </a:r>
            <a:r>
              <a:rPr lang="en-US" sz="24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is</a:t>
            </a:r>
            <a:r>
              <a:rPr lang="en-US" sz="24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more</a:t>
            </a:r>
            <a:r>
              <a:rPr lang="en-US" sz="24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fundamental</a:t>
            </a:r>
            <a:r>
              <a:rPr lang="en-US" sz="24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than</a:t>
            </a:r>
            <a:r>
              <a:rPr lang="en-US" sz="24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spc="-35" dirty="0">
                <a:solidFill>
                  <a:srgbClr val="3B3838"/>
                </a:solidFill>
                <a:latin typeface="Calibri"/>
                <a:cs typeface="Calibri"/>
              </a:rPr>
              <a:t>task-</a:t>
            </a:r>
            <a:r>
              <a:rPr lang="en-US" sz="2400" dirty="0">
                <a:solidFill>
                  <a:srgbClr val="3B3838"/>
                </a:solidFill>
                <a:latin typeface="Calibri"/>
                <a:cs typeface="Calibri"/>
              </a:rPr>
              <a:t>specific</a:t>
            </a:r>
            <a:r>
              <a:rPr lang="en-US" sz="24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3B3838"/>
                </a:solidFill>
                <a:latin typeface="Calibri"/>
                <a:cs typeface="Calibri"/>
              </a:rPr>
              <a:t>abilities.</a:t>
            </a:r>
            <a:endParaRPr lang="en-US" sz="2400" dirty="0">
              <a:latin typeface="Calibri"/>
              <a:cs typeface="Calibri"/>
            </a:endParaRPr>
          </a:p>
          <a:p>
            <a:pPr marL="103505" algn="ctr">
              <a:lnSpc>
                <a:spcPct val="100000"/>
              </a:lnSpc>
              <a:spcBef>
                <a:spcPts val="830"/>
              </a:spcBef>
              <a:tabLst>
                <a:tab pos="4944745" algn="l"/>
              </a:tabLst>
            </a:pPr>
            <a:r>
              <a:rPr lang="en-US" sz="2000" b="1" u="sng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Before</a:t>
            </a:r>
            <a:r>
              <a:rPr lang="en-US" sz="2000" b="1" u="sng" spc="-70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 </a:t>
            </a:r>
            <a:r>
              <a:rPr lang="en-US" sz="2000" b="1" u="sng" spc="-20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LLMs</a:t>
            </a:r>
            <a:r>
              <a:rPr lang="en-US" sz="2000" b="1" dirty="0">
                <a:solidFill>
                  <a:srgbClr val="3B3838"/>
                </a:solidFill>
                <a:latin typeface="Calibri"/>
                <a:cs typeface="Calibri"/>
              </a:rPr>
              <a:t>	</a:t>
            </a:r>
            <a:r>
              <a:rPr lang="en-US" sz="2000" b="1" u="sng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Since</a:t>
            </a:r>
            <a:r>
              <a:rPr lang="en-US" sz="2000" b="1" u="sng" spc="-15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 </a:t>
            </a:r>
            <a:r>
              <a:rPr lang="en-US" sz="2000" b="1" u="sng" spc="-20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LLMs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740" y="3430555"/>
            <a:ext cx="531876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solidFill>
                  <a:srgbClr val="3B3838"/>
                </a:solidFill>
                <a:latin typeface="Calibri"/>
                <a:cs typeface="Calibri"/>
              </a:rPr>
              <a:t>Feature</a:t>
            </a:r>
            <a:r>
              <a:rPr lang="en-US" sz="2000" b="1" spc="-7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b="1" spc="-10" dirty="0">
                <a:solidFill>
                  <a:srgbClr val="3B3838"/>
                </a:solidFill>
                <a:latin typeface="Calibri"/>
                <a:cs typeface="Calibri"/>
              </a:rPr>
              <a:t>Engineering</a:t>
            </a:r>
            <a:endParaRPr lang="en-US" sz="2000" dirty="0">
              <a:latin typeface="Calibri"/>
              <a:cs typeface="Calibri"/>
            </a:endParaRPr>
          </a:p>
          <a:p>
            <a:pPr marL="812165" marR="764540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How</a:t>
            </a:r>
            <a:r>
              <a:rPr lang="en-US" sz="2000" spc="-2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do</a:t>
            </a:r>
            <a:r>
              <a:rPr lang="en-US" sz="2000" spc="-1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we</a:t>
            </a:r>
            <a:r>
              <a:rPr lang="en-US" sz="2000" spc="-1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design</a:t>
            </a:r>
            <a:r>
              <a:rPr lang="en-US" sz="2000" spc="-1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or</a:t>
            </a:r>
            <a:r>
              <a:rPr lang="en-US" sz="2000" spc="-1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select</a:t>
            </a:r>
            <a:r>
              <a:rPr lang="en-US" sz="2000" spc="-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the</a:t>
            </a:r>
            <a:r>
              <a:rPr lang="en-US" sz="2000" spc="-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spc="-20" dirty="0">
                <a:solidFill>
                  <a:srgbClr val="3B3838"/>
                </a:solidFill>
                <a:latin typeface="Calibri"/>
                <a:cs typeface="Calibri"/>
              </a:rPr>
              <a:t>best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features</a:t>
            </a:r>
            <a:r>
              <a:rPr lang="en-US" sz="2000" spc="-6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for</a:t>
            </a:r>
            <a:r>
              <a:rPr lang="en-US" sz="2000" spc="-4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a</a:t>
            </a:r>
            <a:r>
              <a:rPr lang="en-US" sz="2000" spc="-4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spc="-20" dirty="0">
                <a:solidFill>
                  <a:srgbClr val="3B3838"/>
                </a:solidFill>
                <a:latin typeface="Calibri"/>
                <a:cs typeface="Calibri"/>
              </a:rPr>
              <a:t>task?</a:t>
            </a:r>
            <a:endParaRPr lang="en-US"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solidFill>
                  <a:srgbClr val="3B3838"/>
                </a:solidFill>
                <a:latin typeface="Calibri"/>
                <a:cs typeface="Calibri"/>
              </a:rPr>
              <a:t>Model</a:t>
            </a:r>
            <a:r>
              <a:rPr lang="en-US" sz="2000" b="1" spc="-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b="1" spc="-10" dirty="0">
                <a:solidFill>
                  <a:srgbClr val="3B3838"/>
                </a:solidFill>
                <a:latin typeface="Calibri"/>
                <a:cs typeface="Calibri"/>
              </a:rPr>
              <a:t>Selection</a:t>
            </a:r>
            <a:endParaRPr lang="en-US"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Which</a:t>
            </a:r>
            <a:r>
              <a:rPr lang="en-US"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model</a:t>
            </a:r>
            <a:r>
              <a:rPr lang="en-US" sz="2000" spc="-1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is</a:t>
            </a:r>
            <a:r>
              <a:rPr lang="en-US" sz="2000" spc="-1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best</a:t>
            </a:r>
            <a:r>
              <a:rPr lang="en-US" sz="2000" spc="-1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for</a:t>
            </a:r>
            <a:r>
              <a:rPr lang="en-US" sz="2000" spc="-2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which</a:t>
            </a:r>
            <a:r>
              <a:rPr lang="en-US" sz="2000" spc="-2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type</a:t>
            </a:r>
            <a:r>
              <a:rPr lang="en-US" sz="2000" spc="-1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of</a:t>
            </a:r>
            <a:r>
              <a:rPr lang="en-US" sz="2000" spc="-10" dirty="0">
                <a:solidFill>
                  <a:srgbClr val="3B3838"/>
                </a:solidFill>
                <a:latin typeface="Calibri"/>
                <a:cs typeface="Calibri"/>
              </a:rPr>
              <a:t> task?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200" y="3395879"/>
            <a:ext cx="5828665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10" dirty="0">
                <a:solidFill>
                  <a:srgbClr val="3B3838"/>
                </a:solidFill>
                <a:latin typeface="Calibri"/>
                <a:cs typeface="Calibri"/>
              </a:rPr>
              <a:t>Pre-</a:t>
            </a:r>
            <a:r>
              <a:rPr sz="2000" b="1" dirty="0">
                <a:solidFill>
                  <a:srgbClr val="3B3838"/>
                </a:solidFill>
                <a:latin typeface="Calibri"/>
                <a:cs typeface="Calibri"/>
              </a:rPr>
              <a:t>training</a:t>
            </a:r>
            <a:r>
              <a:rPr sz="2000" b="1" spc="-1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838"/>
                </a:solidFill>
                <a:latin typeface="Calibri"/>
                <a:cs typeface="Calibri"/>
              </a:rPr>
              <a:t>and</a:t>
            </a:r>
            <a:r>
              <a:rPr sz="2000" b="1" spc="-10" dirty="0">
                <a:solidFill>
                  <a:srgbClr val="3B3838"/>
                </a:solidFill>
                <a:latin typeface="Calibri"/>
                <a:cs typeface="Calibri"/>
              </a:rPr>
              <a:t> Fine-tuning</a:t>
            </a:r>
            <a:endParaRPr sz="2000" dirty="0">
              <a:latin typeface="Calibri"/>
              <a:cs typeface="Calibri"/>
            </a:endParaRPr>
          </a:p>
          <a:p>
            <a:pPr marL="812165" marR="327660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lang="en-US" sz="2000" dirty="0">
                <a:solidFill>
                  <a:srgbClr val="3B3838"/>
                </a:solidFill>
                <a:latin typeface="Calibri"/>
                <a:cs typeface="Calibri"/>
              </a:rPr>
              <a:t>How can we effectively use the large amounts of unlabeled data that haven't been fully utilized before?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20" dirty="0">
                <a:solidFill>
                  <a:srgbClr val="3B3838"/>
                </a:solidFill>
                <a:latin typeface="Calibri"/>
                <a:cs typeface="Calibri"/>
              </a:rPr>
              <a:t>Zero-</a:t>
            </a:r>
            <a:r>
              <a:rPr sz="2000" b="1" dirty="0">
                <a:solidFill>
                  <a:srgbClr val="3B3838"/>
                </a:solidFill>
                <a:latin typeface="Calibri"/>
                <a:cs typeface="Calibri"/>
              </a:rPr>
              <a:t>shot</a:t>
            </a:r>
            <a:r>
              <a:rPr sz="2000" b="1" spc="-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838"/>
                </a:solidFill>
                <a:latin typeface="Calibri"/>
                <a:cs typeface="Calibri"/>
              </a:rPr>
              <a:t>and</a:t>
            </a:r>
            <a:r>
              <a:rPr sz="2000" b="1" spc="1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3B3838"/>
                </a:solidFill>
                <a:latin typeface="Calibri"/>
                <a:cs typeface="Calibri"/>
              </a:rPr>
              <a:t>Few-</a:t>
            </a:r>
            <a:r>
              <a:rPr sz="2000" b="1" dirty="0">
                <a:solidFill>
                  <a:srgbClr val="3B3838"/>
                </a:solidFill>
                <a:latin typeface="Calibri"/>
                <a:cs typeface="Calibri"/>
              </a:rPr>
              <a:t>shot</a:t>
            </a:r>
            <a:r>
              <a:rPr sz="2000" b="1" spc="1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B3838"/>
                </a:solidFill>
                <a:latin typeface="Calibri"/>
                <a:cs typeface="Calibri"/>
              </a:rPr>
              <a:t>learning</a:t>
            </a:r>
            <a:endParaRPr sz="2000" dirty="0">
              <a:latin typeface="Calibri"/>
              <a:cs typeface="Calibri"/>
            </a:endParaRPr>
          </a:p>
          <a:p>
            <a:pPr marL="812165" marR="5080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How</a:t>
            </a:r>
            <a:r>
              <a:rPr sz="2000" spc="-4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can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we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make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models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perform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on</a:t>
            </a:r>
            <a:r>
              <a:rPr sz="20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tasks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B3838"/>
                </a:solidFill>
                <a:latin typeface="Calibri"/>
                <a:cs typeface="Calibri"/>
              </a:rPr>
              <a:t>they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are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i="1" u="sng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not</a:t>
            </a:r>
            <a:r>
              <a:rPr sz="2000" i="1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trained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on?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E1032BA-76BE-C4A8-1773-60E278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B176E-3FBD-4BFD-A1EF-AE0367FF0FB9}" type="datetime1">
              <a:rPr lang="en-US" smtClean="0"/>
              <a:t>5/12/2025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CE8A9A3-FE0A-90E4-F336-02F9002B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0928B5-A474-F26B-6BD7-EECED1819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Paradigm</a:t>
            </a:r>
            <a:r>
              <a:rPr lang="en-US" spc="-35" dirty="0"/>
              <a:t> </a:t>
            </a:r>
            <a:r>
              <a:rPr lang="en-US" dirty="0"/>
              <a:t>Shift</a:t>
            </a:r>
            <a:r>
              <a:rPr lang="en-US" spc="-30" dirty="0"/>
              <a:t> </a:t>
            </a:r>
            <a:r>
              <a:rPr lang="en-US" dirty="0"/>
              <a:t>in</a:t>
            </a:r>
            <a:r>
              <a:rPr lang="en-US" spc="-30" dirty="0"/>
              <a:t> </a:t>
            </a:r>
            <a:r>
              <a:rPr lang="en-US" dirty="0"/>
              <a:t>Machine</a:t>
            </a:r>
            <a:r>
              <a:rPr lang="en-US" spc="-30" dirty="0"/>
              <a:t> </a:t>
            </a:r>
            <a:r>
              <a:rPr lang="en-US" spc="-10" dirty="0"/>
              <a:t>Learning (LLM)</a:t>
            </a:r>
            <a:endParaRPr spc="-10" dirty="0"/>
          </a:p>
        </p:txBody>
      </p:sp>
      <p:sp>
        <p:nvSpPr>
          <p:cNvPr id="2" name="object 2"/>
          <p:cNvSpPr txBox="1"/>
          <p:nvPr/>
        </p:nvSpPr>
        <p:spPr>
          <a:xfrm>
            <a:off x="609600" y="2166667"/>
            <a:ext cx="104921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 algn="ctr">
              <a:lnSpc>
                <a:spcPct val="100000"/>
              </a:lnSpc>
              <a:spcBef>
                <a:spcPts val="830"/>
              </a:spcBef>
              <a:tabLst>
                <a:tab pos="4944745" algn="l"/>
              </a:tabLst>
            </a:pPr>
            <a:r>
              <a:rPr lang="en-US" sz="2000" b="1" u="sng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Before</a:t>
            </a:r>
            <a:r>
              <a:rPr lang="en-US" sz="2000" b="1" u="sng" spc="-70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 </a:t>
            </a:r>
            <a:r>
              <a:rPr lang="en-US" sz="2000" b="1" u="sng" spc="-20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LLMs</a:t>
            </a:r>
            <a:r>
              <a:rPr lang="en-US" sz="2000" b="1" dirty="0">
                <a:solidFill>
                  <a:srgbClr val="3B3838"/>
                </a:solidFill>
                <a:latin typeface="Calibri"/>
                <a:cs typeface="Calibri"/>
              </a:rPr>
              <a:t>	</a:t>
            </a:r>
            <a:r>
              <a:rPr lang="en-US" sz="2000" b="1" u="sng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Since</a:t>
            </a:r>
            <a:r>
              <a:rPr lang="en-US" sz="2000" b="1" u="sng" spc="-15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 </a:t>
            </a:r>
            <a:r>
              <a:rPr lang="en-US" sz="2000" b="1" u="sng" spc="-20" dirty="0">
                <a:solidFill>
                  <a:srgbClr val="3B3838"/>
                </a:solidFill>
                <a:uFill>
                  <a:solidFill>
                    <a:srgbClr val="3B3838"/>
                  </a:solidFill>
                </a:uFill>
                <a:latin typeface="Calibri"/>
                <a:cs typeface="Calibri"/>
              </a:rPr>
              <a:t>LLMs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2895600"/>
            <a:ext cx="5059045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>
              <a:spcBef>
                <a:spcPts val="100"/>
              </a:spcBef>
              <a:tabLst>
                <a:tab pos="812165" algn="l"/>
                <a:tab pos="812800" algn="l"/>
              </a:tabLst>
            </a:pPr>
            <a:r>
              <a:rPr lang="en-US" sz="2000" b="1" spc="-20" dirty="0">
                <a:solidFill>
                  <a:srgbClr val="3B3838"/>
                </a:solidFill>
                <a:latin typeface="Calibri"/>
                <a:cs typeface="Calibri"/>
              </a:rPr>
              <a:t>Transfer</a:t>
            </a:r>
            <a:r>
              <a:rPr lang="en-US" sz="2000" b="1" spc="-4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lang="en-US" sz="2000" b="1" spc="-10" dirty="0">
                <a:solidFill>
                  <a:srgbClr val="3B3838"/>
                </a:solidFill>
                <a:latin typeface="Calibri"/>
                <a:cs typeface="Calibri"/>
              </a:rPr>
              <a:t>Learning</a:t>
            </a:r>
            <a:endParaRPr lang="en-US" sz="2000" dirty="0">
              <a:latin typeface="Calibri"/>
              <a:cs typeface="Calibri"/>
            </a:endParaRPr>
          </a:p>
          <a:p>
            <a:pPr marL="812165" marR="5080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Given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scarce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labeled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data,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how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do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we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transfer</a:t>
            </a:r>
            <a:r>
              <a:rPr sz="2000" spc="-6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knowledge</a:t>
            </a:r>
            <a:r>
              <a:rPr sz="2000" spc="-5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from</a:t>
            </a:r>
            <a:r>
              <a:rPr sz="2000" spc="-5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other</a:t>
            </a:r>
            <a:r>
              <a:rPr sz="2000" spc="-5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B3838"/>
                </a:solidFill>
                <a:latin typeface="Calibri"/>
                <a:cs typeface="Calibri"/>
              </a:rPr>
              <a:t>domains?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3B3838"/>
                </a:solidFill>
                <a:latin typeface="Calibri"/>
                <a:cs typeface="Calibri"/>
              </a:rPr>
              <a:t>Overfitting</a:t>
            </a:r>
            <a:r>
              <a:rPr sz="2000" b="1" spc="-4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838"/>
                </a:solidFill>
                <a:latin typeface="Calibri"/>
                <a:cs typeface="Calibri"/>
              </a:rPr>
              <a:t>vs</a:t>
            </a:r>
            <a:r>
              <a:rPr sz="2000" b="1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B3838"/>
                </a:solidFill>
                <a:latin typeface="Calibri"/>
                <a:cs typeface="Calibri"/>
              </a:rPr>
              <a:t>Generalization</a:t>
            </a:r>
            <a:endParaRPr sz="2000" dirty="0">
              <a:latin typeface="Calibri"/>
              <a:cs typeface="Calibri"/>
            </a:endParaRPr>
          </a:p>
          <a:p>
            <a:pPr marL="812165" marR="508634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How</a:t>
            </a:r>
            <a:r>
              <a:rPr sz="2000" spc="-4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do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we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balance</a:t>
            </a:r>
            <a:r>
              <a:rPr sz="2000" spc="-2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complexity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capacity</a:t>
            </a:r>
            <a:r>
              <a:rPr sz="2000" spc="-6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prevent</a:t>
            </a:r>
            <a:r>
              <a:rPr sz="2000" spc="-4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overfitting</a:t>
            </a:r>
            <a:r>
              <a:rPr sz="2000" spc="-5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B3838"/>
                </a:solidFill>
                <a:latin typeface="Calibri"/>
                <a:cs typeface="Calibri"/>
              </a:rPr>
              <a:t>while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maintaining</a:t>
            </a:r>
            <a:r>
              <a:rPr sz="2000" spc="-5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good</a:t>
            </a:r>
            <a:r>
              <a:rPr sz="2000" spc="-4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B3838"/>
                </a:solidFill>
                <a:latin typeface="Calibri"/>
                <a:cs typeface="Calibri"/>
              </a:rPr>
              <a:t>performance?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19800" y="2945124"/>
            <a:ext cx="582866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10" dirty="0">
                <a:solidFill>
                  <a:srgbClr val="3B3838"/>
                </a:solidFill>
                <a:latin typeface="Calibri"/>
                <a:cs typeface="Calibri"/>
              </a:rPr>
              <a:t>Prompting</a:t>
            </a:r>
            <a:endParaRPr sz="2000" dirty="0">
              <a:latin typeface="Calibri"/>
              <a:cs typeface="Calibri"/>
            </a:endParaRPr>
          </a:p>
          <a:p>
            <a:pPr marL="812165" marR="154940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How</a:t>
            </a:r>
            <a:r>
              <a:rPr sz="2000" spc="-4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do</a:t>
            </a:r>
            <a:r>
              <a:rPr sz="2000" spc="-4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we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make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models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understand</a:t>
            </a:r>
            <a:r>
              <a:rPr sz="20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their</a:t>
            </a:r>
            <a:r>
              <a:rPr sz="2000" spc="-3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B3838"/>
                </a:solidFill>
                <a:latin typeface="Calibri"/>
                <a:cs typeface="Calibri"/>
              </a:rPr>
              <a:t>task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simply</a:t>
            </a:r>
            <a:r>
              <a:rPr sz="2000" spc="-3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by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describing</a:t>
            </a:r>
            <a:r>
              <a:rPr sz="2000" spc="-2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it</a:t>
            </a:r>
            <a:r>
              <a:rPr sz="2000" spc="-15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rgbClr val="3B38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838"/>
                </a:solidFill>
                <a:latin typeface="Calibri"/>
                <a:cs typeface="Calibri"/>
              </a:rPr>
              <a:t>natural</a:t>
            </a:r>
            <a:r>
              <a:rPr sz="2000" spc="-10" dirty="0">
                <a:solidFill>
                  <a:srgbClr val="3B3838"/>
                </a:solidFill>
                <a:latin typeface="Calibri"/>
                <a:cs typeface="Calibri"/>
              </a:rPr>
              <a:t> language?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Interpretability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and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Explainability</a:t>
            </a:r>
            <a:endParaRPr sz="2000" dirty="0">
              <a:latin typeface="Calibri"/>
              <a:cs typeface="Calibri"/>
            </a:endParaRPr>
          </a:p>
          <a:p>
            <a:pPr marL="812165" marR="276225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How</a:t>
            </a:r>
            <a:r>
              <a:rPr sz="2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sz="20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we</a:t>
            </a:r>
            <a:r>
              <a:rPr sz="20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understand</a:t>
            </a:r>
            <a:r>
              <a:rPr sz="2000" i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inner</a:t>
            </a:r>
            <a:r>
              <a:rPr sz="2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workings</a:t>
            </a:r>
            <a:r>
              <a:rPr sz="2000" spc="-25" dirty="0">
                <a:solidFill>
                  <a:srgbClr val="C00000"/>
                </a:solidFill>
                <a:latin typeface="Calibri"/>
                <a:cs typeface="Calibri"/>
              </a:rPr>
              <a:t> of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own</a:t>
            </a:r>
            <a:r>
              <a:rPr sz="20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models?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8260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8513061" y="1674876"/>
            <a:ext cx="2840355" cy="4110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sz="2000" b="1" spc="-175" dirty="0">
                <a:latin typeface="Arial" panose="020B0604020202020204" pitchFamily="34" charset="0"/>
                <a:cs typeface="Arial" panose="020B0604020202020204" pitchFamily="34" charset="0"/>
              </a:rPr>
              <a:t>GPT</a:t>
            </a:r>
            <a:r>
              <a:rPr sz="2000" b="1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2018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8185">
              <a:lnSpc>
                <a:spcPct val="150000"/>
              </a:lnSpc>
            </a:pPr>
            <a:r>
              <a:rPr sz="2000" b="1" spc="-185" dirty="0">
                <a:latin typeface="Arial" panose="020B0604020202020204" pitchFamily="34" charset="0"/>
                <a:cs typeface="Arial" panose="020B0604020202020204" pitchFamily="34" charset="0"/>
              </a:rPr>
              <a:t>GPT-</a:t>
            </a:r>
            <a:r>
              <a:rPr sz="2000" b="1" spc="-23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8185">
              <a:lnSpc>
                <a:spcPct val="150000"/>
              </a:lnSpc>
            </a:pPr>
            <a:r>
              <a:rPr sz="2000" b="1" spc="-185" dirty="0">
                <a:latin typeface="Arial" panose="020B0604020202020204" pitchFamily="34" charset="0"/>
                <a:cs typeface="Arial" panose="020B0604020202020204" pitchFamily="34" charset="0"/>
              </a:rPr>
              <a:t>GPT-</a:t>
            </a:r>
            <a:r>
              <a:rPr sz="2000" b="1" spc="-235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2000" b="1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sz="2000" b="1" spc="-185" dirty="0">
                <a:latin typeface="Arial" panose="020B0604020202020204" pitchFamily="34" charset="0"/>
                <a:cs typeface="Arial" panose="020B0604020202020204" pitchFamily="34" charset="0"/>
              </a:rPr>
              <a:t>GPT-</a:t>
            </a:r>
            <a:r>
              <a:rPr sz="2000" b="1" spc="-180" dirty="0">
                <a:latin typeface="Arial" panose="020B0604020202020204" pitchFamily="34" charset="0"/>
                <a:cs typeface="Arial" panose="020B0604020202020204" pitchFamily="34" charset="0"/>
              </a:rPr>
              <a:t>Neo</a:t>
            </a:r>
            <a:r>
              <a:rPr sz="2000" b="1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sz="2000" b="1" spc="-185" dirty="0">
                <a:latin typeface="Arial" panose="020B0604020202020204" pitchFamily="34" charset="0"/>
                <a:cs typeface="Arial" panose="020B0604020202020204" pitchFamily="34" charset="0"/>
              </a:rPr>
              <a:t>GPT-</a:t>
            </a:r>
            <a:r>
              <a:rPr sz="2000" b="1" spc="-170" dirty="0">
                <a:latin typeface="Arial" panose="020B0604020202020204" pitchFamily="34" charset="0"/>
                <a:cs typeface="Arial" panose="020B0604020202020204" pitchFamily="34" charset="0"/>
              </a:rPr>
              <a:t>3.5</a:t>
            </a:r>
            <a:r>
              <a:rPr sz="2000" b="1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75" dirty="0">
                <a:latin typeface="Arial" panose="020B0604020202020204" pitchFamily="34" charset="0"/>
                <a:cs typeface="Arial" panose="020B0604020202020204" pitchFamily="34" charset="0"/>
              </a:rPr>
              <a:t>(ChatGPT)</a:t>
            </a:r>
            <a:r>
              <a:rPr sz="2000" b="1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sz="2000" b="1" spc="-185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sz="2000" b="1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sz="2000" spc="-295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8185">
              <a:lnSpc>
                <a:spcPct val="150000"/>
              </a:lnSpc>
            </a:pPr>
            <a:r>
              <a:rPr sz="2000" b="1" spc="-185" dirty="0">
                <a:latin typeface="Arial" panose="020B0604020202020204" pitchFamily="34" charset="0"/>
                <a:cs typeface="Arial" panose="020B0604020202020204" pitchFamily="34" charset="0"/>
              </a:rPr>
              <a:t>GPT-</a:t>
            </a:r>
            <a:r>
              <a:rPr sz="2000" b="1" spc="-235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2000" b="1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endParaRPr lang="en-US" sz="2000" spc="-29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8185">
              <a:lnSpc>
                <a:spcPct val="150000"/>
              </a:lnSpc>
            </a:pPr>
            <a:r>
              <a:rPr lang="en-US" sz="2000" b="1" spc="-185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en-US" sz="2000" b="1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000" spc="-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sz="2000" spc="254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4191000" y="1447800"/>
            <a:ext cx="3817715" cy="4923208"/>
            <a:chOff x="4113893" y="924377"/>
            <a:chExt cx="3964304" cy="5684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4566" y="1003509"/>
              <a:ext cx="3809225" cy="56053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5" y="0"/>
                  </a:moveTo>
                  <a:lnTo>
                    <a:pt x="329299" y="0"/>
                  </a:lnTo>
                  <a:lnTo>
                    <a:pt x="280638" y="3570"/>
                  </a:lnTo>
                  <a:lnTo>
                    <a:pt x="234193" y="13942"/>
                  </a:lnTo>
                  <a:lnTo>
                    <a:pt x="190475" y="30606"/>
                  </a:lnTo>
                  <a:lnTo>
                    <a:pt x="149992" y="53052"/>
                  </a:lnTo>
                  <a:lnTo>
                    <a:pt x="113255" y="80771"/>
                  </a:lnTo>
                  <a:lnTo>
                    <a:pt x="80771" y="113255"/>
                  </a:lnTo>
                  <a:lnTo>
                    <a:pt x="53052" y="149992"/>
                  </a:lnTo>
                  <a:lnTo>
                    <a:pt x="30606" y="190475"/>
                  </a:lnTo>
                  <a:lnTo>
                    <a:pt x="13942" y="234193"/>
                  </a:lnTo>
                  <a:lnTo>
                    <a:pt x="3570" y="280638"/>
                  </a:lnTo>
                  <a:lnTo>
                    <a:pt x="0" y="329299"/>
                  </a:lnTo>
                  <a:lnTo>
                    <a:pt x="0" y="4667245"/>
                  </a:lnTo>
                  <a:lnTo>
                    <a:pt x="3570" y="4715907"/>
                  </a:lnTo>
                  <a:lnTo>
                    <a:pt x="13942" y="4762351"/>
                  </a:lnTo>
                  <a:lnTo>
                    <a:pt x="30606" y="4806070"/>
                  </a:lnTo>
                  <a:lnTo>
                    <a:pt x="53052" y="4846553"/>
                  </a:lnTo>
                  <a:lnTo>
                    <a:pt x="80771" y="4883290"/>
                  </a:lnTo>
                  <a:lnTo>
                    <a:pt x="113255" y="4915774"/>
                  </a:lnTo>
                  <a:lnTo>
                    <a:pt x="149992" y="4943493"/>
                  </a:lnTo>
                  <a:lnTo>
                    <a:pt x="190475" y="4965939"/>
                  </a:lnTo>
                  <a:lnTo>
                    <a:pt x="234193" y="4982603"/>
                  </a:lnTo>
                  <a:lnTo>
                    <a:pt x="280638" y="4992975"/>
                  </a:lnTo>
                  <a:lnTo>
                    <a:pt x="329299" y="4996545"/>
                  </a:lnTo>
                  <a:lnTo>
                    <a:pt x="1646455" y="4996545"/>
                  </a:lnTo>
                  <a:lnTo>
                    <a:pt x="1695117" y="4992975"/>
                  </a:lnTo>
                  <a:lnTo>
                    <a:pt x="1741562" y="4982603"/>
                  </a:lnTo>
                  <a:lnTo>
                    <a:pt x="1785280" y="4965939"/>
                  </a:lnTo>
                  <a:lnTo>
                    <a:pt x="1825763" y="4943493"/>
                  </a:lnTo>
                  <a:lnTo>
                    <a:pt x="1862500" y="4915774"/>
                  </a:lnTo>
                  <a:lnTo>
                    <a:pt x="1894984" y="4883290"/>
                  </a:lnTo>
                  <a:lnTo>
                    <a:pt x="1922703" y="4846553"/>
                  </a:lnTo>
                  <a:lnTo>
                    <a:pt x="1945149" y="4806070"/>
                  </a:lnTo>
                  <a:lnTo>
                    <a:pt x="1961813" y="4762351"/>
                  </a:lnTo>
                  <a:lnTo>
                    <a:pt x="1972185" y="4715907"/>
                  </a:lnTo>
                  <a:lnTo>
                    <a:pt x="1975755" y="4667245"/>
                  </a:lnTo>
                  <a:lnTo>
                    <a:pt x="1975755" y="329299"/>
                  </a:lnTo>
                  <a:lnTo>
                    <a:pt x="1972185" y="280638"/>
                  </a:lnTo>
                  <a:lnTo>
                    <a:pt x="1961813" y="234193"/>
                  </a:lnTo>
                  <a:lnTo>
                    <a:pt x="1945149" y="190475"/>
                  </a:lnTo>
                  <a:lnTo>
                    <a:pt x="1922703" y="149992"/>
                  </a:lnTo>
                  <a:lnTo>
                    <a:pt x="1894984" y="113255"/>
                  </a:lnTo>
                  <a:lnTo>
                    <a:pt x="1862500" y="80771"/>
                  </a:lnTo>
                  <a:lnTo>
                    <a:pt x="1825763" y="53052"/>
                  </a:lnTo>
                  <a:lnTo>
                    <a:pt x="1785280" y="30606"/>
                  </a:lnTo>
                  <a:lnTo>
                    <a:pt x="1741562" y="13942"/>
                  </a:lnTo>
                  <a:lnTo>
                    <a:pt x="1695117" y="3570"/>
                  </a:lnTo>
                  <a:lnTo>
                    <a:pt x="1646455" y="0"/>
                  </a:lnTo>
                  <a:close/>
                </a:path>
              </a:pathLst>
            </a:custGeom>
            <a:solidFill>
              <a:srgbClr val="BDD7EE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8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300" y="0"/>
                  </a:lnTo>
                  <a:lnTo>
                    <a:pt x="1646456" y="0"/>
                  </a:lnTo>
                  <a:lnTo>
                    <a:pt x="1695117" y="3570"/>
                  </a:lnTo>
                  <a:lnTo>
                    <a:pt x="1741562" y="13942"/>
                  </a:lnTo>
                  <a:lnTo>
                    <a:pt x="1785280" y="30605"/>
                  </a:lnTo>
                  <a:lnTo>
                    <a:pt x="1825763" y="53052"/>
                  </a:lnTo>
                  <a:lnTo>
                    <a:pt x="1862500" y="80771"/>
                  </a:lnTo>
                  <a:lnTo>
                    <a:pt x="1894984" y="113254"/>
                  </a:lnTo>
                  <a:lnTo>
                    <a:pt x="1922703" y="149992"/>
                  </a:lnTo>
                  <a:lnTo>
                    <a:pt x="1945149" y="190475"/>
                  </a:lnTo>
                  <a:lnTo>
                    <a:pt x="1961813" y="234193"/>
                  </a:lnTo>
                  <a:lnTo>
                    <a:pt x="1972185" y="280638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7"/>
                  </a:lnTo>
                  <a:lnTo>
                    <a:pt x="1961813" y="4762352"/>
                  </a:lnTo>
                  <a:lnTo>
                    <a:pt x="1945149" y="4806070"/>
                  </a:lnTo>
                  <a:lnTo>
                    <a:pt x="1922703" y="4846553"/>
                  </a:lnTo>
                  <a:lnTo>
                    <a:pt x="1894984" y="4883290"/>
                  </a:lnTo>
                  <a:lnTo>
                    <a:pt x="1862500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6"/>
                  </a:lnTo>
                  <a:lnTo>
                    <a:pt x="329300" y="4996546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5" y="4915774"/>
                  </a:lnTo>
                  <a:lnTo>
                    <a:pt x="80771" y="4883290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7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20243" y="2743200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5" y="0"/>
                  </a:moveTo>
                  <a:lnTo>
                    <a:pt x="329299" y="0"/>
                  </a:lnTo>
                  <a:lnTo>
                    <a:pt x="280637" y="3570"/>
                  </a:lnTo>
                  <a:lnTo>
                    <a:pt x="234193" y="13942"/>
                  </a:lnTo>
                  <a:lnTo>
                    <a:pt x="190474" y="30605"/>
                  </a:lnTo>
                  <a:lnTo>
                    <a:pt x="149992" y="53052"/>
                  </a:lnTo>
                  <a:lnTo>
                    <a:pt x="113254" y="80771"/>
                  </a:lnTo>
                  <a:lnTo>
                    <a:pt x="80771" y="113254"/>
                  </a:lnTo>
                  <a:lnTo>
                    <a:pt x="53052" y="149992"/>
                  </a:lnTo>
                  <a:lnTo>
                    <a:pt x="30605" y="190474"/>
                  </a:lnTo>
                  <a:lnTo>
                    <a:pt x="13942" y="234193"/>
                  </a:lnTo>
                  <a:lnTo>
                    <a:pt x="3570" y="280637"/>
                  </a:lnTo>
                  <a:lnTo>
                    <a:pt x="0" y="329299"/>
                  </a:lnTo>
                  <a:lnTo>
                    <a:pt x="0" y="2854773"/>
                  </a:lnTo>
                  <a:lnTo>
                    <a:pt x="3570" y="2903434"/>
                  </a:lnTo>
                  <a:lnTo>
                    <a:pt x="13942" y="2949879"/>
                  </a:lnTo>
                  <a:lnTo>
                    <a:pt x="30605" y="2993597"/>
                  </a:lnTo>
                  <a:lnTo>
                    <a:pt x="53052" y="3034080"/>
                  </a:lnTo>
                  <a:lnTo>
                    <a:pt x="80771" y="3070818"/>
                  </a:lnTo>
                  <a:lnTo>
                    <a:pt x="113254" y="3103301"/>
                  </a:lnTo>
                  <a:lnTo>
                    <a:pt x="149992" y="3131020"/>
                  </a:lnTo>
                  <a:lnTo>
                    <a:pt x="190474" y="3153466"/>
                  </a:lnTo>
                  <a:lnTo>
                    <a:pt x="234193" y="3170130"/>
                  </a:lnTo>
                  <a:lnTo>
                    <a:pt x="280637" y="3180502"/>
                  </a:lnTo>
                  <a:lnTo>
                    <a:pt x="329299" y="3184072"/>
                  </a:lnTo>
                  <a:lnTo>
                    <a:pt x="1646455" y="3184072"/>
                  </a:lnTo>
                  <a:lnTo>
                    <a:pt x="1695117" y="3180502"/>
                  </a:lnTo>
                  <a:lnTo>
                    <a:pt x="1741561" y="3170130"/>
                  </a:lnTo>
                  <a:lnTo>
                    <a:pt x="1785280" y="3153466"/>
                  </a:lnTo>
                  <a:lnTo>
                    <a:pt x="1825762" y="3131020"/>
                  </a:lnTo>
                  <a:lnTo>
                    <a:pt x="1862500" y="3103301"/>
                  </a:lnTo>
                  <a:lnTo>
                    <a:pt x="1894983" y="3070818"/>
                  </a:lnTo>
                  <a:lnTo>
                    <a:pt x="1922703" y="3034080"/>
                  </a:lnTo>
                  <a:lnTo>
                    <a:pt x="1945149" y="2993597"/>
                  </a:lnTo>
                  <a:lnTo>
                    <a:pt x="1961813" y="2949879"/>
                  </a:lnTo>
                  <a:lnTo>
                    <a:pt x="1972185" y="2903434"/>
                  </a:lnTo>
                  <a:lnTo>
                    <a:pt x="1975755" y="2854773"/>
                  </a:lnTo>
                  <a:lnTo>
                    <a:pt x="1975755" y="329299"/>
                  </a:lnTo>
                  <a:lnTo>
                    <a:pt x="1972185" y="280637"/>
                  </a:lnTo>
                  <a:lnTo>
                    <a:pt x="1961813" y="234193"/>
                  </a:lnTo>
                  <a:lnTo>
                    <a:pt x="1945149" y="190474"/>
                  </a:lnTo>
                  <a:lnTo>
                    <a:pt x="1922703" y="149992"/>
                  </a:lnTo>
                  <a:lnTo>
                    <a:pt x="1894983" y="113254"/>
                  </a:lnTo>
                  <a:lnTo>
                    <a:pt x="1862500" y="80771"/>
                  </a:lnTo>
                  <a:lnTo>
                    <a:pt x="1825762" y="53052"/>
                  </a:lnTo>
                  <a:lnTo>
                    <a:pt x="1785280" y="30605"/>
                  </a:lnTo>
                  <a:lnTo>
                    <a:pt x="1741561" y="13942"/>
                  </a:lnTo>
                  <a:lnTo>
                    <a:pt x="1695117" y="3570"/>
                  </a:lnTo>
                  <a:lnTo>
                    <a:pt x="1646455" y="0"/>
                  </a:lnTo>
                  <a:close/>
                </a:path>
              </a:pathLst>
            </a:custGeom>
            <a:solidFill>
              <a:srgbClr val="FFE699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0243" y="2743200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5117" y="3570"/>
                  </a:lnTo>
                  <a:lnTo>
                    <a:pt x="1741562" y="13942"/>
                  </a:lnTo>
                  <a:lnTo>
                    <a:pt x="1785280" y="30605"/>
                  </a:lnTo>
                  <a:lnTo>
                    <a:pt x="1825763" y="53052"/>
                  </a:lnTo>
                  <a:lnTo>
                    <a:pt x="1862500" y="80771"/>
                  </a:lnTo>
                  <a:lnTo>
                    <a:pt x="1894984" y="113254"/>
                  </a:lnTo>
                  <a:lnTo>
                    <a:pt x="1922703" y="149992"/>
                  </a:lnTo>
                  <a:lnTo>
                    <a:pt x="1945149" y="190475"/>
                  </a:lnTo>
                  <a:lnTo>
                    <a:pt x="1961813" y="234193"/>
                  </a:lnTo>
                  <a:lnTo>
                    <a:pt x="1972185" y="280637"/>
                  </a:lnTo>
                  <a:lnTo>
                    <a:pt x="1975756" y="329299"/>
                  </a:lnTo>
                  <a:lnTo>
                    <a:pt x="1975756" y="2854774"/>
                  </a:lnTo>
                  <a:lnTo>
                    <a:pt x="1972185" y="2903435"/>
                  </a:lnTo>
                  <a:lnTo>
                    <a:pt x="1961813" y="2949880"/>
                  </a:lnTo>
                  <a:lnTo>
                    <a:pt x="1945149" y="2993598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0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3"/>
                  </a:lnTo>
                  <a:lnTo>
                    <a:pt x="329299" y="3184073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8"/>
                  </a:lnTo>
                  <a:lnTo>
                    <a:pt x="13942" y="2949880"/>
                  </a:lnTo>
                  <a:lnTo>
                    <a:pt x="3570" y="2903435"/>
                  </a:lnTo>
                  <a:lnTo>
                    <a:pt x="0" y="2854774"/>
                  </a:lnTo>
                  <a:lnTo>
                    <a:pt x="0" y="3292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0E353B7-B1F9-0660-8A0A-268710AD7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54B1F3C6-868B-43A3-B6D7-2D21427D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A93D-B0FC-4415-867B-56BE9249114D}" type="datetime1">
              <a:rPr lang="en-US" smtClean="0"/>
              <a:t>5/12/2025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BA33DCF6-66B5-2B34-F6B1-DB3A6FAF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3F05F11-6122-B844-255C-4EAC89A4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Paradigm</a:t>
            </a:r>
            <a:r>
              <a:rPr lang="en-US" spc="-35" dirty="0"/>
              <a:t> </a:t>
            </a:r>
            <a:r>
              <a:rPr lang="en-US" dirty="0"/>
              <a:t>Shift</a:t>
            </a:r>
            <a:r>
              <a:rPr lang="en-US" spc="-30" dirty="0"/>
              <a:t> </a:t>
            </a:r>
            <a:r>
              <a:rPr lang="en-US" dirty="0"/>
              <a:t>in</a:t>
            </a:r>
            <a:r>
              <a:rPr lang="en-US" spc="-30" dirty="0"/>
              <a:t> </a:t>
            </a:r>
            <a:r>
              <a:rPr lang="en-US" dirty="0"/>
              <a:t>Machine</a:t>
            </a:r>
            <a:r>
              <a:rPr lang="en-US" spc="-30" dirty="0"/>
              <a:t> </a:t>
            </a:r>
            <a:r>
              <a:rPr lang="en-US" spc="-10" dirty="0"/>
              <a:t>Learning (LLM)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1026563" y="5061646"/>
            <a:ext cx="2427837" cy="3175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000" b="1" spc="-135" dirty="0">
                <a:solidFill>
                  <a:schemeClr val="bg1"/>
                </a:solidFill>
                <a:latin typeface="Tahoma"/>
                <a:cs typeface="Tahoma"/>
              </a:rPr>
              <a:t>Representation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39680" y="5431848"/>
            <a:ext cx="1686147" cy="3175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000" b="1" spc="-135" dirty="0">
                <a:solidFill>
                  <a:schemeClr val="bg1"/>
                </a:solidFill>
                <a:latin typeface="Tahoma"/>
                <a:cs typeface="Tahoma"/>
              </a:rPr>
              <a:t>Generation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5740" y="2016252"/>
            <a:ext cx="1932305" cy="31874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sz="2000" b="1" spc="-175" dirty="0">
                <a:latin typeface="Arial" panose="020B0604020202020204" pitchFamily="34" charset="0"/>
                <a:cs typeface="Arial" panose="020B0604020202020204" pitchFamily="34" charset="0"/>
              </a:rPr>
              <a:t>BERT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2018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50000"/>
              </a:lnSpc>
            </a:pPr>
            <a:r>
              <a:rPr sz="2000" b="1" spc="-135" dirty="0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r>
              <a:rPr sz="2000" b="1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">
              <a:lnSpc>
                <a:spcPct val="150000"/>
              </a:lnSpc>
            </a:pPr>
            <a:r>
              <a:rPr sz="2000" b="1" spc="-175" dirty="0">
                <a:latin typeface="Arial" panose="020B0604020202020204" pitchFamily="34" charset="0"/>
                <a:cs typeface="Arial" panose="020B0604020202020204" pitchFamily="34" charset="0"/>
              </a:rPr>
              <a:t>RoBERTa</a:t>
            </a:r>
            <a:r>
              <a:rPr sz="2000" b="1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">
              <a:lnSpc>
                <a:spcPct val="150000"/>
              </a:lnSpc>
            </a:pPr>
            <a:r>
              <a:rPr sz="2000" b="1" spc="-175" dirty="0">
                <a:latin typeface="Arial" panose="020B0604020202020204" pitchFamily="34" charset="0"/>
                <a:cs typeface="Arial" panose="020B0604020202020204" pitchFamily="34" charset="0"/>
              </a:rPr>
              <a:t>ALBERT</a:t>
            </a:r>
            <a:r>
              <a:rPr sz="2000" b="1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060">
              <a:lnSpc>
                <a:spcPct val="150000"/>
              </a:lnSpc>
            </a:pPr>
            <a:r>
              <a:rPr sz="2000" b="1" spc="-170" dirty="0">
                <a:latin typeface="Arial" panose="020B0604020202020204" pitchFamily="34" charset="0"/>
                <a:cs typeface="Arial" panose="020B0604020202020204" pitchFamily="34" charset="0"/>
              </a:rPr>
              <a:t>ELECTRA</a:t>
            </a:r>
            <a:r>
              <a:rPr sz="2000" b="1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805">
              <a:lnSpc>
                <a:spcPct val="150000"/>
              </a:lnSpc>
            </a:pPr>
            <a:r>
              <a:rPr sz="2000" b="1" spc="-180" dirty="0">
                <a:latin typeface="Arial" panose="020B0604020202020204" pitchFamily="34" charset="0"/>
                <a:cs typeface="Arial" panose="020B0604020202020204" pitchFamily="34" charset="0"/>
              </a:rPr>
              <a:t>DeBERTa</a:t>
            </a:r>
            <a:r>
              <a:rPr sz="2000" b="1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32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95" dirty="0"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sz="2000" spc="254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3559" y="3614932"/>
            <a:ext cx="3477260" cy="1311898"/>
          </a:xfrm>
          <a:prstGeom prst="rect">
            <a:avLst/>
          </a:prstGeom>
          <a:solidFill>
            <a:srgbClr val="FFFFFF"/>
          </a:solidFill>
          <a:ln w="31750">
            <a:solidFill>
              <a:srgbClr val="172C51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2000" b="1" spc="-180" dirty="0">
                <a:solidFill>
                  <a:srgbClr val="00B0F0"/>
                </a:solidFill>
                <a:latin typeface="Tahoma"/>
                <a:cs typeface="Tahoma"/>
              </a:rPr>
              <a:t>T5</a:t>
            </a:r>
            <a:r>
              <a:rPr sz="2000" b="1" spc="-190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sz="2000" b="1" spc="-320" dirty="0">
                <a:solidFill>
                  <a:srgbClr val="00B0F0"/>
                </a:solidFill>
                <a:latin typeface="Tahoma"/>
                <a:cs typeface="Tahoma"/>
              </a:rPr>
              <a:t>–</a:t>
            </a:r>
            <a:r>
              <a:rPr sz="2000" b="1" spc="-180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00B0F0"/>
                </a:solidFill>
                <a:latin typeface="Tahoma"/>
                <a:cs typeface="Tahoma"/>
              </a:rPr>
              <a:t>2019</a:t>
            </a:r>
            <a:endParaRPr sz="2000" dirty="0">
              <a:solidFill>
                <a:srgbClr val="00B0F0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000" b="1" spc="-200" dirty="0">
                <a:solidFill>
                  <a:srgbClr val="00B0F0"/>
                </a:solidFill>
                <a:latin typeface="Tahoma"/>
                <a:cs typeface="Tahoma"/>
              </a:rPr>
              <a:t>BART</a:t>
            </a:r>
            <a:r>
              <a:rPr sz="2000" b="1" spc="-175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sz="2000" b="1" spc="-320" dirty="0">
                <a:solidFill>
                  <a:srgbClr val="00B0F0"/>
                </a:solidFill>
                <a:latin typeface="Tahoma"/>
                <a:cs typeface="Tahoma"/>
              </a:rPr>
              <a:t>–</a:t>
            </a:r>
            <a:r>
              <a:rPr sz="2000" b="1" spc="-170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00B0F0"/>
                </a:solidFill>
                <a:latin typeface="Tahoma"/>
                <a:cs typeface="Tahoma"/>
              </a:rPr>
              <a:t>2019</a:t>
            </a:r>
            <a:endParaRPr sz="2000" dirty="0">
              <a:solidFill>
                <a:srgbClr val="00B0F0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000" b="1" spc="-190" dirty="0">
                <a:solidFill>
                  <a:srgbClr val="00B0F0"/>
                </a:solidFill>
                <a:latin typeface="Tahoma"/>
                <a:cs typeface="Tahoma"/>
              </a:rPr>
              <a:t>mT5</a:t>
            </a:r>
            <a:r>
              <a:rPr sz="2000" b="1" spc="-185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sz="2000" b="1" spc="-320" dirty="0">
                <a:solidFill>
                  <a:srgbClr val="00B0F0"/>
                </a:solidFill>
                <a:latin typeface="Tahoma"/>
                <a:cs typeface="Tahoma"/>
              </a:rPr>
              <a:t>–</a:t>
            </a:r>
            <a:r>
              <a:rPr sz="2000" b="1" spc="-175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00B0F0"/>
                </a:solidFill>
                <a:latin typeface="Tahoma"/>
                <a:cs typeface="Tahoma"/>
              </a:rPr>
              <a:t>2021</a:t>
            </a:r>
            <a:endParaRPr sz="2000" dirty="0">
              <a:solidFill>
                <a:srgbClr val="00B0F0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000" b="1" spc="-50" dirty="0">
                <a:solidFill>
                  <a:srgbClr val="00B0F0"/>
                </a:solidFill>
                <a:latin typeface="Tahoma"/>
                <a:cs typeface="Tahoma"/>
              </a:rPr>
              <a:t>…</a:t>
            </a:r>
            <a:endParaRPr sz="2000" dirty="0">
              <a:solidFill>
                <a:srgbClr val="00B0F0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2E332F-FD4A-447E-5F6D-2AA57D48C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168" marR="69211">
              <a:spcBef>
                <a:spcPts val="1397"/>
              </a:spcBef>
            </a:pPr>
            <a:r>
              <a:rPr lang="en-US" sz="2800" dirty="0">
                <a:latin typeface="Tahoma"/>
                <a:cs typeface="Tahoma"/>
              </a:rPr>
              <a:t>LLMs</a:t>
            </a:r>
            <a:r>
              <a:rPr lang="en-US" sz="2800" spc="-50" dirty="0">
                <a:latin typeface="Tahoma"/>
                <a:cs typeface="Tahoma"/>
              </a:rPr>
              <a:t> </a:t>
            </a:r>
            <a:r>
              <a:rPr lang="en-US" sz="2800" spc="-40" dirty="0">
                <a:latin typeface="Tahoma"/>
                <a:cs typeface="Tahoma"/>
              </a:rPr>
              <a:t>can</a:t>
            </a:r>
            <a:r>
              <a:rPr lang="en-US" sz="2800" spc="-50" dirty="0">
                <a:latin typeface="Tahoma"/>
                <a:cs typeface="Tahoma"/>
              </a:rPr>
              <a:t> </a:t>
            </a:r>
            <a:r>
              <a:rPr lang="en-US" sz="2800" spc="-59" dirty="0">
                <a:latin typeface="Tahoma"/>
                <a:cs typeface="Tahoma"/>
              </a:rPr>
              <a:t>ingest </a:t>
            </a:r>
            <a:r>
              <a:rPr lang="en-US" sz="2800" spc="-79" dirty="0">
                <a:latin typeface="Tahoma"/>
                <a:cs typeface="Tahoma"/>
              </a:rPr>
              <a:t>terabytes</a:t>
            </a:r>
            <a:r>
              <a:rPr lang="en-US" sz="2800" spc="-59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of</a:t>
            </a:r>
            <a:r>
              <a:rPr lang="en-US" sz="2800" spc="-59" dirty="0">
                <a:latin typeface="Tahoma"/>
                <a:cs typeface="Tahoma"/>
              </a:rPr>
              <a:t> </a:t>
            </a:r>
            <a:r>
              <a:rPr lang="en-US" sz="2800" spc="-20" dirty="0">
                <a:latin typeface="Tahoma"/>
                <a:cs typeface="Tahoma"/>
              </a:rPr>
              <a:t>publicly </a:t>
            </a:r>
            <a:r>
              <a:rPr lang="en-US" sz="2800" spc="-50" dirty="0">
                <a:latin typeface="Tahoma"/>
                <a:cs typeface="Tahoma"/>
              </a:rPr>
              <a:t>available</a:t>
            </a:r>
            <a:r>
              <a:rPr lang="en-US" sz="2800" spc="-69" dirty="0">
                <a:latin typeface="Tahoma"/>
                <a:cs typeface="Tahoma"/>
              </a:rPr>
              <a:t> </a:t>
            </a:r>
            <a:r>
              <a:rPr lang="en-US" sz="2800" spc="-40" dirty="0">
                <a:latin typeface="Tahoma"/>
                <a:cs typeface="Tahoma"/>
              </a:rPr>
              <a:t>textual</a:t>
            </a:r>
            <a:r>
              <a:rPr lang="en-US" sz="2800" spc="-50" dirty="0">
                <a:latin typeface="Tahoma"/>
                <a:cs typeface="Tahoma"/>
              </a:rPr>
              <a:t> </a:t>
            </a:r>
            <a:r>
              <a:rPr lang="en-US" sz="2800" spc="-69" dirty="0">
                <a:latin typeface="Tahoma"/>
                <a:cs typeface="Tahoma"/>
              </a:rPr>
              <a:t>datasets,</a:t>
            </a:r>
            <a:r>
              <a:rPr lang="en-US" sz="2800" spc="-59" dirty="0">
                <a:latin typeface="Tahoma"/>
                <a:cs typeface="Tahoma"/>
              </a:rPr>
              <a:t> and </a:t>
            </a:r>
            <a:r>
              <a:rPr lang="en-US" sz="2800" spc="-69" dirty="0">
                <a:latin typeface="Tahoma"/>
                <a:cs typeface="Tahoma"/>
              </a:rPr>
              <a:t>learn</a:t>
            </a:r>
            <a:r>
              <a:rPr lang="en-US" sz="2800" spc="-50" dirty="0">
                <a:latin typeface="Tahoma"/>
                <a:cs typeface="Tahoma"/>
              </a:rPr>
              <a:t> </a:t>
            </a:r>
            <a:r>
              <a:rPr lang="en-US" sz="2800" spc="-20" dirty="0">
                <a:latin typeface="Tahoma"/>
                <a:cs typeface="Tahoma"/>
              </a:rPr>
              <a:t>from</a:t>
            </a:r>
            <a:r>
              <a:rPr lang="en-US" sz="2800" spc="-50" dirty="0">
                <a:latin typeface="Tahoma"/>
                <a:cs typeface="Tahoma"/>
              </a:rPr>
              <a:t> </a:t>
            </a:r>
            <a:r>
              <a:rPr lang="en-US" sz="2800" dirty="0">
                <a:latin typeface="Tahoma"/>
                <a:cs typeface="Tahoma"/>
              </a:rPr>
              <a:t>that</a:t>
            </a:r>
            <a:r>
              <a:rPr lang="en-US" sz="2800" spc="-69" dirty="0">
                <a:latin typeface="Tahoma"/>
                <a:cs typeface="Tahoma"/>
              </a:rPr>
              <a:t> </a:t>
            </a:r>
            <a:r>
              <a:rPr lang="en-US" sz="2800" spc="-20" dirty="0">
                <a:latin typeface="Tahoma"/>
                <a:cs typeface="Tahoma"/>
              </a:rPr>
              <a:t>data in unsupervised manner</a:t>
            </a:r>
            <a:endParaRPr lang="en-US" sz="2800" spc="-50" dirty="0">
              <a:latin typeface="Tahoma"/>
              <a:cs typeface="Tahoma"/>
            </a:endParaRPr>
          </a:p>
          <a:p>
            <a:pPr marL="425218" marR="69211" lvl="1">
              <a:spcBef>
                <a:spcPts val="1397"/>
              </a:spcBef>
            </a:pPr>
            <a:r>
              <a:rPr lang="en-US" spc="-109" dirty="0">
                <a:latin typeface="Tahoma"/>
                <a:cs typeface="Tahoma"/>
              </a:rPr>
              <a:t>Perform word-</a:t>
            </a:r>
            <a:r>
              <a:rPr lang="en-US" spc="-59" dirty="0">
                <a:latin typeface="Tahoma"/>
                <a:cs typeface="Tahoma"/>
              </a:rPr>
              <a:t>to-</a:t>
            </a:r>
            <a:r>
              <a:rPr lang="en-US" spc="-69" dirty="0">
                <a:latin typeface="Tahoma"/>
                <a:cs typeface="Tahoma"/>
              </a:rPr>
              <a:t>word,</a:t>
            </a:r>
            <a:r>
              <a:rPr lang="en-US" spc="69" dirty="0">
                <a:latin typeface="Tahoma"/>
                <a:cs typeface="Tahoma"/>
              </a:rPr>
              <a:t> </a:t>
            </a:r>
            <a:r>
              <a:rPr lang="en-US" spc="-119" dirty="0">
                <a:latin typeface="Tahoma"/>
                <a:cs typeface="Tahoma"/>
              </a:rPr>
              <a:t>sentence-</a:t>
            </a:r>
            <a:r>
              <a:rPr lang="en-US" spc="-99" dirty="0">
                <a:latin typeface="Tahoma"/>
                <a:cs typeface="Tahoma"/>
              </a:rPr>
              <a:t>to-</a:t>
            </a:r>
            <a:r>
              <a:rPr lang="en-US" spc="-89" dirty="0">
                <a:latin typeface="Tahoma"/>
                <a:cs typeface="Tahoma"/>
              </a:rPr>
              <a:t>sentence,</a:t>
            </a:r>
            <a:r>
              <a:rPr lang="en-US" spc="59" dirty="0">
                <a:latin typeface="Tahoma"/>
                <a:cs typeface="Tahoma"/>
              </a:rPr>
              <a:t> </a:t>
            </a:r>
            <a:r>
              <a:rPr lang="en-US" spc="-50" dirty="0">
                <a:latin typeface="Tahoma"/>
                <a:cs typeface="Tahoma"/>
              </a:rPr>
              <a:t>and </a:t>
            </a:r>
            <a:r>
              <a:rPr lang="en-US" spc="-99" dirty="0">
                <a:latin typeface="Tahoma"/>
                <a:cs typeface="Tahoma"/>
              </a:rPr>
              <a:t>paragraph-</a:t>
            </a:r>
            <a:r>
              <a:rPr lang="en-US" spc="-79" dirty="0">
                <a:latin typeface="Tahoma"/>
                <a:cs typeface="Tahoma"/>
              </a:rPr>
              <a:t>to-</a:t>
            </a:r>
            <a:r>
              <a:rPr lang="en-US" spc="-89" dirty="0">
                <a:latin typeface="Tahoma"/>
                <a:cs typeface="Tahoma"/>
              </a:rPr>
              <a:t>paragraph</a:t>
            </a:r>
            <a:r>
              <a:rPr lang="en-US" spc="20" dirty="0">
                <a:latin typeface="Tahoma"/>
                <a:cs typeface="Tahoma"/>
              </a:rPr>
              <a:t> </a:t>
            </a:r>
            <a:r>
              <a:rPr lang="en-US" spc="-40" dirty="0">
                <a:latin typeface="Tahoma"/>
                <a:cs typeface="Tahoma"/>
              </a:rPr>
              <a:t>continuity</a:t>
            </a:r>
            <a:r>
              <a:rPr lang="en-US" spc="10" dirty="0">
                <a:latin typeface="Tahoma"/>
                <a:cs typeface="Tahoma"/>
              </a:rPr>
              <a:t> </a:t>
            </a:r>
            <a:r>
              <a:rPr lang="en-US" spc="-69" dirty="0">
                <a:latin typeface="Tahoma"/>
                <a:cs typeface="Tahoma"/>
              </a:rPr>
              <a:t>properties</a:t>
            </a:r>
            <a:r>
              <a:rPr lang="en-US" spc="10" dirty="0">
                <a:latin typeface="Tahoma"/>
                <a:cs typeface="Tahoma"/>
              </a:rPr>
              <a:t> </a:t>
            </a:r>
            <a:r>
              <a:rPr lang="en-US" dirty="0">
                <a:latin typeface="Tahoma"/>
                <a:cs typeface="Tahoma"/>
              </a:rPr>
              <a:t>of</a:t>
            </a:r>
            <a:r>
              <a:rPr lang="en-US" spc="10" dirty="0">
                <a:latin typeface="Tahoma"/>
                <a:cs typeface="Tahoma"/>
              </a:rPr>
              <a:t> </a:t>
            </a:r>
            <a:r>
              <a:rPr lang="en-US" spc="-20" dirty="0">
                <a:latin typeface="Tahoma"/>
                <a:cs typeface="Tahoma"/>
              </a:rPr>
              <a:t>narratives.</a:t>
            </a:r>
            <a:endParaRPr lang="en-US" dirty="0">
              <a:latin typeface="Tahoma"/>
              <a:cs typeface="Tahoma"/>
            </a:endParaRPr>
          </a:p>
          <a:p>
            <a:pPr marL="25168" marR="118288">
              <a:spcBef>
                <a:spcPts val="1387"/>
              </a:spcBef>
            </a:pPr>
            <a:r>
              <a:rPr lang="en-US" sz="2800" spc="99" dirty="0">
                <a:latin typeface="Tahoma"/>
                <a:cs typeface="Tahoma"/>
              </a:rPr>
              <a:t>GPT, BERT</a:t>
            </a:r>
            <a:r>
              <a:rPr lang="en-US" sz="2800" spc="-69" dirty="0">
                <a:latin typeface="Tahoma"/>
                <a:cs typeface="Tahoma"/>
              </a:rPr>
              <a:t> </a:t>
            </a:r>
            <a:r>
              <a:rPr lang="en-US" sz="2800" spc="-59" dirty="0">
                <a:latin typeface="Tahoma"/>
                <a:cs typeface="Tahoma"/>
              </a:rPr>
              <a:t>started </a:t>
            </a:r>
            <a:r>
              <a:rPr lang="en-US" sz="2800" dirty="0">
                <a:latin typeface="Tahoma"/>
                <a:cs typeface="Tahoma"/>
              </a:rPr>
              <a:t>out</a:t>
            </a:r>
            <a:r>
              <a:rPr lang="en-US" sz="2800" spc="-59" dirty="0">
                <a:latin typeface="Tahoma"/>
                <a:cs typeface="Tahoma"/>
              </a:rPr>
              <a:t> </a:t>
            </a:r>
            <a:r>
              <a:rPr lang="en-US" sz="2800" spc="-40" dirty="0">
                <a:latin typeface="Tahoma"/>
                <a:cs typeface="Tahoma"/>
              </a:rPr>
              <a:t>as</a:t>
            </a:r>
            <a:r>
              <a:rPr lang="en-US" sz="2800" spc="-59" dirty="0">
                <a:latin typeface="Tahoma"/>
                <a:cs typeface="Tahoma"/>
              </a:rPr>
              <a:t> </a:t>
            </a:r>
            <a:r>
              <a:rPr lang="en-US" sz="2800" spc="-20" dirty="0">
                <a:latin typeface="Tahoma"/>
                <a:cs typeface="Tahoma"/>
              </a:rPr>
              <a:t>an</a:t>
            </a:r>
            <a:r>
              <a:rPr lang="en-US" sz="2800" spc="-59" dirty="0">
                <a:latin typeface="Tahoma"/>
                <a:cs typeface="Tahoma"/>
              </a:rPr>
              <a:t> acronym </a:t>
            </a:r>
            <a:r>
              <a:rPr lang="en-US" sz="2800" spc="-20" dirty="0">
                <a:latin typeface="Tahoma"/>
                <a:cs typeface="Tahoma"/>
              </a:rPr>
              <a:t>for</a:t>
            </a:r>
            <a:r>
              <a:rPr lang="en-US" sz="2800" spc="-59" dirty="0">
                <a:latin typeface="Tahoma"/>
                <a:cs typeface="Tahoma"/>
              </a:rPr>
              <a:t> </a:t>
            </a:r>
            <a:r>
              <a:rPr lang="en-US" sz="2800" i="1" spc="-40" dirty="0">
                <a:solidFill>
                  <a:srgbClr val="0000FF"/>
                </a:solidFill>
                <a:latin typeface="Arial"/>
                <a:cs typeface="Arial"/>
              </a:rPr>
              <a:t>Bidirectional</a:t>
            </a:r>
            <a:r>
              <a:rPr lang="en-US" sz="2800" i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800" i="1" spc="-79" dirty="0">
                <a:solidFill>
                  <a:srgbClr val="0000FF"/>
                </a:solidFill>
                <a:latin typeface="Arial"/>
                <a:cs typeface="Arial"/>
              </a:rPr>
              <a:t>Encoder</a:t>
            </a:r>
            <a:r>
              <a:rPr lang="en-US" sz="2800" i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800" i="1" spc="-99" dirty="0">
                <a:solidFill>
                  <a:srgbClr val="0000FF"/>
                </a:solidFill>
                <a:latin typeface="Arial"/>
                <a:cs typeface="Arial"/>
              </a:rPr>
              <a:t>Representations</a:t>
            </a:r>
            <a:r>
              <a:rPr lang="en-US" sz="2800" i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800" i="1" spc="-40" dirty="0">
                <a:solidFill>
                  <a:srgbClr val="0000FF"/>
                </a:solidFill>
                <a:latin typeface="Arial"/>
                <a:cs typeface="Arial"/>
              </a:rPr>
              <a:t>from </a:t>
            </a:r>
            <a:r>
              <a:rPr lang="en-US" sz="2800" i="1" spc="-20" dirty="0">
                <a:solidFill>
                  <a:srgbClr val="0000FF"/>
                </a:solidFill>
                <a:latin typeface="Arial"/>
                <a:cs typeface="Arial"/>
              </a:rPr>
              <a:t>Transforms</a:t>
            </a:r>
            <a:r>
              <a:rPr lang="en-US" sz="2800" spc="-20" dirty="0">
                <a:latin typeface="Tahoma"/>
                <a:cs typeface="Tahoma"/>
              </a:rPr>
              <a:t>.</a:t>
            </a:r>
            <a:endParaRPr lang="en-US" sz="2800" dirty="0">
              <a:latin typeface="Tahoma"/>
              <a:cs typeface="Tahoma"/>
            </a:endParaRPr>
          </a:p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4209C24-934D-0EB3-783F-45B58CD3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5271-DBA6-44E2-AE95-8C65CFBE0523}" type="datetime1">
              <a:rPr lang="en-US" smtClean="0"/>
              <a:t>5/12/2025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608A864-05FB-758A-5DFD-F267ADD8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1BABD8-7EB4-09DA-8152-AF5176B9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734548"/>
            <a:ext cx="10972800" cy="58830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US" dirty="0"/>
              <a:t>Paradigm</a:t>
            </a:r>
            <a:r>
              <a:rPr lang="en-US" spc="-35" dirty="0"/>
              <a:t> </a:t>
            </a:r>
            <a:r>
              <a:rPr lang="en-US" dirty="0"/>
              <a:t>Shift</a:t>
            </a:r>
            <a:r>
              <a:rPr lang="en-US" spc="-30" dirty="0"/>
              <a:t> </a:t>
            </a:r>
            <a:r>
              <a:rPr lang="en-US" dirty="0"/>
              <a:t>in</a:t>
            </a:r>
            <a:r>
              <a:rPr lang="en-US" spc="-30" dirty="0"/>
              <a:t> </a:t>
            </a:r>
            <a:r>
              <a:rPr lang="en-US" dirty="0"/>
              <a:t>Machine</a:t>
            </a:r>
            <a:r>
              <a:rPr lang="en-US" spc="-30" dirty="0"/>
              <a:t> </a:t>
            </a:r>
            <a:r>
              <a:rPr lang="en-US" spc="-10" dirty="0"/>
              <a:t>Learning (LLM)</a:t>
            </a:r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37AD64-5843-D7A5-CDBB-6546A6C1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GPT (Generative Pre-trained Transformer)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BERT (Bidirectional Encoder Representations from Transformers)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are two groundbreaking architectures in the field of natural language processing (NLP).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Significantly influenced how machines understand and generate human language.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Developed by researchers at OpenAI (GPT) and Google (BERT)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836A9-DFF5-5FD1-34ED-B02E0B17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1EE48-FB86-42E0-A6F6-8B57A99DBC7B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19C27-63F8-ADC3-5FA2-E4FF2B00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3D7D58-5010-66F0-0562-9B81B572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3F9DDA9-5235-38EB-A9D8-251F652B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Paradigm</a:t>
            </a:r>
            <a:r>
              <a:rPr lang="en-US" spc="-35" dirty="0"/>
              <a:t> </a:t>
            </a:r>
            <a:r>
              <a:rPr lang="en-US" dirty="0"/>
              <a:t>Shift</a:t>
            </a:r>
            <a:r>
              <a:rPr lang="en-US" spc="-30" dirty="0"/>
              <a:t> </a:t>
            </a:r>
            <a:r>
              <a:rPr lang="en-US" dirty="0"/>
              <a:t>in</a:t>
            </a:r>
            <a:r>
              <a:rPr lang="en-US" spc="-30" dirty="0"/>
              <a:t> </a:t>
            </a:r>
            <a:r>
              <a:rPr lang="en-US" dirty="0"/>
              <a:t>Machine</a:t>
            </a:r>
            <a:r>
              <a:rPr lang="en-US" spc="-30" dirty="0"/>
              <a:t> </a:t>
            </a:r>
            <a:r>
              <a:rPr lang="en-US" spc="-10" dirty="0"/>
              <a:t>Learning (LLM)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494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3433F47A-C7E3-FE9E-74B1-3D0CBD9C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E575-E748-4AE3-9FC9-2DC840CBA23B}" type="datetime1">
              <a:rPr lang="en-US" smtClean="0"/>
              <a:t>5/12/2025</a:t>
            </a:fld>
            <a:endParaRPr lang="en-US"/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CB5678E0-B3A7-630D-715F-DEAA158A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828828F0-FA9E-0D13-CD08-CA8DDFB1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3" dirty="0"/>
              <a:t>Pre-training</a:t>
            </a:r>
            <a:r>
              <a:rPr spc="-27" dirty="0"/>
              <a:t> </a:t>
            </a:r>
            <a:r>
              <a:rPr spc="13" dirty="0"/>
              <a:t>in</a:t>
            </a:r>
            <a:r>
              <a:rPr spc="-27" dirty="0"/>
              <a:t> </a:t>
            </a:r>
            <a:r>
              <a:rPr spc="20" dirty="0"/>
              <a:t>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456" y="1410341"/>
            <a:ext cx="10392833" cy="47049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6725" marR="6773" indent="-570639">
              <a:lnSpc>
                <a:spcPct val="115399"/>
              </a:lnSpc>
              <a:spcBef>
                <a:spcPts val="133"/>
              </a:spcBef>
              <a:buFont typeface="Arial MT"/>
              <a:buChar char="●"/>
              <a:tabLst>
                <a:tab pos="586725" algn="l"/>
                <a:tab pos="587572" algn="l"/>
              </a:tabLst>
            </a:pPr>
            <a:r>
              <a:rPr sz="2800" spc="3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 embeddings </a:t>
            </a:r>
            <a:r>
              <a:rPr sz="28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the basis of </a:t>
            </a:r>
            <a:r>
              <a:rPr sz="2800" spc="3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</a:t>
            </a:r>
            <a:r>
              <a:rPr sz="28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</a:t>
            </a:r>
            <a:r>
              <a:rPr sz="2800" spc="-93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800" spc="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NLP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236" y="3832264"/>
            <a:ext cx="10375053" cy="96601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6725" marR="6773" indent="-570639">
              <a:lnSpc>
                <a:spcPct val="115399"/>
              </a:lnSpc>
              <a:spcBef>
                <a:spcPts val="133"/>
              </a:spcBef>
              <a:buFont typeface="Arial MT"/>
              <a:buChar char="●"/>
              <a:tabLst>
                <a:tab pos="586725" algn="l"/>
                <a:tab pos="587572" algn="l"/>
              </a:tabLst>
            </a:pPr>
            <a:r>
              <a:rPr sz="28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 </a:t>
            </a:r>
            <a:r>
              <a:rPr sz="2800" spc="3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 </a:t>
            </a:r>
            <a:r>
              <a:rPr sz="2800" spc="-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(word2vec, </a:t>
            </a:r>
            <a:r>
              <a:rPr sz="2800" spc="-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GloVe) </a:t>
            </a:r>
            <a:r>
              <a:rPr sz="28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800" spc="4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 </a:t>
            </a:r>
            <a:r>
              <a:rPr sz="2800" spc="47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i="1" spc="107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pre-trained </a:t>
            </a:r>
            <a:r>
              <a:rPr sz="2800" spc="87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2800" spc="6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sz="2800" spc="73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corpus </a:t>
            </a:r>
            <a:r>
              <a:rPr sz="2800" spc="7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co-occurrence </a:t>
            </a:r>
            <a:r>
              <a:rPr sz="2800" spc="8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0092" y="2130518"/>
            <a:ext cx="6028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Courier New"/>
                <a:cs typeface="Courier New"/>
              </a:rPr>
              <a:t>king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29306" y="2525033"/>
            <a:ext cx="55033" cy="268393"/>
            <a:chOff x="2946979" y="1893774"/>
            <a:chExt cx="41275" cy="201295"/>
          </a:xfrm>
        </p:grpSpPr>
        <p:sp>
          <p:nvSpPr>
            <p:cNvPr id="7" name="object 7"/>
            <p:cNvSpPr/>
            <p:nvPr/>
          </p:nvSpPr>
          <p:spPr>
            <a:xfrm>
              <a:off x="2967475" y="1893774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h="153669">
                  <a:moveTo>
                    <a:pt x="0" y="0"/>
                  </a:moveTo>
                  <a:lnTo>
                    <a:pt x="0" y="153149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951742" y="2046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951742" y="2046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34167" y="2956240"/>
            <a:ext cx="2472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[-0.5,</a:t>
            </a:r>
            <a:r>
              <a:rPr sz="1600" spc="-47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-0.9,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1.4,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…]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0991" y="2156734"/>
            <a:ext cx="7450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Courier New"/>
                <a:cs typeface="Courier New"/>
              </a:rPr>
              <a:t>queen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82606" y="2551250"/>
            <a:ext cx="55033" cy="268393"/>
            <a:chOff x="5611954" y="1913437"/>
            <a:chExt cx="41275" cy="201295"/>
          </a:xfrm>
        </p:grpSpPr>
        <p:sp>
          <p:nvSpPr>
            <p:cNvPr id="13" name="object 13"/>
            <p:cNvSpPr/>
            <p:nvPr/>
          </p:nvSpPr>
          <p:spPr>
            <a:xfrm>
              <a:off x="5632449" y="1913437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h="153669">
                  <a:moveTo>
                    <a:pt x="0" y="0"/>
                  </a:moveTo>
                  <a:lnTo>
                    <a:pt x="0" y="153149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616717" y="2066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16717" y="2066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87468" y="2982456"/>
            <a:ext cx="2594185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[-0.6,</a:t>
            </a:r>
            <a:r>
              <a:rPr sz="1600" spc="-47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-0.8,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-0.2,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…]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95963" y="5848885"/>
            <a:ext cx="30209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Courier New"/>
                <a:cs typeface="Courier New"/>
              </a:rPr>
              <a:t>the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king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wore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a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crown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79600" y="5329265"/>
            <a:ext cx="1289473" cy="229977"/>
          </a:xfrm>
          <a:prstGeom prst="rect">
            <a:avLst/>
          </a:prstGeom>
          <a:solidFill>
            <a:srgbClr val="C9DAF7"/>
          </a:solidFill>
          <a:ln w="9524">
            <a:solidFill>
              <a:srgbClr val="424242"/>
            </a:solidFill>
          </a:ln>
        </p:spPr>
        <p:txBody>
          <a:bodyPr vert="horz" wrap="square" lIns="0" tIns="44873" rIns="0" bIns="0" rtlCol="0">
            <a:spAutoFit/>
          </a:bodyPr>
          <a:lstStyle/>
          <a:p>
            <a:pPr marL="187109">
              <a:spcBef>
                <a:spcPts val="353"/>
              </a:spcBef>
            </a:pPr>
            <a:r>
              <a:rPr sz="1200" spc="-7" dirty="0">
                <a:latin typeface="Arial MT"/>
                <a:cs typeface="Arial MT"/>
              </a:rPr>
              <a:t>Inner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spc="-7" dirty="0">
                <a:latin typeface="Arial MT"/>
                <a:cs typeface="Arial MT"/>
              </a:rPr>
              <a:t>Product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19049" y="5603692"/>
            <a:ext cx="1740747" cy="298027"/>
            <a:chOff x="2114287" y="4202769"/>
            <a:chExt cx="1305560" cy="223520"/>
          </a:xfrm>
        </p:grpSpPr>
        <p:sp>
          <p:nvSpPr>
            <p:cNvPr id="20" name="object 20"/>
            <p:cNvSpPr/>
            <p:nvPr/>
          </p:nvSpPr>
          <p:spPr>
            <a:xfrm>
              <a:off x="2119049" y="4224534"/>
              <a:ext cx="619760" cy="196850"/>
            </a:xfrm>
            <a:custGeom>
              <a:avLst/>
              <a:gdLst/>
              <a:ahLst/>
              <a:cxnLst/>
              <a:rect l="l" t="t" r="r" b="b"/>
              <a:pathLst>
                <a:path w="619760" h="196850">
                  <a:moveTo>
                    <a:pt x="0" y="196614"/>
                  </a:moveTo>
                  <a:lnTo>
                    <a:pt x="619626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733918" y="420953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9516" y="29991"/>
                  </a:moveTo>
                  <a:lnTo>
                    <a:pt x="0" y="0"/>
                  </a:lnTo>
                  <a:lnTo>
                    <a:pt x="45959" y="1922"/>
                  </a:lnTo>
                  <a:lnTo>
                    <a:pt x="9516" y="29991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733918" y="420953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9516" y="29991"/>
                  </a:moveTo>
                  <a:lnTo>
                    <a:pt x="45959" y="1922"/>
                  </a:lnTo>
                  <a:lnTo>
                    <a:pt x="0" y="0"/>
                  </a:lnTo>
                  <a:lnTo>
                    <a:pt x="9516" y="29991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2848177" y="4222679"/>
              <a:ext cx="567055" cy="159385"/>
            </a:xfrm>
            <a:custGeom>
              <a:avLst/>
              <a:gdLst/>
              <a:ahLst/>
              <a:cxnLst/>
              <a:rect l="l" t="t" r="r" b="b"/>
              <a:pathLst>
                <a:path w="567054" h="159385">
                  <a:moveTo>
                    <a:pt x="566572" y="15886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2806557" y="420753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37372" y="30296"/>
                  </a:moveTo>
                  <a:lnTo>
                    <a:pt x="0" y="3477"/>
                  </a:lnTo>
                  <a:lnTo>
                    <a:pt x="45867" y="0"/>
                  </a:lnTo>
                  <a:lnTo>
                    <a:pt x="37372" y="30296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2806557" y="420753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45867" y="0"/>
                  </a:moveTo>
                  <a:lnTo>
                    <a:pt x="0" y="3477"/>
                  </a:lnTo>
                  <a:lnTo>
                    <a:pt x="37372" y="30296"/>
                  </a:lnTo>
                  <a:lnTo>
                    <a:pt x="45867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996293" y="5848885"/>
            <a:ext cx="31631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Courier New"/>
                <a:cs typeface="Courier New"/>
              </a:rPr>
              <a:t>the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queen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wore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a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crown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52334" y="5329265"/>
            <a:ext cx="1289473" cy="229977"/>
          </a:xfrm>
          <a:prstGeom prst="rect">
            <a:avLst/>
          </a:prstGeom>
          <a:solidFill>
            <a:srgbClr val="C9DAF7"/>
          </a:solidFill>
          <a:ln w="9524">
            <a:solidFill>
              <a:srgbClr val="424242"/>
            </a:solidFill>
          </a:ln>
        </p:spPr>
        <p:txBody>
          <a:bodyPr vert="horz" wrap="square" lIns="0" tIns="44873" rIns="0" bIns="0" rtlCol="0">
            <a:spAutoFit/>
          </a:bodyPr>
          <a:lstStyle/>
          <a:p>
            <a:pPr marL="187109">
              <a:spcBef>
                <a:spcPts val="353"/>
              </a:spcBef>
            </a:pPr>
            <a:r>
              <a:rPr sz="1200" spc="-7" dirty="0">
                <a:latin typeface="Arial MT"/>
                <a:cs typeface="Arial MT"/>
              </a:rPr>
              <a:t>Inner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spc="-7" dirty="0">
                <a:latin typeface="Arial MT"/>
                <a:cs typeface="Arial MT"/>
              </a:rPr>
              <a:t>Product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991783" y="5603692"/>
            <a:ext cx="1740747" cy="298027"/>
            <a:chOff x="5243837" y="4202769"/>
            <a:chExt cx="1305560" cy="223520"/>
          </a:xfrm>
        </p:grpSpPr>
        <p:sp>
          <p:nvSpPr>
            <p:cNvPr id="29" name="object 29"/>
            <p:cNvSpPr/>
            <p:nvPr/>
          </p:nvSpPr>
          <p:spPr>
            <a:xfrm>
              <a:off x="5248600" y="4224534"/>
              <a:ext cx="619760" cy="196850"/>
            </a:xfrm>
            <a:custGeom>
              <a:avLst/>
              <a:gdLst/>
              <a:ahLst/>
              <a:cxnLst/>
              <a:rect l="l" t="t" r="r" b="b"/>
              <a:pathLst>
                <a:path w="619760" h="196850">
                  <a:moveTo>
                    <a:pt x="0" y="196614"/>
                  </a:moveTo>
                  <a:lnTo>
                    <a:pt x="619626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863468" y="420953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9516" y="29991"/>
                  </a:moveTo>
                  <a:lnTo>
                    <a:pt x="0" y="0"/>
                  </a:lnTo>
                  <a:lnTo>
                    <a:pt x="45959" y="1922"/>
                  </a:lnTo>
                  <a:lnTo>
                    <a:pt x="9516" y="29991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863468" y="420953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9516" y="29991"/>
                  </a:moveTo>
                  <a:lnTo>
                    <a:pt x="45959" y="1922"/>
                  </a:lnTo>
                  <a:lnTo>
                    <a:pt x="0" y="0"/>
                  </a:lnTo>
                  <a:lnTo>
                    <a:pt x="9516" y="29991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977727" y="4222679"/>
              <a:ext cx="567055" cy="159385"/>
            </a:xfrm>
            <a:custGeom>
              <a:avLst/>
              <a:gdLst/>
              <a:ahLst/>
              <a:cxnLst/>
              <a:rect l="l" t="t" r="r" b="b"/>
              <a:pathLst>
                <a:path w="567054" h="159385">
                  <a:moveTo>
                    <a:pt x="566572" y="15886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936107" y="420753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37372" y="30296"/>
                  </a:moveTo>
                  <a:lnTo>
                    <a:pt x="0" y="3477"/>
                  </a:lnTo>
                  <a:lnTo>
                    <a:pt x="45867" y="0"/>
                  </a:lnTo>
                  <a:lnTo>
                    <a:pt x="37372" y="30296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936107" y="4207531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45867" y="0"/>
                  </a:moveTo>
                  <a:lnTo>
                    <a:pt x="0" y="3477"/>
                  </a:lnTo>
                  <a:lnTo>
                    <a:pt x="37372" y="30296"/>
                  </a:lnTo>
                  <a:lnTo>
                    <a:pt x="45867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1616BD99-C344-B47C-6298-E4107A8B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A3F2-AFE5-45F0-AA37-0536330CCFA7}" type="datetime1">
              <a:rPr lang="en-US" smtClean="0"/>
              <a:t>5/12/2025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F7BDE188-6C8B-E52A-11A3-68C48BFB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212A5257-3458-2156-4915-BF0CEAB3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80" dirty="0"/>
              <a:t>Contextual</a:t>
            </a:r>
            <a:r>
              <a:rPr spc="-13" dirty="0"/>
              <a:t> </a:t>
            </a:r>
            <a:r>
              <a:rPr spc="80" dirty="0"/>
              <a:t>Representations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771926"/>
            <a:ext cx="10617200" cy="25756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8986" marR="1125192" indent="-342900">
              <a:lnSpc>
                <a:spcPct val="115399"/>
              </a:lnSpc>
              <a:spcBef>
                <a:spcPts val="133"/>
              </a:spcBef>
              <a:buFont typeface="Arial" panose="020B0604020202020204" pitchFamily="34" charset="0"/>
              <a:buChar char="•"/>
              <a:tabLst>
                <a:tab pos="586725" algn="l"/>
                <a:tab pos="587572" algn="l"/>
              </a:tabLst>
            </a:pPr>
            <a:r>
              <a:rPr sz="2400" b="1" spc="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sz="2400" spc="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400" spc="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 embeddings are applied in a </a:t>
            </a:r>
            <a:r>
              <a:rPr sz="2400" spc="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6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r>
              <a:rPr sz="24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</a:t>
            </a:r>
            <a:r>
              <a:rPr sz="24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8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manner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192189" algn="ctr">
              <a:spcBef>
                <a:spcPts val="1573"/>
              </a:spcBef>
              <a:tabLst>
                <a:tab pos="4388162" algn="l"/>
              </a:tabLst>
            </a:pPr>
            <a:r>
              <a:rPr sz="1867" spc="-7" dirty="0">
                <a:latin typeface="Courier New"/>
                <a:cs typeface="Courier New"/>
              </a:rPr>
              <a:t>open </a:t>
            </a:r>
            <a:r>
              <a:rPr sz="1867" dirty="0">
                <a:latin typeface="Courier New"/>
                <a:cs typeface="Courier New"/>
              </a:rPr>
              <a:t>a </a:t>
            </a:r>
            <a:r>
              <a:rPr sz="1867" spc="-7" dirty="0">
                <a:latin typeface="Courier New"/>
                <a:cs typeface="Courier New"/>
              </a:rPr>
              <a:t>bank</a:t>
            </a:r>
            <a:r>
              <a:rPr sz="1867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account	on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the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river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bank</a:t>
            </a:r>
            <a:endParaRPr sz="1867" dirty="0">
              <a:latin typeface="Courier New"/>
              <a:cs typeface="Courier New"/>
            </a:endParaRPr>
          </a:p>
          <a:p>
            <a:pPr>
              <a:spcBef>
                <a:spcPts val="33"/>
              </a:spcBef>
            </a:pPr>
            <a:endParaRPr lang="en-US" sz="2733" dirty="0">
              <a:latin typeface="Courier New"/>
              <a:cs typeface="Courier New"/>
            </a:endParaRPr>
          </a:p>
          <a:p>
            <a:pPr marL="252300" algn="ctr"/>
            <a:r>
              <a:rPr sz="1600" spc="-7" dirty="0">
                <a:latin typeface="Courier New"/>
                <a:cs typeface="Courier New"/>
              </a:rPr>
              <a:t>[0.3,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0.2,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-0.8,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…]</a:t>
            </a:r>
            <a:endParaRPr sz="1600" dirty="0">
              <a:latin typeface="Courier New"/>
              <a:cs typeface="Courier New"/>
            </a:endParaRPr>
          </a:p>
          <a:p>
            <a:pPr marL="473286" marR="6773" indent="-457200">
              <a:lnSpc>
                <a:spcPct val="115399"/>
              </a:lnSpc>
              <a:spcBef>
                <a:spcPts val="133"/>
              </a:spcBef>
              <a:buFont typeface="Arial" panose="020B0604020202020204" pitchFamily="34" charset="0"/>
              <a:buChar char="•"/>
              <a:tabLst>
                <a:tab pos="586725" algn="l"/>
                <a:tab pos="587572" algn="l"/>
              </a:tabLst>
            </a:pPr>
            <a:endParaRPr lang="en-US" sz="2800" b="1" spc="-13" dirty="0">
              <a:solidFill>
                <a:srgbClr val="434343"/>
              </a:solidFill>
              <a:latin typeface="Arial"/>
              <a:cs typeface="Arial"/>
            </a:endParaRPr>
          </a:p>
          <a:p>
            <a:pPr marL="473286" marR="6773" indent="-457200">
              <a:lnSpc>
                <a:spcPct val="115399"/>
              </a:lnSpc>
              <a:spcBef>
                <a:spcPts val="133"/>
              </a:spcBef>
              <a:buFont typeface="Arial" panose="020B0604020202020204" pitchFamily="34" charset="0"/>
              <a:buChar char="•"/>
              <a:tabLst>
                <a:tab pos="586725" algn="l"/>
                <a:tab pos="587572" algn="l"/>
              </a:tabLst>
            </a:pPr>
            <a:r>
              <a:rPr sz="2800" b="1" spc="-13" dirty="0">
                <a:solidFill>
                  <a:srgbClr val="434343"/>
                </a:solidFill>
                <a:latin typeface="Arial"/>
                <a:cs typeface="Arial"/>
              </a:rPr>
              <a:t>Solution</a:t>
            </a:r>
            <a:r>
              <a:rPr sz="2800" spc="-13" dirty="0">
                <a:solidFill>
                  <a:srgbClr val="434343"/>
                </a:solidFill>
                <a:latin typeface="Segoe UI Symbol"/>
                <a:cs typeface="Segoe UI Symbol"/>
              </a:rPr>
              <a:t>: Train </a:t>
            </a:r>
            <a:r>
              <a:rPr sz="2800" i="1" spc="53" dirty="0">
                <a:solidFill>
                  <a:srgbClr val="00B0F0"/>
                </a:solidFill>
                <a:latin typeface="Arial"/>
                <a:cs typeface="Arial"/>
              </a:rPr>
              <a:t>contextual </a:t>
            </a:r>
            <a:r>
              <a:rPr sz="2800" spc="47" dirty="0">
                <a:solidFill>
                  <a:srgbClr val="00B0F0"/>
                </a:solidFill>
                <a:latin typeface="Segoe UI Symbol"/>
                <a:cs typeface="Segoe UI Symbol"/>
              </a:rPr>
              <a:t>representations </a:t>
            </a:r>
            <a:r>
              <a:rPr sz="2800" spc="60" dirty="0">
                <a:solidFill>
                  <a:srgbClr val="434343"/>
                </a:solidFill>
                <a:latin typeface="Segoe UI Symbol"/>
                <a:cs typeface="Segoe UI Symbol"/>
              </a:rPr>
              <a:t>on </a:t>
            </a:r>
            <a:r>
              <a:rPr sz="2800" spc="47" dirty="0">
                <a:solidFill>
                  <a:srgbClr val="434343"/>
                </a:solidFill>
                <a:latin typeface="Segoe UI Symbol"/>
                <a:cs typeface="Segoe UI Symbol"/>
              </a:rPr>
              <a:t>text </a:t>
            </a:r>
            <a:r>
              <a:rPr sz="2800" spc="-93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sz="2800" spc="100" dirty="0">
                <a:solidFill>
                  <a:srgbClr val="434343"/>
                </a:solidFill>
                <a:latin typeface="Segoe UI Symbol"/>
                <a:cs typeface="Segoe UI Symbol"/>
              </a:rPr>
              <a:t>corpus</a:t>
            </a:r>
            <a:endParaRPr sz="2800" dirty="0">
              <a:latin typeface="Segoe UI Symbol"/>
              <a:cs typeface="Segoe UI 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80729" y="2827872"/>
            <a:ext cx="2044700" cy="276860"/>
            <a:chOff x="2748857" y="1988396"/>
            <a:chExt cx="1533525" cy="207645"/>
          </a:xfrm>
        </p:grpSpPr>
        <p:sp>
          <p:nvSpPr>
            <p:cNvPr id="5" name="object 5"/>
            <p:cNvSpPr/>
            <p:nvPr/>
          </p:nvSpPr>
          <p:spPr>
            <a:xfrm>
              <a:off x="2796522" y="2008774"/>
              <a:ext cx="1480820" cy="182245"/>
            </a:xfrm>
            <a:custGeom>
              <a:avLst/>
              <a:gdLst/>
              <a:ahLst/>
              <a:cxnLst/>
              <a:rect l="l" t="t" r="r" b="b"/>
              <a:pathLst>
                <a:path w="1480820" h="182244">
                  <a:moveTo>
                    <a:pt x="1480477" y="18202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2753620" y="1993158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0982" y="31230"/>
                  </a:moveTo>
                  <a:lnTo>
                    <a:pt x="0" y="10340"/>
                  </a:lnTo>
                  <a:lnTo>
                    <a:pt x="44822" y="0"/>
                  </a:lnTo>
                  <a:lnTo>
                    <a:pt x="40982" y="3123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753620" y="1993158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4822" y="0"/>
                  </a:moveTo>
                  <a:lnTo>
                    <a:pt x="0" y="10340"/>
                  </a:lnTo>
                  <a:lnTo>
                    <a:pt x="40982" y="31230"/>
                  </a:lnTo>
                  <a:lnTo>
                    <a:pt x="44822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114611" y="2775456"/>
            <a:ext cx="2477347" cy="322580"/>
            <a:chOff x="4445287" y="1953727"/>
            <a:chExt cx="1858010" cy="241935"/>
          </a:xfrm>
        </p:grpSpPr>
        <p:sp>
          <p:nvSpPr>
            <p:cNvPr id="9" name="object 9"/>
            <p:cNvSpPr/>
            <p:nvPr/>
          </p:nvSpPr>
          <p:spPr>
            <a:xfrm>
              <a:off x="4450050" y="1974110"/>
              <a:ext cx="1805939" cy="217170"/>
            </a:xfrm>
            <a:custGeom>
              <a:avLst/>
              <a:gdLst/>
              <a:ahLst/>
              <a:cxnLst/>
              <a:rect l="l" t="t" r="r" b="b"/>
              <a:pathLst>
                <a:path w="1805939" h="217169">
                  <a:moveTo>
                    <a:pt x="0" y="216689"/>
                  </a:moveTo>
                  <a:lnTo>
                    <a:pt x="1805357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253532" y="1958489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3749" y="31241"/>
                  </a:moveTo>
                  <a:lnTo>
                    <a:pt x="0" y="0"/>
                  </a:lnTo>
                  <a:lnTo>
                    <a:pt x="44791" y="10469"/>
                  </a:lnTo>
                  <a:lnTo>
                    <a:pt x="3749" y="31241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253532" y="1958489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3749" y="31241"/>
                  </a:moveTo>
                  <a:lnTo>
                    <a:pt x="44791" y="10469"/>
                  </a:lnTo>
                  <a:lnTo>
                    <a:pt x="0" y="0"/>
                  </a:lnTo>
                  <a:lnTo>
                    <a:pt x="3749" y="31241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15099" y="5502218"/>
            <a:ext cx="27364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Courier New"/>
                <a:cs typeface="Courier New"/>
              </a:rPr>
              <a:t>open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a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bank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account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97373" y="5288950"/>
            <a:ext cx="55033" cy="271780"/>
            <a:chOff x="2473029" y="3966712"/>
            <a:chExt cx="41275" cy="203835"/>
          </a:xfrm>
        </p:grpSpPr>
        <p:sp>
          <p:nvSpPr>
            <p:cNvPr id="14" name="object 14"/>
            <p:cNvSpPr/>
            <p:nvPr/>
          </p:nvSpPr>
          <p:spPr>
            <a:xfrm>
              <a:off x="2493524" y="401470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15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77792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477792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52732" y="4914773"/>
            <a:ext cx="23503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[0.9,</a:t>
            </a:r>
            <a:r>
              <a:rPr sz="1600" spc="-47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-0.2,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1.6,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…]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80667" y="5502218"/>
            <a:ext cx="24519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Courier New"/>
                <a:cs typeface="Courier New"/>
              </a:rPr>
              <a:t>on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the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river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bank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75740" y="5288950"/>
            <a:ext cx="55033" cy="271780"/>
            <a:chOff x="6281804" y="3966712"/>
            <a:chExt cx="41275" cy="203835"/>
          </a:xfrm>
        </p:grpSpPr>
        <p:sp>
          <p:nvSpPr>
            <p:cNvPr id="20" name="object 20"/>
            <p:cNvSpPr/>
            <p:nvPr/>
          </p:nvSpPr>
          <p:spPr>
            <a:xfrm>
              <a:off x="6302299" y="401470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15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286567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286567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31100" y="4914773"/>
            <a:ext cx="2472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[-1.9,</a:t>
            </a:r>
            <a:r>
              <a:rPr sz="1600" spc="-47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-0.4,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0.1,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7" dirty="0">
                <a:latin typeface="Courier New"/>
                <a:cs typeface="Courier New"/>
              </a:rPr>
              <a:t>…]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Date Placeholder 85">
            <a:extLst>
              <a:ext uri="{FF2B5EF4-FFF2-40B4-BE49-F238E27FC236}">
                <a16:creationId xmlns:a16="http://schemas.microsoft.com/office/drawing/2014/main" id="{B39327E5-6703-97BF-73F6-E8415DBB7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8409B-745D-4028-87A1-593CBBFC9648}" type="datetime1">
              <a:rPr lang="en-US" smtClean="0"/>
              <a:t>5/12/2025</a:t>
            </a:fld>
            <a:endParaRPr lang="en-US"/>
          </a:p>
        </p:txBody>
      </p:sp>
      <p:sp>
        <p:nvSpPr>
          <p:cNvPr id="87" name="Footer Placeholder 86">
            <a:extLst>
              <a:ext uri="{FF2B5EF4-FFF2-40B4-BE49-F238E27FC236}">
                <a16:creationId xmlns:a16="http://schemas.microsoft.com/office/drawing/2014/main" id="{318B350C-395C-185D-ABBF-47045E7D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8" name="Slide Number Placeholder 87">
            <a:extLst>
              <a:ext uri="{FF2B5EF4-FFF2-40B4-BE49-F238E27FC236}">
                <a16:creationId xmlns:a16="http://schemas.microsoft.com/office/drawing/2014/main" id="{B6427814-F3D1-AFD5-8269-B58ABD90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67" dirty="0"/>
              <a:t>History</a:t>
            </a:r>
            <a:r>
              <a:rPr spc="7" dirty="0"/>
              <a:t> </a:t>
            </a:r>
            <a:r>
              <a:rPr spc="67" dirty="0"/>
              <a:t>of</a:t>
            </a:r>
            <a:r>
              <a:rPr spc="7" dirty="0"/>
              <a:t> </a:t>
            </a:r>
            <a:r>
              <a:rPr spc="73" dirty="0"/>
              <a:t>Contextual</a:t>
            </a:r>
            <a:r>
              <a:rPr spc="7" dirty="0"/>
              <a:t> </a:t>
            </a:r>
            <a:r>
              <a:rPr spc="73" dirty="0"/>
              <a:t>Representations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632504"/>
            <a:ext cx="9810327" cy="4704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3286" marR="6773" indent="-457200">
              <a:lnSpc>
                <a:spcPct val="115399"/>
              </a:lnSpc>
              <a:spcBef>
                <a:spcPts val="133"/>
              </a:spcBef>
              <a:buFont typeface="Arial" panose="020B0604020202020204" pitchFamily="34" charset="0"/>
              <a:buChar char="•"/>
              <a:tabLst>
                <a:tab pos="586725" algn="l"/>
                <a:tab pos="587572" algn="l"/>
              </a:tabLst>
            </a:pPr>
            <a:r>
              <a:rPr sz="2800" i="1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Semi-Supervised</a:t>
            </a:r>
            <a:r>
              <a:rPr sz="2800" i="1" spc="-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i="1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 Learning</a:t>
            </a:r>
            <a:r>
              <a:rPr sz="28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4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Google, </a:t>
            </a:r>
            <a:r>
              <a:rPr sz="2800" spc="5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3676" y="2361719"/>
            <a:ext cx="2721185" cy="8379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443642">
              <a:spcBef>
                <a:spcPts val="133"/>
              </a:spcBef>
            </a:pPr>
            <a:r>
              <a:rPr sz="2667" b="1" spc="-33" dirty="0">
                <a:latin typeface="Arial"/>
                <a:cs typeface="Arial"/>
              </a:rPr>
              <a:t>Train </a:t>
            </a:r>
            <a:r>
              <a:rPr sz="2667" b="1" spc="-47" dirty="0">
                <a:latin typeface="Arial"/>
                <a:cs typeface="Arial"/>
              </a:rPr>
              <a:t>LSTM </a:t>
            </a:r>
            <a:r>
              <a:rPr sz="2667" b="1" spc="-40" dirty="0">
                <a:latin typeface="Arial"/>
                <a:cs typeface="Arial"/>
              </a:rPr>
              <a:t> </a:t>
            </a:r>
            <a:r>
              <a:rPr sz="2667" b="1" spc="7" dirty="0">
                <a:latin typeface="Arial"/>
                <a:cs typeface="Arial"/>
              </a:rPr>
              <a:t>Language</a:t>
            </a:r>
            <a:r>
              <a:rPr sz="2667" b="1" spc="-107" dirty="0">
                <a:latin typeface="Arial"/>
                <a:cs typeface="Arial"/>
              </a:rPr>
              <a:t> </a:t>
            </a:r>
            <a:r>
              <a:rPr sz="2667" b="1" spc="7" dirty="0">
                <a:latin typeface="Arial"/>
                <a:cs typeface="Arial"/>
              </a:rPr>
              <a:t>Model</a:t>
            </a:r>
            <a:endParaRPr sz="26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2633" y="4311499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206582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LSTM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2789" y="5026789"/>
            <a:ext cx="3996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&lt;s&gt;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45306" y="4719117"/>
            <a:ext cx="55033" cy="256540"/>
            <a:chOff x="933979" y="3539337"/>
            <a:chExt cx="41275" cy="192405"/>
          </a:xfrm>
        </p:grpSpPr>
        <p:sp>
          <p:nvSpPr>
            <p:cNvPr id="8" name="object 8"/>
            <p:cNvSpPr/>
            <p:nvPr/>
          </p:nvSpPr>
          <p:spPr>
            <a:xfrm>
              <a:off x="954474" y="3587325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938742" y="35440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938742" y="35440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45306" y="4055717"/>
            <a:ext cx="55033" cy="256540"/>
            <a:chOff x="933979" y="3041787"/>
            <a:chExt cx="41275" cy="192405"/>
          </a:xfrm>
        </p:grpSpPr>
        <p:sp>
          <p:nvSpPr>
            <p:cNvPr id="12" name="object 12"/>
            <p:cNvSpPr/>
            <p:nvPr/>
          </p:nvSpPr>
          <p:spPr>
            <a:xfrm>
              <a:off x="954474" y="3089774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938742" y="30465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938742" y="30465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11820" y="3646189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open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3499" y="4313426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206582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LSTM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92687" y="5028701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open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26173" y="4721029"/>
            <a:ext cx="55033" cy="256540"/>
            <a:chOff x="1744629" y="3540771"/>
            <a:chExt cx="41275" cy="192405"/>
          </a:xfrm>
        </p:grpSpPr>
        <p:sp>
          <p:nvSpPr>
            <p:cNvPr id="19" name="object 19"/>
            <p:cNvSpPr/>
            <p:nvPr/>
          </p:nvSpPr>
          <p:spPr>
            <a:xfrm>
              <a:off x="1765125" y="3588759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1749392" y="354553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1749392" y="354553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326173" y="4057641"/>
            <a:ext cx="55033" cy="256540"/>
            <a:chOff x="1744629" y="3043230"/>
            <a:chExt cx="41275" cy="192405"/>
          </a:xfrm>
        </p:grpSpPr>
        <p:sp>
          <p:nvSpPr>
            <p:cNvPr id="23" name="object 23"/>
            <p:cNvSpPr/>
            <p:nvPr/>
          </p:nvSpPr>
          <p:spPr>
            <a:xfrm>
              <a:off x="1765125" y="3091218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749392" y="30479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1749392" y="30479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275597" y="3648114"/>
            <a:ext cx="1566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22682" y="4307911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206582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LSTM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54780" y="5023188"/>
            <a:ext cx="1566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05356" y="4715515"/>
            <a:ext cx="55033" cy="256540"/>
            <a:chOff x="2554016" y="3536636"/>
            <a:chExt cx="41275" cy="192405"/>
          </a:xfrm>
        </p:grpSpPr>
        <p:sp>
          <p:nvSpPr>
            <p:cNvPr id="30" name="object 30"/>
            <p:cNvSpPr/>
            <p:nvPr/>
          </p:nvSpPr>
          <p:spPr>
            <a:xfrm>
              <a:off x="2574511" y="3584623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2558778" y="354139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2558778" y="354139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3405356" y="4052127"/>
            <a:ext cx="55033" cy="256540"/>
            <a:chOff x="2554016" y="3039095"/>
            <a:chExt cx="41275" cy="192405"/>
          </a:xfrm>
        </p:grpSpPr>
        <p:sp>
          <p:nvSpPr>
            <p:cNvPr id="34" name="object 34"/>
            <p:cNvSpPr/>
            <p:nvPr/>
          </p:nvSpPr>
          <p:spPr>
            <a:xfrm>
              <a:off x="2574511" y="3087083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2558778" y="304385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2558778" y="304385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171868" y="3642601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bank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682633" y="4478173"/>
            <a:ext cx="242147" cy="55033"/>
            <a:chOff x="1261975" y="3358629"/>
            <a:chExt cx="181610" cy="41275"/>
          </a:xfrm>
        </p:grpSpPr>
        <p:sp>
          <p:nvSpPr>
            <p:cNvPr id="39" name="object 39"/>
            <p:cNvSpPr/>
            <p:nvPr/>
          </p:nvSpPr>
          <p:spPr>
            <a:xfrm>
              <a:off x="1261975" y="3379125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1395024" y="336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1395024" y="336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2767336" y="4478173"/>
            <a:ext cx="242147" cy="55033"/>
            <a:chOff x="2075502" y="3358629"/>
            <a:chExt cx="181610" cy="41275"/>
          </a:xfrm>
        </p:grpSpPr>
        <p:sp>
          <p:nvSpPr>
            <p:cNvPr id="43" name="object 43"/>
            <p:cNvSpPr/>
            <p:nvPr/>
          </p:nvSpPr>
          <p:spPr>
            <a:xfrm>
              <a:off x="2075502" y="3379125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2208552" y="336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2208552" y="336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3845800" y="4483706"/>
            <a:ext cx="242147" cy="55033"/>
            <a:chOff x="2884350" y="3362779"/>
            <a:chExt cx="181610" cy="41275"/>
          </a:xfrm>
        </p:grpSpPr>
        <p:sp>
          <p:nvSpPr>
            <p:cNvPr id="47" name="object 47"/>
            <p:cNvSpPr/>
            <p:nvPr/>
          </p:nvSpPr>
          <p:spPr>
            <a:xfrm>
              <a:off x="2884350" y="3383274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3017400" y="336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3017400" y="33675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105967" y="4320801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206582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LSTM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57772" y="5036090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very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86833" y="4322726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206582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LSTM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275051" y="5038002"/>
            <a:ext cx="6434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funny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569506" y="4730330"/>
            <a:ext cx="55033" cy="256540"/>
            <a:chOff x="6427129" y="3547747"/>
            <a:chExt cx="41275" cy="192405"/>
          </a:xfrm>
        </p:grpSpPr>
        <p:sp>
          <p:nvSpPr>
            <p:cNvPr id="55" name="object 55"/>
            <p:cNvSpPr/>
            <p:nvPr/>
          </p:nvSpPr>
          <p:spPr>
            <a:xfrm>
              <a:off x="6447625" y="3595734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6431892" y="35525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431892" y="35525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9266015" y="4317213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206582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LSTM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354232" y="5032489"/>
            <a:ext cx="6434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movie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648689" y="4724815"/>
            <a:ext cx="55033" cy="256540"/>
            <a:chOff x="7236516" y="3543611"/>
            <a:chExt cx="41275" cy="192405"/>
          </a:xfrm>
        </p:grpSpPr>
        <p:sp>
          <p:nvSpPr>
            <p:cNvPr id="61" name="object 61"/>
            <p:cNvSpPr/>
            <p:nvPr/>
          </p:nvSpPr>
          <p:spPr>
            <a:xfrm>
              <a:off x="7257011" y="3591599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1278" y="35483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3" name="object 63"/>
            <p:cNvSpPr/>
            <p:nvPr/>
          </p:nvSpPr>
          <p:spPr>
            <a:xfrm>
              <a:off x="7241278" y="35483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9648689" y="4061429"/>
            <a:ext cx="55033" cy="256540"/>
            <a:chOff x="7236516" y="3046071"/>
            <a:chExt cx="41275" cy="192405"/>
          </a:xfrm>
        </p:grpSpPr>
        <p:sp>
          <p:nvSpPr>
            <p:cNvPr id="65" name="object 65"/>
            <p:cNvSpPr/>
            <p:nvPr/>
          </p:nvSpPr>
          <p:spPr>
            <a:xfrm>
              <a:off x="7257011" y="3094059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6" name="object 66"/>
            <p:cNvSpPr/>
            <p:nvPr/>
          </p:nvSpPr>
          <p:spPr>
            <a:xfrm>
              <a:off x="7241278" y="305083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7241278" y="305083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9164307" y="3651890"/>
            <a:ext cx="10092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POSITIVE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925967" y="4487474"/>
            <a:ext cx="242147" cy="55033"/>
            <a:chOff x="5944475" y="3365605"/>
            <a:chExt cx="181610" cy="41275"/>
          </a:xfrm>
        </p:grpSpPr>
        <p:sp>
          <p:nvSpPr>
            <p:cNvPr id="70" name="object 70"/>
            <p:cNvSpPr/>
            <p:nvPr/>
          </p:nvSpPr>
          <p:spPr>
            <a:xfrm>
              <a:off x="5944475" y="338610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1" name="object 71"/>
            <p:cNvSpPr/>
            <p:nvPr/>
          </p:nvSpPr>
          <p:spPr>
            <a:xfrm>
              <a:off x="6077525" y="33703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2" name="object 72"/>
            <p:cNvSpPr/>
            <p:nvPr/>
          </p:nvSpPr>
          <p:spPr>
            <a:xfrm>
              <a:off x="6077525" y="33703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73" name="object 73"/>
          <p:cNvGrpSpPr/>
          <p:nvPr/>
        </p:nvGrpSpPr>
        <p:grpSpPr>
          <a:xfrm>
            <a:off x="9010669" y="4487474"/>
            <a:ext cx="242147" cy="55033"/>
            <a:chOff x="6758002" y="3365605"/>
            <a:chExt cx="181610" cy="41275"/>
          </a:xfrm>
        </p:grpSpPr>
        <p:sp>
          <p:nvSpPr>
            <p:cNvPr id="74" name="object 74"/>
            <p:cNvSpPr/>
            <p:nvPr/>
          </p:nvSpPr>
          <p:spPr>
            <a:xfrm>
              <a:off x="6758002" y="338610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5" name="object 75"/>
            <p:cNvSpPr/>
            <p:nvPr/>
          </p:nvSpPr>
          <p:spPr>
            <a:xfrm>
              <a:off x="6891052" y="33703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6" name="object 76"/>
            <p:cNvSpPr/>
            <p:nvPr/>
          </p:nvSpPr>
          <p:spPr>
            <a:xfrm>
              <a:off x="6891052" y="33703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4102533" y="4311491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algn="ctr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...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080952" y="2441420"/>
            <a:ext cx="3092873" cy="8379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487668">
              <a:spcBef>
                <a:spcPts val="133"/>
              </a:spcBef>
            </a:pPr>
            <a:r>
              <a:rPr sz="2667" b="1" spc="20" dirty="0">
                <a:latin typeface="Arial"/>
                <a:cs typeface="Arial"/>
              </a:rPr>
              <a:t>Fine-tune </a:t>
            </a:r>
            <a:r>
              <a:rPr sz="2667" b="1" spc="27" dirty="0">
                <a:latin typeface="Arial"/>
                <a:cs typeface="Arial"/>
              </a:rPr>
              <a:t>on </a:t>
            </a:r>
            <a:r>
              <a:rPr sz="2667" b="1" spc="33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Classification</a:t>
            </a:r>
            <a:r>
              <a:rPr sz="2667" b="1" spc="-87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Task</a:t>
            </a:r>
            <a:endParaRPr sz="2667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193950" y="3751758"/>
            <a:ext cx="1243753" cy="219287"/>
            <a:chOff x="3895462" y="2813818"/>
            <a:chExt cx="932815" cy="164465"/>
          </a:xfrm>
        </p:grpSpPr>
        <p:sp>
          <p:nvSpPr>
            <p:cNvPr id="80" name="object 80"/>
            <p:cNvSpPr/>
            <p:nvPr/>
          </p:nvSpPr>
          <p:spPr>
            <a:xfrm>
              <a:off x="3895462" y="2895799"/>
              <a:ext cx="740410" cy="0"/>
            </a:xfrm>
            <a:custGeom>
              <a:avLst/>
              <a:gdLst/>
              <a:ahLst/>
              <a:cxnLst/>
              <a:rect l="l" t="t" r="r" b="b"/>
              <a:pathLst>
                <a:path w="740410">
                  <a:moveTo>
                    <a:pt x="0" y="0"/>
                  </a:moveTo>
                  <a:lnTo>
                    <a:pt x="740399" y="0"/>
                  </a:lnTo>
                </a:path>
              </a:pathLst>
            </a:custGeom>
            <a:ln w="38099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6812" y="2813818"/>
              <a:ext cx="211001" cy="163961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7487925" y="4715922"/>
            <a:ext cx="55033" cy="256540"/>
            <a:chOff x="5615943" y="3536941"/>
            <a:chExt cx="41275" cy="192405"/>
          </a:xfrm>
        </p:grpSpPr>
        <p:sp>
          <p:nvSpPr>
            <p:cNvPr id="83" name="object 83"/>
            <p:cNvSpPr/>
            <p:nvPr/>
          </p:nvSpPr>
          <p:spPr>
            <a:xfrm>
              <a:off x="5636438" y="3584929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4" name="object 84"/>
            <p:cNvSpPr/>
            <p:nvPr/>
          </p:nvSpPr>
          <p:spPr>
            <a:xfrm>
              <a:off x="5620706" y="354170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5" name="object 85"/>
            <p:cNvSpPr/>
            <p:nvPr/>
          </p:nvSpPr>
          <p:spPr>
            <a:xfrm>
              <a:off x="5620706" y="354170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26FF88-868F-7259-AE71-7944FA3F1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3286" marR="6773" indent="-457200">
              <a:lnSpc>
                <a:spcPct val="115399"/>
              </a:lnSpc>
              <a:spcBef>
                <a:spcPts val="133"/>
              </a:spcBef>
              <a:buFont typeface="Arial" panose="020B0604020202020204" pitchFamily="34" charset="0"/>
              <a:buChar char="•"/>
              <a:tabLst>
                <a:tab pos="586725" algn="l"/>
                <a:tab pos="587572" algn="l"/>
              </a:tabLst>
            </a:pPr>
            <a:r>
              <a:rPr lang="en-US" sz="2800" b="1" spc="1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sz="2800" spc="1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spc="3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</a:t>
            </a:r>
            <a:r>
              <a:rPr lang="en-US" sz="2800" spc="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 </a:t>
            </a:r>
            <a:r>
              <a:rPr lang="en-US" sz="2800" spc="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</a:t>
            </a:r>
            <a:r>
              <a:rPr lang="en-US" sz="2800" spc="3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spc="13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800" spc="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 context</a:t>
            </a:r>
            <a:r>
              <a:rPr lang="en-US" sz="2800" spc="4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E36B5-E51C-7B14-4B5C-6992F6E7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21E5-A1EA-4ACB-85DE-8B91ABF18859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E8D3D-5BF1-09F3-E2D3-6D60ACED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52052-80F4-944C-2F6C-4F8281AB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47" dirty="0"/>
              <a:t>Problem</a:t>
            </a:r>
            <a:r>
              <a:rPr spc="-13" dirty="0"/>
              <a:t> </a:t>
            </a:r>
            <a:r>
              <a:rPr spc="40" dirty="0"/>
              <a:t>with</a:t>
            </a:r>
            <a:r>
              <a:rPr spc="-7" dirty="0"/>
              <a:t> </a:t>
            </a:r>
            <a:r>
              <a:rPr spc="40" dirty="0"/>
              <a:t>Previous</a:t>
            </a:r>
            <a:r>
              <a:rPr spc="-7" dirty="0"/>
              <a:t> </a:t>
            </a:r>
            <a:r>
              <a:rPr spc="47" dirty="0"/>
              <a:t>Methods</a:t>
            </a:r>
          </a:p>
        </p:txBody>
      </p:sp>
      <p:pic>
        <p:nvPicPr>
          <p:cNvPr id="2050" name="Picture 2" descr="Context, word cloud concept on white background Stock Photo - Alamy">
            <a:extLst>
              <a:ext uri="{FF2B5EF4-FFF2-40B4-BE49-F238E27FC236}">
                <a16:creationId xmlns:a16="http://schemas.microsoft.com/office/drawing/2014/main" id="{14972AB2-860B-D25C-9250-378A3F899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00"/>
          <a:stretch/>
        </p:blipFill>
        <p:spPr bwMode="auto">
          <a:xfrm>
            <a:off x="3015614" y="2286000"/>
            <a:ext cx="5594986" cy="387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3833" y="4311500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3989" y="5026789"/>
            <a:ext cx="3996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&lt;s&gt;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56506" y="4719117"/>
            <a:ext cx="55033" cy="256540"/>
            <a:chOff x="1467379" y="3539337"/>
            <a:chExt cx="41275" cy="192405"/>
          </a:xfrm>
        </p:grpSpPr>
        <p:sp>
          <p:nvSpPr>
            <p:cNvPr id="5" name="object 5"/>
            <p:cNvSpPr/>
            <p:nvPr/>
          </p:nvSpPr>
          <p:spPr>
            <a:xfrm>
              <a:off x="1487874" y="3587325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472142" y="35440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472142" y="35440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73833" y="3648101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56506" y="4055717"/>
            <a:ext cx="55033" cy="256540"/>
            <a:chOff x="1467379" y="3041787"/>
            <a:chExt cx="41275" cy="192405"/>
          </a:xfrm>
        </p:grpSpPr>
        <p:sp>
          <p:nvSpPr>
            <p:cNvPr id="10" name="object 10"/>
            <p:cNvSpPr/>
            <p:nvPr/>
          </p:nvSpPr>
          <p:spPr>
            <a:xfrm>
              <a:off x="1487874" y="3089774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2142" y="30465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72142" y="30465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3020" y="3036589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open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56506" y="3392117"/>
            <a:ext cx="55033" cy="256540"/>
            <a:chOff x="1467379" y="2544087"/>
            <a:chExt cx="41275" cy="192405"/>
          </a:xfrm>
        </p:grpSpPr>
        <p:sp>
          <p:nvSpPr>
            <p:cNvPr id="15" name="object 15"/>
            <p:cNvSpPr/>
            <p:nvPr/>
          </p:nvSpPr>
          <p:spPr>
            <a:xfrm>
              <a:off x="1487874" y="2592075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2142" y="25488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72142" y="25488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54699" y="4313426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3887" y="5028701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open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37373" y="4721029"/>
            <a:ext cx="55033" cy="256540"/>
            <a:chOff x="2278029" y="3540771"/>
            <a:chExt cx="41275" cy="192405"/>
          </a:xfrm>
        </p:grpSpPr>
        <p:sp>
          <p:nvSpPr>
            <p:cNvPr id="21" name="object 21"/>
            <p:cNvSpPr/>
            <p:nvPr/>
          </p:nvSpPr>
          <p:spPr>
            <a:xfrm>
              <a:off x="2298525" y="3588759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282792" y="354553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2282792" y="354553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54699" y="3650025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37373" y="4057641"/>
            <a:ext cx="55033" cy="256540"/>
            <a:chOff x="2278029" y="3043230"/>
            <a:chExt cx="41275" cy="192405"/>
          </a:xfrm>
        </p:grpSpPr>
        <p:sp>
          <p:nvSpPr>
            <p:cNvPr id="26" name="object 26"/>
            <p:cNvSpPr/>
            <p:nvPr/>
          </p:nvSpPr>
          <p:spPr>
            <a:xfrm>
              <a:off x="2298525" y="3091218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282792" y="30479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282792" y="30479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986797" y="3038514"/>
            <a:ext cx="1566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37373" y="3394042"/>
            <a:ext cx="55033" cy="256540"/>
            <a:chOff x="2278029" y="2545531"/>
            <a:chExt cx="41275" cy="192405"/>
          </a:xfrm>
        </p:grpSpPr>
        <p:sp>
          <p:nvSpPr>
            <p:cNvPr id="31" name="object 31"/>
            <p:cNvSpPr/>
            <p:nvPr/>
          </p:nvSpPr>
          <p:spPr>
            <a:xfrm>
              <a:off x="2298525" y="2593519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2282792" y="25502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2282792" y="25502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733882" y="4307912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65980" y="5023188"/>
            <a:ext cx="1566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16556" y="4715515"/>
            <a:ext cx="55033" cy="256540"/>
            <a:chOff x="3087416" y="3536636"/>
            <a:chExt cx="41275" cy="192405"/>
          </a:xfrm>
        </p:grpSpPr>
        <p:sp>
          <p:nvSpPr>
            <p:cNvPr id="37" name="object 37"/>
            <p:cNvSpPr/>
            <p:nvPr/>
          </p:nvSpPr>
          <p:spPr>
            <a:xfrm>
              <a:off x="3107911" y="3584623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3092178" y="354139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3092178" y="354139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733882" y="3644512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116556" y="4052127"/>
            <a:ext cx="55033" cy="256540"/>
            <a:chOff x="3087416" y="3039095"/>
            <a:chExt cx="41275" cy="192405"/>
          </a:xfrm>
        </p:grpSpPr>
        <p:sp>
          <p:nvSpPr>
            <p:cNvPr id="42" name="object 42"/>
            <p:cNvSpPr/>
            <p:nvPr/>
          </p:nvSpPr>
          <p:spPr>
            <a:xfrm>
              <a:off x="3107911" y="3087083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2178" y="304385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92178" y="304385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883068" y="3033001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bank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116556" y="3388527"/>
            <a:ext cx="55033" cy="256540"/>
            <a:chOff x="3087416" y="2541395"/>
            <a:chExt cx="41275" cy="192405"/>
          </a:xfrm>
        </p:grpSpPr>
        <p:sp>
          <p:nvSpPr>
            <p:cNvPr id="47" name="object 47"/>
            <p:cNvSpPr/>
            <p:nvPr/>
          </p:nvSpPr>
          <p:spPr>
            <a:xfrm>
              <a:off x="3107911" y="2589383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3092178" y="254615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3092178" y="254615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2393832" y="3814773"/>
            <a:ext cx="242147" cy="55033"/>
            <a:chOff x="1795374" y="2861079"/>
            <a:chExt cx="181610" cy="41275"/>
          </a:xfrm>
        </p:grpSpPr>
        <p:sp>
          <p:nvSpPr>
            <p:cNvPr id="51" name="object 51"/>
            <p:cNvSpPr/>
            <p:nvPr/>
          </p:nvSpPr>
          <p:spPr>
            <a:xfrm>
              <a:off x="1795374" y="2881575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1928424" y="2865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1928424" y="2865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393832" y="4478173"/>
            <a:ext cx="242147" cy="55033"/>
            <a:chOff x="1795374" y="3358629"/>
            <a:chExt cx="181610" cy="41275"/>
          </a:xfrm>
        </p:grpSpPr>
        <p:sp>
          <p:nvSpPr>
            <p:cNvPr id="55" name="object 55"/>
            <p:cNvSpPr/>
            <p:nvPr/>
          </p:nvSpPr>
          <p:spPr>
            <a:xfrm>
              <a:off x="1795374" y="3379125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1928424" y="336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1928424" y="336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3478536" y="4478173"/>
            <a:ext cx="242147" cy="55033"/>
            <a:chOff x="2608902" y="3358629"/>
            <a:chExt cx="181610" cy="41275"/>
          </a:xfrm>
        </p:grpSpPr>
        <p:sp>
          <p:nvSpPr>
            <p:cNvPr id="59" name="object 59"/>
            <p:cNvSpPr/>
            <p:nvPr/>
          </p:nvSpPr>
          <p:spPr>
            <a:xfrm>
              <a:off x="2608902" y="3379125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2741952" y="336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2741952" y="336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3478536" y="3820306"/>
            <a:ext cx="242147" cy="55033"/>
            <a:chOff x="2608902" y="2865229"/>
            <a:chExt cx="181610" cy="41275"/>
          </a:xfrm>
        </p:grpSpPr>
        <p:sp>
          <p:nvSpPr>
            <p:cNvPr id="63" name="object 63"/>
            <p:cNvSpPr/>
            <p:nvPr/>
          </p:nvSpPr>
          <p:spPr>
            <a:xfrm>
              <a:off x="2608902" y="2885725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4" name="object 64"/>
            <p:cNvSpPr/>
            <p:nvPr/>
          </p:nvSpPr>
          <p:spPr>
            <a:xfrm>
              <a:off x="2741952" y="2869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5" name="object 65"/>
            <p:cNvSpPr/>
            <p:nvPr/>
          </p:nvSpPr>
          <p:spPr>
            <a:xfrm>
              <a:off x="2741952" y="2869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52793" y="1894041"/>
            <a:ext cx="4621105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" algn="ctr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Unidirectional</a:t>
            </a:r>
            <a:r>
              <a:rPr sz="2400" b="1" spc="-67" dirty="0">
                <a:latin typeface="Arial"/>
                <a:cs typeface="Arial"/>
              </a:rPr>
              <a:t> </a:t>
            </a:r>
            <a:r>
              <a:rPr sz="2400" b="1" spc="-7" dirty="0">
                <a:latin typeface="Arial"/>
                <a:cs typeface="Arial"/>
              </a:rPr>
              <a:t>context</a:t>
            </a:r>
            <a:endParaRPr sz="2400">
              <a:latin typeface="Arial"/>
              <a:cs typeface="Arial"/>
            </a:endParaRPr>
          </a:p>
          <a:p>
            <a:pPr algn="ctr">
              <a:spcBef>
                <a:spcPts val="20"/>
              </a:spcBef>
            </a:pPr>
            <a:r>
              <a:rPr sz="2400" spc="-7" dirty="0">
                <a:latin typeface="Arial MT"/>
                <a:cs typeface="Arial MT"/>
              </a:rPr>
              <a:t>Build</a:t>
            </a:r>
            <a:r>
              <a:rPr sz="2400" spc="-6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representation</a:t>
            </a:r>
            <a:r>
              <a:rPr sz="2400" spc="-53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incrementally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001433" y="4281666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211591" y="4996956"/>
            <a:ext cx="3996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&lt;s&gt;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384106" y="4689283"/>
            <a:ext cx="55033" cy="256540"/>
            <a:chOff x="5538079" y="3516962"/>
            <a:chExt cx="41275" cy="192405"/>
          </a:xfrm>
        </p:grpSpPr>
        <p:sp>
          <p:nvSpPr>
            <p:cNvPr id="70" name="object 70"/>
            <p:cNvSpPr/>
            <p:nvPr/>
          </p:nvSpPr>
          <p:spPr>
            <a:xfrm>
              <a:off x="5558575" y="3564950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1" name="object 71"/>
            <p:cNvSpPr/>
            <p:nvPr/>
          </p:nvSpPr>
          <p:spPr>
            <a:xfrm>
              <a:off x="5542842" y="35217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2" name="object 72"/>
            <p:cNvSpPr/>
            <p:nvPr/>
          </p:nvSpPr>
          <p:spPr>
            <a:xfrm>
              <a:off x="5542842" y="35217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7001433" y="3618268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7384106" y="4025883"/>
            <a:ext cx="55033" cy="256540"/>
            <a:chOff x="5538079" y="3019412"/>
            <a:chExt cx="41275" cy="192405"/>
          </a:xfrm>
        </p:grpSpPr>
        <p:sp>
          <p:nvSpPr>
            <p:cNvPr id="75" name="object 75"/>
            <p:cNvSpPr/>
            <p:nvPr/>
          </p:nvSpPr>
          <p:spPr>
            <a:xfrm>
              <a:off x="5558575" y="3067399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6" name="object 76"/>
            <p:cNvSpPr/>
            <p:nvPr/>
          </p:nvSpPr>
          <p:spPr>
            <a:xfrm>
              <a:off x="5542842" y="30241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7" name="object 77"/>
            <p:cNvSpPr/>
            <p:nvPr/>
          </p:nvSpPr>
          <p:spPr>
            <a:xfrm>
              <a:off x="5542842" y="30241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7150620" y="3006756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open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7384106" y="3362283"/>
            <a:ext cx="55033" cy="256540"/>
            <a:chOff x="5538079" y="2521712"/>
            <a:chExt cx="41275" cy="192405"/>
          </a:xfrm>
        </p:grpSpPr>
        <p:sp>
          <p:nvSpPr>
            <p:cNvPr id="80" name="object 80"/>
            <p:cNvSpPr/>
            <p:nvPr/>
          </p:nvSpPr>
          <p:spPr>
            <a:xfrm>
              <a:off x="5558575" y="2569700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1" name="object 81"/>
            <p:cNvSpPr/>
            <p:nvPr/>
          </p:nvSpPr>
          <p:spPr>
            <a:xfrm>
              <a:off x="5542842" y="2526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2" name="object 82"/>
            <p:cNvSpPr/>
            <p:nvPr/>
          </p:nvSpPr>
          <p:spPr>
            <a:xfrm>
              <a:off x="5542842" y="2526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8082299" y="4283593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231487" y="4998868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open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8464973" y="4691195"/>
            <a:ext cx="55033" cy="256540"/>
            <a:chOff x="6348729" y="3518396"/>
            <a:chExt cx="41275" cy="192405"/>
          </a:xfrm>
        </p:grpSpPr>
        <p:sp>
          <p:nvSpPr>
            <p:cNvPr id="86" name="object 86"/>
            <p:cNvSpPr/>
            <p:nvPr/>
          </p:nvSpPr>
          <p:spPr>
            <a:xfrm>
              <a:off x="6369224" y="3566384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7" name="object 87"/>
            <p:cNvSpPr/>
            <p:nvPr/>
          </p:nvSpPr>
          <p:spPr>
            <a:xfrm>
              <a:off x="6353492" y="352315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8" name="object 88"/>
            <p:cNvSpPr/>
            <p:nvPr/>
          </p:nvSpPr>
          <p:spPr>
            <a:xfrm>
              <a:off x="6353492" y="352315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8082299" y="3620192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8464973" y="4027807"/>
            <a:ext cx="55033" cy="256540"/>
            <a:chOff x="6348729" y="3020855"/>
            <a:chExt cx="41275" cy="192405"/>
          </a:xfrm>
        </p:grpSpPr>
        <p:sp>
          <p:nvSpPr>
            <p:cNvPr id="91" name="object 91"/>
            <p:cNvSpPr/>
            <p:nvPr/>
          </p:nvSpPr>
          <p:spPr>
            <a:xfrm>
              <a:off x="6369224" y="3068843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2" name="object 92"/>
            <p:cNvSpPr/>
            <p:nvPr/>
          </p:nvSpPr>
          <p:spPr>
            <a:xfrm>
              <a:off x="6353492" y="30256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3" name="object 93"/>
            <p:cNvSpPr/>
            <p:nvPr/>
          </p:nvSpPr>
          <p:spPr>
            <a:xfrm>
              <a:off x="6353492" y="30256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8414397" y="3008681"/>
            <a:ext cx="1566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8464973" y="3364209"/>
            <a:ext cx="55033" cy="256540"/>
            <a:chOff x="6348729" y="2523156"/>
            <a:chExt cx="41275" cy="192405"/>
          </a:xfrm>
        </p:grpSpPr>
        <p:sp>
          <p:nvSpPr>
            <p:cNvPr id="96" name="object 96"/>
            <p:cNvSpPr/>
            <p:nvPr/>
          </p:nvSpPr>
          <p:spPr>
            <a:xfrm>
              <a:off x="6369224" y="2571144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7" name="object 97"/>
            <p:cNvSpPr/>
            <p:nvPr/>
          </p:nvSpPr>
          <p:spPr>
            <a:xfrm>
              <a:off x="6353492" y="25279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8" name="object 98"/>
            <p:cNvSpPr/>
            <p:nvPr/>
          </p:nvSpPr>
          <p:spPr>
            <a:xfrm>
              <a:off x="6353492" y="25279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9161482" y="4278078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9493578" y="4993354"/>
            <a:ext cx="1566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9544156" y="4685682"/>
            <a:ext cx="55033" cy="256540"/>
            <a:chOff x="7158116" y="3514261"/>
            <a:chExt cx="41275" cy="192405"/>
          </a:xfrm>
        </p:grpSpPr>
        <p:sp>
          <p:nvSpPr>
            <p:cNvPr id="102" name="object 102"/>
            <p:cNvSpPr/>
            <p:nvPr/>
          </p:nvSpPr>
          <p:spPr>
            <a:xfrm>
              <a:off x="7178611" y="3562248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162879" y="35190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162879" y="35190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9163582" y="3614678"/>
            <a:ext cx="820420" cy="288113"/>
          </a:xfrm>
          <a:prstGeom prst="rect">
            <a:avLst/>
          </a:prstGeom>
          <a:solidFill>
            <a:srgbClr val="D9EAD3"/>
          </a:solidFill>
          <a:ln w="9524">
            <a:solidFill>
              <a:srgbClr val="424242"/>
            </a:solidFill>
          </a:ln>
        </p:spPr>
        <p:txBody>
          <a:bodyPr vert="horz" wrap="square" lIns="0" tIns="102447" rIns="0" bIns="0" rtlCol="0">
            <a:spAutoFit/>
          </a:bodyPr>
          <a:lstStyle/>
          <a:p>
            <a:pPr marL="155781">
              <a:spcBef>
                <a:spcPts val="807"/>
              </a:spcBef>
            </a:pPr>
            <a:r>
              <a:rPr sz="1200" spc="-7" dirty="0">
                <a:latin typeface="Arial MT"/>
                <a:cs typeface="Arial MT"/>
              </a:rPr>
              <a:t>Layer</a:t>
            </a:r>
            <a:r>
              <a:rPr sz="1200" spc="-6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9545588" y="4022293"/>
            <a:ext cx="55033" cy="262467"/>
            <a:chOff x="7159190" y="3016720"/>
            <a:chExt cx="41275" cy="196850"/>
          </a:xfrm>
        </p:grpSpPr>
        <p:sp>
          <p:nvSpPr>
            <p:cNvPr id="107" name="object 107"/>
            <p:cNvSpPr/>
            <p:nvPr/>
          </p:nvSpPr>
          <p:spPr>
            <a:xfrm>
              <a:off x="7178611" y="3064707"/>
              <a:ext cx="1270" cy="144145"/>
            </a:xfrm>
            <a:custGeom>
              <a:avLst/>
              <a:gdLst/>
              <a:ahLst/>
              <a:cxnLst/>
              <a:rect l="l" t="t" r="r" b="b"/>
              <a:pathLst>
                <a:path w="1270" h="144144">
                  <a:moveTo>
                    <a:pt x="0" y="143851"/>
                  </a:moveTo>
                  <a:lnTo>
                    <a:pt x="1073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163952" y="302148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341"/>
                  </a:moveTo>
                  <a:lnTo>
                    <a:pt x="0" y="43106"/>
                  </a:lnTo>
                  <a:lnTo>
                    <a:pt x="16054" y="0"/>
                  </a:lnTo>
                  <a:lnTo>
                    <a:pt x="31464" y="43341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163952" y="302148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341"/>
                  </a:moveTo>
                  <a:lnTo>
                    <a:pt x="16054" y="0"/>
                  </a:lnTo>
                  <a:lnTo>
                    <a:pt x="0" y="43106"/>
                  </a:lnTo>
                  <a:lnTo>
                    <a:pt x="31464" y="43341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9310668" y="3003168"/>
            <a:ext cx="5215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ourier New"/>
                <a:cs typeface="Courier New"/>
              </a:rPr>
              <a:t>bank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9544156" y="3358694"/>
            <a:ext cx="55033" cy="256540"/>
            <a:chOff x="7158116" y="2519020"/>
            <a:chExt cx="41275" cy="192405"/>
          </a:xfrm>
        </p:grpSpPr>
        <p:sp>
          <p:nvSpPr>
            <p:cNvPr id="112" name="object 112"/>
            <p:cNvSpPr/>
            <p:nvPr/>
          </p:nvSpPr>
          <p:spPr>
            <a:xfrm>
              <a:off x="7178611" y="2567008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1438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162879" y="252378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162879" y="252378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15" name="object 115"/>
          <p:cNvGrpSpPr/>
          <p:nvPr/>
        </p:nvGrpSpPr>
        <p:grpSpPr>
          <a:xfrm>
            <a:off x="7821432" y="3886540"/>
            <a:ext cx="242147" cy="55033"/>
            <a:chOff x="5866074" y="2914904"/>
            <a:chExt cx="181610" cy="41275"/>
          </a:xfrm>
        </p:grpSpPr>
        <p:sp>
          <p:nvSpPr>
            <p:cNvPr id="116" name="object 116"/>
            <p:cNvSpPr/>
            <p:nvPr/>
          </p:nvSpPr>
          <p:spPr>
            <a:xfrm>
              <a:off x="5866074" y="293540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999124" y="2919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999124" y="2919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19" name="object 119"/>
          <p:cNvGrpSpPr/>
          <p:nvPr/>
        </p:nvGrpSpPr>
        <p:grpSpPr>
          <a:xfrm>
            <a:off x="7821432" y="4549940"/>
            <a:ext cx="242147" cy="55033"/>
            <a:chOff x="5866074" y="3412454"/>
            <a:chExt cx="181610" cy="41275"/>
          </a:xfrm>
        </p:grpSpPr>
        <p:sp>
          <p:nvSpPr>
            <p:cNvPr id="120" name="object 120"/>
            <p:cNvSpPr/>
            <p:nvPr/>
          </p:nvSpPr>
          <p:spPr>
            <a:xfrm>
              <a:off x="5866074" y="34329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999124" y="34172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999124" y="34172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23" name="object 123"/>
          <p:cNvGrpSpPr/>
          <p:nvPr/>
        </p:nvGrpSpPr>
        <p:grpSpPr>
          <a:xfrm>
            <a:off x="8906136" y="4549940"/>
            <a:ext cx="242147" cy="55033"/>
            <a:chOff x="6679602" y="3412454"/>
            <a:chExt cx="181610" cy="41275"/>
          </a:xfrm>
        </p:grpSpPr>
        <p:sp>
          <p:nvSpPr>
            <p:cNvPr id="124" name="object 124"/>
            <p:cNvSpPr/>
            <p:nvPr/>
          </p:nvSpPr>
          <p:spPr>
            <a:xfrm>
              <a:off x="6679602" y="34329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812652" y="34172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812652" y="34172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27" name="object 127"/>
          <p:cNvGrpSpPr/>
          <p:nvPr/>
        </p:nvGrpSpPr>
        <p:grpSpPr>
          <a:xfrm>
            <a:off x="8906136" y="3892073"/>
            <a:ext cx="242147" cy="55033"/>
            <a:chOff x="6679602" y="2919054"/>
            <a:chExt cx="181610" cy="41275"/>
          </a:xfrm>
        </p:grpSpPr>
        <p:sp>
          <p:nvSpPr>
            <p:cNvPr id="128" name="object 128"/>
            <p:cNvSpPr/>
            <p:nvPr/>
          </p:nvSpPr>
          <p:spPr>
            <a:xfrm>
              <a:off x="6679602" y="29395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049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812652" y="29238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812652" y="29238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6645022" y="1864208"/>
            <a:ext cx="3890433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" algn="ctr">
              <a:spcBef>
                <a:spcPts val="133"/>
              </a:spcBef>
            </a:pPr>
            <a:r>
              <a:rPr sz="2400" b="1" spc="-7" dirty="0">
                <a:latin typeface="Arial"/>
                <a:cs typeface="Arial"/>
              </a:rPr>
              <a:t>Bidirectional</a:t>
            </a:r>
            <a:r>
              <a:rPr sz="2400" b="1" spc="-67" dirty="0">
                <a:latin typeface="Arial"/>
                <a:cs typeface="Arial"/>
              </a:rPr>
              <a:t> </a:t>
            </a:r>
            <a:r>
              <a:rPr sz="2400" b="1" spc="-7" dirty="0">
                <a:latin typeface="Arial"/>
                <a:cs typeface="Arial"/>
              </a:rPr>
              <a:t>context</a:t>
            </a:r>
            <a:endParaRPr sz="2400">
              <a:latin typeface="Arial"/>
              <a:cs typeface="Arial"/>
            </a:endParaRPr>
          </a:p>
          <a:p>
            <a:pPr algn="ctr">
              <a:spcBef>
                <a:spcPts val="20"/>
              </a:spcBef>
            </a:pPr>
            <a:r>
              <a:rPr sz="2400" spc="-7" dirty="0">
                <a:latin typeface="Arial MT"/>
                <a:cs typeface="Arial MT"/>
              </a:rPr>
              <a:t>Words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“see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themselves”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8914317" y="3698840"/>
            <a:ext cx="234527" cy="55033"/>
            <a:chOff x="6685737" y="2774129"/>
            <a:chExt cx="175895" cy="41275"/>
          </a:xfrm>
        </p:grpSpPr>
        <p:sp>
          <p:nvSpPr>
            <p:cNvPr id="133" name="object 133"/>
            <p:cNvSpPr/>
            <p:nvPr/>
          </p:nvSpPr>
          <p:spPr>
            <a:xfrm>
              <a:off x="6733725" y="279462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>
                  <a:moveTo>
                    <a:pt x="1276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690500" y="27788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690500" y="27788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36" name="object 136"/>
          <p:cNvGrpSpPr/>
          <p:nvPr/>
        </p:nvGrpSpPr>
        <p:grpSpPr>
          <a:xfrm>
            <a:off x="8920901" y="4346557"/>
            <a:ext cx="234527" cy="55033"/>
            <a:chOff x="6690675" y="3259917"/>
            <a:chExt cx="175895" cy="41275"/>
          </a:xfrm>
        </p:grpSpPr>
        <p:sp>
          <p:nvSpPr>
            <p:cNvPr id="137" name="object 137"/>
            <p:cNvSpPr/>
            <p:nvPr/>
          </p:nvSpPr>
          <p:spPr>
            <a:xfrm>
              <a:off x="6738662" y="328041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>
                  <a:moveTo>
                    <a:pt x="1276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695437" y="326467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695437" y="326467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40" name="object 140"/>
          <p:cNvGrpSpPr/>
          <p:nvPr/>
        </p:nvGrpSpPr>
        <p:grpSpPr>
          <a:xfrm>
            <a:off x="7837233" y="4346557"/>
            <a:ext cx="234527" cy="55033"/>
            <a:chOff x="5877924" y="3259917"/>
            <a:chExt cx="175895" cy="41275"/>
          </a:xfrm>
        </p:grpSpPr>
        <p:sp>
          <p:nvSpPr>
            <p:cNvPr id="141" name="object 141"/>
            <p:cNvSpPr/>
            <p:nvPr/>
          </p:nvSpPr>
          <p:spPr>
            <a:xfrm>
              <a:off x="5925912" y="328041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>
                  <a:moveTo>
                    <a:pt x="1276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882687" y="326467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882687" y="326467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44" name="object 144"/>
          <p:cNvGrpSpPr/>
          <p:nvPr/>
        </p:nvGrpSpPr>
        <p:grpSpPr>
          <a:xfrm>
            <a:off x="7840866" y="3698824"/>
            <a:ext cx="234527" cy="55033"/>
            <a:chOff x="5880649" y="2774117"/>
            <a:chExt cx="175895" cy="41275"/>
          </a:xfrm>
        </p:grpSpPr>
        <p:sp>
          <p:nvSpPr>
            <p:cNvPr id="145" name="object 145"/>
            <p:cNvSpPr/>
            <p:nvPr/>
          </p:nvSpPr>
          <p:spPr>
            <a:xfrm>
              <a:off x="5928637" y="279461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>
                  <a:moveTo>
                    <a:pt x="1276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885412" y="277887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885412" y="277887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9" name="Date Placeholder 148">
            <a:extLst>
              <a:ext uri="{FF2B5EF4-FFF2-40B4-BE49-F238E27FC236}">
                <a16:creationId xmlns:a16="http://schemas.microsoft.com/office/drawing/2014/main" id="{5E010405-E56A-A6A7-6BF8-D6F0880A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3B0D2-DFD9-429D-B313-6771AF997245}" type="datetime1">
              <a:rPr lang="en-US" smtClean="0"/>
              <a:t>5/12/2025</a:t>
            </a:fld>
            <a:endParaRPr lang="en-US"/>
          </a:p>
        </p:txBody>
      </p:sp>
      <p:sp>
        <p:nvSpPr>
          <p:cNvPr id="150" name="Footer Placeholder 149">
            <a:extLst>
              <a:ext uri="{FF2B5EF4-FFF2-40B4-BE49-F238E27FC236}">
                <a16:creationId xmlns:a16="http://schemas.microsoft.com/office/drawing/2014/main" id="{12A94E3E-E669-6CD6-0A21-69605B32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51" name="Slide Number Placeholder 150">
            <a:extLst>
              <a:ext uri="{FF2B5EF4-FFF2-40B4-BE49-F238E27FC236}">
                <a16:creationId xmlns:a16="http://schemas.microsoft.com/office/drawing/2014/main" id="{570ED14E-AE95-F208-C846-36C0F2BB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48" name="object 1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33" dirty="0"/>
              <a:t>Unidirectional</a:t>
            </a:r>
            <a:r>
              <a:rPr dirty="0"/>
              <a:t> </a:t>
            </a:r>
            <a:r>
              <a:rPr spc="27" dirty="0"/>
              <a:t>vs.</a:t>
            </a:r>
            <a:r>
              <a:rPr spc="7" dirty="0"/>
              <a:t> </a:t>
            </a:r>
            <a:r>
              <a:rPr spc="27" dirty="0"/>
              <a:t>Bidirectional</a:t>
            </a:r>
            <a:r>
              <a:rPr spc="7" dirty="0"/>
              <a:t> </a:t>
            </a:r>
            <a:r>
              <a:rPr spc="40" dirty="0"/>
              <a:t>Models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D0A1764-28F7-4D4B-414B-BAC685D7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E44C4-CF74-44C7-B8F8-DD459F292E2D}" type="datetime1">
              <a:rPr lang="en-US" smtClean="0"/>
              <a:t>5/12/2025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0547210-820D-B6DC-D81C-853DDFED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68C8BCC-0D5F-9D50-F8FF-827FA212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27" dirty="0"/>
              <a:t>Masked</a:t>
            </a:r>
            <a:r>
              <a:rPr spc="-80" dirty="0"/>
              <a:t> </a:t>
            </a:r>
            <a:r>
              <a:rPr spc="33" dirty="0"/>
              <a:t>LM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770" y="1341642"/>
            <a:ext cx="9878060" cy="160881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3286" marR="6773" indent="-457200">
              <a:lnSpc>
                <a:spcPct val="115399"/>
              </a:lnSpc>
              <a:spcBef>
                <a:spcPts val="133"/>
              </a:spcBef>
              <a:buFont typeface="Arial" panose="020B0604020202020204" pitchFamily="34" charset="0"/>
              <a:buChar char="•"/>
              <a:tabLst>
                <a:tab pos="586725" algn="l"/>
                <a:tab pos="587572" algn="l"/>
              </a:tabLst>
            </a:pPr>
            <a:r>
              <a:rPr sz="3200" b="1" spc="-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sz="3200" spc="-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Mask out </a:t>
            </a:r>
            <a:r>
              <a:rPr sz="3200" i="1" spc="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sz="3200" spc="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sz="3200" spc="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input words, and </a:t>
            </a:r>
            <a:r>
              <a:rPr sz="3200" spc="-93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sz="32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4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r>
              <a:rPr sz="32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32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6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masked</a:t>
            </a:r>
            <a:r>
              <a:rPr sz="3200" spc="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6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</a:t>
            </a:r>
            <a:endParaRPr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49849" lvl="1" indent="-342900">
              <a:spcBef>
                <a:spcPts val="679"/>
              </a:spcBef>
              <a:buFont typeface="Arial" panose="020B0604020202020204" pitchFamily="34" charset="0"/>
              <a:buChar char="•"/>
              <a:tabLst>
                <a:tab pos="1196310" algn="l"/>
                <a:tab pos="1197157" algn="l"/>
              </a:tabLst>
            </a:pPr>
            <a:r>
              <a:rPr sz="20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always use </a:t>
            </a:r>
            <a:r>
              <a:rPr sz="2000" i="1" spc="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sz="2000" spc="-13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15%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457" y="4525676"/>
            <a:ext cx="8692727" cy="1037891"/>
          </a:xfrm>
          <a:prstGeom prst="rect">
            <a:avLst/>
          </a:prstGeom>
        </p:spPr>
        <p:txBody>
          <a:bodyPr vert="horz" wrap="square" lIns="0" tIns="98213" rIns="0" bIns="0" rtlCol="0">
            <a:spAutoFit/>
          </a:bodyPr>
          <a:lstStyle/>
          <a:p>
            <a:pPr marL="473286" indent="-457200">
              <a:spcBef>
                <a:spcPts val="773"/>
              </a:spcBef>
              <a:buFont typeface="Arial" panose="020B0604020202020204" pitchFamily="34" charset="0"/>
              <a:buChar char="•"/>
              <a:tabLst>
                <a:tab pos="586725" algn="l"/>
                <a:tab pos="587572" algn="l"/>
              </a:tabLst>
            </a:pPr>
            <a:r>
              <a:rPr sz="2800" spc="27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</a:t>
            </a:r>
            <a:r>
              <a:rPr sz="2800" spc="7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3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r>
              <a:rPr sz="2800" spc="7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masking:</a:t>
            </a:r>
            <a:r>
              <a:rPr sz="2800" spc="7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</a:t>
            </a:r>
            <a:r>
              <a:rPr sz="2800" spc="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expensive</a:t>
            </a:r>
            <a:r>
              <a:rPr sz="2800" spc="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800" spc="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286" indent="-457200"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586725" algn="l"/>
                <a:tab pos="587572" algn="l"/>
              </a:tabLst>
            </a:pPr>
            <a:r>
              <a:rPr sz="2800" spc="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</a:t>
            </a:r>
            <a:r>
              <a:rPr sz="2800" spc="1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</a:t>
            </a:r>
            <a:r>
              <a:rPr sz="2800" spc="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masking:</a:t>
            </a:r>
            <a:r>
              <a:rPr sz="2800" spc="1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sz="2800" spc="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enough</a:t>
            </a:r>
            <a:r>
              <a:rPr sz="2800" spc="1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2867" y="3217151"/>
            <a:ext cx="7145867" cy="9226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975959">
              <a:spcBef>
                <a:spcPts val="133"/>
              </a:spcBef>
              <a:tabLst>
                <a:tab pos="5331327" algn="l"/>
              </a:tabLst>
            </a:pPr>
            <a:r>
              <a:rPr sz="1867" spc="-7" dirty="0">
                <a:latin typeface="Courier New"/>
                <a:cs typeface="Courier New"/>
              </a:rPr>
              <a:t>store	gallon</a:t>
            </a:r>
            <a:endParaRPr sz="1867">
              <a:latin typeface="Courier New"/>
              <a:cs typeface="Courier New"/>
            </a:endParaRPr>
          </a:p>
          <a:p>
            <a:pPr>
              <a:spcBef>
                <a:spcPts val="60"/>
              </a:spcBef>
            </a:pPr>
            <a:endParaRPr sz="2067">
              <a:latin typeface="Courier New"/>
              <a:cs typeface="Courier New"/>
            </a:endParaRPr>
          </a:p>
          <a:p>
            <a:pPr marL="16933"/>
            <a:r>
              <a:rPr sz="1867" spc="-7" dirty="0">
                <a:latin typeface="Courier New"/>
                <a:cs typeface="Courier New"/>
              </a:rPr>
              <a:t>the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man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went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to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the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[MASK]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to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buy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a</a:t>
            </a:r>
            <a:r>
              <a:rPr sz="1867" spc="-7" dirty="0">
                <a:latin typeface="Courier New"/>
                <a:cs typeface="Courier New"/>
              </a:rPr>
              <a:t> [MASK]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of</a:t>
            </a:r>
            <a:r>
              <a:rPr sz="1867" spc="-13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milk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04473" y="3574849"/>
            <a:ext cx="55033" cy="264160"/>
            <a:chOff x="3753354" y="2681137"/>
            <a:chExt cx="41275" cy="198120"/>
          </a:xfrm>
        </p:grpSpPr>
        <p:sp>
          <p:nvSpPr>
            <p:cNvPr id="7" name="object 7"/>
            <p:cNvSpPr/>
            <p:nvPr/>
          </p:nvSpPr>
          <p:spPr>
            <a:xfrm>
              <a:off x="3773849" y="2729125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5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758117" y="26858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758117" y="26858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339606" y="3588683"/>
            <a:ext cx="55033" cy="264160"/>
            <a:chOff x="5504704" y="2691512"/>
            <a:chExt cx="41275" cy="198120"/>
          </a:xfrm>
        </p:grpSpPr>
        <p:sp>
          <p:nvSpPr>
            <p:cNvPr id="11" name="object 11"/>
            <p:cNvSpPr/>
            <p:nvPr/>
          </p:nvSpPr>
          <p:spPr>
            <a:xfrm>
              <a:off x="5525199" y="2739499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5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509467" y="26962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509467" y="26962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2958C7-FD3E-ABBB-11A2-54AF2F3F4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3286" indent="-457200">
              <a:spcBef>
                <a:spcPts val="773"/>
              </a:spcBef>
              <a:tabLst>
                <a:tab pos="586725" algn="l"/>
                <a:tab pos="587572" algn="l"/>
              </a:tabLst>
            </a:pPr>
            <a:r>
              <a:rPr lang="en-US" sz="2800" spc="33" dirty="0">
                <a:solidFill>
                  <a:srgbClr val="00B0F0"/>
                </a:solidFill>
                <a:latin typeface="Segoe UI Symbol"/>
                <a:cs typeface="Segoe UI Symbol"/>
              </a:rPr>
              <a:t>Problem:</a:t>
            </a:r>
            <a:r>
              <a:rPr lang="en-US" sz="2800" spc="13" dirty="0">
                <a:solidFill>
                  <a:srgbClr val="00B0F0"/>
                </a:solidFill>
                <a:latin typeface="Segoe UI Symbol"/>
                <a:cs typeface="Segoe UI Symbol"/>
              </a:rPr>
              <a:t> </a:t>
            </a:r>
            <a:r>
              <a:rPr lang="en-US" sz="2800" spc="40" dirty="0">
                <a:solidFill>
                  <a:srgbClr val="00B0F0"/>
                </a:solidFill>
                <a:latin typeface="Segoe UI Symbol"/>
                <a:cs typeface="Segoe UI Symbol"/>
              </a:rPr>
              <a:t>Mask</a:t>
            </a:r>
            <a:r>
              <a:rPr lang="en-US" sz="2800" spc="20" dirty="0">
                <a:solidFill>
                  <a:srgbClr val="00B0F0"/>
                </a:solidFill>
                <a:latin typeface="Segoe UI Symbol"/>
                <a:cs typeface="Segoe UI Symbol"/>
              </a:rPr>
              <a:t> </a:t>
            </a:r>
            <a:r>
              <a:rPr lang="en-US" sz="2800" spc="33" dirty="0">
                <a:solidFill>
                  <a:srgbClr val="00B0F0"/>
                </a:solidFill>
                <a:latin typeface="Segoe UI Symbol"/>
                <a:cs typeface="Segoe UI Symbol"/>
              </a:rPr>
              <a:t>token</a:t>
            </a:r>
            <a:r>
              <a:rPr lang="en-US" sz="2800" spc="20" dirty="0">
                <a:solidFill>
                  <a:srgbClr val="00B0F0"/>
                </a:solidFill>
                <a:latin typeface="Segoe UI Symbol"/>
                <a:cs typeface="Segoe UI Symbol"/>
              </a:rPr>
              <a:t> </a:t>
            </a:r>
            <a:r>
              <a:rPr lang="en-US" sz="2800" spc="33" dirty="0">
                <a:solidFill>
                  <a:srgbClr val="00B0F0"/>
                </a:solidFill>
                <a:latin typeface="Segoe UI Symbol"/>
                <a:cs typeface="Segoe UI Symbol"/>
              </a:rPr>
              <a:t>never</a:t>
            </a:r>
            <a:r>
              <a:rPr lang="en-US" sz="2800" spc="20" dirty="0">
                <a:solidFill>
                  <a:srgbClr val="00B0F0"/>
                </a:solidFill>
                <a:latin typeface="Segoe UI Symbol"/>
                <a:cs typeface="Segoe UI Symbol"/>
              </a:rPr>
              <a:t> </a:t>
            </a:r>
            <a:r>
              <a:rPr lang="en-US" sz="2800" spc="33" dirty="0">
                <a:solidFill>
                  <a:srgbClr val="00B0F0"/>
                </a:solidFill>
                <a:latin typeface="Segoe UI Symbol"/>
                <a:cs typeface="Segoe UI Symbol"/>
              </a:rPr>
              <a:t>seen</a:t>
            </a:r>
            <a:r>
              <a:rPr lang="en-US" sz="2800" spc="20" dirty="0">
                <a:solidFill>
                  <a:srgbClr val="00B0F0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00B0F0"/>
                </a:solidFill>
                <a:latin typeface="Segoe UI Symbol"/>
                <a:cs typeface="Segoe UI Symbol"/>
              </a:rPr>
              <a:t>at</a:t>
            </a:r>
            <a:r>
              <a:rPr lang="en-US" sz="2800" spc="20" dirty="0">
                <a:solidFill>
                  <a:srgbClr val="00B0F0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00B0F0"/>
                </a:solidFill>
                <a:latin typeface="Segoe UI Symbol"/>
                <a:cs typeface="Segoe UI Symbol"/>
              </a:rPr>
              <a:t>fine-tuning</a:t>
            </a:r>
            <a:endParaRPr lang="en-US" sz="2800" dirty="0">
              <a:solidFill>
                <a:srgbClr val="00B0F0"/>
              </a:solidFill>
              <a:latin typeface="Segoe UI Symbol"/>
              <a:cs typeface="Segoe UI Symbol"/>
            </a:endParaRPr>
          </a:p>
          <a:p>
            <a:pPr marL="473286" marR="6773" indent="-457200">
              <a:lnSpc>
                <a:spcPct val="115399"/>
              </a:lnSpc>
              <a:tabLst>
                <a:tab pos="586725" algn="l"/>
                <a:tab pos="587572" algn="l"/>
              </a:tabLst>
            </a:pP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Solution: 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15% 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of the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words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to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predict, but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don’t 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47" dirty="0">
                <a:solidFill>
                  <a:srgbClr val="434343"/>
                </a:solidFill>
                <a:latin typeface="Segoe UI Symbol"/>
                <a:cs typeface="Segoe UI Symbol"/>
              </a:rPr>
              <a:t>replace with</a:t>
            </a:r>
            <a:r>
              <a:rPr lang="en-US" sz="2800" spc="20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-7" dirty="0">
                <a:solidFill>
                  <a:srgbClr val="434343"/>
                </a:solidFill>
                <a:latin typeface="Courier New"/>
                <a:cs typeface="Courier New"/>
              </a:rPr>
              <a:t>[MASK]</a:t>
            </a:r>
            <a:r>
              <a:rPr lang="en-US" sz="2800" spc="27" dirty="0">
                <a:solidFill>
                  <a:srgbClr val="434343"/>
                </a:solidFill>
                <a:latin typeface="Segoe UI Symbol"/>
                <a:cs typeface="Segoe UI Symbol"/>
              </a:rPr>
              <a:t> 100% of the time. Instead:</a:t>
            </a:r>
            <a:endParaRPr lang="en-US" sz="2800" dirty="0">
              <a:latin typeface="Segoe UI Symbol"/>
              <a:cs typeface="Segoe UI Symbol"/>
            </a:endParaRPr>
          </a:p>
          <a:p>
            <a:pPr marL="473286" indent="-457200">
              <a:spcBef>
                <a:spcPts val="640"/>
              </a:spcBef>
              <a:tabLst>
                <a:tab pos="586725" algn="l"/>
                <a:tab pos="587572" algn="l"/>
              </a:tabLst>
            </a:pPr>
            <a:r>
              <a:rPr lang="en-US" sz="2800" spc="60" dirty="0">
                <a:solidFill>
                  <a:srgbClr val="434343"/>
                </a:solidFill>
                <a:latin typeface="Segoe UI Symbol"/>
                <a:cs typeface="Segoe UI Symbol"/>
              </a:rPr>
              <a:t>80%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40" dirty="0">
                <a:solidFill>
                  <a:srgbClr val="434343"/>
                </a:solidFill>
                <a:latin typeface="Segoe UI Symbol"/>
                <a:cs typeface="Segoe UI Symbol"/>
              </a:rPr>
              <a:t>of</a:t>
            </a:r>
            <a:r>
              <a:rPr lang="en-US" sz="2800" spc="20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40" dirty="0">
                <a:solidFill>
                  <a:srgbClr val="434343"/>
                </a:solidFill>
                <a:latin typeface="Segoe UI Symbol"/>
                <a:cs typeface="Segoe UI Symbol"/>
              </a:rPr>
              <a:t>the</a:t>
            </a:r>
            <a:r>
              <a:rPr lang="en-US" sz="2800" spc="20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40" dirty="0">
                <a:solidFill>
                  <a:srgbClr val="434343"/>
                </a:solidFill>
                <a:latin typeface="Segoe UI Symbol"/>
                <a:cs typeface="Segoe UI Symbol"/>
              </a:rPr>
              <a:t>time,</a:t>
            </a:r>
            <a:r>
              <a:rPr lang="en-US" sz="2800" spc="20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40" dirty="0">
                <a:solidFill>
                  <a:srgbClr val="434343"/>
                </a:solidFill>
                <a:latin typeface="Segoe UI Symbol"/>
                <a:cs typeface="Segoe UI Symbol"/>
              </a:rPr>
              <a:t>replace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40" dirty="0">
                <a:solidFill>
                  <a:srgbClr val="434343"/>
                </a:solidFill>
                <a:latin typeface="Segoe UI Symbol"/>
                <a:cs typeface="Segoe UI Symbol"/>
              </a:rPr>
              <a:t>with</a:t>
            </a:r>
            <a:r>
              <a:rPr lang="en-US" sz="2800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-7" dirty="0">
                <a:solidFill>
                  <a:srgbClr val="434343"/>
                </a:solidFill>
                <a:latin typeface="Courier New"/>
                <a:cs typeface="Courier New"/>
              </a:rPr>
              <a:t>[MASK]</a:t>
            </a:r>
            <a:endParaRPr lang="en-US" dirty="0">
              <a:latin typeface="Courier New"/>
              <a:cs typeface="Courier New"/>
            </a:endParaRPr>
          </a:p>
          <a:p>
            <a:pPr marL="873336" lvl="1" indent="-457200">
              <a:spcBef>
                <a:spcPts val="640"/>
              </a:spcBef>
              <a:tabLst>
                <a:tab pos="586725" algn="l"/>
                <a:tab pos="587572" algn="l"/>
              </a:tabLst>
            </a:pP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went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to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the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store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dirty="0">
                <a:solidFill>
                  <a:srgbClr val="434343"/>
                </a:solidFill>
                <a:latin typeface="Courier New"/>
                <a:cs typeface="Courier New"/>
              </a:rPr>
              <a:t>→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went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to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the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[MASK]</a:t>
            </a:r>
            <a:endParaRPr lang="en-US" sz="2000" dirty="0">
              <a:latin typeface="Courier New"/>
              <a:cs typeface="Courier New"/>
            </a:endParaRPr>
          </a:p>
          <a:p>
            <a:pPr marL="473286" indent="-457200">
              <a:spcBef>
                <a:spcPts val="460"/>
              </a:spcBef>
              <a:tabLst>
                <a:tab pos="586725" algn="l"/>
                <a:tab pos="587572" algn="l"/>
              </a:tabLst>
            </a:pPr>
            <a:r>
              <a:rPr lang="en-US" sz="2800" spc="40" dirty="0">
                <a:solidFill>
                  <a:srgbClr val="434343"/>
                </a:solidFill>
                <a:latin typeface="Segoe UI Symbol"/>
                <a:cs typeface="Segoe UI Symbol"/>
              </a:rPr>
              <a:t>10%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434343"/>
                </a:solidFill>
                <a:latin typeface="Segoe UI Symbol"/>
                <a:cs typeface="Segoe UI Symbol"/>
              </a:rPr>
              <a:t>of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434343"/>
                </a:solidFill>
                <a:latin typeface="Segoe UI Symbol"/>
                <a:cs typeface="Segoe UI Symbol"/>
              </a:rPr>
              <a:t>the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434343"/>
                </a:solidFill>
                <a:latin typeface="Segoe UI Symbol"/>
                <a:cs typeface="Segoe UI Symbol"/>
              </a:rPr>
              <a:t>time,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434343"/>
                </a:solidFill>
                <a:latin typeface="Segoe UI Symbol"/>
                <a:cs typeface="Segoe UI Symbol"/>
              </a:rPr>
              <a:t>replace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33" dirty="0">
                <a:solidFill>
                  <a:srgbClr val="434343"/>
                </a:solidFill>
                <a:latin typeface="Segoe UI Symbol"/>
                <a:cs typeface="Segoe UI Symbol"/>
              </a:rPr>
              <a:t>random</a:t>
            </a:r>
            <a:r>
              <a:rPr lang="en-US" sz="2800" spc="13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33" dirty="0">
                <a:solidFill>
                  <a:srgbClr val="434343"/>
                </a:solidFill>
                <a:latin typeface="Segoe UI Symbol"/>
                <a:cs typeface="Segoe UI Symbol"/>
              </a:rPr>
              <a:t>word</a:t>
            </a:r>
            <a:endParaRPr lang="en-US" dirty="0">
              <a:latin typeface="Segoe UI Symbol"/>
              <a:cs typeface="Segoe UI Symbol"/>
            </a:endParaRPr>
          </a:p>
          <a:p>
            <a:pPr marL="873336" lvl="1" indent="-457200">
              <a:spcBef>
                <a:spcPts val="460"/>
              </a:spcBef>
              <a:tabLst>
                <a:tab pos="586725" algn="l"/>
                <a:tab pos="587572" algn="l"/>
              </a:tabLst>
            </a:pP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went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to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the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store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dirty="0">
                <a:solidFill>
                  <a:srgbClr val="434343"/>
                </a:solidFill>
                <a:latin typeface="Courier New"/>
                <a:cs typeface="Courier New"/>
              </a:rPr>
              <a:t>→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went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to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the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running</a:t>
            </a:r>
            <a:endParaRPr lang="en-US" sz="2000" dirty="0">
              <a:latin typeface="Courier New"/>
              <a:cs typeface="Courier New"/>
            </a:endParaRPr>
          </a:p>
          <a:p>
            <a:pPr marL="473286" indent="-457200">
              <a:spcBef>
                <a:spcPts val="460"/>
              </a:spcBef>
              <a:tabLst>
                <a:tab pos="586725" algn="l"/>
                <a:tab pos="587572" algn="l"/>
              </a:tabLst>
            </a:pPr>
            <a:r>
              <a:rPr lang="en-US" sz="2800" spc="33" dirty="0">
                <a:solidFill>
                  <a:srgbClr val="434343"/>
                </a:solidFill>
                <a:latin typeface="Segoe UI Symbol"/>
                <a:cs typeface="Segoe UI Symbol"/>
              </a:rPr>
              <a:t>10%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0" dirty="0">
                <a:solidFill>
                  <a:srgbClr val="434343"/>
                </a:solidFill>
                <a:latin typeface="Segoe UI Symbol"/>
                <a:cs typeface="Segoe UI Symbol"/>
              </a:rPr>
              <a:t>of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434343"/>
                </a:solidFill>
                <a:latin typeface="Segoe UI Symbol"/>
                <a:cs typeface="Segoe UI Symbol"/>
              </a:rPr>
              <a:t>the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0" dirty="0">
                <a:solidFill>
                  <a:srgbClr val="434343"/>
                </a:solidFill>
                <a:latin typeface="Segoe UI Symbol"/>
                <a:cs typeface="Segoe UI Symbol"/>
              </a:rPr>
              <a:t>time,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434343"/>
                </a:solidFill>
                <a:latin typeface="Segoe UI Symbol"/>
                <a:cs typeface="Segoe UI Symbol"/>
              </a:rPr>
              <a:t>keep</a:t>
            </a:r>
            <a:r>
              <a:rPr lang="en-US" sz="2800" spc="7" dirty="0">
                <a:solidFill>
                  <a:srgbClr val="434343"/>
                </a:solidFill>
                <a:latin typeface="Segoe UI Symbol"/>
                <a:cs typeface="Segoe UI Symbol"/>
              </a:rPr>
              <a:t> </a:t>
            </a:r>
            <a:r>
              <a:rPr lang="en-US" sz="2800" spc="27" dirty="0">
                <a:solidFill>
                  <a:srgbClr val="434343"/>
                </a:solidFill>
                <a:latin typeface="Segoe UI Symbol"/>
                <a:cs typeface="Segoe UI Symbol"/>
              </a:rPr>
              <a:t>same</a:t>
            </a:r>
            <a:endParaRPr lang="en-US" dirty="0">
              <a:latin typeface="Segoe UI Symbol"/>
              <a:cs typeface="Segoe UI Symbol"/>
            </a:endParaRPr>
          </a:p>
          <a:p>
            <a:pPr marL="873336" lvl="1" indent="-457200">
              <a:spcBef>
                <a:spcPts val="460"/>
              </a:spcBef>
              <a:tabLst>
                <a:tab pos="586725" algn="l"/>
                <a:tab pos="587572" algn="l"/>
              </a:tabLst>
            </a:pP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went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to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the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store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dirty="0">
                <a:solidFill>
                  <a:srgbClr val="434343"/>
                </a:solidFill>
                <a:latin typeface="Courier New"/>
                <a:cs typeface="Courier New"/>
              </a:rPr>
              <a:t>→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went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to</a:t>
            </a:r>
            <a:r>
              <a:rPr lang="en-US" sz="2000" spc="-1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the</a:t>
            </a:r>
            <a:r>
              <a:rPr lang="en-US" sz="2000" spc="-2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lang="en-US" sz="2000" spc="-7" dirty="0">
                <a:solidFill>
                  <a:srgbClr val="434343"/>
                </a:solidFill>
                <a:latin typeface="Courier New"/>
                <a:cs typeface="Courier New"/>
              </a:rPr>
              <a:t>store</a:t>
            </a:r>
            <a:endParaRPr lang="en-US" sz="2000" dirty="0">
              <a:latin typeface="Courier New"/>
              <a:cs typeface="Courier New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9D2A1-176D-DD97-DE4E-487A116D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CAE7-3F05-4092-968C-E8C501E9CCC3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6D794-AFEF-82AB-186A-5DF18826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4E7C9-BC4E-4C11-9088-28BB7BB1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27" dirty="0"/>
              <a:t>Masked</a:t>
            </a:r>
            <a:r>
              <a:rPr spc="-80" dirty="0"/>
              <a:t> </a:t>
            </a:r>
            <a:r>
              <a:rPr spc="33" dirty="0"/>
              <a:t>LM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F8242-91DE-05BC-1494-E269E3C1B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E078-8331-4718-A873-0475BCBE83FA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B449B-F3DE-DE02-8C19-0303386F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D08BD-DC1D-9AF3-3D88-61731303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80" dirty="0"/>
              <a:t>Next</a:t>
            </a:r>
            <a:r>
              <a:rPr spc="7" dirty="0"/>
              <a:t> </a:t>
            </a:r>
            <a:r>
              <a:rPr spc="73" dirty="0"/>
              <a:t>Sentence</a:t>
            </a:r>
            <a:r>
              <a:rPr spc="13" dirty="0"/>
              <a:t> </a:t>
            </a:r>
            <a:r>
              <a:rPr spc="67" dirty="0"/>
              <a:t>Prediction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072" y="2217923"/>
            <a:ext cx="10595187" cy="83007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6725" marR="6773" indent="-570639">
              <a:lnSpc>
                <a:spcPct val="115399"/>
              </a:lnSpc>
              <a:spcBef>
                <a:spcPts val="133"/>
              </a:spcBef>
              <a:buFont typeface="Arial MT"/>
              <a:buChar char="●"/>
              <a:tabLst>
                <a:tab pos="586725" algn="l"/>
                <a:tab pos="587572" algn="l"/>
              </a:tabLst>
            </a:pPr>
            <a:r>
              <a:rPr sz="2400" spc="-7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learn </a:t>
            </a:r>
            <a:r>
              <a:rPr sz="2400" i="1" spc="2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</a:t>
            </a:r>
            <a:r>
              <a:rPr sz="2400" spc="93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sz="2400" spc="73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sentences</a:t>
            </a:r>
            <a:r>
              <a:rPr sz="2400" spc="7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predict </a:t>
            </a:r>
            <a:r>
              <a:rPr sz="2400" spc="-93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whether Sentence </a:t>
            </a:r>
            <a:r>
              <a:rPr sz="2400" spc="6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sz="24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2400" spc="5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 </a:t>
            </a:r>
            <a:r>
              <a:rPr sz="2400" spc="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sentence </a:t>
            </a:r>
            <a:r>
              <a:rPr sz="2400" spc="5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sz="2400" spc="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proceeds</a:t>
            </a:r>
            <a:r>
              <a:rPr sz="2400" spc="3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r>
              <a:rPr sz="24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5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A,</a:t>
            </a:r>
            <a:r>
              <a:rPr sz="24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2400" spc="3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67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73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sz="2400" spc="4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6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9" y="3818123"/>
            <a:ext cx="9201332" cy="110416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09FD050-3271-35FB-4718-C4A38081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9C7724-51D4-83B1-F5A2-94434FDD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09BB-3F06-4787-ACFC-FD54DCFCBAF1}" type="datetime1">
              <a:rPr lang="en-US" smtClean="0"/>
              <a:t>5/12/2025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467B6C-D359-D0F7-D5E2-A170F1AE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28D0DF8-8D88-C9F1-9008-11B9FF2D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10" dirty="0"/>
              <a:t>Transformer</a:t>
            </a:r>
            <a:r>
              <a:rPr sz="4400" spc="-40" dirty="0"/>
              <a:t> </a:t>
            </a:r>
            <a:r>
              <a:rPr sz="4400" spc="-375" dirty="0"/>
              <a:t>Encoder</a:t>
            </a:r>
            <a:r>
              <a:rPr sz="4400" spc="-40" dirty="0"/>
              <a:t> </a:t>
            </a:r>
            <a:r>
              <a:rPr sz="4400" spc="-190" dirty="0"/>
              <a:t>architecture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7650550" y="1780032"/>
            <a:ext cx="1539240" cy="3834765"/>
            <a:chOff x="7650550" y="1780032"/>
            <a:chExt cx="1539240" cy="3834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550" y="2761488"/>
              <a:ext cx="1539134" cy="28529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1791" y="1780032"/>
              <a:ext cx="879348" cy="105156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2459" y="1708536"/>
            <a:ext cx="2758299" cy="40597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5177" y="6082995"/>
            <a:ext cx="1275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Transformer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5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5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3739" y="6082995"/>
            <a:ext cx="2214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Transformer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Encoder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ontent Placeholder 80">
            <a:extLst>
              <a:ext uri="{FF2B5EF4-FFF2-40B4-BE49-F238E27FC236}">
                <a16:creationId xmlns:a16="http://schemas.microsoft.com/office/drawing/2014/main" id="{7B9B6C3A-D7A4-EE1F-3E13-A55AC002B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8" name="Date Placeholder 77">
            <a:extLst>
              <a:ext uri="{FF2B5EF4-FFF2-40B4-BE49-F238E27FC236}">
                <a16:creationId xmlns:a16="http://schemas.microsoft.com/office/drawing/2014/main" id="{9580EF0D-43BE-2836-59F2-B2EAE230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2B30-606C-410B-AFB5-7A00542E121A}" type="datetime1">
              <a:rPr lang="en-US" smtClean="0"/>
              <a:t>5/12/2025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2FB5CD6-E735-8F41-9843-4254EAFF3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F31990AC-920F-7B98-0D38-4545AFF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90" dirty="0"/>
              <a:t>Let’s</a:t>
            </a:r>
            <a:r>
              <a:rPr sz="4400" spc="-25" dirty="0"/>
              <a:t> </a:t>
            </a:r>
            <a:r>
              <a:rPr sz="4400" spc="-275" dirty="0"/>
              <a:t>convert</a:t>
            </a:r>
            <a:r>
              <a:rPr sz="4400" spc="-55" dirty="0"/>
              <a:t> </a:t>
            </a:r>
            <a:r>
              <a:rPr sz="4400" spc="-290" dirty="0"/>
              <a:t>the</a:t>
            </a:r>
            <a:r>
              <a:rPr sz="4400" spc="-35" dirty="0"/>
              <a:t> </a:t>
            </a:r>
            <a:r>
              <a:rPr sz="4400" spc="-225" dirty="0"/>
              <a:t>input</a:t>
            </a:r>
            <a:r>
              <a:rPr sz="4400" spc="-50" dirty="0"/>
              <a:t> </a:t>
            </a:r>
            <a:r>
              <a:rPr sz="4400" spc="-200" dirty="0"/>
              <a:t>into</a:t>
            </a:r>
            <a:r>
              <a:rPr sz="4400" spc="-5" dirty="0"/>
              <a:t> </a:t>
            </a:r>
            <a:r>
              <a:rPr sz="4400" b="1" spc="-305" dirty="0">
                <a:latin typeface="Arial"/>
                <a:cs typeface="Arial"/>
              </a:rPr>
              <a:t>Input</a:t>
            </a:r>
            <a:r>
              <a:rPr sz="4400" b="1" spc="-85" dirty="0">
                <a:latin typeface="Arial"/>
                <a:cs typeface="Arial"/>
              </a:rPr>
              <a:t> </a:t>
            </a:r>
            <a:r>
              <a:rPr sz="4400" b="1" spc="-420" dirty="0">
                <a:latin typeface="Arial"/>
                <a:cs typeface="Arial"/>
              </a:rPr>
              <a:t>Embeddings</a:t>
            </a:r>
            <a:r>
              <a:rPr sz="4400" spc="-420" dirty="0"/>
              <a:t>!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5950" y="2338577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800" spc="-10" dirty="0">
                <a:latin typeface="Tahoma"/>
                <a:cs typeface="Tahoma"/>
              </a:rPr>
              <a:t>[SOS]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1032" y="2703576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85188" y="308610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440" y="2337561"/>
            <a:ext cx="11137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ahoma"/>
                <a:cs typeface="Tahoma"/>
              </a:rPr>
              <a:t>Original</a:t>
            </a:r>
            <a:r>
              <a:rPr sz="1000" b="1" spc="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sentence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Tahoma"/>
                <a:cs typeface="Tahoma"/>
              </a:rPr>
              <a:t>(tokens)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440" y="3097148"/>
            <a:ext cx="12592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55" dirty="0">
                <a:latin typeface="Tahoma"/>
                <a:cs typeface="Tahoma"/>
              </a:rPr>
              <a:t>Input</a:t>
            </a:r>
            <a:r>
              <a:rPr sz="1000" b="1" spc="10" dirty="0">
                <a:latin typeface="Tahoma"/>
                <a:cs typeface="Tahoma"/>
              </a:rPr>
              <a:t> </a:t>
            </a:r>
            <a:r>
              <a:rPr sz="1000" b="1" spc="-80" dirty="0">
                <a:latin typeface="Tahoma"/>
                <a:cs typeface="Tahoma"/>
              </a:rPr>
              <a:t>IDs</a:t>
            </a:r>
            <a:r>
              <a:rPr sz="1000" b="1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(position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vocabulary)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440" y="4484623"/>
            <a:ext cx="1111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ahoma"/>
                <a:cs typeface="Tahoma"/>
              </a:rPr>
              <a:t>Embedding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(vector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size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512)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61032" y="345185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3"/>
                </a:moveTo>
                <a:lnTo>
                  <a:pt x="0" y="311403"/>
                </a:lnTo>
                <a:lnTo>
                  <a:pt x="38100" y="387603"/>
                </a:lnTo>
                <a:lnTo>
                  <a:pt x="69850" y="324103"/>
                </a:lnTo>
                <a:lnTo>
                  <a:pt x="31750" y="324103"/>
                </a:lnTo>
                <a:lnTo>
                  <a:pt x="31750" y="311403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3"/>
                </a:lnTo>
                <a:lnTo>
                  <a:pt x="44450" y="324103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3"/>
                </a:moveTo>
                <a:lnTo>
                  <a:pt x="44450" y="311403"/>
                </a:lnTo>
                <a:lnTo>
                  <a:pt x="44450" y="324103"/>
                </a:lnTo>
                <a:lnTo>
                  <a:pt x="69850" y="324103"/>
                </a:lnTo>
                <a:lnTo>
                  <a:pt x="76200" y="31140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5442" y="3840098"/>
            <a:ext cx="626363" cy="1633727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882267" y="3836923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3552.566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2745.925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1070.708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1652.976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498215" y="6017767"/>
            <a:ext cx="51936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50" dirty="0">
                <a:latin typeface="Tahoma"/>
                <a:cs typeface="Tahoma"/>
              </a:rPr>
              <a:t>We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define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</a:t>
            </a:r>
            <a:r>
              <a:rPr sz="975" baseline="-21367" dirty="0">
                <a:latin typeface="Tahoma"/>
                <a:cs typeface="Tahoma"/>
              </a:rPr>
              <a:t>model</a:t>
            </a:r>
            <a:r>
              <a:rPr sz="975" spc="120" baseline="-21367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=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512,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which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represents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size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embedding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vector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 each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word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98242" y="2338577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71800" y="2703576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97479" y="308610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90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71800" y="345185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3"/>
                </a:moveTo>
                <a:lnTo>
                  <a:pt x="0" y="311403"/>
                </a:lnTo>
                <a:lnTo>
                  <a:pt x="38100" y="387603"/>
                </a:lnTo>
                <a:lnTo>
                  <a:pt x="69850" y="324103"/>
                </a:lnTo>
                <a:lnTo>
                  <a:pt x="31750" y="324103"/>
                </a:lnTo>
                <a:lnTo>
                  <a:pt x="31750" y="311403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3"/>
                </a:lnTo>
                <a:lnTo>
                  <a:pt x="44450" y="324103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3"/>
                </a:moveTo>
                <a:lnTo>
                  <a:pt x="44450" y="311403"/>
                </a:lnTo>
                <a:lnTo>
                  <a:pt x="44450" y="324103"/>
                </a:lnTo>
                <a:lnTo>
                  <a:pt x="69850" y="324103"/>
                </a:lnTo>
                <a:lnTo>
                  <a:pt x="76200" y="31140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7226" y="3840098"/>
            <a:ext cx="626363" cy="1633727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694051" y="3836923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9980.851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8373.997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8752.749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4445.452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3509009" y="2344673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84091" y="2709672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508247" y="309372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231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84091" y="345947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4"/>
                </a:moveTo>
                <a:lnTo>
                  <a:pt x="0" y="311404"/>
                </a:lnTo>
                <a:lnTo>
                  <a:pt x="38100" y="387604"/>
                </a:lnTo>
                <a:lnTo>
                  <a:pt x="69850" y="324104"/>
                </a:lnTo>
                <a:lnTo>
                  <a:pt x="31750" y="324104"/>
                </a:lnTo>
                <a:lnTo>
                  <a:pt x="31750" y="311404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4"/>
                </a:lnTo>
                <a:lnTo>
                  <a:pt x="44450" y="324104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4"/>
                </a:moveTo>
                <a:lnTo>
                  <a:pt x="44450" y="311404"/>
                </a:lnTo>
                <a:lnTo>
                  <a:pt x="44450" y="324104"/>
                </a:lnTo>
                <a:lnTo>
                  <a:pt x="69850" y="324104"/>
                </a:lnTo>
                <a:lnTo>
                  <a:pt x="76200" y="311404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09009" y="3846576"/>
            <a:ext cx="626363" cy="1633727"/>
          </a:xfrm>
          <a:prstGeom prst="rect">
            <a:avLst/>
          </a:prstGeom>
        </p:spPr>
      </p:pic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3505834" y="3843401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6666.314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6239.623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4611.106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1937.651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4321302" y="2344673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96384" y="2709672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320540" y="309372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413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96384" y="345947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4"/>
                </a:moveTo>
                <a:lnTo>
                  <a:pt x="0" y="311404"/>
                </a:lnTo>
                <a:lnTo>
                  <a:pt x="38100" y="387604"/>
                </a:lnTo>
                <a:lnTo>
                  <a:pt x="69850" y="324104"/>
                </a:lnTo>
                <a:lnTo>
                  <a:pt x="31750" y="324104"/>
                </a:lnTo>
                <a:lnTo>
                  <a:pt x="31750" y="311404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4"/>
                </a:lnTo>
                <a:lnTo>
                  <a:pt x="44450" y="324104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4"/>
                </a:moveTo>
                <a:lnTo>
                  <a:pt x="44450" y="311404"/>
                </a:lnTo>
                <a:lnTo>
                  <a:pt x="44450" y="324104"/>
                </a:lnTo>
                <a:lnTo>
                  <a:pt x="69850" y="324104"/>
                </a:lnTo>
                <a:lnTo>
                  <a:pt x="76200" y="311404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20666" y="3846576"/>
            <a:ext cx="626363" cy="1633727"/>
          </a:xfrm>
          <a:prstGeom prst="rect">
            <a:avLst/>
          </a:prstGeom>
        </p:spPr>
      </p:pic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317491" y="3843401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7512.261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8207.994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6827.572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3222.745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5133594" y="2344673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07152" y="2709672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132832" y="309372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559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07152" y="345947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4"/>
                </a:moveTo>
                <a:lnTo>
                  <a:pt x="0" y="311404"/>
                </a:lnTo>
                <a:lnTo>
                  <a:pt x="38100" y="387604"/>
                </a:lnTo>
                <a:lnTo>
                  <a:pt x="69850" y="324104"/>
                </a:lnTo>
                <a:lnTo>
                  <a:pt x="31750" y="324104"/>
                </a:lnTo>
                <a:lnTo>
                  <a:pt x="31750" y="311404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4"/>
                </a:lnTo>
                <a:lnTo>
                  <a:pt x="44450" y="324104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4"/>
                </a:moveTo>
                <a:lnTo>
                  <a:pt x="44450" y="311404"/>
                </a:lnTo>
                <a:lnTo>
                  <a:pt x="44450" y="324104"/>
                </a:lnTo>
                <a:lnTo>
                  <a:pt x="69850" y="324104"/>
                </a:lnTo>
                <a:lnTo>
                  <a:pt x="76200" y="311404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2451" y="3846576"/>
            <a:ext cx="626363" cy="1633727"/>
          </a:xfrm>
          <a:prstGeom prst="rect">
            <a:avLst/>
          </a:prstGeom>
        </p:spPr>
      </p:pic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5129276" y="3843401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5463.142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8669.221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9521.112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9338.361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5944361" y="2344673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219444" y="2709672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943600" y="309372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952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219444" y="345947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4"/>
                </a:moveTo>
                <a:lnTo>
                  <a:pt x="0" y="311404"/>
                </a:lnTo>
                <a:lnTo>
                  <a:pt x="38100" y="387604"/>
                </a:lnTo>
                <a:lnTo>
                  <a:pt x="69850" y="324104"/>
                </a:lnTo>
                <a:lnTo>
                  <a:pt x="31750" y="324104"/>
                </a:lnTo>
                <a:lnTo>
                  <a:pt x="31750" y="311404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4"/>
                </a:lnTo>
                <a:lnTo>
                  <a:pt x="44450" y="324104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4"/>
                </a:moveTo>
                <a:lnTo>
                  <a:pt x="44450" y="311404"/>
                </a:lnTo>
                <a:lnTo>
                  <a:pt x="44450" y="324104"/>
                </a:lnTo>
                <a:lnTo>
                  <a:pt x="69850" y="324104"/>
                </a:lnTo>
                <a:lnTo>
                  <a:pt x="76200" y="311404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44234" y="3846576"/>
            <a:ext cx="626363" cy="1633727"/>
          </a:xfrm>
          <a:prstGeom prst="rect">
            <a:avLst/>
          </a:prstGeom>
        </p:spPr>
      </p:pic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941059" y="3843401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3571.487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9007.898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9664.859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1971.318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6756654" y="2344673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marL="204470">
              <a:lnSpc>
                <a:spcPct val="100000"/>
              </a:lnSpc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030211" y="2709672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755892" y="309372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421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030211" y="345947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4"/>
                </a:moveTo>
                <a:lnTo>
                  <a:pt x="0" y="311404"/>
                </a:lnTo>
                <a:lnTo>
                  <a:pt x="38100" y="387604"/>
                </a:lnTo>
                <a:lnTo>
                  <a:pt x="69850" y="324104"/>
                </a:lnTo>
                <a:lnTo>
                  <a:pt x="31750" y="324104"/>
                </a:lnTo>
                <a:lnTo>
                  <a:pt x="31750" y="311404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4"/>
                </a:lnTo>
                <a:lnTo>
                  <a:pt x="44450" y="324104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4"/>
                </a:moveTo>
                <a:lnTo>
                  <a:pt x="44450" y="311404"/>
                </a:lnTo>
                <a:lnTo>
                  <a:pt x="44450" y="324104"/>
                </a:lnTo>
                <a:lnTo>
                  <a:pt x="69850" y="324104"/>
                </a:lnTo>
                <a:lnTo>
                  <a:pt x="76200" y="311404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5892" y="3846576"/>
            <a:ext cx="626364" cy="1633727"/>
          </a:xfrm>
          <a:prstGeom prst="rect">
            <a:avLst/>
          </a:prstGeom>
        </p:spPr>
      </p:pic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6752717" y="3843401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2128.306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1685.236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9648.558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7568.973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7568945" y="2338577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842504" y="2703576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568183" y="308610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</a:pPr>
            <a:r>
              <a:rPr sz="800" spc="-20" dirty="0">
                <a:latin typeface="Tahoma"/>
                <a:cs typeface="Tahoma"/>
              </a:rPr>
              <a:t>7540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842504" y="345185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3"/>
                </a:moveTo>
                <a:lnTo>
                  <a:pt x="0" y="311403"/>
                </a:lnTo>
                <a:lnTo>
                  <a:pt x="38100" y="387603"/>
                </a:lnTo>
                <a:lnTo>
                  <a:pt x="69850" y="324103"/>
                </a:lnTo>
                <a:lnTo>
                  <a:pt x="31750" y="324103"/>
                </a:lnTo>
                <a:lnTo>
                  <a:pt x="31750" y="311403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3"/>
                </a:lnTo>
                <a:lnTo>
                  <a:pt x="44450" y="324103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3"/>
                </a:moveTo>
                <a:lnTo>
                  <a:pt x="44450" y="311403"/>
                </a:lnTo>
                <a:lnTo>
                  <a:pt x="44450" y="324103"/>
                </a:lnTo>
                <a:lnTo>
                  <a:pt x="69850" y="324103"/>
                </a:lnTo>
                <a:lnTo>
                  <a:pt x="76200" y="31140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7676" y="3840098"/>
            <a:ext cx="626364" cy="1633727"/>
          </a:xfrm>
          <a:prstGeom prst="rect">
            <a:avLst/>
          </a:prstGeom>
        </p:spPr>
      </p:pic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7564501" y="3836923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952.207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5450.840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1.658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2671.529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8379714" y="2338577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8654795" y="2703576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378952" y="308610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62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654795" y="345185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3"/>
                </a:moveTo>
                <a:lnTo>
                  <a:pt x="0" y="311403"/>
                </a:lnTo>
                <a:lnTo>
                  <a:pt x="38100" y="387603"/>
                </a:lnTo>
                <a:lnTo>
                  <a:pt x="69850" y="324103"/>
                </a:lnTo>
                <a:lnTo>
                  <a:pt x="31750" y="324103"/>
                </a:lnTo>
                <a:lnTo>
                  <a:pt x="31750" y="311403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3"/>
                </a:lnTo>
                <a:lnTo>
                  <a:pt x="44450" y="324103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3"/>
                </a:moveTo>
                <a:lnTo>
                  <a:pt x="44450" y="311403"/>
                </a:lnTo>
                <a:lnTo>
                  <a:pt x="44450" y="324103"/>
                </a:lnTo>
                <a:lnTo>
                  <a:pt x="69850" y="324103"/>
                </a:lnTo>
                <a:lnTo>
                  <a:pt x="76200" y="31140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9332" y="3840098"/>
            <a:ext cx="626364" cy="1633727"/>
          </a:xfrm>
          <a:prstGeom prst="rect">
            <a:avLst/>
          </a:prstGeom>
        </p:spPr>
      </p:pic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8376157" y="3836923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3065.914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8145.629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5491.627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1746.477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" name="object 61"/>
          <p:cNvSpPr txBox="1"/>
          <p:nvPr/>
        </p:nvSpPr>
        <p:spPr>
          <a:xfrm>
            <a:off x="9192006" y="2338577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Times New Roman"/>
              <a:cs typeface="Times New Roman"/>
            </a:endParaRPr>
          </a:p>
          <a:p>
            <a:pPr marL="170815">
              <a:lnSpc>
                <a:spcPct val="100000"/>
              </a:lnSpc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9465564" y="2703576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9191243" y="308610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864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9465564" y="345185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3"/>
                </a:moveTo>
                <a:lnTo>
                  <a:pt x="0" y="311403"/>
                </a:lnTo>
                <a:lnTo>
                  <a:pt x="38100" y="387603"/>
                </a:lnTo>
                <a:lnTo>
                  <a:pt x="69850" y="324103"/>
                </a:lnTo>
                <a:lnTo>
                  <a:pt x="31750" y="324103"/>
                </a:lnTo>
                <a:lnTo>
                  <a:pt x="31750" y="311403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3"/>
                </a:lnTo>
                <a:lnTo>
                  <a:pt x="44450" y="324103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3"/>
                </a:moveTo>
                <a:lnTo>
                  <a:pt x="44450" y="311403"/>
                </a:lnTo>
                <a:lnTo>
                  <a:pt x="44450" y="324103"/>
                </a:lnTo>
                <a:lnTo>
                  <a:pt x="69850" y="324103"/>
                </a:lnTo>
                <a:lnTo>
                  <a:pt x="76200" y="31140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object 6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1117" y="3840098"/>
            <a:ext cx="626364" cy="1633727"/>
          </a:xfrm>
          <a:prstGeom prst="rect">
            <a:avLst/>
          </a:prstGeom>
        </p:spPr>
      </p:pic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9187942" y="3836923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5555.992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5722.099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3623.291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9791.989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" name="object 67"/>
          <p:cNvSpPr txBox="1"/>
          <p:nvPr/>
        </p:nvSpPr>
        <p:spPr>
          <a:xfrm>
            <a:off x="11055857" y="2338577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Times New Roman"/>
              <a:cs typeface="Times New Roman"/>
            </a:endParaRPr>
          </a:p>
          <a:p>
            <a:pPr marL="205104">
              <a:lnSpc>
                <a:spcPct val="100000"/>
              </a:lnSpc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1329416" y="2703576"/>
            <a:ext cx="76200" cy="382905"/>
          </a:xfrm>
          <a:custGeom>
            <a:avLst/>
            <a:gdLst/>
            <a:ahLst/>
            <a:cxnLst/>
            <a:rect l="l" t="t" r="r" b="b"/>
            <a:pathLst>
              <a:path w="76200" h="382905">
                <a:moveTo>
                  <a:pt x="31750" y="306577"/>
                </a:moveTo>
                <a:lnTo>
                  <a:pt x="0" y="306577"/>
                </a:lnTo>
                <a:lnTo>
                  <a:pt x="38100" y="382777"/>
                </a:lnTo>
                <a:lnTo>
                  <a:pt x="69850" y="319277"/>
                </a:lnTo>
                <a:lnTo>
                  <a:pt x="31750" y="319277"/>
                </a:lnTo>
                <a:lnTo>
                  <a:pt x="31750" y="306577"/>
                </a:lnTo>
                <a:close/>
              </a:path>
              <a:path w="76200" h="382905">
                <a:moveTo>
                  <a:pt x="44450" y="0"/>
                </a:moveTo>
                <a:lnTo>
                  <a:pt x="31750" y="0"/>
                </a:lnTo>
                <a:lnTo>
                  <a:pt x="31750" y="319277"/>
                </a:lnTo>
                <a:lnTo>
                  <a:pt x="44450" y="319277"/>
                </a:lnTo>
                <a:lnTo>
                  <a:pt x="44450" y="0"/>
                </a:lnTo>
                <a:close/>
              </a:path>
              <a:path w="76200" h="382905">
                <a:moveTo>
                  <a:pt x="76200" y="306577"/>
                </a:moveTo>
                <a:lnTo>
                  <a:pt x="44450" y="306577"/>
                </a:lnTo>
                <a:lnTo>
                  <a:pt x="44450" y="319277"/>
                </a:lnTo>
                <a:lnTo>
                  <a:pt x="69850" y="319277"/>
                </a:lnTo>
                <a:lnTo>
                  <a:pt x="76200" y="306577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1055095" y="3086100"/>
            <a:ext cx="626745" cy="365760"/>
          </a:xfrm>
          <a:prstGeom prst="rect">
            <a:avLst/>
          </a:prstGeom>
          <a:solidFill>
            <a:srgbClr val="CE7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421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1329416" y="3451859"/>
            <a:ext cx="76200" cy="387985"/>
          </a:xfrm>
          <a:custGeom>
            <a:avLst/>
            <a:gdLst/>
            <a:ahLst/>
            <a:cxnLst/>
            <a:rect l="l" t="t" r="r" b="b"/>
            <a:pathLst>
              <a:path w="76200" h="387985">
                <a:moveTo>
                  <a:pt x="31750" y="311403"/>
                </a:moveTo>
                <a:lnTo>
                  <a:pt x="0" y="311403"/>
                </a:lnTo>
                <a:lnTo>
                  <a:pt x="38100" y="387603"/>
                </a:lnTo>
                <a:lnTo>
                  <a:pt x="69850" y="324103"/>
                </a:lnTo>
                <a:lnTo>
                  <a:pt x="31750" y="324103"/>
                </a:lnTo>
                <a:lnTo>
                  <a:pt x="31750" y="311403"/>
                </a:lnTo>
                <a:close/>
              </a:path>
              <a:path w="76200" h="387985">
                <a:moveTo>
                  <a:pt x="44450" y="0"/>
                </a:moveTo>
                <a:lnTo>
                  <a:pt x="31750" y="0"/>
                </a:lnTo>
                <a:lnTo>
                  <a:pt x="31750" y="324103"/>
                </a:lnTo>
                <a:lnTo>
                  <a:pt x="44450" y="324103"/>
                </a:lnTo>
                <a:lnTo>
                  <a:pt x="44450" y="0"/>
                </a:lnTo>
                <a:close/>
              </a:path>
              <a:path w="76200" h="387985">
                <a:moveTo>
                  <a:pt x="76200" y="311403"/>
                </a:moveTo>
                <a:lnTo>
                  <a:pt x="44450" y="311403"/>
                </a:lnTo>
                <a:lnTo>
                  <a:pt x="44450" y="324103"/>
                </a:lnTo>
                <a:lnTo>
                  <a:pt x="69850" y="324103"/>
                </a:lnTo>
                <a:lnTo>
                  <a:pt x="76200" y="31140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55095" y="3840098"/>
            <a:ext cx="626364" cy="1633727"/>
          </a:xfrm>
          <a:prstGeom prst="rect">
            <a:avLst/>
          </a:prstGeom>
        </p:spPr>
      </p:pic>
      <p:graphicFrame>
        <p:nvGraphicFramePr>
          <p:cNvPr id="72" name="object 72"/>
          <p:cNvGraphicFramePr>
            <a:graphicFrameLocks noGrp="1"/>
          </p:cNvGraphicFramePr>
          <p:nvPr/>
        </p:nvGraphicFramePr>
        <p:xfrm>
          <a:off x="11051920" y="3836923"/>
          <a:ext cx="6261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2128.306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1685.236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9648.558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7568.973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3" name="object 73"/>
          <p:cNvSpPr txBox="1"/>
          <p:nvPr/>
        </p:nvSpPr>
        <p:spPr>
          <a:xfrm>
            <a:off x="10751946" y="1714881"/>
            <a:ext cx="125539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b="1" spc="-25" dirty="0">
                <a:latin typeface="Tahoma"/>
                <a:cs typeface="Tahoma"/>
              </a:rPr>
              <a:t>Just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an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example. </a:t>
            </a:r>
            <a:r>
              <a:rPr sz="1100" b="1" dirty="0">
                <a:latin typeface="Tahoma"/>
                <a:cs typeface="Tahoma"/>
              </a:rPr>
              <a:t>Not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in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the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original poem.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0173934" y="1806910"/>
            <a:ext cx="457834" cy="419100"/>
            <a:chOff x="10173934" y="1806910"/>
            <a:chExt cx="457834" cy="419100"/>
          </a:xfrm>
        </p:grpSpPr>
        <p:sp>
          <p:nvSpPr>
            <p:cNvPr id="75" name="object 75"/>
            <p:cNvSpPr/>
            <p:nvPr/>
          </p:nvSpPr>
          <p:spPr>
            <a:xfrm>
              <a:off x="10180282" y="1813267"/>
              <a:ext cx="445134" cy="406400"/>
            </a:xfrm>
            <a:custGeom>
              <a:avLst/>
              <a:gdLst/>
              <a:ahLst/>
              <a:cxnLst/>
              <a:rect l="l" t="t" r="r" b="b"/>
              <a:pathLst>
                <a:path w="445134" h="406400">
                  <a:moveTo>
                    <a:pt x="444690" y="181114"/>
                  </a:moveTo>
                  <a:lnTo>
                    <a:pt x="443026" y="152222"/>
                  </a:lnTo>
                  <a:lnTo>
                    <a:pt x="430822" y="125260"/>
                  </a:lnTo>
                  <a:lnTo>
                    <a:pt x="431838" y="122720"/>
                  </a:lnTo>
                  <a:lnTo>
                    <a:pt x="433362" y="117513"/>
                  </a:lnTo>
                  <a:lnTo>
                    <a:pt x="434822" y="93903"/>
                  </a:lnTo>
                  <a:lnTo>
                    <a:pt x="428053" y="72275"/>
                  </a:lnTo>
                  <a:lnTo>
                    <a:pt x="414286" y="54978"/>
                  </a:lnTo>
                  <a:lnTo>
                    <a:pt x="394754" y="44361"/>
                  </a:lnTo>
                  <a:lnTo>
                    <a:pt x="392506" y="35369"/>
                  </a:lnTo>
                  <a:lnTo>
                    <a:pt x="360451" y="2451"/>
                  </a:lnTo>
                  <a:lnTo>
                    <a:pt x="341376" y="203"/>
                  </a:lnTo>
                  <a:lnTo>
                    <a:pt x="322922" y="5816"/>
                  </a:lnTo>
                  <a:lnTo>
                    <a:pt x="307378" y="19088"/>
                  </a:lnTo>
                  <a:lnTo>
                    <a:pt x="303187" y="13119"/>
                  </a:lnTo>
                  <a:lnTo>
                    <a:pt x="297853" y="8420"/>
                  </a:lnTo>
                  <a:lnTo>
                    <a:pt x="291630" y="4991"/>
                  </a:lnTo>
                  <a:lnTo>
                    <a:pt x="274396" y="0"/>
                  </a:lnTo>
                  <a:lnTo>
                    <a:pt x="257314" y="2438"/>
                  </a:lnTo>
                  <a:lnTo>
                    <a:pt x="242316" y="11620"/>
                  </a:lnTo>
                  <a:lnTo>
                    <a:pt x="231305" y="26835"/>
                  </a:lnTo>
                  <a:lnTo>
                    <a:pt x="227622" y="22771"/>
                  </a:lnTo>
                  <a:lnTo>
                    <a:pt x="223304" y="19469"/>
                  </a:lnTo>
                  <a:lnTo>
                    <a:pt x="218605" y="16675"/>
                  </a:lnTo>
                  <a:lnTo>
                    <a:pt x="197688" y="9982"/>
                  </a:lnTo>
                  <a:lnTo>
                    <a:pt x="176733" y="12382"/>
                  </a:lnTo>
                  <a:lnTo>
                    <a:pt x="158140" y="23088"/>
                  </a:lnTo>
                  <a:lnTo>
                    <a:pt x="144310" y="41313"/>
                  </a:lnTo>
                  <a:lnTo>
                    <a:pt x="133832" y="35915"/>
                  </a:lnTo>
                  <a:lnTo>
                    <a:pt x="122783" y="32499"/>
                  </a:lnTo>
                  <a:lnTo>
                    <a:pt x="111340" y="31064"/>
                  </a:lnTo>
                  <a:lnTo>
                    <a:pt x="99733" y="31661"/>
                  </a:lnTo>
                  <a:lnTo>
                    <a:pt x="73685" y="41478"/>
                  </a:lnTo>
                  <a:lnTo>
                    <a:pt x="53797" y="60680"/>
                  </a:lnTo>
                  <a:lnTo>
                    <a:pt x="41986" y="86563"/>
                  </a:lnTo>
                  <a:lnTo>
                    <a:pt x="40170" y="116370"/>
                  </a:lnTo>
                  <a:lnTo>
                    <a:pt x="39789" y="117513"/>
                  </a:lnTo>
                  <a:lnTo>
                    <a:pt x="5753" y="141262"/>
                  </a:lnTo>
                  <a:lnTo>
                    <a:pt x="0" y="159575"/>
                  </a:lnTo>
                  <a:lnTo>
                    <a:pt x="1079" y="178206"/>
                  </a:lnTo>
                  <a:lnTo>
                    <a:pt x="8496" y="195008"/>
                  </a:lnTo>
                  <a:lnTo>
                    <a:pt x="21755" y="207810"/>
                  </a:lnTo>
                  <a:lnTo>
                    <a:pt x="15887" y="216281"/>
                  </a:lnTo>
                  <a:lnTo>
                    <a:pt x="11887" y="225818"/>
                  </a:lnTo>
                  <a:lnTo>
                    <a:pt x="9867" y="236067"/>
                  </a:lnTo>
                  <a:lnTo>
                    <a:pt x="9944" y="246672"/>
                  </a:lnTo>
                  <a:lnTo>
                    <a:pt x="15506" y="264934"/>
                  </a:lnTo>
                  <a:lnTo>
                    <a:pt x="26746" y="278980"/>
                  </a:lnTo>
                  <a:lnTo>
                    <a:pt x="42062" y="287489"/>
                  </a:lnTo>
                  <a:lnTo>
                    <a:pt x="59855" y="289090"/>
                  </a:lnTo>
                  <a:lnTo>
                    <a:pt x="60617" y="290614"/>
                  </a:lnTo>
                  <a:lnTo>
                    <a:pt x="81965" y="315937"/>
                  </a:lnTo>
                  <a:lnTo>
                    <a:pt x="109601" y="329920"/>
                  </a:lnTo>
                  <a:lnTo>
                    <a:pt x="130937" y="331114"/>
                  </a:lnTo>
                  <a:lnTo>
                    <a:pt x="126403" y="334175"/>
                  </a:lnTo>
                  <a:lnTo>
                    <a:pt x="120078" y="343547"/>
                  </a:lnTo>
                  <a:lnTo>
                    <a:pt x="117767" y="355003"/>
                  </a:lnTo>
                  <a:lnTo>
                    <a:pt x="120078" y="366471"/>
                  </a:lnTo>
                  <a:lnTo>
                    <a:pt x="122377" y="369887"/>
                  </a:lnTo>
                  <a:lnTo>
                    <a:pt x="120840" y="370916"/>
                  </a:lnTo>
                  <a:lnTo>
                    <a:pt x="116636" y="377164"/>
                  </a:lnTo>
                  <a:lnTo>
                    <a:pt x="115100" y="384848"/>
                  </a:lnTo>
                  <a:lnTo>
                    <a:pt x="116636" y="392468"/>
                  </a:lnTo>
                  <a:lnTo>
                    <a:pt x="120053" y="397522"/>
                  </a:lnTo>
                  <a:lnTo>
                    <a:pt x="120053" y="401993"/>
                  </a:lnTo>
                  <a:lnTo>
                    <a:pt x="124371" y="406311"/>
                  </a:lnTo>
                  <a:lnTo>
                    <a:pt x="135293" y="406311"/>
                  </a:lnTo>
                  <a:lnTo>
                    <a:pt x="137807" y="403796"/>
                  </a:lnTo>
                  <a:lnTo>
                    <a:pt x="142392" y="402869"/>
                  </a:lnTo>
                  <a:lnTo>
                    <a:pt x="148602" y="398678"/>
                  </a:lnTo>
                  <a:lnTo>
                    <a:pt x="152793" y="392468"/>
                  </a:lnTo>
                  <a:lnTo>
                    <a:pt x="154343" y="384848"/>
                  </a:lnTo>
                  <a:lnTo>
                    <a:pt x="153987" y="383108"/>
                  </a:lnTo>
                  <a:lnTo>
                    <a:pt x="158686" y="382155"/>
                  </a:lnTo>
                  <a:lnTo>
                    <a:pt x="168059" y="375831"/>
                  </a:lnTo>
                  <a:lnTo>
                    <a:pt x="174371" y="366471"/>
                  </a:lnTo>
                  <a:lnTo>
                    <a:pt x="176695" y="355003"/>
                  </a:lnTo>
                  <a:lnTo>
                    <a:pt x="174371" y="343547"/>
                  </a:lnTo>
                  <a:lnTo>
                    <a:pt x="168059" y="334187"/>
                  </a:lnTo>
                  <a:lnTo>
                    <a:pt x="158686" y="327863"/>
                  </a:lnTo>
                  <a:lnTo>
                    <a:pt x="152819" y="326682"/>
                  </a:lnTo>
                  <a:lnTo>
                    <a:pt x="169837" y="320078"/>
                  </a:lnTo>
                  <a:lnTo>
                    <a:pt x="207429" y="350431"/>
                  </a:lnTo>
                  <a:lnTo>
                    <a:pt x="234962" y="353263"/>
                  </a:lnTo>
                  <a:lnTo>
                    <a:pt x="260464" y="344703"/>
                  </a:lnTo>
                  <a:lnTo>
                    <a:pt x="281127" y="326415"/>
                  </a:lnTo>
                  <a:lnTo>
                    <a:pt x="294170" y="300012"/>
                  </a:lnTo>
                  <a:lnTo>
                    <a:pt x="301434" y="304228"/>
                  </a:lnTo>
                  <a:lnTo>
                    <a:pt x="309105" y="307289"/>
                  </a:lnTo>
                  <a:lnTo>
                    <a:pt x="317080" y="309156"/>
                  </a:lnTo>
                  <a:lnTo>
                    <a:pt x="325285" y="309791"/>
                  </a:lnTo>
                  <a:lnTo>
                    <a:pt x="348500" y="304977"/>
                  </a:lnTo>
                  <a:lnTo>
                    <a:pt x="367550" y="291338"/>
                  </a:lnTo>
                  <a:lnTo>
                    <a:pt x="380479" y="270954"/>
                  </a:lnTo>
                  <a:lnTo>
                    <a:pt x="385356" y="245910"/>
                  </a:lnTo>
                  <a:lnTo>
                    <a:pt x="394093" y="243967"/>
                  </a:lnTo>
                  <a:lnTo>
                    <a:pt x="402526" y="240817"/>
                  </a:lnTo>
                  <a:lnTo>
                    <a:pt x="410527" y="236499"/>
                  </a:lnTo>
                  <a:lnTo>
                    <a:pt x="417995" y="231051"/>
                  </a:lnTo>
                  <a:lnTo>
                    <a:pt x="436206" y="208521"/>
                  </a:lnTo>
                  <a:lnTo>
                    <a:pt x="444690" y="181114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0180284" y="1813260"/>
              <a:ext cx="445134" cy="406400"/>
            </a:xfrm>
            <a:custGeom>
              <a:avLst/>
              <a:gdLst/>
              <a:ahLst/>
              <a:cxnLst/>
              <a:rect l="l" t="t" r="r" b="b"/>
              <a:pathLst>
                <a:path w="445134" h="406400">
                  <a:moveTo>
                    <a:pt x="40167" y="116377"/>
                  </a:moveTo>
                  <a:lnTo>
                    <a:pt x="53804" y="60688"/>
                  </a:lnTo>
                  <a:lnTo>
                    <a:pt x="99730" y="31668"/>
                  </a:lnTo>
                  <a:lnTo>
                    <a:pt x="111339" y="31069"/>
                  </a:lnTo>
                  <a:lnTo>
                    <a:pt x="122781" y="32494"/>
                  </a:lnTo>
                  <a:lnTo>
                    <a:pt x="133842" y="35919"/>
                  </a:lnTo>
                  <a:lnTo>
                    <a:pt x="144307" y="41320"/>
                  </a:lnTo>
                  <a:lnTo>
                    <a:pt x="158148" y="23094"/>
                  </a:lnTo>
                  <a:lnTo>
                    <a:pt x="176740" y="12380"/>
                  </a:lnTo>
                  <a:lnTo>
                    <a:pt x="197689" y="9977"/>
                  </a:lnTo>
                  <a:lnTo>
                    <a:pt x="218602" y="16682"/>
                  </a:lnTo>
                  <a:lnTo>
                    <a:pt x="223301" y="19476"/>
                  </a:lnTo>
                  <a:lnTo>
                    <a:pt x="227619" y="22778"/>
                  </a:lnTo>
                  <a:lnTo>
                    <a:pt x="231302" y="26842"/>
                  </a:lnTo>
                  <a:lnTo>
                    <a:pt x="242317" y="11624"/>
                  </a:lnTo>
                  <a:lnTo>
                    <a:pt x="257321" y="2442"/>
                  </a:lnTo>
                  <a:lnTo>
                    <a:pt x="274397" y="0"/>
                  </a:lnTo>
                  <a:lnTo>
                    <a:pt x="291627" y="4998"/>
                  </a:lnTo>
                  <a:lnTo>
                    <a:pt x="297850" y="8427"/>
                  </a:lnTo>
                  <a:lnTo>
                    <a:pt x="303184" y="13126"/>
                  </a:lnTo>
                  <a:lnTo>
                    <a:pt x="307375" y="19095"/>
                  </a:lnTo>
                  <a:lnTo>
                    <a:pt x="322925" y="5816"/>
                  </a:lnTo>
                  <a:lnTo>
                    <a:pt x="341379" y="204"/>
                  </a:lnTo>
                  <a:lnTo>
                    <a:pt x="360453" y="2450"/>
                  </a:lnTo>
                  <a:lnTo>
                    <a:pt x="377860" y="12745"/>
                  </a:lnTo>
                  <a:lnTo>
                    <a:pt x="383964" y="19383"/>
                  </a:lnTo>
                  <a:lnTo>
                    <a:pt x="388877" y="26985"/>
                  </a:lnTo>
                  <a:lnTo>
                    <a:pt x="392505" y="35373"/>
                  </a:lnTo>
                  <a:lnTo>
                    <a:pt x="394751" y="44368"/>
                  </a:lnTo>
                  <a:lnTo>
                    <a:pt x="414285" y="54977"/>
                  </a:lnTo>
                  <a:lnTo>
                    <a:pt x="428057" y="72276"/>
                  </a:lnTo>
                  <a:lnTo>
                    <a:pt x="434828" y="93910"/>
                  </a:lnTo>
                  <a:lnTo>
                    <a:pt x="433359" y="117520"/>
                  </a:lnTo>
                  <a:lnTo>
                    <a:pt x="432597" y="120187"/>
                  </a:lnTo>
                  <a:lnTo>
                    <a:pt x="431835" y="122727"/>
                  </a:lnTo>
                  <a:lnTo>
                    <a:pt x="430819" y="125267"/>
                  </a:lnTo>
                  <a:lnTo>
                    <a:pt x="443031" y="152227"/>
                  </a:lnTo>
                  <a:lnTo>
                    <a:pt x="436213" y="208528"/>
                  </a:lnTo>
                  <a:lnTo>
                    <a:pt x="402530" y="240821"/>
                  </a:lnTo>
                  <a:lnTo>
                    <a:pt x="385353" y="245917"/>
                  </a:lnTo>
                  <a:lnTo>
                    <a:pt x="380486" y="270954"/>
                  </a:lnTo>
                  <a:lnTo>
                    <a:pt x="367557" y="291336"/>
                  </a:lnTo>
                  <a:lnTo>
                    <a:pt x="348509" y="304978"/>
                  </a:lnTo>
                  <a:lnTo>
                    <a:pt x="325282" y="309798"/>
                  </a:lnTo>
                  <a:lnTo>
                    <a:pt x="317081" y="309163"/>
                  </a:lnTo>
                  <a:lnTo>
                    <a:pt x="309106" y="307290"/>
                  </a:lnTo>
                  <a:lnTo>
                    <a:pt x="301440" y="304226"/>
                  </a:lnTo>
                  <a:lnTo>
                    <a:pt x="294167" y="300019"/>
                  </a:lnTo>
                  <a:lnTo>
                    <a:pt x="281132" y="326417"/>
                  </a:lnTo>
                  <a:lnTo>
                    <a:pt x="260465" y="344707"/>
                  </a:lnTo>
                  <a:lnTo>
                    <a:pt x="234963" y="353258"/>
                  </a:lnTo>
                  <a:lnTo>
                    <a:pt x="207426" y="350438"/>
                  </a:lnTo>
                  <a:lnTo>
                    <a:pt x="196320" y="345606"/>
                  </a:lnTo>
                  <a:lnTo>
                    <a:pt x="186201" y="338834"/>
                  </a:lnTo>
                  <a:lnTo>
                    <a:pt x="177297" y="330275"/>
                  </a:lnTo>
                  <a:lnTo>
                    <a:pt x="169834" y="320085"/>
                  </a:lnTo>
                  <a:lnTo>
                    <a:pt x="140053" y="331626"/>
                  </a:lnTo>
                  <a:lnTo>
                    <a:pt x="109604" y="329928"/>
                  </a:lnTo>
                  <a:lnTo>
                    <a:pt x="81966" y="315942"/>
                  </a:lnTo>
                  <a:lnTo>
                    <a:pt x="60614" y="290621"/>
                  </a:lnTo>
                  <a:lnTo>
                    <a:pt x="60360" y="290113"/>
                  </a:lnTo>
                  <a:lnTo>
                    <a:pt x="60106" y="289605"/>
                  </a:lnTo>
                  <a:lnTo>
                    <a:pt x="59852" y="289097"/>
                  </a:lnTo>
                  <a:lnTo>
                    <a:pt x="42070" y="287488"/>
                  </a:lnTo>
                  <a:lnTo>
                    <a:pt x="26753" y="278985"/>
                  </a:lnTo>
                  <a:lnTo>
                    <a:pt x="15507" y="264933"/>
                  </a:lnTo>
                  <a:lnTo>
                    <a:pt x="9941" y="246679"/>
                  </a:lnTo>
                  <a:lnTo>
                    <a:pt x="9876" y="236071"/>
                  </a:lnTo>
                  <a:lnTo>
                    <a:pt x="11894" y="225819"/>
                  </a:lnTo>
                  <a:lnTo>
                    <a:pt x="15888" y="216282"/>
                  </a:lnTo>
                  <a:lnTo>
                    <a:pt x="21752" y="207817"/>
                  </a:lnTo>
                  <a:lnTo>
                    <a:pt x="8501" y="195008"/>
                  </a:lnTo>
                  <a:lnTo>
                    <a:pt x="1083" y="178210"/>
                  </a:lnTo>
                  <a:lnTo>
                    <a:pt x="0" y="159579"/>
                  </a:lnTo>
                  <a:lnTo>
                    <a:pt x="5750" y="141269"/>
                  </a:lnTo>
                  <a:lnTo>
                    <a:pt x="12140" y="132147"/>
                  </a:lnTo>
                  <a:lnTo>
                    <a:pt x="20196" y="124966"/>
                  </a:lnTo>
                  <a:lnTo>
                    <a:pt x="29539" y="119999"/>
                  </a:lnTo>
                  <a:lnTo>
                    <a:pt x="39786" y="117520"/>
                  </a:lnTo>
                  <a:lnTo>
                    <a:pt x="40167" y="116377"/>
                  </a:lnTo>
                  <a:close/>
                </a:path>
                <a:path w="445134" h="406400">
                  <a:moveTo>
                    <a:pt x="139608" y="396539"/>
                  </a:moveTo>
                  <a:lnTo>
                    <a:pt x="139608" y="402000"/>
                  </a:lnTo>
                  <a:lnTo>
                    <a:pt x="135290" y="406318"/>
                  </a:lnTo>
                  <a:lnTo>
                    <a:pt x="129829" y="406318"/>
                  </a:lnTo>
                  <a:lnTo>
                    <a:pt x="124368" y="406318"/>
                  </a:lnTo>
                  <a:lnTo>
                    <a:pt x="120050" y="402000"/>
                  </a:lnTo>
                  <a:lnTo>
                    <a:pt x="120050" y="396539"/>
                  </a:lnTo>
                  <a:lnTo>
                    <a:pt x="120050" y="391078"/>
                  </a:lnTo>
                  <a:lnTo>
                    <a:pt x="124368" y="386760"/>
                  </a:lnTo>
                  <a:lnTo>
                    <a:pt x="129829" y="386760"/>
                  </a:lnTo>
                  <a:lnTo>
                    <a:pt x="135290" y="386760"/>
                  </a:lnTo>
                  <a:lnTo>
                    <a:pt x="139608" y="391078"/>
                  </a:lnTo>
                  <a:lnTo>
                    <a:pt x="139608" y="396539"/>
                  </a:lnTo>
                  <a:close/>
                </a:path>
                <a:path w="445134" h="406400">
                  <a:moveTo>
                    <a:pt x="154340" y="384855"/>
                  </a:moveTo>
                  <a:lnTo>
                    <a:pt x="152802" y="392465"/>
                  </a:lnTo>
                  <a:lnTo>
                    <a:pt x="148609" y="398682"/>
                  </a:lnTo>
                  <a:lnTo>
                    <a:pt x="142392" y="402875"/>
                  </a:lnTo>
                  <a:lnTo>
                    <a:pt x="134782" y="404413"/>
                  </a:lnTo>
                  <a:lnTo>
                    <a:pt x="127099" y="402875"/>
                  </a:lnTo>
                  <a:lnTo>
                    <a:pt x="120844" y="398682"/>
                  </a:lnTo>
                  <a:lnTo>
                    <a:pt x="116637" y="392465"/>
                  </a:lnTo>
                  <a:lnTo>
                    <a:pt x="115097" y="384855"/>
                  </a:lnTo>
                  <a:lnTo>
                    <a:pt x="116637" y="377172"/>
                  </a:lnTo>
                  <a:lnTo>
                    <a:pt x="120844" y="370917"/>
                  </a:lnTo>
                  <a:lnTo>
                    <a:pt x="127099" y="366710"/>
                  </a:lnTo>
                  <a:lnTo>
                    <a:pt x="134782" y="365170"/>
                  </a:lnTo>
                  <a:lnTo>
                    <a:pt x="142392" y="366710"/>
                  </a:lnTo>
                  <a:lnTo>
                    <a:pt x="148609" y="370917"/>
                  </a:lnTo>
                  <a:lnTo>
                    <a:pt x="152802" y="377172"/>
                  </a:lnTo>
                  <a:lnTo>
                    <a:pt x="154340" y="384855"/>
                  </a:lnTo>
                  <a:close/>
                </a:path>
                <a:path w="445134" h="406400">
                  <a:moveTo>
                    <a:pt x="176692" y="355010"/>
                  </a:moveTo>
                  <a:lnTo>
                    <a:pt x="174374" y="366472"/>
                  </a:lnTo>
                  <a:lnTo>
                    <a:pt x="168056" y="375838"/>
                  </a:lnTo>
                  <a:lnTo>
                    <a:pt x="158690" y="382156"/>
                  </a:lnTo>
                  <a:lnTo>
                    <a:pt x="147228" y="384474"/>
                  </a:lnTo>
                  <a:lnTo>
                    <a:pt x="135766" y="382156"/>
                  </a:lnTo>
                  <a:lnTo>
                    <a:pt x="126400" y="375838"/>
                  </a:lnTo>
                  <a:lnTo>
                    <a:pt x="120082" y="366472"/>
                  </a:lnTo>
                  <a:lnTo>
                    <a:pt x="117764" y="355010"/>
                  </a:lnTo>
                  <a:lnTo>
                    <a:pt x="120082" y="343548"/>
                  </a:lnTo>
                  <a:lnTo>
                    <a:pt x="126400" y="334182"/>
                  </a:lnTo>
                  <a:lnTo>
                    <a:pt x="135766" y="327864"/>
                  </a:lnTo>
                  <a:lnTo>
                    <a:pt x="147228" y="325546"/>
                  </a:lnTo>
                  <a:lnTo>
                    <a:pt x="158690" y="327864"/>
                  </a:lnTo>
                  <a:lnTo>
                    <a:pt x="168056" y="334182"/>
                  </a:lnTo>
                  <a:lnTo>
                    <a:pt x="174374" y="343548"/>
                  </a:lnTo>
                  <a:lnTo>
                    <a:pt x="176692" y="355010"/>
                  </a:lnTo>
                  <a:close/>
                </a:path>
                <a:path w="445134" h="406400">
                  <a:moveTo>
                    <a:pt x="48422" y="213024"/>
                  </a:moveTo>
                  <a:lnTo>
                    <a:pt x="41584" y="213030"/>
                  </a:lnTo>
                  <a:lnTo>
                    <a:pt x="34865" y="211929"/>
                  </a:lnTo>
                  <a:lnTo>
                    <a:pt x="28384" y="209756"/>
                  </a:lnTo>
                  <a:lnTo>
                    <a:pt x="22260" y="206547"/>
                  </a:lnTo>
                </a:path>
                <a:path w="445134" h="406400">
                  <a:moveTo>
                    <a:pt x="71409" y="284398"/>
                  </a:moveTo>
                  <a:lnTo>
                    <a:pt x="67726" y="285922"/>
                  </a:lnTo>
                  <a:lnTo>
                    <a:pt x="63916" y="287065"/>
                  </a:lnTo>
                  <a:lnTo>
                    <a:pt x="59979" y="287573"/>
                  </a:lnTo>
                </a:path>
                <a:path w="445134" h="406400">
                  <a:moveTo>
                    <a:pt x="169834" y="318688"/>
                  </a:moveTo>
                  <a:lnTo>
                    <a:pt x="167040" y="314243"/>
                  </a:lnTo>
                  <a:lnTo>
                    <a:pt x="164754" y="309417"/>
                  </a:lnTo>
                  <a:lnTo>
                    <a:pt x="162849" y="304464"/>
                  </a:lnTo>
                </a:path>
                <a:path w="445134" h="406400">
                  <a:moveTo>
                    <a:pt x="296961" y="283255"/>
                  </a:moveTo>
                  <a:lnTo>
                    <a:pt x="296580" y="288462"/>
                  </a:lnTo>
                  <a:lnTo>
                    <a:pt x="295691" y="293669"/>
                  </a:lnTo>
                  <a:lnTo>
                    <a:pt x="294294" y="298876"/>
                  </a:lnTo>
                </a:path>
                <a:path w="445134" h="406400">
                  <a:moveTo>
                    <a:pt x="351571" y="186608"/>
                  </a:moveTo>
                  <a:lnTo>
                    <a:pt x="365561" y="196861"/>
                  </a:lnTo>
                  <a:lnTo>
                    <a:pt x="376146" y="210627"/>
                  </a:lnTo>
                  <a:lnTo>
                    <a:pt x="382825" y="226988"/>
                  </a:lnTo>
                  <a:lnTo>
                    <a:pt x="385099" y="245028"/>
                  </a:lnTo>
                </a:path>
                <a:path w="445134" h="406400">
                  <a:moveTo>
                    <a:pt x="430565" y="124378"/>
                  </a:moveTo>
                  <a:lnTo>
                    <a:pt x="427761" y="130561"/>
                  </a:lnTo>
                  <a:lnTo>
                    <a:pt x="424326" y="136316"/>
                  </a:lnTo>
                  <a:lnTo>
                    <a:pt x="420296" y="141595"/>
                  </a:lnTo>
                  <a:lnTo>
                    <a:pt x="415706" y="146349"/>
                  </a:lnTo>
                </a:path>
                <a:path w="445134" h="406400">
                  <a:moveTo>
                    <a:pt x="394878" y="43225"/>
                  </a:moveTo>
                  <a:lnTo>
                    <a:pt x="395386" y="46654"/>
                  </a:lnTo>
                  <a:lnTo>
                    <a:pt x="395640" y="50083"/>
                  </a:lnTo>
                  <a:lnTo>
                    <a:pt x="395640" y="53512"/>
                  </a:lnTo>
                </a:path>
                <a:path w="445134" h="406400">
                  <a:moveTo>
                    <a:pt x="299628" y="31160"/>
                  </a:moveTo>
                  <a:lnTo>
                    <a:pt x="301533" y="26334"/>
                  </a:lnTo>
                  <a:lnTo>
                    <a:pt x="304073" y="21889"/>
                  </a:lnTo>
                  <a:lnTo>
                    <a:pt x="307248" y="17952"/>
                  </a:lnTo>
                </a:path>
                <a:path w="445134" h="406400">
                  <a:moveTo>
                    <a:pt x="228127" y="37383"/>
                  </a:moveTo>
                  <a:lnTo>
                    <a:pt x="228889" y="33446"/>
                  </a:lnTo>
                  <a:lnTo>
                    <a:pt x="230159" y="29636"/>
                  </a:lnTo>
                  <a:lnTo>
                    <a:pt x="231810" y="26080"/>
                  </a:lnTo>
                </a:path>
                <a:path w="445134" h="406400">
                  <a:moveTo>
                    <a:pt x="144307" y="41320"/>
                  </a:moveTo>
                  <a:lnTo>
                    <a:pt x="149133" y="44368"/>
                  </a:lnTo>
                  <a:lnTo>
                    <a:pt x="153578" y="48051"/>
                  </a:lnTo>
                  <a:lnTo>
                    <a:pt x="157642" y="52242"/>
                  </a:lnTo>
                </a:path>
                <a:path w="445134" h="406400">
                  <a:moveTo>
                    <a:pt x="42580" y="128061"/>
                  </a:moveTo>
                  <a:lnTo>
                    <a:pt x="41437" y="124251"/>
                  </a:lnTo>
                  <a:lnTo>
                    <a:pt x="40675" y="120314"/>
                  </a:lnTo>
                  <a:lnTo>
                    <a:pt x="40167" y="116377"/>
                  </a:lnTo>
                </a:path>
              </a:pathLst>
            </a:custGeom>
            <a:ln w="12700">
              <a:solidFill>
                <a:srgbClr val="632D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6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6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ontent Placeholder 120">
            <a:extLst>
              <a:ext uri="{FF2B5EF4-FFF2-40B4-BE49-F238E27FC236}">
                <a16:creationId xmlns:a16="http://schemas.microsoft.com/office/drawing/2014/main" id="{D2E5137F-4F32-02DB-C543-F679BC3E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8" name="Date Placeholder 117">
            <a:extLst>
              <a:ext uri="{FF2B5EF4-FFF2-40B4-BE49-F238E27FC236}">
                <a16:creationId xmlns:a16="http://schemas.microsoft.com/office/drawing/2014/main" id="{ABC954B7-F44E-2B10-7D70-F55008F0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D2BA-2745-4A97-89BE-7DD9372A327F}" type="datetime1">
              <a:rPr lang="en-US" smtClean="0"/>
              <a:t>5/12/2025</a:t>
            </a:fld>
            <a:endParaRPr lang="en-US"/>
          </a:p>
        </p:txBody>
      </p:sp>
      <p:sp>
        <p:nvSpPr>
          <p:cNvPr id="119" name="Footer Placeholder 118">
            <a:extLst>
              <a:ext uri="{FF2B5EF4-FFF2-40B4-BE49-F238E27FC236}">
                <a16:creationId xmlns:a16="http://schemas.microsoft.com/office/drawing/2014/main" id="{744A57C8-C7CF-1639-B0A7-F3AA81FA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20" name="Slide Number Placeholder 119">
            <a:extLst>
              <a:ext uri="{FF2B5EF4-FFF2-40B4-BE49-F238E27FC236}">
                <a16:creationId xmlns:a16="http://schemas.microsoft.com/office/drawing/2014/main" id="{FA75F37D-F8C3-CB7A-DB0D-4BE32F90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90" dirty="0"/>
              <a:t>Let’s</a:t>
            </a:r>
            <a:r>
              <a:rPr sz="4400" spc="-25" dirty="0"/>
              <a:t> </a:t>
            </a:r>
            <a:r>
              <a:rPr sz="4400" dirty="0"/>
              <a:t>add</a:t>
            </a:r>
            <a:r>
              <a:rPr sz="4400" spc="-90" dirty="0"/>
              <a:t> </a:t>
            </a:r>
            <a:r>
              <a:rPr sz="4400" b="1" spc="-325" dirty="0">
                <a:latin typeface="Arial"/>
                <a:cs typeface="Arial"/>
              </a:rPr>
              <a:t>Positional</a:t>
            </a:r>
            <a:r>
              <a:rPr sz="4400" b="1" spc="-85" dirty="0">
                <a:latin typeface="Arial"/>
                <a:cs typeface="Arial"/>
              </a:rPr>
              <a:t> </a:t>
            </a:r>
            <a:r>
              <a:rPr sz="4400" b="1" spc="-445" dirty="0">
                <a:latin typeface="Arial"/>
                <a:cs typeface="Arial"/>
              </a:rPr>
              <a:t>Encodings</a:t>
            </a:r>
            <a:r>
              <a:rPr sz="4400" spc="-445" dirty="0"/>
              <a:t>!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5950" y="1610105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800" spc="-10" dirty="0">
                <a:latin typeface="Tahoma"/>
                <a:cs typeface="Tahoma"/>
              </a:rPr>
              <a:t>[SOS]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440" y="1608581"/>
            <a:ext cx="11137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ahoma"/>
                <a:cs typeface="Tahoma"/>
              </a:rPr>
              <a:t>Original</a:t>
            </a:r>
            <a:r>
              <a:rPr sz="1000" b="1" spc="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sentence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Tahoma"/>
                <a:cs typeface="Tahoma"/>
              </a:rPr>
              <a:t>(tokens)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440" y="2623566"/>
            <a:ext cx="1111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ahoma"/>
                <a:cs typeface="Tahoma"/>
              </a:rPr>
              <a:t>Embedding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(vector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size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512)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1032" y="1975104"/>
            <a:ext cx="76200" cy="1812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5442" y="2156079"/>
            <a:ext cx="626363" cy="1280160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882267" y="2152904"/>
          <a:ext cx="626110" cy="127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3552.566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2745.925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10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1070.708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1652.976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698242" y="1610105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1975104"/>
            <a:ext cx="76200" cy="1812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7226" y="2156079"/>
            <a:ext cx="626363" cy="1280160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694051" y="2152904"/>
          <a:ext cx="626110" cy="127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9980.851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8373.997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10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8752.749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4445.452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509009" y="1616202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4091" y="1981200"/>
            <a:ext cx="76200" cy="18122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9009" y="2162429"/>
            <a:ext cx="626363" cy="1280160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505834" y="2159254"/>
          <a:ext cx="626110" cy="127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6666.314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6239.623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10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4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4611.106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1937.651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4321302" y="1616202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6384" y="1981200"/>
            <a:ext cx="76200" cy="18122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0666" y="2162429"/>
            <a:ext cx="626363" cy="1280160"/>
          </a:xfrm>
          <a:prstGeom prst="rect">
            <a:avLst/>
          </a:prstGeom>
        </p:spPr>
      </p:pic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317491" y="2159254"/>
          <a:ext cx="626110" cy="127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7512.261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8207.994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10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4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6827.572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3222.745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5133594" y="1616202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7152" y="1981200"/>
            <a:ext cx="76200" cy="18122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2451" y="2162429"/>
            <a:ext cx="626363" cy="1280160"/>
          </a:xfrm>
          <a:prstGeom prst="rect">
            <a:avLst/>
          </a:prstGeom>
        </p:spPr>
      </p:pic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129276" y="2159254"/>
          <a:ext cx="626110" cy="127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5463.142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8669.221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10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4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9521.112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9338.361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5944361" y="1616202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9444" y="1981200"/>
            <a:ext cx="76200" cy="18122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44234" y="2162429"/>
            <a:ext cx="626363" cy="1280160"/>
          </a:xfrm>
          <a:prstGeom prst="rect">
            <a:avLst/>
          </a:prstGeom>
        </p:spPr>
      </p:pic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5941059" y="2159254"/>
          <a:ext cx="626110" cy="127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3571.487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9007.898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10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4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9664.859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1971.318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6756654" y="1616202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marL="204470">
              <a:lnSpc>
                <a:spcPct val="100000"/>
              </a:lnSpc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0211" y="1981200"/>
            <a:ext cx="76200" cy="18122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5892" y="2162429"/>
            <a:ext cx="626364" cy="1280160"/>
          </a:xfrm>
          <a:prstGeom prst="rect">
            <a:avLst/>
          </a:prstGeom>
        </p:spPr>
      </p:pic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752717" y="2159254"/>
          <a:ext cx="626110" cy="127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2128.306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1685.236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10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4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9648.558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7568.973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7568945" y="1610105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2504" y="1975104"/>
            <a:ext cx="76200" cy="18122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67676" y="2156079"/>
            <a:ext cx="626364" cy="1286256"/>
          </a:xfrm>
          <a:prstGeom prst="rect">
            <a:avLst/>
          </a:prstGeom>
        </p:spPr>
      </p:pic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7564501" y="2152904"/>
          <a:ext cx="626110" cy="1283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952.207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5450.840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1.658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2671.529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8379714" y="1610105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4795" y="1975104"/>
            <a:ext cx="76200" cy="18122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9332" y="2156079"/>
            <a:ext cx="626364" cy="1286256"/>
          </a:xfrm>
          <a:prstGeom prst="rect">
            <a:avLst/>
          </a:prstGeom>
        </p:spPr>
      </p:pic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8376157" y="2152904"/>
          <a:ext cx="626110" cy="1283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9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3065.914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8145.629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5491.627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1746.477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9192006" y="1610105"/>
            <a:ext cx="626745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imes New Roman"/>
              <a:cs typeface="Times New Roman"/>
            </a:endParaRPr>
          </a:p>
          <a:p>
            <a:pPr marL="170815">
              <a:lnSpc>
                <a:spcPct val="100000"/>
              </a:lnSpc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5564" y="1975104"/>
            <a:ext cx="76200" cy="18122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91117" y="2156079"/>
            <a:ext cx="626364" cy="1286256"/>
          </a:xfrm>
          <a:prstGeom prst="rect">
            <a:avLst/>
          </a:prstGeom>
        </p:spPr>
      </p:pic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9187942" y="2152904"/>
          <a:ext cx="626110" cy="1283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99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5555.992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5722.099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3623.291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9791.989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2144395" y="3456559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85442" y="3682365"/>
            <a:ext cx="626363" cy="1171956"/>
          </a:xfrm>
          <a:prstGeom prst="rect">
            <a:avLst/>
          </a:prstGeom>
        </p:spPr>
      </p:pic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1882267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POS(0,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POS(0,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POS(0,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POS(0,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8" name="object 4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02941" y="3682365"/>
            <a:ext cx="626364" cy="1171956"/>
          </a:xfrm>
          <a:prstGeom prst="rect">
            <a:avLst/>
          </a:prstGeom>
        </p:spPr>
      </p:pic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2699766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POS(1,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POS(1,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POS(1,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POS(1,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0" name="object 5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09009" y="3682365"/>
            <a:ext cx="626363" cy="1171956"/>
          </a:xfrm>
          <a:prstGeom prst="rect">
            <a:avLst/>
          </a:prstGeom>
        </p:spPr>
      </p:pic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3505834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POS(2,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POS(2,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POS(2,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POS(2,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2" name="object 5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20666" y="3682365"/>
            <a:ext cx="626363" cy="1171956"/>
          </a:xfrm>
          <a:prstGeom prst="rect">
            <a:avLst/>
          </a:prstGeom>
        </p:spPr>
      </p:pic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4317491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POS(3,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POS(3,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POS(3,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POS(3,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4" name="object 5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6388" y="3682365"/>
            <a:ext cx="626363" cy="1171956"/>
          </a:xfrm>
          <a:prstGeom prst="rect">
            <a:avLst/>
          </a:prstGeom>
        </p:spPr>
      </p:pic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5133213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POS(4,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POS(4,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POS(4,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POS(4,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6" name="object 5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44234" y="3682365"/>
            <a:ext cx="626363" cy="1171956"/>
          </a:xfrm>
          <a:prstGeom prst="rect">
            <a:avLst/>
          </a:prstGeom>
        </p:spPr>
      </p:pic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5941059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POS(5,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POS(5,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POS(5,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POS(5,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8" name="object 5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52081" y="3682365"/>
            <a:ext cx="626364" cy="1171956"/>
          </a:xfrm>
          <a:prstGeom prst="rect">
            <a:avLst/>
          </a:prstGeom>
        </p:spPr>
      </p:pic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6748906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POS(6,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POS(6,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POS(6,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POS(6,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0" name="object 6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59929" y="3682365"/>
            <a:ext cx="626364" cy="1171956"/>
          </a:xfrm>
          <a:prstGeom prst="rect">
            <a:avLst/>
          </a:prstGeom>
        </p:spPr>
      </p:pic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7556754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POS(7,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POS(7,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POS(7,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POS(7,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2" name="object 6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79332" y="3682365"/>
            <a:ext cx="626364" cy="1171956"/>
          </a:xfrm>
          <a:prstGeom prst="rect">
            <a:avLst/>
          </a:prstGeom>
        </p:spPr>
      </p:pic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8376157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POS(8,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POS(8,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POS(8,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POS(8,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4" name="object 6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91117" y="3682365"/>
            <a:ext cx="626364" cy="1171956"/>
          </a:xfrm>
          <a:prstGeom prst="rect">
            <a:avLst/>
          </a:prstGeom>
        </p:spPr>
      </p:pic>
      <p:graphicFrame>
        <p:nvGraphicFramePr>
          <p:cNvPr id="65" name="object 65"/>
          <p:cNvGraphicFramePr>
            <a:graphicFrameLocks noGrp="1"/>
          </p:cNvGraphicFramePr>
          <p:nvPr/>
        </p:nvGraphicFramePr>
        <p:xfrm>
          <a:off x="9187942" y="3679190"/>
          <a:ext cx="626110" cy="116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POS(9,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POS(9,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POS(9,</a:t>
                      </a:r>
                      <a:r>
                        <a:rPr sz="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600" dirty="0">
                          <a:latin typeface="Tahoma"/>
                          <a:cs typeface="Tahoma"/>
                        </a:rPr>
                        <a:t>POS(9,</a:t>
                      </a:r>
                      <a:r>
                        <a:rPr sz="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9530" marB="0">
                    <a:lnL w="6350">
                      <a:solidFill>
                        <a:srgbClr val="FF9413"/>
                      </a:solidFill>
                      <a:prstDash val="solid"/>
                    </a:lnL>
                    <a:lnR w="6350">
                      <a:solidFill>
                        <a:srgbClr val="FF9413"/>
                      </a:solidFill>
                      <a:prstDash val="solid"/>
                    </a:lnR>
                    <a:lnT w="6350">
                      <a:solidFill>
                        <a:srgbClr val="FF9413"/>
                      </a:solidFill>
                      <a:prstDash val="solid"/>
                    </a:lnT>
                    <a:lnB w="6350">
                      <a:solidFill>
                        <a:srgbClr val="FF941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" name="object 66"/>
          <p:cNvSpPr txBox="1"/>
          <p:nvPr/>
        </p:nvSpPr>
        <p:spPr>
          <a:xfrm>
            <a:off x="2956305" y="3470275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758565" y="3470275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578222" y="3470275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397753" y="3463544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209791" y="3456559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998589" y="3470275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06690" y="3455670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648445" y="3450463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456166" y="3470275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144395" y="4886959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6" name="object 7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85442" y="5143792"/>
            <a:ext cx="626363" cy="1097280"/>
          </a:xfrm>
          <a:prstGeom prst="rect">
            <a:avLst/>
          </a:prstGeom>
        </p:spPr>
      </p:pic>
      <p:graphicFrame>
        <p:nvGraphicFramePr>
          <p:cNvPr id="77" name="object 77"/>
          <p:cNvGraphicFramePr>
            <a:graphicFrameLocks noGrp="1"/>
          </p:cNvGraphicFramePr>
          <p:nvPr/>
        </p:nvGraphicFramePr>
        <p:xfrm>
          <a:off x="1882267" y="5140578"/>
          <a:ext cx="62611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420.386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4562.843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7395.997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5830.822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object 78"/>
          <p:cNvSpPr txBox="1"/>
          <p:nvPr/>
        </p:nvSpPr>
        <p:spPr>
          <a:xfrm>
            <a:off x="397865" y="3638803"/>
            <a:ext cx="11925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334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ahoma"/>
                <a:cs typeface="Tahoma"/>
              </a:rPr>
              <a:t>Position Embedding</a:t>
            </a:r>
            <a:r>
              <a:rPr sz="1000" b="1" spc="50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(vector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size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512).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000" dirty="0">
                <a:solidFill>
                  <a:srgbClr val="E23717"/>
                </a:solidFill>
                <a:latin typeface="Tahoma"/>
                <a:cs typeface="Tahoma"/>
              </a:rPr>
              <a:t>Only</a:t>
            </a:r>
            <a:r>
              <a:rPr sz="1000" spc="80" dirty="0">
                <a:solidFill>
                  <a:srgbClr val="E23717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E23717"/>
                </a:solidFill>
                <a:latin typeface="Tahoma"/>
                <a:cs typeface="Tahoma"/>
              </a:rPr>
              <a:t>computed</a:t>
            </a:r>
            <a:r>
              <a:rPr sz="1000" spc="500" dirty="0">
                <a:solidFill>
                  <a:srgbClr val="E23717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E23717"/>
                </a:solidFill>
                <a:latin typeface="Tahoma"/>
                <a:cs typeface="Tahoma"/>
              </a:rPr>
              <a:t>once</a:t>
            </a:r>
            <a:r>
              <a:rPr sz="1000" spc="60" dirty="0">
                <a:solidFill>
                  <a:srgbClr val="E23717"/>
                </a:solidFill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and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reused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for </a:t>
            </a:r>
            <a:r>
              <a:rPr sz="1000" dirty="0">
                <a:latin typeface="Tahoma"/>
                <a:cs typeface="Tahoma"/>
              </a:rPr>
              <a:t>every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sentence </a:t>
            </a:r>
            <a:r>
              <a:rPr sz="1000" dirty="0">
                <a:latin typeface="Tahoma"/>
                <a:cs typeface="Tahoma"/>
              </a:rPr>
              <a:t>during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training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</a:t>
            </a:r>
            <a:r>
              <a:rPr sz="1000" spc="-10" dirty="0">
                <a:latin typeface="Tahoma"/>
                <a:cs typeface="Tahoma"/>
              </a:rPr>
              <a:t>inference.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5440" y="5320410"/>
            <a:ext cx="11112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Tahoma"/>
                <a:cs typeface="Tahoma"/>
              </a:rPr>
              <a:t>Encoder</a:t>
            </a:r>
            <a:r>
              <a:rPr sz="1000" b="1" spc="-3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Input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(vector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size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512)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97226" y="5139080"/>
            <a:ext cx="626363" cy="1097280"/>
          </a:xfrm>
          <a:prstGeom prst="rect">
            <a:avLst/>
          </a:prstGeom>
        </p:spPr>
      </p:pic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2694051" y="5135879"/>
          <a:ext cx="62611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7909.878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8386.358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9878.506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6096.133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2" name="object 8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09009" y="5141785"/>
            <a:ext cx="626363" cy="1097280"/>
          </a:xfrm>
          <a:prstGeom prst="rect">
            <a:avLst/>
          </a:prstGeom>
        </p:spPr>
      </p:pic>
      <p:graphicFrame>
        <p:nvGraphicFramePr>
          <p:cNvPr id="83" name="object 83"/>
          <p:cNvGraphicFramePr>
            <a:graphicFrameLocks noGrp="1"/>
          </p:cNvGraphicFramePr>
          <p:nvPr/>
        </p:nvGraphicFramePr>
        <p:xfrm>
          <a:off x="3505834" y="5138546"/>
          <a:ext cx="62611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6167.866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1013.103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2487.140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7675.256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4" name="object 8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320666" y="5139080"/>
            <a:ext cx="626363" cy="1097280"/>
          </a:xfrm>
          <a:prstGeom prst="rect">
            <a:avLst/>
          </a:prstGeom>
        </p:spPr>
      </p:pic>
      <p:graphicFrame>
        <p:nvGraphicFramePr>
          <p:cNvPr id="85" name="object 85"/>
          <p:cNvGraphicFramePr>
            <a:graphicFrameLocks noGrp="1"/>
          </p:cNvGraphicFramePr>
          <p:nvPr/>
        </p:nvGraphicFramePr>
        <p:xfrm>
          <a:off x="4317491" y="5135879"/>
          <a:ext cx="62611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7480.045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845.160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7411.603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1092.178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6" name="object 8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32451" y="5141785"/>
            <a:ext cx="626363" cy="1097280"/>
          </a:xfrm>
          <a:prstGeom prst="rect">
            <a:avLst/>
          </a:prstGeom>
        </p:spPr>
      </p:pic>
      <p:graphicFrame>
        <p:nvGraphicFramePr>
          <p:cNvPr id="87" name="object 87"/>
          <p:cNvGraphicFramePr>
            <a:graphicFrameLocks noGrp="1"/>
          </p:cNvGraphicFramePr>
          <p:nvPr/>
        </p:nvGraphicFramePr>
        <p:xfrm>
          <a:off x="5129276" y="5138546"/>
          <a:ext cx="62611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4497.961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1034.689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5240.469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9843.646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8" name="object 8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944234" y="5139080"/>
            <a:ext cx="626363" cy="1097280"/>
          </a:xfrm>
          <a:prstGeom prst="rect">
            <a:avLst/>
          </a:prstGeom>
        </p:spPr>
      </p:pic>
      <p:graphicFrame>
        <p:nvGraphicFramePr>
          <p:cNvPr id="89" name="object 89"/>
          <p:cNvGraphicFramePr>
            <a:graphicFrameLocks noGrp="1"/>
          </p:cNvGraphicFramePr>
          <p:nvPr/>
        </p:nvGraphicFramePr>
        <p:xfrm>
          <a:off x="5941059" y="5135879"/>
          <a:ext cx="62611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3687.495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7394.715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1362.285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40.205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0" name="object 9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752081" y="5147564"/>
            <a:ext cx="626364" cy="1097280"/>
          </a:xfrm>
          <a:prstGeom prst="rect">
            <a:avLst/>
          </a:prstGeom>
        </p:spPr>
      </p:pic>
      <p:graphicFrame>
        <p:nvGraphicFramePr>
          <p:cNvPr id="91" name="object 91"/>
          <p:cNvGraphicFramePr>
            <a:graphicFrameLocks noGrp="1"/>
          </p:cNvGraphicFramePr>
          <p:nvPr/>
        </p:nvGraphicFramePr>
        <p:xfrm>
          <a:off x="6748906" y="5144389"/>
          <a:ext cx="626110" cy="1096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9559.480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8652.636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8461.192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3316.334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2" name="object 9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67676" y="5147564"/>
            <a:ext cx="626364" cy="1097280"/>
          </a:xfrm>
          <a:prstGeom prst="rect">
            <a:avLst/>
          </a:prstGeom>
        </p:spPr>
      </p:pic>
      <p:graphicFrame>
        <p:nvGraphicFramePr>
          <p:cNvPr id="93" name="object 93"/>
          <p:cNvGraphicFramePr>
            <a:graphicFrameLocks noGrp="1"/>
          </p:cNvGraphicFramePr>
          <p:nvPr/>
        </p:nvGraphicFramePr>
        <p:xfrm>
          <a:off x="7564501" y="5144389"/>
          <a:ext cx="626110" cy="1096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5779.258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4448.448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3863.333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4838.994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4" name="object 9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88477" y="5139080"/>
            <a:ext cx="626364" cy="1097280"/>
          </a:xfrm>
          <a:prstGeom prst="rect">
            <a:avLst/>
          </a:prstGeom>
        </p:spPr>
      </p:pic>
      <p:graphicFrame>
        <p:nvGraphicFramePr>
          <p:cNvPr id="95" name="object 95"/>
          <p:cNvGraphicFramePr>
            <a:graphicFrameLocks noGrp="1"/>
          </p:cNvGraphicFramePr>
          <p:nvPr/>
        </p:nvGraphicFramePr>
        <p:xfrm>
          <a:off x="8385302" y="5135879"/>
          <a:ext cx="62611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2000.151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3722.530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2594.810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2743.197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6" name="object 9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04197" y="5147564"/>
            <a:ext cx="626364" cy="1097280"/>
          </a:xfrm>
          <a:prstGeom prst="rect">
            <a:avLst/>
          </a:prstGeom>
        </p:spPr>
      </p:pic>
      <p:graphicFrame>
        <p:nvGraphicFramePr>
          <p:cNvPr id="97" name="object 97"/>
          <p:cNvGraphicFramePr>
            <a:graphicFrameLocks noGrp="1"/>
          </p:cNvGraphicFramePr>
          <p:nvPr/>
        </p:nvGraphicFramePr>
        <p:xfrm>
          <a:off x="9201022" y="5144389"/>
          <a:ext cx="626110" cy="1096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3323.149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1362.544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1406.061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6417.903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5B525F"/>
                      </a:solidFill>
                      <a:prstDash val="solid"/>
                    </a:lnL>
                    <a:lnR w="6350">
                      <a:solidFill>
                        <a:srgbClr val="5B525F"/>
                      </a:solidFill>
                      <a:prstDash val="solid"/>
                    </a:lnR>
                    <a:lnT w="6350">
                      <a:solidFill>
                        <a:srgbClr val="5B525F"/>
                      </a:solidFill>
                      <a:prstDash val="solid"/>
                    </a:lnT>
                    <a:lnB w="6350">
                      <a:solidFill>
                        <a:srgbClr val="5B52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" name="object 98"/>
          <p:cNvSpPr txBox="1"/>
          <p:nvPr/>
        </p:nvSpPr>
        <p:spPr>
          <a:xfrm>
            <a:off x="2956305" y="4893055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768344" y="4893055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578222" y="4918964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392039" y="4893055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203696" y="4900040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011669" y="4918964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819770" y="4905883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639302" y="4913503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456166" y="4913503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5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9997185" y="1785873"/>
            <a:ext cx="243204" cy="1236980"/>
            <a:chOff x="9997185" y="1785873"/>
            <a:chExt cx="243204" cy="1236980"/>
          </a:xfrm>
        </p:grpSpPr>
        <p:sp>
          <p:nvSpPr>
            <p:cNvPr id="108" name="object 108"/>
            <p:cNvSpPr/>
            <p:nvPr/>
          </p:nvSpPr>
          <p:spPr>
            <a:xfrm>
              <a:off x="10003535" y="2398902"/>
              <a:ext cx="229870" cy="617220"/>
            </a:xfrm>
            <a:custGeom>
              <a:avLst/>
              <a:gdLst/>
              <a:ahLst/>
              <a:cxnLst/>
              <a:rect l="l" t="t" r="r" b="b"/>
              <a:pathLst>
                <a:path w="229870" h="617219">
                  <a:moveTo>
                    <a:pt x="229870" y="0"/>
                  </a:moveTo>
                  <a:lnTo>
                    <a:pt x="227274" y="62272"/>
                  </a:lnTo>
                  <a:lnTo>
                    <a:pt x="222113" y="122586"/>
                  </a:lnTo>
                  <a:lnTo>
                    <a:pt x="214514" y="180546"/>
                  </a:lnTo>
                  <a:lnTo>
                    <a:pt x="204606" y="235754"/>
                  </a:lnTo>
                  <a:lnTo>
                    <a:pt x="192515" y="287813"/>
                  </a:lnTo>
                  <a:lnTo>
                    <a:pt x="178371" y="336327"/>
                  </a:lnTo>
                  <a:lnTo>
                    <a:pt x="162300" y="380899"/>
                  </a:lnTo>
                  <a:lnTo>
                    <a:pt x="144431" y="421132"/>
                  </a:lnTo>
                  <a:lnTo>
                    <a:pt x="124892" y="456628"/>
                  </a:lnTo>
                  <a:lnTo>
                    <a:pt x="81314" y="511825"/>
                  </a:lnTo>
                  <a:lnTo>
                    <a:pt x="57531" y="530733"/>
                  </a:lnTo>
                  <a:lnTo>
                    <a:pt x="57531" y="502031"/>
                  </a:lnTo>
                  <a:lnTo>
                    <a:pt x="0" y="577850"/>
                  </a:lnTo>
                  <a:lnTo>
                    <a:pt x="57531" y="617093"/>
                  </a:lnTo>
                  <a:lnTo>
                    <a:pt x="57531" y="588263"/>
                  </a:lnTo>
                  <a:lnTo>
                    <a:pt x="81324" y="569360"/>
                  </a:lnTo>
                  <a:lnTo>
                    <a:pt x="124836" y="514311"/>
                  </a:lnTo>
                  <a:lnTo>
                    <a:pt x="144316" y="478979"/>
                  </a:lnTo>
                  <a:lnTo>
                    <a:pt x="162119" y="438985"/>
                  </a:lnTo>
                  <a:lnTo>
                    <a:pt x="178127" y="394735"/>
                  </a:lnTo>
                  <a:lnTo>
                    <a:pt x="192219" y="346636"/>
                  </a:lnTo>
                  <a:lnTo>
                    <a:pt x="204276" y="295095"/>
                  </a:lnTo>
                  <a:lnTo>
                    <a:pt x="214180" y="240519"/>
                  </a:lnTo>
                  <a:lnTo>
                    <a:pt x="221810" y="183314"/>
                  </a:lnTo>
                  <a:lnTo>
                    <a:pt x="227048" y="123888"/>
                  </a:lnTo>
                  <a:lnTo>
                    <a:pt x="229774" y="62648"/>
                  </a:lnTo>
                  <a:lnTo>
                    <a:pt x="229870" y="0"/>
                  </a:lnTo>
                  <a:close/>
                </a:path>
              </a:pathLst>
            </a:custGeom>
            <a:solidFill>
              <a:srgbClr val="C09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0003535" y="1792223"/>
              <a:ext cx="230504" cy="635635"/>
            </a:xfrm>
            <a:custGeom>
              <a:avLst/>
              <a:gdLst/>
              <a:ahLst/>
              <a:cxnLst/>
              <a:rect l="l" t="t" r="r" b="b"/>
              <a:pathLst>
                <a:path w="230504" h="635635">
                  <a:moveTo>
                    <a:pt x="0" y="0"/>
                  </a:moveTo>
                  <a:lnTo>
                    <a:pt x="0" y="57530"/>
                  </a:lnTo>
                  <a:lnTo>
                    <a:pt x="26843" y="61418"/>
                  </a:lnTo>
                  <a:lnTo>
                    <a:pt x="52775" y="72791"/>
                  </a:lnTo>
                  <a:lnTo>
                    <a:pt x="101217" y="116262"/>
                  </a:lnTo>
                  <a:lnTo>
                    <a:pt x="123381" y="147492"/>
                  </a:lnTo>
                  <a:lnTo>
                    <a:pt x="143944" y="184473"/>
                  </a:lnTo>
                  <a:lnTo>
                    <a:pt x="162734" y="226774"/>
                  </a:lnTo>
                  <a:lnTo>
                    <a:pt x="179578" y="273959"/>
                  </a:lnTo>
                  <a:lnTo>
                    <a:pt x="194304" y="325596"/>
                  </a:lnTo>
                  <a:lnTo>
                    <a:pt x="206739" y="381251"/>
                  </a:lnTo>
                  <a:lnTo>
                    <a:pt x="216711" y="440490"/>
                  </a:lnTo>
                  <a:lnTo>
                    <a:pt x="224047" y="502881"/>
                  </a:lnTo>
                  <a:lnTo>
                    <a:pt x="228576" y="567989"/>
                  </a:lnTo>
                  <a:lnTo>
                    <a:pt x="230124" y="635380"/>
                  </a:lnTo>
                  <a:lnTo>
                    <a:pt x="230124" y="577850"/>
                  </a:lnTo>
                  <a:lnTo>
                    <a:pt x="228576" y="510458"/>
                  </a:lnTo>
                  <a:lnTo>
                    <a:pt x="224047" y="445350"/>
                  </a:lnTo>
                  <a:lnTo>
                    <a:pt x="216711" y="382959"/>
                  </a:lnTo>
                  <a:lnTo>
                    <a:pt x="206739" y="323720"/>
                  </a:lnTo>
                  <a:lnTo>
                    <a:pt x="194304" y="268065"/>
                  </a:lnTo>
                  <a:lnTo>
                    <a:pt x="179578" y="216428"/>
                  </a:lnTo>
                  <a:lnTo>
                    <a:pt x="162734" y="169243"/>
                  </a:lnTo>
                  <a:lnTo>
                    <a:pt x="143944" y="126942"/>
                  </a:lnTo>
                  <a:lnTo>
                    <a:pt x="123381" y="89961"/>
                  </a:lnTo>
                  <a:lnTo>
                    <a:pt x="101217" y="58731"/>
                  </a:lnTo>
                  <a:lnTo>
                    <a:pt x="52775" y="15260"/>
                  </a:lnTo>
                  <a:lnTo>
                    <a:pt x="26843" y="3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79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0003535" y="1792223"/>
              <a:ext cx="230504" cy="1224280"/>
            </a:xfrm>
            <a:custGeom>
              <a:avLst/>
              <a:gdLst/>
              <a:ahLst/>
              <a:cxnLst/>
              <a:rect l="l" t="t" r="r" b="b"/>
              <a:pathLst>
                <a:path w="230504" h="1224280">
                  <a:moveTo>
                    <a:pt x="230124" y="635380"/>
                  </a:moveTo>
                  <a:lnTo>
                    <a:pt x="228576" y="567989"/>
                  </a:lnTo>
                  <a:lnTo>
                    <a:pt x="224047" y="502881"/>
                  </a:lnTo>
                  <a:lnTo>
                    <a:pt x="216711" y="440490"/>
                  </a:lnTo>
                  <a:lnTo>
                    <a:pt x="206739" y="381251"/>
                  </a:lnTo>
                  <a:lnTo>
                    <a:pt x="194304" y="325596"/>
                  </a:lnTo>
                  <a:lnTo>
                    <a:pt x="179578" y="273959"/>
                  </a:lnTo>
                  <a:lnTo>
                    <a:pt x="162734" y="226774"/>
                  </a:lnTo>
                  <a:lnTo>
                    <a:pt x="143944" y="184473"/>
                  </a:lnTo>
                  <a:lnTo>
                    <a:pt x="123381" y="147492"/>
                  </a:lnTo>
                  <a:lnTo>
                    <a:pt x="101217" y="116262"/>
                  </a:lnTo>
                  <a:lnTo>
                    <a:pt x="52775" y="72791"/>
                  </a:lnTo>
                  <a:lnTo>
                    <a:pt x="0" y="57530"/>
                  </a:lnTo>
                  <a:lnTo>
                    <a:pt x="0" y="0"/>
                  </a:lnTo>
                  <a:lnTo>
                    <a:pt x="52775" y="15260"/>
                  </a:lnTo>
                  <a:lnTo>
                    <a:pt x="101217" y="58731"/>
                  </a:lnTo>
                  <a:lnTo>
                    <a:pt x="123381" y="89961"/>
                  </a:lnTo>
                  <a:lnTo>
                    <a:pt x="143944" y="126942"/>
                  </a:lnTo>
                  <a:lnTo>
                    <a:pt x="162734" y="169243"/>
                  </a:lnTo>
                  <a:lnTo>
                    <a:pt x="179578" y="216428"/>
                  </a:lnTo>
                  <a:lnTo>
                    <a:pt x="194304" y="268065"/>
                  </a:lnTo>
                  <a:lnTo>
                    <a:pt x="206739" y="323720"/>
                  </a:lnTo>
                  <a:lnTo>
                    <a:pt x="216711" y="382959"/>
                  </a:lnTo>
                  <a:lnTo>
                    <a:pt x="224047" y="445350"/>
                  </a:lnTo>
                  <a:lnTo>
                    <a:pt x="228576" y="510458"/>
                  </a:lnTo>
                  <a:lnTo>
                    <a:pt x="230124" y="577850"/>
                  </a:lnTo>
                  <a:lnTo>
                    <a:pt x="230124" y="635380"/>
                  </a:lnTo>
                  <a:lnTo>
                    <a:pt x="228668" y="700490"/>
                  </a:lnTo>
                  <a:lnTo>
                    <a:pt x="224394" y="763754"/>
                  </a:lnTo>
                  <a:lnTo>
                    <a:pt x="217443" y="824718"/>
                  </a:lnTo>
                  <a:lnTo>
                    <a:pt x="207955" y="882927"/>
                  </a:lnTo>
                  <a:lnTo>
                    <a:pt x="196069" y="937928"/>
                  </a:lnTo>
                  <a:lnTo>
                    <a:pt x="181927" y="989266"/>
                  </a:lnTo>
                  <a:lnTo>
                    <a:pt x="165668" y="1036487"/>
                  </a:lnTo>
                  <a:lnTo>
                    <a:pt x="147432" y="1079137"/>
                  </a:lnTo>
                  <a:lnTo>
                    <a:pt x="127361" y="1116762"/>
                  </a:lnTo>
                  <a:lnTo>
                    <a:pt x="105593" y="1148907"/>
                  </a:lnTo>
                  <a:lnTo>
                    <a:pt x="57531" y="1194942"/>
                  </a:lnTo>
                  <a:lnTo>
                    <a:pt x="57531" y="1223772"/>
                  </a:lnTo>
                  <a:lnTo>
                    <a:pt x="0" y="1184528"/>
                  </a:lnTo>
                  <a:lnTo>
                    <a:pt x="57531" y="1108710"/>
                  </a:lnTo>
                  <a:lnTo>
                    <a:pt x="57531" y="1137412"/>
                  </a:lnTo>
                  <a:lnTo>
                    <a:pt x="81314" y="1118504"/>
                  </a:lnTo>
                  <a:lnTo>
                    <a:pt x="124892" y="1063307"/>
                  </a:lnTo>
                  <a:lnTo>
                    <a:pt x="144431" y="1027811"/>
                  </a:lnTo>
                  <a:lnTo>
                    <a:pt x="162300" y="987578"/>
                  </a:lnTo>
                  <a:lnTo>
                    <a:pt x="178371" y="943006"/>
                  </a:lnTo>
                  <a:lnTo>
                    <a:pt x="192515" y="894492"/>
                  </a:lnTo>
                  <a:lnTo>
                    <a:pt x="204606" y="842433"/>
                  </a:lnTo>
                  <a:lnTo>
                    <a:pt x="214514" y="787225"/>
                  </a:lnTo>
                  <a:lnTo>
                    <a:pt x="222113" y="729265"/>
                  </a:lnTo>
                  <a:lnTo>
                    <a:pt x="227274" y="668951"/>
                  </a:lnTo>
                  <a:lnTo>
                    <a:pt x="229870" y="606678"/>
                  </a:lnTo>
                </a:path>
              </a:pathLst>
            </a:custGeom>
            <a:ln w="12700">
              <a:solidFill>
                <a:srgbClr val="4F3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10419968" y="1618310"/>
            <a:ext cx="1340485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ahoma"/>
                <a:cs typeface="Tahoma"/>
              </a:rPr>
              <a:t>Each</a:t>
            </a:r>
            <a:r>
              <a:rPr sz="1050" spc="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token</a:t>
            </a:r>
            <a:r>
              <a:rPr sz="1050" spc="35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is </a:t>
            </a:r>
            <a:r>
              <a:rPr sz="1050" spc="10" dirty="0">
                <a:latin typeface="Tahoma"/>
                <a:cs typeface="Tahoma"/>
              </a:rPr>
              <a:t>converted</a:t>
            </a:r>
            <a:r>
              <a:rPr sz="1050" spc="30" dirty="0">
                <a:latin typeface="Tahoma"/>
                <a:cs typeface="Tahoma"/>
              </a:rPr>
              <a:t> </a:t>
            </a:r>
            <a:r>
              <a:rPr sz="1050" spc="10" dirty="0">
                <a:latin typeface="Tahoma"/>
                <a:cs typeface="Tahoma"/>
              </a:rPr>
              <a:t>into</a:t>
            </a:r>
            <a:r>
              <a:rPr sz="1050" spc="60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its </a:t>
            </a:r>
            <a:r>
              <a:rPr sz="1050" spc="10" dirty="0">
                <a:latin typeface="Tahoma"/>
                <a:cs typeface="Tahoma"/>
              </a:rPr>
              <a:t>position</a:t>
            </a:r>
            <a:r>
              <a:rPr sz="1050" spc="5" dirty="0">
                <a:latin typeface="Tahoma"/>
                <a:cs typeface="Tahoma"/>
              </a:rPr>
              <a:t> </a:t>
            </a:r>
            <a:r>
              <a:rPr sz="1050" spc="10" dirty="0">
                <a:latin typeface="Tahoma"/>
                <a:cs typeface="Tahoma"/>
              </a:rPr>
              <a:t>in</a:t>
            </a:r>
            <a:r>
              <a:rPr sz="1050" spc="65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the </a:t>
            </a:r>
            <a:r>
              <a:rPr sz="1050" spc="10" dirty="0">
                <a:latin typeface="Tahoma"/>
                <a:cs typeface="Tahoma"/>
              </a:rPr>
              <a:t>vocabulary</a:t>
            </a:r>
            <a:r>
              <a:rPr sz="1050" spc="5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(input_id), </a:t>
            </a:r>
            <a:r>
              <a:rPr sz="1050" dirty="0">
                <a:latin typeface="Tahoma"/>
                <a:cs typeface="Tahoma"/>
              </a:rPr>
              <a:t>then we</a:t>
            </a:r>
            <a:r>
              <a:rPr sz="1050" spc="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transform </a:t>
            </a:r>
            <a:r>
              <a:rPr sz="1050" dirty="0">
                <a:latin typeface="Tahoma"/>
                <a:cs typeface="Tahoma"/>
              </a:rPr>
              <a:t>each</a:t>
            </a:r>
            <a:r>
              <a:rPr sz="1050" spc="7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input_id</a:t>
            </a:r>
            <a:r>
              <a:rPr sz="1050" spc="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into</a:t>
            </a:r>
            <a:r>
              <a:rPr sz="1050" spc="65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an </a:t>
            </a:r>
            <a:r>
              <a:rPr sz="1050" spc="60" dirty="0">
                <a:latin typeface="Tahoma"/>
                <a:cs typeface="Tahoma"/>
              </a:rPr>
              <a:t>embedding</a:t>
            </a:r>
            <a:r>
              <a:rPr sz="1050" dirty="0">
                <a:latin typeface="Tahoma"/>
                <a:cs typeface="Tahoma"/>
              </a:rPr>
              <a:t> vector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of </a:t>
            </a:r>
            <a:r>
              <a:rPr sz="1050" dirty="0">
                <a:latin typeface="Tahoma"/>
                <a:cs typeface="Tahoma"/>
              </a:rPr>
              <a:t>size</a:t>
            </a:r>
            <a:r>
              <a:rPr sz="1050" spc="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512.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10004806" y="3128517"/>
            <a:ext cx="243204" cy="1238250"/>
            <a:chOff x="10004806" y="3128517"/>
            <a:chExt cx="243204" cy="1238250"/>
          </a:xfrm>
        </p:grpSpPr>
        <p:sp>
          <p:nvSpPr>
            <p:cNvPr id="113" name="object 113"/>
            <p:cNvSpPr/>
            <p:nvPr/>
          </p:nvSpPr>
          <p:spPr>
            <a:xfrm>
              <a:off x="10011156" y="3742308"/>
              <a:ext cx="229870" cy="617855"/>
            </a:xfrm>
            <a:custGeom>
              <a:avLst/>
              <a:gdLst/>
              <a:ahLst/>
              <a:cxnLst/>
              <a:rect l="l" t="t" r="r" b="b"/>
              <a:pathLst>
                <a:path w="229870" h="617854">
                  <a:moveTo>
                    <a:pt x="229870" y="0"/>
                  </a:moveTo>
                  <a:lnTo>
                    <a:pt x="227274" y="62364"/>
                  </a:lnTo>
                  <a:lnTo>
                    <a:pt x="222113" y="122766"/>
                  </a:lnTo>
                  <a:lnTo>
                    <a:pt x="214514" y="180808"/>
                  </a:lnTo>
                  <a:lnTo>
                    <a:pt x="204606" y="236093"/>
                  </a:lnTo>
                  <a:lnTo>
                    <a:pt x="192515" y="288223"/>
                  </a:lnTo>
                  <a:lnTo>
                    <a:pt x="178371" y="336804"/>
                  </a:lnTo>
                  <a:lnTo>
                    <a:pt x="162300" y="381436"/>
                  </a:lnTo>
                  <a:lnTo>
                    <a:pt x="144431" y="421724"/>
                  </a:lnTo>
                  <a:lnTo>
                    <a:pt x="124892" y="457271"/>
                  </a:lnTo>
                  <a:lnTo>
                    <a:pt x="81314" y="512553"/>
                  </a:lnTo>
                  <a:lnTo>
                    <a:pt x="57530" y="531495"/>
                  </a:lnTo>
                  <a:lnTo>
                    <a:pt x="57530" y="502666"/>
                  </a:lnTo>
                  <a:lnTo>
                    <a:pt x="0" y="578612"/>
                  </a:lnTo>
                  <a:lnTo>
                    <a:pt x="57530" y="617728"/>
                  </a:lnTo>
                  <a:lnTo>
                    <a:pt x="57530" y="589026"/>
                  </a:lnTo>
                  <a:lnTo>
                    <a:pt x="81324" y="570089"/>
                  </a:lnTo>
                  <a:lnTo>
                    <a:pt x="124836" y="514950"/>
                  </a:lnTo>
                  <a:lnTo>
                    <a:pt x="144316" y="479563"/>
                  </a:lnTo>
                  <a:lnTo>
                    <a:pt x="162119" y="439509"/>
                  </a:lnTo>
                  <a:lnTo>
                    <a:pt x="178127" y="395196"/>
                  </a:lnTo>
                  <a:lnTo>
                    <a:pt x="192219" y="347031"/>
                  </a:lnTo>
                  <a:lnTo>
                    <a:pt x="204276" y="295423"/>
                  </a:lnTo>
                  <a:lnTo>
                    <a:pt x="214180" y="240778"/>
                  </a:lnTo>
                  <a:lnTo>
                    <a:pt x="221810" y="183506"/>
                  </a:lnTo>
                  <a:lnTo>
                    <a:pt x="227048" y="124013"/>
                  </a:lnTo>
                  <a:lnTo>
                    <a:pt x="229774" y="62709"/>
                  </a:lnTo>
                  <a:lnTo>
                    <a:pt x="229870" y="0"/>
                  </a:lnTo>
                  <a:close/>
                </a:path>
              </a:pathLst>
            </a:custGeom>
            <a:solidFill>
              <a:srgbClr val="C09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0011156" y="3134867"/>
              <a:ext cx="230504" cy="636270"/>
            </a:xfrm>
            <a:custGeom>
              <a:avLst/>
              <a:gdLst/>
              <a:ahLst/>
              <a:cxnLst/>
              <a:rect l="l" t="t" r="r" b="b"/>
              <a:pathLst>
                <a:path w="230504" h="636270">
                  <a:moveTo>
                    <a:pt x="0" y="0"/>
                  </a:moveTo>
                  <a:lnTo>
                    <a:pt x="0" y="57531"/>
                  </a:lnTo>
                  <a:lnTo>
                    <a:pt x="26843" y="61424"/>
                  </a:lnTo>
                  <a:lnTo>
                    <a:pt x="52775" y="72813"/>
                  </a:lnTo>
                  <a:lnTo>
                    <a:pt x="101217" y="116346"/>
                  </a:lnTo>
                  <a:lnTo>
                    <a:pt x="123381" y="147620"/>
                  </a:lnTo>
                  <a:lnTo>
                    <a:pt x="143944" y="184653"/>
                  </a:lnTo>
                  <a:lnTo>
                    <a:pt x="162734" y="227012"/>
                  </a:lnTo>
                  <a:lnTo>
                    <a:pt x="179578" y="274261"/>
                  </a:lnTo>
                  <a:lnTo>
                    <a:pt x="194304" y="325967"/>
                  </a:lnTo>
                  <a:lnTo>
                    <a:pt x="206739" y="381695"/>
                  </a:lnTo>
                  <a:lnTo>
                    <a:pt x="216711" y="441011"/>
                  </a:lnTo>
                  <a:lnTo>
                    <a:pt x="224047" y="503480"/>
                  </a:lnTo>
                  <a:lnTo>
                    <a:pt x="228576" y="568669"/>
                  </a:lnTo>
                  <a:lnTo>
                    <a:pt x="230124" y="636143"/>
                  </a:lnTo>
                  <a:lnTo>
                    <a:pt x="230124" y="578612"/>
                  </a:lnTo>
                  <a:lnTo>
                    <a:pt x="228576" y="511138"/>
                  </a:lnTo>
                  <a:lnTo>
                    <a:pt x="224047" y="445949"/>
                  </a:lnTo>
                  <a:lnTo>
                    <a:pt x="216711" y="383480"/>
                  </a:lnTo>
                  <a:lnTo>
                    <a:pt x="206739" y="324164"/>
                  </a:lnTo>
                  <a:lnTo>
                    <a:pt x="194304" y="268436"/>
                  </a:lnTo>
                  <a:lnTo>
                    <a:pt x="179578" y="216730"/>
                  </a:lnTo>
                  <a:lnTo>
                    <a:pt x="162734" y="169481"/>
                  </a:lnTo>
                  <a:lnTo>
                    <a:pt x="143944" y="127122"/>
                  </a:lnTo>
                  <a:lnTo>
                    <a:pt x="123381" y="90089"/>
                  </a:lnTo>
                  <a:lnTo>
                    <a:pt x="101217" y="58815"/>
                  </a:lnTo>
                  <a:lnTo>
                    <a:pt x="52775" y="15282"/>
                  </a:lnTo>
                  <a:lnTo>
                    <a:pt x="26843" y="38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79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0011156" y="3134867"/>
              <a:ext cx="230504" cy="1225550"/>
            </a:xfrm>
            <a:custGeom>
              <a:avLst/>
              <a:gdLst/>
              <a:ahLst/>
              <a:cxnLst/>
              <a:rect l="l" t="t" r="r" b="b"/>
              <a:pathLst>
                <a:path w="230504" h="1225550">
                  <a:moveTo>
                    <a:pt x="230124" y="636143"/>
                  </a:moveTo>
                  <a:lnTo>
                    <a:pt x="228576" y="568669"/>
                  </a:lnTo>
                  <a:lnTo>
                    <a:pt x="224047" y="503480"/>
                  </a:lnTo>
                  <a:lnTo>
                    <a:pt x="216711" y="441011"/>
                  </a:lnTo>
                  <a:lnTo>
                    <a:pt x="206739" y="381695"/>
                  </a:lnTo>
                  <a:lnTo>
                    <a:pt x="194304" y="325967"/>
                  </a:lnTo>
                  <a:lnTo>
                    <a:pt x="179578" y="274261"/>
                  </a:lnTo>
                  <a:lnTo>
                    <a:pt x="162734" y="227012"/>
                  </a:lnTo>
                  <a:lnTo>
                    <a:pt x="143944" y="184653"/>
                  </a:lnTo>
                  <a:lnTo>
                    <a:pt x="123381" y="147620"/>
                  </a:lnTo>
                  <a:lnTo>
                    <a:pt x="101217" y="116346"/>
                  </a:lnTo>
                  <a:lnTo>
                    <a:pt x="52775" y="72813"/>
                  </a:lnTo>
                  <a:lnTo>
                    <a:pt x="0" y="57531"/>
                  </a:lnTo>
                  <a:lnTo>
                    <a:pt x="0" y="0"/>
                  </a:lnTo>
                  <a:lnTo>
                    <a:pt x="52775" y="15282"/>
                  </a:lnTo>
                  <a:lnTo>
                    <a:pt x="101217" y="58815"/>
                  </a:lnTo>
                  <a:lnTo>
                    <a:pt x="123381" y="90089"/>
                  </a:lnTo>
                  <a:lnTo>
                    <a:pt x="143944" y="127122"/>
                  </a:lnTo>
                  <a:lnTo>
                    <a:pt x="162734" y="169481"/>
                  </a:lnTo>
                  <a:lnTo>
                    <a:pt x="179578" y="216730"/>
                  </a:lnTo>
                  <a:lnTo>
                    <a:pt x="194304" y="268436"/>
                  </a:lnTo>
                  <a:lnTo>
                    <a:pt x="206739" y="324164"/>
                  </a:lnTo>
                  <a:lnTo>
                    <a:pt x="216711" y="383480"/>
                  </a:lnTo>
                  <a:lnTo>
                    <a:pt x="224047" y="445949"/>
                  </a:lnTo>
                  <a:lnTo>
                    <a:pt x="228576" y="511138"/>
                  </a:lnTo>
                  <a:lnTo>
                    <a:pt x="230124" y="578612"/>
                  </a:lnTo>
                  <a:lnTo>
                    <a:pt x="230124" y="636143"/>
                  </a:lnTo>
                  <a:lnTo>
                    <a:pt x="228668" y="701345"/>
                  </a:lnTo>
                  <a:lnTo>
                    <a:pt x="224394" y="764696"/>
                  </a:lnTo>
                  <a:lnTo>
                    <a:pt x="217443" y="825742"/>
                  </a:lnTo>
                  <a:lnTo>
                    <a:pt x="207955" y="884028"/>
                  </a:lnTo>
                  <a:lnTo>
                    <a:pt x="196069" y="939100"/>
                  </a:lnTo>
                  <a:lnTo>
                    <a:pt x="181927" y="990504"/>
                  </a:lnTo>
                  <a:lnTo>
                    <a:pt x="165668" y="1037786"/>
                  </a:lnTo>
                  <a:lnTo>
                    <a:pt x="147432" y="1080492"/>
                  </a:lnTo>
                  <a:lnTo>
                    <a:pt x="127361" y="1118167"/>
                  </a:lnTo>
                  <a:lnTo>
                    <a:pt x="105593" y="1150357"/>
                  </a:lnTo>
                  <a:lnTo>
                    <a:pt x="57530" y="1196467"/>
                  </a:lnTo>
                  <a:lnTo>
                    <a:pt x="57530" y="1225169"/>
                  </a:lnTo>
                  <a:lnTo>
                    <a:pt x="0" y="1186053"/>
                  </a:lnTo>
                  <a:lnTo>
                    <a:pt x="57530" y="1110107"/>
                  </a:lnTo>
                  <a:lnTo>
                    <a:pt x="57530" y="1138936"/>
                  </a:lnTo>
                  <a:lnTo>
                    <a:pt x="81314" y="1119994"/>
                  </a:lnTo>
                  <a:lnTo>
                    <a:pt x="124892" y="1064712"/>
                  </a:lnTo>
                  <a:lnTo>
                    <a:pt x="144431" y="1029165"/>
                  </a:lnTo>
                  <a:lnTo>
                    <a:pt x="162300" y="988877"/>
                  </a:lnTo>
                  <a:lnTo>
                    <a:pt x="178371" y="944245"/>
                  </a:lnTo>
                  <a:lnTo>
                    <a:pt x="192515" y="895664"/>
                  </a:lnTo>
                  <a:lnTo>
                    <a:pt x="204606" y="843534"/>
                  </a:lnTo>
                  <a:lnTo>
                    <a:pt x="214514" y="788249"/>
                  </a:lnTo>
                  <a:lnTo>
                    <a:pt x="222113" y="730207"/>
                  </a:lnTo>
                  <a:lnTo>
                    <a:pt x="227274" y="669805"/>
                  </a:lnTo>
                  <a:lnTo>
                    <a:pt x="229870" y="607441"/>
                  </a:lnTo>
                </a:path>
              </a:pathLst>
            </a:custGeom>
            <a:ln w="12700">
              <a:solidFill>
                <a:srgbClr val="4F3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10434955" y="3090164"/>
            <a:ext cx="1371600" cy="986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60" dirty="0">
                <a:latin typeface="Tahoma"/>
                <a:cs typeface="Tahoma"/>
              </a:rPr>
              <a:t>We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60" dirty="0">
                <a:latin typeface="Tahoma"/>
                <a:cs typeface="Tahoma"/>
              </a:rPr>
              <a:t>add</a:t>
            </a:r>
            <a:r>
              <a:rPr sz="1050" spc="-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each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token </a:t>
            </a:r>
            <a:r>
              <a:rPr sz="1050" dirty="0">
                <a:latin typeface="Tahoma"/>
                <a:cs typeface="Tahoma"/>
              </a:rPr>
              <a:t>a vector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of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size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512 </a:t>
            </a:r>
            <a:r>
              <a:rPr sz="1050" dirty="0">
                <a:latin typeface="Tahoma"/>
                <a:cs typeface="Tahoma"/>
              </a:rPr>
              <a:t>that</a:t>
            </a:r>
            <a:r>
              <a:rPr sz="1050" spc="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indicates</a:t>
            </a:r>
            <a:r>
              <a:rPr sz="1050" spc="35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its </a:t>
            </a:r>
            <a:r>
              <a:rPr sz="1050" spc="10" dirty="0">
                <a:latin typeface="Tahoma"/>
                <a:cs typeface="Tahoma"/>
              </a:rPr>
              <a:t>position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spc="10" dirty="0">
                <a:latin typeface="Tahoma"/>
                <a:cs typeface="Tahoma"/>
              </a:rPr>
              <a:t>in</a:t>
            </a:r>
            <a:r>
              <a:rPr sz="1050" spc="35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the </a:t>
            </a:r>
            <a:r>
              <a:rPr sz="1050" dirty="0">
                <a:latin typeface="Tahoma"/>
                <a:cs typeface="Tahoma"/>
              </a:rPr>
              <a:t>sentence</a:t>
            </a:r>
            <a:r>
              <a:rPr sz="1050" spc="12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(positional encoding)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16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16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79DBD6F-A0AF-E2D4-270E-B28880D12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40C262AA-1585-7A0D-B7D1-C25E2232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889F6-740B-4BB2-A9AC-A15A70B33793}" type="datetime1">
              <a:rPr lang="en-US" smtClean="0"/>
              <a:t>5/12/2025</a:t>
            </a:fld>
            <a:endParaRPr lang="en-US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D7DBC134-FEF9-85CA-12E3-13635509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1A04D6BB-4024-3BA2-729C-0B02E2BF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0" dirty="0"/>
              <a:t>How</a:t>
            </a:r>
            <a:r>
              <a:rPr sz="4400" spc="-20" dirty="0"/>
              <a:t> to</a:t>
            </a:r>
            <a:r>
              <a:rPr sz="4400" spc="-229" dirty="0"/>
              <a:t> </a:t>
            </a:r>
            <a:r>
              <a:rPr sz="4400" spc="-340" dirty="0"/>
              <a:t>compute</a:t>
            </a:r>
            <a:r>
              <a:rPr sz="4400" spc="-45" dirty="0"/>
              <a:t> </a:t>
            </a:r>
            <a:r>
              <a:rPr sz="4400" spc="-195" dirty="0"/>
              <a:t>positional</a:t>
            </a:r>
            <a:r>
              <a:rPr sz="4400" spc="-100" dirty="0"/>
              <a:t> </a:t>
            </a:r>
            <a:r>
              <a:rPr sz="4400" spc="-390" dirty="0"/>
              <a:t>encodings?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63167" y="2709926"/>
            <a:ext cx="803275" cy="212090"/>
          </a:xfrm>
          <a:custGeom>
            <a:avLst/>
            <a:gdLst/>
            <a:ahLst/>
            <a:cxnLst/>
            <a:rect l="l" t="t" r="r" b="b"/>
            <a:pathLst>
              <a:path w="803275" h="212089">
                <a:moveTo>
                  <a:pt x="735431" y="0"/>
                </a:moveTo>
                <a:lnTo>
                  <a:pt x="732383" y="8509"/>
                </a:lnTo>
                <a:lnTo>
                  <a:pt x="744668" y="13819"/>
                </a:lnTo>
                <a:lnTo>
                  <a:pt x="755227" y="21177"/>
                </a:lnTo>
                <a:lnTo>
                  <a:pt x="776619" y="55322"/>
                </a:lnTo>
                <a:lnTo>
                  <a:pt x="783691" y="104775"/>
                </a:lnTo>
                <a:lnTo>
                  <a:pt x="782905" y="123444"/>
                </a:lnTo>
                <a:lnTo>
                  <a:pt x="771118" y="169163"/>
                </a:lnTo>
                <a:lnTo>
                  <a:pt x="744811" y="197738"/>
                </a:lnTo>
                <a:lnTo>
                  <a:pt x="732764" y="203073"/>
                </a:lnTo>
                <a:lnTo>
                  <a:pt x="735431" y="211709"/>
                </a:lnTo>
                <a:lnTo>
                  <a:pt x="775900" y="187652"/>
                </a:lnTo>
                <a:lnTo>
                  <a:pt x="798629" y="143271"/>
                </a:lnTo>
                <a:lnTo>
                  <a:pt x="802995" y="105918"/>
                </a:lnTo>
                <a:lnTo>
                  <a:pt x="801900" y="86465"/>
                </a:lnTo>
                <a:lnTo>
                  <a:pt x="785469" y="37084"/>
                </a:lnTo>
                <a:lnTo>
                  <a:pt x="750786" y="5526"/>
                </a:lnTo>
                <a:lnTo>
                  <a:pt x="735431" y="0"/>
                </a:lnTo>
                <a:close/>
              </a:path>
              <a:path w="803275" h="212089">
                <a:moveTo>
                  <a:pt x="67538" y="0"/>
                </a:moveTo>
                <a:lnTo>
                  <a:pt x="27140" y="24056"/>
                </a:lnTo>
                <a:lnTo>
                  <a:pt x="4373" y="68500"/>
                </a:lnTo>
                <a:lnTo>
                  <a:pt x="0" y="105918"/>
                </a:lnTo>
                <a:lnTo>
                  <a:pt x="1087" y="125350"/>
                </a:lnTo>
                <a:lnTo>
                  <a:pt x="17373" y="174625"/>
                </a:lnTo>
                <a:lnTo>
                  <a:pt x="52127" y="206182"/>
                </a:lnTo>
                <a:lnTo>
                  <a:pt x="67538" y="211709"/>
                </a:lnTo>
                <a:lnTo>
                  <a:pt x="70205" y="203073"/>
                </a:lnTo>
                <a:lnTo>
                  <a:pt x="58158" y="197739"/>
                </a:lnTo>
                <a:lnTo>
                  <a:pt x="47742" y="190309"/>
                </a:lnTo>
                <a:lnTo>
                  <a:pt x="26350" y="155638"/>
                </a:lnTo>
                <a:lnTo>
                  <a:pt x="19278" y="104775"/>
                </a:lnTo>
                <a:lnTo>
                  <a:pt x="20064" y="86703"/>
                </a:lnTo>
                <a:lnTo>
                  <a:pt x="31851" y="42037"/>
                </a:lnTo>
                <a:lnTo>
                  <a:pt x="58372" y="13819"/>
                </a:lnTo>
                <a:lnTo>
                  <a:pt x="70586" y="8509"/>
                </a:lnTo>
                <a:lnTo>
                  <a:pt x="67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7971" y="2639695"/>
            <a:ext cx="1057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𝑃𝐸</a:t>
            </a:r>
            <a:r>
              <a:rPr sz="1800" spc="4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𝑝𝑜𝑠,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2𝑖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7410" y="2639695"/>
            <a:ext cx="600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0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sin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62504" y="2807207"/>
            <a:ext cx="1207135" cy="15240"/>
          </a:xfrm>
          <a:custGeom>
            <a:avLst/>
            <a:gdLst/>
            <a:ahLst/>
            <a:cxnLst/>
            <a:rect l="l" t="t" r="r" b="b"/>
            <a:pathLst>
              <a:path w="1207135" h="15239">
                <a:moveTo>
                  <a:pt x="1207008" y="0"/>
                </a:moveTo>
                <a:lnTo>
                  <a:pt x="0" y="0"/>
                </a:lnTo>
                <a:lnTo>
                  <a:pt x="0" y="15239"/>
                </a:lnTo>
                <a:lnTo>
                  <a:pt x="1207008" y="15239"/>
                </a:lnTo>
                <a:lnTo>
                  <a:pt x="12070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73983" y="2465959"/>
            <a:ext cx="380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𝑝𝑜𝑠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24911" y="2785999"/>
            <a:ext cx="1273810" cy="4552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0">
              <a:lnSpc>
                <a:spcPts val="1380"/>
              </a:lnSpc>
              <a:spcBef>
                <a:spcPts val="120"/>
              </a:spcBef>
              <a:tabLst>
                <a:tab pos="873125" algn="l"/>
                <a:tab pos="1235075" algn="l"/>
              </a:tabLst>
            </a:pPr>
            <a:r>
              <a:rPr sz="13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2𝑖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ts val="1980"/>
              </a:lnSpc>
            </a:pPr>
            <a:r>
              <a:rPr sz="2700" spc="67" baseline="-7716" dirty="0">
                <a:latin typeface="Cambria Math"/>
                <a:cs typeface="Cambria Math"/>
              </a:rPr>
              <a:t>10000</a:t>
            </a:r>
            <a:r>
              <a:rPr sz="1950" spc="67" baseline="12820" dirty="0">
                <a:latin typeface="Cambria Math"/>
                <a:cs typeface="Cambria Math"/>
              </a:rPr>
              <a:t>𝑑</a:t>
            </a:r>
            <a:r>
              <a:rPr sz="1050" spc="45" dirty="0">
                <a:latin typeface="Cambria Math"/>
                <a:cs typeface="Cambria Math"/>
              </a:rPr>
              <a:t>𝑚𝑜𝑑𝑒𝑙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8151" y="4274946"/>
            <a:ext cx="1202690" cy="212090"/>
          </a:xfrm>
          <a:custGeom>
            <a:avLst/>
            <a:gdLst/>
            <a:ahLst/>
            <a:cxnLst/>
            <a:rect l="l" t="t" r="r" b="b"/>
            <a:pathLst>
              <a:path w="1202689" h="212089">
                <a:moveTo>
                  <a:pt x="1134732" y="0"/>
                </a:moveTo>
                <a:lnTo>
                  <a:pt x="1131684" y="8635"/>
                </a:lnTo>
                <a:lnTo>
                  <a:pt x="1143969" y="13946"/>
                </a:lnTo>
                <a:lnTo>
                  <a:pt x="1154528" y="21304"/>
                </a:lnTo>
                <a:lnTo>
                  <a:pt x="1175919" y="55429"/>
                </a:lnTo>
                <a:lnTo>
                  <a:pt x="1182992" y="104775"/>
                </a:lnTo>
                <a:lnTo>
                  <a:pt x="1182206" y="123443"/>
                </a:lnTo>
                <a:lnTo>
                  <a:pt x="1170419" y="169163"/>
                </a:lnTo>
                <a:lnTo>
                  <a:pt x="1144112" y="197792"/>
                </a:lnTo>
                <a:lnTo>
                  <a:pt x="1132065" y="203200"/>
                </a:lnTo>
                <a:lnTo>
                  <a:pt x="1134732" y="211708"/>
                </a:lnTo>
                <a:lnTo>
                  <a:pt x="1175201" y="187706"/>
                </a:lnTo>
                <a:lnTo>
                  <a:pt x="1197930" y="143335"/>
                </a:lnTo>
                <a:lnTo>
                  <a:pt x="1202296" y="105917"/>
                </a:lnTo>
                <a:lnTo>
                  <a:pt x="1201200" y="86483"/>
                </a:lnTo>
                <a:lnTo>
                  <a:pt x="1184770" y="37083"/>
                </a:lnTo>
                <a:lnTo>
                  <a:pt x="1150087" y="5526"/>
                </a:lnTo>
                <a:lnTo>
                  <a:pt x="1134732" y="0"/>
                </a:lnTo>
                <a:close/>
              </a:path>
              <a:path w="1202689" h="212089">
                <a:moveTo>
                  <a:pt x="67525" y="0"/>
                </a:moveTo>
                <a:lnTo>
                  <a:pt x="27142" y="24056"/>
                </a:lnTo>
                <a:lnTo>
                  <a:pt x="4364" y="68548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28" y="206184"/>
                </a:lnTo>
                <a:lnTo>
                  <a:pt x="67525" y="211708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0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64" y="42163"/>
                </a:lnTo>
                <a:lnTo>
                  <a:pt x="58330" y="13946"/>
                </a:lnTo>
                <a:lnTo>
                  <a:pt x="70548" y="8635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2891" y="4204538"/>
            <a:ext cx="14662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𝑃𝐸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𝑝𝑜𝑠,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2𝑖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 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31567" y="4204538"/>
            <a:ext cx="6407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0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c𝑜𝑠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02508" y="4372228"/>
            <a:ext cx="1207135" cy="15240"/>
          </a:xfrm>
          <a:custGeom>
            <a:avLst/>
            <a:gdLst/>
            <a:ahLst/>
            <a:cxnLst/>
            <a:rect l="l" t="t" r="r" b="b"/>
            <a:pathLst>
              <a:path w="1207135" h="15239">
                <a:moveTo>
                  <a:pt x="1207008" y="0"/>
                </a:moveTo>
                <a:lnTo>
                  <a:pt x="0" y="0"/>
                </a:lnTo>
                <a:lnTo>
                  <a:pt x="0" y="15240"/>
                </a:lnTo>
                <a:lnTo>
                  <a:pt x="1207008" y="15240"/>
                </a:lnTo>
                <a:lnTo>
                  <a:pt x="12070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13861" y="4031107"/>
            <a:ext cx="380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𝑝𝑜𝑠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4789" y="4350842"/>
            <a:ext cx="127254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1195">
              <a:lnSpc>
                <a:spcPts val="1385"/>
              </a:lnSpc>
              <a:spcBef>
                <a:spcPts val="120"/>
              </a:spcBef>
              <a:tabLst>
                <a:tab pos="871219" algn="l"/>
                <a:tab pos="1233805" algn="l"/>
              </a:tabLst>
            </a:pPr>
            <a:r>
              <a:rPr sz="13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300" u="sng" spc="-2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2𝑖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ts val="1985"/>
              </a:lnSpc>
            </a:pPr>
            <a:r>
              <a:rPr sz="2700" spc="67" baseline="-7716" dirty="0">
                <a:latin typeface="Cambria Math"/>
                <a:cs typeface="Cambria Math"/>
              </a:rPr>
              <a:t>10000</a:t>
            </a:r>
            <a:r>
              <a:rPr sz="1950" spc="67" baseline="12820" dirty="0">
                <a:latin typeface="Cambria Math"/>
                <a:cs typeface="Cambria Math"/>
              </a:rPr>
              <a:t>𝑑</a:t>
            </a:r>
            <a:r>
              <a:rPr sz="1050" spc="45" dirty="0">
                <a:latin typeface="Cambria Math"/>
                <a:cs typeface="Cambria Math"/>
              </a:rPr>
              <a:t>𝑚𝑜𝑑𝑒𝑙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2150" y="2216657"/>
            <a:ext cx="1097280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83820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660"/>
              </a:spcBef>
            </a:pPr>
            <a:r>
              <a:rPr sz="1200" spc="-10" dirty="0">
                <a:latin typeface="Tahoma"/>
                <a:cs typeface="Tahoma"/>
              </a:rPr>
              <a:t>BEFORE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85126" y="2216657"/>
            <a:ext cx="1097280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1200" spc="55" dirty="0">
                <a:latin typeface="Tahoma"/>
                <a:cs typeface="Tahoma"/>
              </a:rPr>
              <a:t>MY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1641" y="2832989"/>
            <a:ext cx="1097280" cy="1097280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768466" y="2829814"/>
          <a:ext cx="109728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2)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3982" y="2832989"/>
            <a:ext cx="1097279" cy="1097280"/>
          </a:xfrm>
          <a:prstGeom prst="rect">
            <a:avLst/>
          </a:prstGeom>
        </p:spPr>
      </p:pic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480807" y="2829814"/>
          <a:ext cx="109728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2)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1" name="object 21"/>
          <p:cNvGrpSpPr/>
          <p:nvPr/>
        </p:nvGrpSpPr>
        <p:grpSpPr>
          <a:xfrm>
            <a:off x="4011676" y="2869310"/>
            <a:ext cx="1755775" cy="1593215"/>
            <a:chOff x="4011676" y="2869310"/>
            <a:chExt cx="1755775" cy="1593215"/>
          </a:xfrm>
        </p:grpSpPr>
        <p:sp>
          <p:nvSpPr>
            <p:cNvPr id="22" name="object 22"/>
            <p:cNvSpPr/>
            <p:nvPr/>
          </p:nvSpPr>
          <p:spPr>
            <a:xfrm>
              <a:off x="4011676" y="2869310"/>
              <a:ext cx="1755775" cy="774700"/>
            </a:xfrm>
            <a:custGeom>
              <a:avLst/>
              <a:gdLst/>
              <a:ahLst/>
              <a:cxnLst/>
              <a:rect l="l" t="t" r="r" b="b"/>
              <a:pathLst>
                <a:path w="1755775" h="774700">
                  <a:moveTo>
                    <a:pt x="1743570" y="44577"/>
                  </a:moveTo>
                  <a:lnTo>
                    <a:pt x="1691894" y="44577"/>
                  </a:lnTo>
                  <a:lnTo>
                    <a:pt x="1679244" y="44577"/>
                  </a:lnTo>
                  <a:lnTo>
                    <a:pt x="1678940" y="76200"/>
                  </a:lnTo>
                  <a:lnTo>
                    <a:pt x="1743570" y="44577"/>
                  </a:lnTo>
                  <a:close/>
                </a:path>
                <a:path w="1755775" h="774700">
                  <a:moveTo>
                    <a:pt x="1755521" y="38735"/>
                  </a:moveTo>
                  <a:lnTo>
                    <a:pt x="1679702" y="0"/>
                  </a:lnTo>
                  <a:lnTo>
                    <a:pt x="1679371" y="31762"/>
                  </a:lnTo>
                  <a:lnTo>
                    <a:pt x="2540" y="15367"/>
                  </a:lnTo>
                  <a:lnTo>
                    <a:pt x="2540" y="21717"/>
                  </a:lnTo>
                  <a:lnTo>
                    <a:pt x="0" y="27559"/>
                  </a:lnTo>
                  <a:lnTo>
                    <a:pt x="1662671" y="745274"/>
                  </a:lnTo>
                  <a:lnTo>
                    <a:pt x="1650111" y="774319"/>
                  </a:lnTo>
                  <a:lnTo>
                    <a:pt x="1735201" y="769620"/>
                  </a:lnTo>
                  <a:lnTo>
                    <a:pt x="1718945" y="750316"/>
                  </a:lnTo>
                  <a:lnTo>
                    <a:pt x="1680337" y="704469"/>
                  </a:lnTo>
                  <a:lnTo>
                    <a:pt x="1667713" y="733628"/>
                  </a:lnTo>
                  <a:lnTo>
                    <a:pt x="65532" y="41986"/>
                  </a:lnTo>
                  <a:lnTo>
                    <a:pt x="1638973" y="384911"/>
                  </a:lnTo>
                  <a:lnTo>
                    <a:pt x="1632204" y="415925"/>
                  </a:lnTo>
                  <a:lnTo>
                    <a:pt x="1714754" y="394970"/>
                  </a:lnTo>
                  <a:lnTo>
                    <a:pt x="1705610" y="387604"/>
                  </a:lnTo>
                  <a:lnTo>
                    <a:pt x="1648460" y="341503"/>
                  </a:lnTo>
                  <a:lnTo>
                    <a:pt x="1641690" y="372478"/>
                  </a:lnTo>
                  <a:lnTo>
                    <a:pt x="64389" y="28676"/>
                  </a:lnTo>
                  <a:lnTo>
                    <a:pt x="1679244" y="44462"/>
                  </a:lnTo>
                  <a:lnTo>
                    <a:pt x="1691894" y="44577"/>
                  </a:lnTo>
                  <a:lnTo>
                    <a:pt x="1743824" y="44462"/>
                  </a:lnTo>
                  <a:lnTo>
                    <a:pt x="1755521" y="38735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51427" y="3098291"/>
              <a:ext cx="1696085" cy="1363980"/>
            </a:xfrm>
            <a:custGeom>
              <a:avLst/>
              <a:gdLst/>
              <a:ahLst/>
              <a:cxnLst/>
              <a:rect l="l" t="t" r="r" b="b"/>
              <a:pathLst>
                <a:path w="1696085" h="1363979">
                  <a:moveTo>
                    <a:pt x="1695831" y="0"/>
                  </a:moveTo>
                  <a:lnTo>
                    <a:pt x="1612519" y="18034"/>
                  </a:lnTo>
                  <a:lnTo>
                    <a:pt x="1632407" y="42799"/>
                  </a:lnTo>
                  <a:lnTo>
                    <a:pt x="0" y="1352931"/>
                  </a:lnTo>
                  <a:lnTo>
                    <a:pt x="3886" y="1357833"/>
                  </a:lnTo>
                  <a:lnTo>
                    <a:pt x="6223" y="1363853"/>
                  </a:lnTo>
                  <a:lnTo>
                    <a:pt x="1626755" y="753668"/>
                  </a:lnTo>
                  <a:lnTo>
                    <a:pt x="1637919" y="783336"/>
                  </a:lnTo>
                  <a:lnTo>
                    <a:pt x="1680641" y="737235"/>
                  </a:lnTo>
                  <a:lnTo>
                    <a:pt x="1695831" y="720852"/>
                  </a:lnTo>
                  <a:lnTo>
                    <a:pt x="1611122" y="712089"/>
                  </a:lnTo>
                  <a:lnTo>
                    <a:pt x="1622272" y="741743"/>
                  </a:lnTo>
                  <a:lnTo>
                    <a:pt x="38709" y="1338084"/>
                  </a:lnTo>
                  <a:lnTo>
                    <a:pt x="1640332" y="52654"/>
                  </a:lnTo>
                  <a:lnTo>
                    <a:pt x="1660271" y="77470"/>
                  </a:lnTo>
                  <a:lnTo>
                    <a:pt x="1679854" y="34798"/>
                  </a:lnTo>
                  <a:lnTo>
                    <a:pt x="1695831" y="0"/>
                  </a:lnTo>
                  <a:close/>
                </a:path>
              </a:pathLst>
            </a:custGeom>
            <a:solidFill>
              <a:srgbClr val="4E91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67578" y="4440173"/>
            <a:ext cx="1097280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8318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55"/>
              </a:spcBef>
            </a:pPr>
            <a:r>
              <a:rPr sz="1200" spc="-50" dirty="0">
                <a:latin typeface="Tahoma"/>
                <a:cs typeface="Tahoma"/>
              </a:rPr>
              <a:t>I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80554" y="4440173"/>
            <a:ext cx="1097280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83185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655"/>
              </a:spcBef>
            </a:pPr>
            <a:r>
              <a:rPr sz="1200" spc="-20" dirty="0">
                <a:latin typeface="Tahoma"/>
                <a:cs typeface="Tahoma"/>
              </a:rPr>
              <a:t>LOVE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7323" y="5055463"/>
            <a:ext cx="1097279" cy="1097280"/>
          </a:xfrm>
          <a:prstGeom prst="rect">
            <a:avLst/>
          </a:prstGeom>
        </p:spPr>
      </p:pic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764148" y="5052314"/>
          <a:ext cx="109728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2)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PE(0,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9665" y="5055463"/>
            <a:ext cx="1097279" cy="1097280"/>
          </a:xfrm>
          <a:prstGeom prst="rect">
            <a:avLst/>
          </a:prstGeom>
        </p:spPr>
      </p:pic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7476490" y="5052314"/>
          <a:ext cx="109728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2)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PE(1,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9196578" y="2216657"/>
            <a:ext cx="1097280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1200" spc="30" dirty="0">
                <a:latin typeface="Tahoma"/>
                <a:cs typeface="Tahoma"/>
              </a:rPr>
              <a:t>BED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6196" y="2832989"/>
            <a:ext cx="1097279" cy="1097280"/>
          </a:xfrm>
          <a:prstGeom prst="rect">
            <a:avLst/>
          </a:prstGeom>
        </p:spPr>
      </p:pic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9193021" y="2829814"/>
          <a:ext cx="109728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2)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9196578" y="4440173"/>
            <a:ext cx="1097280" cy="36576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8318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55"/>
              </a:spcBef>
            </a:pPr>
            <a:r>
              <a:rPr sz="1200" spc="50" dirty="0">
                <a:latin typeface="Tahoma"/>
                <a:cs typeface="Tahoma"/>
              </a:rPr>
              <a:t>YOU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1879" y="5055463"/>
            <a:ext cx="1097279" cy="1097280"/>
          </a:xfrm>
          <a:prstGeom prst="rect">
            <a:avLst/>
          </a:prstGeom>
        </p:spPr>
      </p:pic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9188704" y="5052314"/>
          <a:ext cx="109728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2)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60" dirty="0">
                          <a:latin typeface="Tahoma"/>
                          <a:cs typeface="Tahoma"/>
                        </a:rPr>
                        <a:t>…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510)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spc="-10" dirty="0">
                          <a:latin typeface="Tahoma"/>
                          <a:cs typeface="Tahoma"/>
                        </a:rPr>
                        <a:t>PE(2,</a:t>
                      </a:r>
                      <a:r>
                        <a:rPr sz="6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511)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6350">
                      <a:solidFill>
                        <a:srgbClr val="ED7660"/>
                      </a:solidFill>
                      <a:prstDash val="solid"/>
                    </a:lnL>
                    <a:lnR w="6350">
                      <a:solidFill>
                        <a:srgbClr val="ED7660"/>
                      </a:solidFill>
                      <a:prstDash val="solid"/>
                    </a:lnR>
                    <a:lnT w="6350">
                      <a:solidFill>
                        <a:srgbClr val="ED7660"/>
                      </a:solidFill>
                      <a:prstDash val="solid"/>
                    </a:lnT>
                    <a:lnB w="6350">
                      <a:solidFill>
                        <a:srgbClr val="ED76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1225" y="5307025"/>
            <a:ext cx="4370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10" dirty="0">
                <a:latin typeface="Tahoma"/>
                <a:cs typeface="Tahoma"/>
              </a:rPr>
              <a:t>We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only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need</a:t>
            </a:r>
            <a:r>
              <a:rPr sz="1200" spc="7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to</a:t>
            </a:r>
            <a:r>
              <a:rPr sz="1200" spc="3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compute</a:t>
            </a:r>
            <a:r>
              <a:rPr sz="1200" spc="8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the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positional</a:t>
            </a:r>
            <a:r>
              <a:rPr sz="1200" spc="7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encodings</a:t>
            </a:r>
            <a:r>
              <a:rPr sz="1200" spc="8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once</a:t>
            </a:r>
            <a:r>
              <a:rPr sz="1200" spc="6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and </a:t>
            </a:r>
            <a:r>
              <a:rPr sz="1200" dirty="0">
                <a:latin typeface="Tahoma"/>
                <a:cs typeface="Tahoma"/>
              </a:rPr>
              <a:t>then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reuse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them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for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every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sentence,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matter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if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training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or </a:t>
            </a:r>
            <a:r>
              <a:rPr sz="1200" spc="-10" dirty="0">
                <a:latin typeface="Tahoma"/>
                <a:cs typeface="Tahoma"/>
              </a:rPr>
              <a:t>inference.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85513" y="2289809"/>
            <a:ext cx="8426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latin typeface="Tahoma"/>
                <a:cs typeface="Tahoma"/>
              </a:rPr>
              <a:t>Sentence</a:t>
            </a:r>
            <a:r>
              <a:rPr sz="1200" b="1" spc="-30" dirty="0">
                <a:latin typeface="Tahoma"/>
                <a:cs typeface="Tahoma"/>
              </a:rPr>
              <a:t> </a:t>
            </a:r>
            <a:r>
              <a:rPr sz="1200" b="1" spc="-50" dirty="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85513" y="4512309"/>
            <a:ext cx="8426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latin typeface="Tahoma"/>
                <a:cs typeface="Tahoma"/>
              </a:rPr>
              <a:t>Sentence</a:t>
            </a:r>
            <a:r>
              <a:rPr sz="1200" b="1" spc="-30" dirty="0">
                <a:latin typeface="Tahoma"/>
                <a:cs typeface="Tahoma"/>
              </a:rPr>
              <a:t> </a:t>
            </a:r>
            <a:r>
              <a:rPr sz="1200" b="1" spc="-50" dirty="0"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D0F8B492-4813-E91B-4EB8-69236338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C714E-74E1-4ABF-8B2A-ED63AA10FBB8}" type="datetime1">
              <a:rPr lang="en-US" smtClean="0"/>
              <a:t>5/12/2025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F2F8384-239E-A308-7727-E7EF9C28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B2E4A27-36C4-746E-A98E-236D2FB7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35" dirty="0"/>
              <a:t>The</a:t>
            </a:r>
            <a:r>
              <a:rPr sz="4400" spc="-25" dirty="0"/>
              <a:t> </a:t>
            </a:r>
            <a:r>
              <a:rPr sz="4400" spc="-160" dirty="0"/>
              <a:t>self-</a:t>
            </a:r>
            <a:r>
              <a:rPr sz="4400" spc="-200" dirty="0"/>
              <a:t>attention</a:t>
            </a:r>
            <a:r>
              <a:rPr sz="4400" spc="-110" dirty="0"/>
              <a:t> </a:t>
            </a:r>
            <a:r>
              <a:rPr sz="4400" spc="-430" dirty="0"/>
              <a:t>mechanism:</a:t>
            </a:r>
            <a:r>
              <a:rPr sz="4400" spc="-55" dirty="0"/>
              <a:t> Q,</a:t>
            </a:r>
            <a:r>
              <a:rPr sz="4400" spc="-215" dirty="0"/>
              <a:t> </a:t>
            </a:r>
            <a:r>
              <a:rPr sz="4400" spc="-530" dirty="0"/>
              <a:t>K</a:t>
            </a:r>
            <a:r>
              <a:rPr sz="4400" spc="-10" dirty="0"/>
              <a:t> </a:t>
            </a:r>
            <a:r>
              <a:rPr sz="4400" spc="-155" dirty="0"/>
              <a:t>and</a:t>
            </a:r>
            <a:r>
              <a:rPr sz="4400" spc="-60" dirty="0"/>
              <a:t> </a:t>
            </a:r>
            <a:r>
              <a:rPr sz="4400" spc="-345" dirty="0"/>
              <a:t>V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84705" y="2957067"/>
          <a:ext cx="2796538" cy="2927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0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420.386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4562.843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7395.997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5830.822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7909.878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8386.358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9878.506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6096.133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6167.866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1013.103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2487.140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7675.256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7480.045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845.160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7411.603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1092.178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4497.961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1034.689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5240.469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9843.646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3687.495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7394.715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1362.285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40.205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9559.480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8652.636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8461.192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3316.334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5779.258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4448.448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3863.333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4838.994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2000.151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3722.530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2594.810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2743.197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3323.149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1362.544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1406.061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6417.903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4329" y="2996945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latin typeface="Tahoma"/>
                <a:cs typeface="Tahoma"/>
              </a:rPr>
              <a:t>[SOS]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329" y="3291078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329" y="3585209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329" y="3879341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320"/>
              </a:spcBef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4329" y="4467605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4329" y="4173473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4329" y="4763261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315"/>
              </a:spcBef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329" y="5057394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4329" y="5351526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20"/>
              </a:spcBef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329" y="5645658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320"/>
              </a:spcBef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214" y="1660652"/>
            <a:ext cx="10546080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Tahoma"/>
                <a:cs typeface="Tahoma"/>
              </a:rPr>
              <a:t>In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 Large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Language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95" dirty="0">
                <a:latin typeface="Tahoma"/>
                <a:cs typeface="Tahoma"/>
              </a:rPr>
              <a:t>Models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(LLM)</a:t>
            </a:r>
            <a:r>
              <a:rPr sz="1800" dirty="0">
                <a:latin typeface="Tahoma"/>
                <a:cs typeface="Tahoma"/>
              </a:rPr>
              <a:t> we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employ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Self-</a:t>
            </a:r>
            <a:r>
              <a:rPr sz="1800" dirty="0">
                <a:latin typeface="Tahoma"/>
                <a:cs typeface="Tahoma"/>
              </a:rPr>
              <a:t>Attention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mechanism,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which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means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Query </a:t>
            </a:r>
            <a:r>
              <a:rPr sz="1800" b="1" spc="-90" dirty="0">
                <a:latin typeface="Tahoma"/>
                <a:cs typeface="Tahoma"/>
              </a:rPr>
              <a:t>(Q)</a:t>
            </a:r>
            <a:r>
              <a:rPr sz="1800" spc="-90" dirty="0">
                <a:latin typeface="Tahoma"/>
                <a:cs typeface="Tahoma"/>
              </a:rPr>
              <a:t>,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Key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(K)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and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b="1" spc="-40" dirty="0">
                <a:latin typeface="Tahoma"/>
                <a:cs typeface="Tahoma"/>
              </a:rPr>
              <a:t>Value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145" dirty="0">
                <a:latin typeface="Tahoma"/>
                <a:cs typeface="Tahoma"/>
              </a:rPr>
              <a:t>(V)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b="1" spc="-55" dirty="0">
                <a:latin typeface="Tahoma"/>
                <a:cs typeface="Tahoma"/>
              </a:rPr>
              <a:t>same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matrix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800">
              <a:latin typeface="Tahoma"/>
              <a:cs typeface="Tahoma"/>
            </a:endParaRPr>
          </a:p>
          <a:p>
            <a:pPr marL="1911350">
              <a:lnSpc>
                <a:spcPct val="100000"/>
              </a:lnSpc>
              <a:spcBef>
                <a:spcPts val="5"/>
              </a:spcBef>
              <a:tabLst>
                <a:tab pos="5508625" algn="l"/>
                <a:tab pos="8788400" algn="l"/>
              </a:tabLst>
            </a:pPr>
            <a:r>
              <a:rPr sz="1800" b="1" spc="-10" dirty="0">
                <a:latin typeface="Tahoma"/>
                <a:cs typeface="Tahoma"/>
              </a:rPr>
              <a:t>Query</a:t>
            </a:r>
            <a:r>
              <a:rPr sz="1800" b="1" dirty="0">
                <a:latin typeface="Tahoma"/>
                <a:cs typeface="Tahoma"/>
              </a:rPr>
              <a:t>	</a:t>
            </a:r>
            <a:r>
              <a:rPr sz="1800" b="1" spc="-25" dirty="0">
                <a:latin typeface="Tahoma"/>
                <a:cs typeface="Tahoma"/>
              </a:rPr>
              <a:t>Key</a:t>
            </a:r>
            <a:r>
              <a:rPr sz="1800" b="1" dirty="0">
                <a:latin typeface="Tahoma"/>
                <a:cs typeface="Tahoma"/>
              </a:rPr>
              <a:t>	</a:t>
            </a:r>
            <a:r>
              <a:rPr sz="1800" b="1" spc="-10" dirty="0">
                <a:latin typeface="Tahoma"/>
                <a:cs typeface="Tahoma"/>
              </a:rPr>
              <a:t>Value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044185" y="2961385"/>
          <a:ext cx="2800350" cy="2927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420.386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4562.843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7395.997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5830.822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7909.878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8386.358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9878.506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6096.133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6167.866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1013.103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2487.140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7675.256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7480.045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845.160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7411.603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1092.178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4497.961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1034.689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5240.469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9843.646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3687.495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7394.715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1362.285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40.205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9559.480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8652.636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8461.192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3316.334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5779.258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4448.448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3863.333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4838.994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2000.151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3722.530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2594.810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2743.197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3323.149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1362.544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1406.061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6417.903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8424036" y="2957067"/>
          <a:ext cx="2796538" cy="2927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0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420.386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4562.843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7395.997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5830.822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7909.878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8386.358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9878.506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6096.133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6167.866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1013.103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2487.140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7675.256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7480.045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845.160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7411.603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1092.178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4497.961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1034.689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5240.469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9843.646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3687.495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7394.715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1362.285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40.205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9559.480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8652.636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8461.192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3316.334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5779.258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4448.448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3863.333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4838.994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2000.151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3722.530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2594.810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2743.197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3323.149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1362.544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800" spc="95" dirty="0">
                          <a:latin typeface="Tahoma"/>
                          <a:cs typeface="Tahoma"/>
                        </a:rPr>
                        <a:t>…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1406.061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700" spc="-10" dirty="0">
                          <a:latin typeface="Tahoma"/>
                          <a:cs typeface="Tahoma"/>
                        </a:rPr>
                        <a:t>6417.903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2516251" y="5989726"/>
            <a:ext cx="935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ahoma"/>
                <a:cs typeface="Tahoma"/>
              </a:rPr>
              <a:t>(10,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512)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76365" y="5989726"/>
            <a:ext cx="935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ahoma"/>
                <a:cs typeface="Tahoma"/>
              </a:rPr>
              <a:t>(10,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512)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56597" y="5989726"/>
            <a:ext cx="935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ahoma"/>
                <a:cs typeface="Tahoma"/>
              </a:rPr>
              <a:t>(10,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512)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ontent Placeholder 78">
            <a:extLst>
              <a:ext uri="{FF2B5EF4-FFF2-40B4-BE49-F238E27FC236}">
                <a16:creationId xmlns:a16="http://schemas.microsoft.com/office/drawing/2014/main" id="{F09F5AA8-5A6C-4EBB-A202-E8605B2B0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6" name="Date Placeholder 75">
            <a:extLst>
              <a:ext uri="{FF2B5EF4-FFF2-40B4-BE49-F238E27FC236}">
                <a16:creationId xmlns:a16="http://schemas.microsoft.com/office/drawing/2014/main" id="{EE62A1B2-3D0C-AA23-007A-B3C6B81B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68B9-C9B7-41D4-8348-AE08C88C8E4B}" type="datetime1">
              <a:rPr lang="en-US" smtClean="0"/>
              <a:t>5/12/2025</a:t>
            </a:fld>
            <a:endParaRPr lang="en-US"/>
          </a:p>
        </p:txBody>
      </p:sp>
      <p:sp>
        <p:nvSpPr>
          <p:cNvPr id="77" name="Footer Placeholder 76">
            <a:extLst>
              <a:ext uri="{FF2B5EF4-FFF2-40B4-BE49-F238E27FC236}">
                <a16:creationId xmlns:a16="http://schemas.microsoft.com/office/drawing/2014/main" id="{A4F49BB9-8D1C-2320-D667-9B492643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8" name="Slide Number Placeholder 77">
            <a:extLst>
              <a:ext uri="{FF2B5EF4-FFF2-40B4-BE49-F238E27FC236}">
                <a16:creationId xmlns:a16="http://schemas.microsoft.com/office/drawing/2014/main" id="{51762D01-B775-E6EA-019C-F0918C3B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35" dirty="0"/>
              <a:t>The</a:t>
            </a:r>
            <a:r>
              <a:rPr sz="4400" spc="-10" dirty="0"/>
              <a:t> </a:t>
            </a:r>
            <a:r>
              <a:rPr sz="4400" spc="-160" dirty="0"/>
              <a:t>self-</a:t>
            </a:r>
            <a:r>
              <a:rPr sz="4400" spc="-200" dirty="0"/>
              <a:t>attention</a:t>
            </a:r>
            <a:r>
              <a:rPr sz="4400" spc="-35" dirty="0"/>
              <a:t> </a:t>
            </a:r>
            <a:r>
              <a:rPr sz="4400" spc="-445" dirty="0"/>
              <a:t>mechanism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27443" y="2634107"/>
          <a:ext cx="4964429" cy="3655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16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280922" y="2189607"/>
            <a:ext cx="533400" cy="141605"/>
          </a:xfrm>
          <a:custGeom>
            <a:avLst/>
            <a:gdLst/>
            <a:ahLst/>
            <a:cxnLst/>
            <a:rect l="l" t="t" r="r" b="b"/>
            <a:pathLst>
              <a:path w="533400" h="141605">
                <a:moveTo>
                  <a:pt x="488315" y="0"/>
                </a:moveTo>
                <a:lnTo>
                  <a:pt x="486283" y="5714"/>
                </a:lnTo>
                <a:lnTo>
                  <a:pt x="494454" y="9261"/>
                </a:lnTo>
                <a:lnTo>
                  <a:pt x="501459" y="14176"/>
                </a:lnTo>
                <a:lnTo>
                  <a:pt x="519922" y="57802"/>
                </a:lnTo>
                <a:lnTo>
                  <a:pt x="520446" y="69850"/>
                </a:lnTo>
                <a:lnTo>
                  <a:pt x="519922" y="82307"/>
                </a:lnTo>
                <a:lnTo>
                  <a:pt x="507325" y="120540"/>
                </a:lnTo>
                <a:lnTo>
                  <a:pt x="486536" y="135381"/>
                </a:lnTo>
                <a:lnTo>
                  <a:pt x="488315" y="141096"/>
                </a:lnTo>
                <a:lnTo>
                  <a:pt x="521716" y="116458"/>
                </a:lnTo>
                <a:lnTo>
                  <a:pt x="533272" y="70612"/>
                </a:lnTo>
                <a:lnTo>
                  <a:pt x="532554" y="57661"/>
                </a:lnTo>
                <a:lnTo>
                  <a:pt x="515157" y="16073"/>
                </a:lnTo>
                <a:lnTo>
                  <a:pt x="498532" y="3690"/>
                </a:lnTo>
                <a:lnTo>
                  <a:pt x="488315" y="0"/>
                </a:lnTo>
                <a:close/>
              </a:path>
              <a:path w="533400" h="141605">
                <a:moveTo>
                  <a:pt x="45084" y="0"/>
                </a:moveTo>
                <a:lnTo>
                  <a:pt x="11684" y="24764"/>
                </a:lnTo>
                <a:lnTo>
                  <a:pt x="0" y="70612"/>
                </a:lnTo>
                <a:lnTo>
                  <a:pt x="716" y="83562"/>
                </a:lnTo>
                <a:lnTo>
                  <a:pt x="18010" y="125130"/>
                </a:lnTo>
                <a:lnTo>
                  <a:pt x="45084" y="141096"/>
                </a:lnTo>
                <a:lnTo>
                  <a:pt x="46862" y="135381"/>
                </a:lnTo>
                <a:lnTo>
                  <a:pt x="38764" y="131831"/>
                </a:lnTo>
                <a:lnTo>
                  <a:pt x="31797" y="126888"/>
                </a:lnTo>
                <a:lnTo>
                  <a:pt x="13350" y="82307"/>
                </a:lnTo>
                <a:lnTo>
                  <a:pt x="12827" y="69850"/>
                </a:lnTo>
                <a:lnTo>
                  <a:pt x="13350" y="57802"/>
                </a:lnTo>
                <a:lnTo>
                  <a:pt x="25969" y="20448"/>
                </a:lnTo>
                <a:lnTo>
                  <a:pt x="46990" y="5714"/>
                </a:lnTo>
                <a:lnTo>
                  <a:pt x="45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0894" y="2034539"/>
            <a:ext cx="462280" cy="450850"/>
          </a:xfrm>
          <a:custGeom>
            <a:avLst/>
            <a:gdLst/>
            <a:ahLst/>
            <a:cxnLst/>
            <a:rect l="l" t="t" r="r" b="b"/>
            <a:pathLst>
              <a:path w="462280" h="450850">
                <a:moveTo>
                  <a:pt x="76200" y="5207"/>
                </a:moveTo>
                <a:lnTo>
                  <a:pt x="41478" y="39077"/>
                </a:lnTo>
                <a:lnTo>
                  <a:pt x="18923" y="90424"/>
                </a:lnTo>
                <a:lnTo>
                  <a:pt x="4737" y="152704"/>
                </a:lnTo>
                <a:lnTo>
                  <a:pt x="0" y="224790"/>
                </a:lnTo>
                <a:lnTo>
                  <a:pt x="1181" y="262382"/>
                </a:lnTo>
                <a:lnTo>
                  <a:pt x="10655" y="329920"/>
                </a:lnTo>
                <a:lnTo>
                  <a:pt x="29273" y="387096"/>
                </a:lnTo>
                <a:lnTo>
                  <a:pt x="55511" y="432320"/>
                </a:lnTo>
                <a:lnTo>
                  <a:pt x="71374" y="450342"/>
                </a:lnTo>
                <a:lnTo>
                  <a:pt x="76200" y="445008"/>
                </a:lnTo>
                <a:lnTo>
                  <a:pt x="62052" y="426720"/>
                </a:lnTo>
                <a:lnTo>
                  <a:pt x="49733" y="405549"/>
                </a:lnTo>
                <a:lnTo>
                  <a:pt x="30607" y="354457"/>
                </a:lnTo>
                <a:lnTo>
                  <a:pt x="19062" y="293712"/>
                </a:lnTo>
                <a:lnTo>
                  <a:pt x="15240" y="225044"/>
                </a:lnTo>
                <a:lnTo>
                  <a:pt x="16192" y="189826"/>
                </a:lnTo>
                <a:lnTo>
                  <a:pt x="23863" y="125247"/>
                </a:lnTo>
                <a:lnTo>
                  <a:pt x="39243" y="68859"/>
                </a:lnTo>
                <a:lnTo>
                  <a:pt x="62052" y="23520"/>
                </a:lnTo>
                <a:lnTo>
                  <a:pt x="76200" y="5207"/>
                </a:lnTo>
                <a:close/>
              </a:path>
              <a:path w="462280" h="450850">
                <a:moveTo>
                  <a:pt x="381381" y="219976"/>
                </a:moveTo>
                <a:lnTo>
                  <a:pt x="81153" y="219976"/>
                </a:lnTo>
                <a:lnTo>
                  <a:pt x="81153" y="230632"/>
                </a:lnTo>
                <a:lnTo>
                  <a:pt x="381381" y="230632"/>
                </a:lnTo>
                <a:lnTo>
                  <a:pt x="381381" y="219976"/>
                </a:lnTo>
                <a:close/>
              </a:path>
              <a:path w="462280" h="450850">
                <a:moveTo>
                  <a:pt x="462280" y="224790"/>
                </a:moveTo>
                <a:lnTo>
                  <a:pt x="457593" y="152704"/>
                </a:lnTo>
                <a:lnTo>
                  <a:pt x="443484" y="90424"/>
                </a:lnTo>
                <a:lnTo>
                  <a:pt x="420852" y="39077"/>
                </a:lnTo>
                <a:lnTo>
                  <a:pt x="390906" y="0"/>
                </a:lnTo>
                <a:lnTo>
                  <a:pt x="386207" y="5207"/>
                </a:lnTo>
                <a:lnTo>
                  <a:pt x="400329" y="23520"/>
                </a:lnTo>
                <a:lnTo>
                  <a:pt x="412597" y="44742"/>
                </a:lnTo>
                <a:lnTo>
                  <a:pt x="431673" y="95885"/>
                </a:lnTo>
                <a:lnTo>
                  <a:pt x="443268" y="156565"/>
                </a:lnTo>
                <a:lnTo>
                  <a:pt x="447167" y="225044"/>
                </a:lnTo>
                <a:lnTo>
                  <a:pt x="446189" y="260362"/>
                </a:lnTo>
                <a:lnTo>
                  <a:pt x="438429" y="325081"/>
                </a:lnTo>
                <a:lnTo>
                  <a:pt x="423049" y="381469"/>
                </a:lnTo>
                <a:lnTo>
                  <a:pt x="400329" y="426720"/>
                </a:lnTo>
                <a:lnTo>
                  <a:pt x="386207" y="445008"/>
                </a:lnTo>
                <a:lnTo>
                  <a:pt x="390906" y="450342"/>
                </a:lnTo>
                <a:lnTo>
                  <a:pt x="420852" y="411226"/>
                </a:lnTo>
                <a:lnTo>
                  <a:pt x="443484" y="359918"/>
                </a:lnTo>
                <a:lnTo>
                  <a:pt x="457593" y="297408"/>
                </a:lnTo>
                <a:lnTo>
                  <a:pt x="461098" y="262382"/>
                </a:lnTo>
                <a:lnTo>
                  <a:pt x="462280" y="224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0659" y="1744218"/>
            <a:ext cx="5819775" cy="487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Tahoma"/>
                <a:cs typeface="Tahoma"/>
              </a:rPr>
              <a:t>Self-</a:t>
            </a:r>
            <a:r>
              <a:rPr sz="1100" dirty="0">
                <a:latin typeface="Tahoma"/>
                <a:cs typeface="Tahoma"/>
              </a:rPr>
              <a:t>Attention allows 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model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relate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words 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other. </a:t>
            </a:r>
            <a:r>
              <a:rPr sz="1100" spc="-55" dirty="0">
                <a:latin typeface="Tahoma"/>
                <a:cs typeface="Tahoma"/>
              </a:rPr>
              <a:t>In</a:t>
            </a:r>
            <a:r>
              <a:rPr sz="1100" dirty="0">
                <a:latin typeface="Tahoma"/>
                <a:cs typeface="Tahoma"/>
              </a:rPr>
              <a:t> our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60" dirty="0">
                <a:latin typeface="Tahoma"/>
                <a:cs typeface="Tahoma"/>
              </a:rPr>
              <a:t>d</a:t>
            </a:r>
            <a:r>
              <a:rPr sz="1050" spc="89" baseline="-19841" dirty="0">
                <a:latin typeface="Tahoma"/>
                <a:cs typeface="Tahoma"/>
              </a:rPr>
              <a:t>k</a:t>
            </a:r>
            <a:r>
              <a:rPr sz="1050" spc="202" baseline="-19841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60" dirty="0">
                <a:latin typeface="Tahoma"/>
                <a:cs typeface="Tahoma"/>
              </a:rPr>
              <a:t>d</a:t>
            </a:r>
            <a:r>
              <a:rPr sz="1050" spc="89" baseline="-19841" dirty="0">
                <a:latin typeface="Tahoma"/>
                <a:cs typeface="Tahoma"/>
              </a:rPr>
              <a:t>model</a:t>
            </a:r>
            <a:r>
              <a:rPr sz="1050" spc="225" baseline="-19841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512.</a:t>
            </a:r>
            <a:endParaRPr sz="1100">
              <a:latin typeface="Tahoma"/>
              <a:cs typeface="Tahoma"/>
            </a:endParaRPr>
          </a:p>
          <a:p>
            <a:pPr marR="1398905" algn="ctr">
              <a:lnSpc>
                <a:spcPct val="100000"/>
              </a:lnSpc>
              <a:spcBef>
                <a:spcPts val="865"/>
              </a:spcBef>
            </a:pPr>
            <a:r>
              <a:rPr sz="1200" spc="-25" dirty="0">
                <a:latin typeface="Cambria Math"/>
                <a:cs typeface="Cambria Math"/>
              </a:rPr>
              <a:t>𝑄𝐾</a:t>
            </a:r>
            <a:r>
              <a:rPr sz="1275" spc="-37" baseline="29411" dirty="0">
                <a:latin typeface="Cambria Math"/>
                <a:cs typeface="Cambria Math"/>
              </a:rPr>
              <a:t>𝑇</a:t>
            </a:r>
            <a:endParaRPr sz="1275" baseline="29411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75254" y="2293492"/>
            <a:ext cx="274955" cy="189865"/>
          </a:xfrm>
          <a:custGeom>
            <a:avLst/>
            <a:gdLst/>
            <a:ahLst/>
            <a:cxnLst/>
            <a:rect l="l" t="t" r="r" b="b"/>
            <a:pathLst>
              <a:path w="274955" h="189864">
                <a:moveTo>
                  <a:pt x="116205" y="0"/>
                </a:moveTo>
                <a:lnTo>
                  <a:pt x="95376" y="0"/>
                </a:lnTo>
                <a:lnTo>
                  <a:pt x="50164" y="169418"/>
                </a:lnTo>
                <a:lnTo>
                  <a:pt x="24383" y="111887"/>
                </a:lnTo>
                <a:lnTo>
                  <a:pt x="0" y="123062"/>
                </a:lnTo>
                <a:lnTo>
                  <a:pt x="2286" y="128651"/>
                </a:lnTo>
                <a:lnTo>
                  <a:pt x="14858" y="123062"/>
                </a:lnTo>
                <a:lnTo>
                  <a:pt x="45719" y="189357"/>
                </a:lnTo>
                <a:lnTo>
                  <a:pt x="52958" y="189357"/>
                </a:lnTo>
                <a:lnTo>
                  <a:pt x="101345" y="9906"/>
                </a:lnTo>
                <a:lnTo>
                  <a:pt x="110236" y="9906"/>
                </a:lnTo>
                <a:lnTo>
                  <a:pt x="110236" y="11303"/>
                </a:lnTo>
                <a:lnTo>
                  <a:pt x="274827" y="11303"/>
                </a:lnTo>
                <a:lnTo>
                  <a:pt x="274827" y="635"/>
                </a:lnTo>
                <a:lnTo>
                  <a:pt x="116205" y="635"/>
                </a:lnTo>
                <a:lnTo>
                  <a:pt x="116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47772" y="2271140"/>
            <a:ext cx="232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𝑑</a:t>
            </a:r>
            <a:r>
              <a:rPr sz="1275" spc="-37" baseline="-16339" dirty="0">
                <a:latin typeface="Cambria Math"/>
                <a:cs typeface="Cambria Math"/>
              </a:rPr>
              <a:t>𝑘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071" y="2138553"/>
            <a:ext cx="2593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4755" algn="l"/>
              </a:tabLst>
            </a:pPr>
            <a:r>
              <a:rPr sz="1200" dirty="0">
                <a:latin typeface="Cambria Math"/>
                <a:cs typeface="Cambria Math"/>
              </a:rPr>
              <a:t>𝐴𝑡𝑡𝑒𝑛𝑡𝑖𝑜𝑛</a:t>
            </a:r>
            <a:r>
              <a:rPr sz="1200" spc="26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𝑄,</a:t>
            </a:r>
            <a:r>
              <a:rPr sz="1200" spc="-7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𝐾,</a:t>
            </a:r>
            <a:r>
              <a:rPr sz="1200" spc="-6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𝑉</a:t>
            </a:r>
            <a:r>
              <a:rPr sz="1200" spc="165" dirty="0">
                <a:latin typeface="Cambria Math"/>
                <a:cs typeface="Cambria Math"/>
              </a:rPr>
              <a:t>  </a:t>
            </a: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55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softmax</a:t>
            </a:r>
            <a:r>
              <a:rPr sz="1200" dirty="0">
                <a:latin typeface="Cambria Math"/>
                <a:cs typeface="Cambria Math"/>
              </a:rPr>
              <a:t>	</a:t>
            </a:r>
            <a:r>
              <a:rPr sz="1200" spc="-50" dirty="0">
                <a:latin typeface="Cambria Math"/>
                <a:cs typeface="Cambria Math"/>
              </a:rPr>
              <a:t>𝑉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5003" y="3249167"/>
            <a:ext cx="1690370" cy="1691639"/>
          </a:xfrm>
          <a:custGeom>
            <a:avLst/>
            <a:gdLst/>
            <a:ahLst/>
            <a:cxnLst/>
            <a:rect l="l" t="t" r="r" b="b"/>
            <a:pathLst>
              <a:path w="1690370" h="1691639">
                <a:moveTo>
                  <a:pt x="1690116" y="0"/>
                </a:moveTo>
                <a:lnTo>
                  <a:pt x="0" y="0"/>
                </a:lnTo>
                <a:lnTo>
                  <a:pt x="0" y="1691639"/>
                </a:lnTo>
                <a:lnTo>
                  <a:pt x="1690116" y="1691639"/>
                </a:lnTo>
                <a:lnTo>
                  <a:pt x="1690116" y="0"/>
                </a:lnTo>
                <a:close/>
              </a:path>
            </a:pathLst>
          </a:custGeom>
          <a:solidFill>
            <a:srgbClr val="D2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42338" y="3983863"/>
            <a:ext cx="156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0" dirty="0">
                <a:latin typeface="Tahoma"/>
                <a:cs typeface="Tahoma"/>
              </a:rPr>
              <a:t>Q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0822" y="4497070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(10,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512)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55491" y="3249167"/>
            <a:ext cx="1689100" cy="1694814"/>
          </a:xfrm>
          <a:custGeom>
            <a:avLst/>
            <a:gdLst/>
            <a:ahLst/>
            <a:cxnLst/>
            <a:rect l="l" t="t" r="r" b="b"/>
            <a:pathLst>
              <a:path w="1689100" h="1694814">
                <a:moveTo>
                  <a:pt x="1688591" y="0"/>
                </a:moveTo>
                <a:lnTo>
                  <a:pt x="0" y="0"/>
                </a:lnTo>
                <a:lnTo>
                  <a:pt x="0" y="1694687"/>
                </a:lnTo>
                <a:lnTo>
                  <a:pt x="1688591" y="1694687"/>
                </a:lnTo>
                <a:lnTo>
                  <a:pt x="1688591" y="0"/>
                </a:lnTo>
                <a:close/>
              </a:path>
            </a:pathLst>
          </a:custGeom>
          <a:solidFill>
            <a:srgbClr val="D2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78503" y="3939920"/>
            <a:ext cx="242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37" baseline="-16203" dirty="0">
                <a:latin typeface="Tahoma"/>
                <a:cs typeface="Tahoma"/>
              </a:rPr>
              <a:t>K</a:t>
            </a:r>
            <a:r>
              <a:rPr sz="800" b="1" spc="-25" dirty="0">
                <a:latin typeface="Tahoma"/>
                <a:cs typeface="Tahoma"/>
              </a:rPr>
              <a:t>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2326" y="4499864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(512,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10)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1189" y="3934790"/>
            <a:ext cx="1739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58714" y="4224654"/>
            <a:ext cx="17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439" y="4224654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softmax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34669" y="2954908"/>
            <a:ext cx="4348480" cy="2859405"/>
            <a:chOff x="1034669" y="2954908"/>
            <a:chExt cx="4348480" cy="2859405"/>
          </a:xfrm>
        </p:grpSpPr>
        <p:sp>
          <p:nvSpPr>
            <p:cNvPr id="20" name="object 20"/>
            <p:cNvSpPr/>
            <p:nvPr/>
          </p:nvSpPr>
          <p:spPr>
            <a:xfrm>
              <a:off x="1037844" y="2958083"/>
              <a:ext cx="4342130" cy="2853055"/>
            </a:xfrm>
            <a:custGeom>
              <a:avLst/>
              <a:gdLst/>
              <a:ahLst/>
              <a:cxnLst/>
              <a:rect l="l" t="t" r="r" b="b"/>
              <a:pathLst>
                <a:path w="4342130" h="2853054">
                  <a:moveTo>
                    <a:pt x="475488" y="2852928"/>
                  </a:moveTo>
                  <a:lnTo>
                    <a:pt x="426873" y="2850473"/>
                  </a:lnTo>
                  <a:lnTo>
                    <a:pt x="379662" y="2843267"/>
                  </a:lnTo>
                  <a:lnTo>
                    <a:pt x="334094" y="2831550"/>
                  </a:lnTo>
                  <a:lnTo>
                    <a:pt x="290409" y="2815560"/>
                  </a:lnTo>
                  <a:lnTo>
                    <a:pt x="248845" y="2795537"/>
                  </a:lnTo>
                  <a:lnTo>
                    <a:pt x="209641" y="2771720"/>
                  </a:lnTo>
                  <a:lnTo>
                    <a:pt x="173036" y="2744347"/>
                  </a:lnTo>
                  <a:lnTo>
                    <a:pt x="139269" y="2713658"/>
                  </a:lnTo>
                  <a:lnTo>
                    <a:pt x="108580" y="2679891"/>
                  </a:lnTo>
                  <a:lnTo>
                    <a:pt x="81207" y="2643286"/>
                  </a:lnTo>
                  <a:lnTo>
                    <a:pt x="57390" y="2604082"/>
                  </a:lnTo>
                  <a:lnTo>
                    <a:pt x="37367" y="2562518"/>
                  </a:lnTo>
                  <a:lnTo>
                    <a:pt x="21377" y="2518833"/>
                  </a:lnTo>
                  <a:lnTo>
                    <a:pt x="9660" y="2473265"/>
                  </a:lnTo>
                  <a:lnTo>
                    <a:pt x="2454" y="2426054"/>
                  </a:lnTo>
                  <a:lnTo>
                    <a:pt x="0" y="2377440"/>
                  </a:lnTo>
                  <a:lnTo>
                    <a:pt x="0" y="475488"/>
                  </a:lnTo>
                  <a:lnTo>
                    <a:pt x="2454" y="426866"/>
                  </a:lnTo>
                  <a:lnTo>
                    <a:pt x="9660" y="379651"/>
                  </a:lnTo>
                  <a:lnTo>
                    <a:pt x="21377" y="334080"/>
                  </a:lnTo>
                  <a:lnTo>
                    <a:pt x="37367" y="290393"/>
                  </a:lnTo>
                  <a:lnTo>
                    <a:pt x="57390" y="248828"/>
                  </a:lnTo>
                  <a:lnTo>
                    <a:pt x="81207" y="209624"/>
                  </a:lnTo>
                  <a:lnTo>
                    <a:pt x="108580" y="173020"/>
                  </a:lnTo>
                  <a:lnTo>
                    <a:pt x="139269" y="139255"/>
                  </a:lnTo>
                  <a:lnTo>
                    <a:pt x="173036" y="108568"/>
                  </a:lnTo>
                  <a:lnTo>
                    <a:pt x="209641" y="81197"/>
                  </a:lnTo>
                  <a:lnTo>
                    <a:pt x="248845" y="57382"/>
                  </a:lnTo>
                  <a:lnTo>
                    <a:pt x="290409" y="37361"/>
                  </a:lnTo>
                  <a:lnTo>
                    <a:pt x="334094" y="21374"/>
                  </a:lnTo>
                  <a:lnTo>
                    <a:pt x="379662" y="9658"/>
                  </a:lnTo>
                  <a:lnTo>
                    <a:pt x="426873" y="2454"/>
                  </a:lnTo>
                  <a:lnTo>
                    <a:pt x="475488" y="0"/>
                  </a:lnTo>
                </a:path>
                <a:path w="4342130" h="2853054">
                  <a:moveTo>
                    <a:pt x="3866388" y="0"/>
                  </a:moveTo>
                  <a:lnTo>
                    <a:pt x="3915009" y="2454"/>
                  </a:lnTo>
                  <a:lnTo>
                    <a:pt x="3962224" y="9658"/>
                  </a:lnTo>
                  <a:lnTo>
                    <a:pt x="4007795" y="21374"/>
                  </a:lnTo>
                  <a:lnTo>
                    <a:pt x="4051482" y="37361"/>
                  </a:lnTo>
                  <a:lnTo>
                    <a:pt x="4093047" y="57382"/>
                  </a:lnTo>
                  <a:lnTo>
                    <a:pt x="4132251" y="81197"/>
                  </a:lnTo>
                  <a:lnTo>
                    <a:pt x="4168855" y="108568"/>
                  </a:lnTo>
                  <a:lnTo>
                    <a:pt x="4202620" y="139255"/>
                  </a:lnTo>
                  <a:lnTo>
                    <a:pt x="4233307" y="173020"/>
                  </a:lnTo>
                  <a:lnTo>
                    <a:pt x="4260678" y="209624"/>
                  </a:lnTo>
                  <a:lnTo>
                    <a:pt x="4284493" y="248828"/>
                  </a:lnTo>
                  <a:lnTo>
                    <a:pt x="4304514" y="290393"/>
                  </a:lnTo>
                  <a:lnTo>
                    <a:pt x="4320501" y="334080"/>
                  </a:lnTo>
                  <a:lnTo>
                    <a:pt x="4332217" y="379651"/>
                  </a:lnTo>
                  <a:lnTo>
                    <a:pt x="4339421" y="426866"/>
                  </a:lnTo>
                  <a:lnTo>
                    <a:pt x="4341876" y="475488"/>
                  </a:lnTo>
                  <a:lnTo>
                    <a:pt x="4341876" y="2377440"/>
                  </a:lnTo>
                  <a:lnTo>
                    <a:pt x="4339421" y="2426054"/>
                  </a:lnTo>
                  <a:lnTo>
                    <a:pt x="4332217" y="2473265"/>
                  </a:lnTo>
                  <a:lnTo>
                    <a:pt x="4320501" y="2518833"/>
                  </a:lnTo>
                  <a:lnTo>
                    <a:pt x="4304514" y="2562518"/>
                  </a:lnTo>
                  <a:lnTo>
                    <a:pt x="4284493" y="2604082"/>
                  </a:lnTo>
                  <a:lnTo>
                    <a:pt x="4260678" y="2643286"/>
                  </a:lnTo>
                  <a:lnTo>
                    <a:pt x="4233307" y="2679891"/>
                  </a:lnTo>
                  <a:lnTo>
                    <a:pt x="4202620" y="2713658"/>
                  </a:lnTo>
                  <a:lnTo>
                    <a:pt x="4168855" y="2744347"/>
                  </a:lnTo>
                  <a:lnTo>
                    <a:pt x="4132251" y="2771720"/>
                  </a:lnTo>
                  <a:lnTo>
                    <a:pt x="4093047" y="2795537"/>
                  </a:lnTo>
                  <a:lnTo>
                    <a:pt x="4051482" y="2815560"/>
                  </a:lnTo>
                  <a:lnTo>
                    <a:pt x="4007795" y="2831550"/>
                  </a:lnTo>
                  <a:lnTo>
                    <a:pt x="3962224" y="2843267"/>
                  </a:lnTo>
                  <a:lnTo>
                    <a:pt x="3915009" y="2850473"/>
                  </a:lnTo>
                  <a:lnTo>
                    <a:pt x="3866388" y="2852928"/>
                  </a:lnTo>
                </a:path>
                <a:path w="4342130" h="2853054">
                  <a:moveTo>
                    <a:pt x="141731" y="2145791"/>
                  </a:moveTo>
                  <a:lnTo>
                    <a:pt x="4203700" y="2145791"/>
                  </a:lnTo>
                </a:path>
              </a:pathLst>
            </a:custGeom>
            <a:ln w="6350">
              <a:solidFill>
                <a:srgbClr val="ED7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53766" y="5311648"/>
              <a:ext cx="528320" cy="220345"/>
            </a:xfrm>
            <a:custGeom>
              <a:avLst/>
              <a:gdLst/>
              <a:ahLst/>
              <a:cxnLst/>
              <a:rect l="l" t="t" r="r" b="b"/>
              <a:pathLst>
                <a:path w="528320" h="220345">
                  <a:moveTo>
                    <a:pt x="131190" y="0"/>
                  </a:moveTo>
                  <a:lnTo>
                    <a:pt x="76072" y="190499"/>
                  </a:lnTo>
                  <a:lnTo>
                    <a:pt x="36702" y="103885"/>
                  </a:lnTo>
                  <a:lnTo>
                    <a:pt x="0" y="120649"/>
                  </a:lnTo>
                  <a:lnTo>
                    <a:pt x="3556" y="129031"/>
                  </a:lnTo>
                  <a:lnTo>
                    <a:pt x="22351" y="120649"/>
                  </a:lnTo>
                  <a:lnTo>
                    <a:pt x="68579" y="219963"/>
                  </a:lnTo>
                  <a:lnTo>
                    <a:pt x="79375" y="219963"/>
                  </a:lnTo>
                  <a:lnTo>
                    <a:pt x="139445" y="14858"/>
                  </a:lnTo>
                  <a:lnTo>
                    <a:pt x="147065" y="14858"/>
                  </a:lnTo>
                  <a:lnTo>
                    <a:pt x="147065" y="15366"/>
                  </a:lnTo>
                  <a:lnTo>
                    <a:pt x="528066" y="15366"/>
                  </a:lnTo>
                  <a:lnTo>
                    <a:pt x="528066" y="126"/>
                  </a:lnTo>
                  <a:lnTo>
                    <a:pt x="1311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88639" y="5284978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512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64758" y="2713482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20"/>
              </a:spcBef>
            </a:pPr>
            <a:r>
              <a:rPr sz="800" spc="-10" dirty="0">
                <a:latin typeface="Tahoma"/>
                <a:cs typeface="Tahoma"/>
              </a:rPr>
              <a:t>[SOS]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64758" y="3079242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64758" y="3443478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64758" y="3809238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320"/>
              </a:spcBef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64758" y="4539234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64758" y="4173473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64758" y="4904994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315"/>
              </a:spcBef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64758" y="5269229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64758" y="5634990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315"/>
              </a:spcBef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64758" y="5999226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325"/>
              </a:spcBef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715506" y="2366010"/>
            <a:ext cx="462280" cy="166370"/>
          </a:xfrm>
          <a:custGeom>
            <a:avLst/>
            <a:gdLst/>
            <a:ahLst/>
            <a:cxnLst/>
            <a:rect l="l" t="t" r="r" b="b"/>
            <a:pathLst>
              <a:path w="462279" h="166369">
                <a:moveTo>
                  <a:pt x="461772" y="0"/>
                </a:moveTo>
                <a:lnTo>
                  <a:pt x="0" y="0"/>
                </a:lnTo>
                <a:lnTo>
                  <a:pt x="0" y="166115"/>
                </a:lnTo>
                <a:lnTo>
                  <a:pt x="461772" y="166115"/>
                </a:lnTo>
                <a:lnTo>
                  <a:pt x="461772" y="0"/>
                </a:lnTo>
                <a:close/>
              </a:path>
            </a:pathLst>
          </a:custGeom>
          <a:solidFill>
            <a:srgbClr val="FF94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801104" y="2373883"/>
            <a:ext cx="28956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Tahoma"/>
                <a:cs typeface="Tahoma"/>
              </a:rPr>
              <a:t>[SOS]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164705" y="2356485"/>
            <a:ext cx="525145" cy="185420"/>
            <a:chOff x="7164705" y="2356485"/>
            <a:chExt cx="525145" cy="185420"/>
          </a:xfrm>
        </p:grpSpPr>
        <p:sp>
          <p:nvSpPr>
            <p:cNvPr id="36" name="object 36"/>
            <p:cNvSpPr/>
            <p:nvPr/>
          </p:nvSpPr>
          <p:spPr>
            <a:xfrm>
              <a:off x="7174230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74230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258557" y="2373883"/>
            <a:ext cx="33718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669148" y="2356485"/>
            <a:ext cx="523875" cy="185420"/>
            <a:chOff x="7669148" y="2356485"/>
            <a:chExt cx="523875" cy="185420"/>
          </a:xfrm>
        </p:grpSpPr>
        <p:sp>
          <p:nvSpPr>
            <p:cNvPr id="40" name="object 40"/>
            <p:cNvSpPr/>
            <p:nvPr/>
          </p:nvSpPr>
          <p:spPr>
            <a:xfrm>
              <a:off x="7678673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78673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847203" y="2373883"/>
            <a:ext cx="1651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172068" y="2356485"/>
            <a:ext cx="525145" cy="185420"/>
            <a:chOff x="8172068" y="2356485"/>
            <a:chExt cx="525145" cy="185420"/>
          </a:xfrm>
        </p:grpSpPr>
        <p:sp>
          <p:nvSpPr>
            <p:cNvPr id="44" name="object 44"/>
            <p:cNvSpPr/>
            <p:nvPr/>
          </p:nvSpPr>
          <p:spPr>
            <a:xfrm>
              <a:off x="8181593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81593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326373" y="2373883"/>
            <a:ext cx="21399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674989" y="2356485"/>
            <a:ext cx="525145" cy="185420"/>
            <a:chOff x="8674989" y="2356485"/>
            <a:chExt cx="525145" cy="185420"/>
          </a:xfrm>
        </p:grpSpPr>
        <p:sp>
          <p:nvSpPr>
            <p:cNvPr id="48" name="object 48"/>
            <p:cNvSpPr/>
            <p:nvPr/>
          </p:nvSpPr>
          <p:spPr>
            <a:xfrm>
              <a:off x="868451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68451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846311" y="2373883"/>
            <a:ext cx="1803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177908" y="2356485"/>
            <a:ext cx="525145" cy="185420"/>
            <a:chOff x="9177908" y="2356485"/>
            <a:chExt cx="525145" cy="185420"/>
          </a:xfrm>
        </p:grpSpPr>
        <p:sp>
          <p:nvSpPr>
            <p:cNvPr id="52" name="object 52"/>
            <p:cNvSpPr/>
            <p:nvPr/>
          </p:nvSpPr>
          <p:spPr>
            <a:xfrm>
              <a:off x="9187433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187433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9400158" y="2373883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9682353" y="2356485"/>
            <a:ext cx="523875" cy="185420"/>
            <a:chOff x="9682353" y="2356485"/>
            <a:chExt cx="523875" cy="185420"/>
          </a:xfrm>
        </p:grpSpPr>
        <p:sp>
          <p:nvSpPr>
            <p:cNvPr id="56" name="object 56"/>
            <p:cNvSpPr/>
            <p:nvPr/>
          </p:nvSpPr>
          <p:spPr>
            <a:xfrm>
              <a:off x="9691878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691878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9822560" y="2373883"/>
            <a:ext cx="24193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0185272" y="2356485"/>
            <a:ext cx="525145" cy="185420"/>
            <a:chOff x="10185272" y="2356485"/>
            <a:chExt cx="525145" cy="185420"/>
          </a:xfrm>
        </p:grpSpPr>
        <p:sp>
          <p:nvSpPr>
            <p:cNvPr id="60" name="object 60"/>
            <p:cNvSpPr/>
            <p:nvPr/>
          </p:nvSpPr>
          <p:spPr>
            <a:xfrm>
              <a:off x="10194797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194797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0388345" y="2373883"/>
            <a:ext cx="1181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0688193" y="2356485"/>
            <a:ext cx="525145" cy="185420"/>
            <a:chOff x="10688193" y="2356485"/>
            <a:chExt cx="525145" cy="185420"/>
          </a:xfrm>
        </p:grpSpPr>
        <p:sp>
          <p:nvSpPr>
            <p:cNvPr id="64" name="object 64"/>
            <p:cNvSpPr/>
            <p:nvPr/>
          </p:nvSpPr>
          <p:spPr>
            <a:xfrm>
              <a:off x="1069771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69771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0800333" y="2373883"/>
            <a:ext cx="2997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1191113" y="2356485"/>
            <a:ext cx="525145" cy="185420"/>
            <a:chOff x="11191113" y="2356485"/>
            <a:chExt cx="525145" cy="185420"/>
          </a:xfrm>
        </p:grpSpPr>
        <p:sp>
          <p:nvSpPr>
            <p:cNvPr id="68" name="object 68"/>
            <p:cNvSpPr/>
            <p:nvPr/>
          </p:nvSpPr>
          <p:spPr>
            <a:xfrm>
              <a:off x="1120063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120063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1299063" y="2373883"/>
            <a:ext cx="3098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988045" y="1862327"/>
            <a:ext cx="442595" cy="1946910"/>
          </a:xfrm>
          <a:custGeom>
            <a:avLst/>
            <a:gdLst/>
            <a:ahLst/>
            <a:cxnLst/>
            <a:rect l="l" t="t" r="r" b="b"/>
            <a:pathLst>
              <a:path w="442595" h="1946910">
                <a:moveTo>
                  <a:pt x="0" y="1823339"/>
                </a:moveTo>
                <a:lnTo>
                  <a:pt x="33527" y="1946529"/>
                </a:lnTo>
                <a:lnTo>
                  <a:pt x="103304" y="1856994"/>
                </a:lnTo>
                <a:lnTo>
                  <a:pt x="70993" y="1856994"/>
                </a:lnTo>
                <a:lnTo>
                  <a:pt x="33527" y="1849501"/>
                </a:lnTo>
                <a:lnTo>
                  <a:pt x="37277" y="1830819"/>
                </a:lnTo>
                <a:lnTo>
                  <a:pt x="0" y="1823339"/>
                </a:lnTo>
                <a:close/>
              </a:path>
              <a:path w="442595" h="1946910">
                <a:moveTo>
                  <a:pt x="37277" y="1830819"/>
                </a:moveTo>
                <a:lnTo>
                  <a:pt x="33527" y="1849501"/>
                </a:lnTo>
                <a:lnTo>
                  <a:pt x="70993" y="1856994"/>
                </a:lnTo>
                <a:lnTo>
                  <a:pt x="74736" y="1838337"/>
                </a:lnTo>
                <a:lnTo>
                  <a:pt x="37277" y="1830819"/>
                </a:lnTo>
                <a:close/>
              </a:path>
              <a:path w="442595" h="1946910">
                <a:moveTo>
                  <a:pt x="74736" y="1838337"/>
                </a:moveTo>
                <a:lnTo>
                  <a:pt x="70993" y="1856994"/>
                </a:lnTo>
                <a:lnTo>
                  <a:pt x="103304" y="1856994"/>
                </a:lnTo>
                <a:lnTo>
                  <a:pt x="112013" y="1845818"/>
                </a:lnTo>
                <a:lnTo>
                  <a:pt x="74736" y="1838337"/>
                </a:lnTo>
                <a:close/>
              </a:path>
              <a:path w="442595" h="1946910">
                <a:moveTo>
                  <a:pt x="404749" y="0"/>
                </a:moveTo>
                <a:lnTo>
                  <a:pt x="37277" y="1830819"/>
                </a:lnTo>
                <a:lnTo>
                  <a:pt x="74736" y="1838337"/>
                </a:lnTo>
                <a:lnTo>
                  <a:pt x="442086" y="7620"/>
                </a:lnTo>
                <a:lnTo>
                  <a:pt x="404749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8427211" y="1244853"/>
            <a:ext cx="3137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Softmax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 the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dot </a:t>
            </a:r>
            <a:r>
              <a:rPr sz="1200" b="1" spc="-20" dirty="0">
                <a:latin typeface="Tahoma"/>
                <a:cs typeface="Tahoma"/>
              </a:rPr>
              <a:t>product</a:t>
            </a:r>
            <a:r>
              <a:rPr sz="1200" b="1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word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“</a:t>
            </a:r>
            <a:r>
              <a:rPr sz="1200" i="1" spc="-55" dirty="0">
                <a:latin typeface="Verdana"/>
                <a:cs typeface="Verdana"/>
              </a:rPr>
              <a:t>my</a:t>
            </a:r>
            <a:r>
              <a:rPr sz="1200" spc="-55" dirty="0">
                <a:latin typeface="Tahoma"/>
                <a:cs typeface="Tahoma"/>
              </a:rPr>
              <a:t>” </a:t>
            </a:r>
            <a:r>
              <a:rPr sz="1200" dirty="0">
                <a:latin typeface="Tahoma"/>
                <a:cs typeface="Tahoma"/>
              </a:rPr>
              <a:t>with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word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“</a:t>
            </a:r>
            <a:r>
              <a:rPr sz="1200" i="1" spc="-55" dirty="0">
                <a:latin typeface="Verdana"/>
                <a:cs typeface="Verdana"/>
              </a:rPr>
              <a:t>bed</a:t>
            </a:r>
            <a:r>
              <a:rPr sz="1200" spc="-55" dirty="0">
                <a:latin typeface="Tahoma"/>
                <a:cs typeface="Tahoma"/>
              </a:rPr>
              <a:t>”.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Thanks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softmax, </a:t>
            </a:r>
            <a:r>
              <a:rPr sz="1200" b="1" spc="-30" dirty="0">
                <a:latin typeface="Tahoma"/>
                <a:cs typeface="Tahoma"/>
              </a:rPr>
              <a:t>each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ahoma"/>
                <a:cs typeface="Tahoma"/>
              </a:rPr>
              <a:t>row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b="1" spc="-55" dirty="0">
                <a:latin typeface="Tahoma"/>
                <a:cs typeface="Tahoma"/>
              </a:rPr>
              <a:t>sums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to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25" dirty="0">
                <a:latin typeface="Tahoma"/>
                <a:cs typeface="Tahoma"/>
              </a:rPr>
              <a:t>1</a:t>
            </a:r>
            <a:r>
              <a:rPr sz="1200" spc="-25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3415" y="624874"/>
            <a:ext cx="2921476" cy="419288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8933433" y="6388709"/>
            <a:ext cx="5359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25" dirty="0">
                <a:latin typeface="Tahoma"/>
                <a:cs typeface="Tahoma"/>
              </a:rPr>
              <a:t>(10,</a:t>
            </a:r>
            <a:r>
              <a:rPr sz="1050" b="1" spc="-45" dirty="0">
                <a:latin typeface="Tahoma"/>
                <a:cs typeface="Tahoma"/>
              </a:rPr>
              <a:t> </a:t>
            </a:r>
            <a:r>
              <a:rPr sz="1050" b="1" spc="-25" dirty="0">
                <a:latin typeface="Tahoma"/>
                <a:cs typeface="Tahoma"/>
              </a:rPr>
              <a:t>10)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D45164FB-1C21-43B8-5495-CF9F6B44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0C772-466D-4E07-8586-955F2AB8408B}" type="datetime1">
              <a:rPr lang="en-US" smtClean="0"/>
              <a:t>5/12/2025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DFC1DFB8-59CE-0501-1B28-42E37B51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401D270-CCA3-1940-4321-CFFD587E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spc="-535" dirty="0"/>
              <a:t>The</a:t>
            </a:r>
            <a:r>
              <a:rPr sz="4400" spc="-15" dirty="0"/>
              <a:t> </a:t>
            </a:r>
            <a:r>
              <a:rPr sz="4400" spc="-160" dirty="0"/>
              <a:t>self-</a:t>
            </a:r>
            <a:r>
              <a:rPr sz="4400" spc="-195" dirty="0"/>
              <a:t>attention</a:t>
            </a:r>
            <a:r>
              <a:rPr sz="4400" spc="-30" dirty="0"/>
              <a:t> </a:t>
            </a:r>
            <a:r>
              <a:rPr sz="4400" spc="-430" dirty="0"/>
              <a:t>mechanism:</a:t>
            </a:r>
            <a:r>
              <a:rPr sz="4400" spc="-35" dirty="0"/>
              <a:t> </a:t>
            </a:r>
            <a:r>
              <a:rPr sz="4400" spc="-290" dirty="0"/>
              <a:t>the</a:t>
            </a:r>
            <a:r>
              <a:rPr sz="4400" spc="-20" dirty="0"/>
              <a:t> </a:t>
            </a:r>
            <a:r>
              <a:rPr sz="4400" spc="-325" dirty="0"/>
              <a:t>reason </a:t>
            </a:r>
            <a:r>
              <a:rPr sz="4400" spc="-245" dirty="0"/>
              <a:t>behind</a:t>
            </a:r>
            <a:r>
              <a:rPr sz="4400" spc="-20" dirty="0"/>
              <a:t> </a:t>
            </a:r>
            <a:r>
              <a:rPr sz="4400" spc="-290" dirty="0"/>
              <a:t>the</a:t>
            </a:r>
            <a:r>
              <a:rPr sz="4400" spc="-15" dirty="0"/>
              <a:t> </a:t>
            </a:r>
            <a:r>
              <a:rPr sz="4400" spc="-320" dirty="0"/>
              <a:t>causal</a:t>
            </a:r>
            <a:r>
              <a:rPr sz="4400" dirty="0"/>
              <a:t> </a:t>
            </a:r>
            <a:r>
              <a:rPr sz="4400" spc="-470" dirty="0"/>
              <a:t>mask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27049" y="1880361"/>
            <a:ext cx="9342120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80" dirty="0">
                <a:latin typeface="Tahoma"/>
                <a:cs typeface="Tahoma"/>
              </a:rPr>
              <a:t>A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language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model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probabilistic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model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assign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probabilities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sequence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words. </a:t>
            </a:r>
            <a:r>
              <a:rPr sz="1800" spc="-95" dirty="0">
                <a:latin typeface="Tahoma"/>
                <a:cs typeface="Tahoma"/>
              </a:rPr>
              <a:t>In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practice,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language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model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allows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compute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following: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800">
              <a:latin typeface="Tahoma"/>
              <a:cs typeface="Tahoma"/>
            </a:endParaRPr>
          </a:p>
          <a:p>
            <a:pPr marL="3551554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1266DC"/>
                </a:solidFill>
                <a:latin typeface="Tahoma"/>
                <a:cs typeface="Tahoma"/>
              </a:rPr>
              <a:t>P</a:t>
            </a:r>
            <a:r>
              <a:rPr sz="1800" spc="-35" dirty="0">
                <a:solidFill>
                  <a:srgbClr val="1266DC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solidFill>
                  <a:srgbClr val="1266DC"/>
                </a:solidFill>
                <a:latin typeface="Tahoma"/>
                <a:cs typeface="Tahoma"/>
              </a:rPr>
              <a:t>[</a:t>
            </a:r>
            <a:r>
              <a:rPr sz="1800" spc="-45" dirty="0">
                <a:solidFill>
                  <a:srgbClr val="1266DC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“China” </a:t>
            </a:r>
            <a:r>
              <a:rPr sz="1800" spc="-290" dirty="0">
                <a:solidFill>
                  <a:srgbClr val="1266DC"/>
                </a:solidFill>
                <a:latin typeface="Tahoma"/>
                <a:cs typeface="Tahoma"/>
              </a:rPr>
              <a:t>|</a:t>
            </a:r>
            <a:r>
              <a:rPr sz="1800" spc="-40" dirty="0">
                <a:solidFill>
                  <a:srgbClr val="1266DC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“Shanghai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city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in”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1266DC"/>
                </a:solidFill>
                <a:latin typeface="Tahoma"/>
                <a:cs typeface="Tahoma"/>
              </a:rPr>
              <a:t>]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049" y="5454497"/>
            <a:ext cx="93795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To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model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probability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distribution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above,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each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word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should</a:t>
            </a:r>
            <a:r>
              <a:rPr sz="1800" dirty="0">
                <a:latin typeface="Tahoma"/>
                <a:cs typeface="Tahoma"/>
              </a:rPr>
              <a:t> only </a:t>
            </a:r>
            <a:r>
              <a:rPr sz="1800" spc="90" dirty="0">
                <a:latin typeface="Tahoma"/>
                <a:cs typeface="Tahoma"/>
              </a:rPr>
              <a:t>depend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on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words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 </a:t>
            </a:r>
            <a:r>
              <a:rPr sz="1800" spc="85" dirty="0">
                <a:latin typeface="Tahoma"/>
                <a:cs typeface="Tahoma"/>
              </a:rPr>
              <a:t>come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before</a:t>
            </a:r>
            <a:r>
              <a:rPr sz="1800" b="1" spc="-90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it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spc="-120" dirty="0">
                <a:latin typeface="Tahoma"/>
                <a:cs typeface="Tahoma"/>
              </a:rPr>
              <a:t>(</a:t>
            </a:r>
            <a:r>
              <a:rPr sz="1800" i="1" spc="-120" dirty="0">
                <a:latin typeface="Verdana"/>
                <a:cs typeface="Verdana"/>
              </a:rPr>
              <a:t>left</a:t>
            </a:r>
            <a:r>
              <a:rPr sz="1800" i="1" spc="-204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context</a:t>
            </a:r>
            <a:r>
              <a:rPr sz="1800" spc="-10" dirty="0">
                <a:latin typeface="Tahoma"/>
                <a:cs typeface="Tahoma"/>
              </a:rPr>
              <a:t>).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60" dirty="0">
                <a:latin typeface="Tahoma"/>
                <a:cs typeface="Tahoma"/>
              </a:rPr>
              <a:t>We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will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see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later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BERT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make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both,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left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and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right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context.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7934" y="3141726"/>
            <a:ext cx="2089785" cy="279400"/>
          </a:xfrm>
          <a:custGeom>
            <a:avLst/>
            <a:gdLst/>
            <a:ahLst/>
            <a:cxnLst/>
            <a:rect l="l" t="t" r="r" b="b"/>
            <a:pathLst>
              <a:path w="2089784" h="279400">
                <a:moveTo>
                  <a:pt x="2089404" y="0"/>
                </a:moveTo>
                <a:lnTo>
                  <a:pt x="2087576" y="54256"/>
                </a:lnTo>
                <a:lnTo>
                  <a:pt x="2082593" y="98583"/>
                </a:lnTo>
                <a:lnTo>
                  <a:pt x="2075205" y="128480"/>
                </a:lnTo>
                <a:lnTo>
                  <a:pt x="2066163" y="139446"/>
                </a:lnTo>
                <a:lnTo>
                  <a:pt x="1067942" y="139446"/>
                </a:lnTo>
                <a:lnTo>
                  <a:pt x="1058900" y="150411"/>
                </a:lnTo>
                <a:lnTo>
                  <a:pt x="1051512" y="180308"/>
                </a:lnTo>
                <a:lnTo>
                  <a:pt x="1046529" y="224635"/>
                </a:lnTo>
                <a:lnTo>
                  <a:pt x="1044701" y="278891"/>
                </a:lnTo>
                <a:lnTo>
                  <a:pt x="1042874" y="224635"/>
                </a:lnTo>
                <a:lnTo>
                  <a:pt x="1037891" y="180308"/>
                </a:lnTo>
                <a:lnTo>
                  <a:pt x="1030503" y="150411"/>
                </a:lnTo>
                <a:lnTo>
                  <a:pt x="1021461" y="139446"/>
                </a:lnTo>
                <a:lnTo>
                  <a:pt x="23240" y="139446"/>
                </a:lnTo>
                <a:lnTo>
                  <a:pt x="14198" y="128480"/>
                </a:lnTo>
                <a:lnTo>
                  <a:pt x="6810" y="98583"/>
                </a:lnTo>
                <a:lnTo>
                  <a:pt x="1827" y="54256"/>
                </a:lnTo>
                <a:lnTo>
                  <a:pt x="0" y="0"/>
                </a:lnTo>
              </a:path>
            </a:pathLst>
          </a:custGeom>
          <a:ln w="3810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8202" y="3533902"/>
            <a:ext cx="84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latin typeface="Tahoma"/>
                <a:cs typeface="Tahoma"/>
              </a:rPr>
              <a:t>Prompt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91050" y="3144773"/>
            <a:ext cx="797560" cy="277495"/>
          </a:xfrm>
          <a:custGeom>
            <a:avLst/>
            <a:gdLst/>
            <a:ahLst/>
            <a:cxnLst/>
            <a:rect l="l" t="t" r="r" b="b"/>
            <a:pathLst>
              <a:path w="797560" h="277495">
                <a:moveTo>
                  <a:pt x="797051" y="0"/>
                </a:moveTo>
                <a:lnTo>
                  <a:pt x="795244" y="53976"/>
                </a:lnTo>
                <a:lnTo>
                  <a:pt x="790305" y="98059"/>
                </a:lnTo>
                <a:lnTo>
                  <a:pt x="782960" y="127783"/>
                </a:lnTo>
                <a:lnTo>
                  <a:pt x="773938" y="138684"/>
                </a:lnTo>
                <a:lnTo>
                  <a:pt x="421639" y="138684"/>
                </a:lnTo>
                <a:lnTo>
                  <a:pt x="412617" y="149584"/>
                </a:lnTo>
                <a:lnTo>
                  <a:pt x="405272" y="179308"/>
                </a:lnTo>
                <a:lnTo>
                  <a:pt x="400333" y="223391"/>
                </a:lnTo>
                <a:lnTo>
                  <a:pt x="398525" y="277367"/>
                </a:lnTo>
                <a:lnTo>
                  <a:pt x="396718" y="223391"/>
                </a:lnTo>
                <a:lnTo>
                  <a:pt x="391779" y="179308"/>
                </a:lnTo>
                <a:lnTo>
                  <a:pt x="384434" y="149584"/>
                </a:lnTo>
                <a:lnTo>
                  <a:pt x="375412" y="138684"/>
                </a:lnTo>
                <a:lnTo>
                  <a:pt x="23113" y="138684"/>
                </a:lnTo>
                <a:lnTo>
                  <a:pt x="14091" y="127783"/>
                </a:lnTo>
                <a:lnTo>
                  <a:pt x="6746" y="98059"/>
                </a:lnTo>
                <a:lnTo>
                  <a:pt x="1807" y="53976"/>
                </a:lnTo>
                <a:lnTo>
                  <a:pt x="0" y="0"/>
                </a:lnTo>
              </a:path>
            </a:pathLst>
          </a:custGeom>
          <a:ln w="3810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43146" y="3533902"/>
            <a:ext cx="1276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Tahoma"/>
                <a:cs typeface="Tahoma"/>
              </a:rPr>
              <a:t>Next</a:t>
            </a:r>
            <a:r>
              <a:rPr sz="1800" b="1" spc="-95" dirty="0">
                <a:latin typeface="Tahoma"/>
                <a:cs typeface="Tahoma"/>
              </a:rPr>
              <a:t> </a:t>
            </a:r>
            <a:r>
              <a:rPr sz="1800" b="1" spc="-45" dirty="0">
                <a:latin typeface="Tahoma"/>
                <a:cs typeface="Tahoma"/>
              </a:rPr>
              <a:t>Token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5748" y="4263644"/>
            <a:ext cx="5527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Shanghai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city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China</a:t>
            </a:r>
            <a:r>
              <a:rPr sz="1800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 also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financial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center.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90138" y="4580382"/>
            <a:ext cx="1946275" cy="277495"/>
          </a:xfrm>
          <a:custGeom>
            <a:avLst/>
            <a:gdLst/>
            <a:ahLst/>
            <a:cxnLst/>
            <a:rect l="l" t="t" r="r" b="b"/>
            <a:pathLst>
              <a:path w="1946275" h="277495">
                <a:moveTo>
                  <a:pt x="1946148" y="0"/>
                </a:moveTo>
                <a:lnTo>
                  <a:pt x="1944340" y="53976"/>
                </a:lnTo>
                <a:lnTo>
                  <a:pt x="1939401" y="98059"/>
                </a:lnTo>
                <a:lnTo>
                  <a:pt x="1932056" y="127783"/>
                </a:lnTo>
                <a:lnTo>
                  <a:pt x="1923034" y="138684"/>
                </a:lnTo>
                <a:lnTo>
                  <a:pt x="996188" y="138684"/>
                </a:lnTo>
                <a:lnTo>
                  <a:pt x="987165" y="149584"/>
                </a:lnTo>
                <a:lnTo>
                  <a:pt x="979820" y="179308"/>
                </a:lnTo>
                <a:lnTo>
                  <a:pt x="974881" y="223391"/>
                </a:lnTo>
                <a:lnTo>
                  <a:pt x="973074" y="277368"/>
                </a:lnTo>
                <a:lnTo>
                  <a:pt x="971266" y="223391"/>
                </a:lnTo>
                <a:lnTo>
                  <a:pt x="966327" y="179308"/>
                </a:lnTo>
                <a:lnTo>
                  <a:pt x="958982" y="149584"/>
                </a:lnTo>
                <a:lnTo>
                  <a:pt x="949960" y="138684"/>
                </a:lnTo>
                <a:lnTo>
                  <a:pt x="23113" y="138684"/>
                </a:lnTo>
                <a:lnTo>
                  <a:pt x="14091" y="127783"/>
                </a:lnTo>
                <a:lnTo>
                  <a:pt x="6746" y="98059"/>
                </a:lnTo>
                <a:lnTo>
                  <a:pt x="1807" y="53976"/>
                </a:lnTo>
                <a:lnTo>
                  <a:pt x="0" y="0"/>
                </a:lnTo>
              </a:path>
            </a:pathLst>
          </a:custGeom>
          <a:ln w="3810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96761" y="4601717"/>
            <a:ext cx="2776855" cy="277495"/>
          </a:xfrm>
          <a:custGeom>
            <a:avLst/>
            <a:gdLst/>
            <a:ahLst/>
            <a:cxnLst/>
            <a:rect l="l" t="t" r="r" b="b"/>
            <a:pathLst>
              <a:path w="2776854" h="277495">
                <a:moveTo>
                  <a:pt x="2776728" y="0"/>
                </a:moveTo>
                <a:lnTo>
                  <a:pt x="2774920" y="53976"/>
                </a:lnTo>
                <a:lnTo>
                  <a:pt x="2769981" y="98059"/>
                </a:lnTo>
                <a:lnTo>
                  <a:pt x="2762636" y="127783"/>
                </a:lnTo>
                <a:lnTo>
                  <a:pt x="2753614" y="138683"/>
                </a:lnTo>
                <a:lnTo>
                  <a:pt x="1411478" y="138683"/>
                </a:lnTo>
                <a:lnTo>
                  <a:pt x="1402455" y="149584"/>
                </a:lnTo>
                <a:lnTo>
                  <a:pt x="1395110" y="179308"/>
                </a:lnTo>
                <a:lnTo>
                  <a:pt x="1390171" y="223391"/>
                </a:lnTo>
                <a:lnTo>
                  <a:pt x="1388364" y="277367"/>
                </a:lnTo>
                <a:lnTo>
                  <a:pt x="1386556" y="223391"/>
                </a:lnTo>
                <a:lnTo>
                  <a:pt x="1381617" y="179308"/>
                </a:lnTo>
                <a:lnTo>
                  <a:pt x="1374272" y="149584"/>
                </a:lnTo>
                <a:lnTo>
                  <a:pt x="1365249" y="138683"/>
                </a:lnTo>
                <a:lnTo>
                  <a:pt x="23113" y="138683"/>
                </a:lnTo>
                <a:lnTo>
                  <a:pt x="14091" y="127783"/>
                </a:lnTo>
                <a:lnTo>
                  <a:pt x="6746" y="98059"/>
                </a:lnTo>
                <a:lnTo>
                  <a:pt x="1807" y="53976"/>
                </a:lnTo>
                <a:lnTo>
                  <a:pt x="0" y="0"/>
                </a:lnTo>
              </a:path>
            </a:pathLst>
          </a:custGeom>
          <a:ln w="3810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76973" y="4901641"/>
            <a:ext cx="15125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latin typeface="Tahoma"/>
                <a:cs typeface="Tahoma"/>
              </a:rPr>
              <a:t>Right</a:t>
            </a:r>
            <a:r>
              <a:rPr sz="1800" b="1" spc="-45" dirty="0">
                <a:latin typeface="Tahoma"/>
                <a:cs typeface="Tahoma"/>
              </a:rPr>
              <a:t> </a:t>
            </a:r>
            <a:r>
              <a:rPr sz="1800" b="1" spc="-40" dirty="0">
                <a:latin typeface="Tahoma"/>
                <a:cs typeface="Tahoma"/>
              </a:rPr>
              <a:t>context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8753" y="4966842"/>
            <a:ext cx="1332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Tahoma"/>
                <a:cs typeface="Tahoma"/>
              </a:rPr>
              <a:t>Left</a:t>
            </a:r>
            <a:r>
              <a:rPr sz="1800" b="1" spc="-40" dirty="0">
                <a:latin typeface="Tahoma"/>
                <a:cs typeface="Tahoma"/>
              </a:rPr>
              <a:t> context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ontent Placeholder 77">
            <a:extLst>
              <a:ext uri="{FF2B5EF4-FFF2-40B4-BE49-F238E27FC236}">
                <a16:creationId xmlns:a16="http://schemas.microsoft.com/office/drawing/2014/main" id="{DC5882DD-5A01-8243-2DF0-2D3742004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5" name="Date Placeholder 74">
            <a:extLst>
              <a:ext uri="{FF2B5EF4-FFF2-40B4-BE49-F238E27FC236}">
                <a16:creationId xmlns:a16="http://schemas.microsoft.com/office/drawing/2014/main" id="{E8A2BA91-33F5-6A4D-FADB-A0429859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39909-5661-441F-A53B-7DB83375D092}" type="datetime1">
              <a:rPr lang="en-US" smtClean="0"/>
              <a:t>5/12/2025</a:t>
            </a:fld>
            <a:endParaRPr lang="en-US"/>
          </a:p>
        </p:txBody>
      </p:sp>
      <p:sp>
        <p:nvSpPr>
          <p:cNvPr id="76" name="Footer Placeholder 75">
            <a:extLst>
              <a:ext uri="{FF2B5EF4-FFF2-40B4-BE49-F238E27FC236}">
                <a16:creationId xmlns:a16="http://schemas.microsoft.com/office/drawing/2014/main" id="{8902BE43-7568-180D-772E-7D4E4734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7" name="Slide Number Placeholder 76">
            <a:extLst>
              <a:ext uri="{FF2B5EF4-FFF2-40B4-BE49-F238E27FC236}">
                <a16:creationId xmlns:a16="http://schemas.microsoft.com/office/drawing/2014/main" id="{804C3285-52D5-BC09-8C5A-36073FDA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60" dirty="0"/>
              <a:t>Self-</a:t>
            </a:r>
            <a:r>
              <a:rPr sz="4400" spc="-235" dirty="0"/>
              <a:t>Attention</a:t>
            </a:r>
            <a:r>
              <a:rPr sz="4400" spc="-25" dirty="0"/>
              <a:t> </a:t>
            </a:r>
            <a:r>
              <a:rPr sz="4400" spc="-430" dirty="0"/>
              <a:t>mechanism:</a:t>
            </a:r>
            <a:r>
              <a:rPr sz="4400" spc="-20" dirty="0"/>
              <a:t> </a:t>
            </a:r>
            <a:r>
              <a:rPr sz="4400" spc="-320" dirty="0"/>
              <a:t>causal</a:t>
            </a:r>
            <a:r>
              <a:rPr sz="4400" spc="-10" dirty="0"/>
              <a:t> </a:t>
            </a:r>
            <a:r>
              <a:rPr sz="4400" spc="-470" dirty="0"/>
              <a:t>mask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5464" y="2240533"/>
          <a:ext cx="4964429" cy="3655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16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5.45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4.28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2.46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8.17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3.56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5.54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6.71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0.79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5.43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7.59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3.91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9.03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4.42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7.55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3.14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1.35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7.57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8.36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3.13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6.78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9.00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2.21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3.72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6.30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7.46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6.77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4.08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5.00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4.20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5.72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5.35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7.46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3.55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4.70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∞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8.88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3.65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4.54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5.22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5.51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5.55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1.38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3057" y="2320289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320"/>
              </a:spcBef>
            </a:pPr>
            <a:r>
              <a:rPr sz="800" spc="-10" dirty="0">
                <a:latin typeface="Tahoma"/>
                <a:cs typeface="Tahoma"/>
              </a:rPr>
              <a:t>[SOS]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57" y="2686050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57" y="3050285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57" y="3416046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315"/>
              </a:spcBef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057" y="4146041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57" y="3780282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057" y="4510278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325"/>
              </a:spcBef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57" y="4876038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057" y="5240273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325"/>
              </a:spcBef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57" y="5606034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320"/>
              </a:spcBef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3805" y="1963292"/>
            <a:ext cx="5000625" cy="185420"/>
            <a:chOff x="733805" y="1963292"/>
            <a:chExt cx="5000625" cy="185420"/>
          </a:xfrm>
        </p:grpSpPr>
        <p:sp>
          <p:nvSpPr>
            <p:cNvPr id="15" name="object 15"/>
            <p:cNvSpPr/>
            <p:nvPr/>
          </p:nvSpPr>
          <p:spPr>
            <a:xfrm>
              <a:off x="733806" y="1972830"/>
              <a:ext cx="965200" cy="166370"/>
            </a:xfrm>
            <a:custGeom>
              <a:avLst/>
              <a:gdLst/>
              <a:ahLst/>
              <a:cxnLst/>
              <a:rect l="l" t="t" r="r" b="b"/>
              <a:pathLst>
                <a:path w="965200" h="166369">
                  <a:moveTo>
                    <a:pt x="964692" y="0"/>
                  </a:moveTo>
                  <a:lnTo>
                    <a:pt x="461772" y="0"/>
                  </a:lnTo>
                  <a:lnTo>
                    <a:pt x="458724" y="0"/>
                  </a:lnTo>
                  <a:lnTo>
                    <a:pt x="0" y="0"/>
                  </a:lnTo>
                  <a:lnTo>
                    <a:pt x="0" y="166103"/>
                  </a:lnTo>
                  <a:lnTo>
                    <a:pt x="458724" y="166103"/>
                  </a:lnTo>
                  <a:lnTo>
                    <a:pt x="461772" y="166103"/>
                  </a:lnTo>
                  <a:lnTo>
                    <a:pt x="964692" y="1661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2529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4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95450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4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95450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4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99894" y="1972817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99894" y="1972817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02813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4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02813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4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5733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5733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08654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08654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13097" y="1972817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13097" y="1972817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16017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7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7" y="166115"/>
                  </a:lnTo>
                  <a:lnTo>
                    <a:pt x="505967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16017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7" y="166115"/>
                  </a:lnTo>
                  <a:lnTo>
                    <a:pt x="505967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938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7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7" y="166115"/>
                  </a:lnTo>
                  <a:lnTo>
                    <a:pt x="505967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18938" y="1972817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7" y="166115"/>
                  </a:lnTo>
                  <a:lnTo>
                    <a:pt x="505967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3805" y="1972817"/>
            <a:ext cx="4991100" cy="16637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  <a:tabLst>
                <a:tab pos="554355" algn="l"/>
                <a:tab pos="1143000" algn="l"/>
                <a:tab pos="1621790" algn="l"/>
                <a:tab pos="2142490" algn="l"/>
                <a:tab pos="2695575" algn="l"/>
                <a:tab pos="3118485" algn="l"/>
                <a:tab pos="3684270" algn="l"/>
                <a:tab pos="4095750" algn="l"/>
                <a:tab pos="4594860" algn="l"/>
              </a:tabLst>
            </a:pPr>
            <a:r>
              <a:rPr sz="800" spc="-10" dirty="0">
                <a:latin typeface="Tahoma"/>
                <a:cs typeface="Tahoma"/>
              </a:rPr>
              <a:t>[SOS]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Before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my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30" dirty="0">
                <a:latin typeface="Tahoma"/>
                <a:cs typeface="Tahoma"/>
              </a:rPr>
              <a:t>bed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lies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a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pool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of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moon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0995" y="1263396"/>
            <a:ext cx="1357883" cy="647700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3044698" y="6267754"/>
            <a:ext cx="300355" cy="228600"/>
          </a:xfrm>
          <a:custGeom>
            <a:avLst/>
            <a:gdLst/>
            <a:ahLst/>
            <a:cxnLst/>
            <a:rect l="l" t="t" r="r" b="b"/>
            <a:pathLst>
              <a:path w="300354" h="228600">
                <a:moveTo>
                  <a:pt x="288036" y="39624"/>
                </a:moveTo>
                <a:lnTo>
                  <a:pt x="129413" y="39624"/>
                </a:lnTo>
                <a:lnTo>
                  <a:pt x="129413" y="39103"/>
                </a:lnTo>
                <a:lnTo>
                  <a:pt x="108585" y="39103"/>
                </a:lnTo>
                <a:lnTo>
                  <a:pt x="63500" y="208394"/>
                </a:lnTo>
                <a:lnTo>
                  <a:pt x="37719" y="150952"/>
                </a:lnTo>
                <a:lnTo>
                  <a:pt x="13335" y="162115"/>
                </a:lnTo>
                <a:lnTo>
                  <a:pt x="15621" y="167690"/>
                </a:lnTo>
                <a:lnTo>
                  <a:pt x="28194" y="162115"/>
                </a:lnTo>
                <a:lnTo>
                  <a:pt x="58928" y="228346"/>
                </a:lnTo>
                <a:lnTo>
                  <a:pt x="66167" y="228346"/>
                </a:lnTo>
                <a:lnTo>
                  <a:pt x="114554" y="49009"/>
                </a:lnTo>
                <a:lnTo>
                  <a:pt x="123444" y="49009"/>
                </a:lnTo>
                <a:lnTo>
                  <a:pt x="123444" y="50292"/>
                </a:lnTo>
                <a:lnTo>
                  <a:pt x="288036" y="50292"/>
                </a:lnTo>
                <a:lnTo>
                  <a:pt x="288036" y="39624"/>
                </a:lnTo>
                <a:close/>
              </a:path>
              <a:path w="300354" h="228600">
                <a:moveTo>
                  <a:pt x="300228" y="0"/>
                </a:moveTo>
                <a:lnTo>
                  <a:pt x="0" y="0"/>
                </a:lnTo>
                <a:lnTo>
                  <a:pt x="0" y="10668"/>
                </a:lnTo>
                <a:lnTo>
                  <a:pt x="300228" y="10668"/>
                </a:lnTo>
                <a:lnTo>
                  <a:pt x="3002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007105" y="6036970"/>
            <a:ext cx="367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𝑄𝐾</a:t>
            </a:r>
            <a:r>
              <a:rPr sz="1275" spc="-37" baseline="29411" dirty="0">
                <a:latin typeface="Cambria Math"/>
                <a:cs typeface="Cambria Math"/>
              </a:rPr>
              <a:t>𝑇</a:t>
            </a:r>
            <a:endParaRPr sz="1275" baseline="29411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30550" y="6285382"/>
            <a:ext cx="232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𝑑</a:t>
            </a:r>
            <a:r>
              <a:rPr sz="1275" spc="-37" baseline="-16339" dirty="0">
                <a:latin typeface="Cambria Math"/>
                <a:cs typeface="Cambria Math"/>
              </a:rPr>
              <a:t>𝑘</a:t>
            </a:r>
            <a:endParaRPr sz="1275" baseline="-16339">
              <a:latin typeface="Cambria Math"/>
              <a:cs typeface="Cambria Math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6873367" y="2234692"/>
          <a:ext cx="4964429" cy="3655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16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1.00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0.86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0.92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0.07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0.75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0.48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0.31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0.59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0.71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6211061" y="2314194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20"/>
              </a:spcBef>
            </a:pPr>
            <a:r>
              <a:rPr sz="800" spc="-10" dirty="0">
                <a:latin typeface="Tahoma"/>
                <a:cs typeface="Tahoma"/>
              </a:rPr>
              <a:t>[SOS]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11061" y="2679954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11061" y="3044189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11061" y="3409950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315"/>
              </a:spcBef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11061" y="4139946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211061" y="3774185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11061" y="4504182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320"/>
              </a:spcBef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11061" y="4869941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11061" y="5235702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15"/>
              </a:spcBef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211061" y="5599938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320"/>
              </a:spcBef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61809" y="1957197"/>
            <a:ext cx="5000625" cy="185420"/>
            <a:chOff x="6861809" y="1957197"/>
            <a:chExt cx="5000625" cy="185420"/>
          </a:xfrm>
        </p:grpSpPr>
        <p:sp>
          <p:nvSpPr>
            <p:cNvPr id="50" name="object 50"/>
            <p:cNvSpPr/>
            <p:nvPr/>
          </p:nvSpPr>
          <p:spPr>
            <a:xfrm>
              <a:off x="6861810" y="1966721"/>
              <a:ext cx="965200" cy="166370"/>
            </a:xfrm>
            <a:custGeom>
              <a:avLst/>
              <a:gdLst/>
              <a:ahLst/>
              <a:cxnLst/>
              <a:rect l="l" t="t" r="r" b="b"/>
              <a:pathLst>
                <a:path w="965200" h="166369">
                  <a:moveTo>
                    <a:pt x="964692" y="0"/>
                  </a:moveTo>
                  <a:lnTo>
                    <a:pt x="461772" y="0"/>
                  </a:lnTo>
                  <a:lnTo>
                    <a:pt x="458724" y="0"/>
                  </a:lnTo>
                  <a:lnTo>
                    <a:pt x="0" y="0"/>
                  </a:lnTo>
                  <a:lnTo>
                    <a:pt x="0" y="166116"/>
                  </a:lnTo>
                  <a:lnTo>
                    <a:pt x="458724" y="166116"/>
                  </a:lnTo>
                  <a:lnTo>
                    <a:pt x="461772" y="166116"/>
                  </a:lnTo>
                  <a:lnTo>
                    <a:pt x="964692" y="166116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20533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823453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823453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27897" y="1966722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27897" y="1966722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830817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830817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333737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333737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836657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836657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341101" y="1966722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341101" y="1966722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844021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844021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1346941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1346941" y="1966722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861809" y="1966722"/>
            <a:ext cx="4991100" cy="16637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60"/>
              </a:spcBef>
              <a:tabLst>
                <a:tab pos="554990" algn="l"/>
                <a:tab pos="1143635" algn="l"/>
                <a:tab pos="1622425" algn="l"/>
                <a:tab pos="2143125" algn="l"/>
                <a:tab pos="2696210" algn="l"/>
                <a:tab pos="3119120" algn="l"/>
                <a:tab pos="3684904" algn="l"/>
                <a:tab pos="4097020" algn="l"/>
                <a:tab pos="4595495" algn="l"/>
              </a:tabLst>
            </a:pPr>
            <a:r>
              <a:rPr sz="800" spc="-10" dirty="0">
                <a:latin typeface="Tahoma"/>
                <a:cs typeface="Tahoma"/>
              </a:rPr>
              <a:t>[SOS]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Before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my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30" dirty="0">
                <a:latin typeface="Tahoma"/>
                <a:cs typeface="Tahoma"/>
              </a:rPr>
              <a:t>bed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lies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a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pool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35" dirty="0">
                <a:latin typeface="Tahoma"/>
                <a:cs typeface="Tahoma"/>
              </a:rPr>
              <a:t>of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moon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059418" y="6180226"/>
            <a:ext cx="544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mbria Math"/>
                <a:cs typeface="Cambria Math"/>
              </a:rPr>
              <a:t>softmax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9625203" y="6075248"/>
            <a:ext cx="462280" cy="450850"/>
          </a:xfrm>
          <a:custGeom>
            <a:avLst/>
            <a:gdLst/>
            <a:ahLst/>
            <a:cxnLst/>
            <a:rect l="l" t="t" r="r" b="b"/>
            <a:pathLst>
              <a:path w="462279" h="450850">
                <a:moveTo>
                  <a:pt x="76200" y="5283"/>
                </a:moveTo>
                <a:lnTo>
                  <a:pt x="41478" y="39090"/>
                </a:lnTo>
                <a:lnTo>
                  <a:pt x="18923" y="90411"/>
                </a:lnTo>
                <a:lnTo>
                  <a:pt x="4737" y="152755"/>
                </a:lnTo>
                <a:lnTo>
                  <a:pt x="0" y="225018"/>
                </a:lnTo>
                <a:lnTo>
                  <a:pt x="1181" y="262432"/>
                </a:lnTo>
                <a:lnTo>
                  <a:pt x="10655" y="329958"/>
                </a:lnTo>
                <a:lnTo>
                  <a:pt x="29273" y="387134"/>
                </a:lnTo>
                <a:lnTo>
                  <a:pt x="55511" y="432333"/>
                </a:lnTo>
                <a:lnTo>
                  <a:pt x="71374" y="450342"/>
                </a:lnTo>
                <a:lnTo>
                  <a:pt x="76200" y="445058"/>
                </a:lnTo>
                <a:lnTo>
                  <a:pt x="62052" y="426770"/>
                </a:lnTo>
                <a:lnTo>
                  <a:pt x="49733" y="405574"/>
                </a:lnTo>
                <a:lnTo>
                  <a:pt x="30607" y="354507"/>
                </a:lnTo>
                <a:lnTo>
                  <a:pt x="19062" y="293712"/>
                </a:lnTo>
                <a:lnTo>
                  <a:pt x="15240" y="224878"/>
                </a:lnTo>
                <a:lnTo>
                  <a:pt x="16192" y="189852"/>
                </a:lnTo>
                <a:lnTo>
                  <a:pt x="23863" y="125285"/>
                </a:lnTo>
                <a:lnTo>
                  <a:pt x="39243" y="68884"/>
                </a:lnTo>
                <a:lnTo>
                  <a:pt x="62052" y="23583"/>
                </a:lnTo>
                <a:lnTo>
                  <a:pt x="76200" y="5283"/>
                </a:lnTo>
                <a:close/>
              </a:path>
              <a:path w="462279" h="450850">
                <a:moveTo>
                  <a:pt x="381381" y="219938"/>
                </a:moveTo>
                <a:lnTo>
                  <a:pt x="81153" y="219938"/>
                </a:lnTo>
                <a:lnTo>
                  <a:pt x="81153" y="230606"/>
                </a:lnTo>
                <a:lnTo>
                  <a:pt x="381381" y="230606"/>
                </a:lnTo>
                <a:lnTo>
                  <a:pt x="381381" y="219938"/>
                </a:lnTo>
                <a:close/>
              </a:path>
              <a:path w="462279" h="450850">
                <a:moveTo>
                  <a:pt x="462280" y="224878"/>
                </a:moveTo>
                <a:lnTo>
                  <a:pt x="457593" y="152755"/>
                </a:lnTo>
                <a:lnTo>
                  <a:pt x="443484" y="90411"/>
                </a:lnTo>
                <a:lnTo>
                  <a:pt x="420903" y="39090"/>
                </a:lnTo>
                <a:lnTo>
                  <a:pt x="390906" y="0"/>
                </a:lnTo>
                <a:lnTo>
                  <a:pt x="386207" y="5283"/>
                </a:lnTo>
                <a:lnTo>
                  <a:pt x="400342" y="23583"/>
                </a:lnTo>
                <a:lnTo>
                  <a:pt x="412648" y="44792"/>
                </a:lnTo>
                <a:lnTo>
                  <a:pt x="431673" y="95872"/>
                </a:lnTo>
                <a:lnTo>
                  <a:pt x="443268" y="156616"/>
                </a:lnTo>
                <a:lnTo>
                  <a:pt x="447167" y="225018"/>
                </a:lnTo>
                <a:lnTo>
                  <a:pt x="446189" y="260350"/>
                </a:lnTo>
                <a:lnTo>
                  <a:pt x="438429" y="325094"/>
                </a:lnTo>
                <a:lnTo>
                  <a:pt x="423100" y="381495"/>
                </a:lnTo>
                <a:lnTo>
                  <a:pt x="400342" y="426770"/>
                </a:lnTo>
                <a:lnTo>
                  <a:pt x="386207" y="445058"/>
                </a:lnTo>
                <a:lnTo>
                  <a:pt x="390906" y="450342"/>
                </a:lnTo>
                <a:lnTo>
                  <a:pt x="420903" y="411264"/>
                </a:lnTo>
                <a:lnTo>
                  <a:pt x="443484" y="359930"/>
                </a:lnTo>
                <a:lnTo>
                  <a:pt x="457593" y="297459"/>
                </a:lnTo>
                <a:lnTo>
                  <a:pt x="461098" y="262432"/>
                </a:lnTo>
                <a:lnTo>
                  <a:pt x="462280" y="2248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9669526" y="6064402"/>
            <a:ext cx="367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𝑄𝐾</a:t>
            </a:r>
            <a:r>
              <a:rPr sz="1275" spc="-37" baseline="29411" dirty="0">
                <a:latin typeface="Cambria Math"/>
                <a:cs typeface="Cambria Math"/>
              </a:rPr>
              <a:t>𝑇</a:t>
            </a:r>
            <a:endParaRPr sz="1275" baseline="29411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9719564" y="6334290"/>
            <a:ext cx="274955" cy="189865"/>
          </a:xfrm>
          <a:custGeom>
            <a:avLst/>
            <a:gdLst/>
            <a:ahLst/>
            <a:cxnLst/>
            <a:rect l="l" t="t" r="r" b="b"/>
            <a:pathLst>
              <a:path w="274954" h="189865">
                <a:moveTo>
                  <a:pt x="116204" y="0"/>
                </a:moveTo>
                <a:lnTo>
                  <a:pt x="95376" y="0"/>
                </a:lnTo>
                <a:lnTo>
                  <a:pt x="50164" y="169291"/>
                </a:lnTo>
                <a:lnTo>
                  <a:pt x="24383" y="111848"/>
                </a:lnTo>
                <a:lnTo>
                  <a:pt x="0" y="123012"/>
                </a:lnTo>
                <a:lnTo>
                  <a:pt x="2285" y="128587"/>
                </a:lnTo>
                <a:lnTo>
                  <a:pt x="14858" y="123012"/>
                </a:lnTo>
                <a:lnTo>
                  <a:pt x="45719" y="189242"/>
                </a:lnTo>
                <a:lnTo>
                  <a:pt x="52958" y="189242"/>
                </a:lnTo>
                <a:lnTo>
                  <a:pt x="101345" y="9906"/>
                </a:lnTo>
                <a:lnTo>
                  <a:pt x="110235" y="9906"/>
                </a:lnTo>
                <a:lnTo>
                  <a:pt x="110235" y="11188"/>
                </a:lnTo>
                <a:lnTo>
                  <a:pt x="274827" y="11188"/>
                </a:lnTo>
                <a:lnTo>
                  <a:pt x="274827" y="520"/>
                </a:lnTo>
                <a:lnTo>
                  <a:pt x="116204" y="520"/>
                </a:lnTo>
                <a:lnTo>
                  <a:pt x="1162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9794493" y="6312814"/>
            <a:ext cx="232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𝑑</a:t>
            </a:r>
            <a:r>
              <a:rPr sz="1275" spc="-37" baseline="-16339" dirty="0">
                <a:latin typeface="Cambria Math"/>
                <a:cs typeface="Cambria Math"/>
              </a:rPr>
              <a:t>𝑘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3C5BE16-92F9-E8D4-6685-841C3A9B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3F00D-DA84-4B0B-A66D-7672C88FDD2F}" type="datetime1">
              <a:rPr lang="en-US" smtClean="0"/>
              <a:t>5/12/2025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1F24895-2E0E-E6B8-450D-3A4D3776A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B1C1AA-C1A4-C416-3ED8-711F1E4F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90" dirty="0"/>
              <a:t>Tasks</a:t>
            </a:r>
            <a:r>
              <a:rPr sz="4400" spc="-45" dirty="0"/>
              <a:t> </a:t>
            </a:r>
            <a:r>
              <a:rPr sz="4400" spc="-275" dirty="0"/>
              <a:t>in</a:t>
            </a:r>
            <a:r>
              <a:rPr sz="4400" dirty="0"/>
              <a:t> </a:t>
            </a:r>
            <a:r>
              <a:rPr sz="4400" spc="-310" dirty="0"/>
              <a:t>GPT/LLaMA</a:t>
            </a:r>
            <a:r>
              <a:rPr sz="4400" spc="-35" dirty="0"/>
              <a:t> </a:t>
            </a:r>
            <a:r>
              <a:rPr sz="4400" spc="-509" dirty="0"/>
              <a:t>vs</a:t>
            </a:r>
            <a:r>
              <a:rPr sz="4400" spc="-20" dirty="0"/>
              <a:t> </a:t>
            </a:r>
            <a:r>
              <a:rPr sz="4400" spc="-905" dirty="0"/>
              <a:t>BERT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403730" y="2212340"/>
            <a:ext cx="4052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Question</a:t>
            </a:r>
            <a:r>
              <a:rPr sz="1200" spc="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Answering</a:t>
            </a:r>
            <a:r>
              <a:rPr sz="1200" spc="1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GPT/LLaMA:</a:t>
            </a:r>
            <a:r>
              <a:rPr sz="1200" spc="110" dirty="0">
                <a:latin typeface="Tahoma"/>
                <a:cs typeface="Tahoma"/>
              </a:rPr>
              <a:t> </a:t>
            </a:r>
            <a:r>
              <a:rPr sz="1200" b="1" spc="-35" dirty="0">
                <a:latin typeface="Tahoma"/>
                <a:cs typeface="Tahoma"/>
              </a:rPr>
              <a:t>Prompt</a:t>
            </a:r>
            <a:r>
              <a:rPr sz="1200" b="1" spc="13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Engineering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5198" y="2043116"/>
            <a:ext cx="561340" cy="567690"/>
          </a:xfrm>
          <a:custGeom>
            <a:avLst/>
            <a:gdLst/>
            <a:ahLst/>
            <a:cxnLst/>
            <a:rect l="l" t="t" r="r" b="b"/>
            <a:pathLst>
              <a:path w="561340" h="567689">
                <a:moveTo>
                  <a:pt x="265804" y="520700"/>
                </a:moveTo>
                <a:lnTo>
                  <a:pt x="203484" y="520699"/>
                </a:lnTo>
                <a:lnTo>
                  <a:pt x="214094" y="530859"/>
                </a:lnTo>
                <a:lnTo>
                  <a:pt x="225753" y="541019"/>
                </a:lnTo>
                <a:lnTo>
                  <a:pt x="265913" y="561340"/>
                </a:lnTo>
                <a:lnTo>
                  <a:pt x="310446" y="567690"/>
                </a:lnTo>
                <a:lnTo>
                  <a:pt x="333034" y="566420"/>
                </a:lnTo>
                <a:lnTo>
                  <a:pt x="354936" y="561340"/>
                </a:lnTo>
                <a:lnTo>
                  <a:pt x="375751" y="552450"/>
                </a:lnTo>
                <a:lnTo>
                  <a:pt x="395077" y="541020"/>
                </a:lnTo>
                <a:lnTo>
                  <a:pt x="406560" y="530860"/>
                </a:lnTo>
                <a:lnTo>
                  <a:pt x="310482" y="530860"/>
                </a:lnTo>
                <a:lnTo>
                  <a:pt x="291980" y="529590"/>
                </a:lnTo>
                <a:lnTo>
                  <a:pt x="274167" y="524510"/>
                </a:lnTo>
                <a:lnTo>
                  <a:pt x="265804" y="520700"/>
                </a:lnTo>
                <a:close/>
              </a:path>
              <a:path w="561340" h="567689">
                <a:moveTo>
                  <a:pt x="420914" y="264160"/>
                </a:moveTo>
                <a:lnTo>
                  <a:pt x="368227" y="264160"/>
                </a:lnTo>
                <a:lnTo>
                  <a:pt x="416140" y="290830"/>
                </a:lnTo>
                <a:lnTo>
                  <a:pt x="416389" y="290830"/>
                </a:lnTo>
                <a:lnTo>
                  <a:pt x="416602" y="292100"/>
                </a:lnTo>
                <a:lnTo>
                  <a:pt x="417065" y="292100"/>
                </a:lnTo>
                <a:lnTo>
                  <a:pt x="416942" y="425450"/>
                </a:lnTo>
                <a:lnTo>
                  <a:pt x="414977" y="445770"/>
                </a:lnTo>
                <a:lnTo>
                  <a:pt x="399123" y="483870"/>
                </a:lnTo>
                <a:lnTo>
                  <a:pt x="369594" y="513080"/>
                </a:lnTo>
                <a:lnTo>
                  <a:pt x="331372" y="529590"/>
                </a:lnTo>
                <a:lnTo>
                  <a:pt x="310482" y="530860"/>
                </a:lnTo>
                <a:lnTo>
                  <a:pt x="406560" y="530860"/>
                </a:lnTo>
                <a:lnTo>
                  <a:pt x="412302" y="525780"/>
                </a:lnTo>
                <a:lnTo>
                  <a:pt x="426916" y="509270"/>
                </a:lnTo>
                <a:lnTo>
                  <a:pt x="438667" y="490220"/>
                </a:lnTo>
                <a:lnTo>
                  <a:pt x="447307" y="468630"/>
                </a:lnTo>
                <a:lnTo>
                  <a:pt x="461928" y="464820"/>
                </a:lnTo>
                <a:lnTo>
                  <a:pt x="502158" y="444500"/>
                </a:lnTo>
                <a:lnTo>
                  <a:pt x="521873" y="427990"/>
                </a:lnTo>
                <a:lnTo>
                  <a:pt x="454328" y="427990"/>
                </a:lnTo>
                <a:lnTo>
                  <a:pt x="454352" y="290830"/>
                </a:lnTo>
                <a:lnTo>
                  <a:pt x="453510" y="287020"/>
                </a:lnTo>
                <a:lnTo>
                  <a:pt x="450260" y="281940"/>
                </a:lnTo>
                <a:lnTo>
                  <a:pt x="447912" y="279400"/>
                </a:lnTo>
                <a:lnTo>
                  <a:pt x="445077" y="278130"/>
                </a:lnTo>
                <a:lnTo>
                  <a:pt x="420914" y="264160"/>
                </a:lnTo>
                <a:close/>
              </a:path>
              <a:path w="561340" h="567689">
                <a:moveTo>
                  <a:pt x="250828" y="0"/>
                </a:moveTo>
                <a:lnTo>
                  <a:pt x="206355" y="7619"/>
                </a:lnTo>
                <a:lnTo>
                  <a:pt x="166232" y="27939"/>
                </a:lnTo>
                <a:lnTo>
                  <a:pt x="134398" y="59689"/>
                </a:lnTo>
                <a:lnTo>
                  <a:pt x="114002" y="99059"/>
                </a:lnTo>
                <a:lnTo>
                  <a:pt x="99382" y="102869"/>
                </a:lnTo>
                <a:lnTo>
                  <a:pt x="59154" y="123189"/>
                </a:lnTo>
                <a:lnTo>
                  <a:pt x="27337" y="154939"/>
                </a:lnTo>
                <a:lnTo>
                  <a:pt x="2965" y="209549"/>
                </a:lnTo>
                <a:lnTo>
                  <a:pt x="0" y="232409"/>
                </a:lnTo>
                <a:lnTo>
                  <a:pt x="576" y="255269"/>
                </a:lnTo>
                <a:lnTo>
                  <a:pt x="4711" y="276859"/>
                </a:lnTo>
                <a:lnTo>
                  <a:pt x="12243" y="298449"/>
                </a:lnTo>
                <a:lnTo>
                  <a:pt x="23001" y="317499"/>
                </a:lnTo>
                <a:lnTo>
                  <a:pt x="36815" y="335279"/>
                </a:lnTo>
                <a:lnTo>
                  <a:pt x="32813" y="350519"/>
                </a:lnTo>
                <a:lnTo>
                  <a:pt x="30388" y="365759"/>
                </a:lnTo>
                <a:lnTo>
                  <a:pt x="29553" y="379729"/>
                </a:lnTo>
                <a:lnTo>
                  <a:pt x="30323" y="394969"/>
                </a:lnTo>
                <a:lnTo>
                  <a:pt x="42072" y="438149"/>
                </a:lnTo>
                <a:lnTo>
                  <a:pt x="61799" y="471169"/>
                </a:lnTo>
                <a:lnTo>
                  <a:pt x="95121" y="500379"/>
                </a:lnTo>
                <a:lnTo>
                  <a:pt x="136378" y="519429"/>
                </a:lnTo>
                <a:lnTo>
                  <a:pt x="181028" y="523239"/>
                </a:lnTo>
                <a:lnTo>
                  <a:pt x="203484" y="520699"/>
                </a:lnTo>
                <a:lnTo>
                  <a:pt x="265804" y="520700"/>
                </a:lnTo>
                <a:lnTo>
                  <a:pt x="257440" y="516889"/>
                </a:lnTo>
                <a:lnTo>
                  <a:pt x="242194" y="506729"/>
                </a:lnTo>
                <a:lnTo>
                  <a:pt x="244578" y="505459"/>
                </a:lnTo>
                <a:lnTo>
                  <a:pt x="245562" y="504189"/>
                </a:lnTo>
                <a:lnTo>
                  <a:pt x="276676" y="486410"/>
                </a:lnTo>
                <a:lnTo>
                  <a:pt x="166793" y="486409"/>
                </a:lnTo>
                <a:lnTo>
                  <a:pt x="146071" y="482599"/>
                </a:lnTo>
                <a:lnTo>
                  <a:pt x="108741" y="464819"/>
                </a:lnTo>
                <a:lnTo>
                  <a:pt x="81278" y="433069"/>
                </a:lnTo>
                <a:lnTo>
                  <a:pt x="66978" y="380999"/>
                </a:lnTo>
                <a:lnTo>
                  <a:pt x="68551" y="361949"/>
                </a:lnTo>
                <a:lnTo>
                  <a:pt x="143393" y="361949"/>
                </a:lnTo>
                <a:lnTo>
                  <a:pt x="90504" y="331469"/>
                </a:lnTo>
                <a:lnTo>
                  <a:pt x="59256" y="304799"/>
                </a:lnTo>
                <a:lnTo>
                  <a:pt x="40870" y="266699"/>
                </a:lnTo>
                <a:lnTo>
                  <a:pt x="37453" y="246379"/>
                </a:lnTo>
                <a:lnTo>
                  <a:pt x="38132" y="226059"/>
                </a:lnTo>
                <a:lnTo>
                  <a:pt x="51460" y="186689"/>
                </a:lnTo>
                <a:lnTo>
                  <a:pt x="90181" y="147319"/>
                </a:lnTo>
                <a:lnTo>
                  <a:pt x="106993" y="139699"/>
                </a:lnTo>
                <a:lnTo>
                  <a:pt x="144420" y="139699"/>
                </a:lnTo>
                <a:lnTo>
                  <a:pt x="145231" y="128269"/>
                </a:lnTo>
                <a:lnTo>
                  <a:pt x="160824" y="86359"/>
                </a:lnTo>
                <a:lnTo>
                  <a:pt x="192385" y="54609"/>
                </a:lnTo>
                <a:lnTo>
                  <a:pt x="234383" y="38099"/>
                </a:lnTo>
                <a:lnTo>
                  <a:pt x="249379" y="36829"/>
                </a:lnTo>
                <a:lnTo>
                  <a:pt x="347178" y="36830"/>
                </a:lnTo>
                <a:lnTo>
                  <a:pt x="335516" y="27940"/>
                </a:lnTo>
                <a:lnTo>
                  <a:pt x="322909" y="19050"/>
                </a:lnTo>
                <a:lnTo>
                  <a:pt x="309462" y="12700"/>
                </a:lnTo>
                <a:lnTo>
                  <a:pt x="295355" y="6350"/>
                </a:lnTo>
                <a:lnTo>
                  <a:pt x="280798" y="2540"/>
                </a:lnTo>
                <a:lnTo>
                  <a:pt x="250828" y="0"/>
                </a:lnTo>
                <a:close/>
              </a:path>
              <a:path w="561340" h="567689">
                <a:moveTo>
                  <a:pt x="368227" y="349250"/>
                </a:moveTo>
                <a:lnTo>
                  <a:pt x="342266" y="349250"/>
                </a:lnTo>
                <a:lnTo>
                  <a:pt x="342266" y="405130"/>
                </a:lnTo>
                <a:lnTo>
                  <a:pt x="341993" y="406400"/>
                </a:lnTo>
                <a:lnTo>
                  <a:pt x="341578" y="406400"/>
                </a:lnTo>
                <a:lnTo>
                  <a:pt x="227001" y="472439"/>
                </a:lnTo>
                <a:lnTo>
                  <a:pt x="207860" y="481329"/>
                </a:lnTo>
                <a:lnTo>
                  <a:pt x="187590" y="485139"/>
                </a:lnTo>
                <a:lnTo>
                  <a:pt x="166793" y="486409"/>
                </a:lnTo>
                <a:lnTo>
                  <a:pt x="276676" y="486410"/>
                </a:lnTo>
                <a:lnTo>
                  <a:pt x="358905" y="439420"/>
                </a:lnTo>
                <a:lnTo>
                  <a:pt x="361751" y="438150"/>
                </a:lnTo>
                <a:lnTo>
                  <a:pt x="364123" y="435610"/>
                </a:lnTo>
                <a:lnTo>
                  <a:pt x="367396" y="429260"/>
                </a:lnTo>
                <a:lnTo>
                  <a:pt x="368250" y="426720"/>
                </a:lnTo>
                <a:lnTo>
                  <a:pt x="368227" y="349250"/>
                </a:lnTo>
                <a:close/>
              </a:path>
              <a:path w="561340" h="567689">
                <a:moveTo>
                  <a:pt x="143393" y="361949"/>
                </a:moveTo>
                <a:lnTo>
                  <a:pt x="68551" y="361949"/>
                </a:lnTo>
                <a:lnTo>
                  <a:pt x="70864" y="363219"/>
                </a:lnTo>
                <a:lnTo>
                  <a:pt x="185267" y="429259"/>
                </a:lnTo>
                <a:lnTo>
                  <a:pt x="188090" y="430529"/>
                </a:lnTo>
                <a:lnTo>
                  <a:pt x="191304" y="431799"/>
                </a:lnTo>
                <a:lnTo>
                  <a:pt x="197850" y="431799"/>
                </a:lnTo>
                <a:lnTo>
                  <a:pt x="201064" y="430529"/>
                </a:lnTo>
                <a:lnTo>
                  <a:pt x="203887" y="429259"/>
                </a:lnTo>
                <a:lnTo>
                  <a:pt x="258799" y="397509"/>
                </a:lnTo>
                <a:lnTo>
                  <a:pt x="205097" y="397509"/>
                </a:lnTo>
                <a:lnTo>
                  <a:pt x="143393" y="361949"/>
                </a:lnTo>
                <a:close/>
              </a:path>
              <a:path w="561340" h="567689">
                <a:moveTo>
                  <a:pt x="431047" y="170180"/>
                </a:moveTo>
                <a:lnTo>
                  <a:pt x="356213" y="170180"/>
                </a:lnTo>
                <a:lnTo>
                  <a:pt x="470813" y="236220"/>
                </a:lnTo>
                <a:lnTo>
                  <a:pt x="483342" y="245110"/>
                </a:lnTo>
                <a:lnTo>
                  <a:pt x="512049" y="279400"/>
                </a:lnTo>
                <a:lnTo>
                  <a:pt x="523974" y="322580"/>
                </a:lnTo>
                <a:lnTo>
                  <a:pt x="523755" y="337820"/>
                </a:lnTo>
                <a:lnTo>
                  <a:pt x="510577" y="381000"/>
                </a:lnTo>
                <a:lnTo>
                  <a:pt x="480824" y="414020"/>
                </a:lnTo>
                <a:lnTo>
                  <a:pt x="454328" y="427990"/>
                </a:lnTo>
                <a:lnTo>
                  <a:pt x="521873" y="427990"/>
                </a:lnTo>
                <a:lnTo>
                  <a:pt x="551913" y="379730"/>
                </a:lnTo>
                <a:lnTo>
                  <a:pt x="561281" y="336550"/>
                </a:lnTo>
                <a:lnTo>
                  <a:pt x="560697" y="313690"/>
                </a:lnTo>
                <a:lnTo>
                  <a:pt x="556559" y="292100"/>
                </a:lnTo>
                <a:lnTo>
                  <a:pt x="549025" y="270510"/>
                </a:lnTo>
                <a:lnTo>
                  <a:pt x="538266" y="250190"/>
                </a:lnTo>
                <a:lnTo>
                  <a:pt x="524454" y="232410"/>
                </a:lnTo>
                <a:lnTo>
                  <a:pt x="528457" y="218440"/>
                </a:lnTo>
                <a:lnTo>
                  <a:pt x="530478" y="205740"/>
                </a:lnTo>
                <a:lnTo>
                  <a:pt x="492765" y="205740"/>
                </a:lnTo>
                <a:lnTo>
                  <a:pt x="490453" y="204470"/>
                </a:lnTo>
                <a:lnTo>
                  <a:pt x="431047" y="170180"/>
                </a:lnTo>
                <a:close/>
              </a:path>
              <a:path w="561340" h="567689">
                <a:moveTo>
                  <a:pt x="144420" y="139699"/>
                </a:moveTo>
                <a:lnTo>
                  <a:pt x="106993" y="139699"/>
                </a:lnTo>
                <a:lnTo>
                  <a:pt x="106910" y="278129"/>
                </a:lnTo>
                <a:lnTo>
                  <a:pt x="107764" y="280669"/>
                </a:lnTo>
                <a:lnTo>
                  <a:pt x="111037" y="287019"/>
                </a:lnTo>
                <a:lnTo>
                  <a:pt x="113398" y="288289"/>
                </a:lnTo>
                <a:lnTo>
                  <a:pt x="254623" y="370839"/>
                </a:lnTo>
                <a:lnTo>
                  <a:pt x="206710" y="397509"/>
                </a:lnTo>
                <a:lnTo>
                  <a:pt x="258799" y="397509"/>
                </a:lnTo>
                <a:lnTo>
                  <a:pt x="331283" y="355600"/>
                </a:lnTo>
                <a:lnTo>
                  <a:pt x="280655" y="355600"/>
                </a:lnTo>
                <a:lnTo>
                  <a:pt x="219020" y="320039"/>
                </a:lnTo>
                <a:lnTo>
                  <a:pt x="219020" y="304799"/>
                </a:lnTo>
                <a:lnTo>
                  <a:pt x="193000" y="304799"/>
                </a:lnTo>
                <a:lnTo>
                  <a:pt x="144826" y="276859"/>
                </a:lnTo>
                <a:lnTo>
                  <a:pt x="144280" y="276859"/>
                </a:lnTo>
                <a:lnTo>
                  <a:pt x="144185" y="275589"/>
                </a:lnTo>
                <a:lnTo>
                  <a:pt x="144240" y="142239"/>
                </a:lnTo>
                <a:lnTo>
                  <a:pt x="144420" y="139699"/>
                </a:lnTo>
                <a:close/>
              </a:path>
              <a:path w="561340" h="567689">
                <a:moveTo>
                  <a:pt x="333047" y="213360"/>
                </a:moveTo>
                <a:lnTo>
                  <a:pt x="280655" y="213360"/>
                </a:lnTo>
                <a:lnTo>
                  <a:pt x="342289" y="248920"/>
                </a:lnTo>
                <a:lnTo>
                  <a:pt x="342289" y="320040"/>
                </a:lnTo>
                <a:lnTo>
                  <a:pt x="280655" y="355600"/>
                </a:lnTo>
                <a:lnTo>
                  <a:pt x="331283" y="355600"/>
                </a:lnTo>
                <a:lnTo>
                  <a:pt x="342266" y="349250"/>
                </a:lnTo>
                <a:lnTo>
                  <a:pt x="368227" y="349250"/>
                </a:lnTo>
                <a:lnTo>
                  <a:pt x="368227" y="264160"/>
                </a:lnTo>
                <a:lnTo>
                  <a:pt x="420914" y="264160"/>
                </a:lnTo>
                <a:lnTo>
                  <a:pt x="333047" y="213360"/>
                </a:lnTo>
                <a:close/>
              </a:path>
              <a:path w="561340" h="567689">
                <a:moveTo>
                  <a:pt x="347178" y="36830"/>
                </a:moveTo>
                <a:lnTo>
                  <a:pt x="249379" y="36829"/>
                </a:lnTo>
                <a:lnTo>
                  <a:pt x="264478" y="38100"/>
                </a:lnTo>
                <a:lnTo>
                  <a:pt x="279304" y="40640"/>
                </a:lnTo>
                <a:lnTo>
                  <a:pt x="293490" y="45720"/>
                </a:lnTo>
                <a:lnTo>
                  <a:pt x="306826" y="53340"/>
                </a:lnTo>
                <a:lnTo>
                  <a:pt x="319104" y="62230"/>
                </a:lnTo>
                <a:lnTo>
                  <a:pt x="316732" y="63500"/>
                </a:lnTo>
                <a:lnTo>
                  <a:pt x="315736" y="63500"/>
                </a:lnTo>
                <a:lnTo>
                  <a:pt x="202393" y="129539"/>
                </a:lnTo>
                <a:lnTo>
                  <a:pt x="193000" y="304799"/>
                </a:lnTo>
                <a:lnTo>
                  <a:pt x="219020" y="304799"/>
                </a:lnTo>
                <a:lnTo>
                  <a:pt x="219020" y="248919"/>
                </a:lnTo>
                <a:lnTo>
                  <a:pt x="271850" y="218440"/>
                </a:lnTo>
                <a:lnTo>
                  <a:pt x="219044" y="218439"/>
                </a:lnTo>
                <a:lnTo>
                  <a:pt x="219032" y="162559"/>
                </a:lnTo>
                <a:lnTo>
                  <a:pt x="219731" y="162559"/>
                </a:lnTo>
                <a:lnTo>
                  <a:pt x="334308" y="96520"/>
                </a:lnTo>
                <a:lnTo>
                  <a:pt x="347909" y="88900"/>
                </a:lnTo>
                <a:lnTo>
                  <a:pt x="362236" y="85090"/>
                </a:lnTo>
                <a:lnTo>
                  <a:pt x="377068" y="82550"/>
                </a:lnTo>
                <a:lnTo>
                  <a:pt x="392183" y="81280"/>
                </a:lnTo>
                <a:lnTo>
                  <a:pt x="483993" y="81280"/>
                </a:lnTo>
                <a:lnTo>
                  <a:pt x="466150" y="67310"/>
                </a:lnTo>
                <a:lnTo>
                  <a:pt x="446251" y="57150"/>
                </a:lnTo>
                <a:lnTo>
                  <a:pt x="424896" y="49530"/>
                </a:lnTo>
                <a:lnTo>
                  <a:pt x="417516" y="48260"/>
                </a:lnTo>
                <a:lnTo>
                  <a:pt x="357790" y="48260"/>
                </a:lnTo>
                <a:lnTo>
                  <a:pt x="347178" y="36830"/>
                </a:lnTo>
                <a:close/>
              </a:path>
              <a:path w="561340" h="567689">
                <a:moveTo>
                  <a:pt x="370006" y="135890"/>
                </a:moveTo>
                <a:lnTo>
                  <a:pt x="363471" y="135890"/>
                </a:lnTo>
                <a:lnTo>
                  <a:pt x="360257" y="137160"/>
                </a:lnTo>
                <a:lnTo>
                  <a:pt x="357434" y="138430"/>
                </a:lnTo>
                <a:lnTo>
                  <a:pt x="219044" y="218439"/>
                </a:lnTo>
                <a:lnTo>
                  <a:pt x="271850" y="218440"/>
                </a:lnTo>
                <a:lnTo>
                  <a:pt x="280655" y="213360"/>
                </a:lnTo>
                <a:lnTo>
                  <a:pt x="333047" y="213360"/>
                </a:lnTo>
                <a:lnTo>
                  <a:pt x="306687" y="198120"/>
                </a:lnTo>
                <a:lnTo>
                  <a:pt x="354600" y="170180"/>
                </a:lnTo>
                <a:lnTo>
                  <a:pt x="431047" y="170180"/>
                </a:lnTo>
                <a:lnTo>
                  <a:pt x="376042" y="138430"/>
                </a:lnTo>
                <a:lnTo>
                  <a:pt x="373220" y="137160"/>
                </a:lnTo>
                <a:lnTo>
                  <a:pt x="370006" y="135890"/>
                </a:lnTo>
                <a:close/>
              </a:path>
              <a:path w="561340" h="567689">
                <a:moveTo>
                  <a:pt x="483993" y="81280"/>
                </a:moveTo>
                <a:lnTo>
                  <a:pt x="392183" y="81280"/>
                </a:lnTo>
                <a:lnTo>
                  <a:pt x="407206" y="83820"/>
                </a:lnTo>
                <a:lnTo>
                  <a:pt x="421764" y="87630"/>
                </a:lnTo>
                <a:lnTo>
                  <a:pt x="460385" y="110490"/>
                </a:lnTo>
                <a:lnTo>
                  <a:pt x="486041" y="147320"/>
                </a:lnTo>
                <a:lnTo>
                  <a:pt x="494259" y="191770"/>
                </a:lnTo>
                <a:lnTo>
                  <a:pt x="492765" y="205740"/>
                </a:lnTo>
                <a:lnTo>
                  <a:pt x="530478" y="205740"/>
                </a:lnTo>
                <a:lnTo>
                  <a:pt x="530882" y="203200"/>
                </a:lnTo>
                <a:lnTo>
                  <a:pt x="531716" y="187960"/>
                </a:lnTo>
                <a:lnTo>
                  <a:pt x="530941" y="172720"/>
                </a:lnTo>
                <a:lnTo>
                  <a:pt x="519194" y="129540"/>
                </a:lnTo>
                <a:lnTo>
                  <a:pt x="499468" y="97790"/>
                </a:lnTo>
                <a:lnTo>
                  <a:pt x="483993" y="81280"/>
                </a:lnTo>
                <a:close/>
              </a:path>
              <a:path w="561340" h="567689">
                <a:moveTo>
                  <a:pt x="380246" y="44450"/>
                </a:moveTo>
                <a:lnTo>
                  <a:pt x="357790" y="48260"/>
                </a:lnTo>
                <a:lnTo>
                  <a:pt x="417516" y="48260"/>
                </a:lnTo>
                <a:lnTo>
                  <a:pt x="402755" y="45720"/>
                </a:lnTo>
                <a:lnTo>
                  <a:pt x="380246" y="44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38415" y="2209622"/>
            <a:ext cx="29387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Question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Answering</a:t>
            </a:r>
            <a:r>
              <a:rPr sz="1200" spc="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5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BERT:</a:t>
            </a:r>
            <a:r>
              <a:rPr sz="1200" spc="55" dirty="0">
                <a:latin typeface="Tahoma"/>
                <a:cs typeface="Tahoma"/>
              </a:rPr>
              <a:t> </a:t>
            </a:r>
            <a:r>
              <a:rPr sz="1200" b="1" spc="-30" dirty="0">
                <a:latin typeface="Tahoma"/>
                <a:cs typeface="Tahoma"/>
              </a:rPr>
              <a:t>Fine</a:t>
            </a:r>
            <a:r>
              <a:rPr sz="1200" b="1" spc="1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Tuning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423" y="3062907"/>
            <a:ext cx="5205984" cy="22353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0256" y="1918716"/>
            <a:ext cx="943355" cy="7056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02295" y="2955035"/>
            <a:ext cx="2836545" cy="739140"/>
          </a:xfrm>
          <a:prstGeom prst="rect">
            <a:avLst/>
          </a:prstGeom>
          <a:solidFill>
            <a:srgbClr val="ED7660"/>
          </a:solidFill>
          <a:ln w="12700">
            <a:solidFill>
              <a:srgbClr val="632D23"/>
            </a:solidFill>
          </a:ln>
        </p:spPr>
        <p:txBody>
          <a:bodyPr vert="horz" wrap="square" lIns="0" tIns="221615" rIns="0" bIns="0" rtlCol="0">
            <a:spAutoFit/>
          </a:bodyPr>
          <a:lstStyle/>
          <a:p>
            <a:pPr marL="537845">
              <a:lnSpc>
                <a:spcPct val="100000"/>
              </a:lnSpc>
              <a:spcBef>
                <a:spcPts val="1745"/>
              </a:spcBef>
            </a:pP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Pre-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Trained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BERT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64752" y="3694938"/>
            <a:ext cx="114300" cy="572135"/>
          </a:xfrm>
          <a:custGeom>
            <a:avLst/>
            <a:gdLst/>
            <a:ahLst/>
            <a:cxnLst/>
            <a:rect l="l" t="t" r="r" b="b"/>
            <a:pathLst>
              <a:path w="114300" h="572135">
                <a:moveTo>
                  <a:pt x="38100" y="457326"/>
                </a:moveTo>
                <a:lnTo>
                  <a:pt x="0" y="457326"/>
                </a:lnTo>
                <a:lnTo>
                  <a:pt x="57150" y="571626"/>
                </a:lnTo>
                <a:lnTo>
                  <a:pt x="104775" y="476376"/>
                </a:lnTo>
                <a:lnTo>
                  <a:pt x="38100" y="476376"/>
                </a:lnTo>
                <a:lnTo>
                  <a:pt x="38100" y="457326"/>
                </a:lnTo>
                <a:close/>
              </a:path>
              <a:path w="114300" h="572135">
                <a:moveTo>
                  <a:pt x="76200" y="0"/>
                </a:moveTo>
                <a:lnTo>
                  <a:pt x="38100" y="0"/>
                </a:lnTo>
                <a:lnTo>
                  <a:pt x="38100" y="476376"/>
                </a:lnTo>
                <a:lnTo>
                  <a:pt x="76200" y="476376"/>
                </a:lnTo>
                <a:lnTo>
                  <a:pt x="76200" y="0"/>
                </a:lnTo>
                <a:close/>
              </a:path>
              <a:path w="114300" h="572135">
                <a:moveTo>
                  <a:pt x="114300" y="457326"/>
                </a:moveTo>
                <a:lnTo>
                  <a:pt x="76200" y="457326"/>
                </a:lnTo>
                <a:lnTo>
                  <a:pt x="76200" y="476376"/>
                </a:lnTo>
                <a:lnTo>
                  <a:pt x="104775" y="476376"/>
                </a:lnTo>
                <a:lnTo>
                  <a:pt x="114300" y="457326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702295" y="4271771"/>
            <a:ext cx="2836545" cy="739140"/>
          </a:xfrm>
          <a:prstGeom prst="rect">
            <a:avLst/>
          </a:prstGeom>
          <a:solidFill>
            <a:srgbClr val="FF9413"/>
          </a:solidFill>
          <a:ln w="12700">
            <a:solidFill>
              <a:srgbClr val="6C3B03"/>
            </a:solidFill>
          </a:ln>
        </p:spPr>
        <p:txBody>
          <a:bodyPr vert="horz" wrap="square" lIns="0" tIns="222885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755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Fine</a:t>
            </a:r>
            <a:r>
              <a:rPr sz="18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Tune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80" dirty="0">
                <a:solidFill>
                  <a:srgbClr val="FFFFFF"/>
                </a:solidFill>
                <a:latin typeface="Tahoma"/>
                <a:cs typeface="Tahoma"/>
              </a:rPr>
              <a:t>QA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D109858-705B-9798-9229-80320C323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C6CA7E1-99B1-1637-0009-C2CC4AD5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11B5-4285-480B-841E-05186B6998C8}" type="datetime1">
              <a:rPr lang="en-US" smtClean="0"/>
              <a:t>5/12/2025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B95F599-12E6-B5C1-1748-3460E5C35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39C219E-58E6-7D2C-1900-BD54E23C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- Bidirectional Encoder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0ED145-8C06-0853-267D-95A31F55B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1200"/>
            <a:ext cx="8092023" cy="375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62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ERT Mountain">
            <a:extLst>
              <a:ext uri="{FF2B5EF4-FFF2-40B4-BE49-F238E27FC236}">
                <a16:creationId xmlns:a16="http://schemas.microsoft.com/office/drawing/2014/main" id="{3F0D8749-B493-92D8-A184-886A5E8370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58057" y="1600200"/>
            <a:ext cx="7075885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F9779-A4E2-D8F0-07F1-6B2D0BBF8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13EC4-9382-4815-BC03-52FA9CDD7B91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1A057F-6346-3CA2-600A-3518527F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64031-8BBD-EBAA-829D-C736B83B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C6EE3F6-E14D-5C1C-94FA-C25D81B9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</a:p>
        </p:txBody>
      </p:sp>
    </p:spTree>
    <p:extLst>
      <p:ext uri="{BB962C8B-B14F-4D97-AF65-F5344CB8AC3E}">
        <p14:creationId xmlns:p14="http://schemas.microsoft.com/office/powerpoint/2010/main" val="38386698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51282" y="871220"/>
            <a:ext cx="3879850" cy="5605780"/>
            <a:chOff x="8121507" y="1105595"/>
            <a:chExt cx="3879850" cy="5605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995" y="1105595"/>
              <a:ext cx="3809225" cy="56053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5" y="0"/>
                  </a:moveTo>
                  <a:lnTo>
                    <a:pt x="329299" y="0"/>
                  </a:lnTo>
                  <a:lnTo>
                    <a:pt x="280638" y="3570"/>
                  </a:lnTo>
                  <a:lnTo>
                    <a:pt x="234193" y="13942"/>
                  </a:lnTo>
                  <a:lnTo>
                    <a:pt x="190475" y="30606"/>
                  </a:lnTo>
                  <a:lnTo>
                    <a:pt x="149992" y="53052"/>
                  </a:lnTo>
                  <a:lnTo>
                    <a:pt x="113255" y="80771"/>
                  </a:lnTo>
                  <a:lnTo>
                    <a:pt x="80771" y="113255"/>
                  </a:lnTo>
                  <a:lnTo>
                    <a:pt x="53052" y="149992"/>
                  </a:lnTo>
                  <a:lnTo>
                    <a:pt x="30606" y="190475"/>
                  </a:lnTo>
                  <a:lnTo>
                    <a:pt x="13942" y="234193"/>
                  </a:lnTo>
                  <a:lnTo>
                    <a:pt x="3570" y="280638"/>
                  </a:lnTo>
                  <a:lnTo>
                    <a:pt x="0" y="329299"/>
                  </a:lnTo>
                  <a:lnTo>
                    <a:pt x="0" y="2854773"/>
                  </a:lnTo>
                  <a:lnTo>
                    <a:pt x="3570" y="2903434"/>
                  </a:lnTo>
                  <a:lnTo>
                    <a:pt x="13942" y="2949879"/>
                  </a:lnTo>
                  <a:lnTo>
                    <a:pt x="30606" y="2993597"/>
                  </a:lnTo>
                  <a:lnTo>
                    <a:pt x="53052" y="3034080"/>
                  </a:lnTo>
                  <a:lnTo>
                    <a:pt x="80771" y="3070818"/>
                  </a:lnTo>
                  <a:lnTo>
                    <a:pt x="113255" y="3103301"/>
                  </a:lnTo>
                  <a:lnTo>
                    <a:pt x="149992" y="3131020"/>
                  </a:lnTo>
                  <a:lnTo>
                    <a:pt x="190475" y="3153467"/>
                  </a:lnTo>
                  <a:lnTo>
                    <a:pt x="234193" y="3170130"/>
                  </a:lnTo>
                  <a:lnTo>
                    <a:pt x="280638" y="3180502"/>
                  </a:lnTo>
                  <a:lnTo>
                    <a:pt x="329299" y="3184073"/>
                  </a:lnTo>
                  <a:lnTo>
                    <a:pt x="1646455" y="3184073"/>
                  </a:lnTo>
                  <a:lnTo>
                    <a:pt x="1695117" y="3180502"/>
                  </a:lnTo>
                  <a:lnTo>
                    <a:pt x="1741562" y="3170130"/>
                  </a:lnTo>
                  <a:lnTo>
                    <a:pt x="1785280" y="3153467"/>
                  </a:lnTo>
                  <a:lnTo>
                    <a:pt x="1825763" y="3131020"/>
                  </a:lnTo>
                  <a:lnTo>
                    <a:pt x="1862500" y="3103301"/>
                  </a:lnTo>
                  <a:lnTo>
                    <a:pt x="1894984" y="3070818"/>
                  </a:lnTo>
                  <a:lnTo>
                    <a:pt x="1922703" y="3034080"/>
                  </a:lnTo>
                  <a:lnTo>
                    <a:pt x="1945149" y="2993597"/>
                  </a:lnTo>
                  <a:lnTo>
                    <a:pt x="1961813" y="2949879"/>
                  </a:lnTo>
                  <a:lnTo>
                    <a:pt x="1972185" y="2903434"/>
                  </a:lnTo>
                  <a:lnTo>
                    <a:pt x="1975755" y="2854773"/>
                  </a:lnTo>
                  <a:lnTo>
                    <a:pt x="1975755" y="329299"/>
                  </a:lnTo>
                  <a:lnTo>
                    <a:pt x="1972185" y="280638"/>
                  </a:lnTo>
                  <a:lnTo>
                    <a:pt x="1961813" y="234193"/>
                  </a:lnTo>
                  <a:lnTo>
                    <a:pt x="1945149" y="190475"/>
                  </a:lnTo>
                  <a:lnTo>
                    <a:pt x="1922703" y="149992"/>
                  </a:lnTo>
                  <a:lnTo>
                    <a:pt x="1894984" y="113255"/>
                  </a:lnTo>
                  <a:lnTo>
                    <a:pt x="1862500" y="80771"/>
                  </a:lnTo>
                  <a:lnTo>
                    <a:pt x="1825763" y="53052"/>
                  </a:lnTo>
                  <a:lnTo>
                    <a:pt x="1785280" y="30606"/>
                  </a:lnTo>
                  <a:lnTo>
                    <a:pt x="1741562" y="13942"/>
                  </a:lnTo>
                  <a:lnTo>
                    <a:pt x="1695117" y="3570"/>
                  </a:lnTo>
                  <a:lnTo>
                    <a:pt x="1646455" y="0"/>
                  </a:lnTo>
                  <a:close/>
                </a:path>
              </a:pathLst>
            </a:custGeom>
            <a:solidFill>
              <a:srgbClr val="FFE699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5117" y="3570"/>
                  </a:lnTo>
                  <a:lnTo>
                    <a:pt x="1741562" y="13942"/>
                  </a:lnTo>
                  <a:lnTo>
                    <a:pt x="1785280" y="30605"/>
                  </a:lnTo>
                  <a:lnTo>
                    <a:pt x="1825763" y="53052"/>
                  </a:lnTo>
                  <a:lnTo>
                    <a:pt x="1862500" y="80771"/>
                  </a:lnTo>
                  <a:lnTo>
                    <a:pt x="1894984" y="113254"/>
                  </a:lnTo>
                  <a:lnTo>
                    <a:pt x="1922703" y="149992"/>
                  </a:lnTo>
                  <a:lnTo>
                    <a:pt x="1945149" y="190475"/>
                  </a:lnTo>
                  <a:lnTo>
                    <a:pt x="1961813" y="234193"/>
                  </a:lnTo>
                  <a:lnTo>
                    <a:pt x="1972185" y="280637"/>
                  </a:lnTo>
                  <a:lnTo>
                    <a:pt x="1975756" y="329299"/>
                  </a:lnTo>
                  <a:lnTo>
                    <a:pt x="1975756" y="2854774"/>
                  </a:lnTo>
                  <a:lnTo>
                    <a:pt x="1972185" y="2903435"/>
                  </a:lnTo>
                  <a:lnTo>
                    <a:pt x="1961813" y="2949880"/>
                  </a:lnTo>
                  <a:lnTo>
                    <a:pt x="1945149" y="2993598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0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3"/>
                  </a:lnTo>
                  <a:lnTo>
                    <a:pt x="329299" y="3184073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8"/>
                  </a:lnTo>
                  <a:lnTo>
                    <a:pt x="13942" y="2949880"/>
                  </a:lnTo>
                  <a:lnTo>
                    <a:pt x="3570" y="2903435"/>
                  </a:lnTo>
                  <a:lnTo>
                    <a:pt x="0" y="2854774"/>
                  </a:lnTo>
                  <a:lnTo>
                    <a:pt x="0" y="3292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5A5C1BE-C70D-7D37-9A6C-58ACE966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5449-5D0B-4C0B-9636-31BC0E40DD16}" type="datetime1">
              <a:rPr lang="en-US" smtClean="0"/>
              <a:t>5/12/2025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89FA9FE-5164-DDA1-0B2C-B1A2FB26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42915A-9AF9-C7FE-039D-C8F18DE4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-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Bidirectional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Encoder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81195" y="339623"/>
            <a:ext cx="3102610" cy="558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20"/>
              </a:lnSpc>
            </a:pPr>
            <a:r>
              <a:rPr sz="3600" b="1" spc="-10" dirty="0">
                <a:latin typeface="Calibri"/>
                <a:cs typeface="Calibri"/>
              </a:rPr>
              <a:t>Representations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641" y="1502155"/>
            <a:ext cx="520509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BERT</a:t>
            </a:r>
            <a:r>
              <a:rPr sz="2400" b="1" spc="-5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Pre-</a:t>
            </a:r>
            <a:r>
              <a:rPr sz="2400" b="1" spc="-20" dirty="0">
                <a:solidFill>
                  <a:srgbClr val="242424"/>
                </a:solidFill>
                <a:latin typeface="Calibri"/>
                <a:cs typeface="Calibri"/>
              </a:rPr>
              <a:t>Training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Corpus: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English</a:t>
            </a:r>
            <a:r>
              <a:rPr sz="2400" spc="-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Wikipedia</a:t>
            </a:r>
            <a:r>
              <a:rPr sz="240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-</a:t>
            </a:r>
            <a:r>
              <a:rPr sz="2400" spc="-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2,500</a:t>
            </a:r>
            <a:r>
              <a:rPr sz="2400" spc="-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million</a:t>
            </a:r>
            <a:r>
              <a:rPr sz="240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words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Book</a:t>
            </a:r>
            <a:r>
              <a:rPr sz="2400" spc="-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Corpus</a:t>
            </a:r>
            <a:r>
              <a:rPr sz="2400" spc="-2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-</a:t>
            </a:r>
            <a:r>
              <a:rPr sz="2400" spc="-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800</a:t>
            </a:r>
            <a:r>
              <a:rPr sz="2400" spc="-2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million</a:t>
            </a:r>
            <a:r>
              <a:rPr sz="240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words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242424"/>
              </a:buClr>
              <a:buFont typeface="Arial MT"/>
              <a:buChar char="•"/>
            </a:pPr>
            <a:endParaRPr sz="2350" dirty="0">
              <a:latin typeface="Calibri"/>
              <a:cs typeface="Calibri"/>
            </a:endParaRPr>
          </a:p>
          <a:p>
            <a:pPr marL="12700">
              <a:lnSpc>
                <a:spcPts val="2845"/>
              </a:lnSpc>
            </a:pP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BERT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Pre-</a:t>
            </a:r>
            <a:r>
              <a:rPr sz="2400" b="1" spc="-20" dirty="0">
                <a:solidFill>
                  <a:srgbClr val="242424"/>
                </a:solidFill>
                <a:latin typeface="Calibri"/>
                <a:cs typeface="Calibri"/>
              </a:rPr>
              <a:t>Training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Tasks: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ts val="284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MLM</a:t>
            </a:r>
            <a:r>
              <a:rPr sz="2400" spc="-6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(Masked</a:t>
            </a:r>
            <a:r>
              <a:rPr sz="2400" spc="-5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Language</a:t>
            </a:r>
            <a:r>
              <a:rPr sz="2400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Modeling)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NSP</a:t>
            </a:r>
            <a:r>
              <a:rPr sz="2400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(Next</a:t>
            </a:r>
            <a:r>
              <a:rPr sz="2400" spc="-5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Sentence</a:t>
            </a:r>
            <a:r>
              <a:rPr sz="2400" spc="-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Prediction)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242424"/>
              </a:buClr>
              <a:buFont typeface="Arial MT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BERT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Pre-</a:t>
            </a:r>
            <a:r>
              <a:rPr sz="2400" b="1" spc="-20" dirty="0">
                <a:solidFill>
                  <a:srgbClr val="242424"/>
                </a:solidFill>
                <a:latin typeface="Calibri"/>
                <a:cs typeface="Calibri"/>
              </a:rPr>
              <a:t>Training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Results: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ts val="284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45" dirty="0">
                <a:solidFill>
                  <a:srgbClr val="242424"/>
                </a:solidFill>
                <a:latin typeface="Calibri"/>
                <a:cs typeface="Calibri"/>
              </a:rPr>
              <a:t>BERT-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Base</a:t>
            </a:r>
            <a:r>
              <a:rPr sz="240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–</a:t>
            </a:r>
            <a:r>
              <a:rPr sz="2400" spc="-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110M</a:t>
            </a:r>
            <a:r>
              <a:rPr sz="240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Params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ts val="284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45" dirty="0">
                <a:solidFill>
                  <a:srgbClr val="242424"/>
                </a:solidFill>
                <a:latin typeface="Calibri"/>
                <a:cs typeface="Calibri"/>
              </a:rPr>
              <a:t>BERT-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Large</a:t>
            </a:r>
            <a:r>
              <a:rPr sz="2400" spc="-3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–</a:t>
            </a:r>
            <a:r>
              <a:rPr sz="2400" spc="-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340M</a:t>
            </a:r>
            <a:r>
              <a:rPr sz="2400" spc="-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Params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ontent Placeholder 61">
            <a:extLst>
              <a:ext uri="{FF2B5EF4-FFF2-40B4-BE49-F238E27FC236}">
                <a16:creationId xmlns:a16="http://schemas.microsoft.com/office/drawing/2014/main" id="{E5EB17F0-CA83-2CB9-2ECF-6B868BB6A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FD500F2E-3BFF-AC8B-C40B-D4BB2196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77376-89E9-4DB3-B1DA-8EC94E778333}" type="datetime1">
              <a:rPr lang="en-US" smtClean="0"/>
              <a:t>5/12/2025</a:t>
            </a:fld>
            <a:endParaRPr lang="en-US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CFFEE073-39B1-E7CB-75D4-FA48616DC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C83EB5C3-8076-3A11-5FF4-1F5EF056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85" dirty="0"/>
              <a:t>Left</a:t>
            </a:r>
            <a:r>
              <a:rPr sz="4400" spc="-125" dirty="0"/>
              <a:t> </a:t>
            </a:r>
            <a:r>
              <a:rPr sz="4400" spc="-170" dirty="0"/>
              <a:t>and</a:t>
            </a:r>
            <a:r>
              <a:rPr sz="4400" spc="-135" dirty="0"/>
              <a:t> </a:t>
            </a:r>
            <a:r>
              <a:rPr sz="4400" spc="-85" dirty="0"/>
              <a:t>right</a:t>
            </a:r>
            <a:r>
              <a:rPr sz="4400" spc="-140" dirty="0"/>
              <a:t> </a:t>
            </a:r>
            <a:r>
              <a:rPr sz="4400" spc="-254" dirty="0"/>
              <a:t>context</a:t>
            </a:r>
            <a:r>
              <a:rPr sz="4400" spc="-50" dirty="0"/>
              <a:t> </a:t>
            </a:r>
            <a:r>
              <a:rPr sz="4400" spc="-275" dirty="0"/>
              <a:t>in</a:t>
            </a:r>
            <a:r>
              <a:rPr sz="4400" spc="-35" dirty="0"/>
              <a:t> </a:t>
            </a:r>
            <a:r>
              <a:rPr sz="4400" spc="-905" dirty="0"/>
              <a:t>BERT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27443" y="2634107"/>
          <a:ext cx="4964429" cy="3655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16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280922" y="2189607"/>
            <a:ext cx="533400" cy="141605"/>
          </a:xfrm>
          <a:custGeom>
            <a:avLst/>
            <a:gdLst/>
            <a:ahLst/>
            <a:cxnLst/>
            <a:rect l="l" t="t" r="r" b="b"/>
            <a:pathLst>
              <a:path w="533400" h="141605">
                <a:moveTo>
                  <a:pt x="488315" y="0"/>
                </a:moveTo>
                <a:lnTo>
                  <a:pt x="486283" y="5714"/>
                </a:lnTo>
                <a:lnTo>
                  <a:pt x="494454" y="9261"/>
                </a:lnTo>
                <a:lnTo>
                  <a:pt x="501459" y="14176"/>
                </a:lnTo>
                <a:lnTo>
                  <a:pt x="519922" y="57802"/>
                </a:lnTo>
                <a:lnTo>
                  <a:pt x="520446" y="69850"/>
                </a:lnTo>
                <a:lnTo>
                  <a:pt x="519922" y="82307"/>
                </a:lnTo>
                <a:lnTo>
                  <a:pt x="507325" y="120540"/>
                </a:lnTo>
                <a:lnTo>
                  <a:pt x="486536" y="135381"/>
                </a:lnTo>
                <a:lnTo>
                  <a:pt x="488315" y="141096"/>
                </a:lnTo>
                <a:lnTo>
                  <a:pt x="521716" y="116458"/>
                </a:lnTo>
                <a:lnTo>
                  <a:pt x="533272" y="70612"/>
                </a:lnTo>
                <a:lnTo>
                  <a:pt x="532554" y="57661"/>
                </a:lnTo>
                <a:lnTo>
                  <a:pt x="515157" y="16073"/>
                </a:lnTo>
                <a:lnTo>
                  <a:pt x="498532" y="3690"/>
                </a:lnTo>
                <a:lnTo>
                  <a:pt x="488315" y="0"/>
                </a:lnTo>
                <a:close/>
              </a:path>
              <a:path w="533400" h="141605">
                <a:moveTo>
                  <a:pt x="45084" y="0"/>
                </a:moveTo>
                <a:lnTo>
                  <a:pt x="11684" y="24764"/>
                </a:lnTo>
                <a:lnTo>
                  <a:pt x="0" y="70612"/>
                </a:lnTo>
                <a:lnTo>
                  <a:pt x="716" y="83562"/>
                </a:lnTo>
                <a:lnTo>
                  <a:pt x="18010" y="125130"/>
                </a:lnTo>
                <a:lnTo>
                  <a:pt x="45084" y="141096"/>
                </a:lnTo>
                <a:lnTo>
                  <a:pt x="46862" y="135381"/>
                </a:lnTo>
                <a:lnTo>
                  <a:pt x="38764" y="131831"/>
                </a:lnTo>
                <a:lnTo>
                  <a:pt x="31797" y="126888"/>
                </a:lnTo>
                <a:lnTo>
                  <a:pt x="13350" y="82307"/>
                </a:lnTo>
                <a:lnTo>
                  <a:pt x="12827" y="69850"/>
                </a:lnTo>
                <a:lnTo>
                  <a:pt x="13350" y="57802"/>
                </a:lnTo>
                <a:lnTo>
                  <a:pt x="25969" y="20448"/>
                </a:lnTo>
                <a:lnTo>
                  <a:pt x="46990" y="5714"/>
                </a:lnTo>
                <a:lnTo>
                  <a:pt x="45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5071" y="2138553"/>
            <a:ext cx="1177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𝐴𝑡𝑡𝑒𝑛𝑡𝑖𝑜𝑛</a:t>
            </a:r>
            <a:r>
              <a:rPr sz="1200" spc="254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𝑄,</a:t>
            </a:r>
            <a:r>
              <a:rPr sz="1200" spc="-7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𝐾,</a:t>
            </a:r>
            <a:r>
              <a:rPr sz="1200" spc="-6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𝑉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6994" y="2138553"/>
            <a:ext cx="700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50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softmax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894" y="2034539"/>
            <a:ext cx="462280" cy="450850"/>
          </a:xfrm>
          <a:custGeom>
            <a:avLst/>
            <a:gdLst/>
            <a:ahLst/>
            <a:cxnLst/>
            <a:rect l="l" t="t" r="r" b="b"/>
            <a:pathLst>
              <a:path w="462280" h="450850">
                <a:moveTo>
                  <a:pt x="76200" y="5207"/>
                </a:moveTo>
                <a:lnTo>
                  <a:pt x="41478" y="39077"/>
                </a:lnTo>
                <a:lnTo>
                  <a:pt x="18923" y="90424"/>
                </a:lnTo>
                <a:lnTo>
                  <a:pt x="4737" y="152704"/>
                </a:lnTo>
                <a:lnTo>
                  <a:pt x="0" y="224790"/>
                </a:lnTo>
                <a:lnTo>
                  <a:pt x="1181" y="262382"/>
                </a:lnTo>
                <a:lnTo>
                  <a:pt x="10655" y="329920"/>
                </a:lnTo>
                <a:lnTo>
                  <a:pt x="29273" y="387096"/>
                </a:lnTo>
                <a:lnTo>
                  <a:pt x="55511" y="432320"/>
                </a:lnTo>
                <a:lnTo>
                  <a:pt x="71374" y="450342"/>
                </a:lnTo>
                <a:lnTo>
                  <a:pt x="76200" y="445008"/>
                </a:lnTo>
                <a:lnTo>
                  <a:pt x="62052" y="426720"/>
                </a:lnTo>
                <a:lnTo>
                  <a:pt x="49733" y="405549"/>
                </a:lnTo>
                <a:lnTo>
                  <a:pt x="30607" y="354457"/>
                </a:lnTo>
                <a:lnTo>
                  <a:pt x="19062" y="293712"/>
                </a:lnTo>
                <a:lnTo>
                  <a:pt x="15240" y="225044"/>
                </a:lnTo>
                <a:lnTo>
                  <a:pt x="16192" y="189826"/>
                </a:lnTo>
                <a:lnTo>
                  <a:pt x="23863" y="125247"/>
                </a:lnTo>
                <a:lnTo>
                  <a:pt x="39243" y="68859"/>
                </a:lnTo>
                <a:lnTo>
                  <a:pt x="62052" y="23520"/>
                </a:lnTo>
                <a:lnTo>
                  <a:pt x="76200" y="5207"/>
                </a:lnTo>
                <a:close/>
              </a:path>
              <a:path w="462280" h="450850">
                <a:moveTo>
                  <a:pt x="381381" y="219976"/>
                </a:moveTo>
                <a:lnTo>
                  <a:pt x="81153" y="219976"/>
                </a:lnTo>
                <a:lnTo>
                  <a:pt x="81153" y="230632"/>
                </a:lnTo>
                <a:lnTo>
                  <a:pt x="381381" y="230632"/>
                </a:lnTo>
                <a:lnTo>
                  <a:pt x="381381" y="219976"/>
                </a:lnTo>
                <a:close/>
              </a:path>
              <a:path w="462280" h="450850">
                <a:moveTo>
                  <a:pt x="462280" y="224790"/>
                </a:moveTo>
                <a:lnTo>
                  <a:pt x="457593" y="152704"/>
                </a:lnTo>
                <a:lnTo>
                  <a:pt x="443484" y="90424"/>
                </a:lnTo>
                <a:lnTo>
                  <a:pt x="420852" y="39077"/>
                </a:lnTo>
                <a:lnTo>
                  <a:pt x="390906" y="0"/>
                </a:lnTo>
                <a:lnTo>
                  <a:pt x="386207" y="5207"/>
                </a:lnTo>
                <a:lnTo>
                  <a:pt x="400329" y="23520"/>
                </a:lnTo>
                <a:lnTo>
                  <a:pt x="412597" y="44742"/>
                </a:lnTo>
                <a:lnTo>
                  <a:pt x="431673" y="95885"/>
                </a:lnTo>
                <a:lnTo>
                  <a:pt x="443268" y="156565"/>
                </a:lnTo>
                <a:lnTo>
                  <a:pt x="447167" y="225044"/>
                </a:lnTo>
                <a:lnTo>
                  <a:pt x="446189" y="260362"/>
                </a:lnTo>
                <a:lnTo>
                  <a:pt x="438429" y="325081"/>
                </a:lnTo>
                <a:lnTo>
                  <a:pt x="423049" y="381469"/>
                </a:lnTo>
                <a:lnTo>
                  <a:pt x="400329" y="426720"/>
                </a:lnTo>
                <a:lnTo>
                  <a:pt x="386207" y="445008"/>
                </a:lnTo>
                <a:lnTo>
                  <a:pt x="390906" y="450342"/>
                </a:lnTo>
                <a:lnTo>
                  <a:pt x="420852" y="411226"/>
                </a:lnTo>
                <a:lnTo>
                  <a:pt x="443484" y="359918"/>
                </a:lnTo>
                <a:lnTo>
                  <a:pt x="457593" y="297408"/>
                </a:lnTo>
                <a:lnTo>
                  <a:pt x="461098" y="262382"/>
                </a:lnTo>
                <a:lnTo>
                  <a:pt x="462280" y="224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24327" y="2022728"/>
            <a:ext cx="36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𝑄𝐾</a:t>
            </a:r>
            <a:r>
              <a:rPr sz="1275" spc="-37" baseline="29411" dirty="0">
                <a:latin typeface="Cambria Math"/>
                <a:cs typeface="Cambria Math"/>
              </a:rPr>
              <a:t>𝑇</a:t>
            </a:r>
            <a:endParaRPr sz="1275" baseline="29411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75254" y="2293492"/>
            <a:ext cx="274955" cy="189865"/>
          </a:xfrm>
          <a:custGeom>
            <a:avLst/>
            <a:gdLst/>
            <a:ahLst/>
            <a:cxnLst/>
            <a:rect l="l" t="t" r="r" b="b"/>
            <a:pathLst>
              <a:path w="274955" h="189864">
                <a:moveTo>
                  <a:pt x="116205" y="0"/>
                </a:moveTo>
                <a:lnTo>
                  <a:pt x="95376" y="0"/>
                </a:lnTo>
                <a:lnTo>
                  <a:pt x="50164" y="169418"/>
                </a:lnTo>
                <a:lnTo>
                  <a:pt x="24383" y="111887"/>
                </a:lnTo>
                <a:lnTo>
                  <a:pt x="0" y="123062"/>
                </a:lnTo>
                <a:lnTo>
                  <a:pt x="2286" y="128651"/>
                </a:lnTo>
                <a:lnTo>
                  <a:pt x="14858" y="123062"/>
                </a:lnTo>
                <a:lnTo>
                  <a:pt x="45719" y="189357"/>
                </a:lnTo>
                <a:lnTo>
                  <a:pt x="52958" y="189357"/>
                </a:lnTo>
                <a:lnTo>
                  <a:pt x="101345" y="9906"/>
                </a:lnTo>
                <a:lnTo>
                  <a:pt x="110236" y="9906"/>
                </a:lnTo>
                <a:lnTo>
                  <a:pt x="110236" y="11303"/>
                </a:lnTo>
                <a:lnTo>
                  <a:pt x="274827" y="11303"/>
                </a:lnTo>
                <a:lnTo>
                  <a:pt x="274827" y="635"/>
                </a:lnTo>
                <a:lnTo>
                  <a:pt x="116205" y="635"/>
                </a:lnTo>
                <a:lnTo>
                  <a:pt x="116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47772" y="2271140"/>
            <a:ext cx="232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𝑑</a:t>
            </a:r>
            <a:r>
              <a:rPr sz="1275" spc="-37" baseline="-16339" dirty="0">
                <a:latin typeface="Cambria Math"/>
                <a:cs typeface="Cambria Math"/>
              </a:rPr>
              <a:t>𝑘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7304" y="2138553"/>
            <a:ext cx="121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𝑉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75003" y="3249167"/>
            <a:ext cx="1690370" cy="1691639"/>
          </a:xfrm>
          <a:custGeom>
            <a:avLst/>
            <a:gdLst/>
            <a:ahLst/>
            <a:cxnLst/>
            <a:rect l="l" t="t" r="r" b="b"/>
            <a:pathLst>
              <a:path w="1690370" h="1691639">
                <a:moveTo>
                  <a:pt x="1690116" y="0"/>
                </a:moveTo>
                <a:lnTo>
                  <a:pt x="0" y="0"/>
                </a:lnTo>
                <a:lnTo>
                  <a:pt x="0" y="1691639"/>
                </a:lnTo>
                <a:lnTo>
                  <a:pt x="1690116" y="1691639"/>
                </a:lnTo>
                <a:lnTo>
                  <a:pt x="1690116" y="0"/>
                </a:lnTo>
                <a:close/>
              </a:path>
            </a:pathLst>
          </a:custGeom>
          <a:solidFill>
            <a:srgbClr val="D2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42338" y="3983863"/>
            <a:ext cx="156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0" dirty="0">
                <a:latin typeface="Tahoma"/>
                <a:cs typeface="Tahoma"/>
              </a:rPr>
              <a:t>Q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50822" y="4497070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(10,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768)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55491" y="3249167"/>
            <a:ext cx="1689100" cy="1694814"/>
          </a:xfrm>
          <a:custGeom>
            <a:avLst/>
            <a:gdLst/>
            <a:ahLst/>
            <a:cxnLst/>
            <a:rect l="l" t="t" r="r" b="b"/>
            <a:pathLst>
              <a:path w="1689100" h="1694814">
                <a:moveTo>
                  <a:pt x="1688591" y="0"/>
                </a:moveTo>
                <a:lnTo>
                  <a:pt x="0" y="0"/>
                </a:lnTo>
                <a:lnTo>
                  <a:pt x="0" y="1694687"/>
                </a:lnTo>
                <a:lnTo>
                  <a:pt x="1688591" y="1694687"/>
                </a:lnTo>
                <a:lnTo>
                  <a:pt x="1688591" y="0"/>
                </a:lnTo>
                <a:close/>
              </a:path>
            </a:pathLst>
          </a:custGeom>
          <a:solidFill>
            <a:srgbClr val="D2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78503" y="3939920"/>
            <a:ext cx="242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37" baseline="-16203" dirty="0">
                <a:latin typeface="Tahoma"/>
                <a:cs typeface="Tahoma"/>
              </a:rPr>
              <a:t>K</a:t>
            </a:r>
            <a:r>
              <a:rPr sz="800" b="1" spc="-25" dirty="0">
                <a:latin typeface="Tahoma"/>
                <a:cs typeface="Tahoma"/>
              </a:rPr>
              <a:t>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2326" y="4499864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(768,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10)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71189" y="3934790"/>
            <a:ext cx="1739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58714" y="4224654"/>
            <a:ext cx="17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439" y="4224654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softmax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34669" y="2954908"/>
            <a:ext cx="4348480" cy="2859405"/>
            <a:chOff x="1034669" y="2954908"/>
            <a:chExt cx="4348480" cy="2859405"/>
          </a:xfrm>
        </p:grpSpPr>
        <p:sp>
          <p:nvSpPr>
            <p:cNvPr id="22" name="object 22"/>
            <p:cNvSpPr/>
            <p:nvPr/>
          </p:nvSpPr>
          <p:spPr>
            <a:xfrm>
              <a:off x="1037844" y="2958083"/>
              <a:ext cx="4342130" cy="2853055"/>
            </a:xfrm>
            <a:custGeom>
              <a:avLst/>
              <a:gdLst/>
              <a:ahLst/>
              <a:cxnLst/>
              <a:rect l="l" t="t" r="r" b="b"/>
              <a:pathLst>
                <a:path w="4342130" h="2853054">
                  <a:moveTo>
                    <a:pt x="475488" y="2852928"/>
                  </a:moveTo>
                  <a:lnTo>
                    <a:pt x="426873" y="2850473"/>
                  </a:lnTo>
                  <a:lnTo>
                    <a:pt x="379662" y="2843267"/>
                  </a:lnTo>
                  <a:lnTo>
                    <a:pt x="334094" y="2831550"/>
                  </a:lnTo>
                  <a:lnTo>
                    <a:pt x="290409" y="2815560"/>
                  </a:lnTo>
                  <a:lnTo>
                    <a:pt x="248845" y="2795537"/>
                  </a:lnTo>
                  <a:lnTo>
                    <a:pt x="209641" y="2771720"/>
                  </a:lnTo>
                  <a:lnTo>
                    <a:pt x="173036" y="2744347"/>
                  </a:lnTo>
                  <a:lnTo>
                    <a:pt x="139269" y="2713658"/>
                  </a:lnTo>
                  <a:lnTo>
                    <a:pt x="108580" y="2679891"/>
                  </a:lnTo>
                  <a:lnTo>
                    <a:pt x="81207" y="2643286"/>
                  </a:lnTo>
                  <a:lnTo>
                    <a:pt x="57390" y="2604082"/>
                  </a:lnTo>
                  <a:lnTo>
                    <a:pt x="37367" y="2562518"/>
                  </a:lnTo>
                  <a:lnTo>
                    <a:pt x="21377" y="2518833"/>
                  </a:lnTo>
                  <a:lnTo>
                    <a:pt x="9660" y="2473265"/>
                  </a:lnTo>
                  <a:lnTo>
                    <a:pt x="2454" y="2426054"/>
                  </a:lnTo>
                  <a:lnTo>
                    <a:pt x="0" y="2377440"/>
                  </a:lnTo>
                  <a:lnTo>
                    <a:pt x="0" y="475488"/>
                  </a:lnTo>
                  <a:lnTo>
                    <a:pt x="2454" y="426866"/>
                  </a:lnTo>
                  <a:lnTo>
                    <a:pt x="9660" y="379651"/>
                  </a:lnTo>
                  <a:lnTo>
                    <a:pt x="21377" y="334080"/>
                  </a:lnTo>
                  <a:lnTo>
                    <a:pt x="37367" y="290393"/>
                  </a:lnTo>
                  <a:lnTo>
                    <a:pt x="57390" y="248828"/>
                  </a:lnTo>
                  <a:lnTo>
                    <a:pt x="81207" y="209624"/>
                  </a:lnTo>
                  <a:lnTo>
                    <a:pt x="108580" y="173020"/>
                  </a:lnTo>
                  <a:lnTo>
                    <a:pt x="139269" y="139255"/>
                  </a:lnTo>
                  <a:lnTo>
                    <a:pt x="173036" y="108568"/>
                  </a:lnTo>
                  <a:lnTo>
                    <a:pt x="209641" y="81197"/>
                  </a:lnTo>
                  <a:lnTo>
                    <a:pt x="248845" y="57382"/>
                  </a:lnTo>
                  <a:lnTo>
                    <a:pt x="290409" y="37361"/>
                  </a:lnTo>
                  <a:lnTo>
                    <a:pt x="334094" y="21374"/>
                  </a:lnTo>
                  <a:lnTo>
                    <a:pt x="379662" y="9658"/>
                  </a:lnTo>
                  <a:lnTo>
                    <a:pt x="426873" y="2454"/>
                  </a:lnTo>
                  <a:lnTo>
                    <a:pt x="475488" y="0"/>
                  </a:lnTo>
                </a:path>
                <a:path w="4342130" h="2853054">
                  <a:moveTo>
                    <a:pt x="3866388" y="0"/>
                  </a:moveTo>
                  <a:lnTo>
                    <a:pt x="3915009" y="2454"/>
                  </a:lnTo>
                  <a:lnTo>
                    <a:pt x="3962224" y="9658"/>
                  </a:lnTo>
                  <a:lnTo>
                    <a:pt x="4007795" y="21374"/>
                  </a:lnTo>
                  <a:lnTo>
                    <a:pt x="4051482" y="37361"/>
                  </a:lnTo>
                  <a:lnTo>
                    <a:pt x="4093047" y="57382"/>
                  </a:lnTo>
                  <a:lnTo>
                    <a:pt x="4132251" y="81197"/>
                  </a:lnTo>
                  <a:lnTo>
                    <a:pt x="4168855" y="108568"/>
                  </a:lnTo>
                  <a:lnTo>
                    <a:pt x="4202620" y="139255"/>
                  </a:lnTo>
                  <a:lnTo>
                    <a:pt x="4233307" y="173020"/>
                  </a:lnTo>
                  <a:lnTo>
                    <a:pt x="4260678" y="209624"/>
                  </a:lnTo>
                  <a:lnTo>
                    <a:pt x="4284493" y="248828"/>
                  </a:lnTo>
                  <a:lnTo>
                    <a:pt x="4304514" y="290393"/>
                  </a:lnTo>
                  <a:lnTo>
                    <a:pt x="4320501" y="334080"/>
                  </a:lnTo>
                  <a:lnTo>
                    <a:pt x="4332217" y="379651"/>
                  </a:lnTo>
                  <a:lnTo>
                    <a:pt x="4339421" y="426866"/>
                  </a:lnTo>
                  <a:lnTo>
                    <a:pt x="4341876" y="475488"/>
                  </a:lnTo>
                  <a:lnTo>
                    <a:pt x="4341876" y="2377440"/>
                  </a:lnTo>
                  <a:lnTo>
                    <a:pt x="4339421" y="2426054"/>
                  </a:lnTo>
                  <a:lnTo>
                    <a:pt x="4332217" y="2473265"/>
                  </a:lnTo>
                  <a:lnTo>
                    <a:pt x="4320501" y="2518833"/>
                  </a:lnTo>
                  <a:lnTo>
                    <a:pt x="4304514" y="2562518"/>
                  </a:lnTo>
                  <a:lnTo>
                    <a:pt x="4284493" y="2604082"/>
                  </a:lnTo>
                  <a:lnTo>
                    <a:pt x="4260678" y="2643286"/>
                  </a:lnTo>
                  <a:lnTo>
                    <a:pt x="4233307" y="2679891"/>
                  </a:lnTo>
                  <a:lnTo>
                    <a:pt x="4202620" y="2713658"/>
                  </a:lnTo>
                  <a:lnTo>
                    <a:pt x="4168855" y="2744347"/>
                  </a:lnTo>
                  <a:lnTo>
                    <a:pt x="4132251" y="2771720"/>
                  </a:lnTo>
                  <a:lnTo>
                    <a:pt x="4093047" y="2795537"/>
                  </a:lnTo>
                  <a:lnTo>
                    <a:pt x="4051482" y="2815560"/>
                  </a:lnTo>
                  <a:lnTo>
                    <a:pt x="4007795" y="2831550"/>
                  </a:lnTo>
                  <a:lnTo>
                    <a:pt x="3962224" y="2843267"/>
                  </a:lnTo>
                  <a:lnTo>
                    <a:pt x="3915009" y="2850473"/>
                  </a:lnTo>
                  <a:lnTo>
                    <a:pt x="3866388" y="2852928"/>
                  </a:lnTo>
                </a:path>
                <a:path w="4342130" h="2853054">
                  <a:moveTo>
                    <a:pt x="141731" y="2145791"/>
                  </a:moveTo>
                  <a:lnTo>
                    <a:pt x="4203700" y="2145791"/>
                  </a:lnTo>
                </a:path>
              </a:pathLst>
            </a:custGeom>
            <a:ln w="6350">
              <a:solidFill>
                <a:srgbClr val="ED7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53766" y="5313172"/>
              <a:ext cx="528320" cy="220345"/>
            </a:xfrm>
            <a:custGeom>
              <a:avLst/>
              <a:gdLst/>
              <a:ahLst/>
              <a:cxnLst/>
              <a:rect l="l" t="t" r="r" b="b"/>
              <a:pathLst>
                <a:path w="528320" h="220345">
                  <a:moveTo>
                    <a:pt x="131190" y="0"/>
                  </a:moveTo>
                  <a:lnTo>
                    <a:pt x="76072" y="190499"/>
                  </a:lnTo>
                  <a:lnTo>
                    <a:pt x="36702" y="103885"/>
                  </a:lnTo>
                  <a:lnTo>
                    <a:pt x="0" y="120649"/>
                  </a:lnTo>
                  <a:lnTo>
                    <a:pt x="3556" y="129031"/>
                  </a:lnTo>
                  <a:lnTo>
                    <a:pt x="22351" y="120649"/>
                  </a:lnTo>
                  <a:lnTo>
                    <a:pt x="68579" y="219963"/>
                  </a:lnTo>
                  <a:lnTo>
                    <a:pt x="79375" y="219963"/>
                  </a:lnTo>
                  <a:lnTo>
                    <a:pt x="139445" y="14858"/>
                  </a:lnTo>
                  <a:lnTo>
                    <a:pt x="147065" y="14858"/>
                  </a:lnTo>
                  <a:lnTo>
                    <a:pt x="147065" y="15366"/>
                  </a:lnTo>
                  <a:lnTo>
                    <a:pt x="528066" y="15366"/>
                  </a:lnTo>
                  <a:lnTo>
                    <a:pt x="528066" y="126"/>
                  </a:lnTo>
                  <a:lnTo>
                    <a:pt x="1311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88639" y="5280405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768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64758" y="2713482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20"/>
              </a:spcBef>
            </a:pPr>
            <a:r>
              <a:rPr sz="800" spc="-10" dirty="0">
                <a:latin typeface="Tahoma"/>
                <a:cs typeface="Tahoma"/>
              </a:rPr>
              <a:t>[SOS]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64758" y="3079242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64758" y="3443478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64758" y="3809238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320"/>
              </a:spcBef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64758" y="4539234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64758" y="4173473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64758" y="4904994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315"/>
              </a:spcBef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64758" y="5269229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64758" y="5634990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315"/>
              </a:spcBef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64758" y="5999226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325"/>
              </a:spcBef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15506" y="2356485"/>
            <a:ext cx="5000625" cy="185420"/>
            <a:chOff x="6715506" y="2356485"/>
            <a:chExt cx="5000625" cy="185420"/>
          </a:xfrm>
        </p:grpSpPr>
        <p:sp>
          <p:nvSpPr>
            <p:cNvPr id="36" name="object 36"/>
            <p:cNvSpPr/>
            <p:nvPr/>
          </p:nvSpPr>
          <p:spPr>
            <a:xfrm>
              <a:off x="6715506" y="2366009"/>
              <a:ext cx="965200" cy="166370"/>
            </a:xfrm>
            <a:custGeom>
              <a:avLst/>
              <a:gdLst/>
              <a:ahLst/>
              <a:cxnLst/>
              <a:rect l="l" t="t" r="r" b="b"/>
              <a:pathLst>
                <a:path w="965200" h="166369">
                  <a:moveTo>
                    <a:pt x="964692" y="0"/>
                  </a:moveTo>
                  <a:lnTo>
                    <a:pt x="461772" y="0"/>
                  </a:lnTo>
                  <a:lnTo>
                    <a:pt x="458724" y="0"/>
                  </a:lnTo>
                  <a:lnTo>
                    <a:pt x="0" y="0"/>
                  </a:lnTo>
                  <a:lnTo>
                    <a:pt x="0" y="166116"/>
                  </a:lnTo>
                  <a:lnTo>
                    <a:pt x="458724" y="166116"/>
                  </a:lnTo>
                  <a:lnTo>
                    <a:pt x="461772" y="166116"/>
                  </a:lnTo>
                  <a:lnTo>
                    <a:pt x="964692" y="166116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74230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78674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78674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18159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8159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8451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68451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8743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18743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691878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691878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19479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19479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69771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9771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20063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20063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715506" y="2366010"/>
            <a:ext cx="4991100" cy="16637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65"/>
              </a:spcBef>
              <a:tabLst>
                <a:tab pos="555625" algn="l"/>
                <a:tab pos="1144270" algn="l"/>
                <a:tab pos="1623060" algn="l"/>
                <a:tab pos="2143125" algn="l"/>
                <a:tab pos="2696845" algn="l"/>
                <a:tab pos="3119120" algn="l"/>
                <a:tab pos="3684904" algn="l"/>
                <a:tab pos="4097020" algn="l"/>
                <a:tab pos="4596130" algn="l"/>
              </a:tabLst>
            </a:pPr>
            <a:r>
              <a:rPr sz="800" spc="-10" dirty="0">
                <a:latin typeface="Tahoma"/>
                <a:cs typeface="Tahoma"/>
              </a:rPr>
              <a:t>[SOS]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Before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my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30" dirty="0">
                <a:latin typeface="Tahoma"/>
                <a:cs typeface="Tahoma"/>
              </a:rPr>
              <a:t>bed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lies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a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pool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35" dirty="0">
                <a:latin typeface="Tahoma"/>
                <a:cs typeface="Tahoma"/>
              </a:rPr>
              <a:t>of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moon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933433" y="6388709"/>
            <a:ext cx="5359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25" dirty="0">
                <a:latin typeface="Tahoma"/>
                <a:cs typeface="Tahoma"/>
              </a:rPr>
              <a:t>(10,</a:t>
            </a:r>
            <a:r>
              <a:rPr sz="1050" b="1" spc="-45" dirty="0">
                <a:latin typeface="Tahoma"/>
                <a:cs typeface="Tahoma"/>
              </a:rPr>
              <a:t> </a:t>
            </a:r>
            <a:r>
              <a:rPr sz="1050" b="1" spc="-25" dirty="0">
                <a:latin typeface="Tahoma"/>
                <a:cs typeface="Tahoma"/>
              </a:rPr>
              <a:t>10)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715506" y="1977389"/>
            <a:ext cx="4991100" cy="306705"/>
          </a:xfrm>
          <a:custGeom>
            <a:avLst/>
            <a:gdLst/>
            <a:ahLst/>
            <a:cxnLst/>
            <a:rect l="l" t="t" r="r" b="b"/>
            <a:pathLst>
              <a:path w="4991100" h="306705">
                <a:moveTo>
                  <a:pt x="0" y="306324"/>
                </a:moveTo>
                <a:lnTo>
                  <a:pt x="2006" y="246709"/>
                </a:lnTo>
                <a:lnTo>
                  <a:pt x="7477" y="198024"/>
                </a:lnTo>
                <a:lnTo>
                  <a:pt x="15591" y="165199"/>
                </a:lnTo>
                <a:lnTo>
                  <a:pt x="25526" y="153162"/>
                </a:lnTo>
                <a:lnTo>
                  <a:pt x="2470023" y="153162"/>
                </a:lnTo>
                <a:lnTo>
                  <a:pt x="2479958" y="141124"/>
                </a:lnTo>
                <a:lnTo>
                  <a:pt x="2488072" y="108299"/>
                </a:lnTo>
                <a:lnTo>
                  <a:pt x="2493543" y="59614"/>
                </a:lnTo>
                <a:lnTo>
                  <a:pt x="2495550" y="0"/>
                </a:lnTo>
                <a:lnTo>
                  <a:pt x="2497556" y="59614"/>
                </a:lnTo>
                <a:lnTo>
                  <a:pt x="2503027" y="108299"/>
                </a:lnTo>
                <a:lnTo>
                  <a:pt x="2511141" y="141124"/>
                </a:lnTo>
                <a:lnTo>
                  <a:pt x="2521077" y="153162"/>
                </a:lnTo>
                <a:lnTo>
                  <a:pt x="4965573" y="153162"/>
                </a:lnTo>
                <a:lnTo>
                  <a:pt x="4975508" y="165199"/>
                </a:lnTo>
                <a:lnTo>
                  <a:pt x="4983622" y="198024"/>
                </a:lnTo>
                <a:lnTo>
                  <a:pt x="4989093" y="246709"/>
                </a:lnTo>
                <a:lnTo>
                  <a:pt x="4991100" y="306324"/>
                </a:lnTo>
              </a:path>
            </a:pathLst>
          </a:custGeom>
          <a:ln w="3810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6684391" y="1397889"/>
            <a:ext cx="5039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This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reason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b="1" spc="-30" dirty="0">
                <a:latin typeface="Tahoma"/>
                <a:cs typeface="Tahoma"/>
              </a:rPr>
              <a:t>Bidirectional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Encoder.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ahoma"/>
                <a:cs typeface="Tahoma"/>
              </a:rPr>
              <a:t>Each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token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”attends”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token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left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tokens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right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sentence.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105595"/>
            <a:ext cx="3879850" cy="5605780"/>
            <a:chOff x="8121507" y="1105595"/>
            <a:chExt cx="3879850" cy="5605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995" y="1105595"/>
              <a:ext cx="3809225" cy="56053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5" y="0"/>
                  </a:moveTo>
                  <a:lnTo>
                    <a:pt x="329299" y="0"/>
                  </a:lnTo>
                  <a:lnTo>
                    <a:pt x="280638" y="3570"/>
                  </a:lnTo>
                  <a:lnTo>
                    <a:pt x="234193" y="13942"/>
                  </a:lnTo>
                  <a:lnTo>
                    <a:pt x="190475" y="30606"/>
                  </a:lnTo>
                  <a:lnTo>
                    <a:pt x="149992" y="53052"/>
                  </a:lnTo>
                  <a:lnTo>
                    <a:pt x="113255" y="80771"/>
                  </a:lnTo>
                  <a:lnTo>
                    <a:pt x="80771" y="113255"/>
                  </a:lnTo>
                  <a:lnTo>
                    <a:pt x="53052" y="149992"/>
                  </a:lnTo>
                  <a:lnTo>
                    <a:pt x="30606" y="190475"/>
                  </a:lnTo>
                  <a:lnTo>
                    <a:pt x="13942" y="234193"/>
                  </a:lnTo>
                  <a:lnTo>
                    <a:pt x="3570" y="280638"/>
                  </a:lnTo>
                  <a:lnTo>
                    <a:pt x="0" y="329299"/>
                  </a:lnTo>
                  <a:lnTo>
                    <a:pt x="0" y="2854773"/>
                  </a:lnTo>
                  <a:lnTo>
                    <a:pt x="3570" y="2903434"/>
                  </a:lnTo>
                  <a:lnTo>
                    <a:pt x="13942" y="2949879"/>
                  </a:lnTo>
                  <a:lnTo>
                    <a:pt x="30606" y="2993597"/>
                  </a:lnTo>
                  <a:lnTo>
                    <a:pt x="53052" y="3034080"/>
                  </a:lnTo>
                  <a:lnTo>
                    <a:pt x="80771" y="3070818"/>
                  </a:lnTo>
                  <a:lnTo>
                    <a:pt x="113255" y="3103301"/>
                  </a:lnTo>
                  <a:lnTo>
                    <a:pt x="149992" y="3131020"/>
                  </a:lnTo>
                  <a:lnTo>
                    <a:pt x="190475" y="3153467"/>
                  </a:lnTo>
                  <a:lnTo>
                    <a:pt x="234193" y="3170130"/>
                  </a:lnTo>
                  <a:lnTo>
                    <a:pt x="280638" y="3180502"/>
                  </a:lnTo>
                  <a:lnTo>
                    <a:pt x="329299" y="3184073"/>
                  </a:lnTo>
                  <a:lnTo>
                    <a:pt x="1646455" y="3184073"/>
                  </a:lnTo>
                  <a:lnTo>
                    <a:pt x="1695117" y="3180502"/>
                  </a:lnTo>
                  <a:lnTo>
                    <a:pt x="1741562" y="3170130"/>
                  </a:lnTo>
                  <a:lnTo>
                    <a:pt x="1785280" y="3153467"/>
                  </a:lnTo>
                  <a:lnTo>
                    <a:pt x="1825763" y="3131020"/>
                  </a:lnTo>
                  <a:lnTo>
                    <a:pt x="1862500" y="3103301"/>
                  </a:lnTo>
                  <a:lnTo>
                    <a:pt x="1894984" y="3070818"/>
                  </a:lnTo>
                  <a:lnTo>
                    <a:pt x="1922703" y="3034080"/>
                  </a:lnTo>
                  <a:lnTo>
                    <a:pt x="1945149" y="2993597"/>
                  </a:lnTo>
                  <a:lnTo>
                    <a:pt x="1961813" y="2949879"/>
                  </a:lnTo>
                  <a:lnTo>
                    <a:pt x="1972185" y="2903434"/>
                  </a:lnTo>
                  <a:lnTo>
                    <a:pt x="1975755" y="2854773"/>
                  </a:lnTo>
                  <a:lnTo>
                    <a:pt x="1975755" y="329299"/>
                  </a:lnTo>
                  <a:lnTo>
                    <a:pt x="1972185" y="280638"/>
                  </a:lnTo>
                  <a:lnTo>
                    <a:pt x="1961813" y="234193"/>
                  </a:lnTo>
                  <a:lnTo>
                    <a:pt x="1945149" y="190475"/>
                  </a:lnTo>
                  <a:lnTo>
                    <a:pt x="1922703" y="149992"/>
                  </a:lnTo>
                  <a:lnTo>
                    <a:pt x="1894984" y="113255"/>
                  </a:lnTo>
                  <a:lnTo>
                    <a:pt x="1862500" y="80771"/>
                  </a:lnTo>
                  <a:lnTo>
                    <a:pt x="1825763" y="53052"/>
                  </a:lnTo>
                  <a:lnTo>
                    <a:pt x="1785280" y="30606"/>
                  </a:lnTo>
                  <a:lnTo>
                    <a:pt x="1741562" y="13942"/>
                  </a:lnTo>
                  <a:lnTo>
                    <a:pt x="1695117" y="3570"/>
                  </a:lnTo>
                  <a:lnTo>
                    <a:pt x="1646455" y="0"/>
                  </a:lnTo>
                  <a:close/>
                </a:path>
              </a:pathLst>
            </a:custGeom>
            <a:solidFill>
              <a:srgbClr val="FFE699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5117" y="3570"/>
                  </a:lnTo>
                  <a:lnTo>
                    <a:pt x="1741562" y="13942"/>
                  </a:lnTo>
                  <a:lnTo>
                    <a:pt x="1785280" y="30605"/>
                  </a:lnTo>
                  <a:lnTo>
                    <a:pt x="1825763" y="53052"/>
                  </a:lnTo>
                  <a:lnTo>
                    <a:pt x="1862500" y="80771"/>
                  </a:lnTo>
                  <a:lnTo>
                    <a:pt x="1894984" y="113254"/>
                  </a:lnTo>
                  <a:lnTo>
                    <a:pt x="1922703" y="149992"/>
                  </a:lnTo>
                  <a:lnTo>
                    <a:pt x="1945149" y="190475"/>
                  </a:lnTo>
                  <a:lnTo>
                    <a:pt x="1961813" y="234193"/>
                  </a:lnTo>
                  <a:lnTo>
                    <a:pt x="1972185" y="280637"/>
                  </a:lnTo>
                  <a:lnTo>
                    <a:pt x="1975756" y="329299"/>
                  </a:lnTo>
                  <a:lnTo>
                    <a:pt x="1975756" y="2854774"/>
                  </a:lnTo>
                  <a:lnTo>
                    <a:pt x="1972185" y="2903435"/>
                  </a:lnTo>
                  <a:lnTo>
                    <a:pt x="1961813" y="2949880"/>
                  </a:lnTo>
                  <a:lnTo>
                    <a:pt x="1945149" y="2993598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0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3"/>
                  </a:lnTo>
                  <a:lnTo>
                    <a:pt x="329299" y="3184073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8"/>
                  </a:lnTo>
                  <a:lnTo>
                    <a:pt x="13942" y="2949880"/>
                  </a:lnTo>
                  <a:lnTo>
                    <a:pt x="3570" y="2903435"/>
                  </a:lnTo>
                  <a:lnTo>
                    <a:pt x="0" y="2854774"/>
                  </a:lnTo>
                  <a:lnTo>
                    <a:pt x="0" y="3292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Content Placeholder 57">
            <a:extLst>
              <a:ext uri="{FF2B5EF4-FFF2-40B4-BE49-F238E27FC236}">
                <a16:creationId xmlns:a16="http://schemas.microsoft.com/office/drawing/2014/main" id="{A1DB4A7C-825D-0F52-0244-B95FB466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Date Placeholder 54">
            <a:extLst>
              <a:ext uri="{FF2B5EF4-FFF2-40B4-BE49-F238E27FC236}">
                <a16:creationId xmlns:a16="http://schemas.microsoft.com/office/drawing/2014/main" id="{B2EDF14E-9BD4-65ED-DB81-E8183911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F43A-D88C-4E80-BB3C-2556202FF927}" type="datetime1">
              <a:rPr lang="en-US" smtClean="0"/>
              <a:t>5/12/2025</a:t>
            </a:fld>
            <a:endParaRPr lang="en-US"/>
          </a:p>
        </p:txBody>
      </p:sp>
      <p:sp>
        <p:nvSpPr>
          <p:cNvPr id="56" name="Footer Placeholder 55">
            <a:extLst>
              <a:ext uri="{FF2B5EF4-FFF2-40B4-BE49-F238E27FC236}">
                <a16:creationId xmlns:a16="http://schemas.microsoft.com/office/drawing/2014/main" id="{DF58B01D-1A65-F891-3880-47575C20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410C2E8E-A7F6-4D74-BA95-A77F510C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-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Bidirectional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Encoder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81195" y="339623"/>
            <a:ext cx="3102610" cy="558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20"/>
              </a:lnSpc>
            </a:pPr>
            <a:r>
              <a:rPr sz="3600" b="1" spc="-10" dirty="0">
                <a:latin typeface="Calibri"/>
                <a:cs typeface="Calibri"/>
              </a:rPr>
              <a:t>Representations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641" y="1148588"/>
            <a:ext cx="447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MLM</a:t>
            </a:r>
            <a:r>
              <a:rPr sz="2400" b="1" spc="-6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(Masked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Language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Modeling)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79985" y="5391801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8" y="355988"/>
                </a:lnTo>
                <a:lnTo>
                  <a:pt x="786722" y="351325"/>
                </a:lnTo>
                <a:lnTo>
                  <a:pt x="805582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2" y="17377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65691" y="5406644"/>
            <a:ext cx="452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How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74575" y="5391800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60" y="296656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23241" y="5406644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66410" y="5391800"/>
            <a:ext cx="927735" cy="356235"/>
          </a:xfrm>
          <a:custGeom>
            <a:avLst/>
            <a:gdLst/>
            <a:ahLst/>
            <a:cxnLst/>
            <a:rect l="l" t="t" r="r" b="b"/>
            <a:pathLst>
              <a:path w="927735" h="356235">
                <a:moveTo>
                  <a:pt x="867924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7" y="338610"/>
                </a:lnTo>
                <a:lnTo>
                  <a:pt x="36237" y="351325"/>
                </a:lnTo>
                <a:lnTo>
                  <a:pt x="59331" y="355988"/>
                </a:lnTo>
                <a:lnTo>
                  <a:pt x="867924" y="355988"/>
                </a:lnTo>
                <a:lnTo>
                  <a:pt x="891019" y="351325"/>
                </a:lnTo>
                <a:lnTo>
                  <a:pt x="909878" y="338610"/>
                </a:lnTo>
                <a:lnTo>
                  <a:pt x="922593" y="319750"/>
                </a:lnTo>
                <a:lnTo>
                  <a:pt x="927256" y="296655"/>
                </a:lnTo>
                <a:lnTo>
                  <a:pt x="927256" y="59331"/>
                </a:lnTo>
                <a:lnTo>
                  <a:pt x="922593" y="36237"/>
                </a:lnTo>
                <a:lnTo>
                  <a:pt x="909878" y="17377"/>
                </a:lnTo>
                <a:lnTo>
                  <a:pt x="891019" y="4662"/>
                </a:lnTo>
                <a:lnTo>
                  <a:pt x="86792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14125" y="5439155"/>
            <a:ext cx="631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&lt;MASK&gt;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05018" y="5391800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8" y="355988"/>
                </a:lnTo>
                <a:lnTo>
                  <a:pt x="786722" y="351325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42654" y="5406644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doing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35236" y="5391800"/>
            <a:ext cx="1120140" cy="356235"/>
          </a:xfrm>
          <a:custGeom>
            <a:avLst/>
            <a:gdLst/>
            <a:ahLst/>
            <a:cxnLst/>
            <a:rect l="l" t="t" r="r" b="b"/>
            <a:pathLst>
              <a:path w="1120140" h="356235">
                <a:moveTo>
                  <a:pt x="1060283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7" y="351326"/>
                </a:lnTo>
                <a:lnTo>
                  <a:pt x="59331" y="355988"/>
                </a:lnTo>
                <a:lnTo>
                  <a:pt x="1060283" y="355988"/>
                </a:lnTo>
                <a:lnTo>
                  <a:pt x="1083377" y="351326"/>
                </a:lnTo>
                <a:lnTo>
                  <a:pt x="1102237" y="338610"/>
                </a:lnTo>
                <a:lnTo>
                  <a:pt x="1114952" y="319751"/>
                </a:lnTo>
                <a:lnTo>
                  <a:pt x="1119615" y="296656"/>
                </a:lnTo>
                <a:lnTo>
                  <a:pt x="1119615" y="59331"/>
                </a:lnTo>
                <a:lnTo>
                  <a:pt x="1114952" y="36237"/>
                </a:lnTo>
                <a:lnTo>
                  <a:pt x="1102237" y="17377"/>
                </a:lnTo>
                <a:lnTo>
                  <a:pt x="1083377" y="4662"/>
                </a:lnTo>
                <a:lnTo>
                  <a:pt x="106028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20471" y="5406644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today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62109" y="5391800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6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979901" y="5406644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4291" y="5382193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0"/>
                </a:moveTo>
                <a:lnTo>
                  <a:pt x="59332" y="0"/>
                </a:lnTo>
                <a:lnTo>
                  <a:pt x="36237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7" y="351326"/>
                </a:lnTo>
                <a:lnTo>
                  <a:pt x="59332" y="355988"/>
                </a:lnTo>
                <a:lnTo>
                  <a:pt x="763627" y="355988"/>
                </a:lnTo>
                <a:lnTo>
                  <a:pt x="786722" y="351326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2" y="4662"/>
                </a:lnTo>
                <a:lnTo>
                  <a:pt x="76362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0496" y="5381244"/>
            <a:ext cx="590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&lt;CLS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75135" y="4817325"/>
            <a:ext cx="1974214" cy="434340"/>
          </a:xfrm>
          <a:custGeom>
            <a:avLst/>
            <a:gdLst/>
            <a:ahLst/>
            <a:cxnLst/>
            <a:rect l="l" t="t" r="r" b="b"/>
            <a:pathLst>
              <a:path w="1974214" h="434339">
                <a:moveTo>
                  <a:pt x="986882" y="0"/>
                </a:moveTo>
                <a:lnTo>
                  <a:pt x="0" y="217062"/>
                </a:lnTo>
                <a:lnTo>
                  <a:pt x="493440" y="217062"/>
                </a:lnTo>
                <a:lnTo>
                  <a:pt x="493440" y="434125"/>
                </a:lnTo>
                <a:lnTo>
                  <a:pt x="1480323" y="434125"/>
                </a:lnTo>
                <a:lnTo>
                  <a:pt x="1480323" y="217062"/>
                </a:lnTo>
                <a:lnTo>
                  <a:pt x="1973765" y="217062"/>
                </a:lnTo>
                <a:lnTo>
                  <a:pt x="98688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4291" y="4320988"/>
            <a:ext cx="7231380" cy="356235"/>
          </a:xfrm>
          <a:custGeom>
            <a:avLst/>
            <a:gdLst/>
            <a:ahLst/>
            <a:cxnLst/>
            <a:rect l="l" t="t" r="r" b="b"/>
            <a:pathLst>
              <a:path w="7231380" h="356235">
                <a:moveTo>
                  <a:pt x="7171445" y="0"/>
                </a:moveTo>
                <a:lnTo>
                  <a:pt x="59331" y="0"/>
                </a:lnTo>
                <a:lnTo>
                  <a:pt x="36236" y="4662"/>
                </a:lnTo>
                <a:lnTo>
                  <a:pt x="17377" y="17377"/>
                </a:lnTo>
                <a:lnTo>
                  <a:pt x="4662" y="36236"/>
                </a:lnTo>
                <a:lnTo>
                  <a:pt x="0" y="59330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0"/>
                </a:lnTo>
                <a:lnTo>
                  <a:pt x="36236" y="351326"/>
                </a:lnTo>
                <a:lnTo>
                  <a:pt x="59331" y="355988"/>
                </a:lnTo>
                <a:lnTo>
                  <a:pt x="7171445" y="355988"/>
                </a:lnTo>
                <a:lnTo>
                  <a:pt x="7194540" y="351326"/>
                </a:lnTo>
                <a:lnTo>
                  <a:pt x="7213400" y="338610"/>
                </a:lnTo>
                <a:lnTo>
                  <a:pt x="7226115" y="319751"/>
                </a:lnTo>
                <a:lnTo>
                  <a:pt x="7230777" y="296656"/>
                </a:lnTo>
                <a:lnTo>
                  <a:pt x="7230777" y="59330"/>
                </a:lnTo>
                <a:lnTo>
                  <a:pt x="7226115" y="36236"/>
                </a:lnTo>
                <a:lnTo>
                  <a:pt x="7213400" y="17377"/>
                </a:lnTo>
                <a:lnTo>
                  <a:pt x="7194540" y="4662"/>
                </a:lnTo>
                <a:lnTo>
                  <a:pt x="717144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817585" y="4336795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BERT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75135" y="3723438"/>
            <a:ext cx="1974214" cy="434340"/>
          </a:xfrm>
          <a:custGeom>
            <a:avLst/>
            <a:gdLst/>
            <a:ahLst/>
            <a:cxnLst/>
            <a:rect l="l" t="t" r="r" b="b"/>
            <a:pathLst>
              <a:path w="1974214" h="434339">
                <a:moveTo>
                  <a:pt x="986882" y="0"/>
                </a:moveTo>
                <a:lnTo>
                  <a:pt x="0" y="217062"/>
                </a:lnTo>
                <a:lnTo>
                  <a:pt x="493440" y="217062"/>
                </a:lnTo>
                <a:lnTo>
                  <a:pt x="493440" y="434124"/>
                </a:lnTo>
                <a:lnTo>
                  <a:pt x="1480323" y="434124"/>
                </a:lnTo>
                <a:lnTo>
                  <a:pt x="1480323" y="217062"/>
                </a:lnTo>
                <a:lnTo>
                  <a:pt x="1973765" y="217062"/>
                </a:lnTo>
                <a:lnTo>
                  <a:pt x="98688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78423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1"/>
                </a:lnTo>
                <a:lnTo>
                  <a:pt x="36237" y="351327"/>
                </a:lnTo>
                <a:lnTo>
                  <a:pt x="59331" y="355989"/>
                </a:lnTo>
                <a:lnTo>
                  <a:pt x="763626" y="355989"/>
                </a:lnTo>
                <a:lnTo>
                  <a:pt x="786721" y="351327"/>
                </a:lnTo>
                <a:lnTo>
                  <a:pt x="805581" y="338611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3"/>
                </a:lnTo>
                <a:lnTo>
                  <a:pt x="818297" y="36238"/>
                </a:lnTo>
                <a:lnTo>
                  <a:pt x="805581" y="17378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764129" y="3218179"/>
            <a:ext cx="452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How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73012" y="3204023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1"/>
                </a:lnTo>
                <a:lnTo>
                  <a:pt x="36238" y="351327"/>
                </a:lnTo>
                <a:lnTo>
                  <a:pt x="59333" y="355989"/>
                </a:lnTo>
                <a:lnTo>
                  <a:pt x="763628" y="355989"/>
                </a:lnTo>
                <a:lnTo>
                  <a:pt x="786722" y="351327"/>
                </a:lnTo>
                <a:lnTo>
                  <a:pt x="805582" y="338611"/>
                </a:lnTo>
                <a:lnTo>
                  <a:pt x="818297" y="319751"/>
                </a:lnTo>
                <a:lnTo>
                  <a:pt x="822960" y="296656"/>
                </a:lnTo>
                <a:lnTo>
                  <a:pt x="822960" y="59333"/>
                </a:lnTo>
                <a:lnTo>
                  <a:pt x="818297" y="36238"/>
                </a:lnTo>
                <a:lnTo>
                  <a:pt x="805582" y="17378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821678" y="3218179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5237" y="3204023"/>
            <a:ext cx="892810" cy="356235"/>
          </a:xfrm>
          <a:custGeom>
            <a:avLst/>
            <a:gdLst/>
            <a:ahLst/>
            <a:cxnLst/>
            <a:rect l="l" t="t" r="r" b="b"/>
            <a:pathLst>
              <a:path w="892810" h="356235">
                <a:moveTo>
                  <a:pt x="833360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1"/>
                </a:lnTo>
                <a:lnTo>
                  <a:pt x="36237" y="351327"/>
                </a:lnTo>
                <a:lnTo>
                  <a:pt x="59331" y="355989"/>
                </a:lnTo>
                <a:lnTo>
                  <a:pt x="833360" y="355989"/>
                </a:lnTo>
                <a:lnTo>
                  <a:pt x="856455" y="351327"/>
                </a:lnTo>
                <a:lnTo>
                  <a:pt x="875314" y="338611"/>
                </a:lnTo>
                <a:lnTo>
                  <a:pt x="888030" y="319751"/>
                </a:lnTo>
                <a:lnTo>
                  <a:pt x="892693" y="296656"/>
                </a:lnTo>
                <a:lnTo>
                  <a:pt x="892693" y="59333"/>
                </a:lnTo>
                <a:lnTo>
                  <a:pt x="888030" y="36238"/>
                </a:lnTo>
                <a:lnTo>
                  <a:pt x="875314" y="17378"/>
                </a:lnTo>
                <a:lnTo>
                  <a:pt x="856455" y="4662"/>
                </a:lnTo>
                <a:lnTo>
                  <a:pt x="833360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15672" y="3250691"/>
            <a:ext cx="631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&lt;MASK&gt;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03455" y="3204023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1"/>
                </a:lnTo>
                <a:lnTo>
                  <a:pt x="36238" y="351327"/>
                </a:lnTo>
                <a:lnTo>
                  <a:pt x="59333" y="355989"/>
                </a:lnTo>
                <a:lnTo>
                  <a:pt x="763628" y="355989"/>
                </a:lnTo>
                <a:lnTo>
                  <a:pt x="786722" y="351327"/>
                </a:lnTo>
                <a:lnTo>
                  <a:pt x="805582" y="338611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3"/>
                </a:lnTo>
                <a:lnTo>
                  <a:pt x="818297" y="36238"/>
                </a:lnTo>
                <a:lnTo>
                  <a:pt x="805582" y="17378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41091" y="3218179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doing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33674" y="3204023"/>
            <a:ext cx="1120140" cy="356235"/>
          </a:xfrm>
          <a:custGeom>
            <a:avLst/>
            <a:gdLst/>
            <a:ahLst/>
            <a:cxnLst/>
            <a:rect l="l" t="t" r="r" b="b"/>
            <a:pathLst>
              <a:path w="1120140" h="356235">
                <a:moveTo>
                  <a:pt x="1060282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8"/>
                </a:lnTo>
                <a:lnTo>
                  <a:pt x="4662" y="319752"/>
                </a:lnTo>
                <a:lnTo>
                  <a:pt x="17377" y="338611"/>
                </a:lnTo>
                <a:lnTo>
                  <a:pt x="36237" y="351327"/>
                </a:lnTo>
                <a:lnTo>
                  <a:pt x="59331" y="355989"/>
                </a:lnTo>
                <a:lnTo>
                  <a:pt x="1060282" y="355989"/>
                </a:lnTo>
                <a:lnTo>
                  <a:pt x="1083377" y="351327"/>
                </a:lnTo>
                <a:lnTo>
                  <a:pt x="1102236" y="338611"/>
                </a:lnTo>
                <a:lnTo>
                  <a:pt x="1114951" y="319752"/>
                </a:lnTo>
                <a:lnTo>
                  <a:pt x="1119614" y="296658"/>
                </a:lnTo>
                <a:lnTo>
                  <a:pt x="1119614" y="59333"/>
                </a:lnTo>
                <a:lnTo>
                  <a:pt x="1114951" y="36238"/>
                </a:lnTo>
                <a:lnTo>
                  <a:pt x="1102236" y="17378"/>
                </a:lnTo>
                <a:lnTo>
                  <a:pt x="1083377" y="4662"/>
                </a:lnTo>
                <a:lnTo>
                  <a:pt x="1060282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918907" y="3218179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today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960547" y="3204023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1"/>
                </a:lnTo>
                <a:lnTo>
                  <a:pt x="36237" y="351327"/>
                </a:lnTo>
                <a:lnTo>
                  <a:pt x="59331" y="355989"/>
                </a:lnTo>
                <a:lnTo>
                  <a:pt x="763626" y="355989"/>
                </a:lnTo>
                <a:lnTo>
                  <a:pt x="786721" y="351327"/>
                </a:lnTo>
                <a:lnTo>
                  <a:pt x="805581" y="338611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3"/>
                </a:lnTo>
                <a:lnTo>
                  <a:pt x="818297" y="36238"/>
                </a:lnTo>
                <a:lnTo>
                  <a:pt x="805581" y="17378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078338" y="3218179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2729" y="3194418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0"/>
                </a:moveTo>
                <a:lnTo>
                  <a:pt x="59332" y="0"/>
                </a:lnTo>
                <a:lnTo>
                  <a:pt x="36237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8" y="338610"/>
                </a:lnTo>
                <a:lnTo>
                  <a:pt x="36237" y="351325"/>
                </a:lnTo>
                <a:lnTo>
                  <a:pt x="59332" y="355988"/>
                </a:lnTo>
                <a:lnTo>
                  <a:pt x="763627" y="355988"/>
                </a:lnTo>
                <a:lnTo>
                  <a:pt x="786722" y="351325"/>
                </a:lnTo>
                <a:lnTo>
                  <a:pt x="805582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2" y="17377"/>
                </a:lnTo>
                <a:lnTo>
                  <a:pt x="786722" y="4662"/>
                </a:lnTo>
                <a:lnTo>
                  <a:pt x="763627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68934" y="3195828"/>
            <a:ext cx="590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&lt;CLS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643617" y="2252544"/>
            <a:ext cx="861694" cy="801370"/>
            <a:chOff x="3643617" y="2252544"/>
            <a:chExt cx="861694" cy="801370"/>
          </a:xfrm>
        </p:grpSpPr>
        <p:sp>
          <p:nvSpPr>
            <p:cNvPr id="42" name="object 42"/>
            <p:cNvSpPr/>
            <p:nvPr/>
          </p:nvSpPr>
          <p:spPr>
            <a:xfrm>
              <a:off x="3968262" y="2252544"/>
              <a:ext cx="537210" cy="801370"/>
            </a:xfrm>
            <a:custGeom>
              <a:avLst/>
              <a:gdLst/>
              <a:ahLst/>
              <a:cxnLst/>
              <a:rect l="l" t="t" r="r" b="b"/>
              <a:pathLst>
                <a:path w="537210" h="801369">
                  <a:moveTo>
                    <a:pt x="402567" y="0"/>
                  </a:moveTo>
                  <a:lnTo>
                    <a:pt x="402567" y="67095"/>
                  </a:lnTo>
                  <a:lnTo>
                    <a:pt x="223993" y="67094"/>
                  </a:lnTo>
                  <a:lnTo>
                    <a:pt x="178851" y="71644"/>
                  </a:lnTo>
                  <a:lnTo>
                    <a:pt x="136805" y="84696"/>
                  </a:lnTo>
                  <a:lnTo>
                    <a:pt x="98756" y="105348"/>
                  </a:lnTo>
                  <a:lnTo>
                    <a:pt x="65606" y="132700"/>
                  </a:lnTo>
                  <a:lnTo>
                    <a:pt x="38254" y="165851"/>
                  </a:lnTo>
                  <a:lnTo>
                    <a:pt x="17602" y="203899"/>
                  </a:lnTo>
                  <a:lnTo>
                    <a:pt x="4550" y="245946"/>
                  </a:lnTo>
                  <a:lnTo>
                    <a:pt x="0" y="291089"/>
                  </a:lnTo>
                  <a:lnTo>
                    <a:pt x="0" y="801248"/>
                  </a:lnTo>
                  <a:lnTo>
                    <a:pt x="134189" y="801248"/>
                  </a:lnTo>
                  <a:lnTo>
                    <a:pt x="134189" y="291089"/>
                  </a:lnTo>
                  <a:lnTo>
                    <a:pt x="141246" y="256132"/>
                  </a:lnTo>
                  <a:lnTo>
                    <a:pt x="160492" y="227586"/>
                  </a:lnTo>
                  <a:lnTo>
                    <a:pt x="189037" y="208340"/>
                  </a:lnTo>
                  <a:lnTo>
                    <a:pt x="223993" y="201283"/>
                  </a:lnTo>
                  <a:lnTo>
                    <a:pt x="402567" y="201283"/>
                  </a:lnTo>
                  <a:lnTo>
                    <a:pt x="402567" y="268378"/>
                  </a:lnTo>
                  <a:lnTo>
                    <a:pt x="536756" y="134189"/>
                  </a:lnTo>
                  <a:lnTo>
                    <a:pt x="402567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49967" y="2592777"/>
              <a:ext cx="763270" cy="321945"/>
            </a:xfrm>
            <a:custGeom>
              <a:avLst/>
              <a:gdLst/>
              <a:ahLst/>
              <a:cxnLst/>
              <a:rect l="l" t="t" r="r" b="b"/>
              <a:pathLst>
                <a:path w="763270" h="321944">
                  <a:moveTo>
                    <a:pt x="763233" y="0"/>
                  </a:moveTo>
                  <a:lnTo>
                    <a:pt x="0" y="0"/>
                  </a:lnTo>
                  <a:lnTo>
                    <a:pt x="0" y="321384"/>
                  </a:lnTo>
                  <a:lnTo>
                    <a:pt x="763233" y="321384"/>
                  </a:lnTo>
                  <a:lnTo>
                    <a:pt x="763233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49967" y="2592777"/>
              <a:ext cx="763270" cy="321945"/>
            </a:xfrm>
            <a:custGeom>
              <a:avLst/>
              <a:gdLst/>
              <a:ahLst/>
              <a:cxnLst/>
              <a:rect l="l" t="t" r="r" b="b"/>
              <a:pathLst>
                <a:path w="763270" h="321944">
                  <a:moveTo>
                    <a:pt x="0" y="0"/>
                  </a:moveTo>
                  <a:lnTo>
                    <a:pt x="763233" y="0"/>
                  </a:lnTo>
                  <a:lnTo>
                    <a:pt x="763233" y="321385"/>
                  </a:lnTo>
                  <a:lnTo>
                    <a:pt x="0" y="32138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4638019" y="1906094"/>
            <a:ext cx="443230" cy="1074420"/>
          </a:xfrm>
          <a:custGeom>
            <a:avLst/>
            <a:gdLst/>
            <a:ahLst/>
            <a:cxnLst/>
            <a:rect l="l" t="t" r="r" b="b"/>
            <a:pathLst>
              <a:path w="443229" h="1074420">
                <a:moveTo>
                  <a:pt x="443086" y="1073907"/>
                </a:moveTo>
                <a:lnTo>
                  <a:pt x="373061" y="1072024"/>
                </a:lnTo>
                <a:lnTo>
                  <a:pt x="312245" y="1066783"/>
                </a:lnTo>
                <a:lnTo>
                  <a:pt x="264287" y="1058790"/>
                </a:lnTo>
                <a:lnTo>
                  <a:pt x="221543" y="1036985"/>
                </a:lnTo>
                <a:lnTo>
                  <a:pt x="221543" y="573875"/>
                </a:lnTo>
                <a:lnTo>
                  <a:pt x="210248" y="562205"/>
                </a:lnTo>
                <a:lnTo>
                  <a:pt x="178798" y="552069"/>
                </a:lnTo>
                <a:lnTo>
                  <a:pt x="130840" y="544077"/>
                </a:lnTo>
                <a:lnTo>
                  <a:pt x="70024" y="538835"/>
                </a:lnTo>
                <a:lnTo>
                  <a:pt x="0" y="536953"/>
                </a:lnTo>
                <a:lnTo>
                  <a:pt x="70024" y="535071"/>
                </a:lnTo>
                <a:lnTo>
                  <a:pt x="130840" y="529829"/>
                </a:lnTo>
                <a:lnTo>
                  <a:pt x="178798" y="521837"/>
                </a:lnTo>
                <a:lnTo>
                  <a:pt x="210248" y="511701"/>
                </a:lnTo>
                <a:lnTo>
                  <a:pt x="221543" y="500031"/>
                </a:lnTo>
                <a:lnTo>
                  <a:pt x="221543" y="36922"/>
                </a:lnTo>
                <a:lnTo>
                  <a:pt x="232837" y="25251"/>
                </a:lnTo>
                <a:lnTo>
                  <a:pt x="264287" y="15116"/>
                </a:lnTo>
                <a:lnTo>
                  <a:pt x="312245" y="7123"/>
                </a:lnTo>
                <a:lnTo>
                  <a:pt x="373061" y="1882"/>
                </a:lnTo>
                <a:lnTo>
                  <a:pt x="443086" y="0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148901" y="1828675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7" y="338610"/>
                </a:lnTo>
                <a:lnTo>
                  <a:pt x="36237" y="351325"/>
                </a:lnTo>
                <a:lnTo>
                  <a:pt x="59331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48901" y="22449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7" y="338610"/>
                </a:lnTo>
                <a:lnTo>
                  <a:pt x="36237" y="351325"/>
                </a:lnTo>
                <a:lnTo>
                  <a:pt x="59331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145208" y="265860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8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7" y="351326"/>
                </a:lnTo>
                <a:lnTo>
                  <a:pt x="59331" y="355988"/>
                </a:lnTo>
                <a:lnTo>
                  <a:pt x="763626" y="355988"/>
                </a:lnTo>
                <a:lnTo>
                  <a:pt x="786721" y="351326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60" y="296656"/>
                </a:lnTo>
                <a:lnTo>
                  <a:pt x="822960" y="59333"/>
                </a:lnTo>
                <a:lnTo>
                  <a:pt x="818297" y="36238"/>
                </a:lnTo>
                <a:lnTo>
                  <a:pt x="805581" y="17378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039149" y="1828675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6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039149" y="22449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6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035456" y="265860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8" y="351326"/>
                </a:lnTo>
                <a:lnTo>
                  <a:pt x="59333" y="355988"/>
                </a:lnTo>
                <a:lnTo>
                  <a:pt x="763628" y="355988"/>
                </a:lnTo>
                <a:lnTo>
                  <a:pt x="786722" y="351326"/>
                </a:lnTo>
                <a:lnTo>
                  <a:pt x="805582" y="338610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3"/>
                </a:lnTo>
                <a:lnTo>
                  <a:pt x="818297" y="36238"/>
                </a:lnTo>
                <a:lnTo>
                  <a:pt x="805582" y="17378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341241" y="1700276"/>
            <a:ext cx="1320165" cy="127254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225"/>
              </a:spcBef>
              <a:tabLst>
                <a:tab pos="911225" algn="l"/>
              </a:tabLst>
            </a:pPr>
            <a:r>
              <a:rPr sz="1800" spc="-25" dirty="0">
                <a:latin typeface="Calibri"/>
                <a:cs typeface="Calibri"/>
              </a:rPr>
              <a:t>you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60%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911225" algn="l"/>
              </a:tabLst>
            </a:pPr>
            <a:r>
              <a:rPr sz="1800" spc="-20" dirty="0">
                <a:latin typeface="Calibri"/>
                <a:cs typeface="Calibri"/>
              </a:rPr>
              <a:t>they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20%</a:t>
            </a:r>
            <a:endParaRPr sz="18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  <a:spcBef>
                <a:spcPts val="1080"/>
              </a:spcBef>
              <a:tabLst>
                <a:tab pos="1026794" algn="l"/>
              </a:tabLst>
            </a:pPr>
            <a:r>
              <a:rPr sz="1800" spc="-50" dirty="0">
                <a:latin typeface="Calibri"/>
                <a:cs typeface="Calibri"/>
              </a:rPr>
              <a:t>…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755358" y="2576067"/>
            <a:ext cx="553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320" marR="5080" indent="-135255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Prediction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head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105595"/>
            <a:ext cx="3879850" cy="5605780"/>
            <a:chOff x="8121507" y="1105595"/>
            <a:chExt cx="3879850" cy="5605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995" y="1105595"/>
              <a:ext cx="3809225" cy="56053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5" y="0"/>
                  </a:moveTo>
                  <a:lnTo>
                    <a:pt x="329299" y="0"/>
                  </a:lnTo>
                  <a:lnTo>
                    <a:pt x="280638" y="3570"/>
                  </a:lnTo>
                  <a:lnTo>
                    <a:pt x="234193" y="13942"/>
                  </a:lnTo>
                  <a:lnTo>
                    <a:pt x="190475" y="30606"/>
                  </a:lnTo>
                  <a:lnTo>
                    <a:pt x="149992" y="53052"/>
                  </a:lnTo>
                  <a:lnTo>
                    <a:pt x="113255" y="80771"/>
                  </a:lnTo>
                  <a:lnTo>
                    <a:pt x="80771" y="113255"/>
                  </a:lnTo>
                  <a:lnTo>
                    <a:pt x="53052" y="149992"/>
                  </a:lnTo>
                  <a:lnTo>
                    <a:pt x="30606" y="190475"/>
                  </a:lnTo>
                  <a:lnTo>
                    <a:pt x="13942" y="234193"/>
                  </a:lnTo>
                  <a:lnTo>
                    <a:pt x="3570" y="280638"/>
                  </a:lnTo>
                  <a:lnTo>
                    <a:pt x="0" y="329299"/>
                  </a:lnTo>
                  <a:lnTo>
                    <a:pt x="0" y="2854773"/>
                  </a:lnTo>
                  <a:lnTo>
                    <a:pt x="3570" y="2903434"/>
                  </a:lnTo>
                  <a:lnTo>
                    <a:pt x="13942" y="2949879"/>
                  </a:lnTo>
                  <a:lnTo>
                    <a:pt x="30606" y="2993597"/>
                  </a:lnTo>
                  <a:lnTo>
                    <a:pt x="53052" y="3034080"/>
                  </a:lnTo>
                  <a:lnTo>
                    <a:pt x="80771" y="3070818"/>
                  </a:lnTo>
                  <a:lnTo>
                    <a:pt x="113255" y="3103301"/>
                  </a:lnTo>
                  <a:lnTo>
                    <a:pt x="149992" y="3131020"/>
                  </a:lnTo>
                  <a:lnTo>
                    <a:pt x="190475" y="3153467"/>
                  </a:lnTo>
                  <a:lnTo>
                    <a:pt x="234193" y="3170130"/>
                  </a:lnTo>
                  <a:lnTo>
                    <a:pt x="280638" y="3180502"/>
                  </a:lnTo>
                  <a:lnTo>
                    <a:pt x="329299" y="3184073"/>
                  </a:lnTo>
                  <a:lnTo>
                    <a:pt x="1646455" y="3184073"/>
                  </a:lnTo>
                  <a:lnTo>
                    <a:pt x="1695117" y="3180502"/>
                  </a:lnTo>
                  <a:lnTo>
                    <a:pt x="1741562" y="3170130"/>
                  </a:lnTo>
                  <a:lnTo>
                    <a:pt x="1785280" y="3153467"/>
                  </a:lnTo>
                  <a:lnTo>
                    <a:pt x="1825763" y="3131020"/>
                  </a:lnTo>
                  <a:lnTo>
                    <a:pt x="1862500" y="3103301"/>
                  </a:lnTo>
                  <a:lnTo>
                    <a:pt x="1894984" y="3070818"/>
                  </a:lnTo>
                  <a:lnTo>
                    <a:pt x="1922703" y="3034080"/>
                  </a:lnTo>
                  <a:lnTo>
                    <a:pt x="1945149" y="2993597"/>
                  </a:lnTo>
                  <a:lnTo>
                    <a:pt x="1961813" y="2949879"/>
                  </a:lnTo>
                  <a:lnTo>
                    <a:pt x="1972185" y="2903434"/>
                  </a:lnTo>
                  <a:lnTo>
                    <a:pt x="1975755" y="2854773"/>
                  </a:lnTo>
                  <a:lnTo>
                    <a:pt x="1975755" y="329299"/>
                  </a:lnTo>
                  <a:lnTo>
                    <a:pt x="1972185" y="280638"/>
                  </a:lnTo>
                  <a:lnTo>
                    <a:pt x="1961813" y="234193"/>
                  </a:lnTo>
                  <a:lnTo>
                    <a:pt x="1945149" y="190475"/>
                  </a:lnTo>
                  <a:lnTo>
                    <a:pt x="1922703" y="149992"/>
                  </a:lnTo>
                  <a:lnTo>
                    <a:pt x="1894984" y="113255"/>
                  </a:lnTo>
                  <a:lnTo>
                    <a:pt x="1862500" y="80771"/>
                  </a:lnTo>
                  <a:lnTo>
                    <a:pt x="1825763" y="53052"/>
                  </a:lnTo>
                  <a:lnTo>
                    <a:pt x="1785280" y="30606"/>
                  </a:lnTo>
                  <a:lnTo>
                    <a:pt x="1741562" y="13942"/>
                  </a:lnTo>
                  <a:lnTo>
                    <a:pt x="1695117" y="3570"/>
                  </a:lnTo>
                  <a:lnTo>
                    <a:pt x="1646455" y="0"/>
                  </a:lnTo>
                  <a:close/>
                </a:path>
              </a:pathLst>
            </a:custGeom>
            <a:solidFill>
              <a:srgbClr val="FFE699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5117" y="3570"/>
                  </a:lnTo>
                  <a:lnTo>
                    <a:pt x="1741562" y="13942"/>
                  </a:lnTo>
                  <a:lnTo>
                    <a:pt x="1785280" y="30605"/>
                  </a:lnTo>
                  <a:lnTo>
                    <a:pt x="1825763" y="53052"/>
                  </a:lnTo>
                  <a:lnTo>
                    <a:pt x="1862500" y="80771"/>
                  </a:lnTo>
                  <a:lnTo>
                    <a:pt x="1894984" y="113254"/>
                  </a:lnTo>
                  <a:lnTo>
                    <a:pt x="1922703" y="149992"/>
                  </a:lnTo>
                  <a:lnTo>
                    <a:pt x="1945149" y="190475"/>
                  </a:lnTo>
                  <a:lnTo>
                    <a:pt x="1961813" y="234193"/>
                  </a:lnTo>
                  <a:lnTo>
                    <a:pt x="1972185" y="280637"/>
                  </a:lnTo>
                  <a:lnTo>
                    <a:pt x="1975756" y="329299"/>
                  </a:lnTo>
                  <a:lnTo>
                    <a:pt x="1975756" y="2854774"/>
                  </a:lnTo>
                  <a:lnTo>
                    <a:pt x="1972185" y="2903435"/>
                  </a:lnTo>
                  <a:lnTo>
                    <a:pt x="1961813" y="2949880"/>
                  </a:lnTo>
                  <a:lnTo>
                    <a:pt x="1945149" y="2993598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0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3"/>
                  </a:lnTo>
                  <a:lnTo>
                    <a:pt x="329299" y="3184073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8"/>
                  </a:lnTo>
                  <a:lnTo>
                    <a:pt x="13942" y="2949880"/>
                  </a:lnTo>
                  <a:lnTo>
                    <a:pt x="3570" y="2903435"/>
                  </a:lnTo>
                  <a:lnTo>
                    <a:pt x="0" y="2854774"/>
                  </a:lnTo>
                  <a:lnTo>
                    <a:pt x="0" y="3292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Date Placeholder 54">
            <a:extLst>
              <a:ext uri="{FF2B5EF4-FFF2-40B4-BE49-F238E27FC236}">
                <a16:creationId xmlns:a16="http://schemas.microsoft.com/office/drawing/2014/main" id="{1FF94D3C-C535-DD5B-09ED-27421E2A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143D-DF56-4801-B229-957367806B51}" type="datetime1">
              <a:rPr lang="en-US" smtClean="0"/>
              <a:t>5/12/2025</a:t>
            </a:fld>
            <a:endParaRPr lang="en-US"/>
          </a:p>
        </p:txBody>
      </p:sp>
      <p:sp>
        <p:nvSpPr>
          <p:cNvPr id="56" name="Footer Placeholder 55">
            <a:extLst>
              <a:ext uri="{FF2B5EF4-FFF2-40B4-BE49-F238E27FC236}">
                <a16:creationId xmlns:a16="http://schemas.microsoft.com/office/drawing/2014/main" id="{79DCCF04-198C-AA7D-103A-466C8E6C9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F5BA2047-8191-CC0B-A5C9-A7232C3B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-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Bidirectional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Encoder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81195" y="339623"/>
            <a:ext cx="3102610" cy="558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20"/>
              </a:lnSpc>
            </a:pPr>
            <a:r>
              <a:rPr sz="3600" b="1" spc="-10" dirty="0">
                <a:latin typeface="Calibri"/>
                <a:cs typeface="Calibri"/>
              </a:rPr>
              <a:t>Representations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641" y="1148588"/>
            <a:ext cx="447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MLM</a:t>
            </a:r>
            <a:r>
              <a:rPr sz="2400" b="1" spc="-6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(Masked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Language</a:t>
            </a:r>
            <a:r>
              <a:rPr sz="2400" b="1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Modeling)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79985" y="5391801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8" y="355988"/>
                </a:lnTo>
                <a:lnTo>
                  <a:pt x="786722" y="351325"/>
                </a:lnTo>
                <a:lnTo>
                  <a:pt x="805582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2" y="17377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00184" y="540664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74575" y="5391800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60" y="296656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94774" y="540664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66410" y="5391800"/>
            <a:ext cx="927735" cy="356235"/>
          </a:xfrm>
          <a:custGeom>
            <a:avLst/>
            <a:gdLst/>
            <a:ahLst/>
            <a:cxnLst/>
            <a:rect l="l" t="t" r="r" b="b"/>
            <a:pathLst>
              <a:path w="927735" h="356235">
                <a:moveTo>
                  <a:pt x="867924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7" y="338610"/>
                </a:lnTo>
                <a:lnTo>
                  <a:pt x="36237" y="351325"/>
                </a:lnTo>
                <a:lnTo>
                  <a:pt x="59331" y="355988"/>
                </a:lnTo>
                <a:lnTo>
                  <a:pt x="867924" y="355988"/>
                </a:lnTo>
                <a:lnTo>
                  <a:pt x="891019" y="351325"/>
                </a:lnTo>
                <a:lnTo>
                  <a:pt x="909878" y="338610"/>
                </a:lnTo>
                <a:lnTo>
                  <a:pt x="922593" y="319750"/>
                </a:lnTo>
                <a:lnTo>
                  <a:pt x="927256" y="296655"/>
                </a:lnTo>
                <a:lnTo>
                  <a:pt x="927256" y="59331"/>
                </a:lnTo>
                <a:lnTo>
                  <a:pt x="922593" y="36237"/>
                </a:lnTo>
                <a:lnTo>
                  <a:pt x="909878" y="17377"/>
                </a:lnTo>
                <a:lnTo>
                  <a:pt x="891019" y="4662"/>
                </a:lnTo>
                <a:lnTo>
                  <a:pt x="86792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36350" y="5406644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05018" y="5391800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8" y="355988"/>
                </a:lnTo>
                <a:lnTo>
                  <a:pt x="786722" y="351325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25217" y="540664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35236" y="5391800"/>
            <a:ext cx="1120140" cy="356235"/>
          </a:xfrm>
          <a:custGeom>
            <a:avLst/>
            <a:gdLst/>
            <a:ahLst/>
            <a:cxnLst/>
            <a:rect l="l" t="t" r="r" b="b"/>
            <a:pathLst>
              <a:path w="1120140" h="356235">
                <a:moveTo>
                  <a:pt x="1060283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7" y="351326"/>
                </a:lnTo>
                <a:lnTo>
                  <a:pt x="59331" y="355988"/>
                </a:lnTo>
                <a:lnTo>
                  <a:pt x="1060283" y="355988"/>
                </a:lnTo>
                <a:lnTo>
                  <a:pt x="1083377" y="351326"/>
                </a:lnTo>
                <a:lnTo>
                  <a:pt x="1102237" y="338610"/>
                </a:lnTo>
                <a:lnTo>
                  <a:pt x="1114952" y="319751"/>
                </a:lnTo>
                <a:lnTo>
                  <a:pt x="1119615" y="296656"/>
                </a:lnTo>
                <a:lnTo>
                  <a:pt x="1119615" y="59331"/>
                </a:lnTo>
                <a:lnTo>
                  <a:pt x="1114952" y="36237"/>
                </a:lnTo>
                <a:lnTo>
                  <a:pt x="1102237" y="17377"/>
                </a:lnTo>
                <a:lnTo>
                  <a:pt x="1083377" y="4662"/>
                </a:lnTo>
                <a:lnTo>
                  <a:pt x="106028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03762" y="540664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62109" y="5391800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6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979901" y="5406644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4291" y="5382193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0"/>
                </a:moveTo>
                <a:lnTo>
                  <a:pt x="59332" y="0"/>
                </a:lnTo>
                <a:lnTo>
                  <a:pt x="36237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7" y="351326"/>
                </a:lnTo>
                <a:lnTo>
                  <a:pt x="59332" y="355988"/>
                </a:lnTo>
                <a:lnTo>
                  <a:pt x="763627" y="355988"/>
                </a:lnTo>
                <a:lnTo>
                  <a:pt x="786722" y="351326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2" y="4662"/>
                </a:lnTo>
                <a:lnTo>
                  <a:pt x="76362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70496" y="5381244"/>
            <a:ext cx="590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&lt;CLS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75135" y="4817325"/>
            <a:ext cx="1974214" cy="434340"/>
          </a:xfrm>
          <a:custGeom>
            <a:avLst/>
            <a:gdLst/>
            <a:ahLst/>
            <a:cxnLst/>
            <a:rect l="l" t="t" r="r" b="b"/>
            <a:pathLst>
              <a:path w="1974214" h="434339">
                <a:moveTo>
                  <a:pt x="986882" y="0"/>
                </a:moveTo>
                <a:lnTo>
                  <a:pt x="0" y="217062"/>
                </a:lnTo>
                <a:lnTo>
                  <a:pt x="493440" y="217062"/>
                </a:lnTo>
                <a:lnTo>
                  <a:pt x="493440" y="434125"/>
                </a:lnTo>
                <a:lnTo>
                  <a:pt x="1480323" y="434125"/>
                </a:lnTo>
                <a:lnTo>
                  <a:pt x="1480323" y="217062"/>
                </a:lnTo>
                <a:lnTo>
                  <a:pt x="1973765" y="217062"/>
                </a:lnTo>
                <a:lnTo>
                  <a:pt x="98688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4291" y="4320988"/>
            <a:ext cx="7231380" cy="356235"/>
          </a:xfrm>
          <a:custGeom>
            <a:avLst/>
            <a:gdLst/>
            <a:ahLst/>
            <a:cxnLst/>
            <a:rect l="l" t="t" r="r" b="b"/>
            <a:pathLst>
              <a:path w="7231380" h="356235">
                <a:moveTo>
                  <a:pt x="7171445" y="0"/>
                </a:moveTo>
                <a:lnTo>
                  <a:pt x="59331" y="0"/>
                </a:lnTo>
                <a:lnTo>
                  <a:pt x="36236" y="4662"/>
                </a:lnTo>
                <a:lnTo>
                  <a:pt x="17377" y="17377"/>
                </a:lnTo>
                <a:lnTo>
                  <a:pt x="4662" y="36236"/>
                </a:lnTo>
                <a:lnTo>
                  <a:pt x="0" y="59330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0"/>
                </a:lnTo>
                <a:lnTo>
                  <a:pt x="36236" y="351326"/>
                </a:lnTo>
                <a:lnTo>
                  <a:pt x="59331" y="355988"/>
                </a:lnTo>
                <a:lnTo>
                  <a:pt x="7171445" y="355988"/>
                </a:lnTo>
                <a:lnTo>
                  <a:pt x="7194540" y="351326"/>
                </a:lnTo>
                <a:lnTo>
                  <a:pt x="7213400" y="338610"/>
                </a:lnTo>
                <a:lnTo>
                  <a:pt x="7226115" y="319751"/>
                </a:lnTo>
                <a:lnTo>
                  <a:pt x="7230777" y="296656"/>
                </a:lnTo>
                <a:lnTo>
                  <a:pt x="7230777" y="59330"/>
                </a:lnTo>
                <a:lnTo>
                  <a:pt x="7226115" y="36236"/>
                </a:lnTo>
                <a:lnTo>
                  <a:pt x="7213400" y="17377"/>
                </a:lnTo>
                <a:lnTo>
                  <a:pt x="7194540" y="4662"/>
                </a:lnTo>
                <a:lnTo>
                  <a:pt x="717144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817585" y="4336795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BERT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75135" y="3723438"/>
            <a:ext cx="1974214" cy="434340"/>
          </a:xfrm>
          <a:custGeom>
            <a:avLst/>
            <a:gdLst/>
            <a:ahLst/>
            <a:cxnLst/>
            <a:rect l="l" t="t" r="r" b="b"/>
            <a:pathLst>
              <a:path w="1974214" h="434339">
                <a:moveTo>
                  <a:pt x="986882" y="0"/>
                </a:moveTo>
                <a:lnTo>
                  <a:pt x="0" y="217062"/>
                </a:lnTo>
                <a:lnTo>
                  <a:pt x="493440" y="217062"/>
                </a:lnTo>
                <a:lnTo>
                  <a:pt x="493440" y="434124"/>
                </a:lnTo>
                <a:lnTo>
                  <a:pt x="1480323" y="434124"/>
                </a:lnTo>
                <a:lnTo>
                  <a:pt x="1480323" y="217062"/>
                </a:lnTo>
                <a:lnTo>
                  <a:pt x="1973765" y="217062"/>
                </a:lnTo>
                <a:lnTo>
                  <a:pt x="98688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78423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1"/>
                </a:lnTo>
                <a:lnTo>
                  <a:pt x="36237" y="351327"/>
                </a:lnTo>
                <a:lnTo>
                  <a:pt x="59331" y="355989"/>
                </a:lnTo>
                <a:lnTo>
                  <a:pt x="763626" y="355989"/>
                </a:lnTo>
                <a:lnTo>
                  <a:pt x="786721" y="351327"/>
                </a:lnTo>
                <a:lnTo>
                  <a:pt x="805581" y="338611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3"/>
                </a:lnTo>
                <a:lnTo>
                  <a:pt x="818297" y="36238"/>
                </a:lnTo>
                <a:lnTo>
                  <a:pt x="805581" y="17378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898622" y="3218179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73012" y="3204023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1"/>
                </a:lnTo>
                <a:lnTo>
                  <a:pt x="36238" y="351327"/>
                </a:lnTo>
                <a:lnTo>
                  <a:pt x="59333" y="355989"/>
                </a:lnTo>
                <a:lnTo>
                  <a:pt x="763628" y="355989"/>
                </a:lnTo>
                <a:lnTo>
                  <a:pt x="786722" y="351327"/>
                </a:lnTo>
                <a:lnTo>
                  <a:pt x="805582" y="338611"/>
                </a:lnTo>
                <a:lnTo>
                  <a:pt x="818297" y="319751"/>
                </a:lnTo>
                <a:lnTo>
                  <a:pt x="822960" y="296656"/>
                </a:lnTo>
                <a:lnTo>
                  <a:pt x="822960" y="59333"/>
                </a:lnTo>
                <a:lnTo>
                  <a:pt x="818297" y="36238"/>
                </a:lnTo>
                <a:lnTo>
                  <a:pt x="805582" y="17378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893211" y="3218179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5237" y="3204023"/>
            <a:ext cx="892810" cy="356235"/>
          </a:xfrm>
          <a:custGeom>
            <a:avLst/>
            <a:gdLst/>
            <a:ahLst/>
            <a:cxnLst/>
            <a:rect l="l" t="t" r="r" b="b"/>
            <a:pathLst>
              <a:path w="892810" h="356235">
                <a:moveTo>
                  <a:pt x="833360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1"/>
                </a:lnTo>
                <a:lnTo>
                  <a:pt x="36237" y="351327"/>
                </a:lnTo>
                <a:lnTo>
                  <a:pt x="59331" y="355989"/>
                </a:lnTo>
                <a:lnTo>
                  <a:pt x="833360" y="355989"/>
                </a:lnTo>
                <a:lnTo>
                  <a:pt x="856455" y="351327"/>
                </a:lnTo>
                <a:lnTo>
                  <a:pt x="875314" y="338611"/>
                </a:lnTo>
                <a:lnTo>
                  <a:pt x="888030" y="319751"/>
                </a:lnTo>
                <a:lnTo>
                  <a:pt x="892693" y="296656"/>
                </a:lnTo>
                <a:lnTo>
                  <a:pt x="892693" y="59333"/>
                </a:lnTo>
                <a:lnTo>
                  <a:pt x="888030" y="36238"/>
                </a:lnTo>
                <a:lnTo>
                  <a:pt x="875314" y="17378"/>
                </a:lnTo>
                <a:lnTo>
                  <a:pt x="856455" y="4662"/>
                </a:lnTo>
                <a:lnTo>
                  <a:pt x="833360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37895" y="3218179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03455" y="3204023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8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1"/>
                </a:lnTo>
                <a:lnTo>
                  <a:pt x="36238" y="351327"/>
                </a:lnTo>
                <a:lnTo>
                  <a:pt x="59333" y="355989"/>
                </a:lnTo>
                <a:lnTo>
                  <a:pt x="763628" y="355989"/>
                </a:lnTo>
                <a:lnTo>
                  <a:pt x="786722" y="351327"/>
                </a:lnTo>
                <a:lnTo>
                  <a:pt x="805582" y="338611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3"/>
                </a:lnTo>
                <a:lnTo>
                  <a:pt x="818297" y="36238"/>
                </a:lnTo>
                <a:lnTo>
                  <a:pt x="805582" y="17378"/>
                </a:lnTo>
                <a:lnTo>
                  <a:pt x="786722" y="4662"/>
                </a:lnTo>
                <a:lnTo>
                  <a:pt x="763628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923654" y="3218179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33674" y="3204023"/>
            <a:ext cx="1120140" cy="356235"/>
          </a:xfrm>
          <a:custGeom>
            <a:avLst/>
            <a:gdLst/>
            <a:ahLst/>
            <a:cxnLst/>
            <a:rect l="l" t="t" r="r" b="b"/>
            <a:pathLst>
              <a:path w="1120140" h="356235">
                <a:moveTo>
                  <a:pt x="1060282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8"/>
                </a:lnTo>
                <a:lnTo>
                  <a:pt x="4662" y="319752"/>
                </a:lnTo>
                <a:lnTo>
                  <a:pt x="17377" y="338611"/>
                </a:lnTo>
                <a:lnTo>
                  <a:pt x="36237" y="351327"/>
                </a:lnTo>
                <a:lnTo>
                  <a:pt x="59331" y="355989"/>
                </a:lnTo>
                <a:lnTo>
                  <a:pt x="1060282" y="355989"/>
                </a:lnTo>
                <a:lnTo>
                  <a:pt x="1083377" y="351327"/>
                </a:lnTo>
                <a:lnTo>
                  <a:pt x="1102236" y="338611"/>
                </a:lnTo>
                <a:lnTo>
                  <a:pt x="1114951" y="319752"/>
                </a:lnTo>
                <a:lnTo>
                  <a:pt x="1119614" y="296658"/>
                </a:lnTo>
                <a:lnTo>
                  <a:pt x="1119614" y="59333"/>
                </a:lnTo>
                <a:lnTo>
                  <a:pt x="1114951" y="36238"/>
                </a:lnTo>
                <a:lnTo>
                  <a:pt x="1102236" y="17378"/>
                </a:lnTo>
                <a:lnTo>
                  <a:pt x="1083377" y="4662"/>
                </a:lnTo>
                <a:lnTo>
                  <a:pt x="1060282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102200" y="3218179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960547" y="3204023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8"/>
                </a:lnTo>
                <a:lnTo>
                  <a:pt x="0" y="59333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1"/>
                </a:lnTo>
                <a:lnTo>
                  <a:pt x="36237" y="351327"/>
                </a:lnTo>
                <a:lnTo>
                  <a:pt x="59331" y="355989"/>
                </a:lnTo>
                <a:lnTo>
                  <a:pt x="763626" y="355989"/>
                </a:lnTo>
                <a:lnTo>
                  <a:pt x="786721" y="351327"/>
                </a:lnTo>
                <a:lnTo>
                  <a:pt x="805581" y="338611"/>
                </a:lnTo>
                <a:lnTo>
                  <a:pt x="818297" y="319751"/>
                </a:lnTo>
                <a:lnTo>
                  <a:pt x="822959" y="296656"/>
                </a:lnTo>
                <a:lnTo>
                  <a:pt x="822959" y="59333"/>
                </a:lnTo>
                <a:lnTo>
                  <a:pt x="818297" y="36238"/>
                </a:lnTo>
                <a:lnTo>
                  <a:pt x="805581" y="17378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078338" y="3218179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2729" y="3194418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0"/>
                </a:moveTo>
                <a:lnTo>
                  <a:pt x="59332" y="0"/>
                </a:lnTo>
                <a:lnTo>
                  <a:pt x="36237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8" y="338610"/>
                </a:lnTo>
                <a:lnTo>
                  <a:pt x="36237" y="351325"/>
                </a:lnTo>
                <a:lnTo>
                  <a:pt x="59332" y="355988"/>
                </a:lnTo>
                <a:lnTo>
                  <a:pt x="763627" y="355988"/>
                </a:lnTo>
                <a:lnTo>
                  <a:pt x="786722" y="351325"/>
                </a:lnTo>
                <a:lnTo>
                  <a:pt x="805582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2" y="17377"/>
                </a:lnTo>
                <a:lnTo>
                  <a:pt x="786722" y="4662"/>
                </a:lnTo>
                <a:lnTo>
                  <a:pt x="763627" y="0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68934" y="3195828"/>
            <a:ext cx="590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&lt;CLS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88089" y="2228131"/>
            <a:ext cx="862330" cy="801370"/>
            <a:chOff x="588089" y="2228131"/>
            <a:chExt cx="862330" cy="801370"/>
          </a:xfrm>
        </p:grpSpPr>
        <p:sp>
          <p:nvSpPr>
            <p:cNvPr id="42" name="object 42"/>
            <p:cNvSpPr/>
            <p:nvPr/>
          </p:nvSpPr>
          <p:spPr>
            <a:xfrm>
              <a:off x="913604" y="2228131"/>
              <a:ext cx="537210" cy="801370"/>
            </a:xfrm>
            <a:custGeom>
              <a:avLst/>
              <a:gdLst/>
              <a:ahLst/>
              <a:cxnLst/>
              <a:rect l="l" t="t" r="r" b="b"/>
              <a:pathLst>
                <a:path w="537210" h="801369">
                  <a:moveTo>
                    <a:pt x="402568" y="0"/>
                  </a:moveTo>
                  <a:lnTo>
                    <a:pt x="402568" y="67094"/>
                  </a:lnTo>
                  <a:lnTo>
                    <a:pt x="223994" y="67094"/>
                  </a:lnTo>
                  <a:lnTo>
                    <a:pt x="178851" y="71644"/>
                  </a:lnTo>
                  <a:lnTo>
                    <a:pt x="136805" y="84696"/>
                  </a:lnTo>
                  <a:lnTo>
                    <a:pt x="98756" y="105348"/>
                  </a:lnTo>
                  <a:lnTo>
                    <a:pt x="65606" y="132700"/>
                  </a:lnTo>
                  <a:lnTo>
                    <a:pt x="38254" y="165850"/>
                  </a:lnTo>
                  <a:lnTo>
                    <a:pt x="17602" y="203899"/>
                  </a:lnTo>
                  <a:lnTo>
                    <a:pt x="4550" y="245945"/>
                  </a:lnTo>
                  <a:lnTo>
                    <a:pt x="0" y="291087"/>
                  </a:lnTo>
                  <a:lnTo>
                    <a:pt x="0" y="801246"/>
                  </a:lnTo>
                  <a:lnTo>
                    <a:pt x="134189" y="801246"/>
                  </a:lnTo>
                  <a:lnTo>
                    <a:pt x="134189" y="291087"/>
                  </a:lnTo>
                  <a:lnTo>
                    <a:pt x="141247" y="256132"/>
                  </a:lnTo>
                  <a:lnTo>
                    <a:pt x="160492" y="227586"/>
                  </a:lnTo>
                  <a:lnTo>
                    <a:pt x="189038" y="208340"/>
                  </a:lnTo>
                  <a:lnTo>
                    <a:pt x="223994" y="201283"/>
                  </a:lnTo>
                  <a:lnTo>
                    <a:pt x="402568" y="201283"/>
                  </a:lnTo>
                  <a:lnTo>
                    <a:pt x="402568" y="268377"/>
                  </a:lnTo>
                  <a:lnTo>
                    <a:pt x="536756" y="134189"/>
                  </a:lnTo>
                  <a:lnTo>
                    <a:pt x="402568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4439" y="2602297"/>
              <a:ext cx="763270" cy="321945"/>
            </a:xfrm>
            <a:custGeom>
              <a:avLst/>
              <a:gdLst/>
              <a:ahLst/>
              <a:cxnLst/>
              <a:rect l="l" t="t" r="r" b="b"/>
              <a:pathLst>
                <a:path w="763269" h="321944">
                  <a:moveTo>
                    <a:pt x="763232" y="0"/>
                  </a:moveTo>
                  <a:lnTo>
                    <a:pt x="0" y="0"/>
                  </a:lnTo>
                  <a:lnTo>
                    <a:pt x="0" y="321384"/>
                  </a:lnTo>
                  <a:lnTo>
                    <a:pt x="763232" y="321384"/>
                  </a:lnTo>
                  <a:lnTo>
                    <a:pt x="76323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94439" y="2602297"/>
              <a:ext cx="763270" cy="321945"/>
            </a:xfrm>
            <a:custGeom>
              <a:avLst/>
              <a:gdLst/>
              <a:ahLst/>
              <a:cxnLst/>
              <a:rect l="l" t="t" r="r" b="b"/>
              <a:pathLst>
                <a:path w="763269" h="321944">
                  <a:moveTo>
                    <a:pt x="0" y="0"/>
                  </a:moveTo>
                  <a:lnTo>
                    <a:pt x="763233" y="0"/>
                  </a:lnTo>
                  <a:lnTo>
                    <a:pt x="763233" y="321385"/>
                  </a:lnTo>
                  <a:lnTo>
                    <a:pt x="0" y="32138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1538353" y="1979044"/>
            <a:ext cx="443865" cy="801370"/>
          </a:xfrm>
          <a:custGeom>
            <a:avLst/>
            <a:gdLst/>
            <a:ahLst/>
            <a:cxnLst/>
            <a:rect l="l" t="t" r="r" b="b"/>
            <a:pathLst>
              <a:path w="443864" h="801369">
                <a:moveTo>
                  <a:pt x="443592" y="801248"/>
                </a:moveTo>
                <a:lnTo>
                  <a:pt x="373487" y="799363"/>
                </a:lnTo>
                <a:lnTo>
                  <a:pt x="312601" y="794115"/>
                </a:lnTo>
                <a:lnTo>
                  <a:pt x="264589" y="786114"/>
                </a:lnTo>
                <a:lnTo>
                  <a:pt x="221795" y="764283"/>
                </a:lnTo>
                <a:lnTo>
                  <a:pt x="221796" y="437588"/>
                </a:lnTo>
                <a:lnTo>
                  <a:pt x="210489" y="425905"/>
                </a:lnTo>
                <a:lnTo>
                  <a:pt x="179002" y="415757"/>
                </a:lnTo>
                <a:lnTo>
                  <a:pt x="130990" y="407756"/>
                </a:lnTo>
                <a:lnTo>
                  <a:pt x="70104" y="402508"/>
                </a:lnTo>
                <a:lnTo>
                  <a:pt x="0" y="400624"/>
                </a:lnTo>
                <a:lnTo>
                  <a:pt x="70104" y="398739"/>
                </a:lnTo>
                <a:lnTo>
                  <a:pt x="130990" y="393491"/>
                </a:lnTo>
                <a:lnTo>
                  <a:pt x="179002" y="385490"/>
                </a:lnTo>
                <a:lnTo>
                  <a:pt x="210489" y="375342"/>
                </a:lnTo>
                <a:lnTo>
                  <a:pt x="221796" y="363659"/>
                </a:lnTo>
                <a:lnTo>
                  <a:pt x="221796" y="36964"/>
                </a:lnTo>
                <a:lnTo>
                  <a:pt x="233103" y="25281"/>
                </a:lnTo>
                <a:lnTo>
                  <a:pt x="264590" y="15133"/>
                </a:lnTo>
                <a:lnTo>
                  <a:pt x="312602" y="7132"/>
                </a:lnTo>
                <a:lnTo>
                  <a:pt x="373488" y="1884"/>
                </a:lnTo>
                <a:lnTo>
                  <a:pt x="443592" y="0"/>
                </a:lnTo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094243" y="2008055"/>
            <a:ext cx="1301750" cy="356235"/>
          </a:xfrm>
          <a:custGeom>
            <a:avLst/>
            <a:gdLst/>
            <a:ahLst/>
            <a:cxnLst/>
            <a:rect l="l" t="t" r="r" b="b"/>
            <a:pathLst>
              <a:path w="1301750" h="356235">
                <a:moveTo>
                  <a:pt x="1242395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8" y="338610"/>
                </a:lnTo>
                <a:lnTo>
                  <a:pt x="36237" y="351325"/>
                </a:lnTo>
                <a:lnTo>
                  <a:pt x="59331" y="355988"/>
                </a:lnTo>
                <a:lnTo>
                  <a:pt x="1242395" y="355988"/>
                </a:lnTo>
                <a:lnTo>
                  <a:pt x="1265490" y="351325"/>
                </a:lnTo>
                <a:lnTo>
                  <a:pt x="1284350" y="338610"/>
                </a:lnTo>
                <a:lnTo>
                  <a:pt x="1297065" y="319750"/>
                </a:lnTo>
                <a:lnTo>
                  <a:pt x="1301728" y="296655"/>
                </a:lnTo>
                <a:lnTo>
                  <a:pt x="1301728" y="59331"/>
                </a:lnTo>
                <a:lnTo>
                  <a:pt x="1297065" y="36237"/>
                </a:lnTo>
                <a:lnTo>
                  <a:pt x="1284350" y="17377"/>
                </a:lnTo>
                <a:lnTo>
                  <a:pt x="1265490" y="4662"/>
                </a:lnTo>
                <a:lnTo>
                  <a:pt x="124239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401191" y="2023364"/>
            <a:ext cx="688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is_next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94242" y="2424304"/>
            <a:ext cx="1301750" cy="356235"/>
          </a:xfrm>
          <a:custGeom>
            <a:avLst/>
            <a:gdLst/>
            <a:ahLst/>
            <a:cxnLst/>
            <a:rect l="l" t="t" r="r" b="b"/>
            <a:pathLst>
              <a:path w="1301750" h="356235">
                <a:moveTo>
                  <a:pt x="1242396" y="0"/>
                </a:moveTo>
                <a:lnTo>
                  <a:pt x="59333" y="0"/>
                </a:lnTo>
                <a:lnTo>
                  <a:pt x="36238" y="4662"/>
                </a:lnTo>
                <a:lnTo>
                  <a:pt x="17378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8" y="338610"/>
                </a:lnTo>
                <a:lnTo>
                  <a:pt x="36238" y="351325"/>
                </a:lnTo>
                <a:lnTo>
                  <a:pt x="59333" y="355988"/>
                </a:lnTo>
                <a:lnTo>
                  <a:pt x="1242396" y="355988"/>
                </a:lnTo>
                <a:lnTo>
                  <a:pt x="1265491" y="351325"/>
                </a:lnTo>
                <a:lnTo>
                  <a:pt x="1284351" y="338610"/>
                </a:lnTo>
                <a:lnTo>
                  <a:pt x="1297066" y="319751"/>
                </a:lnTo>
                <a:lnTo>
                  <a:pt x="1301729" y="296656"/>
                </a:lnTo>
                <a:lnTo>
                  <a:pt x="1301729" y="59331"/>
                </a:lnTo>
                <a:lnTo>
                  <a:pt x="1297066" y="36237"/>
                </a:lnTo>
                <a:lnTo>
                  <a:pt x="1284351" y="17377"/>
                </a:lnTo>
                <a:lnTo>
                  <a:pt x="1265491" y="4662"/>
                </a:lnTo>
                <a:lnTo>
                  <a:pt x="124239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313085" y="2440940"/>
            <a:ext cx="864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not_next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466410" y="2008055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7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5"/>
                </a:lnTo>
                <a:lnTo>
                  <a:pt x="4662" y="319750"/>
                </a:lnTo>
                <a:lnTo>
                  <a:pt x="17377" y="338610"/>
                </a:lnTo>
                <a:lnTo>
                  <a:pt x="36237" y="351325"/>
                </a:lnTo>
                <a:lnTo>
                  <a:pt x="59331" y="355988"/>
                </a:lnTo>
                <a:lnTo>
                  <a:pt x="763626" y="355988"/>
                </a:lnTo>
                <a:lnTo>
                  <a:pt x="786721" y="351325"/>
                </a:lnTo>
                <a:lnTo>
                  <a:pt x="805581" y="338610"/>
                </a:lnTo>
                <a:lnTo>
                  <a:pt x="818297" y="319750"/>
                </a:lnTo>
                <a:lnTo>
                  <a:pt x="822960" y="296655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1" y="17377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66410" y="2424302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0"/>
                </a:moveTo>
                <a:lnTo>
                  <a:pt x="59331" y="0"/>
                </a:lnTo>
                <a:lnTo>
                  <a:pt x="36237" y="4662"/>
                </a:lnTo>
                <a:lnTo>
                  <a:pt x="17377" y="17378"/>
                </a:lnTo>
                <a:lnTo>
                  <a:pt x="4662" y="36237"/>
                </a:lnTo>
                <a:lnTo>
                  <a:pt x="0" y="59331"/>
                </a:lnTo>
                <a:lnTo>
                  <a:pt x="0" y="296656"/>
                </a:lnTo>
                <a:lnTo>
                  <a:pt x="4662" y="319751"/>
                </a:lnTo>
                <a:lnTo>
                  <a:pt x="17377" y="338610"/>
                </a:lnTo>
                <a:lnTo>
                  <a:pt x="36237" y="351326"/>
                </a:lnTo>
                <a:lnTo>
                  <a:pt x="59331" y="355988"/>
                </a:lnTo>
                <a:lnTo>
                  <a:pt x="763626" y="355988"/>
                </a:lnTo>
                <a:lnTo>
                  <a:pt x="786721" y="351326"/>
                </a:lnTo>
                <a:lnTo>
                  <a:pt x="805581" y="338610"/>
                </a:lnTo>
                <a:lnTo>
                  <a:pt x="818297" y="319751"/>
                </a:lnTo>
                <a:lnTo>
                  <a:pt x="822960" y="296656"/>
                </a:lnTo>
                <a:lnTo>
                  <a:pt x="822960" y="59331"/>
                </a:lnTo>
                <a:lnTo>
                  <a:pt x="818297" y="36237"/>
                </a:lnTo>
                <a:lnTo>
                  <a:pt x="805581" y="17378"/>
                </a:lnTo>
                <a:lnTo>
                  <a:pt x="786721" y="4662"/>
                </a:lnTo>
                <a:lnTo>
                  <a:pt x="76362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667545" y="1880108"/>
            <a:ext cx="421005" cy="8610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spc="-25" dirty="0">
                <a:latin typeface="Calibri"/>
                <a:cs typeface="Calibri"/>
              </a:rPr>
              <a:t>95%</a:t>
            </a:r>
            <a:endParaRPr sz="18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1130"/>
              </a:spcBef>
            </a:pPr>
            <a:r>
              <a:rPr sz="1800" spc="-25" dirty="0">
                <a:latin typeface="Calibri"/>
                <a:cs typeface="Calibri"/>
              </a:rPr>
              <a:t>5%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9830" y="2585211"/>
            <a:ext cx="553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320" marR="5080" indent="-135255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Prediction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head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6FEA090-F09A-CE86-6D3F-DDAA2CDB0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98B7313-C873-6613-0456-C0F4D3E1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479A-EBB0-4E22-ADA9-BBF40A457466}" type="datetime1">
              <a:rPr lang="en-US" smtClean="0"/>
              <a:t>5/12/2025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9D2315EB-2160-2862-99F9-1C3AB587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3E1825C-3C87-CF99-39F9-05B648D2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95" dirty="0"/>
              <a:t>Masked</a:t>
            </a:r>
            <a:r>
              <a:rPr sz="4400" spc="-35" dirty="0"/>
              <a:t> </a:t>
            </a:r>
            <a:r>
              <a:rPr sz="4400" spc="-295" dirty="0"/>
              <a:t>Language</a:t>
            </a:r>
            <a:r>
              <a:rPr sz="4400" spc="-30" dirty="0"/>
              <a:t> </a:t>
            </a:r>
            <a:r>
              <a:rPr sz="4400" spc="-150" dirty="0"/>
              <a:t>Model</a:t>
            </a:r>
            <a:r>
              <a:rPr sz="4400" spc="-110" dirty="0"/>
              <a:t> </a:t>
            </a:r>
            <a:r>
              <a:rPr sz="4400" spc="-365" dirty="0"/>
              <a:t>(MLM):</a:t>
            </a:r>
            <a:r>
              <a:rPr sz="4400" spc="-40" dirty="0"/>
              <a:t> </a:t>
            </a:r>
            <a:r>
              <a:rPr sz="4400" spc="-100" dirty="0"/>
              <a:t>training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44525" y="6086652"/>
            <a:ext cx="1268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latin typeface="Tahoma"/>
                <a:cs typeface="Tahoma"/>
              </a:rPr>
              <a:t>Input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(14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525" y="3064509"/>
            <a:ext cx="1407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ahoma"/>
                <a:cs typeface="Tahoma"/>
              </a:rPr>
              <a:t>Output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(14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525" y="1441780"/>
            <a:ext cx="11861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ahoma"/>
                <a:cs typeface="Tahoma"/>
              </a:rPr>
              <a:t>Target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(1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48580" y="1442084"/>
            <a:ext cx="484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Tahoma"/>
                <a:cs typeface="Tahoma"/>
              </a:rPr>
              <a:t>capital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07330" y="2134361"/>
            <a:ext cx="114300" cy="878205"/>
          </a:xfrm>
          <a:custGeom>
            <a:avLst/>
            <a:gdLst/>
            <a:ahLst/>
            <a:cxnLst/>
            <a:rect l="l" t="t" r="r" b="b"/>
            <a:pathLst>
              <a:path w="114300" h="878205">
                <a:moveTo>
                  <a:pt x="76175" y="114215"/>
                </a:moveTo>
                <a:lnTo>
                  <a:pt x="38074" y="114384"/>
                </a:lnTo>
                <a:lnTo>
                  <a:pt x="42164" y="878077"/>
                </a:lnTo>
                <a:lnTo>
                  <a:pt x="80264" y="877824"/>
                </a:lnTo>
                <a:lnTo>
                  <a:pt x="76175" y="114215"/>
                </a:lnTo>
                <a:close/>
              </a:path>
              <a:path w="114300" h="878205">
                <a:moveTo>
                  <a:pt x="56515" y="0"/>
                </a:moveTo>
                <a:lnTo>
                  <a:pt x="0" y="114553"/>
                </a:lnTo>
                <a:lnTo>
                  <a:pt x="38074" y="114384"/>
                </a:lnTo>
                <a:lnTo>
                  <a:pt x="37973" y="95376"/>
                </a:lnTo>
                <a:lnTo>
                  <a:pt x="104712" y="95123"/>
                </a:lnTo>
                <a:lnTo>
                  <a:pt x="56515" y="0"/>
                </a:lnTo>
                <a:close/>
              </a:path>
              <a:path w="114300" h="878205">
                <a:moveTo>
                  <a:pt x="76073" y="95123"/>
                </a:moveTo>
                <a:lnTo>
                  <a:pt x="37973" y="95376"/>
                </a:lnTo>
                <a:lnTo>
                  <a:pt x="38074" y="114384"/>
                </a:lnTo>
                <a:lnTo>
                  <a:pt x="76175" y="114215"/>
                </a:lnTo>
                <a:lnTo>
                  <a:pt x="76073" y="95123"/>
                </a:lnTo>
                <a:close/>
              </a:path>
              <a:path w="114300" h="878205">
                <a:moveTo>
                  <a:pt x="104712" y="95123"/>
                </a:moveTo>
                <a:lnTo>
                  <a:pt x="76073" y="95123"/>
                </a:lnTo>
                <a:lnTo>
                  <a:pt x="76175" y="114215"/>
                </a:lnTo>
                <a:lnTo>
                  <a:pt x="114300" y="114046"/>
                </a:lnTo>
                <a:lnTo>
                  <a:pt x="104712" y="9512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6696" y="1684782"/>
            <a:ext cx="114300" cy="21996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116829" y="1938527"/>
            <a:ext cx="868044" cy="114300"/>
          </a:xfrm>
          <a:custGeom>
            <a:avLst/>
            <a:gdLst/>
            <a:ahLst/>
            <a:cxnLst/>
            <a:rect l="l" t="t" r="r" b="b"/>
            <a:pathLst>
              <a:path w="868045" h="114300">
                <a:moveTo>
                  <a:pt x="753745" y="0"/>
                </a:moveTo>
                <a:lnTo>
                  <a:pt x="753745" y="114300"/>
                </a:lnTo>
                <a:lnTo>
                  <a:pt x="829945" y="76200"/>
                </a:lnTo>
                <a:lnTo>
                  <a:pt x="772795" y="76200"/>
                </a:lnTo>
                <a:lnTo>
                  <a:pt x="772795" y="38100"/>
                </a:lnTo>
                <a:lnTo>
                  <a:pt x="829945" y="38100"/>
                </a:lnTo>
                <a:lnTo>
                  <a:pt x="753745" y="0"/>
                </a:lnTo>
                <a:close/>
              </a:path>
              <a:path w="868045" h="114300">
                <a:moveTo>
                  <a:pt x="75374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53745" y="76200"/>
                </a:lnTo>
                <a:lnTo>
                  <a:pt x="753745" y="38100"/>
                </a:lnTo>
                <a:close/>
              </a:path>
              <a:path w="868045" h="114300">
                <a:moveTo>
                  <a:pt x="829945" y="38100"/>
                </a:moveTo>
                <a:lnTo>
                  <a:pt x="772795" y="38100"/>
                </a:lnTo>
                <a:lnTo>
                  <a:pt x="772795" y="76200"/>
                </a:lnTo>
                <a:lnTo>
                  <a:pt x="829945" y="76200"/>
                </a:lnTo>
                <a:lnTo>
                  <a:pt x="868045" y="57150"/>
                </a:lnTo>
                <a:lnTo>
                  <a:pt x="829945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37909" y="1882902"/>
            <a:ext cx="3154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Run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ahoma"/>
                <a:cs typeface="Tahoma"/>
              </a:rPr>
              <a:t>backpropagation</a:t>
            </a:r>
            <a:r>
              <a:rPr sz="1200" b="1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update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weights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0617" y="1882902"/>
            <a:ext cx="342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ahoma"/>
                <a:cs typeface="Tahoma"/>
              </a:rPr>
              <a:t>Loss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99509" y="6086652"/>
            <a:ext cx="5328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Rome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0000"/>
                </a:solidFill>
                <a:latin typeface="Tahoma"/>
                <a:cs typeface="Tahoma"/>
              </a:rPr>
              <a:t>[mask]</a:t>
            </a:r>
            <a:r>
              <a:rPr sz="1200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Italy,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which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why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hosts many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government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buildings.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81410" y="3398520"/>
            <a:ext cx="1175385" cy="2543810"/>
            <a:chOff x="4081410" y="3398520"/>
            <a:chExt cx="1175385" cy="254381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1410" y="3889248"/>
              <a:ext cx="1174848" cy="20528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3232" y="3398520"/>
              <a:ext cx="670560" cy="544067"/>
            </a:xfrm>
            <a:prstGeom prst="rect">
              <a:avLst/>
            </a:prstGeom>
          </p:spPr>
        </p:pic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965195" y="3019425"/>
          <a:ext cx="7423150" cy="351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5115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TK4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TK11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TK12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TK13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TK14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5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5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035014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E459757C-0371-6868-7498-B9549C5B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AFD5D-F463-4663-9397-3F089B85BACF}" type="datetime1">
              <a:rPr lang="en-US" smtClean="0"/>
              <a:t>5/12/2025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D093C07-07BC-7268-73B9-BF4C88F7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BF58704-A53B-D638-D36B-396710E3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35" dirty="0"/>
              <a:t>Next</a:t>
            </a:r>
            <a:r>
              <a:rPr sz="4400" spc="-114" dirty="0"/>
              <a:t> </a:t>
            </a:r>
            <a:r>
              <a:rPr sz="4400" spc="-400" dirty="0"/>
              <a:t>Sentence</a:t>
            </a:r>
            <a:r>
              <a:rPr sz="4400" spc="-65" dirty="0"/>
              <a:t> </a:t>
            </a:r>
            <a:r>
              <a:rPr sz="4400" spc="-245" dirty="0"/>
              <a:t>Prediction</a:t>
            </a:r>
            <a:r>
              <a:rPr sz="4400" spc="-60" dirty="0"/>
              <a:t> </a:t>
            </a:r>
            <a:r>
              <a:rPr sz="4400" spc="-465" dirty="0"/>
              <a:t>(NSP)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18236" y="1343660"/>
            <a:ext cx="964311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Tahoma"/>
                <a:cs typeface="Tahoma"/>
              </a:rPr>
              <a:t>Many</a:t>
            </a:r>
            <a:r>
              <a:rPr sz="1600" spc="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downstream</a:t>
            </a:r>
            <a:r>
              <a:rPr sz="1600" spc="1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applications</a:t>
            </a:r>
            <a:r>
              <a:rPr sz="1600" spc="9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(for</a:t>
            </a:r>
            <a:r>
              <a:rPr sz="1600" spc="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example</a:t>
            </a:r>
            <a:r>
              <a:rPr sz="1600" spc="95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choosing</a:t>
            </a:r>
            <a:r>
              <a:rPr sz="1600" spc="8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10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right</a:t>
            </a:r>
            <a:r>
              <a:rPr sz="1600" spc="8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answer</a:t>
            </a:r>
            <a:r>
              <a:rPr sz="1600" spc="9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given</a:t>
            </a:r>
            <a:r>
              <a:rPr sz="1600" spc="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4</a:t>
            </a:r>
            <a:r>
              <a:rPr sz="1600" spc="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choices)</a:t>
            </a:r>
            <a:r>
              <a:rPr sz="1600" spc="8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require</a:t>
            </a:r>
            <a:r>
              <a:rPr sz="1600" spc="6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learning </a:t>
            </a:r>
            <a:r>
              <a:rPr sz="1600" dirty="0">
                <a:latin typeface="Tahoma"/>
                <a:cs typeface="Tahoma"/>
              </a:rPr>
              <a:t>relationships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45" dirty="0">
                <a:latin typeface="Tahoma"/>
                <a:cs typeface="Tahoma"/>
              </a:rPr>
              <a:t>between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sentences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rather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than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single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tokens,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that’s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why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BERT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has </a:t>
            </a:r>
            <a:r>
              <a:rPr sz="1600" spc="75" dirty="0">
                <a:latin typeface="Tahoma"/>
                <a:cs typeface="Tahoma"/>
              </a:rPr>
              <a:t>been</a:t>
            </a:r>
            <a:r>
              <a:rPr sz="1600" dirty="0">
                <a:latin typeface="Tahoma"/>
                <a:cs typeface="Tahoma"/>
              </a:rPr>
              <a:t> pre-trained</a:t>
            </a:r>
            <a:r>
              <a:rPr sz="1600" spc="30" dirty="0">
                <a:latin typeface="Tahoma"/>
                <a:cs typeface="Tahoma"/>
              </a:rPr>
              <a:t> </a:t>
            </a:r>
            <a:r>
              <a:rPr sz="1600" spc="65" dirty="0">
                <a:latin typeface="Tahoma"/>
                <a:cs typeface="Tahoma"/>
              </a:rPr>
              <a:t>on</a:t>
            </a:r>
            <a:r>
              <a:rPr sz="160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the </a:t>
            </a:r>
            <a:r>
              <a:rPr sz="1600" dirty="0">
                <a:latin typeface="Tahoma"/>
                <a:cs typeface="Tahoma"/>
              </a:rPr>
              <a:t>Next</a:t>
            </a:r>
            <a:r>
              <a:rPr sz="1600" spc="18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Sentence</a:t>
            </a:r>
            <a:r>
              <a:rPr sz="1600" spc="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Prediction</a:t>
            </a:r>
            <a:r>
              <a:rPr sz="1600" spc="16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task.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1176" y="2396490"/>
            <a:ext cx="30130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Before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my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75" dirty="0">
                <a:latin typeface="Tahoma"/>
                <a:cs typeface="Tahoma"/>
              </a:rPr>
              <a:t>bed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lies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65" dirty="0">
                <a:latin typeface="Tahoma"/>
                <a:cs typeface="Tahoma"/>
              </a:rPr>
              <a:t>pool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moon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bright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could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imagine </a:t>
            </a:r>
            <a:r>
              <a:rPr sz="1200" spc="-10" dirty="0">
                <a:latin typeface="Tahoma"/>
                <a:cs typeface="Tahoma"/>
              </a:rPr>
              <a:t>that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it's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frost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ground</a:t>
            </a:r>
            <a:r>
              <a:rPr sz="1200" spc="500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look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up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and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see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bright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shining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moon </a:t>
            </a:r>
            <a:r>
              <a:rPr sz="1200" dirty="0">
                <a:latin typeface="Tahoma"/>
                <a:cs typeface="Tahoma"/>
              </a:rPr>
              <a:t>Bowing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my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head</a:t>
            </a:r>
            <a:r>
              <a:rPr sz="1200" spc="35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am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thinking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home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3746" y="2452116"/>
            <a:ext cx="949325" cy="114300"/>
          </a:xfrm>
          <a:custGeom>
            <a:avLst/>
            <a:gdLst/>
            <a:ahLst/>
            <a:cxnLst/>
            <a:rect l="l" t="t" r="r" b="b"/>
            <a:pathLst>
              <a:path w="949325" h="114300">
                <a:moveTo>
                  <a:pt x="834770" y="0"/>
                </a:moveTo>
                <a:lnTo>
                  <a:pt x="834770" y="114300"/>
                </a:lnTo>
                <a:lnTo>
                  <a:pt x="910970" y="76200"/>
                </a:lnTo>
                <a:lnTo>
                  <a:pt x="853820" y="76200"/>
                </a:lnTo>
                <a:lnTo>
                  <a:pt x="853820" y="38100"/>
                </a:lnTo>
                <a:lnTo>
                  <a:pt x="910970" y="38100"/>
                </a:lnTo>
                <a:lnTo>
                  <a:pt x="834770" y="0"/>
                </a:lnTo>
                <a:close/>
              </a:path>
              <a:path w="949325" h="114300">
                <a:moveTo>
                  <a:pt x="83477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4770" y="76200"/>
                </a:lnTo>
                <a:lnTo>
                  <a:pt x="834770" y="38100"/>
                </a:lnTo>
                <a:close/>
              </a:path>
              <a:path w="949325" h="114300">
                <a:moveTo>
                  <a:pt x="910970" y="38100"/>
                </a:moveTo>
                <a:lnTo>
                  <a:pt x="853820" y="38100"/>
                </a:lnTo>
                <a:lnTo>
                  <a:pt x="853820" y="76200"/>
                </a:lnTo>
                <a:lnTo>
                  <a:pt x="910970" y="76200"/>
                </a:lnTo>
                <a:lnTo>
                  <a:pt x="949070" y="57150"/>
                </a:lnTo>
                <a:lnTo>
                  <a:pt x="910970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21532" y="2395473"/>
            <a:ext cx="852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latin typeface="Tahoma"/>
                <a:cs typeface="Tahoma"/>
              </a:rPr>
              <a:t>Sentence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50" dirty="0">
                <a:latin typeface="Tahoma"/>
                <a:cs typeface="Tahoma"/>
              </a:rPr>
              <a:t>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1532" y="2776804"/>
            <a:ext cx="8464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latin typeface="Tahoma"/>
                <a:cs typeface="Tahoma"/>
              </a:rPr>
              <a:t>Sentence</a:t>
            </a:r>
            <a:r>
              <a:rPr sz="1200" b="1" spc="-25" dirty="0">
                <a:latin typeface="Tahoma"/>
                <a:cs typeface="Tahoma"/>
              </a:rPr>
              <a:t> </a:t>
            </a:r>
            <a:r>
              <a:rPr sz="1200" b="1" spc="-50" dirty="0">
                <a:latin typeface="Tahoma"/>
                <a:cs typeface="Tahoma"/>
              </a:rPr>
              <a:t>B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63746" y="2817876"/>
            <a:ext cx="949325" cy="114300"/>
          </a:xfrm>
          <a:custGeom>
            <a:avLst/>
            <a:gdLst/>
            <a:ahLst/>
            <a:cxnLst/>
            <a:rect l="l" t="t" r="r" b="b"/>
            <a:pathLst>
              <a:path w="949325" h="114300">
                <a:moveTo>
                  <a:pt x="834770" y="0"/>
                </a:moveTo>
                <a:lnTo>
                  <a:pt x="834770" y="114300"/>
                </a:lnTo>
                <a:lnTo>
                  <a:pt x="910970" y="76200"/>
                </a:lnTo>
                <a:lnTo>
                  <a:pt x="853820" y="76200"/>
                </a:lnTo>
                <a:lnTo>
                  <a:pt x="853820" y="38100"/>
                </a:lnTo>
                <a:lnTo>
                  <a:pt x="910970" y="38100"/>
                </a:lnTo>
                <a:lnTo>
                  <a:pt x="834770" y="0"/>
                </a:lnTo>
                <a:close/>
              </a:path>
              <a:path w="949325" h="114300">
                <a:moveTo>
                  <a:pt x="83477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34770" y="76200"/>
                </a:lnTo>
                <a:lnTo>
                  <a:pt x="834770" y="38100"/>
                </a:lnTo>
                <a:close/>
              </a:path>
              <a:path w="949325" h="114300">
                <a:moveTo>
                  <a:pt x="910970" y="38100"/>
                </a:moveTo>
                <a:lnTo>
                  <a:pt x="853820" y="38100"/>
                </a:lnTo>
                <a:lnTo>
                  <a:pt x="853820" y="76200"/>
                </a:lnTo>
                <a:lnTo>
                  <a:pt x="910970" y="76200"/>
                </a:lnTo>
                <a:lnTo>
                  <a:pt x="949070" y="57150"/>
                </a:lnTo>
                <a:lnTo>
                  <a:pt x="910970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093970" y="4016502"/>
            <a:ext cx="1654810" cy="1861820"/>
            <a:chOff x="5093970" y="4016502"/>
            <a:chExt cx="1654810" cy="18618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0596" y="4454652"/>
              <a:ext cx="941831" cy="7056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93970" y="4016501"/>
              <a:ext cx="1654810" cy="1861820"/>
            </a:xfrm>
            <a:custGeom>
              <a:avLst/>
              <a:gdLst/>
              <a:ahLst/>
              <a:cxnLst/>
              <a:rect l="l" t="t" r="r" b="b"/>
              <a:pathLst>
                <a:path w="1654809" h="1861820">
                  <a:moveTo>
                    <a:pt x="951103" y="330454"/>
                  </a:moveTo>
                  <a:lnTo>
                    <a:pt x="922528" y="330454"/>
                  </a:lnTo>
                  <a:lnTo>
                    <a:pt x="922528" y="0"/>
                  </a:lnTo>
                  <a:lnTo>
                    <a:pt x="893953" y="0"/>
                  </a:lnTo>
                  <a:lnTo>
                    <a:pt x="893953" y="330454"/>
                  </a:lnTo>
                  <a:lnTo>
                    <a:pt x="865378" y="330454"/>
                  </a:lnTo>
                  <a:lnTo>
                    <a:pt x="908304" y="416179"/>
                  </a:lnTo>
                  <a:lnTo>
                    <a:pt x="943991" y="344678"/>
                  </a:lnTo>
                  <a:lnTo>
                    <a:pt x="951103" y="330454"/>
                  </a:lnTo>
                  <a:close/>
                </a:path>
                <a:path w="1654809" h="1861820">
                  <a:moveTo>
                    <a:pt x="1654810" y="1861591"/>
                  </a:moveTo>
                  <a:lnTo>
                    <a:pt x="1640865" y="1822411"/>
                  </a:lnTo>
                  <a:lnTo>
                    <a:pt x="1622679" y="1771294"/>
                  </a:lnTo>
                  <a:lnTo>
                    <a:pt x="1602943" y="1791881"/>
                  </a:lnTo>
                  <a:lnTo>
                    <a:pt x="918210" y="1134237"/>
                  </a:lnTo>
                  <a:lnTo>
                    <a:pt x="908469" y="1144346"/>
                  </a:lnTo>
                  <a:lnTo>
                    <a:pt x="899795" y="1133348"/>
                  </a:lnTo>
                  <a:lnTo>
                    <a:pt x="58458" y="1797278"/>
                  </a:lnTo>
                  <a:lnTo>
                    <a:pt x="40767" y="1774837"/>
                  </a:lnTo>
                  <a:lnTo>
                    <a:pt x="0" y="1861591"/>
                  </a:lnTo>
                  <a:lnTo>
                    <a:pt x="93853" y="1842135"/>
                  </a:lnTo>
                  <a:lnTo>
                    <a:pt x="83134" y="1828558"/>
                  </a:lnTo>
                  <a:lnTo>
                    <a:pt x="76136" y="1819694"/>
                  </a:lnTo>
                  <a:lnTo>
                    <a:pt x="907491" y="1163561"/>
                  </a:lnTo>
                  <a:lnTo>
                    <a:pt x="1583143" y="1812505"/>
                  </a:lnTo>
                  <a:lnTo>
                    <a:pt x="1563370" y="1833130"/>
                  </a:lnTo>
                  <a:lnTo>
                    <a:pt x="1654810" y="1861591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53736" y="3706114"/>
            <a:ext cx="26263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0" dirty="0">
                <a:latin typeface="Tahoma"/>
                <a:cs typeface="Tahoma"/>
              </a:rPr>
              <a:t>Sentence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dirty="0">
                <a:latin typeface="Tahoma"/>
                <a:cs typeface="Tahoma"/>
              </a:rPr>
              <a:t>A</a:t>
            </a:r>
            <a:r>
              <a:rPr sz="800" b="1" spc="15" dirty="0">
                <a:latin typeface="Tahoma"/>
                <a:cs typeface="Tahoma"/>
              </a:rPr>
              <a:t> </a:t>
            </a:r>
            <a:r>
              <a:rPr sz="800" b="1" spc="-125" dirty="0">
                <a:latin typeface="Tahoma"/>
                <a:cs typeface="Tahoma"/>
              </a:rPr>
              <a:t>=</a:t>
            </a:r>
            <a:r>
              <a:rPr sz="800" b="1" spc="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Before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my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55" dirty="0">
                <a:latin typeface="Tahoma"/>
                <a:cs typeface="Tahoma"/>
              </a:rPr>
              <a:t>bed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lies a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pool of moon</a:t>
            </a:r>
            <a:r>
              <a:rPr sz="800" spc="-10" dirty="0">
                <a:latin typeface="Tahoma"/>
                <a:cs typeface="Tahoma"/>
              </a:rPr>
              <a:t> bright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b="1" spc="-30" dirty="0">
                <a:latin typeface="Tahoma"/>
                <a:cs typeface="Tahoma"/>
              </a:rPr>
              <a:t>Sentence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dirty="0">
                <a:latin typeface="Tahoma"/>
                <a:cs typeface="Tahoma"/>
              </a:rPr>
              <a:t>B</a:t>
            </a:r>
            <a:r>
              <a:rPr sz="800" b="1" spc="30" dirty="0">
                <a:latin typeface="Tahoma"/>
                <a:cs typeface="Tahoma"/>
              </a:rPr>
              <a:t> </a:t>
            </a:r>
            <a:r>
              <a:rPr sz="800" b="1" spc="-125" dirty="0">
                <a:latin typeface="Tahoma"/>
                <a:cs typeface="Tahoma"/>
              </a:rPr>
              <a:t>=</a:t>
            </a:r>
            <a:r>
              <a:rPr sz="800" b="1" spc="40" dirty="0">
                <a:latin typeface="Tahoma"/>
                <a:cs typeface="Tahoma"/>
              </a:rPr>
              <a:t> </a:t>
            </a:r>
            <a:r>
              <a:rPr sz="800" spc="-100" dirty="0">
                <a:latin typeface="Tahoma"/>
                <a:cs typeface="Tahoma"/>
              </a:rPr>
              <a:t>I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look up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see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bright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shining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9347" y="3202685"/>
            <a:ext cx="85725" cy="416559"/>
          </a:xfrm>
          <a:custGeom>
            <a:avLst/>
            <a:gdLst/>
            <a:ahLst/>
            <a:cxnLst/>
            <a:rect l="l" t="t" r="r" b="b"/>
            <a:pathLst>
              <a:path w="85725" h="416560">
                <a:moveTo>
                  <a:pt x="28575" y="330453"/>
                </a:moveTo>
                <a:lnTo>
                  <a:pt x="0" y="330453"/>
                </a:lnTo>
                <a:lnTo>
                  <a:pt x="42925" y="416178"/>
                </a:lnTo>
                <a:lnTo>
                  <a:pt x="78623" y="344677"/>
                </a:lnTo>
                <a:lnTo>
                  <a:pt x="28575" y="344677"/>
                </a:lnTo>
                <a:lnTo>
                  <a:pt x="28575" y="330453"/>
                </a:lnTo>
                <a:close/>
              </a:path>
              <a:path w="85725" h="416560">
                <a:moveTo>
                  <a:pt x="57150" y="0"/>
                </a:moveTo>
                <a:lnTo>
                  <a:pt x="28575" y="0"/>
                </a:lnTo>
                <a:lnTo>
                  <a:pt x="28575" y="344677"/>
                </a:lnTo>
                <a:lnTo>
                  <a:pt x="57150" y="344677"/>
                </a:lnTo>
                <a:lnTo>
                  <a:pt x="57150" y="0"/>
                </a:lnTo>
                <a:close/>
              </a:path>
              <a:path w="85725" h="416560">
                <a:moveTo>
                  <a:pt x="85725" y="330453"/>
                </a:moveTo>
                <a:lnTo>
                  <a:pt x="57150" y="330453"/>
                </a:lnTo>
                <a:lnTo>
                  <a:pt x="57150" y="344677"/>
                </a:lnTo>
                <a:lnTo>
                  <a:pt x="78623" y="344677"/>
                </a:lnTo>
                <a:lnTo>
                  <a:pt x="85725" y="33045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16577" y="5901334"/>
            <a:ext cx="675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IsNext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08165" y="5901334"/>
            <a:ext cx="9696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ahoma"/>
                <a:cs typeface="Tahoma"/>
              </a:rPr>
              <a:t>NotNext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56268" y="2433574"/>
            <a:ext cx="21983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1610" marR="107950" indent="-1695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785" algn="l"/>
              </a:tabLst>
            </a:pPr>
            <a:r>
              <a:rPr sz="1100" spc="-40" dirty="0">
                <a:latin typeface="Tahoma"/>
                <a:cs typeface="Tahoma"/>
              </a:rPr>
              <a:t>50%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time,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select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	</a:t>
            </a:r>
            <a:r>
              <a:rPr sz="1100" dirty="0">
                <a:latin typeface="Tahoma"/>
                <a:cs typeface="Tahoma"/>
              </a:rPr>
              <a:t>actual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next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sentence.</a:t>
            </a:r>
            <a:endParaRPr sz="1100">
              <a:latin typeface="Tahoma"/>
              <a:cs typeface="Tahoma"/>
            </a:endParaRPr>
          </a:p>
          <a:p>
            <a:pPr marL="181610" marR="5080" indent="-16954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100" spc="-40" dirty="0">
                <a:latin typeface="Tahoma"/>
                <a:cs typeface="Tahoma"/>
              </a:rPr>
              <a:t>50%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 time we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select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	</a:t>
            </a:r>
            <a:r>
              <a:rPr sz="1100" dirty="0">
                <a:latin typeface="Tahoma"/>
                <a:cs typeface="Tahoma"/>
              </a:rPr>
              <a:t>random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sentence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from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text.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9016" y="2185416"/>
            <a:ext cx="819912" cy="11902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8778198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3708B8-C3AC-1099-F3AD-257938B1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D6D7-8217-48CC-8377-9AFBBB11AA45}" type="datetime1">
              <a:rPr lang="en-US" smtClean="0"/>
              <a:t>5/12/2025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7EA76D-8F5B-0C15-85B2-ACF23744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1FB5FE-918A-E3B1-5761-B7D69216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0" dirty="0"/>
              <a:t>Next</a:t>
            </a:r>
            <a:r>
              <a:rPr sz="3200" spc="5" dirty="0"/>
              <a:t> </a:t>
            </a:r>
            <a:r>
              <a:rPr sz="3200" spc="-290" dirty="0"/>
              <a:t>Sentence</a:t>
            </a:r>
            <a:r>
              <a:rPr sz="3200" spc="-35" dirty="0"/>
              <a:t> </a:t>
            </a:r>
            <a:r>
              <a:rPr sz="3200" spc="-180" dirty="0"/>
              <a:t>Prediction</a:t>
            </a:r>
            <a:r>
              <a:rPr sz="3200" spc="-30" dirty="0"/>
              <a:t> </a:t>
            </a:r>
            <a:r>
              <a:rPr sz="3200" spc="-310" dirty="0"/>
              <a:t>(NSP):</a:t>
            </a:r>
            <a:r>
              <a:rPr sz="3200" spc="-15" dirty="0"/>
              <a:t> </a:t>
            </a:r>
            <a:r>
              <a:rPr sz="3200" spc="-210" dirty="0"/>
              <a:t>segmentation</a:t>
            </a:r>
            <a:r>
              <a:rPr sz="3200" spc="-35" dirty="0"/>
              <a:t> </a:t>
            </a:r>
            <a:r>
              <a:rPr sz="3200" spc="-100" dirty="0"/>
              <a:t>embedding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8236" y="1343660"/>
            <a:ext cx="8987790" cy="834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spc="50" dirty="0">
                <a:latin typeface="Tahoma"/>
                <a:cs typeface="Tahoma"/>
              </a:rPr>
              <a:t>Given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sentence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150" dirty="0">
                <a:latin typeface="Tahoma"/>
                <a:cs typeface="Tahoma"/>
              </a:rPr>
              <a:t>A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and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sentence</a:t>
            </a:r>
            <a:r>
              <a:rPr sz="1600" spc="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B,</a:t>
            </a:r>
            <a:r>
              <a:rPr sz="1600" spc="-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how can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BERT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understand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which</a:t>
            </a:r>
            <a:r>
              <a:rPr sz="1600" spc="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tokens </a:t>
            </a:r>
            <a:r>
              <a:rPr sz="1600" spc="65" dirty="0">
                <a:latin typeface="Tahoma"/>
                <a:cs typeface="Tahoma"/>
              </a:rPr>
              <a:t>belongs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 </a:t>
            </a:r>
            <a:r>
              <a:rPr sz="1600" spc="-25" dirty="0">
                <a:latin typeface="Tahoma"/>
                <a:cs typeface="Tahoma"/>
              </a:rPr>
              <a:t>the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ts val="1825"/>
              </a:lnSpc>
            </a:pPr>
            <a:r>
              <a:rPr sz="1600" dirty="0">
                <a:latin typeface="Tahoma"/>
                <a:cs typeface="Tahoma"/>
              </a:rPr>
              <a:t>sentence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150" dirty="0">
                <a:latin typeface="Tahoma"/>
                <a:cs typeface="Tahoma"/>
              </a:rPr>
              <a:t>A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and</a:t>
            </a:r>
            <a:r>
              <a:rPr sz="1600" spc="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which</a:t>
            </a:r>
            <a:r>
              <a:rPr sz="1600" spc="8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sentence</a:t>
            </a:r>
            <a:r>
              <a:rPr sz="1600" spc="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B?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60" dirty="0">
                <a:latin typeface="Tahoma"/>
                <a:cs typeface="Tahoma"/>
              </a:rPr>
              <a:t>We</a:t>
            </a:r>
            <a:r>
              <a:rPr sz="1600" spc="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introduce</a:t>
            </a:r>
            <a:r>
              <a:rPr sz="1600" spc="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segmentation</a:t>
            </a:r>
            <a:r>
              <a:rPr sz="1600" spc="80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embeddings!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600" spc="50" dirty="0">
                <a:latin typeface="Tahoma"/>
                <a:cs typeface="Tahoma"/>
              </a:rPr>
              <a:t>We</a:t>
            </a:r>
            <a:r>
              <a:rPr sz="1600" spc="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also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introduce</a:t>
            </a:r>
            <a:r>
              <a:rPr sz="1600" spc="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two</a:t>
            </a:r>
            <a:r>
              <a:rPr sz="1600" spc="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special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tokens:</a:t>
            </a:r>
            <a:r>
              <a:rPr sz="1600" spc="4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[CLS]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spc="55" dirty="0">
                <a:latin typeface="Tahoma"/>
                <a:cs typeface="Tahoma"/>
              </a:rPr>
              <a:t>and</a:t>
            </a:r>
            <a:r>
              <a:rPr sz="1600" spc="2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[SEP]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544" y="2801873"/>
            <a:ext cx="9315214" cy="2692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115418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928BD7DA-4768-3CB1-626F-E1B8A674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D32A5-1655-4DCC-8A56-8537EAC8B3C8}" type="datetime1">
              <a:rPr lang="en-US" smtClean="0"/>
              <a:t>5/12/2025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64FFFBF3-35D1-E060-BAEE-49C389FA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AE126E94-F6C3-E821-D64E-216EDA54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35" dirty="0"/>
              <a:t>Next</a:t>
            </a:r>
            <a:r>
              <a:rPr sz="4400" spc="-110" dirty="0"/>
              <a:t> </a:t>
            </a:r>
            <a:r>
              <a:rPr sz="4400" spc="-400" dirty="0"/>
              <a:t>Sentence</a:t>
            </a:r>
            <a:r>
              <a:rPr sz="4400" spc="-65" dirty="0"/>
              <a:t> </a:t>
            </a:r>
            <a:r>
              <a:rPr sz="4400" spc="-245" dirty="0"/>
              <a:t>Prediction</a:t>
            </a:r>
            <a:r>
              <a:rPr sz="4400" spc="-50" dirty="0"/>
              <a:t> </a:t>
            </a:r>
            <a:r>
              <a:rPr sz="4400" spc="-425" dirty="0"/>
              <a:t>(NSP):</a:t>
            </a:r>
            <a:r>
              <a:rPr sz="4400" spc="-35" dirty="0"/>
              <a:t> </a:t>
            </a:r>
            <a:r>
              <a:rPr sz="4400" spc="-110" dirty="0"/>
              <a:t>training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44525" y="6086652"/>
            <a:ext cx="1268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latin typeface="Tahoma"/>
                <a:cs typeface="Tahoma"/>
              </a:rPr>
              <a:t>Input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(20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525" y="3117850"/>
            <a:ext cx="1407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ahoma"/>
                <a:cs typeface="Tahoma"/>
              </a:rPr>
              <a:t>Output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(20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525" y="1441780"/>
            <a:ext cx="11861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ahoma"/>
                <a:cs typeface="Tahoma"/>
              </a:rPr>
              <a:t>Target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(1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86809" y="1446657"/>
            <a:ext cx="654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0000"/>
                </a:solidFill>
                <a:latin typeface="Tahoma"/>
                <a:cs typeface="Tahoma"/>
              </a:rPr>
              <a:t>NotNext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81135" y="3578352"/>
            <a:ext cx="1173480" cy="2364105"/>
            <a:chOff x="3781135" y="3578352"/>
            <a:chExt cx="1173480" cy="2364105"/>
          </a:xfrm>
        </p:grpSpPr>
        <p:sp>
          <p:nvSpPr>
            <p:cNvPr id="8" name="object 8"/>
            <p:cNvSpPr/>
            <p:nvPr/>
          </p:nvSpPr>
          <p:spPr>
            <a:xfrm>
              <a:off x="4530851" y="3578352"/>
              <a:ext cx="76200" cy="311785"/>
            </a:xfrm>
            <a:custGeom>
              <a:avLst/>
              <a:gdLst/>
              <a:ahLst/>
              <a:cxnLst/>
              <a:rect l="l" t="t" r="r" b="b"/>
              <a:pathLst>
                <a:path w="76200" h="31178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1277"/>
                  </a:lnTo>
                  <a:lnTo>
                    <a:pt x="44450" y="311277"/>
                  </a:lnTo>
                  <a:lnTo>
                    <a:pt x="44450" y="63500"/>
                  </a:lnTo>
                  <a:close/>
                </a:path>
                <a:path w="76200" h="31178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178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1135" y="3889248"/>
              <a:ext cx="1173376" cy="205280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364" y="1684782"/>
            <a:ext cx="114300" cy="21996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744973" y="1938527"/>
            <a:ext cx="868044" cy="114300"/>
          </a:xfrm>
          <a:custGeom>
            <a:avLst/>
            <a:gdLst/>
            <a:ahLst/>
            <a:cxnLst/>
            <a:rect l="l" t="t" r="r" b="b"/>
            <a:pathLst>
              <a:path w="868045" h="114300">
                <a:moveTo>
                  <a:pt x="753745" y="0"/>
                </a:moveTo>
                <a:lnTo>
                  <a:pt x="753745" y="114300"/>
                </a:lnTo>
                <a:lnTo>
                  <a:pt x="829945" y="76200"/>
                </a:lnTo>
                <a:lnTo>
                  <a:pt x="772795" y="76200"/>
                </a:lnTo>
                <a:lnTo>
                  <a:pt x="772795" y="38100"/>
                </a:lnTo>
                <a:lnTo>
                  <a:pt x="829945" y="38100"/>
                </a:lnTo>
                <a:lnTo>
                  <a:pt x="753745" y="0"/>
                </a:lnTo>
                <a:close/>
              </a:path>
              <a:path w="868045" h="114300">
                <a:moveTo>
                  <a:pt x="75374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53745" y="76200"/>
                </a:lnTo>
                <a:lnTo>
                  <a:pt x="753745" y="38100"/>
                </a:lnTo>
                <a:close/>
              </a:path>
              <a:path w="868045" h="114300">
                <a:moveTo>
                  <a:pt x="829945" y="38100"/>
                </a:moveTo>
                <a:lnTo>
                  <a:pt x="772795" y="38100"/>
                </a:lnTo>
                <a:lnTo>
                  <a:pt x="772795" y="76200"/>
                </a:lnTo>
                <a:lnTo>
                  <a:pt x="829945" y="76200"/>
                </a:lnTo>
                <a:lnTo>
                  <a:pt x="868045" y="57150"/>
                </a:lnTo>
                <a:lnTo>
                  <a:pt x="829945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67196" y="1882902"/>
            <a:ext cx="3154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Run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ahoma"/>
                <a:cs typeface="Tahoma"/>
              </a:rPr>
              <a:t>backpropagation</a:t>
            </a:r>
            <a:r>
              <a:rPr sz="1200" b="1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update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weights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0032" y="1882902"/>
            <a:ext cx="342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ahoma"/>
                <a:cs typeface="Tahoma"/>
              </a:rPr>
              <a:t>Loss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8646" y="6086652"/>
            <a:ext cx="6638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AF50"/>
                </a:solidFill>
                <a:latin typeface="Tahoma"/>
                <a:cs typeface="Tahoma"/>
              </a:rPr>
              <a:t>[CLS]</a:t>
            </a:r>
            <a:r>
              <a:rPr sz="1200" spc="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Before</a:t>
            </a:r>
            <a:r>
              <a:rPr sz="1200" spc="-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my</a:t>
            </a:r>
            <a:r>
              <a:rPr sz="1200" spc="-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spc="75" dirty="0">
                <a:solidFill>
                  <a:srgbClr val="00AF50"/>
                </a:solidFill>
                <a:latin typeface="Tahoma"/>
                <a:cs typeface="Tahoma"/>
              </a:rPr>
              <a:t>bed</a:t>
            </a:r>
            <a:r>
              <a:rPr sz="1200" spc="-1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lies a</a:t>
            </a:r>
            <a:r>
              <a:rPr sz="1200" spc="-1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00AF50"/>
                </a:solidFill>
                <a:latin typeface="Tahoma"/>
                <a:cs typeface="Tahoma"/>
              </a:rPr>
              <a:t>pool</a:t>
            </a:r>
            <a:r>
              <a:rPr sz="1200" spc="1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of</a:t>
            </a:r>
            <a:r>
              <a:rPr sz="1200" spc="2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00AF50"/>
                </a:solidFill>
                <a:latin typeface="Tahoma"/>
                <a:cs typeface="Tahoma"/>
              </a:rPr>
              <a:t>moon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 bright</a:t>
            </a:r>
            <a:r>
              <a:rPr sz="1200" spc="-1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00AF50"/>
                </a:solidFill>
                <a:latin typeface="Tahoma"/>
                <a:cs typeface="Tahoma"/>
              </a:rPr>
              <a:t>[SEP]</a:t>
            </a:r>
            <a:r>
              <a:rPr sz="1200" spc="4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spc="-145" dirty="0">
                <a:solidFill>
                  <a:srgbClr val="8639F1"/>
                </a:solidFill>
                <a:latin typeface="Tahoma"/>
                <a:cs typeface="Tahoma"/>
              </a:rPr>
              <a:t>I</a:t>
            </a:r>
            <a:r>
              <a:rPr sz="1200" spc="-1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look</a:t>
            </a:r>
            <a:r>
              <a:rPr sz="1200" spc="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spc="60" dirty="0">
                <a:solidFill>
                  <a:srgbClr val="8639F1"/>
                </a:solidFill>
                <a:latin typeface="Tahoma"/>
                <a:cs typeface="Tahoma"/>
              </a:rPr>
              <a:t>up</a:t>
            </a:r>
            <a:r>
              <a:rPr sz="1200" spc="-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and</a:t>
            </a:r>
            <a:r>
              <a:rPr sz="1200" spc="-1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see the</a:t>
            </a:r>
            <a:r>
              <a:rPr sz="1200" spc="-1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bright</a:t>
            </a:r>
            <a:r>
              <a:rPr sz="1200" spc="-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shining</a:t>
            </a:r>
            <a:r>
              <a:rPr sz="1200" spc="1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8639F1"/>
                </a:solidFill>
                <a:latin typeface="Tahoma"/>
                <a:cs typeface="Tahoma"/>
              </a:rPr>
              <a:t>moon</a:t>
            </a:r>
            <a:endParaRPr sz="1200">
              <a:latin typeface="Tahoma"/>
              <a:cs typeface="Tahom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345685" y="3151758"/>
          <a:ext cx="742950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E23717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E23717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780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5250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4530852" y="2839211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18179" y="2540634"/>
            <a:ext cx="302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Tahoma"/>
                <a:cs typeface="Tahoma"/>
              </a:rPr>
              <a:t>Linear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40" dirty="0">
                <a:latin typeface="Tahoma"/>
                <a:cs typeface="Tahoma"/>
              </a:rPr>
              <a:t>Layer</a:t>
            </a:r>
            <a:r>
              <a:rPr sz="1200" b="1" spc="-2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(2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output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features)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+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Softmax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36364" y="2134361"/>
            <a:ext cx="114300" cy="379095"/>
          </a:xfrm>
          <a:custGeom>
            <a:avLst/>
            <a:gdLst/>
            <a:ahLst/>
            <a:cxnLst/>
            <a:rect l="l" t="t" r="r" b="b"/>
            <a:pathLst>
              <a:path w="114300" h="379094">
                <a:moveTo>
                  <a:pt x="76200" y="95250"/>
                </a:moveTo>
                <a:lnTo>
                  <a:pt x="38100" y="95250"/>
                </a:lnTo>
                <a:lnTo>
                  <a:pt x="38100" y="379095"/>
                </a:lnTo>
                <a:lnTo>
                  <a:pt x="76200" y="379095"/>
                </a:lnTo>
                <a:lnTo>
                  <a:pt x="76200" y="95250"/>
                </a:lnTo>
                <a:close/>
              </a:path>
              <a:path w="114300" h="37909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7909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234298" y="4531614"/>
            <a:ext cx="30130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Before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my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75" dirty="0">
                <a:latin typeface="Tahoma"/>
                <a:cs typeface="Tahoma"/>
              </a:rPr>
              <a:t>bed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lies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65" dirty="0">
                <a:latin typeface="Tahoma"/>
                <a:cs typeface="Tahoma"/>
              </a:rPr>
              <a:t>pool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moon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bright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could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imagine </a:t>
            </a:r>
            <a:r>
              <a:rPr sz="1200" spc="-10" dirty="0">
                <a:latin typeface="Tahoma"/>
                <a:cs typeface="Tahoma"/>
              </a:rPr>
              <a:t>that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it's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frost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ground</a:t>
            </a:r>
            <a:r>
              <a:rPr sz="1200" spc="500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look</a:t>
            </a:r>
            <a:r>
              <a:rPr sz="1200" spc="40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up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and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see</a:t>
            </a:r>
            <a:r>
              <a:rPr sz="1200" spc="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bright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shining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moon </a:t>
            </a:r>
            <a:r>
              <a:rPr sz="1200" dirty="0">
                <a:latin typeface="Tahoma"/>
                <a:cs typeface="Tahoma"/>
              </a:rPr>
              <a:t>Bowing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my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head</a:t>
            </a:r>
            <a:r>
              <a:rPr sz="1200" spc="35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am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thinking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home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5011" y="4315967"/>
            <a:ext cx="819911" cy="119024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3432047" y="6336791"/>
            <a:ext cx="3651885" cy="169545"/>
          </a:xfrm>
          <a:custGeom>
            <a:avLst/>
            <a:gdLst/>
            <a:ahLst/>
            <a:cxnLst/>
            <a:rect l="l" t="t" r="r" b="b"/>
            <a:pathLst>
              <a:path w="3651884" h="169545">
                <a:moveTo>
                  <a:pt x="3651504" y="0"/>
                </a:moveTo>
                <a:lnTo>
                  <a:pt x="3650390" y="32921"/>
                </a:lnTo>
                <a:lnTo>
                  <a:pt x="3647360" y="59807"/>
                </a:lnTo>
                <a:lnTo>
                  <a:pt x="3642877" y="77934"/>
                </a:lnTo>
                <a:lnTo>
                  <a:pt x="3637406" y="84582"/>
                </a:lnTo>
                <a:lnTo>
                  <a:pt x="1839849" y="84582"/>
                </a:lnTo>
                <a:lnTo>
                  <a:pt x="1834378" y="91229"/>
                </a:lnTo>
                <a:lnTo>
                  <a:pt x="1829895" y="109356"/>
                </a:lnTo>
                <a:lnTo>
                  <a:pt x="1826865" y="136242"/>
                </a:lnTo>
                <a:lnTo>
                  <a:pt x="1825752" y="169164"/>
                </a:lnTo>
                <a:lnTo>
                  <a:pt x="1824638" y="136242"/>
                </a:lnTo>
                <a:lnTo>
                  <a:pt x="1821608" y="109356"/>
                </a:lnTo>
                <a:lnTo>
                  <a:pt x="1817125" y="91229"/>
                </a:lnTo>
                <a:lnTo>
                  <a:pt x="1811654" y="84582"/>
                </a:lnTo>
                <a:lnTo>
                  <a:pt x="14097" y="84582"/>
                </a:lnTo>
                <a:lnTo>
                  <a:pt x="8626" y="77934"/>
                </a:lnTo>
                <a:lnTo>
                  <a:pt x="4143" y="59807"/>
                </a:lnTo>
                <a:lnTo>
                  <a:pt x="1113" y="32921"/>
                </a:lnTo>
                <a:lnTo>
                  <a:pt x="0" y="0"/>
                </a:lnTo>
              </a:path>
            </a:pathLst>
          </a:custGeom>
          <a:ln w="635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882134" y="6533489"/>
            <a:ext cx="7194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ahoma"/>
                <a:cs typeface="Tahoma"/>
              </a:rPr>
              <a:t>Sentence</a:t>
            </a:r>
            <a:r>
              <a:rPr sz="1000" b="1" spc="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197852" y="6324600"/>
            <a:ext cx="2844165" cy="167640"/>
          </a:xfrm>
          <a:custGeom>
            <a:avLst/>
            <a:gdLst/>
            <a:ahLst/>
            <a:cxnLst/>
            <a:rect l="l" t="t" r="r" b="b"/>
            <a:pathLst>
              <a:path w="2844165" h="167639">
                <a:moveTo>
                  <a:pt x="2843783" y="0"/>
                </a:moveTo>
                <a:lnTo>
                  <a:pt x="2842690" y="32626"/>
                </a:lnTo>
                <a:lnTo>
                  <a:pt x="2839704" y="59269"/>
                </a:lnTo>
                <a:lnTo>
                  <a:pt x="2835265" y="77232"/>
                </a:lnTo>
                <a:lnTo>
                  <a:pt x="2829814" y="83820"/>
                </a:lnTo>
                <a:lnTo>
                  <a:pt x="1435862" y="83820"/>
                </a:lnTo>
                <a:lnTo>
                  <a:pt x="1430410" y="90407"/>
                </a:lnTo>
                <a:lnTo>
                  <a:pt x="1425971" y="108370"/>
                </a:lnTo>
                <a:lnTo>
                  <a:pt x="1422985" y="135013"/>
                </a:lnTo>
                <a:lnTo>
                  <a:pt x="1421892" y="167640"/>
                </a:lnTo>
                <a:lnTo>
                  <a:pt x="1420798" y="135013"/>
                </a:lnTo>
                <a:lnTo>
                  <a:pt x="1417812" y="108370"/>
                </a:lnTo>
                <a:lnTo>
                  <a:pt x="1413373" y="90407"/>
                </a:lnTo>
                <a:lnTo>
                  <a:pt x="1407922" y="83820"/>
                </a:lnTo>
                <a:lnTo>
                  <a:pt x="13970" y="83820"/>
                </a:lnTo>
                <a:lnTo>
                  <a:pt x="8518" y="77232"/>
                </a:lnTo>
                <a:lnTo>
                  <a:pt x="4079" y="59269"/>
                </a:lnTo>
                <a:lnTo>
                  <a:pt x="1093" y="32626"/>
                </a:lnTo>
                <a:lnTo>
                  <a:pt x="0" y="0"/>
                </a:lnTo>
              </a:path>
            </a:pathLst>
          </a:custGeom>
          <a:ln w="635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232140" y="6528613"/>
            <a:ext cx="7118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Tahoma"/>
                <a:cs typeface="Tahoma"/>
              </a:rPr>
              <a:t>Sentence</a:t>
            </a:r>
            <a:r>
              <a:rPr sz="1000" b="1" spc="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B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604003" y="5315711"/>
            <a:ext cx="324485" cy="76200"/>
          </a:xfrm>
          <a:custGeom>
            <a:avLst/>
            <a:gdLst/>
            <a:ahLst/>
            <a:cxnLst/>
            <a:rect l="l" t="t" r="r" b="b"/>
            <a:pathLst>
              <a:path w="32448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32448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324485" h="76200">
                <a:moveTo>
                  <a:pt x="32410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324104" y="44450"/>
                </a:lnTo>
                <a:lnTo>
                  <a:pt x="32410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979670" y="5181346"/>
            <a:ext cx="7080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Sentence </a:t>
            </a:r>
            <a:r>
              <a:rPr sz="1000" spc="40" dirty="0">
                <a:latin typeface="Tahoma"/>
                <a:cs typeface="Tahoma"/>
              </a:rPr>
              <a:t>embedding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5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5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996562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F402451D-2940-A699-0035-4F9D28AD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62B4-DC7B-4A9B-B92A-32B85D2EFC93}" type="datetime1">
              <a:rPr lang="en-US" smtClean="0"/>
              <a:t>5/12/2025</a:t>
            </a:fld>
            <a:endParaRPr lang="en-US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1EE43BD2-886B-724D-71A9-EBD450BD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D243435A-1B45-09EF-331C-1BAB588C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088327" y="609346"/>
            <a:ext cx="10972800" cy="838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20" dirty="0"/>
              <a:t>[CLS]</a:t>
            </a:r>
            <a:r>
              <a:rPr sz="4400" spc="-30" dirty="0"/>
              <a:t> </a:t>
            </a:r>
            <a:r>
              <a:rPr sz="4400" spc="-295" dirty="0"/>
              <a:t>token</a:t>
            </a:r>
            <a:r>
              <a:rPr sz="4400" spc="-35" dirty="0"/>
              <a:t> </a:t>
            </a:r>
            <a:r>
              <a:rPr sz="4400" spc="-275" dirty="0"/>
              <a:t>in</a:t>
            </a:r>
            <a:r>
              <a:rPr sz="4400" dirty="0"/>
              <a:t> </a:t>
            </a:r>
            <a:r>
              <a:rPr sz="4400" spc="-905" dirty="0"/>
              <a:t>BERT</a:t>
            </a:r>
            <a:endParaRPr sz="4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27443" y="2634107"/>
          <a:ext cx="4964429" cy="3655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16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280922" y="2189607"/>
            <a:ext cx="533400" cy="141605"/>
          </a:xfrm>
          <a:custGeom>
            <a:avLst/>
            <a:gdLst/>
            <a:ahLst/>
            <a:cxnLst/>
            <a:rect l="l" t="t" r="r" b="b"/>
            <a:pathLst>
              <a:path w="533400" h="141605">
                <a:moveTo>
                  <a:pt x="488315" y="0"/>
                </a:moveTo>
                <a:lnTo>
                  <a:pt x="486283" y="5714"/>
                </a:lnTo>
                <a:lnTo>
                  <a:pt x="494454" y="9261"/>
                </a:lnTo>
                <a:lnTo>
                  <a:pt x="501459" y="14176"/>
                </a:lnTo>
                <a:lnTo>
                  <a:pt x="519922" y="57802"/>
                </a:lnTo>
                <a:lnTo>
                  <a:pt x="520446" y="69850"/>
                </a:lnTo>
                <a:lnTo>
                  <a:pt x="519922" y="82307"/>
                </a:lnTo>
                <a:lnTo>
                  <a:pt x="507325" y="120540"/>
                </a:lnTo>
                <a:lnTo>
                  <a:pt x="486536" y="135381"/>
                </a:lnTo>
                <a:lnTo>
                  <a:pt x="488315" y="141096"/>
                </a:lnTo>
                <a:lnTo>
                  <a:pt x="521716" y="116458"/>
                </a:lnTo>
                <a:lnTo>
                  <a:pt x="533272" y="70612"/>
                </a:lnTo>
                <a:lnTo>
                  <a:pt x="532554" y="57661"/>
                </a:lnTo>
                <a:lnTo>
                  <a:pt x="515157" y="16073"/>
                </a:lnTo>
                <a:lnTo>
                  <a:pt x="498532" y="3690"/>
                </a:lnTo>
                <a:lnTo>
                  <a:pt x="488315" y="0"/>
                </a:lnTo>
                <a:close/>
              </a:path>
              <a:path w="533400" h="141605">
                <a:moveTo>
                  <a:pt x="45084" y="0"/>
                </a:moveTo>
                <a:lnTo>
                  <a:pt x="11684" y="24764"/>
                </a:lnTo>
                <a:lnTo>
                  <a:pt x="0" y="70612"/>
                </a:lnTo>
                <a:lnTo>
                  <a:pt x="716" y="83562"/>
                </a:lnTo>
                <a:lnTo>
                  <a:pt x="18010" y="125130"/>
                </a:lnTo>
                <a:lnTo>
                  <a:pt x="45084" y="141096"/>
                </a:lnTo>
                <a:lnTo>
                  <a:pt x="46862" y="135381"/>
                </a:lnTo>
                <a:lnTo>
                  <a:pt x="38764" y="131831"/>
                </a:lnTo>
                <a:lnTo>
                  <a:pt x="31797" y="126888"/>
                </a:lnTo>
                <a:lnTo>
                  <a:pt x="13350" y="82307"/>
                </a:lnTo>
                <a:lnTo>
                  <a:pt x="12827" y="69850"/>
                </a:lnTo>
                <a:lnTo>
                  <a:pt x="13350" y="57802"/>
                </a:lnTo>
                <a:lnTo>
                  <a:pt x="25969" y="20448"/>
                </a:lnTo>
                <a:lnTo>
                  <a:pt x="46990" y="5714"/>
                </a:lnTo>
                <a:lnTo>
                  <a:pt x="45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5071" y="2138553"/>
            <a:ext cx="1177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𝐴𝑡𝑡𝑒𝑛𝑡𝑖𝑜𝑛</a:t>
            </a:r>
            <a:r>
              <a:rPr sz="1200" spc="254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𝑄,</a:t>
            </a:r>
            <a:r>
              <a:rPr sz="1200" spc="-7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𝐾,</a:t>
            </a:r>
            <a:r>
              <a:rPr sz="1200" spc="-6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𝑉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6994" y="2138553"/>
            <a:ext cx="700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50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softmax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0894" y="2034539"/>
            <a:ext cx="462280" cy="450850"/>
          </a:xfrm>
          <a:custGeom>
            <a:avLst/>
            <a:gdLst/>
            <a:ahLst/>
            <a:cxnLst/>
            <a:rect l="l" t="t" r="r" b="b"/>
            <a:pathLst>
              <a:path w="462280" h="450850">
                <a:moveTo>
                  <a:pt x="76200" y="5207"/>
                </a:moveTo>
                <a:lnTo>
                  <a:pt x="41478" y="39077"/>
                </a:lnTo>
                <a:lnTo>
                  <a:pt x="18923" y="90424"/>
                </a:lnTo>
                <a:lnTo>
                  <a:pt x="4737" y="152704"/>
                </a:lnTo>
                <a:lnTo>
                  <a:pt x="0" y="224790"/>
                </a:lnTo>
                <a:lnTo>
                  <a:pt x="1181" y="262382"/>
                </a:lnTo>
                <a:lnTo>
                  <a:pt x="10655" y="329920"/>
                </a:lnTo>
                <a:lnTo>
                  <a:pt x="29273" y="387096"/>
                </a:lnTo>
                <a:lnTo>
                  <a:pt x="55511" y="432320"/>
                </a:lnTo>
                <a:lnTo>
                  <a:pt x="71374" y="450342"/>
                </a:lnTo>
                <a:lnTo>
                  <a:pt x="76200" y="445008"/>
                </a:lnTo>
                <a:lnTo>
                  <a:pt x="62052" y="426720"/>
                </a:lnTo>
                <a:lnTo>
                  <a:pt x="49733" y="405549"/>
                </a:lnTo>
                <a:lnTo>
                  <a:pt x="30607" y="354457"/>
                </a:lnTo>
                <a:lnTo>
                  <a:pt x="19062" y="293712"/>
                </a:lnTo>
                <a:lnTo>
                  <a:pt x="15240" y="225044"/>
                </a:lnTo>
                <a:lnTo>
                  <a:pt x="16192" y="189826"/>
                </a:lnTo>
                <a:lnTo>
                  <a:pt x="23863" y="125247"/>
                </a:lnTo>
                <a:lnTo>
                  <a:pt x="39243" y="68859"/>
                </a:lnTo>
                <a:lnTo>
                  <a:pt x="62052" y="23520"/>
                </a:lnTo>
                <a:lnTo>
                  <a:pt x="76200" y="5207"/>
                </a:lnTo>
                <a:close/>
              </a:path>
              <a:path w="462280" h="450850">
                <a:moveTo>
                  <a:pt x="381381" y="219976"/>
                </a:moveTo>
                <a:lnTo>
                  <a:pt x="81153" y="219976"/>
                </a:lnTo>
                <a:lnTo>
                  <a:pt x="81153" y="230632"/>
                </a:lnTo>
                <a:lnTo>
                  <a:pt x="381381" y="230632"/>
                </a:lnTo>
                <a:lnTo>
                  <a:pt x="381381" y="219976"/>
                </a:lnTo>
                <a:close/>
              </a:path>
              <a:path w="462280" h="450850">
                <a:moveTo>
                  <a:pt x="462280" y="224790"/>
                </a:moveTo>
                <a:lnTo>
                  <a:pt x="457593" y="152704"/>
                </a:lnTo>
                <a:lnTo>
                  <a:pt x="443484" y="90424"/>
                </a:lnTo>
                <a:lnTo>
                  <a:pt x="420852" y="39077"/>
                </a:lnTo>
                <a:lnTo>
                  <a:pt x="390906" y="0"/>
                </a:lnTo>
                <a:lnTo>
                  <a:pt x="386207" y="5207"/>
                </a:lnTo>
                <a:lnTo>
                  <a:pt x="400329" y="23520"/>
                </a:lnTo>
                <a:lnTo>
                  <a:pt x="412597" y="44742"/>
                </a:lnTo>
                <a:lnTo>
                  <a:pt x="431673" y="95885"/>
                </a:lnTo>
                <a:lnTo>
                  <a:pt x="443268" y="156565"/>
                </a:lnTo>
                <a:lnTo>
                  <a:pt x="447167" y="225044"/>
                </a:lnTo>
                <a:lnTo>
                  <a:pt x="446189" y="260362"/>
                </a:lnTo>
                <a:lnTo>
                  <a:pt x="438429" y="325081"/>
                </a:lnTo>
                <a:lnTo>
                  <a:pt x="423049" y="381469"/>
                </a:lnTo>
                <a:lnTo>
                  <a:pt x="400329" y="426720"/>
                </a:lnTo>
                <a:lnTo>
                  <a:pt x="386207" y="445008"/>
                </a:lnTo>
                <a:lnTo>
                  <a:pt x="390906" y="450342"/>
                </a:lnTo>
                <a:lnTo>
                  <a:pt x="420852" y="411226"/>
                </a:lnTo>
                <a:lnTo>
                  <a:pt x="443484" y="359918"/>
                </a:lnTo>
                <a:lnTo>
                  <a:pt x="457593" y="297408"/>
                </a:lnTo>
                <a:lnTo>
                  <a:pt x="461098" y="262382"/>
                </a:lnTo>
                <a:lnTo>
                  <a:pt x="462280" y="224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24327" y="2022728"/>
            <a:ext cx="36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𝑄𝐾</a:t>
            </a:r>
            <a:r>
              <a:rPr sz="1275" spc="-37" baseline="29411" dirty="0">
                <a:latin typeface="Cambria Math"/>
                <a:cs typeface="Cambria Math"/>
              </a:rPr>
              <a:t>𝑇</a:t>
            </a:r>
            <a:endParaRPr sz="1275" baseline="29411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75254" y="2293492"/>
            <a:ext cx="274955" cy="189865"/>
          </a:xfrm>
          <a:custGeom>
            <a:avLst/>
            <a:gdLst/>
            <a:ahLst/>
            <a:cxnLst/>
            <a:rect l="l" t="t" r="r" b="b"/>
            <a:pathLst>
              <a:path w="274955" h="189864">
                <a:moveTo>
                  <a:pt x="116205" y="0"/>
                </a:moveTo>
                <a:lnTo>
                  <a:pt x="95376" y="0"/>
                </a:lnTo>
                <a:lnTo>
                  <a:pt x="50164" y="169418"/>
                </a:lnTo>
                <a:lnTo>
                  <a:pt x="24383" y="111887"/>
                </a:lnTo>
                <a:lnTo>
                  <a:pt x="0" y="123062"/>
                </a:lnTo>
                <a:lnTo>
                  <a:pt x="2286" y="128651"/>
                </a:lnTo>
                <a:lnTo>
                  <a:pt x="14858" y="123062"/>
                </a:lnTo>
                <a:lnTo>
                  <a:pt x="45719" y="189357"/>
                </a:lnTo>
                <a:lnTo>
                  <a:pt x="52958" y="189357"/>
                </a:lnTo>
                <a:lnTo>
                  <a:pt x="101345" y="9906"/>
                </a:lnTo>
                <a:lnTo>
                  <a:pt x="110236" y="9906"/>
                </a:lnTo>
                <a:lnTo>
                  <a:pt x="110236" y="11303"/>
                </a:lnTo>
                <a:lnTo>
                  <a:pt x="274827" y="11303"/>
                </a:lnTo>
                <a:lnTo>
                  <a:pt x="274827" y="635"/>
                </a:lnTo>
                <a:lnTo>
                  <a:pt x="116205" y="635"/>
                </a:lnTo>
                <a:lnTo>
                  <a:pt x="116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47772" y="2271140"/>
            <a:ext cx="232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𝑑</a:t>
            </a:r>
            <a:r>
              <a:rPr sz="1275" spc="-37" baseline="-16339" dirty="0">
                <a:latin typeface="Cambria Math"/>
                <a:cs typeface="Cambria Math"/>
              </a:rPr>
              <a:t>𝑘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7304" y="2138553"/>
            <a:ext cx="121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𝑉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75003" y="3249167"/>
            <a:ext cx="1690370" cy="1691639"/>
          </a:xfrm>
          <a:custGeom>
            <a:avLst/>
            <a:gdLst/>
            <a:ahLst/>
            <a:cxnLst/>
            <a:rect l="l" t="t" r="r" b="b"/>
            <a:pathLst>
              <a:path w="1690370" h="1691639">
                <a:moveTo>
                  <a:pt x="1690116" y="0"/>
                </a:moveTo>
                <a:lnTo>
                  <a:pt x="0" y="0"/>
                </a:lnTo>
                <a:lnTo>
                  <a:pt x="0" y="1691639"/>
                </a:lnTo>
                <a:lnTo>
                  <a:pt x="1690116" y="1691639"/>
                </a:lnTo>
                <a:lnTo>
                  <a:pt x="1690116" y="0"/>
                </a:lnTo>
                <a:close/>
              </a:path>
            </a:pathLst>
          </a:custGeom>
          <a:solidFill>
            <a:srgbClr val="D2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42338" y="3983863"/>
            <a:ext cx="156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0" dirty="0">
                <a:latin typeface="Tahoma"/>
                <a:cs typeface="Tahoma"/>
              </a:rPr>
              <a:t>Q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50822" y="4497070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(10,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768)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55491" y="3249167"/>
            <a:ext cx="1689100" cy="1694814"/>
          </a:xfrm>
          <a:custGeom>
            <a:avLst/>
            <a:gdLst/>
            <a:ahLst/>
            <a:cxnLst/>
            <a:rect l="l" t="t" r="r" b="b"/>
            <a:pathLst>
              <a:path w="1689100" h="1694814">
                <a:moveTo>
                  <a:pt x="1688591" y="0"/>
                </a:moveTo>
                <a:lnTo>
                  <a:pt x="0" y="0"/>
                </a:lnTo>
                <a:lnTo>
                  <a:pt x="0" y="1694687"/>
                </a:lnTo>
                <a:lnTo>
                  <a:pt x="1688591" y="1694687"/>
                </a:lnTo>
                <a:lnTo>
                  <a:pt x="1688591" y="0"/>
                </a:lnTo>
                <a:close/>
              </a:path>
            </a:pathLst>
          </a:custGeom>
          <a:solidFill>
            <a:srgbClr val="D2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78503" y="3939920"/>
            <a:ext cx="242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37" baseline="-16203" dirty="0">
                <a:latin typeface="Tahoma"/>
                <a:cs typeface="Tahoma"/>
              </a:rPr>
              <a:t>K</a:t>
            </a:r>
            <a:r>
              <a:rPr sz="800" b="1" spc="-25" dirty="0">
                <a:latin typeface="Tahoma"/>
                <a:cs typeface="Tahoma"/>
              </a:rPr>
              <a:t>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2326" y="4499864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(768,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10)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71189" y="3934790"/>
            <a:ext cx="1739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58714" y="4224654"/>
            <a:ext cx="17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439" y="4224654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softmax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34669" y="2954908"/>
            <a:ext cx="4348480" cy="2859405"/>
            <a:chOff x="1034669" y="2954908"/>
            <a:chExt cx="4348480" cy="2859405"/>
          </a:xfrm>
        </p:grpSpPr>
        <p:sp>
          <p:nvSpPr>
            <p:cNvPr id="22" name="object 22"/>
            <p:cNvSpPr/>
            <p:nvPr/>
          </p:nvSpPr>
          <p:spPr>
            <a:xfrm>
              <a:off x="1037844" y="2958083"/>
              <a:ext cx="4342130" cy="2853055"/>
            </a:xfrm>
            <a:custGeom>
              <a:avLst/>
              <a:gdLst/>
              <a:ahLst/>
              <a:cxnLst/>
              <a:rect l="l" t="t" r="r" b="b"/>
              <a:pathLst>
                <a:path w="4342130" h="2853054">
                  <a:moveTo>
                    <a:pt x="475488" y="2852928"/>
                  </a:moveTo>
                  <a:lnTo>
                    <a:pt x="426873" y="2850473"/>
                  </a:lnTo>
                  <a:lnTo>
                    <a:pt x="379662" y="2843267"/>
                  </a:lnTo>
                  <a:lnTo>
                    <a:pt x="334094" y="2831550"/>
                  </a:lnTo>
                  <a:lnTo>
                    <a:pt x="290409" y="2815560"/>
                  </a:lnTo>
                  <a:lnTo>
                    <a:pt x="248845" y="2795537"/>
                  </a:lnTo>
                  <a:lnTo>
                    <a:pt x="209641" y="2771720"/>
                  </a:lnTo>
                  <a:lnTo>
                    <a:pt x="173036" y="2744347"/>
                  </a:lnTo>
                  <a:lnTo>
                    <a:pt x="139269" y="2713658"/>
                  </a:lnTo>
                  <a:lnTo>
                    <a:pt x="108580" y="2679891"/>
                  </a:lnTo>
                  <a:lnTo>
                    <a:pt x="81207" y="2643286"/>
                  </a:lnTo>
                  <a:lnTo>
                    <a:pt x="57390" y="2604082"/>
                  </a:lnTo>
                  <a:lnTo>
                    <a:pt x="37367" y="2562518"/>
                  </a:lnTo>
                  <a:lnTo>
                    <a:pt x="21377" y="2518833"/>
                  </a:lnTo>
                  <a:lnTo>
                    <a:pt x="9660" y="2473265"/>
                  </a:lnTo>
                  <a:lnTo>
                    <a:pt x="2454" y="2426054"/>
                  </a:lnTo>
                  <a:lnTo>
                    <a:pt x="0" y="2377440"/>
                  </a:lnTo>
                  <a:lnTo>
                    <a:pt x="0" y="475488"/>
                  </a:lnTo>
                  <a:lnTo>
                    <a:pt x="2454" y="426866"/>
                  </a:lnTo>
                  <a:lnTo>
                    <a:pt x="9660" y="379651"/>
                  </a:lnTo>
                  <a:lnTo>
                    <a:pt x="21377" y="334080"/>
                  </a:lnTo>
                  <a:lnTo>
                    <a:pt x="37367" y="290393"/>
                  </a:lnTo>
                  <a:lnTo>
                    <a:pt x="57390" y="248828"/>
                  </a:lnTo>
                  <a:lnTo>
                    <a:pt x="81207" y="209624"/>
                  </a:lnTo>
                  <a:lnTo>
                    <a:pt x="108580" y="173020"/>
                  </a:lnTo>
                  <a:lnTo>
                    <a:pt x="139269" y="139255"/>
                  </a:lnTo>
                  <a:lnTo>
                    <a:pt x="173036" y="108568"/>
                  </a:lnTo>
                  <a:lnTo>
                    <a:pt x="209641" y="81197"/>
                  </a:lnTo>
                  <a:lnTo>
                    <a:pt x="248845" y="57382"/>
                  </a:lnTo>
                  <a:lnTo>
                    <a:pt x="290409" y="37361"/>
                  </a:lnTo>
                  <a:lnTo>
                    <a:pt x="334094" y="21374"/>
                  </a:lnTo>
                  <a:lnTo>
                    <a:pt x="379662" y="9658"/>
                  </a:lnTo>
                  <a:lnTo>
                    <a:pt x="426873" y="2454"/>
                  </a:lnTo>
                  <a:lnTo>
                    <a:pt x="475488" y="0"/>
                  </a:lnTo>
                </a:path>
                <a:path w="4342130" h="2853054">
                  <a:moveTo>
                    <a:pt x="3866388" y="0"/>
                  </a:moveTo>
                  <a:lnTo>
                    <a:pt x="3915009" y="2454"/>
                  </a:lnTo>
                  <a:lnTo>
                    <a:pt x="3962224" y="9658"/>
                  </a:lnTo>
                  <a:lnTo>
                    <a:pt x="4007795" y="21374"/>
                  </a:lnTo>
                  <a:lnTo>
                    <a:pt x="4051482" y="37361"/>
                  </a:lnTo>
                  <a:lnTo>
                    <a:pt x="4093047" y="57382"/>
                  </a:lnTo>
                  <a:lnTo>
                    <a:pt x="4132251" y="81197"/>
                  </a:lnTo>
                  <a:lnTo>
                    <a:pt x="4168855" y="108568"/>
                  </a:lnTo>
                  <a:lnTo>
                    <a:pt x="4202620" y="139255"/>
                  </a:lnTo>
                  <a:lnTo>
                    <a:pt x="4233307" y="173020"/>
                  </a:lnTo>
                  <a:lnTo>
                    <a:pt x="4260678" y="209624"/>
                  </a:lnTo>
                  <a:lnTo>
                    <a:pt x="4284493" y="248828"/>
                  </a:lnTo>
                  <a:lnTo>
                    <a:pt x="4304514" y="290393"/>
                  </a:lnTo>
                  <a:lnTo>
                    <a:pt x="4320501" y="334080"/>
                  </a:lnTo>
                  <a:lnTo>
                    <a:pt x="4332217" y="379651"/>
                  </a:lnTo>
                  <a:lnTo>
                    <a:pt x="4339421" y="426866"/>
                  </a:lnTo>
                  <a:lnTo>
                    <a:pt x="4341876" y="475488"/>
                  </a:lnTo>
                  <a:lnTo>
                    <a:pt x="4341876" y="2377440"/>
                  </a:lnTo>
                  <a:lnTo>
                    <a:pt x="4339421" y="2426054"/>
                  </a:lnTo>
                  <a:lnTo>
                    <a:pt x="4332217" y="2473265"/>
                  </a:lnTo>
                  <a:lnTo>
                    <a:pt x="4320501" y="2518833"/>
                  </a:lnTo>
                  <a:lnTo>
                    <a:pt x="4304514" y="2562518"/>
                  </a:lnTo>
                  <a:lnTo>
                    <a:pt x="4284493" y="2604082"/>
                  </a:lnTo>
                  <a:lnTo>
                    <a:pt x="4260678" y="2643286"/>
                  </a:lnTo>
                  <a:lnTo>
                    <a:pt x="4233307" y="2679891"/>
                  </a:lnTo>
                  <a:lnTo>
                    <a:pt x="4202620" y="2713658"/>
                  </a:lnTo>
                  <a:lnTo>
                    <a:pt x="4168855" y="2744347"/>
                  </a:lnTo>
                  <a:lnTo>
                    <a:pt x="4132251" y="2771720"/>
                  </a:lnTo>
                  <a:lnTo>
                    <a:pt x="4093047" y="2795537"/>
                  </a:lnTo>
                  <a:lnTo>
                    <a:pt x="4051482" y="2815560"/>
                  </a:lnTo>
                  <a:lnTo>
                    <a:pt x="4007795" y="2831550"/>
                  </a:lnTo>
                  <a:lnTo>
                    <a:pt x="3962224" y="2843267"/>
                  </a:lnTo>
                  <a:lnTo>
                    <a:pt x="3915009" y="2850473"/>
                  </a:lnTo>
                  <a:lnTo>
                    <a:pt x="3866388" y="2852928"/>
                  </a:lnTo>
                </a:path>
                <a:path w="4342130" h="2853054">
                  <a:moveTo>
                    <a:pt x="141731" y="2145791"/>
                  </a:moveTo>
                  <a:lnTo>
                    <a:pt x="4203700" y="2145791"/>
                  </a:lnTo>
                </a:path>
              </a:pathLst>
            </a:custGeom>
            <a:ln w="6350">
              <a:solidFill>
                <a:srgbClr val="ED76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53766" y="5313172"/>
              <a:ext cx="528320" cy="220345"/>
            </a:xfrm>
            <a:custGeom>
              <a:avLst/>
              <a:gdLst/>
              <a:ahLst/>
              <a:cxnLst/>
              <a:rect l="l" t="t" r="r" b="b"/>
              <a:pathLst>
                <a:path w="528320" h="220345">
                  <a:moveTo>
                    <a:pt x="131190" y="0"/>
                  </a:moveTo>
                  <a:lnTo>
                    <a:pt x="76072" y="190499"/>
                  </a:lnTo>
                  <a:lnTo>
                    <a:pt x="36702" y="103885"/>
                  </a:lnTo>
                  <a:lnTo>
                    <a:pt x="0" y="120649"/>
                  </a:lnTo>
                  <a:lnTo>
                    <a:pt x="3556" y="129031"/>
                  </a:lnTo>
                  <a:lnTo>
                    <a:pt x="22351" y="120649"/>
                  </a:lnTo>
                  <a:lnTo>
                    <a:pt x="68579" y="219963"/>
                  </a:lnTo>
                  <a:lnTo>
                    <a:pt x="79375" y="219963"/>
                  </a:lnTo>
                  <a:lnTo>
                    <a:pt x="139445" y="14858"/>
                  </a:lnTo>
                  <a:lnTo>
                    <a:pt x="147065" y="14858"/>
                  </a:lnTo>
                  <a:lnTo>
                    <a:pt x="147065" y="15366"/>
                  </a:lnTo>
                  <a:lnTo>
                    <a:pt x="528066" y="15366"/>
                  </a:lnTo>
                  <a:lnTo>
                    <a:pt x="528066" y="126"/>
                  </a:lnTo>
                  <a:lnTo>
                    <a:pt x="1311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88639" y="5280405"/>
            <a:ext cx="40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768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64758" y="2713482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320"/>
              </a:spcBef>
            </a:pPr>
            <a:r>
              <a:rPr sz="800" b="1" spc="-10" dirty="0">
                <a:solidFill>
                  <a:srgbClr val="E23717"/>
                </a:solidFill>
                <a:latin typeface="Tahoma"/>
                <a:cs typeface="Tahoma"/>
              </a:rPr>
              <a:t>[CLS]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64758" y="3079242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64758" y="3443478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64758" y="3809238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320"/>
              </a:spcBef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64758" y="4539234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64758" y="4173473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64758" y="4904994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315"/>
              </a:spcBef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64758" y="5269229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64758" y="5634990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315"/>
              </a:spcBef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64758" y="5999226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325"/>
              </a:spcBef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15506" y="2356485"/>
            <a:ext cx="5000625" cy="185420"/>
            <a:chOff x="6715506" y="2356485"/>
            <a:chExt cx="5000625" cy="185420"/>
          </a:xfrm>
        </p:grpSpPr>
        <p:sp>
          <p:nvSpPr>
            <p:cNvPr id="36" name="object 36"/>
            <p:cNvSpPr/>
            <p:nvPr/>
          </p:nvSpPr>
          <p:spPr>
            <a:xfrm>
              <a:off x="6715506" y="2366009"/>
              <a:ext cx="965200" cy="166370"/>
            </a:xfrm>
            <a:custGeom>
              <a:avLst/>
              <a:gdLst/>
              <a:ahLst/>
              <a:cxnLst/>
              <a:rect l="l" t="t" r="r" b="b"/>
              <a:pathLst>
                <a:path w="965200" h="166369">
                  <a:moveTo>
                    <a:pt x="964692" y="0"/>
                  </a:moveTo>
                  <a:lnTo>
                    <a:pt x="461772" y="0"/>
                  </a:lnTo>
                  <a:lnTo>
                    <a:pt x="458724" y="0"/>
                  </a:lnTo>
                  <a:lnTo>
                    <a:pt x="0" y="0"/>
                  </a:lnTo>
                  <a:lnTo>
                    <a:pt x="0" y="166116"/>
                  </a:lnTo>
                  <a:lnTo>
                    <a:pt x="458724" y="166116"/>
                  </a:lnTo>
                  <a:lnTo>
                    <a:pt x="461772" y="166116"/>
                  </a:lnTo>
                  <a:lnTo>
                    <a:pt x="964692" y="166116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74230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78674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78674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18159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8159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8451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68451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8743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187434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691878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504444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4444" y="166115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691878" y="2366010"/>
              <a:ext cx="504825" cy="166370"/>
            </a:xfrm>
            <a:custGeom>
              <a:avLst/>
              <a:gdLst/>
              <a:ahLst/>
              <a:cxnLst/>
              <a:rect l="l" t="t" r="r" b="b"/>
              <a:pathLst>
                <a:path w="504825" h="166369">
                  <a:moveTo>
                    <a:pt x="0" y="166115"/>
                  </a:moveTo>
                  <a:lnTo>
                    <a:pt x="504444" y="166115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19479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19479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69771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9771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20063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505968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505968" y="166115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200638" y="2366010"/>
              <a:ext cx="506095" cy="166370"/>
            </a:xfrm>
            <a:custGeom>
              <a:avLst/>
              <a:gdLst/>
              <a:ahLst/>
              <a:cxnLst/>
              <a:rect l="l" t="t" r="r" b="b"/>
              <a:pathLst>
                <a:path w="506095" h="166369">
                  <a:moveTo>
                    <a:pt x="0" y="166115"/>
                  </a:moveTo>
                  <a:lnTo>
                    <a:pt x="505968" y="166115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715506" y="2366010"/>
            <a:ext cx="4991100" cy="16637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65"/>
              </a:spcBef>
              <a:tabLst>
                <a:tab pos="555625" algn="l"/>
                <a:tab pos="1144270" algn="l"/>
                <a:tab pos="1623060" algn="l"/>
                <a:tab pos="2143125" algn="l"/>
                <a:tab pos="2696845" algn="l"/>
                <a:tab pos="3119120" algn="l"/>
                <a:tab pos="3684904" algn="l"/>
                <a:tab pos="4097020" algn="l"/>
                <a:tab pos="4596130" algn="l"/>
              </a:tabLst>
            </a:pPr>
            <a:r>
              <a:rPr sz="800" b="1" spc="-10" dirty="0">
                <a:solidFill>
                  <a:srgbClr val="E23717"/>
                </a:solidFill>
                <a:latin typeface="Tahoma"/>
                <a:cs typeface="Tahoma"/>
              </a:rPr>
              <a:t>[CLS]</a:t>
            </a:r>
            <a:r>
              <a:rPr sz="800" b="1" dirty="0">
                <a:solidFill>
                  <a:srgbClr val="E23717"/>
                </a:solidFill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Before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my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30" dirty="0">
                <a:latin typeface="Tahoma"/>
                <a:cs typeface="Tahoma"/>
              </a:rPr>
              <a:t>bed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lies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a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pool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of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moon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933433" y="6388709"/>
            <a:ext cx="5359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25" dirty="0">
                <a:latin typeface="Tahoma"/>
                <a:cs typeface="Tahoma"/>
              </a:rPr>
              <a:t>(10,</a:t>
            </a:r>
            <a:r>
              <a:rPr sz="1050" b="1" spc="-45" dirty="0">
                <a:latin typeface="Tahoma"/>
                <a:cs typeface="Tahoma"/>
              </a:rPr>
              <a:t> </a:t>
            </a:r>
            <a:r>
              <a:rPr sz="1050" b="1" spc="-25" dirty="0">
                <a:latin typeface="Tahoma"/>
                <a:cs typeface="Tahoma"/>
              </a:rPr>
              <a:t>10)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715506" y="1977389"/>
            <a:ext cx="4991100" cy="306705"/>
          </a:xfrm>
          <a:custGeom>
            <a:avLst/>
            <a:gdLst/>
            <a:ahLst/>
            <a:cxnLst/>
            <a:rect l="l" t="t" r="r" b="b"/>
            <a:pathLst>
              <a:path w="4991100" h="306705">
                <a:moveTo>
                  <a:pt x="0" y="306324"/>
                </a:moveTo>
                <a:lnTo>
                  <a:pt x="2006" y="246709"/>
                </a:lnTo>
                <a:lnTo>
                  <a:pt x="7477" y="198024"/>
                </a:lnTo>
                <a:lnTo>
                  <a:pt x="15591" y="165199"/>
                </a:lnTo>
                <a:lnTo>
                  <a:pt x="25526" y="153162"/>
                </a:lnTo>
                <a:lnTo>
                  <a:pt x="2470023" y="153162"/>
                </a:lnTo>
                <a:lnTo>
                  <a:pt x="2479958" y="141124"/>
                </a:lnTo>
                <a:lnTo>
                  <a:pt x="2488072" y="108299"/>
                </a:lnTo>
                <a:lnTo>
                  <a:pt x="2493543" y="59614"/>
                </a:lnTo>
                <a:lnTo>
                  <a:pt x="2495550" y="0"/>
                </a:lnTo>
                <a:lnTo>
                  <a:pt x="2497556" y="59614"/>
                </a:lnTo>
                <a:lnTo>
                  <a:pt x="2503027" y="108299"/>
                </a:lnTo>
                <a:lnTo>
                  <a:pt x="2511141" y="141124"/>
                </a:lnTo>
                <a:lnTo>
                  <a:pt x="2521077" y="153162"/>
                </a:lnTo>
                <a:lnTo>
                  <a:pt x="4965573" y="153162"/>
                </a:lnTo>
                <a:lnTo>
                  <a:pt x="4975508" y="165199"/>
                </a:lnTo>
                <a:lnTo>
                  <a:pt x="4983622" y="198024"/>
                </a:lnTo>
                <a:lnTo>
                  <a:pt x="4989093" y="246709"/>
                </a:lnTo>
                <a:lnTo>
                  <a:pt x="4991100" y="306324"/>
                </a:lnTo>
              </a:path>
            </a:pathLst>
          </a:custGeom>
          <a:ln w="38100">
            <a:solidFill>
              <a:srgbClr val="ED76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6684391" y="923035"/>
            <a:ext cx="49098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b="1" spc="-80" dirty="0">
                <a:latin typeface="Tahoma"/>
                <a:cs typeface="Tahoma"/>
              </a:rPr>
              <a:t>[CLS]</a:t>
            </a:r>
            <a:r>
              <a:rPr sz="1200" b="1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token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always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interacts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with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all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other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tokens,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90" dirty="0">
                <a:latin typeface="Tahoma"/>
                <a:cs typeface="Tahoma"/>
              </a:rPr>
              <a:t>do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not </a:t>
            </a:r>
            <a:r>
              <a:rPr sz="1200" dirty="0">
                <a:latin typeface="Tahoma"/>
                <a:cs typeface="Tahoma"/>
              </a:rPr>
              <a:t>use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any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mask.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ahoma"/>
                <a:cs typeface="Tahoma"/>
              </a:rPr>
              <a:t>So,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consider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b="1" spc="-80" dirty="0">
                <a:latin typeface="Tahoma"/>
                <a:cs typeface="Tahoma"/>
              </a:rPr>
              <a:t>[CLS]</a:t>
            </a:r>
            <a:r>
              <a:rPr sz="1200" b="1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token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as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token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that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“captures” </a:t>
            </a:r>
            <a:r>
              <a:rPr sz="1200" spc="-25" dirty="0">
                <a:latin typeface="Tahoma"/>
                <a:cs typeface="Tahoma"/>
              </a:rPr>
              <a:t>the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ahoma"/>
                <a:cs typeface="Tahoma"/>
              </a:rPr>
              <a:t>information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from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all the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other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797377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9179441C-C575-9212-F5CB-892E4418B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0C01D772-C113-37A2-8DBB-036EFB29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3493-EBC0-4BE9-B98F-6F3DF30195CE}" type="datetime1">
              <a:rPr lang="en-US" smtClean="0"/>
              <a:t>5/12/2025</a:t>
            </a:fld>
            <a:endParaRPr lang="en-US"/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551B2FDC-4F9C-44A8-2C20-80559675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5269EB63-8461-E825-F510-2D2A3813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20" dirty="0"/>
              <a:t>[CLS]</a:t>
            </a:r>
            <a:r>
              <a:rPr sz="4400" spc="-30" dirty="0"/>
              <a:t> </a:t>
            </a:r>
            <a:r>
              <a:rPr sz="4400" spc="-290" dirty="0"/>
              <a:t>token:</a:t>
            </a:r>
            <a:r>
              <a:rPr sz="4400" spc="-40" dirty="0"/>
              <a:t> </a:t>
            </a:r>
            <a:r>
              <a:rPr sz="4400" spc="-245" dirty="0"/>
              <a:t>output</a:t>
            </a:r>
            <a:r>
              <a:rPr sz="4400" spc="-45" dirty="0"/>
              <a:t> </a:t>
            </a:r>
            <a:r>
              <a:rPr sz="4400" spc="-395" dirty="0"/>
              <a:t>sequence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8509634" y="1997075"/>
            <a:ext cx="533400" cy="141605"/>
          </a:xfrm>
          <a:custGeom>
            <a:avLst/>
            <a:gdLst/>
            <a:ahLst/>
            <a:cxnLst/>
            <a:rect l="l" t="t" r="r" b="b"/>
            <a:pathLst>
              <a:path w="533400" h="141605">
                <a:moveTo>
                  <a:pt x="488315" y="0"/>
                </a:moveTo>
                <a:lnTo>
                  <a:pt x="486283" y="5714"/>
                </a:lnTo>
                <a:lnTo>
                  <a:pt x="494474" y="9316"/>
                </a:lnTo>
                <a:lnTo>
                  <a:pt x="501523" y="14239"/>
                </a:lnTo>
                <a:lnTo>
                  <a:pt x="519924" y="57876"/>
                </a:lnTo>
                <a:lnTo>
                  <a:pt x="520446" y="69976"/>
                </a:lnTo>
                <a:lnTo>
                  <a:pt x="519922" y="82381"/>
                </a:lnTo>
                <a:lnTo>
                  <a:pt x="507325" y="120614"/>
                </a:lnTo>
                <a:lnTo>
                  <a:pt x="486537" y="135509"/>
                </a:lnTo>
                <a:lnTo>
                  <a:pt x="488315" y="141224"/>
                </a:lnTo>
                <a:lnTo>
                  <a:pt x="521716" y="116586"/>
                </a:lnTo>
                <a:lnTo>
                  <a:pt x="533400" y="70612"/>
                </a:lnTo>
                <a:lnTo>
                  <a:pt x="532663" y="57679"/>
                </a:lnTo>
                <a:lnTo>
                  <a:pt x="515264" y="16073"/>
                </a:lnTo>
                <a:lnTo>
                  <a:pt x="498552" y="3690"/>
                </a:lnTo>
                <a:lnTo>
                  <a:pt x="488315" y="0"/>
                </a:lnTo>
                <a:close/>
              </a:path>
              <a:path w="533400" h="141605">
                <a:moveTo>
                  <a:pt x="45085" y="0"/>
                </a:moveTo>
                <a:lnTo>
                  <a:pt x="11684" y="24764"/>
                </a:lnTo>
                <a:lnTo>
                  <a:pt x="0" y="70612"/>
                </a:lnTo>
                <a:lnTo>
                  <a:pt x="736" y="83617"/>
                </a:lnTo>
                <a:lnTo>
                  <a:pt x="18135" y="125204"/>
                </a:lnTo>
                <a:lnTo>
                  <a:pt x="45085" y="141224"/>
                </a:lnTo>
                <a:lnTo>
                  <a:pt x="46863" y="135509"/>
                </a:lnTo>
                <a:lnTo>
                  <a:pt x="38838" y="131941"/>
                </a:lnTo>
                <a:lnTo>
                  <a:pt x="31908" y="126968"/>
                </a:lnTo>
                <a:lnTo>
                  <a:pt x="13477" y="82381"/>
                </a:lnTo>
                <a:lnTo>
                  <a:pt x="12954" y="69976"/>
                </a:lnTo>
                <a:lnTo>
                  <a:pt x="13477" y="57876"/>
                </a:lnTo>
                <a:lnTo>
                  <a:pt x="26078" y="20520"/>
                </a:lnTo>
                <a:lnTo>
                  <a:pt x="47117" y="5714"/>
                </a:lnTo>
                <a:lnTo>
                  <a:pt x="450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24596" y="1945589"/>
            <a:ext cx="11779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𝐴𝑡𝑡𝑒𝑛𝑡𝑖𝑜𝑛</a:t>
            </a:r>
            <a:r>
              <a:rPr sz="1200" spc="254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𝑄,</a:t>
            </a:r>
            <a:r>
              <a:rPr sz="1200" spc="-7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𝐾,</a:t>
            </a:r>
            <a:r>
              <a:rPr sz="1200" spc="-6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𝑉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6850" y="1945589"/>
            <a:ext cx="6997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50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softmax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09734" y="1842007"/>
            <a:ext cx="462280" cy="450850"/>
          </a:xfrm>
          <a:custGeom>
            <a:avLst/>
            <a:gdLst/>
            <a:ahLst/>
            <a:cxnLst/>
            <a:rect l="l" t="t" r="r" b="b"/>
            <a:pathLst>
              <a:path w="462279" h="450850">
                <a:moveTo>
                  <a:pt x="76073" y="5334"/>
                </a:moveTo>
                <a:lnTo>
                  <a:pt x="41363" y="39116"/>
                </a:lnTo>
                <a:lnTo>
                  <a:pt x="18796" y="90424"/>
                </a:lnTo>
                <a:lnTo>
                  <a:pt x="4673" y="152819"/>
                </a:lnTo>
                <a:lnTo>
                  <a:pt x="0" y="225044"/>
                </a:lnTo>
                <a:lnTo>
                  <a:pt x="1168" y="262445"/>
                </a:lnTo>
                <a:lnTo>
                  <a:pt x="10553" y="329971"/>
                </a:lnTo>
                <a:lnTo>
                  <a:pt x="29146" y="387146"/>
                </a:lnTo>
                <a:lnTo>
                  <a:pt x="55435" y="432346"/>
                </a:lnTo>
                <a:lnTo>
                  <a:pt x="71374" y="450342"/>
                </a:lnTo>
                <a:lnTo>
                  <a:pt x="76073" y="445135"/>
                </a:lnTo>
                <a:lnTo>
                  <a:pt x="61925" y="426834"/>
                </a:lnTo>
                <a:lnTo>
                  <a:pt x="49618" y="405625"/>
                </a:lnTo>
                <a:lnTo>
                  <a:pt x="30607" y="354584"/>
                </a:lnTo>
                <a:lnTo>
                  <a:pt x="18999" y="293725"/>
                </a:lnTo>
                <a:lnTo>
                  <a:pt x="15113" y="224917"/>
                </a:lnTo>
                <a:lnTo>
                  <a:pt x="16078" y="189903"/>
                </a:lnTo>
                <a:lnTo>
                  <a:pt x="23837" y="125323"/>
                </a:lnTo>
                <a:lnTo>
                  <a:pt x="39166" y="68935"/>
                </a:lnTo>
                <a:lnTo>
                  <a:pt x="61925" y="23647"/>
                </a:lnTo>
                <a:lnTo>
                  <a:pt x="76073" y="5334"/>
                </a:lnTo>
                <a:close/>
              </a:path>
              <a:path w="462279" h="450850">
                <a:moveTo>
                  <a:pt x="381241" y="219964"/>
                </a:moveTo>
                <a:lnTo>
                  <a:pt x="81026" y="219964"/>
                </a:lnTo>
                <a:lnTo>
                  <a:pt x="81026" y="230632"/>
                </a:lnTo>
                <a:lnTo>
                  <a:pt x="381241" y="230632"/>
                </a:lnTo>
                <a:lnTo>
                  <a:pt x="381241" y="219964"/>
                </a:lnTo>
                <a:close/>
              </a:path>
              <a:path w="462279" h="450850">
                <a:moveTo>
                  <a:pt x="462153" y="224917"/>
                </a:moveTo>
                <a:lnTo>
                  <a:pt x="457466" y="152819"/>
                </a:lnTo>
                <a:lnTo>
                  <a:pt x="443357" y="90424"/>
                </a:lnTo>
                <a:lnTo>
                  <a:pt x="420789" y="39116"/>
                </a:lnTo>
                <a:lnTo>
                  <a:pt x="390906" y="0"/>
                </a:lnTo>
                <a:lnTo>
                  <a:pt x="386080" y="5334"/>
                </a:lnTo>
                <a:lnTo>
                  <a:pt x="400215" y="23647"/>
                </a:lnTo>
                <a:lnTo>
                  <a:pt x="412534" y="44856"/>
                </a:lnTo>
                <a:lnTo>
                  <a:pt x="431673" y="95885"/>
                </a:lnTo>
                <a:lnTo>
                  <a:pt x="443204" y="156654"/>
                </a:lnTo>
                <a:lnTo>
                  <a:pt x="447040" y="225044"/>
                </a:lnTo>
                <a:lnTo>
                  <a:pt x="446074" y="260362"/>
                </a:lnTo>
                <a:lnTo>
                  <a:pt x="438404" y="325132"/>
                </a:lnTo>
                <a:lnTo>
                  <a:pt x="423024" y="381546"/>
                </a:lnTo>
                <a:lnTo>
                  <a:pt x="400215" y="426834"/>
                </a:lnTo>
                <a:lnTo>
                  <a:pt x="386080" y="445135"/>
                </a:lnTo>
                <a:lnTo>
                  <a:pt x="390906" y="450342"/>
                </a:lnTo>
                <a:lnTo>
                  <a:pt x="420789" y="411276"/>
                </a:lnTo>
                <a:lnTo>
                  <a:pt x="443357" y="359918"/>
                </a:lnTo>
                <a:lnTo>
                  <a:pt x="457466" y="297472"/>
                </a:lnTo>
                <a:lnTo>
                  <a:pt x="460971" y="262445"/>
                </a:lnTo>
                <a:lnTo>
                  <a:pt x="462153" y="2249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53930" y="1830070"/>
            <a:ext cx="36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𝑄𝐾</a:t>
            </a:r>
            <a:r>
              <a:rPr sz="1275" spc="-37" baseline="29411" dirty="0">
                <a:latin typeface="Cambria Math"/>
                <a:cs typeface="Cambria Math"/>
              </a:rPr>
              <a:t>𝑇</a:t>
            </a:r>
            <a:endParaRPr sz="1275" baseline="29411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04094" y="2101088"/>
            <a:ext cx="274955" cy="189230"/>
          </a:xfrm>
          <a:custGeom>
            <a:avLst/>
            <a:gdLst/>
            <a:ahLst/>
            <a:cxnLst/>
            <a:rect l="l" t="t" r="r" b="b"/>
            <a:pathLst>
              <a:path w="274954" h="189230">
                <a:moveTo>
                  <a:pt x="116077" y="0"/>
                </a:moveTo>
                <a:lnTo>
                  <a:pt x="95250" y="0"/>
                </a:lnTo>
                <a:lnTo>
                  <a:pt x="50037" y="169290"/>
                </a:lnTo>
                <a:lnTo>
                  <a:pt x="24383" y="111887"/>
                </a:lnTo>
                <a:lnTo>
                  <a:pt x="0" y="122936"/>
                </a:lnTo>
                <a:lnTo>
                  <a:pt x="2285" y="128524"/>
                </a:lnTo>
                <a:lnTo>
                  <a:pt x="14858" y="122936"/>
                </a:lnTo>
                <a:lnTo>
                  <a:pt x="45593" y="189229"/>
                </a:lnTo>
                <a:lnTo>
                  <a:pt x="52831" y="189229"/>
                </a:lnTo>
                <a:lnTo>
                  <a:pt x="101219" y="9906"/>
                </a:lnTo>
                <a:lnTo>
                  <a:pt x="110108" y="9906"/>
                </a:lnTo>
                <a:lnTo>
                  <a:pt x="110108" y="11175"/>
                </a:lnTo>
                <a:lnTo>
                  <a:pt x="274700" y="11175"/>
                </a:lnTo>
                <a:lnTo>
                  <a:pt x="274700" y="508"/>
                </a:lnTo>
                <a:lnTo>
                  <a:pt x="116077" y="508"/>
                </a:lnTo>
                <a:lnTo>
                  <a:pt x="1160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77373" y="2078177"/>
            <a:ext cx="2324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𝑑</a:t>
            </a:r>
            <a:r>
              <a:rPr sz="1275" spc="-37" baseline="-16339" dirty="0">
                <a:latin typeface="Cambria Math"/>
                <a:cs typeface="Cambria Math"/>
              </a:rPr>
              <a:t>𝑘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96906" y="1945589"/>
            <a:ext cx="1212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𝑉</a:t>
            </a:r>
            <a:endParaRPr sz="1200">
              <a:latin typeface="Cambria Math"/>
              <a:cs typeface="Cambria Math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02487" y="2703448"/>
          <a:ext cx="4964429" cy="3655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16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0.21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0.13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0.03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39445" y="2783585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15"/>
              </a:spcBef>
            </a:pPr>
            <a:r>
              <a:rPr sz="800" b="1" spc="-10" dirty="0">
                <a:solidFill>
                  <a:srgbClr val="E23717"/>
                </a:solidFill>
                <a:latin typeface="Tahoma"/>
                <a:cs typeface="Tahoma"/>
              </a:rPr>
              <a:t>[CLS]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445" y="3147822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320"/>
              </a:spcBef>
            </a:pPr>
            <a:r>
              <a:rPr sz="800" spc="-10" dirty="0">
                <a:latin typeface="Tahoma"/>
                <a:cs typeface="Tahoma"/>
              </a:rPr>
              <a:t>Before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445" y="3513582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800" spc="-25" dirty="0">
                <a:latin typeface="Tahoma"/>
                <a:cs typeface="Tahoma"/>
              </a:rPr>
              <a:t>my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445" y="3877817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325"/>
              </a:spcBef>
            </a:pPr>
            <a:r>
              <a:rPr sz="800" spc="30" dirty="0">
                <a:latin typeface="Tahoma"/>
                <a:cs typeface="Tahoma"/>
              </a:rPr>
              <a:t>bed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445" y="4609338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800" spc="-50" dirty="0">
                <a:latin typeface="Tahoma"/>
                <a:cs typeface="Tahoma"/>
              </a:rPr>
              <a:t>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445" y="4243578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800" spc="-20" dirty="0">
                <a:latin typeface="Tahoma"/>
                <a:cs typeface="Tahoma"/>
              </a:rPr>
              <a:t>lies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9445" y="4973573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64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320"/>
              </a:spcBef>
            </a:pPr>
            <a:r>
              <a:rPr sz="800" spc="-20" dirty="0">
                <a:latin typeface="Tahoma"/>
                <a:cs typeface="Tahoma"/>
              </a:rPr>
              <a:t>pool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445" y="5339334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800" spc="-25" dirty="0">
                <a:latin typeface="Tahoma"/>
                <a:cs typeface="Tahoma"/>
              </a:rPr>
              <a:t>of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445" y="5703570"/>
            <a:ext cx="532130" cy="20574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25"/>
              </a:spcBef>
            </a:pPr>
            <a:r>
              <a:rPr sz="800" spc="-20" dirty="0">
                <a:latin typeface="Tahoma"/>
                <a:cs typeface="Tahoma"/>
              </a:rPr>
              <a:t>moon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9445" y="6069329"/>
            <a:ext cx="532130" cy="204470"/>
          </a:xfrm>
          <a:prstGeom prst="rect">
            <a:avLst/>
          </a:prstGeom>
          <a:solidFill>
            <a:srgbClr val="FF9413"/>
          </a:solidFill>
        </p:spPr>
        <p:txBody>
          <a:bodyPr vert="horz" wrap="square" lIns="0" tIns="400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90194" y="2425064"/>
            <a:ext cx="5000625" cy="186690"/>
            <a:chOff x="790194" y="2425064"/>
            <a:chExt cx="5000625" cy="186690"/>
          </a:xfrm>
        </p:grpSpPr>
        <p:sp>
          <p:nvSpPr>
            <p:cNvPr id="23" name="object 23"/>
            <p:cNvSpPr/>
            <p:nvPr/>
          </p:nvSpPr>
          <p:spPr>
            <a:xfrm>
              <a:off x="790194" y="2434589"/>
              <a:ext cx="965200" cy="167640"/>
            </a:xfrm>
            <a:custGeom>
              <a:avLst/>
              <a:gdLst/>
              <a:ahLst/>
              <a:cxnLst/>
              <a:rect l="l" t="t" r="r" b="b"/>
              <a:pathLst>
                <a:path w="965200" h="167639">
                  <a:moveTo>
                    <a:pt x="964692" y="0"/>
                  </a:moveTo>
                  <a:lnTo>
                    <a:pt x="461772" y="0"/>
                  </a:lnTo>
                  <a:lnTo>
                    <a:pt x="460248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460248" y="167640"/>
                  </a:lnTo>
                  <a:lnTo>
                    <a:pt x="461772" y="167640"/>
                  </a:lnTo>
                  <a:lnTo>
                    <a:pt x="964692" y="167640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50442" y="2434589"/>
              <a:ext cx="504825" cy="167640"/>
            </a:xfrm>
            <a:custGeom>
              <a:avLst/>
              <a:gdLst/>
              <a:ahLst/>
              <a:cxnLst/>
              <a:rect l="l" t="t" r="r" b="b"/>
              <a:pathLst>
                <a:path w="504825" h="167639">
                  <a:moveTo>
                    <a:pt x="0" y="167639"/>
                  </a:moveTo>
                  <a:lnTo>
                    <a:pt x="504444" y="167639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53361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4" h="167639">
                  <a:moveTo>
                    <a:pt x="505968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505968" y="167639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53361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4" h="167639">
                  <a:moveTo>
                    <a:pt x="0" y="167639"/>
                  </a:moveTo>
                  <a:lnTo>
                    <a:pt x="505968" y="167639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56282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4" h="167639">
                  <a:moveTo>
                    <a:pt x="505968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505968" y="167639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56282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4" h="167639">
                  <a:moveTo>
                    <a:pt x="0" y="167639"/>
                  </a:moveTo>
                  <a:lnTo>
                    <a:pt x="505968" y="167639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59201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5" h="167639">
                  <a:moveTo>
                    <a:pt x="505968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505968" y="167639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59201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5" h="167639">
                  <a:moveTo>
                    <a:pt x="0" y="167639"/>
                  </a:moveTo>
                  <a:lnTo>
                    <a:pt x="505968" y="167639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63645" y="2434589"/>
              <a:ext cx="504825" cy="167640"/>
            </a:xfrm>
            <a:custGeom>
              <a:avLst/>
              <a:gdLst/>
              <a:ahLst/>
              <a:cxnLst/>
              <a:rect l="l" t="t" r="r" b="b"/>
              <a:pathLst>
                <a:path w="504825" h="167639">
                  <a:moveTo>
                    <a:pt x="504444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504444" y="167639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63645" y="2434589"/>
              <a:ext cx="504825" cy="167640"/>
            </a:xfrm>
            <a:custGeom>
              <a:avLst/>
              <a:gdLst/>
              <a:ahLst/>
              <a:cxnLst/>
              <a:rect l="l" t="t" r="r" b="b"/>
              <a:pathLst>
                <a:path w="504825" h="167639">
                  <a:moveTo>
                    <a:pt x="0" y="167639"/>
                  </a:moveTo>
                  <a:lnTo>
                    <a:pt x="504444" y="167639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66566" y="2434589"/>
              <a:ext cx="504825" cy="167640"/>
            </a:xfrm>
            <a:custGeom>
              <a:avLst/>
              <a:gdLst/>
              <a:ahLst/>
              <a:cxnLst/>
              <a:rect l="l" t="t" r="r" b="b"/>
              <a:pathLst>
                <a:path w="504825" h="167639">
                  <a:moveTo>
                    <a:pt x="504443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504443" y="167639"/>
                  </a:lnTo>
                  <a:lnTo>
                    <a:pt x="504443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66566" y="2434589"/>
              <a:ext cx="504825" cy="167640"/>
            </a:xfrm>
            <a:custGeom>
              <a:avLst/>
              <a:gdLst/>
              <a:ahLst/>
              <a:cxnLst/>
              <a:rect l="l" t="t" r="r" b="b"/>
              <a:pathLst>
                <a:path w="504825" h="167639">
                  <a:moveTo>
                    <a:pt x="0" y="167639"/>
                  </a:moveTo>
                  <a:lnTo>
                    <a:pt x="504443" y="167639"/>
                  </a:lnTo>
                  <a:lnTo>
                    <a:pt x="504443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69485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5" h="167639">
                  <a:moveTo>
                    <a:pt x="505967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505967" y="167639"/>
                  </a:lnTo>
                  <a:lnTo>
                    <a:pt x="505967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69485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5" h="167639">
                  <a:moveTo>
                    <a:pt x="0" y="167639"/>
                  </a:moveTo>
                  <a:lnTo>
                    <a:pt x="505967" y="167639"/>
                  </a:lnTo>
                  <a:lnTo>
                    <a:pt x="505967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72405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5" h="167639">
                  <a:moveTo>
                    <a:pt x="505968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505968" y="167639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72405" y="2434589"/>
              <a:ext cx="506095" cy="167640"/>
            </a:xfrm>
            <a:custGeom>
              <a:avLst/>
              <a:gdLst/>
              <a:ahLst/>
              <a:cxnLst/>
              <a:rect l="l" t="t" r="r" b="b"/>
              <a:pathLst>
                <a:path w="506095" h="167639">
                  <a:moveTo>
                    <a:pt x="0" y="167639"/>
                  </a:moveTo>
                  <a:lnTo>
                    <a:pt x="505968" y="167639"/>
                  </a:lnTo>
                  <a:lnTo>
                    <a:pt x="505968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76850" y="2434589"/>
              <a:ext cx="504825" cy="167640"/>
            </a:xfrm>
            <a:custGeom>
              <a:avLst/>
              <a:gdLst/>
              <a:ahLst/>
              <a:cxnLst/>
              <a:rect l="l" t="t" r="r" b="b"/>
              <a:pathLst>
                <a:path w="504825" h="167639">
                  <a:moveTo>
                    <a:pt x="504444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504444" y="167639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9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76850" y="2434589"/>
              <a:ext cx="504825" cy="167640"/>
            </a:xfrm>
            <a:custGeom>
              <a:avLst/>
              <a:gdLst/>
              <a:ahLst/>
              <a:cxnLst/>
              <a:rect l="l" t="t" r="r" b="b"/>
              <a:pathLst>
                <a:path w="504825" h="167639">
                  <a:moveTo>
                    <a:pt x="0" y="167639"/>
                  </a:moveTo>
                  <a:lnTo>
                    <a:pt x="504444" y="167639"/>
                  </a:lnTo>
                  <a:lnTo>
                    <a:pt x="504444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90194" y="2434589"/>
            <a:ext cx="4991100" cy="16764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70"/>
              </a:spcBef>
              <a:tabLst>
                <a:tab pos="554990" algn="l"/>
                <a:tab pos="1143635" algn="l"/>
                <a:tab pos="1622425" algn="l"/>
                <a:tab pos="2143125" algn="l"/>
                <a:tab pos="2696210" algn="l"/>
                <a:tab pos="3118485" algn="l"/>
                <a:tab pos="3684904" algn="l"/>
                <a:tab pos="4096385" algn="l"/>
                <a:tab pos="4595495" algn="l"/>
              </a:tabLst>
            </a:pPr>
            <a:r>
              <a:rPr sz="800" b="1" spc="-10" dirty="0">
                <a:solidFill>
                  <a:srgbClr val="E23717"/>
                </a:solidFill>
                <a:latin typeface="Tahoma"/>
                <a:cs typeface="Tahoma"/>
              </a:rPr>
              <a:t>[CLS]</a:t>
            </a:r>
            <a:r>
              <a:rPr sz="800" b="1" dirty="0">
                <a:solidFill>
                  <a:srgbClr val="E23717"/>
                </a:solidFill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Before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my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30" dirty="0">
                <a:latin typeface="Tahoma"/>
                <a:cs typeface="Tahoma"/>
              </a:rPr>
              <a:t>bed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lies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a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pool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of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moon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bright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71844" y="3488435"/>
            <a:ext cx="1689100" cy="1696720"/>
          </a:xfrm>
          <a:prstGeom prst="rect">
            <a:avLst/>
          </a:prstGeom>
          <a:solidFill>
            <a:srgbClr val="D2F5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2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1200" b="1" spc="-50" dirty="0">
                <a:latin typeface="Tahoma"/>
                <a:cs typeface="Tahoma"/>
              </a:rPr>
              <a:t>V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000" spc="-25" dirty="0">
                <a:latin typeface="Tahoma"/>
                <a:cs typeface="Tahoma"/>
              </a:rPr>
              <a:t>(10,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768)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88558" y="4175252"/>
            <a:ext cx="173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56269" y="4160266"/>
            <a:ext cx="17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17280" y="3488435"/>
            <a:ext cx="1690370" cy="1696720"/>
          </a:xfrm>
          <a:prstGeom prst="rect">
            <a:avLst/>
          </a:prstGeom>
          <a:solidFill>
            <a:srgbClr val="D2F5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200" b="1" spc="-30" dirty="0">
                <a:latin typeface="Tahoma"/>
                <a:cs typeface="Tahoma"/>
              </a:rPr>
              <a:t>Attention </a:t>
            </a:r>
            <a:r>
              <a:rPr sz="1200" b="1" spc="-10" dirty="0">
                <a:latin typeface="Tahoma"/>
                <a:cs typeface="Tahoma"/>
              </a:rPr>
              <a:t>Output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000" spc="-25" dirty="0">
                <a:latin typeface="Tahoma"/>
                <a:cs typeface="Tahoma"/>
              </a:rPr>
              <a:t>(10,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768)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92627" y="6502704"/>
            <a:ext cx="5359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25" dirty="0">
                <a:latin typeface="Tahoma"/>
                <a:cs typeface="Tahoma"/>
              </a:rPr>
              <a:t>(10,</a:t>
            </a:r>
            <a:r>
              <a:rPr sz="1050" b="1" spc="-45" dirty="0">
                <a:latin typeface="Tahoma"/>
                <a:cs typeface="Tahoma"/>
              </a:rPr>
              <a:t> </a:t>
            </a:r>
            <a:r>
              <a:rPr sz="1050" b="1" spc="-25" dirty="0">
                <a:latin typeface="Tahoma"/>
                <a:cs typeface="Tahoma"/>
              </a:rPr>
              <a:t>10)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53683" y="5427675"/>
            <a:ext cx="469836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Each row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 “Attention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Output”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matrix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represents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embedding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 </a:t>
            </a:r>
            <a:r>
              <a:rPr sz="1000" dirty="0">
                <a:latin typeface="Tahoma"/>
                <a:cs typeface="Tahoma"/>
              </a:rPr>
              <a:t>output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sequence: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it</a:t>
            </a:r>
            <a:r>
              <a:rPr sz="1000" dirty="0">
                <a:latin typeface="Tahoma"/>
                <a:cs typeface="Tahoma"/>
              </a:rPr>
              <a:t> captures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only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meaning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each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token,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only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its </a:t>
            </a:r>
            <a:r>
              <a:rPr sz="1000" dirty="0">
                <a:latin typeface="Tahoma"/>
                <a:cs typeface="Tahoma"/>
              </a:rPr>
              <a:t>position,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but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also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interaction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each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token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other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tokens,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but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only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interactions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which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softmax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score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zero.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512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dimensions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of </a:t>
            </a:r>
            <a:r>
              <a:rPr sz="1000" dirty="0">
                <a:latin typeface="Tahoma"/>
                <a:cs typeface="Tahoma"/>
              </a:rPr>
              <a:t>each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vector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only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depend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 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attention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scores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are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non-</a:t>
            </a:r>
            <a:r>
              <a:rPr sz="1000" spc="-10" dirty="0">
                <a:latin typeface="Tahoma"/>
                <a:cs typeface="Tahoma"/>
              </a:rPr>
              <a:t>zero.</a:t>
            </a:r>
            <a:endParaRPr sz="10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7004432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2F13346-3309-DF26-9B59-13357B35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E8416B4-969A-A187-75FE-0FA634BE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B6040-93A5-4BB5-A033-EB0DD6CD30E3}" type="datetime1">
              <a:rPr lang="en-US" smtClean="0"/>
              <a:t>5/12/2025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A7BE9E4-2927-6D01-70BD-02AAC185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658FDA4-3C98-9368-5B71-16D8AEA0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10" dirty="0"/>
              <a:t>Fine-</a:t>
            </a:r>
            <a:r>
              <a:rPr sz="4400" spc="-430" dirty="0"/>
              <a:t>Tuning</a:t>
            </a:r>
            <a:r>
              <a:rPr sz="4400" spc="-45" dirty="0"/>
              <a:t> </a:t>
            </a:r>
            <a:r>
              <a:rPr sz="4400" spc="-905" dirty="0"/>
              <a:t>BERT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3616452" y="2290317"/>
            <a:ext cx="3903345" cy="751840"/>
            <a:chOff x="3616452" y="2290317"/>
            <a:chExt cx="3903345" cy="751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6452" y="2311907"/>
              <a:ext cx="943355" cy="7071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8680" y="2296667"/>
              <a:ext cx="2834640" cy="739140"/>
            </a:xfrm>
            <a:custGeom>
              <a:avLst/>
              <a:gdLst/>
              <a:ahLst/>
              <a:cxnLst/>
              <a:rect l="l" t="t" r="r" b="b"/>
              <a:pathLst>
                <a:path w="2834640" h="739139">
                  <a:moveTo>
                    <a:pt x="2834639" y="0"/>
                  </a:moveTo>
                  <a:lnTo>
                    <a:pt x="0" y="0"/>
                  </a:lnTo>
                  <a:lnTo>
                    <a:pt x="0" y="739139"/>
                  </a:lnTo>
                  <a:lnTo>
                    <a:pt x="2834639" y="739139"/>
                  </a:lnTo>
                  <a:lnTo>
                    <a:pt x="2834639" y="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78680" y="2296667"/>
              <a:ext cx="2834640" cy="739140"/>
            </a:xfrm>
            <a:custGeom>
              <a:avLst/>
              <a:gdLst/>
              <a:ahLst/>
              <a:cxnLst/>
              <a:rect l="l" t="t" r="r" b="b"/>
              <a:pathLst>
                <a:path w="2834640" h="739139">
                  <a:moveTo>
                    <a:pt x="0" y="739139"/>
                  </a:moveTo>
                  <a:lnTo>
                    <a:pt x="2834639" y="739139"/>
                  </a:lnTo>
                  <a:lnTo>
                    <a:pt x="2834639" y="0"/>
                  </a:lnTo>
                  <a:lnTo>
                    <a:pt x="0" y="0"/>
                  </a:lnTo>
                  <a:lnTo>
                    <a:pt x="0" y="739139"/>
                  </a:lnTo>
                  <a:close/>
                </a:path>
              </a:pathLst>
            </a:custGeom>
            <a:ln w="12700">
              <a:solidFill>
                <a:srgbClr val="632D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85029" y="2505836"/>
            <a:ext cx="282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Pre-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Trained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BERT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87109" y="3020060"/>
            <a:ext cx="2845435" cy="1670685"/>
          </a:xfrm>
          <a:custGeom>
            <a:avLst/>
            <a:gdLst/>
            <a:ahLst/>
            <a:cxnLst/>
            <a:rect l="l" t="t" r="r" b="b"/>
            <a:pathLst>
              <a:path w="2845434" h="1670685">
                <a:moveTo>
                  <a:pt x="2737130" y="1629069"/>
                </a:moveTo>
                <a:lnTo>
                  <a:pt x="2717926" y="1662048"/>
                </a:lnTo>
                <a:lnTo>
                  <a:pt x="2845435" y="1670177"/>
                </a:lnTo>
                <a:lnTo>
                  <a:pt x="2824824" y="1638681"/>
                </a:lnTo>
                <a:lnTo>
                  <a:pt x="2753614" y="1638681"/>
                </a:lnTo>
                <a:lnTo>
                  <a:pt x="2737130" y="1629069"/>
                </a:lnTo>
                <a:close/>
              </a:path>
              <a:path w="2845434" h="1670685">
                <a:moveTo>
                  <a:pt x="2756289" y="1596164"/>
                </a:moveTo>
                <a:lnTo>
                  <a:pt x="2737130" y="1629069"/>
                </a:lnTo>
                <a:lnTo>
                  <a:pt x="2753614" y="1638681"/>
                </a:lnTo>
                <a:lnTo>
                  <a:pt x="2772791" y="1605788"/>
                </a:lnTo>
                <a:lnTo>
                  <a:pt x="2756289" y="1596164"/>
                </a:lnTo>
                <a:close/>
              </a:path>
              <a:path w="2845434" h="1670685">
                <a:moveTo>
                  <a:pt x="2775458" y="1563242"/>
                </a:moveTo>
                <a:lnTo>
                  <a:pt x="2756289" y="1596164"/>
                </a:lnTo>
                <a:lnTo>
                  <a:pt x="2772791" y="1605788"/>
                </a:lnTo>
                <a:lnTo>
                  <a:pt x="2753614" y="1638681"/>
                </a:lnTo>
                <a:lnTo>
                  <a:pt x="2824824" y="1638681"/>
                </a:lnTo>
                <a:lnTo>
                  <a:pt x="2775458" y="1563242"/>
                </a:lnTo>
                <a:close/>
              </a:path>
              <a:path w="2845434" h="1670685">
                <a:moveTo>
                  <a:pt x="19303" y="0"/>
                </a:moveTo>
                <a:lnTo>
                  <a:pt x="0" y="33019"/>
                </a:lnTo>
                <a:lnTo>
                  <a:pt x="2737130" y="1629069"/>
                </a:lnTo>
                <a:lnTo>
                  <a:pt x="2756289" y="1596164"/>
                </a:lnTo>
                <a:lnTo>
                  <a:pt x="19303" y="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13319" y="4689347"/>
            <a:ext cx="2836545" cy="739140"/>
          </a:xfrm>
          <a:prstGeom prst="rect">
            <a:avLst/>
          </a:prstGeom>
          <a:solidFill>
            <a:srgbClr val="FF9413"/>
          </a:solidFill>
          <a:ln w="12700">
            <a:solidFill>
              <a:srgbClr val="6C3B03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Fine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Tune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8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answering</a:t>
            </a:r>
            <a:r>
              <a:rPr sz="1800" spc="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(QA)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2516" y="4689347"/>
            <a:ext cx="2836545" cy="739140"/>
          </a:xfrm>
          <a:prstGeom prst="rect">
            <a:avLst/>
          </a:prstGeom>
          <a:solidFill>
            <a:srgbClr val="FF9413"/>
          </a:solidFill>
          <a:ln w="12700">
            <a:solidFill>
              <a:srgbClr val="6C3B03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Fine</a:t>
            </a:r>
            <a:r>
              <a:rPr sz="1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Tune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text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0597" y="3020060"/>
            <a:ext cx="2845435" cy="1670685"/>
          </a:xfrm>
          <a:custGeom>
            <a:avLst/>
            <a:gdLst/>
            <a:ahLst/>
            <a:cxnLst/>
            <a:rect l="l" t="t" r="r" b="b"/>
            <a:pathLst>
              <a:path w="2845435" h="1670685">
                <a:moveTo>
                  <a:pt x="69976" y="1563242"/>
                </a:moveTo>
                <a:lnTo>
                  <a:pt x="0" y="1670177"/>
                </a:lnTo>
                <a:lnTo>
                  <a:pt x="127507" y="1662048"/>
                </a:lnTo>
                <a:lnTo>
                  <a:pt x="113901" y="1638681"/>
                </a:lnTo>
                <a:lnTo>
                  <a:pt x="91821" y="1638681"/>
                </a:lnTo>
                <a:lnTo>
                  <a:pt x="72643" y="1605788"/>
                </a:lnTo>
                <a:lnTo>
                  <a:pt x="89146" y="1596164"/>
                </a:lnTo>
                <a:lnTo>
                  <a:pt x="69976" y="1563242"/>
                </a:lnTo>
                <a:close/>
              </a:path>
              <a:path w="2845435" h="1670685">
                <a:moveTo>
                  <a:pt x="89146" y="1596164"/>
                </a:moveTo>
                <a:lnTo>
                  <a:pt x="72643" y="1605788"/>
                </a:lnTo>
                <a:lnTo>
                  <a:pt x="91821" y="1638681"/>
                </a:lnTo>
                <a:lnTo>
                  <a:pt x="108304" y="1629069"/>
                </a:lnTo>
                <a:lnTo>
                  <a:pt x="89146" y="1596164"/>
                </a:lnTo>
                <a:close/>
              </a:path>
              <a:path w="2845435" h="1670685">
                <a:moveTo>
                  <a:pt x="108304" y="1629069"/>
                </a:moveTo>
                <a:lnTo>
                  <a:pt x="91821" y="1638681"/>
                </a:lnTo>
                <a:lnTo>
                  <a:pt x="113901" y="1638681"/>
                </a:lnTo>
                <a:lnTo>
                  <a:pt x="108304" y="1629069"/>
                </a:lnTo>
                <a:close/>
              </a:path>
              <a:path w="2845435" h="1670685">
                <a:moveTo>
                  <a:pt x="2826257" y="0"/>
                </a:moveTo>
                <a:lnTo>
                  <a:pt x="89146" y="1596164"/>
                </a:lnTo>
                <a:lnTo>
                  <a:pt x="108304" y="1629069"/>
                </a:lnTo>
                <a:lnTo>
                  <a:pt x="2845435" y="33019"/>
                </a:lnTo>
                <a:lnTo>
                  <a:pt x="2826257" y="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0030956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37FF094-00CB-AF45-5B0C-F7611237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690EE-11B5-4923-AB76-40614DB42898}" type="datetime1">
              <a:rPr lang="en-US" smtClean="0"/>
              <a:t>5/12/2025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31BDBB4-E5DF-5733-983E-F5B0160A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00DF667-FFA3-C904-A324-7ABA02C3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90" dirty="0"/>
              <a:t>Text</a:t>
            </a:r>
            <a:r>
              <a:rPr sz="4400" spc="-35" dirty="0"/>
              <a:t> </a:t>
            </a:r>
            <a:r>
              <a:rPr sz="4400" spc="-225" dirty="0"/>
              <a:t>Classification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67385" y="1854709"/>
            <a:ext cx="9492615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spc="-55" dirty="0">
                <a:latin typeface="Tahoma"/>
                <a:cs typeface="Tahoma"/>
              </a:rPr>
              <a:t>Text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classification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is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task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assigning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label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65" dirty="0">
                <a:latin typeface="Tahoma"/>
                <a:cs typeface="Tahoma"/>
              </a:rPr>
              <a:t>piece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text.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For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example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spc="45" dirty="0">
                <a:latin typeface="Tahoma"/>
                <a:cs typeface="Tahoma"/>
              </a:rPr>
              <a:t>imagine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we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are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running </a:t>
            </a:r>
            <a:r>
              <a:rPr sz="1600" dirty="0">
                <a:latin typeface="Tahoma"/>
                <a:cs typeface="Tahoma"/>
              </a:rPr>
              <a:t>an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internet</a:t>
            </a:r>
            <a:r>
              <a:rPr sz="1600" spc="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provider</a:t>
            </a:r>
            <a:r>
              <a:rPr sz="1600" spc="30" dirty="0">
                <a:latin typeface="Tahoma"/>
                <a:cs typeface="Tahoma"/>
              </a:rPr>
              <a:t> </a:t>
            </a:r>
            <a:r>
              <a:rPr sz="1600" spc="50" dirty="0">
                <a:latin typeface="Tahoma"/>
                <a:cs typeface="Tahoma"/>
              </a:rPr>
              <a:t>and</a:t>
            </a:r>
            <a:r>
              <a:rPr sz="1600" spc="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we</a:t>
            </a:r>
            <a:r>
              <a:rPr sz="1600" spc="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receive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complaints</a:t>
            </a:r>
            <a:r>
              <a:rPr sz="1600" spc="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from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our</a:t>
            </a:r>
            <a:r>
              <a:rPr sz="1600" spc="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customers.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spc="60" dirty="0">
                <a:latin typeface="Tahoma"/>
                <a:cs typeface="Tahoma"/>
              </a:rPr>
              <a:t>We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may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want</a:t>
            </a:r>
            <a:r>
              <a:rPr sz="1600" spc="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classify</a:t>
            </a:r>
            <a:r>
              <a:rPr sz="1600" spc="3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requests </a:t>
            </a:r>
            <a:r>
              <a:rPr sz="1600" spc="60" dirty="0">
                <a:latin typeface="Tahoma"/>
                <a:cs typeface="Tahoma"/>
              </a:rPr>
              <a:t>coming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from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users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as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hardware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problems,</a:t>
            </a:r>
            <a:r>
              <a:rPr sz="1600" spc="-8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software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spc="55" dirty="0">
                <a:latin typeface="Tahoma"/>
                <a:cs typeface="Tahoma"/>
              </a:rPr>
              <a:t>problems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or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55" dirty="0">
                <a:latin typeface="Tahoma"/>
                <a:cs typeface="Tahoma"/>
              </a:rPr>
              <a:t>billing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issues.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3314446"/>
            <a:ext cx="25495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Tahoma"/>
                <a:cs typeface="Tahoma"/>
              </a:rPr>
              <a:t>My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router’s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55" dirty="0">
                <a:latin typeface="Tahoma"/>
                <a:cs typeface="Tahoma"/>
              </a:rPr>
              <a:t>led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not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working,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tried </a:t>
            </a:r>
            <a:r>
              <a:rPr sz="1200" dirty="0">
                <a:latin typeface="Tahoma"/>
                <a:cs typeface="Tahoma"/>
              </a:rPr>
              <a:t>changing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power</a:t>
            </a:r>
            <a:r>
              <a:rPr sz="1200" spc="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socket</a:t>
            </a:r>
            <a:r>
              <a:rPr sz="1200" spc="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but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still nothing.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8190" y="3314446"/>
            <a:ext cx="29305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Tahoma"/>
                <a:cs typeface="Tahoma"/>
              </a:rPr>
              <a:t>My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router’s</a:t>
            </a:r>
            <a:r>
              <a:rPr sz="1200" spc="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web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55" dirty="0">
                <a:latin typeface="Tahoma"/>
                <a:cs typeface="Tahoma"/>
              </a:rPr>
              <a:t>page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doesn’t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allow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to </a:t>
            </a:r>
            <a:r>
              <a:rPr sz="1200" dirty="0">
                <a:latin typeface="Tahoma"/>
                <a:cs typeface="Tahoma"/>
              </a:rPr>
              <a:t>change</a:t>
            </a:r>
            <a:r>
              <a:rPr sz="1200" spc="1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password</a:t>
            </a:r>
            <a:r>
              <a:rPr sz="1200" spc="1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anymore…</a:t>
            </a:r>
            <a:r>
              <a:rPr sz="1200" spc="80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1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tried </a:t>
            </a:r>
            <a:r>
              <a:rPr sz="1200" dirty="0">
                <a:latin typeface="Tahoma"/>
                <a:cs typeface="Tahoma"/>
              </a:rPr>
              <a:t>restarting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but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nothing.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17763" y="3314446"/>
            <a:ext cx="2947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latin typeface="Tahoma"/>
                <a:cs typeface="Tahoma"/>
              </a:rPr>
              <a:t>In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this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month’s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bill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have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been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charged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ahoma"/>
                <a:cs typeface="Tahoma"/>
              </a:rPr>
              <a:t>100$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instead of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usual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60$,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why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that?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7497" y="4112514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Tahoma"/>
                <a:cs typeface="Tahoma"/>
              </a:rPr>
              <a:t>Hardware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83453" y="4112514"/>
            <a:ext cx="1019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Software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70542" y="4112514"/>
            <a:ext cx="740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ahoma"/>
                <a:cs typeface="Tahoma"/>
              </a:rPr>
              <a:t>Billing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0474870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887CE8C-132D-34D6-9158-B6D6A11BA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D844CB2-C4EE-460D-CB45-B2AF9E192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2C00-2D10-4B52-9022-0D852CCD6F21}" type="datetime1">
              <a:rPr lang="en-US" smtClean="0"/>
              <a:t>5/12/2025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F32F534-A921-992E-5CE2-992E2A3B7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B7913BF-EE10-04C8-1A62-916AF4F3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90" dirty="0"/>
              <a:t>Text</a:t>
            </a:r>
            <a:r>
              <a:rPr sz="4400" spc="-10" dirty="0"/>
              <a:t> </a:t>
            </a:r>
            <a:r>
              <a:rPr sz="4400" spc="-240" dirty="0"/>
              <a:t>Classification:</a:t>
            </a:r>
            <a:r>
              <a:rPr sz="4400" dirty="0"/>
              <a:t> </a:t>
            </a:r>
            <a:r>
              <a:rPr sz="4400" spc="-130" dirty="0"/>
              <a:t>training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4091178" y="2707385"/>
            <a:ext cx="3385820" cy="1774825"/>
            <a:chOff x="4091178" y="2707385"/>
            <a:chExt cx="3385820" cy="1774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2392" y="3034283"/>
              <a:ext cx="941832" cy="7071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1178" y="2707385"/>
              <a:ext cx="3385820" cy="1774825"/>
            </a:xfrm>
            <a:custGeom>
              <a:avLst/>
              <a:gdLst/>
              <a:ahLst/>
              <a:cxnLst/>
              <a:rect l="l" t="t" r="r" b="b"/>
              <a:pathLst>
                <a:path w="3385820" h="1774825">
                  <a:moveTo>
                    <a:pt x="1845691" y="241554"/>
                  </a:moveTo>
                  <a:lnTo>
                    <a:pt x="1817116" y="241554"/>
                  </a:lnTo>
                  <a:lnTo>
                    <a:pt x="1817116" y="0"/>
                  </a:lnTo>
                  <a:lnTo>
                    <a:pt x="1788541" y="0"/>
                  </a:lnTo>
                  <a:lnTo>
                    <a:pt x="1788541" y="241554"/>
                  </a:lnTo>
                  <a:lnTo>
                    <a:pt x="1759966" y="241554"/>
                  </a:lnTo>
                  <a:lnTo>
                    <a:pt x="1802892" y="327279"/>
                  </a:lnTo>
                  <a:lnTo>
                    <a:pt x="1838515" y="255905"/>
                  </a:lnTo>
                  <a:lnTo>
                    <a:pt x="1845691" y="241554"/>
                  </a:lnTo>
                  <a:close/>
                </a:path>
                <a:path w="3385820" h="1774825">
                  <a:moveTo>
                    <a:pt x="3385312" y="1772031"/>
                  </a:moveTo>
                  <a:lnTo>
                    <a:pt x="3371672" y="1754886"/>
                  </a:lnTo>
                  <a:lnTo>
                    <a:pt x="3325622" y="1696974"/>
                  </a:lnTo>
                  <a:lnTo>
                    <a:pt x="3313531" y="1722932"/>
                  </a:lnTo>
                  <a:lnTo>
                    <a:pt x="1808988" y="1021842"/>
                  </a:lnTo>
                  <a:lnTo>
                    <a:pt x="1803196" y="1034148"/>
                  </a:lnTo>
                  <a:lnTo>
                    <a:pt x="1798193" y="1021461"/>
                  </a:lnTo>
                  <a:lnTo>
                    <a:pt x="74422" y="1706918"/>
                  </a:lnTo>
                  <a:lnTo>
                    <a:pt x="63881" y="1680337"/>
                  </a:lnTo>
                  <a:lnTo>
                    <a:pt x="0" y="1751838"/>
                  </a:lnTo>
                  <a:lnTo>
                    <a:pt x="95504" y="1759966"/>
                  </a:lnTo>
                  <a:lnTo>
                    <a:pt x="87071" y="1738757"/>
                  </a:lnTo>
                  <a:lnTo>
                    <a:pt x="84963" y="1733461"/>
                  </a:lnTo>
                  <a:lnTo>
                    <a:pt x="1802726" y="1050518"/>
                  </a:lnTo>
                  <a:lnTo>
                    <a:pt x="3301466" y="1748840"/>
                  </a:lnTo>
                  <a:lnTo>
                    <a:pt x="3289427" y="1774698"/>
                  </a:lnTo>
                  <a:lnTo>
                    <a:pt x="3385312" y="1772031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26282" y="4481271"/>
            <a:ext cx="1117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latin typeface="Tahoma"/>
                <a:cs typeface="Tahoma"/>
              </a:rPr>
              <a:t>Hardware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3590" y="4502022"/>
            <a:ext cx="678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Tahoma"/>
                <a:cs typeface="Tahoma"/>
              </a:rPr>
              <a:t>Billing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2517" y="2423922"/>
            <a:ext cx="65493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70" dirty="0">
                <a:latin typeface="Tahoma"/>
                <a:cs typeface="Tahoma"/>
              </a:rPr>
              <a:t>My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router’s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led</a:t>
            </a:r>
            <a:r>
              <a:rPr sz="1400" dirty="0">
                <a:latin typeface="Tahoma"/>
                <a:cs typeface="Tahoma"/>
              </a:rPr>
              <a:t> is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not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working,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70" dirty="0">
                <a:latin typeface="Tahoma"/>
                <a:cs typeface="Tahoma"/>
              </a:rPr>
              <a:t>I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tried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changing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power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socket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but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still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nothing.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51271" y="3742182"/>
            <a:ext cx="85725" cy="737235"/>
          </a:xfrm>
          <a:custGeom>
            <a:avLst/>
            <a:gdLst/>
            <a:ahLst/>
            <a:cxnLst/>
            <a:rect l="l" t="t" r="r" b="b"/>
            <a:pathLst>
              <a:path w="85725" h="737235">
                <a:moveTo>
                  <a:pt x="28575" y="651510"/>
                </a:moveTo>
                <a:lnTo>
                  <a:pt x="0" y="651510"/>
                </a:lnTo>
                <a:lnTo>
                  <a:pt x="42799" y="737235"/>
                </a:lnTo>
                <a:lnTo>
                  <a:pt x="78538" y="665861"/>
                </a:lnTo>
                <a:lnTo>
                  <a:pt x="28575" y="665861"/>
                </a:lnTo>
                <a:lnTo>
                  <a:pt x="28575" y="651510"/>
                </a:lnTo>
                <a:close/>
              </a:path>
              <a:path w="85725" h="737235">
                <a:moveTo>
                  <a:pt x="57150" y="0"/>
                </a:moveTo>
                <a:lnTo>
                  <a:pt x="28575" y="0"/>
                </a:lnTo>
                <a:lnTo>
                  <a:pt x="28575" y="665861"/>
                </a:lnTo>
                <a:lnTo>
                  <a:pt x="57150" y="665861"/>
                </a:lnTo>
                <a:lnTo>
                  <a:pt x="57150" y="0"/>
                </a:lnTo>
                <a:close/>
              </a:path>
              <a:path w="85725" h="737235">
                <a:moveTo>
                  <a:pt x="85725" y="651510"/>
                </a:moveTo>
                <a:lnTo>
                  <a:pt x="57150" y="651510"/>
                </a:lnTo>
                <a:lnTo>
                  <a:pt x="57150" y="665861"/>
                </a:lnTo>
                <a:lnTo>
                  <a:pt x="78538" y="665861"/>
                </a:lnTo>
                <a:lnTo>
                  <a:pt x="85725" y="65151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23153" y="4502022"/>
            <a:ext cx="933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Software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287175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6C552D28-A9F2-533A-5A3E-0F918D91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20D197-89A5-A916-0864-A64946A2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228F-D452-440E-A65F-1C2CE069C8E4}" type="datetime1">
              <a:rPr lang="en-US" smtClean="0"/>
              <a:t>5/12/2025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2B3234F9-6CC9-80C9-4E07-68C66918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107B2F9-DACF-C490-AB38-F164B68F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90" dirty="0"/>
              <a:t>Text</a:t>
            </a:r>
            <a:r>
              <a:rPr sz="4400" spc="-10" dirty="0"/>
              <a:t> </a:t>
            </a:r>
            <a:r>
              <a:rPr sz="4400" spc="-240" dirty="0"/>
              <a:t>Classification:</a:t>
            </a:r>
            <a:r>
              <a:rPr sz="4400" dirty="0"/>
              <a:t> </a:t>
            </a:r>
            <a:r>
              <a:rPr sz="4400" spc="-130" dirty="0"/>
              <a:t>training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44525" y="6086652"/>
            <a:ext cx="1268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latin typeface="Tahoma"/>
                <a:cs typeface="Tahoma"/>
              </a:rPr>
              <a:t>Input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(16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525" y="3196844"/>
            <a:ext cx="1407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ahoma"/>
                <a:cs typeface="Tahoma"/>
              </a:rPr>
              <a:t>Output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(16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525" y="1441780"/>
            <a:ext cx="11861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ahoma"/>
                <a:cs typeface="Tahoma"/>
              </a:rPr>
              <a:t>Target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(1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1022" y="1436370"/>
            <a:ext cx="755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0000"/>
                </a:solidFill>
                <a:latin typeface="Tahoma"/>
                <a:cs typeface="Tahoma"/>
              </a:rPr>
              <a:t>Hardware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81135" y="3578352"/>
            <a:ext cx="1173480" cy="2364105"/>
            <a:chOff x="3781135" y="3578352"/>
            <a:chExt cx="1173480" cy="2364105"/>
          </a:xfrm>
        </p:grpSpPr>
        <p:sp>
          <p:nvSpPr>
            <p:cNvPr id="8" name="object 8"/>
            <p:cNvSpPr/>
            <p:nvPr/>
          </p:nvSpPr>
          <p:spPr>
            <a:xfrm>
              <a:off x="4530851" y="3578352"/>
              <a:ext cx="76200" cy="311785"/>
            </a:xfrm>
            <a:custGeom>
              <a:avLst/>
              <a:gdLst/>
              <a:ahLst/>
              <a:cxnLst/>
              <a:rect l="l" t="t" r="r" b="b"/>
              <a:pathLst>
                <a:path w="76200" h="31178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1277"/>
                  </a:lnTo>
                  <a:lnTo>
                    <a:pt x="44450" y="311277"/>
                  </a:lnTo>
                  <a:lnTo>
                    <a:pt x="44450" y="63500"/>
                  </a:lnTo>
                  <a:close/>
                </a:path>
                <a:path w="76200" h="31178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178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1135" y="3889248"/>
              <a:ext cx="1173376" cy="205280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364" y="1684782"/>
            <a:ext cx="114300" cy="21996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744973" y="1938527"/>
            <a:ext cx="868044" cy="114300"/>
          </a:xfrm>
          <a:custGeom>
            <a:avLst/>
            <a:gdLst/>
            <a:ahLst/>
            <a:cxnLst/>
            <a:rect l="l" t="t" r="r" b="b"/>
            <a:pathLst>
              <a:path w="868045" h="114300">
                <a:moveTo>
                  <a:pt x="753745" y="0"/>
                </a:moveTo>
                <a:lnTo>
                  <a:pt x="753745" y="114300"/>
                </a:lnTo>
                <a:lnTo>
                  <a:pt x="829945" y="76200"/>
                </a:lnTo>
                <a:lnTo>
                  <a:pt x="772795" y="76200"/>
                </a:lnTo>
                <a:lnTo>
                  <a:pt x="772795" y="38100"/>
                </a:lnTo>
                <a:lnTo>
                  <a:pt x="829945" y="38100"/>
                </a:lnTo>
                <a:lnTo>
                  <a:pt x="753745" y="0"/>
                </a:lnTo>
                <a:close/>
              </a:path>
              <a:path w="868045" h="114300">
                <a:moveTo>
                  <a:pt x="75374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53745" y="76200"/>
                </a:lnTo>
                <a:lnTo>
                  <a:pt x="753745" y="38100"/>
                </a:lnTo>
                <a:close/>
              </a:path>
              <a:path w="868045" h="114300">
                <a:moveTo>
                  <a:pt x="829945" y="38100"/>
                </a:moveTo>
                <a:lnTo>
                  <a:pt x="772795" y="38100"/>
                </a:lnTo>
                <a:lnTo>
                  <a:pt x="772795" y="76200"/>
                </a:lnTo>
                <a:lnTo>
                  <a:pt x="829945" y="76200"/>
                </a:lnTo>
                <a:lnTo>
                  <a:pt x="868045" y="57150"/>
                </a:lnTo>
                <a:lnTo>
                  <a:pt x="829945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67196" y="1882902"/>
            <a:ext cx="3154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Run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ahoma"/>
                <a:cs typeface="Tahoma"/>
              </a:rPr>
              <a:t>backpropagation</a:t>
            </a:r>
            <a:r>
              <a:rPr sz="1200" b="1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update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weights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0032" y="1882902"/>
            <a:ext cx="342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ahoma"/>
                <a:cs typeface="Tahoma"/>
              </a:rPr>
              <a:t>Loss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8646" y="6086652"/>
            <a:ext cx="6037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Tahoma"/>
                <a:cs typeface="Tahoma"/>
              </a:rPr>
              <a:t>[CLS]</a:t>
            </a:r>
            <a:r>
              <a:rPr sz="1200" spc="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55" dirty="0">
                <a:latin typeface="Tahoma"/>
                <a:cs typeface="Tahoma"/>
              </a:rPr>
              <a:t>My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router’s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spc="55" dirty="0">
                <a:latin typeface="Tahoma"/>
                <a:cs typeface="Tahoma"/>
              </a:rPr>
              <a:t>led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 not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working,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I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tried changing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power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socket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but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still </a:t>
            </a:r>
            <a:r>
              <a:rPr sz="1200" spc="-10" dirty="0">
                <a:latin typeface="Tahoma"/>
                <a:cs typeface="Tahoma"/>
              </a:rPr>
              <a:t>nothing.</a:t>
            </a:r>
            <a:endParaRPr sz="1200">
              <a:latin typeface="Tahoma"/>
              <a:cs typeface="Tahom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345685" y="3151758"/>
          <a:ext cx="52006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E23717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E23717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44780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5250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9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4530852" y="2839211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18179" y="2540634"/>
            <a:ext cx="302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Tahoma"/>
                <a:cs typeface="Tahoma"/>
              </a:rPr>
              <a:t>Linear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40" dirty="0">
                <a:latin typeface="Tahoma"/>
                <a:cs typeface="Tahoma"/>
              </a:rPr>
              <a:t>Layer</a:t>
            </a:r>
            <a:r>
              <a:rPr sz="1200" b="1" spc="-2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(3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output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features)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+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Softmax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36364" y="2134361"/>
            <a:ext cx="114300" cy="379095"/>
          </a:xfrm>
          <a:custGeom>
            <a:avLst/>
            <a:gdLst/>
            <a:ahLst/>
            <a:cxnLst/>
            <a:rect l="l" t="t" r="r" b="b"/>
            <a:pathLst>
              <a:path w="114300" h="379094">
                <a:moveTo>
                  <a:pt x="76200" y="95250"/>
                </a:moveTo>
                <a:lnTo>
                  <a:pt x="38100" y="95250"/>
                </a:lnTo>
                <a:lnTo>
                  <a:pt x="38100" y="379095"/>
                </a:lnTo>
                <a:lnTo>
                  <a:pt x="76200" y="379095"/>
                </a:lnTo>
                <a:lnTo>
                  <a:pt x="76200" y="95250"/>
                </a:lnTo>
                <a:close/>
              </a:path>
              <a:path w="114300" h="37909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7909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8194831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420BDFE-C6D4-813D-FC55-5ADBE2F4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13A1-4825-47CE-A884-0702D8F90817}" type="datetime1">
              <a:rPr lang="en-US" smtClean="0"/>
              <a:t>5/12/2025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EA5F98-BDCF-F485-2010-742ABF1A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CCB8A3-114C-BAAA-F5D4-64D51BD9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10" dirty="0"/>
              <a:t>Question</a:t>
            </a:r>
            <a:r>
              <a:rPr sz="4400" spc="-35" dirty="0"/>
              <a:t> </a:t>
            </a:r>
            <a:r>
              <a:rPr sz="4400" spc="-330" dirty="0"/>
              <a:t>Answering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453896" y="2322322"/>
            <a:ext cx="757555" cy="216535"/>
          </a:xfrm>
          <a:custGeom>
            <a:avLst/>
            <a:gdLst/>
            <a:ahLst/>
            <a:cxnLst/>
            <a:rect l="l" t="t" r="r" b="b"/>
            <a:pathLst>
              <a:path w="757555" h="216535">
                <a:moveTo>
                  <a:pt x="757428" y="0"/>
                </a:moveTo>
                <a:lnTo>
                  <a:pt x="0" y="0"/>
                </a:lnTo>
                <a:lnTo>
                  <a:pt x="0" y="216408"/>
                </a:lnTo>
                <a:lnTo>
                  <a:pt x="757428" y="216408"/>
                </a:lnTo>
                <a:lnTo>
                  <a:pt x="7574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9753" y="1647068"/>
            <a:ext cx="9410700" cy="257683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400" spc="50" dirty="0">
                <a:latin typeface="Tahoma"/>
                <a:cs typeface="Tahoma"/>
              </a:rPr>
              <a:t>Question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answering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 task</a:t>
            </a:r>
            <a:r>
              <a:rPr sz="1400" spc="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answering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questions given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context.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b="1" spc="-40" dirty="0">
                <a:latin typeface="Tahoma"/>
                <a:cs typeface="Tahoma"/>
              </a:rPr>
              <a:t>Context</a:t>
            </a:r>
            <a:r>
              <a:rPr sz="1400" spc="-40" dirty="0">
                <a:latin typeface="Tahoma"/>
                <a:cs typeface="Tahoma"/>
              </a:rPr>
              <a:t>:</a:t>
            </a:r>
            <a:r>
              <a:rPr sz="1400" dirty="0">
                <a:latin typeface="Tahoma"/>
                <a:cs typeface="Tahoma"/>
              </a:rPr>
              <a:t> “Shanghai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City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 China,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it is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also a financial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center,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its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fashion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capital and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industrial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city.”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25" dirty="0">
                <a:latin typeface="Tahoma"/>
                <a:cs typeface="Tahoma"/>
              </a:rPr>
              <a:t>Question</a:t>
            </a:r>
            <a:r>
              <a:rPr sz="1400" spc="-25" dirty="0">
                <a:latin typeface="Tahoma"/>
                <a:cs typeface="Tahoma"/>
              </a:rPr>
              <a:t>: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"What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fashion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capital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China?"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b="1" spc="-40" dirty="0">
                <a:latin typeface="Tahoma"/>
                <a:cs typeface="Tahoma"/>
              </a:rPr>
              <a:t>Answer</a:t>
            </a:r>
            <a:r>
              <a:rPr sz="1400" spc="-40" dirty="0">
                <a:latin typeface="Tahoma"/>
                <a:cs typeface="Tahoma"/>
              </a:rPr>
              <a:t>: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“Shanghai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 City in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China,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it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also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financial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center,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its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fashion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capital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industrial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city.”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model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has to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highlight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part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text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that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contains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answer.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-75" dirty="0">
                <a:latin typeface="Tahoma"/>
                <a:cs typeface="Tahoma"/>
              </a:rPr>
              <a:t>Two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problems</a:t>
            </a:r>
            <a:r>
              <a:rPr sz="1400" spc="-10" dirty="0">
                <a:latin typeface="Tahoma"/>
                <a:cs typeface="Tahoma"/>
              </a:rPr>
              <a:t>:</a:t>
            </a:r>
            <a:endParaRPr sz="14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354965" algn="l"/>
              </a:tabLst>
            </a:pPr>
            <a:r>
              <a:rPr sz="1400" spc="55" dirty="0">
                <a:latin typeface="Tahoma"/>
                <a:cs typeface="Tahoma"/>
              </a:rPr>
              <a:t>We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need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to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find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way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for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BERT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to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understand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which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part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of the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input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context,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which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one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question.</a:t>
            </a:r>
            <a:endParaRPr sz="14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354965" algn="l"/>
              </a:tabLst>
            </a:pPr>
            <a:r>
              <a:rPr sz="1400" spc="55" dirty="0">
                <a:latin typeface="Tahoma"/>
                <a:cs typeface="Tahoma"/>
              </a:rPr>
              <a:t>We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also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70" dirty="0">
                <a:latin typeface="Tahoma"/>
                <a:cs typeface="Tahoma"/>
              </a:rPr>
              <a:t>need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find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way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BERT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tell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us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where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answer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starts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and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where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ends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context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provided.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2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032655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D2D65AC-AD9F-0BEE-EC7F-585AC2373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8128061-B8BF-8266-7D75-A3A56661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C2D4-AFB8-47C0-9085-EF596C172BFF}" type="datetime1">
              <a:rPr lang="en-US" smtClean="0"/>
              <a:t>5/12/2025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8ECAB5A-B489-3CC5-56AC-2137DE1B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415985-F1E5-72FC-FFC4-6B142B6F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10" dirty="0"/>
              <a:t>Question</a:t>
            </a:r>
            <a:r>
              <a:rPr sz="4400" spc="-45" dirty="0"/>
              <a:t> </a:t>
            </a:r>
            <a:r>
              <a:rPr sz="4400" spc="-310" dirty="0"/>
              <a:t>Answering:</a:t>
            </a:r>
            <a:r>
              <a:rPr sz="4400" spc="-45" dirty="0"/>
              <a:t> </a:t>
            </a:r>
            <a:r>
              <a:rPr sz="4400" spc="-405" dirty="0"/>
              <a:t>sentence</a:t>
            </a:r>
            <a:r>
              <a:rPr sz="4400" spc="-50" dirty="0"/>
              <a:t> </a:t>
            </a:r>
            <a:r>
              <a:rPr sz="4400" spc="-295" dirty="0"/>
              <a:t>A</a:t>
            </a:r>
            <a:r>
              <a:rPr sz="4400" spc="-15" dirty="0"/>
              <a:t> </a:t>
            </a:r>
            <a:r>
              <a:rPr sz="4400" spc="-160" dirty="0"/>
              <a:t>and</a:t>
            </a:r>
            <a:r>
              <a:rPr sz="4400" spc="-90" dirty="0"/>
              <a:t> </a:t>
            </a:r>
            <a:r>
              <a:rPr sz="4400" spc="-815" dirty="0"/>
              <a:t>B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3787140" y="1415545"/>
            <a:ext cx="4617720" cy="4720590"/>
            <a:chOff x="3787140" y="1359408"/>
            <a:chExt cx="4617720" cy="47205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7140" y="1359408"/>
              <a:ext cx="4617720" cy="41391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07763" y="5000243"/>
              <a:ext cx="3422015" cy="1080135"/>
            </a:xfrm>
            <a:custGeom>
              <a:avLst/>
              <a:gdLst/>
              <a:ahLst/>
              <a:cxnLst/>
              <a:rect l="l" t="t" r="r" b="b"/>
              <a:pathLst>
                <a:path w="3422015" h="1080135">
                  <a:moveTo>
                    <a:pt x="422402" y="84709"/>
                  </a:moveTo>
                  <a:lnTo>
                    <a:pt x="419582" y="57150"/>
                  </a:lnTo>
                  <a:lnTo>
                    <a:pt x="413766" y="0"/>
                  </a:lnTo>
                  <a:lnTo>
                    <a:pt x="351155" y="57785"/>
                  </a:lnTo>
                  <a:lnTo>
                    <a:pt x="380822" y="68999"/>
                  </a:lnTo>
                  <a:lnTo>
                    <a:pt x="0" y="1074191"/>
                  </a:lnTo>
                  <a:lnTo>
                    <a:pt x="11938" y="1078699"/>
                  </a:lnTo>
                  <a:lnTo>
                    <a:pt x="392734" y="73507"/>
                  </a:lnTo>
                  <a:lnTo>
                    <a:pt x="422402" y="84709"/>
                  </a:lnTo>
                  <a:close/>
                </a:path>
                <a:path w="3422015" h="1080135">
                  <a:moveTo>
                    <a:pt x="3422015" y="1072692"/>
                  </a:moveTo>
                  <a:lnTo>
                    <a:pt x="2793200" y="112102"/>
                  </a:lnTo>
                  <a:lnTo>
                    <a:pt x="2809468" y="101473"/>
                  </a:lnTo>
                  <a:lnTo>
                    <a:pt x="2819781" y="94742"/>
                  </a:lnTo>
                  <a:lnTo>
                    <a:pt x="2746121" y="51816"/>
                  </a:lnTo>
                  <a:lnTo>
                    <a:pt x="2756027" y="136398"/>
                  </a:lnTo>
                  <a:lnTo>
                    <a:pt x="2782532" y="119087"/>
                  </a:lnTo>
                  <a:lnTo>
                    <a:pt x="3411347" y="1079652"/>
                  </a:lnTo>
                  <a:lnTo>
                    <a:pt x="3422015" y="1072692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72509" y="6100368"/>
            <a:ext cx="1269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latin typeface="Tahoma"/>
                <a:cs typeface="Tahoma"/>
              </a:rPr>
              <a:t>Sentence </a:t>
            </a:r>
            <a:r>
              <a:rPr sz="1800" b="1" spc="2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3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83602" y="6100368"/>
            <a:ext cx="1259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Sentence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116847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D2DCF18-4B3D-3519-0ABD-15F549EE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5D3CED0E-06FD-66FB-DA87-A0218720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4E16F-AA97-4D2D-8B3D-C082AFD4492C}" type="datetime1">
              <a:rPr lang="en-US" smtClean="0"/>
              <a:t>5/12/2025</a:t>
            </a:fld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B2112F99-A72C-09D5-F404-FD889A5D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CDE99E51-E24E-98E3-E373-41525B34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5" dirty="0"/>
              <a:t>Question</a:t>
            </a:r>
            <a:r>
              <a:rPr spc="-10" dirty="0"/>
              <a:t> </a:t>
            </a:r>
            <a:r>
              <a:rPr spc="-285" dirty="0"/>
              <a:t>Answering:</a:t>
            </a:r>
            <a:r>
              <a:rPr spc="5" dirty="0"/>
              <a:t> </a:t>
            </a:r>
            <a:r>
              <a:rPr b="1" spc="-275" dirty="0">
                <a:latin typeface="Arial"/>
                <a:cs typeface="Arial"/>
              </a:rPr>
              <a:t>start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spc="-135" dirty="0"/>
              <a:t>and</a:t>
            </a:r>
            <a:r>
              <a:rPr spc="-50" dirty="0"/>
              <a:t> </a:t>
            </a:r>
            <a:r>
              <a:rPr b="1" spc="-335" dirty="0">
                <a:latin typeface="Arial"/>
                <a:cs typeface="Arial"/>
              </a:rPr>
              <a:t>end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spc="-275" dirty="0"/>
              <a:t>positions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525" y="6086652"/>
            <a:ext cx="1268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latin typeface="Tahoma"/>
                <a:cs typeface="Tahoma"/>
              </a:rPr>
              <a:t>Input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(27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525" y="3195954"/>
            <a:ext cx="1407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ahoma"/>
                <a:cs typeface="Tahoma"/>
              </a:rPr>
              <a:t>Output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(27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tokens):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81135" y="3578352"/>
            <a:ext cx="1173480" cy="2364105"/>
            <a:chOff x="3781135" y="3578352"/>
            <a:chExt cx="1173480" cy="2364105"/>
          </a:xfrm>
        </p:grpSpPr>
        <p:sp>
          <p:nvSpPr>
            <p:cNvPr id="6" name="object 6"/>
            <p:cNvSpPr/>
            <p:nvPr/>
          </p:nvSpPr>
          <p:spPr>
            <a:xfrm>
              <a:off x="4530851" y="3578352"/>
              <a:ext cx="76200" cy="311785"/>
            </a:xfrm>
            <a:custGeom>
              <a:avLst/>
              <a:gdLst/>
              <a:ahLst/>
              <a:cxnLst/>
              <a:rect l="l" t="t" r="r" b="b"/>
              <a:pathLst>
                <a:path w="76200" h="31178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1277"/>
                  </a:lnTo>
                  <a:lnTo>
                    <a:pt x="44450" y="311277"/>
                  </a:lnTo>
                  <a:lnTo>
                    <a:pt x="44450" y="63500"/>
                  </a:lnTo>
                  <a:close/>
                </a:path>
                <a:path w="76200" h="31178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178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1135" y="3889248"/>
              <a:ext cx="1173376" cy="20528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398646" y="6086652"/>
            <a:ext cx="77889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0AF50"/>
                </a:solidFill>
                <a:latin typeface="Tahoma"/>
                <a:cs typeface="Tahoma"/>
              </a:rPr>
              <a:t>[CLS]</a:t>
            </a:r>
            <a:r>
              <a:rPr sz="1200" spc="-3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What</a:t>
            </a:r>
            <a:r>
              <a:rPr sz="1200" spc="-1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is</a:t>
            </a:r>
            <a:r>
              <a:rPr sz="1200" spc="-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the</a:t>
            </a:r>
            <a:r>
              <a:rPr sz="1200" spc="-1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fashion</a:t>
            </a:r>
            <a:r>
              <a:rPr sz="1200" spc="1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capital</a:t>
            </a:r>
            <a:r>
              <a:rPr sz="1200" spc="-1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of</a:t>
            </a:r>
            <a:r>
              <a:rPr sz="1200" spc="1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AF50"/>
                </a:solidFill>
                <a:latin typeface="Tahoma"/>
                <a:cs typeface="Tahoma"/>
              </a:rPr>
              <a:t>China?</a:t>
            </a:r>
            <a:r>
              <a:rPr sz="1200" spc="-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00AF50"/>
                </a:solidFill>
                <a:latin typeface="Tahoma"/>
                <a:cs typeface="Tahoma"/>
              </a:rPr>
              <a:t>[SEP]</a:t>
            </a:r>
            <a:r>
              <a:rPr sz="1200" spc="1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Shanghai</a:t>
            </a:r>
            <a:r>
              <a:rPr sz="1200" spc="1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is</a:t>
            </a:r>
            <a:r>
              <a:rPr sz="1200" spc="-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a</a:t>
            </a:r>
            <a:r>
              <a:rPr sz="1200" spc="-1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City</a:t>
            </a:r>
            <a:r>
              <a:rPr sz="1200" spc="-2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in</a:t>
            </a:r>
            <a:r>
              <a:rPr sz="1200" spc="-1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China,</a:t>
            </a:r>
            <a:r>
              <a:rPr sz="1200" spc="-4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it</a:t>
            </a:r>
            <a:r>
              <a:rPr sz="1200" spc="-2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is</a:t>
            </a:r>
            <a:r>
              <a:rPr sz="1200" spc="-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also</a:t>
            </a:r>
            <a:r>
              <a:rPr sz="1200" spc="-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financial</a:t>
            </a:r>
            <a:r>
              <a:rPr sz="1200" spc="-5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8639F1"/>
                </a:solidFill>
                <a:latin typeface="Tahoma"/>
                <a:cs typeface="Tahoma"/>
              </a:rPr>
              <a:t>center,</a:t>
            </a:r>
            <a:r>
              <a:rPr sz="1200" spc="-4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its</a:t>
            </a:r>
            <a:r>
              <a:rPr sz="1200" spc="-2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8639F1"/>
                </a:solidFill>
                <a:latin typeface="Tahoma"/>
                <a:cs typeface="Tahoma"/>
              </a:rPr>
              <a:t>fashion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capital</a:t>
            </a:r>
            <a:r>
              <a:rPr sz="1200" spc="7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and</a:t>
            </a:r>
            <a:r>
              <a:rPr sz="1200" spc="6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8639F1"/>
                </a:solidFill>
                <a:latin typeface="Tahoma"/>
                <a:cs typeface="Tahoma"/>
              </a:rPr>
              <a:t>industrial</a:t>
            </a:r>
            <a:r>
              <a:rPr sz="1200" spc="80" dirty="0">
                <a:solidFill>
                  <a:srgbClr val="8639F1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8639F1"/>
                </a:solidFill>
                <a:latin typeface="Tahoma"/>
                <a:cs typeface="Tahoma"/>
              </a:rPr>
              <a:t>city.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06411" y="2859023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45685" y="3151758"/>
          <a:ext cx="742950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000" b="1" spc="-5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…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4145" marR="95885" indent="-400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50" dirty="0">
                          <a:solidFill>
                            <a:srgbClr val="00AF50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5250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5250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11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12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13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..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..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..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23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3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26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4615" indent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40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TK </a:t>
                      </a:r>
                      <a:r>
                        <a:rPr sz="1000" b="1" spc="-25" dirty="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27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7449311" y="2859023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39456" y="2859023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97595" y="2859023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74023" y="2859023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33688" y="2874264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05543" y="2874264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01783" y="2859023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067543" y="2859023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421111" y="2859023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86871" y="2874264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170919" y="2874264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506200" y="2898648"/>
            <a:ext cx="76200" cy="311785"/>
          </a:xfrm>
          <a:custGeom>
            <a:avLst/>
            <a:gdLst/>
            <a:ahLst/>
            <a:cxnLst/>
            <a:rect l="l" t="t" r="r" b="b"/>
            <a:pathLst>
              <a:path w="76200" h="311785">
                <a:moveTo>
                  <a:pt x="44450" y="63500"/>
                </a:moveTo>
                <a:lnTo>
                  <a:pt x="31750" y="63500"/>
                </a:lnTo>
                <a:lnTo>
                  <a:pt x="31750" y="311276"/>
                </a:lnTo>
                <a:lnTo>
                  <a:pt x="44450" y="311276"/>
                </a:lnTo>
                <a:lnTo>
                  <a:pt x="44450" y="63500"/>
                </a:lnTo>
                <a:close/>
              </a:path>
              <a:path w="76200" h="31178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178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18179" y="2540634"/>
            <a:ext cx="302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Tahoma"/>
                <a:cs typeface="Tahoma"/>
              </a:rPr>
              <a:t>Linear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40" dirty="0">
                <a:latin typeface="Tahoma"/>
                <a:cs typeface="Tahoma"/>
              </a:rPr>
              <a:t>Layer</a:t>
            </a:r>
            <a:r>
              <a:rPr sz="1200" b="1" spc="-2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(2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output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features)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+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Softmax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4525" y="1441780"/>
            <a:ext cx="11861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ahoma"/>
                <a:cs typeface="Tahoma"/>
              </a:rPr>
              <a:t>Target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(1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token):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21022" y="1436370"/>
            <a:ext cx="1712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0000"/>
                </a:solidFill>
                <a:latin typeface="Tahoma"/>
                <a:cs typeface="Tahoma"/>
              </a:rPr>
              <a:t>start=TK10,</a:t>
            </a:r>
            <a:r>
              <a:rPr sz="1200" b="1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ahoma"/>
                <a:cs typeface="Tahoma"/>
              </a:rPr>
              <a:t>end=TK10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364" y="1684782"/>
            <a:ext cx="114300" cy="219963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4744973" y="1938527"/>
            <a:ext cx="868044" cy="114300"/>
          </a:xfrm>
          <a:custGeom>
            <a:avLst/>
            <a:gdLst/>
            <a:ahLst/>
            <a:cxnLst/>
            <a:rect l="l" t="t" r="r" b="b"/>
            <a:pathLst>
              <a:path w="868045" h="114300">
                <a:moveTo>
                  <a:pt x="753745" y="0"/>
                </a:moveTo>
                <a:lnTo>
                  <a:pt x="753745" y="114300"/>
                </a:lnTo>
                <a:lnTo>
                  <a:pt x="829945" y="76200"/>
                </a:lnTo>
                <a:lnTo>
                  <a:pt x="772795" y="76200"/>
                </a:lnTo>
                <a:lnTo>
                  <a:pt x="772795" y="38100"/>
                </a:lnTo>
                <a:lnTo>
                  <a:pt x="829945" y="38100"/>
                </a:lnTo>
                <a:lnTo>
                  <a:pt x="753745" y="0"/>
                </a:lnTo>
                <a:close/>
              </a:path>
              <a:path w="868045" h="114300">
                <a:moveTo>
                  <a:pt x="75374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53745" y="76200"/>
                </a:lnTo>
                <a:lnTo>
                  <a:pt x="753745" y="38100"/>
                </a:lnTo>
                <a:close/>
              </a:path>
              <a:path w="868045" h="114300">
                <a:moveTo>
                  <a:pt x="829945" y="38100"/>
                </a:moveTo>
                <a:lnTo>
                  <a:pt x="772795" y="38100"/>
                </a:lnTo>
                <a:lnTo>
                  <a:pt x="772795" y="76200"/>
                </a:lnTo>
                <a:lnTo>
                  <a:pt x="829945" y="76200"/>
                </a:lnTo>
                <a:lnTo>
                  <a:pt x="868045" y="57150"/>
                </a:lnTo>
                <a:lnTo>
                  <a:pt x="829945" y="38100"/>
                </a:lnTo>
                <a:close/>
              </a:path>
            </a:pathLst>
          </a:custGeom>
          <a:solidFill>
            <a:srgbClr val="C09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67196" y="1882902"/>
            <a:ext cx="3154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Run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ahoma"/>
                <a:cs typeface="Tahoma"/>
              </a:rPr>
              <a:t>backpropagation</a:t>
            </a:r>
            <a:r>
              <a:rPr sz="1200" b="1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update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weights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20032" y="1882902"/>
            <a:ext cx="342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ahoma"/>
                <a:cs typeface="Tahoma"/>
              </a:rPr>
              <a:t>Loss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36364" y="2134361"/>
            <a:ext cx="114300" cy="379095"/>
          </a:xfrm>
          <a:custGeom>
            <a:avLst/>
            <a:gdLst/>
            <a:ahLst/>
            <a:cxnLst/>
            <a:rect l="l" t="t" r="r" b="b"/>
            <a:pathLst>
              <a:path w="114300" h="379094">
                <a:moveTo>
                  <a:pt x="76200" y="95250"/>
                </a:moveTo>
                <a:lnTo>
                  <a:pt x="38100" y="95250"/>
                </a:lnTo>
                <a:lnTo>
                  <a:pt x="38100" y="379095"/>
                </a:lnTo>
                <a:lnTo>
                  <a:pt x="76200" y="379095"/>
                </a:lnTo>
                <a:lnTo>
                  <a:pt x="76200" y="95250"/>
                </a:lnTo>
                <a:close/>
              </a:path>
              <a:path w="114300" h="37909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7909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754618" y="6676267"/>
            <a:ext cx="269621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Tahoma"/>
                <a:cs typeface="Tahoma"/>
              </a:rPr>
              <a:t>Umar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Jamil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125" dirty="0">
                <a:latin typeface="Tahoma"/>
                <a:cs typeface="Tahoma"/>
              </a:rPr>
              <a:t>–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u="sng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https://github.com/hkproj/bert-from-</a:t>
            </a:r>
            <a:r>
              <a:rPr sz="800" u="sng" spc="-10" dirty="0">
                <a:solidFill>
                  <a:srgbClr val="E40CBB"/>
                </a:solidFill>
                <a:uFill>
                  <a:solidFill>
                    <a:srgbClr val="E40CBB"/>
                  </a:solidFill>
                </a:uFill>
                <a:latin typeface="Tahoma"/>
                <a:cs typeface="Tahoma"/>
                <a:hlinkClick r:id="rId4"/>
              </a:rPr>
              <a:t>scratch</a:t>
            </a:r>
            <a:endParaRPr sz="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752448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48C440-7248-439D-4C1D-6DE854AD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A3A3-F530-4E0F-9147-19DD99CD8F7A}" type="datetime1">
              <a:rPr lang="en-US" smtClean="0"/>
              <a:t>5/12/2025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1868B01-A238-28CE-FF65-2203CBB0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5BDC08-D3C1-314C-1099-BB96F964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990600" y="405267"/>
            <a:ext cx="10972800" cy="1115772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marL="7701">
              <a:spcBef>
                <a:spcPts val="61"/>
              </a:spcBef>
              <a:tabLst>
                <a:tab pos="3563382" algn="l"/>
                <a:tab pos="11157614" algn="l"/>
              </a:tabLst>
            </a:pPr>
            <a:r>
              <a:rPr lang="en-US" u="heavy" dirty="0">
                <a:uFill>
                  <a:solidFill>
                    <a:srgbClr val="DE6A10"/>
                  </a:solidFill>
                </a:uFill>
                <a:latin typeface="Times New Roman"/>
                <a:cs typeface="Times New Roman"/>
              </a:rPr>
              <a:t>	</a:t>
            </a:r>
            <a:r>
              <a:rPr lang="en-US" u="heavy" dirty="0">
                <a:uFill>
                  <a:solidFill>
                    <a:srgbClr val="DE6A10"/>
                  </a:solidFill>
                </a:uFill>
              </a:rPr>
              <a:t>Next</a:t>
            </a:r>
            <a:r>
              <a:rPr lang="en-US" u="heavy" spc="-143" dirty="0">
                <a:uFill>
                  <a:solidFill>
                    <a:srgbClr val="DE6A10"/>
                  </a:solidFill>
                </a:uFill>
              </a:rPr>
              <a:t> </a:t>
            </a:r>
            <a:r>
              <a:rPr lang="en-US" u="heavy" dirty="0">
                <a:uFill>
                  <a:solidFill>
                    <a:srgbClr val="DE6A10"/>
                  </a:solidFill>
                </a:uFill>
              </a:rPr>
              <a:t>“Sentence” prediction 	</a:t>
            </a:r>
            <a:endParaRPr u="heavy" dirty="0">
              <a:uFill>
                <a:solidFill>
                  <a:srgbClr val="DE6A10"/>
                </a:solidFill>
              </a:u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766" y="4257650"/>
            <a:ext cx="6383587" cy="18497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5293" y="1033625"/>
            <a:ext cx="5588827" cy="4103917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273395" marR="293804" indent="-266079">
              <a:lnSpc>
                <a:spcPts val="3547"/>
              </a:lnSpc>
              <a:spcBef>
                <a:spcPts val="121"/>
              </a:spcBef>
              <a:buClr>
                <a:srgbClr val="BD5B0C"/>
              </a:buClr>
              <a:buFont typeface="Microsoft Sans Serif"/>
              <a:buChar char="‣"/>
              <a:tabLst>
                <a:tab pos="274166" algn="l"/>
              </a:tabLst>
            </a:pPr>
            <a:r>
              <a:rPr sz="2880" dirty="0">
                <a:latin typeface="Calibri"/>
                <a:cs typeface="Calibri"/>
              </a:rPr>
              <a:t>BERT</a:t>
            </a:r>
            <a:r>
              <a:rPr sz="2880" spc="-33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Base:</a:t>
            </a:r>
            <a:r>
              <a:rPr sz="2880" spc="-30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12</a:t>
            </a:r>
            <a:r>
              <a:rPr sz="2880" spc="-30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layers,</a:t>
            </a:r>
            <a:r>
              <a:rPr sz="2880" spc="-30" dirty="0">
                <a:latin typeface="Calibri"/>
                <a:cs typeface="Calibri"/>
              </a:rPr>
              <a:t> </a:t>
            </a:r>
            <a:r>
              <a:rPr sz="2880" spc="-6" dirty="0">
                <a:latin typeface="Calibri"/>
                <a:cs typeface="Calibri"/>
              </a:rPr>
              <a:t>768-</a:t>
            </a:r>
            <a:r>
              <a:rPr sz="2880" dirty="0">
                <a:latin typeface="Calibri"/>
                <a:cs typeface="Calibri"/>
              </a:rPr>
              <a:t>dim,</a:t>
            </a:r>
            <a:r>
              <a:rPr sz="2880" spc="-30" dirty="0">
                <a:latin typeface="Calibri"/>
                <a:cs typeface="Calibri"/>
              </a:rPr>
              <a:t> </a:t>
            </a:r>
            <a:r>
              <a:rPr sz="2880" spc="-15" dirty="0">
                <a:latin typeface="Calibri"/>
                <a:cs typeface="Calibri"/>
              </a:rPr>
              <a:t>12 	</a:t>
            </a:r>
            <a:r>
              <a:rPr sz="2880" dirty="0">
                <a:latin typeface="Calibri"/>
                <a:cs typeface="Calibri"/>
              </a:rPr>
              <a:t>heads.</a:t>
            </a:r>
            <a:r>
              <a:rPr sz="2880" spc="-49" dirty="0">
                <a:latin typeface="Calibri"/>
                <a:cs typeface="Calibri"/>
              </a:rPr>
              <a:t> </a:t>
            </a:r>
            <a:r>
              <a:rPr sz="2880" spc="-39" dirty="0">
                <a:latin typeface="Calibri"/>
                <a:cs typeface="Calibri"/>
              </a:rPr>
              <a:t>Total </a:t>
            </a:r>
            <a:r>
              <a:rPr sz="2880" dirty="0">
                <a:latin typeface="Calibri"/>
                <a:cs typeface="Calibri"/>
              </a:rPr>
              <a:t>params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=</a:t>
            </a:r>
            <a:r>
              <a:rPr sz="2880" spc="-39" dirty="0">
                <a:latin typeface="Calibri"/>
                <a:cs typeface="Calibri"/>
              </a:rPr>
              <a:t> </a:t>
            </a:r>
            <a:r>
              <a:rPr sz="2880" spc="-12" dirty="0">
                <a:latin typeface="Calibri"/>
                <a:cs typeface="Calibri"/>
              </a:rPr>
              <a:t>110M</a:t>
            </a:r>
            <a:endParaRPr sz="2880" dirty="0">
              <a:latin typeface="Calibri"/>
              <a:cs typeface="Calibri"/>
            </a:endParaRPr>
          </a:p>
          <a:p>
            <a:pPr>
              <a:spcBef>
                <a:spcPts val="152"/>
              </a:spcBef>
              <a:buClr>
                <a:srgbClr val="BD5B0C"/>
              </a:buClr>
              <a:buFont typeface="Microsoft Sans Serif"/>
              <a:buChar char="‣"/>
            </a:pPr>
            <a:endParaRPr sz="2880" dirty="0">
              <a:latin typeface="Calibri"/>
              <a:cs typeface="Calibri"/>
            </a:endParaRPr>
          </a:p>
          <a:p>
            <a:pPr marL="273395" marR="3081" indent="-266079">
              <a:lnSpc>
                <a:spcPct val="102699"/>
              </a:lnSpc>
              <a:buClr>
                <a:srgbClr val="BD5B0C"/>
              </a:buClr>
              <a:buFont typeface="Microsoft Sans Serif"/>
              <a:buChar char="‣"/>
              <a:tabLst>
                <a:tab pos="274166" algn="l"/>
              </a:tabLst>
            </a:pPr>
            <a:r>
              <a:rPr sz="2880" dirty="0">
                <a:latin typeface="Calibri"/>
                <a:cs typeface="Calibri"/>
              </a:rPr>
              <a:t>BERT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Large: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24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layers,</a:t>
            </a:r>
            <a:r>
              <a:rPr sz="2880" spc="-39" dirty="0">
                <a:latin typeface="Calibri"/>
                <a:cs typeface="Calibri"/>
              </a:rPr>
              <a:t> </a:t>
            </a:r>
            <a:r>
              <a:rPr sz="2880" spc="-6" dirty="0">
                <a:latin typeface="Calibri"/>
                <a:cs typeface="Calibri"/>
              </a:rPr>
              <a:t>1024-</a:t>
            </a:r>
            <a:r>
              <a:rPr sz="2880" dirty="0">
                <a:latin typeface="Calibri"/>
                <a:cs typeface="Calibri"/>
              </a:rPr>
              <a:t>dim,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spc="-15" dirty="0">
                <a:latin typeface="Calibri"/>
                <a:cs typeface="Calibri"/>
              </a:rPr>
              <a:t>16 	</a:t>
            </a:r>
            <a:r>
              <a:rPr sz="2880" dirty="0">
                <a:latin typeface="Calibri"/>
                <a:cs typeface="Calibri"/>
              </a:rPr>
              <a:t>heads.</a:t>
            </a:r>
            <a:r>
              <a:rPr sz="2880" spc="-49" dirty="0">
                <a:latin typeface="Calibri"/>
                <a:cs typeface="Calibri"/>
              </a:rPr>
              <a:t> </a:t>
            </a:r>
            <a:r>
              <a:rPr sz="2880" spc="-39" dirty="0">
                <a:latin typeface="Calibri"/>
                <a:cs typeface="Calibri"/>
              </a:rPr>
              <a:t>Total </a:t>
            </a:r>
            <a:r>
              <a:rPr sz="2880" dirty="0">
                <a:latin typeface="Calibri"/>
                <a:cs typeface="Calibri"/>
              </a:rPr>
              <a:t>params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=</a:t>
            </a:r>
            <a:r>
              <a:rPr sz="2880" spc="-39" dirty="0">
                <a:latin typeface="Calibri"/>
                <a:cs typeface="Calibri"/>
              </a:rPr>
              <a:t> </a:t>
            </a:r>
            <a:r>
              <a:rPr sz="2880" spc="-12" dirty="0">
                <a:latin typeface="Calibri"/>
                <a:cs typeface="Calibri"/>
              </a:rPr>
              <a:t>340M</a:t>
            </a:r>
            <a:endParaRPr sz="2880" dirty="0">
              <a:latin typeface="Calibri"/>
              <a:cs typeface="Calibri"/>
            </a:endParaRPr>
          </a:p>
          <a:p>
            <a:pPr>
              <a:spcBef>
                <a:spcPts val="133"/>
              </a:spcBef>
              <a:buClr>
                <a:srgbClr val="BD5B0C"/>
              </a:buClr>
              <a:buFont typeface="Microsoft Sans Serif"/>
              <a:buChar char="‣"/>
            </a:pPr>
            <a:endParaRPr sz="2880" dirty="0">
              <a:latin typeface="Calibri"/>
              <a:cs typeface="Calibri"/>
            </a:endParaRPr>
          </a:p>
          <a:p>
            <a:pPr marL="273395" marR="1283803" indent="-266079" algn="just">
              <a:lnSpc>
                <a:spcPct val="102699"/>
              </a:lnSpc>
              <a:buClr>
                <a:srgbClr val="BD5B0C"/>
              </a:buClr>
              <a:buFont typeface="Microsoft Sans Serif"/>
              <a:buChar char="‣"/>
              <a:tabLst>
                <a:tab pos="274166" algn="l"/>
              </a:tabLst>
            </a:pPr>
            <a:r>
              <a:rPr sz="2880" dirty="0">
                <a:latin typeface="Calibri"/>
                <a:cs typeface="Calibri"/>
              </a:rPr>
              <a:t>Positional</a:t>
            </a:r>
            <a:r>
              <a:rPr sz="2880" spc="-45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embeddings</a:t>
            </a:r>
            <a:r>
              <a:rPr sz="2880" spc="-45" dirty="0">
                <a:latin typeface="Calibri"/>
                <a:cs typeface="Calibri"/>
              </a:rPr>
              <a:t> </a:t>
            </a:r>
            <a:r>
              <a:rPr sz="2880" spc="-15" dirty="0">
                <a:latin typeface="Calibri"/>
                <a:cs typeface="Calibri"/>
              </a:rPr>
              <a:t>and 	</a:t>
            </a:r>
            <a:r>
              <a:rPr sz="2880" dirty="0">
                <a:latin typeface="Calibri"/>
                <a:cs typeface="Calibri"/>
              </a:rPr>
              <a:t>segment</a:t>
            </a:r>
            <a:r>
              <a:rPr sz="2880" spc="-18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embeddings,</a:t>
            </a:r>
            <a:r>
              <a:rPr sz="2880" spc="-15" dirty="0">
                <a:latin typeface="Calibri"/>
                <a:cs typeface="Calibri"/>
              </a:rPr>
              <a:t> 30k 	</a:t>
            </a:r>
            <a:r>
              <a:rPr sz="2880" dirty="0">
                <a:latin typeface="Calibri"/>
                <a:cs typeface="Calibri"/>
              </a:rPr>
              <a:t>word</a:t>
            </a:r>
            <a:r>
              <a:rPr sz="2880" spc="-58" dirty="0">
                <a:latin typeface="Calibri"/>
                <a:cs typeface="Calibri"/>
              </a:rPr>
              <a:t> </a:t>
            </a:r>
            <a:r>
              <a:rPr sz="2880" spc="-6" dirty="0">
                <a:latin typeface="Calibri"/>
                <a:cs typeface="Calibri"/>
              </a:rPr>
              <a:t>pieces</a:t>
            </a:r>
            <a:endParaRPr sz="288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2229" y="1146639"/>
            <a:ext cx="3440109" cy="292652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5293" y="5598955"/>
            <a:ext cx="4649655" cy="909330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73780" indent="-266079">
              <a:spcBef>
                <a:spcPts val="79"/>
              </a:spcBef>
              <a:buClr>
                <a:srgbClr val="BD5B0C"/>
              </a:buClr>
              <a:buFont typeface="Microsoft Sans Serif"/>
              <a:buChar char="‣"/>
              <a:tabLst>
                <a:tab pos="273780" algn="l"/>
              </a:tabLst>
            </a:pPr>
            <a:r>
              <a:rPr sz="2880" dirty="0">
                <a:latin typeface="Calibri"/>
                <a:cs typeface="Calibri"/>
              </a:rPr>
              <a:t>This</a:t>
            </a:r>
            <a:r>
              <a:rPr sz="2880" spc="-6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is</a:t>
            </a:r>
            <a:r>
              <a:rPr sz="2880" spc="-6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the</a:t>
            </a:r>
            <a:r>
              <a:rPr sz="2880" spc="-3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model</a:t>
            </a:r>
            <a:r>
              <a:rPr sz="2880" spc="-6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that</a:t>
            </a:r>
            <a:r>
              <a:rPr sz="2880" spc="-3" dirty="0">
                <a:latin typeface="Calibri"/>
                <a:cs typeface="Calibri"/>
              </a:rPr>
              <a:t> </a:t>
            </a:r>
            <a:r>
              <a:rPr sz="2880" spc="-12" dirty="0">
                <a:latin typeface="Calibri"/>
                <a:cs typeface="Calibri"/>
              </a:rPr>
              <a:t>gets</a:t>
            </a:r>
            <a:endParaRPr sz="2880" dirty="0">
              <a:latin typeface="Calibri"/>
              <a:cs typeface="Calibri"/>
            </a:endParaRPr>
          </a:p>
          <a:p>
            <a:pPr marL="274166">
              <a:spcBef>
                <a:spcPts val="94"/>
              </a:spcBef>
            </a:pPr>
            <a:r>
              <a:rPr sz="2880" b="1" spc="-9" dirty="0">
                <a:latin typeface="Calibri"/>
                <a:cs typeface="Calibri"/>
              </a:rPr>
              <a:t>pre-</a:t>
            </a:r>
            <a:r>
              <a:rPr sz="2880" b="1" dirty="0">
                <a:latin typeface="Calibri"/>
                <a:cs typeface="Calibri"/>
              </a:rPr>
              <a:t>trained</a:t>
            </a:r>
            <a:r>
              <a:rPr sz="2880" b="1" spc="-27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on</a:t>
            </a:r>
            <a:r>
              <a:rPr sz="2880" spc="-33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a</a:t>
            </a:r>
            <a:r>
              <a:rPr sz="2880" spc="-33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large</a:t>
            </a:r>
            <a:r>
              <a:rPr sz="2880" spc="-30" dirty="0">
                <a:latin typeface="Calibri"/>
                <a:cs typeface="Calibri"/>
              </a:rPr>
              <a:t> </a:t>
            </a:r>
            <a:r>
              <a:rPr sz="2880" spc="-6" dirty="0">
                <a:latin typeface="Calibri"/>
                <a:cs typeface="Calibri"/>
              </a:rPr>
              <a:t>corpus</a:t>
            </a:r>
            <a:endParaRPr sz="288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19429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105595"/>
            <a:ext cx="3879850" cy="5605780"/>
            <a:chOff x="8121507" y="1105595"/>
            <a:chExt cx="3879850" cy="5605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995" y="1105595"/>
              <a:ext cx="3809225" cy="56053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5" y="0"/>
                  </a:moveTo>
                  <a:lnTo>
                    <a:pt x="329299" y="0"/>
                  </a:lnTo>
                  <a:lnTo>
                    <a:pt x="280638" y="3570"/>
                  </a:lnTo>
                  <a:lnTo>
                    <a:pt x="234193" y="13942"/>
                  </a:lnTo>
                  <a:lnTo>
                    <a:pt x="190475" y="30606"/>
                  </a:lnTo>
                  <a:lnTo>
                    <a:pt x="149992" y="53052"/>
                  </a:lnTo>
                  <a:lnTo>
                    <a:pt x="113255" y="80771"/>
                  </a:lnTo>
                  <a:lnTo>
                    <a:pt x="80771" y="113255"/>
                  </a:lnTo>
                  <a:lnTo>
                    <a:pt x="53052" y="149992"/>
                  </a:lnTo>
                  <a:lnTo>
                    <a:pt x="30606" y="190475"/>
                  </a:lnTo>
                  <a:lnTo>
                    <a:pt x="13942" y="234193"/>
                  </a:lnTo>
                  <a:lnTo>
                    <a:pt x="3570" y="280638"/>
                  </a:lnTo>
                  <a:lnTo>
                    <a:pt x="0" y="329299"/>
                  </a:lnTo>
                  <a:lnTo>
                    <a:pt x="0" y="2854773"/>
                  </a:lnTo>
                  <a:lnTo>
                    <a:pt x="3570" y="2903434"/>
                  </a:lnTo>
                  <a:lnTo>
                    <a:pt x="13942" y="2949879"/>
                  </a:lnTo>
                  <a:lnTo>
                    <a:pt x="30606" y="2993597"/>
                  </a:lnTo>
                  <a:lnTo>
                    <a:pt x="53052" y="3034080"/>
                  </a:lnTo>
                  <a:lnTo>
                    <a:pt x="80771" y="3070818"/>
                  </a:lnTo>
                  <a:lnTo>
                    <a:pt x="113255" y="3103301"/>
                  </a:lnTo>
                  <a:lnTo>
                    <a:pt x="149992" y="3131020"/>
                  </a:lnTo>
                  <a:lnTo>
                    <a:pt x="190475" y="3153467"/>
                  </a:lnTo>
                  <a:lnTo>
                    <a:pt x="234193" y="3170130"/>
                  </a:lnTo>
                  <a:lnTo>
                    <a:pt x="280638" y="3180502"/>
                  </a:lnTo>
                  <a:lnTo>
                    <a:pt x="329299" y="3184073"/>
                  </a:lnTo>
                  <a:lnTo>
                    <a:pt x="1646455" y="3184073"/>
                  </a:lnTo>
                  <a:lnTo>
                    <a:pt x="1695117" y="3180502"/>
                  </a:lnTo>
                  <a:lnTo>
                    <a:pt x="1741562" y="3170130"/>
                  </a:lnTo>
                  <a:lnTo>
                    <a:pt x="1785280" y="3153467"/>
                  </a:lnTo>
                  <a:lnTo>
                    <a:pt x="1825763" y="3131020"/>
                  </a:lnTo>
                  <a:lnTo>
                    <a:pt x="1862500" y="3103301"/>
                  </a:lnTo>
                  <a:lnTo>
                    <a:pt x="1894984" y="3070818"/>
                  </a:lnTo>
                  <a:lnTo>
                    <a:pt x="1922703" y="3034080"/>
                  </a:lnTo>
                  <a:lnTo>
                    <a:pt x="1945149" y="2993597"/>
                  </a:lnTo>
                  <a:lnTo>
                    <a:pt x="1961813" y="2949879"/>
                  </a:lnTo>
                  <a:lnTo>
                    <a:pt x="1972185" y="2903434"/>
                  </a:lnTo>
                  <a:lnTo>
                    <a:pt x="1975755" y="2854773"/>
                  </a:lnTo>
                  <a:lnTo>
                    <a:pt x="1975755" y="329299"/>
                  </a:lnTo>
                  <a:lnTo>
                    <a:pt x="1972185" y="280638"/>
                  </a:lnTo>
                  <a:lnTo>
                    <a:pt x="1961813" y="234193"/>
                  </a:lnTo>
                  <a:lnTo>
                    <a:pt x="1945149" y="190475"/>
                  </a:lnTo>
                  <a:lnTo>
                    <a:pt x="1922703" y="149992"/>
                  </a:lnTo>
                  <a:lnTo>
                    <a:pt x="1894984" y="113255"/>
                  </a:lnTo>
                  <a:lnTo>
                    <a:pt x="1862500" y="80771"/>
                  </a:lnTo>
                  <a:lnTo>
                    <a:pt x="1825763" y="53052"/>
                  </a:lnTo>
                  <a:lnTo>
                    <a:pt x="1785280" y="30606"/>
                  </a:lnTo>
                  <a:lnTo>
                    <a:pt x="1741562" y="13942"/>
                  </a:lnTo>
                  <a:lnTo>
                    <a:pt x="1695117" y="3570"/>
                  </a:lnTo>
                  <a:lnTo>
                    <a:pt x="1646455" y="0"/>
                  </a:lnTo>
                  <a:close/>
                </a:path>
              </a:pathLst>
            </a:custGeom>
            <a:solidFill>
              <a:srgbClr val="FFE699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5117" y="3570"/>
                  </a:lnTo>
                  <a:lnTo>
                    <a:pt x="1741562" y="13942"/>
                  </a:lnTo>
                  <a:lnTo>
                    <a:pt x="1785280" y="30605"/>
                  </a:lnTo>
                  <a:lnTo>
                    <a:pt x="1825763" y="53052"/>
                  </a:lnTo>
                  <a:lnTo>
                    <a:pt x="1862500" y="80771"/>
                  </a:lnTo>
                  <a:lnTo>
                    <a:pt x="1894984" y="113254"/>
                  </a:lnTo>
                  <a:lnTo>
                    <a:pt x="1922703" y="149992"/>
                  </a:lnTo>
                  <a:lnTo>
                    <a:pt x="1945149" y="190475"/>
                  </a:lnTo>
                  <a:lnTo>
                    <a:pt x="1961813" y="234193"/>
                  </a:lnTo>
                  <a:lnTo>
                    <a:pt x="1972185" y="280637"/>
                  </a:lnTo>
                  <a:lnTo>
                    <a:pt x="1975756" y="329299"/>
                  </a:lnTo>
                  <a:lnTo>
                    <a:pt x="1975756" y="2854774"/>
                  </a:lnTo>
                  <a:lnTo>
                    <a:pt x="1972185" y="2903435"/>
                  </a:lnTo>
                  <a:lnTo>
                    <a:pt x="1961813" y="2949880"/>
                  </a:lnTo>
                  <a:lnTo>
                    <a:pt x="1945149" y="2993598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0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3"/>
                  </a:lnTo>
                  <a:lnTo>
                    <a:pt x="329299" y="3184073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8"/>
                  </a:lnTo>
                  <a:lnTo>
                    <a:pt x="13942" y="2949880"/>
                  </a:lnTo>
                  <a:lnTo>
                    <a:pt x="3570" y="2903435"/>
                  </a:lnTo>
                  <a:lnTo>
                    <a:pt x="0" y="2854774"/>
                  </a:lnTo>
                  <a:lnTo>
                    <a:pt x="0" y="3292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CA52F4D-D7AE-EBA5-06AE-177035BC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29089-8336-49A6-9870-9AA65A202C16}" type="datetime1">
              <a:rPr lang="en-US" smtClean="0"/>
              <a:t>5/12/2025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F6F7927-177B-BBF6-EFC9-E178176B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6055A49-C381-5CF3-EDED-DAB70972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-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Bidirectional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Encoder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81195" y="339623"/>
            <a:ext cx="3102610" cy="558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20"/>
              </a:lnSpc>
            </a:pPr>
            <a:r>
              <a:rPr sz="3600" b="1" spc="-10" dirty="0">
                <a:latin typeface="Calibri"/>
                <a:cs typeface="Calibri"/>
              </a:rPr>
              <a:t>Representations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641" y="1544828"/>
            <a:ext cx="674624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Calibri"/>
                <a:cs typeface="Calibri"/>
              </a:rPr>
              <a:t>BERT</a:t>
            </a:r>
            <a:r>
              <a:rPr sz="2400" b="1" spc="-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42424"/>
                </a:solidFill>
                <a:latin typeface="Calibri"/>
                <a:cs typeface="Calibri"/>
              </a:rPr>
              <a:t>Evaluation: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General</a:t>
            </a:r>
            <a:r>
              <a:rPr sz="2400" spc="-8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Language</a:t>
            </a:r>
            <a:r>
              <a:rPr sz="2400" spc="-5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Understanding</a:t>
            </a:r>
            <a:r>
              <a:rPr sz="2400" spc="-6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Evaluation</a:t>
            </a:r>
            <a:r>
              <a:rPr sz="2400" spc="-6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(GLUE)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Sentence</a:t>
            </a:r>
            <a:r>
              <a:rPr sz="2400" spc="-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pair</a:t>
            </a:r>
            <a:r>
              <a:rPr sz="2400" spc="-3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42424"/>
                </a:solidFill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812165" algn="l"/>
                <a:tab pos="812800" algn="l"/>
              </a:tabLst>
            </a:pP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Single</a:t>
            </a:r>
            <a:r>
              <a:rPr sz="2400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sentence</a:t>
            </a:r>
            <a:r>
              <a:rPr sz="2400" spc="-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classification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242424"/>
              </a:buClr>
              <a:buFont typeface="Arial MT"/>
              <a:buChar char="•"/>
            </a:pP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Standford</a:t>
            </a:r>
            <a:r>
              <a:rPr sz="2400" spc="-9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Question</a:t>
            </a:r>
            <a:r>
              <a:rPr sz="2400" spc="-8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Answering</a:t>
            </a:r>
            <a:r>
              <a:rPr sz="2400" spc="-8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42424"/>
                </a:solidFill>
                <a:latin typeface="Calibri"/>
                <a:cs typeface="Calibri"/>
              </a:rPr>
              <a:t>Dataset</a:t>
            </a:r>
            <a:r>
              <a:rPr sz="2400" spc="-8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Calibri"/>
                <a:cs typeface="Calibri"/>
              </a:rPr>
              <a:t>(SQuAD)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F20B540-9BA0-C6D4-AAA6-2FC921F5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A01F4-C980-11DB-5C9B-94D2C42D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6C86-0DEA-4480-9F33-1B5827515822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F162F-2A3E-28AB-DAA6-CE8135DA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EBD34-962D-CF97-1754-37299DA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marL="7701">
              <a:spcBef>
                <a:spcPts val="61"/>
              </a:spcBef>
              <a:tabLst>
                <a:tab pos="3391644" algn="l"/>
                <a:tab pos="11157614" algn="l"/>
              </a:tabLst>
            </a:pPr>
            <a:r>
              <a:rPr u="heavy" dirty="0">
                <a:uFill>
                  <a:solidFill>
                    <a:srgbClr val="DE6A10"/>
                  </a:solidFill>
                </a:uFill>
                <a:latin typeface="Times New Roman"/>
                <a:cs typeface="Times New Roman"/>
              </a:rPr>
              <a:t>	</a:t>
            </a:r>
            <a:r>
              <a:rPr u="heavy" dirty="0">
                <a:uFill>
                  <a:solidFill>
                    <a:srgbClr val="DE6A10"/>
                  </a:solidFill>
                </a:uFill>
              </a:rPr>
              <a:t>What</a:t>
            </a:r>
            <a:r>
              <a:rPr u="heavy" spc="-115" dirty="0">
                <a:uFill>
                  <a:solidFill>
                    <a:srgbClr val="DE6A1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DE6A10"/>
                  </a:solidFill>
                </a:uFill>
              </a:rPr>
              <a:t>can</a:t>
            </a:r>
            <a:r>
              <a:rPr u="heavy" spc="-115" dirty="0">
                <a:uFill>
                  <a:solidFill>
                    <a:srgbClr val="DE6A1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DE6A10"/>
                  </a:solidFill>
                </a:uFill>
              </a:rPr>
              <a:t>BERT</a:t>
            </a:r>
            <a:r>
              <a:rPr u="heavy" spc="-115" dirty="0">
                <a:uFill>
                  <a:solidFill>
                    <a:srgbClr val="DE6A10"/>
                  </a:solidFill>
                </a:uFill>
              </a:rPr>
              <a:t> </a:t>
            </a:r>
            <a:r>
              <a:rPr u="heavy" spc="-15" dirty="0">
                <a:uFill>
                  <a:solidFill>
                    <a:srgbClr val="DE6A10"/>
                  </a:solidFill>
                </a:uFill>
              </a:rPr>
              <a:t>do?</a:t>
            </a:r>
            <a:r>
              <a:rPr u="heavy" dirty="0">
                <a:uFill>
                  <a:solidFill>
                    <a:srgbClr val="DE6A10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691" y="4707477"/>
            <a:ext cx="11624714" cy="1649300"/>
          </a:xfrm>
          <a:prstGeom prst="rect">
            <a:avLst/>
          </a:prstGeom>
        </p:spPr>
        <p:txBody>
          <a:bodyPr vert="horz" wrap="square" lIns="0" tIns="120525" rIns="0" bIns="0" rtlCol="0">
            <a:spAutoFit/>
          </a:bodyPr>
          <a:lstStyle/>
          <a:p>
            <a:pPr marL="273780" indent="-266079">
              <a:spcBef>
                <a:spcPts val="949"/>
              </a:spcBef>
              <a:buClr>
                <a:srgbClr val="BD5B0C"/>
              </a:buClr>
              <a:buFont typeface="Microsoft Sans Serif"/>
              <a:buChar char="‣"/>
              <a:tabLst>
                <a:tab pos="273780" algn="l"/>
              </a:tabLst>
            </a:pPr>
            <a:r>
              <a:rPr sz="2880" dirty="0">
                <a:latin typeface="Calibri"/>
                <a:cs typeface="Calibri"/>
              </a:rPr>
              <a:t>CLS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token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is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used</a:t>
            </a:r>
            <a:r>
              <a:rPr sz="2880" spc="-39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to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provide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classification</a:t>
            </a:r>
            <a:r>
              <a:rPr sz="2880" spc="-42" dirty="0">
                <a:latin typeface="Calibri"/>
                <a:cs typeface="Calibri"/>
              </a:rPr>
              <a:t> </a:t>
            </a:r>
            <a:r>
              <a:rPr sz="2880" spc="-6" dirty="0">
                <a:latin typeface="Calibri"/>
                <a:cs typeface="Calibri"/>
              </a:rPr>
              <a:t>decisions</a:t>
            </a:r>
            <a:endParaRPr sz="2880" dirty="0">
              <a:latin typeface="Calibri"/>
              <a:cs typeface="Calibri"/>
            </a:endParaRPr>
          </a:p>
          <a:p>
            <a:pPr marL="273780" indent="-266079">
              <a:spcBef>
                <a:spcPts val="894"/>
              </a:spcBef>
              <a:buClr>
                <a:srgbClr val="BD5B0C"/>
              </a:buClr>
              <a:buFont typeface="Microsoft Sans Serif"/>
              <a:buChar char="‣"/>
              <a:tabLst>
                <a:tab pos="273780" algn="l"/>
              </a:tabLst>
            </a:pPr>
            <a:r>
              <a:rPr sz="2880" dirty="0">
                <a:latin typeface="Calibri"/>
                <a:cs typeface="Calibri"/>
              </a:rPr>
              <a:t>Sentence</a:t>
            </a:r>
            <a:r>
              <a:rPr sz="2880" spc="-5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pair</a:t>
            </a:r>
            <a:r>
              <a:rPr sz="2880" spc="-5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tasks</a:t>
            </a:r>
            <a:r>
              <a:rPr sz="2880" spc="-5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(entailment):</a:t>
            </a:r>
            <a:r>
              <a:rPr sz="2880" spc="-49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feed</a:t>
            </a:r>
            <a:r>
              <a:rPr sz="2880" spc="-5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both</a:t>
            </a:r>
            <a:r>
              <a:rPr sz="2880" spc="-52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sentences</a:t>
            </a:r>
            <a:r>
              <a:rPr sz="2880" spc="-49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into</a:t>
            </a:r>
            <a:r>
              <a:rPr sz="2880" spc="-52" dirty="0">
                <a:latin typeface="Calibri"/>
                <a:cs typeface="Calibri"/>
              </a:rPr>
              <a:t> </a:t>
            </a:r>
            <a:r>
              <a:rPr sz="2880" spc="-12" dirty="0">
                <a:latin typeface="Calibri"/>
                <a:cs typeface="Calibri"/>
              </a:rPr>
              <a:t>BERT</a:t>
            </a:r>
            <a:endParaRPr sz="2880" dirty="0">
              <a:latin typeface="Calibri"/>
              <a:cs typeface="Calibri"/>
            </a:endParaRPr>
          </a:p>
          <a:p>
            <a:pPr marL="273780" indent="-266079">
              <a:lnSpc>
                <a:spcPts val="3129"/>
              </a:lnSpc>
              <a:spcBef>
                <a:spcPts val="1043"/>
              </a:spcBef>
              <a:buClr>
                <a:srgbClr val="BD5B0C"/>
              </a:buClr>
              <a:buFont typeface="Microsoft Sans Serif"/>
              <a:buChar char="‣"/>
              <a:tabLst>
                <a:tab pos="273780" algn="l"/>
              </a:tabLst>
            </a:pPr>
            <a:r>
              <a:rPr sz="2880" dirty="0">
                <a:latin typeface="Calibri"/>
                <a:cs typeface="Calibri"/>
              </a:rPr>
              <a:t>BERT</a:t>
            </a:r>
            <a:r>
              <a:rPr sz="2880" spc="-24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can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also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do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tagging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by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predicting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tags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at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each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dirty="0">
                <a:latin typeface="Calibri"/>
                <a:cs typeface="Calibri"/>
              </a:rPr>
              <a:t>word</a:t>
            </a:r>
            <a:r>
              <a:rPr sz="2880" spc="-21" dirty="0">
                <a:latin typeface="Calibri"/>
                <a:cs typeface="Calibri"/>
              </a:rPr>
              <a:t> </a:t>
            </a:r>
            <a:r>
              <a:rPr sz="2880" spc="-12" dirty="0">
                <a:latin typeface="Calibri"/>
                <a:cs typeface="Calibri"/>
              </a:rPr>
              <a:t>piece</a:t>
            </a:r>
            <a:endParaRPr sz="288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24" y="1194096"/>
            <a:ext cx="3055007" cy="32230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0098" y="1139271"/>
            <a:ext cx="3112247" cy="34960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3344" y="1224458"/>
            <a:ext cx="3199421" cy="329996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A2F6D2-0F11-7CF3-EF69-075703159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BERT: Pre-training of Deep Bidirectional Transformers for </a:t>
            </a:r>
            <a:r>
              <a:rPr lang="en-US"/>
              <a:t>Language Understanding, Jacob et al.</a:t>
            </a:r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2DE21-A28D-C265-CD95-18AF0ED7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698B-4F4B-4D4B-A812-7E842F21333D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20067B-511D-EE1D-D047-8DF0C8C1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508EF-6FDA-32DC-4A7A-805FAC0A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2D6B5E-630C-65FB-1D25-4BA8A280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6061220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A6B29-883E-F806-764B-A8E44F10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C71A-9885-4C0B-8279-66BC9BAFF9B3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287918-2095-CD15-4D7C-9CBCC5F1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EFCE0-A09C-6EA2-32E0-22C91ABD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45776</TotalTime>
  <Words>6310</Words>
  <Application>Microsoft Office PowerPoint</Application>
  <PresentationFormat>Widescreen</PresentationFormat>
  <Paragraphs>2112</Paragraphs>
  <Slides>63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81" baseType="lpstr">
      <vt:lpstr>Arial MT</vt:lpstr>
      <vt:lpstr>Google Sans</vt:lpstr>
      <vt:lpstr>Microsoft YaHei</vt:lpstr>
      <vt:lpstr>Söhne</vt:lpstr>
      <vt:lpstr>Arial</vt:lpstr>
      <vt:lpstr>Arial</vt:lpstr>
      <vt:lpstr>Calibri</vt:lpstr>
      <vt:lpstr>Cambria Math</vt:lpstr>
      <vt:lpstr>Courier New</vt:lpstr>
      <vt:lpstr>Helvetica</vt:lpstr>
      <vt:lpstr>Microsoft Sans Serif</vt:lpstr>
      <vt:lpstr>Segoe UI Symbol</vt:lpstr>
      <vt:lpstr>Tahoma</vt:lpstr>
      <vt:lpstr>Times New Roman</vt:lpstr>
      <vt:lpstr>Trebuchet MS</vt:lpstr>
      <vt:lpstr>Verdana</vt:lpstr>
      <vt:lpstr>Wingdings</vt:lpstr>
      <vt:lpstr>Office Theme</vt:lpstr>
      <vt:lpstr>PowerPoint Presentation</vt:lpstr>
      <vt:lpstr>Goals</vt:lpstr>
      <vt:lpstr>Recap of Previous Lecture</vt:lpstr>
      <vt:lpstr>Diffusion Parameters Noise Schedule</vt:lpstr>
      <vt:lpstr>Implementation Considerations Network Architectures</vt:lpstr>
      <vt:lpstr>Combined (LDM)</vt:lpstr>
      <vt:lpstr>Latent Diffusion Model</vt:lpstr>
      <vt:lpstr>Summary: Latent Diffusion Models</vt:lpstr>
      <vt:lpstr>Today’s Lecture</vt:lpstr>
      <vt:lpstr>What is a language model?</vt:lpstr>
      <vt:lpstr>Large Language Models (LLMs)</vt:lpstr>
      <vt:lpstr>Large Language Models (LLMs)</vt:lpstr>
      <vt:lpstr>Large Language Models (LLMs)</vt:lpstr>
      <vt:lpstr>How to train a language model?</vt:lpstr>
      <vt:lpstr>How to train a language model?</vt:lpstr>
      <vt:lpstr>Language Model Inference </vt:lpstr>
      <vt:lpstr>Language Model Inference </vt:lpstr>
      <vt:lpstr>Paradigm Shift in Machine Learning (LLM)</vt:lpstr>
      <vt:lpstr>Paradigm Shift in Machine Learning (LLM)</vt:lpstr>
      <vt:lpstr>Paradigm Shift in Machine Learning (LLM)</vt:lpstr>
      <vt:lpstr>Paradigm Shift in Machine Learning (LLM)</vt:lpstr>
      <vt:lpstr>Paradigm Shift in Machine Learning (LLM)</vt:lpstr>
      <vt:lpstr>Pre-training in NLP</vt:lpstr>
      <vt:lpstr>Contextual Representations</vt:lpstr>
      <vt:lpstr>History of Contextual Representations</vt:lpstr>
      <vt:lpstr>Problem with Previous Methods</vt:lpstr>
      <vt:lpstr>Unidirectional vs. Bidirectional Models</vt:lpstr>
      <vt:lpstr>Masked LM</vt:lpstr>
      <vt:lpstr>Masked LM</vt:lpstr>
      <vt:lpstr>Next Sentence Prediction</vt:lpstr>
      <vt:lpstr>Transformer Encoder architecture</vt:lpstr>
      <vt:lpstr>Let’s convert the input into Input Embeddings!</vt:lpstr>
      <vt:lpstr>Let’s add Positional Encodings!</vt:lpstr>
      <vt:lpstr>How to compute positional encodings?</vt:lpstr>
      <vt:lpstr>The self-attention mechanism: Q, K and V</vt:lpstr>
      <vt:lpstr>The self-attention mechanism</vt:lpstr>
      <vt:lpstr>The self-attention mechanism: the reason behind the causal mask</vt:lpstr>
      <vt:lpstr>Self-Attention mechanism: causal mask</vt:lpstr>
      <vt:lpstr>Tasks in GPT/LLaMA vs BERT</vt:lpstr>
      <vt:lpstr>BERT - Bidirectional Encoder</vt:lpstr>
      <vt:lpstr>BERT</vt:lpstr>
      <vt:lpstr>BERT - Bidirectional Encoder</vt:lpstr>
      <vt:lpstr>Left and right context in BERT</vt:lpstr>
      <vt:lpstr>BERT - Bidirectional Encoder</vt:lpstr>
      <vt:lpstr>BERT - Bidirectional Encoder</vt:lpstr>
      <vt:lpstr>Masked Language Model (MLM): training</vt:lpstr>
      <vt:lpstr>Next Sentence Prediction (NSP)</vt:lpstr>
      <vt:lpstr>Next Sentence Prediction (NSP): segmentation embedding</vt:lpstr>
      <vt:lpstr>Next Sentence Prediction (NSP): training</vt:lpstr>
      <vt:lpstr>[CLS] token in BERT</vt:lpstr>
      <vt:lpstr>[CLS] token: output sequence</vt:lpstr>
      <vt:lpstr>Fine-Tuning BERT</vt:lpstr>
      <vt:lpstr>Text Classification</vt:lpstr>
      <vt:lpstr>Text Classification: training</vt:lpstr>
      <vt:lpstr>Text Classification: training</vt:lpstr>
      <vt:lpstr>Question Answering</vt:lpstr>
      <vt:lpstr>Question Answering: sentence A and B</vt:lpstr>
      <vt:lpstr>Question Answering: start and end positions</vt:lpstr>
      <vt:lpstr> Next “Sentence” prediction  </vt:lpstr>
      <vt:lpstr>BERT - Bidirectional Encoder</vt:lpstr>
      <vt:lpstr> What can BERT do? 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2267</cp:revision>
  <dcterms:created xsi:type="dcterms:W3CDTF">2006-08-16T00:00:00Z</dcterms:created>
  <dcterms:modified xsi:type="dcterms:W3CDTF">2025-05-11T19:23:33Z</dcterms:modified>
</cp:coreProperties>
</file>