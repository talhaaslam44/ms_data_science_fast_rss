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53"/>
  </p:notesMasterIdLst>
  <p:sldIdLst>
    <p:sldId id="352" r:id="rId2"/>
    <p:sldId id="421" r:id="rId3"/>
    <p:sldId id="1756" r:id="rId4"/>
    <p:sldId id="1911" r:id="rId5"/>
    <p:sldId id="1909" r:id="rId6"/>
    <p:sldId id="1910" r:id="rId7"/>
    <p:sldId id="1885" r:id="rId8"/>
    <p:sldId id="259" r:id="rId9"/>
    <p:sldId id="1926" r:id="rId10"/>
    <p:sldId id="1927" r:id="rId11"/>
    <p:sldId id="260" r:id="rId12"/>
    <p:sldId id="1921" r:id="rId13"/>
    <p:sldId id="1928" r:id="rId14"/>
    <p:sldId id="1930" r:id="rId15"/>
    <p:sldId id="1922" r:id="rId16"/>
    <p:sldId id="1923" r:id="rId17"/>
    <p:sldId id="1924" r:id="rId18"/>
    <p:sldId id="1925" r:id="rId19"/>
    <p:sldId id="1929" r:id="rId20"/>
    <p:sldId id="1931" r:id="rId21"/>
    <p:sldId id="1932" r:id="rId22"/>
    <p:sldId id="1933" r:id="rId23"/>
    <p:sldId id="268" r:id="rId24"/>
    <p:sldId id="1934" r:id="rId25"/>
    <p:sldId id="1935" r:id="rId26"/>
    <p:sldId id="270" r:id="rId27"/>
    <p:sldId id="271" r:id="rId28"/>
    <p:sldId id="1936" r:id="rId29"/>
    <p:sldId id="273" r:id="rId30"/>
    <p:sldId id="282" r:id="rId31"/>
    <p:sldId id="1937" r:id="rId32"/>
    <p:sldId id="1938" r:id="rId33"/>
    <p:sldId id="1939" r:id="rId34"/>
    <p:sldId id="1940" r:id="rId35"/>
    <p:sldId id="1941" r:id="rId36"/>
    <p:sldId id="290" r:id="rId37"/>
    <p:sldId id="1942" r:id="rId38"/>
    <p:sldId id="286" r:id="rId39"/>
    <p:sldId id="287" r:id="rId40"/>
    <p:sldId id="288" r:id="rId41"/>
    <p:sldId id="1943" r:id="rId42"/>
    <p:sldId id="1944" r:id="rId43"/>
    <p:sldId id="1950" r:id="rId44"/>
    <p:sldId id="1945" r:id="rId45"/>
    <p:sldId id="1951" r:id="rId46"/>
    <p:sldId id="1948" r:id="rId47"/>
    <p:sldId id="1949" r:id="rId48"/>
    <p:sldId id="1946" r:id="rId49"/>
    <p:sldId id="1947" r:id="rId50"/>
    <p:sldId id="1952" r:id="rId51"/>
    <p:sldId id="1288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73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85961BE-E19B-4D79-84B6-BD0A21037312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F139-C05A-41BE-9FAA-A4273871B1F7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398E-24E4-4428-A180-5B735D8DDA5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9099-34FB-47A3-A03B-4814FF4EBEE9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6EC91-9920-4671-A5A6-FB8A438B6BDB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396FD-F3FA-4E0A-A9ED-DD69F6F1423A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46AD-55B6-4410-AE03-8BEA044F11BA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E289C-C92F-44FF-9CD9-B97038865AE3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F7C05-B8D4-4C3F-AD8B-5947C0BD771F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1DA1-A701-4CA0-B7B0-F3E07A03704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A685A46-9CE5-2E71-458E-D58628FA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356F49A3-4915-777C-6586-72FAD3D4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477000"/>
            <a:ext cx="2844800" cy="457200"/>
          </a:xfrm>
        </p:spPr>
        <p:txBody>
          <a:bodyPr/>
          <a:lstStyle/>
          <a:p>
            <a:fld id="{4A937CA4-7C03-4FC7-B5D5-06ACAA2BAD67}" type="datetime1">
              <a:rPr lang="en-US" smtClean="0"/>
              <a:t>12/3/2025</a:t>
            </a:fld>
            <a:endParaRPr lang="en-US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ACCDC0FC-05C1-AF7D-4BF0-79E9BAC7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77000"/>
            <a:ext cx="3860800" cy="457200"/>
          </a:xfrm>
        </p:spPr>
        <p:txBody>
          <a:bodyPr/>
          <a:lstStyle/>
          <a:p>
            <a:r>
              <a:rPr lang="en-US"/>
              <a:t>Presented by  Dr. Muhammad Nouman Noor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4ACDE6C-06C8-8939-CBF1-A3B8092A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77000"/>
            <a:ext cx="28448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8040C1A-B73C-F62E-85CD-604EA60AE4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1981200"/>
            <a:ext cx="10972800" cy="396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2770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DD39-AB26-FA03-871F-5AA4C6D5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591AB-9500-41F1-8A7F-D3FE4A5CB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C45-AE3A-4D53-845C-F9FDA08BD44E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BB018-EE1F-0594-9E75-81165201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2567A-9BC1-8143-8C65-4A9B55E4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D49CF1-C3C6-5137-940C-408E081C7F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1981200"/>
            <a:ext cx="10972800" cy="396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997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4C10-E4A8-BE40-8399-C57EADCB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B5100-66FD-E509-E260-A70682FE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7DB0-0D47-4652-879C-E79DF7D92E61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8FCFF-39A3-39FB-361F-72524D90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8C0BD-A0DA-23A0-CA05-C9390A86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2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FF90B16F-B237-41DC-AE0A-2E9EBA1EC59F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501901" y="2430404"/>
            <a:ext cx="7658099" cy="141234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Knowledge Distillation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00600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Artificial Intelligence and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700" y="4020186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AI-5004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6D3671-E154-B3DA-D836-8B1E297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3F5B3-F492-4204-9F8D-E3548788324A}" type="datetime1">
              <a:rPr lang="en-US" smtClean="0"/>
              <a:t>12/3/2025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B347CB-686B-83C4-DBEA-48C54528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7E803A-A619-3ACB-0639-B2041098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spc="-3" dirty="0"/>
              <a:t>Introduction to Knowledge Distillation</a:t>
            </a:r>
          </a:p>
          <a:p>
            <a:pPr lvl="1"/>
            <a:endParaRPr lang="en-US" sz="2400" spc="-3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882101-8825-B1AF-25AC-A42CBA88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0005-8225-493D-A435-94E4F1D3D3CC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5F800-3D41-BE6D-B17B-D178FBDC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8DCF9-FCA7-7BE3-78B3-2BD48C04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C1112-2EB9-5073-D93B-6A90261E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82DF-3AAE-4F30-89EB-981B38EC1773}" type="datetime1">
              <a:rPr lang="en-US" smtClean="0"/>
              <a:t>12/3/2025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E5F0BB-EE45-9217-8B6E-BB2A1989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3B8287-C7CF-A7FE-B07C-AA7E39B0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09900"/>
            <a:ext cx="10972800" cy="838200"/>
          </a:xfrm>
        </p:spPr>
        <p:txBody>
          <a:bodyPr/>
          <a:lstStyle/>
          <a:p>
            <a:r>
              <a:rPr lang="en-US" dirty="0"/>
              <a:t>Recap of 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62742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0E6308-31E4-78A0-AADF-2CDC3E34A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523999"/>
            <a:ext cx="6172200" cy="468377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FF4E-3BA1-CD07-D30B-F7B4EE60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CCDE-63D0-459A-BBBD-52A292F78AC1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D00ED-3DBD-2F69-549F-77BE910E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FF3C1-6053-EF2B-9332-A5E91312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1CF7EA-43D6-2DC4-C072-6CD49202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775284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8E625-61E2-7075-3A2E-5ED1F7445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4F13-500E-43B0-8283-1473EBF02625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F5D63-00AB-978F-5525-7CA8A5AF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BB459-26A3-115A-32BE-318886A1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22FC58-2A36-94B9-7896-F92F4F00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Evolution of Language Modeling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A61953-F710-BE3E-0E70-2667CB220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250063"/>
            <a:ext cx="10972800" cy="3226236"/>
          </a:xfrm>
        </p:spPr>
      </p:pic>
    </p:spTree>
    <p:extLst>
      <p:ext uri="{BB962C8B-B14F-4D97-AF65-F5344CB8AC3E}">
        <p14:creationId xmlns:p14="http://schemas.microsoft.com/office/powerpoint/2010/main" val="187932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1DC05-193C-245B-7CEF-D1EE6AFF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82B03-15DE-435A-B08F-385D43D55037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B27EE-CE75-5AAD-B83F-8F0DB64B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03C14-72D8-D1D8-4995-A13F708A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7F8F3F-AF89-FE26-3994-FE029A7D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Transformer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F316BD-BF60-6926-2C62-3E6D889C77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43" y="1600200"/>
            <a:ext cx="10051314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8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F1FA4-D24B-D414-C580-0DF04105A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9560-37D7-423B-BF7A-7D977151F20C}" type="datetime1">
              <a:rPr lang="en-US" smtClean="0"/>
              <a:t>12/3/2025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9F70559-E7EA-1CC3-350E-2CBFE8C4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3B2B01-6BE7-FF2D-CBA9-64BCAFAC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00400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2369611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spc="-103" dirty="0"/>
              <a:t>Challenge:</a:t>
            </a:r>
            <a:r>
              <a:rPr spc="-173" dirty="0"/>
              <a:t> </a:t>
            </a:r>
            <a:r>
              <a:rPr spc="-79" dirty="0"/>
              <a:t>limited</a:t>
            </a:r>
            <a:r>
              <a:rPr spc="-170" dirty="0"/>
              <a:t> </a:t>
            </a:r>
            <a:r>
              <a:rPr spc="-58" dirty="0"/>
              <a:t>hardware</a:t>
            </a:r>
            <a:r>
              <a:rPr spc="-170" dirty="0"/>
              <a:t> </a:t>
            </a:r>
            <a:r>
              <a:rPr spc="-94" dirty="0"/>
              <a:t>resources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9364663" y="10885488"/>
            <a:ext cx="2827337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3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01">
              <a:spcBef>
                <a:spcPts val="30"/>
              </a:spcBef>
            </a:pPr>
            <a:r>
              <a:rPr lang="en-US" spc="40"/>
              <a:t>Presented by  Dr. Muhammad Nouman Noor</a:t>
            </a:r>
            <a:endParaRPr spc="3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137472"/>
              </p:ext>
            </p:extLst>
          </p:nvPr>
        </p:nvGraphicFramePr>
        <p:xfrm>
          <a:off x="1581262" y="2692637"/>
          <a:ext cx="10001138" cy="2450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367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Cloud</a:t>
                      </a:r>
                      <a:r>
                        <a:rPr sz="2000" b="1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AI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979" algn="ctr">
                        <a:lnSpc>
                          <a:spcPts val="3645"/>
                        </a:lnSpc>
                      </a:pPr>
                      <a:r>
                        <a:rPr sz="2000" b="1" spc="-20" dirty="0">
                          <a:latin typeface="Arial"/>
                          <a:cs typeface="Arial"/>
                        </a:rPr>
                        <a:t>Tiny</a:t>
                      </a:r>
                      <a:r>
                        <a:rPr sz="2000" b="1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AI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487">
                <a:tc>
                  <a:txBody>
                    <a:bodyPr/>
                    <a:lstStyle/>
                    <a:p>
                      <a:pPr marR="272415" algn="ctr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Computation</a:t>
                      </a:r>
                      <a:r>
                        <a:rPr sz="17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(fp32)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44784" marB="0">
                    <a:lnT w="28575">
                      <a:solidFill>
                        <a:srgbClr val="D5D5D5"/>
                      </a:solidFill>
                      <a:prstDash val="solid"/>
                    </a:lnT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83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US" sz="1700" dirty="0">
                          <a:latin typeface="Arial MT"/>
                          <a:cs typeface="Arial MT"/>
                        </a:rPr>
                        <a:t>00s</a:t>
                      </a:r>
                      <a:r>
                        <a:rPr sz="17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TFLOPS</a:t>
                      </a:r>
                      <a:endParaRPr sz="1700" dirty="0">
                        <a:latin typeface="Arial MT"/>
                        <a:cs typeface="Arial MT"/>
                      </a:endParaRPr>
                    </a:p>
                  </a:txBody>
                  <a:tcPr marL="0" marR="0" marT="144784" marB="0">
                    <a:lnT w="28575">
                      <a:solidFill>
                        <a:srgbClr val="D5D5D5"/>
                      </a:solidFill>
                      <a:prstDash val="solid"/>
                    </a:lnT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 algn="ctr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MFLOPs</a:t>
                      </a:r>
                    </a:p>
                  </a:txBody>
                  <a:tcPr marL="0" marR="0" marT="144784" marB="0">
                    <a:lnT w="28575">
                      <a:solidFill>
                        <a:srgbClr val="D5D5D5"/>
                      </a:solidFill>
                      <a:prstDash val="solid"/>
                    </a:lnT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35">
                <a:tc>
                  <a:txBody>
                    <a:bodyPr/>
                    <a:lstStyle/>
                    <a:p>
                      <a:pPr marR="264160" algn="ctr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Memory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58262" marB="0">
                    <a:lnT w="28575">
                      <a:solidFill>
                        <a:srgbClr val="D5D5D5"/>
                      </a:solidFill>
                      <a:prstDash val="solid"/>
                    </a:lnT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80GB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58262" marB="0">
                    <a:lnT w="28575">
                      <a:solidFill>
                        <a:srgbClr val="D5D5D5"/>
                      </a:solidFill>
                      <a:prstDash val="solid"/>
                    </a:lnT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 algn="ctr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256kB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58262" marB="0">
                    <a:lnT w="28575">
                      <a:solidFill>
                        <a:srgbClr val="D5D5D5"/>
                      </a:solidFill>
                      <a:prstDash val="solid"/>
                    </a:lnT>
                    <a:lnB w="28575">
                      <a:solidFill>
                        <a:srgbClr val="D5D5D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8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  <a:p>
                      <a:pPr marR="2724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Neural</a:t>
                      </a:r>
                      <a:r>
                        <a:rPr sz="1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Network</a:t>
                      </a:r>
                    </a:p>
                  </a:txBody>
                  <a:tcPr marL="0" marR="0" marT="0" marB="0">
                    <a:lnT w="28575">
                      <a:solidFill>
                        <a:srgbClr val="D5D5D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  <a:p>
                      <a:pPr marR="29209" algn="ctr">
                        <a:lnSpc>
                          <a:spcPts val="3145"/>
                        </a:lnSpc>
                      </a:pPr>
                      <a:r>
                        <a:rPr lang="en-US" sz="1700" dirty="0" err="1">
                          <a:latin typeface="Arial MT"/>
                          <a:cs typeface="Arial MT"/>
                        </a:rPr>
                        <a:t>ResNet</a:t>
                      </a:r>
                      <a:endParaRPr sz="1700" dirty="0">
                        <a:latin typeface="Arial MT"/>
                        <a:cs typeface="Arial MT"/>
                      </a:endParaRPr>
                    </a:p>
                  </a:txBody>
                  <a:tcPr marL="0" marR="0" marT="3081" marB="0">
                    <a:lnT w="28575">
                      <a:solidFill>
                        <a:srgbClr val="D5D5D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  <a:p>
                      <a:pPr marL="1257300" marR="1027430" indent="-635" algn="ctr">
                        <a:lnSpc>
                          <a:spcPts val="3300"/>
                        </a:lnSpc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MobileNe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V</a:t>
                      </a:r>
                      <a:r>
                        <a:rPr lang="en-US" sz="17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700" spc="-1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iny</a:t>
                      </a:r>
                    </a:p>
                  </a:txBody>
                  <a:tcPr marL="0" marR="0" marT="3081" marB="0">
                    <a:lnT w="28575">
                      <a:solidFill>
                        <a:srgbClr val="D5D5D5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499588" y="1948114"/>
            <a:ext cx="1149803" cy="387760"/>
          </a:xfrm>
          <a:custGeom>
            <a:avLst/>
            <a:gdLst/>
            <a:ahLst/>
            <a:cxnLst/>
            <a:rect l="l" t="t" r="r" b="b"/>
            <a:pathLst>
              <a:path w="1896109" h="639445">
                <a:moveTo>
                  <a:pt x="1470005" y="444365"/>
                </a:moveTo>
                <a:lnTo>
                  <a:pt x="1470005" y="639030"/>
                </a:lnTo>
                <a:lnTo>
                  <a:pt x="1895680" y="319515"/>
                </a:lnTo>
                <a:lnTo>
                  <a:pt x="1470005" y="0"/>
                </a:lnTo>
                <a:lnTo>
                  <a:pt x="1470005" y="194665"/>
                </a:lnTo>
                <a:lnTo>
                  <a:pt x="0" y="194665"/>
                </a:lnTo>
                <a:lnTo>
                  <a:pt x="0" y="444365"/>
                </a:lnTo>
                <a:lnTo>
                  <a:pt x="1470005" y="444365"/>
                </a:lnTo>
                <a:close/>
              </a:path>
            </a:pathLst>
          </a:custGeom>
          <a:ln w="20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9160" y="1796553"/>
            <a:ext cx="690632" cy="6630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58192" y="5393423"/>
            <a:ext cx="9613522" cy="66968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07935" marR="3081" indent="-200618">
              <a:lnSpc>
                <a:spcPct val="111900"/>
              </a:lnSpc>
              <a:spcBef>
                <a:spcPts val="61"/>
              </a:spcBef>
              <a:buChar char="•"/>
              <a:tabLst>
                <a:tab pos="207935" algn="l"/>
                <a:tab pos="208320" algn="l"/>
              </a:tabLst>
            </a:pPr>
            <a:r>
              <a:rPr sz="2001" spc="-3" dirty="0">
                <a:latin typeface="Arial MT"/>
                <a:cs typeface="Arial MT"/>
              </a:rPr>
              <a:t>Neural</a:t>
            </a:r>
            <a:r>
              <a:rPr sz="2001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network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must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be</a:t>
            </a:r>
            <a:r>
              <a:rPr sz="2001" dirty="0">
                <a:latin typeface="Arial MT"/>
                <a:cs typeface="Arial MT"/>
              </a:rPr>
              <a:t> </a:t>
            </a:r>
            <a:r>
              <a:rPr sz="2001" b="1" spc="-3" dirty="0">
                <a:solidFill>
                  <a:srgbClr val="A22034"/>
                </a:solidFill>
                <a:latin typeface="Arial"/>
                <a:cs typeface="Arial"/>
              </a:rPr>
              <a:t>tiny</a:t>
            </a:r>
            <a:r>
              <a:rPr sz="2001" b="1" spc="6" dirty="0">
                <a:solidFill>
                  <a:srgbClr val="A22034"/>
                </a:solidFill>
                <a:latin typeface="Arial"/>
                <a:cs typeface="Arial"/>
              </a:rPr>
              <a:t> </a:t>
            </a:r>
            <a:r>
              <a:rPr sz="2001" spc="-3" dirty="0">
                <a:latin typeface="Arial MT"/>
                <a:cs typeface="Arial MT"/>
              </a:rPr>
              <a:t>to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run</a:t>
            </a:r>
            <a:r>
              <a:rPr sz="2001" dirty="0">
                <a:latin typeface="Arial MT"/>
                <a:cs typeface="Arial MT"/>
              </a:rPr>
              <a:t> </a:t>
            </a:r>
            <a:r>
              <a:rPr sz="2001" spc="-6" dirty="0">
                <a:latin typeface="Arial MT"/>
                <a:cs typeface="Arial MT"/>
              </a:rPr>
              <a:t>efficiently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on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tiny</a:t>
            </a:r>
            <a:r>
              <a:rPr sz="2001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edge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devices.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How</a:t>
            </a:r>
            <a:r>
              <a:rPr sz="2001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to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train</a:t>
            </a:r>
            <a:r>
              <a:rPr sz="2001" spc="3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tiny </a:t>
            </a:r>
            <a:r>
              <a:rPr sz="2001" spc="-549" dirty="0">
                <a:latin typeface="Arial MT"/>
                <a:cs typeface="Arial MT"/>
              </a:rPr>
              <a:t> </a:t>
            </a:r>
            <a:r>
              <a:rPr sz="2001" spc="-3" dirty="0">
                <a:latin typeface="Arial MT"/>
                <a:cs typeface="Arial MT"/>
              </a:rPr>
              <a:t>model with the help of large model?</a:t>
            </a:r>
            <a:endParaRPr sz="2001"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9640" y="1425968"/>
            <a:ext cx="2152676" cy="1208503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DF90B73-0B6F-346E-14CA-80B6FB6E1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F3FB-1105-421E-93CA-A8EF7D8B2729}" type="datetime1">
              <a:rPr lang="en-US" smtClean="0"/>
              <a:t>12/3/2025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92C8AF3-9752-59F9-67C5-96FCDC65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81B48A-B3C5-BC01-402B-704659AE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Large-scale machine learning </a:t>
            </a:r>
            <a:r>
              <a:rPr lang="en-US" dirty="0"/>
              <a:t>and deep learning models are increasingly becoming common. </a:t>
            </a:r>
          </a:p>
          <a:p>
            <a:r>
              <a:rPr lang="en-US" dirty="0"/>
              <a:t>For instance, </a:t>
            </a:r>
            <a:r>
              <a:rPr lang="en-US" dirty="0">
                <a:solidFill>
                  <a:srgbClr val="FF0000"/>
                </a:solidFill>
              </a:rPr>
              <a:t>GPT-3 is trained on 570 GB of text and consists of 175 billion parameters</a:t>
            </a:r>
            <a:r>
              <a:rPr lang="en-US" dirty="0"/>
              <a:t>. </a:t>
            </a:r>
          </a:p>
          <a:p>
            <a:r>
              <a:rPr lang="en-US" dirty="0"/>
              <a:t>Achieve state-of-the-art performance as </a:t>
            </a:r>
            <a:r>
              <a:rPr lang="en-US" dirty="0">
                <a:solidFill>
                  <a:srgbClr val="FFC000"/>
                </a:solidFill>
              </a:rPr>
              <a:t>human-level intelligence</a:t>
            </a:r>
            <a:r>
              <a:rPr lang="en-US" dirty="0"/>
              <a:t> on many tasks</a:t>
            </a:r>
          </a:p>
          <a:p>
            <a:r>
              <a:rPr lang="en-US" dirty="0">
                <a:solidFill>
                  <a:srgbClr val="00B0F0"/>
                </a:solidFill>
              </a:rPr>
              <a:t>Deploying such models especially on edge devices is Challenging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19A57-24C4-7C90-E396-74550CB6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3980-C552-4FAA-AF0B-11B150A9A867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8112-208D-516A-D8EF-E28386C1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C8F6A-039C-9167-F0B5-53CA0A44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820F39-5549-0D7B-5EDF-3F786003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3" dirty="0"/>
              <a:t>Challenge:</a:t>
            </a:r>
            <a:r>
              <a:rPr lang="en-US" spc="-173" dirty="0"/>
              <a:t> </a:t>
            </a:r>
            <a:r>
              <a:rPr lang="en-US" spc="-79" dirty="0"/>
              <a:t>limited</a:t>
            </a:r>
            <a:r>
              <a:rPr lang="en-US" spc="-170" dirty="0"/>
              <a:t> </a:t>
            </a:r>
            <a:r>
              <a:rPr lang="en-US" spc="-58" dirty="0"/>
              <a:t>hardware</a:t>
            </a:r>
            <a:r>
              <a:rPr lang="en-US" spc="-170" dirty="0"/>
              <a:t> </a:t>
            </a:r>
            <a:r>
              <a:rPr lang="en-US" spc="-94" dirty="0"/>
              <a:t>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2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7CCD89-8B22-AEF5-4FB9-74588883D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 a single large model or an ensemble of different models</a:t>
            </a:r>
          </a:p>
          <a:p>
            <a:r>
              <a:rPr lang="en-US" dirty="0"/>
              <a:t>The majority of models evaluated on </a:t>
            </a:r>
            <a:r>
              <a:rPr lang="en-US" dirty="0">
                <a:solidFill>
                  <a:srgbClr val="00B0F0"/>
                </a:solidFill>
              </a:rPr>
              <a:t>validation dataset</a:t>
            </a:r>
          </a:p>
          <a:p>
            <a:pPr lvl="1"/>
            <a:r>
              <a:rPr lang="en-US" sz="2800" dirty="0"/>
              <a:t>May not be </a:t>
            </a:r>
            <a:r>
              <a:rPr lang="en-US" sz="2800" dirty="0">
                <a:solidFill>
                  <a:srgbClr val="FF0000"/>
                </a:solidFill>
              </a:rPr>
              <a:t>representative of the real-world data</a:t>
            </a:r>
            <a:r>
              <a:rPr lang="en-US" sz="2800" dirty="0"/>
              <a:t>.</a:t>
            </a:r>
          </a:p>
          <a:p>
            <a:r>
              <a:rPr lang="en-US" dirty="0"/>
              <a:t>These models yield good accuracy on </a:t>
            </a:r>
            <a:r>
              <a:rPr lang="en-US" dirty="0">
                <a:solidFill>
                  <a:srgbClr val="FF0000"/>
                </a:solidFill>
              </a:rPr>
              <a:t>curated validation datasets </a:t>
            </a:r>
            <a:r>
              <a:rPr lang="en-US" dirty="0"/>
              <a:t>but often </a:t>
            </a:r>
            <a:r>
              <a:rPr lang="en-US" dirty="0">
                <a:solidFill>
                  <a:srgbClr val="00B0F0"/>
                </a:solidFill>
              </a:rPr>
              <a:t>fail to meet performance, latency, and throughput benchmarks at the time of inference </a:t>
            </a:r>
            <a:r>
              <a:rPr lang="en-US" dirty="0"/>
              <a:t>on real-world test data.</a:t>
            </a:r>
          </a:p>
          <a:p>
            <a:r>
              <a:rPr lang="en-US" dirty="0"/>
              <a:t> Knowledge distillation can help overcome these challenges.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Capturing and “distilling” the knowledge?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BB85E-C525-5262-D9BA-DA58B9E5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1125-6833-47CA-A1E5-C9FDD5070F6E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8F67B-D12B-02B3-39BB-74EF4EE3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3CEF6-7C81-01AE-2341-270D11FD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1DB1EB-76A9-C893-0F6A-DF5D49FB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3" dirty="0"/>
              <a:t>Challenge:</a:t>
            </a:r>
            <a:r>
              <a:rPr lang="en-US" spc="-173" dirty="0"/>
              <a:t> </a:t>
            </a:r>
            <a:r>
              <a:rPr lang="en-US" spc="-79" dirty="0"/>
              <a:t>limited</a:t>
            </a:r>
            <a:r>
              <a:rPr lang="en-US" spc="-170" dirty="0"/>
              <a:t> </a:t>
            </a:r>
            <a:r>
              <a:rPr lang="en-US" spc="-58" dirty="0"/>
              <a:t>hardware</a:t>
            </a:r>
            <a:r>
              <a:rPr lang="en-US" spc="-170" dirty="0"/>
              <a:t> </a:t>
            </a:r>
            <a:r>
              <a:rPr lang="en-US" spc="-94" dirty="0"/>
              <a:t>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32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392" rIns="0" bIns="0" rtlCol="0" anchor="ctr">
            <a:spAutoFit/>
          </a:bodyPr>
          <a:lstStyle/>
          <a:p>
            <a:pPr marL="10012">
              <a:spcBef>
                <a:spcPts val="570"/>
              </a:spcBef>
            </a:pPr>
            <a:r>
              <a:rPr spc="-164" dirty="0"/>
              <a:t>Tin</a:t>
            </a:r>
            <a:r>
              <a:rPr spc="-85" dirty="0"/>
              <a:t>y</a:t>
            </a:r>
            <a:r>
              <a:rPr spc="-170" dirty="0"/>
              <a:t> </a:t>
            </a:r>
            <a:r>
              <a:rPr spc="-88" dirty="0"/>
              <a:t>model</a:t>
            </a:r>
            <a:r>
              <a:rPr dirty="0"/>
              <a:t>s</a:t>
            </a:r>
            <a:r>
              <a:rPr spc="-170" dirty="0"/>
              <a:t> </a:t>
            </a:r>
            <a:r>
              <a:rPr spc="-12" dirty="0"/>
              <a:t>a</a:t>
            </a:r>
            <a:r>
              <a:rPr spc="-164" dirty="0"/>
              <a:t>r</a:t>
            </a:r>
            <a:r>
              <a:rPr spc="76" dirty="0"/>
              <a:t>e</a:t>
            </a:r>
            <a:r>
              <a:rPr spc="-170" dirty="0"/>
              <a:t> </a:t>
            </a:r>
            <a:r>
              <a:rPr spc="-88" dirty="0"/>
              <a:t>ha</a:t>
            </a:r>
            <a:r>
              <a:rPr spc="-164" dirty="0"/>
              <a:t>r</a:t>
            </a:r>
            <a:r>
              <a:rPr spc="3" dirty="0"/>
              <a:t>d</a:t>
            </a:r>
            <a:r>
              <a:rPr spc="-170" dirty="0"/>
              <a:t> </a:t>
            </a:r>
            <a:r>
              <a:rPr spc="-58" dirty="0"/>
              <a:t>t</a:t>
            </a:r>
            <a:r>
              <a:rPr spc="55" dirty="0"/>
              <a:t>o</a:t>
            </a:r>
            <a:r>
              <a:rPr spc="-170" dirty="0"/>
              <a:t> </a:t>
            </a:r>
            <a:r>
              <a:rPr spc="-88" dirty="0"/>
              <a:t>train</a:t>
            </a:r>
          </a:p>
          <a:p>
            <a:pPr marL="7701">
              <a:spcBef>
                <a:spcPts val="291"/>
              </a:spcBef>
            </a:pPr>
            <a:r>
              <a:rPr sz="2395" spc="-42" dirty="0">
                <a:solidFill>
                  <a:srgbClr val="000000"/>
                </a:solidFill>
              </a:rPr>
              <a:t>Tiny</a:t>
            </a:r>
            <a:r>
              <a:rPr sz="2395" spc="-6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models</a:t>
            </a:r>
            <a:r>
              <a:rPr sz="2395" spc="-3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underfit</a:t>
            </a:r>
            <a:r>
              <a:rPr sz="2395" spc="-6" dirty="0">
                <a:solidFill>
                  <a:srgbClr val="000000"/>
                </a:solidFill>
              </a:rPr>
              <a:t> large</a:t>
            </a:r>
            <a:r>
              <a:rPr sz="2395" spc="-3" dirty="0">
                <a:solidFill>
                  <a:srgbClr val="000000"/>
                </a:solidFill>
              </a:rPr>
              <a:t> </a:t>
            </a:r>
            <a:r>
              <a:rPr sz="2395" spc="18" dirty="0">
                <a:solidFill>
                  <a:srgbClr val="000000"/>
                </a:solidFill>
              </a:rPr>
              <a:t>datasets</a:t>
            </a:r>
            <a:endParaRPr sz="2395" dirty="0"/>
          </a:p>
        </p:txBody>
      </p: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EE88BE52-60A1-B489-9437-4D58C83A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25E2-491B-4AC3-A8C6-C08E737F6728}" type="datetime1">
              <a:rPr lang="en-US" smtClean="0"/>
              <a:t>12/3/2025</a:t>
            </a:fld>
            <a:endParaRPr lang="en-US"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11"/>
          </p:nvPr>
        </p:nvSpPr>
        <p:spPr>
          <a:xfrm>
            <a:off x="4165600" y="6613266"/>
            <a:ext cx="38608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3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01">
              <a:spcBef>
                <a:spcPts val="30"/>
              </a:spcBef>
            </a:pPr>
            <a:r>
              <a:rPr lang="en-US" sz="1200" spc="40"/>
              <a:t>Presented by  Dr. Muhammad Nouman Noor</a:t>
            </a:r>
            <a:endParaRPr sz="1200" spc="3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D5A3F85-2440-75F2-E4E6-A87338C3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3" name="object 3"/>
          <p:cNvGrpSpPr/>
          <p:nvPr/>
        </p:nvGrpSpPr>
        <p:grpSpPr>
          <a:xfrm>
            <a:off x="1310271" y="2106563"/>
            <a:ext cx="4030085" cy="2981170"/>
            <a:chOff x="2160028" y="3473879"/>
            <a:chExt cx="6645909" cy="4916170"/>
          </a:xfrm>
        </p:grpSpPr>
        <p:sp>
          <p:nvSpPr>
            <p:cNvPr id="4" name="object 4"/>
            <p:cNvSpPr/>
            <p:nvPr/>
          </p:nvSpPr>
          <p:spPr>
            <a:xfrm>
              <a:off x="3214561" y="6371533"/>
              <a:ext cx="5560060" cy="1193800"/>
            </a:xfrm>
            <a:custGeom>
              <a:avLst/>
              <a:gdLst/>
              <a:ahLst/>
              <a:cxnLst/>
              <a:rect l="l" t="t" r="r" b="b"/>
              <a:pathLst>
                <a:path w="5560059" h="1193800">
                  <a:moveTo>
                    <a:pt x="0" y="1193680"/>
                  </a:moveTo>
                  <a:lnTo>
                    <a:pt x="5560040" y="1193680"/>
                  </a:lnTo>
                </a:path>
                <a:path w="5560059" h="1193800">
                  <a:moveTo>
                    <a:pt x="0" y="0"/>
                  </a:moveTo>
                  <a:lnTo>
                    <a:pt x="5560040" y="0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3217008" y="6034540"/>
              <a:ext cx="5557520" cy="1683385"/>
            </a:xfrm>
            <a:custGeom>
              <a:avLst/>
              <a:gdLst/>
              <a:ahLst/>
              <a:cxnLst/>
              <a:rect l="l" t="t" r="r" b="b"/>
              <a:pathLst>
                <a:path w="5557520" h="1683384">
                  <a:moveTo>
                    <a:pt x="0" y="1683203"/>
                  </a:moveTo>
                  <a:lnTo>
                    <a:pt x="111142" y="1539952"/>
                  </a:lnTo>
                  <a:lnTo>
                    <a:pt x="222284" y="1631473"/>
                  </a:lnTo>
                  <a:lnTo>
                    <a:pt x="333426" y="1627494"/>
                  </a:lnTo>
                  <a:lnTo>
                    <a:pt x="444568" y="1671265"/>
                  </a:lnTo>
                  <a:lnTo>
                    <a:pt x="555710" y="1539952"/>
                  </a:lnTo>
                  <a:lnTo>
                    <a:pt x="666852" y="1547909"/>
                  </a:lnTo>
                  <a:lnTo>
                    <a:pt x="777994" y="1635452"/>
                  </a:lnTo>
                  <a:lnTo>
                    <a:pt x="889137" y="1599640"/>
                  </a:lnTo>
                  <a:lnTo>
                    <a:pt x="1000279" y="1579743"/>
                  </a:lnTo>
                  <a:lnTo>
                    <a:pt x="1111421" y="1559847"/>
                  </a:lnTo>
                  <a:lnTo>
                    <a:pt x="1222563" y="537192"/>
                  </a:lnTo>
                  <a:lnTo>
                    <a:pt x="1333705" y="433733"/>
                  </a:lnTo>
                  <a:lnTo>
                    <a:pt x="1444848" y="346190"/>
                  </a:lnTo>
                  <a:lnTo>
                    <a:pt x="1555990" y="342211"/>
                  </a:lnTo>
                  <a:lnTo>
                    <a:pt x="1667132" y="294461"/>
                  </a:lnTo>
                  <a:lnTo>
                    <a:pt x="1778274" y="230793"/>
                  </a:lnTo>
                  <a:lnTo>
                    <a:pt x="1889415" y="218856"/>
                  </a:lnTo>
                  <a:lnTo>
                    <a:pt x="2000557" y="194980"/>
                  </a:lnTo>
                  <a:lnTo>
                    <a:pt x="2111700" y="246710"/>
                  </a:lnTo>
                  <a:lnTo>
                    <a:pt x="2222842" y="206918"/>
                  </a:lnTo>
                  <a:lnTo>
                    <a:pt x="2333984" y="191001"/>
                  </a:lnTo>
                  <a:lnTo>
                    <a:pt x="2445126" y="202939"/>
                  </a:lnTo>
                  <a:lnTo>
                    <a:pt x="2556268" y="214877"/>
                  </a:lnTo>
                  <a:lnTo>
                    <a:pt x="2667410" y="214877"/>
                  </a:lnTo>
                  <a:lnTo>
                    <a:pt x="2778553" y="210897"/>
                  </a:lnTo>
                  <a:lnTo>
                    <a:pt x="2889695" y="171105"/>
                  </a:lnTo>
                  <a:lnTo>
                    <a:pt x="3000837" y="147230"/>
                  </a:lnTo>
                  <a:lnTo>
                    <a:pt x="3111979" y="171105"/>
                  </a:lnTo>
                  <a:lnTo>
                    <a:pt x="3223121" y="163147"/>
                  </a:lnTo>
                  <a:lnTo>
                    <a:pt x="3334263" y="131313"/>
                  </a:lnTo>
                  <a:lnTo>
                    <a:pt x="3445406" y="139272"/>
                  </a:lnTo>
                  <a:lnTo>
                    <a:pt x="3556548" y="123355"/>
                  </a:lnTo>
                  <a:lnTo>
                    <a:pt x="3667690" y="202939"/>
                  </a:lnTo>
                  <a:lnTo>
                    <a:pt x="3778832" y="175084"/>
                  </a:lnTo>
                  <a:lnTo>
                    <a:pt x="3889974" y="131313"/>
                  </a:lnTo>
                  <a:lnTo>
                    <a:pt x="4001116" y="127334"/>
                  </a:lnTo>
                  <a:lnTo>
                    <a:pt x="4112259" y="187022"/>
                  </a:lnTo>
                  <a:lnTo>
                    <a:pt x="4223401" y="183043"/>
                  </a:lnTo>
                  <a:lnTo>
                    <a:pt x="4334543" y="99480"/>
                  </a:lnTo>
                  <a:lnTo>
                    <a:pt x="4445685" y="119376"/>
                  </a:lnTo>
                  <a:lnTo>
                    <a:pt x="4556827" y="0"/>
                  </a:lnTo>
                  <a:lnTo>
                    <a:pt x="4667969" y="3979"/>
                  </a:lnTo>
                  <a:lnTo>
                    <a:pt x="4779112" y="19896"/>
                  </a:lnTo>
                  <a:lnTo>
                    <a:pt x="4890254" y="23875"/>
                  </a:lnTo>
                  <a:lnTo>
                    <a:pt x="5001396" y="15916"/>
                  </a:lnTo>
                  <a:lnTo>
                    <a:pt x="5112538" y="7958"/>
                  </a:lnTo>
                  <a:lnTo>
                    <a:pt x="5223680" y="11937"/>
                  </a:lnTo>
                  <a:lnTo>
                    <a:pt x="5334822" y="11937"/>
                  </a:lnTo>
                  <a:lnTo>
                    <a:pt x="5445965" y="15916"/>
                  </a:lnTo>
                  <a:lnTo>
                    <a:pt x="5557106" y="7958"/>
                  </a:lnTo>
                </a:path>
              </a:pathLst>
            </a:custGeom>
            <a:ln w="62825">
              <a:solidFill>
                <a:srgbClr val="A4DAD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6"/>
            <p:cNvSpPr/>
            <p:nvPr/>
          </p:nvSpPr>
          <p:spPr>
            <a:xfrm>
              <a:off x="3214561" y="5177852"/>
              <a:ext cx="5560060" cy="0"/>
            </a:xfrm>
            <a:custGeom>
              <a:avLst/>
              <a:gdLst/>
              <a:ahLst/>
              <a:cxnLst/>
              <a:rect l="l" t="t" r="r" b="b"/>
              <a:pathLst>
                <a:path w="5560059">
                  <a:moveTo>
                    <a:pt x="0" y="0"/>
                  </a:moveTo>
                  <a:lnTo>
                    <a:pt x="5560040" y="0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" name="object 7"/>
            <p:cNvSpPr/>
            <p:nvPr/>
          </p:nvSpPr>
          <p:spPr>
            <a:xfrm>
              <a:off x="3217008" y="4220023"/>
              <a:ext cx="5557520" cy="4138929"/>
            </a:xfrm>
            <a:custGeom>
              <a:avLst/>
              <a:gdLst/>
              <a:ahLst/>
              <a:cxnLst/>
              <a:rect l="l" t="t" r="r" b="b"/>
              <a:pathLst>
                <a:path w="5557520" h="4138929">
                  <a:moveTo>
                    <a:pt x="0" y="4138372"/>
                  </a:moveTo>
                  <a:lnTo>
                    <a:pt x="111142" y="4098579"/>
                  </a:lnTo>
                  <a:lnTo>
                    <a:pt x="222284" y="4058788"/>
                  </a:lnTo>
                  <a:lnTo>
                    <a:pt x="333426" y="4018995"/>
                  </a:lnTo>
                  <a:lnTo>
                    <a:pt x="444568" y="4058788"/>
                  </a:lnTo>
                  <a:lnTo>
                    <a:pt x="555710" y="4018995"/>
                  </a:lnTo>
                  <a:lnTo>
                    <a:pt x="666852" y="3979204"/>
                  </a:lnTo>
                  <a:lnTo>
                    <a:pt x="777994" y="3979204"/>
                  </a:lnTo>
                  <a:lnTo>
                    <a:pt x="889137" y="3939411"/>
                  </a:lnTo>
                  <a:lnTo>
                    <a:pt x="1000279" y="3899619"/>
                  </a:lnTo>
                  <a:lnTo>
                    <a:pt x="1111421" y="3899619"/>
                  </a:lnTo>
                  <a:lnTo>
                    <a:pt x="1222563" y="2307938"/>
                  </a:lnTo>
                  <a:lnTo>
                    <a:pt x="1333705" y="1870225"/>
                  </a:lnTo>
                  <a:lnTo>
                    <a:pt x="1444848" y="1671265"/>
                  </a:lnTo>
                  <a:lnTo>
                    <a:pt x="1555990" y="1551889"/>
                  </a:lnTo>
                  <a:lnTo>
                    <a:pt x="1667132" y="1472305"/>
                  </a:lnTo>
                  <a:lnTo>
                    <a:pt x="1778274" y="1352929"/>
                  </a:lnTo>
                  <a:lnTo>
                    <a:pt x="1889415" y="1313136"/>
                  </a:lnTo>
                  <a:lnTo>
                    <a:pt x="2000557" y="1233553"/>
                  </a:lnTo>
                  <a:lnTo>
                    <a:pt x="2111700" y="1153969"/>
                  </a:lnTo>
                  <a:lnTo>
                    <a:pt x="2222842" y="1153969"/>
                  </a:lnTo>
                  <a:lnTo>
                    <a:pt x="2333984" y="1034593"/>
                  </a:lnTo>
                  <a:lnTo>
                    <a:pt x="2445126" y="1074385"/>
                  </a:lnTo>
                  <a:lnTo>
                    <a:pt x="2556268" y="955008"/>
                  </a:lnTo>
                  <a:lnTo>
                    <a:pt x="2667410" y="915216"/>
                  </a:lnTo>
                  <a:lnTo>
                    <a:pt x="2778553" y="915216"/>
                  </a:lnTo>
                  <a:lnTo>
                    <a:pt x="2889695" y="875424"/>
                  </a:lnTo>
                  <a:lnTo>
                    <a:pt x="3000837" y="835632"/>
                  </a:lnTo>
                  <a:lnTo>
                    <a:pt x="3111979" y="795840"/>
                  </a:lnTo>
                  <a:lnTo>
                    <a:pt x="3223121" y="795840"/>
                  </a:lnTo>
                  <a:lnTo>
                    <a:pt x="3334263" y="716256"/>
                  </a:lnTo>
                  <a:lnTo>
                    <a:pt x="3445406" y="716256"/>
                  </a:lnTo>
                  <a:lnTo>
                    <a:pt x="3556548" y="676464"/>
                  </a:lnTo>
                  <a:lnTo>
                    <a:pt x="3667690" y="636672"/>
                  </a:lnTo>
                  <a:lnTo>
                    <a:pt x="3778832" y="596880"/>
                  </a:lnTo>
                  <a:lnTo>
                    <a:pt x="3889974" y="596880"/>
                  </a:lnTo>
                  <a:lnTo>
                    <a:pt x="4001116" y="517296"/>
                  </a:lnTo>
                  <a:lnTo>
                    <a:pt x="4112259" y="517296"/>
                  </a:lnTo>
                  <a:lnTo>
                    <a:pt x="4223401" y="517296"/>
                  </a:lnTo>
                  <a:lnTo>
                    <a:pt x="4334543" y="477504"/>
                  </a:lnTo>
                  <a:lnTo>
                    <a:pt x="4445685" y="437712"/>
                  </a:lnTo>
                  <a:lnTo>
                    <a:pt x="4556827" y="198960"/>
                  </a:lnTo>
                  <a:lnTo>
                    <a:pt x="4667969" y="119376"/>
                  </a:lnTo>
                  <a:lnTo>
                    <a:pt x="4779112" y="119376"/>
                  </a:lnTo>
                  <a:lnTo>
                    <a:pt x="4890254" y="79584"/>
                  </a:lnTo>
                  <a:lnTo>
                    <a:pt x="5001396" y="79584"/>
                  </a:lnTo>
                  <a:lnTo>
                    <a:pt x="5112538" y="39792"/>
                  </a:lnTo>
                  <a:lnTo>
                    <a:pt x="5223680" y="39792"/>
                  </a:lnTo>
                  <a:lnTo>
                    <a:pt x="5334822" y="39792"/>
                  </a:lnTo>
                  <a:lnTo>
                    <a:pt x="5445965" y="0"/>
                  </a:lnTo>
                  <a:lnTo>
                    <a:pt x="5557106" y="0"/>
                  </a:lnTo>
                </a:path>
              </a:pathLst>
            </a:custGeom>
            <a:ln w="62825">
              <a:solidFill>
                <a:srgbClr val="7DB8E3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8"/>
            <p:cNvSpPr/>
            <p:nvPr/>
          </p:nvSpPr>
          <p:spPr>
            <a:xfrm>
              <a:off x="3214561" y="3984171"/>
              <a:ext cx="5560060" cy="0"/>
            </a:xfrm>
            <a:custGeom>
              <a:avLst/>
              <a:gdLst/>
              <a:ahLst/>
              <a:cxnLst/>
              <a:rect l="l" t="t" r="r" b="b"/>
              <a:pathLst>
                <a:path w="5560059">
                  <a:moveTo>
                    <a:pt x="0" y="0"/>
                  </a:moveTo>
                  <a:lnTo>
                    <a:pt x="5560040" y="0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2201938" y="3515789"/>
              <a:ext cx="1047115" cy="1047115"/>
            </a:xfrm>
            <a:custGeom>
              <a:avLst/>
              <a:gdLst/>
              <a:ahLst/>
              <a:cxnLst/>
              <a:rect l="l" t="t" r="r" b="b"/>
              <a:pathLst>
                <a:path w="1047114" h="1047114">
                  <a:moveTo>
                    <a:pt x="893745" y="153342"/>
                  </a:moveTo>
                  <a:lnTo>
                    <a:pt x="925929" y="188551"/>
                  </a:lnTo>
                  <a:lnTo>
                    <a:pt x="954325" y="225851"/>
                  </a:lnTo>
                  <a:lnTo>
                    <a:pt x="978936" y="264980"/>
                  </a:lnTo>
                  <a:lnTo>
                    <a:pt x="999760" y="305678"/>
                  </a:lnTo>
                  <a:lnTo>
                    <a:pt x="1016798" y="347683"/>
                  </a:lnTo>
                  <a:lnTo>
                    <a:pt x="1030050" y="390733"/>
                  </a:lnTo>
                  <a:lnTo>
                    <a:pt x="1039516" y="434568"/>
                  </a:lnTo>
                  <a:lnTo>
                    <a:pt x="1045195" y="478925"/>
                  </a:lnTo>
                  <a:lnTo>
                    <a:pt x="1047088" y="523544"/>
                  </a:lnTo>
                  <a:lnTo>
                    <a:pt x="1045195" y="568162"/>
                  </a:lnTo>
                  <a:lnTo>
                    <a:pt x="1039516" y="612520"/>
                  </a:lnTo>
                  <a:lnTo>
                    <a:pt x="1030050" y="656354"/>
                  </a:lnTo>
                  <a:lnTo>
                    <a:pt x="1016798" y="699405"/>
                  </a:lnTo>
                  <a:lnTo>
                    <a:pt x="999760" y="741409"/>
                  </a:lnTo>
                  <a:lnTo>
                    <a:pt x="978936" y="782107"/>
                  </a:lnTo>
                  <a:lnTo>
                    <a:pt x="954325" y="821237"/>
                  </a:lnTo>
                  <a:lnTo>
                    <a:pt x="925929" y="858537"/>
                  </a:lnTo>
                  <a:lnTo>
                    <a:pt x="893745" y="893745"/>
                  </a:lnTo>
                  <a:lnTo>
                    <a:pt x="858537" y="925929"/>
                  </a:lnTo>
                  <a:lnTo>
                    <a:pt x="821237" y="954325"/>
                  </a:lnTo>
                  <a:lnTo>
                    <a:pt x="782107" y="978936"/>
                  </a:lnTo>
                  <a:lnTo>
                    <a:pt x="741409" y="999760"/>
                  </a:lnTo>
                  <a:lnTo>
                    <a:pt x="699405" y="1016798"/>
                  </a:lnTo>
                  <a:lnTo>
                    <a:pt x="656354" y="1030050"/>
                  </a:lnTo>
                  <a:lnTo>
                    <a:pt x="612520" y="1039516"/>
                  </a:lnTo>
                  <a:lnTo>
                    <a:pt x="568162" y="1045195"/>
                  </a:lnTo>
                  <a:lnTo>
                    <a:pt x="523544" y="1047088"/>
                  </a:lnTo>
                  <a:lnTo>
                    <a:pt x="478925" y="1045195"/>
                  </a:lnTo>
                  <a:lnTo>
                    <a:pt x="434568" y="1039516"/>
                  </a:lnTo>
                  <a:lnTo>
                    <a:pt x="390733" y="1030050"/>
                  </a:lnTo>
                  <a:lnTo>
                    <a:pt x="347683" y="1016798"/>
                  </a:lnTo>
                  <a:lnTo>
                    <a:pt x="305678" y="999760"/>
                  </a:lnTo>
                  <a:lnTo>
                    <a:pt x="264980" y="978936"/>
                  </a:lnTo>
                  <a:lnTo>
                    <a:pt x="225851" y="954325"/>
                  </a:lnTo>
                  <a:lnTo>
                    <a:pt x="188551" y="925929"/>
                  </a:lnTo>
                  <a:lnTo>
                    <a:pt x="153342" y="893745"/>
                  </a:lnTo>
                  <a:lnTo>
                    <a:pt x="121159" y="858537"/>
                  </a:lnTo>
                  <a:lnTo>
                    <a:pt x="92762" y="821237"/>
                  </a:lnTo>
                  <a:lnTo>
                    <a:pt x="68152" y="782107"/>
                  </a:lnTo>
                  <a:lnTo>
                    <a:pt x="47327" y="741409"/>
                  </a:lnTo>
                  <a:lnTo>
                    <a:pt x="30289" y="699405"/>
                  </a:lnTo>
                  <a:lnTo>
                    <a:pt x="17038" y="656354"/>
                  </a:lnTo>
                  <a:lnTo>
                    <a:pt x="7572" y="612520"/>
                  </a:lnTo>
                  <a:lnTo>
                    <a:pt x="1893" y="568162"/>
                  </a:lnTo>
                  <a:lnTo>
                    <a:pt x="0" y="523544"/>
                  </a:lnTo>
                  <a:lnTo>
                    <a:pt x="1893" y="478925"/>
                  </a:lnTo>
                  <a:lnTo>
                    <a:pt x="7572" y="434568"/>
                  </a:lnTo>
                  <a:lnTo>
                    <a:pt x="17038" y="390733"/>
                  </a:lnTo>
                  <a:lnTo>
                    <a:pt x="30289" y="347683"/>
                  </a:lnTo>
                  <a:lnTo>
                    <a:pt x="47327" y="305678"/>
                  </a:lnTo>
                  <a:lnTo>
                    <a:pt x="68152" y="264980"/>
                  </a:lnTo>
                  <a:lnTo>
                    <a:pt x="92762" y="225851"/>
                  </a:lnTo>
                  <a:lnTo>
                    <a:pt x="121159" y="188551"/>
                  </a:lnTo>
                  <a:lnTo>
                    <a:pt x="153342" y="153342"/>
                  </a:lnTo>
                  <a:lnTo>
                    <a:pt x="188551" y="121159"/>
                  </a:lnTo>
                  <a:lnTo>
                    <a:pt x="225851" y="92762"/>
                  </a:lnTo>
                  <a:lnTo>
                    <a:pt x="264980" y="68152"/>
                  </a:lnTo>
                  <a:lnTo>
                    <a:pt x="305678" y="47327"/>
                  </a:lnTo>
                  <a:lnTo>
                    <a:pt x="347683" y="30289"/>
                  </a:lnTo>
                  <a:lnTo>
                    <a:pt x="390733" y="17038"/>
                  </a:lnTo>
                  <a:lnTo>
                    <a:pt x="434568" y="7572"/>
                  </a:lnTo>
                  <a:lnTo>
                    <a:pt x="478925" y="1893"/>
                  </a:lnTo>
                  <a:lnTo>
                    <a:pt x="523544" y="0"/>
                  </a:lnTo>
                  <a:lnTo>
                    <a:pt x="568162" y="1893"/>
                  </a:lnTo>
                  <a:lnTo>
                    <a:pt x="612520" y="7572"/>
                  </a:lnTo>
                  <a:lnTo>
                    <a:pt x="656354" y="17038"/>
                  </a:lnTo>
                  <a:lnTo>
                    <a:pt x="699405" y="30289"/>
                  </a:lnTo>
                  <a:lnTo>
                    <a:pt x="741409" y="47327"/>
                  </a:lnTo>
                  <a:lnTo>
                    <a:pt x="782107" y="68152"/>
                  </a:lnTo>
                  <a:lnTo>
                    <a:pt x="821237" y="92762"/>
                  </a:lnTo>
                  <a:lnTo>
                    <a:pt x="858537" y="121159"/>
                  </a:lnTo>
                  <a:lnTo>
                    <a:pt x="893745" y="153342"/>
                  </a:lnTo>
                  <a:close/>
                </a:path>
              </a:pathLst>
            </a:custGeom>
            <a:ln w="83767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42784" y="5164238"/>
            <a:ext cx="25568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70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2784" y="4440340"/>
            <a:ext cx="25568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73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2784" y="3716441"/>
            <a:ext cx="25568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76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2784" y="2992544"/>
            <a:ext cx="25568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79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52916" y="5311402"/>
            <a:ext cx="3365464" cy="0"/>
          </a:xfrm>
          <a:custGeom>
            <a:avLst/>
            <a:gdLst/>
            <a:ahLst/>
            <a:cxnLst/>
            <a:rect l="l" t="t" r="r" b="b"/>
            <a:pathLst>
              <a:path w="5549900">
                <a:moveTo>
                  <a:pt x="0" y="0"/>
                </a:moveTo>
                <a:lnTo>
                  <a:pt x="5549569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 txBox="1"/>
          <p:nvPr/>
        </p:nvSpPr>
        <p:spPr>
          <a:xfrm>
            <a:off x="1823492" y="5404433"/>
            <a:ext cx="368545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  <a:tabLst>
                <a:tab pos="681563" algn="l"/>
                <a:tab pos="1355425" algn="l"/>
                <a:tab pos="2029287" algn="l"/>
                <a:tab pos="2703149" algn="l"/>
                <a:tab pos="3317326" algn="l"/>
              </a:tabLst>
            </a:pPr>
            <a:r>
              <a:rPr sz="1698" spc="55" dirty="0">
                <a:latin typeface="Trebuchet MS"/>
                <a:cs typeface="Trebuchet MS"/>
              </a:rPr>
              <a:t>50	60	70	80	90	100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32285" y="2222343"/>
            <a:ext cx="209860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539" y="0"/>
                </a:lnTo>
              </a:path>
            </a:pathLst>
          </a:custGeom>
          <a:ln w="61621">
            <a:solidFill>
              <a:srgbClr val="7DB8E3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3765713" y="2222343"/>
            <a:ext cx="209860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539" y="0"/>
                </a:lnTo>
              </a:path>
            </a:pathLst>
          </a:custGeom>
          <a:ln w="61621">
            <a:solidFill>
              <a:srgbClr val="A4DADF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6565866" y="2416005"/>
            <a:ext cx="3365464" cy="2317704"/>
          </a:xfrm>
          <a:custGeom>
            <a:avLst/>
            <a:gdLst/>
            <a:ahLst/>
            <a:cxnLst/>
            <a:rect l="l" t="t" r="r" b="b"/>
            <a:pathLst>
              <a:path w="5549900" h="3822065">
                <a:moveTo>
                  <a:pt x="0" y="3821873"/>
                </a:moveTo>
                <a:lnTo>
                  <a:pt x="5549569" y="3821873"/>
                </a:lnTo>
              </a:path>
              <a:path w="5549900" h="3822065">
                <a:moveTo>
                  <a:pt x="0" y="2858552"/>
                </a:moveTo>
                <a:lnTo>
                  <a:pt x="5549569" y="2858552"/>
                </a:lnTo>
              </a:path>
              <a:path w="5549900" h="3822065">
                <a:moveTo>
                  <a:pt x="0" y="1905701"/>
                </a:moveTo>
                <a:lnTo>
                  <a:pt x="5549569" y="1905701"/>
                </a:lnTo>
              </a:path>
              <a:path w="5549900" h="3822065">
                <a:moveTo>
                  <a:pt x="0" y="952850"/>
                </a:moveTo>
                <a:lnTo>
                  <a:pt x="5549569" y="952850"/>
                </a:lnTo>
              </a:path>
              <a:path w="5549900" h="3822065">
                <a:moveTo>
                  <a:pt x="0" y="0"/>
                </a:moveTo>
                <a:lnTo>
                  <a:pt x="5549569" y="0"/>
                </a:lnTo>
              </a:path>
            </a:pathLst>
          </a:custGeom>
          <a:ln w="10470">
            <a:solidFill>
              <a:srgbClr val="B8B8B8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 txBox="1"/>
          <p:nvPr/>
        </p:nvSpPr>
        <p:spPr>
          <a:xfrm>
            <a:off x="6155745" y="4585119"/>
            <a:ext cx="25568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44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55745" y="4006001"/>
            <a:ext cx="25568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46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55745" y="3426882"/>
            <a:ext cx="25568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48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55745" y="2847764"/>
            <a:ext cx="255683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50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62692" y="5311402"/>
            <a:ext cx="3371625" cy="0"/>
          </a:xfrm>
          <a:custGeom>
            <a:avLst/>
            <a:gdLst/>
            <a:ahLst/>
            <a:cxnLst/>
            <a:rect l="l" t="t" r="r" b="b"/>
            <a:pathLst>
              <a:path w="5560059">
                <a:moveTo>
                  <a:pt x="0" y="0"/>
                </a:moveTo>
                <a:lnTo>
                  <a:pt x="556004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 txBox="1"/>
          <p:nvPr/>
        </p:nvSpPr>
        <p:spPr>
          <a:xfrm>
            <a:off x="6155745" y="5164239"/>
            <a:ext cx="3966165" cy="520737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lnSpc>
                <a:spcPts val="1965"/>
              </a:lnSpc>
              <a:spcBef>
                <a:spcPts val="61"/>
              </a:spcBef>
            </a:pPr>
            <a:r>
              <a:rPr sz="1698" spc="55" dirty="0">
                <a:latin typeface="Trebuchet MS"/>
                <a:cs typeface="Trebuchet MS"/>
              </a:rPr>
              <a:t>42</a:t>
            </a:r>
            <a:endParaRPr sz="1698">
              <a:latin typeface="Trebuchet MS"/>
              <a:cs typeface="Trebuchet MS"/>
            </a:endParaRPr>
          </a:p>
          <a:p>
            <a:pPr marL="228343">
              <a:lnSpc>
                <a:spcPts val="1965"/>
              </a:lnSpc>
              <a:tabLst>
                <a:tab pos="902205" algn="l"/>
                <a:tab pos="1576067" algn="l"/>
                <a:tab pos="2249928" algn="l"/>
                <a:tab pos="2924176" algn="l"/>
                <a:tab pos="3598038" algn="l"/>
              </a:tabLst>
            </a:pPr>
            <a:r>
              <a:rPr sz="1698" spc="55" dirty="0">
                <a:latin typeface="Trebuchet MS"/>
                <a:cs typeface="Trebuchet MS"/>
              </a:rPr>
              <a:t>100	110	120	130	140	150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48409" y="2222343"/>
            <a:ext cx="203314" cy="0"/>
          </a:xfrm>
          <a:custGeom>
            <a:avLst/>
            <a:gdLst/>
            <a:ahLst/>
            <a:cxnLst/>
            <a:rect l="l" t="t" r="r" b="b"/>
            <a:pathLst>
              <a:path w="335279">
                <a:moveTo>
                  <a:pt x="0" y="0"/>
                </a:moveTo>
                <a:lnTo>
                  <a:pt x="335068" y="0"/>
                </a:lnTo>
              </a:path>
            </a:pathLst>
          </a:custGeom>
          <a:ln w="61621">
            <a:solidFill>
              <a:srgbClr val="7DB8E3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8381841" y="2222343"/>
            <a:ext cx="203314" cy="0"/>
          </a:xfrm>
          <a:custGeom>
            <a:avLst/>
            <a:gdLst/>
            <a:ahLst/>
            <a:cxnLst/>
            <a:rect l="l" t="t" r="r" b="b"/>
            <a:pathLst>
              <a:path w="335280">
                <a:moveTo>
                  <a:pt x="0" y="0"/>
                </a:moveTo>
                <a:lnTo>
                  <a:pt x="335068" y="0"/>
                </a:lnTo>
              </a:path>
            </a:pathLst>
          </a:custGeom>
          <a:ln w="61621">
            <a:solidFill>
              <a:srgbClr val="A4DADF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27" name="object 27"/>
          <p:cNvGrpSpPr/>
          <p:nvPr/>
        </p:nvGrpSpPr>
        <p:grpSpPr>
          <a:xfrm>
            <a:off x="5911384" y="2146425"/>
            <a:ext cx="4042023" cy="2722407"/>
            <a:chOff x="9747604" y="3539615"/>
            <a:chExt cx="6665595" cy="4489450"/>
          </a:xfrm>
        </p:grpSpPr>
        <p:sp>
          <p:nvSpPr>
            <p:cNvPr id="28" name="object 28"/>
            <p:cNvSpPr/>
            <p:nvPr/>
          </p:nvSpPr>
          <p:spPr>
            <a:xfrm>
              <a:off x="10824120" y="6215991"/>
              <a:ext cx="5557520" cy="1781175"/>
            </a:xfrm>
            <a:custGeom>
              <a:avLst/>
              <a:gdLst/>
              <a:ahLst/>
              <a:cxnLst/>
              <a:rect l="l" t="t" r="r" b="b"/>
              <a:pathLst>
                <a:path w="5557519" h="1781175">
                  <a:moveTo>
                    <a:pt x="0" y="1781091"/>
                  </a:moveTo>
                  <a:lnTo>
                    <a:pt x="111142" y="1728566"/>
                  </a:lnTo>
                  <a:lnTo>
                    <a:pt x="222284" y="1680815"/>
                  </a:lnTo>
                  <a:lnTo>
                    <a:pt x="333426" y="1652165"/>
                  </a:lnTo>
                  <a:lnTo>
                    <a:pt x="444568" y="1590089"/>
                  </a:lnTo>
                  <a:lnTo>
                    <a:pt x="555710" y="1523239"/>
                  </a:lnTo>
                  <a:lnTo>
                    <a:pt x="666852" y="1537564"/>
                  </a:lnTo>
                  <a:lnTo>
                    <a:pt x="777994" y="1470713"/>
                  </a:lnTo>
                  <a:lnTo>
                    <a:pt x="889137" y="1442063"/>
                  </a:lnTo>
                  <a:lnTo>
                    <a:pt x="1000279" y="1375212"/>
                  </a:lnTo>
                  <a:lnTo>
                    <a:pt x="1111421" y="1308362"/>
                  </a:lnTo>
                  <a:lnTo>
                    <a:pt x="1222563" y="1270162"/>
                  </a:lnTo>
                  <a:lnTo>
                    <a:pt x="1333705" y="1236736"/>
                  </a:lnTo>
                  <a:lnTo>
                    <a:pt x="1444848" y="1160336"/>
                  </a:lnTo>
                  <a:lnTo>
                    <a:pt x="1555990" y="1165111"/>
                  </a:lnTo>
                  <a:lnTo>
                    <a:pt x="1667132" y="1160336"/>
                  </a:lnTo>
                  <a:lnTo>
                    <a:pt x="1778274" y="1083935"/>
                  </a:lnTo>
                  <a:lnTo>
                    <a:pt x="1889415" y="997984"/>
                  </a:lnTo>
                  <a:lnTo>
                    <a:pt x="2000557" y="983659"/>
                  </a:lnTo>
                  <a:lnTo>
                    <a:pt x="2111700" y="931133"/>
                  </a:lnTo>
                  <a:lnTo>
                    <a:pt x="2222842" y="864283"/>
                  </a:lnTo>
                  <a:lnTo>
                    <a:pt x="2333984" y="854733"/>
                  </a:lnTo>
                  <a:lnTo>
                    <a:pt x="2445126" y="802207"/>
                  </a:lnTo>
                  <a:lnTo>
                    <a:pt x="2556268" y="787882"/>
                  </a:lnTo>
                  <a:lnTo>
                    <a:pt x="2667410" y="744906"/>
                  </a:lnTo>
                  <a:lnTo>
                    <a:pt x="2778553" y="658956"/>
                  </a:lnTo>
                  <a:lnTo>
                    <a:pt x="2889695" y="615980"/>
                  </a:lnTo>
                  <a:lnTo>
                    <a:pt x="3000837" y="563455"/>
                  </a:lnTo>
                  <a:lnTo>
                    <a:pt x="3111979" y="510929"/>
                  </a:lnTo>
                  <a:lnTo>
                    <a:pt x="3223121" y="501379"/>
                  </a:lnTo>
                  <a:lnTo>
                    <a:pt x="3334263" y="472729"/>
                  </a:lnTo>
                  <a:lnTo>
                    <a:pt x="3445406" y="439304"/>
                  </a:lnTo>
                  <a:lnTo>
                    <a:pt x="3556548" y="358128"/>
                  </a:lnTo>
                  <a:lnTo>
                    <a:pt x="3667690" y="334253"/>
                  </a:lnTo>
                  <a:lnTo>
                    <a:pt x="3778832" y="324703"/>
                  </a:lnTo>
                  <a:lnTo>
                    <a:pt x="3889974" y="257852"/>
                  </a:lnTo>
                  <a:lnTo>
                    <a:pt x="4001116" y="229202"/>
                  </a:lnTo>
                  <a:lnTo>
                    <a:pt x="4112259" y="214877"/>
                  </a:lnTo>
                  <a:lnTo>
                    <a:pt x="4223401" y="181451"/>
                  </a:lnTo>
                  <a:lnTo>
                    <a:pt x="4334543" y="162351"/>
                  </a:lnTo>
                  <a:lnTo>
                    <a:pt x="4445685" y="105050"/>
                  </a:lnTo>
                  <a:lnTo>
                    <a:pt x="4556827" y="133701"/>
                  </a:lnTo>
                  <a:lnTo>
                    <a:pt x="4667969" y="81175"/>
                  </a:lnTo>
                  <a:lnTo>
                    <a:pt x="4779112" y="119376"/>
                  </a:lnTo>
                  <a:lnTo>
                    <a:pt x="4890254" y="0"/>
                  </a:lnTo>
                  <a:lnTo>
                    <a:pt x="5001396" y="42975"/>
                  </a:lnTo>
                  <a:lnTo>
                    <a:pt x="5112538" y="23875"/>
                  </a:lnTo>
                  <a:lnTo>
                    <a:pt x="5223680" y="0"/>
                  </a:lnTo>
                  <a:lnTo>
                    <a:pt x="5334822" y="19100"/>
                  </a:lnTo>
                  <a:lnTo>
                    <a:pt x="5445965" y="9550"/>
                  </a:lnTo>
                  <a:lnTo>
                    <a:pt x="5557106" y="9550"/>
                  </a:lnTo>
                </a:path>
              </a:pathLst>
            </a:custGeom>
            <a:ln w="62825">
              <a:solidFill>
                <a:srgbClr val="A4DAD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9" name="object 29"/>
            <p:cNvSpPr/>
            <p:nvPr/>
          </p:nvSpPr>
          <p:spPr>
            <a:xfrm>
              <a:off x="10824120" y="4110197"/>
              <a:ext cx="5557520" cy="2784475"/>
            </a:xfrm>
            <a:custGeom>
              <a:avLst/>
              <a:gdLst/>
              <a:ahLst/>
              <a:cxnLst/>
              <a:rect l="l" t="t" r="r" b="b"/>
              <a:pathLst>
                <a:path w="5557519" h="2784475">
                  <a:moveTo>
                    <a:pt x="0" y="2783851"/>
                  </a:moveTo>
                  <a:lnTo>
                    <a:pt x="111142" y="2354096"/>
                  </a:lnTo>
                  <a:lnTo>
                    <a:pt x="222284" y="1952992"/>
                  </a:lnTo>
                  <a:lnTo>
                    <a:pt x="333426" y="2110570"/>
                  </a:lnTo>
                  <a:lnTo>
                    <a:pt x="444568" y="1886142"/>
                  </a:lnTo>
                  <a:lnTo>
                    <a:pt x="555710" y="1824066"/>
                  </a:lnTo>
                  <a:lnTo>
                    <a:pt x="666852" y="2153544"/>
                  </a:lnTo>
                  <a:lnTo>
                    <a:pt x="777994" y="1852717"/>
                  </a:lnTo>
                  <a:lnTo>
                    <a:pt x="889137" y="2058044"/>
                  </a:lnTo>
                  <a:lnTo>
                    <a:pt x="1000279" y="1580540"/>
                  </a:lnTo>
                  <a:lnTo>
                    <a:pt x="1111421" y="1972093"/>
                  </a:lnTo>
                  <a:lnTo>
                    <a:pt x="1222563" y="1518464"/>
                  </a:lnTo>
                  <a:lnTo>
                    <a:pt x="1333705" y="1389537"/>
                  </a:lnTo>
                  <a:lnTo>
                    <a:pt x="1444848" y="1508914"/>
                  </a:lnTo>
                  <a:lnTo>
                    <a:pt x="1555990" y="1241511"/>
                  </a:lnTo>
                  <a:lnTo>
                    <a:pt x="1667132" y="1609189"/>
                  </a:lnTo>
                  <a:lnTo>
                    <a:pt x="1778274" y="1375212"/>
                  </a:lnTo>
                  <a:lnTo>
                    <a:pt x="1889415" y="974109"/>
                  </a:lnTo>
                  <a:lnTo>
                    <a:pt x="2000557" y="1069610"/>
                  </a:lnTo>
                  <a:lnTo>
                    <a:pt x="2111700" y="1337012"/>
                  </a:lnTo>
                  <a:lnTo>
                    <a:pt x="2222842" y="1294037"/>
                  </a:lnTo>
                  <a:lnTo>
                    <a:pt x="2333984" y="883383"/>
                  </a:lnTo>
                  <a:lnTo>
                    <a:pt x="2445126" y="802207"/>
                  </a:lnTo>
                  <a:lnTo>
                    <a:pt x="2556268" y="1050509"/>
                  </a:lnTo>
                  <a:lnTo>
                    <a:pt x="2667410" y="854733"/>
                  </a:lnTo>
                  <a:lnTo>
                    <a:pt x="2778553" y="764007"/>
                  </a:lnTo>
                  <a:lnTo>
                    <a:pt x="2889695" y="883383"/>
                  </a:lnTo>
                  <a:lnTo>
                    <a:pt x="3000837" y="482279"/>
                  </a:lnTo>
                  <a:lnTo>
                    <a:pt x="3111979" y="721031"/>
                  </a:lnTo>
                  <a:lnTo>
                    <a:pt x="3223121" y="434529"/>
                  </a:lnTo>
                  <a:lnTo>
                    <a:pt x="3334263" y="386778"/>
                  </a:lnTo>
                  <a:lnTo>
                    <a:pt x="3445406" y="319927"/>
                  </a:lnTo>
                  <a:lnTo>
                    <a:pt x="3556548" y="386778"/>
                  </a:lnTo>
                  <a:lnTo>
                    <a:pt x="3667690" y="405878"/>
                  </a:lnTo>
                  <a:lnTo>
                    <a:pt x="3778832" y="358128"/>
                  </a:lnTo>
                  <a:lnTo>
                    <a:pt x="3889974" y="343803"/>
                  </a:lnTo>
                  <a:lnTo>
                    <a:pt x="4001116" y="210101"/>
                  </a:lnTo>
                  <a:lnTo>
                    <a:pt x="4112259" y="200551"/>
                  </a:lnTo>
                  <a:lnTo>
                    <a:pt x="4223401" y="200551"/>
                  </a:lnTo>
                  <a:lnTo>
                    <a:pt x="4334543" y="195776"/>
                  </a:lnTo>
                  <a:lnTo>
                    <a:pt x="4445685" y="100275"/>
                  </a:lnTo>
                  <a:lnTo>
                    <a:pt x="4556827" y="95500"/>
                  </a:lnTo>
                  <a:lnTo>
                    <a:pt x="4667969" y="66850"/>
                  </a:lnTo>
                  <a:lnTo>
                    <a:pt x="4779112" y="52525"/>
                  </a:lnTo>
                  <a:lnTo>
                    <a:pt x="4890254" y="62075"/>
                  </a:lnTo>
                  <a:lnTo>
                    <a:pt x="5001396" y="19100"/>
                  </a:lnTo>
                  <a:lnTo>
                    <a:pt x="5112538" y="19100"/>
                  </a:lnTo>
                  <a:lnTo>
                    <a:pt x="5223680" y="9550"/>
                  </a:lnTo>
                  <a:lnTo>
                    <a:pt x="5334822" y="19100"/>
                  </a:lnTo>
                  <a:lnTo>
                    <a:pt x="5445965" y="38200"/>
                  </a:lnTo>
                  <a:lnTo>
                    <a:pt x="5557106" y="0"/>
                  </a:lnTo>
                </a:path>
              </a:pathLst>
            </a:custGeom>
            <a:ln w="62825">
              <a:solidFill>
                <a:srgbClr val="7DB8E3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9514" y="3581525"/>
              <a:ext cx="1047115" cy="1047115"/>
            </a:xfrm>
            <a:custGeom>
              <a:avLst/>
              <a:gdLst/>
              <a:ahLst/>
              <a:cxnLst/>
              <a:rect l="l" t="t" r="r" b="b"/>
              <a:pathLst>
                <a:path w="1047115" h="1047114">
                  <a:moveTo>
                    <a:pt x="893745" y="153342"/>
                  </a:moveTo>
                  <a:lnTo>
                    <a:pt x="925929" y="188551"/>
                  </a:lnTo>
                  <a:lnTo>
                    <a:pt x="954325" y="225851"/>
                  </a:lnTo>
                  <a:lnTo>
                    <a:pt x="978936" y="264980"/>
                  </a:lnTo>
                  <a:lnTo>
                    <a:pt x="999760" y="305678"/>
                  </a:lnTo>
                  <a:lnTo>
                    <a:pt x="1016798" y="347683"/>
                  </a:lnTo>
                  <a:lnTo>
                    <a:pt x="1030050" y="390733"/>
                  </a:lnTo>
                  <a:lnTo>
                    <a:pt x="1039516" y="434568"/>
                  </a:lnTo>
                  <a:lnTo>
                    <a:pt x="1045195" y="478925"/>
                  </a:lnTo>
                  <a:lnTo>
                    <a:pt x="1047088" y="523544"/>
                  </a:lnTo>
                  <a:lnTo>
                    <a:pt x="1045195" y="568162"/>
                  </a:lnTo>
                  <a:lnTo>
                    <a:pt x="1039516" y="612520"/>
                  </a:lnTo>
                  <a:lnTo>
                    <a:pt x="1030050" y="656354"/>
                  </a:lnTo>
                  <a:lnTo>
                    <a:pt x="1016798" y="699405"/>
                  </a:lnTo>
                  <a:lnTo>
                    <a:pt x="999760" y="741409"/>
                  </a:lnTo>
                  <a:lnTo>
                    <a:pt x="978936" y="782107"/>
                  </a:lnTo>
                  <a:lnTo>
                    <a:pt x="954325" y="821237"/>
                  </a:lnTo>
                  <a:lnTo>
                    <a:pt x="925929" y="858537"/>
                  </a:lnTo>
                  <a:lnTo>
                    <a:pt x="893745" y="893745"/>
                  </a:lnTo>
                  <a:lnTo>
                    <a:pt x="858537" y="925929"/>
                  </a:lnTo>
                  <a:lnTo>
                    <a:pt x="821237" y="954325"/>
                  </a:lnTo>
                  <a:lnTo>
                    <a:pt x="782107" y="978936"/>
                  </a:lnTo>
                  <a:lnTo>
                    <a:pt x="741409" y="999760"/>
                  </a:lnTo>
                  <a:lnTo>
                    <a:pt x="699405" y="1016798"/>
                  </a:lnTo>
                  <a:lnTo>
                    <a:pt x="656354" y="1030050"/>
                  </a:lnTo>
                  <a:lnTo>
                    <a:pt x="612520" y="1039516"/>
                  </a:lnTo>
                  <a:lnTo>
                    <a:pt x="568162" y="1045195"/>
                  </a:lnTo>
                  <a:lnTo>
                    <a:pt x="523544" y="1047088"/>
                  </a:lnTo>
                  <a:lnTo>
                    <a:pt x="478925" y="1045195"/>
                  </a:lnTo>
                  <a:lnTo>
                    <a:pt x="434568" y="1039516"/>
                  </a:lnTo>
                  <a:lnTo>
                    <a:pt x="390733" y="1030050"/>
                  </a:lnTo>
                  <a:lnTo>
                    <a:pt x="347683" y="1016798"/>
                  </a:lnTo>
                  <a:lnTo>
                    <a:pt x="305678" y="999760"/>
                  </a:lnTo>
                  <a:lnTo>
                    <a:pt x="264980" y="978936"/>
                  </a:lnTo>
                  <a:lnTo>
                    <a:pt x="225851" y="954325"/>
                  </a:lnTo>
                  <a:lnTo>
                    <a:pt x="188551" y="925929"/>
                  </a:lnTo>
                  <a:lnTo>
                    <a:pt x="153342" y="893745"/>
                  </a:lnTo>
                  <a:lnTo>
                    <a:pt x="121159" y="858537"/>
                  </a:lnTo>
                  <a:lnTo>
                    <a:pt x="92762" y="821237"/>
                  </a:lnTo>
                  <a:lnTo>
                    <a:pt x="68152" y="782107"/>
                  </a:lnTo>
                  <a:lnTo>
                    <a:pt x="47327" y="741409"/>
                  </a:lnTo>
                  <a:lnTo>
                    <a:pt x="30289" y="699405"/>
                  </a:lnTo>
                  <a:lnTo>
                    <a:pt x="17038" y="656354"/>
                  </a:lnTo>
                  <a:lnTo>
                    <a:pt x="7572" y="612520"/>
                  </a:lnTo>
                  <a:lnTo>
                    <a:pt x="1893" y="568162"/>
                  </a:lnTo>
                  <a:lnTo>
                    <a:pt x="0" y="523544"/>
                  </a:lnTo>
                  <a:lnTo>
                    <a:pt x="1893" y="478925"/>
                  </a:lnTo>
                  <a:lnTo>
                    <a:pt x="7572" y="434568"/>
                  </a:lnTo>
                  <a:lnTo>
                    <a:pt x="17038" y="390733"/>
                  </a:lnTo>
                  <a:lnTo>
                    <a:pt x="30289" y="347683"/>
                  </a:lnTo>
                  <a:lnTo>
                    <a:pt x="47327" y="305678"/>
                  </a:lnTo>
                  <a:lnTo>
                    <a:pt x="68152" y="264980"/>
                  </a:lnTo>
                  <a:lnTo>
                    <a:pt x="92762" y="225851"/>
                  </a:lnTo>
                  <a:lnTo>
                    <a:pt x="121159" y="188551"/>
                  </a:lnTo>
                  <a:lnTo>
                    <a:pt x="153342" y="153342"/>
                  </a:lnTo>
                  <a:lnTo>
                    <a:pt x="188551" y="121159"/>
                  </a:lnTo>
                  <a:lnTo>
                    <a:pt x="225851" y="92762"/>
                  </a:lnTo>
                  <a:lnTo>
                    <a:pt x="264980" y="68152"/>
                  </a:lnTo>
                  <a:lnTo>
                    <a:pt x="305678" y="47327"/>
                  </a:lnTo>
                  <a:lnTo>
                    <a:pt x="347683" y="30289"/>
                  </a:lnTo>
                  <a:lnTo>
                    <a:pt x="390733" y="17038"/>
                  </a:lnTo>
                  <a:lnTo>
                    <a:pt x="434568" y="7572"/>
                  </a:lnTo>
                  <a:lnTo>
                    <a:pt x="478925" y="1893"/>
                  </a:lnTo>
                  <a:lnTo>
                    <a:pt x="523544" y="0"/>
                  </a:lnTo>
                  <a:lnTo>
                    <a:pt x="568162" y="1893"/>
                  </a:lnTo>
                  <a:lnTo>
                    <a:pt x="612520" y="7572"/>
                  </a:lnTo>
                  <a:lnTo>
                    <a:pt x="656354" y="17038"/>
                  </a:lnTo>
                  <a:lnTo>
                    <a:pt x="699405" y="30289"/>
                  </a:lnTo>
                  <a:lnTo>
                    <a:pt x="741409" y="47327"/>
                  </a:lnTo>
                  <a:lnTo>
                    <a:pt x="782107" y="68152"/>
                  </a:lnTo>
                  <a:lnTo>
                    <a:pt x="821237" y="92762"/>
                  </a:lnTo>
                  <a:lnTo>
                    <a:pt x="858537" y="121159"/>
                  </a:lnTo>
                  <a:lnTo>
                    <a:pt x="893745" y="153342"/>
                  </a:lnTo>
                  <a:close/>
                </a:path>
              </a:pathLst>
            </a:custGeom>
            <a:ln w="83767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542784" y="1574896"/>
            <a:ext cx="8740581" cy="98214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516755">
              <a:spcBef>
                <a:spcPts val="58"/>
              </a:spcBef>
              <a:tabLst>
                <a:tab pos="4673136" algn="l"/>
              </a:tabLst>
            </a:pPr>
            <a:r>
              <a:rPr sz="2001" spc="-45" dirty="0">
                <a:latin typeface="Trebuchet MS"/>
                <a:cs typeface="Trebuchet MS"/>
              </a:rPr>
              <a:t>Training </a:t>
            </a:r>
            <a:r>
              <a:rPr sz="2001" spc="-3" dirty="0">
                <a:latin typeface="Trebuchet MS"/>
                <a:cs typeface="Trebuchet MS"/>
              </a:rPr>
              <a:t>curve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64" dirty="0">
                <a:latin typeface="Trebuchet MS"/>
                <a:cs typeface="Trebuchet MS"/>
              </a:rPr>
              <a:t>for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61" dirty="0">
                <a:latin typeface="Trebuchet MS"/>
                <a:cs typeface="Trebuchet MS"/>
              </a:rPr>
              <a:t>ResNet50	</a:t>
            </a:r>
            <a:r>
              <a:rPr sz="2001" spc="-45" dirty="0">
                <a:latin typeface="Trebuchet MS"/>
                <a:cs typeface="Trebuchet MS"/>
              </a:rPr>
              <a:t>Training</a:t>
            </a:r>
            <a:r>
              <a:rPr sz="2001" spc="-58" dirty="0">
                <a:latin typeface="Trebuchet MS"/>
                <a:cs typeface="Trebuchet MS"/>
              </a:rPr>
              <a:t> </a:t>
            </a:r>
            <a:r>
              <a:rPr sz="2001" spc="-3" dirty="0">
                <a:latin typeface="Trebuchet MS"/>
                <a:cs typeface="Trebuchet MS"/>
              </a:rPr>
              <a:t>curve</a:t>
            </a:r>
            <a:r>
              <a:rPr sz="2001" spc="-61" dirty="0">
                <a:latin typeface="Trebuchet MS"/>
                <a:cs typeface="Trebuchet MS"/>
              </a:rPr>
              <a:t> </a:t>
            </a:r>
            <a:r>
              <a:rPr sz="2001" spc="-64" dirty="0">
                <a:latin typeface="Trebuchet MS"/>
                <a:cs typeface="Trebuchet MS"/>
              </a:rPr>
              <a:t>for</a:t>
            </a:r>
            <a:r>
              <a:rPr sz="2001" spc="-58" dirty="0">
                <a:latin typeface="Trebuchet MS"/>
                <a:cs typeface="Trebuchet MS"/>
              </a:rPr>
              <a:t> </a:t>
            </a:r>
            <a:r>
              <a:rPr sz="2001" spc="12" dirty="0">
                <a:latin typeface="Trebuchet MS"/>
                <a:cs typeface="Trebuchet MS"/>
              </a:rPr>
              <a:t>MobileNetV2-Tiny</a:t>
            </a:r>
            <a:endParaRPr sz="2001">
              <a:latin typeface="Trebuchet MS"/>
              <a:cs typeface="Trebuchet MS"/>
            </a:endParaRPr>
          </a:p>
          <a:p>
            <a:pPr marL="822882">
              <a:lnSpc>
                <a:spcPts val="1771"/>
              </a:lnSpc>
              <a:spcBef>
                <a:spcPts val="1565"/>
              </a:spcBef>
              <a:tabLst>
                <a:tab pos="2557210" algn="l"/>
                <a:tab pos="5435563" algn="l"/>
                <a:tab pos="7169892" algn="l"/>
              </a:tabLst>
            </a:pPr>
            <a:r>
              <a:rPr sz="1698" spc="-170" dirty="0">
                <a:latin typeface="Trebuchet MS"/>
                <a:cs typeface="Trebuchet MS"/>
              </a:rPr>
              <a:t>T</a:t>
            </a:r>
            <a:r>
              <a:rPr sz="1698" spc="-64" dirty="0">
                <a:latin typeface="Trebuchet MS"/>
                <a:cs typeface="Trebuchet MS"/>
              </a:rPr>
              <a:t>rain.</a:t>
            </a:r>
            <a:r>
              <a:rPr sz="1698" spc="-39" dirty="0">
                <a:latin typeface="Trebuchet MS"/>
                <a:cs typeface="Trebuchet MS"/>
              </a:rPr>
              <a:t> </a:t>
            </a:r>
            <a:r>
              <a:rPr sz="1698" spc="21" dirty="0">
                <a:latin typeface="Trebuchet MS"/>
                <a:cs typeface="Trebuchet MS"/>
              </a:rPr>
              <a:t>Acc.</a:t>
            </a:r>
            <a:r>
              <a:rPr sz="1698" dirty="0">
                <a:latin typeface="Trebuchet MS"/>
                <a:cs typeface="Trebuchet MS"/>
              </a:rPr>
              <a:t>	</a:t>
            </a:r>
            <a:r>
              <a:rPr sz="1698" spc="-55" dirty="0">
                <a:latin typeface="Trebuchet MS"/>
                <a:cs typeface="Trebuchet MS"/>
              </a:rPr>
              <a:t>V</a:t>
            </a:r>
            <a:r>
              <a:rPr sz="1698" spc="-85" dirty="0">
                <a:latin typeface="Trebuchet MS"/>
                <a:cs typeface="Trebuchet MS"/>
              </a:rPr>
              <a:t>al.</a:t>
            </a:r>
            <a:r>
              <a:rPr sz="1698" spc="-39" dirty="0">
                <a:latin typeface="Trebuchet MS"/>
                <a:cs typeface="Trebuchet MS"/>
              </a:rPr>
              <a:t> </a:t>
            </a:r>
            <a:r>
              <a:rPr sz="1698" spc="21" dirty="0">
                <a:latin typeface="Trebuchet MS"/>
                <a:cs typeface="Trebuchet MS"/>
              </a:rPr>
              <a:t>Acc.</a:t>
            </a:r>
            <a:r>
              <a:rPr sz="1698" dirty="0">
                <a:latin typeface="Trebuchet MS"/>
                <a:cs typeface="Trebuchet MS"/>
              </a:rPr>
              <a:t>	</a:t>
            </a:r>
            <a:r>
              <a:rPr sz="1698" spc="-170" dirty="0">
                <a:latin typeface="Trebuchet MS"/>
                <a:cs typeface="Trebuchet MS"/>
              </a:rPr>
              <a:t>T</a:t>
            </a:r>
            <a:r>
              <a:rPr sz="1698" spc="-64" dirty="0">
                <a:latin typeface="Trebuchet MS"/>
                <a:cs typeface="Trebuchet MS"/>
              </a:rPr>
              <a:t>rain.</a:t>
            </a:r>
            <a:r>
              <a:rPr sz="1698" spc="-39" dirty="0">
                <a:latin typeface="Trebuchet MS"/>
                <a:cs typeface="Trebuchet MS"/>
              </a:rPr>
              <a:t> </a:t>
            </a:r>
            <a:r>
              <a:rPr sz="1698" spc="21" dirty="0">
                <a:latin typeface="Trebuchet MS"/>
                <a:cs typeface="Trebuchet MS"/>
              </a:rPr>
              <a:t>Acc.</a:t>
            </a:r>
            <a:r>
              <a:rPr sz="1698" dirty="0">
                <a:latin typeface="Trebuchet MS"/>
                <a:cs typeface="Trebuchet MS"/>
              </a:rPr>
              <a:t>	</a:t>
            </a:r>
            <a:r>
              <a:rPr sz="1698" spc="-55" dirty="0">
                <a:latin typeface="Trebuchet MS"/>
                <a:cs typeface="Trebuchet MS"/>
              </a:rPr>
              <a:t>V</a:t>
            </a:r>
            <a:r>
              <a:rPr sz="1698" spc="-85" dirty="0">
                <a:latin typeface="Trebuchet MS"/>
                <a:cs typeface="Trebuchet MS"/>
              </a:rPr>
              <a:t>al.</a:t>
            </a:r>
            <a:r>
              <a:rPr sz="1698" spc="-39" dirty="0">
                <a:latin typeface="Trebuchet MS"/>
                <a:cs typeface="Trebuchet MS"/>
              </a:rPr>
              <a:t> </a:t>
            </a:r>
            <a:r>
              <a:rPr sz="1698" spc="21" dirty="0">
                <a:latin typeface="Trebuchet MS"/>
                <a:cs typeface="Trebuchet MS"/>
              </a:rPr>
              <a:t>Acc.</a:t>
            </a:r>
            <a:endParaRPr sz="1698">
              <a:latin typeface="Trebuchet MS"/>
              <a:cs typeface="Trebuchet MS"/>
            </a:endParaRPr>
          </a:p>
          <a:p>
            <a:pPr marL="7701">
              <a:lnSpc>
                <a:spcPts val="1771"/>
              </a:lnSpc>
              <a:tabLst>
                <a:tab pos="4620383" algn="l"/>
              </a:tabLst>
            </a:pPr>
            <a:r>
              <a:rPr sz="1698" spc="55" dirty="0">
                <a:latin typeface="Trebuchet MS"/>
                <a:cs typeface="Trebuchet MS"/>
              </a:rPr>
              <a:t>82	52</a:t>
            </a:r>
            <a:endParaRPr sz="1698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86497" y="5815293"/>
            <a:ext cx="7812960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2001" spc="-3" dirty="0">
                <a:latin typeface="Trebuchet MS"/>
                <a:cs typeface="Trebuchet MS"/>
              </a:rPr>
              <a:t>Question: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94" dirty="0">
                <a:latin typeface="Trebuchet MS"/>
                <a:cs typeface="Trebuchet MS"/>
              </a:rPr>
              <a:t>Can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3" dirty="0">
                <a:latin typeface="Trebuchet MS"/>
                <a:cs typeface="Trebuchet MS"/>
              </a:rPr>
              <a:t>we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21" dirty="0">
                <a:latin typeface="Trebuchet MS"/>
                <a:cs typeface="Trebuchet MS"/>
              </a:rPr>
              <a:t>help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the</a:t>
            </a:r>
            <a:r>
              <a:rPr sz="2001" spc="-42" dirty="0">
                <a:latin typeface="Trebuchet MS"/>
                <a:cs typeface="Trebuchet MS"/>
              </a:rPr>
              <a:t> training </a:t>
            </a:r>
            <a:r>
              <a:rPr sz="2001" spc="-39" dirty="0">
                <a:latin typeface="Trebuchet MS"/>
                <a:cs typeface="Trebuchet MS"/>
              </a:rPr>
              <a:t>of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67" dirty="0">
                <a:latin typeface="Trebuchet MS"/>
                <a:cs typeface="Trebuchet MS"/>
              </a:rPr>
              <a:t>tiny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3" dirty="0">
                <a:latin typeface="Trebuchet MS"/>
                <a:cs typeface="Trebuchet MS"/>
              </a:rPr>
              <a:t>models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64" dirty="0">
                <a:latin typeface="Trebuchet MS"/>
                <a:cs typeface="Trebuchet MS"/>
              </a:rPr>
              <a:t>with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36" dirty="0">
                <a:latin typeface="Trebuchet MS"/>
                <a:cs typeface="Trebuchet MS"/>
              </a:rPr>
              <a:t>large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82" dirty="0">
                <a:latin typeface="Trebuchet MS"/>
                <a:cs typeface="Trebuchet MS"/>
              </a:rPr>
              <a:t>models?</a:t>
            </a:r>
            <a:endParaRPr sz="2001">
              <a:latin typeface="Trebuchet MS"/>
              <a:cs typeface="Trebuchet MS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" y="2364006"/>
            <a:ext cx="1416129" cy="312256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9449" y="2951693"/>
            <a:ext cx="2342122" cy="2358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75D707F-4C41-8249-A22B-79F0AF5C9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7B59C555-AABD-CC16-B4E8-07B56037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C6C0-8692-4DEA-8B3F-278834A8FA39}" type="datetime1">
              <a:rPr lang="en-US" smtClean="0"/>
              <a:t>12/3/2025</a:t>
            </a:fld>
            <a:endParaRPr lang="en-US"/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11"/>
          </p:nvPr>
        </p:nvSpPr>
        <p:spPr>
          <a:xfrm>
            <a:off x="4165600" y="6613266"/>
            <a:ext cx="38608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3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01">
              <a:spcBef>
                <a:spcPts val="30"/>
              </a:spcBef>
            </a:pPr>
            <a:r>
              <a:rPr lang="en-US" sz="1200" spc="40"/>
              <a:t>Presented by  Dr. Muhammad Nouman Noor</a:t>
            </a:r>
            <a:endParaRPr sz="1200" spc="3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613267"/>
            <a:ext cx="28448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950" b="0" i="0" kern="1200">
                <a:solidFill>
                  <a:schemeClr val="bg1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algn="r">
              <a:spcBef>
                <a:spcPts val="30"/>
              </a:spcBef>
            </a:pPr>
            <a:fld id="{81D60167-4931-47E6-BA6A-407CBD079E47}" type="slidenum">
              <a:rPr lang="en-US" sz="1200" spc="75" smtClean="0"/>
              <a:pPr marL="38100" algn="r">
                <a:spcBef>
                  <a:spcPts val="30"/>
                </a:spcBef>
              </a:pPr>
              <a:t>12</a:t>
            </a:fld>
            <a:endParaRPr sz="1200" spc="4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lang="en-US" spc="-94" dirty="0"/>
              <a:t>K</a:t>
            </a:r>
            <a:r>
              <a:rPr spc="-52" dirty="0"/>
              <a:t>nowledge</a:t>
            </a:r>
            <a:r>
              <a:rPr spc="-179" dirty="0"/>
              <a:t> </a:t>
            </a:r>
            <a:r>
              <a:rPr lang="en-US" spc="-115" dirty="0"/>
              <a:t>D</a:t>
            </a:r>
            <a:r>
              <a:rPr spc="-115" dirty="0"/>
              <a:t>istillation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3419" y="6252557"/>
            <a:ext cx="5815245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-12" dirty="0">
                <a:solidFill>
                  <a:srgbClr val="5E5E5E"/>
                </a:solidFill>
                <a:latin typeface="Trebuchet MS"/>
                <a:cs typeface="Trebuchet MS"/>
              </a:rPr>
              <a:t>Distilling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the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0" dirty="0">
                <a:solidFill>
                  <a:srgbClr val="5E5E5E"/>
                </a:solidFill>
                <a:latin typeface="Trebuchet MS"/>
                <a:cs typeface="Trebuchet MS"/>
              </a:rPr>
              <a:t>Knowledge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7" dirty="0">
                <a:solidFill>
                  <a:srgbClr val="5E5E5E"/>
                </a:solidFill>
                <a:latin typeface="Trebuchet MS"/>
                <a:cs typeface="Trebuchet MS"/>
              </a:rPr>
              <a:t>in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21" dirty="0">
                <a:solidFill>
                  <a:srgbClr val="5E5E5E"/>
                </a:solidFill>
                <a:latin typeface="Trebuchet MS"/>
                <a:cs typeface="Trebuchet MS"/>
              </a:rPr>
              <a:t>a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dirty="0">
                <a:solidFill>
                  <a:srgbClr val="5E5E5E"/>
                </a:solidFill>
                <a:latin typeface="Trebuchet MS"/>
                <a:cs typeface="Trebuchet MS"/>
              </a:rPr>
              <a:t>Neural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9" dirty="0">
                <a:solidFill>
                  <a:srgbClr val="5E5E5E"/>
                </a:solidFill>
                <a:latin typeface="Trebuchet MS"/>
                <a:cs typeface="Trebuchet MS"/>
              </a:rPr>
              <a:t>Network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15" dirty="0">
                <a:solidFill>
                  <a:srgbClr val="5E5E5E"/>
                </a:solidFill>
                <a:latin typeface="Trebuchet MS"/>
                <a:cs typeface="Trebuchet MS"/>
              </a:rPr>
              <a:t>[Hinton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i="1" spc="15" dirty="0">
                <a:solidFill>
                  <a:srgbClr val="5E5E5E"/>
                </a:solidFill>
                <a:latin typeface="Arial"/>
                <a:cs typeface="Arial"/>
              </a:rPr>
              <a:t>et</a:t>
            </a:r>
            <a:r>
              <a:rPr sz="1182" i="1" spc="6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82" i="1" spc="-33" dirty="0">
                <a:solidFill>
                  <a:srgbClr val="5E5E5E"/>
                </a:solidFill>
                <a:latin typeface="Arial"/>
                <a:cs typeface="Arial"/>
              </a:rPr>
              <a:t>al.</a:t>
            </a:r>
            <a:r>
              <a:rPr sz="1182" spc="-33" dirty="0">
                <a:solidFill>
                  <a:srgbClr val="5E5E5E"/>
                </a:solidFill>
                <a:latin typeface="Trebuchet MS"/>
                <a:cs typeface="Trebuchet MS"/>
              </a:rPr>
              <a:t>,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52" dirty="0">
                <a:solidFill>
                  <a:srgbClr val="5E5E5E"/>
                </a:solidFill>
                <a:latin typeface="Trebuchet MS"/>
                <a:cs typeface="Trebuchet MS"/>
              </a:rPr>
              <a:t>NeurIPS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45" dirty="0">
                <a:solidFill>
                  <a:srgbClr val="5E5E5E"/>
                </a:solidFill>
                <a:latin typeface="Trebuchet MS"/>
                <a:cs typeface="Trebuchet MS"/>
              </a:rPr>
              <a:t>Workshops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2014]</a:t>
            </a:r>
            <a:endParaRPr sz="1182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82895" y="2404551"/>
            <a:ext cx="1888742" cy="2020434"/>
            <a:chOff x="3599050" y="3965282"/>
            <a:chExt cx="3114675" cy="3331845"/>
          </a:xfrm>
        </p:grpSpPr>
        <p:sp>
          <p:nvSpPr>
            <p:cNvPr id="5" name="object 5"/>
            <p:cNvSpPr/>
            <p:nvPr/>
          </p:nvSpPr>
          <p:spPr>
            <a:xfrm>
              <a:off x="4692154" y="4053237"/>
              <a:ext cx="1910714" cy="1078865"/>
            </a:xfrm>
            <a:custGeom>
              <a:avLst/>
              <a:gdLst/>
              <a:ahLst/>
              <a:cxnLst/>
              <a:rect l="l" t="t" r="r" b="b"/>
              <a:pathLst>
                <a:path w="1910715" h="1078864">
                  <a:moveTo>
                    <a:pt x="0" y="1078501"/>
                  </a:moveTo>
                  <a:lnTo>
                    <a:pt x="0" y="0"/>
                  </a:lnTo>
                  <a:lnTo>
                    <a:pt x="1889225" y="0"/>
                  </a:lnTo>
                  <a:lnTo>
                    <a:pt x="191016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6"/>
            <p:cNvSpPr/>
            <p:nvPr/>
          </p:nvSpPr>
          <p:spPr>
            <a:xfrm>
              <a:off x="6537401" y="3965282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" name="object 7"/>
            <p:cNvSpPr/>
            <p:nvPr/>
          </p:nvSpPr>
          <p:spPr>
            <a:xfrm>
              <a:off x="4692154" y="6130083"/>
              <a:ext cx="1910714" cy="1078865"/>
            </a:xfrm>
            <a:custGeom>
              <a:avLst/>
              <a:gdLst/>
              <a:ahLst/>
              <a:cxnLst/>
              <a:rect l="l" t="t" r="r" b="b"/>
              <a:pathLst>
                <a:path w="1910715" h="1078865">
                  <a:moveTo>
                    <a:pt x="0" y="0"/>
                  </a:moveTo>
                  <a:lnTo>
                    <a:pt x="0" y="1078501"/>
                  </a:lnTo>
                  <a:lnTo>
                    <a:pt x="1889225" y="1078501"/>
                  </a:lnTo>
                  <a:lnTo>
                    <a:pt x="1910166" y="1078501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8"/>
            <p:cNvSpPr/>
            <p:nvPr/>
          </p:nvSpPr>
          <p:spPr>
            <a:xfrm>
              <a:off x="6537401" y="7120629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3619992" y="5112945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5" h="1047114">
                  <a:moveTo>
                    <a:pt x="1929534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4" y="45785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2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4" y="1001303"/>
                  </a:lnTo>
                  <a:lnTo>
                    <a:pt x="99184" y="1035323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1929534" y="1047088"/>
                  </a:lnTo>
                  <a:lnTo>
                    <a:pt x="1977313" y="1046904"/>
                  </a:lnTo>
                  <a:lnTo>
                    <a:pt x="2015844" y="1045617"/>
                  </a:lnTo>
                  <a:lnTo>
                    <a:pt x="2070447" y="1035323"/>
                  </a:lnTo>
                  <a:lnTo>
                    <a:pt x="2123847" y="1001303"/>
                  </a:lnTo>
                  <a:lnTo>
                    <a:pt x="2157866" y="947904"/>
                  </a:lnTo>
                  <a:lnTo>
                    <a:pt x="2168161" y="893300"/>
                  </a:lnTo>
                  <a:lnTo>
                    <a:pt x="2169448" y="854769"/>
                  </a:lnTo>
                  <a:lnTo>
                    <a:pt x="2169632" y="806992"/>
                  </a:lnTo>
                  <a:lnTo>
                    <a:pt x="2169632" y="240097"/>
                  </a:lnTo>
                  <a:lnTo>
                    <a:pt x="2169448" y="192319"/>
                  </a:lnTo>
                  <a:lnTo>
                    <a:pt x="2168161" y="153788"/>
                  </a:lnTo>
                  <a:lnTo>
                    <a:pt x="2157866" y="99184"/>
                  </a:lnTo>
                  <a:lnTo>
                    <a:pt x="2123847" y="45785"/>
                  </a:lnTo>
                  <a:lnTo>
                    <a:pt x="2070447" y="11766"/>
                  </a:lnTo>
                  <a:lnTo>
                    <a:pt x="2015844" y="1470"/>
                  </a:lnTo>
                  <a:lnTo>
                    <a:pt x="1977313" y="183"/>
                  </a:lnTo>
                  <a:lnTo>
                    <a:pt x="1929534" y="0"/>
                  </a:lnTo>
                  <a:close/>
                </a:path>
              </a:pathLst>
            </a:custGeom>
            <a:solidFill>
              <a:srgbClr val="D6D6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0" name="object 10"/>
            <p:cNvSpPr/>
            <p:nvPr/>
          </p:nvSpPr>
          <p:spPr>
            <a:xfrm>
              <a:off x="3619992" y="5112945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5" h="1047114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34353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015081" y="2144958"/>
            <a:ext cx="3387028" cy="2289209"/>
            <a:chOff x="9918609" y="3537195"/>
            <a:chExt cx="5585460" cy="3775075"/>
          </a:xfrm>
        </p:grpSpPr>
        <p:sp>
          <p:nvSpPr>
            <p:cNvPr id="12" name="object 12"/>
            <p:cNvSpPr/>
            <p:nvPr/>
          </p:nvSpPr>
          <p:spPr>
            <a:xfrm>
              <a:off x="9939564" y="4081694"/>
              <a:ext cx="1178560" cy="0"/>
            </a:xfrm>
            <a:custGeom>
              <a:avLst/>
              <a:gdLst/>
              <a:ahLst/>
              <a:cxnLst/>
              <a:rect l="l" t="t" r="r" b="b"/>
              <a:pathLst>
                <a:path w="1178559">
                  <a:moveTo>
                    <a:pt x="0" y="0"/>
                  </a:moveTo>
                  <a:lnTo>
                    <a:pt x="1157422" y="0"/>
                  </a:lnTo>
                  <a:lnTo>
                    <a:pt x="1178364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053003" y="3993739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394780" y="4011533"/>
              <a:ext cx="2021205" cy="967740"/>
            </a:xfrm>
            <a:custGeom>
              <a:avLst/>
              <a:gdLst/>
              <a:ahLst/>
              <a:cxnLst/>
              <a:rect l="l" t="t" r="r" b="b"/>
              <a:pathLst>
                <a:path w="2021205" h="967739">
                  <a:moveTo>
                    <a:pt x="2021158" y="967509"/>
                  </a:moveTo>
                  <a:lnTo>
                    <a:pt x="2021158" y="946568"/>
                  </a:lnTo>
                  <a:lnTo>
                    <a:pt x="2021158" y="0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7983" y="4914123"/>
              <a:ext cx="175910" cy="1759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250913" y="3558150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4">
                  <a:moveTo>
                    <a:pt x="1929543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99190" y="11766"/>
                  </a:lnTo>
                  <a:lnTo>
                    <a:pt x="45789" y="45784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9" y="1001303"/>
                  </a:lnTo>
                  <a:lnTo>
                    <a:pt x="99190" y="1035322"/>
                  </a:lnTo>
                  <a:lnTo>
                    <a:pt x="153792" y="1045617"/>
                  </a:lnTo>
                  <a:lnTo>
                    <a:pt x="192322" y="1046904"/>
                  </a:lnTo>
                  <a:lnTo>
                    <a:pt x="240097" y="1047088"/>
                  </a:lnTo>
                  <a:lnTo>
                    <a:pt x="1929543" y="1047088"/>
                  </a:lnTo>
                  <a:lnTo>
                    <a:pt x="1977317" y="1046904"/>
                  </a:lnTo>
                  <a:lnTo>
                    <a:pt x="2015848" y="1045617"/>
                  </a:lnTo>
                  <a:lnTo>
                    <a:pt x="2070450" y="1035322"/>
                  </a:lnTo>
                  <a:lnTo>
                    <a:pt x="2123851" y="1001303"/>
                  </a:lnTo>
                  <a:lnTo>
                    <a:pt x="2157871" y="947904"/>
                  </a:lnTo>
                  <a:lnTo>
                    <a:pt x="2168169" y="893300"/>
                  </a:lnTo>
                  <a:lnTo>
                    <a:pt x="2169456" y="854769"/>
                  </a:lnTo>
                  <a:lnTo>
                    <a:pt x="2169640" y="806991"/>
                  </a:lnTo>
                  <a:lnTo>
                    <a:pt x="2169640" y="240097"/>
                  </a:lnTo>
                  <a:lnTo>
                    <a:pt x="2169456" y="192319"/>
                  </a:lnTo>
                  <a:lnTo>
                    <a:pt x="2168169" y="153788"/>
                  </a:lnTo>
                  <a:lnTo>
                    <a:pt x="2157871" y="99184"/>
                  </a:lnTo>
                  <a:lnTo>
                    <a:pt x="2123851" y="45784"/>
                  </a:lnTo>
                  <a:lnTo>
                    <a:pt x="2070450" y="11766"/>
                  </a:lnTo>
                  <a:lnTo>
                    <a:pt x="2015848" y="1470"/>
                  </a:lnTo>
                  <a:lnTo>
                    <a:pt x="1977317" y="183"/>
                  </a:lnTo>
                  <a:lnTo>
                    <a:pt x="1929543" y="0"/>
                  </a:lnTo>
                  <a:close/>
                </a:path>
              </a:pathLst>
            </a:custGeom>
            <a:solidFill>
              <a:srgbClr val="A4DAD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50913" y="3558150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4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00AEBB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8" name="object 18"/>
            <p:cNvSpPr/>
            <p:nvPr/>
          </p:nvSpPr>
          <p:spPr>
            <a:xfrm>
              <a:off x="9939564" y="7224076"/>
              <a:ext cx="1178560" cy="0"/>
            </a:xfrm>
            <a:custGeom>
              <a:avLst/>
              <a:gdLst/>
              <a:ahLst/>
              <a:cxnLst/>
              <a:rect l="l" t="t" r="r" b="b"/>
              <a:pathLst>
                <a:path w="1178559">
                  <a:moveTo>
                    <a:pt x="0" y="0"/>
                  </a:moveTo>
                  <a:lnTo>
                    <a:pt x="1157422" y="0"/>
                  </a:lnTo>
                  <a:lnTo>
                    <a:pt x="1178364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9" name="object 19"/>
            <p:cNvSpPr/>
            <p:nvPr/>
          </p:nvSpPr>
          <p:spPr>
            <a:xfrm>
              <a:off x="11053003" y="7136121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0" name="object 20"/>
            <p:cNvSpPr/>
            <p:nvPr/>
          </p:nvSpPr>
          <p:spPr>
            <a:xfrm>
              <a:off x="13394780" y="6264109"/>
              <a:ext cx="2021205" cy="967740"/>
            </a:xfrm>
            <a:custGeom>
              <a:avLst/>
              <a:gdLst/>
              <a:ahLst/>
              <a:cxnLst/>
              <a:rect l="l" t="t" r="r" b="b"/>
              <a:pathLst>
                <a:path w="2021205" h="967740">
                  <a:moveTo>
                    <a:pt x="2021158" y="0"/>
                  </a:moveTo>
                  <a:lnTo>
                    <a:pt x="2021158" y="20941"/>
                  </a:lnTo>
                  <a:lnTo>
                    <a:pt x="2021158" y="967509"/>
                  </a:lnTo>
                  <a:lnTo>
                    <a:pt x="0" y="967509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27983" y="6153118"/>
              <a:ext cx="175910" cy="17591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625711" y="3281978"/>
            <a:ext cx="455531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9" dirty="0">
                <a:latin typeface="Arial MT"/>
                <a:cs typeface="Arial MT"/>
              </a:rPr>
              <a:t>Input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07903" y="2339148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10285" y="4050501"/>
            <a:ext cx="1341180" cy="660386"/>
            <a:chOff x="11229958" y="6679576"/>
            <a:chExt cx="2211705" cy="1089025"/>
          </a:xfrm>
        </p:grpSpPr>
        <p:sp>
          <p:nvSpPr>
            <p:cNvPr id="25" name="object 25"/>
            <p:cNvSpPr/>
            <p:nvPr/>
          </p:nvSpPr>
          <p:spPr>
            <a:xfrm>
              <a:off x="11250913" y="6700531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5">
                  <a:moveTo>
                    <a:pt x="1929543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99190" y="11766"/>
                  </a:lnTo>
                  <a:lnTo>
                    <a:pt x="45789" y="45784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9" y="1001303"/>
                  </a:lnTo>
                  <a:lnTo>
                    <a:pt x="99190" y="1035322"/>
                  </a:lnTo>
                  <a:lnTo>
                    <a:pt x="153792" y="1045617"/>
                  </a:lnTo>
                  <a:lnTo>
                    <a:pt x="192322" y="1046904"/>
                  </a:lnTo>
                  <a:lnTo>
                    <a:pt x="240097" y="1047088"/>
                  </a:lnTo>
                  <a:lnTo>
                    <a:pt x="1929543" y="1047088"/>
                  </a:lnTo>
                  <a:lnTo>
                    <a:pt x="1977317" y="1046904"/>
                  </a:lnTo>
                  <a:lnTo>
                    <a:pt x="2015848" y="1045617"/>
                  </a:lnTo>
                  <a:lnTo>
                    <a:pt x="2070450" y="1035322"/>
                  </a:lnTo>
                  <a:lnTo>
                    <a:pt x="2123851" y="1001303"/>
                  </a:lnTo>
                  <a:lnTo>
                    <a:pt x="2157871" y="947904"/>
                  </a:lnTo>
                  <a:lnTo>
                    <a:pt x="2168169" y="893300"/>
                  </a:lnTo>
                  <a:lnTo>
                    <a:pt x="2169456" y="854769"/>
                  </a:lnTo>
                  <a:lnTo>
                    <a:pt x="2169640" y="806991"/>
                  </a:lnTo>
                  <a:lnTo>
                    <a:pt x="2169640" y="240097"/>
                  </a:lnTo>
                  <a:lnTo>
                    <a:pt x="2169456" y="192319"/>
                  </a:lnTo>
                  <a:lnTo>
                    <a:pt x="2168169" y="153788"/>
                  </a:lnTo>
                  <a:lnTo>
                    <a:pt x="2157871" y="99184"/>
                  </a:lnTo>
                  <a:lnTo>
                    <a:pt x="2123851" y="45784"/>
                  </a:lnTo>
                  <a:lnTo>
                    <a:pt x="2070450" y="11766"/>
                  </a:lnTo>
                  <a:lnTo>
                    <a:pt x="2015848" y="1470"/>
                  </a:lnTo>
                  <a:lnTo>
                    <a:pt x="1977317" y="183"/>
                  </a:lnTo>
                  <a:lnTo>
                    <a:pt x="1929543" y="0"/>
                  </a:lnTo>
                  <a:close/>
                </a:path>
              </a:pathLst>
            </a:custGeom>
            <a:solidFill>
              <a:srgbClr val="D6EFF2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6" name="object 26"/>
            <p:cNvSpPr/>
            <p:nvPr/>
          </p:nvSpPr>
          <p:spPr>
            <a:xfrm>
              <a:off x="11250913" y="6700531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5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00AEBB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207903" y="4244691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668031" y="3087787"/>
            <a:ext cx="1341180" cy="660386"/>
            <a:chOff x="14293519" y="5091990"/>
            <a:chExt cx="2211705" cy="1089025"/>
          </a:xfrm>
        </p:grpSpPr>
        <p:sp>
          <p:nvSpPr>
            <p:cNvPr id="29" name="object 29"/>
            <p:cNvSpPr/>
            <p:nvPr/>
          </p:nvSpPr>
          <p:spPr>
            <a:xfrm>
              <a:off x="14314474" y="5112945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4">
                  <a:moveTo>
                    <a:pt x="1929532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0" y="11766"/>
                  </a:lnTo>
                  <a:lnTo>
                    <a:pt x="45783" y="45785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2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3" y="1001303"/>
                  </a:lnTo>
                  <a:lnTo>
                    <a:pt x="99180" y="1035323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1929532" y="1047088"/>
                  </a:lnTo>
                  <a:lnTo>
                    <a:pt x="1977312" y="1046904"/>
                  </a:lnTo>
                  <a:lnTo>
                    <a:pt x="2015843" y="1045617"/>
                  </a:lnTo>
                  <a:lnTo>
                    <a:pt x="2070450" y="1035323"/>
                  </a:lnTo>
                  <a:lnTo>
                    <a:pt x="2123847" y="1001303"/>
                  </a:lnTo>
                  <a:lnTo>
                    <a:pt x="2157871" y="947904"/>
                  </a:lnTo>
                  <a:lnTo>
                    <a:pt x="2168160" y="893300"/>
                  </a:lnTo>
                  <a:lnTo>
                    <a:pt x="2169446" y="854769"/>
                  </a:lnTo>
                  <a:lnTo>
                    <a:pt x="2169630" y="806992"/>
                  </a:lnTo>
                  <a:lnTo>
                    <a:pt x="2169630" y="240097"/>
                  </a:lnTo>
                  <a:lnTo>
                    <a:pt x="2169446" y="192319"/>
                  </a:lnTo>
                  <a:lnTo>
                    <a:pt x="2168160" y="153788"/>
                  </a:lnTo>
                  <a:lnTo>
                    <a:pt x="2157871" y="99184"/>
                  </a:lnTo>
                  <a:lnTo>
                    <a:pt x="2123847" y="45785"/>
                  </a:lnTo>
                  <a:lnTo>
                    <a:pt x="2070450" y="11766"/>
                  </a:lnTo>
                  <a:lnTo>
                    <a:pt x="2015843" y="1470"/>
                  </a:lnTo>
                  <a:lnTo>
                    <a:pt x="1977312" y="183"/>
                  </a:lnTo>
                  <a:lnTo>
                    <a:pt x="1929532" y="0"/>
                  </a:lnTo>
                  <a:close/>
                </a:path>
              </a:pathLst>
            </a:custGeom>
            <a:solidFill>
              <a:srgbClr val="FEF1D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30"/>
            <p:cNvSpPr/>
            <p:nvPr/>
          </p:nvSpPr>
          <p:spPr>
            <a:xfrm>
              <a:off x="14314474" y="5112945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4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F8B62D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894567" y="3160096"/>
            <a:ext cx="888344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234889" marR="3081" indent="-227573">
              <a:lnSpc>
                <a:spcPct val="103099"/>
              </a:lnSpc>
              <a:spcBef>
                <a:spcPts val="24"/>
              </a:spcBef>
            </a:pPr>
            <a:r>
              <a:rPr sz="1577" spc="-27" dirty="0">
                <a:latin typeface="Arial MT"/>
                <a:cs typeface="Arial MT"/>
              </a:rPr>
              <a:t>Distillation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575956" y="5200032"/>
            <a:ext cx="1809803" cy="660386"/>
            <a:chOff x="10843533" y="8575237"/>
            <a:chExt cx="2984500" cy="1089025"/>
          </a:xfrm>
        </p:grpSpPr>
        <p:sp>
          <p:nvSpPr>
            <p:cNvPr id="33" name="object 33"/>
            <p:cNvSpPr/>
            <p:nvPr/>
          </p:nvSpPr>
          <p:spPr>
            <a:xfrm>
              <a:off x="10864475" y="8596178"/>
              <a:ext cx="2942590" cy="1047115"/>
            </a:xfrm>
            <a:custGeom>
              <a:avLst/>
              <a:gdLst/>
              <a:ahLst/>
              <a:cxnLst/>
              <a:rect l="l" t="t" r="r" b="b"/>
              <a:pathLst>
                <a:path w="2942590" h="1047115">
                  <a:moveTo>
                    <a:pt x="2702420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123187" y="4963"/>
                  </a:lnTo>
                  <a:lnTo>
                    <a:pt x="99190" y="11766"/>
                  </a:lnTo>
                  <a:lnTo>
                    <a:pt x="45789" y="45785"/>
                  </a:lnTo>
                  <a:lnTo>
                    <a:pt x="11769" y="99185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2"/>
                  </a:lnTo>
                  <a:lnTo>
                    <a:pt x="183" y="854770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9" y="1001304"/>
                  </a:lnTo>
                  <a:lnTo>
                    <a:pt x="99190" y="1035323"/>
                  </a:lnTo>
                  <a:lnTo>
                    <a:pt x="153792" y="1045617"/>
                  </a:lnTo>
                  <a:lnTo>
                    <a:pt x="192322" y="1046904"/>
                  </a:lnTo>
                  <a:lnTo>
                    <a:pt x="240097" y="1047088"/>
                  </a:lnTo>
                  <a:lnTo>
                    <a:pt x="2702420" y="1047088"/>
                  </a:lnTo>
                  <a:lnTo>
                    <a:pt x="2750199" y="1046904"/>
                  </a:lnTo>
                  <a:lnTo>
                    <a:pt x="2788729" y="1045617"/>
                  </a:lnTo>
                  <a:lnTo>
                    <a:pt x="2843327" y="1035323"/>
                  </a:lnTo>
                  <a:lnTo>
                    <a:pt x="2896728" y="1001304"/>
                  </a:lnTo>
                  <a:lnTo>
                    <a:pt x="2930748" y="947904"/>
                  </a:lnTo>
                  <a:lnTo>
                    <a:pt x="2941046" y="893300"/>
                  </a:lnTo>
                  <a:lnTo>
                    <a:pt x="2942333" y="854770"/>
                  </a:lnTo>
                  <a:lnTo>
                    <a:pt x="2942517" y="806992"/>
                  </a:lnTo>
                  <a:lnTo>
                    <a:pt x="2942517" y="240097"/>
                  </a:lnTo>
                  <a:lnTo>
                    <a:pt x="2942333" y="192319"/>
                  </a:lnTo>
                  <a:lnTo>
                    <a:pt x="2941046" y="153788"/>
                  </a:lnTo>
                  <a:lnTo>
                    <a:pt x="2930748" y="99185"/>
                  </a:lnTo>
                  <a:lnTo>
                    <a:pt x="2896728" y="45785"/>
                  </a:lnTo>
                  <a:lnTo>
                    <a:pt x="2843327" y="11766"/>
                  </a:lnTo>
                  <a:lnTo>
                    <a:pt x="2788729" y="1470"/>
                  </a:lnTo>
                  <a:lnTo>
                    <a:pt x="2750199" y="183"/>
                  </a:lnTo>
                  <a:lnTo>
                    <a:pt x="2702420" y="0"/>
                  </a:lnTo>
                  <a:close/>
                </a:path>
              </a:pathLst>
            </a:custGeom>
            <a:solidFill>
              <a:srgbClr val="FEF1D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4"/>
            <p:cNvSpPr/>
            <p:nvPr/>
          </p:nvSpPr>
          <p:spPr>
            <a:xfrm>
              <a:off x="10864475" y="8596178"/>
              <a:ext cx="2942590" cy="1047115"/>
            </a:xfrm>
            <a:custGeom>
              <a:avLst/>
              <a:gdLst/>
              <a:ahLst/>
              <a:cxnLst/>
              <a:rect l="l" t="t" r="r" b="b"/>
              <a:pathLst>
                <a:path w="2942590" h="1047115">
                  <a:moveTo>
                    <a:pt x="240097" y="0"/>
                  </a:moveTo>
                  <a:lnTo>
                    <a:pt x="2702414" y="0"/>
                  </a:lnTo>
                  <a:lnTo>
                    <a:pt x="2750192" y="183"/>
                  </a:lnTo>
                  <a:lnTo>
                    <a:pt x="2788723" y="1470"/>
                  </a:lnTo>
                  <a:lnTo>
                    <a:pt x="2843327" y="11765"/>
                  </a:lnTo>
                  <a:lnTo>
                    <a:pt x="2896726" y="45785"/>
                  </a:lnTo>
                  <a:lnTo>
                    <a:pt x="2930745" y="99184"/>
                  </a:lnTo>
                  <a:lnTo>
                    <a:pt x="2941040" y="153788"/>
                  </a:lnTo>
                  <a:lnTo>
                    <a:pt x="2942327" y="192318"/>
                  </a:lnTo>
                  <a:lnTo>
                    <a:pt x="2942511" y="240097"/>
                  </a:lnTo>
                  <a:lnTo>
                    <a:pt x="2942511" y="806991"/>
                  </a:lnTo>
                  <a:lnTo>
                    <a:pt x="2942327" y="854769"/>
                  </a:lnTo>
                  <a:lnTo>
                    <a:pt x="2941040" y="893300"/>
                  </a:lnTo>
                  <a:lnTo>
                    <a:pt x="2930745" y="947904"/>
                  </a:lnTo>
                  <a:lnTo>
                    <a:pt x="2896726" y="1001303"/>
                  </a:lnTo>
                  <a:lnTo>
                    <a:pt x="2843327" y="1035322"/>
                  </a:lnTo>
                  <a:lnTo>
                    <a:pt x="2788723" y="1045617"/>
                  </a:lnTo>
                  <a:lnTo>
                    <a:pt x="2750192" y="1046904"/>
                  </a:lnTo>
                  <a:lnTo>
                    <a:pt x="270241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F8B62D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427495" y="4681356"/>
            <a:ext cx="107048" cy="480176"/>
            <a:chOff x="12247784" y="7719903"/>
            <a:chExt cx="176530" cy="791845"/>
          </a:xfrm>
        </p:grpSpPr>
        <p:sp>
          <p:nvSpPr>
            <p:cNvPr id="36" name="object 36"/>
            <p:cNvSpPr/>
            <p:nvPr/>
          </p:nvSpPr>
          <p:spPr>
            <a:xfrm>
              <a:off x="12335739" y="7740858"/>
              <a:ext cx="0" cy="659765"/>
            </a:xfrm>
            <a:custGeom>
              <a:avLst/>
              <a:gdLst/>
              <a:ahLst/>
              <a:cxnLst/>
              <a:rect l="l" t="t" r="r" b="b"/>
              <a:pathLst>
                <a:path h="659765">
                  <a:moveTo>
                    <a:pt x="0" y="0"/>
                  </a:moveTo>
                  <a:lnTo>
                    <a:pt x="0" y="659714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47784" y="8335652"/>
              <a:ext cx="175910" cy="175910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3542" y="1588752"/>
            <a:ext cx="1256351" cy="1458712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4302086" y="3141554"/>
            <a:ext cx="1495206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58" dirty="0">
                <a:latin typeface="Arial MT"/>
                <a:cs typeface="Arial MT"/>
              </a:rPr>
              <a:t>Teacher</a:t>
            </a:r>
            <a:r>
              <a:rPr sz="1577" spc="-30" dirty="0">
                <a:latin typeface="Arial MT"/>
                <a:cs typeface="Arial MT"/>
              </a:rPr>
              <a:t> </a:t>
            </a:r>
            <a:r>
              <a:rPr sz="1577" spc="3" dirty="0">
                <a:latin typeface="Arial MT"/>
                <a:cs typeface="Arial MT"/>
              </a:rPr>
              <a:t>Network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00461" y="4940253"/>
            <a:ext cx="3758230" cy="819974"/>
          </a:xfrm>
          <a:prstGeom prst="rect">
            <a:avLst/>
          </a:prstGeom>
        </p:spPr>
        <p:txBody>
          <a:bodyPr vert="horz" wrap="square" lIns="0" tIns="54679" rIns="0" bIns="0" rtlCol="0">
            <a:spAutoFit/>
          </a:bodyPr>
          <a:lstStyle/>
          <a:p>
            <a:pPr marL="7701">
              <a:spcBef>
                <a:spcPts val="431"/>
              </a:spcBef>
            </a:pPr>
            <a:r>
              <a:rPr sz="1577" spc="-3" dirty="0">
                <a:latin typeface="Arial MT"/>
                <a:cs typeface="Arial MT"/>
              </a:rPr>
              <a:t>Student</a:t>
            </a:r>
            <a:r>
              <a:rPr sz="1577" spc="-18" dirty="0">
                <a:latin typeface="Arial MT"/>
                <a:cs typeface="Arial MT"/>
              </a:rPr>
              <a:t> </a:t>
            </a:r>
            <a:r>
              <a:rPr sz="1577" spc="3" dirty="0">
                <a:latin typeface="Arial MT"/>
                <a:cs typeface="Arial MT"/>
              </a:rPr>
              <a:t>Network</a:t>
            </a:r>
            <a:endParaRPr sz="1577">
              <a:latin typeface="Arial MT"/>
              <a:cs typeface="Arial MT"/>
            </a:endParaRPr>
          </a:p>
          <a:p>
            <a:pPr marL="2971539" marR="3081" indent="-361575">
              <a:lnSpc>
                <a:spcPct val="103099"/>
              </a:lnSpc>
              <a:spcBef>
                <a:spcPts val="315"/>
              </a:spcBef>
            </a:pPr>
            <a:r>
              <a:rPr sz="1577" spc="-36" dirty="0">
                <a:latin typeface="Arial MT"/>
                <a:cs typeface="Arial MT"/>
              </a:rPr>
              <a:t>Classi</a:t>
            </a:r>
            <a:r>
              <a:rPr sz="1577" spc="-39" dirty="0">
                <a:latin typeface="Arial MT"/>
                <a:cs typeface="Arial MT"/>
              </a:rPr>
              <a:t>fi</a:t>
            </a:r>
            <a:r>
              <a:rPr sz="1577" spc="-6" dirty="0">
                <a:latin typeface="Arial MT"/>
                <a:cs typeface="Arial MT"/>
              </a:rPr>
              <a:t>cation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93083" y="2712484"/>
            <a:ext cx="384968" cy="848856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4690785" y="3962086"/>
            <a:ext cx="1380456" cy="1093198"/>
            <a:chOff x="7734746" y="6533774"/>
            <a:chExt cx="2276475" cy="1802764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4746" y="6533774"/>
              <a:ext cx="1187324" cy="137856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10668" y="7136120"/>
              <a:ext cx="1200225" cy="1200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3629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6F18D6-5D7D-8CBE-C215-D45146B05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Knowledge distillation</a:t>
            </a:r>
            <a:r>
              <a:rPr lang="en-US" dirty="0"/>
              <a:t> refers to the process of </a:t>
            </a:r>
            <a:r>
              <a:rPr lang="en-US" dirty="0">
                <a:solidFill>
                  <a:srgbClr val="00B0F0"/>
                </a:solidFill>
              </a:rPr>
              <a:t>transferring the knowledge from a large model to a smaller model without any significant loss in performance</a:t>
            </a:r>
            <a:r>
              <a:rPr lang="en-US" dirty="0"/>
              <a:t>. </a:t>
            </a:r>
          </a:p>
          <a:p>
            <a:r>
              <a:rPr lang="en-US" dirty="0"/>
              <a:t>Practically deployed under real-world constraints. </a:t>
            </a:r>
          </a:p>
          <a:p>
            <a:r>
              <a:rPr lang="en-US" dirty="0"/>
              <a:t>It is a form of model compression </a:t>
            </a:r>
          </a:p>
          <a:p>
            <a:r>
              <a:rPr lang="en-US" dirty="0"/>
              <a:t>Knowledge distillation is performed more commonly on </a:t>
            </a:r>
            <a:r>
              <a:rPr lang="en-US" dirty="0">
                <a:solidFill>
                  <a:srgbClr val="00B0F0"/>
                </a:solidFill>
              </a:rPr>
              <a:t>complex neural network models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Complex architectures including several layers and model parameters.</a:t>
            </a:r>
          </a:p>
          <a:p>
            <a:r>
              <a:rPr lang="en-US" dirty="0"/>
              <a:t>Knowledge distillation techniques have gained prominence for </a:t>
            </a:r>
            <a:r>
              <a:rPr lang="en-US" dirty="0">
                <a:solidFill>
                  <a:srgbClr val="00B0F0"/>
                </a:solidFill>
              </a:rPr>
              <a:t>practical real-world applications </a:t>
            </a:r>
            <a:r>
              <a:rPr lang="en-US" dirty="0"/>
              <a:t>of deep learning.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196E6-1C3A-62C6-8DDE-9440EA36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A3E56-2DC1-496C-A678-9DEA43D33318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77677-BC65-A7F8-5070-6504CD9D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73AC6-7D06-2E4B-DDA2-8EB89EE6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8A87B25-E581-59E4-20F7-B4B0ABC3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Distillation</a:t>
            </a:r>
          </a:p>
        </p:txBody>
      </p:sp>
    </p:spTree>
    <p:extLst>
      <p:ext uri="{BB962C8B-B14F-4D97-AF65-F5344CB8AC3E}">
        <p14:creationId xmlns:p14="http://schemas.microsoft.com/office/powerpoint/2010/main" val="1034275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61C0D-8138-4524-0436-3257876D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71FF-6831-4A76-994F-60163D76078F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44260-BF88-016A-0DBB-7C7899B0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1D663-1125-7FF7-C2D7-1A015FEE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858DE6-CDF4-8F37-8151-3889F96F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Distillation</a:t>
            </a:r>
          </a:p>
        </p:txBody>
      </p:sp>
      <p:pic>
        <p:nvPicPr>
          <p:cNvPr id="1026" name="Picture 2" descr="Knowledge distilation framework">
            <a:extLst>
              <a:ext uri="{FF2B5EF4-FFF2-40B4-BE49-F238E27FC236}">
                <a16:creationId xmlns:a16="http://schemas.microsoft.com/office/drawing/2014/main" id="{1A143F0D-016B-480B-C654-35888C6D1E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46" y="1600200"/>
            <a:ext cx="1090490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392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530872"/>
            <a:ext cx="10972800" cy="995659"/>
          </a:xfrm>
          <a:prstGeom prst="rect">
            <a:avLst/>
          </a:prstGeom>
        </p:spPr>
        <p:txBody>
          <a:bodyPr vert="horz" wrap="square" lIns="0" tIns="72392" rIns="0" bIns="0" rtlCol="0" anchor="ctr">
            <a:spAutoFit/>
          </a:bodyPr>
          <a:lstStyle/>
          <a:p>
            <a:pPr marL="10012">
              <a:spcBef>
                <a:spcPts val="570"/>
              </a:spcBef>
            </a:pPr>
            <a:r>
              <a:rPr lang="en-US" spc="-94" dirty="0"/>
              <a:t>K</a:t>
            </a:r>
            <a:r>
              <a:rPr lang="en-US" spc="-52" dirty="0"/>
              <a:t>nowledge</a:t>
            </a:r>
            <a:r>
              <a:rPr lang="en-US" spc="-179" dirty="0"/>
              <a:t> </a:t>
            </a:r>
            <a:r>
              <a:rPr lang="en-US" spc="-115" dirty="0"/>
              <a:t>Distillation</a:t>
            </a:r>
            <a:br>
              <a:rPr lang="en-US" spc="-115" dirty="0"/>
            </a:br>
            <a:r>
              <a:rPr sz="2395" spc="24" dirty="0">
                <a:solidFill>
                  <a:srgbClr val="000000"/>
                </a:solidFill>
              </a:rPr>
              <a:t>Matching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-3" dirty="0">
                <a:solidFill>
                  <a:srgbClr val="000000"/>
                </a:solidFill>
              </a:rPr>
              <a:t>prediction</a:t>
            </a:r>
            <a:r>
              <a:rPr sz="2395" spc="6" dirty="0">
                <a:solidFill>
                  <a:srgbClr val="000000"/>
                </a:solidFill>
              </a:rPr>
              <a:t> </a:t>
            </a:r>
            <a:r>
              <a:rPr sz="2395" spc="-12" dirty="0">
                <a:solidFill>
                  <a:srgbClr val="000000"/>
                </a:solidFill>
              </a:rPr>
              <a:t>probabilities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33" dirty="0">
                <a:solidFill>
                  <a:srgbClr val="000000"/>
                </a:solidFill>
              </a:rPr>
              <a:t>between</a:t>
            </a:r>
            <a:r>
              <a:rPr sz="2395" spc="6" dirty="0">
                <a:solidFill>
                  <a:srgbClr val="000000"/>
                </a:solidFill>
              </a:rPr>
              <a:t> </a:t>
            </a:r>
            <a:r>
              <a:rPr sz="2395" spc="24" dirty="0">
                <a:solidFill>
                  <a:srgbClr val="000000"/>
                </a:solidFill>
              </a:rPr>
              <a:t>teacher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and</a:t>
            </a:r>
            <a:r>
              <a:rPr sz="2395" spc="6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student</a:t>
            </a:r>
            <a:endParaRPr sz="2395" dirty="0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4294967295"/>
          </p:nvPr>
        </p:nvSpPr>
        <p:spPr>
          <a:xfrm>
            <a:off x="9364663" y="10885488"/>
            <a:ext cx="2827337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3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01">
              <a:spcBef>
                <a:spcPts val="30"/>
              </a:spcBef>
            </a:pPr>
            <a:r>
              <a:rPr lang="en-US" spc="40"/>
              <a:t>Presented by  Dr. Muhammad Nouman Noor</a:t>
            </a:r>
            <a:endParaRPr spc="3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4294967295"/>
          </p:nvPr>
        </p:nvSpPr>
        <p:spPr>
          <a:xfrm>
            <a:off x="11836400" y="10922000"/>
            <a:ext cx="355600" cy="319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950" b="0" i="0" kern="1200">
                <a:solidFill>
                  <a:schemeClr val="bg1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30"/>
              </a:spcBef>
            </a:pPr>
            <a:fld id="{81D60167-4931-47E6-BA6A-407CBD079E47}" type="slidenum">
              <a:rPr lang="en-US" spc="75" smtClean="0"/>
              <a:pPr marL="38100">
                <a:spcBef>
                  <a:spcPts val="30"/>
                </a:spcBef>
              </a:pPr>
              <a:t>15</a:t>
            </a:fld>
            <a:endParaRPr spc="45" dirty="0"/>
          </a:p>
        </p:txBody>
      </p:sp>
      <p:grpSp>
        <p:nvGrpSpPr>
          <p:cNvPr id="3" name="object 3"/>
          <p:cNvGrpSpPr/>
          <p:nvPr/>
        </p:nvGrpSpPr>
        <p:grpSpPr>
          <a:xfrm>
            <a:off x="5232590" y="2409291"/>
            <a:ext cx="782066" cy="107048"/>
            <a:chOff x="8628222" y="3973100"/>
            <a:chExt cx="1289685" cy="176530"/>
          </a:xfrm>
        </p:grpSpPr>
        <p:sp>
          <p:nvSpPr>
            <p:cNvPr id="4" name="object 4"/>
            <p:cNvSpPr/>
            <p:nvPr/>
          </p:nvSpPr>
          <p:spPr>
            <a:xfrm>
              <a:off x="8628222" y="4061056"/>
              <a:ext cx="1178560" cy="0"/>
            </a:xfrm>
            <a:custGeom>
              <a:avLst/>
              <a:gdLst/>
              <a:ahLst/>
              <a:cxnLst/>
              <a:rect l="l" t="t" r="r" b="b"/>
              <a:pathLst>
                <a:path w="1178559">
                  <a:moveTo>
                    <a:pt x="0" y="0"/>
                  </a:moveTo>
                  <a:lnTo>
                    <a:pt x="1157422" y="0"/>
                  </a:lnTo>
                  <a:lnTo>
                    <a:pt x="1178364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9741666" y="3973100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8344" y="1576237"/>
            <a:ext cx="1256351" cy="145871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04750" y="2752517"/>
            <a:ext cx="3071660" cy="2034681"/>
            <a:chOff x="831664" y="4539104"/>
            <a:chExt cx="5065395" cy="3355340"/>
          </a:xfrm>
        </p:grpSpPr>
        <p:sp>
          <p:nvSpPr>
            <p:cNvPr id="8" name="object 8"/>
            <p:cNvSpPr/>
            <p:nvPr/>
          </p:nvSpPr>
          <p:spPr>
            <a:xfrm>
              <a:off x="4148937" y="4601455"/>
              <a:ext cx="1424940" cy="967740"/>
            </a:xfrm>
            <a:custGeom>
              <a:avLst/>
              <a:gdLst/>
              <a:ahLst/>
              <a:cxnLst/>
              <a:rect l="l" t="t" r="r" b="b"/>
              <a:pathLst>
                <a:path w="1424939" h="967739">
                  <a:moveTo>
                    <a:pt x="0" y="967257"/>
                  </a:moveTo>
                  <a:lnTo>
                    <a:pt x="1407163" y="11764"/>
                  </a:lnTo>
                  <a:lnTo>
                    <a:pt x="1424489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5470308" y="4539104"/>
              <a:ext cx="194945" cy="172085"/>
            </a:xfrm>
            <a:custGeom>
              <a:avLst/>
              <a:gdLst/>
              <a:ahLst/>
              <a:cxnLst/>
              <a:rect l="l" t="t" r="r" b="b"/>
              <a:pathLst>
                <a:path w="194945" h="172085">
                  <a:moveTo>
                    <a:pt x="194940" y="0"/>
                  </a:moveTo>
                  <a:lnTo>
                    <a:pt x="0" y="26053"/>
                  </a:lnTo>
                  <a:lnTo>
                    <a:pt x="85792" y="74113"/>
                  </a:lnTo>
                  <a:lnTo>
                    <a:pt x="98818" y="171585"/>
                  </a:lnTo>
                  <a:lnTo>
                    <a:pt x="1949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664" y="4987265"/>
              <a:ext cx="3580586" cy="21483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80550" y="6864633"/>
              <a:ext cx="1424940" cy="967740"/>
            </a:xfrm>
            <a:custGeom>
              <a:avLst/>
              <a:gdLst/>
              <a:ahLst/>
              <a:cxnLst/>
              <a:rect l="l" t="t" r="r" b="b"/>
              <a:pathLst>
                <a:path w="1424939" h="967740">
                  <a:moveTo>
                    <a:pt x="0" y="0"/>
                  </a:moveTo>
                  <a:lnTo>
                    <a:pt x="1407163" y="955494"/>
                  </a:lnTo>
                  <a:lnTo>
                    <a:pt x="1424488" y="967258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1920" y="7722658"/>
              <a:ext cx="194945" cy="172085"/>
            </a:xfrm>
            <a:custGeom>
              <a:avLst/>
              <a:gdLst/>
              <a:ahLst/>
              <a:cxnLst/>
              <a:rect l="l" t="t" r="r" b="b"/>
              <a:pathLst>
                <a:path w="194945" h="172084">
                  <a:moveTo>
                    <a:pt x="98818" y="0"/>
                  </a:moveTo>
                  <a:lnTo>
                    <a:pt x="85793" y="97470"/>
                  </a:lnTo>
                  <a:lnTo>
                    <a:pt x="0" y="145530"/>
                  </a:lnTo>
                  <a:lnTo>
                    <a:pt x="194941" y="171584"/>
                  </a:lnTo>
                  <a:lnTo>
                    <a:pt x="988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232590" y="4882501"/>
            <a:ext cx="782066" cy="107048"/>
            <a:chOff x="8628222" y="8051606"/>
            <a:chExt cx="1289685" cy="176530"/>
          </a:xfrm>
        </p:grpSpPr>
        <p:sp>
          <p:nvSpPr>
            <p:cNvPr id="14" name="object 14"/>
            <p:cNvSpPr/>
            <p:nvPr/>
          </p:nvSpPr>
          <p:spPr>
            <a:xfrm>
              <a:off x="8628222" y="8139561"/>
              <a:ext cx="1178560" cy="0"/>
            </a:xfrm>
            <a:custGeom>
              <a:avLst/>
              <a:gdLst/>
              <a:ahLst/>
              <a:cxnLst/>
              <a:rect l="l" t="t" r="r" b="b"/>
              <a:pathLst>
                <a:path w="1178559">
                  <a:moveTo>
                    <a:pt x="0" y="0"/>
                  </a:moveTo>
                  <a:lnTo>
                    <a:pt x="1157422" y="0"/>
                  </a:lnTo>
                  <a:lnTo>
                    <a:pt x="1178364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5" name="object 15"/>
            <p:cNvSpPr/>
            <p:nvPr/>
          </p:nvSpPr>
          <p:spPr>
            <a:xfrm>
              <a:off x="9741666" y="8051606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353157" y="1514369"/>
          <a:ext cx="3894159" cy="189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Logits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Probabilities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Cat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0.982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195" dirty="0">
                          <a:latin typeface="Trebuchet MS"/>
                          <a:cs typeface="Trebuchet MS"/>
                        </a:rPr>
                        <a:t>Dog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0.017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353157" y="4041491"/>
          <a:ext cx="3894159" cy="189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Logits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Probabilities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Cat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3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0.731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195" dirty="0">
                          <a:latin typeface="Trebuchet MS"/>
                          <a:cs typeface="Trebuchet MS"/>
                        </a:rPr>
                        <a:t>Dog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0.269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8995918" y="2188659"/>
            <a:ext cx="1164820" cy="547947"/>
          </a:xfrm>
          <a:custGeom>
            <a:avLst/>
            <a:gdLst/>
            <a:ahLst/>
            <a:cxnLst/>
            <a:rect l="l" t="t" r="r" b="b"/>
            <a:pathLst>
              <a:path w="1920875" h="903604">
                <a:moveTo>
                  <a:pt x="1639112" y="132327"/>
                </a:moveTo>
                <a:lnTo>
                  <a:pt x="1687920" y="157046"/>
                </a:lnTo>
                <a:lnTo>
                  <a:pt x="1732080" y="183000"/>
                </a:lnTo>
                <a:lnTo>
                  <a:pt x="1771591" y="210066"/>
                </a:lnTo>
                <a:lnTo>
                  <a:pt x="1806454" y="238120"/>
                </a:lnTo>
                <a:lnTo>
                  <a:pt x="1836668" y="267039"/>
                </a:lnTo>
                <a:lnTo>
                  <a:pt x="1862234" y="296699"/>
                </a:lnTo>
                <a:lnTo>
                  <a:pt x="1899421" y="357749"/>
                </a:lnTo>
                <a:lnTo>
                  <a:pt x="1918015" y="420282"/>
                </a:lnTo>
                <a:lnTo>
                  <a:pt x="1920339" y="451795"/>
                </a:lnTo>
                <a:lnTo>
                  <a:pt x="1918015" y="483309"/>
                </a:lnTo>
                <a:lnTo>
                  <a:pt x="1899421" y="545841"/>
                </a:lnTo>
                <a:lnTo>
                  <a:pt x="1862234" y="606891"/>
                </a:lnTo>
                <a:lnTo>
                  <a:pt x="1836668" y="636552"/>
                </a:lnTo>
                <a:lnTo>
                  <a:pt x="1806454" y="665471"/>
                </a:lnTo>
                <a:lnTo>
                  <a:pt x="1771591" y="693525"/>
                </a:lnTo>
                <a:lnTo>
                  <a:pt x="1732080" y="720591"/>
                </a:lnTo>
                <a:lnTo>
                  <a:pt x="1687920" y="746545"/>
                </a:lnTo>
                <a:lnTo>
                  <a:pt x="1639112" y="771263"/>
                </a:lnTo>
                <a:lnTo>
                  <a:pt x="1598066" y="789492"/>
                </a:lnTo>
                <a:lnTo>
                  <a:pt x="1555365" y="806370"/>
                </a:lnTo>
                <a:lnTo>
                  <a:pt x="1511136" y="821899"/>
                </a:lnTo>
                <a:lnTo>
                  <a:pt x="1465505" y="836077"/>
                </a:lnTo>
                <a:lnTo>
                  <a:pt x="1418601" y="848904"/>
                </a:lnTo>
                <a:lnTo>
                  <a:pt x="1370551" y="860382"/>
                </a:lnTo>
                <a:lnTo>
                  <a:pt x="1321482" y="870509"/>
                </a:lnTo>
                <a:lnTo>
                  <a:pt x="1271522" y="879286"/>
                </a:lnTo>
                <a:lnTo>
                  <a:pt x="1220797" y="886712"/>
                </a:lnTo>
                <a:lnTo>
                  <a:pt x="1169436" y="892789"/>
                </a:lnTo>
                <a:lnTo>
                  <a:pt x="1117565" y="897515"/>
                </a:lnTo>
                <a:lnTo>
                  <a:pt x="1065312" y="900890"/>
                </a:lnTo>
                <a:lnTo>
                  <a:pt x="1012804" y="902916"/>
                </a:lnTo>
                <a:lnTo>
                  <a:pt x="960169" y="903591"/>
                </a:lnTo>
                <a:lnTo>
                  <a:pt x="907534" y="902916"/>
                </a:lnTo>
                <a:lnTo>
                  <a:pt x="855027" y="900890"/>
                </a:lnTo>
                <a:lnTo>
                  <a:pt x="802774" y="897515"/>
                </a:lnTo>
                <a:lnTo>
                  <a:pt x="750903" y="892789"/>
                </a:lnTo>
                <a:lnTo>
                  <a:pt x="699542" y="886712"/>
                </a:lnTo>
                <a:lnTo>
                  <a:pt x="648817" y="879286"/>
                </a:lnTo>
                <a:lnTo>
                  <a:pt x="598856" y="870509"/>
                </a:lnTo>
                <a:lnTo>
                  <a:pt x="549787" y="860382"/>
                </a:lnTo>
                <a:lnTo>
                  <a:pt x="501737" y="848904"/>
                </a:lnTo>
                <a:lnTo>
                  <a:pt x="454833" y="836077"/>
                </a:lnTo>
                <a:lnTo>
                  <a:pt x="409203" y="821899"/>
                </a:lnTo>
                <a:lnTo>
                  <a:pt x="364974" y="806370"/>
                </a:lnTo>
                <a:lnTo>
                  <a:pt x="322272" y="789492"/>
                </a:lnTo>
                <a:lnTo>
                  <a:pt x="281227" y="771263"/>
                </a:lnTo>
                <a:lnTo>
                  <a:pt x="232419" y="746545"/>
                </a:lnTo>
                <a:lnTo>
                  <a:pt x="188259" y="720591"/>
                </a:lnTo>
                <a:lnTo>
                  <a:pt x="148748" y="693525"/>
                </a:lnTo>
                <a:lnTo>
                  <a:pt x="113885" y="665471"/>
                </a:lnTo>
                <a:lnTo>
                  <a:pt x="83670" y="636552"/>
                </a:lnTo>
                <a:lnTo>
                  <a:pt x="58104" y="606891"/>
                </a:lnTo>
                <a:lnTo>
                  <a:pt x="20917" y="545841"/>
                </a:lnTo>
                <a:lnTo>
                  <a:pt x="2324" y="483309"/>
                </a:lnTo>
                <a:lnTo>
                  <a:pt x="0" y="451795"/>
                </a:lnTo>
                <a:lnTo>
                  <a:pt x="2324" y="420282"/>
                </a:lnTo>
                <a:lnTo>
                  <a:pt x="20917" y="357749"/>
                </a:lnTo>
                <a:lnTo>
                  <a:pt x="58104" y="296699"/>
                </a:lnTo>
                <a:lnTo>
                  <a:pt x="83670" y="267039"/>
                </a:lnTo>
                <a:lnTo>
                  <a:pt x="113885" y="238120"/>
                </a:lnTo>
                <a:lnTo>
                  <a:pt x="148748" y="210066"/>
                </a:lnTo>
                <a:lnTo>
                  <a:pt x="188259" y="183000"/>
                </a:lnTo>
                <a:lnTo>
                  <a:pt x="232419" y="157046"/>
                </a:lnTo>
                <a:lnTo>
                  <a:pt x="281227" y="132327"/>
                </a:lnTo>
                <a:lnTo>
                  <a:pt x="322272" y="114099"/>
                </a:lnTo>
                <a:lnTo>
                  <a:pt x="364974" y="97220"/>
                </a:lnTo>
                <a:lnTo>
                  <a:pt x="409203" y="81692"/>
                </a:lnTo>
                <a:lnTo>
                  <a:pt x="454833" y="67514"/>
                </a:lnTo>
                <a:lnTo>
                  <a:pt x="501737" y="54686"/>
                </a:lnTo>
                <a:lnTo>
                  <a:pt x="549787" y="43209"/>
                </a:lnTo>
                <a:lnTo>
                  <a:pt x="598856" y="33081"/>
                </a:lnTo>
                <a:lnTo>
                  <a:pt x="648817" y="24305"/>
                </a:lnTo>
                <a:lnTo>
                  <a:pt x="699542" y="16878"/>
                </a:lnTo>
                <a:lnTo>
                  <a:pt x="750903" y="10802"/>
                </a:lnTo>
                <a:lnTo>
                  <a:pt x="802774" y="6076"/>
                </a:lnTo>
                <a:lnTo>
                  <a:pt x="855027" y="2700"/>
                </a:lnTo>
                <a:lnTo>
                  <a:pt x="907534" y="675"/>
                </a:lnTo>
                <a:lnTo>
                  <a:pt x="960169" y="0"/>
                </a:lnTo>
                <a:lnTo>
                  <a:pt x="1012804" y="675"/>
                </a:lnTo>
                <a:lnTo>
                  <a:pt x="1065312" y="2700"/>
                </a:lnTo>
                <a:lnTo>
                  <a:pt x="1117565" y="6076"/>
                </a:lnTo>
                <a:lnTo>
                  <a:pt x="1169436" y="10802"/>
                </a:lnTo>
                <a:lnTo>
                  <a:pt x="1220797" y="16878"/>
                </a:lnTo>
                <a:lnTo>
                  <a:pt x="1271522" y="24305"/>
                </a:lnTo>
                <a:lnTo>
                  <a:pt x="1321482" y="33081"/>
                </a:lnTo>
                <a:lnTo>
                  <a:pt x="1370551" y="43209"/>
                </a:lnTo>
                <a:lnTo>
                  <a:pt x="1418601" y="54686"/>
                </a:lnTo>
                <a:lnTo>
                  <a:pt x="1465505" y="67514"/>
                </a:lnTo>
                <a:lnTo>
                  <a:pt x="1511136" y="81692"/>
                </a:lnTo>
                <a:lnTo>
                  <a:pt x="1555365" y="97220"/>
                </a:lnTo>
                <a:lnTo>
                  <a:pt x="1598066" y="114099"/>
                </a:lnTo>
                <a:lnTo>
                  <a:pt x="1639112" y="132327"/>
                </a:lnTo>
                <a:close/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 txBox="1"/>
          <p:nvPr/>
        </p:nvSpPr>
        <p:spPr>
          <a:xfrm>
            <a:off x="10445851" y="2099960"/>
            <a:ext cx="1337714" cy="1198159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7725" marR="3081" indent="-20408">
              <a:lnSpc>
                <a:spcPct val="123000"/>
              </a:lnSpc>
              <a:spcBef>
                <a:spcPts val="55"/>
              </a:spcBef>
              <a:tabLst>
                <a:tab pos="405472" algn="l"/>
                <a:tab pos="1329626" algn="l"/>
              </a:tabLst>
            </a:pPr>
            <a:r>
              <a:rPr sz="1577" u="heavy" spc="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577" u="heavy" spc="-5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exp(5) 	</a:t>
            </a:r>
            <a:r>
              <a:rPr sz="1577" dirty="0">
                <a:latin typeface="Cambria"/>
                <a:cs typeface="Cambria"/>
              </a:rPr>
              <a:t> </a:t>
            </a:r>
            <a:r>
              <a:rPr sz="1577" spc="-58" dirty="0">
                <a:latin typeface="Cambria"/>
                <a:cs typeface="Cambria"/>
              </a:rPr>
              <a:t>exp(5)</a:t>
            </a:r>
            <a:r>
              <a:rPr sz="1577" spc="-18" dirty="0">
                <a:latin typeface="Cambria"/>
                <a:cs typeface="Cambria"/>
              </a:rPr>
              <a:t> </a:t>
            </a:r>
            <a:r>
              <a:rPr sz="1577" spc="221" dirty="0">
                <a:latin typeface="Cambria"/>
                <a:cs typeface="Cambria"/>
              </a:rPr>
              <a:t>+</a:t>
            </a:r>
            <a:r>
              <a:rPr sz="1577" spc="-18" dirty="0">
                <a:latin typeface="Cambria"/>
                <a:cs typeface="Cambria"/>
              </a:rPr>
              <a:t> </a:t>
            </a:r>
            <a:r>
              <a:rPr sz="1577" spc="-58" dirty="0">
                <a:latin typeface="Cambria"/>
                <a:cs typeface="Cambria"/>
              </a:rPr>
              <a:t>exp(1)</a:t>
            </a:r>
            <a:endParaRPr sz="1577">
              <a:latin typeface="Cambria"/>
              <a:cs typeface="Cambria"/>
            </a:endParaRPr>
          </a:p>
          <a:p>
            <a:pPr marL="27725" marR="3081" indent="-20408">
              <a:lnSpc>
                <a:spcPct val="123000"/>
              </a:lnSpc>
              <a:spcBef>
                <a:spcPts val="197"/>
              </a:spcBef>
              <a:tabLst>
                <a:tab pos="405472" algn="l"/>
                <a:tab pos="1329626" algn="l"/>
              </a:tabLst>
            </a:pPr>
            <a:r>
              <a:rPr sz="1577" u="heavy" spc="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577" u="heavy" spc="-5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exp(1) 	</a:t>
            </a:r>
            <a:r>
              <a:rPr sz="1577" dirty="0">
                <a:latin typeface="Cambria"/>
                <a:cs typeface="Cambria"/>
              </a:rPr>
              <a:t> </a:t>
            </a:r>
            <a:r>
              <a:rPr sz="1577" spc="-58" dirty="0">
                <a:latin typeface="Cambria"/>
                <a:cs typeface="Cambria"/>
              </a:rPr>
              <a:t>exp(5)</a:t>
            </a:r>
            <a:r>
              <a:rPr sz="1577" spc="-18" dirty="0">
                <a:latin typeface="Cambria"/>
                <a:cs typeface="Cambria"/>
              </a:rPr>
              <a:t> </a:t>
            </a:r>
            <a:r>
              <a:rPr sz="1577" spc="221" dirty="0">
                <a:latin typeface="Cambria"/>
                <a:cs typeface="Cambria"/>
              </a:rPr>
              <a:t>+</a:t>
            </a:r>
            <a:r>
              <a:rPr sz="1577" spc="-18" dirty="0">
                <a:latin typeface="Cambria"/>
                <a:cs typeface="Cambria"/>
              </a:rPr>
              <a:t> </a:t>
            </a:r>
            <a:r>
              <a:rPr sz="1577" spc="-58" dirty="0">
                <a:latin typeface="Cambria"/>
                <a:cs typeface="Cambria"/>
              </a:rPr>
              <a:t>exp(1)</a:t>
            </a:r>
            <a:endParaRPr sz="1577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95918" y="2795978"/>
            <a:ext cx="1164820" cy="547947"/>
          </a:xfrm>
          <a:custGeom>
            <a:avLst/>
            <a:gdLst/>
            <a:ahLst/>
            <a:cxnLst/>
            <a:rect l="l" t="t" r="r" b="b"/>
            <a:pathLst>
              <a:path w="1920875" h="903604">
                <a:moveTo>
                  <a:pt x="1639112" y="132327"/>
                </a:moveTo>
                <a:lnTo>
                  <a:pt x="1687920" y="157046"/>
                </a:lnTo>
                <a:lnTo>
                  <a:pt x="1732080" y="183000"/>
                </a:lnTo>
                <a:lnTo>
                  <a:pt x="1771591" y="210066"/>
                </a:lnTo>
                <a:lnTo>
                  <a:pt x="1806454" y="238120"/>
                </a:lnTo>
                <a:lnTo>
                  <a:pt x="1836668" y="267039"/>
                </a:lnTo>
                <a:lnTo>
                  <a:pt x="1862234" y="296699"/>
                </a:lnTo>
                <a:lnTo>
                  <a:pt x="1899421" y="357749"/>
                </a:lnTo>
                <a:lnTo>
                  <a:pt x="1918015" y="420282"/>
                </a:lnTo>
                <a:lnTo>
                  <a:pt x="1920339" y="451795"/>
                </a:lnTo>
                <a:lnTo>
                  <a:pt x="1918015" y="483309"/>
                </a:lnTo>
                <a:lnTo>
                  <a:pt x="1899421" y="545841"/>
                </a:lnTo>
                <a:lnTo>
                  <a:pt x="1862234" y="606891"/>
                </a:lnTo>
                <a:lnTo>
                  <a:pt x="1836668" y="636552"/>
                </a:lnTo>
                <a:lnTo>
                  <a:pt x="1806454" y="665471"/>
                </a:lnTo>
                <a:lnTo>
                  <a:pt x="1771591" y="693525"/>
                </a:lnTo>
                <a:lnTo>
                  <a:pt x="1732080" y="720591"/>
                </a:lnTo>
                <a:lnTo>
                  <a:pt x="1687920" y="746545"/>
                </a:lnTo>
                <a:lnTo>
                  <a:pt x="1639112" y="771263"/>
                </a:lnTo>
                <a:lnTo>
                  <a:pt x="1598066" y="789492"/>
                </a:lnTo>
                <a:lnTo>
                  <a:pt x="1555365" y="806370"/>
                </a:lnTo>
                <a:lnTo>
                  <a:pt x="1511136" y="821899"/>
                </a:lnTo>
                <a:lnTo>
                  <a:pt x="1465505" y="836077"/>
                </a:lnTo>
                <a:lnTo>
                  <a:pt x="1418601" y="848904"/>
                </a:lnTo>
                <a:lnTo>
                  <a:pt x="1370551" y="860382"/>
                </a:lnTo>
                <a:lnTo>
                  <a:pt x="1321482" y="870509"/>
                </a:lnTo>
                <a:lnTo>
                  <a:pt x="1271522" y="879286"/>
                </a:lnTo>
                <a:lnTo>
                  <a:pt x="1220797" y="886712"/>
                </a:lnTo>
                <a:lnTo>
                  <a:pt x="1169436" y="892789"/>
                </a:lnTo>
                <a:lnTo>
                  <a:pt x="1117565" y="897515"/>
                </a:lnTo>
                <a:lnTo>
                  <a:pt x="1065312" y="900890"/>
                </a:lnTo>
                <a:lnTo>
                  <a:pt x="1012804" y="902916"/>
                </a:lnTo>
                <a:lnTo>
                  <a:pt x="960169" y="903591"/>
                </a:lnTo>
                <a:lnTo>
                  <a:pt x="907534" y="902916"/>
                </a:lnTo>
                <a:lnTo>
                  <a:pt x="855027" y="900890"/>
                </a:lnTo>
                <a:lnTo>
                  <a:pt x="802774" y="897515"/>
                </a:lnTo>
                <a:lnTo>
                  <a:pt x="750903" y="892789"/>
                </a:lnTo>
                <a:lnTo>
                  <a:pt x="699542" y="886712"/>
                </a:lnTo>
                <a:lnTo>
                  <a:pt x="648817" y="879286"/>
                </a:lnTo>
                <a:lnTo>
                  <a:pt x="598856" y="870509"/>
                </a:lnTo>
                <a:lnTo>
                  <a:pt x="549787" y="860382"/>
                </a:lnTo>
                <a:lnTo>
                  <a:pt x="501737" y="848904"/>
                </a:lnTo>
                <a:lnTo>
                  <a:pt x="454833" y="836077"/>
                </a:lnTo>
                <a:lnTo>
                  <a:pt x="409203" y="821899"/>
                </a:lnTo>
                <a:lnTo>
                  <a:pt x="364974" y="806370"/>
                </a:lnTo>
                <a:lnTo>
                  <a:pt x="322272" y="789492"/>
                </a:lnTo>
                <a:lnTo>
                  <a:pt x="281227" y="771263"/>
                </a:lnTo>
                <a:lnTo>
                  <a:pt x="232419" y="746545"/>
                </a:lnTo>
                <a:lnTo>
                  <a:pt x="188259" y="720591"/>
                </a:lnTo>
                <a:lnTo>
                  <a:pt x="148748" y="693525"/>
                </a:lnTo>
                <a:lnTo>
                  <a:pt x="113885" y="665471"/>
                </a:lnTo>
                <a:lnTo>
                  <a:pt x="83670" y="636552"/>
                </a:lnTo>
                <a:lnTo>
                  <a:pt x="58104" y="606891"/>
                </a:lnTo>
                <a:lnTo>
                  <a:pt x="20917" y="545841"/>
                </a:lnTo>
                <a:lnTo>
                  <a:pt x="2324" y="483309"/>
                </a:lnTo>
                <a:lnTo>
                  <a:pt x="0" y="451795"/>
                </a:lnTo>
                <a:lnTo>
                  <a:pt x="2324" y="420282"/>
                </a:lnTo>
                <a:lnTo>
                  <a:pt x="20917" y="357749"/>
                </a:lnTo>
                <a:lnTo>
                  <a:pt x="58104" y="296699"/>
                </a:lnTo>
                <a:lnTo>
                  <a:pt x="83670" y="267039"/>
                </a:lnTo>
                <a:lnTo>
                  <a:pt x="113885" y="238120"/>
                </a:lnTo>
                <a:lnTo>
                  <a:pt x="148748" y="210066"/>
                </a:lnTo>
                <a:lnTo>
                  <a:pt x="188259" y="183000"/>
                </a:lnTo>
                <a:lnTo>
                  <a:pt x="232419" y="157046"/>
                </a:lnTo>
                <a:lnTo>
                  <a:pt x="281227" y="132327"/>
                </a:lnTo>
                <a:lnTo>
                  <a:pt x="322272" y="114099"/>
                </a:lnTo>
                <a:lnTo>
                  <a:pt x="364974" y="97220"/>
                </a:lnTo>
                <a:lnTo>
                  <a:pt x="409203" y="81692"/>
                </a:lnTo>
                <a:lnTo>
                  <a:pt x="454833" y="67514"/>
                </a:lnTo>
                <a:lnTo>
                  <a:pt x="501737" y="54686"/>
                </a:lnTo>
                <a:lnTo>
                  <a:pt x="549787" y="43209"/>
                </a:lnTo>
                <a:lnTo>
                  <a:pt x="598856" y="33081"/>
                </a:lnTo>
                <a:lnTo>
                  <a:pt x="648817" y="24305"/>
                </a:lnTo>
                <a:lnTo>
                  <a:pt x="699542" y="16878"/>
                </a:lnTo>
                <a:lnTo>
                  <a:pt x="750903" y="10802"/>
                </a:lnTo>
                <a:lnTo>
                  <a:pt x="802774" y="6076"/>
                </a:lnTo>
                <a:lnTo>
                  <a:pt x="855027" y="2700"/>
                </a:lnTo>
                <a:lnTo>
                  <a:pt x="907534" y="675"/>
                </a:lnTo>
                <a:lnTo>
                  <a:pt x="960169" y="0"/>
                </a:lnTo>
                <a:lnTo>
                  <a:pt x="1012804" y="675"/>
                </a:lnTo>
                <a:lnTo>
                  <a:pt x="1065312" y="2700"/>
                </a:lnTo>
                <a:lnTo>
                  <a:pt x="1117565" y="6076"/>
                </a:lnTo>
                <a:lnTo>
                  <a:pt x="1169436" y="10802"/>
                </a:lnTo>
                <a:lnTo>
                  <a:pt x="1220797" y="16878"/>
                </a:lnTo>
                <a:lnTo>
                  <a:pt x="1271522" y="24305"/>
                </a:lnTo>
                <a:lnTo>
                  <a:pt x="1321482" y="33081"/>
                </a:lnTo>
                <a:lnTo>
                  <a:pt x="1370551" y="43209"/>
                </a:lnTo>
                <a:lnTo>
                  <a:pt x="1418601" y="54686"/>
                </a:lnTo>
                <a:lnTo>
                  <a:pt x="1465505" y="67514"/>
                </a:lnTo>
                <a:lnTo>
                  <a:pt x="1511136" y="81692"/>
                </a:lnTo>
                <a:lnTo>
                  <a:pt x="1555365" y="97220"/>
                </a:lnTo>
                <a:lnTo>
                  <a:pt x="1598066" y="114099"/>
                </a:lnTo>
                <a:lnTo>
                  <a:pt x="1639112" y="132327"/>
                </a:lnTo>
                <a:close/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8995918" y="4674067"/>
            <a:ext cx="1164820" cy="1325392"/>
          </a:xfrm>
          <a:custGeom>
            <a:avLst/>
            <a:gdLst/>
            <a:ahLst/>
            <a:cxnLst/>
            <a:rect l="l" t="t" r="r" b="b"/>
            <a:pathLst>
              <a:path w="1920875" h="2185670">
                <a:moveTo>
                  <a:pt x="1639112" y="320002"/>
                </a:moveTo>
                <a:lnTo>
                  <a:pt x="1669491" y="356160"/>
                </a:lnTo>
                <a:lnTo>
                  <a:pt x="1698135" y="393477"/>
                </a:lnTo>
                <a:lnTo>
                  <a:pt x="1725042" y="431886"/>
                </a:lnTo>
                <a:lnTo>
                  <a:pt x="1750214" y="471317"/>
                </a:lnTo>
                <a:lnTo>
                  <a:pt x="1773650" y="511702"/>
                </a:lnTo>
                <a:lnTo>
                  <a:pt x="1795349" y="552974"/>
                </a:lnTo>
                <a:lnTo>
                  <a:pt x="1815313" y="595064"/>
                </a:lnTo>
                <a:lnTo>
                  <a:pt x="1833541" y="637904"/>
                </a:lnTo>
                <a:lnTo>
                  <a:pt x="1850032" y="681426"/>
                </a:lnTo>
                <a:lnTo>
                  <a:pt x="1864788" y="725562"/>
                </a:lnTo>
                <a:lnTo>
                  <a:pt x="1877808" y="770243"/>
                </a:lnTo>
                <a:lnTo>
                  <a:pt x="1889092" y="815401"/>
                </a:lnTo>
                <a:lnTo>
                  <a:pt x="1898640" y="860969"/>
                </a:lnTo>
                <a:lnTo>
                  <a:pt x="1906451" y="906877"/>
                </a:lnTo>
                <a:lnTo>
                  <a:pt x="1912527" y="953058"/>
                </a:lnTo>
                <a:lnTo>
                  <a:pt x="1916867" y="999444"/>
                </a:lnTo>
                <a:lnTo>
                  <a:pt x="1919471" y="1045966"/>
                </a:lnTo>
                <a:lnTo>
                  <a:pt x="1920339" y="1092556"/>
                </a:lnTo>
                <a:lnTo>
                  <a:pt x="1919471" y="1139147"/>
                </a:lnTo>
                <a:lnTo>
                  <a:pt x="1916867" y="1185669"/>
                </a:lnTo>
                <a:lnTo>
                  <a:pt x="1912527" y="1232054"/>
                </a:lnTo>
                <a:lnTo>
                  <a:pt x="1906451" y="1278236"/>
                </a:lnTo>
                <a:lnTo>
                  <a:pt x="1898640" y="1324144"/>
                </a:lnTo>
                <a:lnTo>
                  <a:pt x="1889092" y="1369712"/>
                </a:lnTo>
                <a:lnTo>
                  <a:pt x="1877808" y="1414870"/>
                </a:lnTo>
                <a:lnTo>
                  <a:pt x="1864788" y="1459551"/>
                </a:lnTo>
                <a:lnTo>
                  <a:pt x="1850032" y="1503687"/>
                </a:lnTo>
                <a:lnTo>
                  <a:pt x="1833541" y="1547209"/>
                </a:lnTo>
                <a:lnTo>
                  <a:pt x="1815313" y="1590049"/>
                </a:lnTo>
                <a:lnTo>
                  <a:pt x="1795349" y="1632139"/>
                </a:lnTo>
                <a:lnTo>
                  <a:pt x="1773650" y="1673411"/>
                </a:lnTo>
                <a:lnTo>
                  <a:pt x="1750214" y="1713797"/>
                </a:lnTo>
                <a:lnTo>
                  <a:pt x="1725042" y="1753228"/>
                </a:lnTo>
                <a:lnTo>
                  <a:pt x="1698135" y="1791636"/>
                </a:lnTo>
                <a:lnTo>
                  <a:pt x="1669491" y="1828953"/>
                </a:lnTo>
                <a:lnTo>
                  <a:pt x="1639112" y="1865111"/>
                </a:lnTo>
                <a:lnTo>
                  <a:pt x="1605434" y="1901651"/>
                </a:lnTo>
                <a:lnTo>
                  <a:pt x="1570617" y="1935977"/>
                </a:lnTo>
                <a:lnTo>
                  <a:pt x="1534734" y="1968088"/>
                </a:lnTo>
                <a:lnTo>
                  <a:pt x="1497855" y="1997984"/>
                </a:lnTo>
                <a:lnTo>
                  <a:pt x="1460051" y="2025666"/>
                </a:lnTo>
                <a:lnTo>
                  <a:pt x="1421393" y="2051133"/>
                </a:lnTo>
                <a:lnTo>
                  <a:pt x="1381953" y="2074386"/>
                </a:lnTo>
                <a:lnTo>
                  <a:pt x="1341802" y="2095424"/>
                </a:lnTo>
                <a:lnTo>
                  <a:pt x="1301011" y="2114248"/>
                </a:lnTo>
                <a:lnTo>
                  <a:pt x="1259650" y="2130857"/>
                </a:lnTo>
                <a:lnTo>
                  <a:pt x="1217792" y="2145252"/>
                </a:lnTo>
                <a:lnTo>
                  <a:pt x="1175507" y="2157432"/>
                </a:lnTo>
                <a:lnTo>
                  <a:pt x="1132866" y="2167397"/>
                </a:lnTo>
                <a:lnTo>
                  <a:pt x="1089941" y="2175148"/>
                </a:lnTo>
                <a:lnTo>
                  <a:pt x="1046802" y="2180685"/>
                </a:lnTo>
                <a:lnTo>
                  <a:pt x="1003521" y="2184006"/>
                </a:lnTo>
                <a:lnTo>
                  <a:pt x="960169" y="2185114"/>
                </a:lnTo>
                <a:lnTo>
                  <a:pt x="916817" y="2184006"/>
                </a:lnTo>
                <a:lnTo>
                  <a:pt x="873536" y="2180685"/>
                </a:lnTo>
                <a:lnTo>
                  <a:pt x="830398" y="2175148"/>
                </a:lnTo>
                <a:lnTo>
                  <a:pt x="787472" y="2167397"/>
                </a:lnTo>
                <a:lnTo>
                  <a:pt x="744832" y="2157432"/>
                </a:lnTo>
                <a:lnTo>
                  <a:pt x="702546" y="2145252"/>
                </a:lnTo>
                <a:lnTo>
                  <a:pt x="660688" y="2130857"/>
                </a:lnTo>
                <a:lnTo>
                  <a:pt x="619328" y="2114248"/>
                </a:lnTo>
                <a:lnTo>
                  <a:pt x="578536" y="2095424"/>
                </a:lnTo>
                <a:lnTo>
                  <a:pt x="538385" y="2074386"/>
                </a:lnTo>
                <a:lnTo>
                  <a:pt x="498945" y="2051133"/>
                </a:lnTo>
                <a:lnTo>
                  <a:pt x="460288" y="2025666"/>
                </a:lnTo>
                <a:lnTo>
                  <a:pt x="422484" y="1997984"/>
                </a:lnTo>
                <a:lnTo>
                  <a:pt x="385605" y="1968088"/>
                </a:lnTo>
                <a:lnTo>
                  <a:pt x="349721" y="1935977"/>
                </a:lnTo>
                <a:lnTo>
                  <a:pt x="314905" y="1901651"/>
                </a:lnTo>
                <a:lnTo>
                  <a:pt x="281227" y="1865111"/>
                </a:lnTo>
                <a:lnTo>
                  <a:pt x="250847" y="1828953"/>
                </a:lnTo>
                <a:lnTo>
                  <a:pt x="222204" y="1791636"/>
                </a:lnTo>
                <a:lnTo>
                  <a:pt x="195296" y="1753228"/>
                </a:lnTo>
                <a:lnTo>
                  <a:pt x="170125" y="1713797"/>
                </a:lnTo>
                <a:lnTo>
                  <a:pt x="146689" y="1673411"/>
                </a:lnTo>
                <a:lnTo>
                  <a:pt x="124989" y="1632139"/>
                </a:lnTo>
                <a:lnTo>
                  <a:pt x="105026" y="1590049"/>
                </a:lnTo>
                <a:lnTo>
                  <a:pt x="86798" y="1547209"/>
                </a:lnTo>
                <a:lnTo>
                  <a:pt x="70306" y="1503687"/>
                </a:lnTo>
                <a:lnTo>
                  <a:pt x="55551" y="1459551"/>
                </a:lnTo>
                <a:lnTo>
                  <a:pt x="42531" y="1414870"/>
                </a:lnTo>
                <a:lnTo>
                  <a:pt x="31247" y="1369712"/>
                </a:lnTo>
                <a:lnTo>
                  <a:pt x="21699" y="1324144"/>
                </a:lnTo>
                <a:lnTo>
                  <a:pt x="13887" y="1278236"/>
                </a:lnTo>
                <a:lnTo>
                  <a:pt x="7811" y="1232054"/>
                </a:lnTo>
                <a:lnTo>
                  <a:pt x="3471" y="1185669"/>
                </a:lnTo>
                <a:lnTo>
                  <a:pt x="867" y="1139147"/>
                </a:lnTo>
                <a:lnTo>
                  <a:pt x="0" y="1092556"/>
                </a:lnTo>
                <a:lnTo>
                  <a:pt x="867" y="1045966"/>
                </a:lnTo>
                <a:lnTo>
                  <a:pt x="3471" y="999444"/>
                </a:lnTo>
                <a:lnTo>
                  <a:pt x="7811" y="953058"/>
                </a:lnTo>
                <a:lnTo>
                  <a:pt x="13887" y="906877"/>
                </a:lnTo>
                <a:lnTo>
                  <a:pt x="21699" y="860969"/>
                </a:lnTo>
                <a:lnTo>
                  <a:pt x="31247" y="815401"/>
                </a:lnTo>
                <a:lnTo>
                  <a:pt x="42531" y="770243"/>
                </a:lnTo>
                <a:lnTo>
                  <a:pt x="55551" y="725562"/>
                </a:lnTo>
                <a:lnTo>
                  <a:pt x="70306" y="681426"/>
                </a:lnTo>
                <a:lnTo>
                  <a:pt x="86798" y="637904"/>
                </a:lnTo>
                <a:lnTo>
                  <a:pt x="105026" y="595064"/>
                </a:lnTo>
                <a:lnTo>
                  <a:pt x="124989" y="552974"/>
                </a:lnTo>
                <a:lnTo>
                  <a:pt x="146689" y="511702"/>
                </a:lnTo>
                <a:lnTo>
                  <a:pt x="170125" y="471317"/>
                </a:lnTo>
                <a:lnTo>
                  <a:pt x="195296" y="431886"/>
                </a:lnTo>
                <a:lnTo>
                  <a:pt x="222204" y="393477"/>
                </a:lnTo>
                <a:lnTo>
                  <a:pt x="250847" y="356160"/>
                </a:lnTo>
                <a:lnTo>
                  <a:pt x="281227" y="320002"/>
                </a:lnTo>
                <a:lnTo>
                  <a:pt x="314905" y="283462"/>
                </a:lnTo>
                <a:lnTo>
                  <a:pt x="349721" y="249136"/>
                </a:lnTo>
                <a:lnTo>
                  <a:pt x="385605" y="217025"/>
                </a:lnTo>
                <a:lnTo>
                  <a:pt x="422484" y="187129"/>
                </a:lnTo>
                <a:lnTo>
                  <a:pt x="460288" y="159447"/>
                </a:lnTo>
                <a:lnTo>
                  <a:pt x="498945" y="133980"/>
                </a:lnTo>
                <a:lnTo>
                  <a:pt x="538385" y="110727"/>
                </a:lnTo>
                <a:lnTo>
                  <a:pt x="578536" y="89689"/>
                </a:lnTo>
                <a:lnTo>
                  <a:pt x="619328" y="70865"/>
                </a:lnTo>
                <a:lnTo>
                  <a:pt x="660688" y="54256"/>
                </a:lnTo>
                <a:lnTo>
                  <a:pt x="702546" y="39861"/>
                </a:lnTo>
                <a:lnTo>
                  <a:pt x="744832" y="27681"/>
                </a:lnTo>
                <a:lnTo>
                  <a:pt x="787472" y="17716"/>
                </a:lnTo>
                <a:lnTo>
                  <a:pt x="830398" y="9965"/>
                </a:lnTo>
                <a:lnTo>
                  <a:pt x="873536" y="4429"/>
                </a:lnTo>
                <a:lnTo>
                  <a:pt x="916817" y="1107"/>
                </a:lnTo>
                <a:lnTo>
                  <a:pt x="960169" y="0"/>
                </a:lnTo>
                <a:lnTo>
                  <a:pt x="1003521" y="1107"/>
                </a:lnTo>
                <a:lnTo>
                  <a:pt x="1046802" y="4429"/>
                </a:lnTo>
                <a:lnTo>
                  <a:pt x="1089941" y="9965"/>
                </a:lnTo>
                <a:lnTo>
                  <a:pt x="1132866" y="17716"/>
                </a:lnTo>
                <a:lnTo>
                  <a:pt x="1175507" y="27681"/>
                </a:lnTo>
                <a:lnTo>
                  <a:pt x="1217792" y="39861"/>
                </a:lnTo>
                <a:lnTo>
                  <a:pt x="1259650" y="54256"/>
                </a:lnTo>
                <a:lnTo>
                  <a:pt x="1301011" y="70865"/>
                </a:lnTo>
                <a:lnTo>
                  <a:pt x="1341802" y="89689"/>
                </a:lnTo>
                <a:lnTo>
                  <a:pt x="1381953" y="110727"/>
                </a:lnTo>
                <a:lnTo>
                  <a:pt x="1421393" y="133980"/>
                </a:lnTo>
                <a:lnTo>
                  <a:pt x="1460051" y="159447"/>
                </a:lnTo>
                <a:lnTo>
                  <a:pt x="1497855" y="187129"/>
                </a:lnTo>
                <a:lnTo>
                  <a:pt x="1534734" y="217025"/>
                </a:lnTo>
                <a:lnTo>
                  <a:pt x="1570617" y="249136"/>
                </a:lnTo>
                <a:lnTo>
                  <a:pt x="1605434" y="283462"/>
                </a:lnTo>
                <a:lnTo>
                  <a:pt x="1639112" y="320002"/>
                </a:lnTo>
                <a:close/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 txBox="1"/>
          <p:nvPr/>
        </p:nvSpPr>
        <p:spPr>
          <a:xfrm>
            <a:off x="10414707" y="4829078"/>
            <a:ext cx="1197165" cy="73780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marR="3081" algn="ctr">
              <a:lnSpc>
                <a:spcPct val="100400"/>
              </a:lnSpc>
              <a:spcBef>
                <a:spcPts val="76"/>
              </a:spcBef>
            </a:pPr>
            <a:r>
              <a:rPr sz="1577" spc="9" dirty="0">
                <a:latin typeface="Trebuchet MS"/>
                <a:cs typeface="Trebuchet MS"/>
              </a:rPr>
              <a:t>The </a:t>
            </a:r>
            <a:r>
              <a:rPr sz="1577" spc="6" dirty="0">
                <a:latin typeface="Trebuchet MS"/>
                <a:cs typeface="Trebuchet MS"/>
              </a:rPr>
              <a:t>student </a:t>
            </a:r>
            <a:r>
              <a:rPr sz="1577" spc="9" dirty="0">
                <a:latin typeface="Trebuchet MS"/>
                <a:cs typeface="Trebuchet MS"/>
              </a:rPr>
              <a:t> </a:t>
            </a:r>
            <a:r>
              <a:rPr sz="1577" spc="15" dirty="0">
                <a:latin typeface="Trebuchet MS"/>
                <a:cs typeface="Trebuchet MS"/>
              </a:rPr>
              <a:t>model</a:t>
            </a:r>
            <a:r>
              <a:rPr sz="1577" spc="-52" dirty="0">
                <a:latin typeface="Trebuchet MS"/>
                <a:cs typeface="Trebuchet MS"/>
              </a:rPr>
              <a:t> </a:t>
            </a:r>
            <a:r>
              <a:rPr sz="1577" spc="33" dirty="0">
                <a:latin typeface="Trebuchet MS"/>
                <a:cs typeface="Trebuchet MS"/>
              </a:rPr>
              <a:t>is</a:t>
            </a:r>
            <a:r>
              <a:rPr sz="1577" spc="-52" dirty="0">
                <a:latin typeface="Trebuchet MS"/>
                <a:cs typeface="Trebuchet MS"/>
              </a:rPr>
              <a:t> </a:t>
            </a:r>
            <a:r>
              <a:rPr sz="1577" spc="52" dirty="0">
                <a:latin typeface="Trebuchet MS"/>
                <a:cs typeface="Trebuchet MS"/>
              </a:rPr>
              <a:t>less </a:t>
            </a:r>
            <a:r>
              <a:rPr sz="1577" spc="-470" dirty="0">
                <a:latin typeface="Trebuchet MS"/>
                <a:cs typeface="Trebuchet MS"/>
              </a:rPr>
              <a:t> </a:t>
            </a:r>
            <a:r>
              <a:rPr sz="1577" spc="-6" dirty="0">
                <a:latin typeface="Trebuchet MS"/>
                <a:cs typeface="Trebuchet MS"/>
              </a:rPr>
              <a:t>confident</a:t>
            </a:r>
            <a:endParaRPr sz="1577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06888" y="3294414"/>
            <a:ext cx="1495206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58" dirty="0">
                <a:latin typeface="Arial MT"/>
                <a:cs typeface="Arial MT"/>
              </a:rPr>
              <a:t>Teacher</a:t>
            </a:r>
            <a:r>
              <a:rPr sz="1577" spc="-30" dirty="0">
                <a:latin typeface="Arial MT"/>
                <a:cs typeface="Arial MT"/>
              </a:rPr>
              <a:t> </a:t>
            </a:r>
            <a:r>
              <a:rPr sz="1577" spc="3" dirty="0">
                <a:latin typeface="Arial MT"/>
                <a:cs typeface="Arial MT"/>
              </a:rPr>
              <a:t>Network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05263" y="5803160"/>
            <a:ext cx="1498286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3" dirty="0">
                <a:latin typeface="Arial MT"/>
                <a:cs typeface="Arial MT"/>
              </a:rPr>
              <a:t>Student</a:t>
            </a:r>
            <a:r>
              <a:rPr sz="1577" spc="-36" dirty="0">
                <a:latin typeface="Arial MT"/>
                <a:cs typeface="Arial MT"/>
              </a:rPr>
              <a:t> </a:t>
            </a:r>
            <a:r>
              <a:rPr sz="1577" spc="3" dirty="0">
                <a:latin typeface="Arial MT"/>
                <a:cs typeface="Arial MT"/>
              </a:rPr>
              <a:t>Network</a:t>
            </a:r>
            <a:endParaRPr sz="1577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5587" y="4390961"/>
            <a:ext cx="719994" cy="835964"/>
          </a:xfrm>
          <a:prstGeom prst="rect">
            <a:avLst/>
          </a:prstGeom>
        </p:spPr>
      </p:pic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A7F7F4FE-FB7F-D0CF-3463-DF45F32A9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10B8-B69B-4F64-BD5C-B16D7DE6ACD1}" type="datetime1">
              <a:rPr lang="en-US" smtClean="0"/>
              <a:t>12/3/2025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530872"/>
            <a:ext cx="10972800" cy="995659"/>
          </a:xfrm>
          <a:prstGeom prst="rect">
            <a:avLst/>
          </a:prstGeom>
        </p:spPr>
        <p:txBody>
          <a:bodyPr vert="horz" wrap="square" lIns="0" tIns="72392" rIns="0" bIns="0" rtlCol="0" anchor="ctr">
            <a:spAutoFit/>
          </a:bodyPr>
          <a:lstStyle/>
          <a:p>
            <a:pPr marL="10012">
              <a:spcBef>
                <a:spcPts val="570"/>
              </a:spcBef>
            </a:pPr>
            <a:r>
              <a:rPr lang="en-US" spc="-94" dirty="0"/>
              <a:t>K</a:t>
            </a:r>
            <a:r>
              <a:rPr lang="en-US" spc="-52" dirty="0"/>
              <a:t>nowledge</a:t>
            </a:r>
            <a:r>
              <a:rPr lang="en-US" spc="-179" dirty="0"/>
              <a:t> </a:t>
            </a:r>
            <a:r>
              <a:rPr lang="en-US" spc="-115" dirty="0"/>
              <a:t>Distillation </a:t>
            </a:r>
            <a:br>
              <a:rPr lang="en-US" spc="-115" dirty="0"/>
            </a:br>
            <a:r>
              <a:rPr sz="2395" spc="24" dirty="0">
                <a:solidFill>
                  <a:srgbClr val="000000"/>
                </a:solidFill>
              </a:rPr>
              <a:t>Matching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-3" dirty="0">
                <a:solidFill>
                  <a:srgbClr val="000000"/>
                </a:solidFill>
              </a:rPr>
              <a:t>prediction</a:t>
            </a:r>
            <a:r>
              <a:rPr sz="2395" spc="6" dirty="0">
                <a:solidFill>
                  <a:srgbClr val="000000"/>
                </a:solidFill>
              </a:rPr>
              <a:t> </a:t>
            </a:r>
            <a:r>
              <a:rPr sz="2395" spc="-12" dirty="0">
                <a:solidFill>
                  <a:srgbClr val="000000"/>
                </a:solidFill>
              </a:rPr>
              <a:t>probabilities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33" dirty="0">
                <a:solidFill>
                  <a:srgbClr val="000000"/>
                </a:solidFill>
              </a:rPr>
              <a:t>between</a:t>
            </a:r>
            <a:r>
              <a:rPr sz="2395" spc="6" dirty="0">
                <a:solidFill>
                  <a:srgbClr val="000000"/>
                </a:solidFill>
              </a:rPr>
              <a:t> </a:t>
            </a:r>
            <a:r>
              <a:rPr sz="2395" spc="24" dirty="0">
                <a:solidFill>
                  <a:srgbClr val="000000"/>
                </a:solidFill>
              </a:rPr>
              <a:t>teacher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and</a:t>
            </a:r>
            <a:r>
              <a:rPr sz="2395" spc="6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student</a:t>
            </a:r>
            <a:endParaRPr sz="239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9364663" y="10885488"/>
            <a:ext cx="2827337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3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01">
              <a:spcBef>
                <a:spcPts val="30"/>
              </a:spcBef>
            </a:pPr>
            <a:r>
              <a:rPr lang="en-US" spc="40"/>
              <a:t>Presented by  Dr. Muhammad Nouman Noor</a:t>
            </a:r>
            <a:endParaRPr spc="3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11836400" y="10922000"/>
            <a:ext cx="355600" cy="319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950" b="0" i="0" kern="1200">
                <a:solidFill>
                  <a:schemeClr val="bg1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30"/>
              </a:spcBef>
            </a:pPr>
            <a:fld id="{81D60167-4931-47E6-BA6A-407CBD079E47}" type="slidenum">
              <a:rPr lang="en-US" spc="75" smtClean="0"/>
              <a:pPr marL="38100">
                <a:spcBef>
                  <a:spcPts val="30"/>
                </a:spcBef>
              </a:pPr>
              <a:t>16</a:t>
            </a:fld>
            <a:endParaRPr spc="45" dirty="0"/>
          </a:p>
        </p:txBody>
      </p:sp>
      <p:grpSp>
        <p:nvGrpSpPr>
          <p:cNvPr id="3" name="object 3"/>
          <p:cNvGrpSpPr/>
          <p:nvPr/>
        </p:nvGrpSpPr>
        <p:grpSpPr>
          <a:xfrm>
            <a:off x="5232590" y="2409291"/>
            <a:ext cx="782066" cy="107048"/>
            <a:chOff x="8628222" y="3973100"/>
            <a:chExt cx="1289685" cy="176530"/>
          </a:xfrm>
        </p:grpSpPr>
        <p:sp>
          <p:nvSpPr>
            <p:cNvPr id="4" name="object 4"/>
            <p:cNvSpPr/>
            <p:nvPr/>
          </p:nvSpPr>
          <p:spPr>
            <a:xfrm>
              <a:off x="8628222" y="4061056"/>
              <a:ext cx="1178560" cy="0"/>
            </a:xfrm>
            <a:custGeom>
              <a:avLst/>
              <a:gdLst/>
              <a:ahLst/>
              <a:cxnLst/>
              <a:rect l="l" t="t" r="r" b="b"/>
              <a:pathLst>
                <a:path w="1178559">
                  <a:moveTo>
                    <a:pt x="0" y="0"/>
                  </a:moveTo>
                  <a:lnTo>
                    <a:pt x="1157422" y="0"/>
                  </a:lnTo>
                  <a:lnTo>
                    <a:pt x="1178364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9741666" y="3973100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8344" y="1576237"/>
            <a:ext cx="1256351" cy="145871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04750" y="2752517"/>
            <a:ext cx="3071660" cy="2034681"/>
            <a:chOff x="831664" y="4539104"/>
            <a:chExt cx="5065395" cy="3355340"/>
          </a:xfrm>
        </p:grpSpPr>
        <p:sp>
          <p:nvSpPr>
            <p:cNvPr id="8" name="object 8"/>
            <p:cNvSpPr/>
            <p:nvPr/>
          </p:nvSpPr>
          <p:spPr>
            <a:xfrm>
              <a:off x="4148937" y="4601455"/>
              <a:ext cx="1424940" cy="967740"/>
            </a:xfrm>
            <a:custGeom>
              <a:avLst/>
              <a:gdLst/>
              <a:ahLst/>
              <a:cxnLst/>
              <a:rect l="l" t="t" r="r" b="b"/>
              <a:pathLst>
                <a:path w="1424939" h="967739">
                  <a:moveTo>
                    <a:pt x="0" y="967257"/>
                  </a:moveTo>
                  <a:lnTo>
                    <a:pt x="1407163" y="11764"/>
                  </a:lnTo>
                  <a:lnTo>
                    <a:pt x="1424489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5470308" y="4539104"/>
              <a:ext cx="194945" cy="172085"/>
            </a:xfrm>
            <a:custGeom>
              <a:avLst/>
              <a:gdLst/>
              <a:ahLst/>
              <a:cxnLst/>
              <a:rect l="l" t="t" r="r" b="b"/>
              <a:pathLst>
                <a:path w="194945" h="172085">
                  <a:moveTo>
                    <a:pt x="194940" y="0"/>
                  </a:moveTo>
                  <a:lnTo>
                    <a:pt x="0" y="26053"/>
                  </a:lnTo>
                  <a:lnTo>
                    <a:pt x="85792" y="74113"/>
                  </a:lnTo>
                  <a:lnTo>
                    <a:pt x="98818" y="171585"/>
                  </a:lnTo>
                  <a:lnTo>
                    <a:pt x="1949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664" y="4987265"/>
              <a:ext cx="3580586" cy="21483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80550" y="6864633"/>
              <a:ext cx="1424940" cy="967740"/>
            </a:xfrm>
            <a:custGeom>
              <a:avLst/>
              <a:gdLst/>
              <a:ahLst/>
              <a:cxnLst/>
              <a:rect l="l" t="t" r="r" b="b"/>
              <a:pathLst>
                <a:path w="1424939" h="967740">
                  <a:moveTo>
                    <a:pt x="0" y="0"/>
                  </a:moveTo>
                  <a:lnTo>
                    <a:pt x="1407163" y="955494"/>
                  </a:lnTo>
                  <a:lnTo>
                    <a:pt x="1424488" y="967258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1920" y="7722658"/>
              <a:ext cx="194945" cy="172085"/>
            </a:xfrm>
            <a:custGeom>
              <a:avLst/>
              <a:gdLst/>
              <a:ahLst/>
              <a:cxnLst/>
              <a:rect l="l" t="t" r="r" b="b"/>
              <a:pathLst>
                <a:path w="194945" h="172084">
                  <a:moveTo>
                    <a:pt x="98818" y="0"/>
                  </a:moveTo>
                  <a:lnTo>
                    <a:pt x="85793" y="97470"/>
                  </a:lnTo>
                  <a:lnTo>
                    <a:pt x="0" y="145530"/>
                  </a:lnTo>
                  <a:lnTo>
                    <a:pt x="194941" y="171584"/>
                  </a:lnTo>
                  <a:lnTo>
                    <a:pt x="988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232590" y="4882501"/>
            <a:ext cx="782066" cy="107048"/>
            <a:chOff x="8628222" y="8051606"/>
            <a:chExt cx="1289685" cy="176530"/>
          </a:xfrm>
        </p:grpSpPr>
        <p:sp>
          <p:nvSpPr>
            <p:cNvPr id="14" name="object 14"/>
            <p:cNvSpPr/>
            <p:nvPr/>
          </p:nvSpPr>
          <p:spPr>
            <a:xfrm>
              <a:off x="8628222" y="8139561"/>
              <a:ext cx="1178560" cy="0"/>
            </a:xfrm>
            <a:custGeom>
              <a:avLst/>
              <a:gdLst/>
              <a:ahLst/>
              <a:cxnLst/>
              <a:rect l="l" t="t" r="r" b="b"/>
              <a:pathLst>
                <a:path w="1178559">
                  <a:moveTo>
                    <a:pt x="0" y="0"/>
                  </a:moveTo>
                  <a:lnTo>
                    <a:pt x="1157422" y="0"/>
                  </a:lnTo>
                  <a:lnTo>
                    <a:pt x="1178364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5" name="object 15"/>
            <p:cNvSpPr/>
            <p:nvPr/>
          </p:nvSpPr>
          <p:spPr>
            <a:xfrm>
              <a:off x="9741666" y="8051606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353157" y="1514369"/>
          <a:ext cx="3894159" cy="189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Logits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Probabilities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Cat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0.982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195" dirty="0">
                          <a:latin typeface="Trebuchet MS"/>
                          <a:cs typeface="Trebuchet MS"/>
                        </a:rPr>
                        <a:t>Dog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0.017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353157" y="4041491"/>
          <a:ext cx="3894159" cy="189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Logits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Probabilities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Cat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3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0.731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195" dirty="0">
                          <a:latin typeface="Trebuchet MS"/>
                          <a:cs typeface="Trebuchet MS"/>
                        </a:rPr>
                        <a:t>Dog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0.269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3506888" y="3294414"/>
            <a:ext cx="1495206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58" dirty="0">
                <a:latin typeface="Arial MT"/>
                <a:cs typeface="Arial MT"/>
              </a:rPr>
              <a:t>Teacher</a:t>
            </a:r>
            <a:r>
              <a:rPr sz="1577" spc="-30" dirty="0">
                <a:latin typeface="Arial MT"/>
                <a:cs typeface="Arial MT"/>
              </a:rPr>
              <a:t> </a:t>
            </a:r>
            <a:r>
              <a:rPr sz="1577" spc="3" dirty="0">
                <a:latin typeface="Arial MT"/>
                <a:cs typeface="Arial MT"/>
              </a:rPr>
              <a:t>Network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05263" y="5803160"/>
            <a:ext cx="1498286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3" dirty="0">
                <a:latin typeface="Arial MT"/>
                <a:cs typeface="Arial MT"/>
              </a:rPr>
              <a:t>Student</a:t>
            </a:r>
            <a:r>
              <a:rPr sz="1577" spc="-36" dirty="0">
                <a:latin typeface="Arial MT"/>
                <a:cs typeface="Arial MT"/>
              </a:rPr>
              <a:t> </a:t>
            </a:r>
            <a:r>
              <a:rPr sz="1577" spc="3" dirty="0">
                <a:latin typeface="Arial MT"/>
                <a:cs typeface="Arial MT"/>
              </a:rPr>
              <a:t>Network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836535" y="4730418"/>
            <a:ext cx="376978" cy="410864"/>
          </a:xfrm>
          <a:custGeom>
            <a:avLst/>
            <a:gdLst/>
            <a:ahLst/>
            <a:cxnLst/>
            <a:rect l="l" t="t" r="r" b="b"/>
            <a:pathLst>
              <a:path w="621665" h="677545">
                <a:moveTo>
                  <a:pt x="310597" y="0"/>
                </a:moveTo>
                <a:lnTo>
                  <a:pt x="0" y="433602"/>
                </a:lnTo>
                <a:lnTo>
                  <a:pt x="211208" y="433602"/>
                </a:lnTo>
                <a:lnTo>
                  <a:pt x="211208" y="677503"/>
                </a:lnTo>
                <a:lnTo>
                  <a:pt x="409987" y="677503"/>
                </a:lnTo>
                <a:lnTo>
                  <a:pt x="409987" y="433602"/>
                </a:lnTo>
                <a:lnTo>
                  <a:pt x="621195" y="433602"/>
                </a:lnTo>
                <a:lnTo>
                  <a:pt x="310597" y="0"/>
                </a:lnTo>
                <a:close/>
              </a:path>
            </a:pathLst>
          </a:custGeom>
          <a:solidFill>
            <a:srgbClr val="00AEBB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9836535" y="5416048"/>
            <a:ext cx="376978" cy="410864"/>
          </a:xfrm>
          <a:custGeom>
            <a:avLst/>
            <a:gdLst/>
            <a:ahLst/>
            <a:cxnLst/>
            <a:rect l="l" t="t" r="r" b="b"/>
            <a:pathLst>
              <a:path w="621665" h="677545">
                <a:moveTo>
                  <a:pt x="409987" y="0"/>
                </a:moveTo>
                <a:lnTo>
                  <a:pt x="211208" y="0"/>
                </a:lnTo>
                <a:lnTo>
                  <a:pt x="211208" y="243901"/>
                </a:lnTo>
                <a:lnTo>
                  <a:pt x="0" y="243901"/>
                </a:lnTo>
                <a:lnTo>
                  <a:pt x="310597" y="677503"/>
                </a:lnTo>
                <a:lnTo>
                  <a:pt x="621195" y="243901"/>
                </a:lnTo>
                <a:lnTo>
                  <a:pt x="409987" y="243901"/>
                </a:lnTo>
                <a:lnTo>
                  <a:pt x="409987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5587" y="4390961"/>
            <a:ext cx="719994" cy="835964"/>
          </a:xfrm>
          <a:prstGeom prst="rect">
            <a:avLst/>
          </a:prstGeom>
        </p:spPr>
      </p:pic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C4396060-B90D-20DF-F442-6182726A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5F3F2-4D9A-4F4C-AF5E-E97B95CBDAC4}" type="datetime1">
              <a:rPr lang="en-US" smtClean="0"/>
              <a:t>12/3/2025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530871"/>
            <a:ext cx="10972800" cy="995659"/>
          </a:xfrm>
          <a:prstGeom prst="rect">
            <a:avLst/>
          </a:prstGeom>
        </p:spPr>
        <p:txBody>
          <a:bodyPr vert="horz" wrap="square" lIns="0" tIns="72392" rIns="0" bIns="0" rtlCol="0" anchor="ctr">
            <a:spAutoFit/>
          </a:bodyPr>
          <a:lstStyle/>
          <a:p>
            <a:pPr marL="10012">
              <a:spcBef>
                <a:spcPts val="570"/>
              </a:spcBef>
            </a:pPr>
            <a:r>
              <a:rPr lang="en-US" spc="-94" dirty="0"/>
              <a:t>K</a:t>
            </a:r>
            <a:r>
              <a:rPr lang="en-US" spc="-52" dirty="0"/>
              <a:t>nowledge</a:t>
            </a:r>
            <a:r>
              <a:rPr lang="en-US" spc="-179" dirty="0"/>
              <a:t> </a:t>
            </a:r>
            <a:r>
              <a:rPr lang="en-US" spc="-115" dirty="0"/>
              <a:t>Distillation </a:t>
            </a:r>
            <a:br>
              <a:rPr lang="en-US" spc="-115" dirty="0"/>
            </a:br>
            <a:r>
              <a:rPr sz="2395" spc="21" dirty="0">
                <a:solidFill>
                  <a:srgbClr val="000000"/>
                </a:solidFill>
              </a:rPr>
              <a:t>Concept</a:t>
            </a:r>
            <a:r>
              <a:rPr sz="2395" spc="-15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of</a:t>
            </a:r>
            <a:r>
              <a:rPr sz="2395" spc="-15" dirty="0">
                <a:solidFill>
                  <a:srgbClr val="000000"/>
                </a:solidFill>
              </a:rPr>
              <a:t> </a:t>
            </a:r>
            <a:r>
              <a:rPr sz="2395" spc="21" dirty="0">
                <a:solidFill>
                  <a:srgbClr val="000000"/>
                </a:solidFill>
              </a:rPr>
              <a:t>temperature</a:t>
            </a:r>
            <a:endParaRPr sz="239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4294967295"/>
          </p:nvPr>
        </p:nvSpPr>
        <p:spPr>
          <a:xfrm>
            <a:off x="9364663" y="10885488"/>
            <a:ext cx="2827337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3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01">
              <a:spcBef>
                <a:spcPts val="30"/>
              </a:spcBef>
            </a:pPr>
            <a:r>
              <a:rPr lang="en-US" spc="40"/>
              <a:t>Presented by  Dr. Muhammad Nouman Noor</a:t>
            </a:r>
            <a:endParaRPr spc="3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11836400" y="10922000"/>
            <a:ext cx="355600" cy="319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950" b="0" i="0" kern="1200">
                <a:solidFill>
                  <a:schemeClr val="bg1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30"/>
              </a:spcBef>
            </a:pPr>
            <a:fld id="{81D60167-4931-47E6-BA6A-407CBD079E47}" type="slidenum">
              <a:rPr lang="en-US" spc="75" smtClean="0"/>
              <a:pPr marL="38100">
                <a:spcBef>
                  <a:spcPts val="30"/>
                </a:spcBef>
              </a:pPr>
              <a:t>17</a:t>
            </a:fld>
            <a:endParaRPr spc="45" dirty="0"/>
          </a:p>
        </p:txBody>
      </p:sp>
      <p:grpSp>
        <p:nvGrpSpPr>
          <p:cNvPr id="3" name="object 3"/>
          <p:cNvGrpSpPr/>
          <p:nvPr/>
        </p:nvGrpSpPr>
        <p:grpSpPr>
          <a:xfrm>
            <a:off x="5444681" y="3682348"/>
            <a:ext cx="782066" cy="107048"/>
            <a:chOff x="8977976" y="6072464"/>
            <a:chExt cx="1289685" cy="176530"/>
          </a:xfrm>
        </p:grpSpPr>
        <p:sp>
          <p:nvSpPr>
            <p:cNvPr id="4" name="object 4"/>
            <p:cNvSpPr/>
            <p:nvPr/>
          </p:nvSpPr>
          <p:spPr>
            <a:xfrm>
              <a:off x="8977976" y="6160419"/>
              <a:ext cx="1178560" cy="0"/>
            </a:xfrm>
            <a:custGeom>
              <a:avLst/>
              <a:gdLst/>
              <a:ahLst/>
              <a:cxnLst/>
              <a:rect l="l" t="t" r="r" b="b"/>
              <a:pathLst>
                <a:path w="1178559">
                  <a:moveTo>
                    <a:pt x="0" y="0"/>
                  </a:moveTo>
                  <a:lnTo>
                    <a:pt x="1157422" y="0"/>
                  </a:lnTo>
                  <a:lnTo>
                    <a:pt x="1178364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10091421" y="6072464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2159" y="2434974"/>
            <a:ext cx="1256351" cy="145871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90610" y="2777378"/>
            <a:ext cx="2957296" cy="1303059"/>
            <a:chOff x="808347" y="4580102"/>
            <a:chExt cx="4876800" cy="2148840"/>
          </a:xfrm>
        </p:grpSpPr>
        <p:sp>
          <p:nvSpPr>
            <p:cNvPr id="8" name="object 8"/>
            <p:cNvSpPr/>
            <p:nvPr/>
          </p:nvSpPr>
          <p:spPr>
            <a:xfrm>
              <a:off x="3869133" y="6160419"/>
              <a:ext cx="1704975" cy="0"/>
            </a:xfrm>
            <a:custGeom>
              <a:avLst/>
              <a:gdLst/>
              <a:ahLst/>
              <a:cxnLst/>
              <a:rect l="l" t="t" r="r" b="b"/>
              <a:pathLst>
                <a:path w="1704975">
                  <a:moveTo>
                    <a:pt x="0" y="0"/>
                  </a:moveTo>
                  <a:lnTo>
                    <a:pt x="1683477" y="0"/>
                  </a:lnTo>
                  <a:lnTo>
                    <a:pt x="1704419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5508634" y="6072464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8347" y="4580102"/>
              <a:ext cx="3580586" cy="2148351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339575"/>
              </p:ext>
            </p:extLst>
          </p:nvPr>
        </p:nvGraphicFramePr>
        <p:xfrm>
          <a:off x="6758840" y="2611220"/>
          <a:ext cx="5255360" cy="189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Logits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6755" marR="154305" indent="-544830">
                        <a:lnSpc>
                          <a:spcPct val="100400"/>
                        </a:lnSpc>
                        <a:spcBef>
                          <a:spcPts val="83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obabilities  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(T=1)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92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3410" marR="154305" indent="-452120">
                        <a:lnSpc>
                          <a:spcPct val="100400"/>
                        </a:lnSpc>
                        <a:spcBef>
                          <a:spcPts val="83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obabilities</a:t>
                      </a:r>
                      <a:r>
                        <a:rPr lang="en-US" sz="16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(T=10)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92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65" dirty="0">
                          <a:latin typeface="Trebuchet MS"/>
                          <a:cs typeface="Trebuchet MS"/>
                        </a:rPr>
                        <a:t>Cat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0.982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0.599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195" dirty="0">
                          <a:latin typeface="Trebuchet MS"/>
                          <a:cs typeface="Trebuchet MS"/>
                        </a:rPr>
                        <a:t>Dog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0.017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10"/>
                        </a:spcBef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0.401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18560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760704" y="4153151"/>
            <a:ext cx="1495206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58" dirty="0">
                <a:latin typeface="Arial MT"/>
                <a:cs typeface="Arial MT"/>
              </a:rPr>
              <a:t>Teacher</a:t>
            </a:r>
            <a:r>
              <a:rPr sz="1577" spc="-30" dirty="0">
                <a:latin typeface="Arial MT"/>
                <a:cs typeface="Arial MT"/>
              </a:rPr>
              <a:t> </a:t>
            </a:r>
            <a:r>
              <a:rPr sz="1577" spc="3" dirty="0">
                <a:latin typeface="Arial MT"/>
                <a:cs typeface="Arial MT"/>
              </a:rPr>
              <a:t>Network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71253" y="1642031"/>
            <a:ext cx="1699290" cy="575424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7725" marR="3081" indent="-20408">
              <a:lnSpc>
                <a:spcPct val="123000"/>
              </a:lnSpc>
              <a:spcBef>
                <a:spcPts val="55"/>
              </a:spcBef>
              <a:tabLst>
                <a:tab pos="495962" algn="l"/>
                <a:tab pos="1690816" algn="l"/>
              </a:tabLst>
            </a:pPr>
            <a:r>
              <a:rPr sz="1577" u="heavy" spc="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577" u="heavy" spc="-73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exp(5/1) 	</a:t>
            </a:r>
            <a:r>
              <a:rPr sz="1577" dirty="0">
                <a:latin typeface="Cambria"/>
                <a:cs typeface="Cambria"/>
              </a:rPr>
              <a:t> </a:t>
            </a:r>
            <a:r>
              <a:rPr sz="1577" spc="-73" dirty="0">
                <a:latin typeface="Cambria"/>
                <a:cs typeface="Cambria"/>
              </a:rPr>
              <a:t>exp(5/1)</a:t>
            </a:r>
            <a:r>
              <a:rPr sz="1577" spc="-9" dirty="0">
                <a:latin typeface="Cambria"/>
                <a:cs typeface="Cambria"/>
              </a:rPr>
              <a:t> </a:t>
            </a:r>
            <a:r>
              <a:rPr sz="1577" spc="221" dirty="0">
                <a:latin typeface="Cambria"/>
                <a:cs typeface="Cambria"/>
              </a:rPr>
              <a:t>+</a:t>
            </a:r>
            <a:r>
              <a:rPr sz="1577" spc="-9" dirty="0">
                <a:latin typeface="Cambria"/>
                <a:cs typeface="Cambria"/>
              </a:rPr>
              <a:t> </a:t>
            </a:r>
            <a:r>
              <a:rPr sz="1577" spc="-73" dirty="0">
                <a:latin typeface="Cambria"/>
                <a:cs typeface="Cambria"/>
              </a:rPr>
              <a:t>exp(1/1)</a:t>
            </a:r>
            <a:endParaRPr sz="1577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253275" y="2301592"/>
            <a:ext cx="177130" cy="1187154"/>
          </a:xfrm>
          <a:custGeom>
            <a:avLst/>
            <a:gdLst/>
            <a:ahLst/>
            <a:cxnLst/>
            <a:rect l="l" t="t" r="r" b="b"/>
            <a:pathLst>
              <a:path w="292100" h="1957704">
                <a:moveTo>
                  <a:pt x="243375" y="1957085"/>
                </a:moveTo>
                <a:lnTo>
                  <a:pt x="220083" y="1894234"/>
                </a:lnTo>
                <a:lnTo>
                  <a:pt x="197963" y="1832196"/>
                </a:lnTo>
                <a:lnTo>
                  <a:pt x="177013" y="1770974"/>
                </a:lnTo>
                <a:lnTo>
                  <a:pt x="157233" y="1710565"/>
                </a:lnTo>
                <a:lnTo>
                  <a:pt x="138625" y="1650971"/>
                </a:lnTo>
                <a:lnTo>
                  <a:pt x="121187" y="1592191"/>
                </a:lnTo>
                <a:lnTo>
                  <a:pt x="104921" y="1534225"/>
                </a:lnTo>
                <a:lnTo>
                  <a:pt x="89825" y="1477073"/>
                </a:lnTo>
                <a:lnTo>
                  <a:pt x="75900" y="1420736"/>
                </a:lnTo>
                <a:lnTo>
                  <a:pt x="63146" y="1365213"/>
                </a:lnTo>
                <a:lnTo>
                  <a:pt x="51562" y="1310504"/>
                </a:lnTo>
                <a:lnTo>
                  <a:pt x="41150" y="1256609"/>
                </a:lnTo>
                <a:lnTo>
                  <a:pt x="31908" y="1203529"/>
                </a:lnTo>
                <a:lnTo>
                  <a:pt x="23837" y="1151263"/>
                </a:lnTo>
                <a:lnTo>
                  <a:pt x="16937" y="1099811"/>
                </a:lnTo>
                <a:lnTo>
                  <a:pt x="11208" y="1049174"/>
                </a:lnTo>
                <a:lnTo>
                  <a:pt x="6650" y="999351"/>
                </a:lnTo>
                <a:lnTo>
                  <a:pt x="3262" y="950342"/>
                </a:lnTo>
                <a:lnTo>
                  <a:pt x="1045" y="902147"/>
                </a:lnTo>
                <a:lnTo>
                  <a:pt x="0" y="854766"/>
                </a:lnTo>
                <a:lnTo>
                  <a:pt x="124" y="808200"/>
                </a:lnTo>
                <a:lnTo>
                  <a:pt x="1420" y="762448"/>
                </a:lnTo>
                <a:lnTo>
                  <a:pt x="3887" y="717510"/>
                </a:lnTo>
                <a:lnTo>
                  <a:pt x="7524" y="673387"/>
                </a:lnTo>
                <a:lnTo>
                  <a:pt x="12333" y="630078"/>
                </a:lnTo>
                <a:lnTo>
                  <a:pt x="18312" y="587583"/>
                </a:lnTo>
                <a:lnTo>
                  <a:pt x="25462" y="545902"/>
                </a:lnTo>
                <a:lnTo>
                  <a:pt x="33783" y="505036"/>
                </a:lnTo>
                <a:lnTo>
                  <a:pt x="43274" y="464983"/>
                </a:lnTo>
                <a:lnTo>
                  <a:pt x="53937" y="425745"/>
                </a:lnTo>
                <a:lnTo>
                  <a:pt x="65770" y="387322"/>
                </a:lnTo>
                <a:lnTo>
                  <a:pt x="78774" y="349712"/>
                </a:lnTo>
                <a:lnTo>
                  <a:pt x="92949" y="312917"/>
                </a:lnTo>
                <a:lnTo>
                  <a:pt x="108295" y="276936"/>
                </a:lnTo>
                <a:lnTo>
                  <a:pt x="124812" y="241770"/>
                </a:lnTo>
                <a:lnTo>
                  <a:pt x="142499" y="207417"/>
                </a:lnTo>
                <a:lnTo>
                  <a:pt x="161357" y="173879"/>
                </a:lnTo>
                <a:lnTo>
                  <a:pt x="181386" y="141155"/>
                </a:lnTo>
                <a:lnTo>
                  <a:pt x="202586" y="109246"/>
                </a:lnTo>
                <a:lnTo>
                  <a:pt x="224957" y="78150"/>
                </a:lnTo>
                <a:lnTo>
                  <a:pt x="248499" y="47869"/>
                </a:lnTo>
                <a:lnTo>
                  <a:pt x="273211" y="18402"/>
                </a:lnTo>
                <a:lnTo>
                  <a:pt x="291829" y="0"/>
                </a:lnTo>
              </a:path>
            </a:pathLst>
          </a:custGeom>
          <a:ln w="52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9350394" y="2244457"/>
            <a:ext cx="137853" cy="137468"/>
          </a:xfrm>
          <a:custGeom>
            <a:avLst/>
            <a:gdLst/>
            <a:ahLst/>
            <a:cxnLst/>
            <a:rect l="l" t="t" r="r" b="b"/>
            <a:pathLst>
              <a:path w="227330" h="226695">
                <a:moveTo>
                  <a:pt x="226998" y="0"/>
                </a:moveTo>
                <a:lnTo>
                  <a:pt x="0" y="74204"/>
                </a:lnTo>
                <a:lnTo>
                  <a:pt x="113054" y="112621"/>
                </a:lnTo>
                <a:lnTo>
                  <a:pt x="150162" y="226120"/>
                </a:lnTo>
                <a:lnTo>
                  <a:pt x="2269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491976" y="3427538"/>
            <a:ext cx="434738" cy="1141716"/>
          </a:xfrm>
          <a:custGeom>
            <a:avLst/>
            <a:gdLst/>
            <a:ahLst/>
            <a:cxnLst/>
            <a:rect l="l" t="t" r="r" b="b"/>
            <a:pathLst>
              <a:path w="716915" h="1882775">
                <a:moveTo>
                  <a:pt x="0" y="1882767"/>
                </a:moveTo>
                <a:lnTo>
                  <a:pt x="70300" y="1837629"/>
                </a:lnTo>
                <a:lnTo>
                  <a:pt x="116531" y="1805907"/>
                </a:lnTo>
                <a:lnTo>
                  <a:pt x="161046" y="1773979"/>
                </a:lnTo>
                <a:lnTo>
                  <a:pt x="203845" y="1741846"/>
                </a:lnTo>
                <a:lnTo>
                  <a:pt x="244929" y="1709508"/>
                </a:lnTo>
                <a:lnTo>
                  <a:pt x="284297" y="1676965"/>
                </a:lnTo>
                <a:lnTo>
                  <a:pt x="321949" y="1644216"/>
                </a:lnTo>
                <a:lnTo>
                  <a:pt x="357885" y="1611262"/>
                </a:lnTo>
                <a:lnTo>
                  <a:pt x="392106" y="1578103"/>
                </a:lnTo>
                <a:lnTo>
                  <a:pt x="424611" y="1544739"/>
                </a:lnTo>
                <a:lnTo>
                  <a:pt x="455400" y="1511169"/>
                </a:lnTo>
                <a:lnTo>
                  <a:pt x="484474" y="1477394"/>
                </a:lnTo>
                <a:lnTo>
                  <a:pt x="511831" y="1443413"/>
                </a:lnTo>
                <a:lnTo>
                  <a:pt x="537474" y="1409227"/>
                </a:lnTo>
                <a:lnTo>
                  <a:pt x="561400" y="1374836"/>
                </a:lnTo>
                <a:lnTo>
                  <a:pt x="583611" y="1340240"/>
                </a:lnTo>
                <a:lnTo>
                  <a:pt x="604106" y="1305438"/>
                </a:lnTo>
                <a:lnTo>
                  <a:pt x="622885" y="1270431"/>
                </a:lnTo>
                <a:lnTo>
                  <a:pt x="639949" y="1235219"/>
                </a:lnTo>
                <a:lnTo>
                  <a:pt x="655297" y="1199801"/>
                </a:lnTo>
                <a:lnTo>
                  <a:pt x="668930" y="1164178"/>
                </a:lnTo>
                <a:lnTo>
                  <a:pt x="691047" y="1092316"/>
                </a:lnTo>
                <a:lnTo>
                  <a:pt x="706302" y="1019633"/>
                </a:lnTo>
                <a:lnTo>
                  <a:pt x="714695" y="946128"/>
                </a:lnTo>
                <a:lnTo>
                  <a:pt x="716318" y="909068"/>
                </a:lnTo>
                <a:lnTo>
                  <a:pt x="716225" y="871802"/>
                </a:lnTo>
                <a:lnTo>
                  <a:pt x="710892" y="796654"/>
                </a:lnTo>
                <a:lnTo>
                  <a:pt x="705652" y="758773"/>
                </a:lnTo>
                <a:lnTo>
                  <a:pt x="698697" y="720685"/>
                </a:lnTo>
                <a:lnTo>
                  <a:pt x="690026" y="682393"/>
                </a:lnTo>
                <a:lnTo>
                  <a:pt x="679639" y="643895"/>
                </a:lnTo>
                <a:lnTo>
                  <a:pt x="667537" y="605192"/>
                </a:lnTo>
                <a:lnTo>
                  <a:pt x="653719" y="566283"/>
                </a:lnTo>
                <a:lnTo>
                  <a:pt x="638186" y="527169"/>
                </a:lnTo>
                <a:lnTo>
                  <a:pt x="620937" y="487850"/>
                </a:lnTo>
                <a:lnTo>
                  <a:pt x="601972" y="448326"/>
                </a:lnTo>
                <a:lnTo>
                  <a:pt x="581292" y="408596"/>
                </a:lnTo>
                <a:lnTo>
                  <a:pt x="558896" y="368660"/>
                </a:lnTo>
                <a:lnTo>
                  <a:pt x="534784" y="328519"/>
                </a:lnTo>
                <a:lnTo>
                  <a:pt x="508957" y="288173"/>
                </a:lnTo>
                <a:lnTo>
                  <a:pt x="481415" y="247622"/>
                </a:lnTo>
                <a:lnTo>
                  <a:pt x="452156" y="206865"/>
                </a:lnTo>
                <a:lnTo>
                  <a:pt x="421183" y="165903"/>
                </a:lnTo>
                <a:lnTo>
                  <a:pt x="388493" y="124735"/>
                </a:lnTo>
                <a:lnTo>
                  <a:pt x="354088" y="83362"/>
                </a:lnTo>
                <a:lnTo>
                  <a:pt x="317968" y="41783"/>
                </a:lnTo>
                <a:lnTo>
                  <a:pt x="280132" y="0"/>
                </a:lnTo>
              </a:path>
            </a:pathLst>
          </a:custGeom>
          <a:ln w="52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422571" y="4488832"/>
            <a:ext cx="144399" cy="122836"/>
          </a:xfrm>
          <a:custGeom>
            <a:avLst/>
            <a:gdLst/>
            <a:ahLst/>
            <a:cxnLst/>
            <a:rect l="l" t="t" r="r" b="b"/>
            <a:pathLst>
              <a:path w="238125" h="202565">
                <a:moveTo>
                  <a:pt x="126833" y="0"/>
                </a:moveTo>
                <a:lnTo>
                  <a:pt x="0" y="202355"/>
                </a:lnTo>
                <a:lnTo>
                  <a:pt x="237982" y="182409"/>
                </a:lnTo>
                <a:lnTo>
                  <a:pt x="136812" y="118992"/>
                </a:lnTo>
                <a:lnTo>
                  <a:pt x="126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 txBox="1"/>
          <p:nvPr/>
        </p:nvSpPr>
        <p:spPr>
          <a:xfrm>
            <a:off x="1562828" y="4768344"/>
            <a:ext cx="9221141" cy="1271319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346636" marR="3081" indent="-20408" algn="r">
              <a:lnSpc>
                <a:spcPct val="123000"/>
              </a:lnSpc>
              <a:spcBef>
                <a:spcPts val="55"/>
              </a:spcBef>
              <a:tabLst>
                <a:tab pos="7865702" algn="l"/>
                <a:tab pos="9213041" algn="l"/>
              </a:tabLst>
            </a:pPr>
            <a:r>
              <a:rPr sz="1577" u="heavy" spc="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577" u="heavy" spc="-73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exp(5/10) 	</a:t>
            </a:r>
            <a:r>
              <a:rPr sz="1577" dirty="0">
                <a:latin typeface="Cambria"/>
                <a:cs typeface="Cambria"/>
              </a:rPr>
              <a:t> </a:t>
            </a:r>
            <a:r>
              <a:rPr sz="1577" spc="-73" dirty="0">
                <a:latin typeface="Cambria"/>
                <a:cs typeface="Cambria"/>
              </a:rPr>
              <a:t>exp(5/10)</a:t>
            </a:r>
            <a:r>
              <a:rPr sz="1577" spc="-9" dirty="0">
                <a:latin typeface="Cambria"/>
                <a:cs typeface="Cambria"/>
              </a:rPr>
              <a:t> </a:t>
            </a:r>
            <a:r>
              <a:rPr sz="1577" spc="221" dirty="0">
                <a:latin typeface="Cambria"/>
                <a:cs typeface="Cambria"/>
              </a:rPr>
              <a:t>+</a:t>
            </a:r>
            <a:r>
              <a:rPr sz="1577" spc="-9" dirty="0">
                <a:latin typeface="Cambria"/>
                <a:cs typeface="Cambria"/>
              </a:rPr>
              <a:t> </a:t>
            </a:r>
            <a:r>
              <a:rPr sz="1577" spc="-73" dirty="0">
                <a:latin typeface="Cambria"/>
                <a:cs typeface="Cambria"/>
              </a:rPr>
              <a:t>exp(1/10)</a:t>
            </a:r>
            <a:endParaRPr sz="1577" dirty="0">
              <a:latin typeface="Cambria"/>
              <a:cs typeface="Cambria"/>
            </a:endParaRPr>
          </a:p>
          <a:p>
            <a:pPr>
              <a:spcBef>
                <a:spcPts val="30"/>
              </a:spcBef>
            </a:pPr>
            <a:endParaRPr sz="2335" dirty="0">
              <a:latin typeface="Cambria"/>
              <a:cs typeface="Cambria"/>
            </a:endParaRPr>
          </a:p>
          <a:p>
            <a:pPr marL="7701">
              <a:spcBef>
                <a:spcPts val="3"/>
              </a:spcBef>
            </a:pPr>
            <a:r>
              <a:rPr sz="2001" spc="115" dirty="0">
                <a:latin typeface="Trebuchet MS"/>
                <a:cs typeface="Trebuchet MS"/>
              </a:rPr>
              <a:t>A</a:t>
            </a:r>
            <a:r>
              <a:rPr sz="2001" spc="-49" dirty="0">
                <a:latin typeface="Trebuchet MS"/>
                <a:cs typeface="Trebuchet MS"/>
              </a:rPr>
              <a:t> larger</a:t>
            </a:r>
            <a:r>
              <a:rPr sz="2001" spc="-45" dirty="0">
                <a:latin typeface="Trebuchet MS"/>
                <a:cs typeface="Trebuchet MS"/>
              </a:rPr>
              <a:t> temperature </a:t>
            </a:r>
            <a:r>
              <a:rPr sz="2001" spc="61" dirty="0">
                <a:solidFill>
                  <a:srgbClr val="FF0000"/>
                </a:solidFill>
                <a:latin typeface="Trebuchet MS"/>
                <a:cs typeface="Trebuchet MS"/>
              </a:rPr>
              <a:t>smooths</a:t>
            </a:r>
            <a:r>
              <a:rPr sz="200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1" spc="-5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00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1" spc="-24" dirty="0">
                <a:solidFill>
                  <a:srgbClr val="FF0000"/>
                </a:solidFill>
                <a:latin typeface="Trebuchet MS"/>
                <a:cs typeface="Trebuchet MS"/>
              </a:rPr>
              <a:t>output</a:t>
            </a:r>
            <a:r>
              <a:rPr sz="200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1" spc="-36" dirty="0">
                <a:solidFill>
                  <a:srgbClr val="FF0000"/>
                </a:solidFill>
                <a:latin typeface="Trebuchet MS"/>
                <a:cs typeface="Trebuchet MS"/>
              </a:rPr>
              <a:t>probability</a:t>
            </a:r>
            <a:r>
              <a:rPr sz="2001" spc="-45" dirty="0">
                <a:solidFill>
                  <a:srgbClr val="FF0000"/>
                </a:solidFill>
                <a:latin typeface="Trebuchet MS"/>
                <a:cs typeface="Trebuchet MS"/>
              </a:rPr>
              <a:t> distribution</a:t>
            </a:r>
            <a:r>
              <a:rPr sz="2001" spc="-45" dirty="0">
                <a:latin typeface="Trebuchet MS"/>
                <a:cs typeface="Trebuchet MS"/>
              </a:rPr>
              <a:t>.</a:t>
            </a:r>
            <a:endParaRPr sz="2001" dirty="0">
              <a:latin typeface="Trebuchet MS"/>
              <a:cs typeface="Trebuchet MS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90044969-7D59-480E-11DF-A1EA6AAD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F348-1E5C-4FDA-B12E-391FD240A2BF}" type="datetime1">
              <a:rPr lang="en-US" smtClean="0"/>
              <a:t>12/3/2025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spc="-73" dirty="0"/>
              <a:t>Formal</a:t>
            </a:r>
            <a:r>
              <a:rPr spc="-188" dirty="0"/>
              <a:t> </a:t>
            </a:r>
            <a:r>
              <a:rPr spc="-94" dirty="0"/>
              <a:t>Definition</a:t>
            </a:r>
            <a:r>
              <a:rPr spc="-185" dirty="0"/>
              <a:t> </a:t>
            </a:r>
            <a:r>
              <a:rPr spc="-42" dirty="0"/>
              <a:t>of</a:t>
            </a:r>
            <a:r>
              <a:rPr spc="-188" dirty="0"/>
              <a:t> </a:t>
            </a:r>
            <a:r>
              <a:rPr spc="-45" dirty="0"/>
              <a:t>KD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642" y="1905977"/>
            <a:ext cx="11142613" cy="378672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327689" indent="-304971">
              <a:spcBef>
                <a:spcPts val="79"/>
              </a:spcBef>
              <a:buSzPct val="122727"/>
              <a:buChar char="•"/>
              <a:tabLst>
                <a:tab pos="327689" algn="l"/>
                <a:tab pos="328075" algn="l"/>
              </a:tabLst>
            </a:pPr>
            <a:r>
              <a:rPr sz="2001" spc="-12" dirty="0">
                <a:latin typeface="Trebuchet MS"/>
                <a:cs typeface="Trebuchet MS"/>
              </a:rPr>
              <a:t>Neural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" dirty="0">
                <a:latin typeface="Trebuchet MS"/>
                <a:cs typeface="Trebuchet MS"/>
              </a:rPr>
              <a:t>networks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42" dirty="0">
                <a:latin typeface="Trebuchet MS"/>
                <a:cs typeface="Trebuchet MS"/>
              </a:rPr>
              <a:t>typically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61" dirty="0">
                <a:latin typeface="Trebuchet MS"/>
                <a:cs typeface="Trebuchet MS"/>
              </a:rPr>
              <a:t>use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21" dirty="0">
                <a:latin typeface="Trebuchet MS"/>
                <a:cs typeface="Trebuchet MS"/>
              </a:rPr>
              <a:t>a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6" dirty="0">
                <a:latin typeface="Trebuchet MS"/>
                <a:cs typeface="Trebuchet MS"/>
              </a:rPr>
              <a:t>softmax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30" dirty="0">
                <a:latin typeface="Trebuchet MS"/>
                <a:cs typeface="Trebuchet MS"/>
              </a:rPr>
              <a:t>function</a:t>
            </a:r>
            <a:r>
              <a:rPr sz="2001" spc="-45" dirty="0">
                <a:latin typeface="Trebuchet MS"/>
                <a:cs typeface="Trebuchet MS"/>
              </a:rPr>
              <a:t> to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18" dirty="0">
                <a:latin typeface="Trebuchet MS"/>
                <a:cs typeface="Trebuchet MS"/>
              </a:rPr>
              <a:t>generate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the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b="1" spc="-15" dirty="0">
                <a:latin typeface="Arial"/>
                <a:cs typeface="Arial"/>
              </a:rPr>
              <a:t>logits</a:t>
            </a:r>
            <a:r>
              <a:rPr sz="2001" b="1" spc="3" dirty="0">
                <a:latin typeface="Arial"/>
                <a:cs typeface="Arial"/>
              </a:rPr>
              <a:t> </a:t>
            </a:r>
            <a:r>
              <a:rPr sz="2395" i="1" spc="-36" dirty="0">
                <a:latin typeface="Times New Roman"/>
                <a:cs typeface="Times New Roman"/>
              </a:rPr>
              <a:t>z</a:t>
            </a:r>
            <a:r>
              <a:rPr sz="2547" i="1" spc="-54" baseline="-19841" dirty="0">
                <a:latin typeface="Times New Roman"/>
                <a:cs typeface="Times New Roman"/>
              </a:rPr>
              <a:t>i</a:t>
            </a:r>
            <a:r>
              <a:rPr sz="2547" i="1" spc="204" baseline="-19841" dirty="0">
                <a:latin typeface="Times New Roman"/>
                <a:cs typeface="Times New Roman"/>
              </a:rPr>
              <a:t> </a:t>
            </a:r>
            <a:r>
              <a:rPr sz="2001" spc="-45" dirty="0">
                <a:latin typeface="Trebuchet MS"/>
                <a:cs typeface="Trebuchet MS"/>
              </a:rPr>
              <a:t>to </a:t>
            </a:r>
            <a:r>
              <a:rPr sz="2001" spc="67" dirty="0">
                <a:latin typeface="Trebuchet MS"/>
                <a:cs typeface="Trebuchet MS"/>
              </a:rPr>
              <a:t>class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b="1" spc="-12" dirty="0">
                <a:latin typeface="Arial"/>
                <a:cs typeface="Arial"/>
              </a:rPr>
              <a:t>probabilities</a:t>
            </a:r>
            <a:endParaRPr sz="2001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9454" y="2789029"/>
            <a:ext cx="2922640" cy="378672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7701">
              <a:spcBef>
                <a:spcPts val="79"/>
              </a:spcBef>
            </a:pPr>
            <a:r>
              <a:rPr sz="2001" spc="-179" dirty="0">
                <a:latin typeface="Trebuchet MS"/>
                <a:cs typeface="Trebuchet MS"/>
              </a:rPr>
              <a:t>.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dirty="0">
                <a:latin typeface="Trebuchet MS"/>
                <a:cs typeface="Trebuchet MS"/>
              </a:rPr>
              <a:t>He</a:t>
            </a:r>
            <a:r>
              <a:rPr sz="2001" spc="-36" dirty="0">
                <a:latin typeface="Trebuchet MS"/>
                <a:cs typeface="Trebuchet MS"/>
              </a:rPr>
              <a:t>r</a:t>
            </a:r>
            <a:r>
              <a:rPr sz="2001" spc="-100" dirty="0">
                <a:latin typeface="Trebuchet MS"/>
                <a:cs typeface="Trebuchet MS"/>
              </a:rPr>
              <a:t>e,</a:t>
            </a:r>
            <a:r>
              <a:rPr sz="2395" i="1" spc="6" dirty="0">
                <a:latin typeface="Times New Roman"/>
                <a:cs typeface="Times New Roman"/>
              </a:rPr>
              <a:t>i</a:t>
            </a:r>
            <a:r>
              <a:rPr sz="2395" spc="112" dirty="0">
                <a:latin typeface="Cambria"/>
                <a:cs typeface="Cambria"/>
              </a:rPr>
              <a:t>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6" dirty="0">
                <a:latin typeface="Times New Roman"/>
                <a:cs typeface="Times New Roman"/>
              </a:rPr>
              <a:t>j</a:t>
            </a:r>
            <a:r>
              <a:rPr sz="2395" i="1" spc="69" dirty="0">
                <a:latin typeface="Times New Roman"/>
                <a:cs typeface="Times New Roman"/>
              </a:rPr>
              <a:t> 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spc="42" dirty="0">
                <a:latin typeface="Cambria"/>
                <a:cs typeface="Cambria"/>
              </a:rPr>
              <a:t>0,1,2,...,</a:t>
            </a:r>
            <a:r>
              <a:rPr sz="2395" i="1" spc="12" dirty="0">
                <a:latin typeface="Times New Roman"/>
                <a:cs typeface="Times New Roman"/>
              </a:rPr>
              <a:t>C</a:t>
            </a:r>
            <a:r>
              <a:rPr sz="2395" i="1" spc="-64" dirty="0">
                <a:latin typeface="Times New Roman"/>
                <a:cs typeface="Times New Roman"/>
              </a:rPr>
              <a:t> </a:t>
            </a:r>
            <a:r>
              <a:rPr sz="2395" spc="327" dirty="0">
                <a:latin typeface="Cambria"/>
                <a:cs typeface="Cambria"/>
              </a:rPr>
              <a:t>−</a:t>
            </a:r>
            <a:endParaRPr sz="2395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8068" y="2841843"/>
            <a:ext cx="4944614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  <a:tabLst>
                <a:tab pos="1180991" algn="l"/>
                <a:tab pos="4325039" algn="l"/>
              </a:tabLst>
            </a:pPr>
            <a:r>
              <a:rPr sz="2001" spc="-179" dirty="0">
                <a:latin typeface="Trebuchet MS"/>
                <a:cs typeface="Trebuchet MS"/>
              </a:rPr>
              <a:t>,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30" dirty="0">
                <a:latin typeface="Trebuchet MS"/>
                <a:cs typeface="Trebuchet MS"/>
              </a:rPr>
              <a:t>where	</a:t>
            </a:r>
            <a:r>
              <a:rPr sz="2001" spc="30" dirty="0">
                <a:latin typeface="Trebuchet MS"/>
                <a:cs typeface="Trebuchet MS"/>
              </a:rPr>
              <a:t>is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the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" dirty="0">
                <a:latin typeface="Trebuchet MS"/>
                <a:cs typeface="Trebuchet MS"/>
              </a:rPr>
              <a:t>number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39" dirty="0">
                <a:latin typeface="Trebuchet MS"/>
                <a:cs typeface="Trebuchet MS"/>
              </a:rPr>
              <a:t>of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39" dirty="0">
                <a:latin typeface="Trebuchet MS"/>
                <a:cs typeface="Trebuchet MS"/>
              </a:rPr>
              <a:t>classes.	</a:t>
            </a:r>
            <a:r>
              <a:rPr sz="2001" spc="30" dirty="0">
                <a:latin typeface="Trebuchet MS"/>
                <a:cs typeface="Trebuchet MS"/>
              </a:rPr>
              <a:t>is</a:t>
            </a:r>
            <a:r>
              <a:rPr sz="2001" spc="-100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the</a:t>
            </a:r>
            <a:endParaRPr sz="2001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2050" y="3500170"/>
            <a:ext cx="4484847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2001" spc="-58" dirty="0">
                <a:solidFill>
                  <a:srgbClr val="FFC000"/>
                </a:solidFill>
                <a:latin typeface="Trebuchet MS"/>
                <a:cs typeface="Trebuchet MS"/>
              </a:rPr>
              <a:t>temperature</a:t>
            </a:r>
            <a:r>
              <a:rPr sz="2001" spc="-58" dirty="0">
                <a:latin typeface="Trebuchet MS"/>
                <a:cs typeface="Trebuchet MS"/>
              </a:rPr>
              <a:t>,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3" dirty="0">
                <a:latin typeface="Trebuchet MS"/>
                <a:cs typeface="Trebuchet MS"/>
              </a:rPr>
              <a:t>which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30" dirty="0">
                <a:latin typeface="Trebuchet MS"/>
                <a:cs typeface="Trebuchet MS"/>
              </a:rPr>
              <a:t>is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30" dirty="0">
                <a:latin typeface="Trebuchet MS"/>
                <a:cs typeface="Trebuchet MS"/>
              </a:rPr>
              <a:t>normally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dirty="0">
                <a:latin typeface="Trebuchet MS"/>
                <a:cs typeface="Trebuchet MS"/>
              </a:rPr>
              <a:t>set</a:t>
            </a:r>
            <a:r>
              <a:rPr sz="2001" spc="-45" dirty="0">
                <a:latin typeface="Trebuchet MS"/>
                <a:cs typeface="Trebuchet MS"/>
              </a:rPr>
              <a:t> to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61" dirty="0">
                <a:latin typeface="Trebuchet MS"/>
                <a:cs typeface="Trebuchet MS"/>
              </a:rPr>
              <a:t>1.</a:t>
            </a:r>
            <a:endParaRPr sz="2001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271" y="4149041"/>
            <a:ext cx="124761" cy="386089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2050" y="4191000"/>
            <a:ext cx="10727899" cy="609603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/>
          <a:p>
            <a:pPr marL="7701" marR="3081">
              <a:lnSpc>
                <a:spcPct val="102000"/>
              </a:lnSpc>
              <a:spcBef>
                <a:spcPts val="9"/>
              </a:spcBef>
            </a:pPr>
            <a:r>
              <a:rPr sz="2001" spc="-6" dirty="0">
                <a:latin typeface="Trebuchet MS"/>
                <a:cs typeface="Trebuchet MS"/>
              </a:rPr>
              <a:t>The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21" dirty="0">
                <a:latin typeface="Trebuchet MS"/>
                <a:cs typeface="Trebuchet MS"/>
              </a:rPr>
              <a:t>goal</a:t>
            </a:r>
            <a:r>
              <a:rPr sz="2001" spc="-39" dirty="0">
                <a:latin typeface="Trebuchet MS"/>
                <a:cs typeface="Trebuchet MS"/>
              </a:rPr>
              <a:t> of </a:t>
            </a:r>
            <a:r>
              <a:rPr sz="2001" spc="18" dirty="0">
                <a:latin typeface="Trebuchet MS"/>
                <a:cs typeface="Trebuchet MS"/>
              </a:rPr>
              <a:t>knowledge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distillation</a:t>
            </a:r>
            <a:r>
              <a:rPr sz="2001" spc="-39" dirty="0">
                <a:latin typeface="Trebuchet MS"/>
                <a:cs typeface="Trebuchet MS"/>
              </a:rPr>
              <a:t> </a:t>
            </a:r>
            <a:r>
              <a:rPr sz="2001" spc="30" dirty="0">
                <a:latin typeface="Trebuchet MS"/>
                <a:cs typeface="Trebuchet MS"/>
              </a:rPr>
              <a:t>is</a:t>
            </a:r>
            <a:r>
              <a:rPr sz="2001" spc="-39" dirty="0">
                <a:latin typeface="Trebuchet MS"/>
                <a:cs typeface="Trebuchet MS"/>
              </a:rPr>
              <a:t> </a:t>
            </a:r>
            <a:r>
              <a:rPr sz="2001" spc="-45" dirty="0">
                <a:latin typeface="Trebuchet MS"/>
                <a:cs typeface="Trebuchet MS"/>
              </a:rPr>
              <a:t>to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b="1" spc="-18" dirty="0">
                <a:latin typeface="Arial"/>
                <a:cs typeface="Arial"/>
              </a:rPr>
              <a:t>align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spc="9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001" b="1" spc="-12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2001" b="1" spc="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1" b="1" spc="-15" dirty="0">
                <a:solidFill>
                  <a:srgbClr val="FF0000"/>
                </a:solidFill>
                <a:latin typeface="Arial"/>
                <a:cs typeface="Arial"/>
              </a:rPr>
              <a:t>probability</a:t>
            </a:r>
            <a:r>
              <a:rPr sz="2001" b="1" spc="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1" b="1" spc="-18" dirty="0">
                <a:solidFill>
                  <a:srgbClr val="FF0000"/>
                </a:solidFill>
                <a:latin typeface="Arial"/>
                <a:cs typeface="Arial"/>
              </a:rPr>
              <a:t>distributions</a:t>
            </a:r>
            <a:r>
              <a:rPr sz="2001" b="1" spc="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1" b="1" spc="-3" dirty="0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sz="2001" b="1" spc="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1" b="1" spc="18" dirty="0">
                <a:solidFill>
                  <a:srgbClr val="FF0000"/>
                </a:solidFill>
                <a:latin typeface="Arial"/>
                <a:cs typeface="Arial"/>
              </a:rPr>
              <a:t>teacher </a:t>
            </a:r>
            <a:r>
              <a:rPr sz="2001" b="1" spc="-54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1" b="1" spc="-3" dirty="0">
                <a:solidFill>
                  <a:srgbClr val="FF0000"/>
                </a:solidFill>
                <a:latin typeface="Arial"/>
                <a:cs typeface="Arial"/>
              </a:rPr>
              <a:t>and student</a:t>
            </a:r>
            <a:r>
              <a:rPr sz="2001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1" b="1" spc="-9" dirty="0">
                <a:solidFill>
                  <a:srgbClr val="FF0000"/>
                </a:solidFill>
                <a:latin typeface="Arial"/>
                <a:cs typeface="Arial"/>
              </a:rPr>
              <a:t>networks</a:t>
            </a:r>
            <a:r>
              <a:rPr sz="2001" spc="-9" dirty="0">
                <a:latin typeface="Trebuchet MS"/>
                <a:cs typeface="Trebuchet MS"/>
              </a:rPr>
              <a:t>.</a:t>
            </a:r>
            <a:endParaRPr sz="2001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402" y="2954699"/>
            <a:ext cx="76243" cy="271011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698" i="1" spc="3" dirty="0">
                <a:latin typeface="Times New Roman"/>
                <a:cs typeface="Times New Roman"/>
              </a:rPr>
              <a:t>i</a:t>
            </a:r>
            <a:endParaRPr sz="16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050" y="2789029"/>
            <a:ext cx="1164820" cy="378672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7701">
              <a:spcBef>
                <a:spcPts val="79"/>
              </a:spcBef>
            </a:pPr>
            <a:r>
              <a:rPr sz="2395" i="1" spc="18" dirty="0">
                <a:latin typeface="Times New Roman"/>
                <a:cs typeface="Times New Roman"/>
              </a:rPr>
              <a:t>p</a:t>
            </a:r>
            <a:r>
              <a:rPr sz="2395" spc="-112" dirty="0">
                <a:latin typeface="Cambria"/>
                <a:cs typeface="Cambria"/>
              </a:rPr>
              <a:t>(</a:t>
            </a:r>
            <a:r>
              <a:rPr sz="2395" i="1" spc="6" dirty="0">
                <a:latin typeface="Times New Roman"/>
                <a:cs typeface="Times New Roman"/>
              </a:rPr>
              <a:t>z</a:t>
            </a:r>
            <a:r>
              <a:rPr sz="2395" i="1" spc="-209" dirty="0">
                <a:latin typeface="Times New Roman"/>
                <a:cs typeface="Times New Roman"/>
              </a:rPr>
              <a:t> </a:t>
            </a:r>
            <a:r>
              <a:rPr sz="2395" spc="112" dirty="0">
                <a:latin typeface="Cambria"/>
                <a:cs typeface="Cambria"/>
              </a:rPr>
              <a:t>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9" dirty="0">
                <a:latin typeface="Times New Roman"/>
                <a:cs typeface="Times New Roman"/>
              </a:rPr>
              <a:t>T</a:t>
            </a:r>
            <a:r>
              <a:rPr sz="2395" i="1" spc="-385" dirty="0">
                <a:latin typeface="Times New Roman"/>
                <a:cs typeface="Times New Roman"/>
              </a:rPr>
              <a:t> </a:t>
            </a:r>
            <a:r>
              <a:rPr sz="2395" spc="-112" dirty="0">
                <a:latin typeface="Cambria"/>
                <a:cs typeface="Cambria"/>
              </a:rPr>
              <a:t>)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=</a:t>
            </a:r>
            <a:endParaRPr sz="2395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7206" y="2561444"/>
            <a:ext cx="1161740" cy="378672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3104">
              <a:spcBef>
                <a:spcPts val="79"/>
              </a:spcBef>
            </a:pPr>
            <a:r>
              <a:rPr sz="2001" spc="27" dirty="0">
                <a:latin typeface="Trebuchet MS"/>
                <a:cs typeface="Trebuchet MS"/>
              </a:rPr>
              <a:t>exp</a:t>
            </a:r>
            <a:r>
              <a:rPr sz="2395" spc="-112" dirty="0">
                <a:latin typeface="Cambria"/>
                <a:cs typeface="Cambria"/>
              </a:rPr>
              <a:t>(</a:t>
            </a:r>
            <a:r>
              <a:rPr sz="2395" i="1" spc="-79" dirty="0">
                <a:latin typeface="Times New Roman"/>
                <a:cs typeface="Times New Roman"/>
              </a:rPr>
              <a:t>z</a:t>
            </a:r>
            <a:r>
              <a:rPr sz="2547" i="1" spc="4" baseline="-19841" dirty="0">
                <a:latin typeface="Times New Roman"/>
                <a:cs typeface="Times New Roman"/>
              </a:rPr>
              <a:t>i</a:t>
            </a:r>
            <a:r>
              <a:rPr sz="2547" i="1" spc="-364" baseline="-19841" dirty="0">
                <a:latin typeface="Times New Roman"/>
                <a:cs typeface="Times New Roman"/>
              </a:rPr>
              <a:t> </a:t>
            </a:r>
            <a:r>
              <a:rPr sz="2395" spc="-370" dirty="0">
                <a:latin typeface="Cambria"/>
                <a:cs typeface="Cambria"/>
              </a:rPr>
              <a:t>/</a:t>
            </a:r>
            <a:r>
              <a:rPr sz="2395" i="1" spc="9" dirty="0">
                <a:latin typeface="Times New Roman"/>
                <a:cs typeface="Times New Roman"/>
              </a:rPr>
              <a:t>T</a:t>
            </a:r>
            <a:r>
              <a:rPr sz="2395" i="1" spc="-385" dirty="0">
                <a:latin typeface="Times New Roman"/>
                <a:cs typeface="Times New Roman"/>
              </a:rPr>
              <a:t> </a:t>
            </a:r>
            <a:r>
              <a:rPr sz="2395" spc="-112" dirty="0">
                <a:latin typeface="Cambria"/>
                <a:cs typeface="Cambria"/>
              </a:rPr>
              <a:t>)</a:t>
            </a:r>
            <a:endParaRPr sz="2395" dirty="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74256" y="3015783"/>
            <a:ext cx="1607645" cy="20408"/>
          </a:xfrm>
          <a:custGeom>
            <a:avLst/>
            <a:gdLst/>
            <a:ahLst/>
            <a:cxnLst/>
            <a:rect l="l" t="t" r="r" b="b"/>
            <a:pathLst>
              <a:path w="2651125" h="33654">
                <a:moveTo>
                  <a:pt x="2650985" y="0"/>
                </a:moveTo>
                <a:lnTo>
                  <a:pt x="0" y="0"/>
                </a:lnTo>
                <a:lnTo>
                  <a:pt x="0" y="33391"/>
                </a:lnTo>
                <a:lnTo>
                  <a:pt x="2650985" y="33391"/>
                </a:lnTo>
                <a:lnTo>
                  <a:pt x="26509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 txBox="1"/>
          <p:nvPr/>
        </p:nvSpPr>
        <p:spPr>
          <a:xfrm>
            <a:off x="2015920" y="3019126"/>
            <a:ext cx="1558356" cy="378672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3104">
              <a:spcBef>
                <a:spcPts val="79"/>
              </a:spcBef>
            </a:pPr>
            <a:r>
              <a:rPr sz="2395" spc="509" dirty="0">
                <a:latin typeface="Cambria"/>
                <a:cs typeface="Cambria"/>
              </a:rPr>
              <a:t>∑</a:t>
            </a:r>
            <a:r>
              <a:rPr sz="2547" i="1" spc="4" baseline="-32738" dirty="0">
                <a:latin typeface="Times New Roman"/>
                <a:cs typeface="Times New Roman"/>
              </a:rPr>
              <a:t>j</a:t>
            </a:r>
            <a:r>
              <a:rPr sz="2547" i="1" spc="-36" baseline="-32738" dirty="0">
                <a:latin typeface="Times New Roman"/>
                <a:cs typeface="Times New Roman"/>
              </a:rPr>
              <a:t> </a:t>
            </a:r>
            <a:r>
              <a:rPr sz="2001" spc="27" dirty="0">
                <a:latin typeface="Trebuchet MS"/>
                <a:cs typeface="Trebuchet MS"/>
              </a:rPr>
              <a:t>exp</a:t>
            </a:r>
            <a:r>
              <a:rPr sz="2395" spc="-112" dirty="0">
                <a:latin typeface="Cambria"/>
                <a:cs typeface="Cambria"/>
              </a:rPr>
              <a:t>(</a:t>
            </a:r>
            <a:r>
              <a:rPr sz="2395" i="1" spc="-69" dirty="0">
                <a:latin typeface="Times New Roman"/>
                <a:cs typeface="Times New Roman"/>
              </a:rPr>
              <a:t>z</a:t>
            </a:r>
            <a:r>
              <a:rPr sz="2547" i="1" spc="4" baseline="-17857" dirty="0">
                <a:latin typeface="Times New Roman"/>
                <a:cs typeface="Times New Roman"/>
              </a:rPr>
              <a:t>j</a:t>
            </a:r>
            <a:r>
              <a:rPr sz="2547" i="1" spc="-327" baseline="-17857" dirty="0">
                <a:latin typeface="Times New Roman"/>
                <a:cs typeface="Times New Roman"/>
              </a:rPr>
              <a:t> </a:t>
            </a:r>
            <a:r>
              <a:rPr sz="2395" spc="-370" dirty="0">
                <a:latin typeface="Cambria"/>
                <a:cs typeface="Cambria"/>
              </a:rPr>
              <a:t>/</a:t>
            </a:r>
            <a:r>
              <a:rPr sz="2395" i="1" spc="9" dirty="0">
                <a:latin typeface="Times New Roman"/>
                <a:cs typeface="Times New Roman"/>
              </a:rPr>
              <a:t>T</a:t>
            </a:r>
            <a:r>
              <a:rPr sz="2395" i="1" spc="-385" dirty="0">
                <a:latin typeface="Times New Roman"/>
                <a:cs typeface="Times New Roman"/>
              </a:rPr>
              <a:t> </a:t>
            </a:r>
            <a:r>
              <a:rPr sz="2395" spc="-112" dirty="0">
                <a:latin typeface="Cambria"/>
                <a:cs typeface="Cambria"/>
              </a:rPr>
              <a:t>)</a:t>
            </a:r>
            <a:endParaRPr sz="2395" dirty="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88376" y="5963521"/>
            <a:ext cx="5815245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-12" dirty="0">
                <a:solidFill>
                  <a:srgbClr val="5E5E5E"/>
                </a:solidFill>
                <a:latin typeface="Trebuchet MS"/>
                <a:cs typeface="Trebuchet MS"/>
              </a:rPr>
              <a:t>Distilling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the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0" dirty="0">
                <a:solidFill>
                  <a:srgbClr val="5E5E5E"/>
                </a:solidFill>
                <a:latin typeface="Trebuchet MS"/>
                <a:cs typeface="Trebuchet MS"/>
              </a:rPr>
              <a:t>Knowledge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7" dirty="0">
                <a:solidFill>
                  <a:srgbClr val="5E5E5E"/>
                </a:solidFill>
                <a:latin typeface="Trebuchet MS"/>
                <a:cs typeface="Trebuchet MS"/>
              </a:rPr>
              <a:t>in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21" dirty="0">
                <a:solidFill>
                  <a:srgbClr val="5E5E5E"/>
                </a:solidFill>
                <a:latin typeface="Trebuchet MS"/>
                <a:cs typeface="Trebuchet MS"/>
              </a:rPr>
              <a:t>a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dirty="0">
                <a:solidFill>
                  <a:srgbClr val="5E5E5E"/>
                </a:solidFill>
                <a:latin typeface="Trebuchet MS"/>
                <a:cs typeface="Trebuchet MS"/>
              </a:rPr>
              <a:t>Neural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9" dirty="0">
                <a:solidFill>
                  <a:srgbClr val="5E5E5E"/>
                </a:solidFill>
                <a:latin typeface="Trebuchet MS"/>
                <a:cs typeface="Trebuchet MS"/>
              </a:rPr>
              <a:t>Network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15" dirty="0">
                <a:solidFill>
                  <a:srgbClr val="5E5E5E"/>
                </a:solidFill>
                <a:latin typeface="Trebuchet MS"/>
                <a:cs typeface="Trebuchet MS"/>
              </a:rPr>
              <a:t>[Hinton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i="1" spc="15" dirty="0">
                <a:solidFill>
                  <a:srgbClr val="5E5E5E"/>
                </a:solidFill>
                <a:latin typeface="Arial"/>
                <a:cs typeface="Arial"/>
              </a:rPr>
              <a:t>et</a:t>
            </a:r>
            <a:r>
              <a:rPr sz="1182" i="1" spc="6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82" i="1" spc="-33" dirty="0">
                <a:solidFill>
                  <a:srgbClr val="5E5E5E"/>
                </a:solidFill>
                <a:latin typeface="Arial"/>
                <a:cs typeface="Arial"/>
              </a:rPr>
              <a:t>al.</a:t>
            </a:r>
            <a:r>
              <a:rPr sz="1182" spc="-33" dirty="0">
                <a:solidFill>
                  <a:srgbClr val="5E5E5E"/>
                </a:solidFill>
                <a:latin typeface="Trebuchet MS"/>
                <a:cs typeface="Trebuchet MS"/>
              </a:rPr>
              <a:t>,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52" dirty="0">
                <a:solidFill>
                  <a:srgbClr val="5E5E5E"/>
                </a:solidFill>
                <a:latin typeface="Trebuchet MS"/>
                <a:cs typeface="Trebuchet MS"/>
              </a:rPr>
              <a:t>NeurIPS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45" dirty="0">
                <a:solidFill>
                  <a:srgbClr val="5E5E5E"/>
                </a:solidFill>
                <a:latin typeface="Trebuchet MS"/>
                <a:cs typeface="Trebuchet MS"/>
              </a:rPr>
              <a:t>Workshops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2014]</a:t>
            </a:r>
            <a:endParaRPr sz="1182">
              <a:latin typeface="Trebuchet MS"/>
              <a:cs typeface="Trebuchet MS"/>
            </a:endParaRP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8AEA9F6E-9D24-C5B2-F8A9-C44225CB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5E72-24F7-4C7F-83D7-F759395C56D1}" type="datetime1">
              <a:rPr lang="en-US" smtClean="0"/>
              <a:t>12/3/2025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11E6599C-49A4-CC19-4B77-3DB1F49A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2F159C4-D4BA-A311-C98F-BABB25F7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29B05F-3145-F847-247D-E1397814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knowledge distillation system consists of three principal components: </a:t>
            </a:r>
          </a:p>
          <a:p>
            <a:r>
              <a:rPr lang="en-US" dirty="0">
                <a:solidFill>
                  <a:srgbClr val="FFC000"/>
                </a:solidFill>
              </a:rPr>
              <a:t>1. The knowledge, </a:t>
            </a:r>
          </a:p>
          <a:p>
            <a:r>
              <a:rPr lang="en-US" dirty="0">
                <a:solidFill>
                  <a:srgbClr val="FFC000"/>
                </a:solidFill>
              </a:rPr>
              <a:t>2. The distillation algorithm</a:t>
            </a:r>
          </a:p>
          <a:p>
            <a:r>
              <a:rPr lang="en-US" dirty="0">
                <a:solidFill>
                  <a:srgbClr val="FFC000"/>
                </a:solidFill>
              </a:rPr>
              <a:t>3. The teacher-student architecture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D441D-3070-3457-BBC5-CA975FA8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13FF-B124-4429-9E5A-2314C35D375C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187D9-5A85-90B0-A2CC-930C0AE6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65802-A87A-DCA0-1599-EE991F68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98D653-35F4-6A26-6520-44939197F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Distillation Components</a:t>
            </a:r>
          </a:p>
        </p:txBody>
      </p:sp>
    </p:spTree>
    <p:extLst>
      <p:ext uri="{BB962C8B-B14F-4D97-AF65-F5344CB8AC3E}">
        <p14:creationId xmlns:p14="http://schemas.microsoft.com/office/powerpoint/2010/main" val="4000954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266AAA-4478-E024-141E-5FA59481E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Knowledge refers to the learned </a:t>
            </a:r>
            <a:r>
              <a:rPr lang="en-US" dirty="0">
                <a:solidFill>
                  <a:srgbClr val="FF0000"/>
                </a:solidFill>
              </a:rPr>
              <a:t>weights and biases</a:t>
            </a:r>
            <a:r>
              <a:rPr lang="en-US" dirty="0"/>
              <a:t>. </a:t>
            </a:r>
          </a:p>
          <a:p>
            <a:r>
              <a:rPr lang="en-US" dirty="0"/>
              <a:t>Knowledge distillation can use the </a:t>
            </a:r>
            <a:r>
              <a:rPr lang="en-US" dirty="0">
                <a:solidFill>
                  <a:srgbClr val="FF0000"/>
                </a:solidFill>
              </a:rPr>
              <a:t>logits as the source of teacher knowledge</a:t>
            </a:r>
          </a:p>
          <a:p>
            <a:r>
              <a:rPr lang="en-US" dirty="0"/>
              <a:t>Other possibilities are the </a:t>
            </a:r>
            <a:r>
              <a:rPr lang="en-US" dirty="0">
                <a:solidFill>
                  <a:srgbClr val="00B0F0"/>
                </a:solidFill>
              </a:rPr>
              <a:t>weights or activations of intermediate layers</a:t>
            </a:r>
            <a:r>
              <a:rPr lang="en-US" dirty="0"/>
              <a:t>. </a:t>
            </a:r>
          </a:p>
          <a:p>
            <a:r>
              <a:rPr lang="en-US" dirty="0"/>
              <a:t>The different forms of knowledge are categorized into three different types: </a:t>
            </a:r>
          </a:p>
          <a:p>
            <a:pPr lvl="1"/>
            <a:r>
              <a:rPr lang="en-US" dirty="0"/>
              <a:t>Response-based knowledge, </a:t>
            </a:r>
          </a:p>
          <a:p>
            <a:pPr lvl="1"/>
            <a:r>
              <a:rPr lang="en-US" dirty="0"/>
              <a:t>Feature-based knowledge, and </a:t>
            </a:r>
          </a:p>
          <a:p>
            <a:pPr lvl="1"/>
            <a:r>
              <a:rPr lang="en-US" dirty="0"/>
              <a:t>Relation-based knowledge.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C8B8A-F0DD-1438-872B-2D2F245F4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085D8-AF81-454D-AFE2-A35D364123A8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262B1-0BFB-1669-A94C-F6CA0A62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5B3D5-9CEF-0274-01F9-BAA3C2B3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3FA036-6698-E756-AD06-6FEFD96F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Distillation: Knowledge</a:t>
            </a:r>
          </a:p>
        </p:txBody>
      </p:sp>
    </p:spTree>
    <p:extLst>
      <p:ext uri="{BB962C8B-B14F-4D97-AF65-F5344CB8AC3E}">
        <p14:creationId xmlns:p14="http://schemas.microsoft.com/office/powerpoint/2010/main" val="129705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3B5D6B-0F1E-5EA3-6216-C61619296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1600200"/>
            <a:ext cx="7031317" cy="46122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F6706A-2A2B-4149-B76F-7298EAF9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1A660-5A54-4D45-9785-0BFDA562C9CA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99F61-90E7-E5F8-C626-A576FA23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6CC7C-06C9-33D6-72D5-5AA69B24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C92026-28BC-5EB4-F3C4-0E1BD308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Distillation: Knowledge</a:t>
            </a:r>
          </a:p>
        </p:txBody>
      </p:sp>
    </p:spTree>
    <p:extLst>
      <p:ext uri="{BB962C8B-B14F-4D97-AF65-F5344CB8AC3E}">
        <p14:creationId xmlns:p14="http://schemas.microsoft.com/office/powerpoint/2010/main" val="3845819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36CB7D-55EC-B71E-9F1C-DC365CC28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Response-based knowledge</a:t>
            </a:r>
            <a:r>
              <a:rPr lang="en-US" dirty="0"/>
              <a:t> focuses on the </a:t>
            </a:r>
            <a:r>
              <a:rPr lang="en-US" dirty="0">
                <a:solidFill>
                  <a:srgbClr val="FF0000"/>
                </a:solidFill>
              </a:rPr>
              <a:t>final output layer of the teacher model</a:t>
            </a:r>
            <a:r>
              <a:rPr lang="en-US" dirty="0"/>
              <a:t>.</a:t>
            </a:r>
          </a:p>
          <a:p>
            <a:r>
              <a:rPr lang="en-US" dirty="0"/>
              <a:t>The student model will learn to </a:t>
            </a:r>
            <a:r>
              <a:rPr lang="en-US" dirty="0">
                <a:solidFill>
                  <a:srgbClr val="FF0000"/>
                </a:solidFill>
              </a:rPr>
              <a:t>mimic the predictions of the teacher model</a:t>
            </a:r>
            <a:r>
              <a:rPr lang="en-US" dirty="0"/>
              <a:t>. </a:t>
            </a:r>
          </a:p>
          <a:p>
            <a:r>
              <a:rPr lang="en-US" dirty="0"/>
              <a:t>This can be achieved by using a </a:t>
            </a:r>
            <a:r>
              <a:rPr lang="en-US" b="1" dirty="0"/>
              <a:t>loss function</a:t>
            </a:r>
            <a:r>
              <a:rPr lang="en-US" dirty="0"/>
              <a:t>, termed the </a:t>
            </a:r>
            <a:r>
              <a:rPr lang="en-US" dirty="0">
                <a:solidFill>
                  <a:srgbClr val="0099CC"/>
                </a:solidFill>
              </a:rPr>
              <a:t>distillation loss</a:t>
            </a:r>
            <a:r>
              <a:rPr lang="en-US" dirty="0"/>
              <a:t>, that captures the difference between the logits of the student and the teacher model respectively. </a:t>
            </a:r>
          </a:p>
          <a:p>
            <a:r>
              <a:rPr lang="en-US" dirty="0"/>
              <a:t>As this loss is </a:t>
            </a:r>
            <a:r>
              <a:rPr lang="en-US" dirty="0">
                <a:solidFill>
                  <a:srgbClr val="0099CC"/>
                </a:solidFill>
              </a:rPr>
              <a:t>minimized over training</a:t>
            </a:r>
            <a:r>
              <a:rPr lang="en-US" dirty="0"/>
              <a:t>, the student model will become better at making the same predictions as the teacher.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CC553-489A-0E9C-A766-0DACBABC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6CC8-4F2D-473A-BAAA-B28A498AFF44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F6C3E-8CC7-7ECA-4FF2-C9AB3ABE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20688-F707-FEEC-AAF6-27025812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0F8797-A8A8-0ACE-B433-8D5515185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Response-based knowledge</a:t>
            </a:r>
          </a:p>
        </p:txBody>
      </p:sp>
    </p:spTree>
    <p:extLst>
      <p:ext uri="{BB962C8B-B14F-4D97-AF65-F5344CB8AC3E}">
        <p14:creationId xmlns:p14="http://schemas.microsoft.com/office/powerpoint/2010/main" val="4024744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9185" y="631601"/>
            <a:ext cx="7194810" cy="562163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lang="en-US" dirty="0"/>
              <a:t>1. Response-based knowledge</a:t>
            </a:r>
            <a:endParaRPr spc="-115" dirty="0"/>
          </a:p>
        </p:txBody>
      </p:sp>
      <p:grpSp>
        <p:nvGrpSpPr>
          <p:cNvPr id="3" name="object 3"/>
          <p:cNvGrpSpPr/>
          <p:nvPr/>
        </p:nvGrpSpPr>
        <p:grpSpPr>
          <a:xfrm>
            <a:off x="1776394" y="2400155"/>
            <a:ext cx="4843727" cy="2020434"/>
            <a:chOff x="2928699" y="3958033"/>
            <a:chExt cx="7987665" cy="3331845"/>
          </a:xfrm>
        </p:grpSpPr>
        <p:sp>
          <p:nvSpPr>
            <p:cNvPr id="4" name="object 4"/>
            <p:cNvSpPr/>
            <p:nvPr/>
          </p:nvSpPr>
          <p:spPr>
            <a:xfrm>
              <a:off x="4021816" y="4045989"/>
              <a:ext cx="1421765" cy="1078865"/>
            </a:xfrm>
            <a:custGeom>
              <a:avLst/>
              <a:gdLst/>
              <a:ahLst/>
              <a:cxnLst/>
              <a:rect l="l" t="t" r="r" b="b"/>
              <a:pathLst>
                <a:path w="1421764" h="1078864">
                  <a:moveTo>
                    <a:pt x="0" y="1078501"/>
                  </a:moveTo>
                  <a:lnTo>
                    <a:pt x="0" y="0"/>
                  </a:lnTo>
                  <a:lnTo>
                    <a:pt x="1400329" y="0"/>
                  </a:lnTo>
                  <a:lnTo>
                    <a:pt x="142127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5378168" y="395803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6"/>
            <p:cNvSpPr/>
            <p:nvPr/>
          </p:nvSpPr>
          <p:spPr>
            <a:xfrm>
              <a:off x="4021816" y="6122834"/>
              <a:ext cx="1417955" cy="1078865"/>
            </a:xfrm>
            <a:custGeom>
              <a:avLst/>
              <a:gdLst/>
              <a:ahLst/>
              <a:cxnLst/>
              <a:rect l="l" t="t" r="r" b="b"/>
              <a:pathLst>
                <a:path w="1417954" h="1078865">
                  <a:moveTo>
                    <a:pt x="0" y="0"/>
                  </a:moveTo>
                  <a:lnTo>
                    <a:pt x="0" y="1078501"/>
                  </a:lnTo>
                  <a:lnTo>
                    <a:pt x="1396816" y="1078501"/>
                  </a:lnTo>
                  <a:lnTo>
                    <a:pt x="1417757" y="1078501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" name="object 7"/>
            <p:cNvSpPr/>
            <p:nvPr/>
          </p:nvSpPr>
          <p:spPr>
            <a:xfrm>
              <a:off x="5374655" y="7113380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8"/>
            <p:cNvSpPr/>
            <p:nvPr/>
          </p:nvSpPr>
          <p:spPr>
            <a:xfrm>
              <a:off x="2949654" y="5105697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5" h="1047114">
                  <a:moveTo>
                    <a:pt x="1929534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4" y="45785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4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1929534" y="1047088"/>
                  </a:lnTo>
                  <a:lnTo>
                    <a:pt x="1977313" y="1046904"/>
                  </a:lnTo>
                  <a:lnTo>
                    <a:pt x="2015844" y="1045617"/>
                  </a:lnTo>
                  <a:lnTo>
                    <a:pt x="2070447" y="1035322"/>
                  </a:lnTo>
                  <a:lnTo>
                    <a:pt x="2123847" y="1001303"/>
                  </a:lnTo>
                  <a:lnTo>
                    <a:pt x="2157866" y="947904"/>
                  </a:lnTo>
                  <a:lnTo>
                    <a:pt x="2168161" y="893300"/>
                  </a:lnTo>
                  <a:lnTo>
                    <a:pt x="2169448" y="854769"/>
                  </a:lnTo>
                  <a:lnTo>
                    <a:pt x="2169632" y="806991"/>
                  </a:lnTo>
                  <a:lnTo>
                    <a:pt x="2169632" y="240097"/>
                  </a:lnTo>
                  <a:lnTo>
                    <a:pt x="2169448" y="192319"/>
                  </a:lnTo>
                  <a:lnTo>
                    <a:pt x="2168161" y="153788"/>
                  </a:lnTo>
                  <a:lnTo>
                    <a:pt x="2157866" y="99184"/>
                  </a:lnTo>
                  <a:lnTo>
                    <a:pt x="2123847" y="45785"/>
                  </a:lnTo>
                  <a:lnTo>
                    <a:pt x="2070447" y="11766"/>
                  </a:lnTo>
                  <a:lnTo>
                    <a:pt x="2015844" y="1470"/>
                  </a:lnTo>
                  <a:lnTo>
                    <a:pt x="1977313" y="183"/>
                  </a:lnTo>
                  <a:lnTo>
                    <a:pt x="1929534" y="0"/>
                  </a:lnTo>
                  <a:close/>
                </a:path>
              </a:pathLst>
            </a:custGeom>
            <a:solidFill>
              <a:srgbClr val="D6D6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2949654" y="5105697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5" h="1047114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34353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99804" y="4080780"/>
              <a:ext cx="605790" cy="0"/>
            </a:xfrm>
            <a:custGeom>
              <a:avLst/>
              <a:gdLst/>
              <a:ahLst/>
              <a:cxnLst/>
              <a:rect l="l" t="t" r="r" b="b"/>
              <a:pathLst>
                <a:path w="605790">
                  <a:moveTo>
                    <a:pt x="0" y="0"/>
                  </a:moveTo>
                  <a:lnTo>
                    <a:pt x="584434" y="0"/>
                  </a:lnTo>
                  <a:lnTo>
                    <a:pt x="60537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40259" y="3992825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19218" y="3277582"/>
            <a:ext cx="455531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9" dirty="0">
                <a:latin typeface="Arial MT"/>
                <a:cs typeface="Arial MT"/>
              </a:rPr>
              <a:t>Input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72188" y="2053637"/>
            <a:ext cx="782066" cy="842136"/>
            <a:chOff x="5560282" y="3386599"/>
            <a:chExt cx="1289685" cy="1388745"/>
          </a:xfrm>
        </p:grpSpPr>
        <p:sp>
          <p:nvSpPr>
            <p:cNvPr id="14" name="object 14"/>
            <p:cNvSpPr/>
            <p:nvPr/>
          </p:nvSpPr>
          <p:spPr>
            <a:xfrm>
              <a:off x="5581237" y="3407554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938730" y="0"/>
                  </a:moveTo>
                  <a:lnTo>
                    <a:pt x="308740" y="0"/>
                  </a:lnTo>
                  <a:lnTo>
                    <a:pt x="247302" y="236"/>
                  </a:lnTo>
                  <a:lnTo>
                    <a:pt x="197756" y="1891"/>
                  </a:lnTo>
                  <a:lnTo>
                    <a:pt x="158401" y="6382"/>
                  </a:lnTo>
                  <a:lnTo>
                    <a:pt x="90610" y="33369"/>
                  </a:lnTo>
                  <a:lnTo>
                    <a:pt x="58874" y="58874"/>
                  </a:lnTo>
                  <a:lnTo>
                    <a:pt x="33369" y="90610"/>
                  </a:lnTo>
                  <a:lnTo>
                    <a:pt x="15129" y="127540"/>
                  </a:lnTo>
                  <a:lnTo>
                    <a:pt x="1891" y="197756"/>
                  </a:lnTo>
                  <a:lnTo>
                    <a:pt x="236" y="247302"/>
                  </a:lnTo>
                  <a:lnTo>
                    <a:pt x="0" y="308740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2" y="1188050"/>
                  </a:lnTo>
                  <a:lnTo>
                    <a:pt x="33369" y="1255841"/>
                  </a:lnTo>
                  <a:lnTo>
                    <a:pt x="58874" y="1287577"/>
                  </a:lnTo>
                  <a:lnTo>
                    <a:pt x="90610" y="1313083"/>
                  </a:lnTo>
                  <a:lnTo>
                    <a:pt x="127540" y="1331322"/>
                  </a:lnTo>
                  <a:lnTo>
                    <a:pt x="197756" y="1344561"/>
                  </a:lnTo>
                  <a:lnTo>
                    <a:pt x="247302" y="1346215"/>
                  </a:lnTo>
                  <a:lnTo>
                    <a:pt x="308740" y="1346452"/>
                  </a:lnTo>
                  <a:lnTo>
                    <a:pt x="938730" y="1346452"/>
                  </a:lnTo>
                  <a:lnTo>
                    <a:pt x="1000168" y="1346215"/>
                  </a:lnTo>
                  <a:lnTo>
                    <a:pt x="1049715" y="1344561"/>
                  </a:lnTo>
                  <a:lnTo>
                    <a:pt x="1089069" y="1340069"/>
                  </a:lnTo>
                  <a:lnTo>
                    <a:pt x="1156860" y="1313083"/>
                  </a:lnTo>
                  <a:lnTo>
                    <a:pt x="1188596" y="1287577"/>
                  </a:lnTo>
                  <a:lnTo>
                    <a:pt x="1214102" y="1255841"/>
                  </a:lnTo>
                  <a:lnTo>
                    <a:pt x="1232341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0"/>
                  </a:lnTo>
                  <a:lnTo>
                    <a:pt x="1247235" y="247302"/>
                  </a:lnTo>
                  <a:lnTo>
                    <a:pt x="1245580" y="197756"/>
                  </a:lnTo>
                  <a:lnTo>
                    <a:pt x="1241088" y="158401"/>
                  </a:lnTo>
                  <a:lnTo>
                    <a:pt x="1214102" y="90610"/>
                  </a:lnTo>
                  <a:lnTo>
                    <a:pt x="1188596" y="58874"/>
                  </a:lnTo>
                  <a:lnTo>
                    <a:pt x="1156860" y="33369"/>
                  </a:lnTo>
                  <a:lnTo>
                    <a:pt x="1119930" y="15129"/>
                  </a:lnTo>
                  <a:lnTo>
                    <a:pt x="1049715" y="1891"/>
                  </a:lnTo>
                  <a:lnTo>
                    <a:pt x="1000168" y="236"/>
                  </a:lnTo>
                  <a:lnTo>
                    <a:pt x="938730" y="0"/>
                  </a:lnTo>
                  <a:close/>
                </a:path>
              </a:pathLst>
            </a:custGeom>
            <a:solidFill>
              <a:srgbClr val="7DB8E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5" name="object 15"/>
            <p:cNvSpPr/>
            <p:nvPr/>
          </p:nvSpPr>
          <p:spPr>
            <a:xfrm>
              <a:off x="5581237" y="3407554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16345" y="2216327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1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32091" y="2123497"/>
            <a:ext cx="1341180" cy="660386"/>
            <a:chOff x="10936103" y="3501804"/>
            <a:chExt cx="2211705" cy="1089025"/>
          </a:xfrm>
        </p:grpSpPr>
        <p:sp>
          <p:nvSpPr>
            <p:cNvPr id="18" name="object 18"/>
            <p:cNvSpPr/>
            <p:nvPr/>
          </p:nvSpPr>
          <p:spPr>
            <a:xfrm>
              <a:off x="10957058" y="3522759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4">
                  <a:moveTo>
                    <a:pt x="1929532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0" y="11765"/>
                  </a:lnTo>
                  <a:lnTo>
                    <a:pt x="45783" y="45784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3" y="1001303"/>
                  </a:lnTo>
                  <a:lnTo>
                    <a:pt x="99180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1929532" y="1047088"/>
                  </a:lnTo>
                  <a:lnTo>
                    <a:pt x="1977312" y="1046904"/>
                  </a:lnTo>
                  <a:lnTo>
                    <a:pt x="2015843" y="1045617"/>
                  </a:lnTo>
                  <a:lnTo>
                    <a:pt x="2070450" y="1035322"/>
                  </a:lnTo>
                  <a:lnTo>
                    <a:pt x="2123846" y="1001303"/>
                  </a:lnTo>
                  <a:lnTo>
                    <a:pt x="2157860" y="947904"/>
                  </a:lnTo>
                  <a:lnTo>
                    <a:pt x="2168159" y="893300"/>
                  </a:lnTo>
                  <a:lnTo>
                    <a:pt x="2169446" y="854769"/>
                  </a:lnTo>
                  <a:lnTo>
                    <a:pt x="2169630" y="806991"/>
                  </a:lnTo>
                  <a:lnTo>
                    <a:pt x="2169630" y="240097"/>
                  </a:lnTo>
                  <a:lnTo>
                    <a:pt x="2169446" y="192319"/>
                  </a:lnTo>
                  <a:lnTo>
                    <a:pt x="2168159" y="153788"/>
                  </a:lnTo>
                  <a:lnTo>
                    <a:pt x="2157860" y="99184"/>
                  </a:lnTo>
                  <a:lnTo>
                    <a:pt x="2123846" y="45784"/>
                  </a:lnTo>
                  <a:lnTo>
                    <a:pt x="2070450" y="11765"/>
                  </a:lnTo>
                  <a:lnTo>
                    <a:pt x="2015843" y="1470"/>
                  </a:lnTo>
                  <a:lnTo>
                    <a:pt x="1977312" y="183"/>
                  </a:lnTo>
                  <a:lnTo>
                    <a:pt x="1929532" y="0"/>
                  </a:lnTo>
                  <a:close/>
                </a:path>
              </a:pathLst>
            </a:custGeom>
            <a:solidFill>
              <a:srgbClr val="A4DAD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9" name="object 19"/>
            <p:cNvSpPr/>
            <p:nvPr/>
          </p:nvSpPr>
          <p:spPr>
            <a:xfrm>
              <a:off x="10957058" y="3522759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4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00AEBB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029702" y="2317687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93193" y="3114885"/>
            <a:ext cx="1341180" cy="597620"/>
            <a:chOff x="13510476" y="5136676"/>
            <a:chExt cx="2211705" cy="985519"/>
          </a:xfrm>
        </p:grpSpPr>
        <p:sp>
          <p:nvSpPr>
            <p:cNvPr id="22" name="object 22"/>
            <p:cNvSpPr/>
            <p:nvPr/>
          </p:nvSpPr>
          <p:spPr>
            <a:xfrm>
              <a:off x="13531431" y="5157631"/>
              <a:ext cx="2169795" cy="943610"/>
            </a:xfrm>
            <a:custGeom>
              <a:avLst/>
              <a:gdLst/>
              <a:ahLst/>
              <a:cxnLst/>
              <a:rect l="l" t="t" r="r" b="b"/>
              <a:pathLst>
                <a:path w="2169794" h="943610">
                  <a:moveTo>
                    <a:pt x="1929532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0" y="11766"/>
                  </a:lnTo>
                  <a:lnTo>
                    <a:pt x="45782" y="45785"/>
                  </a:lnTo>
                  <a:lnTo>
                    <a:pt x="11758" y="99184"/>
                  </a:lnTo>
                  <a:lnTo>
                    <a:pt x="1469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703122"/>
                  </a:lnTo>
                  <a:lnTo>
                    <a:pt x="183" y="750900"/>
                  </a:lnTo>
                  <a:lnTo>
                    <a:pt x="1469" y="789431"/>
                  </a:lnTo>
                  <a:lnTo>
                    <a:pt x="11758" y="844035"/>
                  </a:lnTo>
                  <a:lnTo>
                    <a:pt x="45782" y="897434"/>
                  </a:lnTo>
                  <a:lnTo>
                    <a:pt x="99180" y="931453"/>
                  </a:lnTo>
                  <a:lnTo>
                    <a:pt x="153787" y="941748"/>
                  </a:lnTo>
                  <a:lnTo>
                    <a:pt x="192318" y="943035"/>
                  </a:lnTo>
                  <a:lnTo>
                    <a:pt x="240097" y="943219"/>
                  </a:lnTo>
                  <a:lnTo>
                    <a:pt x="1929532" y="943219"/>
                  </a:lnTo>
                  <a:lnTo>
                    <a:pt x="1977311" y="943035"/>
                  </a:lnTo>
                  <a:lnTo>
                    <a:pt x="2015841" y="941748"/>
                  </a:lnTo>
                  <a:lnTo>
                    <a:pt x="2070439" y="931453"/>
                  </a:lnTo>
                  <a:lnTo>
                    <a:pt x="2123841" y="897434"/>
                  </a:lnTo>
                  <a:lnTo>
                    <a:pt x="2157860" y="844035"/>
                  </a:lnTo>
                  <a:lnTo>
                    <a:pt x="2168159" y="789431"/>
                  </a:lnTo>
                  <a:lnTo>
                    <a:pt x="2169446" y="750900"/>
                  </a:lnTo>
                  <a:lnTo>
                    <a:pt x="2169630" y="703122"/>
                  </a:lnTo>
                  <a:lnTo>
                    <a:pt x="2169630" y="240097"/>
                  </a:lnTo>
                  <a:lnTo>
                    <a:pt x="2169446" y="192319"/>
                  </a:lnTo>
                  <a:lnTo>
                    <a:pt x="2168159" y="153788"/>
                  </a:lnTo>
                  <a:lnTo>
                    <a:pt x="2157860" y="99184"/>
                  </a:lnTo>
                  <a:lnTo>
                    <a:pt x="2123841" y="45785"/>
                  </a:lnTo>
                  <a:lnTo>
                    <a:pt x="2070439" y="11766"/>
                  </a:lnTo>
                  <a:lnTo>
                    <a:pt x="2015841" y="1470"/>
                  </a:lnTo>
                  <a:lnTo>
                    <a:pt x="1977311" y="183"/>
                  </a:lnTo>
                  <a:lnTo>
                    <a:pt x="1929532" y="0"/>
                  </a:lnTo>
                  <a:close/>
                </a:path>
              </a:pathLst>
            </a:custGeom>
            <a:solidFill>
              <a:srgbClr val="FEF1D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3" name="object 23"/>
            <p:cNvSpPr/>
            <p:nvPr/>
          </p:nvSpPr>
          <p:spPr>
            <a:xfrm>
              <a:off x="13531431" y="5157631"/>
              <a:ext cx="2169795" cy="943610"/>
            </a:xfrm>
            <a:custGeom>
              <a:avLst/>
              <a:gdLst/>
              <a:ahLst/>
              <a:cxnLst/>
              <a:rect l="l" t="t" r="r" b="b"/>
              <a:pathLst>
                <a:path w="2169794" h="943610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703122"/>
                  </a:lnTo>
                  <a:lnTo>
                    <a:pt x="2169448" y="750900"/>
                  </a:lnTo>
                  <a:lnTo>
                    <a:pt x="2168161" y="789431"/>
                  </a:lnTo>
                  <a:lnTo>
                    <a:pt x="2157866" y="844034"/>
                  </a:lnTo>
                  <a:lnTo>
                    <a:pt x="2123847" y="897434"/>
                  </a:lnTo>
                  <a:lnTo>
                    <a:pt x="2070447" y="931453"/>
                  </a:lnTo>
                  <a:lnTo>
                    <a:pt x="2015844" y="941748"/>
                  </a:lnTo>
                  <a:lnTo>
                    <a:pt x="1977313" y="943035"/>
                  </a:lnTo>
                  <a:lnTo>
                    <a:pt x="1929534" y="943219"/>
                  </a:lnTo>
                  <a:lnTo>
                    <a:pt x="240097" y="943219"/>
                  </a:lnTo>
                  <a:lnTo>
                    <a:pt x="192318" y="943035"/>
                  </a:lnTo>
                  <a:lnTo>
                    <a:pt x="153788" y="941748"/>
                  </a:lnTo>
                  <a:lnTo>
                    <a:pt x="99184" y="931453"/>
                  </a:lnTo>
                  <a:lnTo>
                    <a:pt x="45785" y="897434"/>
                  </a:lnTo>
                  <a:lnTo>
                    <a:pt x="11765" y="844034"/>
                  </a:lnTo>
                  <a:lnTo>
                    <a:pt x="1470" y="789431"/>
                  </a:lnTo>
                  <a:lnTo>
                    <a:pt x="183" y="750900"/>
                  </a:lnTo>
                  <a:lnTo>
                    <a:pt x="0" y="703122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F8B62D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19729" y="3153263"/>
            <a:ext cx="888344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234889" marR="3081" indent="-227573">
              <a:lnSpc>
                <a:spcPct val="103099"/>
              </a:lnSpc>
              <a:spcBef>
                <a:spcPts val="24"/>
              </a:spcBef>
            </a:pPr>
            <a:r>
              <a:rPr sz="1577" spc="-27" dirty="0">
                <a:latin typeface="Arial MT"/>
                <a:cs typeface="Arial MT"/>
              </a:rPr>
              <a:t>Distillation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397762" y="5145594"/>
            <a:ext cx="1809803" cy="660386"/>
            <a:chOff x="10549678" y="8485465"/>
            <a:chExt cx="2984500" cy="1089025"/>
          </a:xfrm>
        </p:grpSpPr>
        <p:sp>
          <p:nvSpPr>
            <p:cNvPr id="26" name="object 26"/>
            <p:cNvSpPr/>
            <p:nvPr/>
          </p:nvSpPr>
          <p:spPr>
            <a:xfrm>
              <a:off x="10570620" y="8506406"/>
              <a:ext cx="2942590" cy="1047115"/>
            </a:xfrm>
            <a:custGeom>
              <a:avLst/>
              <a:gdLst/>
              <a:ahLst/>
              <a:cxnLst/>
              <a:rect l="l" t="t" r="r" b="b"/>
              <a:pathLst>
                <a:path w="2942590" h="1047115">
                  <a:moveTo>
                    <a:pt x="2702409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123181" y="4963"/>
                  </a:lnTo>
                  <a:lnTo>
                    <a:pt x="99180" y="11766"/>
                  </a:lnTo>
                  <a:lnTo>
                    <a:pt x="45782" y="45785"/>
                  </a:lnTo>
                  <a:lnTo>
                    <a:pt x="11758" y="99184"/>
                  </a:lnTo>
                  <a:lnTo>
                    <a:pt x="1469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69" y="893300"/>
                  </a:lnTo>
                  <a:lnTo>
                    <a:pt x="11758" y="947904"/>
                  </a:lnTo>
                  <a:lnTo>
                    <a:pt x="45782" y="1001303"/>
                  </a:lnTo>
                  <a:lnTo>
                    <a:pt x="99180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2702409" y="1047088"/>
                  </a:lnTo>
                  <a:lnTo>
                    <a:pt x="2750189" y="1046904"/>
                  </a:lnTo>
                  <a:lnTo>
                    <a:pt x="2788720" y="1045617"/>
                  </a:lnTo>
                  <a:lnTo>
                    <a:pt x="2843327" y="1035322"/>
                  </a:lnTo>
                  <a:lnTo>
                    <a:pt x="2896723" y="1001303"/>
                  </a:lnTo>
                  <a:lnTo>
                    <a:pt x="2930737" y="947904"/>
                  </a:lnTo>
                  <a:lnTo>
                    <a:pt x="2941036" y="893300"/>
                  </a:lnTo>
                  <a:lnTo>
                    <a:pt x="2942323" y="854769"/>
                  </a:lnTo>
                  <a:lnTo>
                    <a:pt x="2942507" y="806991"/>
                  </a:lnTo>
                  <a:lnTo>
                    <a:pt x="2942507" y="240097"/>
                  </a:lnTo>
                  <a:lnTo>
                    <a:pt x="2942323" y="192319"/>
                  </a:lnTo>
                  <a:lnTo>
                    <a:pt x="2941036" y="153788"/>
                  </a:lnTo>
                  <a:lnTo>
                    <a:pt x="2930737" y="99184"/>
                  </a:lnTo>
                  <a:lnTo>
                    <a:pt x="2896723" y="45785"/>
                  </a:lnTo>
                  <a:lnTo>
                    <a:pt x="2843327" y="11766"/>
                  </a:lnTo>
                  <a:lnTo>
                    <a:pt x="2788720" y="1470"/>
                  </a:lnTo>
                  <a:lnTo>
                    <a:pt x="2750189" y="183"/>
                  </a:lnTo>
                  <a:lnTo>
                    <a:pt x="2702409" y="0"/>
                  </a:lnTo>
                  <a:close/>
                </a:path>
              </a:pathLst>
            </a:custGeom>
            <a:solidFill>
              <a:srgbClr val="FEF1D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7" name="object 27"/>
            <p:cNvSpPr/>
            <p:nvPr/>
          </p:nvSpPr>
          <p:spPr>
            <a:xfrm>
              <a:off x="10570620" y="8506406"/>
              <a:ext cx="2942590" cy="1047115"/>
            </a:xfrm>
            <a:custGeom>
              <a:avLst/>
              <a:gdLst/>
              <a:ahLst/>
              <a:cxnLst/>
              <a:rect l="l" t="t" r="r" b="b"/>
              <a:pathLst>
                <a:path w="2942590" h="1047115">
                  <a:moveTo>
                    <a:pt x="240097" y="0"/>
                  </a:moveTo>
                  <a:lnTo>
                    <a:pt x="2702414" y="0"/>
                  </a:lnTo>
                  <a:lnTo>
                    <a:pt x="2750192" y="183"/>
                  </a:lnTo>
                  <a:lnTo>
                    <a:pt x="2788723" y="1470"/>
                  </a:lnTo>
                  <a:lnTo>
                    <a:pt x="2843327" y="11765"/>
                  </a:lnTo>
                  <a:lnTo>
                    <a:pt x="2896726" y="45785"/>
                  </a:lnTo>
                  <a:lnTo>
                    <a:pt x="2930745" y="99184"/>
                  </a:lnTo>
                  <a:lnTo>
                    <a:pt x="2941040" y="153788"/>
                  </a:lnTo>
                  <a:lnTo>
                    <a:pt x="2942327" y="192318"/>
                  </a:lnTo>
                  <a:lnTo>
                    <a:pt x="2942511" y="240097"/>
                  </a:lnTo>
                  <a:lnTo>
                    <a:pt x="2942511" y="806991"/>
                  </a:lnTo>
                  <a:lnTo>
                    <a:pt x="2942327" y="854769"/>
                  </a:lnTo>
                  <a:lnTo>
                    <a:pt x="2941040" y="893300"/>
                  </a:lnTo>
                  <a:lnTo>
                    <a:pt x="2930745" y="947904"/>
                  </a:lnTo>
                  <a:lnTo>
                    <a:pt x="2896726" y="1001303"/>
                  </a:lnTo>
                  <a:lnTo>
                    <a:pt x="2843327" y="1035322"/>
                  </a:lnTo>
                  <a:lnTo>
                    <a:pt x="2788723" y="1045617"/>
                  </a:lnTo>
                  <a:lnTo>
                    <a:pt x="2750192" y="1046904"/>
                  </a:lnTo>
                  <a:lnTo>
                    <a:pt x="270241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F8B62D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188482" y="5217894"/>
            <a:ext cx="5815245" cy="1318728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3905319" marR="1125927" indent="-361575">
              <a:lnSpc>
                <a:spcPct val="103099"/>
              </a:lnSpc>
              <a:spcBef>
                <a:spcPts val="24"/>
              </a:spcBef>
            </a:pPr>
            <a:r>
              <a:rPr sz="1577" spc="-36" dirty="0">
                <a:latin typeface="Arial MT"/>
                <a:cs typeface="Arial MT"/>
              </a:rPr>
              <a:t>Classi</a:t>
            </a:r>
            <a:r>
              <a:rPr sz="1577" spc="-39" dirty="0">
                <a:latin typeface="Arial MT"/>
                <a:cs typeface="Arial MT"/>
              </a:rPr>
              <a:t>fi</a:t>
            </a:r>
            <a:r>
              <a:rPr sz="1577" spc="-6" dirty="0">
                <a:latin typeface="Arial MT"/>
                <a:cs typeface="Arial MT"/>
              </a:rPr>
              <a:t>cation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80">
              <a:latin typeface="Arial MT"/>
              <a:cs typeface="Arial MT"/>
            </a:endParaRPr>
          </a:p>
          <a:p>
            <a:pPr marL="430502" marR="3081" indent="-423185">
              <a:lnSpc>
                <a:spcPct val="102200"/>
              </a:lnSpc>
              <a:spcBef>
                <a:spcPts val="1346"/>
              </a:spcBef>
            </a:pPr>
            <a:r>
              <a:rPr sz="1182" spc="-12" dirty="0">
                <a:solidFill>
                  <a:srgbClr val="5E5E5E"/>
                </a:solidFill>
                <a:latin typeface="Trebuchet MS"/>
                <a:cs typeface="Trebuchet MS"/>
              </a:rPr>
              <a:t>Distilling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the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0" dirty="0">
                <a:solidFill>
                  <a:srgbClr val="5E5E5E"/>
                </a:solidFill>
                <a:latin typeface="Trebuchet MS"/>
                <a:cs typeface="Trebuchet MS"/>
              </a:rPr>
              <a:t>Knowledge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7" dirty="0">
                <a:solidFill>
                  <a:srgbClr val="5E5E5E"/>
                </a:solidFill>
                <a:latin typeface="Trebuchet MS"/>
                <a:cs typeface="Trebuchet MS"/>
              </a:rPr>
              <a:t>in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21" dirty="0">
                <a:solidFill>
                  <a:srgbClr val="5E5E5E"/>
                </a:solidFill>
                <a:latin typeface="Trebuchet MS"/>
                <a:cs typeface="Trebuchet MS"/>
              </a:rPr>
              <a:t>a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dirty="0">
                <a:solidFill>
                  <a:srgbClr val="5E5E5E"/>
                </a:solidFill>
                <a:latin typeface="Trebuchet MS"/>
                <a:cs typeface="Trebuchet MS"/>
              </a:rPr>
              <a:t>Neural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9" dirty="0">
                <a:solidFill>
                  <a:srgbClr val="5E5E5E"/>
                </a:solidFill>
                <a:latin typeface="Trebuchet MS"/>
                <a:cs typeface="Trebuchet MS"/>
              </a:rPr>
              <a:t>Network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15" dirty="0">
                <a:solidFill>
                  <a:srgbClr val="5E5E5E"/>
                </a:solidFill>
                <a:latin typeface="Trebuchet MS"/>
                <a:cs typeface="Trebuchet MS"/>
              </a:rPr>
              <a:t>[Hinton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i="1" spc="15" dirty="0">
                <a:solidFill>
                  <a:srgbClr val="5E5E5E"/>
                </a:solidFill>
                <a:latin typeface="Arial"/>
                <a:cs typeface="Arial"/>
              </a:rPr>
              <a:t>et</a:t>
            </a:r>
            <a:r>
              <a:rPr sz="1182" i="1" spc="6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82" i="1" spc="-33" dirty="0">
                <a:solidFill>
                  <a:srgbClr val="5E5E5E"/>
                </a:solidFill>
                <a:latin typeface="Arial"/>
                <a:cs typeface="Arial"/>
              </a:rPr>
              <a:t>al.</a:t>
            </a:r>
            <a:r>
              <a:rPr sz="1182" spc="-33" dirty="0">
                <a:solidFill>
                  <a:srgbClr val="5E5E5E"/>
                </a:solidFill>
                <a:latin typeface="Trebuchet MS"/>
                <a:cs typeface="Trebuchet MS"/>
              </a:rPr>
              <a:t>,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52" dirty="0">
                <a:solidFill>
                  <a:srgbClr val="5E5E5E"/>
                </a:solidFill>
                <a:latin typeface="Trebuchet MS"/>
                <a:cs typeface="Trebuchet MS"/>
              </a:rPr>
              <a:t>NeurIPS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45" dirty="0">
                <a:solidFill>
                  <a:srgbClr val="5E5E5E"/>
                </a:solidFill>
                <a:latin typeface="Trebuchet MS"/>
                <a:cs typeface="Trebuchet MS"/>
              </a:rPr>
              <a:t>Workshops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2014] </a:t>
            </a:r>
            <a:r>
              <a:rPr sz="1182" spc="-346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85" dirty="0">
                <a:solidFill>
                  <a:srgbClr val="5E5E5E"/>
                </a:solidFill>
                <a:latin typeface="Trebuchet MS"/>
                <a:cs typeface="Trebuchet MS"/>
              </a:rPr>
              <a:t>Do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42" dirty="0">
                <a:solidFill>
                  <a:srgbClr val="5E5E5E"/>
                </a:solidFill>
                <a:latin typeface="Trebuchet MS"/>
                <a:cs typeface="Trebuchet MS"/>
              </a:rPr>
              <a:t>Deep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3" dirty="0">
                <a:solidFill>
                  <a:srgbClr val="5E5E5E"/>
                </a:solidFill>
                <a:latin typeface="Trebuchet MS"/>
                <a:cs typeface="Trebuchet MS"/>
              </a:rPr>
              <a:t>Nets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dirty="0">
                <a:solidFill>
                  <a:srgbClr val="5E5E5E"/>
                </a:solidFill>
                <a:latin typeface="Trebuchet MS"/>
                <a:cs typeface="Trebuchet MS"/>
              </a:rPr>
              <a:t>Really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9" dirty="0">
                <a:solidFill>
                  <a:srgbClr val="5E5E5E"/>
                </a:solidFill>
                <a:latin typeface="Trebuchet MS"/>
                <a:cs typeface="Trebuchet MS"/>
              </a:rPr>
              <a:t>Need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to </a:t>
            </a:r>
            <a:r>
              <a:rPr sz="1182" spc="24" dirty="0">
                <a:solidFill>
                  <a:srgbClr val="5E5E5E"/>
                </a:solidFill>
                <a:latin typeface="Trebuchet MS"/>
                <a:cs typeface="Trebuchet MS"/>
              </a:rPr>
              <a:t>be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79" dirty="0">
                <a:solidFill>
                  <a:srgbClr val="5E5E5E"/>
                </a:solidFill>
                <a:latin typeface="Trebuchet MS"/>
                <a:cs typeface="Trebuchet MS"/>
              </a:rPr>
              <a:t>Deep?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5" dirty="0">
                <a:solidFill>
                  <a:srgbClr val="5E5E5E"/>
                </a:solidFill>
                <a:latin typeface="Trebuchet MS"/>
                <a:cs typeface="Trebuchet MS"/>
              </a:rPr>
              <a:t>[Ba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0" dirty="0">
                <a:solidFill>
                  <a:srgbClr val="5E5E5E"/>
                </a:solidFill>
                <a:latin typeface="Trebuchet MS"/>
                <a:cs typeface="Trebuchet MS"/>
              </a:rPr>
              <a:t>and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Caruana,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52" dirty="0">
                <a:solidFill>
                  <a:srgbClr val="5E5E5E"/>
                </a:solidFill>
                <a:latin typeface="Trebuchet MS"/>
                <a:cs typeface="Trebuchet MS"/>
              </a:rPr>
              <a:t>NeurIPS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2014]</a:t>
            </a:r>
            <a:endParaRPr sz="1182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386210" y="2053194"/>
            <a:ext cx="2970003" cy="3054717"/>
            <a:chOff x="7232479" y="3385868"/>
            <a:chExt cx="4897755" cy="5037455"/>
          </a:xfrm>
        </p:grpSpPr>
        <p:sp>
          <p:nvSpPr>
            <p:cNvPr id="30" name="object 30"/>
            <p:cNvSpPr/>
            <p:nvPr/>
          </p:nvSpPr>
          <p:spPr>
            <a:xfrm>
              <a:off x="7253434" y="340682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938731" y="0"/>
                  </a:moveTo>
                  <a:lnTo>
                    <a:pt x="308741" y="0"/>
                  </a:lnTo>
                  <a:lnTo>
                    <a:pt x="247303" y="236"/>
                  </a:lnTo>
                  <a:lnTo>
                    <a:pt x="197756" y="1891"/>
                  </a:lnTo>
                  <a:lnTo>
                    <a:pt x="158402" y="6382"/>
                  </a:lnTo>
                  <a:lnTo>
                    <a:pt x="90611" y="33369"/>
                  </a:lnTo>
                  <a:lnTo>
                    <a:pt x="58875" y="58874"/>
                  </a:lnTo>
                  <a:lnTo>
                    <a:pt x="33369" y="90611"/>
                  </a:lnTo>
                  <a:lnTo>
                    <a:pt x="15130" y="127541"/>
                  </a:lnTo>
                  <a:lnTo>
                    <a:pt x="1891" y="197756"/>
                  </a:lnTo>
                  <a:lnTo>
                    <a:pt x="236" y="247303"/>
                  </a:lnTo>
                  <a:lnTo>
                    <a:pt x="0" y="308741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3" y="1188050"/>
                  </a:lnTo>
                  <a:lnTo>
                    <a:pt x="33369" y="1255841"/>
                  </a:lnTo>
                  <a:lnTo>
                    <a:pt x="58875" y="1287577"/>
                  </a:lnTo>
                  <a:lnTo>
                    <a:pt x="90611" y="1313083"/>
                  </a:lnTo>
                  <a:lnTo>
                    <a:pt x="127541" y="1331322"/>
                  </a:lnTo>
                  <a:lnTo>
                    <a:pt x="197756" y="1344561"/>
                  </a:lnTo>
                  <a:lnTo>
                    <a:pt x="247303" y="1346215"/>
                  </a:lnTo>
                  <a:lnTo>
                    <a:pt x="308741" y="1346452"/>
                  </a:lnTo>
                  <a:lnTo>
                    <a:pt x="938731" y="1346452"/>
                  </a:lnTo>
                  <a:lnTo>
                    <a:pt x="1000169" y="1346215"/>
                  </a:lnTo>
                  <a:lnTo>
                    <a:pt x="1049715" y="1344561"/>
                  </a:lnTo>
                  <a:lnTo>
                    <a:pt x="1089070" y="1340069"/>
                  </a:lnTo>
                  <a:lnTo>
                    <a:pt x="1156861" y="1313083"/>
                  </a:lnTo>
                  <a:lnTo>
                    <a:pt x="1188597" y="1287577"/>
                  </a:lnTo>
                  <a:lnTo>
                    <a:pt x="1214102" y="1255841"/>
                  </a:lnTo>
                  <a:lnTo>
                    <a:pt x="1232342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1"/>
                  </a:lnTo>
                  <a:lnTo>
                    <a:pt x="1247235" y="247303"/>
                  </a:lnTo>
                  <a:lnTo>
                    <a:pt x="1245580" y="197756"/>
                  </a:lnTo>
                  <a:lnTo>
                    <a:pt x="1241089" y="158402"/>
                  </a:lnTo>
                  <a:lnTo>
                    <a:pt x="1214102" y="90611"/>
                  </a:lnTo>
                  <a:lnTo>
                    <a:pt x="1188597" y="58874"/>
                  </a:lnTo>
                  <a:lnTo>
                    <a:pt x="1156861" y="33369"/>
                  </a:lnTo>
                  <a:lnTo>
                    <a:pt x="1119931" y="15129"/>
                  </a:lnTo>
                  <a:lnTo>
                    <a:pt x="1049715" y="1891"/>
                  </a:lnTo>
                  <a:lnTo>
                    <a:pt x="1000169" y="236"/>
                  </a:lnTo>
                  <a:lnTo>
                    <a:pt x="938731" y="0"/>
                  </a:lnTo>
                  <a:close/>
                </a:path>
              </a:pathLst>
            </a:custGeom>
            <a:solidFill>
              <a:srgbClr val="7DB8E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31"/>
            <p:cNvSpPr/>
            <p:nvPr/>
          </p:nvSpPr>
          <p:spPr>
            <a:xfrm>
              <a:off x="7253434" y="340682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32"/>
            <p:cNvSpPr/>
            <p:nvPr/>
          </p:nvSpPr>
          <p:spPr>
            <a:xfrm>
              <a:off x="12041873" y="7652287"/>
              <a:ext cx="0" cy="659765"/>
            </a:xfrm>
            <a:custGeom>
              <a:avLst/>
              <a:gdLst/>
              <a:ahLst/>
              <a:cxnLst/>
              <a:rect l="l" t="t" r="r" b="b"/>
              <a:pathLst>
                <a:path h="659765">
                  <a:moveTo>
                    <a:pt x="0" y="0"/>
                  </a:moveTo>
                  <a:lnTo>
                    <a:pt x="0" y="659714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3918" y="8247083"/>
              <a:ext cx="175910" cy="17591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530367" y="2215884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2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400233" y="2053194"/>
            <a:ext cx="782066" cy="842136"/>
            <a:chOff x="8904678" y="3385868"/>
            <a:chExt cx="1289685" cy="1388745"/>
          </a:xfrm>
        </p:grpSpPr>
        <p:sp>
          <p:nvSpPr>
            <p:cNvPr id="36" name="object 36"/>
            <p:cNvSpPr/>
            <p:nvPr/>
          </p:nvSpPr>
          <p:spPr>
            <a:xfrm>
              <a:off x="8925633" y="340682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938730" y="0"/>
                  </a:moveTo>
                  <a:lnTo>
                    <a:pt x="308741" y="0"/>
                  </a:lnTo>
                  <a:lnTo>
                    <a:pt x="247303" y="236"/>
                  </a:lnTo>
                  <a:lnTo>
                    <a:pt x="197756" y="1891"/>
                  </a:lnTo>
                  <a:lnTo>
                    <a:pt x="158402" y="6382"/>
                  </a:lnTo>
                  <a:lnTo>
                    <a:pt x="90611" y="33369"/>
                  </a:lnTo>
                  <a:lnTo>
                    <a:pt x="58874" y="58874"/>
                  </a:lnTo>
                  <a:lnTo>
                    <a:pt x="33369" y="90611"/>
                  </a:lnTo>
                  <a:lnTo>
                    <a:pt x="15129" y="127541"/>
                  </a:lnTo>
                  <a:lnTo>
                    <a:pt x="1891" y="197756"/>
                  </a:lnTo>
                  <a:lnTo>
                    <a:pt x="236" y="247303"/>
                  </a:lnTo>
                  <a:lnTo>
                    <a:pt x="0" y="308741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2" y="1188050"/>
                  </a:lnTo>
                  <a:lnTo>
                    <a:pt x="33369" y="1255841"/>
                  </a:lnTo>
                  <a:lnTo>
                    <a:pt x="58874" y="1287577"/>
                  </a:lnTo>
                  <a:lnTo>
                    <a:pt x="90611" y="1313083"/>
                  </a:lnTo>
                  <a:lnTo>
                    <a:pt x="127541" y="1331322"/>
                  </a:lnTo>
                  <a:lnTo>
                    <a:pt x="197756" y="1344561"/>
                  </a:lnTo>
                  <a:lnTo>
                    <a:pt x="247303" y="1346215"/>
                  </a:lnTo>
                  <a:lnTo>
                    <a:pt x="308741" y="1346452"/>
                  </a:lnTo>
                  <a:lnTo>
                    <a:pt x="938730" y="1346452"/>
                  </a:lnTo>
                  <a:lnTo>
                    <a:pt x="1000168" y="1346215"/>
                  </a:lnTo>
                  <a:lnTo>
                    <a:pt x="1049715" y="1344561"/>
                  </a:lnTo>
                  <a:lnTo>
                    <a:pt x="1089069" y="1340069"/>
                  </a:lnTo>
                  <a:lnTo>
                    <a:pt x="1156860" y="1313083"/>
                  </a:lnTo>
                  <a:lnTo>
                    <a:pt x="1188597" y="1287577"/>
                  </a:lnTo>
                  <a:lnTo>
                    <a:pt x="1214102" y="1255841"/>
                  </a:lnTo>
                  <a:lnTo>
                    <a:pt x="1232342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1"/>
                  </a:lnTo>
                  <a:lnTo>
                    <a:pt x="1247235" y="247303"/>
                  </a:lnTo>
                  <a:lnTo>
                    <a:pt x="1245580" y="197756"/>
                  </a:lnTo>
                  <a:lnTo>
                    <a:pt x="1241089" y="158402"/>
                  </a:lnTo>
                  <a:lnTo>
                    <a:pt x="1214102" y="90611"/>
                  </a:lnTo>
                  <a:lnTo>
                    <a:pt x="1188597" y="58874"/>
                  </a:lnTo>
                  <a:lnTo>
                    <a:pt x="1156860" y="33369"/>
                  </a:lnTo>
                  <a:lnTo>
                    <a:pt x="1119930" y="15129"/>
                  </a:lnTo>
                  <a:lnTo>
                    <a:pt x="1049715" y="1891"/>
                  </a:lnTo>
                  <a:lnTo>
                    <a:pt x="1000168" y="236"/>
                  </a:lnTo>
                  <a:lnTo>
                    <a:pt x="938730" y="0"/>
                  </a:lnTo>
                  <a:close/>
                </a:path>
              </a:pathLst>
            </a:custGeom>
            <a:solidFill>
              <a:srgbClr val="7DB8E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37"/>
            <p:cNvSpPr/>
            <p:nvPr/>
          </p:nvSpPr>
          <p:spPr>
            <a:xfrm>
              <a:off x="8925633" y="340682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544390" y="2215884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75204" marR="3081" indent="-167888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-15" dirty="0">
                <a:latin typeface="Arial MT"/>
                <a:cs typeface="Arial MT"/>
              </a:rPr>
              <a:t>N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141326" y="2400346"/>
            <a:ext cx="1264167" cy="110514"/>
            <a:chOff x="6828648" y="3958348"/>
            <a:chExt cx="2084705" cy="182245"/>
          </a:xfrm>
        </p:grpSpPr>
        <p:sp>
          <p:nvSpPr>
            <p:cNvPr id="40" name="object 40"/>
            <p:cNvSpPr/>
            <p:nvPr/>
          </p:nvSpPr>
          <p:spPr>
            <a:xfrm>
              <a:off x="6849603" y="4046304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90">
                  <a:moveTo>
                    <a:pt x="0" y="0"/>
                  </a:moveTo>
                  <a:lnTo>
                    <a:pt x="241751" y="0"/>
                  </a:lnTo>
                  <a:lnTo>
                    <a:pt x="26269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1"/>
            <p:cNvSpPr/>
            <p:nvPr/>
          </p:nvSpPr>
          <p:spPr>
            <a:xfrm>
              <a:off x="7047377" y="395834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42"/>
            <p:cNvSpPr/>
            <p:nvPr/>
          </p:nvSpPr>
          <p:spPr>
            <a:xfrm>
              <a:off x="8539295" y="4052323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90">
                  <a:moveTo>
                    <a:pt x="0" y="0"/>
                  </a:moveTo>
                  <a:lnTo>
                    <a:pt x="241751" y="0"/>
                  </a:lnTo>
                  <a:lnTo>
                    <a:pt x="26269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3"/>
            <p:cNvSpPr/>
            <p:nvPr/>
          </p:nvSpPr>
          <p:spPr>
            <a:xfrm>
              <a:off x="8737069" y="396436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194246" y="2192707"/>
            <a:ext cx="167888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15" dirty="0">
                <a:latin typeface="Arial"/>
                <a:cs typeface="Arial"/>
              </a:rPr>
              <a:t>…</a:t>
            </a:r>
            <a:endParaRPr sz="1182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372188" y="3957481"/>
            <a:ext cx="782066" cy="842136"/>
            <a:chOff x="5560282" y="6526178"/>
            <a:chExt cx="1289685" cy="1388745"/>
          </a:xfrm>
        </p:grpSpPr>
        <p:sp>
          <p:nvSpPr>
            <p:cNvPr id="46" name="object 46"/>
            <p:cNvSpPr/>
            <p:nvPr/>
          </p:nvSpPr>
          <p:spPr>
            <a:xfrm>
              <a:off x="5581237" y="654713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938730" y="0"/>
                  </a:moveTo>
                  <a:lnTo>
                    <a:pt x="308740" y="0"/>
                  </a:lnTo>
                  <a:lnTo>
                    <a:pt x="247302" y="236"/>
                  </a:lnTo>
                  <a:lnTo>
                    <a:pt x="197756" y="1891"/>
                  </a:lnTo>
                  <a:lnTo>
                    <a:pt x="158401" y="6382"/>
                  </a:lnTo>
                  <a:lnTo>
                    <a:pt x="127540" y="15129"/>
                  </a:lnTo>
                  <a:lnTo>
                    <a:pt x="90610" y="33369"/>
                  </a:lnTo>
                  <a:lnTo>
                    <a:pt x="58874" y="58874"/>
                  </a:lnTo>
                  <a:lnTo>
                    <a:pt x="33369" y="90610"/>
                  </a:lnTo>
                  <a:lnTo>
                    <a:pt x="15129" y="127540"/>
                  </a:lnTo>
                  <a:lnTo>
                    <a:pt x="1891" y="197756"/>
                  </a:lnTo>
                  <a:lnTo>
                    <a:pt x="236" y="247302"/>
                  </a:lnTo>
                  <a:lnTo>
                    <a:pt x="0" y="308740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2" y="1188050"/>
                  </a:lnTo>
                  <a:lnTo>
                    <a:pt x="33369" y="1255841"/>
                  </a:lnTo>
                  <a:lnTo>
                    <a:pt x="58874" y="1287577"/>
                  </a:lnTo>
                  <a:lnTo>
                    <a:pt x="90610" y="1313083"/>
                  </a:lnTo>
                  <a:lnTo>
                    <a:pt x="127540" y="1331322"/>
                  </a:lnTo>
                  <a:lnTo>
                    <a:pt x="197756" y="1344561"/>
                  </a:lnTo>
                  <a:lnTo>
                    <a:pt x="247302" y="1346215"/>
                  </a:lnTo>
                  <a:lnTo>
                    <a:pt x="308740" y="1346452"/>
                  </a:lnTo>
                  <a:lnTo>
                    <a:pt x="938730" y="1346452"/>
                  </a:lnTo>
                  <a:lnTo>
                    <a:pt x="1000168" y="1346215"/>
                  </a:lnTo>
                  <a:lnTo>
                    <a:pt x="1049715" y="1344561"/>
                  </a:lnTo>
                  <a:lnTo>
                    <a:pt x="1089069" y="1340069"/>
                  </a:lnTo>
                  <a:lnTo>
                    <a:pt x="1156860" y="1313083"/>
                  </a:lnTo>
                  <a:lnTo>
                    <a:pt x="1188596" y="1287577"/>
                  </a:lnTo>
                  <a:lnTo>
                    <a:pt x="1214102" y="1255841"/>
                  </a:lnTo>
                  <a:lnTo>
                    <a:pt x="1232341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0"/>
                  </a:lnTo>
                  <a:lnTo>
                    <a:pt x="1247235" y="247302"/>
                  </a:lnTo>
                  <a:lnTo>
                    <a:pt x="1245580" y="197756"/>
                  </a:lnTo>
                  <a:lnTo>
                    <a:pt x="1241088" y="158401"/>
                  </a:lnTo>
                  <a:lnTo>
                    <a:pt x="1214102" y="90610"/>
                  </a:lnTo>
                  <a:lnTo>
                    <a:pt x="1188596" y="58874"/>
                  </a:lnTo>
                  <a:lnTo>
                    <a:pt x="1156860" y="33369"/>
                  </a:lnTo>
                  <a:lnTo>
                    <a:pt x="1119930" y="15129"/>
                  </a:lnTo>
                  <a:lnTo>
                    <a:pt x="1049715" y="1891"/>
                  </a:lnTo>
                  <a:lnTo>
                    <a:pt x="1000168" y="236"/>
                  </a:lnTo>
                  <a:lnTo>
                    <a:pt x="938730" y="0"/>
                  </a:lnTo>
                  <a:close/>
                </a:path>
              </a:pathLst>
            </a:custGeom>
            <a:solidFill>
              <a:srgbClr val="D4E6F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7" name="object 47"/>
            <p:cNvSpPr/>
            <p:nvPr/>
          </p:nvSpPr>
          <p:spPr>
            <a:xfrm>
              <a:off x="5581237" y="654713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516345" y="4120170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1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386210" y="3957037"/>
            <a:ext cx="782066" cy="842136"/>
            <a:chOff x="7232479" y="6525447"/>
            <a:chExt cx="1289685" cy="1388745"/>
          </a:xfrm>
        </p:grpSpPr>
        <p:sp>
          <p:nvSpPr>
            <p:cNvPr id="50" name="object 50"/>
            <p:cNvSpPr/>
            <p:nvPr/>
          </p:nvSpPr>
          <p:spPr>
            <a:xfrm>
              <a:off x="7253434" y="6546402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938731" y="0"/>
                  </a:moveTo>
                  <a:lnTo>
                    <a:pt x="308741" y="0"/>
                  </a:lnTo>
                  <a:lnTo>
                    <a:pt x="247303" y="236"/>
                  </a:lnTo>
                  <a:lnTo>
                    <a:pt x="197756" y="1891"/>
                  </a:lnTo>
                  <a:lnTo>
                    <a:pt x="158402" y="6382"/>
                  </a:lnTo>
                  <a:lnTo>
                    <a:pt x="90611" y="33369"/>
                  </a:lnTo>
                  <a:lnTo>
                    <a:pt x="58875" y="58874"/>
                  </a:lnTo>
                  <a:lnTo>
                    <a:pt x="33369" y="90611"/>
                  </a:lnTo>
                  <a:lnTo>
                    <a:pt x="15130" y="127541"/>
                  </a:lnTo>
                  <a:lnTo>
                    <a:pt x="1891" y="197756"/>
                  </a:lnTo>
                  <a:lnTo>
                    <a:pt x="236" y="247303"/>
                  </a:lnTo>
                  <a:lnTo>
                    <a:pt x="0" y="308741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3" y="1188050"/>
                  </a:lnTo>
                  <a:lnTo>
                    <a:pt x="33369" y="1255841"/>
                  </a:lnTo>
                  <a:lnTo>
                    <a:pt x="58875" y="1287577"/>
                  </a:lnTo>
                  <a:lnTo>
                    <a:pt x="90611" y="1313083"/>
                  </a:lnTo>
                  <a:lnTo>
                    <a:pt x="127541" y="1331322"/>
                  </a:lnTo>
                  <a:lnTo>
                    <a:pt x="197756" y="1344561"/>
                  </a:lnTo>
                  <a:lnTo>
                    <a:pt x="247303" y="1346215"/>
                  </a:lnTo>
                  <a:lnTo>
                    <a:pt x="308741" y="1346452"/>
                  </a:lnTo>
                  <a:lnTo>
                    <a:pt x="938731" y="1346452"/>
                  </a:lnTo>
                  <a:lnTo>
                    <a:pt x="1000169" y="1346215"/>
                  </a:lnTo>
                  <a:lnTo>
                    <a:pt x="1049715" y="1344561"/>
                  </a:lnTo>
                  <a:lnTo>
                    <a:pt x="1089070" y="1340069"/>
                  </a:lnTo>
                  <a:lnTo>
                    <a:pt x="1156861" y="1313083"/>
                  </a:lnTo>
                  <a:lnTo>
                    <a:pt x="1188597" y="1287577"/>
                  </a:lnTo>
                  <a:lnTo>
                    <a:pt x="1214102" y="1255841"/>
                  </a:lnTo>
                  <a:lnTo>
                    <a:pt x="1232342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1"/>
                  </a:lnTo>
                  <a:lnTo>
                    <a:pt x="1247235" y="247303"/>
                  </a:lnTo>
                  <a:lnTo>
                    <a:pt x="1245580" y="197756"/>
                  </a:lnTo>
                  <a:lnTo>
                    <a:pt x="1241089" y="158402"/>
                  </a:lnTo>
                  <a:lnTo>
                    <a:pt x="1214102" y="90611"/>
                  </a:lnTo>
                  <a:lnTo>
                    <a:pt x="1188597" y="58874"/>
                  </a:lnTo>
                  <a:lnTo>
                    <a:pt x="1156861" y="33369"/>
                  </a:lnTo>
                  <a:lnTo>
                    <a:pt x="1119931" y="15129"/>
                  </a:lnTo>
                  <a:lnTo>
                    <a:pt x="1049715" y="1891"/>
                  </a:lnTo>
                  <a:lnTo>
                    <a:pt x="1000169" y="236"/>
                  </a:lnTo>
                  <a:lnTo>
                    <a:pt x="938731" y="0"/>
                  </a:lnTo>
                  <a:close/>
                </a:path>
              </a:pathLst>
            </a:custGeom>
            <a:solidFill>
              <a:srgbClr val="D4E6F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1" name="object 51"/>
            <p:cNvSpPr/>
            <p:nvPr/>
          </p:nvSpPr>
          <p:spPr>
            <a:xfrm>
              <a:off x="7253434" y="6546402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530367" y="4119728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2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400232" y="3957037"/>
            <a:ext cx="782066" cy="842136"/>
            <a:chOff x="8904676" y="6525447"/>
            <a:chExt cx="1289685" cy="1388745"/>
          </a:xfrm>
        </p:grpSpPr>
        <p:sp>
          <p:nvSpPr>
            <p:cNvPr id="54" name="object 54"/>
            <p:cNvSpPr/>
            <p:nvPr/>
          </p:nvSpPr>
          <p:spPr>
            <a:xfrm>
              <a:off x="8925631" y="6546402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938731" y="0"/>
                  </a:moveTo>
                  <a:lnTo>
                    <a:pt x="308741" y="0"/>
                  </a:lnTo>
                  <a:lnTo>
                    <a:pt x="247303" y="236"/>
                  </a:lnTo>
                  <a:lnTo>
                    <a:pt x="197756" y="1891"/>
                  </a:lnTo>
                  <a:lnTo>
                    <a:pt x="158402" y="6382"/>
                  </a:lnTo>
                  <a:lnTo>
                    <a:pt x="90611" y="33369"/>
                  </a:lnTo>
                  <a:lnTo>
                    <a:pt x="58875" y="58874"/>
                  </a:lnTo>
                  <a:lnTo>
                    <a:pt x="33369" y="90611"/>
                  </a:lnTo>
                  <a:lnTo>
                    <a:pt x="15130" y="127541"/>
                  </a:lnTo>
                  <a:lnTo>
                    <a:pt x="1891" y="197756"/>
                  </a:lnTo>
                  <a:lnTo>
                    <a:pt x="236" y="247303"/>
                  </a:lnTo>
                  <a:lnTo>
                    <a:pt x="0" y="308741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3" y="1188050"/>
                  </a:lnTo>
                  <a:lnTo>
                    <a:pt x="33369" y="1255841"/>
                  </a:lnTo>
                  <a:lnTo>
                    <a:pt x="58875" y="1287577"/>
                  </a:lnTo>
                  <a:lnTo>
                    <a:pt x="90611" y="1313083"/>
                  </a:lnTo>
                  <a:lnTo>
                    <a:pt x="127541" y="1331322"/>
                  </a:lnTo>
                  <a:lnTo>
                    <a:pt x="197756" y="1344561"/>
                  </a:lnTo>
                  <a:lnTo>
                    <a:pt x="247303" y="1346215"/>
                  </a:lnTo>
                  <a:lnTo>
                    <a:pt x="308741" y="1346452"/>
                  </a:lnTo>
                  <a:lnTo>
                    <a:pt x="938731" y="1346452"/>
                  </a:lnTo>
                  <a:lnTo>
                    <a:pt x="1000169" y="1346215"/>
                  </a:lnTo>
                  <a:lnTo>
                    <a:pt x="1049716" y="1344561"/>
                  </a:lnTo>
                  <a:lnTo>
                    <a:pt x="1089070" y="1340069"/>
                  </a:lnTo>
                  <a:lnTo>
                    <a:pt x="1156861" y="1313083"/>
                  </a:lnTo>
                  <a:lnTo>
                    <a:pt x="1188597" y="1287577"/>
                  </a:lnTo>
                  <a:lnTo>
                    <a:pt x="1214102" y="1255841"/>
                  </a:lnTo>
                  <a:lnTo>
                    <a:pt x="1232342" y="1218910"/>
                  </a:lnTo>
                  <a:lnTo>
                    <a:pt x="1245581" y="1148695"/>
                  </a:lnTo>
                  <a:lnTo>
                    <a:pt x="1247236" y="1099149"/>
                  </a:lnTo>
                  <a:lnTo>
                    <a:pt x="1247473" y="1037710"/>
                  </a:lnTo>
                  <a:lnTo>
                    <a:pt x="1247473" y="308741"/>
                  </a:lnTo>
                  <a:lnTo>
                    <a:pt x="1247236" y="247303"/>
                  </a:lnTo>
                  <a:lnTo>
                    <a:pt x="1245581" y="197756"/>
                  </a:lnTo>
                  <a:lnTo>
                    <a:pt x="1241089" y="158402"/>
                  </a:lnTo>
                  <a:lnTo>
                    <a:pt x="1214102" y="90611"/>
                  </a:lnTo>
                  <a:lnTo>
                    <a:pt x="1188597" y="58874"/>
                  </a:lnTo>
                  <a:lnTo>
                    <a:pt x="1156861" y="33369"/>
                  </a:lnTo>
                  <a:lnTo>
                    <a:pt x="1119931" y="15129"/>
                  </a:lnTo>
                  <a:lnTo>
                    <a:pt x="1049716" y="1891"/>
                  </a:lnTo>
                  <a:lnTo>
                    <a:pt x="1000169" y="236"/>
                  </a:lnTo>
                  <a:lnTo>
                    <a:pt x="938731" y="0"/>
                  </a:lnTo>
                  <a:close/>
                </a:path>
              </a:pathLst>
            </a:custGeom>
            <a:solidFill>
              <a:srgbClr val="D4E6F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5" name="object 55"/>
            <p:cNvSpPr/>
            <p:nvPr/>
          </p:nvSpPr>
          <p:spPr>
            <a:xfrm>
              <a:off x="8925631" y="6546402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544389" y="4119728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75204" marR="3081" indent="-167888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-15" dirty="0">
                <a:latin typeface="Arial MT"/>
                <a:cs typeface="Arial MT"/>
              </a:rPr>
              <a:t>N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141326" y="4027340"/>
            <a:ext cx="3822151" cy="660386"/>
            <a:chOff x="6828648" y="6641382"/>
            <a:chExt cx="6303010" cy="1089025"/>
          </a:xfrm>
        </p:grpSpPr>
        <p:sp>
          <p:nvSpPr>
            <p:cNvPr id="58" name="object 58"/>
            <p:cNvSpPr/>
            <p:nvPr/>
          </p:nvSpPr>
          <p:spPr>
            <a:xfrm>
              <a:off x="6849603" y="7185881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90">
                  <a:moveTo>
                    <a:pt x="0" y="0"/>
                  </a:moveTo>
                  <a:lnTo>
                    <a:pt x="241751" y="0"/>
                  </a:lnTo>
                  <a:lnTo>
                    <a:pt x="26269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9" name="object 59"/>
            <p:cNvSpPr/>
            <p:nvPr/>
          </p:nvSpPr>
          <p:spPr>
            <a:xfrm>
              <a:off x="7047377" y="7097926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0" name="object 60"/>
            <p:cNvSpPr/>
            <p:nvPr/>
          </p:nvSpPr>
          <p:spPr>
            <a:xfrm>
              <a:off x="8539295" y="7191902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90">
                  <a:moveTo>
                    <a:pt x="0" y="0"/>
                  </a:moveTo>
                  <a:lnTo>
                    <a:pt x="241751" y="0"/>
                  </a:lnTo>
                  <a:lnTo>
                    <a:pt x="26269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1" name="object 61"/>
            <p:cNvSpPr/>
            <p:nvPr/>
          </p:nvSpPr>
          <p:spPr>
            <a:xfrm>
              <a:off x="8737069" y="7103946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2" name="object 62"/>
            <p:cNvSpPr/>
            <p:nvPr/>
          </p:nvSpPr>
          <p:spPr>
            <a:xfrm>
              <a:off x="10183395" y="7220358"/>
              <a:ext cx="605790" cy="0"/>
            </a:xfrm>
            <a:custGeom>
              <a:avLst/>
              <a:gdLst/>
              <a:ahLst/>
              <a:cxnLst/>
              <a:rect l="l" t="t" r="r" b="b"/>
              <a:pathLst>
                <a:path w="605790">
                  <a:moveTo>
                    <a:pt x="0" y="0"/>
                  </a:moveTo>
                  <a:lnTo>
                    <a:pt x="584434" y="0"/>
                  </a:lnTo>
                  <a:lnTo>
                    <a:pt x="60537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3" name="object 63"/>
            <p:cNvSpPr/>
            <p:nvPr/>
          </p:nvSpPr>
          <p:spPr>
            <a:xfrm>
              <a:off x="10723851" y="713240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4" name="object 64"/>
            <p:cNvSpPr/>
            <p:nvPr/>
          </p:nvSpPr>
          <p:spPr>
            <a:xfrm>
              <a:off x="10940651" y="6662337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5">
                  <a:moveTo>
                    <a:pt x="1929532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0" y="11766"/>
                  </a:lnTo>
                  <a:lnTo>
                    <a:pt x="45782" y="45785"/>
                  </a:lnTo>
                  <a:lnTo>
                    <a:pt x="11758" y="99185"/>
                  </a:lnTo>
                  <a:lnTo>
                    <a:pt x="1469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2"/>
                  </a:lnTo>
                  <a:lnTo>
                    <a:pt x="183" y="854770"/>
                  </a:lnTo>
                  <a:lnTo>
                    <a:pt x="1469" y="893300"/>
                  </a:lnTo>
                  <a:lnTo>
                    <a:pt x="11758" y="947904"/>
                  </a:lnTo>
                  <a:lnTo>
                    <a:pt x="45782" y="1001304"/>
                  </a:lnTo>
                  <a:lnTo>
                    <a:pt x="99180" y="1035323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1929532" y="1047088"/>
                  </a:lnTo>
                  <a:lnTo>
                    <a:pt x="1977312" y="1046904"/>
                  </a:lnTo>
                  <a:lnTo>
                    <a:pt x="2015843" y="1045617"/>
                  </a:lnTo>
                  <a:lnTo>
                    <a:pt x="2070450" y="1035323"/>
                  </a:lnTo>
                  <a:lnTo>
                    <a:pt x="2123846" y="1001304"/>
                  </a:lnTo>
                  <a:lnTo>
                    <a:pt x="2157860" y="947904"/>
                  </a:lnTo>
                  <a:lnTo>
                    <a:pt x="2168159" y="893300"/>
                  </a:lnTo>
                  <a:lnTo>
                    <a:pt x="2169446" y="854770"/>
                  </a:lnTo>
                  <a:lnTo>
                    <a:pt x="2169630" y="806992"/>
                  </a:lnTo>
                  <a:lnTo>
                    <a:pt x="2169630" y="240097"/>
                  </a:lnTo>
                  <a:lnTo>
                    <a:pt x="2169446" y="192319"/>
                  </a:lnTo>
                  <a:lnTo>
                    <a:pt x="2168159" y="153788"/>
                  </a:lnTo>
                  <a:lnTo>
                    <a:pt x="2157860" y="99185"/>
                  </a:lnTo>
                  <a:lnTo>
                    <a:pt x="2123846" y="45785"/>
                  </a:lnTo>
                  <a:lnTo>
                    <a:pt x="2070450" y="11766"/>
                  </a:lnTo>
                  <a:lnTo>
                    <a:pt x="2015843" y="1470"/>
                  </a:lnTo>
                  <a:lnTo>
                    <a:pt x="1977312" y="183"/>
                  </a:lnTo>
                  <a:lnTo>
                    <a:pt x="1929532" y="0"/>
                  </a:lnTo>
                  <a:close/>
                </a:path>
              </a:pathLst>
            </a:custGeom>
            <a:solidFill>
              <a:srgbClr val="A4DAD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5" name="object 65"/>
            <p:cNvSpPr/>
            <p:nvPr/>
          </p:nvSpPr>
          <p:spPr>
            <a:xfrm>
              <a:off x="10940651" y="6662337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5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00AEBB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019753" y="4221531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942018" y="2459231"/>
            <a:ext cx="993081" cy="1920702"/>
            <a:chOff x="13096271" y="4055454"/>
            <a:chExt cx="1637664" cy="3167380"/>
          </a:xfrm>
        </p:grpSpPr>
        <p:sp>
          <p:nvSpPr>
            <p:cNvPr id="68" name="object 68"/>
            <p:cNvSpPr/>
            <p:nvPr/>
          </p:nvSpPr>
          <p:spPr>
            <a:xfrm>
              <a:off x="13117213" y="6233825"/>
              <a:ext cx="1529080" cy="967740"/>
            </a:xfrm>
            <a:custGeom>
              <a:avLst/>
              <a:gdLst/>
              <a:ahLst/>
              <a:cxnLst/>
              <a:rect l="l" t="t" r="r" b="b"/>
              <a:pathLst>
                <a:path w="1529080" h="967740">
                  <a:moveTo>
                    <a:pt x="1528749" y="0"/>
                  </a:moveTo>
                  <a:lnTo>
                    <a:pt x="1528749" y="20941"/>
                  </a:lnTo>
                  <a:lnTo>
                    <a:pt x="1528749" y="967509"/>
                  </a:lnTo>
                  <a:lnTo>
                    <a:pt x="0" y="967509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58007" y="6122834"/>
              <a:ext cx="175910" cy="17591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3117213" y="4076396"/>
              <a:ext cx="1529080" cy="967740"/>
            </a:xfrm>
            <a:custGeom>
              <a:avLst/>
              <a:gdLst/>
              <a:ahLst/>
              <a:cxnLst/>
              <a:rect l="l" t="t" r="r" b="b"/>
              <a:pathLst>
                <a:path w="1529080" h="967739">
                  <a:moveTo>
                    <a:pt x="1528749" y="967509"/>
                  </a:moveTo>
                  <a:lnTo>
                    <a:pt x="1528749" y="946568"/>
                  </a:lnTo>
                  <a:lnTo>
                    <a:pt x="1528749" y="0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71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58007" y="4978986"/>
              <a:ext cx="175910" cy="175910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4128805" y="1737325"/>
            <a:ext cx="1296897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58" dirty="0">
                <a:latin typeface="Arial MT"/>
                <a:cs typeface="Arial MT"/>
              </a:rPr>
              <a:t>Teacher</a:t>
            </a:r>
            <a:r>
              <a:rPr sz="1577" spc="-24" dirty="0">
                <a:latin typeface="Arial MT"/>
                <a:cs typeface="Arial MT"/>
              </a:rPr>
              <a:t> </a:t>
            </a:r>
            <a:r>
              <a:rPr sz="1577" spc="-12" dirty="0">
                <a:latin typeface="Arial MT"/>
                <a:cs typeface="Arial MT"/>
              </a:rPr>
              <a:t>Model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ftr" sz="quarter" idx="5"/>
          </p:nvPr>
        </p:nvSpPr>
        <p:spPr>
          <a:xfrm>
            <a:off x="16264290" y="10884799"/>
            <a:ext cx="2827655" cy="375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3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01">
              <a:spcBef>
                <a:spcPts val="30"/>
              </a:spcBef>
            </a:pPr>
            <a:r>
              <a:rPr lang="en-US" spc="40"/>
              <a:t>Presented by  Dr. Muhammad Nouman Noor</a:t>
            </a:r>
            <a:endParaRPr spc="3" dirty="0"/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xfrm>
            <a:off x="19380156" y="10922758"/>
            <a:ext cx="356234" cy="31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950" b="0" i="0" kern="1200">
                <a:solidFill>
                  <a:schemeClr val="bg1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30"/>
              </a:spcBef>
            </a:pPr>
            <a:fld id="{81D60167-4931-47E6-BA6A-407CBD079E47}" type="slidenum">
              <a:rPr lang="en-US" spc="75" smtClean="0"/>
              <a:pPr marL="38100">
                <a:spcBef>
                  <a:spcPts val="30"/>
                </a:spcBef>
              </a:pPr>
              <a:t>23</a:t>
            </a:fld>
            <a:endParaRPr spc="45" dirty="0"/>
          </a:p>
        </p:txBody>
      </p:sp>
      <p:sp>
        <p:nvSpPr>
          <p:cNvPr id="73" name="object 73"/>
          <p:cNvSpPr txBox="1"/>
          <p:nvPr/>
        </p:nvSpPr>
        <p:spPr>
          <a:xfrm>
            <a:off x="4127179" y="4828147"/>
            <a:ext cx="1299978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3" dirty="0">
                <a:latin typeface="Arial MT"/>
                <a:cs typeface="Arial MT"/>
              </a:rPr>
              <a:t>Student</a:t>
            </a:r>
            <a:r>
              <a:rPr sz="1577" spc="-30" dirty="0">
                <a:latin typeface="Arial MT"/>
                <a:cs typeface="Arial MT"/>
              </a:rPr>
              <a:t> </a:t>
            </a:r>
            <a:r>
              <a:rPr sz="1577" spc="-12" dirty="0">
                <a:latin typeface="Arial MT"/>
                <a:cs typeface="Arial MT"/>
              </a:rPr>
              <a:t>Model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470892" y="2712650"/>
            <a:ext cx="1732406" cy="1063736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algn="ctr">
              <a:spcBef>
                <a:spcPts val="82"/>
              </a:spcBef>
            </a:pPr>
            <a:r>
              <a:rPr sz="1577" spc="-18" dirty="0">
                <a:latin typeface="Arial MT"/>
                <a:cs typeface="Arial MT"/>
              </a:rPr>
              <a:t>Cross</a:t>
            </a:r>
            <a:r>
              <a:rPr sz="1577" spc="-12" dirty="0">
                <a:latin typeface="Arial MT"/>
                <a:cs typeface="Arial MT"/>
              </a:rPr>
              <a:t> entropy</a:t>
            </a:r>
            <a:r>
              <a:rPr sz="1577" spc="-9" dirty="0">
                <a:latin typeface="Arial MT"/>
                <a:cs typeface="Arial MT"/>
              </a:rPr>
              <a:t> </a:t>
            </a:r>
            <a:r>
              <a:rPr sz="1577" spc="-15" dirty="0">
                <a:latin typeface="Arial MT"/>
                <a:cs typeface="Arial MT"/>
              </a:rPr>
              <a:t>loss:</a:t>
            </a:r>
            <a:endParaRPr sz="1577">
              <a:latin typeface="Arial MT"/>
              <a:cs typeface="Arial MT"/>
            </a:endParaRPr>
          </a:p>
          <a:p>
            <a:pPr algn="ctr">
              <a:spcBef>
                <a:spcPts val="24"/>
              </a:spcBef>
            </a:pPr>
            <a:r>
              <a:rPr sz="1940" spc="-33" dirty="0">
                <a:latin typeface="Cambria"/>
                <a:cs typeface="Cambria"/>
              </a:rPr>
              <a:t>𝔼</a:t>
            </a:r>
            <a:r>
              <a:rPr sz="1940" spc="-91" dirty="0">
                <a:latin typeface="Cambria"/>
                <a:cs typeface="Cambria"/>
              </a:rPr>
              <a:t>(</a:t>
            </a:r>
            <a:r>
              <a:rPr sz="1940" spc="370" dirty="0">
                <a:latin typeface="Cambria"/>
                <a:cs typeface="Cambria"/>
              </a:rPr>
              <a:t>−</a:t>
            </a:r>
            <a:r>
              <a:rPr sz="1940" i="1" spc="-58" dirty="0">
                <a:latin typeface="Times New Roman"/>
                <a:cs typeface="Times New Roman"/>
              </a:rPr>
              <a:t>p</a:t>
            </a:r>
            <a:r>
              <a:rPr sz="2047" i="1" spc="9" baseline="-19753" dirty="0">
                <a:latin typeface="Times New Roman"/>
                <a:cs typeface="Times New Roman"/>
              </a:rPr>
              <a:t>t</a:t>
            </a:r>
            <a:r>
              <a:rPr sz="2047" i="1" spc="27" baseline="-19753" dirty="0">
                <a:latin typeface="Times New Roman"/>
                <a:cs typeface="Times New Roman"/>
              </a:rPr>
              <a:t> </a:t>
            </a:r>
            <a:r>
              <a:rPr sz="1940" spc="-6" dirty="0">
                <a:latin typeface="Cambria"/>
                <a:cs typeface="Cambria"/>
              </a:rPr>
              <a:t>log</a:t>
            </a:r>
            <a:r>
              <a:rPr sz="1940" spc="-103" dirty="0">
                <a:latin typeface="Cambria"/>
                <a:cs typeface="Cambria"/>
              </a:rPr>
              <a:t> </a:t>
            </a:r>
            <a:r>
              <a:rPr sz="1940" i="1" spc="-58" dirty="0">
                <a:latin typeface="Times New Roman"/>
                <a:cs typeface="Times New Roman"/>
              </a:rPr>
              <a:t>p</a:t>
            </a:r>
            <a:r>
              <a:rPr sz="2047" i="1" spc="9" baseline="-19753" dirty="0">
                <a:latin typeface="Times New Roman"/>
                <a:cs typeface="Times New Roman"/>
              </a:rPr>
              <a:t>s</a:t>
            </a:r>
            <a:r>
              <a:rPr sz="1940" spc="-91" dirty="0">
                <a:latin typeface="Cambria"/>
                <a:cs typeface="Cambria"/>
              </a:rPr>
              <a:t>)</a:t>
            </a:r>
            <a:r>
              <a:rPr sz="1577" spc="6" dirty="0">
                <a:latin typeface="Arial MT"/>
                <a:cs typeface="Arial MT"/>
              </a:rPr>
              <a:t>;</a:t>
            </a:r>
            <a:endParaRPr sz="1577">
              <a:latin typeface="Arial MT"/>
              <a:cs typeface="Arial MT"/>
            </a:endParaRPr>
          </a:p>
          <a:p>
            <a:pPr algn="ctr">
              <a:spcBef>
                <a:spcPts val="2128"/>
              </a:spcBef>
            </a:pPr>
            <a:r>
              <a:rPr sz="1577" spc="-3" dirty="0">
                <a:latin typeface="Arial MT"/>
                <a:cs typeface="Arial MT"/>
              </a:rPr>
              <a:t>L2</a:t>
            </a:r>
            <a:r>
              <a:rPr sz="1577" spc="-21" dirty="0">
                <a:latin typeface="Arial MT"/>
                <a:cs typeface="Arial MT"/>
              </a:rPr>
              <a:t> </a:t>
            </a:r>
            <a:r>
              <a:rPr sz="1577" spc="-15" dirty="0">
                <a:latin typeface="Arial MT"/>
                <a:cs typeface="Arial MT"/>
              </a:rPr>
              <a:t>loss: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0806359" y="3914492"/>
            <a:ext cx="103582" cy="22081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>
              <a:spcBef>
                <a:spcPts val="85"/>
              </a:spcBef>
            </a:pPr>
            <a:r>
              <a:rPr sz="1364" spc="-64" dirty="0">
                <a:latin typeface="Cambria"/>
                <a:cs typeface="Cambria"/>
              </a:rPr>
              <a:t>2</a:t>
            </a:r>
            <a:endParaRPr sz="1364">
              <a:latin typeface="Cambria"/>
              <a:cs typeface="Cambr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666039" y="3766027"/>
            <a:ext cx="1341950" cy="307876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23104">
              <a:spcBef>
                <a:spcPts val="73"/>
              </a:spcBef>
            </a:pPr>
            <a:r>
              <a:rPr sz="1940" i="1" spc="-3" dirty="0">
                <a:latin typeface="Times New Roman"/>
                <a:cs typeface="Times New Roman"/>
              </a:rPr>
              <a:t>E</a:t>
            </a:r>
            <a:r>
              <a:rPr sz="1940" spc="-3" dirty="0">
                <a:latin typeface="Cambria"/>
                <a:cs typeface="Cambria"/>
              </a:rPr>
              <a:t>(∥</a:t>
            </a:r>
            <a:r>
              <a:rPr sz="1940" i="1" spc="-3" dirty="0">
                <a:latin typeface="Times New Roman"/>
                <a:cs typeface="Times New Roman"/>
              </a:rPr>
              <a:t>p</a:t>
            </a:r>
            <a:r>
              <a:rPr sz="2047" i="1" spc="-4" baseline="-19753" dirty="0">
                <a:latin typeface="Times New Roman"/>
                <a:cs typeface="Times New Roman"/>
              </a:rPr>
              <a:t>t</a:t>
            </a:r>
            <a:r>
              <a:rPr sz="2047" i="1" spc="104" baseline="-19753" dirty="0">
                <a:latin typeface="Times New Roman"/>
                <a:cs typeface="Times New Roman"/>
              </a:rPr>
              <a:t> </a:t>
            </a:r>
            <a:r>
              <a:rPr sz="1940" spc="263" dirty="0">
                <a:latin typeface="Cambria"/>
                <a:cs typeface="Cambria"/>
              </a:rPr>
              <a:t>−</a:t>
            </a:r>
            <a:r>
              <a:rPr sz="1940" spc="-15" dirty="0">
                <a:latin typeface="Cambria"/>
                <a:cs typeface="Cambria"/>
              </a:rPr>
              <a:t> </a:t>
            </a:r>
            <a:r>
              <a:rPr sz="1940" i="1" spc="-15" dirty="0">
                <a:latin typeface="Times New Roman"/>
                <a:cs typeface="Times New Roman"/>
              </a:rPr>
              <a:t>p</a:t>
            </a:r>
            <a:r>
              <a:rPr sz="2047" i="1" spc="-22" baseline="-19753" dirty="0">
                <a:latin typeface="Times New Roman"/>
                <a:cs typeface="Times New Roman"/>
              </a:rPr>
              <a:t>s</a:t>
            </a:r>
            <a:r>
              <a:rPr sz="1940" spc="-15" dirty="0">
                <a:latin typeface="Cambria"/>
                <a:cs typeface="Cambria"/>
              </a:rPr>
              <a:t>∥</a:t>
            </a:r>
            <a:r>
              <a:rPr sz="2047" spc="-22" baseline="29629" dirty="0">
                <a:latin typeface="Cambria"/>
                <a:cs typeface="Cambria"/>
              </a:rPr>
              <a:t>2</a:t>
            </a:r>
            <a:r>
              <a:rPr sz="1940" spc="-15" dirty="0">
                <a:latin typeface="Cambria"/>
                <a:cs typeface="Cambria"/>
              </a:rPr>
              <a:t>)</a:t>
            </a:r>
            <a:endParaRPr sz="1940">
              <a:latin typeface="Cambria"/>
              <a:cs typeface="Cambr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190702" y="4316146"/>
            <a:ext cx="167888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15" dirty="0">
                <a:latin typeface="Arial"/>
                <a:cs typeface="Arial"/>
              </a:rPr>
              <a:t>…</a:t>
            </a:r>
            <a:endParaRPr sz="1182">
              <a:latin typeface="Arial"/>
              <a:cs typeface="Arial"/>
            </a:endParaRPr>
          </a:p>
        </p:txBody>
      </p:sp>
      <p:sp>
        <p:nvSpPr>
          <p:cNvPr id="81" name="Date Placeholder 80">
            <a:extLst>
              <a:ext uri="{FF2B5EF4-FFF2-40B4-BE49-F238E27FC236}">
                <a16:creationId xmlns:a16="http://schemas.microsoft.com/office/drawing/2014/main" id="{B2FB6391-7311-AE2F-29E0-D66EC717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1A4B-A25F-4FD8-A588-39D088EB0068}" type="datetime1">
              <a:rPr lang="en-US" smtClean="0"/>
              <a:t>12/3/2025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26450B-69B7-2D9A-8D46-96DB8A241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computer vision tasks like image classification, </a:t>
            </a:r>
            <a:r>
              <a:rPr lang="en-US" dirty="0">
                <a:solidFill>
                  <a:srgbClr val="FF0000"/>
                </a:solidFill>
              </a:rPr>
              <a:t>the soft targets </a:t>
            </a:r>
            <a:r>
              <a:rPr lang="en-US" dirty="0"/>
              <a:t>comprise the </a:t>
            </a:r>
            <a:r>
              <a:rPr lang="en-US" dirty="0">
                <a:solidFill>
                  <a:srgbClr val="00B0F0"/>
                </a:solidFill>
              </a:rPr>
              <a:t>response-based knowledge</a:t>
            </a:r>
            <a:r>
              <a:rPr lang="en-US" dirty="0"/>
              <a:t>. </a:t>
            </a:r>
          </a:p>
          <a:p>
            <a:r>
              <a:rPr lang="en-US" dirty="0"/>
              <a:t>Soft targets represent the probability distribution over the output classes (</a:t>
            </a:r>
            <a:r>
              <a:rPr lang="en-US" dirty="0" err="1"/>
              <a:t>softmax</a:t>
            </a:r>
            <a:r>
              <a:rPr lang="en-US" dirty="0"/>
              <a:t> function). </a:t>
            </a:r>
          </a:p>
          <a:p>
            <a:r>
              <a:rPr lang="en-US" dirty="0"/>
              <a:t>Each soft target’s contribution to the knowledge is modulated using a parameter called </a:t>
            </a:r>
            <a:r>
              <a:rPr lang="en-US" b="1" dirty="0"/>
              <a:t>temperature</a:t>
            </a:r>
            <a:r>
              <a:rPr lang="en-US" dirty="0"/>
              <a:t>. </a:t>
            </a:r>
          </a:p>
          <a:p>
            <a:r>
              <a:rPr lang="en-US" dirty="0"/>
              <a:t>Response-based knowledge distillation based on soft targets is usually used in the context of </a:t>
            </a:r>
            <a:r>
              <a:rPr lang="en-US" dirty="0">
                <a:solidFill>
                  <a:srgbClr val="00B0F0"/>
                </a:solidFill>
              </a:rPr>
              <a:t>supervised learning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F5092-16E2-72C6-B55E-25FA8F38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1AA2-7F80-42B0-8CBA-C544F5C384AE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EE707-B439-6924-BF71-7CDF644B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C155B-E517-74FA-D091-A82F2BA0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CD9F27A-7A0C-4349-3AA9-96E22A94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Response-based knowledge</a:t>
            </a:r>
          </a:p>
        </p:txBody>
      </p:sp>
    </p:spTree>
    <p:extLst>
      <p:ext uri="{BB962C8B-B14F-4D97-AF65-F5344CB8AC3E}">
        <p14:creationId xmlns:p14="http://schemas.microsoft.com/office/powerpoint/2010/main" val="1394134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5F65D-D04A-11E9-6D91-E96FA03C2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trained teacher model captures the </a:t>
            </a:r>
            <a:r>
              <a:rPr lang="en-US" dirty="0">
                <a:solidFill>
                  <a:srgbClr val="FF0000"/>
                </a:solidFill>
              </a:rPr>
              <a:t>most important features of the data in its intermediate layers</a:t>
            </a:r>
          </a:p>
          <a:p>
            <a:r>
              <a:rPr lang="en-US" dirty="0"/>
              <a:t>The knowledge of these intermediate layers can be used to train a student model. </a:t>
            </a:r>
          </a:p>
          <a:p>
            <a:r>
              <a:rPr lang="en-US" dirty="0"/>
              <a:t>The goal is to train the student model to learn the same feature activations as the teacher model.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distillation loss function</a:t>
            </a:r>
            <a:r>
              <a:rPr lang="en-US" dirty="0"/>
              <a:t> achieves this by minimizing the difference between the feature activations of the teacher and the student models.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B3D93-7422-A10D-BEDF-691CA7956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4DAF2-6EF5-4C39-8EB7-2DC454EC395E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03A86-2A83-5BC8-39BC-032016A7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649BF-0FF1-007D-49A9-A2FB8150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39DD57-6DD4-262B-9224-93C260D1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Feature-based knowledge</a:t>
            </a:r>
          </a:p>
        </p:txBody>
      </p:sp>
    </p:spTree>
    <p:extLst>
      <p:ext uri="{BB962C8B-B14F-4D97-AF65-F5344CB8AC3E}">
        <p14:creationId xmlns:p14="http://schemas.microsoft.com/office/powerpoint/2010/main" val="1028662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558" y="192458"/>
            <a:ext cx="11009766" cy="995659"/>
          </a:xfrm>
          <a:prstGeom prst="rect">
            <a:avLst/>
          </a:prstGeom>
        </p:spPr>
        <p:txBody>
          <a:bodyPr vert="horz" wrap="square" lIns="0" tIns="72392" rIns="0" bIns="0" rtlCol="0" anchor="ctr">
            <a:spAutoFit/>
          </a:bodyPr>
          <a:lstStyle/>
          <a:p>
            <a:pPr marL="10012">
              <a:spcBef>
                <a:spcPts val="570"/>
              </a:spcBef>
            </a:pPr>
            <a:r>
              <a:rPr lang="en-US" dirty="0"/>
              <a:t>2. Feature-based knowledge</a:t>
            </a:r>
            <a:br>
              <a:rPr lang="en-US" dirty="0"/>
            </a:br>
            <a:r>
              <a:rPr sz="2395" spc="24" dirty="0">
                <a:solidFill>
                  <a:srgbClr val="000000"/>
                </a:solidFill>
              </a:rPr>
              <a:t>Matching</a:t>
            </a:r>
            <a:r>
              <a:rPr sz="2395" spc="-12" dirty="0">
                <a:solidFill>
                  <a:srgbClr val="000000"/>
                </a:solidFill>
              </a:rPr>
              <a:t> </a:t>
            </a:r>
            <a:r>
              <a:rPr sz="2395" spc="15" dirty="0">
                <a:solidFill>
                  <a:srgbClr val="000000"/>
                </a:solidFill>
              </a:rPr>
              <a:t>intermediate</a:t>
            </a:r>
            <a:r>
              <a:rPr sz="2395" spc="-12" dirty="0">
                <a:solidFill>
                  <a:srgbClr val="000000"/>
                </a:solidFill>
              </a:rPr>
              <a:t> </a:t>
            </a:r>
            <a:r>
              <a:rPr sz="2395" spc="6" dirty="0">
                <a:solidFill>
                  <a:srgbClr val="000000"/>
                </a:solidFill>
              </a:rPr>
              <a:t>weights</a:t>
            </a:r>
            <a:endParaRPr sz="2395" dirty="0"/>
          </a:p>
        </p:txBody>
      </p:sp>
      <p:sp>
        <p:nvSpPr>
          <p:cNvPr id="3" name="object 3"/>
          <p:cNvSpPr txBox="1"/>
          <p:nvPr/>
        </p:nvSpPr>
        <p:spPr>
          <a:xfrm>
            <a:off x="4127306" y="6260634"/>
            <a:ext cx="3786340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30" dirty="0">
                <a:solidFill>
                  <a:srgbClr val="5E5E5E"/>
                </a:solidFill>
                <a:latin typeface="Trebuchet MS"/>
                <a:cs typeface="Trebuchet MS"/>
              </a:rPr>
              <a:t>Knowledge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7" dirty="0">
                <a:solidFill>
                  <a:srgbClr val="5E5E5E"/>
                </a:solidFill>
                <a:latin typeface="Trebuchet MS"/>
                <a:cs typeface="Trebuchet MS"/>
              </a:rPr>
              <a:t>Distillation: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79" dirty="0">
                <a:solidFill>
                  <a:srgbClr val="5E5E5E"/>
                </a:solidFill>
                <a:latin typeface="Trebuchet MS"/>
                <a:cs typeface="Trebuchet MS"/>
              </a:rPr>
              <a:t>A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3" dirty="0">
                <a:solidFill>
                  <a:srgbClr val="5E5E5E"/>
                </a:solidFill>
                <a:latin typeface="Trebuchet MS"/>
                <a:cs typeface="Trebuchet MS"/>
              </a:rPr>
              <a:t>Survey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5" dirty="0">
                <a:solidFill>
                  <a:srgbClr val="5E5E5E"/>
                </a:solidFill>
                <a:latin typeface="Trebuchet MS"/>
                <a:cs typeface="Trebuchet MS"/>
              </a:rPr>
              <a:t>[Gou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i="1" spc="15" dirty="0">
                <a:solidFill>
                  <a:srgbClr val="5E5E5E"/>
                </a:solidFill>
                <a:latin typeface="Arial"/>
                <a:cs typeface="Arial"/>
              </a:rPr>
              <a:t>et</a:t>
            </a:r>
            <a:r>
              <a:rPr sz="1182" i="1" spc="6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82" i="1" spc="-33" dirty="0">
                <a:solidFill>
                  <a:srgbClr val="5E5E5E"/>
                </a:solidFill>
                <a:latin typeface="Arial"/>
                <a:cs typeface="Arial"/>
              </a:rPr>
              <a:t>al.</a:t>
            </a:r>
            <a:r>
              <a:rPr sz="1182" spc="-33" dirty="0">
                <a:solidFill>
                  <a:srgbClr val="5E5E5E"/>
                </a:solidFill>
                <a:latin typeface="Trebuchet MS"/>
                <a:cs typeface="Trebuchet MS"/>
              </a:rPr>
              <a:t>,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58" dirty="0">
                <a:solidFill>
                  <a:srgbClr val="5E5E5E"/>
                </a:solidFill>
                <a:latin typeface="Trebuchet MS"/>
                <a:cs typeface="Trebuchet MS"/>
              </a:rPr>
              <a:t>IJCV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2020]</a:t>
            </a:r>
            <a:endParaRPr sz="1182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6394" y="2400155"/>
            <a:ext cx="4843727" cy="2020434"/>
            <a:chOff x="2928699" y="3958033"/>
            <a:chExt cx="7987665" cy="3331845"/>
          </a:xfrm>
        </p:grpSpPr>
        <p:sp>
          <p:nvSpPr>
            <p:cNvPr id="5" name="object 5"/>
            <p:cNvSpPr/>
            <p:nvPr/>
          </p:nvSpPr>
          <p:spPr>
            <a:xfrm>
              <a:off x="4021816" y="4045989"/>
              <a:ext cx="1421765" cy="1078865"/>
            </a:xfrm>
            <a:custGeom>
              <a:avLst/>
              <a:gdLst/>
              <a:ahLst/>
              <a:cxnLst/>
              <a:rect l="l" t="t" r="r" b="b"/>
              <a:pathLst>
                <a:path w="1421764" h="1078864">
                  <a:moveTo>
                    <a:pt x="0" y="1078501"/>
                  </a:moveTo>
                  <a:lnTo>
                    <a:pt x="0" y="0"/>
                  </a:lnTo>
                  <a:lnTo>
                    <a:pt x="1400329" y="0"/>
                  </a:lnTo>
                  <a:lnTo>
                    <a:pt x="142127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6"/>
            <p:cNvSpPr/>
            <p:nvPr/>
          </p:nvSpPr>
          <p:spPr>
            <a:xfrm>
              <a:off x="5378168" y="395803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" name="object 7"/>
            <p:cNvSpPr/>
            <p:nvPr/>
          </p:nvSpPr>
          <p:spPr>
            <a:xfrm>
              <a:off x="4021816" y="6122834"/>
              <a:ext cx="1417955" cy="1078865"/>
            </a:xfrm>
            <a:custGeom>
              <a:avLst/>
              <a:gdLst/>
              <a:ahLst/>
              <a:cxnLst/>
              <a:rect l="l" t="t" r="r" b="b"/>
              <a:pathLst>
                <a:path w="1417954" h="1078865">
                  <a:moveTo>
                    <a:pt x="0" y="0"/>
                  </a:moveTo>
                  <a:lnTo>
                    <a:pt x="0" y="1078501"/>
                  </a:lnTo>
                  <a:lnTo>
                    <a:pt x="1396816" y="1078501"/>
                  </a:lnTo>
                  <a:lnTo>
                    <a:pt x="1417757" y="1078501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8"/>
            <p:cNvSpPr/>
            <p:nvPr/>
          </p:nvSpPr>
          <p:spPr>
            <a:xfrm>
              <a:off x="5374655" y="7113380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2949654" y="5105697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5" h="1047114">
                  <a:moveTo>
                    <a:pt x="1929534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4" y="45785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4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1929534" y="1047088"/>
                  </a:lnTo>
                  <a:lnTo>
                    <a:pt x="1977313" y="1046904"/>
                  </a:lnTo>
                  <a:lnTo>
                    <a:pt x="2015844" y="1045617"/>
                  </a:lnTo>
                  <a:lnTo>
                    <a:pt x="2070447" y="1035322"/>
                  </a:lnTo>
                  <a:lnTo>
                    <a:pt x="2123847" y="1001303"/>
                  </a:lnTo>
                  <a:lnTo>
                    <a:pt x="2157866" y="947904"/>
                  </a:lnTo>
                  <a:lnTo>
                    <a:pt x="2168161" y="893300"/>
                  </a:lnTo>
                  <a:lnTo>
                    <a:pt x="2169448" y="854769"/>
                  </a:lnTo>
                  <a:lnTo>
                    <a:pt x="2169632" y="806991"/>
                  </a:lnTo>
                  <a:lnTo>
                    <a:pt x="2169632" y="240097"/>
                  </a:lnTo>
                  <a:lnTo>
                    <a:pt x="2169448" y="192319"/>
                  </a:lnTo>
                  <a:lnTo>
                    <a:pt x="2168161" y="153788"/>
                  </a:lnTo>
                  <a:lnTo>
                    <a:pt x="2157866" y="99184"/>
                  </a:lnTo>
                  <a:lnTo>
                    <a:pt x="2123847" y="45785"/>
                  </a:lnTo>
                  <a:lnTo>
                    <a:pt x="2070447" y="11766"/>
                  </a:lnTo>
                  <a:lnTo>
                    <a:pt x="2015844" y="1470"/>
                  </a:lnTo>
                  <a:lnTo>
                    <a:pt x="1977313" y="183"/>
                  </a:lnTo>
                  <a:lnTo>
                    <a:pt x="1929534" y="0"/>
                  </a:lnTo>
                  <a:close/>
                </a:path>
              </a:pathLst>
            </a:custGeom>
            <a:solidFill>
              <a:srgbClr val="D6D6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0" name="object 10"/>
            <p:cNvSpPr/>
            <p:nvPr/>
          </p:nvSpPr>
          <p:spPr>
            <a:xfrm>
              <a:off x="2949654" y="5105697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5" h="1047114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34353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99804" y="4080780"/>
              <a:ext cx="605790" cy="0"/>
            </a:xfrm>
            <a:custGeom>
              <a:avLst/>
              <a:gdLst/>
              <a:ahLst/>
              <a:cxnLst/>
              <a:rect l="l" t="t" r="r" b="b"/>
              <a:pathLst>
                <a:path w="605790">
                  <a:moveTo>
                    <a:pt x="0" y="0"/>
                  </a:moveTo>
                  <a:lnTo>
                    <a:pt x="584434" y="0"/>
                  </a:lnTo>
                  <a:lnTo>
                    <a:pt x="60537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2" name="object 12"/>
            <p:cNvSpPr/>
            <p:nvPr/>
          </p:nvSpPr>
          <p:spPr>
            <a:xfrm>
              <a:off x="10740259" y="3992825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19218" y="3277582"/>
            <a:ext cx="455531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9" dirty="0">
                <a:latin typeface="Arial MT"/>
                <a:cs typeface="Arial MT"/>
              </a:rPr>
              <a:t>Input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72188" y="2053637"/>
            <a:ext cx="782066" cy="842136"/>
            <a:chOff x="5560282" y="3386599"/>
            <a:chExt cx="1289685" cy="1388745"/>
          </a:xfrm>
        </p:grpSpPr>
        <p:sp>
          <p:nvSpPr>
            <p:cNvPr id="15" name="object 15"/>
            <p:cNvSpPr/>
            <p:nvPr/>
          </p:nvSpPr>
          <p:spPr>
            <a:xfrm>
              <a:off x="5581237" y="3407554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938730" y="0"/>
                  </a:moveTo>
                  <a:lnTo>
                    <a:pt x="308740" y="0"/>
                  </a:lnTo>
                  <a:lnTo>
                    <a:pt x="247302" y="236"/>
                  </a:lnTo>
                  <a:lnTo>
                    <a:pt x="197756" y="1891"/>
                  </a:lnTo>
                  <a:lnTo>
                    <a:pt x="158401" y="6382"/>
                  </a:lnTo>
                  <a:lnTo>
                    <a:pt x="90610" y="33369"/>
                  </a:lnTo>
                  <a:lnTo>
                    <a:pt x="58874" y="58874"/>
                  </a:lnTo>
                  <a:lnTo>
                    <a:pt x="33369" y="90610"/>
                  </a:lnTo>
                  <a:lnTo>
                    <a:pt x="15129" y="127540"/>
                  </a:lnTo>
                  <a:lnTo>
                    <a:pt x="1891" y="197756"/>
                  </a:lnTo>
                  <a:lnTo>
                    <a:pt x="236" y="247302"/>
                  </a:lnTo>
                  <a:lnTo>
                    <a:pt x="0" y="308740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2" y="1188050"/>
                  </a:lnTo>
                  <a:lnTo>
                    <a:pt x="33369" y="1255841"/>
                  </a:lnTo>
                  <a:lnTo>
                    <a:pt x="58874" y="1287577"/>
                  </a:lnTo>
                  <a:lnTo>
                    <a:pt x="90610" y="1313083"/>
                  </a:lnTo>
                  <a:lnTo>
                    <a:pt x="127540" y="1331322"/>
                  </a:lnTo>
                  <a:lnTo>
                    <a:pt x="197756" y="1344561"/>
                  </a:lnTo>
                  <a:lnTo>
                    <a:pt x="247302" y="1346215"/>
                  </a:lnTo>
                  <a:lnTo>
                    <a:pt x="308740" y="1346452"/>
                  </a:lnTo>
                  <a:lnTo>
                    <a:pt x="938730" y="1346452"/>
                  </a:lnTo>
                  <a:lnTo>
                    <a:pt x="1000168" y="1346215"/>
                  </a:lnTo>
                  <a:lnTo>
                    <a:pt x="1049715" y="1344561"/>
                  </a:lnTo>
                  <a:lnTo>
                    <a:pt x="1089069" y="1340069"/>
                  </a:lnTo>
                  <a:lnTo>
                    <a:pt x="1156860" y="1313083"/>
                  </a:lnTo>
                  <a:lnTo>
                    <a:pt x="1188596" y="1287577"/>
                  </a:lnTo>
                  <a:lnTo>
                    <a:pt x="1214102" y="1255841"/>
                  </a:lnTo>
                  <a:lnTo>
                    <a:pt x="1232341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0"/>
                  </a:lnTo>
                  <a:lnTo>
                    <a:pt x="1247235" y="247302"/>
                  </a:lnTo>
                  <a:lnTo>
                    <a:pt x="1245580" y="197756"/>
                  </a:lnTo>
                  <a:lnTo>
                    <a:pt x="1241088" y="158401"/>
                  </a:lnTo>
                  <a:lnTo>
                    <a:pt x="1214102" y="90610"/>
                  </a:lnTo>
                  <a:lnTo>
                    <a:pt x="1188596" y="58874"/>
                  </a:lnTo>
                  <a:lnTo>
                    <a:pt x="1156860" y="33369"/>
                  </a:lnTo>
                  <a:lnTo>
                    <a:pt x="1119930" y="15129"/>
                  </a:lnTo>
                  <a:lnTo>
                    <a:pt x="1049715" y="1891"/>
                  </a:lnTo>
                  <a:lnTo>
                    <a:pt x="1000168" y="236"/>
                  </a:lnTo>
                  <a:lnTo>
                    <a:pt x="938730" y="0"/>
                  </a:lnTo>
                  <a:close/>
                </a:path>
              </a:pathLst>
            </a:custGeom>
            <a:solidFill>
              <a:srgbClr val="7DB8E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6" name="object 16"/>
            <p:cNvSpPr/>
            <p:nvPr/>
          </p:nvSpPr>
          <p:spPr>
            <a:xfrm>
              <a:off x="5581237" y="3407554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16345" y="2216327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1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32091" y="2123497"/>
            <a:ext cx="1341180" cy="660386"/>
            <a:chOff x="10936103" y="3501804"/>
            <a:chExt cx="2211705" cy="1089025"/>
          </a:xfrm>
        </p:grpSpPr>
        <p:sp>
          <p:nvSpPr>
            <p:cNvPr id="19" name="object 19"/>
            <p:cNvSpPr/>
            <p:nvPr/>
          </p:nvSpPr>
          <p:spPr>
            <a:xfrm>
              <a:off x="10957058" y="3522759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4">
                  <a:moveTo>
                    <a:pt x="1929532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0" y="11765"/>
                  </a:lnTo>
                  <a:lnTo>
                    <a:pt x="45783" y="45784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3" y="1001303"/>
                  </a:lnTo>
                  <a:lnTo>
                    <a:pt x="99180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1929532" y="1047088"/>
                  </a:lnTo>
                  <a:lnTo>
                    <a:pt x="1977312" y="1046904"/>
                  </a:lnTo>
                  <a:lnTo>
                    <a:pt x="2015843" y="1045617"/>
                  </a:lnTo>
                  <a:lnTo>
                    <a:pt x="2070450" y="1035322"/>
                  </a:lnTo>
                  <a:lnTo>
                    <a:pt x="2123846" y="1001303"/>
                  </a:lnTo>
                  <a:lnTo>
                    <a:pt x="2157860" y="947904"/>
                  </a:lnTo>
                  <a:lnTo>
                    <a:pt x="2168159" y="893300"/>
                  </a:lnTo>
                  <a:lnTo>
                    <a:pt x="2169446" y="854769"/>
                  </a:lnTo>
                  <a:lnTo>
                    <a:pt x="2169630" y="806991"/>
                  </a:lnTo>
                  <a:lnTo>
                    <a:pt x="2169630" y="240097"/>
                  </a:lnTo>
                  <a:lnTo>
                    <a:pt x="2169446" y="192319"/>
                  </a:lnTo>
                  <a:lnTo>
                    <a:pt x="2168159" y="153788"/>
                  </a:lnTo>
                  <a:lnTo>
                    <a:pt x="2157860" y="99184"/>
                  </a:lnTo>
                  <a:lnTo>
                    <a:pt x="2123846" y="45784"/>
                  </a:lnTo>
                  <a:lnTo>
                    <a:pt x="2070450" y="11765"/>
                  </a:lnTo>
                  <a:lnTo>
                    <a:pt x="2015843" y="1470"/>
                  </a:lnTo>
                  <a:lnTo>
                    <a:pt x="1977312" y="183"/>
                  </a:lnTo>
                  <a:lnTo>
                    <a:pt x="1929532" y="0"/>
                  </a:lnTo>
                  <a:close/>
                </a:path>
              </a:pathLst>
            </a:custGeom>
            <a:solidFill>
              <a:srgbClr val="A4DAD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0" name="object 20"/>
            <p:cNvSpPr/>
            <p:nvPr/>
          </p:nvSpPr>
          <p:spPr>
            <a:xfrm>
              <a:off x="10957058" y="3522759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4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00AEBB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029702" y="2317687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397762" y="5145594"/>
            <a:ext cx="1809803" cy="660386"/>
            <a:chOff x="10549678" y="8485465"/>
            <a:chExt cx="2984500" cy="1089025"/>
          </a:xfrm>
        </p:grpSpPr>
        <p:sp>
          <p:nvSpPr>
            <p:cNvPr id="23" name="object 23"/>
            <p:cNvSpPr/>
            <p:nvPr/>
          </p:nvSpPr>
          <p:spPr>
            <a:xfrm>
              <a:off x="10570620" y="8506406"/>
              <a:ext cx="2942590" cy="1047115"/>
            </a:xfrm>
            <a:custGeom>
              <a:avLst/>
              <a:gdLst/>
              <a:ahLst/>
              <a:cxnLst/>
              <a:rect l="l" t="t" r="r" b="b"/>
              <a:pathLst>
                <a:path w="2942590" h="1047115">
                  <a:moveTo>
                    <a:pt x="2702409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123181" y="4963"/>
                  </a:lnTo>
                  <a:lnTo>
                    <a:pt x="99180" y="11766"/>
                  </a:lnTo>
                  <a:lnTo>
                    <a:pt x="45782" y="45785"/>
                  </a:lnTo>
                  <a:lnTo>
                    <a:pt x="11758" y="99184"/>
                  </a:lnTo>
                  <a:lnTo>
                    <a:pt x="1469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69" y="893300"/>
                  </a:lnTo>
                  <a:lnTo>
                    <a:pt x="11758" y="947904"/>
                  </a:lnTo>
                  <a:lnTo>
                    <a:pt x="45782" y="1001303"/>
                  </a:lnTo>
                  <a:lnTo>
                    <a:pt x="99180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2702409" y="1047088"/>
                  </a:lnTo>
                  <a:lnTo>
                    <a:pt x="2750189" y="1046904"/>
                  </a:lnTo>
                  <a:lnTo>
                    <a:pt x="2788720" y="1045617"/>
                  </a:lnTo>
                  <a:lnTo>
                    <a:pt x="2843327" y="1035322"/>
                  </a:lnTo>
                  <a:lnTo>
                    <a:pt x="2896723" y="1001303"/>
                  </a:lnTo>
                  <a:lnTo>
                    <a:pt x="2930737" y="947904"/>
                  </a:lnTo>
                  <a:lnTo>
                    <a:pt x="2941036" y="893300"/>
                  </a:lnTo>
                  <a:lnTo>
                    <a:pt x="2942323" y="854769"/>
                  </a:lnTo>
                  <a:lnTo>
                    <a:pt x="2942507" y="806991"/>
                  </a:lnTo>
                  <a:lnTo>
                    <a:pt x="2942507" y="240097"/>
                  </a:lnTo>
                  <a:lnTo>
                    <a:pt x="2942323" y="192319"/>
                  </a:lnTo>
                  <a:lnTo>
                    <a:pt x="2941036" y="153788"/>
                  </a:lnTo>
                  <a:lnTo>
                    <a:pt x="2930737" y="99184"/>
                  </a:lnTo>
                  <a:lnTo>
                    <a:pt x="2896723" y="45785"/>
                  </a:lnTo>
                  <a:lnTo>
                    <a:pt x="2843327" y="11766"/>
                  </a:lnTo>
                  <a:lnTo>
                    <a:pt x="2788720" y="1470"/>
                  </a:lnTo>
                  <a:lnTo>
                    <a:pt x="2750189" y="183"/>
                  </a:lnTo>
                  <a:lnTo>
                    <a:pt x="2702409" y="0"/>
                  </a:lnTo>
                  <a:close/>
                </a:path>
              </a:pathLst>
            </a:custGeom>
            <a:solidFill>
              <a:srgbClr val="FEF1D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70620" y="8506406"/>
              <a:ext cx="2942590" cy="1047115"/>
            </a:xfrm>
            <a:custGeom>
              <a:avLst/>
              <a:gdLst/>
              <a:ahLst/>
              <a:cxnLst/>
              <a:rect l="l" t="t" r="r" b="b"/>
              <a:pathLst>
                <a:path w="2942590" h="1047115">
                  <a:moveTo>
                    <a:pt x="240097" y="0"/>
                  </a:moveTo>
                  <a:lnTo>
                    <a:pt x="2702414" y="0"/>
                  </a:lnTo>
                  <a:lnTo>
                    <a:pt x="2750192" y="183"/>
                  </a:lnTo>
                  <a:lnTo>
                    <a:pt x="2788723" y="1470"/>
                  </a:lnTo>
                  <a:lnTo>
                    <a:pt x="2843327" y="11765"/>
                  </a:lnTo>
                  <a:lnTo>
                    <a:pt x="2896726" y="45785"/>
                  </a:lnTo>
                  <a:lnTo>
                    <a:pt x="2930745" y="99184"/>
                  </a:lnTo>
                  <a:lnTo>
                    <a:pt x="2941040" y="153788"/>
                  </a:lnTo>
                  <a:lnTo>
                    <a:pt x="2942327" y="192318"/>
                  </a:lnTo>
                  <a:lnTo>
                    <a:pt x="2942511" y="240097"/>
                  </a:lnTo>
                  <a:lnTo>
                    <a:pt x="2942511" y="806991"/>
                  </a:lnTo>
                  <a:lnTo>
                    <a:pt x="2942327" y="854769"/>
                  </a:lnTo>
                  <a:lnTo>
                    <a:pt x="2941040" y="893300"/>
                  </a:lnTo>
                  <a:lnTo>
                    <a:pt x="2930745" y="947904"/>
                  </a:lnTo>
                  <a:lnTo>
                    <a:pt x="2896726" y="1001303"/>
                  </a:lnTo>
                  <a:lnTo>
                    <a:pt x="2843327" y="1035322"/>
                  </a:lnTo>
                  <a:lnTo>
                    <a:pt x="2788723" y="1045617"/>
                  </a:lnTo>
                  <a:lnTo>
                    <a:pt x="2750192" y="1046904"/>
                  </a:lnTo>
                  <a:lnTo>
                    <a:pt x="270241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F8B62D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24930" y="5217894"/>
            <a:ext cx="1155579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368891" marR="3081" indent="-361575">
              <a:lnSpc>
                <a:spcPct val="103099"/>
              </a:lnSpc>
              <a:spcBef>
                <a:spcPts val="24"/>
              </a:spcBef>
            </a:pPr>
            <a:r>
              <a:rPr sz="1577" spc="-36" dirty="0">
                <a:latin typeface="Arial MT"/>
                <a:cs typeface="Arial MT"/>
              </a:rPr>
              <a:t>Classi</a:t>
            </a:r>
            <a:r>
              <a:rPr sz="1577" spc="-39" dirty="0">
                <a:latin typeface="Arial MT"/>
                <a:cs typeface="Arial MT"/>
              </a:rPr>
              <a:t>fi</a:t>
            </a:r>
            <a:r>
              <a:rPr sz="1577" spc="-6" dirty="0">
                <a:latin typeface="Arial MT"/>
                <a:cs typeface="Arial MT"/>
              </a:rPr>
              <a:t>cation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86210" y="2053194"/>
            <a:ext cx="2970003" cy="3054717"/>
            <a:chOff x="7232479" y="3385868"/>
            <a:chExt cx="4897755" cy="5037455"/>
          </a:xfrm>
        </p:grpSpPr>
        <p:sp>
          <p:nvSpPr>
            <p:cNvPr id="27" name="object 27"/>
            <p:cNvSpPr/>
            <p:nvPr/>
          </p:nvSpPr>
          <p:spPr>
            <a:xfrm>
              <a:off x="7253434" y="340682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938731" y="0"/>
                  </a:moveTo>
                  <a:lnTo>
                    <a:pt x="308741" y="0"/>
                  </a:lnTo>
                  <a:lnTo>
                    <a:pt x="247303" y="236"/>
                  </a:lnTo>
                  <a:lnTo>
                    <a:pt x="197756" y="1891"/>
                  </a:lnTo>
                  <a:lnTo>
                    <a:pt x="158402" y="6382"/>
                  </a:lnTo>
                  <a:lnTo>
                    <a:pt x="90611" y="33369"/>
                  </a:lnTo>
                  <a:lnTo>
                    <a:pt x="58875" y="58874"/>
                  </a:lnTo>
                  <a:lnTo>
                    <a:pt x="33369" y="90611"/>
                  </a:lnTo>
                  <a:lnTo>
                    <a:pt x="15130" y="127541"/>
                  </a:lnTo>
                  <a:lnTo>
                    <a:pt x="1891" y="197756"/>
                  </a:lnTo>
                  <a:lnTo>
                    <a:pt x="236" y="247303"/>
                  </a:lnTo>
                  <a:lnTo>
                    <a:pt x="0" y="308741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3" y="1188050"/>
                  </a:lnTo>
                  <a:lnTo>
                    <a:pt x="33369" y="1255841"/>
                  </a:lnTo>
                  <a:lnTo>
                    <a:pt x="58875" y="1287577"/>
                  </a:lnTo>
                  <a:lnTo>
                    <a:pt x="90611" y="1313083"/>
                  </a:lnTo>
                  <a:lnTo>
                    <a:pt x="127541" y="1331322"/>
                  </a:lnTo>
                  <a:lnTo>
                    <a:pt x="197756" y="1344561"/>
                  </a:lnTo>
                  <a:lnTo>
                    <a:pt x="247303" y="1346215"/>
                  </a:lnTo>
                  <a:lnTo>
                    <a:pt x="308741" y="1346452"/>
                  </a:lnTo>
                  <a:lnTo>
                    <a:pt x="938731" y="1346452"/>
                  </a:lnTo>
                  <a:lnTo>
                    <a:pt x="1000169" y="1346215"/>
                  </a:lnTo>
                  <a:lnTo>
                    <a:pt x="1049715" y="1344561"/>
                  </a:lnTo>
                  <a:lnTo>
                    <a:pt x="1089070" y="1340069"/>
                  </a:lnTo>
                  <a:lnTo>
                    <a:pt x="1156861" y="1313083"/>
                  </a:lnTo>
                  <a:lnTo>
                    <a:pt x="1188597" y="1287577"/>
                  </a:lnTo>
                  <a:lnTo>
                    <a:pt x="1214102" y="1255841"/>
                  </a:lnTo>
                  <a:lnTo>
                    <a:pt x="1232342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1"/>
                  </a:lnTo>
                  <a:lnTo>
                    <a:pt x="1247235" y="247303"/>
                  </a:lnTo>
                  <a:lnTo>
                    <a:pt x="1245580" y="197756"/>
                  </a:lnTo>
                  <a:lnTo>
                    <a:pt x="1241089" y="158402"/>
                  </a:lnTo>
                  <a:lnTo>
                    <a:pt x="1214102" y="90611"/>
                  </a:lnTo>
                  <a:lnTo>
                    <a:pt x="1188597" y="58874"/>
                  </a:lnTo>
                  <a:lnTo>
                    <a:pt x="1156861" y="33369"/>
                  </a:lnTo>
                  <a:lnTo>
                    <a:pt x="1119931" y="15129"/>
                  </a:lnTo>
                  <a:lnTo>
                    <a:pt x="1049715" y="1891"/>
                  </a:lnTo>
                  <a:lnTo>
                    <a:pt x="1000169" y="236"/>
                  </a:lnTo>
                  <a:lnTo>
                    <a:pt x="938731" y="0"/>
                  </a:lnTo>
                  <a:close/>
                </a:path>
              </a:pathLst>
            </a:custGeom>
            <a:solidFill>
              <a:srgbClr val="7DB8E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8" name="object 28"/>
            <p:cNvSpPr/>
            <p:nvPr/>
          </p:nvSpPr>
          <p:spPr>
            <a:xfrm>
              <a:off x="7253434" y="340682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041873" y="7652287"/>
              <a:ext cx="0" cy="659765"/>
            </a:xfrm>
            <a:custGeom>
              <a:avLst/>
              <a:gdLst/>
              <a:ahLst/>
              <a:cxnLst/>
              <a:rect l="l" t="t" r="r" b="b"/>
              <a:pathLst>
                <a:path h="659765">
                  <a:moveTo>
                    <a:pt x="0" y="0"/>
                  </a:moveTo>
                  <a:lnTo>
                    <a:pt x="0" y="659714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3918" y="8247083"/>
              <a:ext cx="175910" cy="17591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530367" y="2215884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2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00233" y="2053194"/>
            <a:ext cx="782066" cy="842136"/>
            <a:chOff x="8904678" y="3385868"/>
            <a:chExt cx="1289685" cy="1388745"/>
          </a:xfrm>
        </p:grpSpPr>
        <p:sp>
          <p:nvSpPr>
            <p:cNvPr id="33" name="object 33"/>
            <p:cNvSpPr/>
            <p:nvPr/>
          </p:nvSpPr>
          <p:spPr>
            <a:xfrm>
              <a:off x="8925633" y="340682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938730" y="0"/>
                  </a:moveTo>
                  <a:lnTo>
                    <a:pt x="308741" y="0"/>
                  </a:lnTo>
                  <a:lnTo>
                    <a:pt x="247303" y="236"/>
                  </a:lnTo>
                  <a:lnTo>
                    <a:pt x="197756" y="1891"/>
                  </a:lnTo>
                  <a:lnTo>
                    <a:pt x="158402" y="6382"/>
                  </a:lnTo>
                  <a:lnTo>
                    <a:pt x="90611" y="33369"/>
                  </a:lnTo>
                  <a:lnTo>
                    <a:pt x="58874" y="58874"/>
                  </a:lnTo>
                  <a:lnTo>
                    <a:pt x="33369" y="90611"/>
                  </a:lnTo>
                  <a:lnTo>
                    <a:pt x="15129" y="127541"/>
                  </a:lnTo>
                  <a:lnTo>
                    <a:pt x="1891" y="197756"/>
                  </a:lnTo>
                  <a:lnTo>
                    <a:pt x="236" y="247303"/>
                  </a:lnTo>
                  <a:lnTo>
                    <a:pt x="0" y="308741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2" y="1188050"/>
                  </a:lnTo>
                  <a:lnTo>
                    <a:pt x="33369" y="1255841"/>
                  </a:lnTo>
                  <a:lnTo>
                    <a:pt x="58874" y="1287577"/>
                  </a:lnTo>
                  <a:lnTo>
                    <a:pt x="90611" y="1313083"/>
                  </a:lnTo>
                  <a:lnTo>
                    <a:pt x="127541" y="1331322"/>
                  </a:lnTo>
                  <a:lnTo>
                    <a:pt x="197756" y="1344561"/>
                  </a:lnTo>
                  <a:lnTo>
                    <a:pt x="247303" y="1346215"/>
                  </a:lnTo>
                  <a:lnTo>
                    <a:pt x="308741" y="1346452"/>
                  </a:lnTo>
                  <a:lnTo>
                    <a:pt x="938730" y="1346452"/>
                  </a:lnTo>
                  <a:lnTo>
                    <a:pt x="1000168" y="1346215"/>
                  </a:lnTo>
                  <a:lnTo>
                    <a:pt x="1049715" y="1344561"/>
                  </a:lnTo>
                  <a:lnTo>
                    <a:pt x="1089069" y="1340069"/>
                  </a:lnTo>
                  <a:lnTo>
                    <a:pt x="1156860" y="1313083"/>
                  </a:lnTo>
                  <a:lnTo>
                    <a:pt x="1188597" y="1287577"/>
                  </a:lnTo>
                  <a:lnTo>
                    <a:pt x="1214102" y="1255841"/>
                  </a:lnTo>
                  <a:lnTo>
                    <a:pt x="1232342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1"/>
                  </a:lnTo>
                  <a:lnTo>
                    <a:pt x="1247235" y="247303"/>
                  </a:lnTo>
                  <a:lnTo>
                    <a:pt x="1245580" y="197756"/>
                  </a:lnTo>
                  <a:lnTo>
                    <a:pt x="1241089" y="158402"/>
                  </a:lnTo>
                  <a:lnTo>
                    <a:pt x="1214102" y="90611"/>
                  </a:lnTo>
                  <a:lnTo>
                    <a:pt x="1188597" y="58874"/>
                  </a:lnTo>
                  <a:lnTo>
                    <a:pt x="1156860" y="33369"/>
                  </a:lnTo>
                  <a:lnTo>
                    <a:pt x="1119930" y="15129"/>
                  </a:lnTo>
                  <a:lnTo>
                    <a:pt x="1049715" y="1891"/>
                  </a:lnTo>
                  <a:lnTo>
                    <a:pt x="1000168" y="236"/>
                  </a:lnTo>
                  <a:lnTo>
                    <a:pt x="938730" y="0"/>
                  </a:lnTo>
                  <a:close/>
                </a:path>
              </a:pathLst>
            </a:custGeom>
            <a:solidFill>
              <a:srgbClr val="7DB8E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34"/>
            <p:cNvSpPr/>
            <p:nvPr/>
          </p:nvSpPr>
          <p:spPr>
            <a:xfrm>
              <a:off x="8925633" y="340682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5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544390" y="2215884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75204" marR="3081" indent="-167888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-15" dirty="0">
                <a:latin typeface="Arial MT"/>
                <a:cs typeface="Arial MT"/>
              </a:rPr>
              <a:t>N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41326" y="2400346"/>
            <a:ext cx="1264167" cy="110514"/>
            <a:chOff x="6828648" y="3958348"/>
            <a:chExt cx="2084705" cy="182245"/>
          </a:xfrm>
        </p:grpSpPr>
        <p:sp>
          <p:nvSpPr>
            <p:cNvPr id="37" name="object 37"/>
            <p:cNvSpPr/>
            <p:nvPr/>
          </p:nvSpPr>
          <p:spPr>
            <a:xfrm>
              <a:off x="6849603" y="4046304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90">
                  <a:moveTo>
                    <a:pt x="0" y="0"/>
                  </a:moveTo>
                  <a:lnTo>
                    <a:pt x="241751" y="0"/>
                  </a:lnTo>
                  <a:lnTo>
                    <a:pt x="26269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38"/>
            <p:cNvSpPr/>
            <p:nvPr/>
          </p:nvSpPr>
          <p:spPr>
            <a:xfrm>
              <a:off x="7047377" y="395834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9" name="object 39"/>
            <p:cNvSpPr/>
            <p:nvPr/>
          </p:nvSpPr>
          <p:spPr>
            <a:xfrm>
              <a:off x="8539295" y="4052323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90">
                  <a:moveTo>
                    <a:pt x="0" y="0"/>
                  </a:moveTo>
                  <a:lnTo>
                    <a:pt x="241751" y="0"/>
                  </a:lnTo>
                  <a:lnTo>
                    <a:pt x="26269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40"/>
            <p:cNvSpPr/>
            <p:nvPr/>
          </p:nvSpPr>
          <p:spPr>
            <a:xfrm>
              <a:off x="8737069" y="396436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194246" y="2192707"/>
            <a:ext cx="167888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15" dirty="0">
                <a:latin typeface="Arial"/>
                <a:cs typeface="Arial"/>
              </a:rPr>
              <a:t>…</a:t>
            </a:r>
            <a:endParaRPr sz="1182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372188" y="3957481"/>
            <a:ext cx="782066" cy="842136"/>
            <a:chOff x="5560282" y="6526178"/>
            <a:chExt cx="1289685" cy="1388745"/>
          </a:xfrm>
        </p:grpSpPr>
        <p:sp>
          <p:nvSpPr>
            <p:cNvPr id="43" name="object 43"/>
            <p:cNvSpPr/>
            <p:nvPr/>
          </p:nvSpPr>
          <p:spPr>
            <a:xfrm>
              <a:off x="5581237" y="654713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938730" y="0"/>
                  </a:moveTo>
                  <a:lnTo>
                    <a:pt x="308740" y="0"/>
                  </a:lnTo>
                  <a:lnTo>
                    <a:pt x="247302" y="236"/>
                  </a:lnTo>
                  <a:lnTo>
                    <a:pt x="197756" y="1891"/>
                  </a:lnTo>
                  <a:lnTo>
                    <a:pt x="158401" y="6382"/>
                  </a:lnTo>
                  <a:lnTo>
                    <a:pt x="127540" y="15129"/>
                  </a:lnTo>
                  <a:lnTo>
                    <a:pt x="90610" y="33369"/>
                  </a:lnTo>
                  <a:lnTo>
                    <a:pt x="58874" y="58874"/>
                  </a:lnTo>
                  <a:lnTo>
                    <a:pt x="33369" y="90610"/>
                  </a:lnTo>
                  <a:lnTo>
                    <a:pt x="15129" y="127540"/>
                  </a:lnTo>
                  <a:lnTo>
                    <a:pt x="1891" y="197756"/>
                  </a:lnTo>
                  <a:lnTo>
                    <a:pt x="236" y="247302"/>
                  </a:lnTo>
                  <a:lnTo>
                    <a:pt x="0" y="308740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2" y="1188050"/>
                  </a:lnTo>
                  <a:lnTo>
                    <a:pt x="33369" y="1255841"/>
                  </a:lnTo>
                  <a:lnTo>
                    <a:pt x="58874" y="1287577"/>
                  </a:lnTo>
                  <a:lnTo>
                    <a:pt x="90610" y="1313083"/>
                  </a:lnTo>
                  <a:lnTo>
                    <a:pt x="127540" y="1331322"/>
                  </a:lnTo>
                  <a:lnTo>
                    <a:pt x="197756" y="1344561"/>
                  </a:lnTo>
                  <a:lnTo>
                    <a:pt x="247302" y="1346215"/>
                  </a:lnTo>
                  <a:lnTo>
                    <a:pt x="308740" y="1346452"/>
                  </a:lnTo>
                  <a:lnTo>
                    <a:pt x="938730" y="1346452"/>
                  </a:lnTo>
                  <a:lnTo>
                    <a:pt x="1000168" y="1346215"/>
                  </a:lnTo>
                  <a:lnTo>
                    <a:pt x="1049715" y="1344561"/>
                  </a:lnTo>
                  <a:lnTo>
                    <a:pt x="1089069" y="1340069"/>
                  </a:lnTo>
                  <a:lnTo>
                    <a:pt x="1156860" y="1313083"/>
                  </a:lnTo>
                  <a:lnTo>
                    <a:pt x="1188596" y="1287577"/>
                  </a:lnTo>
                  <a:lnTo>
                    <a:pt x="1214102" y="1255841"/>
                  </a:lnTo>
                  <a:lnTo>
                    <a:pt x="1232341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0"/>
                  </a:lnTo>
                  <a:lnTo>
                    <a:pt x="1247235" y="247302"/>
                  </a:lnTo>
                  <a:lnTo>
                    <a:pt x="1245580" y="197756"/>
                  </a:lnTo>
                  <a:lnTo>
                    <a:pt x="1241088" y="158401"/>
                  </a:lnTo>
                  <a:lnTo>
                    <a:pt x="1214102" y="90610"/>
                  </a:lnTo>
                  <a:lnTo>
                    <a:pt x="1188596" y="58874"/>
                  </a:lnTo>
                  <a:lnTo>
                    <a:pt x="1156860" y="33369"/>
                  </a:lnTo>
                  <a:lnTo>
                    <a:pt x="1119930" y="15129"/>
                  </a:lnTo>
                  <a:lnTo>
                    <a:pt x="1049715" y="1891"/>
                  </a:lnTo>
                  <a:lnTo>
                    <a:pt x="1000168" y="236"/>
                  </a:lnTo>
                  <a:lnTo>
                    <a:pt x="938730" y="0"/>
                  </a:lnTo>
                  <a:close/>
                </a:path>
              </a:pathLst>
            </a:custGeom>
            <a:solidFill>
              <a:srgbClr val="D4E6F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4" name="object 44"/>
            <p:cNvSpPr/>
            <p:nvPr/>
          </p:nvSpPr>
          <p:spPr>
            <a:xfrm>
              <a:off x="5581237" y="6547133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516345" y="4120170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1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386210" y="3957037"/>
            <a:ext cx="782066" cy="842136"/>
            <a:chOff x="7232479" y="6525447"/>
            <a:chExt cx="1289685" cy="1388745"/>
          </a:xfrm>
        </p:grpSpPr>
        <p:sp>
          <p:nvSpPr>
            <p:cNvPr id="47" name="object 47"/>
            <p:cNvSpPr/>
            <p:nvPr/>
          </p:nvSpPr>
          <p:spPr>
            <a:xfrm>
              <a:off x="7253434" y="6546402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938731" y="0"/>
                  </a:moveTo>
                  <a:lnTo>
                    <a:pt x="308741" y="0"/>
                  </a:lnTo>
                  <a:lnTo>
                    <a:pt x="247303" y="236"/>
                  </a:lnTo>
                  <a:lnTo>
                    <a:pt x="197756" y="1891"/>
                  </a:lnTo>
                  <a:lnTo>
                    <a:pt x="158402" y="6382"/>
                  </a:lnTo>
                  <a:lnTo>
                    <a:pt x="90611" y="33369"/>
                  </a:lnTo>
                  <a:lnTo>
                    <a:pt x="58875" y="58874"/>
                  </a:lnTo>
                  <a:lnTo>
                    <a:pt x="33369" y="90611"/>
                  </a:lnTo>
                  <a:lnTo>
                    <a:pt x="15130" y="127541"/>
                  </a:lnTo>
                  <a:lnTo>
                    <a:pt x="1891" y="197756"/>
                  </a:lnTo>
                  <a:lnTo>
                    <a:pt x="236" y="247303"/>
                  </a:lnTo>
                  <a:lnTo>
                    <a:pt x="0" y="308741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3" y="1188050"/>
                  </a:lnTo>
                  <a:lnTo>
                    <a:pt x="33369" y="1255841"/>
                  </a:lnTo>
                  <a:lnTo>
                    <a:pt x="58875" y="1287577"/>
                  </a:lnTo>
                  <a:lnTo>
                    <a:pt x="90611" y="1313083"/>
                  </a:lnTo>
                  <a:lnTo>
                    <a:pt x="127541" y="1331322"/>
                  </a:lnTo>
                  <a:lnTo>
                    <a:pt x="197756" y="1344561"/>
                  </a:lnTo>
                  <a:lnTo>
                    <a:pt x="247303" y="1346215"/>
                  </a:lnTo>
                  <a:lnTo>
                    <a:pt x="308741" y="1346452"/>
                  </a:lnTo>
                  <a:lnTo>
                    <a:pt x="938731" y="1346452"/>
                  </a:lnTo>
                  <a:lnTo>
                    <a:pt x="1000169" y="1346215"/>
                  </a:lnTo>
                  <a:lnTo>
                    <a:pt x="1049715" y="1344561"/>
                  </a:lnTo>
                  <a:lnTo>
                    <a:pt x="1089070" y="1340069"/>
                  </a:lnTo>
                  <a:lnTo>
                    <a:pt x="1156861" y="1313083"/>
                  </a:lnTo>
                  <a:lnTo>
                    <a:pt x="1188597" y="1287577"/>
                  </a:lnTo>
                  <a:lnTo>
                    <a:pt x="1214102" y="1255841"/>
                  </a:lnTo>
                  <a:lnTo>
                    <a:pt x="1232342" y="1218910"/>
                  </a:lnTo>
                  <a:lnTo>
                    <a:pt x="1245580" y="1148695"/>
                  </a:lnTo>
                  <a:lnTo>
                    <a:pt x="1247235" y="1099149"/>
                  </a:lnTo>
                  <a:lnTo>
                    <a:pt x="1247471" y="1037710"/>
                  </a:lnTo>
                  <a:lnTo>
                    <a:pt x="1247471" y="308741"/>
                  </a:lnTo>
                  <a:lnTo>
                    <a:pt x="1247235" y="247303"/>
                  </a:lnTo>
                  <a:lnTo>
                    <a:pt x="1245580" y="197756"/>
                  </a:lnTo>
                  <a:lnTo>
                    <a:pt x="1241089" y="158402"/>
                  </a:lnTo>
                  <a:lnTo>
                    <a:pt x="1214102" y="90611"/>
                  </a:lnTo>
                  <a:lnTo>
                    <a:pt x="1188597" y="58874"/>
                  </a:lnTo>
                  <a:lnTo>
                    <a:pt x="1156861" y="33369"/>
                  </a:lnTo>
                  <a:lnTo>
                    <a:pt x="1119931" y="15129"/>
                  </a:lnTo>
                  <a:lnTo>
                    <a:pt x="1049715" y="1891"/>
                  </a:lnTo>
                  <a:lnTo>
                    <a:pt x="1000169" y="236"/>
                  </a:lnTo>
                  <a:lnTo>
                    <a:pt x="938731" y="0"/>
                  </a:lnTo>
                  <a:close/>
                </a:path>
              </a:pathLst>
            </a:custGeom>
            <a:solidFill>
              <a:srgbClr val="D4E6F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8" name="object 48"/>
            <p:cNvSpPr/>
            <p:nvPr/>
          </p:nvSpPr>
          <p:spPr>
            <a:xfrm>
              <a:off x="7253434" y="6546402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530367" y="4119728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2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400232" y="3957037"/>
            <a:ext cx="782066" cy="842136"/>
            <a:chOff x="8904676" y="6525447"/>
            <a:chExt cx="1289685" cy="1388745"/>
          </a:xfrm>
        </p:grpSpPr>
        <p:sp>
          <p:nvSpPr>
            <p:cNvPr id="51" name="object 51"/>
            <p:cNvSpPr/>
            <p:nvPr/>
          </p:nvSpPr>
          <p:spPr>
            <a:xfrm>
              <a:off x="8925631" y="6546402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938731" y="0"/>
                  </a:moveTo>
                  <a:lnTo>
                    <a:pt x="308741" y="0"/>
                  </a:lnTo>
                  <a:lnTo>
                    <a:pt x="247303" y="236"/>
                  </a:lnTo>
                  <a:lnTo>
                    <a:pt x="197756" y="1891"/>
                  </a:lnTo>
                  <a:lnTo>
                    <a:pt x="158402" y="6382"/>
                  </a:lnTo>
                  <a:lnTo>
                    <a:pt x="90611" y="33369"/>
                  </a:lnTo>
                  <a:lnTo>
                    <a:pt x="58875" y="58874"/>
                  </a:lnTo>
                  <a:lnTo>
                    <a:pt x="33369" y="90611"/>
                  </a:lnTo>
                  <a:lnTo>
                    <a:pt x="15130" y="127541"/>
                  </a:lnTo>
                  <a:lnTo>
                    <a:pt x="1891" y="197756"/>
                  </a:lnTo>
                  <a:lnTo>
                    <a:pt x="236" y="247303"/>
                  </a:lnTo>
                  <a:lnTo>
                    <a:pt x="0" y="308741"/>
                  </a:lnTo>
                  <a:lnTo>
                    <a:pt x="0" y="1037710"/>
                  </a:lnTo>
                  <a:lnTo>
                    <a:pt x="236" y="1099149"/>
                  </a:lnTo>
                  <a:lnTo>
                    <a:pt x="1891" y="1148695"/>
                  </a:lnTo>
                  <a:lnTo>
                    <a:pt x="6383" y="1188050"/>
                  </a:lnTo>
                  <a:lnTo>
                    <a:pt x="33369" y="1255841"/>
                  </a:lnTo>
                  <a:lnTo>
                    <a:pt x="58875" y="1287577"/>
                  </a:lnTo>
                  <a:lnTo>
                    <a:pt x="90611" y="1313083"/>
                  </a:lnTo>
                  <a:lnTo>
                    <a:pt x="127541" y="1331322"/>
                  </a:lnTo>
                  <a:lnTo>
                    <a:pt x="197756" y="1344561"/>
                  </a:lnTo>
                  <a:lnTo>
                    <a:pt x="247303" y="1346215"/>
                  </a:lnTo>
                  <a:lnTo>
                    <a:pt x="308741" y="1346452"/>
                  </a:lnTo>
                  <a:lnTo>
                    <a:pt x="938731" y="1346452"/>
                  </a:lnTo>
                  <a:lnTo>
                    <a:pt x="1000169" y="1346215"/>
                  </a:lnTo>
                  <a:lnTo>
                    <a:pt x="1049716" y="1344561"/>
                  </a:lnTo>
                  <a:lnTo>
                    <a:pt x="1089070" y="1340069"/>
                  </a:lnTo>
                  <a:lnTo>
                    <a:pt x="1156861" y="1313083"/>
                  </a:lnTo>
                  <a:lnTo>
                    <a:pt x="1188597" y="1287577"/>
                  </a:lnTo>
                  <a:lnTo>
                    <a:pt x="1214102" y="1255841"/>
                  </a:lnTo>
                  <a:lnTo>
                    <a:pt x="1232342" y="1218910"/>
                  </a:lnTo>
                  <a:lnTo>
                    <a:pt x="1245581" y="1148695"/>
                  </a:lnTo>
                  <a:lnTo>
                    <a:pt x="1247236" y="1099149"/>
                  </a:lnTo>
                  <a:lnTo>
                    <a:pt x="1247473" y="1037710"/>
                  </a:lnTo>
                  <a:lnTo>
                    <a:pt x="1247473" y="308741"/>
                  </a:lnTo>
                  <a:lnTo>
                    <a:pt x="1247236" y="247303"/>
                  </a:lnTo>
                  <a:lnTo>
                    <a:pt x="1245581" y="197756"/>
                  </a:lnTo>
                  <a:lnTo>
                    <a:pt x="1241089" y="158402"/>
                  </a:lnTo>
                  <a:lnTo>
                    <a:pt x="1214102" y="90611"/>
                  </a:lnTo>
                  <a:lnTo>
                    <a:pt x="1188597" y="58874"/>
                  </a:lnTo>
                  <a:lnTo>
                    <a:pt x="1156861" y="33369"/>
                  </a:lnTo>
                  <a:lnTo>
                    <a:pt x="1119931" y="15129"/>
                  </a:lnTo>
                  <a:lnTo>
                    <a:pt x="1049716" y="1891"/>
                  </a:lnTo>
                  <a:lnTo>
                    <a:pt x="1000169" y="236"/>
                  </a:lnTo>
                  <a:lnTo>
                    <a:pt x="938731" y="0"/>
                  </a:lnTo>
                  <a:close/>
                </a:path>
              </a:pathLst>
            </a:custGeom>
            <a:solidFill>
              <a:srgbClr val="D4E6F6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2" name="object 52"/>
            <p:cNvSpPr/>
            <p:nvPr/>
          </p:nvSpPr>
          <p:spPr>
            <a:xfrm>
              <a:off x="8925631" y="6546402"/>
              <a:ext cx="1247775" cy="1346835"/>
            </a:xfrm>
            <a:custGeom>
              <a:avLst/>
              <a:gdLst/>
              <a:ahLst/>
              <a:cxnLst/>
              <a:rect l="l" t="t" r="r" b="b"/>
              <a:pathLst>
                <a:path w="1247775" h="1346834">
                  <a:moveTo>
                    <a:pt x="308741" y="0"/>
                  </a:moveTo>
                  <a:lnTo>
                    <a:pt x="938730" y="0"/>
                  </a:lnTo>
                  <a:lnTo>
                    <a:pt x="1000168" y="236"/>
                  </a:lnTo>
                  <a:lnTo>
                    <a:pt x="1049715" y="1891"/>
                  </a:lnTo>
                  <a:lnTo>
                    <a:pt x="1089069" y="6382"/>
                  </a:lnTo>
                  <a:lnTo>
                    <a:pt x="1156860" y="33369"/>
                  </a:lnTo>
                  <a:lnTo>
                    <a:pt x="1188597" y="58875"/>
                  </a:lnTo>
                  <a:lnTo>
                    <a:pt x="1214102" y="90611"/>
                  </a:lnTo>
                  <a:lnTo>
                    <a:pt x="1232342" y="127541"/>
                  </a:lnTo>
                  <a:lnTo>
                    <a:pt x="1245580" y="197756"/>
                  </a:lnTo>
                  <a:lnTo>
                    <a:pt x="1247235" y="247303"/>
                  </a:lnTo>
                  <a:lnTo>
                    <a:pt x="1247471" y="308741"/>
                  </a:lnTo>
                  <a:lnTo>
                    <a:pt x="1247471" y="1037711"/>
                  </a:lnTo>
                  <a:lnTo>
                    <a:pt x="1247235" y="1099149"/>
                  </a:lnTo>
                  <a:lnTo>
                    <a:pt x="1245580" y="1148695"/>
                  </a:lnTo>
                  <a:lnTo>
                    <a:pt x="1241089" y="1188050"/>
                  </a:lnTo>
                  <a:lnTo>
                    <a:pt x="1214102" y="1255841"/>
                  </a:lnTo>
                  <a:lnTo>
                    <a:pt x="1188597" y="1287577"/>
                  </a:lnTo>
                  <a:lnTo>
                    <a:pt x="1156860" y="1313083"/>
                  </a:lnTo>
                  <a:lnTo>
                    <a:pt x="1119930" y="1331322"/>
                  </a:lnTo>
                  <a:lnTo>
                    <a:pt x="1049715" y="1344561"/>
                  </a:lnTo>
                  <a:lnTo>
                    <a:pt x="1000168" y="1346215"/>
                  </a:lnTo>
                  <a:lnTo>
                    <a:pt x="938730" y="1346452"/>
                  </a:lnTo>
                  <a:lnTo>
                    <a:pt x="308741" y="1346452"/>
                  </a:lnTo>
                  <a:lnTo>
                    <a:pt x="247303" y="1346215"/>
                  </a:lnTo>
                  <a:lnTo>
                    <a:pt x="197756" y="1344561"/>
                  </a:lnTo>
                  <a:lnTo>
                    <a:pt x="158402" y="1340069"/>
                  </a:lnTo>
                  <a:lnTo>
                    <a:pt x="90611" y="1313083"/>
                  </a:lnTo>
                  <a:lnTo>
                    <a:pt x="58875" y="1287577"/>
                  </a:lnTo>
                  <a:lnTo>
                    <a:pt x="33369" y="1255841"/>
                  </a:lnTo>
                  <a:lnTo>
                    <a:pt x="15129" y="1218910"/>
                  </a:lnTo>
                  <a:lnTo>
                    <a:pt x="1891" y="1148695"/>
                  </a:lnTo>
                  <a:lnTo>
                    <a:pt x="236" y="1099149"/>
                  </a:lnTo>
                  <a:lnTo>
                    <a:pt x="0" y="1037711"/>
                  </a:lnTo>
                  <a:lnTo>
                    <a:pt x="0" y="308741"/>
                  </a:lnTo>
                  <a:lnTo>
                    <a:pt x="236" y="247303"/>
                  </a:lnTo>
                  <a:lnTo>
                    <a:pt x="1891" y="197756"/>
                  </a:lnTo>
                  <a:lnTo>
                    <a:pt x="6382" y="158402"/>
                  </a:lnTo>
                  <a:lnTo>
                    <a:pt x="33369" y="90611"/>
                  </a:lnTo>
                  <a:lnTo>
                    <a:pt x="58875" y="58875"/>
                  </a:lnTo>
                  <a:lnTo>
                    <a:pt x="90611" y="33369"/>
                  </a:lnTo>
                  <a:lnTo>
                    <a:pt x="127541" y="15129"/>
                  </a:lnTo>
                  <a:lnTo>
                    <a:pt x="197756" y="1891"/>
                  </a:lnTo>
                  <a:lnTo>
                    <a:pt x="247303" y="236"/>
                  </a:lnTo>
                  <a:lnTo>
                    <a:pt x="308741" y="0"/>
                  </a:lnTo>
                  <a:close/>
                </a:path>
              </a:pathLst>
            </a:custGeom>
            <a:ln w="41883">
              <a:solidFill>
                <a:srgbClr val="0081C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544389" y="4119728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75204" marR="3081" indent="-167888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-15" dirty="0">
                <a:latin typeface="Arial MT"/>
                <a:cs typeface="Arial MT"/>
              </a:rPr>
              <a:t>N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141326" y="4027340"/>
            <a:ext cx="3822151" cy="660386"/>
            <a:chOff x="6828648" y="6641382"/>
            <a:chExt cx="6303010" cy="1089025"/>
          </a:xfrm>
        </p:grpSpPr>
        <p:sp>
          <p:nvSpPr>
            <p:cNvPr id="55" name="object 55"/>
            <p:cNvSpPr/>
            <p:nvPr/>
          </p:nvSpPr>
          <p:spPr>
            <a:xfrm>
              <a:off x="6849603" y="7185881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90">
                  <a:moveTo>
                    <a:pt x="0" y="0"/>
                  </a:moveTo>
                  <a:lnTo>
                    <a:pt x="241751" y="0"/>
                  </a:lnTo>
                  <a:lnTo>
                    <a:pt x="26269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6" name="object 56"/>
            <p:cNvSpPr/>
            <p:nvPr/>
          </p:nvSpPr>
          <p:spPr>
            <a:xfrm>
              <a:off x="7047377" y="7097926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7" name="object 57"/>
            <p:cNvSpPr/>
            <p:nvPr/>
          </p:nvSpPr>
          <p:spPr>
            <a:xfrm>
              <a:off x="8539295" y="7191902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90">
                  <a:moveTo>
                    <a:pt x="0" y="0"/>
                  </a:moveTo>
                  <a:lnTo>
                    <a:pt x="241751" y="0"/>
                  </a:lnTo>
                  <a:lnTo>
                    <a:pt x="26269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8" name="object 58"/>
            <p:cNvSpPr/>
            <p:nvPr/>
          </p:nvSpPr>
          <p:spPr>
            <a:xfrm>
              <a:off x="8737069" y="7103946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9" name="object 59"/>
            <p:cNvSpPr/>
            <p:nvPr/>
          </p:nvSpPr>
          <p:spPr>
            <a:xfrm>
              <a:off x="10183395" y="7220358"/>
              <a:ext cx="605790" cy="0"/>
            </a:xfrm>
            <a:custGeom>
              <a:avLst/>
              <a:gdLst/>
              <a:ahLst/>
              <a:cxnLst/>
              <a:rect l="l" t="t" r="r" b="b"/>
              <a:pathLst>
                <a:path w="605790">
                  <a:moveTo>
                    <a:pt x="0" y="0"/>
                  </a:moveTo>
                  <a:lnTo>
                    <a:pt x="584434" y="0"/>
                  </a:lnTo>
                  <a:lnTo>
                    <a:pt x="60537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0" name="object 60"/>
            <p:cNvSpPr/>
            <p:nvPr/>
          </p:nvSpPr>
          <p:spPr>
            <a:xfrm>
              <a:off x="10723851" y="713240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43977" y="87955"/>
                  </a:ln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1" name="object 61"/>
            <p:cNvSpPr/>
            <p:nvPr/>
          </p:nvSpPr>
          <p:spPr>
            <a:xfrm>
              <a:off x="10940651" y="6662337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5">
                  <a:moveTo>
                    <a:pt x="1929532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0" y="11766"/>
                  </a:lnTo>
                  <a:lnTo>
                    <a:pt x="45782" y="45785"/>
                  </a:lnTo>
                  <a:lnTo>
                    <a:pt x="11758" y="99185"/>
                  </a:lnTo>
                  <a:lnTo>
                    <a:pt x="1469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2"/>
                  </a:lnTo>
                  <a:lnTo>
                    <a:pt x="183" y="854770"/>
                  </a:lnTo>
                  <a:lnTo>
                    <a:pt x="1469" y="893300"/>
                  </a:lnTo>
                  <a:lnTo>
                    <a:pt x="11758" y="947904"/>
                  </a:lnTo>
                  <a:lnTo>
                    <a:pt x="45782" y="1001304"/>
                  </a:lnTo>
                  <a:lnTo>
                    <a:pt x="99180" y="1035323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1929532" y="1047088"/>
                  </a:lnTo>
                  <a:lnTo>
                    <a:pt x="1977312" y="1046904"/>
                  </a:lnTo>
                  <a:lnTo>
                    <a:pt x="2015843" y="1045617"/>
                  </a:lnTo>
                  <a:lnTo>
                    <a:pt x="2070450" y="1035323"/>
                  </a:lnTo>
                  <a:lnTo>
                    <a:pt x="2123846" y="1001304"/>
                  </a:lnTo>
                  <a:lnTo>
                    <a:pt x="2157860" y="947904"/>
                  </a:lnTo>
                  <a:lnTo>
                    <a:pt x="2168159" y="893300"/>
                  </a:lnTo>
                  <a:lnTo>
                    <a:pt x="2169446" y="854770"/>
                  </a:lnTo>
                  <a:lnTo>
                    <a:pt x="2169630" y="806992"/>
                  </a:lnTo>
                  <a:lnTo>
                    <a:pt x="2169630" y="240097"/>
                  </a:lnTo>
                  <a:lnTo>
                    <a:pt x="2169446" y="192319"/>
                  </a:lnTo>
                  <a:lnTo>
                    <a:pt x="2168159" y="153788"/>
                  </a:lnTo>
                  <a:lnTo>
                    <a:pt x="2157860" y="99185"/>
                  </a:lnTo>
                  <a:lnTo>
                    <a:pt x="2123846" y="45785"/>
                  </a:lnTo>
                  <a:lnTo>
                    <a:pt x="2070450" y="11766"/>
                  </a:lnTo>
                  <a:lnTo>
                    <a:pt x="2015843" y="1470"/>
                  </a:lnTo>
                  <a:lnTo>
                    <a:pt x="1977312" y="183"/>
                  </a:lnTo>
                  <a:lnTo>
                    <a:pt x="1929532" y="0"/>
                  </a:lnTo>
                  <a:close/>
                </a:path>
              </a:pathLst>
            </a:custGeom>
            <a:solidFill>
              <a:srgbClr val="A4DAD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2" name="object 62"/>
            <p:cNvSpPr/>
            <p:nvPr/>
          </p:nvSpPr>
          <p:spPr>
            <a:xfrm>
              <a:off x="10940651" y="6662337"/>
              <a:ext cx="2169795" cy="1047115"/>
            </a:xfrm>
            <a:custGeom>
              <a:avLst/>
              <a:gdLst/>
              <a:ahLst/>
              <a:cxnLst/>
              <a:rect l="l" t="t" r="r" b="b"/>
              <a:pathLst>
                <a:path w="2169794" h="1047115">
                  <a:moveTo>
                    <a:pt x="240097" y="0"/>
                  </a:moveTo>
                  <a:lnTo>
                    <a:pt x="1929534" y="0"/>
                  </a:lnTo>
                  <a:lnTo>
                    <a:pt x="1977313" y="183"/>
                  </a:lnTo>
                  <a:lnTo>
                    <a:pt x="2015844" y="1470"/>
                  </a:lnTo>
                  <a:lnTo>
                    <a:pt x="2070447" y="11765"/>
                  </a:lnTo>
                  <a:lnTo>
                    <a:pt x="2123847" y="45785"/>
                  </a:lnTo>
                  <a:lnTo>
                    <a:pt x="2157866" y="99184"/>
                  </a:lnTo>
                  <a:lnTo>
                    <a:pt x="2168161" y="153788"/>
                  </a:lnTo>
                  <a:lnTo>
                    <a:pt x="2169448" y="192318"/>
                  </a:lnTo>
                  <a:lnTo>
                    <a:pt x="2169632" y="240097"/>
                  </a:lnTo>
                  <a:lnTo>
                    <a:pt x="2169632" y="806991"/>
                  </a:lnTo>
                  <a:lnTo>
                    <a:pt x="2169448" y="854769"/>
                  </a:lnTo>
                  <a:lnTo>
                    <a:pt x="2168161" y="893300"/>
                  </a:lnTo>
                  <a:lnTo>
                    <a:pt x="2157866" y="947904"/>
                  </a:lnTo>
                  <a:lnTo>
                    <a:pt x="2123847" y="1001303"/>
                  </a:lnTo>
                  <a:lnTo>
                    <a:pt x="2070447" y="1035322"/>
                  </a:lnTo>
                  <a:lnTo>
                    <a:pt x="2015844" y="1045617"/>
                  </a:lnTo>
                  <a:lnTo>
                    <a:pt x="1977313" y="1046904"/>
                  </a:lnTo>
                  <a:lnTo>
                    <a:pt x="192953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00AEBB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019753" y="4221531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128805" y="1737325"/>
            <a:ext cx="1296897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58" dirty="0">
                <a:latin typeface="Arial MT"/>
                <a:cs typeface="Arial MT"/>
              </a:rPr>
              <a:t>Teacher</a:t>
            </a:r>
            <a:r>
              <a:rPr sz="1577" spc="-24" dirty="0">
                <a:latin typeface="Arial MT"/>
                <a:cs typeface="Arial MT"/>
              </a:rPr>
              <a:t> </a:t>
            </a:r>
            <a:r>
              <a:rPr sz="1577" spc="-12" dirty="0">
                <a:latin typeface="Arial MT"/>
                <a:cs typeface="Arial MT"/>
              </a:rPr>
              <a:t>Model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27179" y="4828147"/>
            <a:ext cx="1299978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3" dirty="0">
                <a:latin typeface="Arial MT"/>
                <a:cs typeface="Arial MT"/>
              </a:rPr>
              <a:t>Student</a:t>
            </a:r>
            <a:r>
              <a:rPr sz="1577" spc="-30" dirty="0">
                <a:latin typeface="Arial MT"/>
                <a:cs typeface="Arial MT"/>
              </a:rPr>
              <a:t> </a:t>
            </a:r>
            <a:r>
              <a:rPr sz="1577" spc="-12" dirty="0">
                <a:latin typeface="Arial MT"/>
                <a:cs typeface="Arial MT"/>
              </a:rPr>
              <a:t>Model</a:t>
            </a:r>
            <a:endParaRPr sz="1577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866610" y="2891971"/>
            <a:ext cx="1809803" cy="1086652"/>
            <a:chOff x="6375620" y="4769074"/>
            <a:chExt cx="2984500" cy="1791970"/>
          </a:xfrm>
        </p:grpSpPr>
        <p:sp>
          <p:nvSpPr>
            <p:cNvPr id="67" name="object 67"/>
            <p:cNvSpPr/>
            <p:nvPr/>
          </p:nvSpPr>
          <p:spPr>
            <a:xfrm>
              <a:off x="7867816" y="4769074"/>
              <a:ext cx="0" cy="244475"/>
            </a:xfrm>
            <a:custGeom>
              <a:avLst/>
              <a:gdLst/>
              <a:ahLst/>
              <a:cxnLst/>
              <a:rect l="l" t="t" r="r" b="b"/>
              <a:pathLst>
                <a:path h="244475">
                  <a:moveTo>
                    <a:pt x="0" y="0"/>
                  </a:moveTo>
                  <a:lnTo>
                    <a:pt x="0" y="244423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8" name="object 68"/>
            <p:cNvSpPr/>
            <p:nvPr/>
          </p:nvSpPr>
          <p:spPr>
            <a:xfrm>
              <a:off x="7779861" y="4948579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87955" y="175910"/>
                  </a:lnTo>
                  <a:lnTo>
                    <a:pt x="153922" y="43977"/>
                  </a:lnTo>
                  <a:lnTo>
                    <a:pt x="87955" y="43977"/>
                  </a:lnTo>
                  <a:lnTo>
                    <a:pt x="0" y="0"/>
                  </a:lnTo>
                  <a:close/>
                </a:path>
                <a:path w="176529" h="176529">
                  <a:moveTo>
                    <a:pt x="175910" y="0"/>
                  </a:moveTo>
                  <a:lnTo>
                    <a:pt x="87955" y="43977"/>
                  </a:lnTo>
                  <a:lnTo>
                    <a:pt x="153922" y="43977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9" name="object 69"/>
            <p:cNvSpPr/>
            <p:nvPr/>
          </p:nvSpPr>
          <p:spPr>
            <a:xfrm>
              <a:off x="7877170" y="6291565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394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9215" y="6180574"/>
              <a:ext cx="175910" cy="17591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396562" y="5130733"/>
              <a:ext cx="2942590" cy="1047115"/>
            </a:xfrm>
            <a:custGeom>
              <a:avLst/>
              <a:gdLst/>
              <a:ahLst/>
              <a:cxnLst/>
              <a:rect l="l" t="t" r="r" b="b"/>
              <a:pathLst>
                <a:path w="2942590" h="1047114">
                  <a:moveTo>
                    <a:pt x="2702414" y="0"/>
                  </a:moveTo>
                  <a:lnTo>
                    <a:pt x="240096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4" y="11766"/>
                  </a:lnTo>
                  <a:lnTo>
                    <a:pt x="45784" y="45785"/>
                  </a:lnTo>
                  <a:lnTo>
                    <a:pt x="11765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5" y="947904"/>
                  </a:lnTo>
                  <a:lnTo>
                    <a:pt x="45784" y="1001303"/>
                  </a:lnTo>
                  <a:lnTo>
                    <a:pt x="99184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6" y="1047088"/>
                  </a:lnTo>
                  <a:lnTo>
                    <a:pt x="2702414" y="1047088"/>
                  </a:lnTo>
                  <a:lnTo>
                    <a:pt x="2750191" y="1046904"/>
                  </a:lnTo>
                  <a:lnTo>
                    <a:pt x="2788722" y="1045617"/>
                  </a:lnTo>
                  <a:lnTo>
                    <a:pt x="2843325" y="1035322"/>
                  </a:lnTo>
                  <a:lnTo>
                    <a:pt x="2896725" y="1001303"/>
                  </a:lnTo>
                  <a:lnTo>
                    <a:pt x="2930745" y="947904"/>
                  </a:lnTo>
                  <a:lnTo>
                    <a:pt x="2941039" y="893300"/>
                  </a:lnTo>
                  <a:lnTo>
                    <a:pt x="2942326" y="854769"/>
                  </a:lnTo>
                  <a:lnTo>
                    <a:pt x="2942510" y="806991"/>
                  </a:lnTo>
                  <a:lnTo>
                    <a:pt x="2942510" y="240097"/>
                  </a:lnTo>
                  <a:lnTo>
                    <a:pt x="2942326" y="192319"/>
                  </a:lnTo>
                  <a:lnTo>
                    <a:pt x="2941039" y="153788"/>
                  </a:lnTo>
                  <a:lnTo>
                    <a:pt x="2930745" y="99184"/>
                  </a:lnTo>
                  <a:lnTo>
                    <a:pt x="2896725" y="45785"/>
                  </a:lnTo>
                  <a:lnTo>
                    <a:pt x="2843325" y="11766"/>
                  </a:lnTo>
                  <a:lnTo>
                    <a:pt x="2788722" y="1470"/>
                  </a:lnTo>
                  <a:lnTo>
                    <a:pt x="2750191" y="183"/>
                  </a:lnTo>
                  <a:lnTo>
                    <a:pt x="2702414" y="0"/>
                  </a:lnTo>
                  <a:close/>
                </a:path>
              </a:pathLst>
            </a:custGeom>
            <a:solidFill>
              <a:srgbClr val="FEF1D8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2" name="object 72"/>
            <p:cNvSpPr/>
            <p:nvPr/>
          </p:nvSpPr>
          <p:spPr>
            <a:xfrm>
              <a:off x="6396562" y="5130733"/>
              <a:ext cx="2942590" cy="1047115"/>
            </a:xfrm>
            <a:custGeom>
              <a:avLst/>
              <a:gdLst/>
              <a:ahLst/>
              <a:cxnLst/>
              <a:rect l="l" t="t" r="r" b="b"/>
              <a:pathLst>
                <a:path w="2942590" h="1047114">
                  <a:moveTo>
                    <a:pt x="240097" y="0"/>
                  </a:moveTo>
                  <a:lnTo>
                    <a:pt x="2702414" y="0"/>
                  </a:lnTo>
                  <a:lnTo>
                    <a:pt x="2750192" y="183"/>
                  </a:lnTo>
                  <a:lnTo>
                    <a:pt x="2788723" y="1470"/>
                  </a:lnTo>
                  <a:lnTo>
                    <a:pt x="2843327" y="11765"/>
                  </a:lnTo>
                  <a:lnTo>
                    <a:pt x="2896726" y="45785"/>
                  </a:lnTo>
                  <a:lnTo>
                    <a:pt x="2930745" y="99184"/>
                  </a:lnTo>
                  <a:lnTo>
                    <a:pt x="2941040" y="153788"/>
                  </a:lnTo>
                  <a:lnTo>
                    <a:pt x="2942327" y="192318"/>
                  </a:lnTo>
                  <a:lnTo>
                    <a:pt x="2942511" y="240097"/>
                  </a:lnTo>
                  <a:lnTo>
                    <a:pt x="2942511" y="806991"/>
                  </a:lnTo>
                  <a:lnTo>
                    <a:pt x="2942327" y="854769"/>
                  </a:lnTo>
                  <a:lnTo>
                    <a:pt x="2941040" y="893300"/>
                  </a:lnTo>
                  <a:lnTo>
                    <a:pt x="2930745" y="947904"/>
                  </a:lnTo>
                  <a:lnTo>
                    <a:pt x="2896726" y="1001303"/>
                  </a:lnTo>
                  <a:lnTo>
                    <a:pt x="2843327" y="1035322"/>
                  </a:lnTo>
                  <a:lnTo>
                    <a:pt x="2788723" y="1045617"/>
                  </a:lnTo>
                  <a:lnTo>
                    <a:pt x="2750192" y="1046904"/>
                  </a:lnTo>
                  <a:lnTo>
                    <a:pt x="2702414" y="1047088"/>
                  </a:lnTo>
                  <a:lnTo>
                    <a:pt x="240097" y="1047088"/>
                  </a:lnTo>
                  <a:lnTo>
                    <a:pt x="192318" y="1046904"/>
                  </a:lnTo>
                  <a:lnTo>
                    <a:pt x="153788" y="1045617"/>
                  </a:lnTo>
                  <a:lnTo>
                    <a:pt x="99184" y="1035322"/>
                  </a:lnTo>
                  <a:lnTo>
                    <a:pt x="45785" y="1001303"/>
                  </a:lnTo>
                  <a:lnTo>
                    <a:pt x="11765" y="947904"/>
                  </a:lnTo>
                  <a:lnTo>
                    <a:pt x="1470" y="893300"/>
                  </a:lnTo>
                  <a:lnTo>
                    <a:pt x="183" y="854769"/>
                  </a:lnTo>
                  <a:lnTo>
                    <a:pt x="0" y="806991"/>
                  </a:lnTo>
                  <a:lnTo>
                    <a:pt x="0" y="240097"/>
                  </a:lnTo>
                  <a:lnTo>
                    <a:pt x="183" y="192318"/>
                  </a:lnTo>
                  <a:lnTo>
                    <a:pt x="1470" y="153788"/>
                  </a:lnTo>
                  <a:lnTo>
                    <a:pt x="11765" y="99184"/>
                  </a:lnTo>
                  <a:lnTo>
                    <a:pt x="45785" y="45785"/>
                  </a:lnTo>
                  <a:lnTo>
                    <a:pt x="99184" y="11765"/>
                  </a:lnTo>
                  <a:lnTo>
                    <a:pt x="153788" y="1470"/>
                  </a:lnTo>
                  <a:lnTo>
                    <a:pt x="192318" y="183"/>
                  </a:lnTo>
                  <a:lnTo>
                    <a:pt x="240097" y="0"/>
                  </a:lnTo>
                  <a:close/>
                </a:path>
              </a:pathLst>
            </a:custGeom>
            <a:ln w="41883">
              <a:solidFill>
                <a:srgbClr val="F8B62D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327478" y="3170883"/>
            <a:ext cx="888344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234889" marR="3081" indent="-227573">
              <a:lnSpc>
                <a:spcPct val="103099"/>
              </a:lnSpc>
              <a:spcBef>
                <a:spcPts val="24"/>
              </a:spcBef>
            </a:pPr>
            <a:r>
              <a:rPr sz="1577" spc="-27" dirty="0">
                <a:latin typeface="Arial MT"/>
                <a:cs typeface="Arial MT"/>
              </a:rPr>
              <a:t>Distillation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190702" y="4319796"/>
            <a:ext cx="167888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15" dirty="0">
                <a:latin typeface="Arial"/>
                <a:cs typeface="Arial"/>
              </a:rPr>
              <a:t>…</a:t>
            </a:r>
            <a:endParaRPr sz="1182">
              <a:latin typeface="Arial"/>
              <a:cs typeface="Arial"/>
            </a:endParaRPr>
          </a:p>
        </p:txBody>
      </p:sp>
      <p:sp>
        <p:nvSpPr>
          <p:cNvPr id="78" name="Slide Number Placeholder 77">
            <a:extLst>
              <a:ext uri="{FF2B5EF4-FFF2-40B4-BE49-F238E27FC236}">
                <a16:creationId xmlns:a16="http://schemas.microsoft.com/office/drawing/2014/main" id="{E451CD81-FFEF-7653-E939-B89DC4D3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F84F-0FC8-428E-AB03-8AE077A9E728}" type="slidenum">
              <a:rPr lang="en-US" smtClean="0"/>
              <a:t>26</a:t>
            </a:fld>
            <a:endParaRPr lang="en-US"/>
          </a:p>
        </p:txBody>
      </p:sp>
      <p:sp>
        <p:nvSpPr>
          <p:cNvPr id="76" name="Date Placeholder 75">
            <a:extLst>
              <a:ext uri="{FF2B5EF4-FFF2-40B4-BE49-F238E27FC236}">
                <a16:creationId xmlns:a16="http://schemas.microsoft.com/office/drawing/2014/main" id="{B29C17D7-08B7-0867-B894-F367D089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E2C2-1435-437F-8774-4B91C09E5E25}" type="datetime1">
              <a:rPr lang="en-US" smtClean="0"/>
              <a:t>12/3/2025</a:t>
            </a:fld>
            <a:endParaRPr lang="en-US"/>
          </a:p>
        </p:txBody>
      </p:sp>
      <p:sp>
        <p:nvSpPr>
          <p:cNvPr id="77" name="Footer Placeholder 76">
            <a:extLst>
              <a:ext uri="{FF2B5EF4-FFF2-40B4-BE49-F238E27FC236}">
                <a16:creationId xmlns:a16="http://schemas.microsoft.com/office/drawing/2014/main" id="{E4E98E8D-6C9D-20F4-A8F9-D6567DC5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752351"/>
            <a:ext cx="7678188" cy="562163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lang="en-US" dirty="0"/>
              <a:t>2. Feature-based knowledge</a:t>
            </a:r>
            <a:endParaRPr spc="-76" dirty="0"/>
          </a:p>
        </p:txBody>
      </p:sp>
      <p:sp>
        <p:nvSpPr>
          <p:cNvPr id="3" name="object 3"/>
          <p:cNvSpPr txBox="1"/>
          <p:nvPr/>
        </p:nvSpPr>
        <p:spPr>
          <a:xfrm>
            <a:off x="697246" y="4917314"/>
            <a:ext cx="124761" cy="386089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2024" y="4251382"/>
            <a:ext cx="10652041" cy="1345604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1115530">
              <a:spcBef>
                <a:spcPts val="79"/>
              </a:spcBef>
              <a:tabLst>
                <a:tab pos="5394362" algn="l"/>
              </a:tabLst>
            </a:pPr>
            <a:r>
              <a:rPr sz="1880" spc="3" dirty="0">
                <a:latin typeface="Times New Roman"/>
                <a:cs typeface="Times New Roman"/>
              </a:rPr>
              <a:t>(a)</a:t>
            </a:r>
            <a:r>
              <a:rPr sz="1880" spc="227" dirty="0">
                <a:latin typeface="Times New Roman"/>
                <a:cs typeface="Times New Roman"/>
              </a:rPr>
              <a:t> </a:t>
            </a:r>
            <a:r>
              <a:rPr sz="1880" spc="-15" dirty="0">
                <a:latin typeface="Times New Roman"/>
                <a:cs typeface="Times New Roman"/>
              </a:rPr>
              <a:t>Teacher</a:t>
            </a:r>
            <a:r>
              <a:rPr sz="1880" spc="24" dirty="0">
                <a:latin typeface="Times New Roman"/>
                <a:cs typeface="Times New Roman"/>
              </a:rPr>
              <a:t> </a:t>
            </a:r>
            <a:r>
              <a:rPr sz="1880" spc="3" dirty="0">
                <a:latin typeface="Times New Roman"/>
                <a:cs typeface="Times New Roman"/>
              </a:rPr>
              <a:t>and</a:t>
            </a:r>
            <a:r>
              <a:rPr sz="1880" spc="33" dirty="0">
                <a:latin typeface="Times New Roman"/>
                <a:cs typeface="Times New Roman"/>
              </a:rPr>
              <a:t> </a:t>
            </a:r>
            <a:r>
              <a:rPr sz="1880" spc="3" dirty="0">
                <a:latin typeface="Times New Roman"/>
                <a:cs typeface="Times New Roman"/>
              </a:rPr>
              <a:t>Student</a:t>
            </a:r>
            <a:r>
              <a:rPr sz="1880" spc="27" dirty="0">
                <a:latin typeface="Times New Roman"/>
                <a:cs typeface="Times New Roman"/>
              </a:rPr>
              <a:t> </a:t>
            </a:r>
            <a:r>
              <a:rPr sz="1880" spc="3" dirty="0">
                <a:latin typeface="Times New Roman"/>
                <a:cs typeface="Times New Roman"/>
              </a:rPr>
              <a:t>Networks	(b)</a:t>
            </a:r>
            <a:r>
              <a:rPr sz="1880" spc="203" dirty="0">
                <a:latin typeface="Times New Roman"/>
                <a:cs typeface="Times New Roman"/>
              </a:rPr>
              <a:t> </a:t>
            </a:r>
            <a:r>
              <a:rPr sz="1880" spc="6" dirty="0">
                <a:latin typeface="Times New Roman"/>
                <a:cs typeface="Times New Roman"/>
              </a:rPr>
              <a:t>Hints</a:t>
            </a:r>
            <a:r>
              <a:rPr sz="1880" spc="-3" dirty="0">
                <a:latin typeface="Times New Roman"/>
                <a:cs typeface="Times New Roman"/>
              </a:rPr>
              <a:t> Training</a:t>
            </a:r>
            <a:endParaRPr sz="188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80" dirty="0">
              <a:latin typeface="Times New Roman"/>
              <a:cs typeface="Times New Roman"/>
            </a:endParaRPr>
          </a:p>
          <a:p>
            <a:pPr marL="7701" marR="3081">
              <a:spcBef>
                <a:spcPts val="1119"/>
              </a:spcBef>
            </a:pPr>
            <a:r>
              <a:rPr sz="2001" spc="-21" dirty="0">
                <a:latin typeface="Trebuchet MS"/>
                <a:cs typeface="Trebuchet MS"/>
              </a:rPr>
              <a:t>Other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27" dirty="0">
                <a:latin typeface="Trebuchet MS"/>
                <a:cs typeface="Trebuchet MS"/>
              </a:rPr>
              <a:t>than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the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21" dirty="0">
                <a:latin typeface="Trebuchet MS"/>
                <a:cs typeface="Trebuchet MS"/>
              </a:rPr>
              <a:t>cross-entropy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distillation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24" dirty="0">
                <a:latin typeface="Trebuchet MS"/>
                <a:cs typeface="Trebuchet MS"/>
              </a:rPr>
              <a:t>loss,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3" dirty="0">
                <a:latin typeface="Trebuchet MS"/>
                <a:cs typeface="Trebuchet MS"/>
              </a:rPr>
              <a:t>also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55" dirty="0">
                <a:latin typeface="Trebuchet MS"/>
                <a:cs typeface="Trebuchet MS"/>
              </a:rPr>
              <a:t>add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21" dirty="0">
                <a:latin typeface="Trebuchet MS"/>
                <a:cs typeface="Trebuchet MS"/>
              </a:rPr>
              <a:t>a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79" dirty="0">
                <a:latin typeface="Trebuchet MS"/>
                <a:cs typeface="Trebuchet MS"/>
              </a:rPr>
              <a:t>L2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76" dirty="0">
                <a:latin typeface="Trebuchet MS"/>
                <a:cs typeface="Trebuchet MS"/>
              </a:rPr>
              <a:t>loss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15" dirty="0">
                <a:latin typeface="Trebuchet MS"/>
                <a:cs typeface="Trebuchet MS"/>
              </a:rPr>
              <a:t>between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27" dirty="0">
                <a:latin typeface="Trebuchet MS"/>
                <a:cs typeface="Trebuchet MS"/>
              </a:rPr>
              <a:t>teacher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9" dirty="0">
                <a:latin typeface="Trebuchet MS"/>
                <a:cs typeface="Trebuchet MS"/>
              </a:rPr>
              <a:t>weights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6" dirty="0">
                <a:latin typeface="Trebuchet MS"/>
                <a:cs typeface="Trebuchet MS"/>
              </a:rPr>
              <a:t>and </a:t>
            </a:r>
            <a:r>
              <a:rPr sz="2001" spc="-594" dirty="0">
                <a:latin typeface="Trebuchet MS"/>
                <a:cs typeface="Trebuchet MS"/>
              </a:rPr>
              <a:t> </a:t>
            </a:r>
            <a:r>
              <a:rPr sz="2001" spc="-9" dirty="0">
                <a:latin typeface="Trebuchet MS"/>
                <a:cs typeface="Trebuchet MS"/>
              </a:rPr>
              <a:t>student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9" dirty="0">
                <a:latin typeface="Trebuchet MS"/>
                <a:cs typeface="Trebuchet MS"/>
              </a:rPr>
              <a:t>weights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85" dirty="0">
                <a:latin typeface="Trebuchet MS"/>
                <a:cs typeface="Trebuchet MS"/>
              </a:rPr>
              <a:t>(</a:t>
            </a:r>
            <a:r>
              <a:rPr sz="200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linear</a:t>
            </a:r>
            <a:r>
              <a:rPr sz="2001" u="heavy" spc="-49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1" u="heavy" spc="-27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transformation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0" dirty="0">
                <a:latin typeface="Trebuchet MS"/>
                <a:cs typeface="Trebuchet MS"/>
              </a:rPr>
              <a:t>is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9" dirty="0">
                <a:latin typeface="Trebuchet MS"/>
                <a:cs typeface="Trebuchet MS"/>
              </a:rPr>
              <a:t>applied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45" dirty="0">
                <a:latin typeface="Trebuchet MS"/>
                <a:cs typeface="Trebuchet MS"/>
              </a:rPr>
              <a:t>to </a:t>
            </a:r>
            <a:r>
              <a:rPr sz="2001" dirty="0">
                <a:latin typeface="Trebuchet MS"/>
                <a:cs typeface="Trebuchet MS"/>
              </a:rPr>
              <a:t>match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the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36" dirty="0">
                <a:latin typeface="Trebuchet MS"/>
                <a:cs typeface="Trebuchet MS"/>
              </a:rPr>
              <a:t>dimensionalities).</a:t>
            </a:r>
            <a:endParaRPr sz="2001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4615" y="6259231"/>
            <a:ext cx="4094392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-9" dirty="0">
                <a:solidFill>
                  <a:srgbClr val="5E5E5E"/>
                </a:solidFill>
                <a:latin typeface="Trebuchet MS"/>
                <a:cs typeface="Trebuchet MS"/>
              </a:rPr>
              <a:t>FitNets: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Hints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30" dirty="0">
                <a:solidFill>
                  <a:srgbClr val="5E5E5E"/>
                </a:solidFill>
                <a:latin typeface="Trebuchet MS"/>
                <a:cs typeface="Trebuchet MS"/>
              </a:rPr>
              <a:t>for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9" dirty="0">
                <a:solidFill>
                  <a:srgbClr val="5E5E5E"/>
                </a:solidFill>
                <a:latin typeface="Trebuchet MS"/>
                <a:cs typeface="Trebuchet MS"/>
              </a:rPr>
              <a:t>Thin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42" dirty="0">
                <a:solidFill>
                  <a:srgbClr val="5E5E5E"/>
                </a:solidFill>
                <a:latin typeface="Trebuchet MS"/>
                <a:cs typeface="Trebuchet MS"/>
              </a:rPr>
              <a:t>Deep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3" dirty="0">
                <a:solidFill>
                  <a:srgbClr val="5E5E5E"/>
                </a:solidFill>
                <a:latin typeface="Trebuchet MS"/>
                <a:cs typeface="Trebuchet MS"/>
              </a:rPr>
              <a:t>Nets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9" dirty="0">
                <a:solidFill>
                  <a:srgbClr val="5E5E5E"/>
                </a:solidFill>
                <a:latin typeface="Trebuchet MS"/>
                <a:cs typeface="Trebuchet MS"/>
              </a:rPr>
              <a:t>[Romero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i="1" spc="15" dirty="0">
                <a:solidFill>
                  <a:srgbClr val="5E5E5E"/>
                </a:solidFill>
                <a:latin typeface="Arial"/>
                <a:cs typeface="Arial"/>
              </a:rPr>
              <a:t>et</a:t>
            </a:r>
            <a:r>
              <a:rPr sz="1182" i="1" spc="3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82" i="1" spc="-33" dirty="0">
                <a:solidFill>
                  <a:srgbClr val="5E5E5E"/>
                </a:solidFill>
                <a:latin typeface="Arial"/>
                <a:cs typeface="Arial"/>
              </a:rPr>
              <a:t>al.</a:t>
            </a:r>
            <a:r>
              <a:rPr sz="1182" spc="-33" dirty="0">
                <a:solidFill>
                  <a:srgbClr val="5E5E5E"/>
                </a:solidFill>
                <a:latin typeface="Trebuchet MS"/>
                <a:cs typeface="Trebuchet MS"/>
              </a:rPr>
              <a:t>,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85" dirty="0">
                <a:solidFill>
                  <a:srgbClr val="5E5E5E"/>
                </a:solidFill>
                <a:latin typeface="Trebuchet MS"/>
                <a:cs typeface="Trebuchet MS"/>
              </a:rPr>
              <a:t>ICLR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2015]</a:t>
            </a:r>
            <a:endParaRPr sz="1182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30079" y="2220954"/>
            <a:ext cx="1154808" cy="1734331"/>
            <a:chOff x="4006674" y="3662518"/>
            <a:chExt cx="1904364" cy="2860040"/>
          </a:xfrm>
        </p:grpSpPr>
        <p:sp>
          <p:nvSpPr>
            <p:cNvPr id="7" name="object 7"/>
            <p:cNvSpPr/>
            <p:nvPr/>
          </p:nvSpPr>
          <p:spPr>
            <a:xfrm>
              <a:off x="4020373" y="5721207"/>
              <a:ext cx="1871345" cy="797560"/>
            </a:xfrm>
            <a:custGeom>
              <a:avLst/>
              <a:gdLst/>
              <a:ahLst/>
              <a:cxnLst/>
              <a:rect l="l" t="t" r="r" b="b"/>
              <a:pathLst>
                <a:path w="1871345" h="797559">
                  <a:moveTo>
                    <a:pt x="58002" y="447923"/>
                  </a:moveTo>
                  <a:lnTo>
                    <a:pt x="36723" y="452914"/>
                  </a:lnTo>
                  <a:lnTo>
                    <a:pt x="18142" y="466065"/>
                  </a:lnTo>
                  <a:lnTo>
                    <a:pt x="4990" y="484646"/>
                  </a:lnTo>
                  <a:lnTo>
                    <a:pt x="0" y="505926"/>
                  </a:lnTo>
                  <a:lnTo>
                    <a:pt x="0" y="739444"/>
                  </a:lnTo>
                  <a:lnTo>
                    <a:pt x="4990" y="760767"/>
                  </a:lnTo>
                  <a:lnTo>
                    <a:pt x="18142" y="779359"/>
                  </a:lnTo>
                  <a:lnTo>
                    <a:pt x="36723" y="792505"/>
                  </a:lnTo>
                  <a:lnTo>
                    <a:pt x="58002" y="797490"/>
                  </a:lnTo>
                  <a:lnTo>
                    <a:pt x="1809342" y="797490"/>
                  </a:lnTo>
                  <a:lnTo>
                    <a:pt x="1830666" y="792505"/>
                  </a:lnTo>
                  <a:lnTo>
                    <a:pt x="1849258" y="779359"/>
                  </a:lnTo>
                  <a:lnTo>
                    <a:pt x="1862404" y="760767"/>
                  </a:lnTo>
                  <a:lnTo>
                    <a:pt x="1867389" y="739444"/>
                  </a:lnTo>
                  <a:lnTo>
                    <a:pt x="1867389" y="505926"/>
                  </a:lnTo>
                  <a:lnTo>
                    <a:pt x="1862404" y="484646"/>
                  </a:lnTo>
                  <a:lnTo>
                    <a:pt x="1849258" y="466065"/>
                  </a:lnTo>
                  <a:lnTo>
                    <a:pt x="1830666" y="452914"/>
                  </a:lnTo>
                  <a:lnTo>
                    <a:pt x="1809342" y="447923"/>
                  </a:lnTo>
                  <a:lnTo>
                    <a:pt x="58002" y="447923"/>
                  </a:lnTo>
                  <a:close/>
                </a:path>
                <a:path w="1871345" h="797559">
                  <a:moveTo>
                    <a:pt x="61550" y="0"/>
                  </a:moveTo>
                  <a:lnTo>
                    <a:pt x="40271" y="5002"/>
                  </a:lnTo>
                  <a:lnTo>
                    <a:pt x="21689" y="18236"/>
                  </a:lnTo>
                  <a:lnTo>
                    <a:pt x="8538" y="37041"/>
                  </a:lnTo>
                  <a:lnTo>
                    <a:pt x="3547" y="58756"/>
                  </a:lnTo>
                  <a:lnTo>
                    <a:pt x="3547" y="291564"/>
                  </a:lnTo>
                  <a:lnTo>
                    <a:pt x="8538" y="312869"/>
                  </a:lnTo>
                  <a:lnTo>
                    <a:pt x="21689" y="331463"/>
                  </a:lnTo>
                  <a:lnTo>
                    <a:pt x="40271" y="344620"/>
                  </a:lnTo>
                  <a:lnTo>
                    <a:pt x="61550" y="349611"/>
                  </a:lnTo>
                  <a:lnTo>
                    <a:pt x="1812890" y="349611"/>
                  </a:lnTo>
                  <a:lnTo>
                    <a:pt x="1834213" y="344620"/>
                  </a:lnTo>
                  <a:lnTo>
                    <a:pt x="1852805" y="331463"/>
                  </a:lnTo>
                  <a:lnTo>
                    <a:pt x="1865951" y="312869"/>
                  </a:lnTo>
                  <a:lnTo>
                    <a:pt x="1870937" y="291564"/>
                  </a:lnTo>
                  <a:lnTo>
                    <a:pt x="1870937" y="58756"/>
                  </a:lnTo>
                  <a:lnTo>
                    <a:pt x="1865951" y="37041"/>
                  </a:lnTo>
                  <a:lnTo>
                    <a:pt x="1852805" y="18236"/>
                  </a:lnTo>
                  <a:lnTo>
                    <a:pt x="1834213" y="5002"/>
                  </a:lnTo>
                  <a:lnTo>
                    <a:pt x="1812890" y="0"/>
                  </a:lnTo>
                  <a:lnTo>
                    <a:pt x="61550" y="0"/>
                  </a:lnTo>
                  <a:close/>
                </a:path>
              </a:pathLst>
            </a:custGeom>
            <a:ln w="70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8"/>
            <p:cNvSpPr/>
            <p:nvPr/>
          </p:nvSpPr>
          <p:spPr>
            <a:xfrm>
              <a:off x="4027468" y="4743322"/>
              <a:ext cx="1867535" cy="349250"/>
            </a:xfrm>
            <a:custGeom>
              <a:avLst/>
              <a:gdLst/>
              <a:ahLst/>
              <a:cxnLst/>
              <a:rect l="l" t="t" r="r" b="b"/>
              <a:pathLst>
                <a:path w="1867535" h="349250">
                  <a:moveTo>
                    <a:pt x="58002" y="0"/>
                  </a:moveTo>
                  <a:lnTo>
                    <a:pt x="36704" y="4984"/>
                  </a:lnTo>
                  <a:lnTo>
                    <a:pt x="18125" y="18125"/>
                  </a:lnTo>
                  <a:lnTo>
                    <a:pt x="4984" y="36704"/>
                  </a:lnTo>
                  <a:lnTo>
                    <a:pt x="0" y="58002"/>
                  </a:lnTo>
                  <a:lnTo>
                    <a:pt x="0" y="290811"/>
                  </a:lnTo>
                  <a:lnTo>
                    <a:pt x="4984" y="312115"/>
                  </a:lnTo>
                  <a:lnTo>
                    <a:pt x="18125" y="330709"/>
                  </a:lnTo>
                  <a:lnTo>
                    <a:pt x="36704" y="343866"/>
                  </a:lnTo>
                  <a:lnTo>
                    <a:pt x="58002" y="348857"/>
                  </a:lnTo>
                  <a:lnTo>
                    <a:pt x="1809342" y="348857"/>
                  </a:lnTo>
                  <a:lnTo>
                    <a:pt x="1830659" y="343866"/>
                  </a:lnTo>
                  <a:lnTo>
                    <a:pt x="1849236" y="330709"/>
                  </a:lnTo>
                  <a:lnTo>
                    <a:pt x="1862366" y="312115"/>
                  </a:lnTo>
                  <a:lnTo>
                    <a:pt x="1867345" y="290811"/>
                  </a:lnTo>
                  <a:lnTo>
                    <a:pt x="1867345" y="58002"/>
                  </a:lnTo>
                  <a:lnTo>
                    <a:pt x="1862366" y="36704"/>
                  </a:lnTo>
                  <a:lnTo>
                    <a:pt x="1849236" y="18125"/>
                  </a:lnTo>
                  <a:lnTo>
                    <a:pt x="1830659" y="4984"/>
                  </a:lnTo>
                  <a:lnTo>
                    <a:pt x="1809342" y="0"/>
                  </a:lnTo>
                  <a:lnTo>
                    <a:pt x="58002" y="0"/>
                  </a:lnTo>
                  <a:close/>
                </a:path>
              </a:pathLst>
            </a:custGeom>
            <a:ln w="318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4010484" y="3666328"/>
              <a:ext cx="1868170" cy="349885"/>
            </a:xfrm>
            <a:custGeom>
              <a:avLst/>
              <a:gdLst/>
              <a:ahLst/>
              <a:cxnLst/>
              <a:rect l="l" t="t" r="r" b="b"/>
              <a:pathLst>
                <a:path w="1868170" h="349885">
                  <a:moveTo>
                    <a:pt x="58002" y="0"/>
                  </a:moveTo>
                  <a:lnTo>
                    <a:pt x="36704" y="4984"/>
                  </a:lnTo>
                  <a:lnTo>
                    <a:pt x="18125" y="18125"/>
                  </a:lnTo>
                  <a:lnTo>
                    <a:pt x="4984" y="36704"/>
                  </a:lnTo>
                  <a:lnTo>
                    <a:pt x="0" y="58002"/>
                  </a:lnTo>
                  <a:lnTo>
                    <a:pt x="0" y="291520"/>
                  </a:lnTo>
                  <a:lnTo>
                    <a:pt x="4984" y="312837"/>
                  </a:lnTo>
                  <a:lnTo>
                    <a:pt x="18125" y="331413"/>
                  </a:lnTo>
                  <a:lnTo>
                    <a:pt x="36704" y="344544"/>
                  </a:lnTo>
                  <a:lnTo>
                    <a:pt x="58002" y="349523"/>
                  </a:lnTo>
                  <a:lnTo>
                    <a:pt x="1809342" y="349523"/>
                  </a:lnTo>
                  <a:lnTo>
                    <a:pt x="1830758" y="344544"/>
                  </a:lnTo>
                  <a:lnTo>
                    <a:pt x="1849596" y="331413"/>
                  </a:lnTo>
                  <a:lnTo>
                    <a:pt x="1862996" y="312837"/>
                  </a:lnTo>
                  <a:lnTo>
                    <a:pt x="1868099" y="291520"/>
                  </a:lnTo>
                  <a:lnTo>
                    <a:pt x="1868099" y="58002"/>
                  </a:lnTo>
                  <a:lnTo>
                    <a:pt x="1862996" y="36704"/>
                  </a:lnTo>
                  <a:lnTo>
                    <a:pt x="1849596" y="18125"/>
                  </a:lnTo>
                  <a:lnTo>
                    <a:pt x="1830758" y="4984"/>
                  </a:lnTo>
                  <a:lnTo>
                    <a:pt x="1809342" y="0"/>
                  </a:lnTo>
                  <a:lnTo>
                    <a:pt x="58002" y="0"/>
                  </a:lnTo>
                  <a:close/>
                </a:path>
              </a:pathLst>
            </a:custGeom>
            <a:ln w="70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08260" y="3575821"/>
            <a:ext cx="56990" cy="8280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485" b="1" spc="3" dirty="0">
                <a:latin typeface="Times New Roman"/>
                <a:cs typeface="Times New Roman"/>
              </a:rPr>
              <a:t>T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85578" y="3459958"/>
            <a:ext cx="226418" cy="137547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3104">
              <a:spcBef>
                <a:spcPts val="55"/>
              </a:spcBef>
            </a:pPr>
            <a:r>
              <a:rPr sz="1273" b="1" spc="-9" baseline="-17857" dirty="0">
                <a:latin typeface="Times New Roman"/>
                <a:cs typeface="Times New Roman"/>
              </a:rPr>
              <a:t>W</a:t>
            </a:r>
            <a:r>
              <a:rPr sz="1273" b="1" spc="118" baseline="-17857" dirty="0">
                <a:latin typeface="Times New Roman"/>
                <a:cs typeface="Times New Roman"/>
              </a:rPr>
              <a:t> </a:t>
            </a:r>
            <a:r>
              <a:rPr sz="485" b="1" dirty="0">
                <a:latin typeface="Times New Roman"/>
                <a:cs typeface="Times New Roman"/>
              </a:rPr>
              <a:t>2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8260" y="3837993"/>
            <a:ext cx="56990" cy="8280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485" b="1" spc="3" dirty="0">
                <a:latin typeface="Times New Roman"/>
                <a:cs typeface="Times New Roman"/>
              </a:rPr>
              <a:t>T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5578" y="3722141"/>
            <a:ext cx="226418" cy="137547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3104">
              <a:spcBef>
                <a:spcPts val="55"/>
              </a:spcBef>
            </a:pPr>
            <a:r>
              <a:rPr sz="1273" b="1" spc="-9" baseline="-17857" dirty="0">
                <a:latin typeface="Times New Roman"/>
                <a:cs typeface="Times New Roman"/>
              </a:rPr>
              <a:t>W</a:t>
            </a:r>
            <a:r>
              <a:rPr sz="1273" b="1" spc="118" baseline="-17857" dirty="0">
                <a:latin typeface="Times New Roman"/>
                <a:cs typeface="Times New Roman"/>
              </a:rPr>
              <a:t> </a:t>
            </a:r>
            <a:r>
              <a:rPr sz="485" b="1" dirty="0">
                <a:latin typeface="Times New Roman"/>
                <a:cs typeface="Times New Roman"/>
              </a:rPr>
              <a:t>1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83795" y="2980228"/>
            <a:ext cx="81634" cy="45469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31960">
              <a:spcBef>
                <a:spcPts val="64"/>
              </a:spcBef>
            </a:pPr>
            <a:r>
              <a:rPr sz="485" b="1" spc="3" dirty="0">
                <a:latin typeface="Times New Roman"/>
                <a:cs typeface="Times New Roman"/>
              </a:rPr>
              <a:t>T</a:t>
            </a:r>
            <a:endParaRPr sz="485">
              <a:latin typeface="Times New Roman"/>
              <a:cs typeface="Times New Roman"/>
            </a:endParaRPr>
          </a:p>
          <a:p>
            <a:pPr marL="7701">
              <a:lnSpc>
                <a:spcPts val="976"/>
              </a:lnSpc>
              <a:spcBef>
                <a:spcPts val="49"/>
              </a:spcBef>
            </a:pPr>
            <a:r>
              <a:rPr sz="849" b="1" spc="-3" dirty="0">
                <a:latin typeface="Times New Roman"/>
                <a:cs typeface="Times New Roman"/>
              </a:rPr>
              <a:t>.</a:t>
            </a:r>
            <a:endParaRPr sz="849">
              <a:latin typeface="Times New Roman"/>
              <a:cs typeface="Times New Roman"/>
            </a:endParaRPr>
          </a:p>
          <a:p>
            <a:pPr marL="7701">
              <a:lnSpc>
                <a:spcPts val="937"/>
              </a:lnSpc>
            </a:pPr>
            <a:r>
              <a:rPr sz="849" b="1" spc="-3" dirty="0">
                <a:latin typeface="Times New Roman"/>
                <a:cs typeface="Times New Roman"/>
              </a:rPr>
              <a:t>.</a:t>
            </a:r>
            <a:endParaRPr sz="849">
              <a:latin typeface="Times New Roman"/>
              <a:cs typeface="Times New Roman"/>
            </a:endParaRPr>
          </a:p>
          <a:p>
            <a:pPr marL="7701">
              <a:lnSpc>
                <a:spcPts val="976"/>
              </a:lnSpc>
            </a:pPr>
            <a:r>
              <a:rPr sz="849" b="1" spc="-3" dirty="0">
                <a:latin typeface="Times New Roman"/>
                <a:cs typeface="Times New Roman"/>
              </a:rPr>
              <a:t>.</a:t>
            </a:r>
            <a:endParaRPr sz="849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5578" y="2864376"/>
            <a:ext cx="229884" cy="137547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3104">
              <a:spcBef>
                <a:spcPts val="55"/>
              </a:spcBef>
            </a:pPr>
            <a:r>
              <a:rPr sz="1273" b="1" spc="-9" baseline="-17857" dirty="0">
                <a:latin typeface="Times New Roman"/>
                <a:cs typeface="Times New Roman"/>
              </a:rPr>
              <a:t>W</a:t>
            </a:r>
            <a:r>
              <a:rPr sz="1273" b="1" spc="118" baseline="-17857" dirty="0">
                <a:latin typeface="Times New Roman"/>
                <a:cs typeface="Times New Roman"/>
              </a:rPr>
              <a:t> </a:t>
            </a:r>
            <a:r>
              <a:rPr sz="485" b="1" i="1" dirty="0">
                <a:latin typeface="Times New Roman"/>
                <a:cs typeface="Times New Roman"/>
              </a:rPr>
              <a:t>h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3561" y="2256777"/>
            <a:ext cx="233349" cy="519960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3104">
              <a:lnSpc>
                <a:spcPts val="379"/>
              </a:lnSpc>
              <a:spcBef>
                <a:spcPts val="55"/>
              </a:spcBef>
            </a:pPr>
            <a:r>
              <a:rPr sz="849" b="1" spc="-6" dirty="0">
                <a:latin typeface="Times New Roman"/>
                <a:cs typeface="Times New Roman"/>
              </a:rPr>
              <a:t>W</a:t>
            </a:r>
            <a:r>
              <a:rPr sz="728" b="1" spc="-9" baseline="-31250" dirty="0">
                <a:latin typeface="Times New Roman"/>
                <a:cs typeface="Times New Roman"/>
              </a:rPr>
              <a:t>T</a:t>
            </a:r>
            <a:endParaRPr sz="728" baseline="-31250">
              <a:latin typeface="Times New Roman"/>
              <a:cs typeface="Times New Roman"/>
            </a:endParaRPr>
          </a:p>
          <a:p>
            <a:pPr marR="18483" algn="r">
              <a:lnSpc>
                <a:spcPts val="288"/>
              </a:lnSpc>
            </a:pPr>
            <a:r>
              <a:rPr sz="485" b="1" i="1" dirty="0">
                <a:latin typeface="Times New Roman"/>
                <a:cs typeface="Times New Roman"/>
              </a:rPr>
              <a:t>L</a:t>
            </a:r>
            <a:endParaRPr sz="485">
              <a:latin typeface="Times New Roman"/>
              <a:cs typeface="Times New Roman"/>
            </a:endParaRPr>
          </a:p>
          <a:p>
            <a:pPr marL="16558" algn="ctr">
              <a:lnSpc>
                <a:spcPts val="979"/>
              </a:lnSpc>
              <a:spcBef>
                <a:spcPts val="415"/>
              </a:spcBef>
            </a:pPr>
            <a:r>
              <a:rPr sz="849" b="1" spc="-3" dirty="0">
                <a:latin typeface="Times New Roman"/>
                <a:cs typeface="Times New Roman"/>
              </a:rPr>
              <a:t>.</a:t>
            </a:r>
            <a:endParaRPr sz="849">
              <a:latin typeface="Times New Roman"/>
              <a:cs typeface="Times New Roman"/>
            </a:endParaRPr>
          </a:p>
          <a:p>
            <a:pPr marL="16558" algn="ctr">
              <a:lnSpc>
                <a:spcPts val="937"/>
              </a:lnSpc>
            </a:pPr>
            <a:r>
              <a:rPr sz="849" b="1" spc="-3" dirty="0">
                <a:latin typeface="Times New Roman"/>
                <a:cs typeface="Times New Roman"/>
              </a:rPr>
              <a:t>.</a:t>
            </a:r>
            <a:endParaRPr sz="849">
              <a:latin typeface="Times New Roman"/>
              <a:cs typeface="Times New Roman"/>
            </a:endParaRPr>
          </a:p>
          <a:p>
            <a:pPr marL="16558" algn="ctr">
              <a:lnSpc>
                <a:spcPts val="976"/>
              </a:lnSpc>
            </a:pPr>
            <a:r>
              <a:rPr sz="849" b="1" spc="-3" dirty="0">
                <a:latin typeface="Times New Roman"/>
                <a:cs typeface="Times New Roman"/>
              </a:rPr>
              <a:t>.</a:t>
            </a:r>
            <a:endParaRPr sz="849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97640" y="2797808"/>
            <a:ext cx="1452464" cy="1298053"/>
          </a:xfrm>
          <a:custGeom>
            <a:avLst/>
            <a:gdLst/>
            <a:ahLst/>
            <a:cxnLst/>
            <a:rect l="l" t="t" r="r" b="b"/>
            <a:pathLst>
              <a:path w="2395220" h="2140584">
                <a:moveTo>
                  <a:pt x="356662" y="0"/>
                </a:moveTo>
                <a:lnTo>
                  <a:pt x="312178" y="3612"/>
                </a:lnTo>
                <a:lnTo>
                  <a:pt x="268314" y="14036"/>
                </a:lnTo>
                <a:lnTo>
                  <a:pt x="225691" y="30653"/>
                </a:lnTo>
                <a:lnTo>
                  <a:pt x="184926" y="52843"/>
                </a:lnTo>
                <a:lnTo>
                  <a:pt x="146639" y="79987"/>
                </a:lnTo>
                <a:lnTo>
                  <a:pt x="111448" y="111465"/>
                </a:lnTo>
                <a:lnTo>
                  <a:pt x="79974" y="146658"/>
                </a:lnTo>
                <a:lnTo>
                  <a:pt x="52833" y="184946"/>
                </a:lnTo>
                <a:lnTo>
                  <a:pt x="30647" y="225709"/>
                </a:lnTo>
                <a:lnTo>
                  <a:pt x="14033" y="268330"/>
                </a:lnTo>
                <a:lnTo>
                  <a:pt x="3611" y="312187"/>
                </a:lnTo>
                <a:lnTo>
                  <a:pt x="0" y="356662"/>
                </a:lnTo>
                <a:lnTo>
                  <a:pt x="0" y="1783179"/>
                </a:lnTo>
                <a:lnTo>
                  <a:pt x="3611" y="1827678"/>
                </a:lnTo>
                <a:lnTo>
                  <a:pt x="14033" y="1871580"/>
                </a:lnTo>
                <a:lnTo>
                  <a:pt x="30647" y="1914262"/>
                </a:lnTo>
                <a:lnTo>
                  <a:pt x="52833" y="1955100"/>
                </a:lnTo>
                <a:lnTo>
                  <a:pt x="79974" y="1993470"/>
                </a:lnTo>
                <a:lnTo>
                  <a:pt x="111448" y="2028748"/>
                </a:lnTo>
                <a:lnTo>
                  <a:pt x="146639" y="2060311"/>
                </a:lnTo>
                <a:lnTo>
                  <a:pt x="184926" y="2087534"/>
                </a:lnTo>
                <a:lnTo>
                  <a:pt x="225691" y="2109793"/>
                </a:lnTo>
                <a:lnTo>
                  <a:pt x="268314" y="2126465"/>
                </a:lnTo>
                <a:lnTo>
                  <a:pt x="312178" y="2136926"/>
                </a:lnTo>
                <a:lnTo>
                  <a:pt x="356662" y="2140552"/>
                </a:lnTo>
                <a:lnTo>
                  <a:pt x="2037938" y="2140552"/>
                </a:lnTo>
                <a:lnTo>
                  <a:pt x="2082413" y="2136926"/>
                </a:lnTo>
                <a:lnTo>
                  <a:pt x="2126270" y="2126465"/>
                </a:lnTo>
                <a:lnTo>
                  <a:pt x="2168891" y="2109793"/>
                </a:lnTo>
                <a:lnTo>
                  <a:pt x="2209654" y="2087534"/>
                </a:lnTo>
                <a:lnTo>
                  <a:pt x="2247942" y="2060311"/>
                </a:lnTo>
                <a:lnTo>
                  <a:pt x="2283135" y="2028748"/>
                </a:lnTo>
                <a:lnTo>
                  <a:pt x="2314613" y="1993470"/>
                </a:lnTo>
                <a:lnTo>
                  <a:pt x="2341757" y="1955100"/>
                </a:lnTo>
                <a:lnTo>
                  <a:pt x="2363947" y="1914262"/>
                </a:lnTo>
                <a:lnTo>
                  <a:pt x="2380564" y="1871580"/>
                </a:lnTo>
                <a:lnTo>
                  <a:pt x="2390988" y="1827678"/>
                </a:lnTo>
                <a:lnTo>
                  <a:pt x="2394600" y="1783179"/>
                </a:lnTo>
                <a:lnTo>
                  <a:pt x="2394600" y="356662"/>
                </a:lnTo>
                <a:lnTo>
                  <a:pt x="2390988" y="312187"/>
                </a:lnTo>
                <a:lnTo>
                  <a:pt x="2380564" y="268330"/>
                </a:lnTo>
                <a:lnTo>
                  <a:pt x="2363947" y="225709"/>
                </a:lnTo>
                <a:lnTo>
                  <a:pt x="2341757" y="184946"/>
                </a:lnTo>
                <a:lnTo>
                  <a:pt x="2314613" y="146658"/>
                </a:lnTo>
                <a:lnTo>
                  <a:pt x="2283135" y="111465"/>
                </a:lnTo>
                <a:lnTo>
                  <a:pt x="2247942" y="79987"/>
                </a:lnTo>
                <a:lnTo>
                  <a:pt x="2209654" y="52843"/>
                </a:lnTo>
                <a:lnTo>
                  <a:pt x="2168891" y="30653"/>
                </a:lnTo>
                <a:lnTo>
                  <a:pt x="2126270" y="14036"/>
                </a:lnTo>
                <a:lnTo>
                  <a:pt x="2082413" y="3612"/>
                </a:lnTo>
                <a:lnTo>
                  <a:pt x="2037938" y="0"/>
                </a:lnTo>
                <a:lnTo>
                  <a:pt x="356662" y="0"/>
                </a:lnTo>
                <a:close/>
              </a:path>
            </a:pathLst>
          </a:custGeom>
          <a:ln w="3184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18" name="object 18"/>
          <p:cNvGrpSpPr/>
          <p:nvPr/>
        </p:nvGrpSpPr>
        <p:grpSpPr>
          <a:xfrm>
            <a:off x="4409087" y="1969071"/>
            <a:ext cx="643828" cy="2127097"/>
            <a:chOff x="7270205" y="3247144"/>
            <a:chExt cx="1061720" cy="3507740"/>
          </a:xfrm>
        </p:grpSpPr>
        <p:sp>
          <p:nvSpPr>
            <p:cNvPr id="19" name="object 19"/>
            <p:cNvSpPr/>
            <p:nvPr/>
          </p:nvSpPr>
          <p:spPr>
            <a:xfrm>
              <a:off x="7274015" y="6007805"/>
              <a:ext cx="1038225" cy="743585"/>
            </a:xfrm>
            <a:custGeom>
              <a:avLst/>
              <a:gdLst/>
              <a:ahLst/>
              <a:cxnLst/>
              <a:rect l="l" t="t" r="r" b="b"/>
              <a:pathLst>
                <a:path w="1038225" h="743584">
                  <a:moveTo>
                    <a:pt x="53745" y="417503"/>
                  </a:moveTo>
                  <a:lnTo>
                    <a:pt x="34010" y="422233"/>
                  </a:lnTo>
                  <a:lnTo>
                    <a:pt x="16795" y="434658"/>
                  </a:lnTo>
                  <a:lnTo>
                    <a:pt x="4618" y="452131"/>
                  </a:lnTo>
                  <a:lnTo>
                    <a:pt x="0" y="472002"/>
                  </a:lnTo>
                  <a:lnTo>
                    <a:pt x="0" y="689246"/>
                  </a:lnTo>
                  <a:lnTo>
                    <a:pt x="4618" y="708980"/>
                  </a:lnTo>
                  <a:lnTo>
                    <a:pt x="16795" y="726196"/>
                  </a:lnTo>
                  <a:lnTo>
                    <a:pt x="34010" y="738372"/>
                  </a:lnTo>
                  <a:lnTo>
                    <a:pt x="53745" y="742991"/>
                  </a:lnTo>
                  <a:lnTo>
                    <a:pt x="980012" y="742991"/>
                  </a:lnTo>
                  <a:lnTo>
                    <a:pt x="999772" y="738372"/>
                  </a:lnTo>
                  <a:lnTo>
                    <a:pt x="1017001" y="726196"/>
                  </a:lnTo>
                  <a:lnTo>
                    <a:pt x="1029182" y="708980"/>
                  </a:lnTo>
                  <a:lnTo>
                    <a:pt x="1033802" y="689246"/>
                  </a:lnTo>
                  <a:lnTo>
                    <a:pt x="1033802" y="472002"/>
                  </a:lnTo>
                  <a:lnTo>
                    <a:pt x="1029182" y="452131"/>
                  </a:lnTo>
                  <a:lnTo>
                    <a:pt x="1017001" y="434658"/>
                  </a:lnTo>
                  <a:lnTo>
                    <a:pt x="999772" y="422233"/>
                  </a:lnTo>
                  <a:lnTo>
                    <a:pt x="980012" y="417503"/>
                  </a:lnTo>
                  <a:lnTo>
                    <a:pt x="53745" y="417503"/>
                  </a:lnTo>
                  <a:close/>
                </a:path>
                <a:path w="1038225" h="743584">
                  <a:moveTo>
                    <a:pt x="53745" y="0"/>
                  </a:moveTo>
                  <a:lnTo>
                    <a:pt x="34010" y="4736"/>
                  </a:lnTo>
                  <a:lnTo>
                    <a:pt x="16795" y="17172"/>
                  </a:lnTo>
                  <a:lnTo>
                    <a:pt x="4618" y="34646"/>
                  </a:lnTo>
                  <a:lnTo>
                    <a:pt x="0" y="54499"/>
                  </a:lnTo>
                  <a:lnTo>
                    <a:pt x="0" y="271742"/>
                  </a:lnTo>
                  <a:lnTo>
                    <a:pt x="4618" y="291477"/>
                  </a:lnTo>
                  <a:lnTo>
                    <a:pt x="16795" y="308692"/>
                  </a:lnTo>
                  <a:lnTo>
                    <a:pt x="34010" y="320869"/>
                  </a:lnTo>
                  <a:lnTo>
                    <a:pt x="53745" y="325488"/>
                  </a:lnTo>
                  <a:lnTo>
                    <a:pt x="983560" y="325488"/>
                  </a:lnTo>
                  <a:lnTo>
                    <a:pt x="1003412" y="320869"/>
                  </a:lnTo>
                  <a:lnTo>
                    <a:pt x="1020887" y="308692"/>
                  </a:lnTo>
                  <a:lnTo>
                    <a:pt x="1033322" y="291477"/>
                  </a:lnTo>
                  <a:lnTo>
                    <a:pt x="1038059" y="271742"/>
                  </a:lnTo>
                  <a:lnTo>
                    <a:pt x="1038059" y="54499"/>
                  </a:lnTo>
                  <a:lnTo>
                    <a:pt x="1033322" y="34646"/>
                  </a:lnTo>
                  <a:lnTo>
                    <a:pt x="1020887" y="17172"/>
                  </a:lnTo>
                  <a:lnTo>
                    <a:pt x="1003412" y="4736"/>
                  </a:lnTo>
                  <a:lnTo>
                    <a:pt x="983560" y="0"/>
                  </a:lnTo>
                  <a:lnTo>
                    <a:pt x="53745" y="0"/>
                  </a:lnTo>
                  <a:close/>
                </a:path>
              </a:pathLst>
            </a:custGeom>
            <a:ln w="70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0" name="object 20"/>
            <p:cNvSpPr/>
            <p:nvPr/>
          </p:nvSpPr>
          <p:spPr>
            <a:xfrm>
              <a:off x="7321374" y="4455305"/>
              <a:ext cx="994410" cy="325755"/>
            </a:xfrm>
            <a:custGeom>
              <a:avLst/>
              <a:gdLst/>
              <a:ahLst/>
              <a:cxnLst/>
              <a:rect l="l" t="t" r="r" b="b"/>
              <a:pathLst>
                <a:path w="994409" h="325754">
                  <a:moveTo>
                    <a:pt x="53834" y="0"/>
                  </a:moveTo>
                  <a:lnTo>
                    <a:pt x="34066" y="4636"/>
                  </a:lnTo>
                  <a:lnTo>
                    <a:pt x="16823" y="16906"/>
                  </a:lnTo>
                  <a:lnTo>
                    <a:pt x="4626" y="34347"/>
                  </a:lnTo>
                  <a:lnTo>
                    <a:pt x="0" y="54499"/>
                  </a:lnTo>
                  <a:lnTo>
                    <a:pt x="0" y="271742"/>
                  </a:lnTo>
                  <a:lnTo>
                    <a:pt x="4626" y="291477"/>
                  </a:lnTo>
                  <a:lnTo>
                    <a:pt x="16823" y="308692"/>
                  </a:lnTo>
                  <a:lnTo>
                    <a:pt x="34066" y="320869"/>
                  </a:lnTo>
                  <a:lnTo>
                    <a:pt x="53834" y="325488"/>
                  </a:lnTo>
                  <a:lnTo>
                    <a:pt x="939747" y="325488"/>
                  </a:lnTo>
                  <a:lnTo>
                    <a:pt x="959593" y="320869"/>
                  </a:lnTo>
                  <a:lnTo>
                    <a:pt x="977052" y="308692"/>
                  </a:lnTo>
                  <a:lnTo>
                    <a:pt x="989473" y="291477"/>
                  </a:lnTo>
                  <a:lnTo>
                    <a:pt x="994202" y="271742"/>
                  </a:lnTo>
                  <a:lnTo>
                    <a:pt x="994202" y="54499"/>
                  </a:lnTo>
                  <a:lnTo>
                    <a:pt x="989473" y="34347"/>
                  </a:lnTo>
                  <a:lnTo>
                    <a:pt x="977052" y="16906"/>
                  </a:lnTo>
                  <a:lnTo>
                    <a:pt x="959593" y="4636"/>
                  </a:lnTo>
                  <a:lnTo>
                    <a:pt x="939747" y="0"/>
                  </a:lnTo>
                  <a:lnTo>
                    <a:pt x="53834" y="0"/>
                  </a:lnTo>
                  <a:close/>
                </a:path>
              </a:pathLst>
            </a:custGeom>
            <a:ln w="318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1" name="object 21"/>
            <p:cNvSpPr/>
            <p:nvPr/>
          </p:nvSpPr>
          <p:spPr>
            <a:xfrm>
              <a:off x="7281065" y="3250954"/>
              <a:ext cx="998219" cy="325755"/>
            </a:xfrm>
            <a:custGeom>
              <a:avLst/>
              <a:gdLst/>
              <a:ahLst/>
              <a:cxnLst/>
              <a:rect l="l" t="t" r="r" b="b"/>
              <a:pathLst>
                <a:path w="998220" h="325754">
                  <a:moveTo>
                    <a:pt x="54499" y="0"/>
                  </a:moveTo>
                  <a:lnTo>
                    <a:pt x="34347" y="4636"/>
                  </a:lnTo>
                  <a:lnTo>
                    <a:pt x="16906" y="16906"/>
                  </a:lnTo>
                  <a:lnTo>
                    <a:pt x="4636" y="34347"/>
                  </a:lnTo>
                  <a:lnTo>
                    <a:pt x="0" y="54499"/>
                  </a:lnTo>
                  <a:lnTo>
                    <a:pt x="0" y="271033"/>
                  </a:lnTo>
                  <a:lnTo>
                    <a:pt x="4636" y="291178"/>
                  </a:lnTo>
                  <a:lnTo>
                    <a:pt x="16906" y="308604"/>
                  </a:lnTo>
                  <a:lnTo>
                    <a:pt x="34347" y="320858"/>
                  </a:lnTo>
                  <a:lnTo>
                    <a:pt x="54499" y="325488"/>
                  </a:lnTo>
                  <a:lnTo>
                    <a:pt x="943251" y="325488"/>
                  </a:lnTo>
                  <a:lnTo>
                    <a:pt x="963402" y="320858"/>
                  </a:lnTo>
                  <a:lnTo>
                    <a:pt x="980844" y="308604"/>
                  </a:lnTo>
                  <a:lnTo>
                    <a:pt x="993113" y="291178"/>
                  </a:lnTo>
                  <a:lnTo>
                    <a:pt x="997750" y="271033"/>
                  </a:lnTo>
                  <a:lnTo>
                    <a:pt x="997750" y="54499"/>
                  </a:lnTo>
                  <a:lnTo>
                    <a:pt x="993113" y="34347"/>
                  </a:lnTo>
                  <a:lnTo>
                    <a:pt x="980844" y="16906"/>
                  </a:lnTo>
                  <a:lnTo>
                    <a:pt x="963402" y="4636"/>
                  </a:lnTo>
                  <a:lnTo>
                    <a:pt x="943251" y="0"/>
                  </a:lnTo>
                  <a:lnTo>
                    <a:pt x="54499" y="0"/>
                  </a:lnTo>
                  <a:close/>
                </a:path>
              </a:pathLst>
            </a:custGeom>
            <a:ln w="70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13044" y="3006384"/>
            <a:ext cx="47748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b="1" spc="3" dirty="0">
                <a:latin typeface="Times New Roman"/>
                <a:cs typeface="Times New Roman"/>
              </a:rPr>
              <a:t>.</a:t>
            </a:r>
            <a:endParaRPr sz="1001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43947" y="3747445"/>
            <a:ext cx="50058" cy="8280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485" b="1" dirty="0">
                <a:latin typeface="Times New Roman"/>
                <a:cs typeface="Times New Roman"/>
              </a:rPr>
              <a:t>S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21267" y="3631592"/>
            <a:ext cx="219102" cy="137547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3104">
              <a:spcBef>
                <a:spcPts val="55"/>
              </a:spcBef>
            </a:pPr>
            <a:r>
              <a:rPr sz="1273" b="1" spc="-9" baseline="-17857" dirty="0">
                <a:latin typeface="Times New Roman"/>
                <a:cs typeface="Times New Roman"/>
              </a:rPr>
              <a:t>W</a:t>
            </a:r>
            <a:r>
              <a:rPr sz="1273" b="1" spc="32" baseline="-17857" dirty="0">
                <a:latin typeface="Times New Roman"/>
                <a:cs typeface="Times New Roman"/>
              </a:rPr>
              <a:t> </a:t>
            </a:r>
            <a:r>
              <a:rPr sz="485" b="1" dirty="0">
                <a:latin typeface="Times New Roman"/>
                <a:cs typeface="Times New Roman"/>
              </a:rPr>
              <a:t>2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10111" y="3911360"/>
            <a:ext cx="219102" cy="101768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3104">
              <a:lnSpc>
                <a:spcPts val="379"/>
              </a:lnSpc>
              <a:spcBef>
                <a:spcPts val="55"/>
              </a:spcBef>
            </a:pPr>
            <a:r>
              <a:rPr sz="849" b="1" spc="-3" dirty="0">
                <a:latin typeface="Times New Roman"/>
                <a:cs typeface="Times New Roman"/>
              </a:rPr>
              <a:t>W</a:t>
            </a:r>
            <a:r>
              <a:rPr sz="728" b="1" spc="-4" baseline="-31250" dirty="0">
                <a:latin typeface="Times New Roman"/>
                <a:cs typeface="Times New Roman"/>
              </a:rPr>
              <a:t>S</a:t>
            </a:r>
            <a:endParaRPr sz="728" baseline="-31250">
              <a:latin typeface="Times New Roman"/>
              <a:cs typeface="Times New Roman"/>
            </a:endParaRPr>
          </a:p>
          <a:p>
            <a:pPr marR="18483" algn="r">
              <a:lnSpc>
                <a:spcPts val="288"/>
              </a:lnSpc>
            </a:pPr>
            <a:r>
              <a:rPr sz="485" b="1" dirty="0">
                <a:latin typeface="Times New Roman"/>
                <a:cs typeface="Times New Roman"/>
              </a:rPr>
              <a:t>1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55103" y="2803861"/>
            <a:ext cx="50058" cy="8280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485" b="1" dirty="0">
                <a:latin typeface="Times New Roman"/>
                <a:cs typeface="Times New Roman"/>
              </a:rPr>
              <a:t>S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32852" y="2688009"/>
            <a:ext cx="219102" cy="137547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23104">
              <a:spcBef>
                <a:spcPts val="55"/>
              </a:spcBef>
            </a:pPr>
            <a:r>
              <a:rPr sz="1273" b="1" spc="-9" baseline="-17857" dirty="0">
                <a:latin typeface="Times New Roman"/>
                <a:cs typeface="Times New Roman"/>
              </a:rPr>
              <a:t>W</a:t>
            </a:r>
            <a:r>
              <a:rPr sz="1273" b="1" spc="32" baseline="-17857" dirty="0">
                <a:latin typeface="Times New Roman"/>
                <a:cs typeface="Times New Roman"/>
              </a:rPr>
              <a:t> </a:t>
            </a:r>
            <a:r>
              <a:rPr sz="485" b="1" i="1" dirty="0">
                <a:latin typeface="Times New Roman"/>
                <a:cs typeface="Times New Roman"/>
              </a:rPr>
              <a:t>g</a:t>
            </a:r>
            <a:endParaRPr sz="485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08389" y="2002311"/>
            <a:ext cx="243361" cy="620243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R="50058" algn="ctr">
              <a:lnSpc>
                <a:spcPts val="379"/>
              </a:lnSpc>
              <a:spcBef>
                <a:spcPts val="55"/>
              </a:spcBef>
            </a:pPr>
            <a:r>
              <a:rPr sz="849" b="1" spc="-3" dirty="0">
                <a:latin typeface="Times New Roman"/>
                <a:cs typeface="Times New Roman"/>
              </a:rPr>
              <a:t>W</a:t>
            </a:r>
            <a:r>
              <a:rPr sz="728" b="1" spc="-4" baseline="-31250" dirty="0">
                <a:latin typeface="Times New Roman"/>
                <a:cs typeface="Times New Roman"/>
              </a:rPr>
              <a:t>S</a:t>
            </a:r>
            <a:endParaRPr sz="728" baseline="-31250">
              <a:latin typeface="Times New Roman"/>
              <a:cs typeface="Times New Roman"/>
            </a:endParaRPr>
          </a:p>
          <a:p>
            <a:pPr marR="18483" algn="r">
              <a:lnSpc>
                <a:spcPts val="288"/>
              </a:lnSpc>
            </a:pPr>
            <a:r>
              <a:rPr sz="485" b="1" i="1" spc="3" dirty="0">
                <a:latin typeface="Times New Roman"/>
                <a:cs typeface="Times New Roman"/>
              </a:rPr>
              <a:t>M</a:t>
            </a:r>
            <a:endParaRPr sz="485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</a:pPr>
            <a:endParaRPr sz="485">
              <a:latin typeface="Times New Roman"/>
              <a:cs typeface="Times New Roman"/>
            </a:endParaRPr>
          </a:p>
          <a:p>
            <a:pPr marR="13862" algn="ctr">
              <a:lnSpc>
                <a:spcPts val="1164"/>
              </a:lnSpc>
            </a:pPr>
            <a:r>
              <a:rPr sz="1001" b="1" spc="3" dirty="0">
                <a:latin typeface="Times New Roman"/>
                <a:cs typeface="Times New Roman"/>
              </a:rPr>
              <a:t>.</a:t>
            </a:r>
            <a:endParaRPr sz="1001">
              <a:latin typeface="Times New Roman"/>
              <a:cs typeface="Times New Roman"/>
            </a:endParaRPr>
          </a:p>
          <a:p>
            <a:pPr marR="13862" algn="ctr">
              <a:lnSpc>
                <a:spcPts val="1125"/>
              </a:lnSpc>
            </a:pPr>
            <a:r>
              <a:rPr sz="1001" b="1" spc="3" dirty="0">
                <a:latin typeface="Times New Roman"/>
                <a:cs typeface="Times New Roman"/>
              </a:rPr>
              <a:t>.</a:t>
            </a:r>
            <a:endParaRPr sz="1001">
              <a:latin typeface="Times New Roman"/>
              <a:cs typeface="Times New Roman"/>
            </a:endParaRPr>
          </a:p>
          <a:p>
            <a:pPr marR="13862" algn="ctr">
              <a:lnSpc>
                <a:spcPts val="1161"/>
              </a:lnSpc>
            </a:pPr>
            <a:r>
              <a:rPr sz="1001" b="1" spc="3" dirty="0">
                <a:latin typeface="Times New Roman"/>
                <a:cs typeface="Times New Roman"/>
              </a:rPr>
              <a:t>.</a:t>
            </a:r>
            <a:endParaRPr sz="1001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53878" y="2647624"/>
            <a:ext cx="746255" cy="1498671"/>
          </a:xfrm>
          <a:custGeom>
            <a:avLst/>
            <a:gdLst/>
            <a:ahLst/>
            <a:cxnLst/>
            <a:rect l="l" t="t" r="r" b="b"/>
            <a:pathLst>
              <a:path w="1230629" h="2471420">
                <a:moveTo>
                  <a:pt x="204516" y="0"/>
                </a:moveTo>
                <a:lnTo>
                  <a:pt x="161101" y="5983"/>
                </a:lnTo>
                <a:lnTo>
                  <a:pt x="119406" y="22736"/>
                </a:lnTo>
                <a:lnTo>
                  <a:pt x="81240" y="48464"/>
                </a:lnTo>
                <a:lnTo>
                  <a:pt x="48408" y="81372"/>
                </a:lnTo>
                <a:lnTo>
                  <a:pt x="22719" y="119665"/>
                </a:lnTo>
                <a:lnTo>
                  <a:pt x="5981" y="161548"/>
                </a:lnTo>
                <a:lnTo>
                  <a:pt x="0" y="205226"/>
                </a:lnTo>
                <a:lnTo>
                  <a:pt x="0" y="2265825"/>
                </a:lnTo>
                <a:lnTo>
                  <a:pt x="5981" y="2309500"/>
                </a:lnTo>
                <a:lnTo>
                  <a:pt x="22719" y="2351377"/>
                </a:lnTo>
                <a:lnTo>
                  <a:pt x="48408" y="2389661"/>
                </a:lnTo>
                <a:lnTo>
                  <a:pt x="81240" y="2422559"/>
                </a:lnTo>
                <a:lnTo>
                  <a:pt x="119406" y="2448279"/>
                </a:lnTo>
                <a:lnTo>
                  <a:pt x="161101" y="2465026"/>
                </a:lnTo>
                <a:lnTo>
                  <a:pt x="204516" y="2471007"/>
                </a:lnTo>
                <a:lnTo>
                  <a:pt x="1025332" y="2471007"/>
                </a:lnTo>
                <a:lnTo>
                  <a:pt x="1068773" y="2465026"/>
                </a:lnTo>
                <a:lnTo>
                  <a:pt x="1110563" y="2448279"/>
                </a:lnTo>
                <a:lnTo>
                  <a:pt x="1148869" y="2422559"/>
                </a:lnTo>
                <a:lnTo>
                  <a:pt x="1181856" y="2389661"/>
                </a:lnTo>
                <a:lnTo>
                  <a:pt x="1207690" y="2351377"/>
                </a:lnTo>
                <a:lnTo>
                  <a:pt x="1224535" y="2309500"/>
                </a:lnTo>
                <a:lnTo>
                  <a:pt x="1230558" y="2265825"/>
                </a:lnTo>
                <a:lnTo>
                  <a:pt x="1230558" y="205226"/>
                </a:lnTo>
                <a:lnTo>
                  <a:pt x="1224535" y="161548"/>
                </a:lnTo>
                <a:lnTo>
                  <a:pt x="1207690" y="119665"/>
                </a:lnTo>
                <a:lnTo>
                  <a:pt x="1181856" y="81372"/>
                </a:lnTo>
                <a:lnTo>
                  <a:pt x="1148869" y="48464"/>
                </a:lnTo>
                <a:lnTo>
                  <a:pt x="1110563" y="22736"/>
                </a:lnTo>
                <a:lnTo>
                  <a:pt x="1068773" y="5983"/>
                </a:lnTo>
                <a:lnTo>
                  <a:pt x="1025332" y="0"/>
                </a:lnTo>
                <a:lnTo>
                  <a:pt x="204516" y="0"/>
                </a:lnTo>
                <a:close/>
              </a:path>
            </a:pathLst>
          </a:custGeom>
          <a:ln w="318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 txBox="1"/>
          <p:nvPr/>
        </p:nvSpPr>
        <p:spPr>
          <a:xfrm>
            <a:off x="2351303" y="3144117"/>
            <a:ext cx="137083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b="1" spc="12" dirty="0">
                <a:solidFill>
                  <a:srgbClr val="009900"/>
                </a:solidFill>
                <a:latin typeface="Arial"/>
                <a:cs typeface="Arial"/>
              </a:rPr>
              <a:t>W</a:t>
            </a:r>
            <a:endParaRPr sz="1001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72731" y="3240662"/>
            <a:ext cx="160572" cy="97946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576" b="1" spc="3" dirty="0">
                <a:solidFill>
                  <a:srgbClr val="009900"/>
                </a:solidFill>
                <a:latin typeface="Arial"/>
                <a:cs typeface="Arial"/>
              </a:rPr>
              <a:t>Hint</a:t>
            </a:r>
            <a:endParaRPr sz="576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77504" y="3044998"/>
            <a:ext cx="137083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b="1" spc="12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endParaRPr sz="1001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83539" y="3037692"/>
            <a:ext cx="292649" cy="418756"/>
          </a:xfrm>
          <a:prstGeom prst="rect">
            <a:avLst/>
          </a:prstGeom>
        </p:spPr>
        <p:txBody>
          <a:bodyPr vert="horz" wrap="square" lIns="0" tIns="58915" rIns="0" bIns="0" rtlCol="0">
            <a:spAutoFit/>
          </a:bodyPr>
          <a:lstStyle/>
          <a:p>
            <a:pPr marL="23104">
              <a:spcBef>
                <a:spcPts val="464"/>
              </a:spcBef>
            </a:pPr>
            <a:r>
              <a:rPr sz="576" b="1" spc="-45" dirty="0">
                <a:solidFill>
                  <a:srgbClr val="FF0000"/>
                </a:solidFill>
                <a:latin typeface="Arial"/>
                <a:cs typeface="Arial"/>
              </a:rPr>
              <a:t>Guided</a:t>
            </a:r>
            <a:r>
              <a:rPr sz="1501" b="1" spc="-68" baseline="-26936" dirty="0">
                <a:latin typeface="Times New Roman"/>
                <a:cs typeface="Times New Roman"/>
              </a:rPr>
              <a:t>.</a:t>
            </a:r>
            <a:endParaRPr sz="1501" baseline="-26936">
              <a:latin typeface="Times New Roman"/>
              <a:cs typeface="Times New Roman"/>
            </a:endParaRPr>
          </a:p>
          <a:p>
            <a:pPr marR="18483" algn="r">
              <a:spcBef>
                <a:spcPts val="409"/>
              </a:spcBef>
            </a:pPr>
            <a:r>
              <a:rPr sz="1001" b="1" spc="3" dirty="0">
                <a:latin typeface="Times New Roman"/>
                <a:cs typeface="Times New Roman"/>
              </a:rPr>
              <a:t>.</a:t>
            </a:r>
            <a:endParaRPr sz="1001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12647" y="1694206"/>
            <a:ext cx="901821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spc="-6" dirty="0">
                <a:latin typeface="Times New Roman"/>
                <a:cs typeface="Times New Roman"/>
              </a:rPr>
              <a:t>Teacher</a:t>
            </a:r>
            <a:r>
              <a:rPr sz="1001" spc="-45" dirty="0">
                <a:latin typeface="Times New Roman"/>
                <a:cs typeface="Times New Roman"/>
              </a:rPr>
              <a:t> </a:t>
            </a:r>
            <a:r>
              <a:rPr sz="1001" spc="3" dirty="0">
                <a:latin typeface="Times New Roman"/>
                <a:cs typeface="Times New Roman"/>
              </a:rPr>
              <a:t>Network</a:t>
            </a:r>
            <a:endParaRPr sz="1001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07043" y="1694206"/>
            <a:ext cx="344248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dirty="0">
                <a:latin typeface="Times New Roman"/>
                <a:cs typeface="Times New Roman"/>
              </a:rPr>
              <a:t>F</a:t>
            </a:r>
            <a:r>
              <a:rPr sz="1001" spc="3" dirty="0">
                <a:latin typeface="Times New Roman"/>
                <a:cs typeface="Times New Roman"/>
              </a:rPr>
              <a:t>itNet</a:t>
            </a:r>
            <a:endParaRPr sz="1001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169776" y="2087253"/>
            <a:ext cx="1722394" cy="2091286"/>
          </a:xfrm>
          <a:custGeom>
            <a:avLst/>
            <a:gdLst/>
            <a:ahLst/>
            <a:cxnLst/>
            <a:rect l="l" t="t" r="r" b="b"/>
            <a:pathLst>
              <a:path w="2840354" h="3448684">
                <a:moveTo>
                  <a:pt x="473377" y="0"/>
                </a:moveTo>
                <a:lnTo>
                  <a:pt x="429000" y="2719"/>
                </a:lnTo>
                <a:lnTo>
                  <a:pt x="384985" y="10646"/>
                </a:lnTo>
                <a:lnTo>
                  <a:pt x="341676" y="23431"/>
                </a:lnTo>
                <a:lnTo>
                  <a:pt x="299418" y="40727"/>
                </a:lnTo>
                <a:lnTo>
                  <a:pt x="258557" y="62186"/>
                </a:lnTo>
                <a:lnTo>
                  <a:pt x="219437" y="87459"/>
                </a:lnTo>
                <a:lnTo>
                  <a:pt x="182405" y="116198"/>
                </a:lnTo>
                <a:lnTo>
                  <a:pt x="147805" y="148055"/>
                </a:lnTo>
                <a:lnTo>
                  <a:pt x="115983" y="182681"/>
                </a:lnTo>
                <a:lnTo>
                  <a:pt x="87283" y="219730"/>
                </a:lnTo>
                <a:lnTo>
                  <a:pt x="62052" y="258852"/>
                </a:lnTo>
                <a:lnTo>
                  <a:pt x="40634" y="299699"/>
                </a:lnTo>
                <a:lnTo>
                  <a:pt x="23374" y="341923"/>
                </a:lnTo>
                <a:lnTo>
                  <a:pt x="10618" y="385176"/>
                </a:lnTo>
                <a:lnTo>
                  <a:pt x="2712" y="429110"/>
                </a:lnTo>
                <a:lnTo>
                  <a:pt x="0" y="473377"/>
                </a:lnTo>
                <a:lnTo>
                  <a:pt x="0" y="2974760"/>
                </a:lnTo>
                <a:lnTo>
                  <a:pt x="2712" y="3019144"/>
                </a:lnTo>
                <a:lnTo>
                  <a:pt x="10618" y="3063166"/>
                </a:lnTo>
                <a:lnTo>
                  <a:pt x="23374" y="3106481"/>
                </a:lnTo>
                <a:lnTo>
                  <a:pt x="40634" y="3148744"/>
                </a:lnTo>
                <a:lnTo>
                  <a:pt x="62052" y="3189609"/>
                </a:lnTo>
                <a:lnTo>
                  <a:pt x="87283" y="3228733"/>
                </a:lnTo>
                <a:lnTo>
                  <a:pt x="115983" y="3265768"/>
                </a:lnTo>
                <a:lnTo>
                  <a:pt x="147805" y="3300370"/>
                </a:lnTo>
                <a:lnTo>
                  <a:pt x="182405" y="3332194"/>
                </a:lnTo>
                <a:lnTo>
                  <a:pt x="219437" y="3360895"/>
                </a:lnTo>
                <a:lnTo>
                  <a:pt x="258557" y="3386128"/>
                </a:lnTo>
                <a:lnTo>
                  <a:pt x="299418" y="3407547"/>
                </a:lnTo>
                <a:lnTo>
                  <a:pt x="341676" y="3424807"/>
                </a:lnTo>
                <a:lnTo>
                  <a:pt x="384985" y="3437562"/>
                </a:lnTo>
                <a:lnTo>
                  <a:pt x="429000" y="3445469"/>
                </a:lnTo>
                <a:lnTo>
                  <a:pt x="473377" y="3448181"/>
                </a:lnTo>
                <a:lnTo>
                  <a:pt x="2366974" y="3448181"/>
                </a:lnTo>
                <a:lnTo>
                  <a:pt x="2411350" y="3445469"/>
                </a:lnTo>
                <a:lnTo>
                  <a:pt x="2455365" y="3437562"/>
                </a:lnTo>
                <a:lnTo>
                  <a:pt x="2498674" y="3424807"/>
                </a:lnTo>
                <a:lnTo>
                  <a:pt x="2540932" y="3407547"/>
                </a:lnTo>
                <a:lnTo>
                  <a:pt x="2581794" y="3386128"/>
                </a:lnTo>
                <a:lnTo>
                  <a:pt x="2620913" y="3360895"/>
                </a:lnTo>
                <a:lnTo>
                  <a:pt x="2657945" y="3332194"/>
                </a:lnTo>
                <a:lnTo>
                  <a:pt x="2692545" y="3300370"/>
                </a:lnTo>
                <a:lnTo>
                  <a:pt x="2724368" y="3265768"/>
                </a:lnTo>
                <a:lnTo>
                  <a:pt x="2753067" y="3228733"/>
                </a:lnTo>
                <a:lnTo>
                  <a:pt x="2778299" y="3189609"/>
                </a:lnTo>
                <a:lnTo>
                  <a:pt x="2799717" y="3148744"/>
                </a:lnTo>
                <a:lnTo>
                  <a:pt x="2816976" y="3106481"/>
                </a:lnTo>
                <a:lnTo>
                  <a:pt x="2829732" y="3063166"/>
                </a:lnTo>
                <a:lnTo>
                  <a:pt x="2837639" y="3019144"/>
                </a:lnTo>
                <a:lnTo>
                  <a:pt x="2840351" y="2974760"/>
                </a:lnTo>
                <a:lnTo>
                  <a:pt x="2840351" y="473377"/>
                </a:lnTo>
                <a:lnTo>
                  <a:pt x="2837639" y="429110"/>
                </a:lnTo>
                <a:lnTo>
                  <a:pt x="2829732" y="385176"/>
                </a:lnTo>
                <a:lnTo>
                  <a:pt x="2816976" y="341923"/>
                </a:lnTo>
                <a:lnTo>
                  <a:pt x="2799717" y="299699"/>
                </a:lnTo>
                <a:lnTo>
                  <a:pt x="2778299" y="258852"/>
                </a:lnTo>
                <a:lnTo>
                  <a:pt x="2753067" y="219730"/>
                </a:lnTo>
                <a:lnTo>
                  <a:pt x="2724368" y="182681"/>
                </a:lnTo>
                <a:lnTo>
                  <a:pt x="2692545" y="148055"/>
                </a:lnTo>
                <a:lnTo>
                  <a:pt x="2657945" y="116198"/>
                </a:lnTo>
                <a:lnTo>
                  <a:pt x="2620913" y="87459"/>
                </a:lnTo>
                <a:lnTo>
                  <a:pt x="2581794" y="62186"/>
                </a:lnTo>
                <a:lnTo>
                  <a:pt x="2540932" y="40727"/>
                </a:lnTo>
                <a:lnTo>
                  <a:pt x="2498674" y="23431"/>
                </a:lnTo>
                <a:lnTo>
                  <a:pt x="2455365" y="10646"/>
                </a:lnTo>
                <a:lnTo>
                  <a:pt x="2411350" y="2719"/>
                </a:lnTo>
                <a:lnTo>
                  <a:pt x="2366974" y="0"/>
                </a:lnTo>
                <a:lnTo>
                  <a:pt x="473377" y="0"/>
                </a:lnTo>
                <a:close/>
              </a:path>
            </a:pathLst>
          </a:custGeom>
          <a:ln w="3184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 txBox="1"/>
          <p:nvPr/>
        </p:nvSpPr>
        <p:spPr>
          <a:xfrm>
            <a:off x="2226483" y="2499632"/>
            <a:ext cx="213711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23104">
              <a:spcBef>
                <a:spcPts val="73"/>
              </a:spcBef>
            </a:pPr>
            <a:r>
              <a:rPr sz="1001" b="1" spc="9" dirty="0">
                <a:solidFill>
                  <a:srgbClr val="999999"/>
                </a:solidFill>
                <a:latin typeface="Arial"/>
                <a:cs typeface="Arial"/>
              </a:rPr>
              <a:t>W</a:t>
            </a:r>
            <a:r>
              <a:rPr sz="864" b="1" spc="13" baseline="-32163" dirty="0">
                <a:solidFill>
                  <a:srgbClr val="999999"/>
                </a:solidFill>
                <a:latin typeface="Arial"/>
                <a:cs typeface="Arial"/>
              </a:rPr>
              <a:t>T</a:t>
            </a:r>
            <a:endParaRPr sz="864" baseline="-32163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16573" y="2303100"/>
            <a:ext cx="137083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b="1" spc="12" dirty="0">
                <a:solidFill>
                  <a:srgbClr val="999999"/>
                </a:solidFill>
                <a:latin typeface="Arial"/>
                <a:cs typeface="Arial"/>
              </a:rPr>
              <a:t>W</a:t>
            </a:r>
            <a:endParaRPr sz="1001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38433" y="2399644"/>
            <a:ext cx="65461" cy="97946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576" b="1" spc="6" dirty="0">
                <a:solidFill>
                  <a:srgbClr val="999999"/>
                </a:solidFill>
                <a:latin typeface="Arial"/>
                <a:cs typeface="Arial"/>
              </a:rPr>
              <a:t>S</a:t>
            </a:r>
            <a:endParaRPr sz="576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253468" y="1910474"/>
            <a:ext cx="933397" cy="2276886"/>
          </a:xfrm>
          <a:custGeom>
            <a:avLst/>
            <a:gdLst/>
            <a:ahLst/>
            <a:cxnLst/>
            <a:rect l="l" t="t" r="r" b="b"/>
            <a:pathLst>
              <a:path w="1539240" h="3754754">
                <a:moveTo>
                  <a:pt x="256177" y="0"/>
                </a:moveTo>
                <a:lnTo>
                  <a:pt x="213663" y="4566"/>
                </a:lnTo>
                <a:lnTo>
                  <a:pt x="172199" y="17569"/>
                </a:lnTo>
                <a:lnTo>
                  <a:pt x="132842" y="37960"/>
                </a:lnTo>
                <a:lnTo>
                  <a:pt x="96646" y="64692"/>
                </a:lnTo>
                <a:lnTo>
                  <a:pt x="64666" y="96716"/>
                </a:lnTo>
                <a:lnTo>
                  <a:pt x="37957" y="132987"/>
                </a:lnTo>
                <a:lnTo>
                  <a:pt x="17573" y="172456"/>
                </a:lnTo>
                <a:lnTo>
                  <a:pt x="4569" y="214075"/>
                </a:lnTo>
                <a:lnTo>
                  <a:pt x="0" y="256798"/>
                </a:lnTo>
                <a:lnTo>
                  <a:pt x="0" y="3497670"/>
                </a:lnTo>
                <a:lnTo>
                  <a:pt x="4569" y="3540407"/>
                </a:lnTo>
                <a:lnTo>
                  <a:pt x="17573" y="3582041"/>
                </a:lnTo>
                <a:lnTo>
                  <a:pt x="37957" y="3621524"/>
                </a:lnTo>
                <a:lnTo>
                  <a:pt x="64666" y="3657807"/>
                </a:lnTo>
                <a:lnTo>
                  <a:pt x="96646" y="3689843"/>
                </a:lnTo>
                <a:lnTo>
                  <a:pt x="132842" y="3716584"/>
                </a:lnTo>
                <a:lnTo>
                  <a:pt x="172199" y="3736982"/>
                </a:lnTo>
                <a:lnTo>
                  <a:pt x="213663" y="3749989"/>
                </a:lnTo>
                <a:lnTo>
                  <a:pt x="256177" y="3754557"/>
                </a:lnTo>
                <a:lnTo>
                  <a:pt x="1282885" y="3754557"/>
                </a:lnTo>
                <a:lnTo>
                  <a:pt x="1325400" y="3749989"/>
                </a:lnTo>
                <a:lnTo>
                  <a:pt x="1366863" y="3736982"/>
                </a:lnTo>
                <a:lnTo>
                  <a:pt x="1406220" y="3716584"/>
                </a:lnTo>
                <a:lnTo>
                  <a:pt x="1442416" y="3689843"/>
                </a:lnTo>
                <a:lnTo>
                  <a:pt x="1474396" y="3657807"/>
                </a:lnTo>
                <a:lnTo>
                  <a:pt x="1501105" y="3621524"/>
                </a:lnTo>
                <a:lnTo>
                  <a:pt x="1521490" y="3582041"/>
                </a:lnTo>
                <a:lnTo>
                  <a:pt x="1534494" y="3540407"/>
                </a:lnTo>
                <a:lnTo>
                  <a:pt x="1539063" y="3497670"/>
                </a:lnTo>
                <a:lnTo>
                  <a:pt x="1539063" y="256798"/>
                </a:lnTo>
                <a:lnTo>
                  <a:pt x="1534494" y="214075"/>
                </a:lnTo>
                <a:lnTo>
                  <a:pt x="1521490" y="172456"/>
                </a:lnTo>
                <a:lnTo>
                  <a:pt x="1501105" y="132987"/>
                </a:lnTo>
                <a:lnTo>
                  <a:pt x="1474396" y="96716"/>
                </a:lnTo>
                <a:lnTo>
                  <a:pt x="1442416" y="64692"/>
                </a:lnTo>
                <a:lnTo>
                  <a:pt x="1406220" y="37960"/>
                </a:lnTo>
                <a:lnTo>
                  <a:pt x="1366863" y="17569"/>
                </a:lnTo>
                <a:lnTo>
                  <a:pt x="1325400" y="4566"/>
                </a:lnTo>
                <a:lnTo>
                  <a:pt x="1282885" y="0"/>
                </a:lnTo>
                <a:lnTo>
                  <a:pt x="256177" y="0"/>
                </a:lnTo>
                <a:close/>
              </a:path>
            </a:pathLst>
          </a:custGeom>
          <a:ln w="3184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41" name="object 41"/>
          <p:cNvGrpSpPr/>
          <p:nvPr/>
        </p:nvGrpSpPr>
        <p:grpSpPr>
          <a:xfrm>
            <a:off x="6024474" y="3233834"/>
            <a:ext cx="2197564" cy="447060"/>
            <a:chOff x="9934099" y="5332831"/>
            <a:chExt cx="3623945" cy="737235"/>
          </a:xfrm>
        </p:grpSpPr>
        <p:sp>
          <p:nvSpPr>
            <p:cNvPr id="42" name="object 42"/>
            <p:cNvSpPr/>
            <p:nvPr/>
          </p:nvSpPr>
          <p:spPr>
            <a:xfrm>
              <a:off x="9950291" y="5349024"/>
              <a:ext cx="1889760" cy="613410"/>
            </a:xfrm>
            <a:custGeom>
              <a:avLst/>
              <a:gdLst/>
              <a:ahLst/>
              <a:cxnLst/>
              <a:rect l="l" t="t" r="r" b="b"/>
              <a:pathLst>
                <a:path w="1889759" h="613410">
                  <a:moveTo>
                    <a:pt x="101903" y="0"/>
                  </a:moveTo>
                  <a:lnTo>
                    <a:pt x="64485" y="8757"/>
                  </a:lnTo>
                  <a:lnTo>
                    <a:pt x="31844" y="31844"/>
                  </a:lnTo>
                  <a:lnTo>
                    <a:pt x="8757" y="64485"/>
                  </a:lnTo>
                  <a:lnTo>
                    <a:pt x="0" y="101903"/>
                  </a:lnTo>
                  <a:lnTo>
                    <a:pt x="0" y="510892"/>
                  </a:lnTo>
                  <a:lnTo>
                    <a:pt x="8757" y="548310"/>
                  </a:lnTo>
                  <a:lnTo>
                    <a:pt x="31844" y="580951"/>
                  </a:lnTo>
                  <a:lnTo>
                    <a:pt x="64485" y="604038"/>
                  </a:lnTo>
                  <a:lnTo>
                    <a:pt x="101903" y="612796"/>
                  </a:lnTo>
                  <a:lnTo>
                    <a:pt x="1787436" y="612796"/>
                  </a:lnTo>
                  <a:lnTo>
                    <a:pt x="1824854" y="604038"/>
                  </a:lnTo>
                  <a:lnTo>
                    <a:pt x="1857495" y="580951"/>
                  </a:lnTo>
                  <a:lnTo>
                    <a:pt x="1880582" y="548310"/>
                  </a:lnTo>
                  <a:lnTo>
                    <a:pt x="1889340" y="510892"/>
                  </a:lnTo>
                  <a:lnTo>
                    <a:pt x="1889340" y="101903"/>
                  </a:lnTo>
                  <a:lnTo>
                    <a:pt x="1880582" y="64485"/>
                  </a:lnTo>
                  <a:lnTo>
                    <a:pt x="1857495" y="31844"/>
                  </a:lnTo>
                  <a:lnTo>
                    <a:pt x="1824854" y="8757"/>
                  </a:lnTo>
                  <a:lnTo>
                    <a:pt x="1787436" y="0"/>
                  </a:lnTo>
                  <a:lnTo>
                    <a:pt x="101903" y="0"/>
                  </a:lnTo>
                  <a:close/>
                </a:path>
              </a:pathLst>
            </a:custGeom>
            <a:ln w="31840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43"/>
            <p:cNvSpPr/>
            <p:nvPr/>
          </p:nvSpPr>
          <p:spPr>
            <a:xfrm>
              <a:off x="12389458" y="5398557"/>
              <a:ext cx="1152525" cy="655320"/>
            </a:xfrm>
            <a:custGeom>
              <a:avLst/>
              <a:gdLst/>
              <a:ahLst/>
              <a:cxnLst/>
              <a:rect l="l" t="t" r="r" b="b"/>
              <a:pathLst>
                <a:path w="1152525" h="655320">
                  <a:moveTo>
                    <a:pt x="108954" y="0"/>
                  </a:moveTo>
                  <a:lnTo>
                    <a:pt x="68938" y="9366"/>
                  </a:lnTo>
                  <a:lnTo>
                    <a:pt x="34039" y="34056"/>
                  </a:lnTo>
                  <a:lnTo>
                    <a:pt x="9360" y="68957"/>
                  </a:lnTo>
                  <a:lnTo>
                    <a:pt x="0" y="108954"/>
                  </a:lnTo>
                  <a:lnTo>
                    <a:pt x="0" y="545570"/>
                  </a:lnTo>
                  <a:lnTo>
                    <a:pt x="9360" y="585696"/>
                  </a:lnTo>
                  <a:lnTo>
                    <a:pt x="34039" y="620839"/>
                  </a:lnTo>
                  <a:lnTo>
                    <a:pt x="68938" y="645762"/>
                  </a:lnTo>
                  <a:lnTo>
                    <a:pt x="108954" y="655233"/>
                  </a:lnTo>
                  <a:lnTo>
                    <a:pt x="1042981" y="655233"/>
                  </a:lnTo>
                  <a:lnTo>
                    <a:pt x="1083004" y="645762"/>
                  </a:lnTo>
                  <a:lnTo>
                    <a:pt x="1117918" y="620839"/>
                  </a:lnTo>
                  <a:lnTo>
                    <a:pt x="1142613" y="585696"/>
                  </a:lnTo>
                  <a:lnTo>
                    <a:pt x="1151980" y="545570"/>
                  </a:lnTo>
                  <a:lnTo>
                    <a:pt x="1151980" y="108954"/>
                  </a:lnTo>
                  <a:lnTo>
                    <a:pt x="1142613" y="68957"/>
                  </a:lnTo>
                  <a:lnTo>
                    <a:pt x="1117918" y="34056"/>
                  </a:lnTo>
                  <a:lnTo>
                    <a:pt x="1083004" y="9366"/>
                  </a:lnTo>
                  <a:lnTo>
                    <a:pt x="1042981" y="0"/>
                  </a:lnTo>
                  <a:lnTo>
                    <a:pt x="108954" y="0"/>
                  </a:lnTo>
                  <a:close/>
                </a:path>
              </a:pathLst>
            </a:custGeom>
            <a:ln w="318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445445" y="3355226"/>
            <a:ext cx="313057" cy="1632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23104">
              <a:spcBef>
                <a:spcPts val="73"/>
              </a:spcBef>
            </a:pPr>
            <a:r>
              <a:rPr sz="1501" b="1" spc="4" baseline="18518" dirty="0">
                <a:solidFill>
                  <a:srgbClr val="009900"/>
                </a:solidFill>
                <a:latin typeface="Arial"/>
                <a:cs typeface="Arial"/>
              </a:rPr>
              <a:t>W</a:t>
            </a:r>
            <a:r>
              <a:rPr sz="576" b="1" spc="3" dirty="0">
                <a:solidFill>
                  <a:srgbClr val="009900"/>
                </a:solidFill>
                <a:latin typeface="Arial"/>
                <a:cs typeface="Arial"/>
              </a:rPr>
              <a:t>Hint</a:t>
            </a:r>
            <a:endParaRPr sz="576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49005" y="3335927"/>
            <a:ext cx="137083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b="1" spc="12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endParaRPr sz="1001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70862" y="3432472"/>
            <a:ext cx="271471" cy="97946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576" b="1" spc="3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sz="576" b="1" spc="6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576" b="1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576" b="1" spc="6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576" b="1" spc="3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576" b="1" spc="6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endParaRPr sz="576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303553" y="2787966"/>
            <a:ext cx="1112837" cy="352334"/>
          </a:xfrm>
          <a:custGeom>
            <a:avLst/>
            <a:gdLst/>
            <a:ahLst/>
            <a:cxnLst/>
            <a:rect l="l" t="t" r="r" b="b"/>
            <a:pathLst>
              <a:path w="1835150" h="581025">
                <a:moveTo>
                  <a:pt x="0" y="0"/>
                </a:moveTo>
                <a:lnTo>
                  <a:pt x="1834840" y="0"/>
                </a:lnTo>
                <a:lnTo>
                  <a:pt x="1375609" y="580912"/>
                </a:lnTo>
                <a:lnTo>
                  <a:pt x="458566" y="580912"/>
                </a:lnTo>
                <a:lnTo>
                  <a:pt x="0" y="0"/>
                </a:lnTo>
                <a:close/>
              </a:path>
            </a:pathLst>
          </a:custGeom>
          <a:ln w="31840">
            <a:solidFill>
              <a:srgbClr val="3399FF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 txBox="1"/>
          <p:nvPr/>
        </p:nvSpPr>
        <p:spPr>
          <a:xfrm>
            <a:off x="7767490" y="2849343"/>
            <a:ext cx="197153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23104">
              <a:spcBef>
                <a:spcPts val="73"/>
              </a:spcBef>
            </a:pPr>
            <a:r>
              <a:rPr sz="1001" b="1" spc="6" dirty="0">
                <a:solidFill>
                  <a:srgbClr val="3399FF"/>
                </a:solidFill>
                <a:latin typeface="Arial"/>
                <a:cs typeface="Arial"/>
              </a:rPr>
              <a:t>W</a:t>
            </a:r>
            <a:r>
              <a:rPr sz="864" b="1" spc="9" baseline="-32163" dirty="0">
                <a:solidFill>
                  <a:srgbClr val="3399FF"/>
                </a:solidFill>
                <a:latin typeface="Arial"/>
                <a:cs typeface="Arial"/>
              </a:rPr>
              <a:t>r</a:t>
            </a:r>
            <a:endParaRPr sz="864" baseline="-32163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128292" y="2200555"/>
            <a:ext cx="137083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b="1" spc="12" dirty="0">
                <a:latin typeface="Arial"/>
                <a:cs typeface="Arial"/>
              </a:rPr>
              <a:t>W</a:t>
            </a:r>
            <a:endParaRPr sz="1001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49730" y="2212142"/>
            <a:ext cx="44667" cy="97946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576" b="1" spc="3" dirty="0">
                <a:latin typeface="Arial"/>
                <a:cs typeface="Arial"/>
              </a:rPr>
              <a:t>*</a:t>
            </a:r>
            <a:endParaRPr sz="576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78481" y="2297100"/>
            <a:ext cx="271855" cy="97946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576" b="1" spc="9" dirty="0">
                <a:latin typeface="Arial"/>
                <a:cs typeface="Arial"/>
              </a:rPr>
              <a:t>G</a:t>
            </a:r>
            <a:r>
              <a:rPr sz="576" b="1" dirty="0">
                <a:latin typeface="Arial"/>
                <a:cs typeface="Arial"/>
              </a:rPr>
              <a:t>u</a:t>
            </a:r>
            <a:r>
              <a:rPr sz="576" b="1" spc="3" dirty="0">
                <a:latin typeface="Arial"/>
                <a:cs typeface="Arial"/>
              </a:rPr>
              <a:t>ided</a:t>
            </a:r>
            <a:endParaRPr sz="576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556104" y="2200555"/>
            <a:ext cx="90875" cy="163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001" b="1" spc="6" dirty="0">
                <a:latin typeface="Arial"/>
                <a:cs typeface="Arial"/>
              </a:rPr>
              <a:t>=</a:t>
            </a:r>
            <a:endParaRPr sz="1001">
              <a:latin typeface="Arial"/>
              <a:cs typeface="Arial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933" y="2195769"/>
            <a:ext cx="951737" cy="32233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7595418" y="2242157"/>
            <a:ext cx="731623" cy="1632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23104">
              <a:spcBef>
                <a:spcPts val="73"/>
              </a:spcBef>
            </a:pPr>
            <a:r>
              <a:rPr sz="1501" spc="4" baseline="18518" dirty="0">
                <a:latin typeface="Arial MT"/>
                <a:cs typeface="Arial MT"/>
              </a:rPr>
              <a:t>(</a:t>
            </a:r>
            <a:r>
              <a:rPr sz="1501" b="1" spc="4" baseline="18518" dirty="0">
                <a:latin typeface="Arial"/>
                <a:cs typeface="Arial"/>
              </a:rPr>
              <a:t>W</a:t>
            </a:r>
            <a:r>
              <a:rPr sz="576" b="1" spc="3" dirty="0">
                <a:latin typeface="Arial"/>
                <a:cs typeface="Arial"/>
              </a:rPr>
              <a:t>Guided</a:t>
            </a:r>
            <a:r>
              <a:rPr sz="1501" spc="4" baseline="18518" dirty="0">
                <a:latin typeface="Arial MT"/>
                <a:cs typeface="Arial MT"/>
              </a:rPr>
              <a:t>,</a:t>
            </a:r>
            <a:r>
              <a:rPr sz="1501" spc="-32" baseline="18518" dirty="0">
                <a:latin typeface="Arial MT"/>
                <a:cs typeface="Arial MT"/>
              </a:rPr>
              <a:t> </a:t>
            </a:r>
            <a:r>
              <a:rPr sz="1501" b="1" spc="4" baseline="18518" dirty="0">
                <a:latin typeface="Arial"/>
                <a:cs typeface="Arial"/>
              </a:rPr>
              <a:t>W</a:t>
            </a:r>
            <a:r>
              <a:rPr sz="576" b="1" spc="3" dirty="0">
                <a:latin typeface="Arial"/>
                <a:cs typeface="Arial"/>
              </a:rPr>
              <a:t>r</a:t>
            </a:r>
            <a:r>
              <a:rPr sz="1501" spc="4" baseline="18518" dirty="0">
                <a:latin typeface="Arial MT"/>
                <a:cs typeface="Arial MT"/>
              </a:rPr>
              <a:t>)</a:t>
            </a:r>
            <a:endParaRPr sz="1501" baseline="18518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561670" y="2564833"/>
            <a:ext cx="2039687" cy="738939"/>
            <a:chOff x="10819974" y="4229599"/>
            <a:chExt cx="3363595" cy="1218565"/>
          </a:xfrm>
        </p:grpSpPr>
        <p:sp>
          <p:nvSpPr>
            <p:cNvPr id="56" name="object 56"/>
            <p:cNvSpPr/>
            <p:nvPr/>
          </p:nvSpPr>
          <p:spPr>
            <a:xfrm>
              <a:off x="10873765" y="4455305"/>
              <a:ext cx="21590" cy="894080"/>
            </a:xfrm>
            <a:custGeom>
              <a:avLst/>
              <a:gdLst/>
              <a:ahLst/>
              <a:cxnLst/>
              <a:rect l="l" t="t" r="r" b="b"/>
              <a:pathLst>
                <a:path w="21590" h="894079">
                  <a:moveTo>
                    <a:pt x="21196" y="893718"/>
                  </a:moveTo>
                  <a:lnTo>
                    <a:pt x="0" y="0"/>
                  </a:lnTo>
                </a:path>
              </a:pathLst>
            </a:custGeom>
            <a:ln w="318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7" name="object 57"/>
            <p:cNvSpPr/>
            <p:nvPr/>
          </p:nvSpPr>
          <p:spPr>
            <a:xfrm>
              <a:off x="10819974" y="4301038"/>
              <a:ext cx="107950" cy="163195"/>
            </a:xfrm>
            <a:custGeom>
              <a:avLst/>
              <a:gdLst/>
              <a:ahLst/>
              <a:cxnLst/>
              <a:rect l="l" t="t" r="r" b="b"/>
              <a:pathLst>
                <a:path w="107950" h="163195">
                  <a:moveTo>
                    <a:pt x="50249" y="0"/>
                  </a:moveTo>
                  <a:lnTo>
                    <a:pt x="0" y="162788"/>
                  </a:lnTo>
                  <a:lnTo>
                    <a:pt x="107535" y="159951"/>
                  </a:lnTo>
                  <a:lnTo>
                    <a:pt x="502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8" name="object 58"/>
            <p:cNvSpPr/>
            <p:nvPr/>
          </p:nvSpPr>
          <p:spPr>
            <a:xfrm>
              <a:off x="12964030" y="5332749"/>
              <a:ext cx="1905" cy="66040"/>
            </a:xfrm>
            <a:custGeom>
              <a:avLst/>
              <a:gdLst/>
              <a:ahLst/>
              <a:cxnLst/>
              <a:rect l="l" t="t" r="r" b="b"/>
              <a:pathLst>
                <a:path w="1904" h="66039">
                  <a:moveTo>
                    <a:pt x="709" y="-15920"/>
                  </a:moveTo>
                  <a:lnTo>
                    <a:pt x="709" y="81727"/>
                  </a:lnTo>
                </a:path>
              </a:pathLst>
            </a:custGeom>
            <a:ln w="33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9" name="object 59"/>
            <p:cNvSpPr/>
            <p:nvPr/>
          </p:nvSpPr>
          <p:spPr>
            <a:xfrm>
              <a:off x="12960482" y="4384531"/>
              <a:ext cx="7620" cy="213360"/>
            </a:xfrm>
            <a:custGeom>
              <a:avLst/>
              <a:gdLst/>
              <a:ahLst/>
              <a:cxnLst/>
              <a:rect l="l" t="t" r="r" b="b"/>
              <a:pathLst>
                <a:path w="7620" h="213360">
                  <a:moveTo>
                    <a:pt x="3525" y="-15920"/>
                  </a:moveTo>
                  <a:lnTo>
                    <a:pt x="3525" y="228951"/>
                  </a:lnTo>
                </a:path>
              </a:pathLst>
            </a:custGeom>
            <a:ln w="38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0" name="object 60"/>
            <p:cNvSpPr/>
            <p:nvPr/>
          </p:nvSpPr>
          <p:spPr>
            <a:xfrm>
              <a:off x="12910236" y="4229601"/>
              <a:ext cx="111760" cy="1111885"/>
            </a:xfrm>
            <a:custGeom>
              <a:avLst/>
              <a:gdLst/>
              <a:ahLst/>
              <a:cxnLst/>
              <a:rect l="l" t="t" r="r" b="b"/>
              <a:pathLst>
                <a:path w="111759" h="1111885">
                  <a:moveTo>
                    <a:pt x="107581" y="1108837"/>
                  </a:moveTo>
                  <a:lnTo>
                    <a:pt x="50241" y="948220"/>
                  </a:lnTo>
                  <a:lnTo>
                    <a:pt x="0" y="1111631"/>
                  </a:lnTo>
                  <a:lnTo>
                    <a:pt x="107581" y="1108837"/>
                  </a:lnTo>
                  <a:close/>
                </a:path>
                <a:path w="111759" h="1111885">
                  <a:moveTo>
                    <a:pt x="111137" y="163461"/>
                  </a:moveTo>
                  <a:lnTo>
                    <a:pt x="62268" y="0"/>
                  </a:lnTo>
                  <a:lnTo>
                    <a:pt x="3505" y="160616"/>
                  </a:lnTo>
                  <a:lnTo>
                    <a:pt x="111137" y="163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1" name="object 61"/>
            <p:cNvSpPr/>
            <p:nvPr/>
          </p:nvSpPr>
          <p:spPr>
            <a:xfrm>
              <a:off x="11860667" y="4287417"/>
              <a:ext cx="2301875" cy="1139825"/>
            </a:xfrm>
            <a:custGeom>
              <a:avLst/>
              <a:gdLst/>
              <a:ahLst/>
              <a:cxnLst/>
              <a:rect l="l" t="t" r="r" b="b"/>
              <a:pathLst>
                <a:path w="2301875" h="1139825">
                  <a:moveTo>
                    <a:pt x="1964817" y="166909"/>
                  </a:moveTo>
                  <a:lnTo>
                    <a:pt x="2012921" y="192191"/>
                  </a:lnTo>
                  <a:lnTo>
                    <a:pt x="2057325" y="218527"/>
                  </a:lnTo>
                  <a:lnTo>
                    <a:pt x="2098028" y="245833"/>
                  </a:lnTo>
                  <a:lnTo>
                    <a:pt x="2135031" y="274023"/>
                  </a:lnTo>
                  <a:lnTo>
                    <a:pt x="2168333" y="303015"/>
                  </a:lnTo>
                  <a:lnTo>
                    <a:pt x="2197936" y="332723"/>
                  </a:lnTo>
                  <a:lnTo>
                    <a:pt x="2223838" y="363063"/>
                  </a:lnTo>
                  <a:lnTo>
                    <a:pt x="2264541" y="425303"/>
                  </a:lnTo>
                  <a:lnTo>
                    <a:pt x="2290443" y="489061"/>
                  </a:lnTo>
                  <a:lnTo>
                    <a:pt x="2301544" y="553661"/>
                  </a:lnTo>
                  <a:lnTo>
                    <a:pt x="2301544" y="586067"/>
                  </a:lnTo>
                  <a:lnTo>
                    <a:pt x="2290443" y="650667"/>
                  </a:lnTo>
                  <a:lnTo>
                    <a:pt x="2264541" y="714425"/>
                  </a:lnTo>
                  <a:lnTo>
                    <a:pt x="2223838" y="776665"/>
                  </a:lnTo>
                  <a:lnTo>
                    <a:pt x="2197936" y="807005"/>
                  </a:lnTo>
                  <a:lnTo>
                    <a:pt x="2168333" y="836713"/>
                  </a:lnTo>
                  <a:lnTo>
                    <a:pt x="2135031" y="865705"/>
                  </a:lnTo>
                  <a:lnTo>
                    <a:pt x="2098028" y="893895"/>
                  </a:lnTo>
                  <a:lnTo>
                    <a:pt x="2057325" y="921201"/>
                  </a:lnTo>
                  <a:lnTo>
                    <a:pt x="2012921" y="947537"/>
                  </a:lnTo>
                  <a:lnTo>
                    <a:pt x="1964817" y="972819"/>
                  </a:lnTo>
                  <a:lnTo>
                    <a:pt x="1924437" y="991878"/>
                  </a:lnTo>
                  <a:lnTo>
                    <a:pt x="1882693" y="1009782"/>
                  </a:lnTo>
                  <a:lnTo>
                    <a:pt x="1839669" y="1026531"/>
                  </a:lnTo>
                  <a:lnTo>
                    <a:pt x="1795451" y="1042124"/>
                  </a:lnTo>
                  <a:lnTo>
                    <a:pt x="1750125" y="1056563"/>
                  </a:lnTo>
                  <a:lnTo>
                    <a:pt x="1703775" y="1069846"/>
                  </a:lnTo>
                  <a:lnTo>
                    <a:pt x="1656487" y="1081975"/>
                  </a:lnTo>
                  <a:lnTo>
                    <a:pt x="1608346" y="1092948"/>
                  </a:lnTo>
                  <a:lnTo>
                    <a:pt x="1559437" y="1102766"/>
                  </a:lnTo>
                  <a:lnTo>
                    <a:pt x="1509847" y="1111429"/>
                  </a:lnTo>
                  <a:lnTo>
                    <a:pt x="1459659" y="1118937"/>
                  </a:lnTo>
                  <a:lnTo>
                    <a:pt x="1408959" y="1125290"/>
                  </a:lnTo>
                  <a:lnTo>
                    <a:pt x="1357834" y="1130488"/>
                  </a:lnTo>
                  <a:lnTo>
                    <a:pt x="1306367" y="1134531"/>
                  </a:lnTo>
                  <a:lnTo>
                    <a:pt x="1254644" y="1137419"/>
                  </a:lnTo>
                  <a:lnTo>
                    <a:pt x="1202750" y="1139151"/>
                  </a:lnTo>
                  <a:lnTo>
                    <a:pt x="1150772" y="1139729"/>
                  </a:lnTo>
                  <a:lnTo>
                    <a:pt x="1098793" y="1139151"/>
                  </a:lnTo>
                  <a:lnTo>
                    <a:pt x="1046899" y="1137419"/>
                  </a:lnTo>
                  <a:lnTo>
                    <a:pt x="995177" y="1134531"/>
                  </a:lnTo>
                  <a:lnTo>
                    <a:pt x="943710" y="1130488"/>
                  </a:lnTo>
                  <a:lnTo>
                    <a:pt x="892584" y="1125290"/>
                  </a:lnTo>
                  <a:lnTo>
                    <a:pt x="841884" y="1118937"/>
                  </a:lnTo>
                  <a:lnTo>
                    <a:pt x="791697" y="1111429"/>
                  </a:lnTo>
                  <a:lnTo>
                    <a:pt x="742106" y="1102766"/>
                  </a:lnTo>
                  <a:lnTo>
                    <a:pt x="693197" y="1092948"/>
                  </a:lnTo>
                  <a:lnTo>
                    <a:pt x="645056" y="1081975"/>
                  </a:lnTo>
                  <a:lnTo>
                    <a:pt x="597768" y="1069846"/>
                  </a:lnTo>
                  <a:lnTo>
                    <a:pt x="551418" y="1056563"/>
                  </a:lnTo>
                  <a:lnTo>
                    <a:pt x="506092" y="1042124"/>
                  </a:lnTo>
                  <a:lnTo>
                    <a:pt x="461874" y="1026531"/>
                  </a:lnTo>
                  <a:lnTo>
                    <a:pt x="418850" y="1009782"/>
                  </a:lnTo>
                  <a:lnTo>
                    <a:pt x="377106" y="991878"/>
                  </a:lnTo>
                  <a:lnTo>
                    <a:pt x="336726" y="972819"/>
                  </a:lnTo>
                  <a:lnTo>
                    <a:pt x="288622" y="947537"/>
                  </a:lnTo>
                  <a:lnTo>
                    <a:pt x="244219" y="921201"/>
                  </a:lnTo>
                  <a:lnTo>
                    <a:pt x="203515" y="893895"/>
                  </a:lnTo>
                  <a:lnTo>
                    <a:pt x="166513" y="865705"/>
                  </a:lnTo>
                  <a:lnTo>
                    <a:pt x="133210" y="836713"/>
                  </a:lnTo>
                  <a:lnTo>
                    <a:pt x="103608" y="807005"/>
                  </a:lnTo>
                  <a:lnTo>
                    <a:pt x="77706" y="776665"/>
                  </a:lnTo>
                  <a:lnTo>
                    <a:pt x="37002" y="714425"/>
                  </a:lnTo>
                  <a:lnTo>
                    <a:pt x="11100" y="650667"/>
                  </a:lnTo>
                  <a:lnTo>
                    <a:pt x="0" y="586067"/>
                  </a:lnTo>
                  <a:lnTo>
                    <a:pt x="0" y="553661"/>
                  </a:lnTo>
                  <a:lnTo>
                    <a:pt x="11100" y="489061"/>
                  </a:lnTo>
                  <a:lnTo>
                    <a:pt x="37002" y="425303"/>
                  </a:lnTo>
                  <a:lnTo>
                    <a:pt x="77706" y="363063"/>
                  </a:lnTo>
                  <a:lnTo>
                    <a:pt x="103608" y="332723"/>
                  </a:lnTo>
                  <a:lnTo>
                    <a:pt x="133210" y="303015"/>
                  </a:lnTo>
                  <a:lnTo>
                    <a:pt x="166513" y="274023"/>
                  </a:lnTo>
                  <a:lnTo>
                    <a:pt x="203515" y="245833"/>
                  </a:lnTo>
                  <a:lnTo>
                    <a:pt x="244219" y="218527"/>
                  </a:lnTo>
                  <a:lnTo>
                    <a:pt x="288622" y="192191"/>
                  </a:lnTo>
                  <a:lnTo>
                    <a:pt x="336726" y="166909"/>
                  </a:lnTo>
                  <a:lnTo>
                    <a:pt x="377106" y="147850"/>
                  </a:lnTo>
                  <a:lnTo>
                    <a:pt x="418850" y="129946"/>
                  </a:lnTo>
                  <a:lnTo>
                    <a:pt x="461874" y="113198"/>
                  </a:lnTo>
                  <a:lnTo>
                    <a:pt x="506092" y="97604"/>
                  </a:lnTo>
                  <a:lnTo>
                    <a:pt x="551418" y="83165"/>
                  </a:lnTo>
                  <a:lnTo>
                    <a:pt x="597768" y="69882"/>
                  </a:lnTo>
                  <a:lnTo>
                    <a:pt x="645056" y="57754"/>
                  </a:lnTo>
                  <a:lnTo>
                    <a:pt x="693197" y="46780"/>
                  </a:lnTo>
                  <a:lnTo>
                    <a:pt x="742106" y="36962"/>
                  </a:lnTo>
                  <a:lnTo>
                    <a:pt x="791697" y="28299"/>
                  </a:lnTo>
                  <a:lnTo>
                    <a:pt x="841884" y="20791"/>
                  </a:lnTo>
                  <a:lnTo>
                    <a:pt x="892584" y="14438"/>
                  </a:lnTo>
                  <a:lnTo>
                    <a:pt x="943710" y="9240"/>
                  </a:lnTo>
                  <a:lnTo>
                    <a:pt x="995177" y="5197"/>
                  </a:lnTo>
                  <a:lnTo>
                    <a:pt x="1046899" y="2310"/>
                  </a:lnTo>
                  <a:lnTo>
                    <a:pt x="1098793" y="577"/>
                  </a:lnTo>
                  <a:lnTo>
                    <a:pt x="1150772" y="0"/>
                  </a:lnTo>
                  <a:lnTo>
                    <a:pt x="1202750" y="577"/>
                  </a:lnTo>
                  <a:lnTo>
                    <a:pt x="1254644" y="2310"/>
                  </a:lnTo>
                  <a:lnTo>
                    <a:pt x="1306367" y="5197"/>
                  </a:lnTo>
                  <a:lnTo>
                    <a:pt x="1357834" y="9240"/>
                  </a:lnTo>
                  <a:lnTo>
                    <a:pt x="1408959" y="14438"/>
                  </a:lnTo>
                  <a:lnTo>
                    <a:pt x="1459659" y="20791"/>
                  </a:lnTo>
                  <a:lnTo>
                    <a:pt x="1509847" y="28299"/>
                  </a:lnTo>
                  <a:lnTo>
                    <a:pt x="1559437" y="36962"/>
                  </a:lnTo>
                  <a:lnTo>
                    <a:pt x="1608346" y="46780"/>
                  </a:lnTo>
                  <a:lnTo>
                    <a:pt x="1656487" y="57754"/>
                  </a:lnTo>
                  <a:lnTo>
                    <a:pt x="1703775" y="69882"/>
                  </a:lnTo>
                  <a:lnTo>
                    <a:pt x="1750125" y="83165"/>
                  </a:lnTo>
                  <a:lnTo>
                    <a:pt x="1795451" y="97604"/>
                  </a:lnTo>
                  <a:lnTo>
                    <a:pt x="1839669" y="113198"/>
                  </a:lnTo>
                  <a:lnTo>
                    <a:pt x="1882693" y="129946"/>
                  </a:lnTo>
                  <a:lnTo>
                    <a:pt x="1924437" y="147850"/>
                  </a:lnTo>
                  <a:lnTo>
                    <a:pt x="1964817" y="166909"/>
                  </a:lnTo>
                  <a:close/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836252" y="2567809"/>
            <a:ext cx="2782092" cy="73780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316" marR="3081" algn="ctr">
              <a:lnSpc>
                <a:spcPct val="100400"/>
              </a:lnSpc>
              <a:spcBef>
                <a:spcPts val="76"/>
              </a:spcBef>
            </a:pPr>
            <a:r>
              <a:rPr sz="1577" spc="67" dirty="0">
                <a:latin typeface="Trebuchet MS"/>
                <a:cs typeface="Trebuchet MS"/>
              </a:rPr>
              <a:t>An </a:t>
            </a:r>
            <a:r>
              <a:rPr sz="1577" spc="149" dirty="0">
                <a:latin typeface="Trebuchet MS"/>
                <a:cs typeface="Trebuchet MS"/>
              </a:rPr>
              <a:t>FC </a:t>
            </a:r>
            <a:r>
              <a:rPr sz="1577" spc="-30" dirty="0">
                <a:latin typeface="Trebuchet MS"/>
                <a:cs typeface="Trebuchet MS"/>
              </a:rPr>
              <a:t>layer </a:t>
            </a:r>
            <a:r>
              <a:rPr sz="1577" spc="64" dirty="0">
                <a:latin typeface="Trebuchet MS"/>
                <a:cs typeface="Trebuchet MS"/>
              </a:rPr>
              <a:t>used </a:t>
            </a:r>
            <a:r>
              <a:rPr sz="1577" spc="-27" dirty="0">
                <a:latin typeface="Trebuchet MS"/>
                <a:cs typeface="Trebuchet MS"/>
              </a:rPr>
              <a:t>to </a:t>
            </a:r>
            <a:r>
              <a:rPr sz="1577" spc="-6" dirty="0">
                <a:latin typeface="Trebuchet MS"/>
                <a:cs typeface="Trebuchet MS"/>
              </a:rPr>
              <a:t>align </a:t>
            </a:r>
            <a:r>
              <a:rPr sz="1577" spc="-33" dirty="0">
                <a:latin typeface="Trebuchet MS"/>
                <a:cs typeface="Trebuchet MS"/>
              </a:rPr>
              <a:t>the 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73" dirty="0">
                <a:latin typeface="Trebuchet MS"/>
                <a:cs typeface="Trebuchet MS"/>
              </a:rPr>
              <a:t>shapes</a:t>
            </a:r>
            <a:r>
              <a:rPr sz="1577" spc="-36" dirty="0">
                <a:latin typeface="Trebuchet MS"/>
                <a:cs typeface="Trebuchet MS"/>
              </a:rPr>
              <a:t> </a:t>
            </a:r>
            <a:r>
              <a:rPr sz="1577" spc="-21" dirty="0">
                <a:latin typeface="Trebuchet MS"/>
                <a:cs typeface="Trebuchet MS"/>
              </a:rPr>
              <a:t>of</a:t>
            </a:r>
            <a:r>
              <a:rPr sz="1577" spc="-33" dirty="0">
                <a:latin typeface="Trebuchet MS"/>
                <a:cs typeface="Trebuchet MS"/>
              </a:rPr>
              <a:t> </a:t>
            </a:r>
            <a:r>
              <a:rPr sz="1577" spc="-12" dirty="0">
                <a:latin typeface="Trebuchet MS"/>
                <a:cs typeface="Trebuchet MS"/>
              </a:rPr>
              <a:t>teacher</a:t>
            </a:r>
            <a:r>
              <a:rPr sz="1577" spc="-33" dirty="0">
                <a:latin typeface="Trebuchet MS"/>
                <a:cs typeface="Trebuchet MS"/>
              </a:rPr>
              <a:t> </a:t>
            </a:r>
            <a:r>
              <a:rPr sz="1577" spc="42" dirty="0">
                <a:latin typeface="Trebuchet MS"/>
                <a:cs typeface="Trebuchet MS"/>
              </a:rPr>
              <a:t>and</a:t>
            </a:r>
            <a:r>
              <a:rPr sz="1577" spc="-36" dirty="0">
                <a:latin typeface="Trebuchet MS"/>
                <a:cs typeface="Trebuchet MS"/>
              </a:rPr>
              <a:t> </a:t>
            </a:r>
            <a:r>
              <a:rPr sz="1577" spc="6" dirty="0">
                <a:latin typeface="Trebuchet MS"/>
                <a:cs typeface="Trebuchet MS"/>
              </a:rPr>
              <a:t>student </a:t>
            </a:r>
            <a:r>
              <a:rPr sz="1577" spc="-464" dirty="0">
                <a:latin typeface="Trebuchet MS"/>
                <a:cs typeface="Trebuchet MS"/>
              </a:rPr>
              <a:t> </a:t>
            </a:r>
            <a:r>
              <a:rPr sz="1577" spc="18" dirty="0">
                <a:latin typeface="Trebuchet MS"/>
                <a:cs typeface="Trebuchet MS"/>
              </a:rPr>
              <a:t>weights</a:t>
            </a:r>
            <a:endParaRPr sz="1577">
              <a:latin typeface="Trebuchet MS"/>
              <a:cs typeface="Trebuchet MS"/>
            </a:endParaRP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04EE00B4-07A4-9A17-2B3C-3413464CD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F84F-0FC8-428E-AB03-8AE077A9E728}" type="slidenum">
              <a:rPr lang="en-US" smtClean="0"/>
              <a:t>27</a:t>
            </a:fld>
            <a:endParaRPr lang="en-US"/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A589D403-20DA-DD2E-D020-EBA7EDB2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D205-2008-4D46-8521-91759FD800B1}" type="datetime1">
              <a:rPr lang="en-US" smtClean="0"/>
              <a:t>12/3/2025</a:t>
            </a:fld>
            <a:endParaRPr lang="en-US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8EDAF4EB-97F2-DE76-F02D-299E07CA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A5BF5-3A1E-24B9-F8B9-A830A335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We can also train a student model based on the knowledge captured between </a:t>
            </a:r>
            <a:r>
              <a:rPr lang="en-US" sz="3200" dirty="0">
                <a:solidFill>
                  <a:srgbClr val="0070C0"/>
                </a:solidFill>
              </a:rPr>
              <a:t>feature maps</a:t>
            </a:r>
            <a:r>
              <a:rPr lang="en-US" sz="3200" dirty="0"/>
              <a:t> to train a student model. </a:t>
            </a:r>
          </a:p>
          <a:p>
            <a:r>
              <a:rPr lang="en-US" sz="3200" dirty="0"/>
              <a:t>This form of knowledge, termed as </a:t>
            </a:r>
            <a:r>
              <a:rPr lang="en-US" sz="3200" dirty="0">
                <a:solidFill>
                  <a:srgbClr val="FF0000"/>
                </a:solidFill>
              </a:rPr>
              <a:t>relation-based knowledge</a:t>
            </a:r>
            <a:r>
              <a:rPr lang="en-US" sz="3200" dirty="0"/>
              <a:t> </a:t>
            </a:r>
          </a:p>
          <a:p>
            <a:r>
              <a:rPr lang="en-US" sz="3200" dirty="0"/>
              <a:t>This relationship can be modeled as </a:t>
            </a:r>
            <a:r>
              <a:rPr lang="en-US" sz="3200" dirty="0">
                <a:solidFill>
                  <a:srgbClr val="FFC000"/>
                </a:solidFill>
              </a:rPr>
              <a:t>correlation </a:t>
            </a:r>
            <a:r>
              <a:rPr lang="en-US" sz="3200" dirty="0"/>
              <a:t>between feature maps, similarity matrix, feature embeddings, or probabilistic distributions based on feature representations.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5E4E44-D18D-8FEB-602B-B274E964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163E-7051-461C-90E8-FB387BF78F92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0B941-6B4A-75C8-F4A8-954C599A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A5C32-F0AE-01F7-7735-D400DA32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CA6C55-101F-D7D0-786D-C7E46842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Relation-based knowledge</a:t>
            </a:r>
          </a:p>
        </p:txBody>
      </p:sp>
    </p:spTree>
    <p:extLst>
      <p:ext uri="{BB962C8B-B14F-4D97-AF65-F5344CB8AC3E}">
        <p14:creationId xmlns:p14="http://schemas.microsoft.com/office/powerpoint/2010/main" val="4126189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4908" y="297422"/>
            <a:ext cx="7758666" cy="562163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lang="en-US" dirty="0"/>
              <a:t>3. Relation-based knowledge</a:t>
            </a:r>
            <a:endParaRPr spc="-79" dirty="0"/>
          </a:p>
        </p:txBody>
      </p:sp>
      <p:sp>
        <p:nvSpPr>
          <p:cNvPr id="3" name="object 3"/>
          <p:cNvSpPr txBox="1"/>
          <p:nvPr/>
        </p:nvSpPr>
        <p:spPr>
          <a:xfrm>
            <a:off x="396558" y="808963"/>
            <a:ext cx="11195367" cy="1646804"/>
          </a:xfrm>
          <a:prstGeom prst="rect">
            <a:avLst/>
          </a:prstGeom>
        </p:spPr>
        <p:txBody>
          <a:bodyPr vert="horz" wrap="square" lIns="0" tIns="72777" rIns="0" bIns="0" rtlCol="0">
            <a:spAutoFit/>
          </a:bodyPr>
          <a:lstStyle/>
          <a:p>
            <a:pPr marL="7701">
              <a:spcBef>
                <a:spcPts val="572"/>
              </a:spcBef>
            </a:pPr>
            <a:r>
              <a:rPr sz="2395" b="1" dirty="0">
                <a:latin typeface="Arial"/>
                <a:cs typeface="Arial"/>
              </a:rPr>
              <a:t>Minimizing </a:t>
            </a:r>
            <a:r>
              <a:rPr sz="2395" b="1" spc="6" dirty="0">
                <a:latin typeface="Arial"/>
                <a:cs typeface="Arial"/>
              </a:rPr>
              <a:t>maximum</a:t>
            </a:r>
            <a:r>
              <a:rPr sz="2395" b="1" spc="3" dirty="0">
                <a:latin typeface="Arial"/>
                <a:cs typeface="Arial"/>
              </a:rPr>
              <a:t> </a:t>
            </a:r>
            <a:r>
              <a:rPr sz="2395" b="1" spc="21" dirty="0">
                <a:latin typeface="Arial"/>
                <a:cs typeface="Arial"/>
              </a:rPr>
              <a:t>mean</a:t>
            </a:r>
            <a:r>
              <a:rPr sz="2395" b="1" spc="3" dirty="0">
                <a:latin typeface="Arial"/>
                <a:cs typeface="Arial"/>
              </a:rPr>
              <a:t> </a:t>
            </a:r>
            <a:r>
              <a:rPr sz="2395" b="1" spc="-9" dirty="0">
                <a:latin typeface="Arial"/>
                <a:cs typeface="Arial"/>
              </a:rPr>
              <a:t>discrepancy</a:t>
            </a:r>
            <a:r>
              <a:rPr sz="2395" b="1" dirty="0">
                <a:latin typeface="Arial"/>
                <a:cs typeface="Arial"/>
              </a:rPr>
              <a:t> </a:t>
            </a:r>
            <a:r>
              <a:rPr sz="2395" b="1" spc="33" dirty="0">
                <a:latin typeface="Arial"/>
                <a:cs typeface="Arial"/>
              </a:rPr>
              <a:t>between</a:t>
            </a:r>
            <a:r>
              <a:rPr sz="2395" b="1" spc="3" dirty="0">
                <a:latin typeface="Arial"/>
                <a:cs typeface="Arial"/>
              </a:rPr>
              <a:t> </a:t>
            </a:r>
            <a:r>
              <a:rPr sz="2395" b="1" spc="12" dirty="0">
                <a:latin typeface="Arial"/>
                <a:cs typeface="Arial"/>
              </a:rPr>
              <a:t>feature</a:t>
            </a:r>
            <a:r>
              <a:rPr sz="2395" b="1" spc="3" dirty="0">
                <a:latin typeface="Arial"/>
                <a:cs typeface="Arial"/>
              </a:rPr>
              <a:t> </a:t>
            </a:r>
            <a:r>
              <a:rPr sz="2395" b="1" spc="12" dirty="0">
                <a:latin typeface="Arial"/>
                <a:cs typeface="Arial"/>
              </a:rPr>
              <a:t>maps</a:t>
            </a:r>
            <a:endParaRPr sz="2395" dirty="0">
              <a:latin typeface="Arial"/>
              <a:cs typeface="Arial"/>
            </a:endParaRPr>
          </a:p>
          <a:p>
            <a:pPr marL="314982" marR="3081" indent="-304971">
              <a:lnSpc>
                <a:spcPct val="100400"/>
              </a:lnSpc>
              <a:spcBef>
                <a:spcPts val="970"/>
              </a:spcBef>
              <a:buSzPct val="122727"/>
              <a:buChar char="•"/>
              <a:tabLst>
                <a:tab pos="314982" algn="l"/>
                <a:tab pos="315367" algn="l"/>
              </a:tabLst>
            </a:pPr>
            <a:r>
              <a:rPr sz="2001" spc="-69" dirty="0">
                <a:latin typeface="Trebuchet MS"/>
                <a:cs typeface="Trebuchet MS"/>
              </a:rPr>
              <a:t>Intuition: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27" dirty="0">
                <a:latin typeface="Trebuchet MS"/>
                <a:cs typeface="Trebuchet MS"/>
              </a:rPr>
              <a:t>teacher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36" dirty="0">
                <a:latin typeface="Trebuchet MS"/>
                <a:cs typeface="Trebuchet MS"/>
              </a:rPr>
              <a:t>and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9" dirty="0">
                <a:latin typeface="Trebuchet MS"/>
                <a:cs typeface="Trebuchet MS"/>
              </a:rPr>
              <a:t>student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3" dirty="0">
                <a:latin typeface="Trebuchet MS"/>
                <a:cs typeface="Trebuchet MS"/>
              </a:rPr>
              <a:t>networks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6" dirty="0">
                <a:latin typeface="Trebuchet MS"/>
                <a:cs typeface="Trebuchet MS"/>
              </a:rPr>
              <a:t>should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9" dirty="0">
                <a:latin typeface="Trebuchet MS"/>
                <a:cs typeface="Trebuchet MS"/>
              </a:rPr>
              <a:t>have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36" dirty="0">
                <a:latin typeface="Trebuchet MS"/>
                <a:cs typeface="Trebuchet MS"/>
              </a:rPr>
              <a:t>similar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b="1" spc="9" dirty="0">
                <a:latin typeface="Arial"/>
                <a:cs typeface="Arial"/>
              </a:rPr>
              <a:t>feature</a:t>
            </a:r>
            <a:r>
              <a:rPr sz="2001" b="1" spc="3" dirty="0">
                <a:latin typeface="Arial"/>
                <a:cs typeface="Arial"/>
              </a:rPr>
              <a:t> </a:t>
            </a:r>
            <a:r>
              <a:rPr sz="2001" spc="-27" dirty="0">
                <a:latin typeface="Trebuchet MS"/>
                <a:cs typeface="Trebuchet MS"/>
              </a:rPr>
              <a:t>distributions,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24" dirty="0">
                <a:latin typeface="Trebuchet MS"/>
                <a:cs typeface="Trebuchet MS"/>
              </a:rPr>
              <a:t>not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64" dirty="0">
                <a:latin typeface="Trebuchet MS"/>
                <a:cs typeface="Trebuchet MS"/>
              </a:rPr>
              <a:t>just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-24" dirty="0">
                <a:latin typeface="Trebuchet MS"/>
                <a:cs typeface="Trebuchet MS"/>
              </a:rPr>
              <a:t>output</a:t>
            </a:r>
            <a:r>
              <a:rPr lang="en-US" sz="2001" spc="-24" dirty="0">
                <a:latin typeface="Trebuchet MS"/>
                <a:cs typeface="Trebuchet MS"/>
              </a:rPr>
              <a:t> </a:t>
            </a:r>
            <a:r>
              <a:rPr sz="2001" spc="-36" dirty="0">
                <a:latin typeface="Trebuchet MS"/>
                <a:cs typeface="Trebuchet MS"/>
              </a:rPr>
              <a:t>probability</a:t>
            </a:r>
            <a:r>
              <a:rPr sz="2001" spc="-52" dirty="0">
                <a:latin typeface="Trebuchet MS"/>
                <a:cs typeface="Trebuchet MS"/>
              </a:rPr>
              <a:t> </a:t>
            </a:r>
            <a:r>
              <a:rPr sz="2001" spc="-27" dirty="0">
                <a:latin typeface="Trebuchet MS"/>
                <a:cs typeface="Trebuchet MS"/>
              </a:rPr>
              <a:t>distributions.</a:t>
            </a:r>
            <a:endParaRPr sz="2001" dirty="0">
              <a:latin typeface="Trebuchet MS"/>
              <a:cs typeface="Trebuchet MS"/>
            </a:endParaRPr>
          </a:p>
          <a:p>
            <a:pPr marR="2177537" algn="ctr">
              <a:spcBef>
                <a:spcPts val="1716"/>
              </a:spcBef>
            </a:pPr>
            <a:r>
              <a:rPr sz="1577" spc="-58" dirty="0">
                <a:latin typeface="Arial MT"/>
                <a:cs typeface="Arial MT"/>
              </a:rPr>
              <a:t>Teacher</a:t>
            </a:r>
            <a:r>
              <a:rPr sz="1577" spc="-9" dirty="0">
                <a:latin typeface="Arial MT"/>
                <a:cs typeface="Arial MT"/>
              </a:rPr>
              <a:t> </a:t>
            </a:r>
            <a:r>
              <a:rPr sz="1577" spc="-12" dirty="0">
                <a:latin typeface="Arial MT"/>
                <a:cs typeface="Arial MT"/>
              </a:rPr>
              <a:t>Model</a:t>
            </a:r>
            <a:endParaRPr sz="1577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2228" y="2505673"/>
            <a:ext cx="6431097" cy="3752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45043" y="3730053"/>
            <a:ext cx="455531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9" dirty="0">
                <a:latin typeface="Arial MT"/>
                <a:cs typeface="Arial MT"/>
              </a:rPr>
              <a:t>Input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2171" y="2668799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1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55531" y="2770159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11200" y="5670365"/>
            <a:ext cx="6769820" cy="890213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4508329" marR="1477491" indent="-361575">
              <a:lnSpc>
                <a:spcPct val="103099"/>
              </a:lnSpc>
              <a:spcBef>
                <a:spcPts val="24"/>
              </a:spcBef>
            </a:pPr>
            <a:r>
              <a:rPr sz="1577" spc="-36" dirty="0">
                <a:latin typeface="Arial MT"/>
                <a:cs typeface="Arial MT"/>
              </a:rPr>
              <a:t>Classi</a:t>
            </a:r>
            <a:r>
              <a:rPr sz="1577" spc="-39" dirty="0">
                <a:latin typeface="Arial MT"/>
                <a:cs typeface="Arial MT"/>
              </a:rPr>
              <a:t>fi</a:t>
            </a:r>
            <a:r>
              <a:rPr sz="1577" spc="-6" dirty="0">
                <a:latin typeface="Arial MT"/>
                <a:cs typeface="Arial MT"/>
              </a:rPr>
              <a:t>cation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  <a:p>
            <a:pPr marL="7701">
              <a:spcBef>
                <a:spcPts val="1601"/>
              </a:spcBef>
            </a:pPr>
            <a:r>
              <a:rPr sz="1182" spc="3" dirty="0">
                <a:solidFill>
                  <a:srgbClr val="5E5E5E"/>
                </a:solidFill>
                <a:latin typeface="Trebuchet MS"/>
                <a:cs typeface="Trebuchet MS"/>
              </a:rPr>
              <a:t>Like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What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You</a:t>
            </a:r>
            <a:r>
              <a:rPr sz="1182" spc="-1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Like: </a:t>
            </a:r>
            <a:r>
              <a:rPr sz="1182" spc="30" dirty="0">
                <a:solidFill>
                  <a:srgbClr val="5E5E5E"/>
                </a:solidFill>
                <a:latin typeface="Trebuchet MS"/>
                <a:cs typeface="Trebuchet MS"/>
              </a:rPr>
              <a:t>Knowledge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Distill</a:t>
            </a:r>
            <a:r>
              <a:rPr sz="1182" spc="-1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9" dirty="0">
                <a:solidFill>
                  <a:srgbClr val="5E5E5E"/>
                </a:solidFill>
                <a:latin typeface="Trebuchet MS"/>
                <a:cs typeface="Trebuchet MS"/>
              </a:rPr>
              <a:t>via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8" dirty="0">
                <a:solidFill>
                  <a:srgbClr val="5E5E5E"/>
                </a:solidFill>
                <a:latin typeface="Trebuchet MS"/>
                <a:cs typeface="Trebuchet MS"/>
              </a:rPr>
              <a:t>Neuron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12" dirty="0">
                <a:solidFill>
                  <a:srgbClr val="5E5E5E"/>
                </a:solidFill>
                <a:latin typeface="Trebuchet MS"/>
                <a:cs typeface="Trebuchet MS"/>
              </a:rPr>
              <a:t>Selectivity</a:t>
            </a:r>
            <a:r>
              <a:rPr sz="1182" spc="-1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Transfer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21" dirty="0">
                <a:solidFill>
                  <a:srgbClr val="5E5E5E"/>
                </a:solidFill>
                <a:latin typeface="Trebuchet MS"/>
                <a:cs typeface="Trebuchet MS"/>
              </a:rPr>
              <a:t>[Huang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0" dirty="0">
                <a:solidFill>
                  <a:srgbClr val="5E5E5E"/>
                </a:solidFill>
                <a:latin typeface="Trebuchet MS"/>
                <a:cs typeface="Trebuchet MS"/>
              </a:rPr>
              <a:t>and</a:t>
            </a:r>
            <a:r>
              <a:rPr sz="1182" spc="-1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8" dirty="0">
                <a:solidFill>
                  <a:srgbClr val="5E5E5E"/>
                </a:solidFill>
                <a:latin typeface="Trebuchet MS"/>
                <a:cs typeface="Trebuchet MS"/>
              </a:rPr>
              <a:t>Wang,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3" dirty="0">
                <a:solidFill>
                  <a:srgbClr val="5E5E5E"/>
                </a:solidFill>
                <a:latin typeface="Trebuchet MS"/>
                <a:cs typeface="Trebuchet MS"/>
              </a:rPr>
              <a:t>arXiv</a:t>
            </a:r>
            <a:r>
              <a:rPr sz="1182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2017]</a:t>
            </a:r>
            <a:endParaRPr sz="1182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56194" y="2668356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2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70215" y="2668356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75204" marR="3081" indent="-167888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-15" dirty="0">
                <a:latin typeface="Arial MT"/>
                <a:cs typeface="Arial MT"/>
              </a:rPr>
              <a:t>N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0072" y="2645178"/>
            <a:ext cx="167888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15" dirty="0">
                <a:latin typeface="Arial"/>
                <a:cs typeface="Arial"/>
              </a:rPr>
              <a:t>…</a:t>
            </a:r>
            <a:endParaRPr sz="1182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2171" y="4572642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1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56194" y="4572199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2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70215" y="4572199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75204" marR="3081" indent="-167888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-15" dirty="0">
                <a:latin typeface="Arial MT"/>
                <a:cs typeface="Arial MT"/>
              </a:rPr>
              <a:t>N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20072" y="4772268"/>
            <a:ext cx="167888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15" dirty="0">
                <a:latin typeface="Arial"/>
                <a:cs typeface="Arial"/>
              </a:rPr>
              <a:t>…</a:t>
            </a:r>
            <a:endParaRPr sz="1182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5581" y="4674002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53006" y="5280618"/>
            <a:ext cx="1299978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3" dirty="0">
                <a:latin typeface="Arial MT"/>
                <a:cs typeface="Arial MT"/>
              </a:rPr>
              <a:t>Student</a:t>
            </a:r>
            <a:r>
              <a:rPr sz="1577" spc="-30" dirty="0">
                <a:latin typeface="Arial MT"/>
                <a:cs typeface="Arial MT"/>
              </a:rPr>
              <a:t> </a:t>
            </a:r>
            <a:r>
              <a:rPr sz="1577" spc="-12" dirty="0">
                <a:latin typeface="Arial MT"/>
                <a:cs typeface="Arial MT"/>
              </a:rPr>
              <a:t>Model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2409" y="3608172"/>
            <a:ext cx="433198" cy="508712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80863">
              <a:spcBef>
                <a:spcPts val="82"/>
              </a:spcBef>
            </a:pPr>
            <a:r>
              <a:rPr sz="1577" spc="-30" dirty="0">
                <a:solidFill>
                  <a:srgbClr val="A22034"/>
                </a:solidFill>
                <a:latin typeface="Arial MT"/>
                <a:cs typeface="Arial MT"/>
              </a:rPr>
              <a:t>KD</a:t>
            </a:r>
            <a:endParaRPr sz="1577">
              <a:latin typeface="Arial MT"/>
              <a:cs typeface="Arial MT"/>
            </a:endParaRPr>
          </a:p>
          <a:p>
            <a:pPr marL="7701">
              <a:spcBef>
                <a:spcPts val="58"/>
              </a:spcBef>
            </a:pPr>
            <a:r>
              <a:rPr sz="1577" spc="-12" dirty="0">
                <a:solidFill>
                  <a:srgbClr val="A22034"/>
                </a:solidFill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68473" y="3608172"/>
            <a:ext cx="433198" cy="508712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80863">
              <a:spcBef>
                <a:spcPts val="82"/>
              </a:spcBef>
            </a:pPr>
            <a:r>
              <a:rPr sz="1577" spc="-30" dirty="0">
                <a:solidFill>
                  <a:srgbClr val="A22034"/>
                </a:solidFill>
                <a:latin typeface="Arial MT"/>
                <a:cs typeface="Arial MT"/>
              </a:rPr>
              <a:t>KD</a:t>
            </a:r>
            <a:endParaRPr sz="1577">
              <a:latin typeface="Arial MT"/>
              <a:cs typeface="Arial MT"/>
            </a:endParaRPr>
          </a:p>
          <a:p>
            <a:pPr marL="7701">
              <a:spcBef>
                <a:spcPts val="58"/>
              </a:spcBef>
            </a:pPr>
            <a:r>
              <a:rPr sz="1577" spc="-12" dirty="0">
                <a:solidFill>
                  <a:srgbClr val="A22034"/>
                </a:solidFill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2886" y="3703509"/>
            <a:ext cx="3171777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dirty="0">
                <a:solidFill>
                  <a:srgbClr val="A22034"/>
                </a:solidFill>
                <a:latin typeface="Arial MT"/>
                <a:cs typeface="Arial MT"/>
              </a:rPr>
              <a:t>Match</a:t>
            </a:r>
            <a:r>
              <a:rPr sz="1698" spc="-18" dirty="0">
                <a:solidFill>
                  <a:srgbClr val="A22034"/>
                </a:solidFill>
                <a:latin typeface="Arial MT"/>
                <a:cs typeface="Arial MT"/>
              </a:rPr>
              <a:t> </a:t>
            </a:r>
            <a:r>
              <a:rPr sz="1698" dirty="0">
                <a:solidFill>
                  <a:srgbClr val="A22034"/>
                </a:solidFill>
                <a:latin typeface="Arial MT"/>
                <a:cs typeface="Arial MT"/>
              </a:rPr>
              <a:t>intermediate</a:t>
            </a:r>
            <a:r>
              <a:rPr sz="1698" spc="-15" dirty="0">
                <a:solidFill>
                  <a:srgbClr val="A22034"/>
                </a:solidFill>
                <a:latin typeface="Arial MT"/>
                <a:cs typeface="Arial MT"/>
              </a:rPr>
              <a:t> </a:t>
            </a:r>
            <a:r>
              <a:rPr sz="1698" dirty="0">
                <a:solidFill>
                  <a:srgbClr val="A22034"/>
                </a:solidFill>
                <a:latin typeface="Arial MT"/>
                <a:cs typeface="Arial MT"/>
              </a:rPr>
              <a:t>feature</a:t>
            </a:r>
            <a:r>
              <a:rPr sz="1698" spc="-15" dirty="0">
                <a:solidFill>
                  <a:srgbClr val="A22034"/>
                </a:solidFill>
                <a:latin typeface="Arial MT"/>
                <a:cs typeface="Arial MT"/>
              </a:rPr>
              <a:t> </a:t>
            </a:r>
            <a:r>
              <a:rPr sz="1698" dirty="0">
                <a:solidFill>
                  <a:srgbClr val="A22034"/>
                </a:solidFill>
                <a:latin typeface="Arial MT"/>
                <a:cs typeface="Arial MT"/>
              </a:rPr>
              <a:t>maps</a:t>
            </a:r>
            <a:endParaRPr sz="1698">
              <a:latin typeface="Arial MT"/>
              <a:cs typeface="Arial MT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69B86B9-0352-2EF3-6A85-9910F3A0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F84F-0FC8-428E-AB03-8AE077A9E728}" type="slidenum">
              <a:rPr lang="en-US" smtClean="0"/>
              <a:t>29</a:t>
            </a:fld>
            <a:endParaRPr lang="en-US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962B096-0C3B-07CA-E6AB-E237B5A9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DCBA9-B4B0-4CC8-8328-F181C606A4BF}" type="datetime1">
              <a:rPr lang="en-US" smtClean="0"/>
              <a:t>12/3/2025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1A9D2ED-34CE-49A1-1226-B2F9463C1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8479" y="439512"/>
            <a:ext cx="7738643" cy="1034131"/>
          </a:xfrm>
          <a:prstGeom prst="rect">
            <a:avLst/>
          </a:prstGeom>
        </p:spPr>
        <p:txBody>
          <a:bodyPr vert="horz" wrap="square" lIns="0" tIns="72392" rIns="0" bIns="0" rtlCol="0" anchor="ctr">
            <a:spAutoFit/>
          </a:bodyPr>
          <a:lstStyle/>
          <a:p>
            <a:pPr marL="10012">
              <a:spcBef>
                <a:spcPts val="570"/>
              </a:spcBef>
            </a:pPr>
            <a:r>
              <a:rPr lang="en-US" dirty="0"/>
              <a:t>3. Relation-based knowledge</a:t>
            </a:r>
            <a:br>
              <a:rPr lang="en-US" dirty="0"/>
            </a:br>
            <a:r>
              <a:rPr sz="2395" spc="-6" dirty="0">
                <a:solidFill>
                  <a:srgbClr val="000000"/>
                </a:solidFill>
              </a:rPr>
              <a:t>Relations</a:t>
            </a:r>
            <a:r>
              <a:rPr sz="2395" spc="-3" dirty="0">
                <a:solidFill>
                  <a:srgbClr val="000000"/>
                </a:solidFill>
              </a:rPr>
              <a:t> </a:t>
            </a:r>
            <a:r>
              <a:rPr sz="2395" spc="33" dirty="0">
                <a:solidFill>
                  <a:srgbClr val="000000"/>
                </a:solidFill>
              </a:rPr>
              <a:t>between</a:t>
            </a:r>
            <a:r>
              <a:rPr sz="2395" spc="-3" dirty="0">
                <a:solidFill>
                  <a:srgbClr val="000000"/>
                </a:solidFill>
              </a:rPr>
              <a:t> </a:t>
            </a:r>
            <a:r>
              <a:rPr sz="2395" spc="-9" dirty="0">
                <a:solidFill>
                  <a:srgbClr val="000000"/>
                </a:solidFill>
              </a:rPr>
              <a:t>different</a:t>
            </a:r>
            <a:r>
              <a:rPr sz="2395" dirty="0">
                <a:solidFill>
                  <a:srgbClr val="000000"/>
                </a:solidFill>
              </a:rPr>
              <a:t> samples</a:t>
            </a:r>
            <a:endParaRPr sz="2395" dirty="0"/>
          </a:p>
        </p:txBody>
      </p:sp>
      <p:grpSp>
        <p:nvGrpSpPr>
          <p:cNvPr id="3" name="object 3"/>
          <p:cNvGrpSpPr/>
          <p:nvPr/>
        </p:nvGrpSpPr>
        <p:grpSpPr>
          <a:xfrm>
            <a:off x="6064603" y="1855359"/>
            <a:ext cx="689266" cy="738554"/>
            <a:chOff x="10000274" y="3059625"/>
            <a:chExt cx="1136650" cy="12179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9286" y="3088634"/>
              <a:ext cx="1078069" cy="11593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4780" y="3074130"/>
              <a:ext cx="1107440" cy="1188720"/>
            </a:xfrm>
            <a:custGeom>
              <a:avLst/>
              <a:gdLst/>
              <a:ahLst/>
              <a:cxnLst/>
              <a:rect l="l" t="t" r="r" b="b"/>
              <a:pathLst>
                <a:path w="1107440" h="1188720">
                  <a:moveTo>
                    <a:pt x="0" y="1188313"/>
                  </a:moveTo>
                  <a:lnTo>
                    <a:pt x="1107080" y="1188313"/>
                  </a:lnTo>
                  <a:lnTo>
                    <a:pt x="1107080" y="0"/>
                  </a:lnTo>
                  <a:lnTo>
                    <a:pt x="0" y="0"/>
                  </a:lnTo>
                  <a:lnTo>
                    <a:pt x="0" y="1188313"/>
                  </a:lnTo>
                  <a:close/>
                </a:path>
              </a:pathLst>
            </a:custGeom>
            <a:ln w="29011">
              <a:solidFill>
                <a:srgbClr val="20386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213754" y="1851840"/>
            <a:ext cx="670782" cy="728542"/>
            <a:chOff x="11895308" y="3053822"/>
            <a:chExt cx="1106170" cy="12014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4317" y="3082831"/>
              <a:ext cx="1047896" cy="11430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909814" y="3068328"/>
              <a:ext cx="1076960" cy="1172210"/>
            </a:xfrm>
            <a:custGeom>
              <a:avLst/>
              <a:gdLst/>
              <a:ahLst/>
              <a:cxnLst/>
              <a:rect l="l" t="t" r="r" b="b"/>
              <a:pathLst>
                <a:path w="1076959" h="1172210">
                  <a:moveTo>
                    <a:pt x="0" y="1172066"/>
                  </a:moveTo>
                  <a:lnTo>
                    <a:pt x="1076908" y="1172066"/>
                  </a:lnTo>
                  <a:lnTo>
                    <a:pt x="1076908" y="0"/>
                  </a:lnTo>
                  <a:lnTo>
                    <a:pt x="0" y="0"/>
                  </a:lnTo>
                  <a:lnTo>
                    <a:pt x="0" y="1172066"/>
                  </a:lnTo>
                  <a:close/>
                </a:path>
              </a:pathLst>
            </a:custGeom>
            <a:ln w="29011">
              <a:solidFill>
                <a:srgbClr val="20386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896452" y="1837766"/>
            <a:ext cx="689651" cy="745485"/>
            <a:chOff x="8073907" y="3030613"/>
            <a:chExt cx="1137285" cy="12293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2918" y="3059623"/>
              <a:ext cx="1079229" cy="11709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088412" y="3045119"/>
              <a:ext cx="1108710" cy="1200150"/>
            </a:xfrm>
            <a:custGeom>
              <a:avLst/>
              <a:gdLst/>
              <a:ahLst/>
              <a:cxnLst/>
              <a:rect l="l" t="t" r="r" b="b"/>
              <a:pathLst>
                <a:path w="1108709" h="1200150">
                  <a:moveTo>
                    <a:pt x="0" y="1199917"/>
                  </a:moveTo>
                  <a:lnTo>
                    <a:pt x="1108241" y="1199917"/>
                  </a:lnTo>
                  <a:lnTo>
                    <a:pt x="1108241" y="0"/>
                  </a:lnTo>
                  <a:lnTo>
                    <a:pt x="0" y="0"/>
                  </a:lnTo>
                  <a:lnTo>
                    <a:pt x="0" y="1199917"/>
                  </a:lnTo>
                  <a:close/>
                </a:path>
              </a:pathLst>
            </a:custGeom>
            <a:ln w="29011">
              <a:solidFill>
                <a:srgbClr val="20386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933749" y="2706139"/>
            <a:ext cx="175589" cy="224493"/>
            <a:chOff x="8135411" y="4462623"/>
            <a:chExt cx="289560" cy="370205"/>
          </a:xfrm>
        </p:grpSpPr>
        <p:sp>
          <p:nvSpPr>
            <p:cNvPr id="13" name="object 13"/>
            <p:cNvSpPr/>
            <p:nvPr/>
          </p:nvSpPr>
          <p:spPr>
            <a:xfrm>
              <a:off x="8146436" y="4473645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200180" y="0"/>
                  </a:moveTo>
                  <a:lnTo>
                    <a:pt x="66726" y="0"/>
                  </a:lnTo>
                  <a:lnTo>
                    <a:pt x="66726" y="214688"/>
                  </a:lnTo>
                  <a:lnTo>
                    <a:pt x="0" y="214688"/>
                  </a:lnTo>
                  <a:lnTo>
                    <a:pt x="133453" y="348139"/>
                  </a:lnTo>
                  <a:lnTo>
                    <a:pt x="266903" y="214688"/>
                  </a:lnTo>
                  <a:lnTo>
                    <a:pt x="200180" y="214688"/>
                  </a:lnTo>
                  <a:lnTo>
                    <a:pt x="20018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4" name="object 14"/>
            <p:cNvSpPr/>
            <p:nvPr/>
          </p:nvSpPr>
          <p:spPr>
            <a:xfrm>
              <a:off x="8146436" y="4473648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0" y="214685"/>
                  </a:moveTo>
                  <a:lnTo>
                    <a:pt x="66726" y="214685"/>
                  </a:lnTo>
                  <a:lnTo>
                    <a:pt x="66726" y="0"/>
                  </a:lnTo>
                  <a:lnTo>
                    <a:pt x="200179" y="0"/>
                  </a:lnTo>
                  <a:lnTo>
                    <a:pt x="200179" y="214685"/>
                  </a:lnTo>
                  <a:lnTo>
                    <a:pt x="266906" y="214685"/>
                  </a:lnTo>
                  <a:lnTo>
                    <a:pt x="133453" y="348138"/>
                  </a:lnTo>
                  <a:lnTo>
                    <a:pt x="0" y="214685"/>
                  </a:lnTo>
                  <a:close/>
                </a:path>
              </a:pathLst>
            </a:custGeom>
            <a:ln w="22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453787" y="2702620"/>
            <a:ext cx="175589" cy="224493"/>
            <a:chOff x="8992993" y="4456821"/>
            <a:chExt cx="289560" cy="370205"/>
          </a:xfrm>
        </p:grpSpPr>
        <p:sp>
          <p:nvSpPr>
            <p:cNvPr id="16" name="object 16"/>
            <p:cNvSpPr/>
            <p:nvPr/>
          </p:nvSpPr>
          <p:spPr>
            <a:xfrm>
              <a:off x="9004019" y="4467845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200177" y="0"/>
                  </a:moveTo>
                  <a:lnTo>
                    <a:pt x="66726" y="0"/>
                  </a:lnTo>
                  <a:lnTo>
                    <a:pt x="66726" y="214684"/>
                  </a:lnTo>
                  <a:lnTo>
                    <a:pt x="0" y="214684"/>
                  </a:lnTo>
                  <a:lnTo>
                    <a:pt x="133450" y="348138"/>
                  </a:lnTo>
                  <a:lnTo>
                    <a:pt x="266903" y="214684"/>
                  </a:lnTo>
                  <a:lnTo>
                    <a:pt x="200177" y="214684"/>
                  </a:lnTo>
                  <a:lnTo>
                    <a:pt x="200177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7" name="object 17"/>
            <p:cNvSpPr/>
            <p:nvPr/>
          </p:nvSpPr>
          <p:spPr>
            <a:xfrm>
              <a:off x="9004018" y="4467845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0" y="214685"/>
                  </a:moveTo>
                  <a:lnTo>
                    <a:pt x="66726" y="214685"/>
                  </a:lnTo>
                  <a:lnTo>
                    <a:pt x="66726" y="0"/>
                  </a:lnTo>
                  <a:lnTo>
                    <a:pt x="200179" y="0"/>
                  </a:lnTo>
                  <a:lnTo>
                    <a:pt x="200179" y="214685"/>
                  </a:lnTo>
                  <a:lnTo>
                    <a:pt x="266906" y="214685"/>
                  </a:lnTo>
                  <a:lnTo>
                    <a:pt x="133453" y="348138"/>
                  </a:lnTo>
                  <a:lnTo>
                    <a:pt x="0" y="214685"/>
                  </a:lnTo>
                  <a:close/>
                </a:path>
              </a:pathLst>
            </a:custGeom>
            <a:ln w="22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28972" y="2695506"/>
            <a:ext cx="190222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3104">
              <a:spcBef>
                <a:spcPts val="79"/>
              </a:spcBef>
            </a:pPr>
            <a:r>
              <a:rPr sz="1273" spc="-67" dirty="0">
                <a:latin typeface="Cambria Math"/>
                <a:cs typeface="Cambria Math"/>
              </a:rPr>
              <a:t>𝑓</a:t>
            </a:r>
            <a:r>
              <a:rPr sz="1410" spc="-100" baseline="-16129" dirty="0">
                <a:latin typeface="Cambria Math"/>
                <a:cs typeface="Cambria Math"/>
              </a:rPr>
              <a:t>𝑇</a:t>
            </a:r>
            <a:endParaRPr sz="1410" baseline="-16129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78390" y="2703774"/>
            <a:ext cx="172509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3104">
              <a:spcBef>
                <a:spcPts val="79"/>
              </a:spcBef>
            </a:pPr>
            <a:r>
              <a:rPr sz="1273" spc="-106" dirty="0">
                <a:latin typeface="Cambria Math"/>
                <a:cs typeface="Cambria Math"/>
              </a:rPr>
              <a:t>𝑓</a:t>
            </a:r>
            <a:r>
              <a:rPr sz="1410" spc="-159" baseline="-16129" dirty="0">
                <a:latin typeface="Cambria Math"/>
                <a:cs typeface="Cambria Math"/>
              </a:rPr>
              <a:t>𝑆</a:t>
            </a:r>
            <a:endParaRPr sz="1410" baseline="-16129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59992" y="3088896"/>
            <a:ext cx="487107" cy="122065"/>
            <a:chOff x="7848874" y="5093818"/>
            <a:chExt cx="803275" cy="201295"/>
          </a:xfrm>
        </p:grpSpPr>
        <p:sp>
          <p:nvSpPr>
            <p:cNvPr id="21" name="object 21"/>
            <p:cNvSpPr/>
            <p:nvPr/>
          </p:nvSpPr>
          <p:spPr>
            <a:xfrm>
              <a:off x="7853705" y="5098586"/>
              <a:ext cx="793115" cy="182245"/>
            </a:xfrm>
            <a:custGeom>
              <a:avLst/>
              <a:gdLst/>
              <a:ahLst/>
              <a:cxnLst/>
              <a:rect l="l" t="t" r="r" b="b"/>
              <a:pathLst>
                <a:path w="793115" h="182245">
                  <a:moveTo>
                    <a:pt x="792975" y="0"/>
                  </a:moveTo>
                  <a:lnTo>
                    <a:pt x="792975" y="0"/>
                  </a:lnTo>
                  <a:lnTo>
                    <a:pt x="0" y="0"/>
                  </a:lnTo>
                  <a:lnTo>
                    <a:pt x="0" y="181686"/>
                  </a:lnTo>
                  <a:lnTo>
                    <a:pt x="792975" y="181686"/>
                  </a:lnTo>
                  <a:lnTo>
                    <a:pt x="792975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2" name="object 22"/>
            <p:cNvSpPr/>
            <p:nvPr/>
          </p:nvSpPr>
          <p:spPr>
            <a:xfrm>
              <a:off x="7848874" y="5093818"/>
              <a:ext cx="803275" cy="201295"/>
            </a:xfrm>
            <a:custGeom>
              <a:avLst/>
              <a:gdLst/>
              <a:ahLst/>
              <a:cxnLst/>
              <a:rect l="l" t="t" r="r" b="b"/>
              <a:pathLst>
                <a:path w="803275" h="201295">
                  <a:moveTo>
                    <a:pt x="163431" y="0"/>
                  </a:moveTo>
                  <a:lnTo>
                    <a:pt x="163431" y="200953"/>
                  </a:lnTo>
                </a:path>
                <a:path w="803275" h="201295">
                  <a:moveTo>
                    <a:pt x="322028" y="0"/>
                  </a:moveTo>
                  <a:lnTo>
                    <a:pt x="322028" y="200953"/>
                  </a:lnTo>
                </a:path>
                <a:path w="803275" h="201295">
                  <a:moveTo>
                    <a:pt x="480624" y="0"/>
                  </a:moveTo>
                  <a:lnTo>
                    <a:pt x="480624" y="200953"/>
                  </a:lnTo>
                </a:path>
                <a:path w="803275" h="201295">
                  <a:moveTo>
                    <a:pt x="639221" y="0"/>
                  </a:moveTo>
                  <a:lnTo>
                    <a:pt x="639221" y="200953"/>
                  </a:lnTo>
                </a:path>
                <a:path w="803275" h="201295">
                  <a:moveTo>
                    <a:pt x="4835" y="0"/>
                  </a:moveTo>
                  <a:lnTo>
                    <a:pt x="4835" y="200953"/>
                  </a:lnTo>
                </a:path>
                <a:path w="803275" h="201295">
                  <a:moveTo>
                    <a:pt x="797817" y="0"/>
                  </a:moveTo>
                  <a:lnTo>
                    <a:pt x="797817" y="200953"/>
                  </a:lnTo>
                </a:path>
                <a:path w="803275" h="201295">
                  <a:moveTo>
                    <a:pt x="0" y="4835"/>
                  </a:moveTo>
                  <a:lnTo>
                    <a:pt x="802652" y="4835"/>
                  </a:lnTo>
                </a:path>
              </a:pathLst>
            </a:custGeom>
            <a:ln w="96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3" name="object 23"/>
            <p:cNvSpPr/>
            <p:nvPr/>
          </p:nvSpPr>
          <p:spPr>
            <a:xfrm>
              <a:off x="7848874" y="5280266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2652" y="0"/>
                  </a:lnTo>
                </a:path>
              </a:pathLst>
            </a:custGeom>
            <a:ln w="290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290410" y="3087371"/>
            <a:ext cx="487107" cy="122065"/>
            <a:chOff x="8723572" y="5091303"/>
            <a:chExt cx="803275" cy="201295"/>
          </a:xfrm>
        </p:grpSpPr>
        <p:sp>
          <p:nvSpPr>
            <p:cNvPr id="25" name="object 25"/>
            <p:cNvSpPr/>
            <p:nvPr/>
          </p:nvSpPr>
          <p:spPr>
            <a:xfrm>
              <a:off x="8728405" y="5096160"/>
              <a:ext cx="793115" cy="182245"/>
            </a:xfrm>
            <a:custGeom>
              <a:avLst/>
              <a:gdLst/>
              <a:ahLst/>
              <a:cxnLst/>
              <a:rect l="l" t="t" r="r" b="b"/>
              <a:pathLst>
                <a:path w="793115" h="182245">
                  <a:moveTo>
                    <a:pt x="792975" y="0"/>
                  </a:moveTo>
                  <a:lnTo>
                    <a:pt x="792975" y="0"/>
                  </a:lnTo>
                  <a:lnTo>
                    <a:pt x="0" y="0"/>
                  </a:lnTo>
                  <a:lnTo>
                    <a:pt x="0" y="181698"/>
                  </a:lnTo>
                  <a:lnTo>
                    <a:pt x="792975" y="181698"/>
                  </a:lnTo>
                  <a:lnTo>
                    <a:pt x="7929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6" name="object 26"/>
            <p:cNvSpPr/>
            <p:nvPr/>
          </p:nvSpPr>
          <p:spPr>
            <a:xfrm>
              <a:off x="8723572" y="5091303"/>
              <a:ext cx="803275" cy="201295"/>
            </a:xfrm>
            <a:custGeom>
              <a:avLst/>
              <a:gdLst/>
              <a:ahLst/>
              <a:cxnLst/>
              <a:rect l="l" t="t" r="r" b="b"/>
              <a:pathLst>
                <a:path w="803275" h="201295">
                  <a:moveTo>
                    <a:pt x="163431" y="0"/>
                  </a:moveTo>
                  <a:lnTo>
                    <a:pt x="163431" y="201050"/>
                  </a:lnTo>
                </a:path>
                <a:path w="803275" h="201295">
                  <a:moveTo>
                    <a:pt x="322028" y="0"/>
                  </a:moveTo>
                  <a:lnTo>
                    <a:pt x="322028" y="201050"/>
                  </a:lnTo>
                </a:path>
                <a:path w="803275" h="201295">
                  <a:moveTo>
                    <a:pt x="480624" y="0"/>
                  </a:moveTo>
                  <a:lnTo>
                    <a:pt x="480624" y="201050"/>
                  </a:lnTo>
                </a:path>
                <a:path w="803275" h="201295">
                  <a:moveTo>
                    <a:pt x="639221" y="0"/>
                  </a:moveTo>
                  <a:lnTo>
                    <a:pt x="639221" y="201050"/>
                  </a:lnTo>
                </a:path>
                <a:path w="803275" h="201295">
                  <a:moveTo>
                    <a:pt x="4835" y="0"/>
                  </a:moveTo>
                  <a:lnTo>
                    <a:pt x="4835" y="201050"/>
                  </a:lnTo>
                </a:path>
                <a:path w="803275" h="201295">
                  <a:moveTo>
                    <a:pt x="797817" y="0"/>
                  </a:moveTo>
                  <a:lnTo>
                    <a:pt x="797817" y="201050"/>
                  </a:lnTo>
                </a:path>
                <a:path w="803275" h="201295">
                  <a:moveTo>
                    <a:pt x="0" y="4835"/>
                  </a:moveTo>
                  <a:lnTo>
                    <a:pt x="802652" y="4835"/>
                  </a:lnTo>
                </a:path>
              </a:pathLst>
            </a:custGeom>
            <a:ln w="96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7" name="object 27"/>
            <p:cNvSpPr/>
            <p:nvPr/>
          </p:nvSpPr>
          <p:spPr>
            <a:xfrm>
              <a:off x="8723572" y="5277848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2652" y="0"/>
                  </a:lnTo>
                </a:path>
              </a:pathLst>
            </a:custGeom>
            <a:ln w="290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904312" y="3156256"/>
            <a:ext cx="155951" cy="17778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23104">
              <a:spcBef>
                <a:spcPts val="76"/>
              </a:spcBef>
            </a:pPr>
            <a:r>
              <a:rPr sz="1092" spc="-6" dirty="0">
                <a:latin typeface="Cambria Math"/>
                <a:cs typeface="Cambria Math"/>
              </a:rPr>
              <a:t>𝑡</a:t>
            </a:r>
            <a:r>
              <a:rPr sz="1182" spc="-9" baseline="-14957" dirty="0">
                <a:latin typeface="Cambria Math"/>
                <a:cs typeface="Cambria Math"/>
              </a:rPr>
              <a:t>1</a:t>
            </a:r>
            <a:endParaRPr sz="1182" baseline="-1495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52616" y="3137960"/>
            <a:ext cx="163652" cy="17778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23104">
              <a:spcBef>
                <a:spcPts val="76"/>
              </a:spcBef>
            </a:pPr>
            <a:r>
              <a:rPr sz="1092" spc="-12" dirty="0">
                <a:latin typeface="Cambria Math"/>
                <a:cs typeface="Cambria Math"/>
              </a:rPr>
              <a:t>𝑠</a:t>
            </a:r>
            <a:r>
              <a:rPr sz="1182" spc="-18" baseline="-14957" dirty="0">
                <a:latin typeface="Cambria Math"/>
                <a:cs typeface="Cambria Math"/>
              </a:rPr>
              <a:t>1</a:t>
            </a:r>
            <a:endParaRPr sz="1182" baseline="-14957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82900" y="2695584"/>
            <a:ext cx="175589" cy="224493"/>
            <a:chOff x="10030446" y="4445217"/>
            <a:chExt cx="289560" cy="370205"/>
          </a:xfrm>
        </p:grpSpPr>
        <p:sp>
          <p:nvSpPr>
            <p:cNvPr id="31" name="object 31"/>
            <p:cNvSpPr/>
            <p:nvPr/>
          </p:nvSpPr>
          <p:spPr>
            <a:xfrm>
              <a:off x="10041470" y="4456242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200181" y="0"/>
                  </a:moveTo>
                  <a:lnTo>
                    <a:pt x="66726" y="0"/>
                  </a:lnTo>
                  <a:lnTo>
                    <a:pt x="66726" y="214684"/>
                  </a:lnTo>
                  <a:lnTo>
                    <a:pt x="0" y="214684"/>
                  </a:lnTo>
                  <a:lnTo>
                    <a:pt x="133453" y="348138"/>
                  </a:lnTo>
                  <a:lnTo>
                    <a:pt x="266908" y="214684"/>
                  </a:lnTo>
                  <a:lnTo>
                    <a:pt x="200181" y="214684"/>
                  </a:lnTo>
                  <a:lnTo>
                    <a:pt x="20018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32"/>
            <p:cNvSpPr/>
            <p:nvPr/>
          </p:nvSpPr>
          <p:spPr>
            <a:xfrm>
              <a:off x="10041471" y="4456241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0" y="214685"/>
                  </a:moveTo>
                  <a:lnTo>
                    <a:pt x="66726" y="214685"/>
                  </a:lnTo>
                  <a:lnTo>
                    <a:pt x="66726" y="0"/>
                  </a:lnTo>
                  <a:lnTo>
                    <a:pt x="200179" y="0"/>
                  </a:lnTo>
                  <a:lnTo>
                    <a:pt x="200179" y="214685"/>
                  </a:lnTo>
                  <a:lnTo>
                    <a:pt x="266906" y="214685"/>
                  </a:lnTo>
                  <a:lnTo>
                    <a:pt x="133453" y="348138"/>
                  </a:lnTo>
                  <a:lnTo>
                    <a:pt x="0" y="214685"/>
                  </a:lnTo>
                  <a:close/>
                </a:path>
              </a:pathLst>
            </a:custGeom>
            <a:ln w="22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6606456" y="2687842"/>
            <a:ext cx="175589" cy="224493"/>
            <a:chOff x="10893830" y="4432451"/>
            <a:chExt cx="289560" cy="370205"/>
          </a:xfrm>
        </p:grpSpPr>
        <p:sp>
          <p:nvSpPr>
            <p:cNvPr id="34" name="object 34"/>
            <p:cNvSpPr/>
            <p:nvPr/>
          </p:nvSpPr>
          <p:spPr>
            <a:xfrm>
              <a:off x="10904851" y="4443476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200182" y="0"/>
                  </a:moveTo>
                  <a:lnTo>
                    <a:pt x="66730" y="0"/>
                  </a:lnTo>
                  <a:lnTo>
                    <a:pt x="66730" y="214684"/>
                  </a:lnTo>
                  <a:lnTo>
                    <a:pt x="0" y="214684"/>
                  </a:lnTo>
                  <a:lnTo>
                    <a:pt x="133461" y="348138"/>
                  </a:lnTo>
                  <a:lnTo>
                    <a:pt x="266913" y="214684"/>
                  </a:lnTo>
                  <a:lnTo>
                    <a:pt x="200182" y="214684"/>
                  </a:lnTo>
                  <a:lnTo>
                    <a:pt x="200182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5" name="object 35"/>
            <p:cNvSpPr/>
            <p:nvPr/>
          </p:nvSpPr>
          <p:spPr>
            <a:xfrm>
              <a:off x="10904854" y="4443476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0" y="214685"/>
                  </a:moveTo>
                  <a:lnTo>
                    <a:pt x="66726" y="214685"/>
                  </a:lnTo>
                  <a:lnTo>
                    <a:pt x="66726" y="0"/>
                  </a:lnTo>
                  <a:lnTo>
                    <a:pt x="200179" y="0"/>
                  </a:lnTo>
                  <a:lnTo>
                    <a:pt x="200179" y="214685"/>
                  </a:lnTo>
                  <a:lnTo>
                    <a:pt x="266906" y="214685"/>
                  </a:lnTo>
                  <a:lnTo>
                    <a:pt x="133453" y="348138"/>
                  </a:lnTo>
                  <a:lnTo>
                    <a:pt x="0" y="214685"/>
                  </a:lnTo>
                  <a:close/>
                </a:path>
              </a:pathLst>
            </a:custGeom>
            <a:ln w="22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878123" y="2684633"/>
            <a:ext cx="190222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3104">
              <a:spcBef>
                <a:spcPts val="79"/>
              </a:spcBef>
            </a:pPr>
            <a:r>
              <a:rPr sz="1273" spc="-67" dirty="0">
                <a:latin typeface="Cambria Math"/>
                <a:cs typeface="Cambria Math"/>
              </a:rPr>
              <a:t>𝑓</a:t>
            </a:r>
            <a:r>
              <a:rPr sz="1410" spc="-100" baseline="-16129" dirty="0">
                <a:latin typeface="Cambria Math"/>
                <a:cs typeface="Cambria Math"/>
              </a:rPr>
              <a:t>𝑇</a:t>
            </a:r>
            <a:endParaRPr sz="1410" baseline="-16129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31234" y="2689172"/>
            <a:ext cx="172509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3104">
              <a:spcBef>
                <a:spcPts val="79"/>
              </a:spcBef>
            </a:pPr>
            <a:r>
              <a:rPr sz="1273" spc="-106" dirty="0">
                <a:latin typeface="Cambria Math"/>
                <a:cs typeface="Cambria Math"/>
              </a:rPr>
              <a:t>𝑓</a:t>
            </a:r>
            <a:r>
              <a:rPr sz="1410" spc="-159" baseline="-16129" dirty="0">
                <a:latin typeface="Cambria Math"/>
                <a:cs typeface="Cambria Math"/>
              </a:rPr>
              <a:t>𝑆</a:t>
            </a:r>
            <a:endParaRPr sz="1410" baseline="-16129">
              <a:latin typeface="Cambria Math"/>
              <a:cs typeface="Cambria Math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908967" y="3078282"/>
            <a:ext cx="487107" cy="122065"/>
            <a:chOff x="9743619" y="5076314"/>
            <a:chExt cx="803275" cy="201295"/>
          </a:xfrm>
        </p:grpSpPr>
        <p:sp>
          <p:nvSpPr>
            <p:cNvPr id="39" name="object 39"/>
            <p:cNvSpPr/>
            <p:nvPr/>
          </p:nvSpPr>
          <p:spPr>
            <a:xfrm>
              <a:off x="9748444" y="5081174"/>
              <a:ext cx="793115" cy="182245"/>
            </a:xfrm>
            <a:custGeom>
              <a:avLst/>
              <a:gdLst/>
              <a:ahLst/>
              <a:cxnLst/>
              <a:rect l="l" t="t" r="r" b="b"/>
              <a:pathLst>
                <a:path w="793115" h="182245">
                  <a:moveTo>
                    <a:pt x="792988" y="0"/>
                  </a:moveTo>
                  <a:lnTo>
                    <a:pt x="792988" y="0"/>
                  </a:lnTo>
                  <a:lnTo>
                    <a:pt x="0" y="0"/>
                  </a:lnTo>
                  <a:lnTo>
                    <a:pt x="0" y="181686"/>
                  </a:lnTo>
                  <a:lnTo>
                    <a:pt x="792988" y="181686"/>
                  </a:lnTo>
                  <a:lnTo>
                    <a:pt x="792988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40"/>
            <p:cNvSpPr/>
            <p:nvPr/>
          </p:nvSpPr>
          <p:spPr>
            <a:xfrm>
              <a:off x="9743619" y="5076314"/>
              <a:ext cx="803275" cy="201295"/>
            </a:xfrm>
            <a:custGeom>
              <a:avLst/>
              <a:gdLst/>
              <a:ahLst/>
              <a:cxnLst/>
              <a:rect l="l" t="t" r="r" b="b"/>
              <a:pathLst>
                <a:path w="803275" h="201295">
                  <a:moveTo>
                    <a:pt x="163431" y="0"/>
                  </a:moveTo>
                  <a:lnTo>
                    <a:pt x="163431" y="201050"/>
                  </a:lnTo>
                </a:path>
                <a:path w="803275" h="201295">
                  <a:moveTo>
                    <a:pt x="322028" y="0"/>
                  </a:moveTo>
                  <a:lnTo>
                    <a:pt x="322028" y="201050"/>
                  </a:lnTo>
                </a:path>
                <a:path w="803275" h="201295">
                  <a:moveTo>
                    <a:pt x="480624" y="0"/>
                  </a:moveTo>
                  <a:lnTo>
                    <a:pt x="480624" y="201050"/>
                  </a:lnTo>
                </a:path>
                <a:path w="803275" h="201295">
                  <a:moveTo>
                    <a:pt x="639221" y="0"/>
                  </a:moveTo>
                  <a:lnTo>
                    <a:pt x="639221" y="201050"/>
                  </a:lnTo>
                </a:path>
                <a:path w="803275" h="201295">
                  <a:moveTo>
                    <a:pt x="4835" y="0"/>
                  </a:moveTo>
                  <a:lnTo>
                    <a:pt x="4835" y="201050"/>
                  </a:lnTo>
                </a:path>
                <a:path w="803275" h="201295">
                  <a:moveTo>
                    <a:pt x="797817" y="0"/>
                  </a:moveTo>
                  <a:lnTo>
                    <a:pt x="797817" y="201050"/>
                  </a:lnTo>
                </a:path>
                <a:path w="803275" h="201295">
                  <a:moveTo>
                    <a:pt x="0" y="4835"/>
                  </a:moveTo>
                  <a:lnTo>
                    <a:pt x="802652" y="4835"/>
                  </a:lnTo>
                </a:path>
              </a:pathLst>
            </a:custGeom>
            <a:ln w="96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41"/>
            <p:cNvSpPr/>
            <p:nvPr/>
          </p:nvSpPr>
          <p:spPr>
            <a:xfrm>
              <a:off x="9743619" y="5262859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2652" y="0"/>
                  </a:lnTo>
                </a:path>
              </a:pathLst>
            </a:custGeom>
            <a:ln w="290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6443020" y="3072770"/>
            <a:ext cx="487107" cy="122065"/>
            <a:chOff x="10624312" y="5067224"/>
            <a:chExt cx="803275" cy="201295"/>
          </a:xfrm>
        </p:grpSpPr>
        <p:sp>
          <p:nvSpPr>
            <p:cNvPr id="43" name="object 43"/>
            <p:cNvSpPr/>
            <p:nvPr/>
          </p:nvSpPr>
          <p:spPr>
            <a:xfrm>
              <a:off x="10629138" y="5071992"/>
              <a:ext cx="793115" cy="182245"/>
            </a:xfrm>
            <a:custGeom>
              <a:avLst/>
              <a:gdLst/>
              <a:ahLst/>
              <a:cxnLst/>
              <a:rect l="l" t="t" r="r" b="b"/>
              <a:pathLst>
                <a:path w="793115" h="182245">
                  <a:moveTo>
                    <a:pt x="792988" y="0"/>
                  </a:moveTo>
                  <a:lnTo>
                    <a:pt x="792988" y="0"/>
                  </a:lnTo>
                  <a:lnTo>
                    <a:pt x="0" y="0"/>
                  </a:lnTo>
                  <a:lnTo>
                    <a:pt x="0" y="181686"/>
                  </a:lnTo>
                  <a:lnTo>
                    <a:pt x="792988" y="181686"/>
                  </a:lnTo>
                  <a:lnTo>
                    <a:pt x="792988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4" name="object 44"/>
            <p:cNvSpPr/>
            <p:nvPr/>
          </p:nvSpPr>
          <p:spPr>
            <a:xfrm>
              <a:off x="10624312" y="5067224"/>
              <a:ext cx="803275" cy="201295"/>
            </a:xfrm>
            <a:custGeom>
              <a:avLst/>
              <a:gdLst/>
              <a:ahLst/>
              <a:cxnLst/>
              <a:rect l="l" t="t" r="r" b="b"/>
              <a:pathLst>
                <a:path w="803275" h="201295">
                  <a:moveTo>
                    <a:pt x="163431" y="0"/>
                  </a:moveTo>
                  <a:lnTo>
                    <a:pt x="163431" y="200953"/>
                  </a:lnTo>
                </a:path>
                <a:path w="803275" h="201295">
                  <a:moveTo>
                    <a:pt x="322028" y="0"/>
                  </a:moveTo>
                  <a:lnTo>
                    <a:pt x="322028" y="200953"/>
                  </a:lnTo>
                </a:path>
                <a:path w="803275" h="201295">
                  <a:moveTo>
                    <a:pt x="480624" y="0"/>
                  </a:moveTo>
                  <a:lnTo>
                    <a:pt x="480624" y="200953"/>
                  </a:lnTo>
                </a:path>
                <a:path w="803275" h="201295">
                  <a:moveTo>
                    <a:pt x="639221" y="0"/>
                  </a:moveTo>
                  <a:lnTo>
                    <a:pt x="639221" y="200953"/>
                  </a:lnTo>
                </a:path>
                <a:path w="803275" h="201295">
                  <a:moveTo>
                    <a:pt x="4835" y="0"/>
                  </a:moveTo>
                  <a:lnTo>
                    <a:pt x="4835" y="200953"/>
                  </a:lnTo>
                </a:path>
                <a:path w="803275" h="201295">
                  <a:moveTo>
                    <a:pt x="797817" y="0"/>
                  </a:moveTo>
                  <a:lnTo>
                    <a:pt x="797817" y="200953"/>
                  </a:lnTo>
                </a:path>
                <a:path w="803275" h="201295">
                  <a:moveTo>
                    <a:pt x="0" y="4835"/>
                  </a:moveTo>
                  <a:lnTo>
                    <a:pt x="802652" y="4835"/>
                  </a:lnTo>
                </a:path>
              </a:pathLst>
            </a:custGeom>
            <a:ln w="96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45"/>
            <p:cNvSpPr/>
            <p:nvPr/>
          </p:nvSpPr>
          <p:spPr>
            <a:xfrm>
              <a:off x="10624312" y="5253671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2652" y="0"/>
                  </a:lnTo>
                </a:path>
              </a:pathLst>
            </a:custGeom>
            <a:ln w="290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057801" y="3141889"/>
            <a:ext cx="159417" cy="17778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23104">
              <a:spcBef>
                <a:spcPts val="76"/>
              </a:spcBef>
            </a:pPr>
            <a:r>
              <a:rPr sz="1092" spc="9" dirty="0">
                <a:latin typeface="Cambria Math"/>
                <a:cs typeface="Cambria Math"/>
              </a:rPr>
              <a:t>𝑡</a:t>
            </a:r>
            <a:r>
              <a:rPr sz="1182" spc="13" baseline="-14957" dirty="0">
                <a:latin typeface="Cambria Math"/>
                <a:cs typeface="Cambria Math"/>
              </a:rPr>
              <a:t>2</a:t>
            </a:r>
            <a:endParaRPr sz="1182" baseline="-14957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21059" y="3118960"/>
            <a:ext cx="167118" cy="17778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23104">
              <a:spcBef>
                <a:spcPts val="76"/>
              </a:spcBef>
            </a:pPr>
            <a:r>
              <a:rPr sz="1092" spc="3" dirty="0">
                <a:latin typeface="Cambria Math"/>
                <a:cs typeface="Cambria Math"/>
              </a:rPr>
              <a:t>𝑠</a:t>
            </a:r>
            <a:r>
              <a:rPr sz="1182" spc="4" baseline="-14957" dirty="0">
                <a:latin typeface="Cambria Math"/>
                <a:cs typeface="Cambria Math"/>
              </a:rPr>
              <a:t>2</a:t>
            </a:r>
            <a:endParaRPr sz="1182" baseline="-14957"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228531" y="2686435"/>
            <a:ext cx="174819" cy="224493"/>
            <a:chOff x="11919678" y="4430130"/>
            <a:chExt cx="288290" cy="370205"/>
          </a:xfrm>
        </p:grpSpPr>
        <p:sp>
          <p:nvSpPr>
            <p:cNvPr id="49" name="object 49"/>
            <p:cNvSpPr/>
            <p:nvPr/>
          </p:nvSpPr>
          <p:spPr>
            <a:xfrm>
              <a:off x="11930704" y="4441153"/>
              <a:ext cx="266065" cy="348615"/>
            </a:xfrm>
            <a:custGeom>
              <a:avLst/>
              <a:gdLst/>
              <a:ahLst/>
              <a:cxnLst/>
              <a:rect l="l" t="t" r="r" b="b"/>
              <a:pathLst>
                <a:path w="266065" h="348614">
                  <a:moveTo>
                    <a:pt x="199302" y="0"/>
                  </a:moveTo>
                  <a:lnTo>
                    <a:pt x="66437" y="0"/>
                  </a:lnTo>
                  <a:lnTo>
                    <a:pt x="66437" y="215265"/>
                  </a:lnTo>
                  <a:lnTo>
                    <a:pt x="0" y="215265"/>
                  </a:lnTo>
                  <a:lnTo>
                    <a:pt x="132875" y="348138"/>
                  </a:lnTo>
                  <a:lnTo>
                    <a:pt x="265740" y="215265"/>
                  </a:lnTo>
                  <a:lnTo>
                    <a:pt x="199302" y="215265"/>
                  </a:lnTo>
                  <a:lnTo>
                    <a:pt x="199302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0" name="object 50"/>
            <p:cNvSpPr/>
            <p:nvPr/>
          </p:nvSpPr>
          <p:spPr>
            <a:xfrm>
              <a:off x="11930703" y="4441155"/>
              <a:ext cx="266065" cy="348615"/>
            </a:xfrm>
            <a:custGeom>
              <a:avLst/>
              <a:gdLst/>
              <a:ahLst/>
              <a:cxnLst/>
              <a:rect l="l" t="t" r="r" b="b"/>
              <a:pathLst>
                <a:path w="266065" h="348614">
                  <a:moveTo>
                    <a:pt x="0" y="215265"/>
                  </a:moveTo>
                  <a:lnTo>
                    <a:pt x="66436" y="215265"/>
                  </a:lnTo>
                  <a:lnTo>
                    <a:pt x="66436" y="0"/>
                  </a:lnTo>
                  <a:lnTo>
                    <a:pt x="199309" y="0"/>
                  </a:lnTo>
                  <a:lnTo>
                    <a:pt x="199309" y="215265"/>
                  </a:lnTo>
                  <a:lnTo>
                    <a:pt x="265745" y="215265"/>
                  </a:lnTo>
                  <a:lnTo>
                    <a:pt x="132872" y="348138"/>
                  </a:lnTo>
                  <a:lnTo>
                    <a:pt x="0" y="215265"/>
                  </a:lnTo>
                  <a:close/>
                </a:path>
              </a:pathLst>
            </a:custGeom>
            <a:ln w="22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7750681" y="2683621"/>
            <a:ext cx="175589" cy="224493"/>
            <a:chOff x="12780741" y="4425489"/>
            <a:chExt cx="289560" cy="370205"/>
          </a:xfrm>
        </p:grpSpPr>
        <p:sp>
          <p:nvSpPr>
            <p:cNvPr id="52" name="object 52"/>
            <p:cNvSpPr/>
            <p:nvPr/>
          </p:nvSpPr>
          <p:spPr>
            <a:xfrm>
              <a:off x="12791767" y="4436512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200182" y="0"/>
                  </a:moveTo>
                  <a:lnTo>
                    <a:pt x="66730" y="0"/>
                  </a:lnTo>
                  <a:lnTo>
                    <a:pt x="66730" y="214687"/>
                  </a:lnTo>
                  <a:lnTo>
                    <a:pt x="0" y="214687"/>
                  </a:lnTo>
                  <a:lnTo>
                    <a:pt x="133451" y="348138"/>
                  </a:lnTo>
                  <a:lnTo>
                    <a:pt x="266902" y="214687"/>
                  </a:lnTo>
                  <a:lnTo>
                    <a:pt x="200182" y="214687"/>
                  </a:lnTo>
                  <a:lnTo>
                    <a:pt x="200182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3" name="object 53"/>
            <p:cNvSpPr/>
            <p:nvPr/>
          </p:nvSpPr>
          <p:spPr>
            <a:xfrm>
              <a:off x="12791765" y="4436513"/>
              <a:ext cx="267335" cy="348615"/>
            </a:xfrm>
            <a:custGeom>
              <a:avLst/>
              <a:gdLst/>
              <a:ahLst/>
              <a:cxnLst/>
              <a:rect l="l" t="t" r="r" b="b"/>
              <a:pathLst>
                <a:path w="267334" h="348614">
                  <a:moveTo>
                    <a:pt x="0" y="214685"/>
                  </a:moveTo>
                  <a:lnTo>
                    <a:pt x="66726" y="214685"/>
                  </a:lnTo>
                  <a:lnTo>
                    <a:pt x="66726" y="0"/>
                  </a:lnTo>
                  <a:lnTo>
                    <a:pt x="200179" y="0"/>
                  </a:lnTo>
                  <a:lnTo>
                    <a:pt x="200179" y="214685"/>
                  </a:lnTo>
                  <a:lnTo>
                    <a:pt x="266906" y="214685"/>
                  </a:lnTo>
                  <a:lnTo>
                    <a:pt x="133453" y="348138"/>
                  </a:lnTo>
                  <a:lnTo>
                    <a:pt x="0" y="214685"/>
                  </a:lnTo>
                  <a:close/>
                </a:path>
              </a:pathLst>
            </a:custGeom>
            <a:ln w="22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023461" y="2675485"/>
            <a:ext cx="190222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3104">
              <a:spcBef>
                <a:spcPts val="79"/>
              </a:spcBef>
            </a:pPr>
            <a:r>
              <a:rPr sz="1273" spc="-67" dirty="0">
                <a:latin typeface="Cambria Math"/>
                <a:cs typeface="Cambria Math"/>
              </a:rPr>
              <a:t>𝑓</a:t>
            </a:r>
            <a:r>
              <a:rPr sz="1410" spc="-100" baseline="-16129" dirty="0">
                <a:latin typeface="Cambria Math"/>
                <a:cs typeface="Cambria Math"/>
              </a:rPr>
              <a:t>𝑇</a:t>
            </a:r>
            <a:endParaRPr sz="1410" baseline="-16129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75576" y="2685068"/>
            <a:ext cx="172509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3104">
              <a:spcBef>
                <a:spcPts val="79"/>
              </a:spcBef>
            </a:pPr>
            <a:r>
              <a:rPr sz="1273" spc="-106" dirty="0">
                <a:latin typeface="Cambria Math"/>
                <a:cs typeface="Cambria Math"/>
              </a:rPr>
              <a:t>𝑓</a:t>
            </a:r>
            <a:r>
              <a:rPr sz="1410" spc="-159" baseline="-16129" dirty="0">
                <a:latin typeface="Cambria Math"/>
                <a:cs typeface="Cambria Math"/>
              </a:rPr>
              <a:t>𝑆</a:t>
            </a:r>
            <a:endParaRPr sz="1410" baseline="-16129">
              <a:latin typeface="Cambria Math"/>
              <a:cs typeface="Cambria Math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062575" y="3073650"/>
            <a:ext cx="487107" cy="122065"/>
            <a:chOff x="11646003" y="5068675"/>
            <a:chExt cx="803275" cy="201295"/>
          </a:xfrm>
        </p:grpSpPr>
        <p:sp>
          <p:nvSpPr>
            <p:cNvPr id="57" name="object 57"/>
            <p:cNvSpPr/>
            <p:nvPr/>
          </p:nvSpPr>
          <p:spPr>
            <a:xfrm>
              <a:off x="11650828" y="5073440"/>
              <a:ext cx="793115" cy="182245"/>
            </a:xfrm>
            <a:custGeom>
              <a:avLst/>
              <a:gdLst/>
              <a:ahLst/>
              <a:cxnLst/>
              <a:rect l="l" t="t" r="r" b="b"/>
              <a:pathLst>
                <a:path w="793115" h="182245">
                  <a:moveTo>
                    <a:pt x="158597" y="0"/>
                  </a:moveTo>
                  <a:lnTo>
                    <a:pt x="0" y="0"/>
                  </a:lnTo>
                  <a:lnTo>
                    <a:pt x="0" y="181686"/>
                  </a:lnTo>
                  <a:lnTo>
                    <a:pt x="158597" y="181686"/>
                  </a:lnTo>
                  <a:lnTo>
                    <a:pt x="158597" y="0"/>
                  </a:lnTo>
                  <a:close/>
                </a:path>
                <a:path w="793115" h="182245">
                  <a:moveTo>
                    <a:pt x="792988" y="0"/>
                  </a:moveTo>
                  <a:lnTo>
                    <a:pt x="792988" y="0"/>
                  </a:lnTo>
                  <a:lnTo>
                    <a:pt x="158610" y="0"/>
                  </a:lnTo>
                  <a:lnTo>
                    <a:pt x="158610" y="181686"/>
                  </a:lnTo>
                  <a:lnTo>
                    <a:pt x="792988" y="181686"/>
                  </a:lnTo>
                  <a:lnTo>
                    <a:pt x="792988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8" name="object 58"/>
            <p:cNvSpPr/>
            <p:nvPr/>
          </p:nvSpPr>
          <p:spPr>
            <a:xfrm>
              <a:off x="11646003" y="5068675"/>
              <a:ext cx="803275" cy="201295"/>
            </a:xfrm>
            <a:custGeom>
              <a:avLst/>
              <a:gdLst/>
              <a:ahLst/>
              <a:cxnLst/>
              <a:rect l="l" t="t" r="r" b="b"/>
              <a:pathLst>
                <a:path w="803275" h="201295">
                  <a:moveTo>
                    <a:pt x="163431" y="0"/>
                  </a:moveTo>
                  <a:lnTo>
                    <a:pt x="163431" y="200953"/>
                  </a:lnTo>
                </a:path>
                <a:path w="803275" h="201295">
                  <a:moveTo>
                    <a:pt x="322028" y="0"/>
                  </a:moveTo>
                  <a:lnTo>
                    <a:pt x="322028" y="200953"/>
                  </a:lnTo>
                </a:path>
                <a:path w="803275" h="201295">
                  <a:moveTo>
                    <a:pt x="480624" y="0"/>
                  </a:moveTo>
                  <a:lnTo>
                    <a:pt x="480624" y="200953"/>
                  </a:lnTo>
                </a:path>
                <a:path w="803275" h="201295">
                  <a:moveTo>
                    <a:pt x="639221" y="0"/>
                  </a:moveTo>
                  <a:lnTo>
                    <a:pt x="639221" y="200953"/>
                  </a:lnTo>
                </a:path>
                <a:path w="803275" h="201295">
                  <a:moveTo>
                    <a:pt x="4835" y="0"/>
                  </a:moveTo>
                  <a:lnTo>
                    <a:pt x="4835" y="200953"/>
                  </a:lnTo>
                </a:path>
                <a:path w="803275" h="201295">
                  <a:moveTo>
                    <a:pt x="797817" y="0"/>
                  </a:moveTo>
                  <a:lnTo>
                    <a:pt x="797817" y="200953"/>
                  </a:lnTo>
                </a:path>
                <a:path w="803275" h="201295">
                  <a:moveTo>
                    <a:pt x="0" y="4835"/>
                  </a:moveTo>
                  <a:lnTo>
                    <a:pt x="802652" y="4835"/>
                  </a:lnTo>
                </a:path>
              </a:pathLst>
            </a:custGeom>
            <a:ln w="96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9" name="object 59"/>
            <p:cNvSpPr/>
            <p:nvPr/>
          </p:nvSpPr>
          <p:spPr>
            <a:xfrm>
              <a:off x="11646003" y="5255122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2652" y="0"/>
                  </a:lnTo>
                </a:path>
              </a:pathLst>
            </a:custGeom>
            <a:ln w="290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7601730" y="3069017"/>
            <a:ext cx="487107" cy="122065"/>
            <a:chOff x="12535110" y="5061035"/>
            <a:chExt cx="803275" cy="201295"/>
          </a:xfrm>
        </p:grpSpPr>
        <p:sp>
          <p:nvSpPr>
            <p:cNvPr id="61" name="object 61"/>
            <p:cNvSpPr/>
            <p:nvPr/>
          </p:nvSpPr>
          <p:spPr>
            <a:xfrm>
              <a:off x="12539942" y="5065896"/>
              <a:ext cx="793115" cy="182245"/>
            </a:xfrm>
            <a:custGeom>
              <a:avLst/>
              <a:gdLst/>
              <a:ahLst/>
              <a:cxnLst/>
              <a:rect l="l" t="t" r="r" b="b"/>
              <a:pathLst>
                <a:path w="793115" h="182245">
                  <a:moveTo>
                    <a:pt x="475780" y="0"/>
                  </a:moveTo>
                  <a:lnTo>
                    <a:pt x="317195" y="0"/>
                  </a:lnTo>
                  <a:lnTo>
                    <a:pt x="158597" y="0"/>
                  </a:lnTo>
                  <a:lnTo>
                    <a:pt x="0" y="0"/>
                  </a:lnTo>
                  <a:lnTo>
                    <a:pt x="0" y="181686"/>
                  </a:lnTo>
                  <a:lnTo>
                    <a:pt x="158597" y="181686"/>
                  </a:lnTo>
                  <a:lnTo>
                    <a:pt x="317195" y="181686"/>
                  </a:lnTo>
                  <a:lnTo>
                    <a:pt x="475780" y="181686"/>
                  </a:lnTo>
                  <a:lnTo>
                    <a:pt x="475780" y="0"/>
                  </a:lnTo>
                  <a:close/>
                </a:path>
                <a:path w="793115" h="182245">
                  <a:moveTo>
                    <a:pt x="792975" y="0"/>
                  </a:moveTo>
                  <a:lnTo>
                    <a:pt x="634390" y="0"/>
                  </a:lnTo>
                  <a:lnTo>
                    <a:pt x="475792" y="0"/>
                  </a:lnTo>
                  <a:lnTo>
                    <a:pt x="475792" y="181686"/>
                  </a:lnTo>
                  <a:lnTo>
                    <a:pt x="634377" y="181686"/>
                  </a:lnTo>
                  <a:lnTo>
                    <a:pt x="792975" y="181686"/>
                  </a:lnTo>
                  <a:lnTo>
                    <a:pt x="7929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2" name="object 62"/>
            <p:cNvSpPr/>
            <p:nvPr/>
          </p:nvSpPr>
          <p:spPr>
            <a:xfrm>
              <a:off x="12535110" y="5061035"/>
              <a:ext cx="803275" cy="201295"/>
            </a:xfrm>
            <a:custGeom>
              <a:avLst/>
              <a:gdLst/>
              <a:ahLst/>
              <a:cxnLst/>
              <a:rect l="l" t="t" r="r" b="b"/>
              <a:pathLst>
                <a:path w="803275" h="201295">
                  <a:moveTo>
                    <a:pt x="163431" y="0"/>
                  </a:moveTo>
                  <a:lnTo>
                    <a:pt x="163431" y="201050"/>
                  </a:lnTo>
                </a:path>
                <a:path w="803275" h="201295">
                  <a:moveTo>
                    <a:pt x="322028" y="0"/>
                  </a:moveTo>
                  <a:lnTo>
                    <a:pt x="322028" y="201050"/>
                  </a:lnTo>
                </a:path>
                <a:path w="803275" h="201295">
                  <a:moveTo>
                    <a:pt x="480624" y="0"/>
                  </a:moveTo>
                  <a:lnTo>
                    <a:pt x="480624" y="201050"/>
                  </a:lnTo>
                </a:path>
                <a:path w="803275" h="201295">
                  <a:moveTo>
                    <a:pt x="639221" y="0"/>
                  </a:moveTo>
                  <a:lnTo>
                    <a:pt x="639221" y="201050"/>
                  </a:lnTo>
                </a:path>
                <a:path w="803275" h="201295">
                  <a:moveTo>
                    <a:pt x="4835" y="0"/>
                  </a:moveTo>
                  <a:lnTo>
                    <a:pt x="4835" y="201050"/>
                  </a:lnTo>
                </a:path>
                <a:path w="803275" h="201295">
                  <a:moveTo>
                    <a:pt x="797817" y="0"/>
                  </a:moveTo>
                  <a:lnTo>
                    <a:pt x="797817" y="201050"/>
                  </a:lnTo>
                </a:path>
                <a:path w="803275" h="201295">
                  <a:moveTo>
                    <a:pt x="0" y="4835"/>
                  </a:moveTo>
                  <a:lnTo>
                    <a:pt x="802652" y="4835"/>
                  </a:lnTo>
                </a:path>
              </a:pathLst>
            </a:custGeom>
            <a:ln w="96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3" name="object 63"/>
            <p:cNvSpPr/>
            <p:nvPr/>
          </p:nvSpPr>
          <p:spPr>
            <a:xfrm>
              <a:off x="12535110" y="5247579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2652" y="0"/>
                  </a:lnTo>
                </a:path>
              </a:pathLst>
            </a:custGeom>
            <a:ln w="290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255390" y="3141068"/>
            <a:ext cx="159417" cy="17778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23104">
              <a:spcBef>
                <a:spcPts val="76"/>
              </a:spcBef>
            </a:pPr>
            <a:r>
              <a:rPr sz="1092" spc="9" dirty="0">
                <a:latin typeface="Cambria Math"/>
                <a:cs typeface="Cambria Math"/>
              </a:rPr>
              <a:t>𝑡</a:t>
            </a:r>
            <a:r>
              <a:rPr sz="1182" spc="13" baseline="-14957" dirty="0">
                <a:latin typeface="Cambria Math"/>
                <a:cs typeface="Cambria Math"/>
              </a:rPr>
              <a:t>3</a:t>
            </a:r>
            <a:endParaRPr sz="1182" baseline="-14957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779944" y="3115324"/>
            <a:ext cx="167118" cy="17778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23104">
              <a:spcBef>
                <a:spcPts val="76"/>
              </a:spcBef>
            </a:pPr>
            <a:r>
              <a:rPr sz="1092" spc="3" dirty="0">
                <a:latin typeface="Cambria Math"/>
                <a:cs typeface="Cambria Math"/>
              </a:rPr>
              <a:t>𝑠</a:t>
            </a:r>
            <a:r>
              <a:rPr sz="1182" spc="4" baseline="-14957" dirty="0">
                <a:latin typeface="Cambria Math"/>
                <a:cs typeface="Cambria Math"/>
              </a:rPr>
              <a:t>3</a:t>
            </a:r>
            <a:endParaRPr sz="1182" baseline="-14957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86313" y="2122103"/>
            <a:ext cx="370432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7701">
              <a:spcBef>
                <a:spcPts val="79"/>
              </a:spcBef>
            </a:pPr>
            <a:r>
              <a:rPr sz="1273" spc="6" dirty="0">
                <a:latin typeface="Calibri"/>
                <a:cs typeface="Calibri"/>
              </a:rPr>
              <a:t>Input</a:t>
            </a:r>
            <a:endParaRPr sz="1273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200841" y="2642453"/>
            <a:ext cx="3800202" cy="0"/>
          </a:xfrm>
          <a:custGeom>
            <a:avLst/>
            <a:gdLst/>
            <a:ahLst/>
            <a:cxnLst/>
            <a:rect l="l" t="t" r="r" b="b"/>
            <a:pathLst>
              <a:path w="6266815">
                <a:moveTo>
                  <a:pt x="0" y="0"/>
                </a:moveTo>
                <a:lnTo>
                  <a:pt x="6266495" y="0"/>
                </a:lnTo>
              </a:path>
            </a:pathLst>
          </a:custGeom>
          <a:ln w="22048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4200841" y="3007676"/>
            <a:ext cx="3800202" cy="0"/>
          </a:xfrm>
          <a:custGeom>
            <a:avLst/>
            <a:gdLst/>
            <a:ahLst/>
            <a:cxnLst/>
            <a:rect l="l" t="t" r="r" b="b"/>
            <a:pathLst>
              <a:path w="6266815">
                <a:moveTo>
                  <a:pt x="0" y="0"/>
                </a:moveTo>
                <a:lnTo>
                  <a:pt x="6266495" y="0"/>
                </a:lnTo>
              </a:path>
            </a:pathLst>
          </a:custGeom>
          <a:ln w="22048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 txBox="1"/>
          <p:nvPr/>
        </p:nvSpPr>
        <p:spPr>
          <a:xfrm>
            <a:off x="4172942" y="2698555"/>
            <a:ext cx="327690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7701">
              <a:spcBef>
                <a:spcPts val="79"/>
              </a:spcBef>
            </a:pPr>
            <a:r>
              <a:rPr sz="1273" spc="6" dirty="0">
                <a:latin typeface="Calibri"/>
                <a:cs typeface="Calibri"/>
              </a:rPr>
              <a:t>D</a:t>
            </a:r>
            <a:r>
              <a:rPr sz="1273" spc="3" dirty="0">
                <a:latin typeface="Calibri"/>
                <a:cs typeface="Calibri"/>
              </a:rPr>
              <a:t>N</a:t>
            </a:r>
            <a:r>
              <a:rPr sz="1273" spc="9" dirty="0">
                <a:latin typeface="Calibri"/>
                <a:cs typeface="Calibri"/>
              </a:rPr>
              <a:t>N</a:t>
            </a:r>
            <a:endParaRPr sz="1273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169846" y="3051287"/>
            <a:ext cx="491727" cy="20599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7701">
              <a:spcBef>
                <a:spcPts val="79"/>
              </a:spcBef>
            </a:pPr>
            <a:r>
              <a:rPr sz="1273" spc="3" dirty="0">
                <a:latin typeface="Calibri"/>
                <a:cs typeface="Calibri"/>
              </a:rPr>
              <a:t>Output</a:t>
            </a:r>
            <a:endParaRPr sz="1273">
              <a:latin typeface="Calibri"/>
              <a:cs typeface="Calibri"/>
            </a:endParaRPr>
          </a:p>
        </p:txBody>
      </p:sp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3302" y="3437287"/>
            <a:ext cx="3638157" cy="1631342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2058516" y="5405543"/>
            <a:ext cx="8075189" cy="508712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algn="ctr">
              <a:spcBef>
                <a:spcPts val="82"/>
              </a:spcBef>
            </a:pPr>
            <a:r>
              <a:rPr sz="1577" spc="12" dirty="0">
                <a:latin typeface="Trebuchet MS"/>
                <a:cs typeface="Trebuchet MS"/>
              </a:rPr>
              <a:t>Conventional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158" dirty="0">
                <a:latin typeface="Trebuchet MS"/>
                <a:cs typeface="Trebuchet MS"/>
              </a:rPr>
              <a:t>KD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55" dirty="0">
                <a:latin typeface="Trebuchet MS"/>
                <a:cs typeface="Trebuchet MS"/>
              </a:rPr>
              <a:t>focuses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49" dirty="0">
                <a:latin typeface="Trebuchet MS"/>
                <a:cs typeface="Trebuchet MS"/>
              </a:rPr>
              <a:t>on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15" dirty="0">
                <a:latin typeface="Trebuchet MS"/>
                <a:cs typeface="Trebuchet MS"/>
              </a:rPr>
              <a:t>matching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-18" dirty="0">
                <a:latin typeface="Trebuchet MS"/>
                <a:cs typeface="Trebuchet MS"/>
              </a:rPr>
              <a:t>features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-293" dirty="0">
                <a:latin typeface="Trebuchet MS"/>
                <a:cs typeface="Trebuchet MS"/>
              </a:rPr>
              <a:t>/</a:t>
            </a:r>
            <a:r>
              <a:rPr sz="1577" spc="-203" dirty="0">
                <a:latin typeface="Trebuchet MS"/>
                <a:cs typeface="Trebuchet MS"/>
              </a:rPr>
              <a:t> </a:t>
            </a:r>
            <a:r>
              <a:rPr sz="1577" spc="3" dirty="0">
                <a:latin typeface="Trebuchet MS"/>
                <a:cs typeface="Trebuchet MS"/>
              </a:rPr>
              <a:t>logits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-39" dirty="0">
                <a:latin typeface="Trebuchet MS"/>
                <a:cs typeface="Trebuchet MS"/>
              </a:rPr>
              <a:t>for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b="1" spc="12" dirty="0">
                <a:latin typeface="Arial"/>
                <a:cs typeface="Arial"/>
              </a:rPr>
              <a:t>one </a:t>
            </a:r>
            <a:r>
              <a:rPr sz="1577" b="1" spc="-24" dirty="0">
                <a:latin typeface="Arial"/>
                <a:cs typeface="Arial"/>
              </a:rPr>
              <a:t>input</a:t>
            </a:r>
            <a:r>
              <a:rPr sz="1577" spc="-24" dirty="0">
                <a:latin typeface="Trebuchet MS"/>
                <a:cs typeface="Trebuchet MS"/>
              </a:rPr>
              <a:t>.</a:t>
            </a:r>
            <a:endParaRPr sz="1577" dirty="0">
              <a:latin typeface="Trebuchet MS"/>
              <a:cs typeface="Trebuchet MS"/>
            </a:endParaRPr>
          </a:p>
          <a:p>
            <a:pPr algn="ctr">
              <a:spcBef>
                <a:spcPts val="58"/>
              </a:spcBef>
            </a:pPr>
            <a:r>
              <a:rPr sz="1577" spc="-12" dirty="0">
                <a:latin typeface="Trebuchet MS"/>
                <a:cs typeface="Trebuchet MS"/>
              </a:rPr>
              <a:t>Relational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158" dirty="0">
                <a:latin typeface="Trebuchet MS"/>
                <a:cs typeface="Trebuchet MS"/>
              </a:rPr>
              <a:t>KD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45" dirty="0">
                <a:latin typeface="Trebuchet MS"/>
                <a:cs typeface="Trebuchet MS"/>
              </a:rPr>
              <a:t>looks</a:t>
            </a:r>
            <a:r>
              <a:rPr sz="1577" spc="-21" dirty="0">
                <a:latin typeface="Trebuchet MS"/>
                <a:cs typeface="Trebuchet MS"/>
              </a:rPr>
              <a:t> </a:t>
            </a:r>
            <a:r>
              <a:rPr sz="1577" spc="-45" dirty="0">
                <a:latin typeface="Trebuchet MS"/>
                <a:cs typeface="Trebuchet MS"/>
              </a:rPr>
              <a:t>at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-33" dirty="0">
                <a:latin typeface="Trebuchet MS"/>
                <a:cs typeface="Trebuchet MS"/>
              </a:rPr>
              <a:t>the</a:t>
            </a:r>
            <a:r>
              <a:rPr sz="1577" spc="-21" dirty="0">
                <a:latin typeface="Trebuchet MS"/>
                <a:cs typeface="Trebuchet MS"/>
              </a:rPr>
              <a:t> </a:t>
            </a:r>
            <a:r>
              <a:rPr sz="1577" b="1" spc="3" dirty="0">
                <a:latin typeface="Arial"/>
                <a:cs typeface="Arial"/>
              </a:rPr>
              <a:t>relations</a:t>
            </a:r>
            <a:r>
              <a:rPr sz="1577" b="1" spc="12" dirty="0">
                <a:latin typeface="Arial"/>
                <a:cs typeface="Arial"/>
              </a:rPr>
              <a:t> </a:t>
            </a:r>
            <a:r>
              <a:rPr sz="1577" dirty="0">
                <a:latin typeface="Trebuchet MS"/>
                <a:cs typeface="Trebuchet MS"/>
              </a:rPr>
              <a:t>between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-30" dirty="0">
                <a:latin typeface="Trebuchet MS"/>
                <a:cs typeface="Trebuchet MS"/>
              </a:rPr>
              <a:t>intermediate</a:t>
            </a:r>
            <a:r>
              <a:rPr sz="1577" spc="-21" dirty="0">
                <a:latin typeface="Trebuchet MS"/>
                <a:cs typeface="Trebuchet MS"/>
              </a:rPr>
              <a:t> </a:t>
            </a:r>
            <a:r>
              <a:rPr sz="1577" spc="-18" dirty="0">
                <a:latin typeface="Trebuchet MS"/>
                <a:cs typeface="Trebuchet MS"/>
              </a:rPr>
              <a:t>features</a:t>
            </a:r>
            <a:r>
              <a:rPr sz="1577" spc="-24" dirty="0">
                <a:latin typeface="Trebuchet MS"/>
                <a:cs typeface="Trebuchet MS"/>
              </a:rPr>
              <a:t> from</a:t>
            </a:r>
            <a:r>
              <a:rPr sz="1577" spc="-21" dirty="0">
                <a:latin typeface="Trebuchet MS"/>
                <a:cs typeface="Trebuchet MS"/>
              </a:rPr>
              <a:t> </a:t>
            </a:r>
            <a:r>
              <a:rPr sz="1577" b="1" spc="6" dirty="0">
                <a:latin typeface="Arial"/>
                <a:cs typeface="Arial"/>
              </a:rPr>
              <a:t>multiple</a:t>
            </a:r>
            <a:r>
              <a:rPr sz="1577" b="1" spc="12" dirty="0">
                <a:latin typeface="Arial"/>
                <a:cs typeface="Arial"/>
              </a:rPr>
              <a:t> </a:t>
            </a:r>
            <a:r>
              <a:rPr sz="1577" b="1" spc="-24" dirty="0">
                <a:latin typeface="Arial"/>
                <a:cs typeface="Arial"/>
              </a:rPr>
              <a:t>inputs</a:t>
            </a:r>
            <a:r>
              <a:rPr sz="1577" spc="-24" dirty="0">
                <a:latin typeface="Trebuchet MS"/>
                <a:cs typeface="Trebuchet MS"/>
              </a:rPr>
              <a:t>.</a:t>
            </a:r>
            <a:endParaRPr sz="1577" dirty="0">
              <a:latin typeface="Trebuchet MS"/>
              <a:cs typeface="Trebuchet MS"/>
            </a:endParaRPr>
          </a:p>
        </p:txBody>
      </p:sp>
      <p:sp>
        <p:nvSpPr>
          <p:cNvPr id="76" name="Slide Number Placeholder 75">
            <a:extLst>
              <a:ext uri="{FF2B5EF4-FFF2-40B4-BE49-F238E27FC236}">
                <a16:creationId xmlns:a16="http://schemas.microsoft.com/office/drawing/2014/main" id="{A0C74BEE-8C69-5705-C166-4F4F7C4A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F84F-0FC8-428E-AB03-8AE077A9E728}" type="slidenum">
              <a:rPr lang="en-US" smtClean="0"/>
              <a:t>30</a:t>
            </a:fld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8225F2-D745-9F3F-EE8A-6517B691C990}"/>
              </a:ext>
            </a:extLst>
          </p:cNvPr>
          <p:cNvSpPr txBox="1"/>
          <p:nvPr/>
        </p:nvSpPr>
        <p:spPr>
          <a:xfrm>
            <a:off x="4167069" y="6204175"/>
            <a:ext cx="4169255" cy="28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-9" dirty="0">
                <a:solidFill>
                  <a:srgbClr val="5E5E5E"/>
                </a:solidFill>
                <a:latin typeface="Trebuchet MS"/>
                <a:cs typeface="Trebuchet MS"/>
              </a:rPr>
              <a:t>Relational</a:t>
            </a:r>
            <a:r>
              <a:rPr lang="en-US" sz="1200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lang="en-US" sz="1200" spc="30" dirty="0">
                <a:solidFill>
                  <a:srgbClr val="5E5E5E"/>
                </a:solidFill>
                <a:latin typeface="Trebuchet MS"/>
                <a:cs typeface="Trebuchet MS"/>
              </a:rPr>
              <a:t>Knowledge</a:t>
            </a:r>
            <a:r>
              <a:rPr lang="en-US" sz="1200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lang="en-US" sz="1200" spc="-21" dirty="0">
                <a:solidFill>
                  <a:srgbClr val="5E5E5E"/>
                </a:solidFill>
                <a:latin typeface="Trebuchet MS"/>
                <a:cs typeface="Trebuchet MS"/>
              </a:rPr>
              <a:t>Distillation</a:t>
            </a:r>
            <a:r>
              <a:rPr lang="en-US" sz="1200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lang="en-US" sz="1200" spc="-6" dirty="0">
                <a:solidFill>
                  <a:srgbClr val="5E5E5E"/>
                </a:solidFill>
                <a:latin typeface="Trebuchet MS"/>
                <a:cs typeface="Trebuchet MS"/>
              </a:rPr>
              <a:t>[Park</a:t>
            </a:r>
            <a:r>
              <a:rPr lang="en-US" sz="1200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lang="en-US" sz="1200" i="1" spc="15" dirty="0">
                <a:solidFill>
                  <a:srgbClr val="5E5E5E"/>
                </a:solidFill>
                <a:latin typeface="Arial"/>
                <a:cs typeface="Arial"/>
              </a:rPr>
              <a:t>et</a:t>
            </a:r>
            <a:r>
              <a:rPr lang="en-US" sz="1200" i="1" spc="9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lang="en-US" sz="1200" i="1" spc="-33" dirty="0">
                <a:solidFill>
                  <a:srgbClr val="5E5E5E"/>
                </a:solidFill>
                <a:latin typeface="Arial"/>
                <a:cs typeface="Arial"/>
              </a:rPr>
              <a:t>al.</a:t>
            </a:r>
            <a:r>
              <a:rPr lang="en-US" sz="1200" spc="-33" dirty="0">
                <a:solidFill>
                  <a:srgbClr val="5E5E5E"/>
                </a:solidFill>
                <a:latin typeface="Trebuchet MS"/>
                <a:cs typeface="Trebuchet MS"/>
              </a:rPr>
              <a:t>,</a:t>
            </a:r>
            <a:r>
              <a:rPr lang="en-US" sz="1200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lang="en-US" sz="1200" spc="112" dirty="0">
                <a:solidFill>
                  <a:srgbClr val="5E5E5E"/>
                </a:solidFill>
                <a:latin typeface="Trebuchet MS"/>
                <a:cs typeface="Trebuchet MS"/>
              </a:rPr>
              <a:t>CVPR</a:t>
            </a:r>
            <a:r>
              <a:rPr lang="en-US" sz="1200" spc="-18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lang="en-US" sz="1200" spc="12" dirty="0">
                <a:solidFill>
                  <a:srgbClr val="5E5E5E"/>
                </a:solidFill>
                <a:latin typeface="Trebuchet MS"/>
                <a:cs typeface="Trebuchet MS"/>
              </a:rPr>
              <a:t>2019]</a:t>
            </a:r>
            <a:endParaRPr lang="en-US" sz="1200" dirty="0">
              <a:latin typeface="Trebuchet MS"/>
              <a:cs typeface="Trebuchet MS"/>
            </a:endParaRPr>
          </a:p>
        </p:txBody>
      </p:sp>
      <p:sp>
        <p:nvSpPr>
          <p:cNvPr id="75" name="Date Placeholder 74">
            <a:extLst>
              <a:ext uri="{FF2B5EF4-FFF2-40B4-BE49-F238E27FC236}">
                <a16:creationId xmlns:a16="http://schemas.microsoft.com/office/drawing/2014/main" id="{5EF4978B-186B-B0AE-8781-21AFA98B1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773-DD96-43E1-A22C-12C0670E8738}" type="datetime1">
              <a:rPr lang="en-US" smtClean="0"/>
              <a:t>12/3/2025</a:t>
            </a:fld>
            <a:endParaRPr lang="en-US"/>
          </a:p>
        </p:txBody>
      </p:sp>
      <p:sp>
        <p:nvSpPr>
          <p:cNvPr id="77" name="Footer Placeholder 76">
            <a:extLst>
              <a:ext uri="{FF2B5EF4-FFF2-40B4-BE49-F238E27FC236}">
                <a16:creationId xmlns:a16="http://schemas.microsoft.com/office/drawing/2014/main" id="{426148ED-3AED-116D-B5F9-DA045606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B0C7F3-2F0C-CD3A-2E6E-DE34E2BF0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There are </a:t>
            </a:r>
            <a:r>
              <a:rPr lang="en-US" dirty="0">
                <a:solidFill>
                  <a:srgbClr val="FFC000"/>
                </a:solidFill>
              </a:rPr>
              <a:t>three types of methods</a:t>
            </a:r>
            <a:r>
              <a:rPr lang="en-US" dirty="0"/>
              <a:t> for training student and teacher models:</a:t>
            </a:r>
          </a:p>
          <a:p>
            <a:r>
              <a:rPr lang="en-US" dirty="0"/>
              <a:t>1. Offline</a:t>
            </a:r>
          </a:p>
          <a:p>
            <a:r>
              <a:rPr lang="en-US" dirty="0"/>
              <a:t>2. Online </a:t>
            </a:r>
          </a:p>
          <a:p>
            <a:r>
              <a:rPr lang="en-US" dirty="0"/>
              <a:t>3. Self distillation. </a:t>
            </a:r>
          </a:p>
          <a:p>
            <a:r>
              <a:rPr lang="en-US" dirty="0"/>
              <a:t>The categorization of the distillation training methods depends on whether the </a:t>
            </a:r>
            <a:r>
              <a:rPr lang="en-US" dirty="0">
                <a:solidFill>
                  <a:srgbClr val="FF0000"/>
                </a:solidFill>
              </a:rPr>
              <a:t>teacher model is modified at the same time </a:t>
            </a:r>
            <a:r>
              <a:rPr lang="en-US" dirty="0"/>
              <a:t>as the student model or not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510C-AF4C-C650-31A7-562935A5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661C-D397-4D9D-8181-77AC270E62DE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3FB47-0AB5-9C36-235F-EC201F52E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9DA55-F652-EE3C-9F1C-2DC6EA6B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796432-F5FA-CE38-848D-77A00160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Training is Performed</a:t>
            </a:r>
          </a:p>
        </p:txBody>
      </p:sp>
    </p:spTree>
    <p:extLst>
      <p:ext uri="{BB962C8B-B14F-4D97-AF65-F5344CB8AC3E}">
        <p14:creationId xmlns:p14="http://schemas.microsoft.com/office/powerpoint/2010/main" val="1431839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6D9B9-E3D5-3D1E-5C56-3B65B00E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944D-BDEE-4F7E-9E90-BF613E65DB30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F4088-877F-E0E3-1D93-50EFE4E0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9C775-17CE-C9FB-CAFD-496232A3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D71BA7-1F07-B8D8-7490-F70A884EF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Training is Performed</a:t>
            </a:r>
          </a:p>
        </p:txBody>
      </p:sp>
      <p:pic>
        <p:nvPicPr>
          <p:cNvPr id="3074" name="Picture 2" descr="Types of knowledge distillation">
            <a:extLst>
              <a:ext uri="{FF2B5EF4-FFF2-40B4-BE49-F238E27FC236}">
                <a16:creationId xmlns:a16="http://schemas.microsoft.com/office/drawing/2014/main" id="{143AB469-E882-C1B5-BC85-2467E5C8AA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1600200"/>
            <a:ext cx="4879975" cy="446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909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1801E-33F0-4A8B-0870-431ABDAF3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most common method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pre-trained teacher model </a:t>
            </a:r>
            <a:r>
              <a:rPr lang="en-US" dirty="0"/>
              <a:t>is used to guide the student model. </a:t>
            </a:r>
          </a:p>
          <a:p>
            <a:r>
              <a:rPr lang="en-US" dirty="0"/>
              <a:t>The teacher model is first pre-trained on a training dataset, and then knowledge from the teacher model is distilled to train the student model. </a:t>
            </a:r>
          </a:p>
          <a:p>
            <a:r>
              <a:rPr lang="en-US" dirty="0"/>
              <a:t>A wide variety of pre-trained neural network models are openly available that can serve as the teacher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6046C-B531-7869-C701-77095FC7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541D-BF4B-4D28-A573-665239864300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086E4-E365-ABCE-464B-88E4A8C6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D7CB1-AD99-6E57-AC7C-36F2BA697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C99D67D-D66D-0D5D-9B2C-11B9AF4D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Offline distillation</a:t>
            </a:r>
          </a:p>
        </p:txBody>
      </p:sp>
    </p:spTree>
    <p:extLst>
      <p:ext uri="{BB962C8B-B14F-4D97-AF65-F5344CB8AC3E}">
        <p14:creationId xmlns:p14="http://schemas.microsoft.com/office/powerpoint/2010/main" val="3344086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36F833-ECCC-F2B5-F7ED-318A94FBAD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750" y="2082006"/>
            <a:ext cx="10858500" cy="356235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FE226-4270-F7ED-0FBE-EF6AFFEE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141A-7C20-44C5-98FC-8C6C41D59888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5AFAA-87C9-99AF-E378-0DB3886B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55DF2-A9BE-C7DC-FD03-F972CE23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980261-122C-7773-AC2C-8749877C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Offline distillation</a:t>
            </a:r>
          </a:p>
        </p:txBody>
      </p:sp>
    </p:spTree>
    <p:extLst>
      <p:ext uri="{BB962C8B-B14F-4D97-AF65-F5344CB8AC3E}">
        <p14:creationId xmlns:p14="http://schemas.microsoft.com/office/powerpoint/2010/main" val="1526255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199E6A-4B0A-10A4-167B-CCA1B9A1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pre-trained teacher model is usually a large capacity deep neural network. </a:t>
            </a:r>
          </a:p>
          <a:p>
            <a:r>
              <a:rPr lang="en-US" dirty="0"/>
              <a:t>A pre-trained model may not be available for offline distillation. </a:t>
            </a:r>
          </a:p>
          <a:p>
            <a:r>
              <a:rPr lang="en-US" dirty="0"/>
              <a:t>Online distillation can be used where </a:t>
            </a:r>
            <a:r>
              <a:rPr lang="en-US" dirty="0">
                <a:solidFill>
                  <a:srgbClr val="FF0000"/>
                </a:solidFill>
              </a:rPr>
              <a:t>both the teacher and student models are updated simultaneously </a:t>
            </a:r>
            <a:r>
              <a:rPr lang="en-US" dirty="0"/>
              <a:t>in a single end-to-end training process. </a:t>
            </a:r>
          </a:p>
          <a:p>
            <a:r>
              <a:rPr lang="en-US" dirty="0"/>
              <a:t>May need parallel computing for high efficiency.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723A89-6DBD-464C-E516-35D7AECAB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FCCF-7F14-4014-8480-C1B11FDF0FBD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82EB9-9262-0028-C04F-7E9BCDE7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AF21F-8999-4337-2BCA-328BAA0B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C2036B-4607-3037-A312-C07A86178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Online distillation</a:t>
            </a:r>
          </a:p>
        </p:txBody>
      </p:sp>
    </p:spTree>
    <p:extLst>
      <p:ext uri="{BB962C8B-B14F-4D97-AF65-F5344CB8AC3E}">
        <p14:creationId xmlns:p14="http://schemas.microsoft.com/office/powerpoint/2010/main" val="3599376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6153" y="398478"/>
            <a:ext cx="4337367" cy="562163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lang="en-US" dirty="0"/>
              <a:t>2. Online distillation</a:t>
            </a:r>
            <a:endParaRPr spc="-109" dirty="0"/>
          </a:p>
        </p:txBody>
      </p:sp>
      <p:sp>
        <p:nvSpPr>
          <p:cNvPr id="3" name="object 3"/>
          <p:cNvSpPr txBox="1"/>
          <p:nvPr/>
        </p:nvSpPr>
        <p:spPr>
          <a:xfrm>
            <a:off x="399097" y="4129240"/>
            <a:ext cx="11370187" cy="143726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312286" marR="3081" indent="-304971">
              <a:spcBef>
                <a:spcPts val="58"/>
              </a:spcBef>
              <a:buSzPct val="122727"/>
              <a:buChar char="•"/>
              <a:tabLst>
                <a:tab pos="312286" algn="l"/>
                <a:tab pos="312672" algn="l"/>
              </a:tabLst>
            </a:pPr>
            <a:r>
              <a:rPr sz="2001" spc="9" dirty="0">
                <a:latin typeface="Trebuchet MS"/>
                <a:cs typeface="Trebuchet MS"/>
              </a:rPr>
              <a:t>Idea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39" dirty="0">
                <a:latin typeface="Trebuchet MS"/>
                <a:cs typeface="Trebuchet MS"/>
              </a:rPr>
              <a:t>of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24" dirty="0">
                <a:latin typeface="Trebuchet MS"/>
                <a:cs typeface="Trebuchet MS"/>
              </a:rPr>
              <a:t>deep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36" dirty="0">
                <a:latin typeface="Trebuchet MS"/>
                <a:cs typeface="Trebuchet MS"/>
              </a:rPr>
              <a:t>mutual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39" dirty="0">
                <a:latin typeface="Trebuchet MS"/>
                <a:cs typeface="Trebuchet MS"/>
              </a:rPr>
              <a:t>learning: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64" dirty="0">
                <a:latin typeface="Trebuchet MS"/>
                <a:cs typeface="Trebuchet MS"/>
              </a:rPr>
              <a:t>for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dirty="0">
                <a:latin typeface="Trebuchet MS"/>
                <a:cs typeface="Trebuchet MS"/>
              </a:rPr>
              <a:t>both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27" dirty="0">
                <a:latin typeface="Trebuchet MS"/>
                <a:cs typeface="Trebuchet MS"/>
              </a:rPr>
              <a:t>teacher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6" dirty="0">
                <a:latin typeface="Trebuchet MS"/>
                <a:cs typeface="Trebuchet MS"/>
              </a:rPr>
              <a:t>and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9" dirty="0">
                <a:latin typeface="Trebuchet MS"/>
                <a:cs typeface="Trebuchet MS"/>
              </a:rPr>
              <a:t>student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15" dirty="0">
                <a:latin typeface="Trebuchet MS"/>
                <a:cs typeface="Trebuchet MS"/>
              </a:rPr>
              <a:t>networks,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3" dirty="0">
                <a:latin typeface="Trebuchet MS"/>
                <a:cs typeface="Trebuchet MS"/>
              </a:rPr>
              <a:t>we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24" dirty="0">
                <a:latin typeface="Trebuchet MS"/>
                <a:cs typeface="Trebuchet MS"/>
              </a:rPr>
              <a:t>want</a:t>
            </a:r>
            <a:r>
              <a:rPr sz="2001" spc="-45" dirty="0">
                <a:latin typeface="Trebuchet MS"/>
                <a:cs typeface="Trebuchet MS"/>
              </a:rPr>
              <a:t> to </a:t>
            </a:r>
            <a:r>
              <a:rPr sz="2001" spc="55" dirty="0">
                <a:latin typeface="Trebuchet MS"/>
                <a:cs typeface="Trebuchet MS"/>
              </a:rPr>
              <a:t>add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21" dirty="0">
                <a:latin typeface="Trebuchet MS"/>
                <a:cs typeface="Trebuchet MS"/>
              </a:rPr>
              <a:t>a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distillation </a:t>
            </a:r>
            <a:r>
              <a:rPr sz="2001" spc="-594" dirty="0">
                <a:latin typeface="Trebuchet MS"/>
                <a:cs typeface="Trebuchet MS"/>
              </a:rPr>
              <a:t> </a:t>
            </a:r>
            <a:r>
              <a:rPr sz="2001" spc="-42" dirty="0">
                <a:latin typeface="Trebuchet MS"/>
                <a:cs typeface="Trebuchet MS"/>
              </a:rPr>
              <a:t>objective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73" dirty="0">
                <a:latin typeface="Trebuchet MS"/>
                <a:cs typeface="Trebuchet MS"/>
              </a:rPr>
              <a:t>that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12" dirty="0">
                <a:latin typeface="Trebuchet MS"/>
                <a:cs typeface="Trebuchet MS"/>
              </a:rPr>
              <a:t>minimizes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the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24" dirty="0">
                <a:latin typeface="Trebuchet MS"/>
                <a:cs typeface="Trebuchet MS"/>
              </a:rPr>
              <a:t>output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33" dirty="0">
                <a:latin typeface="Trebuchet MS"/>
                <a:cs typeface="Trebuchet MS"/>
              </a:rPr>
              <a:t>distribution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39" dirty="0">
                <a:latin typeface="Trebuchet MS"/>
                <a:cs typeface="Trebuchet MS"/>
              </a:rPr>
              <a:t>of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the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42" dirty="0">
                <a:latin typeface="Trebuchet MS"/>
                <a:cs typeface="Trebuchet MS"/>
              </a:rPr>
              <a:t>other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85" dirty="0">
                <a:latin typeface="Trebuchet MS"/>
                <a:cs typeface="Trebuchet MS"/>
              </a:rPr>
              <a:t>party.</a:t>
            </a:r>
            <a:endParaRPr sz="2001" dirty="0">
              <a:latin typeface="Trebuchet MS"/>
              <a:cs typeface="Trebuchet MS"/>
            </a:endParaRPr>
          </a:p>
          <a:p>
            <a:pPr marL="312286" indent="-304971">
              <a:spcBef>
                <a:spcPts val="285"/>
              </a:spcBef>
              <a:buSzPct val="102531"/>
              <a:buFont typeface="Trebuchet MS"/>
              <a:buChar char="•"/>
              <a:tabLst>
                <a:tab pos="312286" algn="l"/>
                <a:tab pos="312672" algn="l"/>
              </a:tabLst>
            </a:pPr>
            <a:r>
              <a:rPr sz="2395" spc="176" dirty="0">
                <a:latin typeface="Cambria"/>
                <a:cs typeface="Cambria"/>
              </a:rPr>
              <a:t>ℒ(</a:t>
            </a:r>
            <a:r>
              <a:rPr sz="2395" i="1" spc="176" dirty="0">
                <a:latin typeface="Times New Roman"/>
                <a:cs typeface="Times New Roman"/>
              </a:rPr>
              <a:t>S</a:t>
            </a:r>
            <a:r>
              <a:rPr sz="2395" spc="176" dirty="0">
                <a:latin typeface="Cambria"/>
                <a:cs typeface="Cambria"/>
              </a:rPr>
              <a:t>)</a:t>
            </a:r>
            <a:r>
              <a:rPr sz="2395" spc="139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001" spc="27" dirty="0">
                <a:latin typeface="Trebuchet MS"/>
                <a:cs typeface="Trebuchet MS"/>
              </a:rPr>
              <a:t>CrossEntropy</a:t>
            </a:r>
            <a:r>
              <a:rPr sz="2395" spc="27" dirty="0">
                <a:latin typeface="Cambria"/>
                <a:cs typeface="Cambria"/>
              </a:rPr>
              <a:t>(</a:t>
            </a:r>
            <a:r>
              <a:rPr sz="2395" i="1" spc="27" dirty="0">
                <a:latin typeface="Times New Roman"/>
                <a:cs typeface="Times New Roman"/>
              </a:rPr>
              <a:t>S</a:t>
            </a:r>
            <a:r>
              <a:rPr sz="2395" spc="27" dirty="0">
                <a:latin typeface="Cambria"/>
                <a:cs typeface="Cambria"/>
              </a:rPr>
              <a:t>(</a:t>
            </a:r>
            <a:r>
              <a:rPr sz="2395" i="1" spc="27" dirty="0">
                <a:latin typeface="Times New Roman"/>
                <a:cs typeface="Times New Roman"/>
              </a:rPr>
              <a:t>I</a:t>
            </a:r>
            <a:r>
              <a:rPr sz="2395" spc="27" dirty="0">
                <a:latin typeface="Cambria"/>
                <a:cs typeface="Cambria"/>
              </a:rPr>
              <a:t>),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-52" dirty="0">
                <a:latin typeface="Times New Roman"/>
                <a:cs typeface="Times New Roman"/>
              </a:rPr>
              <a:t>y</a:t>
            </a:r>
            <a:r>
              <a:rPr sz="2395" spc="-52" dirty="0">
                <a:latin typeface="Cambria"/>
                <a:cs typeface="Cambria"/>
              </a:rPr>
              <a:t>)</a:t>
            </a:r>
            <a:r>
              <a:rPr sz="2395" spc="9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+</a:t>
            </a:r>
            <a:r>
              <a:rPr sz="2395" spc="9" dirty="0">
                <a:latin typeface="Cambria"/>
                <a:cs typeface="Cambria"/>
              </a:rPr>
              <a:t> </a:t>
            </a:r>
            <a:r>
              <a:rPr sz="2001" spc="27" dirty="0">
                <a:latin typeface="Trebuchet MS"/>
                <a:cs typeface="Trebuchet MS"/>
              </a:rPr>
              <a:t>KL</a:t>
            </a:r>
            <a:r>
              <a:rPr sz="2395" spc="27" dirty="0">
                <a:latin typeface="Cambria"/>
                <a:cs typeface="Cambria"/>
              </a:rPr>
              <a:t>(</a:t>
            </a:r>
            <a:r>
              <a:rPr sz="2395" i="1" spc="27" dirty="0">
                <a:latin typeface="Times New Roman"/>
                <a:cs typeface="Times New Roman"/>
              </a:rPr>
              <a:t>S</a:t>
            </a:r>
            <a:r>
              <a:rPr sz="2395" spc="27" dirty="0">
                <a:latin typeface="Cambria"/>
                <a:cs typeface="Cambria"/>
              </a:rPr>
              <a:t>(</a:t>
            </a:r>
            <a:r>
              <a:rPr sz="2395" i="1" spc="27" dirty="0">
                <a:latin typeface="Times New Roman"/>
                <a:cs typeface="Times New Roman"/>
              </a:rPr>
              <a:t>I</a:t>
            </a:r>
            <a:r>
              <a:rPr sz="2395" spc="27" dirty="0">
                <a:latin typeface="Cambria"/>
                <a:cs typeface="Cambria"/>
              </a:rPr>
              <a:t>),</a:t>
            </a:r>
            <a:r>
              <a:rPr sz="2395" spc="-130" dirty="0">
                <a:latin typeface="Cambria"/>
                <a:cs typeface="Cambria"/>
              </a:rPr>
              <a:t> </a:t>
            </a:r>
            <a:r>
              <a:rPr sz="2395" i="1" spc="-58" dirty="0">
                <a:latin typeface="Times New Roman"/>
                <a:cs typeface="Times New Roman"/>
              </a:rPr>
              <a:t>T</a:t>
            </a:r>
            <a:r>
              <a:rPr sz="2395" spc="-58" dirty="0">
                <a:latin typeface="Cambria"/>
                <a:cs typeface="Cambria"/>
              </a:rPr>
              <a:t>(</a:t>
            </a:r>
            <a:r>
              <a:rPr sz="2395" i="1" spc="-58" dirty="0">
                <a:latin typeface="Times New Roman"/>
                <a:cs typeface="Times New Roman"/>
              </a:rPr>
              <a:t>I</a:t>
            </a:r>
            <a:r>
              <a:rPr sz="2395" spc="-58" dirty="0">
                <a:latin typeface="Cambria"/>
                <a:cs typeface="Cambria"/>
              </a:rPr>
              <a:t>))</a:t>
            </a:r>
            <a:r>
              <a:rPr sz="2001" spc="-58" dirty="0">
                <a:latin typeface="Trebuchet MS"/>
                <a:cs typeface="Trebuchet MS"/>
              </a:rPr>
              <a:t>;</a:t>
            </a:r>
            <a:endParaRPr sz="2001" dirty="0">
              <a:latin typeface="Trebuchet MS"/>
              <a:cs typeface="Trebuchet MS"/>
            </a:endParaRPr>
          </a:p>
          <a:p>
            <a:pPr marL="312286" indent="-304971">
              <a:spcBef>
                <a:spcPts val="312"/>
              </a:spcBef>
              <a:buSzPct val="102531"/>
              <a:buFont typeface="Trebuchet MS"/>
              <a:buChar char="•"/>
              <a:tabLst>
                <a:tab pos="312286" algn="l"/>
                <a:tab pos="312672" algn="l"/>
              </a:tabLst>
            </a:pPr>
            <a:r>
              <a:rPr sz="2395" spc="255" dirty="0">
                <a:latin typeface="Cambria"/>
                <a:cs typeface="Cambria"/>
              </a:rPr>
              <a:t>ℒ(</a:t>
            </a:r>
            <a:r>
              <a:rPr sz="2395" i="1" spc="255" dirty="0">
                <a:latin typeface="Times New Roman"/>
                <a:cs typeface="Times New Roman"/>
              </a:rPr>
              <a:t>T</a:t>
            </a:r>
            <a:r>
              <a:rPr sz="2395" i="1" spc="-385" dirty="0">
                <a:latin typeface="Times New Roman"/>
                <a:cs typeface="Times New Roman"/>
              </a:rPr>
              <a:t> </a:t>
            </a:r>
            <a:r>
              <a:rPr sz="2395" spc="-112" dirty="0">
                <a:latin typeface="Cambria"/>
                <a:cs typeface="Cambria"/>
              </a:rPr>
              <a:t>)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001" spc="27" dirty="0">
                <a:latin typeface="Trebuchet MS"/>
                <a:cs typeface="Trebuchet MS"/>
              </a:rPr>
              <a:t>CrossEntropy</a:t>
            </a:r>
            <a:r>
              <a:rPr sz="2395" spc="27" dirty="0">
                <a:latin typeface="Cambria"/>
                <a:cs typeface="Cambria"/>
              </a:rPr>
              <a:t>(</a:t>
            </a:r>
            <a:r>
              <a:rPr sz="2395" i="1" spc="27" dirty="0">
                <a:latin typeface="Times New Roman"/>
                <a:cs typeface="Times New Roman"/>
              </a:rPr>
              <a:t>T</a:t>
            </a:r>
            <a:r>
              <a:rPr sz="2395" spc="27" dirty="0">
                <a:latin typeface="Cambria"/>
                <a:cs typeface="Cambria"/>
              </a:rPr>
              <a:t>(</a:t>
            </a:r>
            <a:r>
              <a:rPr sz="2395" i="1" spc="27" dirty="0">
                <a:latin typeface="Times New Roman"/>
                <a:cs typeface="Times New Roman"/>
              </a:rPr>
              <a:t>I</a:t>
            </a:r>
            <a:r>
              <a:rPr sz="2395" spc="27" dirty="0">
                <a:latin typeface="Cambria"/>
                <a:cs typeface="Cambria"/>
              </a:rPr>
              <a:t>),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-52" dirty="0">
                <a:latin typeface="Times New Roman"/>
                <a:cs typeface="Times New Roman"/>
              </a:rPr>
              <a:t>y</a:t>
            </a:r>
            <a:r>
              <a:rPr sz="2395" spc="-52" dirty="0">
                <a:latin typeface="Cambria"/>
                <a:cs typeface="Cambria"/>
              </a:rPr>
              <a:t>)</a:t>
            </a:r>
            <a:r>
              <a:rPr sz="2395" spc="9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+</a:t>
            </a:r>
            <a:r>
              <a:rPr sz="2395" spc="9" dirty="0">
                <a:latin typeface="Cambria"/>
                <a:cs typeface="Cambria"/>
              </a:rPr>
              <a:t> </a:t>
            </a:r>
            <a:r>
              <a:rPr sz="2001" spc="27" dirty="0">
                <a:latin typeface="Trebuchet MS"/>
                <a:cs typeface="Trebuchet MS"/>
              </a:rPr>
              <a:t>KL</a:t>
            </a:r>
            <a:r>
              <a:rPr sz="2395" spc="27" dirty="0">
                <a:latin typeface="Cambria"/>
                <a:cs typeface="Cambria"/>
              </a:rPr>
              <a:t>(</a:t>
            </a:r>
            <a:r>
              <a:rPr sz="2395" i="1" spc="27" dirty="0">
                <a:latin typeface="Times New Roman"/>
                <a:cs typeface="Times New Roman"/>
              </a:rPr>
              <a:t>T</a:t>
            </a:r>
            <a:r>
              <a:rPr sz="2395" spc="27" dirty="0">
                <a:latin typeface="Cambria"/>
                <a:cs typeface="Cambria"/>
              </a:rPr>
              <a:t>(</a:t>
            </a:r>
            <a:r>
              <a:rPr sz="2395" i="1" spc="27" dirty="0">
                <a:latin typeface="Times New Roman"/>
                <a:cs typeface="Times New Roman"/>
              </a:rPr>
              <a:t>I</a:t>
            </a:r>
            <a:r>
              <a:rPr sz="2395" spc="27" dirty="0">
                <a:latin typeface="Cambria"/>
                <a:cs typeface="Cambria"/>
              </a:rPr>
              <a:t>),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-58" dirty="0">
                <a:latin typeface="Times New Roman"/>
                <a:cs typeface="Times New Roman"/>
              </a:rPr>
              <a:t>S</a:t>
            </a:r>
            <a:r>
              <a:rPr sz="2395" spc="-58" dirty="0">
                <a:latin typeface="Cambria"/>
                <a:cs typeface="Cambria"/>
              </a:rPr>
              <a:t>(</a:t>
            </a:r>
            <a:r>
              <a:rPr sz="2395" i="1" spc="-58" dirty="0">
                <a:latin typeface="Times New Roman"/>
                <a:cs typeface="Times New Roman"/>
              </a:rPr>
              <a:t>I</a:t>
            </a:r>
            <a:r>
              <a:rPr sz="2395" spc="-58" dirty="0">
                <a:latin typeface="Cambria"/>
                <a:cs typeface="Cambria"/>
              </a:rPr>
              <a:t>))</a:t>
            </a:r>
            <a:r>
              <a:rPr sz="2001" spc="-58" dirty="0">
                <a:latin typeface="Trebuchet MS"/>
                <a:cs typeface="Trebuchet MS"/>
              </a:rPr>
              <a:t>.</a:t>
            </a:r>
            <a:endParaRPr sz="2001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1527" y="1949182"/>
            <a:ext cx="1289196" cy="390850"/>
          </a:xfrm>
          <a:prstGeom prst="rect">
            <a:avLst/>
          </a:prstGeom>
          <a:ln w="32323">
            <a:solidFill>
              <a:srgbClr val="000000"/>
            </a:solidFill>
          </a:ln>
        </p:spPr>
        <p:txBody>
          <a:bodyPr vert="horz" wrap="square" lIns="0" tIns="3466" rIns="0" bIns="0" rtlCol="0">
            <a:spAutoFit/>
          </a:bodyPr>
          <a:lstStyle/>
          <a:p>
            <a:pPr>
              <a:spcBef>
                <a:spcPts val="27"/>
              </a:spcBef>
            </a:pPr>
            <a:endParaRPr sz="1304">
              <a:latin typeface="Times New Roman"/>
              <a:cs typeface="Times New Roman"/>
            </a:endParaRPr>
          </a:p>
          <a:p>
            <a:pPr marL="265694"/>
            <a:r>
              <a:rPr sz="1213" spc="6" dirty="0">
                <a:latin typeface="Calibri"/>
                <a:cs typeface="Calibri"/>
              </a:rPr>
              <a:t>Network</a:t>
            </a:r>
            <a:r>
              <a:rPr sz="1213" spc="-18" dirty="0">
                <a:latin typeface="Calibri"/>
                <a:cs typeface="Calibri"/>
              </a:rPr>
              <a:t> </a:t>
            </a:r>
            <a:r>
              <a:rPr sz="1213" spc="6" dirty="0">
                <a:latin typeface="Cambria Math"/>
                <a:cs typeface="Cambria Math"/>
              </a:rPr>
              <a:t>Θ</a:t>
            </a:r>
            <a:r>
              <a:rPr sz="1319" spc="9" baseline="-15325" dirty="0">
                <a:latin typeface="Cambria Math"/>
                <a:cs typeface="Cambria Math"/>
              </a:rPr>
              <a:t>1</a:t>
            </a:r>
            <a:endParaRPr sz="1319" baseline="-15325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57957" y="3053400"/>
            <a:ext cx="1292662" cy="588379"/>
          </a:xfrm>
          <a:custGeom>
            <a:avLst/>
            <a:gdLst/>
            <a:ahLst/>
            <a:cxnLst/>
            <a:rect l="l" t="t" r="r" b="b"/>
            <a:pathLst>
              <a:path w="2131695" h="970279">
                <a:moveTo>
                  <a:pt x="0" y="969721"/>
                </a:moveTo>
                <a:lnTo>
                  <a:pt x="2131449" y="969721"/>
                </a:lnTo>
                <a:lnTo>
                  <a:pt x="2131449" y="0"/>
                </a:lnTo>
                <a:lnTo>
                  <a:pt x="0" y="0"/>
                </a:lnTo>
                <a:lnTo>
                  <a:pt x="0" y="969721"/>
                </a:lnTo>
                <a:close/>
              </a:path>
            </a:pathLst>
          </a:custGeom>
          <a:ln w="32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 txBox="1"/>
          <p:nvPr/>
        </p:nvSpPr>
        <p:spPr>
          <a:xfrm>
            <a:off x="5900541" y="3236922"/>
            <a:ext cx="800164" cy="197153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23104">
              <a:spcBef>
                <a:spcPts val="82"/>
              </a:spcBef>
            </a:pPr>
            <a:r>
              <a:rPr sz="1213" spc="6" dirty="0">
                <a:latin typeface="Calibri"/>
                <a:cs typeface="Calibri"/>
              </a:rPr>
              <a:t>Network</a:t>
            </a:r>
            <a:r>
              <a:rPr sz="1213" spc="-24" dirty="0">
                <a:latin typeface="Calibri"/>
                <a:cs typeface="Calibri"/>
              </a:rPr>
              <a:t> </a:t>
            </a:r>
            <a:r>
              <a:rPr sz="1213" spc="18" dirty="0">
                <a:latin typeface="Cambria Math"/>
                <a:cs typeface="Cambria Math"/>
              </a:rPr>
              <a:t>Θ</a:t>
            </a:r>
            <a:r>
              <a:rPr sz="1319" spc="27" baseline="-15325" dirty="0">
                <a:latin typeface="Cambria Math"/>
                <a:cs typeface="Cambria Math"/>
              </a:rPr>
              <a:t>2</a:t>
            </a:r>
            <a:endParaRPr sz="1319" baseline="-15325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53037" y="2220193"/>
            <a:ext cx="2438613" cy="1160970"/>
          </a:xfrm>
          <a:custGeom>
            <a:avLst/>
            <a:gdLst/>
            <a:ahLst/>
            <a:cxnLst/>
            <a:rect l="l" t="t" r="r" b="b"/>
            <a:pathLst>
              <a:path w="4021454" h="1914525">
                <a:moveTo>
                  <a:pt x="1003439" y="37973"/>
                </a:moveTo>
                <a:lnTo>
                  <a:pt x="896721" y="57137"/>
                </a:lnTo>
                <a:lnTo>
                  <a:pt x="916038" y="83019"/>
                </a:lnTo>
                <a:lnTo>
                  <a:pt x="0" y="766889"/>
                </a:lnTo>
                <a:lnTo>
                  <a:pt x="19329" y="792772"/>
                </a:lnTo>
                <a:lnTo>
                  <a:pt x="935367" y="108940"/>
                </a:lnTo>
                <a:lnTo>
                  <a:pt x="954722" y="134823"/>
                </a:lnTo>
                <a:lnTo>
                  <a:pt x="1003439" y="37973"/>
                </a:lnTo>
                <a:close/>
              </a:path>
              <a:path w="4021454" h="1914525">
                <a:moveTo>
                  <a:pt x="1031341" y="1866963"/>
                </a:moveTo>
                <a:lnTo>
                  <a:pt x="981849" y="1770494"/>
                </a:lnTo>
                <a:lnTo>
                  <a:pt x="962710" y="1796554"/>
                </a:lnTo>
                <a:lnTo>
                  <a:pt x="19215" y="1103985"/>
                </a:lnTo>
                <a:lnTo>
                  <a:pt x="114" y="1130033"/>
                </a:lnTo>
                <a:lnTo>
                  <a:pt x="943597" y="1822615"/>
                </a:lnTo>
                <a:lnTo>
                  <a:pt x="924458" y="1848662"/>
                </a:lnTo>
                <a:lnTo>
                  <a:pt x="1031341" y="1866963"/>
                </a:lnTo>
                <a:close/>
              </a:path>
              <a:path w="4021454" h="1914525">
                <a:moveTo>
                  <a:pt x="4021340" y="1866963"/>
                </a:moveTo>
                <a:lnTo>
                  <a:pt x="3925125" y="1817001"/>
                </a:lnTo>
                <a:lnTo>
                  <a:pt x="3924630" y="1849335"/>
                </a:lnTo>
                <a:lnTo>
                  <a:pt x="3129280" y="1837334"/>
                </a:lnTo>
                <a:lnTo>
                  <a:pt x="3128772" y="1869668"/>
                </a:lnTo>
                <a:lnTo>
                  <a:pt x="3924147" y="1881670"/>
                </a:lnTo>
                <a:lnTo>
                  <a:pt x="3923677" y="1913978"/>
                </a:lnTo>
                <a:lnTo>
                  <a:pt x="4021340" y="1866963"/>
                </a:lnTo>
                <a:close/>
              </a:path>
              <a:path w="4021454" h="1914525">
                <a:moveTo>
                  <a:pt x="4021340" y="49771"/>
                </a:moveTo>
                <a:lnTo>
                  <a:pt x="3925049" y="0"/>
                </a:lnTo>
                <a:lnTo>
                  <a:pt x="3924630" y="32334"/>
                </a:lnTo>
                <a:lnTo>
                  <a:pt x="3129216" y="21780"/>
                </a:lnTo>
                <a:lnTo>
                  <a:pt x="3128797" y="54114"/>
                </a:lnTo>
                <a:lnTo>
                  <a:pt x="3924173" y="64643"/>
                </a:lnTo>
                <a:lnTo>
                  <a:pt x="3923754" y="96977"/>
                </a:lnTo>
                <a:lnTo>
                  <a:pt x="4021340" y="49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 txBox="1"/>
          <p:nvPr/>
        </p:nvSpPr>
        <p:spPr>
          <a:xfrm>
            <a:off x="8353616" y="2679594"/>
            <a:ext cx="765893" cy="191778"/>
          </a:xfrm>
          <a:prstGeom prst="rect">
            <a:avLst/>
          </a:prstGeom>
          <a:ln w="14366">
            <a:solidFill>
              <a:srgbClr val="000000"/>
            </a:solidFill>
          </a:ln>
        </p:spPr>
        <p:txBody>
          <a:bodyPr vert="horz" wrap="square" lIns="0" tIns="23489" rIns="0" bIns="0" rtlCol="0">
            <a:spAutoFit/>
          </a:bodyPr>
          <a:lstStyle/>
          <a:p>
            <a:pPr marL="62380">
              <a:spcBef>
                <a:spcPts val="185"/>
              </a:spcBef>
            </a:pPr>
            <a:r>
              <a:rPr sz="1092" dirty="0">
                <a:latin typeface="Calibri"/>
                <a:cs typeface="Calibri"/>
              </a:rPr>
              <a:t>KL(p1||p2)</a:t>
            </a:r>
            <a:endParaRPr sz="1092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4735" y="2654878"/>
            <a:ext cx="765893" cy="191778"/>
          </a:xfrm>
          <a:prstGeom prst="rect">
            <a:avLst/>
          </a:prstGeom>
          <a:ln w="14366">
            <a:solidFill>
              <a:srgbClr val="000000"/>
            </a:solidFill>
          </a:ln>
        </p:spPr>
        <p:txBody>
          <a:bodyPr vert="horz" wrap="square" lIns="0" tIns="23489" rIns="0" bIns="0" rtlCol="0">
            <a:spAutoFit/>
          </a:bodyPr>
          <a:lstStyle/>
          <a:p>
            <a:pPr marL="62380">
              <a:spcBef>
                <a:spcPts val="185"/>
              </a:spcBef>
            </a:pPr>
            <a:r>
              <a:rPr sz="1092" dirty="0">
                <a:latin typeface="Calibri"/>
                <a:cs typeface="Calibri"/>
              </a:rPr>
              <a:t>KL(p2||p1)</a:t>
            </a:r>
            <a:endParaRPr sz="1092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7676" y="3123030"/>
            <a:ext cx="194073" cy="197153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23104">
              <a:spcBef>
                <a:spcPts val="82"/>
              </a:spcBef>
            </a:pPr>
            <a:r>
              <a:rPr sz="1213" spc="-3" dirty="0">
                <a:latin typeface="Cambria Math"/>
                <a:cs typeface="Cambria Math"/>
              </a:rPr>
              <a:t>𝑝</a:t>
            </a:r>
            <a:r>
              <a:rPr sz="1319" spc="-4" baseline="-15325" dirty="0">
                <a:latin typeface="Cambria Math"/>
                <a:cs typeface="Cambria Math"/>
              </a:rPr>
              <a:t>2</a:t>
            </a:r>
            <a:endParaRPr sz="1319" baseline="-15325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81768" y="1941823"/>
            <a:ext cx="149404" cy="1719313"/>
            <a:chOff x="12337284" y="3202209"/>
            <a:chExt cx="246379" cy="2835275"/>
          </a:xfrm>
        </p:grpSpPr>
        <p:sp>
          <p:nvSpPr>
            <p:cNvPr id="14" name="object 14"/>
            <p:cNvSpPr/>
            <p:nvPr/>
          </p:nvSpPr>
          <p:spPr>
            <a:xfrm>
              <a:off x="12353477" y="5035583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5" h="985520">
                  <a:moveTo>
                    <a:pt x="213431" y="0"/>
                  </a:moveTo>
                  <a:lnTo>
                    <a:pt x="0" y="0"/>
                  </a:lnTo>
                  <a:lnTo>
                    <a:pt x="0" y="985238"/>
                  </a:lnTo>
                  <a:lnTo>
                    <a:pt x="213431" y="985238"/>
                  </a:lnTo>
                  <a:lnTo>
                    <a:pt x="213431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5" name="object 15"/>
            <p:cNvSpPr/>
            <p:nvPr/>
          </p:nvSpPr>
          <p:spPr>
            <a:xfrm>
              <a:off x="12353477" y="5035584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5" h="985520">
                  <a:moveTo>
                    <a:pt x="0" y="985238"/>
                  </a:moveTo>
                  <a:lnTo>
                    <a:pt x="213431" y="985238"/>
                  </a:lnTo>
                  <a:lnTo>
                    <a:pt x="213431" y="0"/>
                  </a:lnTo>
                  <a:lnTo>
                    <a:pt x="0" y="0"/>
                  </a:lnTo>
                  <a:lnTo>
                    <a:pt x="0" y="985238"/>
                  </a:lnTo>
                  <a:close/>
                </a:path>
              </a:pathLst>
            </a:custGeom>
            <a:ln w="32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53477" y="3218400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5" h="985520">
                  <a:moveTo>
                    <a:pt x="213431" y="0"/>
                  </a:moveTo>
                  <a:lnTo>
                    <a:pt x="0" y="0"/>
                  </a:lnTo>
                  <a:lnTo>
                    <a:pt x="0" y="985249"/>
                  </a:lnTo>
                  <a:lnTo>
                    <a:pt x="213431" y="985249"/>
                  </a:lnTo>
                  <a:lnTo>
                    <a:pt x="213431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7" name="object 17"/>
            <p:cNvSpPr/>
            <p:nvPr/>
          </p:nvSpPr>
          <p:spPr>
            <a:xfrm>
              <a:off x="12353477" y="3218402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5" h="985520">
                  <a:moveTo>
                    <a:pt x="0" y="985249"/>
                  </a:moveTo>
                  <a:lnTo>
                    <a:pt x="213431" y="985249"/>
                  </a:lnTo>
                  <a:lnTo>
                    <a:pt x="213431" y="0"/>
                  </a:lnTo>
                  <a:lnTo>
                    <a:pt x="0" y="0"/>
                  </a:lnTo>
                  <a:lnTo>
                    <a:pt x="0" y="985249"/>
                  </a:lnTo>
                  <a:close/>
                </a:path>
              </a:pathLst>
            </a:custGeom>
            <a:ln w="32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282994" y="1998687"/>
            <a:ext cx="832895" cy="197153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30805">
              <a:spcBef>
                <a:spcPts val="82"/>
              </a:spcBef>
              <a:tabLst>
                <a:tab pos="657304" algn="l"/>
              </a:tabLst>
            </a:pPr>
            <a:r>
              <a:rPr sz="1819" spc="-13" baseline="1388" dirty="0">
                <a:latin typeface="Cambria Math"/>
                <a:cs typeface="Cambria Math"/>
              </a:rPr>
              <a:t>𝑧</a:t>
            </a:r>
            <a:r>
              <a:rPr sz="1319" spc="-13" baseline="-13409" dirty="0">
                <a:latin typeface="Cambria Math"/>
                <a:cs typeface="Cambria Math"/>
              </a:rPr>
              <a:t>1	</a:t>
            </a:r>
            <a:r>
              <a:rPr sz="1213" spc="-18" dirty="0">
                <a:latin typeface="Cambria Math"/>
                <a:cs typeface="Cambria Math"/>
              </a:rPr>
              <a:t>𝑝</a:t>
            </a:r>
            <a:r>
              <a:rPr sz="1319" spc="-27" baseline="-15325" dirty="0">
                <a:latin typeface="Cambria Math"/>
                <a:cs typeface="Cambria Math"/>
              </a:rPr>
              <a:t>1</a:t>
            </a:r>
            <a:endParaRPr sz="1319" baseline="-15325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80381" y="3093633"/>
            <a:ext cx="184446" cy="197153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23104">
              <a:spcBef>
                <a:spcPts val="82"/>
              </a:spcBef>
            </a:pPr>
            <a:r>
              <a:rPr sz="1213" spc="6" dirty="0">
                <a:latin typeface="Cambria Math"/>
                <a:cs typeface="Cambria Math"/>
              </a:rPr>
              <a:t>𝑧</a:t>
            </a:r>
            <a:r>
              <a:rPr sz="1319" spc="9" baseline="-15325" dirty="0">
                <a:latin typeface="Cambria Math"/>
                <a:cs typeface="Cambria Math"/>
              </a:rPr>
              <a:t>2</a:t>
            </a:r>
            <a:endParaRPr sz="1319" baseline="-15325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11618" y="1822462"/>
            <a:ext cx="4832945" cy="1941110"/>
            <a:chOff x="6779657" y="3005374"/>
            <a:chExt cx="7969884" cy="3201035"/>
          </a:xfrm>
        </p:grpSpPr>
        <p:sp>
          <p:nvSpPr>
            <p:cNvPr id="21" name="object 21"/>
            <p:cNvSpPr/>
            <p:nvPr/>
          </p:nvSpPr>
          <p:spPr>
            <a:xfrm>
              <a:off x="13430093" y="5035583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4" h="985520">
                  <a:moveTo>
                    <a:pt x="213431" y="0"/>
                  </a:moveTo>
                  <a:lnTo>
                    <a:pt x="0" y="0"/>
                  </a:lnTo>
                  <a:lnTo>
                    <a:pt x="0" y="985238"/>
                  </a:lnTo>
                  <a:lnTo>
                    <a:pt x="213431" y="985238"/>
                  </a:lnTo>
                  <a:lnTo>
                    <a:pt x="213431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2" name="object 22"/>
            <p:cNvSpPr/>
            <p:nvPr/>
          </p:nvSpPr>
          <p:spPr>
            <a:xfrm>
              <a:off x="13430093" y="5035584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4" h="985520">
                  <a:moveTo>
                    <a:pt x="0" y="985238"/>
                  </a:moveTo>
                  <a:lnTo>
                    <a:pt x="213431" y="985238"/>
                  </a:lnTo>
                  <a:lnTo>
                    <a:pt x="213431" y="0"/>
                  </a:lnTo>
                  <a:lnTo>
                    <a:pt x="0" y="0"/>
                  </a:lnTo>
                  <a:lnTo>
                    <a:pt x="0" y="985238"/>
                  </a:lnTo>
                  <a:close/>
                </a:path>
              </a:pathLst>
            </a:custGeom>
            <a:ln w="32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3" name="object 23"/>
            <p:cNvSpPr/>
            <p:nvPr/>
          </p:nvSpPr>
          <p:spPr>
            <a:xfrm>
              <a:off x="12566894" y="5466291"/>
              <a:ext cx="864869" cy="97155"/>
            </a:xfrm>
            <a:custGeom>
              <a:avLst/>
              <a:gdLst/>
              <a:ahLst/>
              <a:cxnLst/>
              <a:rect l="l" t="t" r="r" b="b"/>
              <a:pathLst>
                <a:path w="864869" h="97154">
                  <a:moveTo>
                    <a:pt x="767421" y="0"/>
                  </a:moveTo>
                  <a:lnTo>
                    <a:pt x="767421" y="32305"/>
                  </a:lnTo>
                  <a:lnTo>
                    <a:pt x="0" y="32305"/>
                  </a:lnTo>
                  <a:lnTo>
                    <a:pt x="0" y="64639"/>
                  </a:lnTo>
                  <a:lnTo>
                    <a:pt x="767421" y="64639"/>
                  </a:lnTo>
                  <a:lnTo>
                    <a:pt x="767421" y="96945"/>
                  </a:lnTo>
                  <a:lnTo>
                    <a:pt x="864371" y="48486"/>
                  </a:lnTo>
                  <a:lnTo>
                    <a:pt x="767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4" name="object 24"/>
            <p:cNvSpPr/>
            <p:nvPr/>
          </p:nvSpPr>
          <p:spPr>
            <a:xfrm>
              <a:off x="14519400" y="5035583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4" h="985520">
                  <a:moveTo>
                    <a:pt x="213431" y="0"/>
                  </a:moveTo>
                  <a:lnTo>
                    <a:pt x="0" y="0"/>
                  </a:lnTo>
                  <a:lnTo>
                    <a:pt x="0" y="985238"/>
                  </a:lnTo>
                  <a:lnTo>
                    <a:pt x="213431" y="985238"/>
                  </a:lnTo>
                  <a:lnTo>
                    <a:pt x="213431" y="0"/>
                  </a:lnTo>
                  <a:close/>
                </a:path>
              </a:pathLst>
            </a:custGeom>
            <a:solidFill>
              <a:srgbClr val="7CD17A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5" name="object 25"/>
            <p:cNvSpPr/>
            <p:nvPr/>
          </p:nvSpPr>
          <p:spPr>
            <a:xfrm>
              <a:off x="14519403" y="5035584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4" h="985520">
                  <a:moveTo>
                    <a:pt x="0" y="985238"/>
                  </a:moveTo>
                  <a:lnTo>
                    <a:pt x="213431" y="985238"/>
                  </a:lnTo>
                  <a:lnTo>
                    <a:pt x="213431" y="0"/>
                  </a:lnTo>
                  <a:lnTo>
                    <a:pt x="0" y="0"/>
                  </a:lnTo>
                  <a:lnTo>
                    <a:pt x="0" y="985238"/>
                  </a:lnTo>
                  <a:close/>
                </a:path>
              </a:pathLst>
            </a:custGeom>
            <a:ln w="32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6" name="object 26"/>
            <p:cNvSpPr/>
            <p:nvPr/>
          </p:nvSpPr>
          <p:spPr>
            <a:xfrm>
              <a:off x="13655039" y="5466291"/>
              <a:ext cx="864869" cy="97155"/>
            </a:xfrm>
            <a:custGeom>
              <a:avLst/>
              <a:gdLst/>
              <a:ahLst/>
              <a:cxnLst/>
              <a:rect l="l" t="t" r="r" b="b"/>
              <a:pathLst>
                <a:path w="864869" h="97154">
                  <a:moveTo>
                    <a:pt x="767390" y="0"/>
                  </a:moveTo>
                  <a:lnTo>
                    <a:pt x="767390" y="32305"/>
                  </a:lnTo>
                  <a:lnTo>
                    <a:pt x="0" y="32305"/>
                  </a:lnTo>
                  <a:lnTo>
                    <a:pt x="0" y="64639"/>
                  </a:lnTo>
                  <a:lnTo>
                    <a:pt x="767390" y="64639"/>
                  </a:lnTo>
                  <a:lnTo>
                    <a:pt x="767390" y="96945"/>
                  </a:lnTo>
                  <a:lnTo>
                    <a:pt x="864361" y="48486"/>
                  </a:lnTo>
                  <a:lnTo>
                    <a:pt x="7673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7" name="object 27"/>
            <p:cNvSpPr/>
            <p:nvPr/>
          </p:nvSpPr>
          <p:spPr>
            <a:xfrm>
              <a:off x="13430093" y="3218400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4" h="985520">
                  <a:moveTo>
                    <a:pt x="213431" y="0"/>
                  </a:moveTo>
                  <a:lnTo>
                    <a:pt x="0" y="0"/>
                  </a:lnTo>
                  <a:lnTo>
                    <a:pt x="0" y="985249"/>
                  </a:lnTo>
                  <a:lnTo>
                    <a:pt x="213431" y="985249"/>
                  </a:lnTo>
                  <a:lnTo>
                    <a:pt x="213431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8" name="object 28"/>
            <p:cNvSpPr/>
            <p:nvPr/>
          </p:nvSpPr>
          <p:spPr>
            <a:xfrm>
              <a:off x="13430093" y="3218402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4" h="985520">
                  <a:moveTo>
                    <a:pt x="0" y="985249"/>
                  </a:moveTo>
                  <a:lnTo>
                    <a:pt x="213431" y="985249"/>
                  </a:lnTo>
                  <a:lnTo>
                    <a:pt x="213431" y="0"/>
                  </a:lnTo>
                  <a:lnTo>
                    <a:pt x="0" y="0"/>
                  </a:lnTo>
                  <a:lnTo>
                    <a:pt x="0" y="985249"/>
                  </a:lnTo>
                  <a:close/>
                </a:path>
              </a:pathLst>
            </a:custGeom>
            <a:ln w="32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566894" y="3650738"/>
              <a:ext cx="864869" cy="97155"/>
            </a:xfrm>
            <a:custGeom>
              <a:avLst/>
              <a:gdLst/>
              <a:ahLst/>
              <a:cxnLst/>
              <a:rect l="l" t="t" r="r" b="b"/>
              <a:pathLst>
                <a:path w="864869" h="97154">
                  <a:moveTo>
                    <a:pt x="767421" y="0"/>
                  </a:moveTo>
                  <a:lnTo>
                    <a:pt x="767421" y="32305"/>
                  </a:lnTo>
                  <a:lnTo>
                    <a:pt x="0" y="32305"/>
                  </a:lnTo>
                  <a:lnTo>
                    <a:pt x="0" y="64639"/>
                  </a:lnTo>
                  <a:lnTo>
                    <a:pt x="767421" y="64639"/>
                  </a:lnTo>
                  <a:lnTo>
                    <a:pt x="767421" y="96974"/>
                  </a:lnTo>
                  <a:lnTo>
                    <a:pt x="864371" y="48486"/>
                  </a:lnTo>
                  <a:lnTo>
                    <a:pt x="767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0" name="object 30"/>
            <p:cNvSpPr/>
            <p:nvPr/>
          </p:nvSpPr>
          <p:spPr>
            <a:xfrm>
              <a:off x="14519400" y="3218400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4" h="985520">
                  <a:moveTo>
                    <a:pt x="213431" y="0"/>
                  </a:moveTo>
                  <a:lnTo>
                    <a:pt x="0" y="0"/>
                  </a:lnTo>
                  <a:lnTo>
                    <a:pt x="0" y="985249"/>
                  </a:lnTo>
                  <a:lnTo>
                    <a:pt x="213431" y="985249"/>
                  </a:lnTo>
                  <a:lnTo>
                    <a:pt x="213431" y="0"/>
                  </a:lnTo>
                  <a:close/>
                </a:path>
              </a:pathLst>
            </a:custGeom>
            <a:solidFill>
              <a:srgbClr val="7CD17A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1" name="object 31"/>
            <p:cNvSpPr/>
            <p:nvPr/>
          </p:nvSpPr>
          <p:spPr>
            <a:xfrm>
              <a:off x="14519403" y="3218402"/>
              <a:ext cx="213995" cy="985519"/>
            </a:xfrm>
            <a:custGeom>
              <a:avLst/>
              <a:gdLst/>
              <a:ahLst/>
              <a:cxnLst/>
              <a:rect l="l" t="t" r="r" b="b"/>
              <a:pathLst>
                <a:path w="213994" h="985520">
                  <a:moveTo>
                    <a:pt x="0" y="985249"/>
                  </a:moveTo>
                  <a:lnTo>
                    <a:pt x="213431" y="985249"/>
                  </a:lnTo>
                  <a:lnTo>
                    <a:pt x="213431" y="0"/>
                  </a:lnTo>
                  <a:lnTo>
                    <a:pt x="0" y="0"/>
                  </a:lnTo>
                  <a:lnTo>
                    <a:pt x="0" y="985249"/>
                  </a:lnTo>
                  <a:close/>
                </a:path>
              </a:pathLst>
            </a:custGeom>
            <a:ln w="32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32"/>
            <p:cNvSpPr/>
            <p:nvPr/>
          </p:nvSpPr>
          <p:spPr>
            <a:xfrm>
              <a:off x="13381635" y="3650747"/>
              <a:ext cx="1137920" cy="1588135"/>
            </a:xfrm>
            <a:custGeom>
              <a:avLst/>
              <a:gdLst/>
              <a:ahLst/>
              <a:cxnLst/>
              <a:rect l="l" t="t" r="r" b="b"/>
              <a:pathLst>
                <a:path w="1137919" h="1588135">
                  <a:moveTo>
                    <a:pt x="64630" y="1163650"/>
                  </a:moveTo>
                  <a:lnTo>
                    <a:pt x="32334" y="1163650"/>
                  </a:lnTo>
                  <a:lnTo>
                    <a:pt x="32334" y="1260627"/>
                  </a:lnTo>
                  <a:lnTo>
                    <a:pt x="64630" y="1260627"/>
                  </a:lnTo>
                  <a:lnTo>
                    <a:pt x="64630" y="1163650"/>
                  </a:lnTo>
                  <a:close/>
                </a:path>
                <a:path w="1137919" h="1588135">
                  <a:moveTo>
                    <a:pt x="64630" y="1034351"/>
                  </a:moveTo>
                  <a:lnTo>
                    <a:pt x="32334" y="1034351"/>
                  </a:lnTo>
                  <a:lnTo>
                    <a:pt x="32334" y="1131316"/>
                  </a:lnTo>
                  <a:lnTo>
                    <a:pt x="64630" y="1131316"/>
                  </a:lnTo>
                  <a:lnTo>
                    <a:pt x="64630" y="1034351"/>
                  </a:lnTo>
                  <a:close/>
                </a:path>
                <a:path w="1137919" h="1588135">
                  <a:moveTo>
                    <a:pt x="64630" y="905065"/>
                  </a:moveTo>
                  <a:lnTo>
                    <a:pt x="32334" y="905065"/>
                  </a:lnTo>
                  <a:lnTo>
                    <a:pt x="32334" y="1002042"/>
                  </a:lnTo>
                  <a:lnTo>
                    <a:pt x="64630" y="1002042"/>
                  </a:lnTo>
                  <a:lnTo>
                    <a:pt x="64630" y="905065"/>
                  </a:lnTo>
                  <a:close/>
                </a:path>
                <a:path w="1137919" h="1588135">
                  <a:moveTo>
                    <a:pt x="64630" y="775754"/>
                  </a:moveTo>
                  <a:lnTo>
                    <a:pt x="32334" y="775754"/>
                  </a:lnTo>
                  <a:lnTo>
                    <a:pt x="32334" y="872731"/>
                  </a:lnTo>
                  <a:lnTo>
                    <a:pt x="64630" y="872731"/>
                  </a:lnTo>
                  <a:lnTo>
                    <a:pt x="64630" y="775754"/>
                  </a:lnTo>
                  <a:close/>
                </a:path>
                <a:path w="1137919" h="1588135">
                  <a:moveTo>
                    <a:pt x="64630" y="646480"/>
                  </a:moveTo>
                  <a:lnTo>
                    <a:pt x="32334" y="646480"/>
                  </a:lnTo>
                  <a:lnTo>
                    <a:pt x="32334" y="743458"/>
                  </a:lnTo>
                  <a:lnTo>
                    <a:pt x="64630" y="743458"/>
                  </a:lnTo>
                  <a:lnTo>
                    <a:pt x="64630" y="646480"/>
                  </a:lnTo>
                  <a:close/>
                </a:path>
                <a:path w="1137919" h="1588135">
                  <a:moveTo>
                    <a:pt x="64630" y="517169"/>
                  </a:moveTo>
                  <a:lnTo>
                    <a:pt x="32334" y="517169"/>
                  </a:lnTo>
                  <a:lnTo>
                    <a:pt x="32334" y="614146"/>
                  </a:lnTo>
                  <a:lnTo>
                    <a:pt x="64630" y="614146"/>
                  </a:lnTo>
                  <a:lnTo>
                    <a:pt x="64630" y="517169"/>
                  </a:lnTo>
                  <a:close/>
                </a:path>
                <a:path w="1137919" h="1588135">
                  <a:moveTo>
                    <a:pt x="64630" y="387858"/>
                  </a:moveTo>
                  <a:lnTo>
                    <a:pt x="32296" y="387858"/>
                  </a:lnTo>
                  <a:lnTo>
                    <a:pt x="32334" y="484860"/>
                  </a:lnTo>
                  <a:lnTo>
                    <a:pt x="64630" y="484860"/>
                  </a:lnTo>
                  <a:lnTo>
                    <a:pt x="64630" y="387858"/>
                  </a:lnTo>
                  <a:close/>
                </a:path>
                <a:path w="1137919" h="1588135">
                  <a:moveTo>
                    <a:pt x="96964" y="1336065"/>
                  </a:moveTo>
                  <a:lnTo>
                    <a:pt x="64630" y="1336065"/>
                  </a:lnTo>
                  <a:lnTo>
                    <a:pt x="64630" y="1292961"/>
                  </a:lnTo>
                  <a:lnTo>
                    <a:pt x="32334" y="1292961"/>
                  </a:lnTo>
                  <a:lnTo>
                    <a:pt x="32334" y="1336065"/>
                  </a:lnTo>
                  <a:lnTo>
                    <a:pt x="0" y="1336065"/>
                  </a:lnTo>
                  <a:lnTo>
                    <a:pt x="48488" y="1433004"/>
                  </a:lnTo>
                  <a:lnTo>
                    <a:pt x="96964" y="1336065"/>
                  </a:lnTo>
                  <a:close/>
                </a:path>
                <a:path w="1137919" h="1588135">
                  <a:moveTo>
                    <a:pt x="277977" y="1491094"/>
                  </a:moveTo>
                  <a:lnTo>
                    <a:pt x="245643" y="1491094"/>
                  </a:lnTo>
                  <a:lnTo>
                    <a:pt x="245643" y="1588071"/>
                  </a:lnTo>
                  <a:lnTo>
                    <a:pt x="277977" y="1588096"/>
                  </a:lnTo>
                  <a:lnTo>
                    <a:pt x="277977" y="1491094"/>
                  </a:lnTo>
                  <a:close/>
                </a:path>
                <a:path w="1137919" h="1588135">
                  <a:moveTo>
                    <a:pt x="277977" y="1361808"/>
                  </a:moveTo>
                  <a:lnTo>
                    <a:pt x="245643" y="1361808"/>
                  </a:lnTo>
                  <a:lnTo>
                    <a:pt x="245643" y="1458785"/>
                  </a:lnTo>
                  <a:lnTo>
                    <a:pt x="277977" y="1458785"/>
                  </a:lnTo>
                  <a:lnTo>
                    <a:pt x="277977" y="1361808"/>
                  </a:lnTo>
                  <a:close/>
                </a:path>
                <a:path w="1137919" h="1588135">
                  <a:moveTo>
                    <a:pt x="277977" y="1232509"/>
                  </a:moveTo>
                  <a:lnTo>
                    <a:pt x="245656" y="1232509"/>
                  </a:lnTo>
                  <a:lnTo>
                    <a:pt x="245643" y="1329474"/>
                  </a:lnTo>
                  <a:lnTo>
                    <a:pt x="277977" y="1329474"/>
                  </a:lnTo>
                  <a:lnTo>
                    <a:pt x="277977" y="1232509"/>
                  </a:lnTo>
                  <a:close/>
                </a:path>
                <a:path w="1137919" h="1588135">
                  <a:moveTo>
                    <a:pt x="277990" y="1103223"/>
                  </a:moveTo>
                  <a:lnTo>
                    <a:pt x="245656" y="1103223"/>
                  </a:lnTo>
                  <a:lnTo>
                    <a:pt x="245656" y="1200200"/>
                  </a:lnTo>
                  <a:lnTo>
                    <a:pt x="277977" y="1200200"/>
                  </a:lnTo>
                  <a:lnTo>
                    <a:pt x="277990" y="1103223"/>
                  </a:lnTo>
                  <a:close/>
                </a:path>
                <a:path w="1137919" h="1588135">
                  <a:moveTo>
                    <a:pt x="277990" y="973924"/>
                  </a:moveTo>
                  <a:lnTo>
                    <a:pt x="245656" y="973924"/>
                  </a:lnTo>
                  <a:lnTo>
                    <a:pt x="245656" y="1070889"/>
                  </a:lnTo>
                  <a:lnTo>
                    <a:pt x="277990" y="1070889"/>
                  </a:lnTo>
                  <a:lnTo>
                    <a:pt x="277990" y="973924"/>
                  </a:lnTo>
                  <a:close/>
                </a:path>
                <a:path w="1137919" h="1588135">
                  <a:moveTo>
                    <a:pt x="277990" y="844638"/>
                  </a:moveTo>
                  <a:lnTo>
                    <a:pt x="245694" y="844638"/>
                  </a:lnTo>
                  <a:lnTo>
                    <a:pt x="245694" y="941590"/>
                  </a:lnTo>
                  <a:lnTo>
                    <a:pt x="277990" y="941590"/>
                  </a:lnTo>
                  <a:lnTo>
                    <a:pt x="277990" y="844638"/>
                  </a:lnTo>
                  <a:close/>
                </a:path>
                <a:path w="1137919" h="1588135">
                  <a:moveTo>
                    <a:pt x="278028" y="715327"/>
                  </a:moveTo>
                  <a:lnTo>
                    <a:pt x="245694" y="715327"/>
                  </a:lnTo>
                  <a:lnTo>
                    <a:pt x="245694" y="812304"/>
                  </a:lnTo>
                  <a:lnTo>
                    <a:pt x="277990" y="812304"/>
                  </a:lnTo>
                  <a:lnTo>
                    <a:pt x="278028" y="715327"/>
                  </a:lnTo>
                  <a:close/>
                </a:path>
                <a:path w="1137919" h="1588135">
                  <a:moveTo>
                    <a:pt x="310362" y="634682"/>
                  </a:moveTo>
                  <a:lnTo>
                    <a:pt x="261874" y="537679"/>
                  </a:lnTo>
                  <a:lnTo>
                    <a:pt x="213360" y="634644"/>
                  </a:lnTo>
                  <a:lnTo>
                    <a:pt x="245694" y="634657"/>
                  </a:lnTo>
                  <a:lnTo>
                    <a:pt x="245694" y="682993"/>
                  </a:lnTo>
                  <a:lnTo>
                    <a:pt x="278028" y="682993"/>
                  </a:lnTo>
                  <a:lnTo>
                    <a:pt x="278028" y="634669"/>
                  </a:lnTo>
                  <a:lnTo>
                    <a:pt x="310362" y="634682"/>
                  </a:lnTo>
                  <a:close/>
                </a:path>
                <a:path w="1137919" h="1588135">
                  <a:moveTo>
                    <a:pt x="1137754" y="48488"/>
                  </a:moveTo>
                  <a:lnTo>
                    <a:pt x="1040790" y="0"/>
                  </a:lnTo>
                  <a:lnTo>
                    <a:pt x="1040790" y="32296"/>
                  </a:lnTo>
                  <a:lnTo>
                    <a:pt x="273405" y="32296"/>
                  </a:lnTo>
                  <a:lnTo>
                    <a:pt x="273405" y="64630"/>
                  </a:lnTo>
                  <a:lnTo>
                    <a:pt x="1040790" y="64630"/>
                  </a:lnTo>
                  <a:lnTo>
                    <a:pt x="1040790" y="96964"/>
                  </a:lnTo>
                  <a:lnTo>
                    <a:pt x="1137754" y="48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9657" y="3717383"/>
              <a:ext cx="1628912" cy="173071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177769" y="3026316"/>
              <a:ext cx="2425065" cy="3159125"/>
            </a:xfrm>
            <a:custGeom>
              <a:avLst/>
              <a:gdLst/>
              <a:ahLst/>
              <a:cxnLst/>
              <a:rect l="l" t="t" r="r" b="b"/>
              <a:pathLst>
                <a:path w="2425065" h="3159125">
                  <a:moveTo>
                    <a:pt x="556011" y="0"/>
                  </a:moveTo>
                  <a:lnTo>
                    <a:pt x="1868813" y="0"/>
                  </a:lnTo>
                  <a:lnTo>
                    <a:pt x="1934838" y="79"/>
                  </a:lnTo>
                  <a:lnTo>
                    <a:pt x="1993443" y="635"/>
                  </a:lnTo>
                  <a:lnTo>
                    <a:pt x="2045198" y="2144"/>
                  </a:lnTo>
                  <a:lnTo>
                    <a:pt x="2090674" y="5083"/>
                  </a:lnTo>
                  <a:lnTo>
                    <a:pt x="2130441" y="9929"/>
                  </a:lnTo>
                  <a:lnTo>
                    <a:pt x="2195135" y="27247"/>
                  </a:lnTo>
                  <a:lnTo>
                    <a:pt x="2240420" y="47599"/>
                  </a:lnTo>
                  <a:lnTo>
                    <a:pt x="2281825" y="74043"/>
                  </a:lnTo>
                  <a:lnTo>
                    <a:pt x="2318796" y="106027"/>
                  </a:lnTo>
                  <a:lnTo>
                    <a:pt x="2350780" y="142998"/>
                  </a:lnTo>
                  <a:lnTo>
                    <a:pt x="2377224" y="184403"/>
                  </a:lnTo>
                  <a:lnTo>
                    <a:pt x="2397577" y="229689"/>
                  </a:lnTo>
                  <a:lnTo>
                    <a:pt x="2414894" y="294382"/>
                  </a:lnTo>
                  <a:lnTo>
                    <a:pt x="2419740" y="334150"/>
                  </a:lnTo>
                  <a:lnTo>
                    <a:pt x="2422679" y="379626"/>
                  </a:lnTo>
                  <a:lnTo>
                    <a:pt x="2424189" y="431381"/>
                  </a:lnTo>
                  <a:lnTo>
                    <a:pt x="2424745" y="489986"/>
                  </a:lnTo>
                  <a:lnTo>
                    <a:pt x="2424824" y="556011"/>
                  </a:lnTo>
                  <a:lnTo>
                    <a:pt x="2424824" y="2602801"/>
                  </a:lnTo>
                  <a:lnTo>
                    <a:pt x="2424745" y="2668827"/>
                  </a:lnTo>
                  <a:lnTo>
                    <a:pt x="2424189" y="2727431"/>
                  </a:lnTo>
                  <a:lnTo>
                    <a:pt x="2422679" y="2779186"/>
                  </a:lnTo>
                  <a:lnTo>
                    <a:pt x="2419740" y="2824662"/>
                  </a:lnTo>
                  <a:lnTo>
                    <a:pt x="2414894" y="2864430"/>
                  </a:lnTo>
                  <a:lnTo>
                    <a:pt x="2397577" y="2929124"/>
                  </a:lnTo>
                  <a:lnTo>
                    <a:pt x="2377224" y="2974410"/>
                  </a:lnTo>
                  <a:lnTo>
                    <a:pt x="2350780" y="3015814"/>
                  </a:lnTo>
                  <a:lnTo>
                    <a:pt x="2318796" y="3052785"/>
                  </a:lnTo>
                  <a:lnTo>
                    <a:pt x="2281825" y="3084769"/>
                  </a:lnTo>
                  <a:lnTo>
                    <a:pt x="2240420" y="3111214"/>
                  </a:lnTo>
                  <a:lnTo>
                    <a:pt x="2195135" y="3131566"/>
                  </a:lnTo>
                  <a:lnTo>
                    <a:pt x="2130441" y="3148883"/>
                  </a:lnTo>
                  <a:lnTo>
                    <a:pt x="2090674" y="3153729"/>
                  </a:lnTo>
                  <a:lnTo>
                    <a:pt x="2045198" y="3156668"/>
                  </a:lnTo>
                  <a:lnTo>
                    <a:pt x="1993443" y="3158178"/>
                  </a:lnTo>
                  <a:lnTo>
                    <a:pt x="1934838" y="3158734"/>
                  </a:lnTo>
                  <a:lnTo>
                    <a:pt x="1868813" y="3158813"/>
                  </a:lnTo>
                  <a:lnTo>
                    <a:pt x="556011" y="3158813"/>
                  </a:lnTo>
                  <a:lnTo>
                    <a:pt x="489986" y="3158734"/>
                  </a:lnTo>
                  <a:lnTo>
                    <a:pt x="431381" y="3158178"/>
                  </a:lnTo>
                  <a:lnTo>
                    <a:pt x="379626" y="3156668"/>
                  </a:lnTo>
                  <a:lnTo>
                    <a:pt x="334150" y="3153729"/>
                  </a:lnTo>
                  <a:lnTo>
                    <a:pt x="294382" y="3148883"/>
                  </a:lnTo>
                  <a:lnTo>
                    <a:pt x="229689" y="3131566"/>
                  </a:lnTo>
                  <a:lnTo>
                    <a:pt x="184403" y="3111214"/>
                  </a:lnTo>
                  <a:lnTo>
                    <a:pt x="142998" y="3084769"/>
                  </a:lnTo>
                  <a:lnTo>
                    <a:pt x="106027" y="3052785"/>
                  </a:lnTo>
                  <a:lnTo>
                    <a:pt x="74043" y="3015814"/>
                  </a:lnTo>
                  <a:lnTo>
                    <a:pt x="47599" y="2974410"/>
                  </a:lnTo>
                  <a:lnTo>
                    <a:pt x="27247" y="2929124"/>
                  </a:lnTo>
                  <a:lnTo>
                    <a:pt x="9929" y="2864430"/>
                  </a:lnTo>
                  <a:lnTo>
                    <a:pt x="5083" y="2824662"/>
                  </a:lnTo>
                  <a:lnTo>
                    <a:pt x="2144" y="2779186"/>
                  </a:lnTo>
                  <a:lnTo>
                    <a:pt x="635" y="2727431"/>
                  </a:lnTo>
                  <a:lnTo>
                    <a:pt x="79" y="2668827"/>
                  </a:lnTo>
                  <a:lnTo>
                    <a:pt x="0" y="2602801"/>
                  </a:lnTo>
                  <a:lnTo>
                    <a:pt x="0" y="556011"/>
                  </a:lnTo>
                  <a:lnTo>
                    <a:pt x="79" y="489986"/>
                  </a:lnTo>
                  <a:lnTo>
                    <a:pt x="635" y="431381"/>
                  </a:lnTo>
                  <a:lnTo>
                    <a:pt x="2144" y="379626"/>
                  </a:lnTo>
                  <a:lnTo>
                    <a:pt x="5083" y="334150"/>
                  </a:lnTo>
                  <a:lnTo>
                    <a:pt x="9929" y="294382"/>
                  </a:lnTo>
                  <a:lnTo>
                    <a:pt x="27247" y="229689"/>
                  </a:lnTo>
                  <a:lnTo>
                    <a:pt x="47599" y="184403"/>
                  </a:lnTo>
                  <a:lnTo>
                    <a:pt x="74043" y="142998"/>
                  </a:lnTo>
                  <a:lnTo>
                    <a:pt x="106027" y="106027"/>
                  </a:lnTo>
                  <a:lnTo>
                    <a:pt x="142998" y="74043"/>
                  </a:lnTo>
                  <a:lnTo>
                    <a:pt x="184403" y="47599"/>
                  </a:lnTo>
                  <a:lnTo>
                    <a:pt x="229689" y="27247"/>
                  </a:lnTo>
                  <a:lnTo>
                    <a:pt x="294382" y="9929"/>
                  </a:lnTo>
                  <a:lnTo>
                    <a:pt x="334150" y="5083"/>
                  </a:lnTo>
                  <a:lnTo>
                    <a:pt x="379626" y="2144"/>
                  </a:lnTo>
                  <a:lnTo>
                    <a:pt x="431381" y="635"/>
                  </a:lnTo>
                  <a:lnTo>
                    <a:pt x="489986" y="79"/>
                  </a:lnTo>
                  <a:lnTo>
                    <a:pt x="556011" y="0"/>
                  </a:lnTo>
                  <a:close/>
                </a:path>
              </a:pathLst>
            </a:custGeom>
            <a:ln w="41883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81156" y="660172"/>
            <a:ext cx="9507629" cy="1207690"/>
          </a:xfrm>
          <a:prstGeom prst="rect">
            <a:avLst/>
          </a:prstGeom>
        </p:spPr>
        <p:txBody>
          <a:bodyPr vert="horz" wrap="square" lIns="0" tIns="221412" rIns="0" bIns="0" rtlCol="0">
            <a:spAutoFit/>
          </a:bodyPr>
          <a:lstStyle/>
          <a:p>
            <a:pPr marL="23104">
              <a:spcBef>
                <a:spcPts val="1743"/>
              </a:spcBef>
            </a:pPr>
            <a:r>
              <a:rPr sz="2395" b="1" spc="33" dirty="0">
                <a:latin typeface="Arial"/>
                <a:cs typeface="Arial"/>
              </a:rPr>
              <a:t>Deep</a:t>
            </a:r>
            <a:r>
              <a:rPr sz="2395" b="1" spc="-12" dirty="0">
                <a:latin typeface="Arial"/>
                <a:cs typeface="Arial"/>
              </a:rPr>
              <a:t> </a:t>
            </a:r>
            <a:r>
              <a:rPr sz="2395" b="1" spc="24" dirty="0">
                <a:latin typeface="Arial"/>
                <a:cs typeface="Arial"/>
              </a:rPr>
              <a:t>Mutual</a:t>
            </a:r>
            <a:r>
              <a:rPr sz="2395" b="1" spc="-9" dirty="0">
                <a:latin typeface="Arial"/>
                <a:cs typeface="Arial"/>
              </a:rPr>
              <a:t> </a:t>
            </a:r>
            <a:r>
              <a:rPr sz="2395" b="1" spc="-6" dirty="0">
                <a:latin typeface="Arial"/>
                <a:cs typeface="Arial"/>
              </a:rPr>
              <a:t>Learning</a:t>
            </a:r>
            <a:endParaRPr sz="2395">
              <a:latin typeface="Arial"/>
              <a:cs typeface="Arial"/>
            </a:endParaRPr>
          </a:p>
          <a:p>
            <a:pPr marL="3052017">
              <a:lnSpc>
                <a:spcPts val="2135"/>
              </a:lnSpc>
              <a:spcBef>
                <a:spcPts val="1377"/>
              </a:spcBef>
            </a:pPr>
            <a:r>
              <a:rPr sz="1910" spc="55" dirty="0">
                <a:latin typeface="Cambria"/>
                <a:cs typeface="Cambria"/>
              </a:rPr>
              <a:t>Θ</a:t>
            </a:r>
            <a:r>
              <a:rPr sz="2047" spc="82" baseline="-19753" dirty="0">
                <a:latin typeface="Cambria"/>
                <a:cs typeface="Cambria"/>
              </a:rPr>
              <a:t>1</a:t>
            </a:r>
            <a:r>
              <a:rPr sz="1910" spc="55" dirty="0">
                <a:latin typeface="Cambria"/>
                <a:cs typeface="Cambria"/>
              </a:rPr>
              <a:t>,</a:t>
            </a:r>
            <a:r>
              <a:rPr sz="1910" spc="-100" dirty="0">
                <a:latin typeface="Cambria"/>
                <a:cs typeface="Cambria"/>
              </a:rPr>
              <a:t> </a:t>
            </a:r>
            <a:r>
              <a:rPr sz="1910" spc="36" dirty="0">
                <a:latin typeface="Cambria"/>
                <a:cs typeface="Cambria"/>
              </a:rPr>
              <a:t>Θ</a:t>
            </a:r>
            <a:r>
              <a:rPr sz="2047" spc="54" baseline="-19753" dirty="0">
                <a:latin typeface="Cambria"/>
                <a:cs typeface="Cambria"/>
              </a:rPr>
              <a:t>2</a:t>
            </a:r>
            <a:r>
              <a:rPr sz="2047" spc="213" baseline="-19753" dirty="0">
                <a:latin typeface="Cambria"/>
                <a:cs typeface="Cambria"/>
              </a:rPr>
              <a:t> </a:t>
            </a:r>
            <a:r>
              <a:rPr sz="1577" spc="45" dirty="0">
                <a:latin typeface="Trebuchet MS"/>
                <a:cs typeface="Trebuchet MS"/>
              </a:rPr>
              <a:t>can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33" dirty="0">
                <a:latin typeface="Trebuchet MS"/>
                <a:cs typeface="Trebuchet MS"/>
              </a:rPr>
              <a:t>be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33" dirty="0">
                <a:latin typeface="Trebuchet MS"/>
                <a:cs typeface="Trebuchet MS"/>
              </a:rPr>
              <a:t>the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61" dirty="0">
                <a:latin typeface="Trebuchet MS"/>
                <a:cs typeface="Trebuchet MS"/>
              </a:rPr>
              <a:t>same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6" dirty="0">
                <a:latin typeface="Trebuchet MS"/>
                <a:cs typeface="Trebuchet MS"/>
              </a:rPr>
              <a:t>or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61" dirty="0">
                <a:latin typeface="Trebuchet MS"/>
                <a:cs typeface="Trebuchet MS"/>
              </a:rPr>
              <a:t>different,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42" dirty="0">
                <a:latin typeface="Trebuchet MS"/>
                <a:cs typeface="Trebuchet MS"/>
              </a:rPr>
              <a:t>and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18" dirty="0">
                <a:latin typeface="Trebuchet MS"/>
                <a:cs typeface="Trebuchet MS"/>
              </a:rPr>
              <a:t>they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27" dirty="0">
                <a:latin typeface="Trebuchet MS"/>
                <a:cs typeface="Trebuchet MS"/>
              </a:rPr>
              <a:t>are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24" dirty="0">
                <a:latin typeface="Trebuchet MS"/>
                <a:cs typeface="Trebuchet MS"/>
              </a:rPr>
              <a:t>trained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24" dirty="0">
                <a:latin typeface="Trebuchet MS"/>
                <a:cs typeface="Trebuchet MS"/>
              </a:rPr>
              <a:t>from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3" dirty="0">
                <a:latin typeface="Trebuchet MS"/>
                <a:cs typeface="Trebuchet MS"/>
              </a:rPr>
              <a:t>scratch.</a:t>
            </a:r>
            <a:endParaRPr sz="1577">
              <a:latin typeface="Trebuchet MS"/>
              <a:cs typeface="Trebuchet MS"/>
            </a:endParaRPr>
          </a:p>
          <a:p>
            <a:pPr marR="831738" algn="r">
              <a:lnSpc>
                <a:spcPts val="1298"/>
              </a:lnSpc>
              <a:tabLst>
                <a:tab pos="510595" algn="l"/>
                <a:tab pos="1363127" algn="l"/>
              </a:tabLst>
            </a:pPr>
            <a:r>
              <a:rPr sz="1213" spc="6" dirty="0">
                <a:latin typeface="Calibri"/>
                <a:cs typeface="Calibri"/>
              </a:rPr>
              <a:t>Logits	Predictions	labels</a:t>
            </a:r>
            <a:endParaRPr sz="1213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94107" y="2528682"/>
            <a:ext cx="184061" cy="302869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spcBef>
                <a:spcPts val="69"/>
              </a:spcBef>
            </a:pPr>
            <a:r>
              <a:rPr sz="1910" spc="6" dirty="0">
                <a:latin typeface="Calibri"/>
                <a:cs typeface="Calibri"/>
              </a:rPr>
              <a:t>…</a:t>
            </a:r>
            <a:endParaRPr sz="191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993991" y="2121843"/>
            <a:ext cx="361576" cy="220098"/>
          </a:xfrm>
          <a:prstGeom prst="rect">
            <a:avLst/>
          </a:prstGeom>
          <a:ln w="14366">
            <a:solidFill>
              <a:srgbClr val="000000"/>
            </a:solidFill>
          </a:ln>
        </p:spPr>
        <p:txBody>
          <a:bodyPr vert="horz" wrap="square" lIns="0" tIns="51599" rIns="0" bIns="0" rtlCol="0">
            <a:spAutoFit/>
          </a:bodyPr>
          <a:lstStyle/>
          <a:p>
            <a:pPr marL="79708">
              <a:spcBef>
                <a:spcPts val="406"/>
              </a:spcBef>
            </a:pPr>
            <a:r>
              <a:rPr sz="1637" spc="4" baseline="10802" dirty="0">
                <a:latin typeface="Cambria Math"/>
                <a:cs typeface="Cambria Math"/>
              </a:rPr>
              <a:t>𝐿</a:t>
            </a:r>
            <a:r>
              <a:rPr sz="819" spc="3" dirty="0">
                <a:latin typeface="Cambria Math"/>
                <a:cs typeface="Cambria Math"/>
              </a:rPr>
              <a:t>𝐶1</a:t>
            </a:r>
            <a:endParaRPr sz="819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94499" y="3226400"/>
            <a:ext cx="361576" cy="220098"/>
          </a:xfrm>
          <a:prstGeom prst="rect">
            <a:avLst/>
          </a:prstGeom>
          <a:ln w="14366">
            <a:solidFill>
              <a:srgbClr val="000000"/>
            </a:solidFill>
          </a:ln>
        </p:spPr>
        <p:txBody>
          <a:bodyPr vert="horz" wrap="square" lIns="0" tIns="51599" rIns="0" bIns="0" rtlCol="0">
            <a:spAutoFit/>
          </a:bodyPr>
          <a:lstStyle/>
          <a:p>
            <a:pPr marL="79708">
              <a:spcBef>
                <a:spcPts val="406"/>
              </a:spcBef>
            </a:pPr>
            <a:r>
              <a:rPr sz="1637" spc="4" baseline="10802" dirty="0">
                <a:latin typeface="Cambria Math"/>
                <a:cs typeface="Cambria Math"/>
              </a:rPr>
              <a:t>𝐿</a:t>
            </a:r>
            <a:r>
              <a:rPr sz="819" spc="3" dirty="0">
                <a:latin typeface="Cambria Math"/>
                <a:cs typeface="Cambria Math"/>
              </a:rPr>
              <a:t>𝐶2</a:t>
            </a:r>
            <a:endParaRPr sz="819">
              <a:latin typeface="Cambria Math"/>
              <a:cs typeface="Cambria Math"/>
            </a:endParaRPr>
          </a:p>
        </p:txBody>
      </p: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2737" y="2250554"/>
            <a:ext cx="987759" cy="1049508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613546" y="6275620"/>
            <a:ext cx="7406717" cy="185020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4099006">
              <a:spcBef>
                <a:spcPts val="24"/>
              </a:spcBef>
            </a:pPr>
            <a:r>
              <a:rPr sz="1182" spc="42" dirty="0">
                <a:solidFill>
                  <a:srgbClr val="5E5E5E"/>
                </a:solidFill>
                <a:latin typeface="Trebuchet MS"/>
                <a:cs typeface="Trebuchet MS"/>
              </a:rPr>
              <a:t>Deep</a:t>
            </a:r>
            <a:r>
              <a:rPr sz="1182" spc="-27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5" dirty="0">
                <a:solidFill>
                  <a:srgbClr val="5E5E5E"/>
                </a:solidFill>
                <a:latin typeface="Trebuchet MS"/>
                <a:cs typeface="Trebuchet MS"/>
              </a:rPr>
              <a:t>Mutual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Learning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8" dirty="0">
                <a:solidFill>
                  <a:srgbClr val="5E5E5E"/>
                </a:solidFill>
                <a:latin typeface="Trebuchet MS"/>
                <a:cs typeface="Trebuchet MS"/>
              </a:rPr>
              <a:t>[Zhang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i="1" spc="15" dirty="0">
                <a:solidFill>
                  <a:srgbClr val="5E5E5E"/>
                </a:solidFill>
                <a:latin typeface="Arial"/>
                <a:cs typeface="Arial"/>
              </a:rPr>
              <a:t>et</a:t>
            </a:r>
            <a:r>
              <a:rPr sz="1182" i="1" spc="3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82" i="1" spc="-33" dirty="0">
                <a:solidFill>
                  <a:srgbClr val="5E5E5E"/>
                </a:solidFill>
                <a:latin typeface="Arial"/>
                <a:cs typeface="Arial"/>
              </a:rPr>
              <a:t>al.</a:t>
            </a:r>
            <a:r>
              <a:rPr sz="1182" spc="-33" dirty="0">
                <a:solidFill>
                  <a:srgbClr val="5E5E5E"/>
                </a:solidFill>
                <a:latin typeface="Trebuchet MS"/>
                <a:cs typeface="Trebuchet MS"/>
              </a:rPr>
              <a:t>,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12" dirty="0">
                <a:solidFill>
                  <a:srgbClr val="5E5E5E"/>
                </a:solidFill>
                <a:latin typeface="Trebuchet MS"/>
                <a:cs typeface="Trebuchet MS"/>
              </a:rPr>
              <a:t>CVPR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2018]</a:t>
            </a:r>
            <a:endParaRPr sz="1395" dirty="0">
              <a:latin typeface="Trebuchet MS"/>
              <a:cs typeface="Trebuchet MS"/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5D5DE66D-99FE-43FA-42D9-10522A3E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F84F-0FC8-428E-AB03-8AE077A9E728}" type="slidenum">
              <a:rPr lang="en-US" smtClean="0"/>
              <a:t>36</a:t>
            </a:fld>
            <a:endParaRPr lang="en-US"/>
          </a:p>
        </p:txBody>
      </p:sp>
      <p:sp>
        <p:nvSpPr>
          <p:cNvPr id="41" name="Date Placeholder 40">
            <a:extLst>
              <a:ext uri="{FF2B5EF4-FFF2-40B4-BE49-F238E27FC236}">
                <a16:creationId xmlns:a16="http://schemas.microsoft.com/office/drawing/2014/main" id="{4F5A8B81-719E-6A30-EB36-CDBC47F0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B02D9-5F78-4318-AF3E-0B0F1A60ACE5}" type="datetime1">
              <a:rPr lang="en-US" smtClean="0"/>
              <a:t>12/3/2025</a:t>
            </a:fld>
            <a:endParaRPr lang="en-US"/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22D90DDD-8D17-4C5C-8630-0922851D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449EEC-88A4-24D2-1FB7-7FB003B2E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self-distillation, the </a:t>
            </a:r>
            <a:r>
              <a:rPr lang="en-US" dirty="0">
                <a:solidFill>
                  <a:srgbClr val="FF0000"/>
                </a:solidFill>
              </a:rPr>
              <a:t>same model is used for the teacher and the student models</a:t>
            </a:r>
            <a:r>
              <a:rPr lang="en-US" dirty="0"/>
              <a:t>. </a:t>
            </a:r>
          </a:p>
          <a:p>
            <a:r>
              <a:rPr lang="en-US" dirty="0"/>
              <a:t>For instance, knowledge from deeper layers of a deep neural network can be used to train the shallow layers. </a:t>
            </a:r>
          </a:p>
          <a:p>
            <a:r>
              <a:rPr lang="en-US" dirty="0"/>
              <a:t>It can be considered a special case of online distillation, and instantiated in several ways. </a:t>
            </a:r>
          </a:p>
          <a:p>
            <a:r>
              <a:rPr lang="en-US" dirty="0"/>
              <a:t>Knowledge from </a:t>
            </a:r>
            <a:r>
              <a:rPr lang="en-US" dirty="0">
                <a:solidFill>
                  <a:srgbClr val="FF0000"/>
                </a:solidFill>
              </a:rPr>
              <a:t>earlier epochs of the teacher model can be transferred to its later epochs </a:t>
            </a:r>
            <a:r>
              <a:rPr lang="en-US" dirty="0"/>
              <a:t>to train the student model.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7B84E-EFC8-68C0-82B8-FFAA3DC6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F395-B065-4495-ACA8-1B81EB278F71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8FFB0-8DE8-7EC0-6617-51EBDCB6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E85E0-00C9-27D3-9400-9784E46F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B58D82-578A-4C73-3139-316E9BA6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Self-distillation</a:t>
            </a:r>
          </a:p>
        </p:txBody>
      </p:sp>
    </p:spTree>
    <p:extLst>
      <p:ext uri="{BB962C8B-B14F-4D97-AF65-F5344CB8AC3E}">
        <p14:creationId xmlns:p14="http://schemas.microsoft.com/office/powerpoint/2010/main" val="463399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558" y="173222"/>
            <a:ext cx="9707093" cy="1034131"/>
          </a:xfrm>
          <a:prstGeom prst="rect">
            <a:avLst/>
          </a:prstGeom>
        </p:spPr>
        <p:txBody>
          <a:bodyPr vert="horz" wrap="square" lIns="0" tIns="72392" rIns="0" bIns="0" rtlCol="0" anchor="ctr">
            <a:spAutoFit/>
          </a:bodyPr>
          <a:lstStyle/>
          <a:p>
            <a:pPr marL="10012">
              <a:spcBef>
                <a:spcPts val="570"/>
              </a:spcBef>
            </a:pPr>
            <a:r>
              <a:rPr lang="en-US" dirty="0"/>
              <a:t>3. Self-distillation</a:t>
            </a:r>
            <a:endParaRPr spc="-115" dirty="0"/>
          </a:p>
          <a:p>
            <a:pPr marL="7701">
              <a:spcBef>
                <a:spcPts val="291"/>
              </a:spcBef>
            </a:pPr>
            <a:r>
              <a:rPr sz="2395" spc="-18" dirty="0">
                <a:solidFill>
                  <a:srgbClr val="000000"/>
                </a:solidFill>
              </a:rPr>
              <a:t>Teacher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9" dirty="0">
                <a:solidFill>
                  <a:srgbClr val="000000"/>
                </a:solidFill>
              </a:rPr>
              <a:t>model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-45" dirty="0">
                <a:solidFill>
                  <a:srgbClr val="000000"/>
                </a:solidFill>
              </a:rPr>
              <a:t>is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-39" dirty="0">
                <a:solidFill>
                  <a:srgbClr val="000000"/>
                </a:solidFill>
              </a:rPr>
              <a:t>usually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-6" dirty="0">
                <a:solidFill>
                  <a:srgbClr val="000000"/>
                </a:solidFill>
              </a:rPr>
              <a:t>larger</a:t>
            </a:r>
            <a:r>
              <a:rPr sz="2395" spc="3" dirty="0">
                <a:solidFill>
                  <a:srgbClr val="000000"/>
                </a:solidFill>
              </a:rPr>
              <a:t> than </a:t>
            </a:r>
            <a:r>
              <a:rPr sz="2395" spc="15" dirty="0">
                <a:solidFill>
                  <a:srgbClr val="000000"/>
                </a:solidFill>
              </a:rPr>
              <a:t>the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student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9" dirty="0">
                <a:solidFill>
                  <a:srgbClr val="000000"/>
                </a:solidFill>
              </a:rPr>
              <a:t>model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and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spc="-45" dirty="0">
                <a:solidFill>
                  <a:srgbClr val="000000"/>
                </a:solidFill>
              </a:rPr>
              <a:t>is</a:t>
            </a:r>
            <a:r>
              <a:rPr sz="2395" spc="3" dirty="0">
                <a:solidFill>
                  <a:srgbClr val="000000"/>
                </a:solidFill>
              </a:rPr>
              <a:t> </a:t>
            </a:r>
            <a:r>
              <a:rPr sz="2395" dirty="0">
                <a:solidFill>
                  <a:srgbClr val="000000"/>
                </a:solidFill>
              </a:rPr>
              <a:t>fixed</a:t>
            </a:r>
            <a:endParaRPr sz="239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401" y="1665032"/>
            <a:ext cx="7757864" cy="41409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19218" y="3277582"/>
            <a:ext cx="455531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9" dirty="0">
                <a:latin typeface="Arial MT"/>
                <a:cs typeface="Arial MT"/>
              </a:rPr>
              <a:t>Input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6345" y="2216327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1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29702" y="2317687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9729" y="3153263"/>
            <a:ext cx="888344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234889" marR="3081" indent="-227573">
              <a:lnSpc>
                <a:spcPct val="103099"/>
              </a:lnSpc>
              <a:spcBef>
                <a:spcPts val="24"/>
              </a:spcBef>
            </a:pPr>
            <a:r>
              <a:rPr sz="1577" spc="-27" dirty="0">
                <a:latin typeface="Arial MT"/>
                <a:cs typeface="Arial MT"/>
              </a:rPr>
              <a:t>Distillation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0367" y="2215884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2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4390" y="2215884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75204" marR="3081" indent="-167888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-15" dirty="0">
                <a:latin typeface="Arial MT"/>
                <a:cs typeface="Arial MT"/>
              </a:rPr>
              <a:t>N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94246" y="2192707"/>
            <a:ext cx="167888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15" dirty="0">
                <a:latin typeface="Arial"/>
                <a:cs typeface="Arial"/>
              </a:rPr>
              <a:t>…</a:t>
            </a:r>
            <a:endParaRPr sz="1182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6345" y="4120170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1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30367" y="4119728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90222" marR="3081" indent="-182905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12" dirty="0">
                <a:latin typeface="Arial MT"/>
                <a:cs typeface="Arial MT"/>
              </a:rPr>
              <a:t>2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4389" y="4119728"/>
            <a:ext cx="493652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175204" marR="3081" indent="-167888">
              <a:lnSpc>
                <a:spcPct val="103099"/>
              </a:lnSpc>
              <a:spcBef>
                <a:spcPts val="24"/>
              </a:spcBef>
            </a:pPr>
            <a:r>
              <a:rPr sz="1577" spc="-33" dirty="0">
                <a:latin typeface="Arial MT"/>
                <a:cs typeface="Arial MT"/>
              </a:rPr>
              <a:t>Layer  </a:t>
            </a:r>
            <a:r>
              <a:rPr sz="1577" spc="-15" dirty="0">
                <a:latin typeface="Arial MT"/>
                <a:cs typeface="Arial MT"/>
              </a:rPr>
              <a:t>N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4246" y="4096550"/>
            <a:ext cx="167888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15" dirty="0">
                <a:latin typeface="Arial"/>
                <a:cs typeface="Arial"/>
              </a:rPr>
              <a:t>…</a:t>
            </a:r>
            <a:endParaRPr sz="1182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9753" y="4221531"/>
            <a:ext cx="54602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6" dirty="0">
                <a:latin typeface="Arial MT"/>
                <a:cs typeface="Arial MT"/>
              </a:rPr>
              <a:t>Logits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32290" y="1734998"/>
            <a:ext cx="2596875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577" spc="-58" dirty="0">
                <a:latin typeface="Arial MT"/>
                <a:cs typeface="Arial MT"/>
              </a:rPr>
              <a:t>Teacher</a:t>
            </a:r>
            <a:r>
              <a:rPr sz="1577" spc="3" dirty="0">
                <a:latin typeface="Arial MT"/>
                <a:cs typeface="Arial MT"/>
              </a:rPr>
              <a:t> </a:t>
            </a:r>
            <a:r>
              <a:rPr sz="1577" spc="-9" dirty="0">
                <a:latin typeface="Arial MT"/>
                <a:cs typeface="Arial MT"/>
              </a:rPr>
              <a:t>Model:</a:t>
            </a:r>
            <a:r>
              <a:rPr sz="1577" spc="6" dirty="0">
                <a:latin typeface="Arial MT"/>
                <a:cs typeface="Arial MT"/>
              </a:rPr>
              <a:t> </a:t>
            </a:r>
            <a:r>
              <a:rPr sz="1577" b="1" spc="6" dirty="0">
                <a:latin typeface="Arial"/>
                <a:cs typeface="Arial"/>
              </a:rPr>
              <a:t>Large, </a:t>
            </a:r>
            <a:r>
              <a:rPr sz="1577" b="1" spc="-3" dirty="0">
                <a:latin typeface="Arial"/>
                <a:cs typeface="Arial"/>
              </a:rPr>
              <a:t>Fixed</a:t>
            </a:r>
            <a:endParaRPr sz="1577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37726" y="4827741"/>
            <a:ext cx="7716694" cy="1733150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1571831">
              <a:spcBef>
                <a:spcPts val="82"/>
              </a:spcBef>
            </a:pPr>
            <a:r>
              <a:rPr sz="1577" spc="-3" dirty="0">
                <a:latin typeface="Arial MT"/>
                <a:cs typeface="Arial MT"/>
              </a:rPr>
              <a:t>Student </a:t>
            </a:r>
            <a:r>
              <a:rPr sz="1577" spc="-9" dirty="0">
                <a:latin typeface="Arial MT"/>
                <a:cs typeface="Arial MT"/>
              </a:rPr>
              <a:t>Model:</a:t>
            </a:r>
            <a:r>
              <a:rPr sz="1577" spc="-3" dirty="0">
                <a:latin typeface="Arial MT"/>
                <a:cs typeface="Arial MT"/>
              </a:rPr>
              <a:t> </a:t>
            </a:r>
            <a:r>
              <a:rPr sz="1577" b="1" spc="3" dirty="0">
                <a:latin typeface="Arial"/>
                <a:cs typeface="Arial"/>
              </a:rPr>
              <a:t>Small</a:t>
            </a:r>
            <a:endParaRPr sz="1577">
              <a:latin typeface="Arial"/>
              <a:cs typeface="Arial"/>
            </a:endParaRPr>
          </a:p>
          <a:p>
            <a:pPr marL="4856041" marR="2076650" indent="-361575">
              <a:lnSpc>
                <a:spcPct val="103099"/>
              </a:lnSpc>
              <a:spcBef>
                <a:spcPts val="1122"/>
              </a:spcBef>
            </a:pPr>
            <a:r>
              <a:rPr sz="1577" spc="-36" dirty="0">
                <a:latin typeface="Arial MT"/>
                <a:cs typeface="Arial MT"/>
              </a:rPr>
              <a:t>Classi</a:t>
            </a:r>
            <a:r>
              <a:rPr sz="1577" spc="-39" dirty="0">
                <a:latin typeface="Arial MT"/>
                <a:cs typeface="Arial MT"/>
              </a:rPr>
              <a:t>fi</a:t>
            </a:r>
            <a:r>
              <a:rPr sz="1577" spc="-6" dirty="0">
                <a:latin typeface="Arial MT"/>
                <a:cs typeface="Arial MT"/>
              </a:rPr>
              <a:t>cation  </a:t>
            </a:r>
            <a:r>
              <a:rPr sz="1577" spc="-12" dirty="0">
                <a:latin typeface="Arial MT"/>
                <a:cs typeface="Arial MT"/>
              </a:rPr>
              <a:t>Loss</a:t>
            </a:r>
            <a:endParaRPr sz="1577">
              <a:latin typeface="Arial MT"/>
              <a:cs typeface="Arial MT"/>
            </a:endParaRPr>
          </a:p>
          <a:p>
            <a:pPr marL="7701" marR="3081" algn="ctr">
              <a:lnSpc>
                <a:spcPct val="100800"/>
              </a:lnSpc>
              <a:spcBef>
                <a:spcPts val="1137"/>
              </a:spcBef>
            </a:pPr>
            <a:r>
              <a:rPr sz="1577" b="1" spc="-15" dirty="0">
                <a:latin typeface="Arial"/>
                <a:cs typeface="Arial"/>
              </a:rPr>
              <a:t>Discussion</a:t>
            </a:r>
            <a:r>
              <a:rPr sz="1577" spc="-15" dirty="0">
                <a:latin typeface="Trebuchet MS"/>
                <a:cs typeface="Trebuchet MS"/>
              </a:rPr>
              <a:t>: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18" dirty="0">
                <a:latin typeface="Trebuchet MS"/>
                <a:cs typeface="Trebuchet MS"/>
              </a:rPr>
              <a:t>What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33" dirty="0">
                <a:latin typeface="Trebuchet MS"/>
                <a:cs typeface="Trebuchet MS"/>
              </a:rPr>
              <a:t>is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-33" dirty="0">
                <a:latin typeface="Trebuchet MS"/>
                <a:cs typeface="Trebuchet MS"/>
              </a:rPr>
              <a:t>the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27" dirty="0">
                <a:latin typeface="Trebuchet MS"/>
                <a:cs typeface="Trebuchet MS"/>
              </a:rPr>
              <a:t>disadvantage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-21" dirty="0">
                <a:latin typeface="Trebuchet MS"/>
                <a:cs typeface="Trebuchet MS"/>
              </a:rPr>
              <a:t>of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-21" dirty="0">
                <a:latin typeface="Trebuchet MS"/>
                <a:cs typeface="Trebuchet MS"/>
              </a:rPr>
              <a:t>fixed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-18" dirty="0">
                <a:latin typeface="Trebuchet MS"/>
                <a:cs typeface="Trebuchet MS"/>
              </a:rPr>
              <a:t>large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42" dirty="0">
                <a:latin typeface="Trebuchet MS"/>
                <a:cs typeface="Trebuchet MS"/>
              </a:rPr>
              <a:t>teachers?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97" dirty="0">
                <a:latin typeface="Trebuchet MS"/>
                <a:cs typeface="Trebuchet MS"/>
              </a:rPr>
              <a:t>Does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-109" dirty="0">
                <a:latin typeface="Trebuchet MS"/>
                <a:cs typeface="Trebuchet MS"/>
              </a:rPr>
              <a:t>it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21" dirty="0">
                <a:latin typeface="Trebuchet MS"/>
                <a:cs typeface="Trebuchet MS"/>
              </a:rPr>
              <a:t>have</a:t>
            </a:r>
            <a:r>
              <a:rPr sz="1577" spc="-27" dirty="0">
                <a:latin typeface="Trebuchet MS"/>
                <a:cs typeface="Trebuchet MS"/>
              </a:rPr>
              <a:t> to</a:t>
            </a:r>
            <a:r>
              <a:rPr sz="1577" spc="-24" dirty="0">
                <a:latin typeface="Trebuchet MS"/>
                <a:cs typeface="Trebuchet MS"/>
              </a:rPr>
              <a:t> </a:t>
            </a:r>
            <a:r>
              <a:rPr sz="1577" spc="33" dirty="0">
                <a:latin typeface="Trebuchet MS"/>
                <a:cs typeface="Trebuchet MS"/>
              </a:rPr>
              <a:t>be</a:t>
            </a:r>
            <a:r>
              <a:rPr sz="1577" spc="-27" dirty="0">
                <a:latin typeface="Trebuchet MS"/>
                <a:cs typeface="Trebuchet MS"/>
              </a:rPr>
              <a:t> </a:t>
            </a:r>
            <a:r>
              <a:rPr sz="1577" spc="-33" dirty="0">
                <a:latin typeface="Trebuchet MS"/>
                <a:cs typeface="Trebuchet MS"/>
              </a:rPr>
              <a:t>the </a:t>
            </a:r>
            <a:r>
              <a:rPr sz="1577" spc="-464" dirty="0">
                <a:latin typeface="Trebuchet MS"/>
                <a:cs typeface="Trebuchet MS"/>
              </a:rPr>
              <a:t> </a:t>
            </a:r>
            <a:r>
              <a:rPr sz="1577" spc="67" dirty="0">
                <a:latin typeface="Trebuchet MS"/>
                <a:cs typeface="Trebuchet MS"/>
              </a:rPr>
              <a:t>case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49" dirty="0">
                <a:latin typeface="Trebuchet MS"/>
                <a:cs typeface="Trebuchet MS"/>
              </a:rPr>
              <a:t>that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18" dirty="0">
                <a:latin typeface="Trebuchet MS"/>
                <a:cs typeface="Trebuchet MS"/>
              </a:rPr>
              <a:t>we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21" dirty="0">
                <a:latin typeface="Trebuchet MS"/>
                <a:cs typeface="Trebuchet MS"/>
              </a:rPr>
              <a:t>need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30" dirty="0">
                <a:latin typeface="Trebuchet MS"/>
                <a:cs typeface="Trebuchet MS"/>
              </a:rPr>
              <a:t>a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21" dirty="0">
                <a:latin typeface="Trebuchet MS"/>
                <a:cs typeface="Trebuchet MS"/>
              </a:rPr>
              <a:t>fixed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18" dirty="0">
                <a:latin typeface="Trebuchet MS"/>
                <a:cs typeface="Trebuchet MS"/>
              </a:rPr>
              <a:t>large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12" dirty="0">
                <a:latin typeface="Trebuchet MS"/>
                <a:cs typeface="Trebuchet MS"/>
              </a:rPr>
              <a:t>teacher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-33" dirty="0">
                <a:latin typeface="Trebuchet MS"/>
                <a:cs typeface="Trebuchet MS"/>
              </a:rPr>
              <a:t>in</a:t>
            </a:r>
            <a:r>
              <a:rPr sz="1577" spc="-30" dirty="0">
                <a:latin typeface="Trebuchet MS"/>
                <a:cs typeface="Trebuchet MS"/>
              </a:rPr>
              <a:t> </a:t>
            </a:r>
            <a:r>
              <a:rPr sz="1577" spc="209" dirty="0">
                <a:latin typeface="Trebuchet MS"/>
                <a:cs typeface="Trebuchet MS"/>
              </a:rPr>
              <a:t>KD?</a:t>
            </a:r>
            <a:endParaRPr sz="1577">
              <a:latin typeface="Trebuchet MS"/>
              <a:cs typeface="Trebuchet MS"/>
            </a:endParaRPr>
          </a:p>
          <a:p>
            <a:pPr algn="ctr">
              <a:spcBef>
                <a:spcPts val="212"/>
              </a:spcBef>
            </a:pPr>
            <a:r>
              <a:rPr sz="1182" spc="30" dirty="0">
                <a:solidFill>
                  <a:srgbClr val="5E5E5E"/>
                </a:solidFill>
                <a:latin typeface="Trebuchet MS"/>
                <a:cs typeface="Trebuchet MS"/>
              </a:rPr>
              <a:t>Knowledge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7" dirty="0">
                <a:solidFill>
                  <a:srgbClr val="5E5E5E"/>
                </a:solidFill>
                <a:latin typeface="Trebuchet MS"/>
                <a:cs typeface="Trebuchet MS"/>
              </a:rPr>
              <a:t>Distillation: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79" dirty="0">
                <a:solidFill>
                  <a:srgbClr val="5E5E5E"/>
                </a:solidFill>
                <a:latin typeface="Trebuchet MS"/>
                <a:cs typeface="Trebuchet MS"/>
              </a:rPr>
              <a:t>A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33" dirty="0">
                <a:solidFill>
                  <a:srgbClr val="5E5E5E"/>
                </a:solidFill>
                <a:latin typeface="Trebuchet MS"/>
                <a:cs typeface="Trebuchet MS"/>
              </a:rPr>
              <a:t>Survey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5" dirty="0">
                <a:solidFill>
                  <a:srgbClr val="5E5E5E"/>
                </a:solidFill>
                <a:latin typeface="Trebuchet MS"/>
                <a:cs typeface="Trebuchet MS"/>
              </a:rPr>
              <a:t>[Gou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i="1" spc="15" dirty="0">
                <a:solidFill>
                  <a:srgbClr val="5E5E5E"/>
                </a:solidFill>
                <a:latin typeface="Arial"/>
                <a:cs typeface="Arial"/>
              </a:rPr>
              <a:t>et</a:t>
            </a:r>
            <a:r>
              <a:rPr sz="1182" i="1" spc="6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82" i="1" spc="-33" dirty="0">
                <a:solidFill>
                  <a:srgbClr val="5E5E5E"/>
                </a:solidFill>
                <a:latin typeface="Arial"/>
                <a:cs typeface="Arial"/>
              </a:rPr>
              <a:t>al.</a:t>
            </a:r>
            <a:r>
              <a:rPr sz="1182" spc="-33" dirty="0">
                <a:solidFill>
                  <a:srgbClr val="5E5E5E"/>
                </a:solidFill>
                <a:latin typeface="Trebuchet MS"/>
                <a:cs typeface="Trebuchet MS"/>
              </a:rPr>
              <a:t>,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58" dirty="0">
                <a:solidFill>
                  <a:srgbClr val="5E5E5E"/>
                </a:solidFill>
                <a:latin typeface="Trebuchet MS"/>
                <a:cs typeface="Trebuchet MS"/>
              </a:rPr>
              <a:t>IJCV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2020]</a:t>
            </a:r>
            <a:endParaRPr sz="1182">
              <a:latin typeface="Trebuchet MS"/>
              <a:cs typeface="Trebuchet MS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656B367-3F0F-0ADC-D61D-CA90B6E4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F84F-0FC8-428E-AB03-8AE077A9E728}" type="slidenum">
              <a:rPr lang="en-US" smtClean="0"/>
              <a:t>38</a:t>
            </a:fld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74EC8F44-E32D-2353-11DE-CCA963F2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93D5-7E73-431B-834A-9EDAE20E0182}" type="datetime1">
              <a:rPr lang="en-US" smtClean="0"/>
              <a:t>12/3/2025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385F7ED-67CA-E42B-B3A9-DBF1AF4B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098" y="240164"/>
            <a:ext cx="9109472" cy="562163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lang="en-US" dirty="0"/>
              <a:t>3. Self-distillation</a:t>
            </a:r>
            <a:endParaRPr spc="-61" dirty="0"/>
          </a:p>
        </p:txBody>
      </p:sp>
      <p:sp>
        <p:nvSpPr>
          <p:cNvPr id="3" name="object 3"/>
          <p:cNvSpPr txBox="1"/>
          <p:nvPr/>
        </p:nvSpPr>
        <p:spPr>
          <a:xfrm>
            <a:off x="399098" y="4343426"/>
            <a:ext cx="124761" cy="386089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474" y="4385386"/>
            <a:ext cx="10773337" cy="2180032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/>
          <a:p>
            <a:pPr marL="23104" marR="18483">
              <a:lnSpc>
                <a:spcPct val="102000"/>
              </a:lnSpc>
              <a:spcBef>
                <a:spcPts val="9"/>
              </a:spcBef>
            </a:pPr>
            <a:r>
              <a:rPr sz="2001" spc="45" dirty="0">
                <a:latin typeface="Trebuchet MS"/>
                <a:cs typeface="Trebuchet MS"/>
              </a:rPr>
              <a:t>Born-Again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21" dirty="0">
                <a:latin typeface="Trebuchet MS"/>
                <a:cs typeface="Trebuchet MS"/>
              </a:rPr>
              <a:t>Networks</a:t>
            </a:r>
            <a:r>
              <a:rPr sz="2001" spc="-39" dirty="0">
                <a:latin typeface="Trebuchet MS"/>
                <a:cs typeface="Trebuchet MS"/>
              </a:rPr>
              <a:t> </a:t>
            </a:r>
            <a:r>
              <a:rPr sz="2001" b="1" spc="-3" dirty="0">
                <a:latin typeface="Arial"/>
                <a:cs typeface="Arial"/>
              </a:rPr>
              <a:t>adds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dirty="0">
                <a:latin typeface="Arial"/>
                <a:cs typeface="Arial"/>
              </a:rPr>
              <a:t>iterative</a:t>
            </a:r>
            <a:r>
              <a:rPr sz="2001" b="1" spc="6" dirty="0">
                <a:latin typeface="Arial"/>
                <a:cs typeface="Arial"/>
              </a:rPr>
              <a:t> </a:t>
            </a:r>
            <a:r>
              <a:rPr sz="2001" b="1" spc="-12" dirty="0">
                <a:latin typeface="Arial"/>
                <a:cs typeface="Arial"/>
              </a:rPr>
              <a:t>training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spc="3" dirty="0">
                <a:latin typeface="Arial"/>
                <a:cs typeface="Arial"/>
              </a:rPr>
              <a:t>stages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spc="36" dirty="0">
                <a:latin typeface="Trebuchet MS"/>
                <a:cs typeface="Trebuchet MS"/>
              </a:rPr>
              <a:t>and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b="1" spc="-33" dirty="0">
                <a:latin typeface="Arial"/>
                <a:cs typeface="Arial"/>
              </a:rPr>
              <a:t>using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dirty="0">
                <a:latin typeface="Arial"/>
                <a:cs typeface="Arial"/>
              </a:rPr>
              <a:t>both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spc="-6" dirty="0">
                <a:latin typeface="Arial"/>
                <a:cs typeface="Arial"/>
              </a:rPr>
              <a:t>classification</a:t>
            </a:r>
            <a:r>
              <a:rPr sz="2001" b="1" spc="6" dirty="0">
                <a:latin typeface="Arial"/>
                <a:cs typeface="Arial"/>
              </a:rPr>
              <a:t> </a:t>
            </a:r>
            <a:r>
              <a:rPr sz="2001" b="1" spc="3" dirty="0">
                <a:latin typeface="Arial"/>
                <a:cs typeface="Arial"/>
              </a:rPr>
              <a:t>objective </a:t>
            </a:r>
            <a:r>
              <a:rPr sz="2001" b="1" spc="-546" dirty="0">
                <a:latin typeface="Arial"/>
                <a:cs typeface="Arial"/>
              </a:rPr>
              <a:t> </a:t>
            </a:r>
            <a:r>
              <a:rPr sz="2001" b="1" spc="-3" dirty="0">
                <a:latin typeface="Arial"/>
                <a:cs typeface="Arial"/>
              </a:rPr>
              <a:t>and </a:t>
            </a:r>
            <a:r>
              <a:rPr sz="2001" b="1" spc="-15" dirty="0">
                <a:latin typeface="Arial"/>
                <a:cs typeface="Arial"/>
              </a:rPr>
              <a:t>distillation</a:t>
            </a:r>
            <a:r>
              <a:rPr sz="2001" b="1" dirty="0">
                <a:latin typeface="Arial"/>
                <a:cs typeface="Arial"/>
              </a:rPr>
              <a:t> </a:t>
            </a:r>
            <a:r>
              <a:rPr sz="2001" b="1" spc="3" dirty="0">
                <a:latin typeface="Arial"/>
                <a:cs typeface="Arial"/>
              </a:rPr>
              <a:t>objective</a:t>
            </a:r>
            <a:r>
              <a:rPr sz="2001" b="1" dirty="0">
                <a:latin typeface="Arial"/>
                <a:cs typeface="Arial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in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36" dirty="0">
                <a:latin typeface="Trebuchet MS"/>
                <a:cs typeface="Trebuchet MS"/>
              </a:rPr>
              <a:t>subsequent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24" dirty="0">
                <a:latin typeface="Trebuchet MS"/>
                <a:cs typeface="Trebuchet MS"/>
              </a:rPr>
              <a:t>stages.</a:t>
            </a:r>
            <a:endParaRPr sz="2001">
              <a:latin typeface="Trebuchet MS"/>
              <a:cs typeface="Trebuchet MS"/>
            </a:endParaRPr>
          </a:p>
          <a:p>
            <a:pPr marL="23104" marR="5470604">
              <a:lnSpc>
                <a:spcPts val="3311"/>
              </a:lnSpc>
              <a:spcBef>
                <a:spcPts val="45"/>
              </a:spcBef>
              <a:tabLst>
                <a:tab pos="3041235" algn="l"/>
                <a:tab pos="3347361" algn="l"/>
                <a:tab pos="3673511" algn="l"/>
                <a:tab pos="3979251" algn="l"/>
              </a:tabLst>
            </a:pPr>
            <a:r>
              <a:rPr sz="2001" dirty="0">
                <a:latin typeface="Trebuchet MS"/>
                <a:cs typeface="Trebuchet MS"/>
              </a:rPr>
              <a:t>Network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52" dirty="0">
                <a:latin typeface="Trebuchet MS"/>
                <a:cs typeface="Trebuchet MS"/>
              </a:rPr>
              <a:t>a</a:t>
            </a:r>
            <a:r>
              <a:rPr sz="2001" spc="-76" dirty="0">
                <a:latin typeface="Trebuchet MS"/>
                <a:cs typeface="Trebuchet MS"/>
              </a:rPr>
              <a:t>r</a:t>
            </a:r>
            <a:r>
              <a:rPr sz="2001" spc="-45" dirty="0">
                <a:latin typeface="Trebuchet MS"/>
                <a:cs typeface="Trebuchet MS"/>
              </a:rPr>
              <a:t>chitectu</a:t>
            </a:r>
            <a:r>
              <a:rPr sz="2001" spc="-73" dirty="0">
                <a:latin typeface="Trebuchet MS"/>
                <a:cs typeface="Trebuchet MS"/>
              </a:rPr>
              <a:t>r</a:t>
            </a:r>
            <a:r>
              <a:rPr sz="2001" spc="-18" dirty="0">
                <a:latin typeface="Trebuchet MS"/>
                <a:cs typeface="Trebuchet MS"/>
              </a:rPr>
              <a:t>e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395" i="1" spc="9" dirty="0">
                <a:latin typeface="Times New Roman"/>
                <a:cs typeface="Times New Roman"/>
              </a:rPr>
              <a:t>T</a:t>
            </a:r>
            <a:r>
              <a:rPr sz="2395" i="1" spc="69" dirty="0">
                <a:latin typeface="Times New Roman"/>
                <a:cs typeface="Times New Roman"/>
              </a:rPr>
              <a:t> 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i="1" spc="-76" dirty="0">
                <a:latin typeface="Times New Roman"/>
                <a:cs typeface="Times New Roman"/>
              </a:rPr>
              <a:t>S</a:t>
            </a:r>
            <a:r>
              <a:rPr sz="2547" spc="-127" baseline="-19841" dirty="0">
                <a:latin typeface="Cambria"/>
                <a:cs typeface="Cambria"/>
              </a:rPr>
              <a:t>1</a:t>
            </a:r>
            <a:r>
              <a:rPr sz="2547" baseline="-19841" dirty="0">
                <a:latin typeface="Cambria"/>
                <a:cs typeface="Cambria"/>
              </a:rPr>
              <a:t>	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i="1" spc="-76" dirty="0">
                <a:latin typeface="Times New Roman"/>
                <a:cs typeface="Times New Roman"/>
              </a:rPr>
              <a:t>S</a:t>
            </a:r>
            <a:r>
              <a:rPr sz="2547" spc="-127" baseline="-19841" dirty="0">
                <a:latin typeface="Cambria"/>
                <a:cs typeface="Cambria"/>
              </a:rPr>
              <a:t>2</a:t>
            </a:r>
            <a:r>
              <a:rPr sz="2547" baseline="-19841" dirty="0">
                <a:latin typeface="Cambria"/>
                <a:cs typeface="Cambria"/>
              </a:rPr>
              <a:t>	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i="1" spc="-76" dirty="0">
                <a:latin typeface="Times New Roman"/>
                <a:cs typeface="Times New Roman"/>
              </a:rPr>
              <a:t>S</a:t>
            </a:r>
            <a:r>
              <a:rPr sz="2547" i="1" spc="9" baseline="-19841" dirty="0">
                <a:latin typeface="Times New Roman"/>
                <a:cs typeface="Times New Roman"/>
              </a:rPr>
              <a:t>k</a:t>
            </a:r>
            <a:r>
              <a:rPr sz="2001" spc="-158" dirty="0">
                <a:latin typeface="Trebuchet MS"/>
                <a:cs typeface="Trebuchet MS"/>
              </a:rPr>
              <a:t>.  </a:t>
            </a:r>
            <a:r>
              <a:rPr sz="2001" dirty="0">
                <a:latin typeface="Trebuchet MS"/>
                <a:cs typeface="Trebuchet MS"/>
              </a:rPr>
              <a:t>Network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24" dirty="0">
                <a:latin typeface="Trebuchet MS"/>
                <a:cs typeface="Trebuchet MS"/>
              </a:rPr>
              <a:t>accuracy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395" i="1" spc="9" dirty="0">
                <a:latin typeface="Times New Roman"/>
                <a:cs typeface="Times New Roman"/>
              </a:rPr>
              <a:t>T</a:t>
            </a:r>
            <a:r>
              <a:rPr sz="2395" i="1" spc="76" dirty="0">
                <a:latin typeface="Times New Roman"/>
                <a:cs typeface="Times New Roman"/>
              </a:rPr>
              <a:t> </a:t>
            </a:r>
            <a:r>
              <a:rPr sz="2395" spc="327" dirty="0">
                <a:latin typeface="Cambria"/>
                <a:cs typeface="Cambria"/>
              </a:rPr>
              <a:t>&lt;</a:t>
            </a:r>
            <a:r>
              <a:rPr sz="2395" spc="149" dirty="0">
                <a:latin typeface="Cambria"/>
                <a:cs typeface="Cambria"/>
              </a:rPr>
              <a:t> </a:t>
            </a:r>
            <a:r>
              <a:rPr sz="2395" i="1" spc="-79" dirty="0">
                <a:latin typeface="Times New Roman"/>
                <a:cs typeface="Times New Roman"/>
              </a:rPr>
              <a:t>S</a:t>
            </a:r>
            <a:r>
              <a:rPr sz="2547" spc="-118" baseline="-19841" dirty="0">
                <a:latin typeface="Cambria"/>
                <a:cs typeface="Cambria"/>
              </a:rPr>
              <a:t>1	</a:t>
            </a:r>
            <a:r>
              <a:rPr sz="2395" spc="327" dirty="0">
                <a:latin typeface="Cambria"/>
                <a:cs typeface="Cambria"/>
              </a:rPr>
              <a:t>&lt;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i="1" spc="-79" dirty="0">
                <a:latin typeface="Times New Roman"/>
                <a:cs typeface="Times New Roman"/>
              </a:rPr>
              <a:t>S</a:t>
            </a:r>
            <a:r>
              <a:rPr sz="2547" spc="-118" baseline="-19841" dirty="0">
                <a:latin typeface="Cambria"/>
                <a:cs typeface="Cambria"/>
              </a:rPr>
              <a:t>2	</a:t>
            </a:r>
            <a:r>
              <a:rPr sz="2395" spc="327" dirty="0">
                <a:latin typeface="Cambria"/>
                <a:cs typeface="Cambria"/>
              </a:rPr>
              <a:t>&lt;</a:t>
            </a:r>
            <a:r>
              <a:rPr sz="2395" spc="133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30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33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136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&lt;</a:t>
            </a:r>
            <a:r>
              <a:rPr sz="2395" spc="136" dirty="0">
                <a:latin typeface="Cambria"/>
                <a:cs typeface="Cambria"/>
              </a:rPr>
              <a:t> </a:t>
            </a:r>
            <a:r>
              <a:rPr sz="2395" i="1" spc="-82" dirty="0">
                <a:latin typeface="Times New Roman"/>
                <a:cs typeface="Times New Roman"/>
              </a:rPr>
              <a:t>S</a:t>
            </a:r>
            <a:r>
              <a:rPr sz="2547" i="1" spc="-122" baseline="-19841" dirty="0">
                <a:latin typeface="Times New Roman"/>
                <a:cs typeface="Times New Roman"/>
              </a:rPr>
              <a:t>k</a:t>
            </a:r>
            <a:r>
              <a:rPr sz="2001" spc="-82" dirty="0">
                <a:latin typeface="Trebuchet MS"/>
                <a:cs typeface="Trebuchet MS"/>
              </a:rPr>
              <a:t>.</a:t>
            </a:r>
            <a:endParaRPr sz="2001">
              <a:latin typeface="Trebuchet MS"/>
              <a:cs typeface="Trebuchet MS"/>
            </a:endParaRPr>
          </a:p>
          <a:p>
            <a:pPr marL="23104">
              <a:spcBef>
                <a:spcPts val="255"/>
              </a:spcBef>
            </a:pPr>
            <a:r>
              <a:rPr sz="2001" spc="94" dirty="0">
                <a:latin typeface="Trebuchet MS"/>
                <a:cs typeface="Trebuchet MS"/>
              </a:rPr>
              <a:t>Can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61" dirty="0">
                <a:latin typeface="Trebuchet MS"/>
                <a:cs typeface="Trebuchet MS"/>
              </a:rPr>
              <a:t>alternatively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15" dirty="0">
                <a:latin typeface="Trebuchet MS"/>
                <a:cs typeface="Trebuchet MS"/>
              </a:rPr>
              <a:t>ensemble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395" i="1" spc="61" dirty="0">
                <a:latin typeface="Times New Roman"/>
                <a:cs typeface="Times New Roman"/>
              </a:rPr>
              <a:t>T</a:t>
            </a:r>
            <a:r>
              <a:rPr sz="2395" spc="61" dirty="0">
                <a:latin typeface="Cambria"/>
                <a:cs typeface="Cambria"/>
              </a:rPr>
              <a:t>,</a:t>
            </a:r>
            <a:r>
              <a:rPr sz="2395" spc="-124" dirty="0">
                <a:latin typeface="Cambria"/>
                <a:cs typeface="Cambria"/>
              </a:rPr>
              <a:t> </a:t>
            </a:r>
            <a:r>
              <a:rPr sz="2395" i="1" spc="-15" dirty="0">
                <a:latin typeface="Times New Roman"/>
                <a:cs typeface="Times New Roman"/>
              </a:rPr>
              <a:t>S</a:t>
            </a:r>
            <a:r>
              <a:rPr sz="2547" spc="-22" baseline="-19841" dirty="0">
                <a:latin typeface="Cambria"/>
                <a:cs typeface="Cambria"/>
              </a:rPr>
              <a:t>1</a:t>
            </a:r>
            <a:r>
              <a:rPr sz="2395" spc="-15" dirty="0">
                <a:latin typeface="Cambria"/>
                <a:cs typeface="Cambria"/>
              </a:rPr>
              <a:t>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-15" dirty="0">
                <a:latin typeface="Times New Roman"/>
                <a:cs typeface="Times New Roman"/>
              </a:rPr>
              <a:t>S</a:t>
            </a:r>
            <a:r>
              <a:rPr sz="2547" spc="-22" baseline="-19841" dirty="0">
                <a:latin typeface="Cambria"/>
                <a:cs typeface="Cambria"/>
              </a:rPr>
              <a:t>2</a:t>
            </a:r>
            <a:r>
              <a:rPr sz="2395" spc="-15" dirty="0">
                <a:latin typeface="Cambria"/>
                <a:cs typeface="Cambria"/>
              </a:rPr>
              <a:t>,</a:t>
            </a:r>
            <a:r>
              <a:rPr sz="2395" spc="-124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4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4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-36" dirty="0">
                <a:latin typeface="Times New Roman"/>
                <a:cs typeface="Times New Roman"/>
              </a:rPr>
              <a:t>S</a:t>
            </a:r>
            <a:r>
              <a:rPr sz="2547" i="1" spc="-54" baseline="-19841" dirty="0">
                <a:latin typeface="Times New Roman"/>
                <a:cs typeface="Times New Roman"/>
              </a:rPr>
              <a:t>k</a:t>
            </a:r>
            <a:r>
              <a:rPr sz="2547" i="1" spc="200" baseline="-19841" dirty="0">
                <a:latin typeface="Times New Roman"/>
                <a:cs typeface="Times New Roman"/>
              </a:rPr>
              <a:t> </a:t>
            </a:r>
            <a:r>
              <a:rPr sz="2001" spc="-45" dirty="0">
                <a:latin typeface="Trebuchet MS"/>
                <a:cs typeface="Trebuchet MS"/>
              </a:rPr>
              <a:t>to </a:t>
            </a:r>
            <a:r>
              <a:rPr sz="2001" spc="-15" dirty="0">
                <a:latin typeface="Trebuchet MS"/>
                <a:cs typeface="Trebuchet MS"/>
              </a:rPr>
              <a:t>get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dirty="0">
                <a:latin typeface="Trebuchet MS"/>
                <a:cs typeface="Trebuchet MS"/>
              </a:rPr>
              <a:t>even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69" dirty="0">
                <a:latin typeface="Trebuchet MS"/>
                <a:cs typeface="Trebuchet MS"/>
              </a:rPr>
              <a:t>better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24" dirty="0">
                <a:latin typeface="Trebuchet MS"/>
                <a:cs typeface="Trebuchet MS"/>
              </a:rPr>
              <a:t>performance.</a:t>
            </a:r>
            <a:endParaRPr sz="2001">
              <a:latin typeface="Trebuchet MS"/>
              <a:cs typeface="Trebuchet MS"/>
            </a:endParaRPr>
          </a:p>
          <a:p>
            <a:pPr marL="41587" algn="ctr">
              <a:spcBef>
                <a:spcPts val="940"/>
              </a:spcBef>
            </a:pPr>
            <a:r>
              <a:rPr sz="1182" spc="36" dirty="0">
                <a:solidFill>
                  <a:srgbClr val="5E5E5E"/>
                </a:solidFill>
                <a:latin typeface="Trebuchet MS"/>
                <a:cs typeface="Trebuchet MS"/>
              </a:rPr>
              <a:t>Born-Again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dirty="0">
                <a:solidFill>
                  <a:srgbClr val="5E5E5E"/>
                </a:solidFill>
                <a:latin typeface="Trebuchet MS"/>
                <a:cs typeface="Trebuchet MS"/>
              </a:rPr>
              <a:t>Neural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21" dirty="0">
                <a:solidFill>
                  <a:srgbClr val="5E5E5E"/>
                </a:solidFill>
                <a:latin typeface="Trebuchet MS"/>
                <a:cs typeface="Trebuchet MS"/>
              </a:rPr>
              <a:t>Networks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[Furlanello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49" dirty="0">
                <a:solidFill>
                  <a:srgbClr val="5E5E5E"/>
                </a:solidFill>
                <a:latin typeface="Trebuchet MS"/>
                <a:cs typeface="Trebuchet MS"/>
              </a:rPr>
              <a:t>et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67" dirty="0">
                <a:solidFill>
                  <a:srgbClr val="5E5E5E"/>
                </a:solidFill>
                <a:latin typeface="Trebuchet MS"/>
                <a:cs typeface="Trebuchet MS"/>
              </a:rPr>
              <a:t>al.,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03" dirty="0">
                <a:solidFill>
                  <a:srgbClr val="5E5E5E"/>
                </a:solidFill>
                <a:latin typeface="Trebuchet MS"/>
                <a:cs typeface="Trebuchet MS"/>
              </a:rPr>
              <a:t>ICML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2018]</a:t>
            </a:r>
            <a:endParaRPr sz="1182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098" y="5018978"/>
            <a:ext cx="124761" cy="1290800"/>
          </a:xfrm>
          <a:prstGeom prst="rect">
            <a:avLst/>
          </a:prstGeom>
        </p:spPr>
        <p:txBody>
          <a:bodyPr vert="horz" wrap="square" lIns="0" tIns="53909" rIns="0" bIns="0" rtlCol="0">
            <a:spAutoFit/>
          </a:bodyPr>
          <a:lstStyle/>
          <a:p>
            <a:pPr marL="7701">
              <a:spcBef>
                <a:spcPts val="424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  <a:p>
            <a:pPr marL="7701">
              <a:spcBef>
                <a:spcPts val="364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  <a:p>
            <a:pPr marL="7701">
              <a:spcBef>
                <a:spcPts val="367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28339" y="1498285"/>
            <a:ext cx="7280031" cy="2713935"/>
            <a:chOff x="4333621" y="2470783"/>
            <a:chExt cx="12005310" cy="44754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3621" y="2804019"/>
              <a:ext cx="11718171" cy="398584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722072" y="2470783"/>
              <a:ext cx="4617085" cy="4475480"/>
            </a:xfrm>
            <a:custGeom>
              <a:avLst/>
              <a:gdLst/>
              <a:ahLst/>
              <a:cxnLst/>
              <a:rect l="l" t="t" r="r" b="b"/>
              <a:pathLst>
                <a:path w="4617084" h="4475480">
                  <a:moveTo>
                    <a:pt x="4616744" y="0"/>
                  </a:moveTo>
                  <a:lnTo>
                    <a:pt x="0" y="0"/>
                  </a:lnTo>
                  <a:lnTo>
                    <a:pt x="0" y="4475089"/>
                  </a:lnTo>
                  <a:lnTo>
                    <a:pt x="4616744" y="4475089"/>
                  </a:lnTo>
                  <a:lnTo>
                    <a:pt x="4616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67975" y="6623570"/>
            <a:ext cx="185216" cy="184242"/>
          </a:xfrm>
          <a:prstGeom prst="rect">
            <a:avLst/>
          </a:prstGeom>
        </p:spPr>
        <p:txBody>
          <a:bodyPr vert="horz" wrap="square" lIns="0" tIns="2310" rIns="0" bIns="0" rtlCol="0">
            <a:spAutoFit/>
          </a:bodyPr>
          <a:lstStyle/>
          <a:p>
            <a:pPr marL="7701">
              <a:spcBef>
                <a:spcPts val="18"/>
              </a:spcBef>
            </a:pPr>
            <a:r>
              <a:rPr sz="1182" spc="45" dirty="0">
                <a:solidFill>
                  <a:srgbClr val="FFFFFF"/>
                </a:solidFill>
                <a:latin typeface="Trebuchet MS"/>
                <a:cs typeface="Trebuchet MS"/>
              </a:rPr>
              <a:t>32</a:t>
            </a:r>
            <a:endParaRPr sz="1182">
              <a:latin typeface="Trebuchet MS"/>
              <a:cs typeface="Trebuchet M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083CA9F-05DD-5886-D38E-EF554194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F84F-0FC8-428E-AB03-8AE077A9E728}" type="slidenum">
              <a:rPr lang="en-US" smtClean="0"/>
              <a:t>39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81A6FA6-21BF-3485-AA91-E1B3FF81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149D-0EC5-4A0C-B1C4-7B0D62838CF1}" type="datetime1">
              <a:rPr lang="en-US" smtClean="0"/>
              <a:t>12/3/2025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197985E-13F8-BC75-ACC7-4E153768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098" y="240164"/>
            <a:ext cx="9109472" cy="562163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spcBef>
                <a:spcPts val="64"/>
              </a:spcBef>
            </a:pPr>
            <a:r>
              <a:rPr lang="en-US" dirty="0"/>
              <a:t>3. Self-distillation</a:t>
            </a:r>
            <a:endParaRPr spc="-61" dirty="0"/>
          </a:p>
        </p:txBody>
      </p:sp>
      <p:sp>
        <p:nvSpPr>
          <p:cNvPr id="3" name="object 3"/>
          <p:cNvSpPr txBox="1"/>
          <p:nvPr/>
        </p:nvSpPr>
        <p:spPr>
          <a:xfrm>
            <a:off x="688474" y="4385386"/>
            <a:ext cx="10773337" cy="2180032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/>
          <a:p>
            <a:pPr marL="23104" marR="18483">
              <a:lnSpc>
                <a:spcPct val="102000"/>
              </a:lnSpc>
              <a:spcBef>
                <a:spcPts val="9"/>
              </a:spcBef>
            </a:pPr>
            <a:r>
              <a:rPr sz="2001" spc="45" dirty="0">
                <a:latin typeface="Trebuchet MS"/>
                <a:cs typeface="Trebuchet MS"/>
              </a:rPr>
              <a:t>Born-Again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spc="21" dirty="0">
                <a:latin typeface="Trebuchet MS"/>
                <a:cs typeface="Trebuchet MS"/>
              </a:rPr>
              <a:t>Networks</a:t>
            </a:r>
            <a:r>
              <a:rPr sz="2001" spc="-39" dirty="0">
                <a:latin typeface="Trebuchet MS"/>
                <a:cs typeface="Trebuchet MS"/>
              </a:rPr>
              <a:t> </a:t>
            </a:r>
            <a:r>
              <a:rPr sz="2001" b="1" spc="-3" dirty="0">
                <a:latin typeface="Arial"/>
                <a:cs typeface="Arial"/>
              </a:rPr>
              <a:t>adds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dirty="0">
                <a:latin typeface="Arial"/>
                <a:cs typeface="Arial"/>
              </a:rPr>
              <a:t>iterative</a:t>
            </a:r>
            <a:r>
              <a:rPr sz="2001" b="1" spc="6" dirty="0">
                <a:latin typeface="Arial"/>
                <a:cs typeface="Arial"/>
              </a:rPr>
              <a:t> </a:t>
            </a:r>
            <a:r>
              <a:rPr sz="2001" b="1" spc="-12" dirty="0">
                <a:latin typeface="Arial"/>
                <a:cs typeface="Arial"/>
              </a:rPr>
              <a:t>training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spc="3" dirty="0">
                <a:latin typeface="Arial"/>
                <a:cs typeface="Arial"/>
              </a:rPr>
              <a:t>stages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spc="36" dirty="0">
                <a:latin typeface="Trebuchet MS"/>
                <a:cs typeface="Trebuchet MS"/>
              </a:rPr>
              <a:t>and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001" b="1" spc="-33" dirty="0">
                <a:latin typeface="Arial"/>
                <a:cs typeface="Arial"/>
              </a:rPr>
              <a:t>using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dirty="0">
                <a:latin typeface="Arial"/>
                <a:cs typeface="Arial"/>
              </a:rPr>
              <a:t>both</a:t>
            </a:r>
            <a:r>
              <a:rPr sz="2001" b="1" spc="9" dirty="0">
                <a:latin typeface="Arial"/>
                <a:cs typeface="Arial"/>
              </a:rPr>
              <a:t> </a:t>
            </a:r>
            <a:r>
              <a:rPr sz="2001" b="1" spc="-6" dirty="0">
                <a:latin typeface="Arial"/>
                <a:cs typeface="Arial"/>
              </a:rPr>
              <a:t>classification</a:t>
            </a:r>
            <a:r>
              <a:rPr sz="2001" b="1" spc="6" dirty="0">
                <a:latin typeface="Arial"/>
                <a:cs typeface="Arial"/>
              </a:rPr>
              <a:t> </a:t>
            </a:r>
            <a:r>
              <a:rPr sz="2001" b="1" spc="3" dirty="0">
                <a:latin typeface="Arial"/>
                <a:cs typeface="Arial"/>
              </a:rPr>
              <a:t>objective </a:t>
            </a:r>
            <a:r>
              <a:rPr sz="2001" b="1" spc="-546" dirty="0">
                <a:latin typeface="Arial"/>
                <a:cs typeface="Arial"/>
              </a:rPr>
              <a:t> </a:t>
            </a:r>
            <a:r>
              <a:rPr sz="2001" b="1" spc="-3" dirty="0">
                <a:latin typeface="Arial"/>
                <a:cs typeface="Arial"/>
              </a:rPr>
              <a:t>and </a:t>
            </a:r>
            <a:r>
              <a:rPr sz="2001" b="1" spc="-15" dirty="0">
                <a:latin typeface="Arial"/>
                <a:cs typeface="Arial"/>
              </a:rPr>
              <a:t>distillation</a:t>
            </a:r>
            <a:r>
              <a:rPr sz="2001" b="1" dirty="0">
                <a:latin typeface="Arial"/>
                <a:cs typeface="Arial"/>
              </a:rPr>
              <a:t> </a:t>
            </a:r>
            <a:r>
              <a:rPr sz="2001" b="1" spc="3" dirty="0">
                <a:latin typeface="Arial"/>
                <a:cs typeface="Arial"/>
              </a:rPr>
              <a:t>objective</a:t>
            </a:r>
            <a:r>
              <a:rPr sz="2001" b="1" dirty="0">
                <a:latin typeface="Arial"/>
                <a:cs typeface="Arial"/>
              </a:rPr>
              <a:t> </a:t>
            </a:r>
            <a:r>
              <a:rPr sz="2001" spc="-55" dirty="0">
                <a:latin typeface="Trebuchet MS"/>
                <a:cs typeface="Trebuchet MS"/>
              </a:rPr>
              <a:t>in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36" dirty="0">
                <a:latin typeface="Trebuchet MS"/>
                <a:cs typeface="Trebuchet MS"/>
              </a:rPr>
              <a:t>subsequent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24" dirty="0">
                <a:latin typeface="Trebuchet MS"/>
                <a:cs typeface="Trebuchet MS"/>
              </a:rPr>
              <a:t>stages.</a:t>
            </a:r>
            <a:endParaRPr sz="2001">
              <a:latin typeface="Trebuchet MS"/>
              <a:cs typeface="Trebuchet MS"/>
            </a:endParaRPr>
          </a:p>
          <a:p>
            <a:pPr marL="23104" marR="5470604">
              <a:lnSpc>
                <a:spcPts val="3311"/>
              </a:lnSpc>
              <a:spcBef>
                <a:spcPts val="45"/>
              </a:spcBef>
              <a:tabLst>
                <a:tab pos="3041235" algn="l"/>
                <a:tab pos="3347361" algn="l"/>
                <a:tab pos="3673511" algn="l"/>
                <a:tab pos="3979251" algn="l"/>
              </a:tabLst>
            </a:pPr>
            <a:r>
              <a:rPr sz="2001" dirty="0">
                <a:latin typeface="Trebuchet MS"/>
                <a:cs typeface="Trebuchet MS"/>
              </a:rPr>
              <a:t>Network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52" dirty="0">
                <a:latin typeface="Trebuchet MS"/>
                <a:cs typeface="Trebuchet MS"/>
              </a:rPr>
              <a:t>a</a:t>
            </a:r>
            <a:r>
              <a:rPr sz="2001" spc="-76" dirty="0">
                <a:latin typeface="Trebuchet MS"/>
                <a:cs typeface="Trebuchet MS"/>
              </a:rPr>
              <a:t>r</a:t>
            </a:r>
            <a:r>
              <a:rPr sz="2001" spc="-45" dirty="0">
                <a:latin typeface="Trebuchet MS"/>
                <a:cs typeface="Trebuchet MS"/>
              </a:rPr>
              <a:t>chitectu</a:t>
            </a:r>
            <a:r>
              <a:rPr sz="2001" spc="-73" dirty="0">
                <a:latin typeface="Trebuchet MS"/>
                <a:cs typeface="Trebuchet MS"/>
              </a:rPr>
              <a:t>r</a:t>
            </a:r>
            <a:r>
              <a:rPr sz="2001" spc="-18" dirty="0">
                <a:latin typeface="Trebuchet MS"/>
                <a:cs typeface="Trebuchet MS"/>
              </a:rPr>
              <a:t>e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395" i="1" spc="9" dirty="0">
                <a:latin typeface="Times New Roman"/>
                <a:cs typeface="Times New Roman"/>
              </a:rPr>
              <a:t>T</a:t>
            </a:r>
            <a:r>
              <a:rPr sz="2395" i="1" spc="69" dirty="0">
                <a:latin typeface="Times New Roman"/>
                <a:cs typeface="Times New Roman"/>
              </a:rPr>
              <a:t> 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i="1" spc="-76" dirty="0">
                <a:latin typeface="Times New Roman"/>
                <a:cs typeface="Times New Roman"/>
              </a:rPr>
              <a:t>S</a:t>
            </a:r>
            <a:r>
              <a:rPr sz="2547" spc="-127" baseline="-19841" dirty="0">
                <a:latin typeface="Cambria"/>
                <a:cs typeface="Cambria"/>
              </a:rPr>
              <a:t>1</a:t>
            </a:r>
            <a:r>
              <a:rPr sz="2547" baseline="-19841" dirty="0">
                <a:latin typeface="Cambria"/>
                <a:cs typeface="Cambria"/>
              </a:rPr>
              <a:t>	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i="1" spc="-76" dirty="0">
                <a:latin typeface="Times New Roman"/>
                <a:cs typeface="Times New Roman"/>
              </a:rPr>
              <a:t>S</a:t>
            </a:r>
            <a:r>
              <a:rPr sz="2547" spc="-127" baseline="-19841" dirty="0">
                <a:latin typeface="Cambria"/>
                <a:cs typeface="Cambria"/>
              </a:rPr>
              <a:t>2</a:t>
            </a:r>
            <a:r>
              <a:rPr sz="2547" baseline="-19841" dirty="0">
                <a:latin typeface="Cambria"/>
                <a:cs typeface="Cambria"/>
              </a:rPr>
              <a:t>	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=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i="1" spc="-76" dirty="0">
                <a:latin typeface="Times New Roman"/>
                <a:cs typeface="Times New Roman"/>
              </a:rPr>
              <a:t>S</a:t>
            </a:r>
            <a:r>
              <a:rPr sz="2547" i="1" spc="9" baseline="-19841" dirty="0">
                <a:latin typeface="Times New Roman"/>
                <a:cs typeface="Times New Roman"/>
              </a:rPr>
              <a:t>k</a:t>
            </a:r>
            <a:r>
              <a:rPr sz="2001" spc="-158" dirty="0">
                <a:latin typeface="Trebuchet MS"/>
                <a:cs typeface="Trebuchet MS"/>
              </a:rPr>
              <a:t>.  </a:t>
            </a:r>
            <a:r>
              <a:rPr sz="2001" dirty="0">
                <a:latin typeface="Trebuchet MS"/>
                <a:cs typeface="Trebuchet MS"/>
              </a:rPr>
              <a:t>Network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24" dirty="0">
                <a:latin typeface="Trebuchet MS"/>
                <a:cs typeface="Trebuchet MS"/>
              </a:rPr>
              <a:t>accuracy</a:t>
            </a:r>
            <a:r>
              <a:rPr sz="2001" spc="-42" dirty="0">
                <a:latin typeface="Trebuchet MS"/>
                <a:cs typeface="Trebuchet MS"/>
              </a:rPr>
              <a:t> </a:t>
            </a:r>
            <a:r>
              <a:rPr sz="2395" i="1" spc="9" dirty="0">
                <a:latin typeface="Times New Roman"/>
                <a:cs typeface="Times New Roman"/>
              </a:rPr>
              <a:t>T</a:t>
            </a:r>
            <a:r>
              <a:rPr sz="2395" i="1" spc="76" dirty="0">
                <a:latin typeface="Times New Roman"/>
                <a:cs typeface="Times New Roman"/>
              </a:rPr>
              <a:t> </a:t>
            </a:r>
            <a:r>
              <a:rPr sz="2395" spc="327" dirty="0">
                <a:latin typeface="Cambria"/>
                <a:cs typeface="Cambria"/>
              </a:rPr>
              <a:t>&lt;</a:t>
            </a:r>
            <a:r>
              <a:rPr sz="2395" spc="149" dirty="0">
                <a:latin typeface="Cambria"/>
                <a:cs typeface="Cambria"/>
              </a:rPr>
              <a:t> </a:t>
            </a:r>
            <a:r>
              <a:rPr sz="2395" i="1" spc="-79" dirty="0">
                <a:latin typeface="Times New Roman"/>
                <a:cs typeface="Times New Roman"/>
              </a:rPr>
              <a:t>S</a:t>
            </a:r>
            <a:r>
              <a:rPr sz="2547" spc="-118" baseline="-19841" dirty="0">
                <a:latin typeface="Cambria"/>
                <a:cs typeface="Cambria"/>
              </a:rPr>
              <a:t>1	</a:t>
            </a:r>
            <a:r>
              <a:rPr sz="2395" spc="327" dirty="0">
                <a:latin typeface="Cambria"/>
                <a:cs typeface="Cambria"/>
              </a:rPr>
              <a:t>&lt;</a:t>
            </a:r>
            <a:r>
              <a:rPr sz="2395" spc="143" dirty="0">
                <a:latin typeface="Cambria"/>
                <a:cs typeface="Cambria"/>
              </a:rPr>
              <a:t> </a:t>
            </a:r>
            <a:r>
              <a:rPr sz="2395" i="1" spc="-79" dirty="0">
                <a:latin typeface="Times New Roman"/>
                <a:cs typeface="Times New Roman"/>
              </a:rPr>
              <a:t>S</a:t>
            </a:r>
            <a:r>
              <a:rPr sz="2547" spc="-118" baseline="-19841" dirty="0">
                <a:latin typeface="Cambria"/>
                <a:cs typeface="Cambria"/>
              </a:rPr>
              <a:t>2	</a:t>
            </a:r>
            <a:r>
              <a:rPr sz="2395" spc="327" dirty="0">
                <a:latin typeface="Cambria"/>
                <a:cs typeface="Cambria"/>
              </a:rPr>
              <a:t>&lt;</a:t>
            </a:r>
            <a:r>
              <a:rPr sz="2395" spc="133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30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33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136" dirty="0">
                <a:latin typeface="Cambria"/>
                <a:cs typeface="Cambria"/>
              </a:rPr>
              <a:t> </a:t>
            </a:r>
            <a:r>
              <a:rPr sz="2395" spc="327" dirty="0">
                <a:latin typeface="Cambria"/>
                <a:cs typeface="Cambria"/>
              </a:rPr>
              <a:t>&lt;</a:t>
            </a:r>
            <a:r>
              <a:rPr sz="2395" spc="136" dirty="0">
                <a:latin typeface="Cambria"/>
                <a:cs typeface="Cambria"/>
              </a:rPr>
              <a:t> </a:t>
            </a:r>
            <a:r>
              <a:rPr sz="2395" i="1" spc="-82" dirty="0">
                <a:latin typeface="Times New Roman"/>
                <a:cs typeface="Times New Roman"/>
              </a:rPr>
              <a:t>S</a:t>
            </a:r>
            <a:r>
              <a:rPr sz="2547" i="1" spc="-122" baseline="-19841" dirty="0">
                <a:latin typeface="Times New Roman"/>
                <a:cs typeface="Times New Roman"/>
              </a:rPr>
              <a:t>k</a:t>
            </a:r>
            <a:r>
              <a:rPr sz="2001" spc="-82" dirty="0">
                <a:latin typeface="Trebuchet MS"/>
                <a:cs typeface="Trebuchet MS"/>
              </a:rPr>
              <a:t>.</a:t>
            </a:r>
            <a:endParaRPr sz="2001">
              <a:latin typeface="Trebuchet MS"/>
              <a:cs typeface="Trebuchet MS"/>
            </a:endParaRPr>
          </a:p>
          <a:p>
            <a:pPr marL="23104">
              <a:spcBef>
                <a:spcPts val="255"/>
              </a:spcBef>
            </a:pPr>
            <a:r>
              <a:rPr sz="2001" spc="94" dirty="0">
                <a:latin typeface="Trebuchet MS"/>
                <a:cs typeface="Trebuchet MS"/>
              </a:rPr>
              <a:t>Can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61" dirty="0">
                <a:latin typeface="Trebuchet MS"/>
                <a:cs typeface="Trebuchet MS"/>
              </a:rPr>
              <a:t>alternatively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15" dirty="0">
                <a:latin typeface="Trebuchet MS"/>
                <a:cs typeface="Trebuchet MS"/>
              </a:rPr>
              <a:t>ensemble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395" i="1" spc="61" dirty="0">
                <a:latin typeface="Times New Roman"/>
                <a:cs typeface="Times New Roman"/>
              </a:rPr>
              <a:t>T</a:t>
            </a:r>
            <a:r>
              <a:rPr sz="2395" spc="61" dirty="0">
                <a:latin typeface="Cambria"/>
                <a:cs typeface="Cambria"/>
              </a:rPr>
              <a:t>,</a:t>
            </a:r>
            <a:r>
              <a:rPr sz="2395" spc="-124" dirty="0">
                <a:latin typeface="Cambria"/>
                <a:cs typeface="Cambria"/>
              </a:rPr>
              <a:t> </a:t>
            </a:r>
            <a:r>
              <a:rPr sz="2395" i="1" spc="-15" dirty="0">
                <a:latin typeface="Times New Roman"/>
                <a:cs typeface="Times New Roman"/>
              </a:rPr>
              <a:t>S</a:t>
            </a:r>
            <a:r>
              <a:rPr sz="2547" spc="-22" baseline="-19841" dirty="0">
                <a:latin typeface="Cambria"/>
                <a:cs typeface="Cambria"/>
              </a:rPr>
              <a:t>1</a:t>
            </a:r>
            <a:r>
              <a:rPr sz="2395" spc="-15" dirty="0">
                <a:latin typeface="Cambria"/>
                <a:cs typeface="Cambria"/>
              </a:rPr>
              <a:t>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-15" dirty="0">
                <a:latin typeface="Times New Roman"/>
                <a:cs typeface="Times New Roman"/>
              </a:rPr>
              <a:t>S</a:t>
            </a:r>
            <a:r>
              <a:rPr sz="2547" spc="-22" baseline="-19841" dirty="0">
                <a:latin typeface="Cambria"/>
                <a:cs typeface="Cambria"/>
              </a:rPr>
              <a:t>2</a:t>
            </a:r>
            <a:r>
              <a:rPr sz="2395" spc="-15" dirty="0">
                <a:latin typeface="Cambria"/>
                <a:cs typeface="Cambria"/>
              </a:rPr>
              <a:t>,</a:t>
            </a:r>
            <a:r>
              <a:rPr sz="2395" spc="-124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4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.</a:t>
            </a:r>
            <a:r>
              <a:rPr sz="2395" spc="-124" dirty="0">
                <a:latin typeface="Cambria"/>
                <a:cs typeface="Cambria"/>
              </a:rPr>
              <a:t> </a:t>
            </a:r>
            <a:r>
              <a:rPr sz="2395" spc="112" dirty="0">
                <a:latin typeface="Cambria"/>
                <a:cs typeface="Cambria"/>
              </a:rPr>
              <a:t>,</a:t>
            </a:r>
            <a:r>
              <a:rPr sz="2395" spc="-127" dirty="0">
                <a:latin typeface="Cambria"/>
                <a:cs typeface="Cambria"/>
              </a:rPr>
              <a:t> </a:t>
            </a:r>
            <a:r>
              <a:rPr sz="2395" i="1" spc="-36" dirty="0">
                <a:latin typeface="Times New Roman"/>
                <a:cs typeface="Times New Roman"/>
              </a:rPr>
              <a:t>S</a:t>
            </a:r>
            <a:r>
              <a:rPr sz="2547" i="1" spc="-54" baseline="-19841" dirty="0">
                <a:latin typeface="Times New Roman"/>
                <a:cs typeface="Times New Roman"/>
              </a:rPr>
              <a:t>k</a:t>
            </a:r>
            <a:r>
              <a:rPr sz="2547" i="1" spc="200" baseline="-19841" dirty="0">
                <a:latin typeface="Times New Roman"/>
                <a:cs typeface="Times New Roman"/>
              </a:rPr>
              <a:t> </a:t>
            </a:r>
            <a:r>
              <a:rPr sz="2001" spc="-45" dirty="0">
                <a:latin typeface="Trebuchet MS"/>
                <a:cs typeface="Trebuchet MS"/>
              </a:rPr>
              <a:t>to </a:t>
            </a:r>
            <a:r>
              <a:rPr sz="2001" spc="-15" dirty="0">
                <a:latin typeface="Trebuchet MS"/>
                <a:cs typeface="Trebuchet MS"/>
              </a:rPr>
              <a:t>get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dirty="0">
                <a:latin typeface="Trebuchet MS"/>
                <a:cs typeface="Trebuchet MS"/>
              </a:rPr>
              <a:t>even</a:t>
            </a:r>
            <a:r>
              <a:rPr sz="2001" spc="-45" dirty="0">
                <a:latin typeface="Trebuchet MS"/>
                <a:cs typeface="Trebuchet MS"/>
              </a:rPr>
              <a:t> </a:t>
            </a:r>
            <a:r>
              <a:rPr sz="2001" spc="-69" dirty="0">
                <a:latin typeface="Trebuchet MS"/>
                <a:cs typeface="Trebuchet MS"/>
              </a:rPr>
              <a:t>better</a:t>
            </a:r>
            <a:r>
              <a:rPr sz="2001" spc="-49" dirty="0">
                <a:latin typeface="Trebuchet MS"/>
                <a:cs typeface="Trebuchet MS"/>
              </a:rPr>
              <a:t> </a:t>
            </a:r>
            <a:r>
              <a:rPr sz="2001" spc="-24" dirty="0">
                <a:latin typeface="Trebuchet MS"/>
                <a:cs typeface="Trebuchet MS"/>
              </a:rPr>
              <a:t>performance.</a:t>
            </a:r>
            <a:endParaRPr sz="2001">
              <a:latin typeface="Trebuchet MS"/>
              <a:cs typeface="Trebuchet MS"/>
            </a:endParaRPr>
          </a:p>
          <a:p>
            <a:pPr marL="41587" algn="ctr">
              <a:spcBef>
                <a:spcPts val="940"/>
              </a:spcBef>
            </a:pPr>
            <a:r>
              <a:rPr sz="1182" spc="36" dirty="0">
                <a:solidFill>
                  <a:srgbClr val="5E5E5E"/>
                </a:solidFill>
                <a:latin typeface="Trebuchet MS"/>
                <a:cs typeface="Trebuchet MS"/>
              </a:rPr>
              <a:t>Born-Again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dirty="0">
                <a:solidFill>
                  <a:srgbClr val="5E5E5E"/>
                </a:solidFill>
                <a:latin typeface="Trebuchet MS"/>
                <a:cs typeface="Trebuchet MS"/>
              </a:rPr>
              <a:t>Neural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21" dirty="0">
                <a:solidFill>
                  <a:srgbClr val="5E5E5E"/>
                </a:solidFill>
                <a:latin typeface="Trebuchet MS"/>
                <a:cs typeface="Trebuchet MS"/>
              </a:rPr>
              <a:t>Networks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24" dirty="0">
                <a:solidFill>
                  <a:srgbClr val="5E5E5E"/>
                </a:solidFill>
                <a:latin typeface="Trebuchet MS"/>
                <a:cs typeface="Trebuchet MS"/>
              </a:rPr>
              <a:t>[Furlanello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49" dirty="0">
                <a:solidFill>
                  <a:srgbClr val="5E5E5E"/>
                </a:solidFill>
                <a:latin typeface="Trebuchet MS"/>
                <a:cs typeface="Trebuchet MS"/>
              </a:rPr>
              <a:t>et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-67" dirty="0">
                <a:solidFill>
                  <a:srgbClr val="5E5E5E"/>
                </a:solidFill>
                <a:latin typeface="Trebuchet MS"/>
                <a:cs typeface="Trebuchet MS"/>
              </a:rPr>
              <a:t>al.,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03" dirty="0">
                <a:solidFill>
                  <a:srgbClr val="5E5E5E"/>
                </a:solidFill>
                <a:latin typeface="Trebuchet MS"/>
                <a:cs typeface="Trebuchet MS"/>
              </a:rPr>
              <a:t>ICML</a:t>
            </a:r>
            <a:r>
              <a:rPr sz="1182" spc="-2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182" spc="12" dirty="0">
                <a:solidFill>
                  <a:srgbClr val="5E5E5E"/>
                </a:solidFill>
                <a:latin typeface="Trebuchet MS"/>
                <a:cs typeface="Trebuchet MS"/>
              </a:rPr>
              <a:t>2018]</a:t>
            </a:r>
            <a:endParaRPr sz="1182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340" y="1700359"/>
            <a:ext cx="7105909" cy="24170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9098" y="4343426"/>
            <a:ext cx="124761" cy="386089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098" y="5018978"/>
            <a:ext cx="124761" cy="1290800"/>
          </a:xfrm>
          <a:prstGeom prst="rect">
            <a:avLst/>
          </a:prstGeom>
        </p:spPr>
        <p:txBody>
          <a:bodyPr vert="horz" wrap="square" lIns="0" tIns="53909" rIns="0" bIns="0" rtlCol="0">
            <a:spAutoFit/>
          </a:bodyPr>
          <a:lstStyle/>
          <a:p>
            <a:pPr marL="7701">
              <a:spcBef>
                <a:spcPts val="424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  <a:p>
            <a:pPr marL="7701">
              <a:spcBef>
                <a:spcPts val="364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  <a:p>
            <a:pPr marL="7701">
              <a:spcBef>
                <a:spcPts val="367"/>
              </a:spcBef>
            </a:pPr>
            <a:r>
              <a:rPr sz="2456" spc="-428" dirty="0">
                <a:latin typeface="Trebuchet MS"/>
                <a:cs typeface="Trebuchet MS"/>
              </a:rPr>
              <a:t>•</a:t>
            </a:r>
            <a:endParaRPr sz="2456">
              <a:latin typeface="Trebuchet MS"/>
              <a:cs typeface="Trebuchet M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E33344-79FB-64DC-8348-6DE6B2D8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F84F-0FC8-428E-AB03-8AE077A9E728}" type="slidenum">
              <a:rPr lang="en-US" smtClean="0"/>
              <a:t>40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5C79C3-AA43-1020-42D2-5F7B4619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BAD3-0494-4BA8-BF8F-DFC9E56F72E8}" type="datetime1">
              <a:rPr lang="en-US" smtClean="0"/>
              <a:t>12/3/2025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5BFFD6F-907A-55F3-2216-DA18BE64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CA8291-6209-7778-1596-7FB305C15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design of the student-teacher network architecture is critical for efficient knowledge acquisition and distillation. </a:t>
            </a:r>
          </a:p>
          <a:p>
            <a:r>
              <a:rPr lang="en-US" dirty="0"/>
              <a:t>Model capacity gap exists between the more complex teacher model and the student model.</a:t>
            </a:r>
          </a:p>
          <a:p>
            <a:r>
              <a:rPr lang="en-US" dirty="0"/>
              <a:t>Efficient student-teacher architectures are needed for optimizing knowledge transfer.</a:t>
            </a:r>
          </a:p>
          <a:p>
            <a:r>
              <a:rPr lang="en-US" dirty="0"/>
              <a:t>Transferring knowledge from deep neural networks is not straightforward due to their depth as well as breadth.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AC4C9-4879-97E4-3429-6A7F2C5C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DF9E1-BA29-4C45-AFE9-BBA90E59F1DE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2F188-A27B-8FB2-22A0-EE3E9B16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A62AE-089B-B0E8-9AED-DB168987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EBFD4A-02AC-82B6-2AF2-50E80035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Designs for KD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CD4FB-02E4-D158-1CDE-A2EF76B23114}"/>
              </a:ext>
            </a:extLst>
          </p:cNvPr>
          <p:cNvSpPr txBox="1"/>
          <p:nvPr/>
        </p:nvSpPr>
        <p:spPr>
          <a:xfrm>
            <a:off x="838200" y="5553670"/>
            <a:ext cx="11332029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F22B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Model capacity</a:t>
            </a:r>
            <a:r>
              <a:rPr lang="en-US" sz="2400" dirty="0">
                <a:solidFill>
                  <a:srgbClr val="0070C0"/>
                </a:solidFill>
              </a:rPr>
              <a:t> refers to a model's ability to capture and represent different patterns or relationships in the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4157255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9D4EB3-FC46-C19F-10B4-D25B00E79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most common architectures for knowledge transfer include a student model that is: </a:t>
            </a:r>
          </a:p>
          <a:p>
            <a:pPr lvl="1"/>
            <a:r>
              <a:rPr lang="en-US" dirty="0"/>
              <a:t>a shallower version of the teacher model with fewer layers and fewer neurons per layer</a:t>
            </a:r>
          </a:p>
          <a:p>
            <a:pPr lvl="1"/>
            <a:r>
              <a:rPr lang="en-US" dirty="0"/>
              <a:t>a quantized version of the teacher model, </a:t>
            </a:r>
          </a:p>
          <a:p>
            <a:pPr lvl="1"/>
            <a:r>
              <a:rPr lang="en-US" dirty="0"/>
              <a:t>a smaller network with efficient basic operations,</a:t>
            </a:r>
          </a:p>
          <a:p>
            <a:pPr lvl="1"/>
            <a:r>
              <a:rPr lang="en-US" dirty="0"/>
              <a:t>a smaller network with optimized network architecture,</a:t>
            </a:r>
          </a:p>
          <a:p>
            <a:pPr lvl="1"/>
            <a:r>
              <a:rPr lang="en-US" dirty="0"/>
              <a:t>the same model as the teacher. 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497885-A416-001A-325F-BFEE2DBE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AC8D4-AB50-4F04-92CA-8FD2FEA32E34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08B01-AB47-5B2A-F090-F427808D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018C3-B11B-01BA-A3DC-1FAE206C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865307-3B4D-883C-AD1A-B5BF3744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Designs for KD</a:t>
            </a:r>
          </a:p>
        </p:txBody>
      </p:sp>
    </p:spTree>
    <p:extLst>
      <p:ext uri="{BB962C8B-B14F-4D97-AF65-F5344CB8AC3E}">
        <p14:creationId xmlns:p14="http://schemas.microsoft.com/office/powerpoint/2010/main" val="40884226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5BBF8A-73C9-03F2-22D1-9CA1A7F7D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1614" y="2022792"/>
            <a:ext cx="5448772" cy="368077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96284-90B8-3AA2-6D3C-9C1251A0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BE8E-DD4B-4D4F-8FDD-C17757029A30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25FCD-1D54-B1FD-D56F-99A9E087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FAA72-D947-F99A-CBE6-6F27D5C6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C041ABE-B768-3BDE-D9B4-3D6E8240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Designs for KD</a:t>
            </a:r>
          </a:p>
        </p:txBody>
      </p:sp>
    </p:spTree>
    <p:extLst>
      <p:ext uri="{BB962C8B-B14F-4D97-AF65-F5344CB8AC3E}">
        <p14:creationId xmlns:p14="http://schemas.microsoft.com/office/powerpoint/2010/main" val="2391616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6236CE-ED15-ED5F-1D66-389E879EB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Adversarial learning is used to train GANs</a:t>
            </a:r>
          </a:p>
          <a:p>
            <a:r>
              <a:rPr lang="en-US" dirty="0"/>
              <a:t>This concept can be applied to knowledge distillation to enable the student and teacher models to learn a better representation of the true data distribution. </a:t>
            </a:r>
          </a:p>
          <a:p>
            <a:r>
              <a:rPr lang="en-US" dirty="0"/>
              <a:t>A Generator model is used to generate synthetic training data </a:t>
            </a:r>
          </a:p>
          <a:p>
            <a:r>
              <a:rPr lang="en-US" dirty="0"/>
              <a:t>An adversarial learning based distillation method used on discriminator model to differentiate the samples from the student and the teacher models based on either logits or feature maps. </a:t>
            </a:r>
          </a:p>
          <a:p>
            <a:r>
              <a:rPr lang="en-US" dirty="0"/>
              <a:t>This method helps the student mimic the teacher well. </a:t>
            </a:r>
          </a:p>
          <a:p>
            <a:r>
              <a:rPr lang="en-US" dirty="0"/>
              <a:t>The third adversarial learning-based distillation technique focuses on online distillation where the student and the teacher models are jointly optimized.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44478-F756-25BE-1D3D-558B25992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3ACA7-14A0-446B-A185-1CFBAE6FD024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E236C-DB5C-6974-3ADC-185A31569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FBD48-3C8F-ECB4-641F-7321C00D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4E28E6-FBE6-4F3B-511B-883722E0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KD: 1. Adversarial distillation</a:t>
            </a:r>
          </a:p>
        </p:txBody>
      </p:sp>
    </p:spTree>
    <p:extLst>
      <p:ext uri="{BB962C8B-B14F-4D97-AF65-F5344CB8AC3E}">
        <p14:creationId xmlns:p14="http://schemas.microsoft.com/office/powerpoint/2010/main" val="1635629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4EBE83-F9D2-E277-FD40-342626D463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405" y="2144090"/>
            <a:ext cx="5044595" cy="433291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BAF-3C8A-75AB-F2D3-924BE1FA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96E9-7CE2-4625-9F56-DCA0AD1F771D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F57C0-0C5A-A0BA-7A66-6074AB60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D287B-904B-195A-4B55-DE8E261C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9D1DED-5E42-E8C9-A6C0-07B352E62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KD: 1. Adversarial distillation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4FEA25-9A41-1CF3-2A91-5F5E2731B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76400"/>
            <a:ext cx="3231160" cy="5105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395866-A153-15A9-40AC-AAB4027E5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594619"/>
            <a:ext cx="5502117" cy="8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763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5112CC-8EA9-B5F1-E583-DF9A59B39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student model acquires knowledge from several different teacher models </a:t>
            </a:r>
          </a:p>
          <a:p>
            <a:r>
              <a:rPr lang="en-US" dirty="0"/>
              <a:t>Using an ensemble of teacher models can provide the student model with distinct kinds of knowledge </a:t>
            </a:r>
          </a:p>
          <a:p>
            <a:r>
              <a:rPr lang="en-US" dirty="0"/>
              <a:t>More beneficial than knowledge acquired from a single teacher model. </a:t>
            </a:r>
          </a:p>
          <a:p>
            <a:r>
              <a:rPr lang="en-US" dirty="0"/>
              <a:t>The knowledge from multiple teachers can be combined as the average response across all models. </a:t>
            </a:r>
          </a:p>
          <a:p>
            <a:r>
              <a:rPr lang="en-US" dirty="0"/>
              <a:t>Teacher’s logits or feature representations.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78B78-BCD0-86E1-0460-E779989D7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646C-2305-404C-B65C-20B1B173C6DD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0636C-F513-340D-FEC4-DEF26966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857A7-334E-4506-E345-1FB45816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F69AF5A-E970-9D0B-A5D2-27B8F8D5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KD:2. Multi-Teacher distillation</a:t>
            </a:r>
          </a:p>
        </p:txBody>
      </p:sp>
    </p:spTree>
    <p:extLst>
      <p:ext uri="{BB962C8B-B14F-4D97-AF65-F5344CB8AC3E}">
        <p14:creationId xmlns:p14="http://schemas.microsoft.com/office/powerpoint/2010/main" val="1471646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01F00-79D3-E09E-925E-625E2BB8A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E264-7BCF-4D19-B68D-706B8AF2DE5E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8E6B1-16AC-C77B-C45E-752CADA1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D9FBC-FD79-9EB1-0F31-E1C2EFD9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51FFCE-CFD4-40A6-EFDD-B37AB5702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KD:2. Multi-Teacher distillation</a:t>
            </a:r>
          </a:p>
        </p:txBody>
      </p:sp>
      <p:pic>
        <p:nvPicPr>
          <p:cNvPr id="5122" name="Picture 2" descr="Multi-teacher distillation">
            <a:extLst>
              <a:ext uri="{FF2B5EF4-FFF2-40B4-BE49-F238E27FC236}">
                <a16:creationId xmlns:a16="http://schemas.microsoft.com/office/drawing/2014/main" id="{40C10E3A-65FB-165F-1C72-2B645848E1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472" y="1566968"/>
            <a:ext cx="8867528" cy="481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5991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14597A-2A75-1504-897D-242D64BF6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teacher is trained in one modality and its knowledge is distilled into the student that requires knowledge from a different modality. </a:t>
            </a:r>
          </a:p>
          <a:p>
            <a:r>
              <a:rPr lang="en-US" dirty="0"/>
              <a:t>Suitable when data or labels are not available for specific modalities either during training or testing </a:t>
            </a:r>
          </a:p>
          <a:p>
            <a:r>
              <a:rPr lang="en-US" dirty="0"/>
              <a:t>Can be solved via knowledge transfer across modalities. </a:t>
            </a:r>
          </a:p>
          <a:p>
            <a:r>
              <a:rPr lang="en-US" dirty="0"/>
              <a:t>For example, the knowledge from a teacher trained on labeled image data can be used for distillation for a student model with an unlabeled input domain</a:t>
            </a:r>
          </a:p>
          <a:p>
            <a:r>
              <a:rPr lang="en-US" dirty="0"/>
              <a:t>Cross-modal distillation is useful for applications like visual question answering, image captioning amongst others.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0E61F-F04E-D954-86FA-64081629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F1744-10AE-4456-A85E-A3D976FA0734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26C76-1E00-B684-4477-95B42C4D4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E7A6E-427A-C99C-05C7-70DDEC9B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BF909D-EF3A-2073-A2D0-ED411EB7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KD: 3. Cross-modal distillation</a:t>
            </a:r>
          </a:p>
        </p:txBody>
      </p:sp>
    </p:spTree>
    <p:extLst>
      <p:ext uri="{BB962C8B-B14F-4D97-AF65-F5344CB8AC3E}">
        <p14:creationId xmlns:p14="http://schemas.microsoft.com/office/powerpoint/2010/main" val="30757372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057EA5-0990-6BAB-73C2-99F69D71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FB96-5DB9-4269-905E-2AED7C25C6D5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E233D-96FF-1A33-5758-14B6B469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4A6C1-6413-F5A0-7EC7-CD4EA555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9D0AF2-ED45-8274-D970-3B4B9313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KD: 3. Cross-modal distillation</a:t>
            </a:r>
          </a:p>
        </p:txBody>
      </p:sp>
      <p:pic>
        <p:nvPicPr>
          <p:cNvPr id="4098" name="Picture 2" descr="Cross-modal distillation">
            <a:extLst>
              <a:ext uri="{FF2B5EF4-FFF2-40B4-BE49-F238E27FC236}">
                <a16:creationId xmlns:a16="http://schemas.microsoft.com/office/drawing/2014/main" id="{7F36C108-5F2B-C272-DE7C-1731F28D2A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948656"/>
            <a:ext cx="8058150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5549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B20285-A689-757A-A8C2-6C670230C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Hinton, Geoffrey, Oriol </a:t>
            </a:r>
            <a:r>
              <a:rPr lang="en-US" dirty="0" err="1"/>
              <a:t>Vinyals</a:t>
            </a:r>
            <a:r>
              <a:rPr lang="en-US" dirty="0"/>
              <a:t>, and Jeff Dean. "Distilling the knowledge in a neural network." </a:t>
            </a:r>
            <a:r>
              <a:rPr lang="en-US" dirty="0" err="1"/>
              <a:t>arXiv</a:t>
            </a:r>
            <a:r>
              <a:rPr lang="en-US" dirty="0"/>
              <a:t> preprint arXiv:1503.02531 (2015).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Cheng, X., Rao, Z., Chen, Y., &amp; Zhang, Q. (2020). Explaining knowledge distillation by quantifying the knowledge. In </a:t>
            </a:r>
            <a:r>
              <a:rPr lang="en-US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Proceedings of the IEEE/CVF conference on computer vision and pattern recognition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(pp. 12925-12935).</a:t>
            </a:r>
            <a:endParaRPr lang="en-US" dirty="0"/>
          </a:p>
          <a:p>
            <a:r>
              <a:rPr lang="en-US" dirty="0"/>
              <a:t>https://neptune.ai/blog/knowledge-distillation</a:t>
            </a:r>
          </a:p>
          <a:p>
            <a:r>
              <a:rPr lang="en-US" dirty="0"/>
              <a:t>EfficientML.ai Lecture 9  Knowledge Distillation lecture by Professor Song Han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88D65-7DA6-1E6E-D90F-43228863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8336-B862-445D-81FA-43A99659BEC6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1A237-9245-42CA-4747-4299D602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C6319-ECFD-D64D-CBE3-58716476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1931B7-A647-01D5-F436-73EC9459F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9709469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A6B29-883E-F806-764B-A8E44F10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DEC5-8C77-47FC-8FAB-49747A26C8FD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287918-2095-CD15-4D7C-9CBCC5F1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EFCE0-A09C-6EA2-32E0-22C91ABD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47461</TotalTime>
  <Words>3178</Words>
  <Application>Microsoft Office PowerPoint</Application>
  <PresentationFormat>Widescreen</PresentationFormat>
  <Paragraphs>590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 MT</vt:lpstr>
      <vt:lpstr>arial</vt:lpstr>
      <vt:lpstr>arial</vt:lpstr>
      <vt:lpstr>Calibri</vt:lpstr>
      <vt:lpstr>Cambria</vt:lpstr>
      <vt:lpstr>Cambria Math</vt:lpstr>
      <vt:lpstr>Times New Roman</vt:lpstr>
      <vt:lpstr>Trebuchet MS</vt:lpstr>
      <vt:lpstr>Wingdings</vt:lpstr>
      <vt:lpstr>Office Theme</vt:lpstr>
      <vt:lpstr>PowerPoint Presentation</vt:lpstr>
      <vt:lpstr>Goals</vt:lpstr>
      <vt:lpstr>Recap of Previous Lecture</vt:lpstr>
      <vt:lpstr>Generative AI</vt:lpstr>
      <vt:lpstr>The Evolution of Language Modeling</vt:lpstr>
      <vt:lpstr>Pre-Trained Transformer </vt:lpstr>
      <vt:lpstr>Today’s Lecture</vt:lpstr>
      <vt:lpstr>Challenge: limited hardware resources</vt:lpstr>
      <vt:lpstr>Challenge: limited hardware resources</vt:lpstr>
      <vt:lpstr>Challenge: limited hardware resources</vt:lpstr>
      <vt:lpstr>Tiny models are hard to train Tiny models underfit large datasets</vt:lpstr>
      <vt:lpstr>Knowledge Distillation</vt:lpstr>
      <vt:lpstr>Knowledge Distillation</vt:lpstr>
      <vt:lpstr>Knowledge Distillation</vt:lpstr>
      <vt:lpstr>Knowledge Distillation Matching prediction probabilities between teacher and student</vt:lpstr>
      <vt:lpstr>Knowledge Distillation  Matching prediction probabilities between teacher and student</vt:lpstr>
      <vt:lpstr>Knowledge Distillation  Concept of temperature</vt:lpstr>
      <vt:lpstr>Formal Definition of KD</vt:lpstr>
      <vt:lpstr>Knowledge Distillation Components</vt:lpstr>
      <vt:lpstr>Knowledge Distillation: Knowledge</vt:lpstr>
      <vt:lpstr>Knowledge Distillation: Knowledge</vt:lpstr>
      <vt:lpstr>1. Response-based knowledge</vt:lpstr>
      <vt:lpstr>1. Response-based knowledge</vt:lpstr>
      <vt:lpstr>1. Response-based knowledge</vt:lpstr>
      <vt:lpstr>2. Feature-based knowledge</vt:lpstr>
      <vt:lpstr>2. Feature-based knowledge Matching intermediate weights</vt:lpstr>
      <vt:lpstr>2. Feature-based knowledge</vt:lpstr>
      <vt:lpstr>3. Relation-based knowledge</vt:lpstr>
      <vt:lpstr>3. Relation-based knowledge</vt:lpstr>
      <vt:lpstr>3. Relation-based knowledge Relations between different samples</vt:lpstr>
      <vt:lpstr>How Training is Performed</vt:lpstr>
      <vt:lpstr>How Training is Performed</vt:lpstr>
      <vt:lpstr>1. Offline distillation</vt:lpstr>
      <vt:lpstr>1. Offline distillation</vt:lpstr>
      <vt:lpstr>2. Online distillation</vt:lpstr>
      <vt:lpstr>2. Online distillation</vt:lpstr>
      <vt:lpstr>3. Self-distillation</vt:lpstr>
      <vt:lpstr>3. Self-distillation Teacher model is usually larger than the student model and is fixed</vt:lpstr>
      <vt:lpstr>3. Self-distillation</vt:lpstr>
      <vt:lpstr>3. Self-distillation</vt:lpstr>
      <vt:lpstr>Architectural Designs for KD</vt:lpstr>
      <vt:lpstr>Architectural Designs for KD</vt:lpstr>
      <vt:lpstr>Architectural Designs for KD</vt:lpstr>
      <vt:lpstr>Algorithms for KD: 1. Adversarial distillation</vt:lpstr>
      <vt:lpstr>Algorithms for KD: 1. Adversarial distillation</vt:lpstr>
      <vt:lpstr>Algorithms for KD:2. Multi-Teacher distillation</vt:lpstr>
      <vt:lpstr>Algorithms for KD:2. Multi-Teacher distillation</vt:lpstr>
      <vt:lpstr>Algorithms for KD: 3. Cross-modal distillation</vt:lpstr>
      <vt:lpstr>Algorithms for KD: 3. Cross-modal distillation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2362</cp:revision>
  <dcterms:created xsi:type="dcterms:W3CDTF">2006-08-16T00:00:00Z</dcterms:created>
  <dcterms:modified xsi:type="dcterms:W3CDTF">2025-12-03T12:34:05Z</dcterms:modified>
</cp:coreProperties>
</file>