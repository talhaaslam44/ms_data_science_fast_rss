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2"/>
  </p:notesMasterIdLst>
  <p:sldIdLst>
    <p:sldId id="352" r:id="rId2"/>
    <p:sldId id="421" r:id="rId3"/>
    <p:sldId id="1885" r:id="rId4"/>
    <p:sldId id="1911" r:id="rId5"/>
    <p:sldId id="1909" r:id="rId6"/>
    <p:sldId id="1910" r:id="rId7"/>
    <p:sldId id="1922" r:id="rId8"/>
    <p:sldId id="1923" r:id="rId9"/>
    <p:sldId id="1924" r:id="rId10"/>
    <p:sldId id="1888" r:id="rId11"/>
    <p:sldId id="1916" r:id="rId12"/>
    <p:sldId id="1903" r:id="rId13"/>
    <p:sldId id="1904" r:id="rId14"/>
    <p:sldId id="1905" r:id="rId15"/>
    <p:sldId id="1906" r:id="rId16"/>
    <p:sldId id="1907" r:id="rId17"/>
    <p:sldId id="1908" r:id="rId18"/>
    <p:sldId id="1902" r:id="rId19"/>
    <p:sldId id="1889" r:id="rId20"/>
    <p:sldId id="1890" r:id="rId21"/>
    <p:sldId id="1891" r:id="rId22"/>
    <p:sldId id="1892" r:id="rId23"/>
    <p:sldId id="1893" r:id="rId24"/>
    <p:sldId id="1894" r:id="rId25"/>
    <p:sldId id="1895" r:id="rId26"/>
    <p:sldId id="1896" r:id="rId27"/>
    <p:sldId id="1897" r:id="rId28"/>
    <p:sldId id="1898" r:id="rId29"/>
    <p:sldId id="1899" r:id="rId30"/>
    <p:sldId id="1919" r:id="rId31"/>
    <p:sldId id="1918" r:id="rId32"/>
    <p:sldId id="1900" r:id="rId33"/>
    <p:sldId id="1901" r:id="rId34"/>
    <p:sldId id="1920" r:id="rId35"/>
    <p:sldId id="1912" r:id="rId36"/>
    <p:sldId id="1921" r:id="rId37"/>
    <p:sldId id="1913" r:id="rId38"/>
    <p:sldId id="1914" r:id="rId39"/>
    <p:sldId id="1915" r:id="rId40"/>
    <p:sldId id="128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A20E5E4-9F51-491D-965E-F7C419ED5F3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1AC0-083D-4678-AE41-678FC3C98E7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25B8D-D75F-4DCA-9FD5-9F03488A0C7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DB35B-EED4-43ED-93C7-34295E9E1E9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F332-27A6-4D19-B45B-80D0C43924E4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AE82-1656-4E00-9263-41462AA1F30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1A46-94D7-451B-A8ED-E58E03405774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0F13-0583-4BB3-9F0C-03D82BE7C1D4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7E37-21DB-4995-8B21-ECB6C82918C0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712A5-0008-42AD-8148-38DE0747687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E4D8-F87B-47D6-BA10-8912C21DED5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85367"/>
            <a:ext cx="12192000" cy="763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6261533"/>
            <a:ext cx="12192000" cy="596400"/>
          </a:xfrm>
          <a:prstGeom prst="rect">
            <a:avLst/>
          </a:prstGeom>
          <a:solidFill>
            <a:srgbClr val="333399">
              <a:alpha val="426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 Berkeley -- Spring 2024 -- Deep Unsupervised Learning -- Pieter Abbeel, Kevin Frans, Philipp Wu, Wilson Yan  -- L6 Diffusion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210495" y="1052520"/>
            <a:ext cx="11118000" cy="47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6709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Calibri"/>
              <a:buChar char="■"/>
              <a:defRPr sz="3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397923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Calibri"/>
              <a:buChar char="■"/>
              <a:defRPr sz="2667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88609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99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77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E66A474-C136-4B7E-80E5-A07DD8CAF6D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01.11903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41234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>
                <a:solidFill>
                  <a:schemeClr val="bg1"/>
                </a:solidFill>
              </a:rPr>
              <a:t>Generative Pre-trained Transformer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700" y="402018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AI-5004 Adv. Topics in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6D3671-E154-B3DA-D836-8B1E297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D13-6BCE-4707-919D-CDAE6B75D771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B347CB-686B-83C4-DBEA-48C54528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7E803A-A619-3ACB-0639-B2041098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sz="2400" spc="-3" dirty="0"/>
              <a:t>Generative Pre-trained Transformer (GPT) Family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82101-8825-B1AF-25AC-A42CBA88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DB8E-134A-416F-8FF6-8774BF724296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5F800-3D41-BE6D-B17B-D178FBD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8DCF9-FCA7-7BE3-78B3-2BD48C04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F1FA4-D24B-D414-C580-0DF04105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8FA0-64FE-4CE5-B008-7807FE3C0116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9F70559-E7EA-1CC3-350E-2CBFE8C4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3B2B01-6BE7-FF2D-CBA9-64BCAFAC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1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0E6308-31E4-78A0-AADF-2CDC3E34A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523999"/>
            <a:ext cx="6172200" cy="468377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FF4E-3BA1-CD07-D30B-F7B4EE60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5E83-9A49-48EC-B572-26A9644C251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D00ED-3DBD-2F69-549F-77BE910E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FF3C1-6053-EF2B-9332-A5E91312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1CF7EA-43D6-2DC4-C072-6CD49202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77528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8E625-61E2-7075-3A2E-5ED1F744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FC93-534E-4432-B272-A39F5E14C90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F5D63-00AB-978F-5525-7CA8A5AF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BB459-26A3-115A-32BE-318886A1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22FC58-2A36-94B9-7896-F92F4F00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Evolution of Language Modeling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A61953-F710-BE3E-0E70-2667CB220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50063"/>
            <a:ext cx="10972800" cy="3226236"/>
          </a:xfrm>
        </p:spPr>
      </p:pic>
    </p:spTree>
    <p:extLst>
      <p:ext uri="{BB962C8B-B14F-4D97-AF65-F5344CB8AC3E}">
        <p14:creationId xmlns:p14="http://schemas.microsoft.com/office/powerpoint/2010/main" val="187932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1DC05-193C-245B-7CEF-D1EE6AFF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0862-3110-4DB2-BB2C-C44F3DE96D1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B27EE-CE75-5AAD-B83F-8F0DB64B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03C14-72D8-D1D8-4995-A13F708A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7F8F3F-AF89-FE26-3994-FE029A7D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Transformer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F316BD-BF60-6926-2C62-3E6D889C77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43" y="1600200"/>
            <a:ext cx="1005131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8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4E1C-2E93-C9B2-F841-B7411AFD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38C76-D7F2-1314-C901-D8622561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0862-3110-4DB2-BB2C-C44F3DE96D1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46C84-8F56-F698-2C32-2A9CFC05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91E30-BFC9-7477-D75D-6F8D8C8F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4691D5-31A2-3889-5F8A-286E0054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Transformer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C78362-4F01-B3B1-2AA9-5D2B0DC5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GPT-1</a:t>
            </a:r>
            <a:r>
              <a:rPr lang="en-US" dirty="0"/>
              <a:t> (2018): The initial model, demonstrating the potential of the architecture with approximately 117 million parameters.</a:t>
            </a:r>
          </a:p>
          <a:p>
            <a:pPr algn="just"/>
            <a:r>
              <a:rPr lang="en-US" b="1" dirty="0"/>
              <a:t>GPT-2</a:t>
            </a:r>
            <a:r>
              <a:rPr lang="en-US" dirty="0"/>
              <a:t> (2019): A significant scale-up with 1.5 billion parameters, capable of generating more coherent and contextually relevant long-form text.</a:t>
            </a:r>
          </a:p>
          <a:p>
            <a:pPr algn="just"/>
            <a:r>
              <a:rPr lang="en-US" b="1" dirty="0"/>
              <a:t>GPT-3</a:t>
            </a:r>
            <a:r>
              <a:rPr lang="en-US" dirty="0"/>
              <a:t> (2020): A massive leap to 175 billion parameters, introducing few-shot and zero-shot learning capabilities, requiring little or no task-specific examples to perform new tasks.</a:t>
            </a:r>
          </a:p>
          <a:p>
            <a:pPr algn="just"/>
            <a:r>
              <a:rPr lang="en-US" b="1" dirty="0"/>
              <a:t>GPT-4</a:t>
            </a:r>
            <a:r>
              <a:rPr lang="en-US" dirty="0"/>
              <a:t> (2023): An even more advanced model with improved reasoning, safety, and multimodal abilities (processing text and images), powering the premium version of ChatGPT.</a:t>
            </a:r>
          </a:p>
        </p:txBody>
      </p:sp>
    </p:spTree>
    <p:extLst>
      <p:ext uri="{BB962C8B-B14F-4D97-AF65-F5344CB8AC3E}">
        <p14:creationId xmlns:p14="http://schemas.microsoft.com/office/powerpoint/2010/main" val="183297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94EB-7A64-7304-5E4E-2D89FB25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E41E0-A03C-362C-30D0-A802676E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0862-3110-4DB2-BB2C-C44F3DE96D1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FC2B2-8161-B5E0-9706-A840794C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B98E5-2171-93AB-D26E-701C3781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DCA167-7621-BE72-5AEE-E005124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Transformer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7E0DB4-8162-CAB3-CB9C-8E6417631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 fontAlgn="base"/>
            <a:r>
              <a:rPr lang="en-US" b="1" dirty="0"/>
              <a:t>GPT-4.5 (2025): </a:t>
            </a:r>
            <a:r>
              <a:rPr lang="en-US" dirty="0"/>
              <a:t>Introduced as a bridge between GPT-4 and GPT-5, it included better steerability, nuance and conversational understanding.</a:t>
            </a:r>
          </a:p>
          <a:p>
            <a:pPr algn="just" fontAlgn="base"/>
            <a:r>
              <a:rPr lang="en-US" b="1" dirty="0"/>
              <a:t>6. GPT-4.1 (2025): </a:t>
            </a:r>
            <a:r>
              <a:rPr lang="en-US" dirty="0"/>
              <a:t>Released in April 2025, offering enhancements in coding performance, long-context comprehension (up to 1 million tokens) and instruction following.</a:t>
            </a:r>
          </a:p>
          <a:p>
            <a:pPr algn="just" fontAlgn="base"/>
            <a:r>
              <a:rPr lang="en-US" b="1" dirty="0"/>
              <a:t>7. GPT-5 (2025): </a:t>
            </a:r>
            <a:r>
              <a:rPr lang="en-US" dirty="0"/>
              <a:t>The newest major release. GPT-5 is a unified system that dynamically routes queries between a fast model and a “thinking” deeper model to optimize for both speed and depth.</a:t>
            </a:r>
          </a:p>
          <a:p>
            <a:pPr lvl="1" algn="just" fontAlgn="base"/>
            <a:r>
              <a:rPr lang="en-US" dirty="0"/>
              <a:t>It demonstrates improved performance across reasoning, coding, multimodality and safety benchmarks.</a:t>
            </a:r>
          </a:p>
          <a:p>
            <a:pPr lvl="1" algn="just" fontAlgn="base"/>
            <a:r>
              <a:rPr lang="en-US" dirty="0"/>
              <a:t>GPT-5 also better mitigates hallucinations, sees stronger instruction-following fidelity and shows more reliable domain reasoning.</a:t>
            </a:r>
          </a:p>
          <a:p>
            <a:pPr lvl="1" algn="just" fontAlgn="base"/>
            <a:r>
              <a:rPr lang="en-US" dirty="0"/>
              <a:t>In medical imaging tasks, GPT-5 achieves significant gains over GPT-4o, e.g. up to +20 % in some anatomical region reasoning benchmarks.</a:t>
            </a:r>
          </a:p>
        </p:txBody>
      </p:sp>
    </p:spTree>
    <p:extLst>
      <p:ext uri="{BB962C8B-B14F-4D97-AF65-F5344CB8AC3E}">
        <p14:creationId xmlns:p14="http://schemas.microsoft.com/office/powerpoint/2010/main" val="269551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5109-5FC6-CB50-FB16-B635F407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BE1BA-8C39-A5DF-82CB-DF399701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0862-3110-4DB2-BB2C-C44F3DE96D1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6B3CF-00EB-8EC1-0DE6-1EBB78FA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1BF4C-8E99-F08C-3D1D-E221C4F9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34D1B5-107E-9E75-5530-7DC1E9D2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Transformer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FA0DDC-0FDB-DC9A-D54C-E16F3AAD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72801" y="-789544"/>
            <a:ext cx="4446397" cy="899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3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32E435-8361-9E03-786B-F34C7273E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GPT, is an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artificial intelligence-powered language model </a:t>
            </a:r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for performing </a:t>
            </a:r>
            <a:r>
              <a:rPr lang="en-US" sz="3200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</a:rPr>
              <a:t>natural language processing </a:t>
            </a:r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tasks.</a:t>
            </a:r>
          </a:p>
          <a:p>
            <a:pPr lvl="1"/>
            <a:r>
              <a:rPr lang="en-US" sz="2800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</a:rPr>
              <a:t>writing problems or generating original text or unique images</a:t>
            </a:r>
            <a:r>
              <a:rPr lang="en-US" sz="28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. </a:t>
            </a:r>
          </a:p>
          <a:p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GPT-4 is the latest model in the GPT Family</a:t>
            </a:r>
          </a:p>
          <a:p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It is an LLM (</a:t>
            </a:r>
            <a:r>
              <a:rPr lang="en-US" sz="3200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</a:rPr>
              <a:t>Large Language Model</a:t>
            </a:r>
            <a:r>
              <a:rPr lang="en-US" sz="3200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)</a:t>
            </a:r>
          </a:p>
          <a:p>
            <a:r>
              <a:rPr lang="en-US" sz="3200" dirty="0"/>
              <a:t>GPT-4 is the latest milestone in OpenAI’s effort in </a:t>
            </a:r>
            <a:r>
              <a:rPr lang="en-US" sz="3200" dirty="0">
                <a:solidFill>
                  <a:srgbClr val="00B050"/>
                </a:solidFill>
              </a:rPr>
              <a:t>scaling up deep learning</a:t>
            </a:r>
            <a:r>
              <a:rPr lang="en-US" sz="3200" dirty="0"/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15ED6-E253-4C2C-486E-9B192CDA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A369B-FDBD-448E-992F-E4B80F748B2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5AD19-8CD0-2B19-E0B5-6A05CC96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74078-6B7F-ED79-7318-72842CD9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050E34-1358-8C07-2FA3-030825A6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105153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87CC2-13B3-466B-875B-309EE821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137C9-9CA7-44A1-BCA1-923593D43CBB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D1541-ED64-C64F-92D4-FFB8F0B0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166CA-92AA-CAB4-6927-39814B6F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A10EB1-0CCA-A09D-1F27-D43ECF77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027A5C-44B9-DB19-6806-C49286E2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209800"/>
            <a:ext cx="4884201" cy="3495675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341D53-8BCE-4CEC-E481-C0874DCD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086600" cy="4525963"/>
          </a:xfrm>
        </p:spPr>
        <p:txBody>
          <a:bodyPr>
            <a:normAutofit/>
          </a:bodyPr>
          <a:lstStyle/>
          <a:p>
            <a:r>
              <a:rPr lang="en-US" dirty="0"/>
              <a:t>GPT-4 is a large </a:t>
            </a:r>
            <a:r>
              <a:rPr lang="en-US" dirty="0">
                <a:solidFill>
                  <a:srgbClr val="00B050"/>
                </a:solidFill>
              </a:rPr>
              <a:t>multimodal model </a:t>
            </a:r>
            <a:r>
              <a:rPr lang="en-US" dirty="0"/>
              <a:t>(accepting </a:t>
            </a:r>
            <a:r>
              <a:rPr lang="en-US" dirty="0">
                <a:solidFill>
                  <a:srgbClr val="FF0000"/>
                </a:solidFill>
              </a:rPr>
              <a:t>image and text inputs)</a:t>
            </a:r>
            <a:r>
              <a:rPr lang="en-US" dirty="0"/>
              <a:t> </a:t>
            </a:r>
          </a:p>
          <a:p>
            <a:r>
              <a:rPr lang="en-US" dirty="0"/>
              <a:t>Output: text or Images</a:t>
            </a:r>
          </a:p>
          <a:p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Large-scale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</a:rPr>
              <a:t>Visual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</a:rPr>
              <a:t>linguistic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 Model</a:t>
            </a:r>
            <a:endParaRPr lang="en-US" dirty="0"/>
          </a:p>
          <a:p>
            <a:r>
              <a:rPr lang="en-US" dirty="0"/>
              <a:t>Exhibits </a:t>
            </a:r>
            <a:r>
              <a:rPr lang="en-US" dirty="0">
                <a:solidFill>
                  <a:srgbClr val="FF0000"/>
                </a:solidFill>
              </a:rPr>
              <a:t>human-level performance</a:t>
            </a:r>
            <a:r>
              <a:rPr lang="en-US" dirty="0"/>
              <a:t> on various professional and academic benchmarks</a:t>
            </a:r>
          </a:p>
          <a:p>
            <a:pPr lvl="1"/>
            <a:r>
              <a:rPr lang="en-US" sz="2800" dirty="0">
                <a:solidFill>
                  <a:srgbClr val="FFC000"/>
                </a:solidFill>
              </a:rPr>
              <a:t>Less capable than humans </a:t>
            </a:r>
            <a:r>
              <a:rPr lang="en-US" sz="2800" dirty="0"/>
              <a:t>in many real-world scenarios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4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E8C399-8F24-029E-CB29-DC542E33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1. Advanced Transformer Architecture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GPT-4 employs a deep learning architecture known as the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transformer.</a:t>
            </a:r>
            <a:endParaRPr lang="en-US" b="0" i="0" dirty="0">
              <a:solidFill>
                <a:srgbClr val="2D2E34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Transformers are neural networks designed to understand the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context and relationships within the text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It enables more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accurate language processing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This foundational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architecture forms the backbone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of GPT-4’s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language understanding and generation capabilities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algn="l"/>
            <a:r>
              <a:rPr lang="en-US" dirty="0">
                <a:solidFill>
                  <a:srgbClr val="00B050"/>
                </a:solidFill>
              </a:rPr>
              <a:t>Foundation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2220C-1E8B-2C0F-424D-FA07466E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46A9-02D2-47C4-AE77-1783AD16152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C635A-1F80-198B-3E00-A3558C25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BA8EE-81E9-DF86-7F92-E914A25D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DFD5D6-DF31-71EE-40AA-FD288D10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203538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EEDD58-88E3-5A14-82D8-C00E06567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2. Large-Scale Training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GPT-4 is trained on a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massive dataset</a:t>
            </a:r>
          </a:p>
          <a:p>
            <a:pPr algn="l"/>
            <a:r>
              <a:rPr lang="en-US" dirty="0">
                <a:solidFill>
                  <a:srgbClr val="2D2E34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Complex Model 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with </a:t>
            </a:r>
            <a:r>
              <a:rPr lang="en-US" b="1" i="0" u="none" strike="noStrike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1.76 trillion parameters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This extensive pre-training with a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vast amount of text data 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enhances its language understanding.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The scale of training data contributes to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GPT-4’s proficiency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Makes it adaptable to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understanding and generating text 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in diverse contexts.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4D435-5D1A-B59C-0ED6-2E5E5530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8944-9B63-4E1B-8CB0-3BE0753632BF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0F083-12EE-0D14-B1E0-BF80286A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69B1C-C3EE-B55A-88BB-58EDF23A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F4705E-4F1D-3621-12E5-A01FF193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264601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C3041-8B26-8642-7FB2-2A1A1F3E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3.  Fine-tuning for Specific Tasks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Fine-tuning is the process of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adapting GPT-4 for specific applications</a:t>
            </a:r>
            <a:r>
              <a:rPr lang="en-US" dirty="0">
                <a:solidFill>
                  <a:srgbClr val="2D2E34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:</a:t>
            </a:r>
          </a:p>
          <a:p>
            <a:pPr lvl="1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Translation, summarization, or question-answering chatbots, content generation, etc.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After pre-training on general language tasks, the model is fine-tuned with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data related to a specific task</a:t>
            </a:r>
            <a:endParaRPr lang="en-US" dirty="0">
              <a:solidFill>
                <a:srgbClr val="2D2E34"/>
              </a:solidFill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Enhancing its performance in that specific domain.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89BFE-15AC-ABC1-9C14-9584E7D5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366B-1E06-4220-9F77-28A39DC09D4C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87CAA-1203-9138-10B1-DA8184A2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159AA-4DDA-135B-6B28-D0EC8817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EF16F-9B0F-C2C5-67C4-4CACA716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4208364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B3B11-7DDA-CD05-2DE7-8AC552F4A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4. Improved Natural Language Processing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The improved </a:t>
            </a:r>
            <a:r>
              <a:rPr lang="en-US" b="0" i="0" u="none" strike="noStrike" dirty="0">
                <a:solidFill>
                  <a:srgbClr val="437BF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natural language processing or NLP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abilities are a direct outcome of the GPT-4 model’s architecture and training data.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Its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massive parameter count and training data allow 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it to comprehend context, produce coherent text, and exhibit human-like reasoning.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AF17B-3089-9AD2-6F84-588520EB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4D5E4-C85B-4C90-96C4-AB0E2733D07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C4AC0-3270-CF49-2E6B-A2FA4EE3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3E27F-9027-0625-96E5-2D6F4D10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5722B2-0814-2DA6-AE85-E3769A30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353608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B930BB-F88E-B419-0332-080782AB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5. Enhanced Context Handling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GPT-4 excels at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maintaining context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over longer conversations.  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The model’s architecture and training contribute to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effectively managing context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As a result, it can understand nuances in conversation and is now it versatile for </a:t>
            </a:r>
            <a:r>
              <a:rPr lang="en-US" b="0" i="0" u="none" strike="noStrike" dirty="0">
                <a:solidFill>
                  <a:srgbClr val="437BF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various language-related tasks.</a:t>
            </a:r>
            <a:endParaRPr lang="en-US" b="0" i="0" dirty="0">
              <a:solidFill>
                <a:srgbClr val="2D2E34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36518-C5AC-AE4C-EDED-FD669816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51FF-3566-4F2F-B841-91AC354C6A2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55280-B010-1185-EC06-EFC78CFF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8134F-75F8-78ED-ACB4-6AFDFCFB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6F7873-2F77-7366-34D3-B6598EC9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237515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F249D3-F0CD-FE69-B54A-9582E1FE9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Inter"/>
              </a:rPr>
              <a:t>6. Multimodal Capabilities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GPT-4 can process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multiple types of data.</a:t>
            </a:r>
            <a:endParaRPr lang="en-US" b="0" i="0" dirty="0">
              <a:solidFill>
                <a:srgbClr val="2D2E34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It can analyze and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generate text, images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</a:p>
          <a:p>
            <a:pPr algn="l"/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This capability extends GPT-4’s </a:t>
            </a:r>
            <a:r>
              <a:rPr lang="en-US" b="1" i="0" dirty="0">
                <a:solidFill>
                  <a:srgbClr val="05092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usability in a variety of domains,</a:t>
            </a:r>
            <a:r>
              <a:rPr lang="en-US" b="0" i="0" dirty="0">
                <a:solidFill>
                  <a:srgbClr val="2D2E3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from content creation to image captioning.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88DE6-0C2B-568F-8402-FF79D369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F830-6649-404B-801F-679E68E8F86E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FB1ED-D271-F52A-E563-49902C67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C67B2-95A4-7586-7472-68816149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75F489-74A0-16CB-CEFE-94E820B8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 (GPT)</a:t>
            </a:r>
          </a:p>
        </p:txBody>
      </p:sp>
    </p:spTree>
    <p:extLst>
      <p:ext uri="{BB962C8B-B14F-4D97-AF65-F5344CB8AC3E}">
        <p14:creationId xmlns:p14="http://schemas.microsoft.com/office/powerpoint/2010/main" val="2853886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EA823E-E42D-17F5-E214-60B39E1F1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GPT-4 </a:t>
            </a:r>
            <a:r>
              <a:rPr lang="en-US" b="1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Input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: images and text.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GPT-3: </a:t>
            </a:r>
            <a:r>
              <a:rPr lang="en-US" b="1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Input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: Text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GPT-3: </a:t>
            </a:r>
            <a:r>
              <a:rPr lang="en-US" b="1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4096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 tokens to the API 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GPT-4: </a:t>
            </a:r>
            <a:r>
              <a:rPr lang="en-US" b="1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32,000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 tokens. 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This is a major step forward, as it facilitates the creation of increasingly c</a:t>
            </a:r>
            <a:r>
              <a:rPr lang="en-US" b="1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omplex and specialized texts and conversations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GPT-4 has a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</a:rPr>
              <a:t>larger training set volume </a:t>
            </a:r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than GPT-3</a:t>
            </a:r>
          </a:p>
          <a:p>
            <a:pPr algn="l"/>
            <a:r>
              <a:rPr lang="en-US" b="0" i="0" dirty="0">
                <a:solidFill>
                  <a:srgbClr val="041C2C"/>
                </a:solidFill>
                <a:effectLst/>
                <a:highlight>
                  <a:srgbClr val="FFFFFF"/>
                </a:highlight>
              </a:rPr>
              <a:t>Improved problem-solving capabilities in GPT-4.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99B13-10D2-8434-1DE4-E118B217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96643-2175-4126-989A-3DED94A00488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8CF3B-3F70-1854-F040-10F0FA9E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CAC8A-C343-9572-CC65-71874AB8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E5D1F5-32D5-4CDB-10BD-53DC6014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vs. GPT-4</a:t>
            </a:r>
          </a:p>
        </p:txBody>
      </p:sp>
    </p:spTree>
    <p:extLst>
      <p:ext uri="{BB962C8B-B14F-4D97-AF65-F5344CB8AC3E}">
        <p14:creationId xmlns:p14="http://schemas.microsoft.com/office/powerpoint/2010/main" val="75787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0E6AE-9404-E3F0-2BA1-7BCD29411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For example, GPT-4 passes a simulated bar exam with a score around the top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10% of test takers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; while GPT-3.5’s score was around the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bottom 10%.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6 months iteratively </a:t>
            </a:r>
            <a:r>
              <a:rPr lang="en-US" sz="3200" b="0" i="0" dirty="0">
                <a:effectLst/>
                <a:highlight>
                  <a:srgbClr val="FFFFFF"/>
                </a:highlight>
              </a:rPr>
              <a:t>training 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GPT-4 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ogether with Azure, co-designed a </a:t>
            </a:r>
            <a:r>
              <a:rPr lang="en-US" sz="32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</a:rPr>
              <a:t>supercomputer from the ground up for our workload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155EB-D992-F4D3-77D2-EEEBBD50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A23F-50AA-4956-B349-7B0C448EC05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B49C9-F0DD-0569-DF07-1CA91EBF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FAA74-66A1-246F-1A1A-BC69FBF6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846CFCC-DC24-4517-6635-E1CD75A1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vs. GPT-4</a:t>
            </a:r>
          </a:p>
        </p:txBody>
      </p:sp>
    </p:spTree>
    <p:extLst>
      <p:ext uri="{BB962C8B-B14F-4D97-AF65-F5344CB8AC3E}">
        <p14:creationId xmlns:p14="http://schemas.microsoft.com/office/powerpoint/2010/main" val="442819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E0A6D-F1F0-3087-E4AD-E3C2A51F6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casual conversation, </a:t>
            </a:r>
            <a:r>
              <a:rPr lang="en-US" dirty="0">
                <a:solidFill>
                  <a:srgbClr val="00B050"/>
                </a:solidFill>
              </a:rPr>
              <a:t>the distinction between GPT-3.5 and GPT-4 can be subtle</a:t>
            </a:r>
            <a:r>
              <a:rPr lang="en-US" dirty="0"/>
              <a:t>. </a:t>
            </a:r>
          </a:p>
          <a:p>
            <a:r>
              <a:rPr lang="en-US" dirty="0"/>
              <a:t>The difference comes out when the complexity of the task reaches a sufficient threshold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GPT-4 is more reliable, creative, and able to handle much more nuanced instructions than GPT-3.5.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Like simulating exams that were originally designed for humans.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We proceeded by using the most recent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</a:rPr>
              <a:t>publicly-available tests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or by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</a:rPr>
              <a:t>purchasing 2022–2023 editions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of practice exams. 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587C7-1725-D7CF-EB31-357ED946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FC43-BBE5-4B63-B252-C10811FF2086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4C94F-0527-6FEF-8672-C94F1DB9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B7ACF-4CF1-EEA7-74FC-39353B32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97A768-15E1-1324-73BC-947B0882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vs. GPT-4</a:t>
            </a:r>
          </a:p>
        </p:txBody>
      </p:sp>
    </p:spTree>
    <p:extLst>
      <p:ext uri="{BB962C8B-B14F-4D97-AF65-F5344CB8AC3E}">
        <p14:creationId xmlns:p14="http://schemas.microsoft.com/office/powerpoint/2010/main" val="351919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3C4424-25A7-C003-6A48-4A3E933B3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423" y="1828800"/>
            <a:ext cx="11207153" cy="39624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4BC1A-EDED-49F4-6BAE-49332DBC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3BA0-EA5B-415A-B3B7-D72D2C4DF94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18861-B3A1-9D6B-D3F9-830BA20B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EB25A-8DE3-14D1-1188-3FF27B47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BC4C86-3D0B-7FC4-E841-19BF97D5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vs. GPT-4</a:t>
            </a:r>
          </a:p>
        </p:txBody>
      </p:sp>
    </p:spTree>
    <p:extLst>
      <p:ext uri="{BB962C8B-B14F-4D97-AF65-F5344CB8AC3E}">
        <p14:creationId xmlns:p14="http://schemas.microsoft.com/office/powerpoint/2010/main" val="1200881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2E3F42-EF13-E29E-D168-892CED8F0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We also evaluated GPT-4 on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serif)"/>
              </a:rPr>
              <a:t>traditional benchmarks designed 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for machine learning models. </a:t>
            </a: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GPT-4 considerably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serif)"/>
              </a:rPr>
              <a:t>outperforms existing large language models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, alongside most state-of-the-art (SOTA) models which may include benchmark-specific crafting or additional training protocols</a:t>
            </a:r>
          </a:p>
          <a:p>
            <a:pPr algn="l"/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GPT-4’s performance highlights not just improvements over previous models but also the potential for AI to handle more </a:t>
            </a:r>
            <a:r>
              <a:rPr lang="en-US" sz="3200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öhne"/>
              </a:rPr>
              <a:t>sophisticated, diverse, and challenging </a:t>
            </a:r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tasks effectively. 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ar(--serif)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BB3CC-4910-72F8-175E-62A358B3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060C-0AAD-451D-9E3F-16DB48B8919C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4FE64-4748-A849-D43D-D7938FC6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A4A81-AEEB-959A-BD2E-BC5775FD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C1E45D-D712-91D0-8EF0-11956625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GPT-4</a:t>
            </a:r>
          </a:p>
        </p:txBody>
      </p:sp>
    </p:spTree>
    <p:extLst>
      <p:ext uri="{BB962C8B-B14F-4D97-AF65-F5344CB8AC3E}">
        <p14:creationId xmlns:p14="http://schemas.microsoft.com/office/powerpoint/2010/main" val="1284078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0EBB4E-34D0-224D-9ED4-90643175F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28661"/>
            <a:ext cx="10316741" cy="411493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535EC-2266-D558-3561-5C59BBCD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F76F2-9158-4A70-A330-C8D2074F51AA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74392-F5B0-FFCF-B595-E6DD8B6D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E82BB-F6F1-B2A3-826E-7F62115C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400B82-D758-2F91-E33F-C402EC41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GPT-4</a:t>
            </a:r>
          </a:p>
        </p:txBody>
      </p:sp>
    </p:spTree>
    <p:extLst>
      <p:ext uri="{BB962C8B-B14F-4D97-AF65-F5344CB8AC3E}">
        <p14:creationId xmlns:p14="http://schemas.microsoft.com/office/powerpoint/2010/main" val="1302379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6D7544-C4F6-728D-6091-9923093B9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GPT-4 can accept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var(--serif)"/>
              </a:rPr>
              <a:t>a prompt of text and images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It lets the user specify any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var(--serif)"/>
              </a:rPr>
              <a:t>vision or language task.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It generates text outputs (natural language, code, etc.) given inputs consisting of interspersed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serif)"/>
              </a:rPr>
              <a:t>text and images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GPT-4 exhibits similar capabilities as it does on text-only inputs.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It can be augmented with test-time techniques that were developed for text-only language models, including few-shot and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  <a:hlinkClick r:id="rId2"/>
              </a:rPr>
              <a:t>chain-of-thought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erif)"/>
              </a:rPr>
              <a:t> prompting.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FD150-4BCE-1B6E-AAE0-9D1EBE21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9CE2-ABC8-41C4-8DB0-58B3E6892BB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8D5A0-FE6D-A4D9-D560-14DAC773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40E14-E487-4869-F910-C12EA5B2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4CB38D-A914-3CA7-21E0-A0DCA8FE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inputs</a:t>
            </a:r>
          </a:p>
        </p:txBody>
      </p:sp>
    </p:spTree>
    <p:extLst>
      <p:ext uri="{BB962C8B-B14F-4D97-AF65-F5344CB8AC3E}">
        <p14:creationId xmlns:p14="http://schemas.microsoft.com/office/powerpoint/2010/main" val="1499267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C3C35-5F45-10BB-5153-398F70AA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24613-1E58-41D0-95E6-66AF79C76E2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21A1F-B253-C441-5A28-E6B7C252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11696-40EA-E55C-D357-DCEEB551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EF1337-0AD9-700B-AF29-BE5D3B47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inputs: VGA charger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B38F56-B3EF-4CCA-339C-2A78A71D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0960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EDEDED"/>
                </a:highlight>
                <a:latin typeface="Soehne"/>
              </a:rPr>
              <a:t>The image shows a package for a "Lightning Cable" adapter with three panels.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EDEDED"/>
                </a:highlight>
                <a:latin typeface="Soehne"/>
              </a:rPr>
              <a:t>Panel 1: A smartphone with a VGA connector (a large, blue, 15-pin connector typically used for computer monitors) plugged into its charging port.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EDEDED"/>
                </a:highlight>
                <a:latin typeface="Soehne"/>
              </a:rPr>
              <a:t>Panel 2: The package for the "Lightning Cable" adapter with a picture of a VGA connector on it.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EDEDED"/>
                </a:highlight>
                <a:latin typeface="Soehne"/>
              </a:rPr>
              <a:t>Panel 3: A close-up of the VGA connector with a small Lightning connector (used for charging iPhones and other Apple devices) at the end.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EDEDED"/>
                </a:highlight>
                <a:latin typeface="Soehne"/>
              </a:rPr>
              <a:t>The humor in this image comes from the absurdity of plugging a large, outdated VGA connector into a small, modern smartphone charging port.</a:t>
            </a:r>
            <a:endParaRPr lang="en-US" dirty="0"/>
          </a:p>
        </p:txBody>
      </p:sp>
      <p:pic>
        <p:nvPicPr>
          <p:cNvPr id="11" name="Picture 2" descr="message-0-attachment-0">
            <a:extLst>
              <a:ext uri="{FF2B5EF4-FFF2-40B4-BE49-F238E27FC236}">
                <a16:creationId xmlns:a16="http://schemas.microsoft.com/office/drawing/2014/main" id="{5FBBD43F-B7A7-1258-44BC-78FD170B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1600200"/>
            <a:ext cx="451758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154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175EE5-35C9-B7EE-5FF1-8864A3BDE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has similar limitations as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earlier GPT models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It is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ignifier"/>
              </a:rPr>
              <a:t>not fully reliable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 (it “hallucinates” facts and makes reasoning errors).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Great care should be taken when using language model outputs, particularly in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high-stakes contexts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Signifier"/>
            </a:endParaRPr>
          </a:p>
          <a:p>
            <a:pPr lvl="1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Healthcare, Legal Advice, Financial Services.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significantly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ignifier"/>
              </a:rPr>
              <a:t>reduces hallucinations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relative to previous models (which have themselves been improving with each iteration).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scores 40% higher than our latest GPT-3.5 on our internal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ignifier"/>
              </a:rPr>
              <a:t>adversarial factuality evaluations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E28E2-DC3E-9E90-8078-6517024D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3902-8008-4213-9153-4EF058E1BEE0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3F572-B59F-8D8B-408F-312AADB5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F9190-03F0-1460-F56A-2B583DB4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CB6C4B-54FF-1F39-991F-8F9AC8F4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GPT-4: Limitations</a:t>
            </a:r>
          </a:p>
        </p:txBody>
      </p:sp>
    </p:spTree>
    <p:extLst>
      <p:ext uri="{BB962C8B-B14F-4D97-AF65-F5344CB8AC3E}">
        <p14:creationId xmlns:p14="http://schemas.microsoft.com/office/powerpoint/2010/main" val="3779152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EE6B54-94CF-A648-4BF7-2DFA41C3D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generally lacks knowledge of events that have occurred after the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vast majority of its data cuts off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Signifier"/>
              </a:rPr>
              <a:t>It 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does </a:t>
            </a:r>
            <a:r>
              <a:rPr lang="en-US" sz="3200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ignifier"/>
              </a:rPr>
              <a:t>not learn from its experience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It can sometimes make simple reasoning errors that do not </a:t>
            </a:r>
            <a:r>
              <a:rPr lang="en-US" sz="3200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seem to be logical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And sometimes it can </a:t>
            </a:r>
            <a:r>
              <a:rPr lang="en-US" sz="32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ignifier"/>
              </a:rPr>
              <a:t>fail at hard problems 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the same way humans do</a:t>
            </a:r>
          </a:p>
          <a:p>
            <a:pPr lvl="1"/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For example, introducing security vulnerabilities into the code it produces.</a:t>
            </a:r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9F901-ADE6-2070-1DE7-CC92E333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C38F8-4884-4415-B753-609554BB3D88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55820-88F2-93DE-6E6C-8C140339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5F6F7-BA9D-F035-4633-F1DB744D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DE675E-BD1A-6409-54B2-08BF3782D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GPT-4: Limitations</a:t>
            </a:r>
          </a:p>
        </p:txBody>
      </p:sp>
    </p:spTree>
    <p:extLst>
      <p:ext uri="{BB962C8B-B14F-4D97-AF65-F5344CB8AC3E}">
        <p14:creationId xmlns:p14="http://schemas.microsoft.com/office/powerpoint/2010/main" val="3034290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ECD20D-728E-CC43-69D1-9FC9373CE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Ensured GPT-4 to make it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safer and more aligned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from the beginning of training.</a:t>
            </a:r>
          </a:p>
          <a:p>
            <a:pPr algn="l"/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Selection and filtering of the pretraining data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, evaluations and expert engagement, model safety improvements, and monitoring and enforcement.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poses similar risks as previous models, such as generating </a:t>
            </a:r>
            <a:r>
              <a:rPr lang="en-US" b="0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Signifier"/>
              </a:rPr>
              <a:t>harmful advice, buggy code, or inaccurate information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However, the additional capabilities of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ignifier"/>
              </a:rPr>
              <a:t>GPT-4 lead to new risk surfaces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77C25-836D-995B-4CC0-79945D83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CDAA-4AEB-494D-94AB-C73F152155F4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176F0-FE8C-04B9-265D-CFF0208C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2FF83-EF20-6691-2DF8-40D0331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71EADA-EFB3-ED7E-49CB-498F9948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</p:spTree>
    <p:extLst>
      <p:ext uri="{BB962C8B-B14F-4D97-AF65-F5344CB8AC3E}">
        <p14:creationId xmlns:p14="http://schemas.microsoft.com/office/powerpoint/2010/main" val="138341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54FF5C-B694-D142-A32E-56CF00617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Engaged over 50 experts from domains such as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AI alignment risks, cybersecurity, </a:t>
            </a:r>
            <a:r>
              <a:rPr lang="en-US" b="0" i="0" dirty="0" err="1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biorisk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, trust and safety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, and international security to </a:t>
            </a:r>
            <a:r>
              <a:rPr lang="en-US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adversarially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 test the model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Test model behavior in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ignifier"/>
              </a:rPr>
              <a:t>high-risk areas which require expertise to evaluate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Feedback and data from these experts fed into our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ignifier"/>
              </a:rPr>
              <a:t>mitigations and improvements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for the model;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ignifier"/>
              </a:rPr>
              <a:t>F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or example, we’ve collected additional data to improve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ignifier"/>
              </a:rPr>
              <a:t>GPT-4’s ability to refuse requests on how to synthesize dangerous chemicals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F458B-423F-AD49-5EE3-0462093F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409D8-1735-4514-AA3D-0B83C4974FD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C9051-0887-5F14-A709-8DD9456D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C878F-25D3-58A3-1A58-44A11299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9F6300-0BE7-8842-3D43-D521B4CD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</p:spTree>
    <p:extLst>
      <p:ext uri="{BB962C8B-B14F-4D97-AF65-F5344CB8AC3E}">
        <p14:creationId xmlns:p14="http://schemas.microsoft.com/office/powerpoint/2010/main" val="2247714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170E8-A6DC-82CA-6464-74719D5F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Our mitigations have significantly </a:t>
            </a:r>
            <a:r>
              <a:rPr lang="en-US" sz="3200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ignifier"/>
              </a:rPr>
              <a:t>improved many of GPT-4’s safety 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properties compared to GPT-3.5. </a:t>
            </a:r>
            <a:endParaRPr lang="en-US" sz="3200" dirty="0"/>
          </a:p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We’ve decreased the model’s tendency to respond to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requests for disallowed content by 82% compared to GPT-3.5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,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GPT-4 responds to sensitive requests (e.g., medical advice and self-harm) in accordance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with our policies 29% more often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</a:t>
            </a:r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51FA6-6F04-8E67-46A3-DCBEF450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2499-7924-4F26-9FB9-CCE85897670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39AB9-8CBA-B4AF-305A-D9742504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6C608-E752-1B8F-D293-52B4FA6A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5D7A93-2553-B450-1092-6B2FF821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</p:spTree>
    <p:extLst>
      <p:ext uri="{BB962C8B-B14F-4D97-AF65-F5344CB8AC3E}">
        <p14:creationId xmlns:p14="http://schemas.microsoft.com/office/powerpoint/2010/main" val="1943332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D4868E-2E5C-90D5-B7E0-E8BB0DC37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highlight>
                  <a:srgbClr val="FFFFFF"/>
                </a:highlight>
                <a:latin typeface="Signifier"/>
              </a:rPr>
              <a:t>A</a:t>
            </a:r>
            <a:r>
              <a:rPr lang="en-US" sz="3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dversarial </a:t>
            </a:r>
            <a:r>
              <a:rPr lang="en-US" sz="3200" b="1" dirty="0">
                <a:solidFill>
                  <a:srgbClr val="000000"/>
                </a:solidFill>
                <a:highlight>
                  <a:srgbClr val="FFFFFF"/>
                </a:highlight>
                <a:latin typeface="Signifier"/>
              </a:rPr>
              <a:t>T</a:t>
            </a:r>
            <a:r>
              <a:rPr lang="en-US" sz="3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est: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 A ML model </a:t>
            </a:r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is tested by intentionally presenting it with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challenging or deceptive input</a:t>
            </a:r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</a:p>
          <a:p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goal is to probe and evaluate the model's robustness and ability to </a:t>
            </a:r>
            <a:r>
              <a:rPr lang="en-US" sz="32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öhne"/>
              </a:rPr>
              <a:t>handle unexpected or extreme scenarios</a:t>
            </a:r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</a:p>
          <a:p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type of testing is particularly important in ensuring that AI systems are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secure and perform reliably</a:t>
            </a:r>
            <a:r>
              <a:rPr lang="en-US" sz="3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under adversarial conditions.</a:t>
            </a:r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EE033-ABF1-1E20-0C55-C1B5C5F4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37ED-800A-49DA-884C-B4885BB0E5EC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1D4A8-6DEA-3335-FD3F-7C47C87B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8DD4-1E37-F3AE-E7E7-AFEF522F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A9E19A-6A1F-8BFF-438F-CB5A75A8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</p:spTree>
    <p:extLst>
      <p:ext uri="{BB962C8B-B14F-4D97-AF65-F5344CB8AC3E}">
        <p14:creationId xmlns:p14="http://schemas.microsoft.com/office/powerpoint/2010/main" val="1315952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102B7B-DE66-C13D-885C-D6D83CDBA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752600"/>
            <a:ext cx="8448627" cy="449579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8392D-5A0C-8537-7375-CE82C9B7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6CE7-AF55-4DF8-A19B-0BC808B2B74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ACED3-A65A-CA62-BFFA-D9F90A970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D7E99-13F5-63EA-01BE-AC3393AC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EAE418-868C-7374-6E91-35E597DC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mitigations</a:t>
            </a:r>
          </a:p>
        </p:txBody>
      </p:sp>
    </p:spTree>
    <p:extLst>
      <p:ext uri="{BB962C8B-B14F-4D97-AF65-F5344CB8AC3E}">
        <p14:creationId xmlns:p14="http://schemas.microsoft.com/office/powerpoint/2010/main" val="1910721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663F6-5643-BA2F-8472-8F4241F3A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Like previous GPT models,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GPT-4 base model was trained to predict the next word in a document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, and was trained using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publicly available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data (such as internet data) as well as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data we’ve licensed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The data is 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ignifier"/>
              </a:rPr>
              <a:t>web-scale corpus of data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ignifier"/>
              </a:rPr>
              <a:t>including correct and incorrect solutions to math problems, weak and strong reasoning, self-contradictory and consistent statements, and representing a great variety of ideologies and ideas.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878CD-A8ED-EAD2-6AA3-DEE89028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A58-0147-491B-966E-9414AE229ACB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F911F-17B3-6902-81A9-670418A9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48FF4-DA29-723E-92DD-02561C8F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2CD9B4-1A44-A97C-1C01-E858A97F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process</a:t>
            </a:r>
          </a:p>
        </p:txBody>
      </p:sp>
    </p:spTree>
    <p:extLst>
      <p:ext uri="{BB962C8B-B14F-4D97-AF65-F5344CB8AC3E}">
        <p14:creationId xmlns:p14="http://schemas.microsoft.com/office/powerpoint/2010/main" val="2779984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3BEEE-A98B-BF21-2037-22C6567E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01F4-0CD1-4FED-8B4B-D3245357D46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1485B-2542-2F42-8A0F-CA46E5F8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3858E-D8F3-13F9-4F16-5EBD32C6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8409E0-BEB2-E433-0BBE-C539973C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24200"/>
            <a:ext cx="10972800" cy="838200"/>
          </a:xfrm>
        </p:spPr>
        <p:txBody>
          <a:bodyPr/>
          <a:lstStyle/>
          <a:p>
            <a:r>
              <a:rPr lang="en-US" dirty="0"/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1480977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1CDCDC-8059-E96E-9381-E0BCC16C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OpenAI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 launched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ChatGPT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 in November 2022.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ChatGPT is an artificial intelligence (AI)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chatbot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oehne"/>
              </a:rPr>
              <a:t>It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uses natural language processing to create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ehne"/>
              </a:rPr>
              <a:t>humanlike conversational dialogue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The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oehne"/>
              </a:rPr>
              <a:t>language model can respond to questions and compose various written content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oehne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 </a:t>
            </a:r>
          </a:p>
          <a:p>
            <a:pPr lvl="1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including articles, social media posts, essays, code and emails.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ChatGPT works through its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Generative Pre-trained Transformer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ChatGPT uses the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ehne"/>
              </a:rPr>
              <a:t>GPT large language model for response generation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54C37-7A0E-BAD1-CF1D-9A8FB4F2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F9C4-03C4-4725-B1D6-14EC20ED80EB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17D2C-D1F6-22AE-277C-929C260E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8F8A4-55D5-9019-A395-F47E0CFF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5A0443-80B5-D070-4CF6-E7C7D5EC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450427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74FD56-D7DB-6E7B-0F0E-196A47D23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In the initial “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ehne"/>
              </a:rPr>
              <a:t>pre-training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” phase, the model learns to predict the next word in a sentence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Learn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oehne"/>
              </a:rPr>
              <a:t>s from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lots of textual data.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Model learns to complete the sentence “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instead of turning left, she turned ___.”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By learning from billions of sentences, our models learn grammar, many facts about the world, and some reasoning abilities.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2290A-587C-EB56-0BDC-32DBC865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D239F-8C69-43B9-B6C2-86B0D045EC7C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5159B-8538-9A2D-1835-EB0935E7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542E8-DAF1-08A2-9B75-4B5298F4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6C827-6A7E-1A36-88EB-1C408EC1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545468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8CF16-B55B-9DA1-D979-AAA26BAE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EFBDE-3BD2-4645-B5C0-6F7E5C60ADB1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626D8-73C3-D1B6-2AA3-9197E558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9EA04-D439-20D2-EC71-BA2B6B1C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0A50BA-6CDC-0B23-22E2-D7DE2DA4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step process: Pre-training and fine-tuning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032FEB-D419-8647-46F1-AE837F4D9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84400" y="1600200"/>
            <a:ext cx="622319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687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F0A810-965F-B9E2-01AF-A2D829BDF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 Following the first phase, we “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ehne"/>
              </a:rPr>
              <a:t>fine-tune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” our models in the second phase to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narrow down system behavior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oehne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on a more narrow dataset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This dataset is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ehne"/>
              </a:rPr>
              <a:t>carefully generated by human reviewers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Since we cannot predict all the possible inputs that future users may put into our system, we do not write detailed instructions for every input that ChatGPT will encounter.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Instead,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ehne"/>
              </a:rPr>
              <a:t>we outline a few categories in the guidelines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that our reviewers use to review and rate possible model outputs for a range of example inputs.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The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oehne"/>
              </a:rPr>
              <a:t>models generalize from this reviewer feedback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oehne"/>
              </a:rPr>
              <a:t>in order to respond to a wide array of specific inputs provided by a given user.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CE4AA-5DEF-55D3-1CBD-6F9B5DB4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3A7E4-FAFB-427B-946C-CA4633879E58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566BF-8802-E541-4447-1F8BF3FE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60AA3-56BB-4F63-2ACF-6798EA46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11F93A-BC66-6251-B480-31C36E9B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step process: Pre-training and fine-tuning</a:t>
            </a:r>
          </a:p>
        </p:txBody>
      </p:sp>
    </p:spTree>
    <p:extLst>
      <p:ext uri="{BB962C8B-B14F-4D97-AF65-F5344CB8AC3E}">
        <p14:creationId xmlns:p14="http://schemas.microsoft.com/office/powerpoint/2010/main" val="25194411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9774A-5A01-C736-1406-9AFE1591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In some cases, we may give guidance to our reviewers on a certain kind of output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For example, “do not complete requests for illegal content”).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“avoid taking a position on controversial topics”.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A large part of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sans)"/>
              </a:rPr>
              <a:t>fine-tuning process is maintaining a strong feedback loop with our reviewers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, which involves weekly meetings to address questions they may have, or provide clarifications on our guidance.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This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var(--sans)"/>
              </a:rPr>
              <a:t>iterative feedback process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ar(--sans)"/>
              </a:rPr>
              <a:t>is how we train the model to be better and better over time.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6E9B7-3103-A0FA-0C84-84F3E66A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AFD3-3E60-4F3B-A4B3-4AFA6549A37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862F4-D94F-2577-0A4A-59DB4DDB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ECACC-BD2F-8861-3A7F-C034520B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4E72353-EEDC-EB90-61EE-730AC3E7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step process: Pre-training and fine-tuning</a:t>
            </a:r>
          </a:p>
        </p:txBody>
      </p:sp>
    </p:spTree>
    <p:extLst>
      <p:ext uri="{BB962C8B-B14F-4D97-AF65-F5344CB8AC3E}">
        <p14:creationId xmlns:p14="http://schemas.microsoft.com/office/powerpoint/2010/main" val="2833505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A6B29-883E-F806-764B-A8E44F10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B482-389E-4F3E-A9C5-1C0F129AADC1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87918-2095-CD15-4D7C-9CBCC5F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EFCE0-A09C-6EA2-32E0-22C91ABD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47599</TotalTime>
  <Words>2483</Words>
  <Application>Microsoft Office PowerPoint</Application>
  <PresentationFormat>Widescreen</PresentationFormat>
  <Paragraphs>288</Paragraphs>
  <Slides>40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Inter</vt:lpstr>
      <vt:lpstr>Signifier</vt:lpstr>
      <vt:lpstr>Soehne</vt:lpstr>
      <vt:lpstr>Söhne</vt:lpstr>
      <vt:lpstr>var(--sans)</vt:lpstr>
      <vt:lpstr>var(--serif)</vt:lpstr>
      <vt:lpstr>Arial</vt:lpstr>
      <vt:lpstr>Arial</vt:lpstr>
      <vt:lpstr>Calibri</vt:lpstr>
      <vt:lpstr>Roboto</vt:lpstr>
      <vt:lpstr>Wingdings</vt:lpstr>
      <vt:lpstr>Office Theme</vt:lpstr>
      <vt:lpstr>PowerPoint Presentation</vt:lpstr>
      <vt:lpstr>Goals</vt:lpstr>
      <vt:lpstr>Today’s Lecture</vt:lpstr>
      <vt:lpstr>Generative AI</vt:lpstr>
      <vt:lpstr>The Evolution of Language Modeling</vt:lpstr>
      <vt:lpstr>Pre-Trained Transformer </vt:lpstr>
      <vt:lpstr>Pre-Trained Transformer </vt:lpstr>
      <vt:lpstr>Pre-Trained Transformer </vt:lpstr>
      <vt:lpstr>Pre-Trained Transformer </vt:lpstr>
      <vt:lpstr>Generative Pre-trained Transformer (GPT)</vt:lpstr>
      <vt:lpstr>Generative Pre-trained Transformer (GPT)</vt:lpstr>
      <vt:lpstr>Generative Pre-trained Transformer (GPT)</vt:lpstr>
      <vt:lpstr>Generative Pre-trained Transformer (GPT)</vt:lpstr>
      <vt:lpstr>Generative Pre-trained Transformer (GPT)</vt:lpstr>
      <vt:lpstr>Generative Pre-trained Transformer (GPT)</vt:lpstr>
      <vt:lpstr>Generative Pre-trained Transformer (GPT)</vt:lpstr>
      <vt:lpstr>Generative Pre-trained Transformer (GPT)</vt:lpstr>
      <vt:lpstr>GPT-3 vs. GPT-4</vt:lpstr>
      <vt:lpstr>GPT-3 vs. GPT-4</vt:lpstr>
      <vt:lpstr>GPT-3 vs. GPT-4</vt:lpstr>
      <vt:lpstr>GPT-3 vs. GPT-4</vt:lpstr>
      <vt:lpstr>GPT-4</vt:lpstr>
      <vt:lpstr>GPT-4</vt:lpstr>
      <vt:lpstr>Visual inputs</vt:lpstr>
      <vt:lpstr>Visual inputs: VGA charger</vt:lpstr>
      <vt:lpstr>GPT-4: Limitations</vt:lpstr>
      <vt:lpstr>GPT-4: Limitations</vt:lpstr>
      <vt:lpstr>Risks &amp; mitigations</vt:lpstr>
      <vt:lpstr>Risks &amp; mitigations</vt:lpstr>
      <vt:lpstr>Risks &amp; mitigations</vt:lpstr>
      <vt:lpstr>Risks &amp; mitigations</vt:lpstr>
      <vt:lpstr>Risks &amp; mitigations</vt:lpstr>
      <vt:lpstr>Training process</vt:lpstr>
      <vt:lpstr>Use Case</vt:lpstr>
      <vt:lpstr>ChatGPT</vt:lpstr>
      <vt:lpstr>ChatGPT</vt:lpstr>
      <vt:lpstr>A two step process: Pre-training and fine-tuning</vt:lpstr>
      <vt:lpstr>A two step process: Pre-training and fine-tuning</vt:lpstr>
      <vt:lpstr>A two step process: Pre-training and fine-tuning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2350</cp:revision>
  <dcterms:created xsi:type="dcterms:W3CDTF">2006-08-16T00:00:00Z</dcterms:created>
  <dcterms:modified xsi:type="dcterms:W3CDTF">2025-11-26T12:06:47Z</dcterms:modified>
</cp:coreProperties>
</file>