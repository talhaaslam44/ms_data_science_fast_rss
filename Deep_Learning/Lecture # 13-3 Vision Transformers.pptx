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25"/>
  </p:notesMasterIdLst>
  <p:sldIdLst>
    <p:sldId id="352" r:id="rId2"/>
    <p:sldId id="421" r:id="rId3"/>
    <p:sldId id="1756" r:id="rId4"/>
    <p:sldId id="1784" r:id="rId5"/>
    <p:sldId id="1800" r:id="rId6"/>
    <p:sldId id="1809" r:id="rId7"/>
    <p:sldId id="1816" r:id="rId8"/>
    <p:sldId id="1829" r:id="rId9"/>
    <p:sldId id="1817" r:id="rId10"/>
    <p:sldId id="1830" r:id="rId11"/>
    <p:sldId id="1831" r:id="rId12"/>
    <p:sldId id="1805" r:id="rId13"/>
    <p:sldId id="1819" r:id="rId14"/>
    <p:sldId id="1820" r:id="rId15"/>
    <p:sldId id="1821" r:id="rId16"/>
    <p:sldId id="1822" r:id="rId17"/>
    <p:sldId id="1823" r:id="rId18"/>
    <p:sldId id="1825" r:id="rId19"/>
    <p:sldId id="1828" r:id="rId20"/>
    <p:sldId id="1826" r:id="rId21"/>
    <p:sldId id="1824" r:id="rId22"/>
    <p:sldId id="1827" r:id="rId23"/>
    <p:sldId id="128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v" initials="C" lastIdx="1" clrIdx="0">
    <p:extLst>
      <p:ext uri="{19B8F6BF-5375-455C-9EA6-DF929625EA0E}">
        <p15:presenceInfo xmlns:p15="http://schemas.microsoft.com/office/powerpoint/2012/main" userId="C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CC"/>
    <a:srgbClr val="0F22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63" d="100"/>
          <a:sy n="63" d="100"/>
        </p:scale>
        <p:origin x="804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28C82-CA69-4C24-80B0-668ACBAF35BA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1793F-0F1D-49B1-A0BA-855CC243B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1793F-0F1D-49B1-A0BA-855CC243B45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0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92876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AB2BE695-A0A6-46B9-BF8C-41C89DDABC02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92876"/>
            <a:ext cx="3860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GB"/>
              <a:t>Presented by    Dr. Noshina Tariq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77001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2AF5C-9C30-4DDC-B10B-E4F9A2FC820B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</p:spPr>
        <p:txBody>
          <a:bodyPr>
            <a:noAutofit/>
          </a:bodyPr>
          <a:lstStyle>
            <a:lvl1pPr>
              <a:defRPr sz="3600" b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CF83C-29DF-4142-9C91-22B4D77B5933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1B431-A384-4B64-B48E-6ADD4D49F1EF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8AFA0-3DD9-4C15-A24D-1D885769F2C6}" type="datetime1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CD909-60F7-48CF-B802-A4AF834D0B10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524000"/>
            <a:ext cx="109728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4D848-8604-4ACE-ADAE-2287DBA7D1EB}" type="datetime1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4E448-3D13-482E-B5BD-DF023BFADAB0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EE51E-9654-4D74-8DE7-FB5C09A11AAA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1DA2B-335E-45BC-8C0D-52A49CEEA577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3D12E-E105-4486-8A60-5BFF79574E1A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1D6CDA-11BC-4FB9-AD2D-41970D93B461}"/>
              </a:ext>
            </a:extLst>
          </p:cNvPr>
          <p:cNvSpPr/>
          <p:nvPr userDrawn="1"/>
        </p:nvSpPr>
        <p:spPr>
          <a:xfrm>
            <a:off x="14400" y="182564"/>
            <a:ext cx="12158400" cy="350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28801"/>
            <a:ext cx="10972800" cy="4297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47956D7-9D78-4E37-B327-E18B61176EE9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GB"/>
              <a:t>Presented by    Dr. Noshina Tariq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010.11929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27945-0D75-47E1-8C57-2DFECAFC2D9D}" type="datetime1">
              <a:rPr lang="en-US" smtClean="0"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552700" y="457200"/>
            <a:ext cx="6329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0099CC"/>
                </a:solidFill>
                <a:latin typeface="arial" panose="020B0604020202020204" pitchFamily="34" charset="0"/>
              </a:rPr>
              <a:t>National University of Computer and Emerging Sciences</a:t>
            </a:r>
            <a:endParaRPr lang="en-US" b="1" dirty="0">
              <a:solidFill>
                <a:srgbClr val="0099CC"/>
              </a:solidFill>
            </a:endParaRPr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auto">
          <a:xfrm>
            <a:off x="2501901" y="2430404"/>
            <a:ext cx="7658099" cy="1253511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45791" dir="3378596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3200" dirty="0">
                <a:solidFill>
                  <a:schemeClr val="bg1"/>
                </a:solidFill>
              </a:rPr>
              <a:t>Vision Transformers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552700" y="4800600"/>
            <a:ext cx="708660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Dr. Noshina Tariq</a:t>
            </a:r>
          </a:p>
          <a:p>
            <a:pPr algn="ctr">
              <a:spcBef>
                <a:spcPct val="50000"/>
              </a:spcBef>
            </a:pP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Department of AI and DS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514600" y="3842753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b="1"/>
              <a:t>Deep Learning</a:t>
            </a:r>
            <a:endParaRPr lang="en-US" sz="2800" b="1" dirty="0"/>
          </a:p>
        </p:txBody>
      </p:sp>
      <p:pic>
        <p:nvPicPr>
          <p:cNvPr id="4098" name="Picture 2" descr="National University of Computer and Emerging Sciences - Wikipedia">
            <a:extLst>
              <a:ext uri="{FF2B5EF4-FFF2-40B4-BE49-F238E27FC236}">
                <a16:creationId xmlns:a16="http://schemas.microsoft.com/office/drawing/2014/main" id="{E0F510F5-0228-44A0-926A-4D4211F68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49478"/>
            <a:ext cx="954108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8205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Review of Previous Lecture</a:t>
            </a:r>
          </a:p>
          <a:p>
            <a:r>
              <a:rPr lang="en-US" dirty="0">
                <a:solidFill>
                  <a:srgbClr val="00B050"/>
                </a:solidFill>
              </a:rPr>
              <a:t>Today’s Lecture</a:t>
            </a:r>
          </a:p>
          <a:p>
            <a:pPr lvl="1"/>
            <a:r>
              <a:rPr lang="en-US" dirty="0">
                <a:solidFill>
                  <a:srgbClr val="FF0000"/>
                </a:solidFill>
                <a:ea typeface="SimSun" panose="02010600030101010101" pitchFamily="2" charset="-122"/>
              </a:rPr>
              <a:t>Vision Transformers (</a:t>
            </a:r>
            <a:r>
              <a:rPr lang="en-US" dirty="0" err="1">
                <a:solidFill>
                  <a:srgbClr val="FF0000"/>
                </a:solidFill>
                <a:ea typeface="SimSun" panose="02010600030101010101" pitchFamily="2" charset="-122"/>
              </a:rPr>
              <a:t>ViT</a:t>
            </a:r>
            <a:r>
              <a:rPr lang="en-US" dirty="0">
                <a:solidFill>
                  <a:srgbClr val="FF0000"/>
                </a:solidFill>
                <a:ea typeface="SimSun" panose="02010600030101010101" pitchFamily="2" charset="-122"/>
              </a:rPr>
              <a:t>)</a:t>
            </a:r>
          </a:p>
          <a:p>
            <a:pPr lvl="1"/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002FF-9BC9-4FE8-AC25-7771B6020111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Goals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248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7F76DB-CFF6-2554-B208-C8A036B6C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0ECB84-5728-5F81-D7B5-57039645C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A4F9D59-4269-74EC-4309-B36575E23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151" y="3009900"/>
            <a:ext cx="10972800" cy="838200"/>
          </a:xfrm>
        </p:spPr>
        <p:txBody>
          <a:bodyPr/>
          <a:lstStyle/>
          <a:p>
            <a:r>
              <a:rPr lang="en-US" dirty="0"/>
              <a:t>Recap of Previous Lecture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A554DD-48D1-DEF1-CB6B-D6A04845B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2EC17-578E-4885-B0A2-92935CBE39CE}" type="datetime1">
              <a:rPr lang="en-US" smtClean="0"/>
              <a:t>11/28/2025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420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B519E8-8230-8DF4-BFB6-FAE246862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5715000" cy="4525963"/>
          </a:xfrm>
        </p:spPr>
        <p:txBody>
          <a:bodyPr/>
          <a:lstStyle/>
          <a:p>
            <a:r>
              <a:rPr lang="en-US" dirty="0"/>
              <a:t>The Transformer contains the following component: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Encoder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Decoder</a:t>
            </a:r>
          </a:p>
          <a:p>
            <a:r>
              <a:rPr lang="en-US" dirty="0"/>
              <a:t>Consists of </a:t>
            </a:r>
          </a:p>
          <a:p>
            <a:pPr lvl="1"/>
            <a:r>
              <a:rPr lang="en-US" dirty="0"/>
              <a:t>Stacked self-attention </a:t>
            </a:r>
          </a:p>
          <a:p>
            <a:pPr lvl="1"/>
            <a:r>
              <a:rPr lang="en-US" dirty="0"/>
              <a:t>Fully connected layers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861617-154A-5AB9-CBEE-8A57D4719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E16FD-E900-417C-9F96-5A53AC589059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A07791-AA4C-1528-366A-318FB7243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C17681-6EA0-DCFA-2A14-1DB86CD15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4A62B8B-15A4-5108-4A9D-B43CE137B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1"/>
            <a:ext cx="7162800" cy="838200"/>
          </a:xfrm>
        </p:spPr>
        <p:txBody>
          <a:bodyPr/>
          <a:lstStyle/>
          <a:p>
            <a:r>
              <a:rPr lang="en-US" dirty="0"/>
              <a:t>Transformer Model Architecture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B9E7BA1-B187-886F-2345-800DBE11A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8400" y="269596"/>
            <a:ext cx="4419600" cy="6227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941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27DBD5-DD34-C357-CABE-9689107C8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6172200" cy="4525963"/>
          </a:xfrm>
        </p:spPr>
        <p:txBody>
          <a:bodyPr/>
          <a:lstStyle/>
          <a:p>
            <a:r>
              <a:rPr lang="en-US" b="0" i="1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ource-serif-pro"/>
              </a:rPr>
              <a:t>Self- and cross-attention </a:t>
            </a:r>
            <a:r>
              <a:rPr lang="en-US" b="0" i="1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only differ in which tokens are given as inputs Q, K, and V.</a:t>
            </a:r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 </a:t>
            </a:r>
          </a:p>
          <a:p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In </a:t>
            </a:r>
            <a:r>
              <a:rPr lang="en-US" b="1" i="0" dirty="0">
                <a:solidFill>
                  <a:srgbClr val="00B050"/>
                </a:solidFill>
                <a:effectLst/>
                <a:highlight>
                  <a:srgbClr val="FFFFFF"/>
                </a:highlight>
                <a:latin typeface="source-serif-pro"/>
              </a:rPr>
              <a:t>self-attention</a:t>
            </a:r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, the same tokens are used for all three inputs</a:t>
            </a:r>
          </a:p>
          <a:p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In </a:t>
            </a:r>
            <a:r>
              <a:rPr lang="en-US" b="1" i="0" dirty="0">
                <a:solidFill>
                  <a:srgbClr val="00B0F0"/>
                </a:solidFill>
                <a:effectLst/>
                <a:highlight>
                  <a:srgbClr val="FFFFFF"/>
                </a:highlight>
                <a:latin typeface="source-serif-pro"/>
              </a:rPr>
              <a:t>cross-attention</a:t>
            </a:r>
            <a:r>
              <a:rPr lang="en-US" b="0" i="0" dirty="0">
                <a:solidFill>
                  <a:srgbClr val="00B0F0"/>
                </a:solidFill>
                <a:effectLst/>
                <a:highlight>
                  <a:srgbClr val="FFFFFF"/>
                </a:highlight>
                <a:latin typeface="source-serif-pro"/>
              </a:rPr>
              <a:t>,</a:t>
            </a:r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 the same tokens are given to K and V, but different tokens are used for Q.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176D34-5A9C-5AB9-69DB-11FC0F239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96BF9-3128-4533-B49F-2F9886507A12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C908B7-716E-CE81-77FE-1CB0AC312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B81A30-01BC-E30D-1437-E4580C965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716A2E-59AF-F0C7-32C3-D25B10679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Self-Attention &amp; Cross-Attention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2B67F3-3363-F4EC-FC57-1C7243366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9322" y="1786197"/>
            <a:ext cx="4895027" cy="377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130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8BFE22-C52F-5A0E-AA77-54D943DF4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5317-5248-406F-860C-12E8E8BAB1A2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F8824D-A750-B33F-DBFC-21714375C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16C832-A189-746D-51F0-85C980EC5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0501B6F-3FD9-7D28-33C0-08D7FD89F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Multi-Head Attention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9875119-3DD2-7CC3-6627-7634BF8C8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4400" y="1544461"/>
            <a:ext cx="4013200" cy="4996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3354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1CDA5E-2323-094A-D38E-BCCAB29F4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0F805-CCE5-4E34-91C1-11C017EE7D8D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2EE440-71BE-5324-8715-A0BB3939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7D7CC-DF69-368E-7E55-59DA6E7AE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DDAEA54-9467-D18E-A9B6-1F3DE1952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Multi-Head Attention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BCF4F153-D2DC-1BEB-1107-3C8AFD58926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486304"/>
            <a:ext cx="7086600" cy="4990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01ADDE-CF1B-2F24-413A-DD2FD47DFCCC}"/>
              </a:ext>
            </a:extLst>
          </p:cNvPr>
          <p:cNvSpPr txBox="1"/>
          <p:nvPr/>
        </p:nvSpPr>
        <p:spPr>
          <a:xfrm>
            <a:off x="10417629" y="6063733"/>
            <a:ext cx="1621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medium.com</a:t>
            </a:r>
          </a:p>
        </p:txBody>
      </p:sp>
    </p:spTree>
    <p:extLst>
      <p:ext uri="{BB962C8B-B14F-4D97-AF65-F5344CB8AC3E}">
        <p14:creationId xmlns:p14="http://schemas.microsoft.com/office/powerpoint/2010/main" val="2415021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9668E1-A980-0505-4C7F-E7AE92E39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6627A-3564-4AF6-81E1-F43C39D3E44A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79219C-5B55-9976-6431-8FF688D2F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3B83F4-E910-FC63-7A2B-C7E4940A3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662FAF3-F333-4704-AD1B-3EC890F84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Transformers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307240C-4FCE-D057-E909-8C94988A7ED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433451"/>
            <a:ext cx="3178964" cy="5043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1217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8AB9252-9A70-402A-D5D8-57E93E5B7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Example</a:t>
            </a:r>
            <a:r>
              <a:rPr lang="en-US" dirty="0"/>
              <a:t>: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Consider queries (Q), keys (K), and values (V) with dimensions 10 x 6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Model Dimensionality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6 (embedding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 size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Number of Heads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3 (for this example)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Projection Dimension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b="0" i="1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KaTeX_Math"/>
              </a:rPr>
              <a:t>d</a:t>
            </a:r>
            <a:r>
              <a:rPr lang="en-US" b="0" i="1" baseline="-2500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KaTeX_Math"/>
              </a:rPr>
              <a:t>k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KaTeX_Main"/>
              </a:rPr>
              <a:t>​=</a:t>
            </a:r>
            <a:r>
              <a:rPr lang="en-US" b="0" i="1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KaTeX_Math"/>
              </a:rPr>
              <a:t>d</a:t>
            </a:r>
            <a:r>
              <a:rPr lang="en-US" b="0" i="1" baseline="-2500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KaTeX_Math"/>
              </a:rPr>
              <a:t>v</a:t>
            </a:r>
            <a:r>
              <a:rPr lang="en-US" b="0" i="0" baseline="-2500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KaTeX_Main"/>
              </a:rPr>
              <a:t>​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KaTeX_Main"/>
              </a:rPr>
              <a:t>=2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Weight matrices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b="0" i="1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KaTeX_Math"/>
              </a:rPr>
              <a:t>W</a:t>
            </a:r>
            <a:r>
              <a:rPr lang="en-US" b="0" i="1" baseline="-2500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KaTeX_Math"/>
              </a:rPr>
              <a:t>Q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KaTeX_Main"/>
              </a:rPr>
              <a:t>,</a:t>
            </a:r>
            <a:r>
              <a:rPr lang="en-US" b="0" i="1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KaTeX_Math"/>
              </a:rPr>
              <a:t>W</a:t>
            </a:r>
            <a:r>
              <a:rPr lang="en-US" b="0" i="1" baseline="-2500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KaTeX_Math"/>
              </a:rPr>
              <a:t>K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KaTeX_Main"/>
              </a:rPr>
              <a:t>,</a:t>
            </a:r>
            <a:r>
              <a:rPr lang="en-US" b="0" i="1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KaTeX_Math"/>
              </a:rPr>
              <a:t>W</a:t>
            </a:r>
            <a:r>
              <a:rPr lang="en-US" b="0" i="1" baseline="-2500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KaTeX_Math"/>
              </a:rPr>
              <a:t>V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: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 need 3 set  one for each 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head, its size is 6x2.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AB2986-EDBE-9DF4-1896-57F995067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2DE54-4DD0-4A33-844B-4A1A0A97A549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314FF8-6F80-2AEC-3B7E-23C0A71C7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8121D6-2F79-7989-499F-6DFDD3696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2218352-2EE2-B41A-C65B-81DD358D9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Multi-Head Attention</a:t>
            </a:r>
          </a:p>
        </p:txBody>
      </p:sp>
    </p:spTree>
    <p:extLst>
      <p:ext uri="{BB962C8B-B14F-4D97-AF65-F5344CB8AC3E}">
        <p14:creationId xmlns:p14="http://schemas.microsoft.com/office/powerpoint/2010/main" val="309912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3F2507-3C13-9418-318F-DA50595E6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/>
              <a:t>The Transformer consists of the following key components: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Input Embedding</a:t>
            </a:r>
            <a:r>
              <a:rPr lang="en-US" dirty="0"/>
              <a:t>: Convert input tokens to dense vector representations.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Positional Encoding</a:t>
            </a:r>
            <a:r>
              <a:rPr lang="en-US" dirty="0"/>
              <a:t>: Adds information about the order of tokens.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Scaled Dot-Product Attention</a:t>
            </a:r>
            <a:r>
              <a:rPr lang="en-US" dirty="0"/>
              <a:t>: Computes attention scores between tokens.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Multi-Head Attention</a:t>
            </a:r>
            <a:r>
              <a:rPr lang="en-US" dirty="0"/>
              <a:t>: Uses multiple attention heads for better representation learning.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Feedforward Network (FFN)</a:t>
            </a:r>
            <a:r>
              <a:rPr lang="en-US" dirty="0"/>
              <a:t>: Applies a two-layer MLP with </a:t>
            </a:r>
            <a:r>
              <a:rPr lang="en-US" dirty="0" err="1"/>
              <a:t>ReLU</a:t>
            </a:r>
            <a:r>
              <a:rPr lang="en-US" dirty="0"/>
              <a:t> activation.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Layer Normalization</a:t>
            </a:r>
            <a:r>
              <a:rPr lang="en-US" dirty="0"/>
              <a:t>: Normalizes input for stable training.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Residual Connections</a:t>
            </a:r>
            <a:r>
              <a:rPr lang="en-US" dirty="0"/>
              <a:t>: Helps in gradient flow and stability.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Encoder</a:t>
            </a:r>
            <a:r>
              <a:rPr lang="en-US" dirty="0"/>
              <a:t>: Stacks multi-head attention and FFN layers.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Decoder</a:t>
            </a:r>
            <a:r>
              <a:rPr lang="en-US" dirty="0"/>
              <a:t>: Similar to the encoder but with an additional cross-attention layer.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Final Linear &amp; </a:t>
            </a:r>
            <a:r>
              <a:rPr lang="en-US" b="1" dirty="0" err="1"/>
              <a:t>Softmax</a:t>
            </a:r>
            <a:r>
              <a:rPr lang="en-US" b="1" dirty="0"/>
              <a:t> Layer</a:t>
            </a:r>
            <a:r>
              <a:rPr lang="en-US" dirty="0"/>
              <a:t>: Converts the decoder output into probabilities.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BB4E01-62EE-116B-4C13-631AA6C5F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9AA52-7188-4E67-9130-1F169372CDC4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18D4B8-FB1C-6AB3-218F-6329C6413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2C7D81-0B71-6A91-DD9D-54415A1C4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E1E3F6C-B839-73B8-2378-DDBD2FDEA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Transformer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352070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A31592-DEA2-4753-1866-370D4DA8E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2A8BF-404D-4DB2-8E60-6E671B5EE3FB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FCD2C4-C6B7-DCFA-BADF-1759C5087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75B5E9-70A2-8343-4B0B-58050329B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5176801-FCC7-EC48-8BFF-636E79884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09900"/>
            <a:ext cx="10972800" cy="838200"/>
          </a:xfrm>
        </p:spPr>
        <p:txBody>
          <a:bodyPr/>
          <a:lstStyle/>
          <a:p>
            <a:r>
              <a:rPr lang="en-US" dirty="0"/>
              <a:t>Solved Numerical Example</a:t>
            </a:r>
          </a:p>
        </p:txBody>
      </p:sp>
    </p:spTree>
    <p:extLst>
      <p:ext uri="{BB962C8B-B14F-4D97-AF65-F5344CB8AC3E}">
        <p14:creationId xmlns:p14="http://schemas.microsoft.com/office/powerpoint/2010/main" val="2681407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7F76DB-CFF6-2554-B208-C8A036B6C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0ECB84-5728-5F81-D7B5-57039645C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A4F9D59-4269-74EC-4309-B36575E23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151" y="3009900"/>
            <a:ext cx="10972800" cy="838200"/>
          </a:xfrm>
        </p:spPr>
        <p:txBody>
          <a:bodyPr/>
          <a:lstStyle/>
          <a:p>
            <a:r>
              <a:rPr lang="en-US" dirty="0"/>
              <a:t>Today’s Lecture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A554DD-48D1-DEF1-CB6B-D6A04845B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6723E-5CE9-423F-B52A-51C1566D81D5}" type="datetime1">
              <a:rPr lang="en-US" smtClean="0"/>
              <a:t>11/28/2025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148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A4797F-3855-AEF2-80BD-43590F0FC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4D2B2-B671-4E7D-BE59-280120F4840B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20AB4C-1389-4F4C-2A54-BF1FD41A7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DA57B8-844E-81A0-F24B-761566809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4AE21CA-0998-33AF-CA70-61905B015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57400"/>
            <a:ext cx="10972800" cy="1790700"/>
          </a:xfrm>
        </p:spPr>
        <p:txBody>
          <a:bodyPr/>
          <a:lstStyle/>
          <a:p>
            <a:r>
              <a:rPr lang="en-US" sz="2800" dirty="0"/>
              <a:t>AN IMAGE IS WORTH 16X16 WORDS: TRANSFORMERS FOR IMAGE RECOGNITION AT SCALE</a:t>
            </a:r>
            <a:br>
              <a:rPr lang="en-US" sz="2800" dirty="0"/>
            </a:br>
            <a:r>
              <a:rPr lang="en-US" sz="3200" dirty="0">
                <a:solidFill>
                  <a:srgbClr val="FF0000"/>
                </a:solidFill>
              </a:rPr>
              <a:t>Vision Transformer (</a:t>
            </a:r>
            <a:r>
              <a:rPr lang="en-US" sz="3200" dirty="0" err="1">
                <a:solidFill>
                  <a:srgbClr val="FF0000"/>
                </a:solidFill>
              </a:rPr>
              <a:t>ViT</a:t>
            </a:r>
            <a:r>
              <a:rPr lang="en-US" sz="3200" dirty="0">
                <a:solidFill>
                  <a:srgbClr val="FF0000"/>
                </a:solidFill>
              </a:rPr>
              <a:t>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42129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8B37E63-3A4B-DCFD-1B64-CB27D70DE2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8700" y="1600200"/>
            <a:ext cx="10134600" cy="4445001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8880F1-69BA-C6BE-3DA6-FC7BFA40A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386CC-1103-484A-BBD6-1D5856362890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769E56-AAA3-364F-41EE-CD322E43E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33D8B-74A0-212A-CA08-DA8E23C20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D9AA41A-E324-518F-ED49-9163B8428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Vision Transformer (</a:t>
            </a:r>
            <a:r>
              <a:rPr lang="en-US" dirty="0" err="1"/>
              <a:t>ViT</a:t>
            </a:r>
            <a:r>
              <a:rPr lang="en-US" dirty="0"/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7E95CB-D3C7-D858-CB6A-8138A82AD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5570615"/>
            <a:ext cx="1508838" cy="46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979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852A42-823C-8A4F-0B02-3B62EB846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Transformer architecture has become the </a:t>
            </a:r>
            <a:r>
              <a:rPr lang="en-US" dirty="0">
                <a:solidFill>
                  <a:srgbClr val="FFC000"/>
                </a:solidFill>
              </a:rPr>
              <a:t>de-facto standard </a:t>
            </a:r>
            <a:r>
              <a:rPr lang="en-US" dirty="0"/>
              <a:t>for </a:t>
            </a:r>
            <a:r>
              <a:rPr lang="en-US" dirty="0">
                <a:solidFill>
                  <a:srgbClr val="FFC000"/>
                </a:solidFill>
              </a:rPr>
              <a:t>natural language processing </a:t>
            </a:r>
            <a:r>
              <a:rPr lang="en-US" dirty="0"/>
              <a:t>tasks</a:t>
            </a:r>
          </a:p>
          <a:p>
            <a:r>
              <a:rPr lang="en-US" dirty="0"/>
              <a:t>Its applications to </a:t>
            </a:r>
            <a:r>
              <a:rPr lang="en-US" dirty="0">
                <a:solidFill>
                  <a:srgbClr val="FF0000"/>
                </a:solidFill>
              </a:rPr>
              <a:t>computer vision remain limited</a:t>
            </a:r>
            <a:r>
              <a:rPr lang="en-US" dirty="0"/>
              <a:t>. </a:t>
            </a:r>
          </a:p>
          <a:p>
            <a:r>
              <a:rPr lang="en-US" dirty="0"/>
              <a:t>In vision, </a:t>
            </a:r>
            <a:r>
              <a:rPr lang="en-US" dirty="0">
                <a:solidFill>
                  <a:srgbClr val="0070C0"/>
                </a:solidFill>
              </a:rPr>
              <a:t>attention is either applied in conjunction with convolutional networks</a:t>
            </a:r>
          </a:p>
          <a:p>
            <a:r>
              <a:rPr lang="en-US" dirty="0"/>
              <a:t>A pure transformer applied directly to </a:t>
            </a:r>
            <a:r>
              <a:rPr lang="en-US" dirty="0">
                <a:solidFill>
                  <a:srgbClr val="0070C0"/>
                </a:solidFill>
              </a:rPr>
              <a:t>sequences of image patches </a:t>
            </a:r>
            <a:r>
              <a:rPr lang="en-US" dirty="0"/>
              <a:t>can perform very well on </a:t>
            </a:r>
            <a:r>
              <a:rPr lang="en-US" dirty="0">
                <a:solidFill>
                  <a:srgbClr val="FF0000"/>
                </a:solidFill>
              </a:rPr>
              <a:t>image classification tasks</a:t>
            </a:r>
            <a:r>
              <a:rPr lang="en-US" dirty="0"/>
              <a:t>. </a:t>
            </a:r>
          </a:p>
          <a:p>
            <a:r>
              <a:rPr lang="en-US" dirty="0">
                <a:solidFill>
                  <a:srgbClr val="FF0000"/>
                </a:solidFill>
              </a:rPr>
              <a:t>Vision Transformer (</a:t>
            </a:r>
            <a:r>
              <a:rPr lang="en-US" dirty="0" err="1">
                <a:solidFill>
                  <a:srgbClr val="FF0000"/>
                </a:solidFill>
              </a:rPr>
              <a:t>ViT</a:t>
            </a:r>
            <a:r>
              <a:rPr lang="en-US" dirty="0">
                <a:solidFill>
                  <a:srgbClr val="FF0000"/>
                </a:solidFill>
              </a:rPr>
              <a:t>) </a:t>
            </a:r>
            <a:r>
              <a:rPr lang="en-US" dirty="0"/>
              <a:t>attains excellent results compared to state-of-the-art </a:t>
            </a:r>
            <a:r>
              <a:rPr lang="en-US" dirty="0">
                <a:solidFill>
                  <a:srgbClr val="FFC000"/>
                </a:solidFill>
              </a:rPr>
              <a:t>convolutional networks </a:t>
            </a:r>
            <a:r>
              <a:rPr lang="en-US" dirty="0"/>
              <a:t>while requiring substantially </a:t>
            </a:r>
            <a:r>
              <a:rPr lang="en-US" dirty="0">
                <a:solidFill>
                  <a:srgbClr val="00B050"/>
                </a:solidFill>
              </a:rPr>
              <a:t>fewer computational resources to train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AFED67-1F6D-55CB-7795-15B1EEAAD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A6A16-04EE-4E9B-A2B3-BA6FA14C2F9C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367215-9F50-3E41-9AAB-2A9739E54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CE54B8-2947-FC1D-1113-71521FB28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726B64A-F41F-E458-94AD-A2D37D127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Vision Transformer (</a:t>
            </a:r>
            <a:r>
              <a:rPr lang="en-US" dirty="0" err="1"/>
              <a:t>ViT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20294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BDC1AA-13B9-1A31-B28C-26C309783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New way for applying a standard </a:t>
            </a:r>
            <a:r>
              <a:rPr lang="en-US" dirty="0">
                <a:solidFill>
                  <a:srgbClr val="00B050"/>
                </a:solidFill>
              </a:rPr>
              <a:t>Transformer directly to images</a:t>
            </a:r>
          </a:p>
          <a:p>
            <a:r>
              <a:rPr lang="en-US" dirty="0"/>
              <a:t>Split an image into </a:t>
            </a:r>
            <a:r>
              <a:rPr lang="en-US" dirty="0">
                <a:solidFill>
                  <a:srgbClr val="00B050"/>
                </a:solidFill>
              </a:rPr>
              <a:t>patches </a:t>
            </a:r>
          </a:p>
          <a:p>
            <a:r>
              <a:rPr lang="en-US" dirty="0"/>
              <a:t>Image patches are treated the same way as </a:t>
            </a:r>
            <a:r>
              <a:rPr lang="en-US" dirty="0">
                <a:solidFill>
                  <a:srgbClr val="FF0000"/>
                </a:solidFill>
              </a:rPr>
              <a:t>tokens (words) </a:t>
            </a:r>
            <a:r>
              <a:rPr lang="en-US" dirty="0"/>
              <a:t>in an NLP application. </a:t>
            </a:r>
          </a:p>
          <a:p>
            <a:pPr lvl="1"/>
            <a:r>
              <a:rPr lang="en-US" dirty="0"/>
              <a:t>Patch Embeddings.</a:t>
            </a:r>
          </a:p>
          <a:p>
            <a:r>
              <a:rPr lang="en-US" dirty="0"/>
              <a:t>The </a:t>
            </a:r>
            <a:r>
              <a:rPr lang="en-US" dirty="0" err="1"/>
              <a:t>ViT</a:t>
            </a:r>
            <a:r>
              <a:rPr lang="en-US" dirty="0"/>
              <a:t> uses only the </a:t>
            </a:r>
            <a:r>
              <a:rPr lang="en-US" dirty="0">
                <a:solidFill>
                  <a:srgbClr val="FFC000"/>
                </a:solidFill>
              </a:rPr>
              <a:t>Encoder Part of Transformer</a:t>
            </a:r>
          </a:p>
          <a:p>
            <a:r>
              <a:rPr lang="en-US" dirty="0"/>
              <a:t>The Transformer uses </a:t>
            </a:r>
            <a:r>
              <a:rPr lang="en-US" dirty="0">
                <a:solidFill>
                  <a:srgbClr val="FF0000"/>
                </a:solidFill>
              </a:rPr>
              <a:t>constant latent vector size D through all of its layers</a:t>
            </a:r>
            <a:r>
              <a:rPr lang="en-US" dirty="0"/>
              <a:t>, so we flatten the patches and map to D dimensions with a </a:t>
            </a:r>
            <a:r>
              <a:rPr lang="en-US" dirty="0">
                <a:solidFill>
                  <a:srgbClr val="FF0000"/>
                </a:solidFill>
              </a:rPr>
              <a:t>trainable linear projection 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554769-C4CB-3583-F55C-69F17936B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DC5E6-1FB3-48B4-BEB5-F9D5F06EF4CA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62598A-B452-2737-B1B9-5CE2E87B4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8C351A-4647-F9BE-D3E3-31A3A79CA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219D79F-651B-0231-82F1-9C3230FAE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Vision Transformer (</a:t>
            </a:r>
            <a:r>
              <a:rPr lang="en-US" dirty="0" err="1"/>
              <a:t>ViT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058201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FA13A02-98FF-CAD9-D234-A7A1EED025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0200" y="1600200"/>
            <a:ext cx="9067800" cy="4935798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4A553A-5C00-0C36-A6C1-98E24B7EE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1C873-6CCE-436A-ACE4-80D26148A035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AD80BC-AE58-8B13-C3CD-4D5BD6495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11E81-EB0F-DB9A-E802-B596A9E4E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1ACF5B5-C3A0-0E81-CAE3-412E9A876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Vision Transformer (</a:t>
            </a:r>
            <a:r>
              <a:rPr lang="en-US" dirty="0" err="1"/>
              <a:t>ViT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79859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1AAE33-33E8-6CA0-D75D-BB6CC3DC9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292929"/>
                </a:solidFill>
                <a:effectLst/>
                <a:latin typeface="Inter"/>
              </a:rPr>
              <a:t>Split an image into patches:</a:t>
            </a:r>
            <a:r>
              <a:rPr lang="en-US" sz="3200" b="0" i="0" dirty="0">
                <a:solidFill>
                  <a:srgbClr val="292929"/>
                </a:solidFill>
                <a:effectLst/>
                <a:latin typeface="Inter"/>
              </a:rPr>
              <a:t> 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92929"/>
                </a:solidFill>
                <a:effectLst/>
                <a:latin typeface="Inter"/>
              </a:rPr>
              <a:t>The first step in processing an image with a Vision Transformer is to 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Inter"/>
              </a:rPr>
              <a:t>divide it into smaller, fixed-size patches</a:t>
            </a:r>
            <a:r>
              <a:rPr lang="en-US" sz="2800" b="0" i="0" dirty="0">
                <a:solidFill>
                  <a:srgbClr val="292929"/>
                </a:solidFill>
                <a:effectLst/>
                <a:latin typeface="Inter"/>
              </a:rPr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/>
              <a:t>sequence of linear embeddings of these patches as an input to a Transformer</a:t>
            </a:r>
            <a:endParaRPr lang="en-US" sz="2800" b="0" i="0" dirty="0">
              <a:solidFill>
                <a:srgbClr val="292929"/>
              </a:solidFill>
              <a:effectLst/>
              <a:latin typeface="Inter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92929"/>
                </a:solidFill>
                <a:effectLst/>
                <a:latin typeface="Inter"/>
              </a:rPr>
              <a:t>Each </a:t>
            </a:r>
            <a:r>
              <a:rPr lang="en-US" sz="2800" b="0" i="0" dirty="0">
                <a:solidFill>
                  <a:srgbClr val="00B0F0"/>
                </a:solidFill>
                <a:effectLst/>
                <a:latin typeface="Inter"/>
              </a:rPr>
              <a:t>patch represents a local region </a:t>
            </a:r>
            <a:r>
              <a:rPr lang="en-US" sz="2800" b="0" i="0" dirty="0">
                <a:solidFill>
                  <a:srgbClr val="292929"/>
                </a:solidFill>
                <a:effectLst/>
                <a:latin typeface="Inter"/>
              </a:rPr>
              <a:t>of the image.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292929"/>
                </a:solidFill>
                <a:effectLst/>
                <a:latin typeface="Inter"/>
              </a:rPr>
              <a:t>Flatten the patches:</a:t>
            </a:r>
            <a:r>
              <a:rPr lang="en-US" sz="3200" b="0" i="0" dirty="0">
                <a:solidFill>
                  <a:srgbClr val="292929"/>
                </a:solidFill>
                <a:effectLst/>
                <a:latin typeface="Inter"/>
              </a:rPr>
              <a:t> 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92929"/>
                </a:solidFill>
                <a:effectLst/>
                <a:latin typeface="Inter"/>
              </a:rPr>
              <a:t>Pixel values are </a:t>
            </a:r>
            <a:r>
              <a:rPr lang="en-US" sz="2800" b="0" i="0" dirty="0">
                <a:solidFill>
                  <a:srgbClr val="FFC000"/>
                </a:solidFill>
                <a:effectLst/>
                <a:latin typeface="Inter"/>
              </a:rPr>
              <a:t>flattened into a single vector</a:t>
            </a:r>
            <a:r>
              <a:rPr lang="en-US" sz="2800" b="0" i="0" dirty="0">
                <a:solidFill>
                  <a:srgbClr val="292929"/>
                </a:solidFill>
                <a:effectLst/>
                <a:latin typeface="Inter"/>
              </a:rPr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92929"/>
                </a:solidFill>
                <a:effectLst/>
                <a:latin typeface="Inter"/>
              </a:rPr>
              <a:t>Treat image patches as </a:t>
            </a:r>
            <a:r>
              <a:rPr lang="en-US" sz="2800" b="0" i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Inter"/>
              </a:rPr>
              <a:t>sequential data</a:t>
            </a:r>
            <a:r>
              <a:rPr lang="en-US" sz="2800" b="0" i="0" dirty="0">
                <a:solidFill>
                  <a:srgbClr val="292929"/>
                </a:solidFill>
                <a:effectLst/>
                <a:latin typeface="Inter"/>
              </a:rPr>
              <a:t>.</a:t>
            </a:r>
          </a:p>
          <a:p>
            <a:endParaRPr lang="en-US" sz="32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4C64BE-9605-2E60-42D9-B5C3297FF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053C6-1C29-45B3-9735-2FB6F48ED563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5A4120-DDA4-974C-3034-2107BE496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3D4ECB-9990-8A2A-94D4-94DDC8D0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20DB640-1621-DBD9-9A29-9F18FE55D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Working: </a:t>
            </a:r>
            <a:r>
              <a:rPr lang="en-US" dirty="0" err="1"/>
              <a:t>ViT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8114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3564A5-E2BB-1468-0AA6-8BF5B53AB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292929"/>
                </a:solidFill>
                <a:effectLst/>
                <a:latin typeface="Inter"/>
              </a:rPr>
              <a:t>Produce lower-dimensional linear embeddings: 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92929"/>
                </a:solidFill>
                <a:effectLst/>
                <a:latin typeface="Inter"/>
              </a:rPr>
              <a:t>Pass these flattened patches via 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Inter"/>
              </a:rPr>
              <a:t>Linear Layer to transform </a:t>
            </a:r>
            <a:r>
              <a:rPr lang="en-US" sz="2800" b="0" i="0" dirty="0">
                <a:solidFill>
                  <a:srgbClr val="292929"/>
                </a:solidFill>
                <a:effectLst/>
                <a:latin typeface="Inter"/>
              </a:rPr>
              <a:t>into a lower-dimensional space.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92929"/>
                </a:solidFill>
                <a:effectLst/>
                <a:latin typeface="Inter"/>
              </a:rPr>
              <a:t>Reduces the </a:t>
            </a:r>
            <a:r>
              <a:rPr lang="en-US" sz="2800" b="0" i="0" dirty="0">
                <a:solidFill>
                  <a:srgbClr val="00B0F0"/>
                </a:solidFill>
                <a:effectLst/>
                <a:latin typeface="Inter"/>
              </a:rPr>
              <a:t>dimensionality of the data while preserving important features</a:t>
            </a:r>
            <a:r>
              <a:rPr lang="en-US" sz="2800" b="0" i="0" dirty="0">
                <a:solidFill>
                  <a:srgbClr val="292929"/>
                </a:solidFill>
                <a:effectLst/>
                <a:latin typeface="Inter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292929"/>
                </a:solidFill>
                <a:effectLst/>
                <a:latin typeface="Inter"/>
              </a:rPr>
              <a:t>Generate positional encodings:</a:t>
            </a:r>
            <a:r>
              <a:rPr lang="en-US" sz="3200" b="0" i="0" dirty="0">
                <a:solidFill>
                  <a:srgbClr val="292929"/>
                </a:solidFill>
                <a:effectLst/>
                <a:latin typeface="Inter"/>
              </a:rPr>
              <a:t> </a:t>
            </a:r>
          </a:p>
          <a:p>
            <a:pPr lvl="1"/>
            <a:r>
              <a:rPr lang="en-US" sz="2800" b="0" i="0" dirty="0">
                <a:solidFill>
                  <a:srgbClr val="292929"/>
                </a:solidFill>
                <a:effectLst/>
                <a:latin typeface="Inter"/>
              </a:rPr>
              <a:t>Positional encodings are generated and added to 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Inter"/>
              </a:rPr>
              <a:t>include the relative positions of different patches </a:t>
            </a:r>
            <a:r>
              <a:rPr lang="en-US" sz="2800" b="0" i="0" dirty="0">
                <a:solidFill>
                  <a:srgbClr val="292929"/>
                </a:solidFill>
                <a:effectLst/>
                <a:latin typeface="Inter"/>
              </a:rPr>
              <a:t>in the image.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292929"/>
              </a:solidFill>
              <a:effectLst/>
              <a:highlight>
                <a:srgbClr val="FAFAFA"/>
              </a:highlight>
              <a:latin typeface="Inter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D0591D-B391-BB7F-57A8-FF64F0BAF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C74E-1647-4479-8918-E220C0039684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078A55-7D91-9262-BA67-E2C942E09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23DBB0-9DDA-799F-61AC-385D2916C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7950E62-3936-13EE-F80B-38CE8805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Working: </a:t>
            </a:r>
            <a:r>
              <a:rPr lang="en-US" dirty="0" err="1"/>
              <a:t>ViT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0997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7F2BBC-8215-10E8-B72A-7DF3764E5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i="0" dirty="0">
                <a:solidFill>
                  <a:srgbClr val="292929"/>
                </a:solidFill>
                <a:effectLst/>
                <a:latin typeface="Inter"/>
              </a:rPr>
              <a:t>Transformer Encoder: </a:t>
            </a:r>
          </a:p>
          <a:p>
            <a:pPr lvl="1"/>
            <a:r>
              <a:rPr lang="en-US" sz="2800" b="0" i="0" dirty="0">
                <a:solidFill>
                  <a:srgbClr val="292929"/>
                </a:solidFill>
                <a:effectLst/>
                <a:latin typeface="Inter"/>
              </a:rPr>
              <a:t>The input to a standard Transformer encoder comprises the sequence of 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Inter"/>
              </a:rPr>
              <a:t>patch embeddings and positional embeddings</a:t>
            </a:r>
            <a:r>
              <a:rPr lang="en-US" sz="2800" b="0" i="0" dirty="0">
                <a:solidFill>
                  <a:srgbClr val="292929"/>
                </a:solidFill>
                <a:effectLst/>
                <a:latin typeface="Inter"/>
              </a:rPr>
              <a:t>. </a:t>
            </a:r>
          </a:p>
          <a:p>
            <a:pPr lvl="1"/>
            <a:r>
              <a:rPr lang="en-US" sz="2800" b="0" i="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Inter"/>
              </a:rPr>
              <a:t>Layer normalization (LN) </a:t>
            </a:r>
            <a:r>
              <a:rPr lang="en-US" sz="2800" b="0" i="0" dirty="0">
                <a:solidFill>
                  <a:srgbClr val="292929"/>
                </a:solidFill>
                <a:effectLst/>
                <a:latin typeface="Inter"/>
              </a:rPr>
              <a:t>is applied to scale the data within the layer, ensuring stability and efficiency during training.</a:t>
            </a:r>
          </a:p>
          <a:p>
            <a:pPr lvl="1"/>
            <a:r>
              <a:rPr lang="en-US" sz="2800" b="0" i="0" dirty="0">
                <a:solidFill>
                  <a:srgbClr val="292929"/>
                </a:solidFill>
                <a:effectLst/>
                <a:latin typeface="Inter"/>
              </a:rPr>
              <a:t>This encoder is composed of two main components: </a:t>
            </a:r>
          </a:p>
          <a:p>
            <a:pPr lvl="2"/>
            <a:r>
              <a:rPr lang="en-US" sz="2400" b="0" i="0" dirty="0">
                <a:solidFill>
                  <a:srgbClr val="00B050"/>
                </a:solidFill>
                <a:effectLst/>
                <a:latin typeface="Inter"/>
              </a:rPr>
              <a:t>Multi-head self-attention </a:t>
            </a:r>
          </a:p>
          <a:p>
            <a:pPr lvl="2"/>
            <a:r>
              <a:rPr lang="en-US" sz="2400" dirty="0">
                <a:solidFill>
                  <a:srgbClr val="00B050"/>
                </a:solidFill>
                <a:latin typeface="Inter"/>
              </a:rPr>
              <a:t>M</a:t>
            </a:r>
            <a:r>
              <a:rPr lang="en-US" sz="2400" b="0" i="0" dirty="0">
                <a:solidFill>
                  <a:srgbClr val="00B050"/>
                </a:solidFill>
                <a:effectLst/>
                <a:latin typeface="Inter"/>
              </a:rPr>
              <a:t>ulti-layer perceptron (MLP) blocks.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5AC911-FFE9-69A8-4A58-833A12141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E12E4-8813-4ADD-82E6-E982650D4F2A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43392C-DE3D-3379-9E4C-0F8B20389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F3243E-B34B-1AC8-D40F-8FB6EC280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92228A9-EF84-0A02-C657-5039F1CA1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Working: </a:t>
            </a:r>
            <a:r>
              <a:rPr lang="en-US" dirty="0" err="1"/>
              <a:t>ViT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2526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FC1137-06CB-912B-1B53-38ADA0782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Gaussian Error Linear Unit (GELU)</a:t>
            </a:r>
          </a:p>
          <a:p>
            <a:pPr lvl="1"/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An approximation to GELU is performed using</a:t>
            </a:r>
            <a:endParaRPr lang="en-US" sz="2800" dirty="0"/>
          </a:p>
          <a:p>
            <a:pPr algn="l">
              <a:buFont typeface="Arial" panose="020B0604020202020204" pitchFamily="34" charset="0"/>
              <a:buChar char="•"/>
            </a:pPr>
            <a:endParaRPr lang="en-US" b="1" dirty="0">
              <a:solidFill>
                <a:srgbClr val="292929"/>
              </a:solidFill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b="1" dirty="0">
              <a:solidFill>
                <a:srgbClr val="292929"/>
              </a:solidFill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92929"/>
                </a:solidFill>
                <a:effectLst/>
                <a:latin typeface="Inter"/>
              </a:rPr>
              <a:t>Classification Token:</a:t>
            </a:r>
            <a:r>
              <a:rPr lang="en-US" b="0" i="0" dirty="0">
                <a:solidFill>
                  <a:srgbClr val="292929"/>
                </a:solidFill>
                <a:effectLst/>
                <a:latin typeface="Inter"/>
              </a:rPr>
              <a:t>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92929"/>
                </a:solidFill>
                <a:effectLst/>
                <a:latin typeface="Inter"/>
              </a:rPr>
              <a:t>The classification head is </a:t>
            </a:r>
            <a:r>
              <a:rPr lang="en-US" b="0" i="0" dirty="0">
                <a:solidFill>
                  <a:srgbClr val="00B050"/>
                </a:solidFill>
                <a:effectLst/>
                <a:latin typeface="Inter"/>
              </a:rPr>
              <a:t>implemented by a MLP with one hidden layer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92929"/>
                </a:solidFill>
                <a:effectLst/>
                <a:latin typeface="Inter"/>
              </a:rPr>
              <a:t>To enable image classification, a special "</a:t>
            </a:r>
            <a:r>
              <a:rPr lang="en-US" b="0" i="0" dirty="0">
                <a:solidFill>
                  <a:srgbClr val="FF0000"/>
                </a:solidFill>
                <a:effectLst/>
                <a:latin typeface="Inter"/>
              </a:rPr>
              <a:t>classification token</a:t>
            </a:r>
            <a:r>
              <a:rPr lang="en-US" b="0" i="0" dirty="0">
                <a:solidFill>
                  <a:srgbClr val="292929"/>
                </a:solidFill>
                <a:effectLst/>
                <a:latin typeface="Inter"/>
              </a:rPr>
              <a:t>" is </a:t>
            </a:r>
            <a:r>
              <a:rPr lang="en-US" b="0" i="0" dirty="0">
                <a:solidFill>
                  <a:srgbClr val="00B0F0"/>
                </a:solidFill>
                <a:effectLst/>
                <a:latin typeface="Inter"/>
              </a:rPr>
              <a:t>prepended to the sequence of patch embeddings</a:t>
            </a:r>
            <a:r>
              <a:rPr lang="en-US" b="0" i="0" dirty="0">
                <a:solidFill>
                  <a:srgbClr val="292929"/>
                </a:solidFill>
                <a:effectLst/>
                <a:latin typeface="Inter"/>
              </a:rPr>
              <a:t>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92929"/>
                </a:solidFill>
                <a:effectLst/>
                <a:latin typeface="Inter"/>
              </a:rPr>
              <a:t>This token's state at the output of the Transformer encoder serves as the representation of the entire image.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9DC3E9-9032-9C76-C40A-A263C58D4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A5B74-B244-4F98-9EA5-F5AE04441E40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297C3F-2B83-7555-BFD0-D6B58607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BB6C0D-A096-0446-1ADC-4A57BDC39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99C6106-1EA2-9C04-9D18-5AE09AF2E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Working: </a:t>
            </a:r>
            <a:r>
              <a:rPr lang="en-US" dirty="0" err="1"/>
              <a:t>ViT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C325C8-BB37-FF04-5887-8B1FF58C8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429" y="2667000"/>
            <a:ext cx="6541171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0190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A5353E-D2C2-DF64-3F3A-633293C0FCF1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b="0" i="0" dirty="0">
                <a:solidFill>
                  <a:srgbClr val="191919"/>
                </a:solidFill>
                <a:effectLst/>
                <a:latin typeface="Inter"/>
              </a:rPr>
              <a:t>Read the Vision Transformer Paper in Details:</a:t>
            </a:r>
          </a:p>
          <a:p>
            <a:pPr lvl="1"/>
            <a:r>
              <a:rPr lang="en-US" b="1" dirty="0">
                <a:solidFill>
                  <a:srgbClr val="191919"/>
                </a:solidFill>
                <a:latin typeface="Inter"/>
                <a:hlinkClick r:id="rId2"/>
              </a:rPr>
              <a:t>Download Paper</a:t>
            </a:r>
            <a:r>
              <a:rPr lang="en-US" dirty="0">
                <a:solidFill>
                  <a:srgbClr val="191919"/>
                </a:solidFill>
                <a:latin typeface="Inter"/>
              </a:rPr>
              <a:t> </a:t>
            </a:r>
          </a:p>
          <a:p>
            <a:r>
              <a:rPr lang="en-US" b="0" i="0" dirty="0">
                <a:solidFill>
                  <a:srgbClr val="191919"/>
                </a:solidFill>
                <a:effectLst/>
                <a:latin typeface="Inter"/>
              </a:rPr>
              <a:t>Specifically look at these questions.</a:t>
            </a:r>
          </a:p>
          <a:p>
            <a:pPr lvl="1"/>
            <a:r>
              <a:rPr lang="en-US" b="0" i="0" dirty="0">
                <a:solidFill>
                  <a:srgbClr val="191919"/>
                </a:solidFill>
                <a:effectLst/>
                <a:latin typeface="Inter"/>
              </a:rPr>
              <a:t>Why Vision Transformer has much less image-specific inductive bias than CNNs?</a:t>
            </a:r>
          </a:p>
          <a:p>
            <a:pPr lvl="1"/>
            <a:r>
              <a:rPr lang="en-US" dirty="0">
                <a:solidFill>
                  <a:srgbClr val="191919"/>
                </a:solidFill>
                <a:latin typeface="Inter"/>
              </a:rPr>
              <a:t>How the </a:t>
            </a:r>
            <a:r>
              <a:rPr lang="en-US" b="0" i="0" dirty="0">
                <a:solidFill>
                  <a:srgbClr val="191919"/>
                </a:solidFill>
                <a:effectLst/>
                <a:latin typeface="Inter"/>
              </a:rPr>
              <a:t>Hybrid Architecture is tested in </a:t>
            </a:r>
            <a:r>
              <a:rPr lang="en-US" b="0" i="0" dirty="0" err="1">
                <a:solidFill>
                  <a:srgbClr val="191919"/>
                </a:solidFill>
                <a:effectLst/>
                <a:latin typeface="Inter"/>
              </a:rPr>
              <a:t>ViT</a:t>
            </a:r>
            <a:r>
              <a:rPr lang="en-US" b="0" i="0" dirty="0">
                <a:solidFill>
                  <a:srgbClr val="191919"/>
                </a:solidFill>
                <a:effectLst/>
                <a:latin typeface="Inter"/>
              </a:rPr>
              <a:t> paper?</a:t>
            </a:r>
          </a:p>
          <a:p>
            <a:pPr lvl="1"/>
            <a:r>
              <a:rPr lang="en-US" dirty="0">
                <a:solidFill>
                  <a:srgbClr val="191919"/>
                </a:solidFill>
                <a:latin typeface="Inter"/>
              </a:rPr>
              <a:t>How Fine-Tuning is performed?</a:t>
            </a:r>
          </a:p>
          <a:p>
            <a:pPr lvl="1"/>
            <a:r>
              <a:rPr lang="en-US" dirty="0">
                <a:solidFill>
                  <a:srgbClr val="191919"/>
                </a:solidFill>
                <a:latin typeface="Inter"/>
              </a:rPr>
              <a:t>Explain what is self-supervised pre-training?</a:t>
            </a:r>
          </a:p>
          <a:p>
            <a:pPr lvl="1"/>
            <a:r>
              <a:rPr lang="en-US" dirty="0">
                <a:solidFill>
                  <a:srgbClr val="191919"/>
                </a:solidFill>
                <a:latin typeface="Inter"/>
              </a:rPr>
              <a:t>What challenges are highlighted by </a:t>
            </a:r>
            <a:r>
              <a:rPr lang="en-US" dirty="0" err="1">
                <a:solidFill>
                  <a:srgbClr val="191919"/>
                </a:solidFill>
                <a:latin typeface="Inter"/>
              </a:rPr>
              <a:t>ViT</a:t>
            </a:r>
            <a:r>
              <a:rPr lang="en-US" dirty="0">
                <a:solidFill>
                  <a:srgbClr val="191919"/>
                </a:solidFill>
                <a:latin typeface="Inter"/>
              </a:rPr>
              <a:t> paper?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E75632-5CB3-0419-0E63-3C40CC4E6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253F-187E-437F-ACE5-FCDEB9D4EFB2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7A5320-1D3B-A88D-B4D7-A19C66ABE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66162A-668A-D847-1D73-3DAC8F102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68B2FC0-5A33-025D-13AA-C4659645B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Task</a:t>
            </a:r>
          </a:p>
        </p:txBody>
      </p:sp>
    </p:spTree>
    <p:extLst>
      <p:ext uri="{BB962C8B-B14F-4D97-AF65-F5344CB8AC3E}">
        <p14:creationId xmlns:p14="http://schemas.microsoft.com/office/powerpoint/2010/main" val="14658262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9C232-B888-0EB2-61B2-BEB4A9839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AC1AA-A3FB-9995-AC6E-943FF959E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152" y="2866672"/>
            <a:ext cx="7886700" cy="606423"/>
          </a:xfrm>
        </p:spPr>
        <p:txBody>
          <a:bodyPr>
            <a:noAutofit/>
          </a:bodyPr>
          <a:lstStyle/>
          <a:p>
            <a:pPr algn="ctr"/>
            <a:r>
              <a:rPr lang="en-US" sz="7200" dirty="0"/>
              <a:t>Thank You </a:t>
            </a:r>
            <a:r>
              <a:rPr lang="en-US" sz="7200" dirty="0">
                <a:sym typeface="Wingdings" panose="05000000000000000000" pitchFamily="2" charset="2"/>
              </a:rPr>
              <a:t> </a:t>
            </a:r>
            <a:endParaRPr lang="en-US" sz="7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662930-1E6D-DB8B-BF0D-190341163676}"/>
              </a:ext>
            </a:extLst>
          </p:cNvPr>
          <p:cNvSpPr/>
          <p:nvPr/>
        </p:nvSpPr>
        <p:spPr>
          <a:xfrm>
            <a:off x="1726676" y="762000"/>
            <a:ext cx="8484124" cy="14045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9C136B-6D9E-DD01-551C-E8A7BE12B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2F37-302F-42F2-9029-E364DD370268}" type="slidenum">
              <a:rPr lang="en-US" smtClean="0"/>
              <a:t>23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44BC09-5E7A-E3EF-EDF4-FBE56520E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086D0-6781-45DE-A1A4-3124AE088CF3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D263B-13BE-7E81-C490-6BF84DA20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Presented by    Dr. Noshina Tariq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305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41622</TotalTime>
  <Words>1012</Words>
  <Application>Microsoft Office PowerPoint</Application>
  <PresentationFormat>Widescreen</PresentationFormat>
  <Paragraphs>172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SimSun</vt:lpstr>
      <vt:lpstr>Arial</vt:lpstr>
      <vt:lpstr>Arial</vt:lpstr>
      <vt:lpstr>Calibri</vt:lpstr>
      <vt:lpstr>Inter</vt:lpstr>
      <vt:lpstr>KaTeX_Main</vt:lpstr>
      <vt:lpstr>KaTeX_Math</vt:lpstr>
      <vt:lpstr>Söhne</vt:lpstr>
      <vt:lpstr>source-serif-pro</vt:lpstr>
      <vt:lpstr>Wingdings</vt:lpstr>
      <vt:lpstr>Office Theme</vt:lpstr>
      <vt:lpstr>PowerPoint Presentation</vt:lpstr>
      <vt:lpstr>Goals</vt:lpstr>
      <vt:lpstr>Recap of Previous Lecture</vt:lpstr>
      <vt:lpstr>Transformer Model Architecture</vt:lpstr>
      <vt:lpstr>Self-Attention &amp; Cross-Attention</vt:lpstr>
      <vt:lpstr>Multi-Head Attention</vt:lpstr>
      <vt:lpstr>Multi-Head Attention</vt:lpstr>
      <vt:lpstr>Training Transformers</vt:lpstr>
      <vt:lpstr>Multi-Head Attention</vt:lpstr>
      <vt:lpstr>Transformer Implementation</vt:lpstr>
      <vt:lpstr>Solved Numerical Example</vt:lpstr>
      <vt:lpstr>Today’s Lecture</vt:lpstr>
      <vt:lpstr>AN IMAGE IS WORTH 16X16 WORDS: TRANSFORMERS FOR IMAGE RECOGNITION AT SCALE Vision Transformer (ViT)</vt:lpstr>
      <vt:lpstr>Vision Transformer (ViT)</vt:lpstr>
      <vt:lpstr>Vision Transformer (ViT)</vt:lpstr>
      <vt:lpstr>Vision Transformer (ViT)</vt:lpstr>
      <vt:lpstr>Vision Transformer (ViT)</vt:lpstr>
      <vt:lpstr>Working: ViT</vt:lpstr>
      <vt:lpstr>Working: ViT</vt:lpstr>
      <vt:lpstr>Working: ViT</vt:lpstr>
      <vt:lpstr>Working: ViT</vt:lpstr>
      <vt:lpstr>Reading Task</vt:lpstr>
      <vt:lpstr>Thank You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AKHTAR JAMIL</dc:creator>
  <cp:lastModifiedBy>Noshina Tariq</cp:lastModifiedBy>
  <cp:revision>2139</cp:revision>
  <dcterms:created xsi:type="dcterms:W3CDTF">2006-08-16T00:00:00Z</dcterms:created>
  <dcterms:modified xsi:type="dcterms:W3CDTF">2025-11-28T16:13:23Z</dcterms:modified>
</cp:coreProperties>
</file>