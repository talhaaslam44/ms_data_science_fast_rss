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0"/>
  </p:notesMasterIdLst>
  <p:sldIdLst>
    <p:sldId id="352" r:id="rId2"/>
    <p:sldId id="421" r:id="rId3"/>
    <p:sldId id="1691" r:id="rId4"/>
    <p:sldId id="1692" r:id="rId5"/>
    <p:sldId id="1693" r:id="rId6"/>
    <p:sldId id="287" r:id="rId7"/>
    <p:sldId id="288" r:id="rId8"/>
    <p:sldId id="1706" r:id="rId9"/>
    <p:sldId id="1707" r:id="rId10"/>
    <p:sldId id="291" r:id="rId11"/>
    <p:sldId id="293" r:id="rId12"/>
    <p:sldId id="294" r:id="rId13"/>
    <p:sldId id="295" r:id="rId14"/>
    <p:sldId id="1694" r:id="rId15"/>
    <p:sldId id="1695" r:id="rId16"/>
    <p:sldId id="1696" r:id="rId17"/>
    <p:sldId id="1697" r:id="rId18"/>
    <p:sldId id="1698" r:id="rId19"/>
    <p:sldId id="301" r:id="rId20"/>
    <p:sldId id="302" r:id="rId21"/>
    <p:sldId id="303" r:id="rId22"/>
    <p:sldId id="304" r:id="rId23"/>
    <p:sldId id="305" r:id="rId24"/>
    <p:sldId id="307" r:id="rId25"/>
    <p:sldId id="1700" r:id="rId26"/>
    <p:sldId id="1702" r:id="rId27"/>
    <p:sldId id="259" r:id="rId28"/>
    <p:sldId id="260" r:id="rId29"/>
    <p:sldId id="261" r:id="rId30"/>
    <p:sldId id="262" r:id="rId31"/>
    <p:sldId id="1703" r:id="rId32"/>
    <p:sldId id="265" r:id="rId33"/>
    <p:sldId id="266" r:id="rId34"/>
    <p:sldId id="267" r:id="rId35"/>
    <p:sldId id="1705" r:id="rId36"/>
    <p:sldId id="269" r:id="rId37"/>
    <p:sldId id="1709" r:id="rId38"/>
    <p:sldId id="158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>
      <p:cViewPr varScale="1">
        <p:scale>
          <a:sx n="82" d="100"/>
          <a:sy n="82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477D754-3192-4D9D-AFCA-6E4082B43CAA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B766-65F0-4DA2-8A2E-3C832D554713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83EB-98F3-408C-85C4-33D1DF0FA7B8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92986-170B-4FAB-B510-78BDF3BE4113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F800-0A58-4C36-9403-A2500C8DC3CD}" type="datetime1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02990-012E-4BB1-8A33-184BA440CC6C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7DACA-9863-46BB-B0D6-AD46C41A5A9B}" type="datetime1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DD8C5-64A9-42FE-A62C-F4B8A46BAA9B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40737-B33E-4117-B165-687906206641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4CC68-B8F2-45C7-A1B1-C5AD83238C0C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433F-AE68-4C50-AAAB-5F6361ED1D55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99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DEDECE2-1E5F-4301-8BEA-AA4267EAD547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48A1-7664-41B3-A383-E0F932406881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55841" y="840211"/>
            <a:ext cx="723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rgbClr val="0099CC"/>
                </a:solidFill>
                <a:latin typeface="arial" panose="020B0604020202020204" pitchFamily="34" charset="0"/>
              </a:rPr>
              <a:t>The National University of Computer and Emerging Sciences</a:t>
            </a:r>
            <a:endParaRPr lang="en-US" sz="2800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8420099" cy="72985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Architectures of Convolutional Neural Networks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Deep Learning for Perception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53085"/>
            <a:ext cx="1864889" cy="186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marL="713831" lvl="1" indent="-302575">
              <a:spcBef>
                <a:spcPts val="7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24" spc="-4" dirty="0" err="1">
                <a:latin typeface="Arial MT"/>
                <a:cs typeface="Arial MT"/>
              </a:rPr>
              <a:t>ConvNets</a:t>
            </a:r>
            <a:r>
              <a:rPr lang="en-US" sz="2424" spc="-22" dirty="0">
                <a:latin typeface="Arial MT"/>
                <a:cs typeface="Arial MT"/>
              </a:rPr>
              <a:t> </a:t>
            </a:r>
            <a:r>
              <a:rPr lang="en-US" sz="2424" spc="4" dirty="0">
                <a:latin typeface="Arial MT"/>
                <a:cs typeface="Arial MT"/>
              </a:rPr>
              <a:t>vs.</a:t>
            </a:r>
            <a:r>
              <a:rPr lang="en-US" sz="2424" spc="-71" dirty="0">
                <a:latin typeface="Arial MT"/>
                <a:cs typeface="Arial MT"/>
              </a:rPr>
              <a:t> </a:t>
            </a:r>
            <a:r>
              <a:rPr lang="en-US" sz="2424" spc="-18" dirty="0">
                <a:latin typeface="Arial MT"/>
                <a:cs typeface="Arial MT"/>
              </a:rPr>
              <a:t>Traditional </a:t>
            </a:r>
            <a:r>
              <a:rPr lang="en-US" sz="2424" spc="-4" dirty="0">
                <a:latin typeface="Arial MT"/>
                <a:cs typeface="Arial MT"/>
              </a:rPr>
              <a:t>Computer</a:t>
            </a:r>
            <a:r>
              <a:rPr lang="en-US" sz="2424" spc="-13" dirty="0">
                <a:latin typeface="Arial MT"/>
                <a:cs typeface="Arial MT"/>
              </a:rPr>
              <a:t> Vision</a:t>
            </a:r>
            <a:endParaRPr lang="en-US" sz="2424" dirty="0">
              <a:latin typeface="Arial MT"/>
              <a:cs typeface="Arial MT"/>
            </a:endParaRPr>
          </a:p>
          <a:p>
            <a:pPr marL="713831" lvl="1" indent="-302575">
              <a:spcBef>
                <a:spcPts val="679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24" spc="-4" dirty="0" err="1">
                <a:latin typeface="Arial MT"/>
                <a:cs typeface="Arial MT"/>
              </a:rPr>
              <a:t>ConvNet</a:t>
            </a:r>
            <a:r>
              <a:rPr lang="en-US" sz="2424" spc="-194" dirty="0">
                <a:latin typeface="Arial MT"/>
                <a:cs typeface="Arial MT"/>
              </a:rPr>
              <a:t> </a:t>
            </a:r>
            <a:r>
              <a:rPr lang="en-US" sz="2424" spc="-4" dirty="0">
                <a:latin typeface="Arial MT"/>
                <a:cs typeface="Arial MT"/>
              </a:rPr>
              <a:t>Architectures</a:t>
            </a:r>
            <a:endParaRPr lang="en-US" sz="2424" dirty="0">
              <a:latin typeface="Arial MT"/>
              <a:cs typeface="Arial MT"/>
            </a:endParaRPr>
          </a:p>
          <a:p>
            <a:pPr marL="1067396" lvl="2" indent="-253827">
              <a:spcBef>
                <a:spcPts val="604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00B050"/>
                </a:solidFill>
                <a:latin typeface="Arial MT"/>
                <a:cs typeface="Arial MT"/>
              </a:rPr>
              <a:t>LeNet</a:t>
            </a:r>
            <a:endParaRPr lang="en-US" sz="2071" dirty="0">
              <a:solidFill>
                <a:srgbClr val="00B050"/>
              </a:solidFill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00B050"/>
                </a:solidFill>
                <a:latin typeface="Arial MT"/>
                <a:cs typeface="Arial MT"/>
              </a:rPr>
              <a:t>AlexNet</a:t>
            </a:r>
            <a:endParaRPr lang="en-US" sz="2071" dirty="0">
              <a:solidFill>
                <a:srgbClr val="00B050"/>
              </a:solidFill>
              <a:latin typeface="Arial MT"/>
              <a:cs typeface="Arial MT"/>
            </a:endParaRPr>
          </a:p>
          <a:p>
            <a:pPr marL="1067396" lvl="2" indent="-253827">
              <a:spcBef>
                <a:spcPts val="591"/>
              </a:spcBef>
              <a:buChar char="–"/>
              <a:tabLst>
                <a:tab pos="667906" algn="l"/>
              </a:tabLst>
            </a:pPr>
            <a:r>
              <a:rPr lang="en-US" sz="2071" spc="-9" dirty="0">
                <a:solidFill>
                  <a:srgbClr val="00B050"/>
                </a:solidFill>
                <a:latin typeface="Arial MT"/>
                <a:cs typeface="Arial MT"/>
              </a:rPr>
              <a:t>VGG</a:t>
            </a:r>
            <a:endParaRPr lang="en-US" sz="2071" dirty="0">
              <a:solidFill>
                <a:srgbClr val="00B050"/>
              </a:solidFill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lang="en-US" sz="2071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071" dirty="0">
                <a:solidFill>
                  <a:srgbClr val="FF0000"/>
                </a:solidFill>
                <a:latin typeface="Arial MT"/>
                <a:cs typeface="Arial MT"/>
              </a:rPr>
              <a:t>Inception</a:t>
            </a:r>
            <a:r>
              <a:rPr lang="en-US" sz="2071" spc="-26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071" spc="-4" dirty="0">
                <a:solidFill>
                  <a:srgbClr val="FF0000"/>
                </a:solidFill>
                <a:latin typeface="Arial MT"/>
                <a:cs typeface="Arial MT"/>
              </a:rPr>
              <a:t>Family</a:t>
            </a:r>
            <a:endParaRPr lang="en-US" sz="2071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1476990" lvl="3" indent="-202277">
              <a:spcBef>
                <a:spcPts val="521"/>
              </a:spcBef>
              <a:buChar char="•"/>
              <a:tabLst>
                <a:tab pos="1019790" algn="l"/>
              </a:tabLst>
            </a:pPr>
            <a:r>
              <a:rPr lang="en-US" sz="1918" spc="-4" dirty="0">
                <a:solidFill>
                  <a:srgbClr val="FF0000"/>
                </a:solidFill>
                <a:latin typeface="Arial MT"/>
                <a:cs typeface="Arial MT"/>
              </a:rPr>
              <a:t>V1,</a:t>
            </a:r>
            <a:r>
              <a:rPr lang="en-US" sz="1918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FF0000"/>
                </a:solidFill>
                <a:latin typeface="Arial MT"/>
                <a:cs typeface="Arial MT"/>
              </a:rPr>
              <a:t>V2,</a:t>
            </a:r>
            <a:r>
              <a:rPr lang="en-US" sz="1918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FF0000"/>
                </a:solidFill>
                <a:latin typeface="Arial MT"/>
                <a:cs typeface="Arial MT"/>
              </a:rPr>
              <a:t>V3,</a:t>
            </a:r>
            <a:r>
              <a:rPr lang="en-US" sz="1918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FF0000"/>
                </a:solidFill>
                <a:latin typeface="Arial MT"/>
                <a:cs typeface="Arial MT"/>
              </a:rPr>
              <a:t>V4,</a:t>
            </a:r>
            <a:r>
              <a:rPr lang="en-US" sz="1918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FF0000"/>
                </a:solidFill>
                <a:latin typeface="Arial MT"/>
                <a:cs typeface="Arial MT"/>
              </a:rPr>
              <a:t>Inception-</a:t>
            </a:r>
            <a:r>
              <a:rPr lang="en-US" sz="1918" spc="-4" dirty="0" err="1">
                <a:solidFill>
                  <a:srgbClr val="FF0000"/>
                </a:solidFill>
                <a:latin typeface="Arial MT"/>
                <a:cs typeface="Arial MT"/>
              </a:rPr>
              <a:t>ResNet</a:t>
            </a:r>
            <a:r>
              <a:rPr lang="en-US" sz="1918" spc="-4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lang="en-US" sz="1918" spc="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1918" spc="-4" dirty="0" err="1">
                <a:solidFill>
                  <a:srgbClr val="FF0000"/>
                </a:solidFill>
                <a:latin typeface="Arial MT"/>
                <a:cs typeface="Arial MT"/>
              </a:rPr>
              <a:t>Xception</a:t>
            </a:r>
            <a:endParaRPr lang="en-US" sz="1918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1067396" lvl="2" indent="-253827">
              <a:spcBef>
                <a:spcPts val="578"/>
              </a:spcBef>
              <a:buChar char="–"/>
              <a:tabLst>
                <a:tab pos="667906" algn="l"/>
              </a:tabLst>
            </a:pPr>
            <a:r>
              <a:rPr lang="en-US" sz="2071" dirty="0">
                <a:solidFill>
                  <a:srgbClr val="FF0000"/>
                </a:solidFill>
                <a:latin typeface="Arial MT"/>
                <a:cs typeface="Arial MT"/>
              </a:rPr>
              <a:t>Resent</a:t>
            </a: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FF0000"/>
                </a:solidFill>
                <a:latin typeface="Arial MT"/>
                <a:cs typeface="Arial MT"/>
              </a:rPr>
              <a:t>DenseNet</a:t>
            </a:r>
            <a:endParaRPr lang="en-US" sz="2071" dirty="0">
              <a:solidFill>
                <a:srgbClr val="FF0000"/>
              </a:solidFill>
              <a:latin typeface="Arial MT"/>
              <a:cs typeface="Arial MT"/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4782-60AA-4188-8D8B-72158320B002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DF64C6-52D3-25F9-A4F8-39F3DF76B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Using the 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dimension reduced inception module</a:t>
            </a:r>
            <a:r>
              <a:rPr lang="en-US" sz="2800" spc="-4" dirty="0">
                <a:latin typeface="Arial"/>
                <a:cs typeface="Arial"/>
              </a:rPr>
              <a:t>, a neural  network architecture was built (2014) which got the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first place  in the 2014 </a:t>
            </a:r>
            <a:r>
              <a:rPr lang="en-US" sz="2800" spc="-4" dirty="0">
                <a:latin typeface="Arial"/>
                <a:cs typeface="Arial"/>
              </a:rPr>
              <a:t>ImageNet competition for classification and  detection</a:t>
            </a:r>
            <a:r>
              <a:rPr lang="en-US" sz="2800" spc="4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challenges.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 err="1">
                <a:solidFill>
                  <a:srgbClr val="0070C0"/>
                </a:solidFill>
                <a:latin typeface="Arial"/>
                <a:cs typeface="Arial"/>
              </a:rPr>
              <a:t>GoogLeNet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 has 9 such inception modules </a:t>
            </a:r>
            <a:r>
              <a:rPr lang="en-US" sz="2800" spc="-4" dirty="0">
                <a:latin typeface="Arial"/>
                <a:cs typeface="Arial"/>
              </a:rPr>
              <a:t>stacked</a:t>
            </a:r>
            <a:r>
              <a:rPr lang="en-US" sz="2800" spc="84" dirty="0">
                <a:latin typeface="Arial"/>
                <a:cs typeface="Arial"/>
              </a:rPr>
              <a:t> </a:t>
            </a:r>
            <a:r>
              <a:rPr lang="en-US" sz="2800" spc="-22" dirty="0">
                <a:latin typeface="Arial"/>
                <a:cs typeface="Arial"/>
              </a:rPr>
              <a:t>linearly.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GAP layer after last inception module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It </a:t>
            </a:r>
            <a:r>
              <a:rPr lang="en-US" sz="2800" spc="-4" dirty="0">
                <a:latin typeface="Arial"/>
                <a:cs typeface="Arial"/>
              </a:rPr>
              <a:t>is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22 layers </a:t>
            </a:r>
            <a:r>
              <a:rPr lang="en-US" sz="2800" spc="-4" dirty="0">
                <a:latin typeface="Arial"/>
                <a:cs typeface="Arial"/>
              </a:rPr>
              <a:t>deep (27, including the pooling</a:t>
            </a:r>
            <a:r>
              <a:rPr lang="en-US" sz="2800" spc="97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layers).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It </a:t>
            </a:r>
            <a:r>
              <a:rPr lang="en-US" sz="2800" spc="-4" dirty="0">
                <a:latin typeface="Arial"/>
                <a:cs typeface="Arial"/>
              </a:rPr>
              <a:t>achieved a 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top-5 error rate with of</a:t>
            </a:r>
            <a:r>
              <a:rPr lang="en-US" sz="2800" spc="13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6.67%</a:t>
            </a:r>
            <a:endParaRPr lang="en-US" sz="2800" dirty="0">
              <a:solidFill>
                <a:srgbClr val="0070C0"/>
              </a:solidFill>
              <a:latin typeface="Arial"/>
              <a:cs typeface="Arial"/>
            </a:endParaRPr>
          </a:p>
          <a:p>
            <a:pPr marL="313781" marR="1115045" indent="-302575">
              <a:spcBef>
                <a:spcPts val="512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It </a:t>
            </a:r>
            <a:r>
              <a:rPr lang="en-US" sz="2800" spc="-4" dirty="0">
                <a:latin typeface="Arial"/>
                <a:cs typeface="Arial"/>
              </a:rPr>
              <a:t>reduces the number of parameters from </a:t>
            </a:r>
            <a:r>
              <a:rPr lang="en-US" sz="2800" spc="-4" dirty="0">
                <a:solidFill>
                  <a:srgbClr val="C00000"/>
                </a:solidFill>
                <a:latin typeface="Arial"/>
                <a:cs typeface="Arial"/>
              </a:rPr>
              <a:t>60 million  (</a:t>
            </a:r>
            <a:r>
              <a:rPr lang="en-US" sz="2800" spc="-4" dirty="0" err="1">
                <a:solidFill>
                  <a:srgbClr val="C00000"/>
                </a:solidFill>
                <a:latin typeface="Arial"/>
                <a:cs typeface="Arial"/>
              </a:rPr>
              <a:t>AlexNet</a:t>
            </a:r>
            <a:r>
              <a:rPr lang="en-US" sz="2800" spc="-4" dirty="0">
                <a:solidFill>
                  <a:srgbClr val="C00000"/>
                </a:solidFill>
                <a:latin typeface="Arial"/>
                <a:cs typeface="Arial"/>
              </a:rPr>
              <a:t>) </a:t>
            </a:r>
            <a:r>
              <a:rPr lang="en-US" sz="2800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lang="en-US" sz="2800" spc="-4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lang="en-US" sz="2800" spc="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C00000"/>
                </a:solidFill>
                <a:latin typeface="Arial"/>
                <a:cs typeface="Arial"/>
              </a:rPr>
              <a:t>million.</a:t>
            </a:r>
            <a:endParaRPr lang="en-US" sz="2800" dirty="0">
              <a:solidFill>
                <a:srgbClr val="C0000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0B99868-300A-49E3-B609-6E39907F41E1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20DB0A-D371-FA71-68D4-B34A5E9EF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1961058C-B527-453C-BB90-CFD3317AEA7E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4200" y="1617307"/>
            <a:ext cx="5771288" cy="40943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C6B94B7-6DF0-4430-0070-7DEF41722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4" dirty="0">
                <a:latin typeface="Arial"/>
                <a:cs typeface="Arial"/>
              </a:rPr>
              <a:t>Put Inception blocks together </a:t>
            </a:r>
            <a:r>
              <a:rPr lang="en-US" sz="2800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get the</a:t>
            </a:r>
            <a:r>
              <a:rPr lang="en-US" sz="2800" spc="9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network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5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49B8A0A8-B650-4E06-B4B7-9FD3D62C1377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grpSp>
        <p:nvGrpSpPr>
          <p:cNvPr id="3" name="object 3"/>
          <p:cNvGrpSpPr/>
          <p:nvPr/>
        </p:nvGrpSpPr>
        <p:grpSpPr>
          <a:xfrm>
            <a:off x="2781300" y="2133600"/>
            <a:ext cx="6629400" cy="4336676"/>
            <a:chOff x="623397" y="1438655"/>
            <a:chExt cx="8864600" cy="5519420"/>
          </a:xfrm>
        </p:grpSpPr>
        <p:sp>
          <p:nvSpPr>
            <p:cNvPr id="4" name="object 4"/>
            <p:cNvSpPr/>
            <p:nvPr/>
          </p:nvSpPr>
          <p:spPr>
            <a:xfrm>
              <a:off x="623397" y="3299269"/>
              <a:ext cx="8864191" cy="365874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4238243" y="1438655"/>
              <a:ext cx="3966971" cy="29519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9C4B693-E9B5-B44D-68EC-9DFB75B11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6</a:t>
            </a:fld>
            <a:endParaRPr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2DC5BC17-EBF7-42B8-88E2-0E188879AF0B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grpSp>
        <p:nvGrpSpPr>
          <p:cNvPr id="3" name="object 3"/>
          <p:cNvGrpSpPr/>
          <p:nvPr/>
        </p:nvGrpSpPr>
        <p:grpSpPr>
          <a:xfrm>
            <a:off x="889860" y="1282929"/>
            <a:ext cx="9150946" cy="4261576"/>
            <a:chOff x="676765" y="1369779"/>
            <a:chExt cx="8865870" cy="3657600"/>
          </a:xfrm>
        </p:grpSpPr>
        <p:sp>
          <p:nvSpPr>
            <p:cNvPr id="4" name="object 4"/>
            <p:cNvSpPr/>
            <p:nvPr/>
          </p:nvSpPr>
          <p:spPr>
            <a:xfrm>
              <a:off x="676765" y="1369779"/>
              <a:ext cx="8865685" cy="365734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8112251" y="3008376"/>
              <a:ext cx="1295400" cy="676910"/>
            </a:xfrm>
            <a:custGeom>
              <a:avLst/>
              <a:gdLst/>
              <a:ahLst/>
              <a:cxnLst/>
              <a:rect l="l" t="t" r="r" b="b"/>
              <a:pathLst>
                <a:path w="1295400" h="676910">
                  <a:moveTo>
                    <a:pt x="12700" y="408432"/>
                  </a:moveTo>
                  <a:lnTo>
                    <a:pt x="12700" y="268224"/>
                  </a:lnTo>
                  <a:lnTo>
                    <a:pt x="0" y="284988"/>
                  </a:lnTo>
                  <a:lnTo>
                    <a:pt x="0" y="391668"/>
                  </a:lnTo>
                  <a:lnTo>
                    <a:pt x="12700" y="408432"/>
                  </a:lnTo>
                  <a:close/>
                </a:path>
                <a:path w="1295400" h="676910">
                  <a:moveTo>
                    <a:pt x="1282700" y="425196"/>
                  </a:moveTo>
                  <a:lnTo>
                    <a:pt x="1282700" y="251460"/>
                  </a:lnTo>
                  <a:lnTo>
                    <a:pt x="1270000" y="234696"/>
                  </a:lnTo>
                  <a:lnTo>
                    <a:pt x="1257300" y="219456"/>
                  </a:lnTo>
                  <a:lnTo>
                    <a:pt x="1244600" y="202692"/>
                  </a:lnTo>
                  <a:lnTo>
                    <a:pt x="1231900" y="187452"/>
                  </a:lnTo>
                  <a:lnTo>
                    <a:pt x="1219200" y="173736"/>
                  </a:lnTo>
                  <a:lnTo>
                    <a:pt x="1181100" y="146304"/>
                  </a:lnTo>
                  <a:lnTo>
                    <a:pt x="1168400" y="132588"/>
                  </a:lnTo>
                  <a:lnTo>
                    <a:pt x="1143000" y="120396"/>
                  </a:lnTo>
                  <a:lnTo>
                    <a:pt x="1104900" y="96012"/>
                  </a:lnTo>
                  <a:lnTo>
                    <a:pt x="1054100" y="74676"/>
                  </a:lnTo>
                  <a:lnTo>
                    <a:pt x="1041400" y="65532"/>
                  </a:lnTo>
                  <a:lnTo>
                    <a:pt x="1016000" y="56388"/>
                  </a:lnTo>
                  <a:lnTo>
                    <a:pt x="977900" y="47244"/>
                  </a:lnTo>
                  <a:lnTo>
                    <a:pt x="927100" y="32004"/>
                  </a:lnTo>
                  <a:lnTo>
                    <a:pt x="863600" y="19812"/>
                  </a:lnTo>
                  <a:lnTo>
                    <a:pt x="774700" y="6096"/>
                  </a:lnTo>
                  <a:lnTo>
                    <a:pt x="749300" y="4572"/>
                  </a:lnTo>
                  <a:lnTo>
                    <a:pt x="711200" y="1524"/>
                  </a:lnTo>
                  <a:lnTo>
                    <a:pt x="685800" y="0"/>
                  </a:lnTo>
                  <a:lnTo>
                    <a:pt x="609600" y="0"/>
                  </a:lnTo>
                  <a:lnTo>
                    <a:pt x="584200" y="1524"/>
                  </a:lnTo>
                  <a:lnTo>
                    <a:pt x="546100" y="4572"/>
                  </a:lnTo>
                  <a:lnTo>
                    <a:pt x="520700" y="6096"/>
                  </a:lnTo>
                  <a:lnTo>
                    <a:pt x="419100" y="19812"/>
                  </a:lnTo>
                  <a:lnTo>
                    <a:pt x="368300" y="32004"/>
                  </a:lnTo>
                  <a:lnTo>
                    <a:pt x="317500" y="47244"/>
                  </a:lnTo>
                  <a:lnTo>
                    <a:pt x="279400" y="56388"/>
                  </a:lnTo>
                  <a:lnTo>
                    <a:pt x="228600" y="74676"/>
                  </a:lnTo>
                  <a:lnTo>
                    <a:pt x="190500" y="96012"/>
                  </a:lnTo>
                  <a:lnTo>
                    <a:pt x="139700" y="120396"/>
                  </a:lnTo>
                  <a:lnTo>
                    <a:pt x="127000" y="132588"/>
                  </a:lnTo>
                  <a:lnTo>
                    <a:pt x="101600" y="146304"/>
                  </a:lnTo>
                  <a:lnTo>
                    <a:pt x="63500" y="187452"/>
                  </a:lnTo>
                  <a:lnTo>
                    <a:pt x="50800" y="202692"/>
                  </a:lnTo>
                  <a:lnTo>
                    <a:pt x="38100" y="219456"/>
                  </a:lnTo>
                  <a:lnTo>
                    <a:pt x="25400" y="234696"/>
                  </a:lnTo>
                  <a:lnTo>
                    <a:pt x="12700" y="251460"/>
                  </a:lnTo>
                  <a:lnTo>
                    <a:pt x="12700" y="425196"/>
                  </a:lnTo>
                  <a:lnTo>
                    <a:pt x="25400" y="441960"/>
                  </a:lnTo>
                  <a:lnTo>
                    <a:pt x="25400" y="294132"/>
                  </a:lnTo>
                  <a:lnTo>
                    <a:pt x="38100" y="277368"/>
                  </a:lnTo>
                  <a:lnTo>
                    <a:pt x="38100" y="265176"/>
                  </a:lnTo>
                  <a:lnTo>
                    <a:pt x="50800" y="248412"/>
                  </a:lnTo>
                  <a:lnTo>
                    <a:pt x="50800" y="249936"/>
                  </a:lnTo>
                  <a:lnTo>
                    <a:pt x="63500" y="234696"/>
                  </a:lnTo>
                  <a:lnTo>
                    <a:pt x="63500" y="222504"/>
                  </a:lnTo>
                  <a:lnTo>
                    <a:pt x="76200" y="207264"/>
                  </a:lnTo>
                  <a:lnTo>
                    <a:pt x="76200" y="208788"/>
                  </a:lnTo>
                  <a:lnTo>
                    <a:pt x="88900" y="193548"/>
                  </a:lnTo>
                  <a:lnTo>
                    <a:pt x="88900" y="195072"/>
                  </a:lnTo>
                  <a:lnTo>
                    <a:pt x="114300" y="181356"/>
                  </a:lnTo>
                  <a:lnTo>
                    <a:pt x="127000" y="169164"/>
                  </a:lnTo>
                  <a:lnTo>
                    <a:pt x="165100" y="144780"/>
                  </a:lnTo>
                  <a:lnTo>
                    <a:pt x="177800" y="132588"/>
                  </a:lnTo>
                  <a:lnTo>
                    <a:pt x="228600" y="111252"/>
                  </a:lnTo>
                  <a:lnTo>
                    <a:pt x="241300" y="102108"/>
                  </a:lnTo>
                  <a:lnTo>
                    <a:pt x="266700" y="91440"/>
                  </a:lnTo>
                  <a:lnTo>
                    <a:pt x="266700" y="92964"/>
                  </a:lnTo>
                  <a:lnTo>
                    <a:pt x="317500" y="74676"/>
                  </a:lnTo>
                  <a:lnTo>
                    <a:pt x="342900" y="67056"/>
                  </a:lnTo>
                  <a:lnTo>
                    <a:pt x="368300" y="60960"/>
                  </a:lnTo>
                  <a:lnTo>
                    <a:pt x="406400" y="53340"/>
                  </a:lnTo>
                  <a:lnTo>
                    <a:pt x="431800" y="48768"/>
                  </a:lnTo>
                  <a:lnTo>
                    <a:pt x="457200" y="42672"/>
                  </a:lnTo>
                  <a:lnTo>
                    <a:pt x="482600" y="38100"/>
                  </a:lnTo>
                  <a:lnTo>
                    <a:pt x="520700" y="35052"/>
                  </a:lnTo>
                  <a:lnTo>
                    <a:pt x="546100" y="32004"/>
                  </a:lnTo>
                  <a:lnTo>
                    <a:pt x="584200" y="30480"/>
                  </a:lnTo>
                  <a:lnTo>
                    <a:pt x="609600" y="28956"/>
                  </a:lnTo>
                  <a:lnTo>
                    <a:pt x="685800" y="28956"/>
                  </a:lnTo>
                  <a:lnTo>
                    <a:pt x="685800" y="29464"/>
                  </a:lnTo>
                  <a:lnTo>
                    <a:pt x="749300" y="32004"/>
                  </a:lnTo>
                  <a:lnTo>
                    <a:pt x="838200" y="42672"/>
                  </a:lnTo>
                  <a:lnTo>
                    <a:pt x="863600" y="48768"/>
                  </a:lnTo>
                  <a:lnTo>
                    <a:pt x="889000" y="53340"/>
                  </a:lnTo>
                  <a:lnTo>
                    <a:pt x="927100" y="60960"/>
                  </a:lnTo>
                  <a:lnTo>
                    <a:pt x="952500" y="67056"/>
                  </a:lnTo>
                  <a:lnTo>
                    <a:pt x="977900" y="74676"/>
                  </a:lnTo>
                  <a:lnTo>
                    <a:pt x="1028700" y="92964"/>
                  </a:lnTo>
                  <a:lnTo>
                    <a:pt x="1028700" y="91440"/>
                  </a:lnTo>
                  <a:lnTo>
                    <a:pt x="1054100" y="102108"/>
                  </a:lnTo>
                  <a:lnTo>
                    <a:pt x="1066800" y="111252"/>
                  </a:lnTo>
                  <a:lnTo>
                    <a:pt x="1117600" y="132588"/>
                  </a:lnTo>
                  <a:lnTo>
                    <a:pt x="1130300" y="144780"/>
                  </a:lnTo>
                  <a:lnTo>
                    <a:pt x="1168400" y="169164"/>
                  </a:lnTo>
                  <a:lnTo>
                    <a:pt x="1181100" y="181356"/>
                  </a:lnTo>
                  <a:lnTo>
                    <a:pt x="1206500" y="195072"/>
                  </a:lnTo>
                  <a:lnTo>
                    <a:pt x="1206500" y="193548"/>
                  </a:lnTo>
                  <a:lnTo>
                    <a:pt x="1219200" y="208788"/>
                  </a:lnTo>
                  <a:lnTo>
                    <a:pt x="1219200" y="214884"/>
                  </a:lnTo>
                  <a:lnTo>
                    <a:pt x="1231900" y="222504"/>
                  </a:lnTo>
                  <a:lnTo>
                    <a:pt x="1231900" y="234696"/>
                  </a:lnTo>
                  <a:lnTo>
                    <a:pt x="1257300" y="265176"/>
                  </a:lnTo>
                  <a:lnTo>
                    <a:pt x="1257300" y="277368"/>
                  </a:lnTo>
                  <a:lnTo>
                    <a:pt x="1270000" y="294132"/>
                  </a:lnTo>
                  <a:lnTo>
                    <a:pt x="1270000" y="441960"/>
                  </a:lnTo>
                  <a:lnTo>
                    <a:pt x="1282700" y="425196"/>
                  </a:lnTo>
                  <a:close/>
                </a:path>
                <a:path w="1295400" h="676910">
                  <a:moveTo>
                    <a:pt x="1219200" y="502920"/>
                  </a:moveTo>
                  <a:lnTo>
                    <a:pt x="1219200" y="469392"/>
                  </a:lnTo>
                  <a:lnTo>
                    <a:pt x="1206500" y="483108"/>
                  </a:lnTo>
                  <a:lnTo>
                    <a:pt x="1206500" y="481584"/>
                  </a:lnTo>
                  <a:lnTo>
                    <a:pt x="1181100" y="495300"/>
                  </a:lnTo>
                  <a:lnTo>
                    <a:pt x="1168400" y="509016"/>
                  </a:lnTo>
                  <a:lnTo>
                    <a:pt x="1168400" y="507492"/>
                  </a:lnTo>
                  <a:lnTo>
                    <a:pt x="1155700" y="521208"/>
                  </a:lnTo>
                  <a:lnTo>
                    <a:pt x="1155700" y="519684"/>
                  </a:lnTo>
                  <a:lnTo>
                    <a:pt x="1130300" y="531876"/>
                  </a:lnTo>
                  <a:lnTo>
                    <a:pt x="1117600" y="544068"/>
                  </a:lnTo>
                  <a:lnTo>
                    <a:pt x="1092200" y="554736"/>
                  </a:lnTo>
                  <a:lnTo>
                    <a:pt x="1054100" y="576072"/>
                  </a:lnTo>
                  <a:lnTo>
                    <a:pt x="1054100" y="574548"/>
                  </a:lnTo>
                  <a:lnTo>
                    <a:pt x="1028700" y="585216"/>
                  </a:lnTo>
                  <a:lnTo>
                    <a:pt x="1003300" y="594360"/>
                  </a:lnTo>
                  <a:lnTo>
                    <a:pt x="1003300" y="592836"/>
                  </a:lnTo>
                  <a:lnTo>
                    <a:pt x="977900" y="601980"/>
                  </a:lnTo>
                  <a:lnTo>
                    <a:pt x="927100" y="617220"/>
                  </a:lnTo>
                  <a:lnTo>
                    <a:pt x="889000" y="623316"/>
                  </a:lnTo>
                  <a:lnTo>
                    <a:pt x="863600" y="629412"/>
                  </a:lnTo>
                  <a:lnTo>
                    <a:pt x="838200" y="633984"/>
                  </a:lnTo>
                  <a:lnTo>
                    <a:pt x="749300" y="644652"/>
                  </a:lnTo>
                  <a:lnTo>
                    <a:pt x="673100" y="647700"/>
                  </a:lnTo>
                  <a:lnTo>
                    <a:pt x="609600" y="647700"/>
                  </a:lnTo>
                  <a:lnTo>
                    <a:pt x="584200" y="646176"/>
                  </a:lnTo>
                  <a:lnTo>
                    <a:pt x="546100" y="644652"/>
                  </a:lnTo>
                  <a:lnTo>
                    <a:pt x="520700" y="641604"/>
                  </a:lnTo>
                  <a:lnTo>
                    <a:pt x="482600" y="638556"/>
                  </a:lnTo>
                  <a:lnTo>
                    <a:pt x="431800" y="629412"/>
                  </a:lnTo>
                  <a:lnTo>
                    <a:pt x="406400" y="623316"/>
                  </a:lnTo>
                  <a:lnTo>
                    <a:pt x="368300" y="617220"/>
                  </a:lnTo>
                  <a:lnTo>
                    <a:pt x="292100" y="594360"/>
                  </a:lnTo>
                  <a:lnTo>
                    <a:pt x="266700" y="585216"/>
                  </a:lnTo>
                  <a:lnTo>
                    <a:pt x="241300" y="574548"/>
                  </a:lnTo>
                  <a:lnTo>
                    <a:pt x="241300" y="576072"/>
                  </a:lnTo>
                  <a:lnTo>
                    <a:pt x="203200" y="554736"/>
                  </a:lnTo>
                  <a:lnTo>
                    <a:pt x="177800" y="544068"/>
                  </a:lnTo>
                  <a:lnTo>
                    <a:pt x="165100" y="531876"/>
                  </a:lnTo>
                  <a:lnTo>
                    <a:pt x="139700" y="519684"/>
                  </a:lnTo>
                  <a:lnTo>
                    <a:pt x="139700" y="521208"/>
                  </a:lnTo>
                  <a:lnTo>
                    <a:pt x="127000" y="507492"/>
                  </a:lnTo>
                  <a:lnTo>
                    <a:pt x="127000" y="509016"/>
                  </a:lnTo>
                  <a:lnTo>
                    <a:pt x="114300" y="495300"/>
                  </a:lnTo>
                  <a:lnTo>
                    <a:pt x="88900" y="481584"/>
                  </a:lnTo>
                  <a:lnTo>
                    <a:pt x="88900" y="483108"/>
                  </a:lnTo>
                  <a:lnTo>
                    <a:pt x="63500" y="455676"/>
                  </a:lnTo>
                  <a:lnTo>
                    <a:pt x="63500" y="441960"/>
                  </a:lnTo>
                  <a:lnTo>
                    <a:pt x="50800" y="426720"/>
                  </a:lnTo>
                  <a:lnTo>
                    <a:pt x="50800" y="428244"/>
                  </a:lnTo>
                  <a:lnTo>
                    <a:pt x="38100" y="397764"/>
                  </a:lnTo>
                  <a:lnTo>
                    <a:pt x="38100" y="399288"/>
                  </a:lnTo>
                  <a:lnTo>
                    <a:pt x="25400" y="382524"/>
                  </a:lnTo>
                  <a:lnTo>
                    <a:pt x="25400" y="441960"/>
                  </a:lnTo>
                  <a:lnTo>
                    <a:pt x="38100" y="458724"/>
                  </a:lnTo>
                  <a:lnTo>
                    <a:pt x="63500" y="489204"/>
                  </a:lnTo>
                  <a:lnTo>
                    <a:pt x="76200" y="502920"/>
                  </a:lnTo>
                  <a:lnTo>
                    <a:pt x="88900" y="518160"/>
                  </a:lnTo>
                  <a:lnTo>
                    <a:pt x="101600" y="530352"/>
                  </a:lnTo>
                  <a:lnTo>
                    <a:pt x="127000" y="544068"/>
                  </a:lnTo>
                  <a:lnTo>
                    <a:pt x="139700" y="556260"/>
                  </a:lnTo>
                  <a:lnTo>
                    <a:pt x="190500" y="580644"/>
                  </a:lnTo>
                  <a:lnTo>
                    <a:pt x="228600" y="601980"/>
                  </a:lnTo>
                  <a:lnTo>
                    <a:pt x="279400" y="620268"/>
                  </a:lnTo>
                  <a:lnTo>
                    <a:pt x="317500" y="629412"/>
                  </a:lnTo>
                  <a:lnTo>
                    <a:pt x="368300" y="644652"/>
                  </a:lnTo>
                  <a:lnTo>
                    <a:pt x="419100" y="656844"/>
                  </a:lnTo>
                  <a:lnTo>
                    <a:pt x="520700" y="670560"/>
                  </a:lnTo>
                  <a:lnTo>
                    <a:pt x="546100" y="673608"/>
                  </a:lnTo>
                  <a:lnTo>
                    <a:pt x="584200" y="675132"/>
                  </a:lnTo>
                  <a:lnTo>
                    <a:pt x="609600" y="676656"/>
                  </a:lnTo>
                  <a:lnTo>
                    <a:pt x="685800" y="676656"/>
                  </a:lnTo>
                  <a:lnTo>
                    <a:pt x="711200" y="675132"/>
                  </a:lnTo>
                  <a:lnTo>
                    <a:pt x="749300" y="673608"/>
                  </a:lnTo>
                  <a:lnTo>
                    <a:pt x="774700" y="670560"/>
                  </a:lnTo>
                  <a:lnTo>
                    <a:pt x="863600" y="656844"/>
                  </a:lnTo>
                  <a:lnTo>
                    <a:pt x="927100" y="644652"/>
                  </a:lnTo>
                  <a:lnTo>
                    <a:pt x="977900" y="629412"/>
                  </a:lnTo>
                  <a:lnTo>
                    <a:pt x="1016000" y="620268"/>
                  </a:lnTo>
                  <a:lnTo>
                    <a:pt x="1041400" y="611124"/>
                  </a:lnTo>
                  <a:lnTo>
                    <a:pt x="1054100" y="601980"/>
                  </a:lnTo>
                  <a:lnTo>
                    <a:pt x="1104900" y="580644"/>
                  </a:lnTo>
                  <a:lnTo>
                    <a:pt x="1143000" y="556260"/>
                  </a:lnTo>
                  <a:lnTo>
                    <a:pt x="1168400" y="544068"/>
                  </a:lnTo>
                  <a:lnTo>
                    <a:pt x="1181100" y="530352"/>
                  </a:lnTo>
                  <a:lnTo>
                    <a:pt x="1206500" y="518160"/>
                  </a:lnTo>
                  <a:lnTo>
                    <a:pt x="1219200" y="502920"/>
                  </a:lnTo>
                  <a:close/>
                </a:path>
                <a:path w="1295400" h="676910">
                  <a:moveTo>
                    <a:pt x="685800" y="29464"/>
                  </a:moveTo>
                  <a:lnTo>
                    <a:pt x="685800" y="28956"/>
                  </a:lnTo>
                  <a:lnTo>
                    <a:pt x="673100" y="28956"/>
                  </a:lnTo>
                  <a:lnTo>
                    <a:pt x="685800" y="29464"/>
                  </a:lnTo>
                  <a:close/>
                </a:path>
                <a:path w="1295400" h="676910">
                  <a:moveTo>
                    <a:pt x="1219200" y="214884"/>
                  </a:moveTo>
                  <a:lnTo>
                    <a:pt x="1219200" y="208788"/>
                  </a:lnTo>
                  <a:lnTo>
                    <a:pt x="1206500" y="207264"/>
                  </a:lnTo>
                  <a:lnTo>
                    <a:pt x="1219200" y="214884"/>
                  </a:lnTo>
                  <a:close/>
                </a:path>
                <a:path w="1295400" h="676910">
                  <a:moveTo>
                    <a:pt x="1270000" y="441960"/>
                  </a:moveTo>
                  <a:lnTo>
                    <a:pt x="1270000" y="382524"/>
                  </a:lnTo>
                  <a:lnTo>
                    <a:pt x="1257300" y="399288"/>
                  </a:lnTo>
                  <a:lnTo>
                    <a:pt x="1257300" y="397764"/>
                  </a:lnTo>
                  <a:lnTo>
                    <a:pt x="1244600" y="428244"/>
                  </a:lnTo>
                  <a:lnTo>
                    <a:pt x="1244600" y="426720"/>
                  </a:lnTo>
                  <a:lnTo>
                    <a:pt x="1231900" y="441960"/>
                  </a:lnTo>
                  <a:lnTo>
                    <a:pt x="1231900" y="455676"/>
                  </a:lnTo>
                  <a:lnTo>
                    <a:pt x="1206500" y="469392"/>
                  </a:lnTo>
                  <a:lnTo>
                    <a:pt x="1219200" y="469392"/>
                  </a:lnTo>
                  <a:lnTo>
                    <a:pt x="1219200" y="502920"/>
                  </a:lnTo>
                  <a:lnTo>
                    <a:pt x="1231900" y="489204"/>
                  </a:lnTo>
                  <a:lnTo>
                    <a:pt x="1257300" y="458724"/>
                  </a:lnTo>
                  <a:lnTo>
                    <a:pt x="1270000" y="441960"/>
                  </a:lnTo>
                  <a:close/>
                </a:path>
                <a:path w="1295400" h="676910">
                  <a:moveTo>
                    <a:pt x="1231900" y="236220"/>
                  </a:moveTo>
                  <a:lnTo>
                    <a:pt x="1231900" y="222504"/>
                  </a:lnTo>
                  <a:lnTo>
                    <a:pt x="1219200" y="220980"/>
                  </a:lnTo>
                  <a:lnTo>
                    <a:pt x="1231900" y="236220"/>
                  </a:lnTo>
                  <a:close/>
                </a:path>
                <a:path w="1295400" h="676910">
                  <a:moveTo>
                    <a:pt x="1231900" y="455676"/>
                  </a:moveTo>
                  <a:lnTo>
                    <a:pt x="1231900" y="440436"/>
                  </a:lnTo>
                  <a:lnTo>
                    <a:pt x="1219200" y="455676"/>
                  </a:lnTo>
                  <a:lnTo>
                    <a:pt x="1231900" y="455676"/>
                  </a:lnTo>
                  <a:close/>
                </a:path>
                <a:path w="1295400" h="676910">
                  <a:moveTo>
                    <a:pt x="1295400" y="391668"/>
                  </a:moveTo>
                  <a:lnTo>
                    <a:pt x="1295400" y="284988"/>
                  </a:lnTo>
                  <a:lnTo>
                    <a:pt x="1282700" y="268224"/>
                  </a:lnTo>
                  <a:lnTo>
                    <a:pt x="1282700" y="408432"/>
                  </a:lnTo>
                  <a:lnTo>
                    <a:pt x="1295400" y="39166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074072" y="2319168"/>
            <a:ext cx="62192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latin typeface="Arial"/>
                <a:cs typeface="Arial"/>
              </a:rPr>
              <a:t>Prediction</a:t>
            </a:r>
            <a:endParaRPr sz="1059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65333" y="3455905"/>
            <a:ext cx="2949388" cy="812426"/>
          </a:xfrm>
          <a:custGeom>
            <a:avLst/>
            <a:gdLst/>
            <a:ahLst/>
            <a:cxnLst/>
            <a:rect l="l" t="t" r="r" b="b"/>
            <a:pathLst>
              <a:path w="3342640" h="920750">
                <a:moveTo>
                  <a:pt x="1460500" y="545592"/>
                </a:moveTo>
                <a:lnTo>
                  <a:pt x="1447800" y="528828"/>
                </a:lnTo>
                <a:lnTo>
                  <a:pt x="1447800" y="510540"/>
                </a:lnTo>
                <a:lnTo>
                  <a:pt x="1435100" y="493776"/>
                </a:lnTo>
                <a:lnTo>
                  <a:pt x="1435100" y="553212"/>
                </a:lnTo>
                <a:lnTo>
                  <a:pt x="1435100" y="611124"/>
                </a:lnTo>
                <a:lnTo>
                  <a:pt x="1422400" y="627888"/>
                </a:lnTo>
                <a:lnTo>
                  <a:pt x="1422400" y="641604"/>
                </a:lnTo>
                <a:lnTo>
                  <a:pt x="1409700" y="656844"/>
                </a:lnTo>
                <a:lnTo>
                  <a:pt x="1409700" y="655320"/>
                </a:lnTo>
                <a:lnTo>
                  <a:pt x="1397000" y="670560"/>
                </a:lnTo>
                <a:lnTo>
                  <a:pt x="1409700" y="670560"/>
                </a:lnTo>
                <a:lnTo>
                  <a:pt x="1397000" y="685800"/>
                </a:lnTo>
                <a:lnTo>
                  <a:pt x="1397000" y="684276"/>
                </a:lnTo>
                <a:lnTo>
                  <a:pt x="1384300" y="699516"/>
                </a:lnTo>
                <a:lnTo>
                  <a:pt x="1384300" y="697992"/>
                </a:lnTo>
                <a:lnTo>
                  <a:pt x="1371600" y="713232"/>
                </a:lnTo>
                <a:lnTo>
                  <a:pt x="1371600" y="711708"/>
                </a:lnTo>
                <a:lnTo>
                  <a:pt x="1346200" y="725424"/>
                </a:lnTo>
                <a:lnTo>
                  <a:pt x="1358900" y="725424"/>
                </a:lnTo>
                <a:lnTo>
                  <a:pt x="1333500" y="739140"/>
                </a:lnTo>
                <a:lnTo>
                  <a:pt x="1320800" y="751332"/>
                </a:lnTo>
                <a:lnTo>
                  <a:pt x="1295400" y="763524"/>
                </a:lnTo>
                <a:lnTo>
                  <a:pt x="1282700" y="775716"/>
                </a:lnTo>
                <a:lnTo>
                  <a:pt x="1257300" y="787908"/>
                </a:lnTo>
                <a:lnTo>
                  <a:pt x="1206500" y="809244"/>
                </a:lnTo>
                <a:lnTo>
                  <a:pt x="1181100" y="818388"/>
                </a:lnTo>
                <a:lnTo>
                  <a:pt x="1155700" y="829056"/>
                </a:lnTo>
                <a:lnTo>
                  <a:pt x="1130300" y="836676"/>
                </a:lnTo>
                <a:lnTo>
                  <a:pt x="1092200" y="845820"/>
                </a:lnTo>
                <a:lnTo>
                  <a:pt x="1041400" y="861060"/>
                </a:lnTo>
                <a:lnTo>
                  <a:pt x="977900" y="873252"/>
                </a:lnTo>
                <a:lnTo>
                  <a:pt x="901700" y="882396"/>
                </a:lnTo>
                <a:lnTo>
                  <a:pt x="838200" y="888492"/>
                </a:lnTo>
                <a:lnTo>
                  <a:pt x="762000" y="891540"/>
                </a:lnTo>
                <a:lnTo>
                  <a:pt x="685800" y="891540"/>
                </a:lnTo>
                <a:lnTo>
                  <a:pt x="660400" y="890016"/>
                </a:lnTo>
                <a:lnTo>
                  <a:pt x="622300" y="888492"/>
                </a:lnTo>
                <a:lnTo>
                  <a:pt x="546100" y="882396"/>
                </a:lnTo>
                <a:lnTo>
                  <a:pt x="482600" y="873252"/>
                </a:lnTo>
                <a:lnTo>
                  <a:pt x="419100" y="861060"/>
                </a:lnTo>
                <a:lnTo>
                  <a:pt x="355600" y="845820"/>
                </a:lnTo>
                <a:lnTo>
                  <a:pt x="330200" y="836676"/>
                </a:lnTo>
                <a:lnTo>
                  <a:pt x="304800" y="829056"/>
                </a:lnTo>
                <a:lnTo>
                  <a:pt x="279400" y="818388"/>
                </a:lnTo>
                <a:lnTo>
                  <a:pt x="254000" y="809244"/>
                </a:lnTo>
                <a:lnTo>
                  <a:pt x="203200" y="787908"/>
                </a:lnTo>
                <a:lnTo>
                  <a:pt x="152400" y="763524"/>
                </a:lnTo>
                <a:lnTo>
                  <a:pt x="139700" y="751332"/>
                </a:lnTo>
                <a:lnTo>
                  <a:pt x="114300" y="739140"/>
                </a:lnTo>
                <a:lnTo>
                  <a:pt x="127000" y="739140"/>
                </a:lnTo>
                <a:lnTo>
                  <a:pt x="101600" y="725424"/>
                </a:lnTo>
                <a:lnTo>
                  <a:pt x="88900" y="711708"/>
                </a:lnTo>
                <a:lnTo>
                  <a:pt x="88900" y="713232"/>
                </a:lnTo>
                <a:lnTo>
                  <a:pt x="76200" y="697992"/>
                </a:lnTo>
                <a:lnTo>
                  <a:pt x="76200" y="699516"/>
                </a:lnTo>
                <a:lnTo>
                  <a:pt x="63500" y="684276"/>
                </a:lnTo>
                <a:lnTo>
                  <a:pt x="63500" y="685800"/>
                </a:lnTo>
                <a:lnTo>
                  <a:pt x="38100" y="655320"/>
                </a:lnTo>
                <a:lnTo>
                  <a:pt x="38100" y="641604"/>
                </a:lnTo>
                <a:lnTo>
                  <a:pt x="25400" y="626364"/>
                </a:lnTo>
                <a:lnTo>
                  <a:pt x="25400" y="537972"/>
                </a:lnTo>
                <a:lnTo>
                  <a:pt x="38100" y="522732"/>
                </a:lnTo>
                <a:lnTo>
                  <a:pt x="38100" y="509016"/>
                </a:lnTo>
                <a:lnTo>
                  <a:pt x="50800" y="493776"/>
                </a:lnTo>
                <a:lnTo>
                  <a:pt x="50800" y="495300"/>
                </a:lnTo>
                <a:lnTo>
                  <a:pt x="76200" y="464820"/>
                </a:lnTo>
                <a:lnTo>
                  <a:pt x="76200" y="466344"/>
                </a:lnTo>
                <a:lnTo>
                  <a:pt x="101600" y="438912"/>
                </a:lnTo>
                <a:lnTo>
                  <a:pt x="114300" y="432054"/>
                </a:lnTo>
                <a:lnTo>
                  <a:pt x="127000" y="425196"/>
                </a:lnTo>
                <a:lnTo>
                  <a:pt x="114300" y="426720"/>
                </a:lnTo>
                <a:lnTo>
                  <a:pt x="139700" y="413004"/>
                </a:lnTo>
                <a:lnTo>
                  <a:pt x="152400" y="400812"/>
                </a:lnTo>
                <a:lnTo>
                  <a:pt x="203200" y="376428"/>
                </a:lnTo>
                <a:lnTo>
                  <a:pt x="203200" y="377952"/>
                </a:lnTo>
                <a:lnTo>
                  <a:pt x="228600" y="365760"/>
                </a:lnTo>
                <a:lnTo>
                  <a:pt x="254000" y="355092"/>
                </a:lnTo>
                <a:lnTo>
                  <a:pt x="355600" y="318516"/>
                </a:lnTo>
                <a:lnTo>
                  <a:pt x="393700" y="310896"/>
                </a:lnTo>
                <a:lnTo>
                  <a:pt x="419100" y="304800"/>
                </a:lnTo>
                <a:lnTo>
                  <a:pt x="444500" y="297180"/>
                </a:lnTo>
                <a:lnTo>
                  <a:pt x="482600" y="292608"/>
                </a:lnTo>
                <a:lnTo>
                  <a:pt x="520700" y="286512"/>
                </a:lnTo>
                <a:lnTo>
                  <a:pt x="546100" y="281940"/>
                </a:lnTo>
                <a:lnTo>
                  <a:pt x="622300" y="275844"/>
                </a:lnTo>
                <a:lnTo>
                  <a:pt x="660400" y="274320"/>
                </a:lnTo>
                <a:lnTo>
                  <a:pt x="685800" y="272796"/>
                </a:lnTo>
                <a:lnTo>
                  <a:pt x="762000" y="272796"/>
                </a:lnTo>
                <a:lnTo>
                  <a:pt x="838200" y="275844"/>
                </a:lnTo>
                <a:lnTo>
                  <a:pt x="901700" y="281940"/>
                </a:lnTo>
                <a:lnTo>
                  <a:pt x="939800" y="286512"/>
                </a:lnTo>
                <a:lnTo>
                  <a:pt x="977900" y="292608"/>
                </a:lnTo>
                <a:lnTo>
                  <a:pt x="1041400" y="304800"/>
                </a:lnTo>
                <a:lnTo>
                  <a:pt x="1092200" y="318516"/>
                </a:lnTo>
                <a:lnTo>
                  <a:pt x="1130300" y="327660"/>
                </a:lnTo>
                <a:lnTo>
                  <a:pt x="1206500" y="355092"/>
                </a:lnTo>
                <a:lnTo>
                  <a:pt x="1231900" y="365760"/>
                </a:lnTo>
                <a:lnTo>
                  <a:pt x="1257300" y="377952"/>
                </a:lnTo>
                <a:lnTo>
                  <a:pt x="1257300" y="376428"/>
                </a:lnTo>
                <a:lnTo>
                  <a:pt x="1282700" y="388620"/>
                </a:lnTo>
                <a:lnTo>
                  <a:pt x="1295400" y="400812"/>
                </a:lnTo>
                <a:lnTo>
                  <a:pt x="1320800" y="413004"/>
                </a:lnTo>
                <a:lnTo>
                  <a:pt x="1333500" y="426720"/>
                </a:lnTo>
                <a:lnTo>
                  <a:pt x="1333500" y="425196"/>
                </a:lnTo>
                <a:lnTo>
                  <a:pt x="1358900" y="438912"/>
                </a:lnTo>
                <a:lnTo>
                  <a:pt x="1346200" y="438912"/>
                </a:lnTo>
                <a:lnTo>
                  <a:pt x="1358900" y="445770"/>
                </a:lnTo>
                <a:lnTo>
                  <a:pt x="1371600" y="452628"/>
                </a:lnTo>
                <a:lnTo>
                  <a:pt x="1384300" y="466344"/>
                </a:lnTo>
                <a:lnTo>
                  <a:pt x="1384300" y="464820"/>
                </a:lnTo>
                <a:lnTo>
                  <a:pt x="1409700" y="495300"/>
                </a:lnTo>
                <a:lnTo>
                  <a:pt x="1397000" y="493776"/>
                </a:lnTo>
                <a:lnTo>
                  <a:pt x="1409700" y="509016"/>
                </a:lnTo>
                <a:lnTo>
                  <a:pt x="1409700" y="507492"/>
                </a:lnTo>
                <a:lnTo>
                  <a:pt x="1422400" y="524256"/>
                </a:lnTo>
                <a:lnTo>
                  <a:pt x="1422400" y="536448"/>
                </a:lnTo>
                <a:lnTo>
                  <a:pt x="1435100" y="553212"/>
                </a:lnTo>
                <a:lnTo>
                  <a:pt x="1435100" y="493776"/>
                </a:lnTo>
                <a:lnTo>
                  <a:pt x="1422400" y="478536"/>
                </a:lnTo>
                <a:lnTo>
                  <a:pt x="1409700" y="461772"/>
                </a:lnTo>
                <a:lnTo>
                  <a:pt x="1384300" y="431292"/>
                </a:lnTo>
                <a:lnTo>
                  <a:pt x="1371600" y="417576"/>
                </a:lnTo>
                <a:lnTo>
                  <a:pt x="1358900" y="402336"/>
                </a:lnTo>
                <a:lnTo>
                  <a:pt x="1333500" y="388620"/>
                </a:lnTo>
                <a:lnTo>
                  <a:pt x="1295400" y="364236"/>
                </a:lnTo>
                <a:lnTo>
                  <a:pt x="1244600" y="339852"/>
                </a:lnTo>
                <a:lnTo>
                  <a:pt x="1193800" y="318516"/>
                </a:lnTo>
                <a:lnTo>
                  <a:pt x="1168400" y="309372"/>
                </a:lnTo>
                <a:lnTo>
                  <a:pt x="1130300" y="300228"/>
                </a:lnTo>
                <a:lnTo>
                  <a:pt x="1104900" y="291084"/>
                </a:lnTo>
                <a:lnTo>
                  <a:pt x="1016000" y="269748"/>
                </a:lnTo>
                <a:lnTo>
                  <a:pt x="977900" y="263652"/>
                </a:lnTo>
                <a:lnTo>
                  <a:pt x="939800" y="259080"/>
                </a:lnTo>
                <a:lnTo>
                  <a:pt x="876300" y="249936"/>
                </a:lnTo>
                <a:lnTo>
                  <a:pt x="838200" y="248412"/>
                </a:lnTo>
                <a:lnTo>
                  <a:pt x="800100" y="245364"/>
                </a:lnTo>
                <a:lnTo>
                  <a:pt x="762000" y="243840"/>
                </a:lnTo>
                <a:lnTo>
                  <a:pt x="685800" y="243840"/>
                </a:lnTo>
                <a:lnTo>
                  <a:pt x="647700" y="245364"/>
                </a:lnTo>
                <a:lnTo>
                  <a:pt x="622300" y="248412"/>
                </a:lnTo>
                <a:lnTo>
                  <a:pt x="584200" y="249936"/>
                </a:lnTo>
                <a:lnTo>
                  <a:pt x="508000" y="259080"/>
                </a:lnTo>
                <a:lnTo>
                  <a:pt x="482600" y="263652"/>
                </a:lnTo>
                <a:lnTo>
                  <a:pt x="406400" y="275844"/>
                </a:lnTo>
                <a:lnTo>
                  <a:pt x="355600" y="291084"/>
                </a:lnTo>
                <a:lnTo>
                  <a:pt x="317500" y="300228"/>
                </a:lnTo>
                <a:lnTo>
                  <a:pt x="266700" y="318516"/>
                </a:lnTo>
                <a:lnTo>
                  <a:pt x="215900" y="339852"/>
                </a:lnTo>
                <a:lnTo>
                  <a:pt x="165100" y="364236"/>
                </a:lnTo>
                <a:lnTo>
                  <a:pt x="127000" y="388620"/>
                </a:lnTo>
                <a:lnTo>
                  <a:pt x="101600" y="402336"/>
                </a:lnTo>
                <a:lnTo>
                  <a:pt x="88900" y="417576"/>
                </a:lnTo>
                <a:lnTo>
                  <a:pt x="63500" y="431292"/>
                </a:lnTo>
                <a:lnTo>
                  <a:pt x="38100" y="461772"/>
                </a:lnTo>
                <a:lnTo>
                  <a:pt x="25400" y="478536"/>
                </a:lnTo>
                <a:lnTo>
                  <a:pt x="12700" y="493776"/>
                </a:lnTo>
                <a:lnTo>
                  <a:pt x="12700" y="510540"/>
                </a:lnTo>
                <a:lnTo>
                  <a:pt x="0" y="528828"/>
                </a:lnTo>
                <a:lnTo>
                  <a:pt x="0" y="635508"/>
                </a:lnTo>
                <a:lnTo>
                  <a:pt x="12700" y="653796"/>
                </a:lnTo>
                <a:lnTo>
                  <a:pt x="12700" y="670560"/>
                </a:lnTo>
                <a:lnTo>
                  <a:pt x="25400" y="687324"/>
                </a:lnTo>
                <a:lnTo>
                  <a:pt x="50800" y="717804"/>
                </a:lnTo>
                <a:lnTo>
                  <a:pt x="88900" y="748284"/>
                </a:lnTo>
                <a:lnTo>
                  <a:pt x="101600" y="762000"/>
                </a:lnTo>
                <a:lnTo>
                  <a:pt x="114300" y="768858"/>
                </a:lnTo>
                <a:lnTo>
                  <a:pt x="127000" y="775716"/>
                </a:lnTo>
                <a:lnTo>
                  <a:pt x="139700" y="787908"/>
                </a:lnTo>
                <a:lnTo>
                  <a:pt x="165100" y="801624"/>
                </a:lnTo>
                <a:lnTo>
                  <a:pt x="190500" y="812292"/>
                </a:lnTo>
                <a:lnTo>
                  <a:pt x="215900" y="824484"/>
                </a:lnTo>
                <a:lnTo>
                  <a:pt x="266700" y="845820"/>
                </a:lnTo>
                <a:lnTo>
                  <a:pt x="317500" y="864108"/>
                </a:lnTo>
                <a:lnTo>
                  <a:pt x="355600" y="873252"/>
                </a:lnTo>
                <a:lnTo>
                  <a:pt x="406400" y="888492"/>
                </a:lnTo>
                <a:lnTo>
                  <a:pt x="482600" y="900684"/>
                </a:lnTo>
                <a:lnTo>
                  <a:pt x="508000" y="905256"/>
                </a:lnTo>
                <a:lnTo>
                  <a:pt x="584200" y="914400"/>
                </a:lnTo>
                <a:lnTo>
                  <a:pt x="622300" y="917448"/>
                </a:lnTo>
                <a:lnTo>
                  <a:pt x="685800" y="920496"/>
                </a:lnTo>
                <a:lnTo>
                  <a:pt x="762000" y="920496"/>
                </a:lnTo>
                <a:lnTo>
                  <a:pt x="838200" y="917448"/>
                </a:lnTo>
                <a:lnTo>
                  <a:pt x="876300" y="914400"/>
                </a:lnTo>
                <a:lnTo>
                  <a:pt x="939800" y="905256"/>
                </a:lnTo>
                <a:lnTo>
                  <a:pt x="977900" y="900684"/>
                </a:lnTo>
                <a:lnTo>
                  <a:pt x="1016000" y="894588"/>
                </a:lnTo>
                <a:lnTo>
                  <a:pt x="1104900" y="873252"/>
                </a:lnTo>
                <a:lnTo>
                  <a:pt x="1130300" y="864108"/>
                </a:lnTo>
                <a:lnTo>
                  <a:pt x="1168400" y="854964"/>
                </a:lnTo>
                <a:lnTo>
                  <a:pt x="1193800" y="845820"/>
                </a:lnTo>
                <a:lnTo>
                  <a:pt x="1244600" y="824484"/>
                </a:lnTo>
                <a:lnTo>
                  <a:pt x="1270000" y="812292"/>
                </a:lnTo>
                <a:lnTo>
                  <a:pt x="1295400" y="801624"/>
                </a:lnTo>
                <a:lnTo>
                  <a:pt x="1308100" y="787908"/>
                </a:lnTo>
                <a:lnTo>
                  <a:pt x="1333500" y="775716"/>
                </a:lnTo>
                <a:lnTo>
                  <a:pt x="1358900" y="762000"/>
                </a:lnTo>
                <a:lnTo>
                  <a:pt x="1371600" y="748284"/>
                </a:lnTo>
                <a:lnTo>
                  <a:pt x="1422400" y="687324"/>
                </a:lnTo>
                <a:lnTo>
                  <a:pt x="1435100" y="670560"/>
                </a:lnTo>
                <a:lnTo>
                  <a:pt x="1447800" y="653796"/>
                </a:lnTo>
                <a:lnTo>
                  <a:pt x="1447800" y="635508"/>
                </a:lnTo>
                <a:lnTo>
                  <a:pt x="1460500" y="618744"/>
                </a:lnTo>
                <a:lnTo>
                  <a:pt x="1460500" y="545592"/>
                </a:lnTo>
                <a:close/>
              </a:path>
              <a:path w="3342640" h="920750">
                <a:moveTo>
                  <a:pt x="3342640" y="301752"/>
                </a:moveTo>
                <a:lnTo>
                  <a:pt x="3329940" y="283464"/>
                </a:lnTo>
                <a:lnTo>
                  <a:pt x="3329940" y="266700"/>
                </a:lnTo>
                <a:lnTo>
                  <a:pt x="3317240" y="249936"/>
                </a:lnTo>
                <a:lnTo>
                  <a:pt x="3317240" y="307848"/>
                </a:lnTo>
                <a:lnTo>
                  <a:pt x="3317240" y="367284"/>
                </a:lnTo>
                <a:lnTo>
                  <a:pt x="3304540" y="382524"/>
                </a:lnTo>
                <a:lnTo>
                  <a:pt x="3304540" y="396240"/>
                </a:lnTo>
                <a:lnTo>
                  <a:pt x="3279140" y="426720"/>
                </a:lnTo>
                <a:lnTo>
                  <a:pt x="3279140" y="440436"/>
                </a:lnTo>
                <a:lnTo>
                  <a:pt x="3253740" y="467868"/>
                </a:lnTo>
                <a:lnTo>
                  <a:pt x="3228340" y="481584"/>
                </a:lnTo>
                <a:lnTo>
                  <a:pt x="3215640" y="493776"/>
                </a:lnTo>
                <a:lnTo>
                  <a:pt x="3202940" y="507492"/>
                </a:lnTo>
                <a:lnTo>
                  <a:pt x="3177540" y="519684"/>
                </a:lnTo>
                <a:lnTo>
                  <a:pt x="3164840" y="531876"/>
                </a:lnTo>
                <a:lnTo>
                  <a:pt x="3139440" y="542544"/>
                </a:lnTo>
                <a:lnTo>
                  <a:pt x="3114040" y="554736"/>
                </a:lnTo>
                <a:lnTo>
                  <a:pt x="3114040" y="553212"/>
                </a:lnTo>
                <a:lnTo>
                  <a:pt x="3063240" y="574548"/>
                </a:lnTo>
                <a:lnTo>
                  <a:pt x="3012440" y="592836"/>
                </a:lnTo>
                <a:lnTo>
                  <a:pt x="2948940" y="608076"/>
                </a:lnTo>
                <a:lnTo>
                  <a:pt x="2923540" y="615696"/>
                </a:lnTo>
                <a:lnTo>
                  <a:pt x="2860040" y="627888"/>
                </a:lnTo>
                <a:lnTo>
                  <a:pt x="2783840" y="637032"/>
                </a:lnTo>
                <a:lnTo>
                  <a:pt x="2758440" y="641604"/>
                </a:lnTo>
                <a:lnTo>
                  <a:pt x="2720340" y="643128"/>
                </a:lnTo>
                <a:lnTo>
                  <a:pt x="2682240" y="646176"/>
                </a:lnTo>
                <a:lnTo>
                  <a:pt x="2644140" y="647700"/>
                </a:lnTo>
                <a:lnTo>
                  <a:pt x="2567940" y="647700"/>
                </a:lnTo>
                <a:lnTo>
                  <a:pt x="2542540" y="646176"/>
                </a:lnTo>
                <a:lnTo>
                  <a:pt x="2504440" y="643128"/>
                </a:lnTo>
                <a:lnTo>
                  <a:pt x="2466340" y="641604"/>
                </a:lnTo>
                <a:lnTo>
                  <a:pt x="2428240" y="637032"/>
                </a:lnTo>
                <a:lnTo>
                  <a:pt x="2402840" y="632460"/>
                </a:lnTo>
                <a:lnTo>
                  <a:pt x="2364740" y="627888"/>
                </a:lnTo>
                <a:lnTo>
                  <a:pt x="2326640" y="621792"/>
                </a:lnTo>
                <a:lnTo>
                  <a:pt x="2237740" y="600456"/>
                </a:lnTo>
                <a:lnTo>
                  <a:pt x="2161540" y="574548"/>
                </a:lnTo>
                <a:lnTo>
                  <a:pt x="2110740" y="553212"/>
                </a:lnTo>
                <a:lnTo>
                  <a:pt x="2110740" y="554736"/>
                </a:lnTo>
                <a:lnTo>
                  <a:pt x="2085340" y="542544"/>
                </a:lnTo>
                <a:lnTo>
                  <a:pt x="2059940" y="531876"/>
                </a:lnTo>
                <a:lnTo>
                  <a:pt x="2034540" y="519684"/>
                </a:lnTo>
                <a:lnTo>
                  <a:pt x="2021840" y="507492"/>
                </a:lnTo>
                <a:lnTo>
                  <a:pt x="1996440" y="493776"/>
                </a:lnTo>
                <a:lnTo>
                  <a:pt x="1983740" y="481584"/>
                </a:lnTo>
                <a:lnTo>
                  <a:pt x="1945640" y="440436"/>
                </a:lnTo>
                <a:lnTo>
                  <a:pt x="1932940" y="425196"/>
                </a:lnTo>
                <a:lnTo>
                  <a:pt x="1932940" y="426720"/>
                </a:lnTo>
                <a:lnTo>
                  <a:pt x="1920240" y="411480"/>
                </a:lnTo>
                <a:lnTo>
                  <a:pt x="1920240" y="397764"/>
                </a:lnTo>
                <a:lnTo>
                  <a:pt x="1907540" y="382524"/>
                </a:lnTo>
                <a:lnTo>
                  <a:pt x="1907540" y="294132"/>
                </a:lnTo>
                <a:lnTo>
                  <a:pt x="1920240" y="277368"/>
                </a:lnTo>
                <a:lnTo>
                  <a:pt x="1920240" y="263652"/>
                </a:lnTo>
                <a:lnTo>
                  <a:pt x="1932940" y="248412"/>
                </a:lnTo>
                <a:lnTo>
                  <a:pt x="1932940" y="249936"/>
                </a:lnTo>
                <a:lnTo>
                  <a:pt x="1945640" y="234696"/>
                </a:lnTo>
                <a:lnTo>
                  <a:pt x="1945640" y="236220"/>
                </a:lnTo>
                <a:lnTo>
                  <a:pt x="1958340" y="220980"/>
                </a:lnTo>
                <a:lnTo>
                  <a:pt x="1983740" y="193548"/>
                </a:lnTo>
                <a:lnTo>
                  <a:pt x="1983740" y="195072"/>
                </a:lnTo>
                <a:lnTo>
                  <a:pt x="1996440" y="181356"/>
                </a:lnTo>
                <a:lnTo>
                  <a:pt x="2021840" y="167640"/>
                </a:lnTo>
                <a:lnTo>
                  <a:pt x="2021840" y="169164"/>
                </a:lnTo>
                <a:lnTo>
                  <a:pt x="2034540" y="155448"/>
                </a:lnTo>
                <a:lnTo>
                  <a:pt x="2034540" y="156972"/>
                </a:lnTo>
                <a:lnTo>
                  <a:pt x="2059940" y="143256"/>
                </a:lnTo>
                <a:lnTo>
                  <a:pt x="2059940" y="144780"/>
                </a:lnTo>
                <a:lnTo>
                  <a:pt x="2085340" y="132588"/>
                </a:lnTo>
                <a:lnTo>
                  <a:pt x="2161540" y="100584"/>
                </a:lnTo>
                <a:lnTo>
                  <a:pt x="2212340" y="82296"/>
                </a:lnTo>
                <a:lnTo>
                  <a:pt x="2326640" y="53340"/>
                </a:lnTo>
                <a:lnTo>
                  <a:pt x="2364740" y="47244"/>
                </a:lnTo>
                <a:lnTo>
                  <a:pt x="2402840" y="42672"/>
                </a:lnTo>
                <a:lnTo>
                  <a:pt x="2428240" y="38100"/>
                </a:lnTo>
                <a:lnTo>
                  <a:pt x="2542540" y="28956"/>
                </a:lnTo>
                <a:lnTo>
                  <a:pt x="2567940" y="28956"/>
                </a:lnTo>
                <a:lnTo>
                  <a:pt x="2606040" y="27432"/>
                </a:lnTo>
                <a:lnTo>
                  <a:pt x="2644140" y="28956"/>
                </a:lnTo>
                <a:lnTo>
                  <a:pt x="2682240" y="28956"/>
                </a:lnTo>
                <a:lnTo>
                  <a:pt x="2783840" y="38100"/>
                </a:lnTo>
                <a:lnTo>
                  <a:pt x="2860040" y="47244"/>
                </a:lnTo>
                <a:lnTo>
                  <a:pt x="2923540" y="59436"/>
                </a:lnTo>
                <a:lnTo>
                  <a:pt x="2948940" y="67056"/>
                </a:lnTo>
                <a:lnTo>
                  <a:pt x="3012440" y="82296"/>
                </a:lnTo>
                <a:lnTo>
                  <a:pt x="3063240" y="100584"/>
                </a:lnTo>
                <a:lnTo>
                  <a:pt x="3139440" y="132588"/>
                </a:lnTo>
                <a:lnTo>
                  <a:pt x="3164840" y="144780"/>
                </a:lnTo>
                <a:lnTo>
                  <a:pt x="3164840" y="143256"/>
                </a:lnTo>
                <a:lnTo>
                  <a:pt x="3177540" y="156972"/>
                </a:lnTo>
                <a:lnTo>
                  <a:pt x="3177540" y="155448"/>
                </a:lnTo>
                <a:lnTo>
                  <a:pt x="3202940" y="169164"/>
                </a:lnTo>
                <a:lnTo>
                  <a:pt x="3202940" y="167640"/>
                </a:lnTo>
                <a:lnTo>
                  <a:pt x="3228340" y="195072"/>
                </a:lnTo>
                <a:lnTo>
                  <a:pt x="3228340" y="193548"/>
                </a:lnTo>
                <a:lnTo>
                  <a:pt x="3253740" y="207264"/>
                </a:lnTo>
                <a:lnTo>
                  <a:pt x="3266440" y="220980"/>
                </a:lnTo>
                <a:lnTo>
                  <a:pt x="3279140" y="236220"/>
                </a:lnTo>
                <a:lnTo>
                  <a:pt x="3279140" y="248412"/>
                </a:lnTo>
                <a:lnTo>
                  <a:pt x="3304540" y="278892"/>
                </a:lnTo>
                <a:lnTo>
                  <a:pt x="3304540" y="292608"/>
                </a:lnTo>
                <a:lnTo>
                  <a:pt x="3317240" y="307848"/>
                </a:lnTo>
                <a:lnTo>
                  <a:pt x="3317240" y="249936"/>
                </a:lnTo>
                <a:lnTo>
                  <a:pt x="3304540" y="233172"/>
                </a:lnTo>
                <a:lnTo>
                  <a:pt x="3291840" y="217932"/>
                </a:lnTo>
                <a:lnTo>
                  <a:pt x="3279140" y="201168"/>
                </a:lnTo>
                <a:lnTo>
                  <a:pt x="3266440" y="187452"/>
                </a:lnTo>
                <a:lnTo>
                  <a:pt x="3253740" y="172212"/>
                </a:lnTo>
                <a:lnTo>
                  <a:pt x="3215640" y="144780"/>
                </a:lnTo>
                <a:lnTo>
                  <a:pt x="3190240" y="131064"/>
                </a:lnTo>
                <a:lnTo>
                  <a:pt x="3177540" y="118872"/>
                </a:lnTo>
                <a:lnTo>
                  <a:pt x="3152140" y="106680"/>
                </a:lnTo>
                <a:lnTo>
                  <a:pt x="3050540" y="64008"/>
                </a:lnTo>
                <a:lnTo>
                  <a:pt x="3012440" y="54864"/>
                </a:lnTo>
                <a:lnTo>
                  <a:pt x="2923540" y="32004"/>
                </a:lnTo>
                <a:lnTo>
                  <a:pt x="2898140" y="24384"/>
                </a:lnTo>
                <a:lnTo>
                  <a:pt x="2860040" y="19812"/>
                </a:lnTo>
                <a:lnTo>
                  <a:pt x="2821940" y="13716"/>
                </a:lnTo>
                <a:lnTo>
                  <a:pt x="2796540" y="9144"/>
                </a:lnTo>
                <a:lnTo>
                  <a:pt x="2720340" y="3048"/>
                </a:lnTo>
                <a:lnTo>
                  <a:pt x="2644140" y="0"/>
                </a:lnTo>
                <a:lnTo>
                  <a:pt x="2567940" y="0"/>
                </a:lnTo>
                <a:lnTo>
                  <a:pt x="2504440" y="3048"/>
                </a:lnTo>
                <a:lnTo>
                  <a:pt x="2428240" y="9144"/>
                </a:lnTo>
                <a:lnTo>
                  <a:pt x="2390140" y="13716"/>
                </a:lnTo>
                <a:lnTo>
                  <a:pt x="2364740" y="19812"/>
                </a:lnTo>
                <a:lnTo>
                  <a:pt x="2326640" y="24384"/>
                </a:lnTo>
                <a:lnTo>
                  <a:pt x="2263140" y="39624"/>
                </a:lnTo>
                <a:lnTo>
                  <a:pt x="2237740" y="47244"/>
                </a:lnTo>
                <a:lnTo>
                  <a:pt x="2199640" y="54864"/>
                </a:lnTo>
                <a:lnTo>
                  <a:pt x="2072640" y="106680"/>
                </a:lnTo>
                <a:lnTo>
                  <a:pt x="2021840" y="131064"/>
                </a:lnTo>
                <a:lnTo>
                  <a:pt x="1983740" y="158496"/>
                </a:lnTo>
                <a:lnTo>
                  <a:pt x="1971040" y="172212"/>
                </a:lnTo>
                <a:lnTo>
                  <a:pt x="1945640" y="187452"/>
                </a:lnTo>
                <a:lnTo>
                  <a:pt x="1932940" y="201168"/>
                </a:lnTo>
                <a:lnTo>
                  <a:pt x="1920240" y="217932"/>
                </a:lnTo>
                <a:lnTo>
                  <a:pt x="1907540" y="233172"/>
                </a:lnTo>
                <a:lnTo>
                  <a:pt x="1894840" y="249936"/>
                </a:lnTo>
                <a:lnTo>
                  <a:pt x="1894840" y="266700"/>
                </a:lnTo>
                <a:lnTo>
                  <a:pt x="1882140" y="283464"/>
                </a:lnTo>
                <a:lnTo>
                  <a:pt x="1882140" y="391668"/>
                </a:lnTo>
                <a:lnTo>
                  <a:pt x="1894840" y="408432"/>
                </a:lnTo>
                <a:lnTo>
                  <a:pt x="1894840" y="425196"/>
                </a:lnTo>
                <a:lnTo>
                  <a:pt x="1907540" y="441960"/>
                </a:lnTo>
                <a:lnTo>
                  <a:pt x="1920240" y="458724"/>
                </a:lnTo>
                <a:lnTo>
                  <a:pt x="1945640" y="489204"/>
                </a:lnTo>
                <a:lnTo>
                  <a:pt x="1971040" y="502920"/>
                </a:lnTo>
                <a:lnTo>
                  <a:pt x="1983740" y="516636"/>
                </a:lnTo>
                <a:lnTo>
                  <a:pt x="2021840" y="544068"/>
                </a:lnTo>
                <a:lnTo>
                  <a:pt x="2098040" y="580644"/>
                </a:lnTo>
                <a:lnTo>
                  <a:pt x="2123440" y="591312"/>
                </a:lnTo>
                <a:lnTo>
                  <a:pt x="2148840" y="600456"/>
                </a:lnTo>
                <a:lnTo>
                  <a:pt x="2174240" y="611124"/>
                </a:lnTo>
                <a:lnTo>
                  <a:pt x="2237740" y="629412"/>
                </a:lnTo>
                <a:lnTo>
                  <a:pt x="2263140" y="637032"/>
                </a:lnTo>
                <a:lnTo>
                  <a:pt x="2288540" y="643128"/>
                </a:lnTo>
                <a:lnTo>
                  <a:pt x="2326640" y="650748"/>
                </a:lnTo>
                <a:lnTo>
                  <a:pt x="2364740" y="656844"/>
                </a:lnTo>
                <a:lnTo>
                  <a:pt x="2390140" y="661416"/>
                </a:lnTo>
                <a:lnTo>
                  <a:pt x="2428240" y="665988"/>
                </a:lnTo>
                <a:lnTo>
                  <a:pt x="2504440" y="672084"/>
                </a:lnTo>
                <a:lnTo>
                  <a:pt x="2567940" y="675132"/>
                </a:lnTo>
                <a:lnTo>
                  <a:pt x="2606040" y="676656"/>
                </a:lnTo>
                <a:lnTo>
                  <a:pt x="2720340" y="672084"/>
                </a:lnTo>
                <a:lnTo>
                  <a:pt x="2796540" y="665988"/>
                </a:lnTo>
                <a:lnTo>
                  <a:pt x="2821940" y="661416"/>
                </a:lnTo>
                <a:lnTo>
                  <a:pt x="2860040" y="656844"/>
                </a:lnTo>
                <a:lnTo>
                  <a:pt x="2898140" y="650748"/>
                </a:lnTo>
                <a:lnTo>
                  <a:pt x="2923540" y="643128"/>
                </a:lnTo>
                <a:lnTo>
                  <a:pt x="2961640" y="637032"/>
                </a:lnTo>
                <a:lnTo>
                  <a:pt x="2987040" y="627888"/>
                </a:lnTo>
                <a:lnTo>
                  <a:pt x="3012440" y="620268"/>
                </a:lnTo>
                <a:lnTo>
                  <a:pt x="3050540" y="611124"/>
                </a:lnTo>
                <a:lnTo>
                  <a:pt x="3075940" y="600456"/>
                </a:lnTo>
                <a:lnTo>
                  <a:pt x="3101340" y="591312"/>
                </a:lnTo>
                <a:lnTo>
                  <a:pt x="3126740" y="580644"/>
                </a:lnTo>
                <a:lnTo>
                  <a:pt x="3177540" y="556260"/>
                </a:lnTo>
                <a:lnTo>
                  <a:pt x="3190240" y="544068"/>
                </a:lnTo>
                <a:lnTo>
                  <a:pt x="3215640" y="530352"/>
                </a:lnTo>
                <a:lnTo>
                  <a:pt x="3253740" y="502920"/>
                </a:lnTo>
                <a:lnTo>
                  <a:pt x="3266440" y="489204"/>
                </a:lnTo>
                <a:lnTo>
                  <a:pt x="3291840" y="458724"/>
                </a:lnTo>
                <a:lnTo>
                  <a:pt x="3317240" y="425196"/>
                </a:lnTo>
                <a:lnTo>
                  <a:pt x="3329940" y="408432"/>
                </a:lnTo>
                <a:lnTo>
                  <a:pt x="3329940" y="391668"/>
                </a:lnTo>
                <a:lnTo>
                  <a:pt x="3342640" y="373380"/>
                </a:lnTo>
                <a:lnTo>
                  <a:pt x="3342640" y="3017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710973" y="5678244"/>
            <a:ext cx="9982200" cy="76280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600" i="1" spc="-31" dirty="0">
                <a:solidFill>
                  <a:srgbClr val="00B0F0"/>
                </a:solidFill>
                <a:latin typeface="Arial"/>
                <a:cs typeface="Arial"/>
              </a:rPr>
              <a:t>Take </a:t>
            </a:r>
            <a:r>
              <a:rPr sz="1600" i="1" dirty="0">
                <a:solidFill>
                  <a:srgbClr val="00B0F0"/>
                </a:solidFill>
                <a:latin typeface="Arial"/>
                <a:cs typeface="Arial"/>
              </a:rPr>
              <a:t>a </a:t>
            </a:r>
            <a:r>
              <a:rPr sz="1600" i="1" spc="-4" dirty="0">
                <a:solidFill>
                  <a:srgbClr val="00B0F0"/>
                </a:solidFill>
                <a:latin typeface="Arial"/>
                <a:cs typeface="Arial"/>
              </a:rPr>
              <a:t>hidden </a:t>
            </a:r>
            <a:r>
              <a:rPr sz="1600" i="1" dirty="0">
                <a:solidFill>
                  <a:srgbClr val="00B0F0"/>
                </a:solidFill>
                <a:latin typeface="Arial"/>
                <a:cs typeface="Arial"/>
              </a:rPr>
              <a:t>layer </a:t>
            </a:r>
            <a:r>
              <a:rPr sz="1600" i="1" spc="-4" dirty="0">
                <a:solidFill>
                  <a:srgbClr val="00B0F0"/>
                </a:solidFill>
                <a:latin typeface="Arial"/>
                <a:cs typeface="Arial"/>
              </a:rPr>
              <a:t>and </a:t>
            </a:r>
            <a:r>
              <a:rPr sz="1600" i="1" dirty="0">
                <a:solidFill>
                  <a:srgbClr val="00B0F0"/>
                </a:solidFill>
                <a:latin typeface="Arial"/>
                <a:cs typeface="Arial"/>
              </a:rPr>
              <a:t>use it for </a:t>
            </a:r>
            <a:r>
              <a:rPr sz="1600" i="1" spc="-4" dirty="0">
                <a:solidFill>
                  <a:srgbClr val="00B0F0"/>
                </a:solidFill>
                <a:latin typeface="Arial"/>
                <a:cs typeface="Arial"/>
              </a:rPr>
              <a:t>prediction (FC+Softmax)  </a:t>
            </a:r>
            <a:endParaRPr lang="en-US" sz="1600" i="1" spc="-4" dirty="0">
              <a:solidFill>
                <a:srgbClr val="00B0F0"/>
              </a:solidFill>
              <a:latin typeface="Arial"/>
              <a:cs typeface="Arial"/>
            </a:endParaRPr>
          </a:p>
          <a:p>
            <a:pPr marL="11206" marR="4483">
              <a:spcBef>
                <a:spcPts val="88"/>
              </a:spcBef>
            </a:pPr>
            <a:r>
              <a:rPr sz="1600" i="1" dirty="0">
                <a:solidFill>
                  <a:srgbClr val="00B0F0"/>
                </a:solidFill>
                <a:latin typeface="Arial"/>
                <a:cs typeface="Arial"/>
              </a:rPr>
              <a:t>Ensures: </a:t>
            </a:r>
            <a:r>
              <a:rPr sz="1600" i="1" spc="-4" dirty="0">
                <a:solidFill>
                  <a:srgbClr val="00B0F0"/>
                </a:solidFill>
                <a:latin typeface="Arial"/>
                <a:cs typeface="Arial"/>
              </a:rPr>
              <a:t>Features computed at intermediate </a:t>
            </a:r>
            <a:r>
              <a:rPr sz="1600" i="1" dirty="0">
                <a:solidFill>
                  <a:srgbClr val="00B0F0"/>
                </a:solidFill>
                <a:latin typeface="Arial"/>
                <a:cs typeface="Arial"/>
              </a:rPr>
              <a:t>layers are </a:t>
            </a:r>
            <a:r>
              <a:rPr sz="1600" i="1" spc="-4" dirty="0">
                <a:solidFill>
                  <a:srgbClr val="00B0F0"/>
                </a:solidFill>
                <a:latin typeface="Arial"/>
                <a:cs typeface="Arial"/>
              </a:rPr>
              <a:t>not</a:t>
            </a:r>
            <a:r>
              <a:rPr sz="1600" i="1" spc="-172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B0F0"/>
                </a:solidFill>
                <a:latin typeface="Arial"/>
                <a:cs typeface="Arial"/>
              </a:rPr>
              <a:t>too  </a:t>
            </a:r>
            <a:r>
              <a:rPr sz="1600" i="1" spc="-4" dirty="0">
                <a:solidFill>
                  <a:srgbClr val="00B0F0"/>
                </a:solidFill>
                <a:latin typeface="Arial"/>
                <a:cs typeface="Arial"/>
              </a:rPr>
              <a:t>bad </a:t>
            </a:r>
            <a:r>
              <a:rPr sz="1600" i="1" dirty="0">
                <a:solidFill>
                  <a:srgbClr val="00B0F0"/>
                </a:solidFill>
                <a:latin typeface="Arial"/>
                <a:cs typeface="Arial"/>
              </a:rPr>
              <a:t>in</a:t>
            </a:r>
            <a:r>
              <a:rPr sz="1600" i="1" spc="-26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B0F0"/>
                </a:solidFill>
                <a:latin typeface="Arial"/>
                <a:cs typeface="Arial"/>
              </a:rPr>
              <a:t>prediction</a:t>
            </a:r>
            <a:endParaRPr sz="1600" dirty="0">
              <a:solidFill>
                <a:srgbClr val="00B0F0"/>
              </a:solidFill>
              <a:latin typeface="Arial"/>
              <a:cs typeface="Arial"/>
            </a:endParaRPr>
          </a:p>
          <a:p>
            <a:pPr marL="11206"/>
            <a:r>
              <a:rPr sz="1600" i="1" dirty="0">
                <a:solidFill>
                  <a:srgbClr val="00B0F0"/>
                </a:solidFill>
                <a:latin typeface="Arial"/>
                <a:cs typeface="Arial"/>
              </a:rPr>
              <a:t>A </a:t>
            </a:r>
            <a:r>
              <a:rPr sz="1600" i="1" spc="-4" dirty="0">
                <a:solidFill>
                  <a:srgbClr val="00B0F0"/>
                </a:solidFill>
                <a:latin typeface="Arial"/>
                <a:cs typeface="Arial"/>
              </a:rPr>
              <a:t>regularization</a:t>
            </a:r>
            <a:r>
              <a:rPr sz="1600" i="1" spc="-71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00B0F0"/>
                </a:solidFill>
                <a:latin typeface="Arial"/>
                <a:cs typeface="Arial"/>
              </a:rPr>
              <a:t>effect</a:t>
            </a:r>
            <a:endParaRPr sz="1600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81EE79-E68B-5649-AA9F-8B2972891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13781" indent="-302575">
              <a:spcBef>
                <a:spcPts val="596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00" spc="-4" dirty="0">
                <a:latin typeface="Arial"/>
                <a:cs typeface="Arial"/>
              </a:rPr>
              <a:t>The </a:t>
            </a:r>
            <a:r>
              <a:rPr lang="en-US" sz="2400" spc="-9" dirty="0">
                <a:solidFill>
                  <a:srgbClr val="00B0F0"/>
                </a:solidFill>
                <a:latin typeface="Arial"/>
                <a:cs typeface="Arial"/>
              </a:rPr>
              <a:t>auxiliary </a:t>
            </a:r>
            <a:r>
              <a:rPr lang="en-US" sz="2400" spc="-4" dirty="0">
                <a:solidFill>
                  <a:srgbClr val="00B0F0"/>
                </a:solidFill>
                <a:latin typeface="Arial"/>
                <a:cs typeface="Arial"/>
              </a:rPr>
              <a:t>classifiers consist</a:t>
            </a:r>
            <a:r>
              <a:rPr lang="en-US" sz="2400" spc="84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lang="en-US" sz="2400" spc="-4" dirty="0">
                <a:latin typeface="Arial"/>
                <a:cs typeface="Arial"/>
              </a:rPr>
              <a:t>of:</a:t>
            </a:r>
            <a:endParaRPr lang="en-US" sz="2400" dirty="0">
              <a:latin typeface="Arial"/>
              <a:cs typeface="Arial"/>
            </a:endParaRPr>
          </a:p>
          <a:p>
            <a:pPr marL="667346" lvl="1" indent="-253827">
              <a:spcBef>
                <a:spcPts val="424"/>
              </a:spcBef>
              <a:buChar char="–"/>
              <a:tabLst>
                <a:tab pos="667346" algn="l"/>
                <a:tab pos="667906" algn="l"/>
              </a:tabLst>
            </a:pPr>
            <a:r>
              <a:rPr lang="en-US" sz="1800" dirty="0">
                <a:latin typeface="Arial"/>
                <a:cs typeface="Arial"/>
              </a:rPr>
              <a:t>5×5 </a:t>
            </a:r>
            <a:r>
              <a:rPr lang="en-US" sz="1800" spc="-9" dirty="0">
                <a:latin typeface="Arial"/>
                <a:cs typeface="Arial"/>
              </a:rPr>
              <a:t>Average </a:t>
            </a:r>
            <a:r>
              <a:rPr lang="en-US" sz="1800" spc="-4" dirty="0">
                <a:latin typeface="Arial"/>
                <a:cs typeface="Arial"/>
              </a:rPr>
              <a:t>Pooling (Stride</a:t>
            </a:r>
            <a:r>
              <a:rPr lang="en-US" sz="1800" spc="-150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3)</a:t>
            </a:r>
          </a:p>
          <a:p>
            <a:pPr marL="667346" lvl="1" indent="-253827">
              <a:spcBef>
                <a:spcPts val="424"/>
              </a:spcBef>
              <a:buChar char="–"/>
              <a:tabLst>
                <a:tab pos="667346" algn="l"/>
                <a:tab pos="667906" algn="l"/>
              </a:tabLst>
            </a:pPr>
            <a:r>
              <a:rPr lang="en-US" sz="1800" dirty="0">
                <a:latin typeface="Arial"/>
                <a:cs typeface="Arial"/>
              </a:rPr>
              <a:t>1×1 Conv (128</a:t>
            </a:r>
            <a:r>
              <a:rPr lang="en-US" sz="1800" spc="-66" dirty="0">
                <a:latin typeface="Arial"/>
                <a:cs typeface="Arial"/>
              </a:rPr>
              <a:t> </a:t>
            </a:r>
            <a:r>
              <a:rPr lang="en-US" sz="1800" spc="-4" dirty="0">
                <a:latin typeface="Arial"/>
                <a:cs typeface="Arial"/>
              </a:rPr>
              <a:t>filters)</a:t>
            </a:r>
            <a:endParaRPr lang="en-US" sz="1800" dirty="0">
              <a:latin typeface="Arial"/>
              <a:cs typeface="Arial"/>
            </a:endParaRPr>
          </a:p>
          <a:p>
            <a:pPr marL="414079">
              <a:spcBef>
                <a:spcPts val="424"/>
              </a:spcBef>
              <a:tabLst>
                <a:tab pos="667346" algn="l"/>
              </a:tabLst>
            </a:pPr>
            <a:r>
              <a:rPr lang="en-US" sz="1800" dirty="0">
                <a:latin typeface="Arial"/>
                <a:cs typeface="Arial"/>
              </a:rPr>
              <a:t>–	1024</a:t>
            </a:r>
            <a:r>
              <a:rPr lang="en-US" sz="1800" spc="-97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FC</a:t>
            </a:r>
          </a:p>
          <a:p>
            <a:pPr marL="414079">
              <a:spcBef>
                <a:spcPts val="424"/>
              </a:spcBef>
              <a:tabLst>
                <a:tab pos="667346" algn="l"/>
              </a:tabLst>
            </a:pPr>
            <a:r>
              <a:rPr lang="en-US" sz="1800" dirty="0">
                <a:latin typeface="Arial"/>
                <a:cs typeface="Arial"/>
              </a:rPr>
              <a:t>–	1000</a:t>
            </a:r>
            <a:r>
              <a:rPr lang="en-US" sz="1800" spc="-97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FC</a:t>
            </a:r>
          </a:p>
          <a:p>
            <a:pPr marL="667346" lvl="1" indent="-253827">
              <a:spcBef>
                <a:spcPts val="424"/>
              </a:spcBef>
              <a:buChar char="–"/>
              <a:tabLst>
                <a:tab pos="667346" algn="l"/>
                <a:tab pos="667906" algn="l"/>
              </a:tabLst>
            </a:pPr>
            <a:r>
              <a:rPr lang="en-US" sz="1800" spc="-4" dirty="0" err="1">
                <a:latin typeface="Arial"/>
                <a:cs typeface="Arial"/>
              </a:rPr>
              <a:t>Softmax</a:t>
            </a:r>
            <a:endParaRPr lang="en-US" sz="1800" dirty="0">
              <a:latin typeface="Arial"/>
              <a:cs typeface="Arial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00" spc="-4" dirty="0">
                <a:latin typeface="Arial"/>
                <a:cs typeface="Arial"/>
              </a:rPr>
              <a:t>The loss is added </a:t>
            </a:r>
            <a:r>
              <a:rPr lang="en-US" sz="2400" dirty="0">
                <a:latin typeface="Arial"/>
                <a:cs typeface="Arial"/>
              </a:rPr>
              <a:t>to </a:t>
            </a:r>
            <a:r>
              <a:rPr lang="en-US" sz="2400" spc="-4" dirty="0">
                <a:latin typeface="Arial"/>
                <a:cs typeface="Arial"/>
              </a:rPr>
              <a:t>the total loss, </a:t>
            </a:r>
            <a:r>
              <a:rPr lang="en-US" sz="2400" spc="-4" dirty="0">
                <a:solidFill>
                  <a:srgbClr val="FF0000"/>
                </a:solidFill>
                <a:latin typeface="Arial"/>
                <a:cs typeface="Arial"/>
              </a:rPr>
              <a:t>with weight</a:t>
            </a:r>
            <a:r>
              <a:rPr lang="en-US" sz="2400" spc="5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400" spc="-4" dirty="0">
                <a:solidFill>
                  <a:srgbClr val="FF0000"/>
                </a:solidFill>
                <a:latin typeface="Arial"/>
                <a:cs typeface="Arial"/>
              </a:rPr>
              <a:t>0.3</a:t>
            </a:r>
            <a:r>
              <a:rPr lang="en-US" sz="2400" spc="-4" dirty="0">
                <a:latin typeface="Arial"/>
                <a:cs typeface="Arial"/>
              </a:rPr>
              <a:t>.</a:t>
            </a:r>
            <a:endParaRPr lang="en-US" sz="2400" dirty="0">
              <a:latin typeface="Arial"/>
              <a:cs typeface="Arial"/>
            </a:endParaRPr>
          </a:p>
          <a:p>
            <a:endParaRPr lang="en-US" sz="320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v1</a:t>
            </a:r>
            <a:r>
              <a:rPr sz="3353" spc="-40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(GoogLeNet)</a:t>
            </a:r>
            <a:endParaRPr sz="3353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7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C5A54DC-0867-4179-9507-3B438C970E66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/>
          <p:nvPr/>
        </p:nvSpPr>
        <p:spPr>
          <a:xfrm>
            <a:off x="1524000" y="4346976"/>
            <a:ext cx="8305800" cy="1291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A0746E-5AE7-BC47-229D-ABA20F39E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"/>
            <a:ext cx="12192000" cy="6400800"/>
          </a:xfrm>
          <a:solidFill>
            <a:schemeClr val="tx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functional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InceptionModule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out_1x1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red_3x3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out_3x3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red_5x5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out_5x5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pool_proj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InceptionModule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0000"/>
              </a:lnSpc>
              <a:buNone/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Branch 1: 1x1 Convolution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conv1x1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out_1x1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buNone/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Branch 2: 1x1 Convolution -&gt; 3x3 Convolution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conv3x3_1x1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red_3x3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Reduce channels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conv3x3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red_3x3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out_3x3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Extract features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Branch 3: 1x1 Convolution -&gt; 5x5 Convolution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conv5x5_1x1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red_5x5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Reduce channels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conv5x5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red_5x5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out_5x5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Extract features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Branch 4: Max Pooling -&gt; 1x1 Convolution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MaxPool2d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Pooling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pool_proj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pool_proj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Reduce channels after pooling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598EB-B6C2-98FC-2103-7DC41705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5A5E-B630-4243-A53B-5B991E8FA267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57F82-19B5-FB31-D16B-B46A4EF01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613EE-199A-C203-9E4C-F88CFA24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CF56-43E4-6A04-1A91-EC0943C4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0DE72B-29AA-F31F-88D2-1284FA224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Branch 1: Apply 1x1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conv1x1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Branch 2: 1x1 Reduction -&gt; 3x3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conv3x3_1x1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conv3x3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Branch 3: 1x1 Reduction -&gt; 5x5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conv5x5_1x1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conv5x5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Branch 4: Max Pooling -&gt; 1x1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pool_proj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Concatenate outputs from all branches along the channel dimension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branch4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D340E-7867-4ED7-AAF0-F9DA05ADC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FAB00-1051-4CD2-89CB-CF3B5DD9D584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1DEF4-C2BF-53D5-3030-95C522D1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9CFC8-B60A-5155-F25C-0CB43991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1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F79B65-1869-2BF2-8876-FB206F2F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3C7EACA9-6EF0-4F6A-A5DC-335DCCD958DB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66" dirty="0">
                <a:latin typeface="Arial"/>
                <a:cs typeface="Arial"/>
              </a:rPr>
              <a:t> </a:t>
            </a:r>
            <a:r>
              <a:rPr sz="3353" dirty="0">
                <a:latin typeface="Arial"/>
                <a:cs typeface="Arial"/>
              </a:rPr>
              <a:t>v2</a:t>
            </a:r>
            <a:endParaRPr sz="3353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31826" y="1439491"/>
            <a:ext cx="6068755" cy="42647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EEA851-4C30-570A-EB8F-5C6568251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ED61690-7F40-406D-ADEE-697D6244039F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66" dirty="0">
                <a:latin typeface="Arial"/>
                <a:cs typeface="Arial"/>
              </a:rPr>
              <a:t> </a:t>
            </a:r>
            <a:r>
              <a:rPr sz="3353" dirty="0">
                <a:latin typeface="Arial"/>
                <a:cs typeface="Arial"/>
              </a:rPr>
              <a:t>v3</a:t>
            </a:r>
            <a:endParaRPr sz="3353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49041" y="1351765"/>
            <a:ext cx="5958406" cy="4429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idx="1"/>
          </p:nvPr>
        </p:nvSpPr>
        <p:spPr>
          <a:xfrm>
            <a:off x="609600" y="1600201"/>
            <a:ext cx="10972800" cy="315520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35634" marR="454983" indent="-302575">
              <a:spcBef>
                <a:spcPts val="84"/>
              </a:spcBef>
              <a:tabLst>
                <a:tab pos="335634" algn="l"/>
                <a:tab pos="336194" algn="l"/>
              </a:tabLst>
            </a:pPr>
            <a:r>
              <a:rPr spc="-4" dirty="0"/>
              <a:t>Separable Convolutions: The aim of factorizing Convolutions is  to </a:t>
            </a:r>
            <a:r>
              <a:rPr b="1" i="1" spc="-4" dirty="0">
                <a:solidFill>
                  <a:srgbClr val="FF0000"/>
                </a:solidFill>
                <a:latin typeface="Arial"/>
                <a:cs typeface="Arial"/>
              </a:rPr>
              <a:t>reduce the number of parameters </a:t>
            </a:r>
            <a:r>
              <a:rPr spc="-4" dirty="0"/>
              <a:t>without decreasing the  network</a:t>
            </a:r>
            <a:r>
              <a:rPr spc="9" dirty="0"/>
              <a:t> </a:t>
            </a:r>
            <a:r>
              <a:rPr spc="-18" dirty="0"/>
              <a:t>efficiency.</a:t>
            </a:r>
          </a:p>
          <a:p>
            <a:pPr marL="336194" marR="4483" indent="-302575">
              <a:spcBef>
                <a:spcPts val="463"/>
              </a:spcBef>
              <a:tabLst>
                <a:tab pos="335634" algn="l"/>
                <a:tab pos="336194" algn="l"/>
              </a:tabLst>
            </a:pPr>
            <a:r>
              <a:rPr spc="-4" dirty="0">
                <a:solidFill>
                  <a:srgbClr val="00B050"/>
                </a:solidFill>
              </a:rPr>
              <a:t>Spatially separable convolution</a:t>
            </a:r>
            <a:r>
              <a:rPr spc="-4" dirty="0"/>
              <a:t> decomposes a convolution into two  separate</a:t>
            </a:r>
            <a:r>
              <a:rPr spc="9" dirty="0"/>
              <a:t> </a:t>
            </a:r>
            <a:r>
              <a:rPr spc="-4" dirty="0"/>
              <a:t>operations.</a:t>
            </a:r>
          </a:p>
          <a:p>
            <a:pPr marL="336194" marR="18491" indent="-302575">
              <a:spcBef>
                <a:spcPts val="468"/>
              </a:spcBef>
              <a:tabLst>
                <a:tab pos="335634" algn="l"/>
                <a:tab pos="336194" algn="l"/>
              </a:tabLst>
            </a:pPr>
            <a:r>
              <a:rPr spc="-9" dirty="0"/>
              <a:t>Example: </a:t>
            </a:r>
            <a:r>
              <a:rPr spc="-4" dirty="0"/>
              <a:t>A Sobel kernel, which is a </a:t>
            </a:r>
            <a:r>
              <a:rPr spc="-9" dirty="0"/>
              <a:t>3x3 </a:t>
            </a:r>
            <a:r>
              <a:rPr spc="-4" dirty="0"/>
              <a:t>kernel, can be divided into  a </a:t>
            </a:r>
            <a:r>
              <a:rPr spc="-9" dirty="0"/>
              <a:t>3x1 </a:t>
            </a:r>
            <a:r>
              <a:rPr spc="-4" dirty="0"/>
              <a:t>and </a:t>
            </a:r>
            <a:r>
              <a:rPr spc="-9" dirty="0"/>
              <a:t>1x3</a:t>
            </a:r>
            <a:r>
              <a:rPr spc="40" dirty="0"/>
              <a:t> </a:t>
            </a:r>
            <a:r>
              <a:rPr spc="-4" dirty="0"/>
              <a:t>kernel.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v3: Factorizing</a:t>
            </a:r>
            <a:r>
              <a:rPr sz="3353" spc="-71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Convolutions</a:t>
            </a:r>
            <a:endParaRPr sz="3353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12</a:t>
            </a:fld>
            <a:endParaRPr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45906078-6C16-45A2-87A3-B44CF01CA707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grpSp>
        <p:nvGrpSpPr>
          <p:cNvPr id="12" name="object 12"/>
          <p:cNvGrpSpPr/>
          <p:nvPr/>
        </p:nvGrpSpPr>
        <p:grpSpPr>
          <a:xfrm>
            <a:off x="2895600" y="4943487"/>
            <a:ext cx="6757147" cy="1497106"/>
            <a:chOff x="1338065" y="4154423"/>
            <a:chExt cx="7658100" cy="1696720"/>
          </a:xfrm>
        </p:grpSpPr>
        <p:sp>
          <p:nvSpPr>
            <p:cNvPr id="13" name="object 13"/>
            <p:cNvSpPr/>
            <p:nvPr/>
          </p:nvSpPr>
          <p:spPr>
            <a:xfrm>
              <a:off x="1500752" y="4336086"/>
              <a:ext cx="7286625" cy="12852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1338065" y="4154423"/>
              <a:ext cx="7658100" cy="1696720"/>
            </a:xfrm>
            <a:custGeom>
              <a:avLst/>
              <a:gdLst/>
              <a:ahLst/>
              <a:cxnLst/>
              <a:rect l="l" t="t" r="r" b="b"/>
              <a:pathLst>
                <a:path w="7658100" h="1696720">
                  <a:moveTo>
                    <a:pt x="7658106" y="1691640"/>
                  </a:moveTo>
                  <a:lnTo>
                    <a:pt x="7658106" y="4572"/>
                  </a:lnTo>
                  <a:lnTo>
                    <a:pt x="7653534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691640"/>
                  </a:lnTo>
                  <a:lnTo>
                    <a:pt x="4572" y="1696212"/>
                  </a:lnTo>
                  <a:lnTo>
                    <a:pt x="10668" y="1696212"/>
                  </a:lnTo>
                  <a:lnTo>
                    <a:pt x="10668" y="19812"/>
                  </a:lnTo>
                  <a:lnTo>
                    <a:pt x="19812" y="9144"/>
                  </a:lnTo>
                  <a:lnTo>
                    <a:pt x="19812" y="19812"/>
                  </a:lnTo>
                  <a:lnTo>
                    <a:pt x="7639818" y="19812"/>
                  </a:lnTo>
                  <a:lnTo>
                    <a:pt x="7639818" y="9144"/>
                  </a:lnTo>
                  <a:lnTo>
                    <a:pt x="7648962" y="19812"/>
                  </a:lnTo>
                  <a:lnTo>
                    <a:pt x="7648962" y="1696212"/>
                  </a:lnTo>
                  <a:lnTo>
                    <a:pt x="7653534" y="1696212"/>
                  </a:lnTo>
                  <a:lnTo>
                    <a:pt x="7658106" y="1691640"/>
                  </a:lnTo>
                  <a:close/>
                </a:path>
                <a:path w="7658100" h="1696720">
                  <a:moveTo>
                    <a:pt x="19812" y="19812"/>
                  </a:moveTo>
                  <a:lnTo>
                    <a:pt x="19812" y="9144"/>
                  </a:lnTo>
                  <a:lnTo>
                    <a:pt x="10668" y="19812"/>
                  </a:lnTo>
                  <a:lnTo>
                    <a:pt x="19812" y="19812"/>
                  </a:lnTo>
                  <a:close/>
                </a:path>
                <a:path w="7658100" h="1696720">
                  <a:moveTo>
                    <a:pt x="19812" y="1676400"/>
                  </a:moveTo>
                  <a:lnTo>
                    <a:pt x="19812" y="19812"/>
                  </a:lnTo>
                  <a:lnTo>
                    <a:pt x="10668" y="19812"/>
                  </a:lnTo>
                  <a:lnTo>
                    <a:pt x="10668" y="1676400"/>
                  </a:lnTo>
                  <a:lnTo>
                    <a:pt x="19812" y="1676400"/>
                  </a:lnTo>
                  <a:close/>
                </a:path>
                <a:path w="7658100" h="1696720">
                  <a:moveTo>
                    <a:pt x="7648962" y="1676400"/>
                  </a:moveTo>
                  <a:lnTo>
                    <a:pt x="10668" y="1676400"/>
                  </a:lnTo>
                  <a:lnTo>
                    <a:pt x="19812" y="1685544"/>
                  </a:lnTo>
                  <a:lnTo>
                    <a:pt x="19812" y="1696212"/>
                  </a:lnTo>
                  <a:lnTo>
                    <a:pt x="7639818" y="1696212"/>
                  </a:lnTo>
                  <a:lnTo>
                    <a:pt x="7639818" y="1685544"/>
                  </a:lnTo>
                  <a:lnTo>
                    <a:pt x="7648962" y="1676400"/>
                  </a:lnTo>
                  <a:close/>
                </a:path>
                <a:path w="7658100" h="1696720">
                  <a:moveTo>
                    <a:pt x="19812" y="1696212"/>
                  </a:moveTo>
                  <a:lnTo>
                    <a:pt x="19812" y="1685544"/>
                  </a:lnTo>
                  <a:lnTo>
                    <a:pt x="10668" y="1676400"/>
                  </a:lnTo>
                  <a:lnTo>
                    <a:pt x="10668" y="1696212"/>
                  </a:lnTo>
                  <a:lnTo>
                    <a:pt x="19812" y="1696212"/>
                  </a:lnTo>
                  <a:close/>
                </a:path>
                <a:path w="7658100" h="1696720">
                  <a:moveTo>
                    <a:pt x="7648962" y="19812"/>
                  </a:moveTo>
                  <a:lnTo>
                    <a:pt x="7639818" y="9144"/>
                  </a:lnTo>
                  <a:lnTo>
                    <a:pt x="7639818" y="19812"/>
                  </a:lnTo>
                  <a:lnTo>
                    <a:pt x="7648962" y="19812"/>
                  </a:lnTo>
                  <a:close/>
                </a:path>
                <a:path w="7658100" h="1696720">
                  <a:moveTo>
                    <a:pt x="7648962" y="1676400"/>
                  </a:moveTo>
                  <a:lnTo>
                    <a:pt x="7648962" y="19812"/>
                  </a:lnTo>
                  <a:lnTo>
                    <a:pt x="7639818" y="19812"/>
                  </a:lnTo>
                  <a:lnTo>
                    <a:pt x="7639818" y="1676400"/>
                  </a:lnTo>
                  <a:lnTo>
                    <a:pt x="7648962" y="1676400"/>
                  </a:lnTo>
                  <a:close/>
                </a:path>
                <a:path w="7658100" h="1696720">
                  <a:moveTo>
                    <a:pt x="7648962" y="1696212"/>
                  </a:moveTo>
                  <a:lnTo>
                    <a:pt x="7648962" y="1676400"/>
                  </a:lnTo>
                  <a:lnTo>
                    <a:pt x="7639818" y="1685544"/>
                  </a:lnTo>
                  <a:lnTo>
                    <a:pt x="7639818" y="1696212"/>
                  </a:lnTo>
                  <a:lnTo>
                    <a:pt x="7648962" y="1696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19100" y="462698"/>
            <a:ext cx="10972800" cy="838200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v3: Factorizing</a:t>
            </a:r>
            <a:r>
              <a:rPr sz="3353" spc="-71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Convolutions</a:t>
            </a:r>
            <a:endParaRPr sz="3353" dirty="0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13</a:t>
            </a:fld>
            <a:endParaRPr dirty="0"/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59D95988-A564-48CB-888C-C324C38D01DB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6C7C1B5-9A48-D35B-3E63-5B8B4319C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6019800" cy="47624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61876" y="6205817"/>
            <a:ext cx="8068235" cy="248771"/>
            <a:chOff x="457193" y="7033259"/>
            <a:chExt cx="9144000" cy="281940"/>
          </a:xfrm>
        </p:grpSpPr>
        <p:sp>
          <p:nvSpPr>
            <p:cNvPr id="3" name="object 3"/>
            <p:cNvSpPr/>
            <p:nvPr/>
          </p:nvSpPr>
          <p:spPr>
            <a:xfrm>
              <a:off x="457187" y="7033272"/>
              <a:ext cx="4578350" cy="281940"/>
            </a:xfrm>
            <a:custGeom>
              <a:avLst/>
              <a:gdLst/>
              <a:ahLst/>
              <a:cxnLst/>
              <a:rect l="l" t="t" r="r" b="b"/>
              <a:pathLst>
                <a:path w="4578350" h="281940">
                  <a:moveTo>
                    <a:pt x="4578108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0" y="9144"/>
                  </a:lnTo>
                  <a:lnTo>
                    <a:pt x="0" y="281927"/>
                  </a:lnTo>
                  <a:lnTo>
                    <a:pt x="6096" y="281927"/>
                  </a:lnTo>
                  <a:lnTo>
                    <a:pt x="4567440" y="281927"/>
                  </a:lnTo>
                  <a:lnTo>
                    <a:pt x="4572000" y="281927"/>
                  </a:lnTo>
                  <a:lnTo>
                    <a:pt x="4578108" y="281927"/>
                  </a:lnTo>
                  <a:lnTo>
                    <a:pt x="45781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5029200" y="7037831"/>
              <a:ext cx="4572000" cy="277495"/>
            </a:xfrm>
            <a:custGeom>
              <a:avLst/>
              <a:gdLst/>
              <a:ahLst/>
              <a:cxnLst/>
              <a:rect l="l" t="t" r="r" b="b"/>
              <a:pathLst>
                <a:path w="4572000" h="277495">
                  <a:moveTo>
                    <a:pt x="0" y="0"/>
                  </a:moveTo>
                  <a:lnTo>
                    <a:pt x="0" y="277367"/>
                  </a:lnTo>
                  <a:lnTo>
                    <a:pt x="4571999" y="277367"/>
                  </a:lnTo>
                  <a:lnTo>
                    <a:pt x="4571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7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5024628" y="7033259"/>
              <a:ext cx="4577080" cy="281940"/>
            </a:xfrm>
            <a:custGeom>
              <a:avLst/>
              <a:gdLst/>
              <a:ahLst/>
              <a:cxnLst/>
              <a:rect l="l" t="t" r="r" b="b"/>
              <a:pathLst>
                <a:path w="4577080" h="281940">
                  <a:moveTo>
                    <a:pt x="4576571" y="9143"/>
                  </a:moveTo>
                  <a:lnTo>
                    <a:pt x="4576571" y="0"/>
                  </a:lnTo>
                  <a:lnTo>
                    <a:pt x="0" y="0"/>
                  </a:lnTo>
                  <a:lnTo>
                    <a:pt x="0" y="281939"/>
                  </a:lnTo>
                  <a:lnTo>
                    <a:pt x="4572" y="281939"/>
                  </a:ln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lnTo>
                    <a:pt x="4572000" y="9144"/>
                  </a:lnTo>
                  <a:lnTo>
                    <a:pt x="4572000" y="4572"/>
                  </a:lnTo>
                  <a:lnTo>
                    <a:pt x="4576571" y="9143"/>
                  </a:lnTo>
                  <a:close/>
                </a:path>
                <a:path w="4577080" h="281940">
                  <a:moveTo>
                    <a:pt x="10668" y="9144"/>
                  </a:move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close/>
                </a:path>
                <a:path w="4577080" h="281940">
                  <a:moveTo>
                    <a:pt x="10668" y="281939"/>
                  </a:moveTo>
                  <a:lnTo>
                    <a:pt x="10668" y="9144"/>
                  </a:lnTo>
                  <a:lnTo>
                    <a:pt x="4572" y="9144"/>
                  </a:lnTo>
                  <a:lnTo>
                    <a:pt x="4572" y="281939"/>
                  </a:lnTo>
                  <a:lnTo>
                    <a:pt x="10668" y="281939"/>
                  </a:lnTo>
                  <a:close/>
                </a:path>
                <a:path w="4577080" h="281940">
                  <a:moveTo>
                    <a:pt x="4576571" y="9144"/>
                  </a:moveTo>
                  <a:lnTo>
                    <a:pt x="4572000" y="4572"/>
                  </a:lnTo>
                  <a:lnTo>
                    <a:pt x="4572000" y="9144"/>
                  </a:lnTo>
                  <a:lnTo>
                    <a:pt x="4576571" y="9144"/>
                  </a:lnTo>
                  <a:close/>
                </a:path>
                <a:path w="4577080" h="281940">
                  <a:moveTo>
                    <a:pt x="4576571" y="281939"/>
                  </a:moveTo>
                  <a:lnTo>
                    <a:pt x="4576571" y="9144"/>
                  </a:lnTo>
                  <a:lnTo>
                    <a:pt x="4572000" y="9144"/>
                  </a:lnTo>
                  <a:lnTo>
                    <a:pt x="4572000" y="281939"/>
                  </a:lnTo>
                  <a:lnTo>
                    <a:pt x="4576571" y="281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EEA0242-58CC-B536-E48A-A1D7F95D5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4E737ED-526B-4275-9128-C19BB8D60A98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14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v3: Factorizing</a:t>
            </a:r>
            <a:r>
              <a:rPr sz="3353" spc="-71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Convolutions</a:t>
            </a:r>
            <a:endParaRPr sz="3353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0430" y="1628081"/>
            <a:ext cx="7703072" cy="3955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4949BE2-EDE5-509E-DF62-33E2EE3FA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781" indent="-302575">
              <a:spcBef>
                <a:spcPts val="512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In convolution, the 3x3 </a:t>
            </a:r>
            <a:r>
              <a:rPr lang="en-US" sz="2800" dirty="0">
                <a:latin typeface="Arial"/>
                <a:cs typeface="Arial"/>
              </a:rPr>
              <a:t>kernel </a:t>
            </a:r>
            <a:r>
              <a:rPr lang="en-US" sz="2800" spc="-4" dirty="0">
                <a:latin typeface="Arial"/>
                <a:cs typeface="Arial"/>
              </a:rPr>
              <a:t>directly convolves with the</a:t>
            </a:r>
            <a:r>
              <a:rPr lang="en-US" sz="2800" spc="-75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image.</a:t>
            </a:r>
          </a:p>
          <a:p>
            <a:pPr marL="313221" marR="4483" indent="-302575">
              <a:spcBef>
                <a:spcPts val="424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In spatially </a:t>
            </a:r>
            <a:r>
              <a:rPr lang="en-US" sz="2800" dirty="0">
                <a:latin typeface="Arial"/>
                <a:cs typeface="Arial"/>
              </a:rPr>
              <a:t>separable </a:t>
            </a:r>
            <a:r>
              <a:rPr lang="en-US" sz="2800" spc="-4" dirty="0">
                <a:latin typeface="Arial"/>
                <a:cs typeface="Arial"/>
              </a:rPr>
              <a:t>convolution, the 3x1 </a:t>
            </a:r>
            <a:r>
              <a:rPr lang="en-US" sz="2800" dirty="0">
                <a:latin typeface="Arial"/>
                <a:cs typeface="Arial"/>
              </a:rPr>
              <a:t>kernel </a:t>
            </a:r>
            <a:r>
              <a:rPr lang="en-US" sz="2800" spc="-4" dirty="0">
                <a:latin typeface="Arial"/>
                <a:cs typeface="Arial"/>
              </a:rPr>
              <a:t>first convolves with the  </a:t>
            </a:r>
            <a:r>
              <a:rPr lang="en-US" sz="2800" dirty="0">
                <a:latin typeface="Arial"/>
                <a:cs typeface="Arial"/>
              </a:rPr>
              <a:t>image. Then </a:t>
            </a:r>
            <a:r>
              <a:rPr lang="en-US" sz="2800" spc="-4" dirty="0">
                <a:latin typeface="Arial"/>
                <a:cs typeface="Arial"/>
              </a:rPr>
              <a:t>the 1x3 </a:t>
            </a:r>
            <a:r>
              <a:rPr lang="en-US" sz="2800" dirty="0">
                <a:latin typeface="Arial"/>
                <a:cs typeface="Arial"/>
              </a:rPr>
              <a:t>kernel </a:t>
            </a:r>
            <a:r>
              <a:rPr lang="en-US" sz="2800" spc="-4" dirty="0">
                <a:latin typeface="Arial"/>
                <a:cs typeface="Arial"/>
              </a:rPr>
              <a:t>is </a:t>
            </a:r>
            <a:r>
              <a:rPr lang="en-US" sz="2800" dirty="0">
                <a:latin typeface="Arial"/>
                <a:cs typeface="Arial"/>
              </a:rPr>
              <a:t>applied. </a:t>
            </a:r>
            <a:r>
              <a:rPr lang="en-US" sz="2800" spc="-4" dirty="0">
                <a:latin typeface="Arial"/>
                <a:cs typeface="Arial"/>
              </a:rPr>
              <a:t>This </a:t>
            </a:r>
            <a:r>
              <a:rPr lang="en-US" sz="2800" dirty="0">
                <a:latin typeface="Arial"/>
                <a:cs typeface="Arial"/>
              </a:rPr>
              <a:t>would require </a:t>
            </a:r>
            <a:r>
              <a:rPr lang="en-US" sz="2800" i="1" dirty="0">
                <a:solidFill>
                  <a:srgbClr val="FF0000"/>
                </a:solidFill>
                <a:latin typeface="Arial"/>
                <a:cs typeface="Arial"/>
              </a:rPr>
              <a:t>6 instead of 9 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parameters </a:t>
            </a:r>
            <a:r>
              <a:rPr lang="en-US" sz="2800" dirty="0">
                <a:latin typeface="Arial"/>
                <a:cs typeface="Arial"/>
              </a:rPr>
              <a:t>while doing </a:t>
            </a:r>
            <a:r>
              <a:rPr lang="en-US" sz="2800" spc="-4" dirty="0">
                <a:latin typeface="Arial"/>
                <a:cs typeface="Arial"/>
              </a:rPr>
              <a:t>the </a:t>
            </a:r>
            <a:r>
              <a:rPr lang="en-US" sz="2800" dirty="0">
                <a:latin typeface="Arial"/>
                <a:cs typeface="Arial"/>
              </a:rPr>
              <a:t>same</a:t>
            </a:r>
            <a:r>
              <a:rPr lang="en-US" sz="2800" spc="-84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operations.</a:t>
            </a:r>
          </a:p>
          <a:p>
            <a:pPr marL="313781" marR="484120" indent="-302575">
              <a:spcBef>
                <a:spcPts val="424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13" dirty="0">
                <a:latin typeface="Arial"/>
                <a:cs typeface="Arial"/>
              </a:rPr>
              <a:t>Moreover, </a:t>
            </a:r>
            <a:r>
              <a:rPr lang="en-US" sz="2800" dirty="0">
                <a:latin typeface="Arial"/>
                <a:cs typeface="Arial"/>
              </a:rPr>
              <a:t>we need </a:t>
            </a:r>
            <a:r>
              <a:rPr lang="en-US" sz="2800" i="1" dirty="0">
                <a:solidFill>
                  <a:srgbClr val="FF0000"/>
                </a:solidFill>
                <a:latin typeface="Arial"/>
                <a:cs typeface="Arial"/>
              </a:rPr>
              <a:t>less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matrix multiplications </a:t>
            </a:r>
            <a:r>
              <a:rPr lang="en-US" sz="2800" spc="-4" dirty="0">
                <a:latin typeface="Arial"/>
                <a:cs typeface="Arial"/>
              </a:rPr>
              <a:t>in spatially </a:t>
            </a:r>
            <a:r>
              <a:rPr lang="en-US" sz="2800" dirty="0">
                <a:latin typeface="Arial"/>
                <a:cs typeface="Arial"/>
              </a:rPr>
              <a:t>separable  </a:t>
            </a:r>
            <a:r>
              <a:rPr lang="en-US" sz="2800" spc="-4" dirty="0">
                <a:latin typeface="Arial"/>
                <a:cs typeface="Arial"/>
              </a:rPr>
              <a:t>convolution than</a:t>
            </a:r>
            <a:r>
              <a:rPr lang="en-US" sz="2800" spc="-35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convolution.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v3: Factorizing</a:t>
            </a:r>
            <a:r>
              <a:rPr sz="3353" spc="-71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Convolutions</a:t>
            </a:r>
            <a:endParaRPr sz="3353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15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A14769E-182A-467D-A722-5B529D1658D5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11" name="object 11"/>
          <p:cNvSpPr txBox="1"/>
          <p:nvPr/>
        </p:nvSpPr>
        <p:spPr>
          <a:xfrm>
            <a:off x="726952" y="4411655"/>
            <a:ext cx="6548922" cy="169228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sz="1765" spc="-4" dirty="0">
                <a:latin typeface="Arial"/>
                <a:cs typeface="Arial"/>
              </a:rPr>
              <a:t>Example: Convolution </a:t>
            </a:r>
            <a:r>
              <a:rPr sz="1765" dirty="0">
                <a:latin typeface="Arial"/>
                <a:cs typeface="Arial"/>
              </a:rPr>
              <a:t>on a 5 x 5 </a:t>
            </a:r>
            <a:r>
              <a:rPr sz="1765" spc="-4" dirty="0">
                <a:latin typeface="Arial"/>
                <a:cs typeface="Arial"/>
              </a:rPr>
              <a:t>image with </a:t>
            </a:r>
            <a:r>
              <a:rPr sz="1765" dirty="0">
                <a:latin typeface="Arial"/>
                <a:cs typeface="Arial"/>
              </a:rPr>
              <a:t>a 3 x 3 kernel </a:t>
            </a:r>
            <a:r>
              <a:rPr sz="1765" spc="-4" dirty="0">
                <a:latin typeface="Arial"/>
                <a:cs typeface="Arial"/>
              </a:rPr>
              <a:t>(stride=1,  </a:t>
            </a:r>
            <a:r>
              <a:rPr sz="1765" dirty="0">
                <a:latin typeface="Arial"/>
                <a:cs typeface="Arial"/>
              </a:rPr>
              <a:t>padding=0) requires scanning </a:t>
            </a:r>
            <a:r>
              <a:rPr sz="1765" spc="-4" dirty="0">
                <a:latin typeface="Arial"/>
                <a:cs typeface="Arial"/>
              </a:rPr>
              <a:t>the </a:t>
            </a:r>
            <a:r>
              <a:rPr sz="1765" dirty="0">
                <a:latin typeface="Arial"/>
                <a:cs typeface="Arial"/>
              </a:rPr>
              <a:t>kernel at 3 </a:t>
            </a:r>
            <a:r>
              <a:rPr sz="1765" spc="-4" dirty="0">
                <a:latin typeface="Arial"/>
                <a:cs typeface="Arial"/>
              </a:rPr>
              <a:t>positions horizontally </a:t>
            </a:r>
            <a:r>
              <a:rPr sz="1765" dirty="0">
                <a:latin typeface="Arial"/>
                <a:cs typeface="Arial"/>
              </a:rPr>
              <a:t>(and</a:t>
            </a:r>
            <a:r>
              <a:rPr sz="1765" spc="-154" dirty="0">
                <a:latin typeface="Arial"/>
                <a:cs typeface="Arial"/>
              </a:rPr>
              <a:t> </a:t>
            </a:r>
            <a:r>
              <a:rPr sz="1765" dirty="0">
                <a:latin typeface="Arial"/>
                <a:cs typeface="Arial"/>
              </a:rPr>
              <a:t>3  </a:t>
            </a:r>
            <a:r>
              <a:rPr sz="1765" spc="-4" dirty="0">
                <a:latin typeface="Arial"/>
                <a:cs typeface="Arial"/>
              </a:rPr>
              <a:t>positions vertically): i.e. </a:t>
            </a:r>
            <a:r>
              <a:rPr sz="1765" dirty="0">
                <a:latin typeface="Arial"/>
                <a:cs typeface="Arial"/>
              </a:rPr>
              <a:t>9 </a:t>
            </a:r>
            <a:r>
              <a:rPr sz="1765" spc="-4" dirty="0">
                <a:latin typeface="Arial"/>
                <a:cs typeface="Arial"/>
              </a:rPr>
              <a:t>positions in</a:t>
            </a:r>
            <a:r>
              <a:rPr sz="1765" spc="-71" dirty="0">
                <a:latin typeface="Arial"/>
                <a:cs typeface="Arial"/>
              </a:rPr>
              <a:t> </a:t>
            </a:r>
            <a:r>
              <a:rPr sz="1765" spc="-4" dirty="0">
                <a:latin typeface="Arial"/>
                <a:cs typeface="Arial"/>
              </a:rPr>
              <a:t>total</a:t>
            </a:r>
            <a:endParaRPr sz="1765" dirty="0">
              <a:latin typeface="Arial"/>
              <a:cs typeface="Arial"/>
            </a:endParaRPr>
          </a:p>
          <a:p>
            <a:pPr marL="313221" marR="518300" indent="-302575">
              <a:spcBef>
                <a:spcPts val="424"/>
              </a:spcBef>
              <a:buChar char="•"/>
              <a:tabLst>
                <a:tab pos="313221" algn="l"/>
                <a:tab pos="313781" algn="l"/>
              </a:tabLst>
            </a:pPr>
            <a:r>
              <a:rPr sz="1765" spc="-4" dirty="0">
                <a:latin typeface="Arial"/>
                <a:cs typeface="Arial"/>
              </a:rPr>
              <a:t>At </a:t>
            </a:r>
            <a:r>
              <a:rPr sz="1765" dirty="0">
                <a:latin typeface="Arial"/>
                <a:cs typeface="Arial"/>
              </a:rPr>
              <a:t>each </a:t>
            </a:r>
            <a:r>
              <a:rPr sz="1765" spc="-4" dirty="0">
                <a:latin typeface="Arial"/>
                <a:cs typeface="Arial"/>
              </a:rPr>
              <a:t>position, </a:t>
            </a:r>
            <a:r>
              <a:rPr sz="1765" dirty="0">
                <a:latin typeface="Arial"/>
                <a:cs typeface="Arial"/>
              </a:rPr>
              <a:t>9 element-wise </a:t>
            </a:r>
            <a:r>
              <a:rPr sz="1765" spc="-4" dirty="0">
                <a:latin typeface="Arial"/>
                <a:cs typeface="Arial"/>
              </a:rPr>
              <a:t>multiplications </a:t>
            </a:r>
            <a:r>
              <a:rPr sz="1765" dirty="0">
                <a:latin typeface="Arial"/>
                <a:cs typeface="Arial"/>
              </a:rPr>
              <a:t>are applied. </a:t>
            </a:r>
            <a:r>
              <a:rPr sz="1765" spc="-4" dirty="0">
                <a:latin typeface="Arial"/>
                <a:cs typeface="Arial"/>
              </a:rPr>
              <a:t>Overall,  </a:t>
            </a:r>
            <a:r>
              <a:rPr sz="1765" spc="-9" dirty="0">
                <a:latin typeface="Arial"/>
                <a:cs typeface="Arial"/>
              </a:rPr>
              <a:t>that’s </a:t>
            </a:r>
            <a:r>
              <a:rPr sz="1765" i="1" dirty="0">
                <a:latin typeface="Arial"/>
                <a:cs typeface="Arial"/>
              </a:rPr>
              <a:t>9 x 9 = 81</a:t>
            </a:r>
            <a:r>
              <a:rPr sz="1765" i="1" spc="-53" dirty="0">
                <a:latin typeface="Arial"/>
                <a:cs typeface="Arial"/>
              </a:rPr>
              <a:t> </a:t>
            </a:r>
            <a:r>
              <a:rPr sz="1765" spc="-4" dirty="0">
                <a:latin typeface="Arial"/>
                <a:cs typeface="Arial"/>
              </a:rPr>
              <a:t>multiplications.</a:t>
            </a:r>
            <a:endParaRPr sz="1765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75252" y="4482852"/>
            <a:ext cx="4487284" cy="1652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4485037" y="6272602"/>
            <a:ext cx="1518957" cy="14649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>
              <a:spcBef>
                <a:spcPts val="84"/>
              </a:spcBef>
            </a:pPr>
            <a:r>
              <a:rPr sz="882" i="1" spc="-9" dirty="0">
                <a:solidFill>
                  <a:srgbClr val="FFFFFF"/>
                </a:solidFill>
                <a:latin typeface="Arial"/>
                <a:cs typeface="Arial"/>
              </a:rPr>
              <a:t>Bahria </a:t>
            </a:r>
            <a:r>
              <a:rPr sz="882" i="1" spc="-4" dirty="0">
                <a:solidFill>
                  <a:srgbClr val="FFFFFF"/>
                </a:solidFill>
                <a:latin typeface="Arial"/>
                <a:cs typeface="Arial"/>
              </a:rPr>
              <a:t>University, </a:t>
            </a:r>
            <a:r>
              <a:rPr sz="882" i="1" spc="-9" dirty="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sz="882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82" i="1" spc="-9" dirty="0">
                <a:solidFill>
                  <a:srgbClr val="FFFFFF"/>
                </a:solidFill>
                <a:latin typeface="Arial"/>
                <a:cs typeface="Arial"/>
              </a:rPr>
              <a:t>2020</a:t>
            </a:r>
            <a:endParaRPr sz="882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03345" y="6213435"/>
            <a:ext cx="169209" cy="2013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235" spc="4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123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235">
              <a:latin typeface="Times New Roman"/>
              <a:cs typeface="Times New Roman"/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03F2B14-A207-B08D-1CC1-B4CBCBB8B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"/>
                <a:cs typeface="Arial"/>
              </a:rPr>
              <a:t>For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spatially 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separable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convolution</a:t>
            </a:r>
            <a:r>
              <a:rPr lang="en-US" sz="2800" spc="-4" dirty="0">
                <a:latin typeface="Arial"/>
                <a:cs typeface="Arial"/>
              </a:rPr>
              <a:t>, </a:t>
            </a:r>
            <a:r>
              <a:rPr lang="en-US" sz="2800" dirty="0">
                <a:latin typeface="Arial"/>
                <a:cs typeface="Arial"/>
              </a:rPr>
              <a:t>we </a:t>
            </a:r>
            <a:r>
              <a:rPr lang="en-US" sz="2800" spc="-4" dirty="0">
                <a:latin typeface="Arial"/>
                <a:cs typeface="Arial"/>
              </a:rPr>
              <a:t>first </a:t>
            </a:r>
            <a:r>
              <a:rPr lang="en-US" sz="2800" dirty="0">
                <a:latin typeface="Arial"/>
                <a:cs typeface="Arial"/>
              </a:rPr>
              <a:t>apply a 3 x 1 </a:t>
            </a:r>
            <a:r>
              <a:rPr lang="en-US" sz="2800" spc="-4" dirty="0">
                <a:latin typeface="Arial"/>
                <a:cs typeface="Arial"/>
              </a:rPr>
              <a:t>filter </a:t>
            </a:r>
            <a:r>
              <a:rPr lang="en-US" sz="2800" dirty="0">
                <a:latin typeface="Arial"/>
                <a:cs typeface="Arial"/>
              </a:rPr>
              <a:t>on </a:t>
            </a:r>
            <a:r>
              <a:rPr lang="en-US" sz="2800" spc="-4" dirty="0">
                <a:latin typeface="Arial"/>
                <a:cs typeface="Arial"/>
              </a:rPr>
              <a:t>the </a:t>
            </a:r>
            <a:r>
              <a:rPr lang="en-US" sz="2800" dirty="0">
                <a:latin typeface="Arial"/>
                <a:cs typeface="Arial"/>
              </a:rPr>
              <a:t>5 x 5  image.</a:t>
            </a:r>
          </a:p>
          <a:p>
            <a:pPr marL="313221" marR="131116" indent="-302575">
              <a:spcBef>
                <a:spcPts val="424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13" dirty="0">
                <a:latin typeface="Arial"/>
                <a:cs typeface="Arial"/>
              </a:rPr>
              <a:t>We </a:t>
            </a:r>
            <a:r>
              <a:rPr lang="en-US" sz="2800" dirty="0">
                <a:latin typeface="Arial"/>
                <a:cs typeface="Arial"/>
              </a:rPr>
              <a:t>scan such kernel at 5 </a:t>
            </a:r>
            <a:r>
              <a:rPr lang="en-US" sz="2800" spc="-4" dirty="0">
                <a:latin typeface="Arial"/>
                <a:cs typeface="Arial"/>
              </a:rPr>
              <a:t>positions horizontally </a:t>
            </a:r>
            <a:r>
              <a:rPr lang="en-US" sz="2800" dirty="0">
                <a:latin typeface="Arial"/>
                <a:cs typeface="Arial"/>
              </a:rPr>
              <a:t>and 3 </a:t>
            </a:r>
            <a:r>
              <a:rPr lang="en-US" sz="2800" spc="-4" dirty="0">
                <a:latin typeface="Arial"/>
                <a:cs typeface="Arial"/>
              </a:rPr>
              <a:t>positions </a:t>
            </a:r>
            <a:r>
              <a:rPr lang="en-US" sz="2800" spc="-13" dirty="0">
                <a:latin typeface="Arial"/>
                <a:cs typeface="Arial"/>
              </a:rPr>
              <a:t>vertically.  </a:t>
            </a:r>
            <a:r>
              <a:rPr lang="en-US" sz="2800" spc="-9" dirty="0">
                <a:latin typeface="Arial"/>
                <a:cs typeface="Arial"/>
              </a:rPr>
              <a:t>That’s </a:t>
            </a:r>
            <a:r>
              <a:rPr lang="en-US" sz="2800" i="1" dirty="0">
                <a:latin typeface="Arial"/>
                <a:cs typeface="Arial"/>
              </a:rPr>
              <a:t>5 x 3=15 </a:t>
            </a:r>
            <a:r>
              <a:rPr lang="en-US" sz="2800" spc="-4" dirty="0">
                <a:latin typeface="Arial"/>
                <a:cs typeface="Arial"/>
              </a:rPr>
              <a:t>positions in total </a:t>
            </a:r>
            <a:r>
              <a:rPr lang="en-US" sz="2800" dirty="0">
                <a:latin typeface="Arial"/>
                <a:cs typeface="Arial"/>
              </a:rPr>
              <a:t>(indicated as </a:t>
            </a:r>
            <a:r>
              <a:rPr lang="en-US" sz="2800" spc="-4" dirty="0">
                <a:latin typeface="Arial"/>
                <a:cs typeface="Arial"/>
              </a:rPr>
              <a:t>dots </a:t>
            </a:r>
            <a:r>
              <a:rPr lang="en-US" sz="2800" dirty="0">
                <a:latin typeface="Arial"/>
                <a:cs typeface="Arial"/>
              </a:rPr>
              <a:t>on </a:t>
            </a:r>
            <a:r>
              <a:rPr lang="en-US" sz="2800" spc="-4" dirty="0">
                <a:latin typeface="Arial"/>
                <a:cs typeface="Arial"/>
              </a:rPr>
              <a:t>the image</a:t>
            </a:r>
            <a:r>
              <a:rPr lang="en-US" sz="2800" spc="-97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below)</a:t>
            </a:r>
          </a:p>
          <a:p>
            <a:endParaRPr lang="en-US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500CD27-BF0C-F53A-3B85-A8A98EE4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C2B-F92E-41B8-AD09-6D549A49B720}" type="datetime1">
              <a:rPr lang="en-US" smtClean="0"/>
              <a:t>3/10/2025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82B71DB1-2A0A-07F3-F2C8-182C29788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6FEBD27-8C67-C5B0-16F9-C98D4DF3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v3: Factorizing</a:t>
            </a:r>
            <a:r>
              <a:rPr sz="3353" spc="-71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Convolutions</a:t>
            </a:r>
            <a:endParaRPr sz="335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9600" y="3810209"/>
            <a:ext cx="10371418" cy="23894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sz="1765" spc="-4" dirty="0">
                <a:latin typeface="Arial"/>
                <a:cs typeface="Arial"/>
              </a:rPr>
              <a:t>At </a:t>
            </a:r>
            <a:r>
              <a:rPr sz="1765" dirty="0">
                <a:latin typeface="Arial"/>
                <a:cs typeface="Arial"/>
              </a:rPr>
              <a:t>each </a:t>
            </a:r>
            <a:r>
              <a:rPr sz="1765" spc="-4" dirty="0">
                <a:latin typeface="Arial"/>
                <a:cs typeface="Arial"/>
              </a:rPr>
              <a:t>position, </a:t>
            </a:r>
            <a:r>
              <a:rPr sz="1765" dirty="0">
                <a:latin typeface="Arial"/>
                <a:cs typeface="Arial"/>
              </a:rPr>
              <a:t>3 element-wise </a:t>
            </a:r>
            <a:r>
              <a:rPr sz="1765" spc="-4" dirty="0">
                <a:latin typeface="Arial"/>
                <a:cs typeface="Arial"/>
              </a:rPr>
              <a:t>multiplications </a:t>
            </a:r>
            <a:r>
              <a:rPr sz="1765" dirty="0">
                <a:latin typeface="Arial"/>
                <a:cs typeface="Arial"/>
              </a:rPr>
              <a:t>are applied. That </a:t>
            </a:r>
            <a:r>
              <a:rPr sz="1765" spc="-4" dirty="0">
                <a:latin typeface="Arial"/>
                <a:cs typeface="Arial"/>
              </a:rPr>
              <a:t>is </a:t>
            </a:r>
            <a:r>
              <a:rPr sz="1765" i="1" dirty="0">
                <a:latin typeface="Arial"/>
                <a:cs typeface="Arial"/>
              </a:rPr>
              <a:t>15 x</a:t>
            </a:r>
            <a:r>
              <a:rPr sz="1765" i="1" spc="-168" dirty="0">
                <a:latin typeface="Arial"/>
                <a:cs typeface="Arial"/>
              </a:rPr>
              <a:t> </a:t>
            </a:r>
            <a:r>
              <a:rPr sz="1765" i="1" dirty="0">
                <a:latin typeface="Arial"/>
                <a:cs typeface="Arial"/>
              </a:rPr>
              <a:t>3</a:t>
            </a:r>
            <a:endParaRPr sz="1765" dirty="0">
              <a:latin typeface="Arial"/>
              <a:cs typeface="Arial"/>
            </a:endParaRPr>
          </a:p>
          <a:p>
            <a:pPr marL="313221"/>
            <a:r>
              <a:rPr sz="1765" i="1" dirty="0">
                <a:latin typeface="Arial"/>
                <a:cs typeface="Arial"/>
              </a:rPr>
              <a:t>= 45 </a:t>
            </a:r>
            <a:r>
              <a:rPr sz="1765" spc="-4" dirty="0">
                <a:latin typeface="Arial"/>
                <a:cs typeface="Arial"/>
              </a:rPr>
              <a:t>multiplications. </a:t>
            </a:r>
            <a:r>
              <a:rPr sz="1765" spc="-13" dirty="0">
                <a:latin typeface="Arial"/>
                <a:cs typeface="Arial"/>
              </a:rPr>
              <a:t>We </a:t>
            </a:r>
            <a:r>
              <a:rPr sz="1765" dirty="0">
                <a:latin typeface="Arial"/>
                <a:cs typeface="Arial"/>
              </a:rPr>
              <a:t>now </a:t>
            </a:r>
            <a:r>
              <a:rPr sz="1765" spc="-4" dirty="0">
                <a:latin typeface="Arial"/>
                <a:cs typeface="Arial"/>
              </a:rPr>
              <a:t>obtained </a:t>
            </a:r>
            <a:r>
              <a:rPr sz="1765" dirty="0">
                <a:latin typeface="Arial"/>
                <a:cs typeface="Arial"/>
              </a:rPr>
              <a:t>a 3 x 5</a:t>
            </a:r>
            <a:r>
              <a:rPr sz="1765" spc="-101" dirty="0">
                <a:latin typeface="Arial"/>
                <a:cs typeface="Arial"/>
              </a:rPr>
              <a:t> </a:t>
            </a:r>
            <a:r>
              <a:rPr sz="1765" spc="-4" dirty="0">
                <a:latin typeface="Arial"/>
                <a:cs typeface="Arial"/>
              </a:rPr>
              <a:t>matrix.</a:t>
            </a:r>
            <a:endParaRPr sz="1765" dirty="0">
              <a:latin typeface="Arial"/>
              <a:cs typeface="Arial"/>
            </a:endParaRPr>
          </a:p>
          <a:p>
            <a:pPr marL="313221" marR="89092" indent="-302575">
              <a:spcBef>
                <a:spcPts val="424"/>
              </a:spcBef>
              <a:buChar char="•"/>
              <a:tabLst>
                <a:tab pos="313221" algn="l"/>
                <a:tab pos="313781" algn="l"/>
              </a:tabLst>
            </a:pPr>
            <a:r>
              <a:rPr sz="1765" spc="-4" dirty="0">
                <a:latin typeface="Arial"/>
                <a:cs typeface="Arial"/>
              </a:rPr>
              <a:t>This matrix is </a:t>
            </a:r>
            <a:r>
              <a:rPr sz="1765" dirty="0">
                <a:latin typeface="Arial"/>
                <a:cs typeface="Arial"/>
              </a:rPr>
              <a:t>now </a:t>
            </a:r>
            <a:r>
              <a:rPr sz="1765" spc="-4" dirty="0">
                <a:latin typeface="Arial"/>
                <a:cs typeface="Arial"/>
              </a:rPr>
              <a:t>convolved with </a:t>
            </a:r>
            <a:r>
              <a:rPr sz="1765" dirty="0">
                <a:latin typeface="Arial"/>
                <a:cs typeface="Arial"/>
              </a:rPr>
              <a:t>a 1 x 3 kernel, which scans </a:t>
            </a:r>
            <a:r>
              <a:rPr sz="1765" spc="-4" dirty="0">
                <a:latin typeface="Arial"/>
                <a:cs typeface="Arial"/>
              </a:rPr>
              <a:t>the matrix  </a:t>
            </a:r>
            <a:r>
              <a:rPr sz="1765" dirty="0">
                <a:latin typeface="Arial"/>
                <a:cs typeface="Arial"/>
              </a:rPr>
              <a:t>at 3 </a:t>
            </a:r>
            <a:r>
              <a:rPr sz="1765" spc="-4" dirty="0">
                <a:latin typeface="Arial"/>
                <a:cs typeface="Arial"/>
              </a:rPr>
              <a:t>positions horizontally </a:t>
            </a:r>
            <a:r>
              <a:rPr sz="1765" dirty="0">
                <a:latin typeface="Arial"/>
                <a:cs typeface="Arial"/>
              </a:rPr>
              <a:t>and 3 </a:t>
            </a:r>
            <a:r>
              <a:rPr sz="1765" spc="-4" dirty="0">
                <a:latin typeface="Arial"/>
                <a:cs typeface="Arial"/>
              </a:rPr>
              <a:t>positions </a:t>
            </a:r>
            <a:r>
              <a:rPr sz="1765" spc="-13" dirty="0">
                <a:latin typeface="Arial"/>
                <a:cs typeface="Arial"/>
              </a:rPr>
              <a:t>vertically. </a:t>
            </a:r>
            <a:r>
              <a:rPr sz="1765" dirty="0">
                <a:latin typeface="Arial"/>
                <a:cs typeface="Arial"/>
              </a:rPr>
              <a:t>For each of these 9  positions, 3 element-wise </a:t>
            </a:r>
            <a:r>
              <a:rPr sz="1765" spc="-4" dirty="0">
                <a:latin typeface="Arial"/>
                <a:cs typeface="Arial"/>
              </a:rPr>
              <a:t>multiplications </a:t>
            </a:r>
            <a:r>
              <a:rPr sz="1765" dirty="0">
                <a:latin typeface="Arial"/>
                <a:cs typeface="Arial"/>
              </a:rPr>
              <a:t>are applied. </a:t>
            </a:r>
            <a:r>
              <a:rPr sz="1765" spc="-4" dirty="0">
                <a:latin typeface="Arial"/>
                <a:cs typeface="Arial"/>
              </a:rPr>
              <a:t>This </a:t>
            </a:r>
            <a:r>
              <a:rPr sz="1765" dirty="0">
                <a:latin typeface="Arial"/>
                <a:cs typeface="Arial"/>
              </a:rPr>
              <a:t>step requires</a:t>
            </a:r>
            <a:r>
              <a:rPr sz="1765" spc="-207" dirty="0">
                <a:latin typeface="Arial"/>
                <a:cs typeface="Arial"/>
              </a:rPr>
              <a:t> </a:t>
            </a:r>
            <a:r>
              <a:rPr sz="1765" i="1" dirty="0">
                <a:latin typeface="Arial"/>
                <a:cs typeface="Arial"/>
              </a:rPr>
              <a:t>9  x 3=27</a:t>
            </a:r>
            <a:r>
              <a:rPr sz="1765" i="1" spc="-40" dirty="0">
                <a:latin typeface="Arial"/>
                <a:cs typeface="Arial"/>
              </a:rPr>
              <a:t> </a:t>
            </a:r>
            <a:r>
              <a:rPr sz="1765" spc="-4" dirty="0">
                <a:latin typeface="Arial"/>
                <a:cs typeface="Arial"/>
              </a:rPr>
              <a:t>multiplications.</a:t>
            </a:r>
            <a:endParaRPr sz="1765" dirty="0">
              <a:latin typeface="Arial"/>
              <a:cs typeface="Arial"/>
            </a:endParaRPr>
          </a:p>
          <a:p>
            <a:pPr marL="313221" marR="895958" indent="-302575">
              <a:spcBef>
                <a:spcPts val="424"/>
              </a:spcBef>
              <a:buChar char="•"/>
              <a:tabLst>
                <a:tab pos="313221" algn="l"/>
                <a:tab pos="313781" algn="l"/>
              </a:tabLst>
            </a:pPr>
            <a:r>
              <a:rPr sz="1765" dirty="0">
                <a:latin typeface="Arial"/>
                <a:cs typeface="Arial"/>
              </a:rPr>
              <a:t>Thus, </a:t>
            </a:r>
            <a:r>
              <a:rPr sz="1765" spc="-4" dirty="0">
                <a:latin typeface="Arial"/>
                <a:cs typeface="Arial"/>
              </a:rPr>
              <a:t>overall, the spatially </a:t>
            </a:r>
            <a:r>
              <a:rPr sz="1765" dirty="0">
                <a:latin typeface="Arial"/>
                <a:cs typeface="Arial"/>
              </a:rPr>
              <a:t>separable </a:t>
            </a:r>
            <a:r>
              <a:rPr sz="1765" spc="-4" dirty="0">
                <a:latin typeface="Arial"/>
                <a:cs typeface="Arial"/>
              </a:rPr>
              <a:t>convolution </a:t>
            </a:r>
            <a:r>
              <a:rPr sz="1765" dirty="0">
                <a:latin typeface="Arial"/>
                <a:cs typeface="Arial"/>
              </a:rPr>
              <a:t>takes </a:t>
            </a:r>
            <a:endParaRPr lang="en-US" sz="1765" dirty="0">
              <a:latin typeface="Arial"/>
              <a:cs typeface="Arial"/>
            </a:endParaRPr>
          </a:p>
          <a:p>
            <a:pPr marL="10646" marR="895958">
              <a:spcBef>
                <a:spcPts val="424"/>
              </a:spcBef>
              <a:tabLst>
                <a:tab pos="313221" algn="l"/>
                <a:tab pos="313781" algn="l"/>
              </a:tabLst>
            </a:pPr>
            <a:r>
              <a:rPr lang="en-US" sz="1765" i="1" dirty="0">
                <a:latin typeface="Arial"/>
                <a:cs typeface="Arial"/>
              </a:rPr>
              <a:t>     </a:t>
            </a:r>
            <a:r>
              <a:rPr sz="1765" i="1" dirty="0">
                <a:latin typeface="Arial"/>
                <a:cs typeface="Arial"/>
              </a:rPr>
              <a:t>45 + 27 =  72 </a:t>
            </a:r>
            <a:r>
              <a:rPr sz="1765" spc="-4" dirty="0">
                <a:latin typeface="Arial"/>
                <a:cs typeface="Arial"/>
              </a:rPr>
              <a:t>multiplications, </a:t>
            </a:r>
            <a:r>
              <a:rPr sz="1765" dirty="0">
                <a:latin typeface="Arial"/>
                <a:cs typeface="Arial"/>
              </a:rPr>
              <a:t>which </a:t>
            </a:r>
            <a:r>
              <a:rPr sz="1765" spc="-4" dirty="0">
                <a:latin typeface="Arial"/>
                <a:cs typeface="Arial"/>
              </a:rPr>
              <a:t>is </a:t>
            </a:r>
            <a:r>
              <a:rPr sz="1765" dirty="0">
                <a:latin typeface="Arial"/>
                <a:cs typeface="Arial"/>
              </a:rPr>
              <a:t>less </a:t>
            </a:r>
            <a:endParaRPr lang="en-US" sz="1765" dirty="0">
              <a:latin typeface="Arial"/>
              <a:cs typeface="Arial"/>
            </a:endParaRPr>
          </a:p>
          <a:p>
            <a:pPr marL="10646" marR="895958">
              <a:spcBef>
                <a:spcPts val="424"/>
              </a:spcBef>
              <a:tabLst>
                <a:tab pos="313221" algn="l"/>
                <a:tab pos="313781" algn="l"/>
              </a:tabLst>
            </a:pPr>
            <a:r>
              <a:rPr sz="1765" spc="-4" dirty="0">
                <a:latin typeface="Arial"/>
                <a:cs typeface="Arial"/>
              </a:rPr>
              <a:t>than</a:t>
            </a:r>
            <a:r>
              <a:rPr sz="1765" spc="-62" dirty="0">
                <a:latin typeface="Arial"/>
                <a:cs typeface="Arial"/>
              </a:rPr>
              <a:t> </a:t>
            </a:r>
            <a:r>
              <a:rPr sz="1765" spc="-4" dirty="0">
                <a:latin typeface="Arial"/>
                <a:cs typeface="Arial"/>
              </a:rPr>
              <a:t>convolution.</a:t>
            </a:r>
            <a:endParaRPr sz="1765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29396" y="5029200"/>
            <a:ext cx="5078953" cy="14983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D17F4EE-791B-8D2F-B8C1-F7F773A65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61075" indent="-302575">
              <a:spcBef>
                <a:spcPts val="84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Although </a:t>
            </a:r>
            <a:r>
              <a:rPr lang="en-US" sz="2800" spc="-4" dirty="0">
                <a:solidFill>
                  <a:srgbClr val="00B050"/>
                </a:solidFill>
                <a:latin typeface="Arial"/>
                <a:cs typeface="Arial"/>
              </a:rPr>
              <a:t>spatially separable convolutions save </a:t>
            </a:r>
            <a:r>
              <a:rPr lang="en-US" sz="2800" dirty="0">
                <a:solidFill>
                  <a:srgbClr val="00B050"/>
                </a:solidFill>
                <a:latin typeface="Arial"/>
                <a:cs typeface="Arial"/>
              </a:rPr>
              <a:t>cost</a:t>
            </a:r>
            <a:r>
              <a:rPr lang="en-US" sz="2800" dirty="0">
                <a:latin typeface="Arial"/>
                <a:cs typeface="Arial"/>
              </a:rPr>
              <a:t>, </a:t>
            </a:r>
            <a:r>
              <a:rPr lang="en-US" sz="2800" spc="-4" dirty="0">
                <a:latin typeface="Arial"/>
                <a:cs typeface="Arial"/>
              </a:rPr>
              <a:t>it is </a:t>
            </a:r>
            <a:r>
              <a:rPr lang="en-US" sz="2800" spc="-4" dirty="0">
                <a:solidFill>
                  <a:srgbClr val="00B0F0"/>
                </a:solidFill>
                <a:latin typeface="Arial"/>
                <a:cs typeface="Arial"/>
              </a:rPr>
              <a:t>not very  frequently used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 in deep</a:t>
            </a:r>
            <a:r>
              <a:rPr lang="en-US" sz="2800" spc="1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learning.</a:t>
            </a:r>
            <a:endParaRPr lang="en-US"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13221" marR="4483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If </a:t>
            </a:r>
            <a:r>
              <a:rPr lang="en-US" sz="2800" spc="-9" dirty="0">
                <a:latin typeface="Arial"/>
                <a:cs typeface="Arial"/>
              </a:rPr>
              <a:t>we </a:t>
            </a:r>
            <a:r>
              <a:rPr lang="en-US" sz="2800" spc="-4" dirty="0">
                <a:latin typeface="Arial"/>
                <a:cs typeface="Arial"/>
              </a:rPr>
              <a:t>replace all traditional convolutions by the spatially separable  convolution, </a:t>
            </a:r>
            <a:r>
              <a:rPr lang="en-US" sz="2800" spc="-9" dirty="0">
                <a:solidFill>
                  <a:srgbClr val="FF0000"/>
                </a:solidFill>
                <a:latin typeface="Arial"/>
                <a:cs typeface="Arial"/>
              </a:rPr>
              <a:t>we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limit ourselves for searching all possible kernels  during training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pPr marL="313781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"/>
                <a:cs typeface="Arial"/>
              </a:rPr>
              <a:t>The training results </a:t>
            </a:r>
            <a:r>
              <a:rPr lang="en-US" sz="2800" spc="-9" dirty="0">
                <a:latin typeface="Arial"/>
                <a:cs typeface="Arial"/>
              </a:rPr>
              <a:t>may </a:t>
            </a:r>
            <a:r>
              <a:rPr lang="en-US" sz="2800" spc="-4" dirty="0">
                <a:latin typeface="Arial"/>
                <a:cs typeface="Arial"/>
              </a:rPr>
              <a:t>be</a:t>
            </a:r>
            <a:r>
              <a:rPr lang="en-US" sz="2800" spc="57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sub-optimal.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v3: Factorizing</a:t>
            </a:r>
            <a:r>
              <a:rPr sz="3353" spc="-71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Convolutions</a:t>
            </a:r>
            <a:endParaRPr sz="3353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17</a:t>
            </a:fld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295A60B-CAFF-4233-B22D-4D24E2BA786F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CA74C7A-81E7-090E-3291-1DB44C388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781" indent="-302575">
              <a:spcBef>
                <a:spcPts val="596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3600" spc="-4" dirty="0">
                <a:latin typeface="Arial"/>
                <a:cs typeface="Arial"/>
              </a:rPr>
              <a:t>Factorizing</a:t>
            </a:r>
            <a:r>
              <a:rPr lang="en-US" sz="3600" spc="4" dirty="0">
                <a:latin typeface="Arial"/>
                <a:cs typeface="Arial"/>
              </a:rPr>
              <a:t> </a:t>
            </a:r>
            <a:r>
              <a:rPr lang="en-US" sz="3600" spc="-4" dirty="0">
                <a:latin typeface="Arial"/>
                <a:cs typeface="Arial"/>
              </a:rPr>
              <a:t>Convolutions:</a:t>
            </a:r>
            <a:endParaRPr lang="en-US" sz="3600" dirty="0">
              <a:latin typeface="Arial"/>
              <a:cs typeface="Arial"/>
            </a:endParaRPr>
          </a:p>
          <a:p>
            <a:pPr marL="414079">
              <a:spcBef>
                <a:spcPts val="424"/>
              </a:spcBef>
              <a:tabLst>
                <a:tab pos="667346" algn="l"/>
              </a:tabLst>
            </a:pPr>
            <a:r>
              <a:rPr lang="en-US" sz="2800" dirty="0">
                <a:latin typeface="Arial"/>
                <a:cs typeface="Arial"/>
              </a:rPr>
              <a:t>–	</a:t>
            </a:r>
            <a:r>
              <a:rPr lang="en-US" sz="2800" spc="-31" dirty="0">
                <a:latin typeface="Arial"/>
                <a:cs typeface="Arial"/>
              </a:rPr>
              <a:t>Two </a:t>
            </a:r>
            <a:r>
              <a:rPr lang="en-US" sz="2800" dirty="0">
                <a:latin typeface="Arial"/>
                <a:cs typeface="Arial"/>
              </a:rPr>
              <a:t>3×3 </a:t>
            </a:r>
            <a:r>
              <a:rPr lang="en-US" sz="2800" spc="-4" dirty="0">
                <a:latin typeface="Arial"/>
                <a:cs typeface="Arial"/>
              </a:rPr>
              <a:t>convolutions </a:t>
            </a:r>
            <a:r>
              <a:rPr lang="en-US" sz="2800" dirty="0">
                <a:latin typeface="Arial"/>
                <a:cs typeface="Arial"/>
              </a:rPr>
              <a:t>replace one 5×5 </a:t>
            </a:r>
            <a:r>
              <a:rPr lang="en-US" sz="2800" spc="-4" dirty="0">
                <a:latin typeface="Arial"/>
                <a:cs typeface="Arial"/>
              </a:rPr>
              <a:t>convolution </a:t>
            </a:r>
            <a:r>
              <a:rPr lang="en-US" sz="2800" dirty="0">
                <a:latin typeface="Arial"/>
                <a:cs typeface="Arial"/>
              </a:rPr>
              <a:t>as</a:t>
            </a:r>
            <a:r>
              <a:rPr lang="en-US" sz="2800" spc="-66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follows:</a:t>
            </a:r>
          </a:p>
          <a:p>
            <a:endParaRPr lang="en-US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66" dirty="0">
                <a:latin typeface="Arial"/>
                <a:cs typeface="Arial"/>
              </a:rPr>
              <a:t> </a:t>
            </a:r>
            <a:r>
              <a:rPr sz="3353" dirty="0">
                <a:latin typeface="Arial"/>
                <a:cs typeface="Arial"/>
              </a:rPr>
              <a:t>v3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18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23F70C1C-F0FA-4A33-89F5-D18926326688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12" name="object 12"/>
          <p:cNvSpPr/>
          <p:nvPr/>
        </p:nvSpPr>
        <p:spPr>
          <a:xfrm>
            <a:off x="4495800" y="2996273"/>
            <a:ext cx="2622482" cy="2218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 txBox="1"/>
          <p:nvPr/>
        </p:nvSpPr>
        <p:spPr>
          <a:xfrm>
            <a:off x="2730089" y="5503998"/>
            <a:ext cx="6320677" cy="7444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" dirty="0">
                <a:latin typeface="Arial"/>
                <a:cs typeface="Arial"/>
              </a:rPr>
              <a:t>By using </a:t>
            </a:r>
            <a:r>
              <a:rPr sz="1588" b="1" spc="-4" dirty="0">
                <a:latin typeface="Arial"/>
                <a:cs typeface="Arial"/>
              </a:rPr>
              <a:t>1 </a:t>
            </a:r>
            <a:r>
              <a:rPr sz="1588" b="1" spc="-9" dirty="0">
                <a:latin typeface="Arial"/>
                <a:cs typeface="Arial"/>
              </a:rPr>
              <a:t>layer </a:t>
            </a:r>
            <a:r>
              <a:rPr sz="1588" b="1" dirty="0">
                <a:latin typeface="Arial"/>
                <a:cs typeface="Arial"/>
              </a:rPr>
              <a:t>of </a:t>
            </a:r>
            <a:r>
              <a:rPr sz="1588" b="1" spc="-4" dirty="0">
                <a:latin typeface="Arial"/>
                <a:cs typeface="Arial"/>
              </a:rPr>
              <a:t>5×5 filter</a:t>
            </a:r>
            <a:r>
              <a:rPr sz="1588" spc="-4" dirty="0">
                <a:latin typeface="Arial"/>
                <a:cs typeface="Arial"/>
              </a:rPr>
              <a:t>, number of parameters </a:t>
            </a:r>
            <a:r>
              <a:rPr sz="1588" dirty="0">
                <a:latin typeface="Arial"/>
                <a:cs typeface="Arial"/>
              </a:rPr>
              <a:t>=</a:t>
            </a:r>
            <a:r>
              <a:rPr sz="1588" spc="8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5×5=25</a:t>
            </a:r>
            <a:endParaRPr sz="1588" dirty="0">
              <a:latin typeface="Arial"/>
              <a:cs typeface="Arial"/>
            </a:endParaRPr>
          </a:p>
          <a:p>
            <a:pPr marL="11206" marR="4483"/>
            <a:r>
              <a:rPr sz="1588" spc="-4" dirty="0">
                <a:latin typeface="Arial"/>
                <a:cs typeface="Arial"/>
              </a:rPr>
              <a:t>By using </a:t>
            </a:r>
            <a:r>
              <a:rPr sz="1588" b="1" spc="-4" dirty="0">
                <a:latin typeface="Arial"/>
                <a:cs typeface="Arial"/>
              </a:rPr>
              <a:t>2 </a:t>
            </a:r>
            <a:r>
              <a:rPr sz="1588" b="1" spc="-9" dirty="0">
                <a:latin typeface="Arial"/>
                <a:cs typeface="Arial"/>
              </a:rPr>
              <a:t>layers </a:t>
            </a:r>
            <a:r>
              <a:rPr sz="1588" b="1" dirty="0">
                <a:latin typeface="Arial"/>
                <a:cs typeface="Arial"/>
              </a:rPr>
              <a:t>of </a:t>
            </a:r>
            <a:r>
              <a:rPr sz="1588" b="1" spc="-4" dirty="0">
                <a:latin typeface="Arial"/>
                <a:cs typeface="Arial"/>
              </a:rPr>
              <a:t>3×3 filters</a:t>
            </a:r>
            <a:r>
              <a:rPr sz="1588" spc="-4" dirty="0">
                <a:latin typeface="Arial"/>
                <a:cs typeface="Arial"/>
              </a:rPr>
              <a:t>, number of parameters </a:t>
            </a:r>
            <a:r>
              <a:rPr sz="1588" dirty="0">
                <a:latin typeface="Arial"/>
                <a:cs typeface="Arial"/>
              </a:rPr>
              <a:t>= </a:t>
            </a:r>
            <a:r>
              <a:rPr sz="1588" b="1" spc="-4" dirty="0">
                <a:latin typeface="Arial"/>
                <a:cs typeface="Arial"/>
              </a:rPr>
              <a:t>3×3+3×3=18  Number </a:t>
            </a:r>
            <a:r>
              <a:rPr sz="1588" b="1" dirty="0">
                <a:latin typeface="Arial"/>
                <a:cs typeface="Arial"/>
              </a:rPr>
              <a:t>of </a:t>
            </a:r>
            <a:r>
              <a:rPr sz="1588" b="1" spc="-4" dirty="0">
                <a:latin typeface="Arial"/>
                <a:cs typeface="Arial"/>
              </a:rPr>
              <a:t>parameters </a:t>
            </a:r>
            <a:r>
              <a:rPr sz="1588" b="1" dirty="0">
                <a:latin typeface="Arial"/>
                <a:cs typeface="Arial"/>
              </a:rPr>
              <a:t>is </a:t>
            </a:r>
            <a:r>
              <a:rPr sz="1588" b="1" spc="-4" dirty="0">
                <a:latin typeface="Arial"/>
                <a:cs typeface="Arial"/>
              </a:rPr>
              <a:t>reduced </a:t>
            </a:r>
            <a:r>
              <a:rPr sz="1588" b="1" dirty="0">
                <a:latin typeface="Arial"/>
                <a:cs typeface="Arial"/>
              </a:rPr>
              <a:t>by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28%</a:t>
            </a:r>
            <a:endParaRPr sz="158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FF45D8B-175F-83E4-75CC-3892A80B9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4" dirty="0">
                <a:latin typeface="Arial"/>
                <a:cs typeface="Arial"/>
              </a:rPr>
              <a:t>With this technique, one of the new Inception modules </a:t>
            </a:r>
            <a:r>
              <a:rPr lang="en-US" sz="2800" spc="-13" dirty="0">
                <a:latin typeface="Arial"/>
                <a:cs typeface="Arial"/>
              </a:rPr>
              <a:t>(Let’s  </a:t>
            </a:r>
            <a:r>
              <a:rPr lang="en-US" sz="2800" spc="-4" dirty="0">
                <a:latin typeface="Arial"/>
                <a:cs typeface="Arial"/>
              </a:rPr>
              <a:t>call it </a:t>
            </a:r>
            <a:r>
              <a:rPr lang="en-US" sz="2800" b="1" spc="-4" dirty="0">
                <a:latin typeface="Arial"/>
                <a:cs typeface="Arial"/>
              </a:rPr>
              <a:t>Inception Module A</a:t>
            </a:r>
            <a:r>
              <a:rPr lang="en-US" sz="2800" spc="-4" dirty="0">
                <a:latin typeface="Arial"/>
                <a:cs typeface="Arial"/>
              </a:rPr>
              <a:t>)</a:t>
            </a:r>
            <a:r>
              <a:rPr lang="en-US" sz="2800" spc="-93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becomes: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66" dirty="0">
                <a:latin typeface="Arial"/>
                <a:cs typeface="Arial"/>
              </a:rPr>
              <a:t> </a:t>
            </a:r>
            <a:r>
              <a:rPr sz="3353" dirty="0">
                <a:latin typeface="Arial"/>
                <a:cs typeface="Arial"/>
              </a:rPr>
              <a:t>v3</a:t>
            </a:r>
            <a:endParaRPr sz="3353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19</a:t>
            </a:fld>
            <a:endParaRPr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2EDA66B3-E3F8-4BFC-9BE6-A6D28E16F882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12" name="object 12"/>
          <p:cNvSpPr/>
          <p:nvPr/>
        </p:nvSpPr>
        <p:spPr>
          <a:xfrm>
            <a:off x="3124200" y="2632935"/>
            <a:ext cx="5496160" cy="3613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3FB0E5-5E0A-889B-D9FD-461BBDB3A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4" dirty="0">
                <a:latin typeface="Arial"/>
                <a:cs typeface="Arial"/>
              </a:rPr>
              <a:t>One 3×1 convolution followed by one 1×3 convolution  replaces one 3×3 convolution as</a:t>
            </a:r>
            <a:r>
              <a:rPr lang="en-US" sz="2800" spc="53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follows: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66" dirty="0">
                <a:latin typeface="Arial"/>
                <a:cs typeface="Arial"/>
              </a:rPr>
              <a:t> </a:t>
            </a:r>
            <a:r>
              <a:rPr sz="3353" dirty="0">
                <a:latin typeface="Arial"/>
                <a:cs typeface="Arial"/>
              </a:rPr>
              <a:t>v3</a:t>
            </a:r>
            <a:endParaRPr sz="3353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20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1542A255-7D53-439A-8EFC-0873F47037F5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5" name="object 5"/>
          <p:cNvSpPr/>
          <p:nvPr/>
        </p:nvSpPr>
        <p:spPr>
          <a:xfrm>
            <a:off x="4648200" y="2932014"/>
            <a:ext cx="1815353" cy="24870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2971800" y="5652500"/>
            <a:ext cx="5968253" cy="7444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" dirty="0">
                <a:latin typeface="Arial"/>
                <a:cs typeface="Arial"/>
              </a:rPr>
              <a:t>By using </a:t>
            </a:r>
            <a:r>
              <a:rPr sz="1588" b="1" spc="-4" dirty="0">
                <a:latin typeface="Arial"/>
                <a:cs typeface="Arial"/>
              </a:rPr>
              <a:t>3×3 filter</a:t>
            </a:r>
            <a:r>
              <a:rPr sz="1588" spc="-4" dirty="0">
                <a:latin typeface="Arial"/>
                <a:cs typeface="Arial"/>
              </a:rPr>
              <a:t>, number of parameters </a:t>
            </a:r>
            <a:r>
              <a:rPr sz="1588" dirty="0">
                <a:latin typeface="Arial"/>
                <a:cs typeface="Arial"/>
              </a:rPr>
              <a:t>=</a:t>
            </a:r>
            <a:r>
              <a:rPr sz="1588" spc="57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3×3=9</a:t>
            </a:r>
            <a:endParaRPr sz="1588" dirty="0">
              <a:latin typeface="Arial"/>
              <a:cs typeface="Arial"/>
            </a:endParaRPr>
          </a:p>
          <a:p>
            <a:pPr marL="11206" marR="4483"/>
            <a:r>
              <a:rPr sz="1588" spc="-4" dirty="0">
                <a:latin typeface="Arial"/>
                <a:cs typeface="Arial"/>
              </a:rPr>
              <a:t>By using </a:t>
            </a:r>
            <a:r>
              <a:rPr sz="1588" b="1" spc="-4" dirty="0">
                <a:latin typeface="Arial"/>
                <a:cs typeface="Arial"/>
              </a:rPr>
              <a:t>3×1 and 1×3 filters</a:t>
            </a:r>
            <a:r>
              <a:rPr sz="1588" spc="-4" dirty="0">
                <a:latin typeface="Arial"/>
                <a:cs typeface="Arial"/>
              </a:rPr>
              <a:t>, number of parameters </a:t>
            </a:r>
            <a:r>
              <a:rPr sz="1588" dirty="0">
                <a:latin typeface="Arial"/>
                <a:cs typeface="Arial"/>
              </a:rPr>
              <a:t>= </a:t>
            </a:r>
            <a:r>
              <a:rPr sz="1588" b="1" spc="-4" dirty="0">
                <a:latin typeface="Arial"/>
                <a:cs typeface="Arial"/>
              </a:rPr>
              <a:t>3×1+1×3=6  Number </a:t>
            </a:r>
            <a:r>
              <a:rPr sz="1588" b="1" dirty="0">
                <a:latin typeface="Arial"/>
                <a:cs typeface="Arial"/>
              </a:rPr>
              <a:t>of </a:t>
            </a:r>
            <a:r>
              <a:rPr sz="1588" b="1" spc="-4" dirty="0">
                <a:latin typeface="Arial"/>
                <a:cs typeface="Arial"/>
              </a:rPr>
              <a:t>parameters </a:t>
            </a:r>
            <a:r>
              <a:rPr sz="1588" b="1" dirty="0">
                <a:latin typeface="Arial"/>
                <a:cs typeface="Arial"/>
              </a:rPr>
              <a:t>is </a:t>
            </a:r>
            <a:r>
              <a:rPr sz="1588" b="1" spc="-4" dirty="0">
                <a:latin typeface="Arial"/>
                <a:cs typeface="Arial"/>
              </a:rPr>
              <a:t>reduced </a:t>
            </a:r>
            <a:r>
              <a:rPr sz="1588" b="1" dirty="0">
                <a:latin typeface="Arial"/>
                <a:cs typeface="Arial"/>
              </a:rPr>
              <a:t>by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33%</a:t>
            </a:r>
            <a:endParaRPr sz="158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F6EA1E-DA7C-CFE3-FBFB-8D2E4D1E5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4" dirty="0">
                <a:latin typeface="Arial"/>
                <a:cs typeface="Arial"/>
              </a:rPr>
              <a:t>With this technique, one of the new Inception modules </a:t>
            </a:r>
            <a:r>
              <a:rPr lang="en-US" sz="2800" spc="-13" dirty="0">
                <a:latin typeface="Arial"/>
                <a:cs typeface="Arial"/>
              </a:rPr>
              <a:t>(Let’s  </a:t>
            </a:r>
            <a:r>
              <a:rPr lang="en-US" sz="2800" spc="-4" dirty="0">
                <a:latin typeface="Arial"/>
                <a:cs typeface="Arial"/>
              </a:rPr>
              <a:t>call it </a:t>
            </a:r>
            <a:r>
              <a:rPr lang="en-US" sz="2800" b="1" spc="-4" dirty="0">
                <a:latin typeface="Arial"/>
                <a:cs typeface="Arial"/>
              </a:rPr>
              <a:t>Inception Module B</a:t>
            </a:r>
            <a:r>
              <a:rPr lang="en-US" sz="2800" spc="-4" dirty="0">
                <a:latin typeface="Arial"/>
                <a:cs typeface="Arial"/>
              </a:rPr>
              <a:t>)</a:t>
            </a:r>
            <a:r>
              <a:rPr lang="en-US" sz="2800" spc="-18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becomes: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66" dirty="0">
                <a:latin typeface="Arial"/>
                <a:cs typeface="Arial"/>
              </a:rPr>
              <a:t> </a:t>
            </a:r>
            <a:r>
              <a:rPr sz="3353" dirty="0">
                <a:latin typeface="Arial"/>
                <a:cs typeface="Arial"/>
              </a:rPr>
              <a:t>v3</a:t>
            </a:r>
            <a:endParaRPr sz="3353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21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CE16917B-755B-4236-9EAA-5E5D2A1FCBFB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5" name="object 5"/>
          <p:cNvSpPr/>
          <p:nvPr/>
        </p:nvSpPr>
        <p:spPr>
          <a:xfrm>
            <a:off x="1524000" y="2721429"/>
            <a:ext cx="3312711" cy="37113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5562588" y="3200400"/>
            <a:ext cx="6019812" cy="185797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2400" spc="-4" dirty="0">
                <a:latin typeface="Arial"/>
                <a:cs typeface="Arial"/>
              </a:rPr>
              <a:t>Here, put </a:t>
            </a:r>
            <a:r>
              <a:rPr sz="2400" b="1" dirty="0">
                <a:latin typeface="Arial"/>
                <a:cs typeface="Arial"/>
              </a:rPr>
              <a:t>n=3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4" dirty="0">
                <a:latin typeface="Arial"/>
                <a:cs typeface="Arial"/>
              </a:rPr>
              <a:t>obtain the equivalent of  the previous image.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4" dirty="0">
                <a:latin typeface="Arial"/>
                <a:cs typeface="Arial"/>
              </a:rPr>
              <a:t>left-most </a:t>
            </a:r>
            <a:r>
              <a:rPr sz="2400" spc="-9" dirty="0">
                <a:latin typeface="Arial"/>
                <a:cs typeface="Arial"/>
              </a:rPr>
              <a:t>5x5  </a:t>
            </a:r>
            <a:r>
              <a:rPr sz="2400" spc="-4" dirty="0">
                <a:latin typeface="Arial"/>
                <a:cs typeface="Arial"/>
              </a:rPr>
              <a:t>convolution can be represented as </a:t>
            </a:r>
            <a:r>
              <a:rPr sz="2400" spc="-13" dirty="0">
                <a:latin typeface="Arial"/>
                <a:cs typeface="Arial"/>
              </a:rPr>
              <a:t>two  </a:t>
            </a:r>
            <a:r>
              <a:rPr sz="2400" spc="-9" dirty="0">
                <a:latin typeface="Arial"/>
                <a:cs typeface="Arial"/>
              </a:rPr>
              <a:t>3x3 </a:t>
            </a:r>
            <a:r>
              <a:rPr sz="2400" spc="-4" dirty="0">
                <a:latin typeface="Arial"/>
                <a:cs typeface="Arial"/>
              </a:rPr>
              <a:t>convolutions, </a:t>
            </a:r>
            <a:r>
              <a:rPr sz="2400" spc="-13" dirty="0">
                <a:latin typeface="Arial"/>
                <a:cs typeface="Arial"/>
              </a:rPr>
              <a:t>which </a:t>
            </a:r>
            <a:r>
              <a:rPr sz="2400" spc="-4" dirty="0">
                <a:latin typeface="Arial"/>
                <a:cs typeface="Arial"/>
              </a:rPr>
              <a:t>in turn are  represented as </a:t>
            </a:r>
            <a:r>
              <a:rPr sz="2400" spc="-9" dirty="0">
                <a:latin typeface="Arial"/>
                <a:cs typeface="Arial"/>
              </a:rPr>
              <a:t>1x3 </a:t>
            </a:r>
            <a:r>
              <a:rPr sz="2400" spc="-4" dirty="0">
                <a:latin typeface="Arial"/>
                <a:cs typeface="Arial"/>
              </a:rPr>
              <a:t>and </a:t>
            </a:r>
            <a:r>
              <a:rPr sz="2400" spc="-9" dirty="0">
                <a:latin typeface="Arial"/>
                <a:cs typeface="Arial"/>
              </a:rPr>
              <a:t>3x1 </a:t>
            </a:r>
            <a:r>
              <a:rPr sz="2400" spc="-4" dirty="0">
                <a:latin typeface="Arial"/>
                <a:cs typeface="Arial"/>
              </a:rPr>
              <a:t>in</a:t>
            </a:r>
            <a:r>
              <a:rPr sz="2400" spc="53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series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767D107-CA6B-63D3-C504-5506A306B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4" dirty="0">
                <a:latin typeface="Arial"/>
                <a:cs typeface="Arial"/>
              </a:rPr>
              <a:t>And </a:t>
            </a:r>
            <a:r>
              <a:rPr lang="en-US" sz="2800" b="1" spc="-4" dirty="0">
                <a:latin typeface="Arial"/>
                <a:cs typeface="Arial"/>
              </a:rPr>
              <a:t>Inception module C </a:t>
            </a:r>
            <a:r>
              <a:rPr lang="en-US" sz="2800" spc="-4" dirty="0">
                <a:latin typeface="Arial"/>
                <a:cs typeface="Arial"/>
              </a:rPr>
              <a:t>is also proposed as</a:t>
            </a:r>
            <a:r>
              <a:rPr lang="en-US" sz="2800" spc="18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"/>
                <a:cs typeface="Arial"/>
              </a:rPr>
              <a:t>follows: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66" dirty="0">
                <a:latin typeface="Arial"/>
                <a:cs typeface="Arial"/>
              </a:rPr>
              <a:t> </a:t>
            </a:r>
            <a:r>
              <a:rPr sz="3353" dirty="0">
                <a:latin typeface="Arial"/>
                <a:cs typeface="Arial"/>
              </a:rPr>
              <a:t>v3</a:t>
            </a:r>
            <a:endParaRPr sz="3353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22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546540BA-C6E2-4C39-A060-77DCE872F54A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grpSp>
        <p:nvGrpSpPr>
          <p:cNvPr id="5" name="object 5"/>
          <p:cNvGrpSpPr/>
          <p:nvPr/>
        </p:nvGrpSpPr>
        <p:grpSpPr>
          <a:xfrm>
            <a:off x="3124200" y="2055771"/>
            <a:ext cx="4581077" cy="4120312"/>
            <a:chOff x="2428113" y="2446019"/>
            <a:chExt cx="5143500" cy="4154804"/>
          </a:xfrm>
        </p:grpSpPr>
        <p:sp>
          <p:nvSpPr>
            <p:cNvPr id="6" name="object 6"/>
            <p:cNvSpPr/>
            <p:nvPr/>
          </p:nvSpPr>
          <p:spPr>
            <a:xfrm>
              <a:off x="2428113" y="2628896"/>
              <a:ext cx="5143500" cy="397155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941319" y="2446019"/>
              <a:ext cx="2016760" cy="1152525"/>
            </a:xfrm>
            <a:custGeom>
              <a:avLst/>
              <a:gdLst/>
              <a:ahLst/>
              <a:cxnLst/>
              <a:rect l="l" t="t" r="r" b="b"/>
              <a:pathLst>
                <a:path w="2016760" h="1152525">
                  <a:moveTo>
                    <a:pt x="2016251" y="960119"/>
                  </a:moveTo>
                  <a:lnTo>
                    <a:pt x="2016251" y="192023"/>
                  </a:lnTo>
                  <a:lnTo>
                    <a:pt x="2011213" y="148276"/>
                  </a:lnTo>
                  <a:lnTo>
                    <a:pt x="1996844" y="107968"/>
                  </a:lnTo>
                  <a:lnTo>
                    <a:pt x="1974264" y="72298"/>
                  </a:lnTo>
                  <a:lnTo>
                    <a:pt x="1944592" y="42467"/>
                  </a:lnTo>
                  <a:lnTo>
                    <a:pt x="1908949" y="19674"/>
                  </a:lnTo>
                  <a:lnTo>
                    <a:pt x="1868455" y="5118"/>
                  </a:lnTo>
                  <a:lnTo>
                    <a:pt x="1824227" y="0"/>
                  </a:lnTo>
                  <a:lnTo>
                    <a:pt x="192023" y="0"/>
                  </a:lnTo>
                  <a:lnTo>
                    <a:pt x="148276" y="5118"/>
                  </a:lnTo>
                  <a:lnTo>
                    <a:pt x="107968" y="19674"/>
                  </a:lnTo>
                  <a:lnTo>
                    <a:pt x="72298" y="42467"/>
                  </a:lnTo>
                  <a:lnTo>
                    <a:pt x="42467" y="72298"/>
                  </a:lnTo>
                  <a:lnTo>
                    <a:pt x="19674" y="107968"/>
                  </a:lnTo>
                  <a:lnTo>
                    <a:pt x="5118" y="148276"/>
                  </a:lnTo>
                  <a:lnTo>
                    <a:pt x="0" y="192023"/>
                  </a:lnTo>
                  <a:lnTo>
                    <a:pt x="0" y="960119"/>
                  </a:lnTo>
                  <a:lnTo>
                    <a:pt x="5118" y="1004347"/>
                  </a:lnTo>
                  <a:lnTo>
                    <a:pt x="19674" y="1044841"/>
                  </a:lnTo>
                  <a:lnTo>
                    <a:pt x="42467" y="1080484"/>
                  </a:lnTo>
                  <a:lnTo>
                    <a:pt x="72298" y="1110156"/>
                  </a:lnTo>
                  <a:lnTo>
                    <a:pt x="107968" y="1132736"/>
                  </a:lnTo>
                  <a:lnTo>
                    <a:pt x="148276" y="1147105"/>
                  </a:lnTo>
                  <a:lnTo>
                    <a:pt x="192023" y="1152143"/>
                  </a:lnTo>
                  <a:lnTo>
                    <a:pt x="1824227" y="1152143"/>
                  </a:lnTo>
                  <a:lnTo>
                    <a:pt x="1868455" y="1147105"/>
                  </a:lnTo>
                  <a:lnTo>
                    <a:pt x="1908949" y="1132736"/>
                  </a:lnTo>
                  <a:lnTo>
                    <a:pt x="1944592" y="1110156"/>
                  </a:lnTo>
                  <a:lnTo>
                    <a:pt x="1974264" y="1080484"/>
                  </a:lnTo>
                  <a:lnTo>
                    <a:pt x="1996844" y="1044841"/>
                  </a:lnTo>
                  <a:lnTo>
                    <a:pt x="2011213" y="1004347"/>
                  </a:lnTo>
                  <a:lnTo>
                    <a:pt x="2016251" y="9601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A840A55-4793-4BF9-89E1-272F98BAC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4" dirty="0">
                <a:latin typeface="Arial"/>
                <a:cs typeface="Arial"/>
              </a:rPr>
              <a:t>The </a:t>
            </a:r>
            <a:r>
              <a:rPr lang="en-US" sz="2800" b="1" spc="-4" dirty="0">
                <a:latin typeface="Arial"/>
                <a:cs typeface="Arial"/>
              </a:rPr>
              <a:t>filter banks </a:t>
            </a:r>
            <a:r>
              <a:rPr lang="en-US" sz="2800" spc="-4" dirty="0">
                <a:latin typeface="Arial"/>
                <a:cs typeface="Arial"/>
              </a:rPr>
              <a:t>in the module were </a:t>
            </a:r>
            <a:r>
              <a:rPr lang="en-US" sz="2800" b="1" spc="-4" dirty="0">
                <a:latin typeface="Arial"/>
                <a:cs typeface="Arial"/>
              </a:rPr>
              <a:t>expanded </a:t>
            </a:r>
            <a:r>
              <a:rPr lang="en-US" sz="2800" spc="-4" dirty="0">
                <a:latin typeface="Arial"/>
                <a:cs typeface="Arial"/>
              </a:rPr>
              <a:t>(made wider  instead of deeper) </a:t>
            </a:r>
            <a:r>
              <a:rPr lang="en-US" sz="2800" dirty="0">
                <a:latin typeface="Arial"/>
                <a:cs typeface="Arial"/>
              </a:rPr>
              <a:t>to </a:t>
            </a:r>
            <a:r>
              <a:rPr lang="en-US" sz="2800" spc="-4" dirty="0">
                <a:latin typeface="Arial"/>
                <a:cs typeface="Arial"/>
              </a:rPr>
              <a:t>remove the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representational</a:t>
            </a:r>
            <a:r>
              <a:rPr lang="en-US" sz="2800" spc="6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"/>
                <a:cs typeface="Arial"/>
              </a:rPr>
              <a:t>bottleneck</a:t>
            </a:r>
            <a:r>
              <a:rPr lang="en-US" sz="2800" spc="-4" dirty="0">
                <a:latin typeface="Arial"/>
                <a:cs typeface="Arial"/>
              </a:rPr>
              <a:t>.</a:t>
            </a:r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66" dirty="0">
                <a:latin typeface="Arial"/>
                <a:cs typeface="Arial"/>
              </a:rPr>
              <a:t> </a:t>
            </a:r>
            <a:r>
              <a:rPr sz="3353" dirty="0">
                <a:latin typeface="Arial"/>
                <a:cs typeface="Arial"/>
              </a:rPr>
              <a:t>v3</a:t>
            </a:r>
            <a:endParaRPr sz="3353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23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F104766-C634-4DC2-840B-F9800F671294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5" name="object 5"/>
          <p:cNvSpPr/>
          <p:nvPr/>
        </p:nvSpPr>
        <p:spPr>
          <a:xfrm>
            <a:off x="4325085" y="2819400"/>
            <a:ext cx="3904515" cy="365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CFCEE46-B3FE-1FB8-D72B-5DAB5BB0E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</a:t>
            </a:r>
            <a:r>
              <a:rPr sz="3353" spc="-66" dirty="0">
                <a:latin typeface="Arial"/>
                <a:cs typeface="Arial"/>
              </a:rPr>
              <a:t> </a:t>
            </a:r>
            <a:r>
              <a:rPr sz="3353" dirty="0">
                <a:latin typeface="Arial"/>
                <a:cs typeface="Arial"/>
              </a:rPr>
              <a:t>v3</a:t>
            </a:r>
            <a:endParaRPr sz="3353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24</a:t>
            </a:fld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F00BC75F-9E3B-4242-9407-82CFF749C02D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37400"/>
            <a:ext cx="1733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grpSp>
        <p:nvGrpSpPr>
          <p:cNvPr id="12" name="object 12"/>
          <p:cNvGrpSpPr/>
          <p:nvPr/>
        </p:nvGrpSpPr>
        <p:grpSpPr>
          <a:xfrm>
            <a:off x="1295400" y="2060629"/>
            <a:ext cx="8779019" cy="3939345"/>
            <a:chOff x="493769" y="2261616"/>
            <a:chExt cx="8612505" cy="3885565"/>
          </a:xfrm>
        </p:grpSpPr>
        <p:sp>
          <p:nvSpPr>
            <p:cNvPr id="13" name="object 13"/>
            <p:cNvSpPr/>
            <p:nvPr/>
          </p:nvSpPr>
          <p:spPr>
            <a:xfrm>
              <a:off x="493769" y="2261616"/>
              <a:ext cx="8612046" cy="38854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8382000" y="5111495"/>
              <a:ext cx="680085" cy="344805"/>
            </a:xfrm>
            <a:custGeom>
              <a:avLst/>
              <a:gdLst/>
              <a:ahLst/>
              <a:cxnLst/>
              <a:rect l="l" t="t" r="r" b="b"/>
              <a:pathLst>
                <a:path w="680084" h="344804">
                  <a:moveTo>
                    <a:pt x="679703" y="286511"/>
                  </a:moveTo>
                  <a:lnTo>
                    <a:pt x="679703" y="56387"/>
                  </a:lnTo>
                  <a:lnTo>
                    <a:pt x="675393" y="34718"/>
                  </a:lnTo>
                  <a:lnTo>
                    <a:pt x="663511" y="16763"/>
                  </a:lnTo>
                  <a:lnTo>
                    <a:pt x="645628" y="4524"/>
                  </a:lnTo>
                  <a:lnTo>
                    <a:pt x="623315" y="0"/>
                  </a:lnTo>
                  <a:lnTo>
                    <a:pt x="57911" y="0"/>
                  </a:lnTo>
                  <a:lnTo>
                    <a:pt x="35361" y="4524"/>
                  </a:lnTo>
                  <a:lnTo>
                    <a:pt x="16954" y="16763"/>
                  </a:lnTo>
                  <a:lnTo>
                    <a:pt x="4548" y="34718"/>
                  </a:lnTo>
                  <a:lnTo>
                    <a:pt x="0" y="56387"/>
                  </a:lnTo>
                  <a:lnTo>
                    <a:pt x="0" y="286511"/>
                  </a:lnTo>
                  <a:lnTo>
                    <a:pt x="4548" y="309062"/>
                  </a:lnTo>
                  <a:lnTo>
                    <a:pt x="16954" y="327469"/>
                  </a:lnTo>
                  <a:lnTo>
                    <a:pt x="35361" y="339875"/>
                  </a:lnTo>
                  <a:lnTo>
                    <a:pt x="57911" y="344423"/>
                  </a:lnTo>
                  <a:lnTo>
                    <a:pt x="623315" y="344423"/>
                  </a:lnTo>
                  <a:lnTo>
                    <a:pt x="645628" y="339875"/>
                  </a:lnTo>
                  <a:lnTo>
                    <a:pt x="663511" y="327469"/>
                  </a:lnTo>
                  <a:lnTo>
                    <a:pt x="675393" y="309062"/>
                  </a:lnTo>
                  <a:lnTo>
                    <a:pt x="679703" y="286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91000" y="5870486"/>
            <a:ext cx="417845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9814" marR="4483" indent="-359167">
              <a:spcBef>
                <a:spcPts val="88"/>
              </a:spcBef>
            </a:pPr>
            <a:r>
              <a:rPr sz="1588" spc="-4" dirty="0">
                <a:latin typeface="Arial"/>
                <a:cs typeface="Arial"/>
              </a:rPr>
              <a:t>Inception-v3</a:t>
            </a:r>
            <a:r>
              <a:rPr sz="1588" spc="-106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Architecture  (42 </a:t>
            </a:r>
            <a:r>
              <a:rPr sz="1588" spc="-9" dirty="0">
                <a:latin typeface="Arial"/>
                <a:cs typeface="Arial"/>
              </a:rPr>
              <a:t>Layers</a:t>
            </a:r>
            <a:r>
              <a:rPr sz="1588" spc="13" dirty="0">
                <a:latin typeface="Arial"/>
                <a:cs typeface="Arial"/>
              </a:rPr>
              <a:t> </a:t>
            </a:r>
            <a:r>
              <a:rPr sz="1588" spc="-4" dirty="0">
                <a:latin typeface="Arial"/>
                <a:cs typeface="Arial"/>
              </a:rPr>
              <a:t>Deep)</a:t>
            </a:r>
            <a:endParaRPr sz="158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7787FE-A033-54E3-9991-305AD65C6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2A206AA8-87B8-49C5-A890-7FF59A528D49}" type="datetime1">
              <a:rPr lang="en-US" spc="-9" smtClean="0"/>
              <a:t>3/10/2025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/>
              <a:t>Presented by Dr. AKHTAR JAMIL </a:t>
            </a:r>
            <a:endParaRPr spc="-9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>
                <a:latin typeface="Arial"/>
                <a:cs typeface="Arial"/>
              </a:rPr>
              <a:t>Inception </a:t>
            </a:r>
            <a:r>
              <a:rPr sz="3353" dirty="0">
                <a:latin typeface="Arial"/>
                <a:cs typeface="Arial"/>
              </a:rPr>
              <a:t>v4 </a:t>
            </a:r>
            <a:r>
              <a:rPr sz="3353" spc="-4" dirty="0">
                <a:latin typeface="Arial"/>
                <a:cs typeface="Arial"/>
              </a:rPr>
              <a:t>and</a:t>
            </a:r>
            <a:r>
              <a:rPr sz="3353" spc="-31" dirty="0">
                <a:latin typeface="Arial"/>
                <a:cs typeface="Arial"/>
              </a:rPr>
              <a:t> </a:t>
            </a:r>
            <a:r>
              <a:rPr sz="3353" spc="-4" dirty="0">
                <a:latin typeface="Arial"/>
                <a:cs typeface="Arial"/>
              </a:rPr>
              <a:t>InceptionResNet</a:t>
            </a:r>
            <a:endParaRPr sz="3353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67000" y="1635968"/>
            <a:ext cx="6543989" cy="45259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17508" b="13489"/>
          <a:stretch/>
        </p:blipFill>
        <p:spPr>
          <a:xfrm>
            <a:off x="609600" y="1219200"/>
            <a:ext cx="9906000" cy="5283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EEEF6-344B-59A8-1D50-AD38AF144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71C149-DD2B-F2C2-41F9-0ACAD195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Xception</a:t>
            </a:r>
            <a:r>
              <a:rPr lang="en-US" dirty="0"/>
              <a:t> Network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D7A09-0204-20AE-4555-29D67617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E61F-4FC8-45E3-BD22-177534F91521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E03E7-E645-E4D3-1374-8CB59A51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9548-C068-FB5D-6816-4787A4B67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16430" b="14567"/>
          <a:stretch/>
        </p:blipFill>
        <p:spPr>
          <a:xfrm>
            <a:off x="1066800" y="1600200"/>
            <a:ext cx="9144000" cy="48768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E957110-BF1F-49F8-C9E3-862ACC64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Xception</a:t>
            </a:r>
            <a:r>
              <a:rPr lang="en-US" dirty="0"/>
              <a:t> Network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91A98-8DAE-2D2D-4E44-FD6E4777A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C76-9AA8-4A11-B15F-15A1913FB8DE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6AA68-71B8-ABE1-38C9-7AACFCBC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CEF7F-7AA7-5CA9-91FD-03CAC157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4885" b="13132"/>
          <a:stretch/>
        </p:blipFill>
        <p:spPr>
          <a:xfrm>
            <a:off x="1219200" y="457200"/>
            <a:ext cx="10134600" cy="569764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C2A4A-C102-BDCA-9B30-5B9240BCD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E13E8E-1A27-DC76-8636-6C5251C0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81AD5-D3F9-813B-7DF9-5D74CF670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CE126-372A-4FC9-A6B2-70E7C6C57F9B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93A06-8D10-2F22-EEB1-861A6D2E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05A1D-F397-B077-84B7-7097DCFA8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5648" b="12411"/>
          <a:stretch/>
        </p:blipFill>
        <p:spPr>
          <a:xfrm>
            <a:off x="800100" y="533400"/>
            <a:ext cx="10591800" cy="5791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BCBD6-5DA5-2CFE-AA88-ABDE4FB96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AEC7EE-32F0-368E-EAF9-07B9A6873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83939-0404-AF88-24B4-D256478A5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57AAD-8FA9-449F-9268-0C6C37B7BF86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06BC5-6C94-7998-964A-C642E6CFC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4EB87-3FA8-ED56-7CDB-CFAE3DFB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5648" b="35053"/>
          <a:stretch/>
        </p:blipFill>
        <p:spPr>
          <a:xfrm>
            <a:off x="581892" y="762000"/>
            <a:ext cx="11000508" cy="47244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21107-896D-E3FE-FB0E-EFB1545EA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38212B-E608-E17F-514C-5A4CC430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485E9-CD16-4F40-2068-E2F58552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59DBD-8D21-4F15-815A-8F085E7FF4DE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E5419-7D8E-A8A2-FBD6-B55BCB09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12F2A-06C7-98DE-AD11-C94EB245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5648" b="27505"/>
          <a:stretch/>
        </p:blipFill>
        <p:spPr>
          <a:xfrm>
            <a:off x="934064" y="762000"/>
            <a:ext cx="10323871" cy="5334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700CA-662F-71E4-C1B6-C5F878BD2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8AFBF7-9E23-8123-7FF5-826871D7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C3C36-A0F8-CEAA-3218-E4A9011D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E2AC-A104-465A-8081-99CE49430D12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3B5C7-56F5-39B4-3E37-CBC36A09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87392-0FCF-4F4F-8888-B5F9B3EF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5648" b="11333"/>
          <a:stretch/>
        </p:blipFill>
        <p:spPr>
          <a:xfrm>
            <a:off x="838200" y="495300"/>
            <a:ext cx="10515600" cy="58674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89CF6-6C6B-823A-C8FA-1B8158241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F746EF-0720-45F0-D00C-74E65238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D4972-5ECA-13C5-32F4-AC573A1B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263E-C9D4-4F98-BD9B-C5030BE6C0FA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41E0-1954-8DD5-D1C2-B2441974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692BE-0E2F-2454-2616-3877D7163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5648" b="21037"/>
          <a:stretch/>
        </p:blipFill>
        <p:spPr>
          <a:xfrm>
            <a:off x="762000" y="609600"/>
            <a:ext cx="10591800" cy="54864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0D7F9-5938-8E53-9EBE-16DDA5752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3BC64E-37DE-64B6-35DC-DC119BCD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3435B-81EB-F93D-273E-8DDF1265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0FCE-867A-489F-BAA6-2BF6A612EE6B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3D7D9-7921-59D4-A33B-FBA46CE6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1861B-702D-DB2B-21C4-C3D54AB6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5648" b="31818"/>
          <a:stretch/>
        </p:blipFill>
        <p:spPr>
          <a:xfrm>
            <a:off x="893379" y="609600"/>
            <a:ext cx="10405241" cy="5029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CDFDC-F74A-FE2F-FC14-083ADD7FF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813A41-399E-1F95-7EA1-4AA85A80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26E29-2A1D-2463-4294-4010A73B0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0336C-6C97-44E8-8B95-022639552F31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1FCC2-3006-E6C3-48F7-E77D10FA1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593FC-C210-0AF6-7935-A78F2748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5648" b="22115"/>
          <a:stretch/>
        </p:blipFill>
        <p:spPr>
          <a:xfrm>
            <a:off x="990600" y="609600"/>
            <a:ext cx="10363200" cy="54864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36BEC-66F8-8138-4EA5-903B2097E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750DF7-A8D9-3D24-E397-622C9804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52717-9723-69CD-AB3E-32844364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0A05-BF56-46DA-8C0D-39BFFCCCCDA8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43D62-DD92-B43A-89D9-D8ED99EB1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754E7-48A8-5868-78A4-CB095A2C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-94384"/>
          <a:ext cx="9144000" cy="6973166"/>
          <a:chOff x="0" y="-94384"/>
          <a:chExt cx="9144000" cy="6973166"/>
        </a:xfrm>
      </p:grpSpPr>
      <p:pic>
        <p:nvPicPr>
          <p:cNvPr id="2" name="Slide"/>
          <p:cNvPicPr>
            <a:picLocks noChangeAspect="1"/>
          </p:cNvPicPr>
          <p:nvPr/>
        </p:nvPicPr>
        <p:blipFill rotWithShape="1">
          <a:blip r:embed="rId2"/>
          <a:srcRect t="5647" b="13490"/>
          <a:stretch/>
        </p:blipFill>
        <p:spPr>
          <a:xfrm>
            <a:off x="1066800" y="571500"/>
            <a:ext cx="10210800" cy="571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D1B20-0D79-D88F-3274-ACA65942C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625B3B-664B-F360-D3BF-BC89166B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0C230-C048-0B12-78A0-BA090782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27953-23D5-4B54-9742-F2376552D145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7DE8B-2285-4D9C-2044-EBD23DF1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0F2EE-CF23-1797-3AD5-27082593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4F605-91F6-0910-FEBA-12FDE148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29D704-A8CF-061F-E340-C545B3E8C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functional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</a:t>
            </a: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DepthwiseSeparableConv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out_channels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DepthwiseSeparableConv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Depthwise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Convolution: Applies a separate filter per input channel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depthwise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stride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stride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groups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bias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Pointwise Convolution (1x1 Conv): Combines the outputs of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depthwise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pointwise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Conv2d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out_channels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bias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depthwise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Depthwise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pointwise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Pointwise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A98A4-76A1-05CD-80D8-3CECBDDF4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FEE9-C90B-4F61-9900-3D60A90FA6CA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6A282-1B10-10FD-C971-A092290B3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C7A97-8EF1-EF4E-2F05-43F5DF17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645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38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1AEAE-6E83-4F51-84C1-095AF2252CF3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8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21154</TotalTime>
  <Words>1871</Words>
  <Application>Microsoft Office PowerPoint</Application>
  <PresentationFormat>Widescreen</PresentationFormat>
  <Paragraphs>262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Arial</vt:lpstr>
      <vt:lpstr>Arial MT</vt:lpstr>
      <vt:lpstr>Calibri</vt:lpstr>
      <vt:lpstr>Consolas</vt:lpstr>
      <vt:lpstr>Times New Roman</vt:lpstr>
      <vt:lpstr>Wingdings</vt:lpstr>
      <vt:lpstr>Office Theme</vt:lpstr>
      <vt:lpstr>PowerPoint Presentation</vt:lpstr>
      <vt:lpstr>Goals</vt:lpstr>
      <vt:lpstr>Inception v1 (GoogLeNet)</vt:lpstr>
      <vt:lpstr>Inception v1 (GoogLeNet)</vt:lpstr>
      <vt:lpstr>Inception v1 (GoogLeNet)</vt:lpstr>
      <vt:lpstr>Inception v1 (GoogLeNet)</vt:lpstr>
      <vt:lpstr>Inception v1 (GoogLeNet)</vt:lpstr>
      <vt:lpstr>PowerPoint Presentation</vt:lpstr>
      <vt:lpstr>PowerPoint Presentation</vt:lpstr>
      <vt:lpstr>Inception v2</vt:lpstr>
      <vt:lpstr>Inception v3</vt:lpstr>
      <vt:lpstr>Inception v3: Factorizing Convolutions</vt:lpstr>
      <vt:lpstr>Inception v3: Factorizing Convolutions</vt:lpstr>
      <vt:lpstr>Inception v3: Factorizing Convolutions</vt:lpstr>
      <vt:lpstr>Inception v3: Factorizing Convolutions</vt:lpstr>
      <vt:lpstr>Inception v3: Factorizing Convolutions</vt:lpstr>
      <vt:lpstr>Inception v3: Factorizing Convolutions</vt:lpstr>
      <vt:lpstr>Inception v3</vt:lpstr>
      <vt:lpstr>Inception v3</vt:lpstr>
      <vt:lpstr>Inception v3</vt:lpstr>
      <vt:lpstr>Inception v3</vt:lpstr>
      <vt:lpstr>Inception v3</vt:lpstr>
      <vt:lpstr>Inception v3</vt:lpstr>
      <vt:lpstr>Inception v3</vt:lpstr>
      <vt:lpstr>Inception v4 and InceptionResNet</vt:lpstr>
      <vt:lpstr>Xception Network</vt:lpstr>
      <vt:lpstr>Xception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1488</cp:revision>
  <dcterms:created xsi:type="dcterms:W3CDTF">2006-08-16T00:00:00Z</dcterms:created>
  <dcterms:modified xsi:type="dcterms:W3CDTF">2025-03-10T05:17:07Z</dcterms:modified>
</cp:coreProperties>
</file>