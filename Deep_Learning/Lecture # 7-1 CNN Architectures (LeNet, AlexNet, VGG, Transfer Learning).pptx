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7"/>
  </p:notesMasterIdLst>
  <p:sldIdLst>
    <p:sldId id="525" r:id="rId2"/>
    <p:sldId id="42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1682" r:id="rId12"/>
    <p:sldId id="1662" r:id="rId13"/>
    <p:sldId id="268" r:id="rId14"/>
    <p:sldId id="269" r:id="rId15"/>
    <p:sldId id="1683" r:id="rId16"/>
    <p:sldId id="1684" r:id="rId17"/>
    <p:sldId id="1685" r:id="rId18"/>
    <p:sldId id="1686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1687" r:id="rId33"/>
    <p:sldId id="1688" r:id="rId34"/>
    <p:sldId id="1689" r:id="rId35"/>
    <p:sldId id="1690" r:id="rId36"/>
    <p:sldId id="1691" r:id="rId37"/>
    <p:sldId id="1692" r:id="rId38"/>
    <p:sldId id="1693" r:id="rId39"/>
    <p:sldId id="1694" r:id="rId40"/>
    <p:sldId id="1695" r:id="rId41"/>
    <p:sldId id="1696" r:id="rId42"/>
    <p:sldId id="1697" r:id="rId43"/>
    <p:sldId id="1698" r:id="rId44"/>
    <p:sldId id="1699" r:id="rId45"/>
    <p:sldId id="158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>
        <p:scale>
          <a:sx n="63" d="100"/>
          <a:sy n="63" d="100"/>
        </p:scale>
        <p:origin x="912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3CC46D-8ECF-4850-97CF-99C64B263463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 with thanks to Dr. AKHTAR JAMIL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F6F07-E732-407A-818C-BC925B9D2EB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68B8-3056-4F85-B370-8E6501D17879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19E27-B9BF-459D-BA09-70D681817877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34E0-B20D-491F-ACFA-44F3F76EDA1C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B14C5-298F-4983-AED3-B339AC7BA8A1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0DDEF-7605-4068-B8ED-0FC7140BC3D8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F6BE-1AC5-47AA-8293-DC80AEAC599C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07AC-0A27-4D2E-A63D-F7A52712F4EE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AD12E-E75F-4428-B9CD-D0E8BFB7148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12EE-BF59-4175-BE04-C44095F10A52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15895C3-717A-4FD9-AEA9-139E74B4B6BF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 with thanks to Dr. AKHTAR JAMIL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proceedings.neurips.cc/paper_files/paper/2012/file/c399862d3b9d6b76c8436e924a68c45b-Paper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49EA-AB1E-443D-BD2A-CDBDAB0CD6DF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Presented by    </a:t>
            </a:r>
            <a:r>
              <a:rPr lang="en-GB" dirty="0" err="1"/>
              <a:t>Dr.</a:t>
            </a:r>
            <a:r>
              <a:rPr lang="en-GB" dirty="0"/>
              <a:t> </a:t>
            </a:r>
            <a:r>
              <a:rPr lang="en-GB" dirty="0" err="1"/>
              <a:t>Noshina</a:t>
            </a:r>
            <a:r>
              <a:rPr lang="en-GB" dirty="0"/>
              <a:t> Tariq with thanks to </a:t>
            </a:r>
            <a:r>
              <a:rPr lang="en-GB" dirty="0" err="1"/>
              <a:t>Dr.</a:t>
            </a:r>
            <a:r>
              <a:rPr lang="en-GB" dirty="0"/>
              <a:t> AKHTAR JAMIL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1600200" y="2589242"/>
            <a:ext cx="88391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Architectures of Convolutional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Noshina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Tariq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and 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/>
              <a:t>DS-5006: Deep Learning</a:t>
            </a:r>
            <a:endParaRPr lang="en-US" sz="2800" b="1" dirty="0"/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marL="713831" lvl="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</a:t>
            </a:r>
            <a:r>
              <a:rPr lang="en-US" sz="2424" spc="-194" dirty="0">
                <a:latin typeface="Arial MT"/>
                <a:cs typeface="Arial MT"/>
              </a:rPr>
              <a:t> </a:t>
            </a:r>
            <a:r>
              <a:rPr lang="en-US" sz="2424" spc="-4" dirty="0">
                <a:latin typeface="Arial MT"/>
                <a:cs typeface="Arial MT"/>
              </a:rPr>
              <a:t>Architectures</a:t>
            </a:r>
            <a:endParaRPr lang="en-US" sz="2424" dirty="0">
              <a:latin typeface="Arial MT"/>
              <a:cs typeface="Arial MT"/>
            </a:endParaRPr>
          </a:p>
          <a:p>
            <a:pPr marL="1067396" lvl="2" indent="-253827">
              <a:spcBef>
                <a:spcPts val="604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LeNet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AlexNet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1"/>
              </a:spcBef>
              <a:buChar char="–"/>
              <a:tabLst>
                <a:tab pos="667906" algn="l"/>
              </a:tabLst>
            </a:pPr>
            <a:r>
              <a:rPr lang="en-US" sz="2071" spc="-9" dirty="0">
                <a:solidFill>
                  <a:srgbClr val="C00000"/>
                </a:solidFill>
                <a:latin typeface="Arial MT"/>
                <a:cs typeface="Arial MT"/>
              </a:rPr>
              <a:t>VGG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The</a:t>
            </a:r>
            <a:r>
              <a:rPr lang="en-US" sz="2071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Inception</a:t>
            </a:r>
            <a:r>
              <a:rPr lang="en-US" sz="2071" spc="-26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Family</a:t>
            </a:r>
            <a:endParaRPr lang="en-US" sz="2071" dirty="0">
              <a:latin typeface="Arial MT"/>
              <a:cs typeface="Arial MT"/>
            </a:endParaRPr>
          </a:p>
          <a:p>
            <a:pPr marL="1476990" lvl="3" indent="-202277">
              <a:spcBef>
                <a:spcPts val="521"/>
              </a:spcBef>
              <a:buChar char="•"/>
              <a:tabLst>
                <a:tab pos="1019790" algn="l"/>
              </a:tabLst>
            </a:pP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V1,</a:t>
            </a:r>
            <a:r>
              <a:rPr lang="en-US" sz="1918" spc="-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V2,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V3,</a:t>
            </a:r>
            <a:r>
              <a:rPr lang="en-US" sz="1918" spc="4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V4,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Inception-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ResNet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,</a:t>
            </a:r>
            <a:r>
              <a:rPr lang="en-US" sz="1918" spc="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Xception</a:t>
            </a:r>
            <a:endParaRPr lang="en-US" sz="1918" dirty="0">
              <a:latin typeface="Arial MT"/>
              <a:cs typeface="Arial MT"/>
            </a:endParaRPr>
          </a:p>
          <a:p>
            <a:pPr marL="1067396" lvl="2" indent="-253827">
              <a:spcBef>
                <a:spcPts val="578"/>
              </a:spcBef>
              <a:buChar char="–"/>
              <a:tabLst>
                <a:tab pos="667906" algn="l"/>
              </a:tabLst>
            </a:pP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Resent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6500"/>
                </a:solidFill>
                <a:latin typeface="Arial MT"/>
                <a:cs typeface="Arial MT"/>
              </a:rPr>
              <a:t>DenseNet</a:t>
            </a:r>
            <a:endParaRPr lang="en-US" sz="2071" dirty="0">
              <a:latin typeface="Arial MT"/>
              <a:cs typeface="Arial MT"/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6FD1-FB3F-4890-99C7-9C687385CD00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F00161-C567-8748-E932-29104822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4" dirty="0">
                <a:solidFill>
                  <a:srgbClr val="FF0000"/>
                </a:solidFill>
                <a:latin typeface="Arial MT"/>
                <a:cs typeface="Arial MT"/>
              </a:rPr>
              <a:t>Image classification </a:t>
            </a:r>
            <a:r>
              <a:rPr lang="en-US" sz="2824" spc="-4" dirty="0">
                <a:latin typeface="Arial MT"/>
                <a:cs typeface="Arial MT"/>
              </a:rPr>
              <a:t>is the task of classifying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a </a:t>
            </a:r>
            <a:r>
              <a:rPr lang="en-US" sz="2824" spc="-4" dirty="0">
                <a:latin typeface="Arial MT"/>
                <a:cs typeface="Arial MT"/>
              </a:rPr>
              <a:t>given image into one of the pre-defined 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categories.</a:t>
            </a:r>
            <a:endParaRPr lang="en-US" sz="2824" dirty="0">
              <a:latin typeface="Arial MT"/>
              <a:cs typeface="Arial MT"/>
            </a:endParaRPr>
          </a:p>
          <a:p>
            <a:pPr marL="313221" marR="27848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18" dirty="0">
                <a:latin typeface="Arial MT"/>
                <a:cs typeface="Arial MT"/>
              </a:rPr>
              <a:t>Traditional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9" dirty="0">
                <a:latin typeface="Arial MT"/>
                <a:cs typeface="Arial MT"/>
              </a:rPr>
              <a:t>pipeline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for</a:t>
            </a:r>
            <a:r>
              <a:rPr lang="en-US" sz="2824" spc="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image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classification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involves</a:t>
            </a:r>
            <a:r>
              <a:rPr lang="en-US" sz="2824" spc="-2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two</a:t>
            </a:r>
            <a:r>
              <a:rPr lang="en-US" sz="2824" spc="-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modules:</a:t>
            </a:r>
            <a:endParaRPr lang="en-US" sz="2824" dirty="0">
              <a:latin typeface="Arial MT"/>
              <a:cs typeface="Arial MT"/>
            </a:endParaRPr>
          </a:p>
          <a:p>
            <a:pPr marL="667346" lvl="1" indent="-253827">
              <a:spcBef>
                <a:spcPts val="609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Feature extraction</a:t>
            </a:r>
            <a:endParaRPr lang="en-US" sz="2471" dirty="0">
              <a:latin typeface="Arial"/>
              <a:cs typeface="Arial"/>
            </a:endParaRPr>
          </a:p>
          <a:p>
            <a:pPr marL="667346" lvl="1" indent="-253827">
              <a:spcBef>
                <a:spcPts val="591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Classification</a:t>
            </a:r>
            <a:r>
              <a:rPr lang="en-US" sz="2471" spc="-4" dirty="0">
                <a:latin typeface="Arial MT"/>
                <a:cs typeface="Arial MT"/>
              </a:rPr>
              <a:t>.</a:t>
            </a:r>
            <a:endParaRPr lang="en-US" sz="2471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765055"/>
            <a:ext cx="10972800" cy="5272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ConvNets</a:t>
            </a:r>
            <a:r>
              <a:rPr sz="3353" spc="-49" dirty="0"/>
              <a:t> </a:t>
            </a:r>
            <a:r>
              <a:rPr sz="3353" spc="4" dirty="0"/>
              <a:t>vs.</a:t>
            </a:r>
            <a:r>
              <a:rPr sz="3353" spc="-110" dirty="0"/>
              <a:t> </a:t>
            </a:r>
            <a:r>
              <a:rPr sz="3353" spc="-13" dirty="0"/>
              <a:t>Traditional</a:t>
            </a:r>
            <a:r>
              <a:rPr sz="3353" spc="-22" dirty="0"/>
              <a:t> </a:t>
            </a:r>
            <a:r>
              <a:rPr lang="en-US" sz="3353" spc="-22" dirty="0"/>
              <a:t>for </a:t>
            </a:r>
            <a:r>
              <a:rPr sz="3353" dirty="0"/>
              <a:t>C</a:t>
            </a:r>
            <a:r>
              <a:rPr lang="en-US" sz="3353" dirty="0"/>
              <a:t>omputer </a:t>
            </a:r>
            <a:r>
              <a:rPr sz="3353" dirty="0"/>
              <a:t>V</a:t>
            </a:r>
            <a:r>
              <a:rPr lang="en-US" sz="3353" dirty="0"/>
              <a:t>ision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2D3FFB8-AE24-4F78-B9DF-FC6B6AEC4B21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6" name="object 6"/>
          <p:cNvSpPr txBox="1"/>
          <p:nvPr/>
        </p:nvSpPr>
        <p:spPr>
          <a:xfrm>
            <a:off x="2057400" y="2133600"/>
            <a:ext cx="7315760" cy="3915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endParaRPr sz="247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627AB2-BDED-5C52-6407-1ECD4C05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13221" marR="63317" indent="-302575">
              <a:spcBef>
                <a:spcPts val="84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Feature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extraction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extracting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higher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level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information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raw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pixel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values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capture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distinction </a:t>
            </a:r>
            <a:r>
              <a:rPr lang="en-US" sz="2800" spc="-52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among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categories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involved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738507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extraction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done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unsupervised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manner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the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have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nothing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with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information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extracted</a:t>
            </a:r>
            <a:r>
              <a:rPr lang="en-US" sz="2800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from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pixels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Some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widely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b="1" i="1" spc="-9" dirty="0">
                <a:solidFill>
                  <a:srgbClr val="C00000"/>
                </a:solidFill>
                <a:latin typeface="Arial"/>
                <a:cs typeface="Arial"/>
              </a:rPr>
              <a:t>HOG, </a:t>
            </a:r>
            <a:r>
              <a:rPr lang="en-US" sz="2800" b="1" i="1" spc="-5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35" dirty="0">
                <a:solidFill>
                  <a:srgbClr val="C00000"/>
                </a:solidFill>
                <a:latin typeface="Arial"/>
                <a:cs typeface="Arial"/>
              </a:rPr>
              <a:t>SIFT,</a:t>
            </a:r>
            <a:r>
              <a:rPr lang="en-US" sz="2800" b="1" i="1" spc="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LBP</a:t>
            </a:r>
            <a:r>
              <a:rPr lang="en-US" sz="2800" b="1" i="1" spc="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 </a:t>
            </a:r>
            <a:r>
              <a:rPr lang="en-GB" dirty="0"/>
              <a:t>HOG (Histogram of Oriented Gradients), SIFT (Scale-Invariant Feature Transform), and LBP (Local Binary Patterns) are traditional, widely used methods for extracting features from images</a:t>
            </a:r>
            <a:r>
              <a:rPr lang="en-GB" b="0" i="0" dirty="0">
                <a:solidFill>
                  <a:srgbClr val="0A0A0A"/>
                </a:solidFill>
                <a:effectLst/>
                <a:latin typeface="Google Sans"/>
              </a:rPr>
              <a:t>. HOG is effective for object detection like pedestrians, SIFT is robust to scale and rotation, and LBP is known for its efficiency in texture and pattern analysis. </a:t>
            </a:r>
            <a:endParaRPr lang="en-US" sz="2800" dirty="0">
              <a:latin typeface="Arial MT"/>
              <a:cs typeface="Arial MT"/>
            </a:endParaRPr>
          </a:p>
          <a:p>
            <a:pPr marL="313781" marR="258309" indent="-302575" algn="just">
              <a:spcBef>
                <a:spcPts val="46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After the feature is extracted, a classification module is trained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 the images and their associated labels. A few examples of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 module are </a:t>
            </a:r>
            <a:r>
              <a:rPr lang="en-US" sz="2800" b="1" i="1" spc="-13" dirty="0">
                <a:solidFill>
                  <a:srgbClr val="C00000"/>
                </a:solidFill>
                <a:latin typeface="Arial"/>
                <a:cs typeface="Arial"/>
              </a:rPr>
              <a:t>SVM,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Logistic Regression, Random Forest, </a:t>
            </a:r>
            <a:r>
              <a:rPr lang="en-US" sz="2800" b="1" i="1" spc="-52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decision</a:t>
            </a:r>
            <a:r>
              <a:rPr lang="en-US" sz="2800" b="1" i="1" spc="1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trees</a:t>
            </a:r>
            <a:r>
              <a:rPr lang="en-US" sz="2800" b="1" i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9D3A6C5-C869-4820-8632-C067682EC4EC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C80ABE-8570-E933-C430-E1234A42F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13781" marR="195553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The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pipeline </a:t>
            </a:r>
            <a:r>
              <a:rPr lang="en-US" sz="2800" spc="-4" dirty="0">
                <a:latin typeface="Arial MT"/>
                <a:cs typeface="Arial MT"/>
              </a:rPr>
              <a:t>is that feature extraction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cannot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tweaked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according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537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required </a:t>
            </a:r>
            <a:r>
              <a:rPr lang="en-US" sz="2800" dirty="0">
                <a:latin typeface="Arial MT"/>
                <a:cs typeface="Arial MT"/>
              </a:rPr>
              <a:t> 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distinguish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categories</a:t>
            </a:r>
          </a:p>
          <a:p>
            <a:pPr marL="713831" marR="53791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Accuracy</a:t>
            </a:r>
            <a:r>
              <a:rPr lang="en-US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classification</a:t>
            </a:r>
            <a:r>
              <a:rPr lang="en-US" spc="31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model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9" dirty="0">
                <a:latin typeface="Arial MT"/>
                <a:cs typeface="Arial MT"/>
              </a:rPr>
              <a:t>suffers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lot,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irrespective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the type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</a:t>
            </a:r>
            <a:r>
              <a:rPr lang="en-US" spc="-57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classification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strategy</a:t>
            </a:r>
            <a:r>
              <a:rPr lang="en-US" spc="-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employed.</a:t>
            </a:r>
            <a:endParaRPr lang="en-US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common theme among the state of the art following 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pipeline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been,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pick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feature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extractors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club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 inventively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better feature.</a:t>
            </a:r>
            <a:endParaRPr lang="en-US" sz="2800" dirty="0">
              <a:latin typeface="Arial MT"/>
              <a:cs typeface="Arial MT"/>
            </a:endParaRPr>
          </a:p>
          <a:p>
            <a:pPr marL="313781" marR="99738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 this involves </a:t>
            </a:r>
            <a:r>
              <a:rPr lang="en-US" sz="2800" b="1" spc="-4" dirty="0">
                <a:latin typeface="Arial"/>
                <a:cs typeface="Arial"/>
              </a:rPr>
              <a:t>too many heuristics as </a:t>
            </a:r>
            <a:r>
              <a:rPr lang="en-US" sz="2800" b="1" spc="4" dirty="0">
                <a:latin typeface="Arial"/>
                <a:cs typeface="Arial"/>
              </a:rPr>
              <a:t>well </a:t>
            </a:r>
            <a:r>
              <a:rPr lang="en-US" sz="2800" b="1" spc="-4" dirty="0">
                <a:latin typeface="Arial"/>
                <a:cs typeface="Arial"/>
              </a:rPr>
              <a:t>as manual </a:t>
            </a:r>
            <a:r>
              <a:rPr lang="en-US" sz="2800" b="1" spc="-578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labor </a:t>
            </a:r>
            <a:r>
              <a:rPr lang="en-US" sz="2800" b="1" dirty="0">
                <a:latin typeface="Arial"/>
                <a:cs typeface="Arial"/>
              </a:rPr>
              <a:t>to tweak </a:t>
            </a:r>
            <a:r>
              <a:rPr lang="en-US" sz="2800" b="1" spc="-4" dirty="0">
                <a:latin typeface="Arial"/>
                <a:cs typeface="Arial"/>
              </a:rPr>
              <a:t>parameters according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4" dirty="0">
                <a:latin typeface="Arial"/>
                <a:cs typeface="Arial"/>
              </a:rPr>
              <a:t>the domain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578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reach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a</a:t>
            </a:r>
            <a:r>
              <a:rPr lang="en-US" sz="2800" b="1" spc="-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decent</a:t>
            </a:r>
            <a:r>
              <a:rPr lang="en-US" sz="2800" b="1" spc="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level of </a:t>
            </a:r>
            <a:r>
              <a:rPr lang="en-US" sz="2800" b="1" spc="-9" dirty="0">
                <a:latin typeface="Arial"/>
                <a:cs typeface="Arial"/>
              </a:rPr>
              <a:t>accuracy</a:t>
            </a:r>
            <a:r>
              <a:rPr lang="en-US" sz="2800" spc="-9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9384" y="599903"/>
            <a:ext cx="10972800" cy="83820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178D1AD-0F21-4C73-884B-78D913618044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10E7CE-6F6C-A5FD-5552-BFEF158C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13781" marR="93014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Another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method </a:t>
            </a:r>
            <a:r>
              <a:rPr lang="en-US" sz="2800" spc="-4" dirty="0">
                <a:latin typeface="Arial MT"/>
                <a:cs typeface="Arial MT"/>
              </a:rPr>
              <a:t>is that it is completely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different </a:t>
            </a:r>
            <a:r>
              <a:rPr lang="en-US" sz="2800" spc="-4" dirty="0">
                <a:latin typeface="Arial MT"/>
                <a:cs typeface="Arial MT"/>
              </a:rPr>
              <a:t>from how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humans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learn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recognize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Just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birth,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child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incapable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perceiving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surroundings,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but as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progresses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processes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data, he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learns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identify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259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 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philosophy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deep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no </a:t>
            </a:r>
            <a:r>
              <a:rPr lang="en-US" sz="2800" spc="-57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hard-coded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extractor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built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in.</a:t>
            </a:r>
            <a:endParaRPr lang="en-US" sz="2800" dirty="0">
              <a:latin typeface="Arial MT"/>
              <a:cs typeface="Arial MT"/>
            </a:endParaRPr>
          </a:p>
          <a:p>
            <a:pPr marL="313781" marR="34180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combines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extraction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classification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modules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into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integrated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system 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 learns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extract,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discriminating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classify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supervised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6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37FBFD4-6A0E-4A37-A47E-26B5EC4B9B99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07061D-ED28-9202-0B68-BB72F5294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35932" indent="-302575" algn="just">
              <a:spcBef>
                <a:spcPts val="8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One such system is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multilayer </a:t>
            </a:r>
            <a:r>
              <a:rPr lang="en-US" sz="2800" spc="-4" dirty="0" err="1">
                <a:solidFill>
                  <a:srgbClr val="00B050"/>
                </a:solidFill>
                <a:latin typeface="Arial MT"/>
                <a:cs typeface="Arial MT"/>
              </a:rPr>
              <a:t>perceptrons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 aka neural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networks </a:t>
            </a:r>
            <a:r>
              <a:rPr lang="en-US" sz="2800" spc="-4" dirty="0">
                <a:latin typeface="Arial MT"/>
                <a:cs typeface="Arial MT"/>
              </a:rPr>
              <a:t>which are multiple layers of neurons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densely </a:t>
            </a:r>
            <a:r>
              <a:rPr lang="en-US" sz="2800" spc="-57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connected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each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other.</a:t>
            </a:r>
            <a:endParaRPr lang="en-US" sz="2800" dirty="0">
              <a:latin typeface="Arial MT"/>
              <a:cs typeface="Arial MT"/>
            </a:endParaRPr>
          </a:p>
          <a:p>
            <a:pPr marL="313221" marR="28016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deep vanilla neural network has such a large number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 it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impossible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train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such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system without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overfitting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due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sufficient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number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examples.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Convolutional</a:t>
            </a:r>
            <a:r>
              <a:rPr lang="en-US" sz="2800" spc="4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Neural</a:t>
            </a:r>
            <a:r>
              <a:rPr lang="en-US" sz="2800" spc="18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Networks(</a:t>
            </a:r>
            <a:r>
              <a:rPr lang="en-US" sz="2800" spc="-4" dirty="0" err="1">
                <a:solidFill>
                  <a:srgbClr val="00B0F0"/>
                </a:solidFill>
                <a:latin typeface="Arial MT"/>
                <a:cs typeface="Arial MT"/>
              </a:rPr>
              <a:t>ConvNets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),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task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whole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scratch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carried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 using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like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ImageNet.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F0C298C-B7F3-4449-A9A5-CC344C1DD69A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AD1425-499C-EA04-1CDA-4DF1CBEF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reason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sharing</a:t>
            </a:r>
            <a:r>
              <a:rPr lang="en-US" sz="2800" spc="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of parameters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between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neurons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sparse connections</a:t>
            </a:r>
            <a:r>
              <a:rPr lang="en-US" sz="2800" spc="22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in</a:t>
            </a:r>
            <a:r>
              <a:rPr lang="en-US" sz="2800" spc="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60515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In </a:t>
            </a:r>
            <a:r>
              <a:rPr lang="en-US" sz="2800" spc="-4" dirty="0">
                <a:latin typeface="Arial MT"/>
                <a:cs typeface="Arial MT"/>
              </a:rPr>
              <a:t>the convolution operation, the neurons in one layer are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only locally connected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4" dirty="0">
                <a:latin typeface="Arial MT"/>
                <a:cs typeface="Arial MT"/>
              </a:rPr>
              <a:t>the input neurons and the set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shared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across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2-D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B6CA62C-B9EC-4668-A9E8-424583ACE879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4016321"/>
            <a:ext cx="6019800" cy="23844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45D36A-5377-265C-DC9C-3CED1802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8382000" cy="4648198"/>
          </a:xfrm>
        </p:spPr>
        <p:txBody>
          <a:bodyPr/>
          <a:lstStyle/>
          <a:p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CNN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follow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general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design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principles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successively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applying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input.</a:t>
            </a:r>
          </a:p>
          <a:p>
            <a:r>
              <a:rPr lang="en-US" spc="-4" dirty="0">
                <a:latin typeface="Arial MT"/>
                <a:cs typeface="Arial MT"/>
              </a:rPr>
              <a:t>P</a:t>
            </a:r>
            <a:r>
              <a:rPr lang="en-US" sz="2800" spc="-4" dirty="0">
                <a:latin typeface="Arial MT"/>
                <a:cs typeface="Arial MT"/>
              </a:rPr>
              <a:t>eriodically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7030A0"/>
                </a:solidFill>
                <a:latin typeface="Arial MT"/>
                <a:cs typeface="Arial MT"/>
              </a:rPr>
              <a:t>downsampling</a:t>
            </a:r>
            <a:r>
              <a:rPr lang="en-US" sz="2800" spc="26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lang="en-US" sz="2800" spc="-13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spatial</a:t>
            </a:r>
            <a:r>
              <a:rPr lang="en-US" sz="2800" spc="-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dimension</a:t>
            </a:r>
            <a:r>
              <a:rPr lang="en-US" sz="2800" spc="-4" dirty="0">
                <a:latin typeface="Arial MT"/>
                <a:cs typeface="Arial MT"/>
              </a:rPr>
              <a:t>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increasing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number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feature</a:t>
            </a:r>
            <a:r>
              <a:rPr lang="en-US" sz="2800" spc="-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maps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73CE63F-703E-4F67-86B5-C23D37D1EDAE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3127" y="1447801"/>
            <a:ext cx="2251714" cy="4420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CC46DC-C235-F238-7CFB-7A8673B9F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classic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were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comprised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stacked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</a:t>
            </a:r>
            <a:r>
              <a:rPr lang="en-US" sz="2800" spc="4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modern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explore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innovative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constructing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allows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more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efficient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 learning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98057" indent="-302575">
              <a:buFont typeface="Arial MT"/>
              <a:buChar char="•"/>
              <a:tabLst>
                <a:tab pos="372615" algn="l"/>
                <a:tab pos="373175" algn="l"/>
              </a:tabLst>
            </a:pPr>
            <a:r>
              <a:rPr lang="en-US" sz="1800" dirty="0"/>
              <a:t>	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repeatable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unit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throughout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10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78F009A-8178-4BFA-9447-4565301339BA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8D9F76-561E-72BE-E04A-E45C3E4A8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471128"/>
            <a:ext cx="8082301" cy="294847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1B710-28D8-58D6-08BA-F58DD07A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224E-9233-432F-BF3E-B597B3A5BD4B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484A1-0FDD-E552-8457-34273486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B2E3E-410A-5FAE-7C2E-566097BC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5BBB42-A868-EDF0-0144-23F4F3FA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LetNet-1998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8AC5D-CE04-9767-061A-A3E78C25A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88"/>
          <a:stretch/>
        </p:blipFill>
        <p:spPr>
          <a:xfrm>
            <a:off x="990600" y="4572000"/>
            <a:ext cx="891617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0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7EB2117-A187-FE0F-5C07-3775A5A57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4" dirty="0">
                <a:latin typeface="Arial MT"/>
                <a:cs typeface="Arial MT"/>
              </a:rPr>
              <a:t>Yann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Lecun's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LeNet-5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model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1998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identify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handwritten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digits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zip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code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recognition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postal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service.</a:t>
            </a:r>
            <a:endParaRPr lang="en-US" sz="2800" dirty="0">
              <a:latin typeface="Arial MT"/>
              <a:cs typeface="Arial MT"/>
            </a:endParaRPr>
          </a:p>
          <a:p>
            <a:pPr marL="313221" marR="4689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pioneering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largely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 </a:t>
            </a:r>
            <a:r>
              <a:rPr lang="en-US" sz="2800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neural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know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31" dirty="0">
                <a:latin typeface="Arial MT"/>
                <a:cs typeface="Arial MT"/>
              </a:rPr>
              <a:t>today.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EFBDC72-D4FC-41AF-ACC6-CAF706F23154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87C31-A98D-BF57-3376-44BC83A0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657600"/>
            <a:ext cx="78581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78E437-B994-948A-5154-264B42613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previous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layer's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channels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each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computation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force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break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symmetry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r>
              <a:rPr lang="en-US" sz="2800" spc="-35" dirty="0">
                <a:latin typeface="Arial MT"/>
                <a:cs typeface="Arial MT"/>
              </a:rPr>
              <a:t> </a:t>
            </a:r>
          </a:p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subsampling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average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pooling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Parameters: </a:t>
            </a:r>
            <a:r>
              <a:rPr lang="en-US" sz="2800" spc="-4" dirty="0">
                <a:latin typeface="Arial MT"/>
                <a:cs typeface="Arial MT"/>
              </a:rPr>
              <a:t>60,000</a:t>
            </a:r>
            <a:endParaRPr lang="en-US" sz="2800" dirty="0">
              <a:latin typeface="Arial MT"/>
              <a:cs typeface="Arial MT"/>
            </a:endParaRPr>
          </a:p>
          <a:p>
            <a:pPr marL="313221" marR="652777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Paper:</a:t>
            </a:r>
            <a:r>
              <a:rPr lang="en-US" sz="2800" b="1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Gradient-based</a:t>
            </a:r>
            <a:r>
              <a:rPr lang="en-US" sz="2800" u="heavy" spc="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learning</a:t>
            </a:r>
            <a:r>
              <a:rPr lang="en-US" sz="2800" u="heavy" spc="18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applied</a:t>
            </a:r>
            <a:r>
              <a:rPr lang="en-US" sz="2800" u="heavy" spc="22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to</a:t>
            </a:r>
            <a:r>
              <a:rPr lang="en-US" sz="2800" u="heavy" spc="-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document </a:t>
            </a:r>
            <a:r>
              <a:rPr lang="en-US" sz="2800" spc="-578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recognition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15E4B62-52D6-4923-BFFD-BC9825419447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C01B8C-294B-ED08-619D-B1DD3716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BBFF5D0-FAF9-464E-BF06-8295B6BEA2AB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LeNet-5:</a:t>
            </a:r>
            <a:r>
              <a:rPr sz="3353" spc="-40" dirty="0"/>
              <a:t> </a:t>
            </a:r>
            <a:r>
              <a:rPr sz="3353" spc="-4" dirty="0"/>
              <a:t>Reading </a:t>
            </a:r>
            <a:r>
              <a:rPr sz="3353" dirty="0"/>
              <a:t>a</a:t>
            </a:r>
            <a:r>
              <a:rPr sz="3353" spc="-26" dirty="0"/>
              <a:t> </a:t>
            </a:r>
            <a:r>
              <a:rPr sz="3353" dirty="0"/>
              <a:t>Check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856432"/>
            <a:ext cx="6438899" cy="401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01E2F-26E9-E96A-C777-167F8F9A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6FE6C-1BBB-4A2D-9521-916497F0CB95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C244C-974C-1434-201B-F04D7615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6790F-E203-84B9-5239-19325418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E31F49-8409-7F13-6232-21E32E58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87F0A8-62CC-A5CE-4E97-2CC28C8E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3CD499-C6E8-5971-39CA-0FFBCE54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27239"/>
            <a:ext cx="7086600" cy="42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07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546B8B-6A60-A3F6-978C-F59E13D52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662386"/>
            <a:ext cx="8305800" cy="480478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B9CDE-C3FC-F0BF-336C-18B875DA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A67D6-9D52-4301-A709-E788DE7051F7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F2BCF-929D-C456-9372-A8612684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2A8EE-67CF-C6AE-F63E-1E5E1565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FFE8E2-7C7B-A795-D778-323BBE62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415357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3C134B-9645-07BC-8879-D55064FC8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752600"/>
            <a:ext cx="6328882" cy="25146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3FA2A-3E7E-D6EC-55EE-250F9C11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3D05-2319-4ED9-B439-7ECF694FF690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76D54-2A26-8DCB-D1B4-AA07AE46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D572E-5F8D-75C3-1C17-6B8339AB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E78BF3-5172-7D9A-E1AB-ECF2C02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95231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6D2AD-E2DF-A0AF-595A-7763775E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7B12E-2A6D-4C24-98F5-288211209CEE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BA6B7-FF9A-06DC-100F-D5E2B2D0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BBFB-C6FD-90FF-6861-9F1C3425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5ED636-04E1-5C5E-0EF2-C7067B02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397BC0-23E5-546B-6342-216E13B134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82" y="1600200"/>
            <a:ext cx="965123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101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8F88858-C03E-374D-F91A-E0176AC1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66977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-11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Alex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Krizhevsky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 al.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2012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compete 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ImageNet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competition.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general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quite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similar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LeNet-5,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although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considerably</a:t>
            </a:r>
            <a:r>
              <a:rPr lang="en-US" sz="2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22" dirty="0">
                <a:solidFill>
                  <a:srgbClr val="FF0000"/>
                </a:solidFill>
                <a:latin typeface="Arial MT"/>
                <a:cs typeface="Arial MT"/>
              </a:rPr>
              <a:t>larger</a:t>
            </a:r>
            <a:r>
              <a:rPr lang="en-US" sz="2800" spc="-22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F933BBD-B96B-4516-BF89-624D6B056B50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832" y="3785202"/>
            <a:ext cx="7122968" cy="24933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CCE06B-DC3F-3A0E-B6EF-EB056D03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Download Paper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3CF05D9-ED4E-42A9-8D51-DA1C500F7D57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7443A-7F80-C1DA-BAEF-8004A693E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819400"/>
            <a:ext cx="8641142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58B18D-8182-76A8-F3FA-BD335085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684A63F-28E4-400B-99F4-BA5A8BA27703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12793"/>
            <a:ext cx="6477000" cy="47356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1EE27C-EB8A-7C40-3739-B0B62386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DE0E3A1-755D-495E-8774-0B6067687EF6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136" y="1783976"/>
            <a:ext cx="8743728" cy="32900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2400" y="5562600"/>
            <a:ext cx="350520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 MT"/>
                <a:cs typeface="Arial MT"/>
              </a:rPr>
              <a:t>Similarities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with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LeNet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but much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bigger</a:t>
            </a:r>
            <a:endParaRPr sz="1588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E7D9F2-0335-241D-ADEB-C1BB2B557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515600" cy="4495799"/>
          </a:xfrm>
        </p:spPr>
        <p:txBody>
          <a:bodyPr>
            <a:normAutofit/>
          </a:bodyPr>
          <a:lstStyle/>
          <a:p>
            <a:pPr marL="313221" marR="44826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starts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 3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applies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96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filter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4.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volume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dimension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a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pooling layer</a:t>
            </a:r>
            <a:r>
              <a:rPr lang="en-US" sz="2800" spc="13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applies </a:t>
            </a:r>
            <a:r>
              <a:rPr lang="en-US" sz="2800" spc="-9" dirty="0">
                <a:latin typeface="Arial MT"/>
                <a:cs typeface="Arial MT"/>
              </a:rPr>
              <a:t>max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pool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along 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2.</a:t>
            </a:r>
            <a:endParaRPr lang="en-US" sz="2800" dirty="0">
              <a:latin typeface="Arial MT"/>
              <a:cs typeface="Arial MT"/>
            </a:endParaRPr>
          </a:p>
          <a:p>
            <a:pPr marL="313221" marR="112065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goes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finally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reaches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FC layer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9216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parameter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two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FC layers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4096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node each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end,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Softmax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1000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dirty="0">
                <a:latin typeface="Arial MT"/>
                <a:cs typeface="Arial MT"/>
              </a:rPr>
              <a:t> classes.</a:t>
            </a:r>
          </a:p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Parameters: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60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Million.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8E4332B8-0AD6-40AF-86AB-9489A1CAF62B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7E8002-2296-7A45-D9F7-304446D88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924800" cy="4525963"/>
          </a:xfrm>
        </p:spPr>
        <p:txBody>
          <a:bodyPr/>
          <a:lstStyle/>
          <a:p>
            <a:pPr marL="313221" marR="633726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ReLU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activation</a:t>
            </a:r>
            <a:r>
              <a:rPr lang="en-US" sz="2800" spc="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instead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Sigmoid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or tanh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functions</a:t>
            </a:r>
            <a:r>
              <a:rPr lang="en-US" sz="2800" dirty="0">
                <a:latin typeface="Arial MT"/>
                <a:cs typeface="Arial MT"/>
              </a:rPr>
              <a:t> (In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LeNet</a:t>
            </a:r>
            <a:r>
              <a:rPr lang="en-US" sz="2800" spc="-4" dirty="0">
                <a:latin typeface="Arial MT"/>
                <a:cs typeface="Arial MT"/>
              </a:rPr>
              <a:t>).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The advantage of the </a:t>
            </a:r>
            <a:r>
              <a:rPr lang="en-US" sz="2800" b="1" spc="-4" dirty="0" err="1">
                <a:latin typeface="Arial"/>
                <a:cs typeface="Arial"/>
              </a:rPr>
              <a:t>ReLu</a:t>
            </a:r>
            <a:r>
              <a:rPr lang="en-US" sz="2800" b="1" spc="-4" dirty="0">
                <a:latin typeface="Arial"/>
                <a:cs typeface="Arial"/>
              </a:rPr>
              <a:t> over sigmoid </a:t>
            </a:r>
            <a:r>
              <a:rPr lang="en-US" sz="2800" b="1" dirty="0">
                <a:latin typeface="Arial"/>
                <a:cs typeface="Arial"/>
              </a:rPr>
              <a:t>is </a:t>
            </a:r>
            <a:r>
              <a:rPr lang="en-US" sz="2800" b="1" spc="-4" dirty="0">
                <a:latin typeface="Arial"/>
                <a:cs typeface="Arial"/>
              </a:rPr>
              <a:t>that </a:t>
            </a:r>
            <a:r>
              <a:rPr lang="en-US" sz="2800" b="1" dirty="0">
                <a:latin typeface="Arial"/>
                <a:cs typeface="Arial"/>
              </a:rPr>
              <a:t>it </a:t>
            </a:r>
            <a:r>
              <a:rPr lang="en-US" sz="2800" b="1" spc="-4" dirty="0">
                <a:latin typeface="Arial"/>
                <a:cs typeface="Arial"/>
              </a:rPr>
              <a:t>trains 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much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faster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 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latter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because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derivative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of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sigmoid </a:t>
            </a:r>
            <a:r>
              <a:rPr lang="en-US" sz="2800" spc="-57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becomes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very small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saturating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region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therefore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updates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weights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vanish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speed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more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times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faster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accuracy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9E5DF54-AC08-4031-9C90-DB60BEF1144F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4134B8-B682-6F92-3BAC-91837BB4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048000"/>
            <a:ext cx="3671236" cy="1752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50C364-C9E8-726C-33E9-CFE944385848}"/>
              </a:ext>
            </a:extLst>
          </p:cNvPr>
          <p:cNvSpPr txBox="1"/>
          <p:nvPr/>
        </p:nvSpPr>
        <p:spPr>
          <a:xfrm>
            <a:off x="4267200" y="6045744"/>
            <a:ext cx="7543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Dying 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r>
              <a:rPr lang="en-US" dirty="0">
                <a:solidFill>
                  <a:srgbClr val="FF0000"/>
                </a:solidFill>
              </a:rPr>
              <a:t> problem</a:t>
            </a:r>
            <a:r>
              <a:rPr lang="en-US" dirty="0"/>
              <a:t>: If a neuron is inactive (𝑥≤0x≤0), its gradient becomes zero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609600" y="1600201"/>
            <a:ext cx="10972800" cy="22298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22484" marR="4483" indent="-302575">
              <a:spcBef>
                <a:spcPts val="88"/>
              </a:spcBef>
              <a:tabLst>
                <a:tab pos="423045" algn="l"/>
                <a:tab pos="423604" algn="l"/>
              </a:tabLst>
            </a:pPr>
            <a:r>
              <a:rPr spc="-4" dirty="0"/>
              <a:t>Another</a:t>
            </a:r>
            <a:r>
              <a:rPr spc="9" dirty="0"/>
              <a:t> </a:t>
            </a:r>
            <a:r>
              <a:rPr spc="-4" dirty="0"/>
              <a:t>problem</a:t>
            </a:r>
            <a:r>
              <a:rPr spc="18" dirty="0"/>
              <a:t> </a:t>
            </a:r>
            <a:r>
              <a:rPr spc="-4" dirty="0"/>
              <a:t>that this</a:t>
            </a:r>
            <a:r>
              <a:rPr spc="4" dirty="0"/>
              <a:t> </a:t>
            </a:r>
            <a:r>
              <a:rPr spc="-4" dirty="0"/>
              <a:t>architecture</a:t>
            </a:r>
            <a:r>
              <a:rPr dirty="0"/>
              <a:t> </a:t>
            </a:r>
            <a:r>
              <a:rPr spc="-4" dirty="0"/>
              <a:t>solved</a:t>
            </a:r>
            <a:r>
              <a:rPr spc="9" dirty="0"/>
              <a:t> </a:t>
            </a:r>
            <a:r>
              <a:rPr spc="-4" dirty="0"/>
              <a:t>was</a:t>
            </a:r>
            <a:r>
              <a:rPr spc="13" dirty="0"/>
              <a:t> </a:t>
            </a:r>
            <a:r>
              <a:rPr spc="-4" dirty="0"/>
              <a:t>reducing </a:t>
            </a:r>
            <a:r>
              <a:rPr dirty="0"/>
              <a:t> </a:t>
            </a:r>
            <a:r>
              <a:rPr spc="-4" dirty="0"/>
              <a:t>the</a:t>
            </a:r>
            <a:r>
              <a:rPr spc="-9" dirty="0"/>
              <a:t> </a:t>
            </a:r>
            <a:r>
              <a:rPr b="1" spc="-4" dirty="0">
                <a:latin typeface="Arial"/>
                <a:cs typeface="Arial"/>
              </a:rPr>
              <a:t>over-fitting</a:t>
            </a:r>
            <a:r>
              <a:rPr b="1" spc="-31" dirty="0">
                <a:latin typeface="Arial"/>
                <a:cs typeface="Arial"/>
              </a:rPr>
              <a:t> </a:t>
            </a:r>
            <a:r>
              <a:rPr spc="-4" dirty="0"/>
              <a:t>by</a:t>
            </a:r>
            <a:r>
              <a:rPr spc="9" dirty="0"/>
              <a:t> </a:t>
            </a:r>
            <a:r>
              <a:rPr spc="-4" dirty="0"/>
              <a:t>using</a:t>
            </a:r>
            <a:r>
              <a:rPr spc="9" dirty="0"/>
              <a:t> </a:t>
            </a:r>
            <a:r>
              <a:rPr spc="-4" dirty="0"/>
              <a:t>a</a:t>
            </a:r>
            <a:r>
              <a:rPr spc="4" dirty="0"/>
              <a:t> </a:t>
            </a:r>
            <a:r>
              <a:rPr spc="-4" dirty="0">
                <a:solidFill>
                  <a:srgbClr val="FFC000"/>
                </a:solidFill>
              </a:rPr>
              <a:t>Dropout</a:t>
            </a:r>
            <a:r>
              <a:rPr spc="18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layer</a:t>
            </a:r>
            <a:r>
              <a:rPr spc="13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after every FC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spc="-22" dirty="0">
                <a:solidFill>
                  <a:srgbClr val="FFC000"/>
                </a:solidFill>
              </a:rPr>
              <a:t>layer</a:t>
            </a:r>
            <a:r>
              <a:rPr spc="-22" dirty="0"/>
              <a:t>.</a:t>
            </a:r>
          </a:p>
          <a:p>
            <a:pPr marL="422484" marR="303696" indent="-302575">
              <a:spcBef>
                <a:spcPts val="507"/>
              </a:spcBef>
              <a:tabLst>
                <a:tab pos="423045" algn="l"/>
                <a:tab pos="423604" algn="l"/>
              </a:tabLst>
            </a:pPr>
            <a:r>
              <a:rPr spc="-4" dirty="0">
                <a:solidFill>
                  <a:srgbClr val="FF0000"/>
                </a:solidFill>
              </a:rPr>
              <a:t>Dropout</a:t>
            </a:r>
            <a:r>
              <a:rPr spc="13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layer</a:t>
            </a:r>
            <a:r>
              <a:rPr spc="9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has</a:t>
            </a:r>
            <a:r>
              <a:rPr spc="4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a </a:t>
            </a:r>
            <a:r>
              <a:rPr spc="-13" dirty="0">
                <a:solidFill>
                  <a:srgbClr val="FF0000"/>
                </a:solidFill>
              </a:rPr>
              <a:t>probability,</a:t>
            </a:r>
            <a:r>
              <a:rPr b="1" spc="-13" dirty="0">
                <a:solidFill>
                  <a:srgbClr val="FF0000"/>
                </a:solidFill>
                <a:latin typeface="Arial"/>
                <a:cs typeface="Arial"/>
              </a:rPr>
              <a:t>(p)</a:t>
            </a:r>
            <a:r>
              <a:rPr spc="-13" dirty="0">
                <a:solidFill>
                  <a:srgbClr val="FF0000"/>
                </a:solidFill>
              </a:rPr>
              <a:t>,</a:t>
            </a:r>
            <a:r>
              <a:rPr spc="18" dirty="0">
                <a:solidFill>
                  <a:srgbClr val="FF0000"/>
                </a:solidFill>
              </a:rPr>
              <a:t> </a:t>
            </a:r>
            <a:r>
              <a:rPr spc="-4" dirty="0"/>
              <a:t>associated</a:t>
            </a:r>
            <a:r>
              <a:rPr spc="9" dirty="0"/>
              <a:t> </a:t>
            </a:r>
            <a:r>
              <a:rPr spc="-4" dirty="0"/>
              <a:t>with</a:t>
            </a:r>
            <a:r>
              <a:rPr spc="4" dirty="0"/>
              <a:t> </a:t>
            </a:r>
            <a:r>
              <a:rPr spc="-4" dirty="0"/>
              <a:t>it and</a:t>
            </a:r>
            <a:r>
              <a:rPr dirty="0"/>
              <a:t> </a:t>
            </a:r>
            <a:r>
              <a:rPr spc="-4" dirty="0"/>
              <a:t>is </a:t>
            </a:r>
            <a:r>
              <a:rPr spc="-578" dirty="0"/>
              <a:t> </a:t>
            </a:r>
            <a:r>
              <a:rPr spc="-4" dirty="0"/>
              <a:t>applied</a:t>
            </a:r>
            <a:r>
              <a:rPr spc="26" dirty="0"/>
              <a:t> </a:t>
            </a:r>
            <a:r>
              <a:rPr spc="-4" dirty="0"/>
              <a:t>at every</a:t>
            </a:r>
            <a:r>
              <a:rPr dirty="0"/>
              <a:t> </a:t>
            </a:r>
            <a:r>
              <a:rPr spc="-4" dirty="0"/>
              <a:t>neuron</a:t>
            </a:r>
            <a:r>
              <a:rPr spc="9" dirty="0"/>
              <a:t> </a:t>
            </a:r>
            <a:r>
              <a:rPr spc="-4" dirty="0"/>
              <a:t>of the</a:t>
            </a:r>
            <a:r>
              <a:rPr spc="-13" dirty="0"/>
              <a:t> </a:t>
            </a:r>
            <a:r>
              <a:rPr spc="-4" dirty="0"/>
              <a:t>response</a:t>
            </a:r>
            <a:r>
              <a:rPr spc="9" dirty="0"/>
              <a:t> </a:t>
            </a:r>
            <a:r>
              <a:rPr spc="-4" dirty="0"/>
              <a:t>map</a:t>
            </a:r>
            <a:r>
              <a:rPr dirty="0"/>
              <a:t> </a:t>
            </a:r>
            <a:r>
              <a:rPr spc="-18" dirty="0"/>
              <a:t>separately.</a:t>
            </a:r>
            <a:r>
              <a:rPr spc="13" dirty="0"/>
              <a:t> </a:t>
            </a:r>
            <a:r>
              <a:rPr dirty="0"/>
              <a:t>It </a:t>
            </a:r>
            <a:r>
              <a:rPr spc="4" dirty="0"/>
              <a:t> </a:t>
            </a:r>
            <a:r>
              <a:rPr spc="-4" dirty="0"/>
              <a:t>randomly</a:t>
            </a:r>
            <a:r>
              <a:rPr spc="13" dirty="0"/>
              <a:t> </a:t>
            </a:r>
            <a:r>
              <a:rPr spc="-4" dirty="0"/>
              <a:t>switches</a:t>
            </a:r>
            <a:r>
              <a:rPr spc="13" dirty="0"/>
              <a:t> </a:t>
            </a:r>
            <a:r>
              <a:rPr spc="-18" dirty="0"/>
              <a:t>off</a:t>
            </a:r>
            <a:r>
              <a:rPr spc="-4" dirty="0"/>
              <a:t> the</a:t>
            </a:r>
            <a:r>
              <a:rPr spc="-9" dirty="0"/>
              <a:t> </a:t>
            </a:r>
            <a:r>
              <a:rPr spc="-4" dirty="0"/>
              <a:t>activation</a:t>
            </a:r>
            <a:r>
              <a:rPr spc="9" dirty="0"/>
              <a:t> </a:t>
            </a:r>
            <a:r>
              <a:rPr spc="-4" dirty="0"/>
              <a:t>with</a:t>
            </a:r>
            <a:r>
              <a:rPr dirty="0"/>
              <a:t> </a:t>
            </a:r>
            <a:r>
              <a:rPr spc="-4" dirty="0"/>
              <a:t>the</a:t>
            </a:r>
            <a:r>
              <a:rPr dirty="0"/>
              <a:t> </a:t>
            </a:r>
            <a:r>
              <a:rPr spc="-4" dirty="0"/>
              <a:t>probability</a:t>
            </a:r>
            <a:r>
              <a:rPr spc="26" dirty="0"/>
              <a:t> </a:t>
            </a:r>
            <a:r>
              <a:rPr b="1" dirty="0">
                <a:latin typeface="Arial"/>
                <a:cs typeface="Arial"/>
              </a:rPr>
              <a:t>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C96E5DE-3A1B-45DD-AB8C-F468CDC235B6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3950000"/>
            <a:ext cx="4401222" cy="23518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9A22673-A2CA-46EB-B59B-75E9BAF096E3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26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04DAAAD-F749-8CED-46B3-D65D2FB9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D27093-4415-AAA3-F17E-1EF2A81F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33575"/>
            <a:ext cx="9205444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endParaRPr sz="3353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874855"/>
            <a:ext cx="6172200" cy="43735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D736B0F-3989-489B-B57E-DA702C3F7039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27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1F0C0E8-899B-F13A-06CC-F3BF455E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VGG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E74D7D-51D2-3DAE-5603-1571985C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VGG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group, Oxford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VGG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2014,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offers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yet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variant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structures. </a:t>
            </a: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 the time of its introduction, this model was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considered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very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10B1CBE-AE5A-44E9-92D6-5204C0659478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81400"/>
            <a:ext cx="53340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2817E-AFC6-2B03-46C5-7C051538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13781" marR="423604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makes the improvement over </a:t>
            </a: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replacing large </a:t>
            </a:r>
            <a:r>
              <a:rPr lang="en-US" sz="2800" i="1" spc="-57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kernel-sized</a:t>
            </a:r>
            <a:r>
              <a:rPr lang="en-US" sz="2800" i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filters</a:t>
            </a:r>
            <a:r>
              <a:rPr lang="en-US" sz="2800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57" dirty="0">
                <a:latin typeface="Arial MT"/>
                <a:cs typeface="Arial MT"/>
              </a:rPr>
              <a:t>(11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first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second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layer,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respectively)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3X3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kernel- </a:t>
            </a:r>
            <a:r>
              <a:rPr lang="en-US" sz="2800" spc="-57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sized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filters</a:t>
            </a:r>
            <a:r>
              <a:rPr lang="en-US" sz="2800" spc="-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18" dirty="0">
                <a:latin typeface="Arial MT"/>
                <a:cs typeface="Arial MT"/>
              </a:rPr>
              <a:t>another.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given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receptive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field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(the</a:t>
            </a:r>
            <a:r>
              <a:rPr lang="en-US" sz="2800" spc="-9" dirty="0">
                <a:latin typeface="Arial MT"/>
                <a:cs typeface="Arial MT"/>
              </a:rPr>
              <a:t> effective</a:t>
            </a:r>
            <a:r>
              <a:rPr lang="en-US" sz="2800" spc="-4" dirty="0">
                <a:latin typeface="Arial MT"/>
                <a:cs typeface="Arial MT"/>
              </a:rPr>
              <a:t> area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input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 depends),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stacked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smaller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size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kernel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is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better</a:t>
            </a:r>
            <a:r>
              <a:rPr lang="en-US" sz="2800" spc="-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larger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kernel.</a:t>
            </a:r>
          </a:p>
          <a:p>
            <a:pPr marL="713831" marR="4483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 MT"/>
                <a:cs typeface="Arial MT"/>
              </a:rPr>
              <a:t>Multiple</a:t>
            </a:r>
            <a:r>
              <a:rPr lang="en-US" spc="22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non-linear</a:t>
            </a:r>
            <a:r>
              <a:rPr lang="en-US" spc="40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layers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increases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the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depth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which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enables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it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learn</a:t>
            </a:r>
            <a:r>
              <a:rPr lang="en-US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more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complex</a:t>
            </a:r>
            <a:r>
              <a:rPr lang="en-US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features</a:t>
            </a:r>
            <a:r>
              <a:rPr lang="en-US" spc="-4" dirty="0">
                <a:latin typeface="Arial MT"/>
                <a:cs typeface="Arial MT"/>
              </a:rPr>
              <a:t>,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and </a:t>
            </a:r>
            <a:r>
              <a:rPr lang="en-US" spc="-57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that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too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at a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lower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cost.</a:t>
            </a:r>
            <a:endParaRPr lang="en-US" dirty="0">
              <a:latin typeface="Arial MT"/>
              <a:cs typeface="Arial MT"/>
            </a:endParaRPr>
          </a:p>
          <a:p>
            <a:pPr marL="313781" marR="68360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always uses 3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3 filters with stride of 1 in convolution layer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uses SAME padding in pooling layers 2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2 with stride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 –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Simplified</a:t>
            </a:r>
            <a:r>
              <a:rPr lang="en-US" sz="2800" i="1" spc="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29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EFFC95E-D397-4310-BFD0-704135D7918C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9282" y="4691156"/>
            <a:ext cx="5410200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 err="1">
                <a:solidFill>
                  <a:srgbClr val="FFFFFF"/>
                </a:solidFill>
                <a:latin typeface="Arial MT"/>
                <a:cs typeface="Arial MT"/>
              </a:rPr>
              <a:t>VGG</a:t>
            </a:r>
            <a:r>
              <a:rPr sz="2118" b="1" spc="-4" dirty="0" err="1">
                <a:latin typeface="Arial"/>
                <a:cs typeface="Arial"/>
              </a:rPr>
              <a:t>Parameters</a:t>
            </a:r>
            <a:r>
              <a:rPr sz="2118" b="1" spc="-4" dirty="0">
                <a:latin typeface="Arial"/>
                <a:cs typeface="Arial"/>
              </a:rPr>
              <a:t>: </a:t>
            </a:r>
            <a:r>
              <a:rPr sz="2118" spc="-4" dirty="0">
                <a:latin typeface="Arial MT"/>
                <a:cs typeface="Arial MT"/>
              </a:rPr>
              <a:t>138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million</a:t>
            </a:r>
            <a:endParaRPr sz="2118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370814"/>
            <a:ext cx="9083482" cy="21163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DF2B2EF-FA08-41DA-9E61-30DB3AEDAB99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30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A99136D-B5D6-0A0C-BEF2-1A427B2C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7707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55905"/>
            <a:ext cx="5497157" cy="51461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7F6320C-B295-44D6-BAC6-E44AC24544D2}" type="datetime1">
              <a:rPr lang="en-US" spc="-9" smtClean="0"/>
              <a:t>10/28/2025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GB" spc="-10"/>
              <a:t>Presented by    Dr. Noshina Tariq with thanks to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31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752B2EE-E022-08F0-ECBF-28D6639A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193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0A3013CD-251A-C8D8-4AEB-E26B679A3F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992393"/>
            <a:ext cx="5586054" cy="2927873"/>
          </a:xfrm>
          <a:prstGeom prst="rect">
            <a:avLst/>
          </a:prstGeom>
        </p:spPr>
      </p:pic>
      <p:grpSp>
        <p:nvGrpSpPr>
          <p:cNvPr id="13" name="object 7">
            <a:extLst>
              <a:ext uri="{FF2B5EF4-FFF2-40B4-BE49-F238E27FC236}">
                <a16:creationId xmlns:a16="http://schemas.microsoft.com/office/drawing/2014/main" id="{A339715D-17F4-478B-9E59-DB85DF63D5C0}"/>
              </a:ext>
            </a:extLst>
          </p:cNvPr>
          <p:cNvGrpSpPr/>
          <p:nvPr/>
        </p:nvGrpSpPr>
        <p:grpSpPr>
          <a:xfrm>
            <a:off x="5943600" y="4593123"/>
            <a:ext cx="5419165" cy="1097616"/>
            <a:chOff x="1211573" y="2282952"/>
            <a:chExt cx="6141720" cy="1243965"/>
          </a:xfrm>
        </p:grpSpPr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65348CC0-D9A3-4D1D-D05D-AE1F951BB7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385" y="2302764"/>
              <a:ext cx="6102096" cy="1203960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456305A2-7C7D-B842-C288-933B663FD470}"/>
                </a:ext>
              </a:extLst>
            </p:cNvPr>
            <p:cNvSpPr/>
            <p:nvPr/>
          </p:nvSpPr>
          <p:spPr>
            <a:xfrm>
              <a:off x="1211573" y="2282952"/>
              <a:ext cx="6141720" cy="1243965"/>
            </a:xfrm>
            <a:custGeom>
              <a:avLst/>
              <a:gdLst/>
              <a:ahLst/>
              <a:cxnLst/>
              <a:rect l="l" t="t" r="r" b="b"/>
              <a:pathLst>
                <a:path w="6141720" h="1243964">
                  <a:moveTo>
                    <a:pt x="6141726" y="1239012"/>
                  </a:moveTo>
                  <a:lnTo>
                    <a:pt x="6141726" y="4572"/>
                  </a:lnTo>
                  <a:lnTo>
                    <a:pt x="613715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39012"/>
                  </a:lnTo>
                  <a:lnTo>
                    <a:pt x="4572" y="1243584"/>
                  </a:lnTo>
                  <a:lnTo>
                    <a:pt x="10668" y="1243584"/>
                  </a:lnTo>
                  <a:lnTo>
                    <a:pt x="10668" y="19812"/>
                  </a:lnTo>
                  <a:lnTo>
                    <a:pt x="19812" y="10668"/>
                  </a:lnTo>
                  <a:lnTo>
                    <a:pt x="19812" y="19812"/>
                  </a:lnTo>
                  <a:lnTo>
                    <a:pt x="6121914" y="19812"/>
                  </a:lnTo>
                  <a:lnTo>
                    <a:pt x="6121914" y="10668"/>
                  </a:lnTo>
                  <a:lnTo>
                    <a:pt x="6132582" y="19812"/>
                  </a:lnTo>
                  <a:lnTo>
                    <a:pt x="6132582" y="1243584"/>
                  </a:lnTo>
                  <a:lnTo>
                    <a:pt x="6137154" y="1243584"/>
                  </a:lnTo>
                  <a:lnTo>
                    <a:pt x="6141726" y="1239012"/>
                  </a:lnTo>
                  <a:close/>
                </a:path>
                <a:path w="6141720" h="1243964">
                  <a:moveTo>
                    <a:pt x="19812" y="19812"/>
                  </a:moveTo>
                  <a:lnTo>
                    <a:pt x="19812" y="10668"/>
                  </a:lnTo>
                  <a:lnTo>
                    <a:pt x="10668" y="19812"/>
                  </a:lnTo>
                  <a:lnTo>
                    <a:pt x="19812" y="19812"/>
                  </a:lnTo>
                  <a:close/>
                </a:path>
                <a:path w="6141720" h="1243964">
                  <a:moveTo>
                    <a:pt x="19812" y="1223772"/>
                  </a:moveTo>
                  <a:lnTo>
                    <a:pt x="19812" y="19812"/>
                  </a:lnTo>
                  <a:lnTo>
                    <a:pt x="10668" y="19812"/>
                  </a:lnTo>
                  <a:lnTo>
                    <a:pt x="10668" y="1223772"/>
                  </a:lnTo>
                  <a:lnTo>
                    <a:pt x="19812" y="122377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10668" y="1223772"/>
                  </a:lnTo>
                  <a:lnTo>
                    <a:pt x="19812" y="1232916"/>
                  </a:lnTo>
                  <a:lnTo>
                    <a:pt x="19812" y="1243584"/>
                  </a:lnTo>
                  <a:lnTo>
                    <a:pt x="6121914" y="1243584"/>
                  </a:lnTo>
                  <a:lnTo>
                    <a:pt x="6121914" y="1232916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19812" y="1243584"/>
                  </a:moveTo>
                  <a:lnTo>
                    <a:pt x="19812" y="1232916"/>
                  </a:lnTo>
                  <a:lnTo>
                    <a:pt x="10668" y="1223772"/>
                  </a:lnTo>
                  <a:lnTo>
                    <a:pt x="10668" y="1243584"/>
                  </a:lnTo>
                  <a:lnTo>
                    <a:pt x="19812" y="1243584"/>
                  </a:lnTo>
                  <a:close/>
                </a:path>
                <a:path w="6141720" h="1243964">
                  <a:moveTo>
                    <a:pt x="6132582" y="19812"/>
                  </a:moveTo>
                  <a:lnTo>
                    <a:pt x="6121914" y="10668"/>
                  </a:lnTo>
                  <a:lnTo>
                    <a:pt x="6121914" y="19812"/>
                  </a:lnTo>
                  <a:lnTo>
                    <a:pt x="6132582" y="1981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6132582" y="19812"/>
                  </a:lnTo>
                  <a:lnTo>
                    <a:pt x="6121914" y="19812"/>
                  </a:lnTo>
                  <a:lnTo>
                    <a:pt x="6121914" y="1223772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6132582" y="1243584"/>
                  </a:moveTo>
                  <a:lnTo>
                    <a:pt x="6132582" y="1223772"/>
                  </a:lnTo>
                  <a:lnTo>
                    <a:pt x="6121914" y="1232916"/>
                  </a:lnTo>
                  <a:lnTo>
                    <a:pt x="6121914" y="1243584"/>
                  </a:lnTo>
                  <a:lnTo>
                    <a:pt x="6132582" y="1243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1B1789-0662-B718-79C0-C02647C76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13373"/>
            <a:ext cx="4648200" cy="308421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AA764-BCD6-2274-2FCE-1E7404D2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715C0-F4C4-4522-9D4C-D97335AC5E81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8594-404B-00A9-DE07-3EA943B1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1D57-3756-8CEB-22B2-2FA8705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1FAE7E-9673-0BF3-8A5B-17737B6E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848EC-012D-9D9A-3374-10F93DDB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1824806"/>
            <a:ext cx="5594273" cy="19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18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B333D-3259-5FE8-9D17-8A730D7F1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learning is a machine learning technique where a model trained on a large dataset (e.g., ImageNet) is reused and fine-tuned on a smaller, specific dataset.</a:t>
            </a:r>
          </a:p>
          <a:p>
            <a:r>
              <a:rPr lang="en-US" b="1" dirty="0"/>
              <a:t>Avoids Training from Scratch </a:t>
            </a:r>
            <a:r>
              <a:rPr lang="en-US" dirty="0"/>
              <a:t>– Training deep models like VGG or </a:t>
            </a:r>
            <a:r>
              <a:rPr lang="en-US" dirty="0" err="1"/>
              <a:t>AlexNet</a:t>
            </a:r>
            <a:r>
              <a:rPr lang="en-US" dirty="0"/>
              <a:t> from scratch on small datasets is inefficient.</a:t>
            </a:r>
          </a:p>
          <a:p>
            <a:r>
              <a:rPr lang="en-US" b="1" dirty="0"/>
              <a:t>Reduces Training Time</a:t>
            </a:r>
            <a:r>
              <a:rPr lang="en-US" dirty="0"/>
              <a:t> – Since the model already knows basic patterns (edges, textures, shapes), only the last layers need to be trained.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B2BE4-5A51-BA9E-3B26-040A97E1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65EC-F077-494F-B89A-46479D08DB8C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1AB55-F120-A522-8438-440F6F03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7C107-CD4A-DF11-62BD-07D05C12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B8A6D0-7FB6-D5BA-52DE-5E55554A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367407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70BFF2-7C9D-E840-9EB6-1FD11BAE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Prevents Overfitting</a:t>
            </a:r>
            <a:r>
              <a:rPr lang="en-US" dirty="0"/>
              <a:t> – With fewer data points, training a deep network from scratch can lead to overfitting. </a:t>
            </a:r>
          </a:p>
          <a:p>
            <a:pPr lvl="1"/>
            <a:r>
              <a:rPr lang="en-US" dirty="0"/>
              <a:t>Transfer learning mitigates this.</a:t>
            </a:r>
          </a:p>
          <a:p>
            <a:r>
              <a:rPr lang="en-US" b="1" dirty="0"/>
              <a:t>Improves Accuracy</a:t>
            </a:r>
            <a:r>
              <a:rPr lang="en-US" dirty="0"/>
              <a:t> – Pretrained models on large datasets generalize better and learn more effectively on smaller datasets.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90E50-03B6-438C-C002-33FF6F8C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C7B-0D90-456C-911F-C4C42BA440B4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00355-807D-0825-466B-ECF51F77B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FE045-851A-DC79-61AA-466ACBF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B0D30E-127F-B985-69A6-CA9751ED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1666566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CFFC7-F7BF-D8C5-ED8E-45D0EDCB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Scenarios:</a:t>
            </a:r>
          </a:p>
          <a:p>
            <a:pPr lvl="1"/>
            <a:r>
              <a:rPr lang="en-US" dirty="0"/>
              <a:t>Small dataset (few thousand images)</a:t>
            </a:r>
          </a:p>
          <a:p>
            <a:pPr lvl="1"/>
            <a:r>
              <a:rPr lang="en-US" dirty="0"/>
              <a:t>Similar dataset to ImageNet (e.g., Cars, Animals, Fruits)</a:t>
            </a:r>
          </a:p>
          <a:p>
            <a:r>
              <a:rPr lang="en-US" dirty="0"/>
              <a:t>Not Recommended</a:t>
            </a:r>
          </a:p>
          <a:p>
            <a:pPr lvl="1"/>
            <a:r>
              <a:rPr lang="en-US" dirty="0"/>
              <a:t>Completely different dataset (e.g., Medical Images, X-rays)</a:t>
            </a:r>
          </a:p>
          <a:p>
            <a:pPr lvl="1"/>
            <a:r>
              <a:rPr lang="en-US" dirty="0"/>
              <a:t>Large dataset (&gt;1M images)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2063F-9994-2862-A5B1-EA1EEF62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9F764-BB46-4109-8FC1-42F3F35220EE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7004B-38E1-B248-7CD7-C10D2DAD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C19C6-B481-5998-92C3-DD4A2FCF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8AADF5-1974-64BD-C952-755749FD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821275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1C92B-745A-DCD7-9113-928A0E5A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two main approaches</a:t>
            </a:r>
            <a:r>
              <a:rPr lang="en-US" dirty="0"/>
              <a:t>:</a:t>
            </a:r>
          </a:p>
          <a:p>
            <a:r>
              <a:rPr lang="en-US" b="1" dirty="0"/>
              <a:t>A. Feature Extraction (Frozen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Keep </a:t>
            </a:r>
            <a:r>
              <a:rPr lang="en-US" b="1" dirty="0"/>
              <a:t>pretrained convolutional layers frozen</a:t>
            </a:r>
            <a:r>
              <a:rPr lang="en-US" dirty="0"/>
              <a:t> (don’t update weights).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Replace the </a:t>
            </a:r>
            <a:r>
              <a:rPr lang="en-US" b="1" dirty="0"/>
              <a:t>fully connected layers</a:t>
            </a:r>
            <a:r>
              <a:rPr lang="en-US" dirty="0"/>
              <a:t> and train only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dataset is small</a:t>
            </a:r>
            <a:r>
              <a:rPr lang="en-US" dirty="0"/>
              <a:t> but </a:t>
            </a:r>
            <a:r>
              <a:rPr lang="en-US" b="1" dirty="0"/>
              <a:t>similar to the original dataset</a:t>
            </a:r>
            <a:r>
              <a:rPr lang="en-US" dirty="0"/>
              <a:t>.</a:t>
            </a:r>
          </a:p>
          <a:p>
            <a:r>
              <a:rPr lang="en-US" b="1" dirty="0"/>
              <a:t>B. Fine-tuning (Unfreeze Some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Unfreeze some </a:t>
            </a:r>
            <a:r>
              <a:rPr lang="en-US" b="1" dirty="0"/>
              <a:t>deep convolutional layers</a:t>
            </a:r>
            <a:r>
              <a:rPr lang="en-US" dirty="0"/>
              <a:t> and train them along with the new classifier.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the dataset is large or very different</a:t>
            </a:r>
            <a:r>
              <a:rPr lang="en-US" dirty="0"/>
              <a:t> from ImageNet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22254-1B36-6AF5-7569-10A0DCC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A329-8004-4782-B51B-BF0C81C243C5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E69BB-E7E2-650E-FC8E-DB59B0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F896-864D-35BE-07A2-672F538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DC3E2E-F3A6-5C05-D359-A48400FF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872881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DD955-A358-5022-CF62-2E7846482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Load VGG16 pretrained on ImageNet (</a:t>
            </a:r>
            <a:r>
              <a:rPr lang="en-US" sz="3200" b="1" dirty="0"/>
              <a:t>1000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Remove the last layers (fully connected layers).</a:t>
            </a:r>
          </a:p>
          <a:p>
            <a:r>
              <a:rPr lang="en-US" sz="3200" dirty="0"/>
              <a:t>Add custom layers for our dataset (</a:t>
            </a:r>
            <a:r>
              <a:rPr lang="en-US" sz="3200" b="1" dirty="0"/>
              <a:t>e.g., 10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Train on a small dataset.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30692-0798-121B-3472-65D39FFC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F9FC-3F52-4CCD-9076-A76A35CE098F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4488-DFA9-762D-E8B7-07B66F68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4278C-E9E1-D823-840E-F413BAF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A62BDE-5D83-574B-1C96-D60ECAEF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VGG16 for a Custom Dataset</a:t>
            </a:r>
          </a:p>
        </p:txBody>
      </p:sp>
    </p:spTree>
    <p:extLst>
      <p:ext uri="{BB962C8B-B14F-4D97-AF65-F5344CB8AC3E}">
        <p14:creationId xmlns:p14="http://schemas.microsoft.com/office/powerpoint/2010/main" val="672611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9B69A9-484E-DB2D-8311-C15E50B4C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676400"/>
            <a:ext cx="10156652" cy="33528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73B6D-45C1-F6BA-17E3-162FD46E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F3A0-257C-42B3-BD91-EB38AFF9A4A1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9245D-2F6C-D878-846D-B4580E10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654C2-6526-C704-9C6F-8B59EA81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779BAA-216F-8DAC-644D-B31BA5C3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Load Pretrained VGG16 Model</a:t>
            </a:r>
          </a:p>
        </p:txBody>
      </p:sp>
    </p:spTree>
    <p:extLst>
      <p:ext uri="{BB962C8B-B14F-4D97-AF65-F5344CB8AC3E}">
        <p14:creationId xmlns:p14="http://schemas.microsoft.com/office/powerpoint/2010/main" val="3397630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B4F4BF-5240-BB60-D1E2-03FA187DC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09800"/>
            <a:ext cx="9372600" cy="27868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BDE26-13A5-4545-0EAC-1E81E292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8F602-471B-4022-B915-7A65C74918EE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52477-7EDB-4E08-0602-99623509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4056B-0986-7BF1-2B64-B082295A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481695-3D03-434A-8E85-0BB4DA31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Add Custom Layers</a:t>
            </a:r>
          </a:p>
        </p:txBody>
      </p:sp>
    </p:spTree>
    <p:extLst>
      <p:ext uri="{BB962C8B-B14F-4D97-AF65-F5344CB8AC3E}">
        <p14:creationId xmlns:p14="http://schemas.microsoft.com/office/powerpoint/2010/main" val="362256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D2F62D-9963-19B4-F208-6DC0866E4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52993"/>
            <a:ext cx="8839200" cy="552400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F4B1B-9669-637E-C4AC-2BA1528C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CE0DC-CABD-483D-812D-EA4ECCA78E4E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0965A-1B54-91AB-6C67-AA987616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A253-3B00-E622-F208-0F2CCD4C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59F989-CB39-68A3-56CB-14436586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8899"/>
            <a:ext cx="10972800" cy="838200"/>
          </a:xfrm>
        </p:spPr>
        <p:txBody>
          <a:bodyPr/>
          <a:lstStyle/>
          <a:p>
            <a:r>
              <a:rPr lang="en-US" dirty="0"/>
              <a:t>Step 3: Compile and Train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678C0-6858-701D-E1A9-FDF7F45E4E46}"/>
              </a:ext>
            </a:extLst>
          </p:cNvPr>
          <p:cNvSpPr txBox="1"/>
          <p:nvPr/>
        </p:nvSpPr>
        <p:spPr>
          <a:xfrm>
            <a:off x="3962400" y="49530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we set </a:t>
            </a:r>
            <a:r>
              <a:rPr lang="en-US" dirty="0" err="1">
                <a:solidFill>
                  <a:srgbClr val="FF0000"/>
                </a:solidFill>
              </a:rPr>
              <a:t>class_mode</a:t>
            </a:r>
            <a:r>
              <a:rPr lang="en-US" dirty="0">
                <a:solidFill>
                  <a:srgbClr val="FF0000"/>
                </a:solidFill>
              </a:rPr>
              <a:t>='sparse', labels are assigned as integers</a:t>
            </a:r>
          </a:p>
          <a:p>
            <a:r>
              <a:rPr lang="en-US" dirty="0">
                <a:solidFill>
                  <a:srgbClr val="FF0000"/>
                </a:solidFill>
              </a:rPr>
              <a:t>Cat → 0 </a:t>
            </a:r>
          </a:p>
          <a:p>
            <a:r>
              <a:rPr lang="en-US" dirty="0">
                <a:solidFill>
                  <a:srgbClr val="FF0000"/>
                </a:solidFill>
              </a:rPr>
              <a:t>Dog → 1 </a:t>
            </a:r>
          </a:p>
          <a:p>
            <a:r>
              <a:rPr lang="en-US" dirty="0">
                <a:solidFill>
                  <a:srgbClr val="FF0000"/>
                </a:solidFill>
              </a:rPr>
              <a:t>Elephant → 2</a:t>
            </a:r>
          </a:p>
        </p:txBody>
      </p:sp>
    </p:spTree>
    <p:extLst>
      <p:ext uri="{BB962C8B-B14F-4D97-AF65-F5344CB8AC3E}">
        <p14:creationId xmlns:p14="http://schemas.microsoft.com/office/powerpoint/2010/main" val="3622999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4E4C61-24C0-AD52-216B-AD03F12F9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8572502" cy="3429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F7248-90D1-3DE8-3323-830BD5FD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034E-70B8-4C7E-874C-4DE8BE326503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64431-D35B-58EC-47DE-287DFB6A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E07DB-256C-53B6-B891-F4496A35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A63EF4-626E-1EB4-6B8A-8BDC7621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1311190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3C72E-7AC9-989A-B252-D05A52F3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467600" cy="4525963"/>
          </a:xfrm>
        </p:spPr>
        <p:txBody>
          <a:bodyPr/>
          <a:lstStyle/>
          <a:p>
            <a:r>
              <a:rPr lang="en-US" dirty="0"/>
              <a:t>Accuracy is a common metric for classification models.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Top-K Categorical Accuracy</a:t>
            </a:r>
            <a:r>
              <a:rPr lang="en-US" dirty="0"/>
              <a:t> (for large class datasets, like ImageNet):</a:t>
            </a:r>
          </a:p>
          <a:p>
            <a:pPr lvl="1"/>
            <a:r>
              <a:rPr lang="en-US" dirty="0"/>
              <a:t>Checks if the correct label is in the top K predictions.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8490-822D-9A28-3EB1-E5C05637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497A-BCD6-4BBE-AC99-B41574EF70C3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DA088-D816-9234-9A18-E2AB5864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F3818-A1B3-4854-76E0-DB073385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7227A7-B38F-9BD6-2251-9FFBA23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BEE20-20C9-6119-5E23-5B4C9945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6500"/>
            <a:ext cx="3734562" cy="990600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DD3EDE1B-5BF2-A46E-140D-FC664405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130" y="1999860"/>
            <a:ext cx="399414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8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6735-4C62-89DC-782C-20BD7579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427-B9A1-42F2-A695-CEB00F20EBEA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BCFEA-90C3-D539-D299-76968621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31142-FB0E-6770-DC1A-0524DCAF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B091AC-8E35-3F0A-4F95-CDA67E2B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1097E8-2461-6C4C-8C09-0AD69E739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and Recall (for imbalanced data):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86A2-2EE0-5BA5-9F57-0829F3B7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8211140" cy="349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4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B1506-BC1A-D588-9126-ACC579B3B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47801"/>
            <a:ext cx="7715065" cy="31545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0596-BD67-E9BB-8FBE-0594488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D7324-0039-4544-824E-6F038A6FB1A0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4F49D-F4FA-607D-7349-CBC4CF90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7CAB5-A289-82A5-72D1-FA8DEDA2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56BA9-6546-2F6A-854D-E4D35C28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DE729-587D-CF4C-4E0C-F54B273F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678524"/>
            <a:ext cx="7186283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4906E-0F5B-4AD6-A767-0D828129371C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 with thanks to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21322</TotalTime>
  <Words>2346</Words>
  <Application>Microsoft Office PowerPoint</Application>
  <PresentationFormat>Widescreen</PresentationFormat>
  <Paragraphs>287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Arial</vt:lpstr>
      <vt:lpstr>Arial MT</vt:lpstr>
      <vt:lpstr>Calibri</vt:lpstr>
      <vt:lpstr>Google Sans</vt:lpstr>
      <vt:lpstr>Times New Roman</vt:lpstr>
      <vt:lpstr>Office Theme</vt:lpstr>
      <vt:lpstr>PowerPoint Presentation</vt:lpstr>
      <vt:lpstr>Goals</vt:lpstr>
      <vt:lpstr>ConvNets vs. Traditional for Computer Vision</vt:lpstr>
      <vt:lpstr>Traditional Classification Pipeline</vt:lpstr>
      <vt:lpstr>Traditional Classification Pipeline</vt:lpstr>
      <vt:lpstr>Traditional Classification Pipeline</vt:lpstr>
      <vt:lpstr>Automatic Feature Learning</vt:lpstr>
      <vt:lpstr>Automatic Feature Learning</vt:lpstr>
      <vt:lpstr>ConvNet Architectures</vt:lpstr>
      <vt:lpstr>ConvNet Architectures</vt:lpstr>
      <vt:lpstr>LetNet-1998</vt:lpstr>
      <vt:lpstr>LeNet-5</vt:lpstr>
      <vt:lpstr>LeNet-5</vt:lpstr>
      <vt:lpstr>LeNet-5: Reading a Check</vt:lpstr>
      <vt:lpstr>Architecture of LeNet-5</vt:lpstr>
      <vt:lpstr>Architecture of LeNet-5</vt:lpstr>
      <vt:lpstr>Architecture of LeNet-5</vt:lpstr>
      <vt:lpstr>Architecture of LeNet-5</vt:lpstr>
      <vt:lpstr>AlexNet</vt:lpstr>
      <vt:lpstr>AlexNet</vt:lpstr>
      <vt:lpstr>AlexNet</vt:lpstr>
      <vt:lpstr>AlexNet</vt:lpstr>
      <vt:lpstr>AlexNet</vt:lpstr>
      <vt:lpstr>AlexNet</vt:lpstr>
      <vt:lpstr>AlexNet</vt:lpstr>
      <vt:lpstr>VGG</vt:lpstr>
      <vt:lpstr>VGG</vt:lpstr>
      <vt:lpstr>VGG</vt:lpstr>
      <vt:lpstr>VGG</vt:lpstr>
      <vt:lpstr>VGG</vt:lpstr>
      <vt:lpstr>VGG</vt:lpstr>
      <vt:lpstr>Pre-Trained Models</vt:lpstr>
      <vt:lpstr>What is Transfer Learning?</vt:lpstr>
      <vt:lpstr>What is Transfer Learning?</vt:lpstr>
      <vt:lpstr>When to Use Transfer Learning?</vt:lpstr>
      <vt:lpstr>How to Use Transfer Learning?</vt:lpstr>
      <vt:lpstr>Using VGG16 for a Custom Dataset</vt:lpstr>
      <vt:lpstr>Step 1: Load Pretrained VGG16 Model</vt:lpstr>
      <vt:lpstr>Step 2: Add Custom Layers</vt:lpstr>
      <vt:lpstr>Step 3: Compile and Train</vt:lpstr>
      <vt:lpstr>Fine-Tuning</vt:lpstr>
      <vt:lpstr>Evaluation Metrics</vt:lpstr>
      <vt:lpstr>Evaluation Metrics</vt:lpstr>
      <vt:lpstr>Evaluation Metrics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PC</cp:lastModifiedBy>
  <cp:revision>1485</cp:revision>
  <dcterms:created xsi:type="dcterms:W3CDTF">2006-08-16T00:00:00Z</dcterms:created>
  <dcterms:modified xsi:type="dcterms:W3CDTF">2025-10-28T12:30:41Z</dcterms:modified>
</cp:coreProperties>
</file>