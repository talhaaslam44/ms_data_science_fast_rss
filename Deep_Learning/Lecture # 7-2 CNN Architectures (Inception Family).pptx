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6"/>
  </p:notesMasterIdLst>
  <p:sldIdLst>
    <p:sldId id="525" r:id="rId2"/>
    <p:sldId id="421" r:id="rId3"/>
    <p:sldId id="1697" r:id="rId4"/>
    <p:sldId id="1698" r:id="rId5"/>
    <p:sldId id="1699" r:id="rId6"/>
    <p:sldId id="1700" r:id="rId7"/>
    <p:sldId id="1709" r:id="rId8"/>
    <p:sldId id="1665" r:id="rId9"/>
    <p:sldId id="1666" r:id="rId10"/>
    <p:sldId id="1667" r:id="rId11"/>
    <p:sldId id="1668" r:id="rId12"/>
    <p:sldId id="1670" r:id="rId13"/>
    <p:sldId id="1671" r:id="rId14"/>
    <p:sldId id="1672" r:id="rId15"/>
    <p:sldId id="1673" r:id="rId16"/>
    <p:sldId id="1674" r:id="rId17"/>
    <p:sldId id="1675" r:id="rId18"/>
    <p:sldId id="1676" r:id="rId19"/>
    <p:sldId id="1677" r:id="rId20"/>
    <p:sldId id="1678" r:id="rId21"/>
    <p:sldId id="1679" r:id="rId22"/>
    <p:sldId id="1680" r:id="rId23"/>
    <p:sldId id="1681" r:id="rId24"/>
    <p:sldId id="1683" r:id="rId25"/>
    <p:sldId id="1684" r:id="rId26"/>
    <p:sldId id="1685" r:id="rId27"/>
    <p:sldId id="1686" r:id="rId28"/>
    <p:sldId id="1687" r:id="rId29"/>
    <p:sldId id="1688" r:id="rId30"/>
    <p:sldId id="1689" r:id="rId31"/>
    <p:sldId id="1690" r:id="rId32"/>
    <p:sldId id="1691" r:id="rId33"/>
    <p:sldId id="1692" r:id="rId34"/>
    <p:sldId id="15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>
      <p:cViewPr varScale="1">
        <p:scale>
          <a:sx n="82" d="100"/>
          <a:sy n="82" d="100"/>
        </p:scale>
        <p:origin x="85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9105A73-7F42-4A6D-AA81-75748D395AAB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1566-1D6B-4D72-B5B7-62F14E430C9A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0F204-3F19-428D-937F-05B99C342FB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2ED6-9E90-43ED-BA21-CDD9754A48E3}" type="datetime1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EB36-00C1-4C67-9619-1B50D6ADA59A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33AE-F2BB-46BA-9F23-9E5665F8BEB1}" type="datetime1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1D84-FE81-4430-A8EB-4F693850480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6793-C187-494C-95C1-EB8036C7C25A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E96-856D-47CA-98F0-C244E2B8E749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E5B9-7C89-447F-BAAC-8F6FFF5331BD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9539C6-F209-44F6-83D2-D947D8BE34F2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75A74-33FE-4BFF-BF7F-CB8CA631B631}" type="datetime1">
              <a:rPr lang="en-US" smtClean="0"/>
              <a:t>3/5/2025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AKHTAR JAMIL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440891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National University of Computer and Emerging Sciences,</a:t>
            </a:r>
          </a:p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Islamabad, Pakistan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1600200" y="2589242"/>
            <a:ext cx="88391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Architectures of Convolutional Neural Networks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CS-4025: 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979" y="228600"/>
            <a:ext cx="1223315" cy="122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60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marL="713831" lvl="1" indent="-302575">
              <a:spcBef>
                <a:spcPts val="7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ConvNets</a:t>
            </a:r>
            <a:r>
              <a:rPr lang="en-US" sz="2424" spc="-22" dirty="0">
                <a:latin typeface="Arial MT"/>
                <a:cs typeface="Arial MT"/>
              </a:rPr>
              <a:t> </a:t>
            </a:r>
            <a:r>
              <a:rPr lang="en-US" sz="2424" spc="4" dirty="0">
                <a:latin typeface="Arial MT"/>
                <a:cs typeface="Arial MT"/>
              </a:rPr>
              <a:t>vs.</a:t>
            </a:r>
            <a:r>
              <a:rPr lang="en-US" sz="2424" spc="-71" dirty="0">
                <a:latin typeface="Arial MT"/>
                <a:cs typeface="Arial MT"/>
              </a:rPr>
              <a:t> </a:t>
            </a:r>
            <a:r>
              <a:rPr lang="en-US" sz="2424" spc="-18" dirty="0">
                <a:latin typeface="Arial MT"/>
                <a:cs typeface="Arial MT"/>
              </a:rPr>
              <a:t>Traditional </a:t>
            </a:r>
            <a:r>
              <a:rPr lang="en-US" sz="2424" spc="-4" dirty="0">
                <a:latin typeface="Arial MT"/>
                <a:cs typeface="Arial MT"/>
              </a:rPr>
              <a:t>Computer</a:t>
            </a:r>
            <a:r>
              <a:rPr lang="en-US" sz="2424" spc="-13" dirty="0">
                <a:latin typeface="Arial MT"/>
                <a:cs typeface="Arial MT"/>
              </a:rPr>
              <a:t> Vision</a:t>
            </a:r>
            <a:endParaRPr lang="en-US" sz="2424" dirty="0">
              <a:latin typeface="Arial MT"/>
              <a:cs typeface="Arial MT"/>
            </a:endParaRPr>
          </a:p>
          <a:p>
            <a:pPr marL="713831" lvl="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</a:t>
            </a:r>
            <a:r>
              <a:rPr lang="en-US" sz="2424" spc="-194" dirty="0">
                <a:latin typeface="Arial MT"/>
                <a:cs typeface="Arial MT"/>
              </a:rPr>
              <a:t> </a:t>
            </a:r>
            <a:r>
              <a:rPr lang="en-US" sz="2424" spc="-4" dirty="0">
                <a:latin typeface="Arial MT"/>
                <a:cs typeface="Arial MT"/>
              </a:rPr>
              <a:t>Architectures</a:t>
            </a:r>
            <a:endParaRPr lang="en-US" sz="2424" dirty="0">
              <a:latin typeface="Arial MT"/>
              <a:cs typeface="Arial MT"/>
            </a:endParaRPr>
          </a:p>
          <a:p>
            <a:pPr marL="1067396" lvl="2" indent="-253827">
              <a:spcBef>
                <a:spcPts val="604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FF0000"/>
                </a:solidFill>
                <a:latin typeface="Arial MT"/>
                <a:cs typeface="Arial MT"/>
              </a:rPr>
              <a:t>LeNet</a:t>
            </a:r>
            <a:endParaRPr lang="en-US" sz="2071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FF0000"/>
                </a:solidFill>
                <a:latin typeface="Arial MT"/>
                <a:cs typeface="Arial MT"/>
              </a:rPr>
              <a:t>AlexNet</a:t>
            </a:r>
            <a:endParaRPr lang="en-US" sz="2071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067396" lvl="2" indent="-253827">
              <a:spcBef>
                <a:spcPts val="591"/>
              </a:spcBef>
              <a:buChar char="–"/>
              <a:tabLst>
                <a:tab pos="667906" algn="l"/>
              </a:tabLst>
            </a:pPr>
            <a:r>
              <a:rPr lang="en-US" sz="2071" spc="-9" dirty="0">
                <a:solidFill>
                  <a:srgbClr val="FF0000"/>
                </a:solidFill>
                <a:latin typeface="Arial MT"/>
                <a:cs typeface="Arial MT"/>
              </a:rPr>
              <a:t>VGG</a:t>
            </a:r>
            <a:endParaRPr lang="en-US" sz="2071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The</a:t>
            </a:r>
            <a:r>
              <a:rPr lang="en-US" sz="2071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Inception</a:t>
            </a:r>
            <a:r>
              <a:rPr lang="en-US" sz="2071" spc="-26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Family</a:t>
            </a:r>
            <a:endParaRPr lang="en-US" sz="2071" dirty="0">
              <a:latin typeface="Arial MT"/>
              <a:cs typeface="Arial MT"/>
            </a:endParaRPr>
          </a:p>
          <a:p>
            <a:pPr marL="1476990" lvl="3" indent="-202277">
              <a:spcBef>
                <a:spcPts val="521"/>
              </a:spcBef>
              <a:buChar char="•"/>
              <a:tabLst>
                <a:tab pos="1019790" algn="l"/>
              </a:tabLst>
            </a:pP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V1,</a:t>
            </a:r>
            <a:r>
              <a:rPr lang="en-US" sz="1918" spc="-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V2,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V3,</a:t>
            </a:r>
            <a:r>
              <a:rPr lang="en-US" sz="1918" spc="4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V4,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Inception-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ResNet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,</a:t>
            </a:r>
            <a:r>
              <a:rPr lang="en-US" sz="1918" spc="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Xception</a:t>
            </a:r>
            <a:endParaRPr lang="en-US" sz="1918" dirty="0">
              <a:latin typeface="Arial MT"/>
              <a:cs typeface="Arial MT"/>
            </a:endParaRPr>
          </a:p>
          <a:p>
            <a:pPr marL="1067396" lvl="2" indent="-253827">
              <a:spcBef>
                <a:spcPts val="578"/>
              </a:spcBef>
              <a:buChar char="–"/>
              <a:tabLst>
                <a:tab pos="667906" algn="l"/>
              </a:tabLst>
            </a:pP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Resent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006500"/>
                </a:solidFill>
                <a:latin typeface="Arial MT"/>
                <a:cs typeface="Arial MT"/>
              </a:rPr>
              <a:t>DenseNet</a:t>
            </a:r>
            <a:endParaRPr lang="en-US" sz="2071" dirty="0">
              <a:latin typeface="Arial MT"/>
              <a:cs typeface="Arial MT"/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33925-4C14-474D-9253-A239DDD80BD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03C72E-7AC9-989A-B252-D05A52F32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162800" cy="4525963"/>
          </a:xfrm>
        </p:spPr>
        <p:txBody>
          <a:bodyPr/>
          <a:lstStyle/>
          <a:p>
            <a:r>
              <a:rPr lang="en-US" dirty="0"/>
              <a:t>Accuracy is a common metric for classification models.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Top-K Categorical Accuracy</a:t>
            </a:r>
            <a:r>
              <a:rPr lang="en-US" dirty="0"/>
              <a:t> (for large class datasets, like ImageNet):</a:t>
            </a:r>
          </a:p>
          <a:p>
            <a:pPr lvl="1"/>
            <a:r>
              <a:rPr lang="en-US" dirty="0"/>
              <a:t>Checks if the correct label is in the top K predictions.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E8490-822D-9A28-3EB1-E5C05637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DA088-D816-9234-9A18-E2AB5864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F3818-A1B3-4854-76E0-DB073385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7227A7-B38F-9BD6-2251-9FFBA230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BEE20-20C9-6119-5E23-5B4C99457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447730"/>
            <a:ext cx="3986662" cy="1057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FFC5B9-5B90-3684-221B-BA9D9187E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4037"/>
            <a:ext cx="4124325" cy="32099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9426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36735-4C62-89DC-782C-20BD7579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BCFEA-90C3-D539-D299-76968621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31142-FB0E-6770-DC1A-0524DCAF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B091AC-8E35-3F0A-4F95-CDA67E2B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1097E8-2461-6C4C-8C09-0AD69E739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and Recall (for imbalanced data):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4686A2-2EE0-5BA5-9F57-0829F3B7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09800"/>
            <a:ext cx="8211140" cy="349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7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4B1506-BC1A-D588-9126-ACC579B3B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447801"/>
            <a:ext cx="7715065" cy="31545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0596-BD67-E9BB-8FBE-0594488B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4F49D-F4FA-607D-7349-CBC4CF90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7CAB5-A289-82A5-72D1-FA8DEDA2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256BA9-6546-2F6A-854D-E4D35C28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ADE729-587D-CF4C-4E0C-F54B273F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678524"/>
            <a:ext cx="7186283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1C993F-ADAC-BF67-75F1-B8C071D4F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562600" cy="4525963"/>
          </a:xfrm>
        </p:spPr>
        <p:txBody>
          <a:bodyPr/>
          <a:lstStyle/>
          <a:p>
            <a:r>
              <a:rPr lang="en-US" b="1" dirty="0"/>
              <a:t>Confusion Matrix</a:t>
            </a:r>
          </a:p>
          <a:p>
            <a:r>
              <a:rPr lang="en-US" dirty="0"/>
              <a:t>Evaluate model performance by comparing the actual labels with the predicted labels. </a:t>
            </a:r>
          </a:p>
          <a:p>
            <a:r>
              <a:rPr lang="en-US" dirty="0"/>
              <a:t>How well the model is distinguishing between different classes.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8CB38-467F-A0B3-CE07-35A93E47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31C9E-F40D-F28C-5221-FEEE924C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214D0-A17C-6FA5-F7A7-079414AA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222C7D-04BB-A33A-C3E0-F05B7A0E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7698EB-04E6-2DFC-67EF-B72C40367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47801"/>
            <a:ext cx="58483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6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F46C06-5346-EEBC-2B0C-7775ED322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723" y="1752600"/>
            <a:ext cx="4030671" cy="16764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52028-DEB7-40D2-4864-65DBF5D1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13A1E-1BDC-06B8-D627-EE977454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D7FD5B-638D-F366-1473-0FFB53F9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9CB251-A4A7-005A-5768-E2E6E483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2F369-B949-7E00-7030-F5052BFFE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4609"/>
            <a:ext cx="584835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1A39CE-AF5D-0469-D30D-771799349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0" y="3960608"/>
            <a:ext cx="3595368" cy="144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9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1C19A9-3158-460B-FAEB-90D5B08D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76764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The Inception network was an important milestone in  the development of CNN</a:t>
            </a:r>
            <a:r>
              <a:rPr lang="en-US" sz="2800" spc="35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classifiers</a:t>
            </a:r>
            <a:endParaRPr lang="en-US" sz="2800" dirty="0">
              <a:latin typeface="Arial"/>
              <a:cs typeface="Arial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Prior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its inception, most popular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CNNs just stacked  convolution layers deeper</a:t>
            </a:r>
            <a:r>
              <a:rPr lang="en-US" sz="2800" spc="-4" dirty="0">
                <a:latin typeface="Arial"/>
                <a:cs typeface="Arial"/>
              </a:rPr>
              <a:t> and </a:t>
            </a:r>
            <a:r>
              <a:rPr lang="en-US" sz="2800" spc="-22" dirty="0">
                <a:latin typeface="Arial"/>
                <a:cs typeface="Arial"/>
              </a:rPr>
              <a:t>deeper, </a:t>
            </a:r>
            <a:r>
              <a:rPr lang="en-US" sz="2800" spc="-4" dirty="0">
                <a:latin typeface="Arial"/>
                <a:cs typeface="Arial"/>
              </a:rPr>
              <a:t>hoping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get  better</a:t>
            </a:r>
            <a:r>
              <a:rPr lang="en-US" sz="2800" spc="-9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performance.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The Inception Family is all about going</a:t>
            </a:r>
            <a:r>
              <a:rPr lang="en-US" sz="2800" spc="79" dirty="0"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wider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781" marR="80126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In </a:t>
            </a:r>
            <a:r>
              <a:rPr lang="en-US" sz="2800" spc="-13" dirty="0">
                <a:latin typeface="Arial"/>
                <a:cs typeface="Arial"/>
              </a:rPr>
              <a:t>particular, </a:t>
            </a:r>
            <a:r>
              <a:rPr lang="en-US" sz="2800" spc="-4" dirty="0">
                <a:latin typeface="Arial"/>
                <a:cs typeface="Arial"/>
              </a:rPr>
              <a:t>the authors of Inception were interested  in the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computational </a:t>
            </a:r>
            <a:r>
              <a:rPr lang="en-US" sz="2800" spc="-9" dirty="0">
                <a:solidFill>
                  <a:srgbClr val="FF0000"/>
                </a:solidFill>
                <a:latin typeface="Arial"/>
                <a:cs typeface="Arial"/>
              </a:rPr>
              <a:t>efficiency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of training larger</a:t>
            </a:r>
            <a:r>
              <a:rPr lang="en-US" sz="2800" spc="8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nets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781" marR="600107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In </a:t>
            </a:r>
            <a:r>
              <a:rPr lang="en-US" sz="2800" spc="-4" dirty="0">
                <a:latin typeface="Arial"/>
                <a:cs typeface="Arial"/>
              </a:rPr>
              <a:t>other words: </a:t>
            </a:r>
            <a:r>
              <a:rPr lang="en-US" sz="2800" i="1" spc="-4" dirty="0">
                <a:solidFill>
                  <a:srgbClr val="FFC000"/>
                </a:solidFill>
                <a:latin typeface="Arial"/>
                <a:cs typeface="Arial"/>
              </a:rPr>
              <a:t>how can we scale up neural nets  without increasing computational</a:t>
            </a:r>
            <a:r>
              <a:rPr lang="en-US" sz="2800" i="1" spc="79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C000"/>
                </a:solidFill>
                <a:latin typeface="Arial"/>
                <a:cs typeface="Arial"/>
              </a:rPr>
              <a:t>cost</a:t>
            </a:r>
            <a:r>
              <a:rPr lang="en-US" sz="2800" i="1" spc="-4" dirty="0">
                <a:latin typeface="Arial"/>
                <a:cs typeface="Arial"/>
              </a:rPr>
              <a:t>?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>
                <a:latin typeface="Arial"/>
                <a:cs typeface="Arial"/>
              </a:rPr>
              <a:t>The </a:t>
            </a: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Family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8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23BD9A1-E5A0-45A5-B2C7-8BC6BFC4AD64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C65491-6586-43ED-1ED6-BBCD5A96A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latin typeface="Arial"/>
                <a:cs typeface="Arial"/>
              </a:rPr>
              <a:t>The popular versions are as</a:t>
            </a:r>
            <a:r>
              <a:rPr lang="en-US" spc="40" dirty="0">
                <a:latin typeface="Arial"/>
                <a:cs typeface="Arial"/>
              </a:rPr>
              <a:t> </a:t>
            </a:r>
            <a:r>
              <a:rPr lang="en-US" spc="-4" dirty="0">
                <a:latin typeface="Arial"/>
                <a:cs typeface="Arial"/>
              </a:rPr>
              <a:t>follows:</a:t>
            </a:r>
            <a:endParaRPr lang="en-US" dirty="0">
              <a:latin typeface="Arial"/>
              <a:cs typeface="Arial"/>
            </a:endParaRPr>
          </a:p>
          <a:p>
            <a:pPr marL="667346" lvl="1" indent="-253827">
              <a:spcBef>
                <a:spcPts val="507"/>
              </a:spcBef>
              <a:buClr>
                <a:srgbClr val="000000"/>
              </a:buClr>
              <a:buChar char="–"/>
              <a:tabLst>
                <a:tab pos="667906" algn="l"/>
              </a:tabLst>
            </a:pP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Inception</a:t>
            </a:r>
            <a:r>
              <a:rPr lang="en-US" sz="2800" u="heavy" spc="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v1.</a:t>
            </a:r>
            <a:endParaRPr lang="en-US" sz="2800" dirty="0">
              <a:latin typeface="Arial"/>
              <a:cs typeface="Arial"/>
            </a:endParaRPr>
          </a:p>
          <a:p>
            <a:pPr marL="667346" lvl="1" indent="-253827">
              <a:spcBef>
                <a:spcPts val="507"/>
              </a:spcBef>
              <a:buClr>
                <a:srgbClr val="000000"/>
              </a:buClr>
              <a:buChar char="–"/>
              <a:tabLst>
                <a:tab pos="667906" algn="l"/>
              </a:tabLst>
            </a:pP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Inception</a:t>
            </a:r>
            <a:r>
              <a:rPr lang="en-US" sz="2800" u="heavy" spc="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v2</a:t>
            </a:r>
            <a:endParaRPr lang="en-US" sz="2800" dirty="0">
              <a:latin typeface="Arial"/>
              <a:cs typeface="Arial"/>
            </a:endParaRPr>
          </a:p>
          <a:p>
            <a:pPr marL="667346" lvl="1" indent="-253827">
              <a:spcBef>
                <a:spcPts val="507"/>
              </a:spcBef>
              <a:buClr>
                <a:srgbClr val="000000"/>
              </a:buClr>
              <a:buChar char="–"/>
              <a:tabLst>
                <a:tab pos="667906" algn="l"/>
              </a:tabLst>
            </a:pP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Inception</a:t>
            </a:r>
            <a:r>
              <a:rPr lang="en-US" sz="2800" u="heavy" spc="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v3.</a:t>
            </a:r>
            <a:endParaRPr lang="en-US" sz="2800" dirty="0">
              <a:latin typeface="Arial"/>
              <a:cs typeface="Arial"/>
            </a:endParaRPr>
          </a:p>
          <a:p>
            <a:pPr marL="667346" lvl="1" indent="-253827">
              <a:spcBef>
                <a:spcPts val="512"/>
              </a:spcBef>
              <a:buClr>
                <a:srgbClr val="000000"/>
              </a:buClr>
              <a:buChar char="–"/>
              <a:tabLst>
                <a:tab pos="667906" algn="l"/>
              </a:tabLst>
            </a:pP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Inception v4 and</a:t>
            </a:r>
            <a:r>
              <a:rPr lang="en-US" sz="2800" u="heavy" spc="13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Inception-</a:t>
            </a:r>
            <a:r>
              <a:rPr lang="en-US" sz="2800" u="heavy" spc="-4" dirty="0" err="1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ResNet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221" marR="394468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latin typeface="Arial"/>
                <a:cs typeface="Arial"/>
              </a:rPr>
              <a:t>Each version is an iterative improvement over the  previous</a:t>
            </a:r>
            <a:r>
              <a:rPr lang="en-US" spc="9" dirty="0">
                <a:latin typeface="Arial"/>
                <a:cs typeface="Arial"/>
              </a:rPr>
              <a:t> </a:t>
            </a:r>
            <a:r>
              <a:rPr lang="en-US" spc="-4" dirty="0">
                <a:latin typeface="Arial"/>
                <a:cs typeface="Arial"/>
              </a:rPr>
              <a:t>one.</a:t>
            </a:r>
            <a:endParaRPr lang="en-US" dirty="0">
              <a:latin typeface="Arial"/>
              <a:cs typeface="Arial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dirty="0">
                <a:latin typeface="Arial"/>
                <a:cs typeface="Arial"/>
              </a:rPr>
              <a:t>A </a:t>
            </a:r>
            <a:r>
              <a:rPr lang="en-US" spc="-4" dirty="0">
                <a:latin typeface="Arial"/>
                <a:cs typeface="Arial"/>
              </a:rPr>
              <a:t>new building block for deep nets was introduced, now known as the “</a:t>
            </a:r>
            <a:r>
              <a:rPr lang="en-US" i="1" spc="-4" dirty="0">
                <a:solidFill>
                  <a:srgbClr val="FF0000"/>
                </a:solidFill>
                <a:latin typeface="Arial"/>
                <a:cs typeface="Arial"/>
              </a:rPr>
              <a:t>Inception</a:t>
            </a:r>
            <a:r>
              <a:rPr lang="en-US" i="1" spc="5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i="1" spc="-9" dirty="0">
                <a:solidFill>
                  <a:srgbClr val="FF0000"/>
                </a:solidFill>
                <a:latin typeface="Arial"/>
                <a:cs typeface="Arial"/>
              </a:rPr>
              <a:t>module.</a:t>
            </a:r>
            <a:r>
              <a:rPr lang="en-US" spc="-9" dirty="0">
                <a:latin typeface="Arial"/>
                <a:cs typeface="Arial"/>
              </a:rPr>
              <a:t>”</a:t>
            </a:r>
            <a:endParaRPr lang="en-US" dirty="0">
              <a:latin typeface="Arial"/>
              <a:cs typeface="Arial"/>
            </a:endParaRPr>
          </a:p>
          <a:p>
            <a:endParaRPr lang="en-US" sz="36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>
                <a:latin typeface="Arial"/>
                <a:cs typeface="Arial"/>
              </a:rPr>
              <a:t>The </a:t>
            </a: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Family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9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F717C1F3-75DF-482C-B52D-312BEF0F6C6B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392AA0-C770-ED39-7687-0606376A7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F9BDA392-01B4-4443-9C71-FA22BCC15DBC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FCA46-EA86-6D9D-0E18-2A3F59F9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1519"/>
            <a:ext cx="10360697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B8449A-CD60-7EFB-DE23-295DB0043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2A3DCF1-8D54-4A33-A532-5D2200E2FDDD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52800" y="1431870"/>
            <a:ext cx="5277165" cy="4816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1904942" y="2861422"/>
            <a:ext cx="7445749" cy="1135156"/>
            <a:chOff x="810761" y="2139696"/>
            <a:chExt cx="8438515" cy="1286510"/>
          </a:xfrm>
        </p:grpSpPr>
        <p:sp>
          <p:nvSpPr>
            <p:cNvPr id="7" name="object 7"/>
            <p:cNvSpPr/>
            <p:nvPr/>
          </p:nvSpPr>
          <p:spPr>
            <a:xfrm>
              <a:off x="829049" y="2157984"/>
              <a:ext cx="8401811" cy="12481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810761" y="2139696"/>
              <a:ext cx="8438515" cy="1286510"/>
            </a:xfrm>
            <a:custGeom>
              <a:avLst/>
              <a:gdLst/>
              <a:ahLst/>
              <a:cxnLst/>
              <a:rect l="l" t="t" r="r" b="b"/>
              <a:pathLst>
                <a:path w="8438515" h="1286510">
                  <a:moveTo>
                    <a:pt x="8438394" y="1281684"/>
                  </a:moveTo>
                  <a:lnTo>
                    <a:pt x="8438394" y="4572"/>
                  </a:lnTo>
                  <a:lnTo>
                    <a:pt x="843382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281684"/>
                  </a:lnTo>
                  <a:lnTo>
                    <a:pt x="4572" y="1286256"/>
                  </a:lnTo>
                  <a:lnTo>
                    <a:pt x="9144" y="1286256"/>
                  </a:lnTo>
                  <a:lnTo>
                    <a:pt x="9144" y="18288"/>
                  </a:lnTo>
                  <a:lnTo>
                    <a:pt x="18288" y="9144"/>
                  </a:lnTo>
                  <a:lnTo>
                    <a:pt x="18288" y="18288"/>
                  </a:lnTo>
                  <a:lnTo>
                    <a:pt x="8420106" y="18288"/>
                  </a:lnTo>
                  <a:lnTo>
                    <a:pt x="8420106" y="9144"/>
                  </a:lnTo>
                  <a:lnTo>
                    <a:pt x="8429250" y="18288"/>
                  </a:lnTo>
                  <a:lnTo>
                    <a:pt x="8429250" y="1286256"/>
                  </a:lnTo>
                  <a:lnTo>
                    <a:pt x="8433822" y="1286256"/>
                  </a:lnTo>
                  <a:lnTo>
                    <a:pt x="8438394" y="1281684"/>
                  </a:lnTo>
                  <a:close/>
                </a:path>
                <a:path w="8438515" h="1286510">
                  <a:moveTo>
                    <a:pt x="18288" y="18288"/>
                  </a:moveTo>
                  <a:lnTo>
                    <a:pt x="18288" y="9144"/>
                  </a:lnTo>
                  <a:lnTo>
                    <a:pt x="9144" y="18288"/>
                  </a:lnTo>
                  <a:lnTo>
                    <a:pt x="18288" y="18288"/>
                  </a:lnTo>
                  <a:close/>
                </a:path>
                <a:path w="8438515" h="1286510">
                  <a:moveTo>
                    <a:pt x="18288" y="1266444"/>
                  </a:moveTo>
                  <a:lnTo>
                    <a:pt x="18288" y="18288"/>
                  </a:lnTo>
                  <a:lnTo>
                    <a:pt x="9144" y="18288"/>
                  </a:lnTo>
                  <a:lnTo>
                    <a:pt x="9144" y="1266444"/>
                  </a:lnTo>
                  <a:lnTo>
                    <a:pt x="18288" y="1266444"/>
                  </a:lnTo>
                  <a:close/>
                </a:path>
                <a:path w="8438515" h="1286510">
                  <a:moveTo>
                    <a:pt x="8429250" y="1266444"/>
                  </a:moveTo>
                  <a:lnTo>
                    <a:pt x="9144" y="1266444"/>
                  </a:lnTo>
                  <a:lnTo>
                    <a:pt x="18288" y="1275588"/>
                  </a:lnTo>
                  <a:lnTo>
                    <a:pt x="18288" y="1286256"/>
                  </a:lnTo>
                  <a:lnTo>
                    <a:pt x="8420106" y="1286256"/>
                  </a:lnTo>
                  <a:lnTo>
                    <a:pt x="8420106" y="1275588"/>
                  </a:lnTo>
                  <a:lnTo>
                    <a:pt x="8429250" y="1266444"/>
                  </a:lnTo>
                  <a:close/>
                </a:path>
                <a:path w="8438515" h="1286510">
                  <a:moveTo>
                    <a:pt x="18288" y="1286256"/>
                  </a:moveTo>
                  <a:lnTo>
                    <a:pt x="18288" y="1275588"/>
                  </a:lnTo>
                  <a:lnTo>
                    <a:pt x="9144" y="1266444"/>
                  </a:lnTo>
                  <a:lnTo>
                    <a:pt x="9144" y="1286256"/>
                  </a:lnTo>
                  <a:lnTo>
                    <a:pt x="18288" y="1286256"/>
                  </a:lnTo>
                  <a:close/>
                </a:path>
                <a:path w="8438515" h="1286510">
                  <a:moveTo>
                    <a:pt x="8429250" y="18288"/>
                  </a:moveTo>
                  <a:lnTo>
                    <a:pt x="8420106" y="9144"/>
                  </a:lnTo>
                  <a:lnTo>
                    <a:pt x="8420106" y="18288"/>
                  </a:lnTo>
                  <a:lnTo>
                    <a:pt x="8429250" y="18288"/>
                  </a:lnTo>
                  <a:close/>
                </a:path>
                <a:path w="8438515" h="1286510">
                  <a:moveTo>
                    <a:pt x="8429250" y="1266444"/>
                  </a:moveTo>
                  <a:lnTo>
                    <a:pt x="8429250" y="18288"/>
                  </a:lnTo>
                  <a:lnTo>
                    <a:pt x="8420106" y="18288"/>
                  </a:lnTo>
                  <a:lnTo>
                    <a:pt x="8420106" y="1266444"/>
                  </a:lnTo>
                  <a:lnTo>
                    <a:pt x="8429250" y="1266444"/>
                  </a:lnTo>
                  <a:close/>
                </a:path>
                <a:path w="8438515" h="1286510">
                  <a:moveTo>
                    <a:pt x="8429250" y="1286256"/>
                  </a:moveTo>
                  <a:lnTo>
                    <a:pt x="8429250" y="1266444"/>
                  </a:lnTo>
                  <a:lnTo>
                    <a:pt x="8420106" y="1275588"/>
                  </a:lnTo>
                  <a:lnTo>
                    <a:pt x="8420106" y="1286256"/>
                  </a:lnTo>
                  <a:lnTo>
                    <a:pt x="8429250" y="12862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12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F8970E8-3E4A-4439-AEEA-CDA1BFD88F75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13" name="object 13"/>
          <p:cNvSpPr txBox="1"/>
          <p:nvPr/>
        </p:nvSpPr>
        <p:spPr>
          <a:xfrm>
            <a:off x="2046977" y="1752600"/>
            <a:ext cx="3580840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2575">
              <a:spcBef>
                <a:spcPts val="88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118" b="1" spc="-4" dirty="0">
                <a:latin typeface="Arial"/>
                <a:cs typeface="Arial"/>
              </a:rPr>
              <a:t>Why the name</a:t>
            </a:r>
            <a:r>
              <a:rPr sz="2118" b="1" spc="-49" dirty="0">
                <a:latin typeface="Arial"/>
                <a:cs typeface="Arial"/>
              </a:rPr>
              <a:t> </a:t>
            </a:r>
            <a:r>
              <a:rPr sz="2118" b="1" spc="-4" dirty="0">
                <a:latin typeface="Arial"/>
                <a:cs typeface="Arial"/>
              </a:rPr>
              <a:t>Inception?</a:t>
            </a:r>
            <a:endParaRPr sz="211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1009AA-522A-E252-D008-36AE3ADF0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133917" indent="-302575">
              <a:spcBef>
                <a:spcPts val="88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Salient parts </a:t>
            </a:r>
            <a:r>
              <a:rPr lang="en-US" sz="2800" spc="-4" dirty="0">
                <a:latin typeface="Arial"/>
                <a:cs typeface="Arial"/>
              </a:rPr>
              <a:t>in the image can have extremely </a:t>
            </a:r>
            <a:r>
              <a:rPr lang="en-US" sz="2800" b="1" spc="-4" dirty="0">
                <a:latin typeface="Arial"/>
                <a:cs typeface="Arial"/>
              </a:rPr>
              <a:t>large  variation </a:t>
            </a:r>
            <a:r>
              <a:rPr lang="en-US" sz="2800" spc="-4" dirty="0">
                <a:latin typeface="Arial"/>
                <a:cs typeface="Arial"/>
              </a:rPr>
              <a:t>in</a:t>
            </a:r>
            <a:r>
              <a:rPr lang="en-US" sz="2800" spc="-9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size.</a:t>
            </a:r>
            <a:endParaRPr lang="en-US" sz="2800" dirty="0">
              <a:latin typeface="Arial"/>
              <a:cs typeface="Arial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For instance, the area occupied by the dog is </a:t>
            </a:r>
            <a:r>
              <a:rPr lang="en-US" sz="2800" spc="-9" dirty="0">
                <a:latin typeface="Arial"/>
                <a:cs typeface="Arial"/>
              </a:rPr>
              <a:t>different  </a:t>
            </a:r>
            <a:r>
              <a:rPr lang="en-US" sz="2800" spc="-4" dirty="0">
                <a:latin typeface="Arial"/>
                <a:cs typeface="Arial"/>
              </a:rPr>
              <a:t>in each</a:t>
            </a:r>
            <a:r>
              <a:rPr lang="en-US" sz="2800" spc="9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image.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13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7C0B5969-FAA2-4AEF-8E3E-0F79775943FB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/>
          <p:nvPr/>
        </p:nvSpPr>
        <p:spPr>
          <a:xfrm>
            <a:off x="2499584" y="3773807"/>
            <a:ext cx="7192832" cy="23290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AA54EF-5CC5-EF05-ED0E-3A793C34D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1105519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Because of this huge variation in the location of the  information, choosing the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right kernel size </a:t>
            </a:r>
            <a:r>
              <a:rPr lang="en-US" sz="2800" spc="-4" dirty="0">
                <a:latin typeface="Arial"/>
                <a:cs typeface="Arial"/>
              </a:rPr>
              <a:t>for the  convolution operation becomes</a:t>
            </a:r>
            <a:r>
              <a:rPr lang="en-US" sz="2800" spc="53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tough.</a:t>
            </a:r>
            <a:endParaRPr lang="en-US" sz="2800" dirty="0">
              <a:latin typeface="Arial"/>
              <a:cs typeface="Arial"/>
            </a:endParaRPr>
          </a:p>
          <a:p>
            <a:pPr>
              <a:spcBef>
                <a:spcPts val="4"/>
              </a:spcBef>
              <a:buFont typeface="Arial"/>
              <a:buChar char="•"/>
            </a:pPr>
            <a:endParaRPr lang="en-US" sz="3600" dirty="0">
              <a:latin typeface="Arial"/>
              <a:cs typeface="Arial"/>
            </a:endParaRPr>
          </a:p>
          <a:p>
            <a:pPr marL="313781" marR="4483" indent="-302575"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A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larger kernel </a:t>
            </a:r>
            <a:r>
              <a:rPr lang="en-US" sz="2800" spc="-4" dirty="0">
                <a:latin typeface="Arial"/>
                <a:cs typeface="Arial"/>
              </a:rPr>
              <a:t>is preferred for information that is distributed  more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globally</a:t>
            </a:r>
            <a:r>
              <a:rPr lang="en-US" sz="2800" spc="-4" dirty="0">
                <a:latin typeface="Arial"/>
                <a:cs typeface="Arial"/>
              </a:rPr>
              <a:t>, and a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smaller kernel </a:t>
            </a:r>
            <a:r>
              <a:rPr lang="en-US" sz="2800" spc="-4" dirty="0">
                <a:latin typeface="Arial"/>
                <a:cs typeface="Arial"/>
              </a:rPr>
              <a:t>is preferred for  information that is distributed more</a:t>
            </a:r>
            <a:r>
              <a:rPr lang="en-US" sz="2800" spc="26" dirty="0"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locally</a:t>
            </a:r>
            <a:r>
              <a:rPr lang="en-US" sz="2800" b="1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FC8ACAC-F229-4BB0-85AD-E80D53C18C45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B4B800-B1B8-C74F-D0AA-817F77167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In </a:t>
            </a:r>
            <a:r>
              <a:rPr lang="en-US" sz="2800" spc="-4" dirty="0">
                <a:latin typeface="Arial"/>
                <a:cs typeface="Arial"/>
              </a:rPr>
              <a:t>a traditional conv net,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each layer extracts information </a:t>
            </a:r>
            <a:r>
              <a:rPr lang="en-US" sz="2800" spc="-4" dirty="0">
                <a:latin typeface="Arial"/>
                <a:cs typeface="Arial"/>
              </a:rPr>
              <a:t>from  the previous layer in order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transform the input data into a  more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useful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representation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221" marR="1041082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18" dirty="0">
                <a:latin typeface="Arial"/>
                <a:cs typeface="Arial"/>
              </a:rPr>
              <a:t>However, </a:t>
            </a:r>
            <a:r>
              <a:rPr lang="en-US" sz="2800" spc="-4" dirty="0">
                <a:latin typeface="Arial"/>
                <a:cs typeface="Arial"/>
              </a:rPr>
              <a:t>each layer type extracts a </a:t>
            </a:r>
            <a:r>
              <a:rPr lang="en-US" sz="2800" spc="-9" dirty="0">
                <a:solidFill>
                  <a:srgbClr val="FFC000"/>
                </a:solidFill>
                <a:latin typeface="Arial"/>
                <a:cs typeface="Arial"/>
              </a:rPr>
              <a:t>different </a:t>
            </a:r>
            <a:r>
              <a:rPr lang="en-US" sz="2800" spc="-4" dirty="0">
                <a:solidFill>
                  <a:srgbClr val="FFC000"/>
                </a:solidFill>
                <a:latin typeface="Arial"/>
                <a:cs typeface="Arial"/>
              </a:rPr>
              <a:t>kind of information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221" marR="40904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The output of a </a:t>
            </a:r>
            <a:r>
              <a:rPr lang="en-US" sz="2800" spc="-9" dirty="0">
                <a:solidFill>
                  <a:srgbClr val="00B0F0"/>
                </a:solidFill>
                <a:latin typeface="Arial"/>
                <a:cs typeface="Arial"/>
              </a:rPr>
              <a:t>5x5 </a:t>
            </a:r>
            <a:r>
              <a:rPr lang="en-US" sz="2800" spc="-4" dirty="0">
                <a:solidFill>
                  <a:srgbClr val="00B0F0"/>
                </a:solidFill>
                <a:latin typeface="Arial"/>
                <a:cs typeface="Arial"/>
              </a:rPr>
              <a:t>convolutional kernel tells us something  </a:t>
            </a:r>
            <a:r>
              <a:rPr lang="en-US" sz="2800" spc="-9" dirty="0">
                <a:solidFill>
                  <a:srgbClr val="00B0F0"/>
                </a:solidFill>
                <a:latin typeface="Arial"/>
                <a:cs typeface="Arial"/>
              </a:rPr>
              <a:t>different </a:t>
            </a:r>
            <a:r>
              <a:rPr lang="en-US" sz="2800" spc="-4" dirty="0">
                <a:solidFill>
                  <a:srgbClr val="00B0F0"/>
                </a:solidFill>
                <a:latin typeface="Arial"/>
                <a:cs typeface="Arial"/>
              </a:rPr>
              <a:t>from the output of a </a:t>
            </a:r>
            <a:r>
              <a:rPr lang="en-US" sz="2800" spc="-9" dirty="0">
                <a:solidFill>
                  <a:srgbClr val="00B0F0"/>
                </a:solidFill>
                <a:latin typeface="Arial"/>
                <a:cs typeface="Arial"/>
              </a:rPr>
              <a:t>3x3 </a:t>
            </a:r>
            <a:r>
              <a:rPr lang="en-US" sz="2800" spc="-4" dirty="0">
                <a:solidFill>
                  <a:srgbClr val="00B0F0"/>
                </a:solidFill>
                <a:latin typeface="Arial"/>
                <a:cs typeface="Arial"/>
              </a:rPr>
              <a:t>convolutional kernel</a:t>
            </a:r>
            <a:r>
              <a:rPr lang="en-US" sz="2800" spc="-4" dirty="0">
                <a:latin typeface="Arial"/>
                <a:cs typeface="Arial"/>
              </a:rPr>
              <a:t>, which  tells us something </a:t>
            </a:r>
            <a:r>
              <a:rPr lang="en-US" sz="2800" spc="-9" dirty="0">
                <a:latin typeface="Arial"/>
                <a:cs typeface="Arial"/>
              </a:rPr>
              <a:t>different </a:t>
            </a:r>
            <a:r>
              <a:rPr lang="en-US" sz="2800" spc="-4" dirty="0">
                <a:latin typeface="Arial"/>
                <a:cs typeface="Arial"/>
              </a:rPr>
              <a:t>from the output of a max-pooling  kernel, and so on and so</a:t>
            </a:r>
            <a:r>
              <a:rPr lang="en-US" sz="2800" spc="31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on.</a:t>
            </a:r>
            <a:endParaRPr lang="en-US" sz="2800" dirty="0">
              <a:latin typeface="Arial"/>
              <a:cs typeface="Arial"/>
            </a:endParaRPr>
          </a:p>
          <a:p>
            <a:pPr marL="313221" marR="510455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At any given </a:t>
            </a:r>
            <a:r>
              <a:rPr lang="en-US" sz="2800" spc="-22" dirty="0">
                <a:latin typeface="Arial"/>
                <a:cs typeface="Arial"/>
              </a:rPr>
              <a:t>layer, </a:t>
            </a:r>
            <a:r>
              <a:rPr lang="en-US" sz="2800" spc="-4" dirty="0">
                <a:solidFill>
                  <a:srgbClr val="7030A0"/>
                </a:solidFill>
                <a:latin typeface="Arial"/>
                <a:cs typeface="Arial"/>
              </a:rPr>
              <a:t>how do we know what transformation  provides the most “useful”</a:t>
            </a:r>
            <a:r>
              <a:rPr lang="en-US" sz="2800" spc="18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"/>
                <a:cs typeface="Arial"/>
              </a:rPr>
              <a:t>information</a:t>
            </a:r>
            <a:r>
              <a:rPr lang="en-US" sz="2800" spc="-4" dirty="0">
                <a:latin typeface="Arial"/>
                <a:cs typeface="Arial"/>
              </a:rPr>
              <a:t>?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Why not let the </a:t>
            </a:r>
            <a:r>
              <a:rPr lang="en-US" sz="2800" i="1" spc="-9" dirty="0">
                <a:solidFill>
                  <a:srgbClr val="FF0000"/>
                </a:solidFill>
                <a:latin typeface="Arial"/>
                <a:cs typeface="Arial"/>
              </a:rPr>
              <a:t>model</a:t>
            </a:r>
            <a:r>
              <a:rPr lang="en-US" sz="2800" i="1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chose?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15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FB46641-8BB4-497A-9124-BB265FD963CC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16D7F1-37C6-727D-25A1-3B0DD2ADD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1378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Why not have filters with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multiple sizes </a:t>
            </a:r>
            <a:r>
              <a:rPr lang="en-US" sz="2800" spc="-4" dirty="0">
                <a:latin typeface="Arial"/>
                <a:cs typeface="Arial"/>
              </a:rPr>
              <a:t>operate on the 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same  level</a:t>
            </a:r>
            <a:r>
              <a:rPr lang="en-US" sz="2800" spc="-4" dirty="0">
                <a:latin typeface="Arial"/>
                <a:cs typeface="Arial"/>
              </a:rPr>
              <a:t>? The network essentially would get a bit “</a:t>
            </a:r>
            <a:r>
              <a:rPr lang="en-US" sz="2800" b="1" i="1" spc="-4" dirty="0">
                <a:solidFill>
                  <a:srgbClr val="FF0000"/>
                </a:solidFill>
                <a:latin typeface="Arial"/>
                <a:cs typeface="Arial"/>
              </a:rPr>
              <a:t>wider</a:t>
            </a:r>
            <a:r>
              <a:rPr lang="en-US" sz="2800" spc="-4" dirty="0">
                <a:latin typeface="Arial"/>
                <a:cs typeface="Arial"/>
              </a:rPr>
              <a:t>” rather  than “deeper”</a:t>
            </a:r>
            <a:endParaRPr lang="en-US" sz="2800" dirty="0">
              <a:latin typeface="Arial"/>
              <a:cs typeface="Arial"/>
            </a:endParaRPr>
          </a:p>
          <a:p>
            <a:pPr marL="313781" marR="1138578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An Inception module computes </a:t>
            </a:r>
            <a:r>
              <a:rPr lang="en-US" sz="2800" i="1" spc="-9" dirty="0">
                <a:solidFill>
                  <a:srgbClr val="FF0000"/>
                </a:solidFill>
                <a:latin typeface="Arial"/>
                <a:cs typeface="Arial"/>
              </a:rPr>
              <a:t>multiple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different transformations </a:t>
            </a:r>
            <a:r>
              <a:rPr lang="en-US" sz="2800" spc="-4" dirty="0">
                <a:latin typeface="Arial"/>
                <a:cs typeface="Arial"/>
              </a:rPr>
              <a:t>over the same input map in parallel, 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concatenating their results into a single</a:t>
            </a:r>
            <a:r>
              <a:rPr lang="en-US" sz="2800" spc="7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output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781" marR="553600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In </a:t>
            </a:r>
            <a:r>
              <a:rPr lang="en-US" sz="2800" spc="-4" dirty="0">
                <a:latin typeface="Arial"/>
                <a:cs typeface="Arial"/>
              </a:rPr>
              <a:t>other words, for each </a:t>
            </a:r>
            <a:r>
              <a:rPr lang="en-US" sz="2800" spc="-22" dirty="0">
                <a:latin typeface="Arial"/>
                <a:cs typeface="Arial"/>
              </a:rPr>
              <a:t>layer,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Inception does a </a:t>
            </a:r>
            <a:r>
              <a:rPr lang="en-US" sz="2800" spc="-9" dirty="0">
                <a:solidFill>
                  <a:srgbClr val="00B050"/>
                </a:solidFill>
                <a:latin typeface="Arial"/>
                <a:cs typeface="Arial"/>
              </a:rPr>
              <a:t>5x5 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convolutional transformation, </a:t>
            </a:r>
            <a:r>
              <a:rPr lang="en-US" sz="2800" i="1" spc="-4" dirty="0">
                <a:solidFill>
                  <a:srgbClr val="00B050"/>
                </a:solidFill>
                <a:latin typeface="Arial"/>
                <a:cs typeface="Arial"/>
              </a:rPr>
              <a:t>and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a </a:t>
            </a:r>
            <a:r>
              <a:rPr lang="en-US" sz="2800" spc="-9" dirty="0">
                <a:solidFill>
                  <a:srgbClr val="00B050"/>
                </a:solidFill>
                <a:latin typeface="Arial"/>
                <a:cs typeface="Arial"/>
              </a:rPr>
              <a:t>3x3, </a:t>
            </a:r>
            <a:r>
              <a:rPr lang="en-US" sz="2800" i="1" spc="-4" dirty="0">
                <a:solidFill>
                  <a:srgbClr val="00B050"/>
                </a:solidFill>
                <a:latin typeface="Arial"/>
                <a:cs typeface="Arial"/>
              </a:rPr>
              <a:t>and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a</a:t>
            </a:r>
            <a:r>
              <a:rPr lang="en-US" sz="2800" spc="66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max-pool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781" marR="7396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And the </a:t>
            </a:r>
            <a:r>
              <a:rPr lang="en-US" sz="2800" spc="-9" dirty="0">
                <a:latin typeface="Arial"/>
                <a:cs typeface="Arial"/>
              </a:rPr>
              <a:t>next </a:t>
            </a:r>
            <a:r>
              <a:rPr lang="en-US" sz="2800" spc="-4" dirty="0">
                <a:latin typeface="Arial"/>
                <a:cs typeface="Arial"/>
              </a:rPr>
              <a:t>layer of the model gets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decide if (and how) </a:t>
            </a:r>
            <a:r>
              <a:rPr lang="en-US" sz="2800" dirty="0">
                <a:latin typeface="Arial"/>
                <a:cs typeface="Arial"/>
              </a:rPr>
              <a:t>to  </a:t>
            </a:r>
            <a:r>
              <a:rPr lang="en-US" sz="2800" spc="-4" dirty="0">
                <a:latin typeface="Arial"/>
                <a:cs typeface="Arial"/>
              </a:rPr>
              <a:t>use each piece of</a:t>
            </a:r>
            <a:r>
              <a:rPr lang="en-US" sz="2800" spc="22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information.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16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BDCF743-8545-4655-AF40-88038FFBBFCC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452C52-E5AC-1A2A-81C8-28DEFDF60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C1CE817-CEE7-476B-B0BC-25673A1A0DC9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>
                <a:latin typeface="Arial"/>
                <a:cs typeface="Arial"/>
              </a:rPr>
              <a:t>The </a:t>
            </a: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75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Module</a:t>
            </a:r>
            <a:endParaRPr sz="335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19400" y="1798637"/>
            <a:ext cx="5781915" cy="399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714F41-4D7A-2EDA-6B81-DCEC93E8B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The increased information density of this model architecture  comes with one glaring problem: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Drastically increased 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computational</a:t>
            </a:r>
            <a:r>
              <a:rPr lang="en-US" sz="2800" i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costs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781" marR="4034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Not only are large (e.g. </a:t>
            </a:r>
            <a:r>
              <a:rPr lang="en-US" sz="2800" spc="-9" dirty="0">
                <a:latin typeface="Arial"/>
                <a:cs typeface="Arial"/>
              </a:rPr>
              <a:t>5x5) </a:t>
            </a:r>
            <a:r>
              <a:rPr lang="en-US" sz="2800" spc="-4" dirty="0">
                <a:latin typeface="Arial"/>
                <a:cs typeface="Arial"/>
              </a:rPr>
              <a:t>convolutional filters inherently  expensive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compute,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stacking multiple </a:t>
            </a:r>
            <a:r>
              <a:rPr lang="en-US" sz="2800" spc="-9" dirty="0">
                <a:solidFill>
                  <a:srgbClr val="FF0000"/>
                </a:solidFill>
                <a:latin typeface="Arial"/>
                <a:cs typeface="Arial"/>
              </a:rPr>
              <a:t>different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filters side  by side greatly increases the number of feature maps per  </a:t>
            </a:r>
            <a:r>
              <a:rPr lang="en-US" sz="2800" spc="-22" dirty="0">
                <a:solidFill>
                  <a:srgbClr val="FF0000"/>
                </a:solidFill>
                <a:latin typeface="Arial"/>
                <a:cs typeface="Arial"/>
              </a:rPr>
              <a:t>layer</a:t>
            </a:r>
            <a:r>
              <a:rPr lang="en-US" sz="2800" spc="-22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781" marR="843288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For each additional filter added, we have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convolve  over </a:t>
            </a:r>
            <a:r>
              <a:rPr lang="en-US" sz="2800" i="1" spc="-4" dirty="0">
                <a:latin typeface="Arial"/>
                <a:cs typeface="Arial"/>
              </a:rPr>
              <a:t>all </a:t>
            </a:r>
            <a:r>
              <a:rPr lang="en-US" sz="2800" spc="-4" dirty="0">
                <a:latin typeface="Arial"/>
                <a:cs typeface="Arial"/>
              </a:rPr>
              <a:t>the input maps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calculate a single</a:t>
            </a:r>
            <a:r>
              <a:rPr lang="en-US" sz="2800" spc="71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output.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18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12880BD-3977-43C3-8B7B-8670CCC66E1A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07DB3A-C11C-2B3A-2EFB-587B97045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63877" indent="-302575" algn="just">
              <a:spcBef>
                <a:spcPts val="88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As stated before, deep neural networks are </a:t>
            </a:r>
            <a:r>
              <a:rPr lang="en-US" sz="2800" b="1" spc="-4" dirty="0">
                <a:latin typeface="Arial"/>
                <a:cs typeface="Arial"/>
              </a:rPr>
              <a:t>computationally  expensive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221" marR="440414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spc="-119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make it </a:t>
            </a:r>
            <a:r>
              <a:rPr lang="en-US" sz="2800" spc="-18" dirty="0">
                <a:latin typeface="Arial"/>
                <a:cs typeface="Arial"/>
              </a:rPr>
              <a:t>cheaper, </a:t>
            </a:r>
            <a:r>
              <a:rPr lang="en-US" sz="2800" spc="-4" dirty="0">
                <a:latin typeface="Arial"/>
                <a:cs typeface="Arial"/>
              </a:rPr>
              <a:t>the authors </a:t>
            </a:r>
            <a:r>
              <a:rPr lang="en-US" sz="2800" b="1" dirty="0">
                <a:latin typeface="Arial"/>
                <a:cs typeface="Arial"/>
              </a:rPr>
              <a:t>limit </a:t>
            </a:r>
            <a:r>
              <a:rPr lang="en-US" sz="2800" spc="-4" dirty="0">
                <a:latin typeface="Arial"/>
                <a:cs typeface="Arial"/>
              </a:rPr>
              <a:t>the number of </a:t>
            </a:r>
            <a:r>
              <a:rPr lang="en-US" sz="2800" b="1" spc="-4" dirty="0">
                <a:latin typeface="Arial"/>
                <a:cs typeface="Arial"/>
              </a:rPr>
              <a:t>input  channels </a:t>
            </a:r>
            <a:r>
              <a:rPr lang="en-US" sz="2800" spc="-4" dirty="0">
                <a:latin typeface="Arial"/>
                <a:cs typeface="Arial"/>
              </a:rPr>
              <a:t>by adding an </a:t>
            </a: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extra 1x1 convolution </a:t>
            </a:r>
            <a:r>
              <a:rPr lang="en-US" sz="2800" spc="-4" dirty="0">
                <a:latin typeface="Arial"/>
                <a:cs typeface="Arial"/>
              </a:rPr>
              <a:t>before the  </a:t>
            </a:r>
            <a:r>
              <a:rPr lang="en-US" sz="2800" spc="-9" dirty="0">
                <a:latin typeface="Arial"/>
                <a:cs typeface="Arial"/>
              </a:rPr>
              <a:t>3x3 </a:t>
            </a:r>
            <a:r>
              <a:rPr lang="en-US" sz="2800" spc="-4" dirty="0">
                <a:latin typeface="Arial"/>
                <a:cs typeface="Arial"/>
              </a:rPr>
              <a:t>and </a:t>
            </a:r>
            <a:r>
              <a:rPr lang="en-US" sz="2800" spc="-9" dirty="0">
                <a:latin typeface="Arial"/>
                <a:cs typeface="Arial"/>
              </a:rPr>
              <a:t>5x5</a:t>
            </a:r>
            <a:r>
              <a:rPr lang="en-US" sz="2800" spc="35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convolutions.</a:t>
            </a:r>
            <a:endParaRPr lang="en-US" sz="2800" dirty="0">
              <a:latin typeface="Arial"/>
              <a:cs typeface="Arial"/>
            </a:endParaRPr>
          </a:p>
          <a:p>
            <a:pPr marL="313781" marR="4483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Though adding an extra operation may seem counterintuitive,  </a:t>
            </a:r>
            <a:r>
              <a:rPr lang="en-US" sz="2800" spc="-9" dirty="0">
                <a:latin typeface="Arial"/>
                <a:cs typeface="Arial"/>
              </a:rPr>
              <a:t>1x1 </a:t>
            </a:r>
            <a:r>
              <a:rPr lang="en-US" sz="2800" spc="-4" dirty="0">
                <a:latin typeface="Arial"/>
                <a:cs typeface="Arial"/>
              </a:rPr>
              <a:t>convolutions are far more cheaper than </a:t>
            </a:r>
            <a:r>
              <a:rPr lang="en-US" sz="2800" spc="-9" dirty="0">
                <a:latin typeface="Arial"/>
                <a:cs typeface="Arial"/>
              </a:rPr>
              <a:t>5x5 </a:t>
            </a:r>
            <a:r>
              <a:rPr lang="en-US" sz="2800" spc="-4" dirty="0">
                <a:latin typeface="Arial"/>
                <a:cs typeface="Arial"/>
              </a:rPr>
              <a:t>convolutions,  and the reduced number of input channels also</a:t>
            </a:r>
            <a:r>
              <a:rPr lang="en-US" sz="2800" spc="79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help.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19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4B1DFB7-0C0D-461E-998F-8A6854F793C6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6CE6C2-BC39-7FD7-E7F2-46DE34F89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372615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A </a:t>
            </a:r>
            <a:r>
              <a:rPr lang="en-US" sz="2800" spc="-9" dirty="0">
                <a:latin typeface="Arial"/>
                <a:cs typeface="Arial"/>
              </a:rPr>
              <a:t>1x1 </a:t>
            </a:r>
            <a:r>
              <a:rPr lang="en-US" sz="2800" spc="-4" dirty="0">
                <a:latin typeface="Arial"/>
                <a:cs typeface="Arial"/>
              </a:rPr>
              <a:t>convolution only looks at one value at a time,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but  across multiple channels</a:t>
            </a:r>
            <a:r>
              <a:rPr lang="en-US" sz="2800" spc="-4" dirty="0">
                <a:latin typeface="Arial"/>
                <a:cs typeface="Arial"/>
              </a:rPr>
              <a:t>, it can extract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spatial information  and compress it down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a lower</a:t>
            </a:r>
            <a:r>
              <a:rPr lang="en-US" sz="2800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dimension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221" marR="1905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For </a:t>
            </a:r>
            <a:r>
              <a:rPr lang="en-US" sz="2800" spc="-9" dirty="0">
                <a:latin typeface="Arial"/>
                <a:cs typeface="Arial"/>
              </a:rPr>
              <a:t>example, </a:t>
            </a:r>
            <a:r>
              <a:rPr lang="en-US" sz="2800" spc="-4" dirty="0">
                <a:latin typeface="Arial"/>
                <a:cs typeface="Arial"/>
              </a:rPr>
              <a:t>using 20 </a:t>
            </a:r>
            <a:r>
              <a:rPr lang="en-US" sz="2800" spc="-9" dirty="0">
                <a:latin typeface="Arial"/>
                <a:cs typeface="Arial"/>
              </a:rPr>
              <a:t>1x1 </a:t>
            </a:r>
            <a:r>
              <a:rPr lang="en-US" sz="2800" spc="-4" dirty="0">
                <a:latin typeface="Arial"/>
                <a:cs typeface="Arial"/>
              </a:rPr>
              <a:t>filters, an input of size </a:t>
            </a:r>
            <a:r>
              <a:rPr lang="en-US" sz="2800" spc="-9" dirty="0">
                <a:latin typeface="Arial"/>
                <a:cs typeface="Arial"/>
              </a:rPr>
              <a:t>64x64x100  </a:t>
            </a:r>
            <a:r>
              <a:rPr lang="en-US" sz="2800" spc="-4" dirty="0">
                <a:latin typeface="Arial"/>
                <a:cs typeface="Arial"/>
              </a:rPr>
              <a:t>(with 100 feature maps) can be compressed down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to  </a:t>
            </a:r>
            <a:r>
              <a:rPr lang="en-US" sz="2800" spc="-9" dirty="0">
                <a:solidFill>
                  <a:srgbClr val="FF0000"/>
                </a:solidFill>
                <a:latin typeface="Arial"/>
                <a:cs typeface="Arial"/>
              </a:rPr>
              <a:t>64x64x20</a:t>
            </a:r>
            <a:r>
              <a:rPr lang="en-US" sz="2800" spc="-9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By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reducing the number of input maps</a:t>
            </a:r>
            <a:r>
              <a:rPr lang="en-US" sz="2800" spc="-4" dirty="0">
                <a:latin typeface="Arial"/>
                <a:cs typeface="Arial"/>
              </a:rPr>
              <a:t>, the authors of  Inception were able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stack </a:t>
            </a:r>
            <a:r>
              <a:rPr lang="en-US" sz="2800" spc="-9" dirty="0">
                <a:solidFill>
                  <a:srgbClr val="0070C0"/>
                </a:solidFill>
                <a:latin typeface="Arial"/>
                <a:cs typeface="Arial"/>
              </a:rPr>
              <a:t>different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layer transformations in  parallel, resulting in nets that were simultaneously deep</a:t>
            </a:r>
            <a:r>
              <a:rPr lang="en-US" sz="2800" spc="-4" dirty="0">
                <a:latin typeface="Arial"/>
                <a:cs typeface="Arial"/>
              </a:rPr>
              <a:t>  (many layers) and “wide” (many parallel</a:t>
            </a:r>
            <a:r>
              <a:rPr lang="en-US" sz="2800" spc="79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operations).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755EFB4D-BF97-4FB4-9387-3F37481A4FB4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21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AFF4399-5FE6-42C4-8AF6-FAF0A120DC46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3" name="object 3"/>
          <p:cNvSpPr/>
          <p:nvPr/>
        </p:nvSpPr>
        <p:spPr>
          <a:xfrm>
            <a:off x="3558032" y="2100822"/>
            <a:ext cx="4451542" cy="13281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2362200" y="1524000"/>
            <a:ext cx="4363571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sz="2118" spc="-4" dirty="0">
                <a:latin typeface="Arial"/>
                <a:cs typeface="Arial"/>
              </a:rPr>
              <a:t>What does a </a:t>
            </a:r>
            <a:r>
              <a:rPr sz="2118" spc="-9" dirty="0">
                <a:latin typeface="Arial"/>
                <a:cs typeface="Arial"/>
              </a:rPr>
              <a:t>1x1 </a:t>
            </a:r>
            <a:r>
              <a:rPr sz="2118" spc="-4" dirty="0">
                <a:latin typeface="Arial"/>
                <a:cs typeface="Arial"/>
              </a:rPr>
              <a:t>Convolution</a:t>
            </a:r>
            <a:r>
              <a:rPr sz="2118" spc="26" dirty="0">
                <a:latin typeface="Arial"/>
                <a:cs typeface="Arial"/>
              </a:rPr>
              <a:t> </a:t>
            </a:r>
            <a:r>
              <a:rPr sz="2118" spc="-4" dirty="0">
                <a:latin typeface="Arial"/>
                <a:cs typeface="Arial"/>
              </a:rPr>
              <a:t>do?</a:t>
            </a:r>
            <a:endParaRPr sz="2118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1583" y="3565596"/>
            <a:ext cx="7370669" cy="105320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sz="2118" spc="-4" dirty="0">
                <a:latin typeface="Arial"/>
                <a:cs typeface="Arial"/>
              </a:rPr>
              <a:t>For single channel – Does not seem </a:t>
            </a:r>
            <a:r>
              <a:rPr sz="2118" dirty="0">
                <a:latin typeface="Arial"/>
                <a:cs typeface="Arial"/>
              </a:rPr>
              <a:t>to </a:t>
            </a:r>
            <a:r>
              <a:rPr sz="2118" spc="-4" dirty="0">
                <a:latin typeface="Arial"/>
                <a:cs typeface="Arial"/>
              </a:rPr>
              <a:t>be useful: Similar </a:t>
            </a:r>
            <a:r>
              <a:rPr sz="2118" dirty="0">
                <a:latin typeface="Arial"/>
                <a:cs typeface="Arial"/>
              </a:rPr>
              <a:t>to  </a:t>
            </a:r>
            <a:r>
              <a:rPr sz="2118" spc="-4" dirty="0">
                <a:latin typeface="Arial"/>
                <a:cs typeface="Arial"/>
              </a:rPr>
              <a:t>multiplication by a</a:t>
            </a:r>
            <a:r>
              <a:rPr sz="2118" spc="40" dirty="0">
                <a:latin typeface="Arial"/>
                <a:cs typeface="Arial"/>
              </a:rPr>
              <a:t> </a:t>
            </a:r>
            <a:r>
              <a:rPr sz="2118" spc="-4" dirty="0">
                <a:latin typeface="Arial"/>
                <a:cs typeface="Arial"/>
              </a:rPr>
              <a:t>scalar</a:t>
            </a:r>
            <a:endParaRPr sz="2118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sz="2118" spc="-4" dirty="0">
                <a:latin typeface="Arial"/>
                <a:cs typeface="Arial"/>
              </a:rPr>
              <a:t>For multiple</a:t>
            </a:r>
            <a:r>
              <a:rPr sz="2118" spc="18" dirty="0">
                <a:latin typeface="Arial"/>
                <a:cs typeface="Arial"/>
              </a:rPr>
              <a:t> </a:t>
            </a:r>
            <a:r>
              <a:rPr sz="2118" spc="-4" dirty="0">
                <a:latin typeface="Arial"/>
                <a:cs typeface="Arial"/>
              </a:rPr>
              <a:t>channels:</a:t>
            </a:r>
            <a:endParaRPr sz="2118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0" y="4979222"/>
            <a:ext cx="5471607" cy="14294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FCD806-B8E4-847E-AB33-0628A6D14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119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reduce spatial dimension – Use</a:t>
            </a:r>
            <a:r>
              <a:rPr lang="en-US" sz="2800" spc="137" dirty="0"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Pooling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119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reduce depth – Use </a:t>
            </a:r>
            <a:r>
              <a:rPr lang="en-US" sz="2800" spc="-9" dirty="0">
                <a:solidFill>
                  <a:srgbClr val="FF0000"/>
                </a:solidFill>
                <a:latin typeface="Arial"/>
                <a:cs typeface="Arial"/>
              </a:rPr>
              <a:t>1x1</a:t>
            </a:r>
            <a:r>
              <a:rPr lang="en-US" sz="2800" spc="13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Convolution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22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5B9BFDE-02E3-44A1-BD02-D4A98757A27D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/>
          <p:nvPr/>
        </p:nvSpPr>
        <p:spPr>
          <a:xfrm>
            <a:off x="2743200" y="2895600"/>
            <a:ext cx="4452399" cy="2362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2131353" y="5615041"/>
            <a:ext cx="7046819" cy="5000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588" spc="-4" dirty="0">
                <a:solidFill>
                  <a:srgbClr val="212121"/>
                </a:solidFill>
                <a:latin typeface="Arial"/>
                <a:cs typeface="Arial"/>
              </a:rPr>
              <a:t>Lin, Min, Qiang Chen, and Shuicheng </a:t>
            </a:r>
            <a:r>
              <a:rPr sz="1588" spc="-35" dirty="0">
                <a:solidFill>
                  <a:srgbClr val="212121"/>
                </a:solidFill>
                <a:latin typeface="Arial"/>
                <a:cs typeface="Arial"/>
              </a:rPr>
              <a:t>Yan. </a:t>
            </a:r>
            <a:r>
              <a:rPr sz="1588" spc="-4" dirty="0">
                <a:solidFill>
                  <a:srgbClr val="212121"/>
                </a:solidFill>
                <a:latin typeface="Arial"/>
                <a:cs typeface="Arial"/>
              </a:rPr>
              <a:t>"</a:t>
            </a:r>
            <a:r>
              <a:rPr sz="1588" i="1" spc="-4" dirty="0">
                <a:solidFill>
                  <a:srgbClr val="212121"/>
                </a:solidFill>
                <a:latin typeface="Arial"/>
                <a:cs typeface="Arial"/>
              </a:rPr>
              <a:t>Network in network.</a:t>
            </a:r>
            <a:r>
              <a:rPr sz="1588" spc="-4" dirty="0">
                <a:solidFill>
                  <a:srgbClr val="212121"/>
                </a:solidFill>
                <a:latin typeface="Arial"/>
                <a:cs typeface="Arial"/>
              </a:rPr>
              <a:t>" </a:t>
            </a:r>
            <a:r>
              <a:rPr sz="1588" i="1" spc="-4" dirty="0">
                <a:solidFill>
                  <a:srgbClr val="212121"/>
                </a:solidFill>
                <a:latin typeface="Arial"/>
                <a:cs typeface="Arial"/>
              </a:rPr>
              <a:t>arXiv preprint  arXiv:1312.4400</a:t>
            </a:r>
            <a:r>
              <a:rPr sz="1588" i="1" spc="13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srgbClr val="212121"/>
                </a:solidFill>
                <a:latin typeface="Arial"/>
                <a:cs typeface="Arial"/>
              </a:rPr>
              <a:t>(2013).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F758CC-7C74-CDC2-C430-7B83D725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"/>
                <a:cs typeface="Arial"/>
              </a:rPr>
              <a:t>Let the network decide which filter </a:t>
            </a:r>
            <a:r>
              <a:rPr lang="en-US" sz="2800" dirty="0">
                <a:latin typeface="Arial"/>
                <a:cs typeface="Arial"/>
              </a:rPr>
              <a:t>size </a:t>
            </a:r>
            <a:r>
              <a:rPr lang="en-US" sz="2800" spc="-4" dirty="0">
                <a:latin typeface="Arial"/>
                <a:cs typeface="Arial"/>
              </a:rPr>
              <a:t>is good and whether </a:t>
            </a:r>
            <a:r>
              <a:rPr lang="en-US" sz="2800" spc="-9" dirty="0">
                <a:latin typeface="Arial"/>
                <a:cs typeface="Arial"/>
              </a:rPr>
              <a:t>we  </a:t>
            </a:r>
            <a:r>
              <a:rPr lang="en-US" sz="2800" spc="-4" dirty="0">
                <a:latin typeface="Arial"/>
                <a:cs typeface="Arial"/>
              </a:rPr>
              <a:t>need conv or</a:t>
            </a:r>
            <a:r>
              <a:rPr lang="en-US" sz="2800" spc="18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pooling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23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F00B28DA-9266-4E4D-9D64-69FC9BA6C713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/>
          <p:nvPr/>
        </p:nvSpPr>
        <p:spPr>
          <a:xfrm>
            <a:off x="2362200" y="3429000"/>
            <a:ext cx="7275630" cy="2612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530B63-D710-7EE0-F2B9-EAA0E94C8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In </a:t>
            </a:r>
            <a:r>
              <a:rPr lang="en-US" sz="2800" spc="-4" dirty="0" err="1">
                <a:latin typeface="Arial"/>
                <a:cs typeface="Arial"/>
              </a:rPr>
              <a:t>GoogLeNet</a:t>
            </a:r>
            <a:r>
              <a:rPr lang="en-US" sz="2800" spc="-4" dirty="0">
                <a:latin typeface="Arial"/>
                <a:cs typeface="Arial"/>
              </a:rPr>
              <a:t>, 1×1 convolution is used as a dimension reduction  module to reduce the</a:t>
            </a:r>
            <a:r>
              <a:rPr lang="en-US" sz="2800" spc="35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computation.</a:t>
            </a:r>
            <a:endParaRPr lang="en-US" sz="2800" dirty="0">
              <a:latin typeface="Arial"/>
              <a:cs typeface="Arial"/>
            </a:endParaRPr>
          </a:p>
          <a:p>
            <a:pPr>
              <a:spcBef>
                <a:spcPts val="13"/>
              </a:spcBef>
              <a:buFont typeface="Arial"/>
              <a:buChar char="•"/>
            </a:pPr>
            <a:endParaRPr lang="en-US" sz="4000" dirty="0">
              <a:latin typeface="Arial"/>
              <a:cs typeface="Arial"/>
            </a:endParaRPr>
          </a:p>
          <a:p>
            <a:pPr marL="313781" indent="-302575"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"/>
                <a:cs typeface="Arial"/>
              </a:rPr>
              <a:t>Example: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24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296B0477-B5E9-4DDA-9DD8-5DFA9EB17758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/>
          <p:nvPr/>
        </p:nvSpPr>
        <p:spPr>
          <a:xfrm>
            <a:off x="3886200" y="4140835"/>
            <a:ext cx="3538928" cy="1116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3144426" y="5779407"/>
            <a:ext cx="532727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4" dirty="0">
                <a:latin typeface="Arial"/>
                <a:cs typeface="Arial"/>
              </a:rPr>
              <a:t>Number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operations </a:t>
            </a:r>
            <a:r>
              <a:rPr sz="1588" b="1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(14×14×48)×(5×5×480) </a:t>
            </a:r>
            <a:r>
              <a:rPr sz="1588" b="1" dirty="0">
                <a:latin typeface="Arial"/>
                <a:cs typeface="Arial"/>
              </a:rPr>
              <a:t>=</a:t>
            </a:r>
            <a:r>
              <a:rPr sz="1588" b="1" spc="18" dirty="0">
                <a:latin typeface="Arial"/>
                <a:cs typeface="Arial"/>
              </a:rPr>
              <a:t> </a:t>
            </a:r>
            <a:r>
              <a:rPr sz="1588" b="1" spc="-22" dirty="0">
                <a:latin typeface="Arial"/>
                <a:cs typeface="Arial"/>
              </a:rPr>
              <a:t>112.9M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5DE6F2-1838-EAD0-A706-2261EA6E5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9" dirty="0">
                <a:latin typeface="Arial"/>
                <a:cs typeface="Arial"/>
              </a:rPr>
              <a:t>Example:</a:t>
            </a:r>
            <a:endParaRPr lang="en-US" sz="2800" dirty="0">
              <a:latin typeface="Arial"/>
              <a:cs typeface="Arial"/>
            </a:endParaRPr>
          </a:p>
          <a:p>
            <a:r>
              <a:rPr lang="en-US" sz="2800" b="1" spc="-4" dirty="0">
                <a:latin typeface="Arial"/>
                <a:cs typeface="Arial"/>
              </a:rPr>
              <a:t>Bottleneck </a:t>
            </a:r>
            <a:r>
              <a:rPr lang="en-US" sz="2800" b="1" spc="-9" dirty="0">
                <a:latin typeface="Arial"/>
                <a:cs typeface="Arial"/>
              </a:rPr>
              <a:t>Layer: </a:t>
            </a:r>
            <a:r>
              <a:rPr lang="en-US" sz="2800" spc="-9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Smallest part of the</a:t>
            </a:r>
            <a:r>
              <a:rPr lang="en-US" sz="2800" spc="9" dirty="0">
                <a:latin typeface="Arial"/>
                <a:cs typeface="Arial"/>
              </a:rPr>
              <a:t> </a:t>
            </a:r>
            <a:r>
              <a:rPr lang="en-US" sz="2800" spc="-9" dirty="0">
                <a:latin typeface="Arial"/>
                <a:cs typeface="Arial"/>
              </a:rPr>
              <a:t>NW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25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6D2C32CB-6088-442D-A783-9C62B4E4C45D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/>
          <p:nvPr/>
        </p:nvSpPr>
        <p:spPr>
          <a:xfrm>
            <a:off x="2999116" y="3128503"/>
            <a:ext cx="5732144" cy="111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2882109" y="4437198"/>
            <a:ext cx="5838265" cy="7444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588" b="1" spc="-4" dirty="0">
                <a:latin typeface="Arial"/>
                <a:cs typeface="Arial"/>
              </a:rPr>
              <a:t>Number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operations </a:t>
            </a:r>
            <a:r>
              <a:rPr sz="1588" b="1" dirty="0">
                <a:latin typeface="Arial"/>
                <a:cs typeface="Arial"/>
              </a:rPr>
              <a:t>for </a:t>
            </a:r>
            <a:r>
              <a:rPr sz="1588" b="1" spc="-4" dirty="0">
                <a:latin typeface="Arial"/>
                <a:cs typeface="Arial"/>
              </a:rPr>
              <a:t>1×1 </a:t>
            </a:r>
            <a:r>
              <a:rPr sz="1588" b="1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(14×14×16)×(1×1×48) </a:t>
            </a:r>
            <a:r>
              <a:rPr sz="1588" b="1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1.5M  Number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operations </a:t>
            </a:r>
            <a:r>
              <a:rPr sz="1588" b="1" dirty="0">
                <a:latin typeface="Arial"/>
                <a:cs typeface="Arial"/>
              </a:rPr>
              <a:t>for </a:t>
            </a:r>
            <a:r>
              <a:rPr sz="1588" b="1" spc="-4" dirty="0">
                <a:latin typeface="Arial"/>
                <a:cs typeface="Arial"/>
              </a:rPr>
              <a:t>5×5 </a:t>
            </a:r>
            <a:r>
              <a:rPr sz="1588" b="1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(14×14×48)×(5×5×16) </a:t>
            </a:r>
            <a:r>
              <a:rPr sz="1588" b="1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3.8M  </a:t>
            </a:r>
            <a:r>
              <a:rPr sz="1588" b="1" spc="-26" dirty="0">
                <a:latin typeface="Arial"/>
                <a:cs typeface="Arial"/>
              </a:rPr>
              <a:t>Total </a:t>
            </a:r>
            <a:r>
              <a:rPr sz="1588" b="1" spc="-4" dirty="0">
                <a:latin typeface="Arial"/>
                <a:cs typeface="Arial"/>
              </a:rPr>
              <a:t>number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operations </a:t>
            </a:r>
            <a:r>
              <a:rPr sz="1588" b="1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1.5M </a:t>
            </a:r>
            <a:r>
              <a:rPr sz="1588" b="1" dirty="0">
                <a:latin typeface="Arial"/>
                <a:cs typeface="Arial"/>
              </a:rPr>
              <a:t>+ </a:t>
            </a:r>
            <a:r>
              <a:rPr sz="1588" b="1" spc="-4" dirty="0">
                <a:latin typeface="Arial"/>
                <a:cs typeface="Arial"/>
              </a:rPr>
              <a:t>3.8M </a:t>
            </a:r>
            <a:r>
              <a:rPr sz="1588" b="1" dirty="0">
                <a:latin typeface="Arial"/>
                <a:cs typeface="Arial"/>
              </a:rPr>
              <a:t>=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5.3M</a:t>
            </a:r>
            <a:endParaRPr sz="1588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48200" y="5257799"/>
            <a:ext cx="2539638" cy="799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B7DC95-A4FA-A302-CB61-5F5625D5F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8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Computational</a:t>
            </a:r>
            <a:r>
              <a:rPr lang="en-US" sz="2800" spc="-35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Cost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26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995C89C-CCD0-47BA-B7ED-13A219542D58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/>
          <p:nvPr/>
        </p:nvSpPr>
        <p:spPr>
          <a:xfrm>
            <a:off x="1905000" y="4828572"/>
            <a:ext cx="7385797" cy="1393647"/>
          </a:xfrm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313781" indent="-302575">
              <a:spcBef>
                <a:spcPts val="552"/>
              </a:spcBef>
              <a:buChar char="•"/>
              <a:tabLst>
                <a:tab pos="313221" algn="l"/>
                <a:tab pos="313781" algn="l"/>
              </a:tabLst>
            </a:pPr>
            <a:r>
              <a:rPr sz="1941" spc="-4" dirty="0">
                <a:latin typeface="Arial"/>
                <a:cs typeface="Arial"/>
              </a:rPr>
              <a:t>There are 32 filters and each filter is</a:t>
            </a:r>
            <a:r>
              <a:rPr sz="1941" spc="57" dirty="0">
                <a:latin typeface="Arial"/>
                <a:cs typeface="Arial"/>
              </a:rPr>
              <a:t> </a:t>
            </a:r>
            <a:r>
              <a:rPr sz="1941" spc="-9" dirty="0">
                <a:latin typeface="Arial"/>
                <a:cs typeface="Arial"/>
              </a:rPr>
              <a:t>5x5x192</a:t>
            </a:r>
            <a:endParaRPr sz="1941" dirty="0">
              <a:latin typeface="Arial"/>
              <a:cs typeface="Arial"/>
            </a:endParaRPr>
          </a:p>
          <a:p>
            <a:pPr marL="313221" marR="4483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sz="1941" spc="-22" dirty="0">
                <a:latin typeface="Arial"/>
                <a:cs typeface="Arial"/>
              </a:rPr>
              <a:t>We </a:t>
            </a:r>
            <a:r>
              <a:rPr sz="1941" spc="-4" dirty="0">
                <a:latin typeface="Arial"/>
                <a:cs typeface="Arial"/>
              </a:rPr>
              <a:t>compute 28x28x32 numbers – Computation of each requires  </a:t>
            </a:r>
            <a:r>
              <a:rPr sz="1941" spc="-9" dirty="0">
                <a:latin typeface="Arial"/>
                <a:cs typeface="Arial"/>
              </a:rPr>
              <a:t>5x5x192</a:t>
            </a:r>
            <a:r>
              <a:rPr sz="1941" spc="18" dirty="0">
                <a:latin typeface="Arial"/>
                <a:cs typeface="Arial"/>
              </a:rPr>
              <a:t> </a:t>
            </a:r>
            <a:r>
              <a:rPr sz="1941" spc="-4" dirty="0">
                <a:latin typeface="Arial"/>
                <a:cs typeface="Arial"/>
              </a:rPr>
              <a:t>multiplications</a:t>
            </a:r>
            <a:endParaRPr sz="1941" dirty="0">
              <a:latin typeface="Arial"/>
              <a:cs typeface="Arial"/>
            </a:endParaRPr>
          </a:p>
          <a:p>
            <a:pPr marL="313781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sz="1941" spc="-44" dirty="0">
                <a:latin typeface="Arial"/>
                <a:cs typeface="Arial"/>
              </a:rPr>
              <a:t>Total </a:t>
            </a:r>
            <a:r>
              <a:rPr sz="1941" spc="-4" dirty="0">
                <a:latin typeface="Arial"/>
                <a:cs typeface="Arial"/>
              </a:rPr>
              <a:t>multiplications: (28x28x32) x (5x5x192) = 120</a:t>
            </a:r>
            <a:r>
              <a:rPr sz="1941" spc="119" dirty="0">
                <a:latin typeface="Arial"/>
                <a:cs typeface="Arial"/>
              </a:rPr>
              <a:t> </a:t>
            </a:r>
            <a:r>
              <a:rPr sz="1941" spc="-4" dirty="0">
                <a:latin typeface="Arial"/>
                <a:cs typeface="Arial"/>
              </a:rPr>
              <a:t>M</a:t>
            </a:r>
            <a:endParaRPr sz="1941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71800" y="2197132"/>
            <a:ext cx="5090115" cy="2631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8918538" y="953396"/>
            <a:ext cx="1211916" cy="328332"/>
          </a:xfrm>
          <a:custGeom>
            <a:avLst/>
            <a:gdLst/>
            <a:ahLst/>
            <a:cxnLst/>
            <a:rect l="l" t="t" r="r" b="b"/>
            <a:pathLst>
              <a:path w="1373504" h="372109">
                <a:moveTo>
                  <a:pt x="1373124" y="6096"/>
                </a:moveTo>
                <a:lnTo>
                  <a:pt x="1373111" y="0"/>
                </a:lnTo>
                <a:lnTo>
                  <a:pt x="0" y="0"/>
                </a:lnTo>
                <a:lnTo>
                  <a:pt x="0" y="371856"/>
                </a:lnTo>
                <a:lnTo>
                  <a:pt x="6096" y="371856"/>
                </a:lnTo>
                <a:lnTo>
                  <a:pt x="12192" y="371856"/>
                </a:lnTo>
                <a:lnTo>
                  <a:pt x="1367028" y="371856"/>
                </a:lnTo>
                <a:lnTo>
                  <a:pt x="1373111" y="371856"/>
                </a:lnTo>
                <a:lnTo>
                  <a:pt x="1373111" y="365760"/>
                </a:lnTo>
                <a:lnTo>
                  <a:pt x="1373124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8923916" y="958769"/>
            <a:ext cx="1206313" cy="275479"/>
          </a:xfrm>
          <a:prstGeom prst="rect">
            <a:avLst/>
          </a:prstGeom>
        </p:spPr>
        <p:txBody>
          <a:bodyPr vert="horz" wrap="square" lIns="0" tIns="30816" rIns="0" bIns="0" rtlCol="0">
            <a:spAutoFit/>
          </a:bodyPr>
          <a:lstStyle/>
          <a:p>
            <a:pPr marL="126073">
              <a:spcBef>
                <a:spcPts val="243"/>
              </a:spcBef>
            </a:pPr>
            <a:r>
              <a:rPr sz="1588" spc="-9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15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8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042D0C3A-CBC1-B832-030F-B59F7929E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27</a:t>
            </a:fld>
            <a:endParaRPr dirty="0"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D499D18-B1C4-462C-99CE-E7329CE4C362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grpSp>
        <p:nvGrpSpPr>
          <p:cNvPr id="3" name="object 3"/>
          <p:cNvGrpSpPr/>
          <p:nvPr/>
        </p:nvGrpSpPr>
        <p:grpSpPr>
          <a:xfrm>
            <a:off x="2907865" y="2748385"/>
            <a:ext cx="5957047" cy="2189629"/>
            <a:chOff x="1501133" y="3131920"/>
            <a:chExt cx="6751320" cy="2481580"/>
          </a:xfrm>
        </p:grpSpPr>
        <p:sp>
          <p:nvSpPr>
            <p:cNvPr id="4" name="object 4"/>
            <p:cNvSpPr/>
            <p:nvPr/>
          </p:nvSpPr>
          <p:spPr>
            <a:xfrm>
              <a:off x="1501133" y="3131920"/>
              <a:ext cx="6751133" cy="20630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4116323" y="5030723"/>
              <a:ext cx="1945005" cy="576580"/>
            </a:xfrm>
            <a:custGeom>
              <a:avLst/>
              <a:gdLst/>
              <a:ahLst/>
              <a:cxnLst/>
              <a:rect l="l" t="t" r="r" b="b"/>
              <a:pathLst>
                <a:path w="1945004" h="576579">
                  <a:moveTo>
                    <a:pt x="1944623" y="480059"/>
                  </a:moveTo>
                  <a:lnTo>
                    <a:pt x="1944623" y="96011"/>
                  </a:lnTo>
                  <a:lnTo>
                    <a:pt x="1936908" y="58507"/>
                  </a:lnTo>
                  <a:lnTo>
                    <a:pt x="1916048" y="28003"/>
                  </a:lnTo>
                  <a:lnTo>
                    <a:pt x="1885473" y="7500"/>
                  </a:lnTo>
                  <a:lnTo>
                    <a:pt x="1848611" y="0"/>
                  </a:lnTo>
                  <a:lnTo>
                    <a:pt x="96011" y="0"/>
                  </a:lnTo>
                  <a:lnTo>
                    <a:pt x="58507" y="7500"/>
                  </a:lnTo>
                  <a:lnTo>
                    <a:pt x="28003" y="28003"/>
                  </a:lnTo>
                  <a:lnTo>
                    <a:pt x="7500" y="58507"/>
                  </a:lnTo>
                  <a:lnTo>
                    <a:pt x="0" y="96011"/>
                  </a:lnTo>
                  <a:lnTo>
                    <a:pt x="0" y="480059"/>
                  </a:lnTo>
                  <a:lnTo>
                    <a:pt x="7500" y="517564"/>
                  </a:lnTo>
                  <a:lnTo>
                    <a:pt x="28003" y="548068"/>
                  </a:lnTo>
                  <a:lnTo>
                    <a:pt x="58507" y="568571"/>
                  </a:lnTo>
                  <a:lnTo>
                    <a:pt x="96011" y="576071"/>
                  </a:lnTo>
                  <a:lnTo>
                    <a:pt x="1848611" y="576071"/>
                  </a:lnTo>
                  <a:lnTo>
                    <a:pt x="1885473" y="568571"/>
                  </a:lnTo>
                  <a:lnTo>
                    <a:pt x="1916048" y="548068"/>
                  </a:lnTo>
                  <a:lnTo>
                    <a:pt x="1936908" y="517564"/>
                  </a:lnTo>
                  <a:lnTo>
                    <a:pt x="1944623" y="480059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4110228" y="5024627"/>
              <a:ext cx="1957070" cy="588645"/>
            </a:xfrm>
            <a:custGeom>
              <a:avLst/>
              <a:gdLst/>
              <a:ahLst/>
              <a:cxnLst/>
              <a:rect l="l" t="t" r="r" b="b"/>
              <a:pathLst>
                <a:path w="1957070" h="588645">
                  <a:moveTo>
                    <a:pt x="1956816" y="486156"/>
                  </a:moveTo>
                  <a:lnTo>
                    <a:pt x="1956816" y="102108"/>
                  </a:lnTo>
                  <a:lnTo>
                    <a:pt x="1955292" y="91440"/>
                  </a:lnTo>
                  <a:lnTo>
                    <a:pt x="1953768" y="82296"/>
                  </a:lnTo>
                  <a:lnTo>
                    <a:pt x="1952244" y="71628"/>
                  </a:lnTo>
                  <a:lnTo>
                    <a:pt x="1926336" y="30480"/>
                  </a:lnTo>
                  <a:lnTo>
                    <a:pt x="1911096" y="18288"/>
                  </a:lnTo>
                  <a:lnTo>
                    <a:pt x="1903476" y="12192"/>
                  </a:lnTo>
                  <a:lnTo>
                    <a:pt x="1894332" y="7620"/>
                  </a:lnTo>
                  <a:lnTo>
                    <a:pt x="1885188" y="4572"/>
                  </a:lnTo>
                  <a:lnTo>
                    <a:pt x="1874520" y="1524"/>
                  </a:lnTo>
                  <a:lnTo>
                    <a:pt x="1865376" y="0"/>
                  </a:lnTo>
                  <a:lnTo>
                    <a:pt x="91440" y="0"/>
                  </a:lnTo>
                  <a:lnTo>
                    <a:pt x="80772" y="1524"/>
                  </a:lnTo>
                  <a:lnTo>
                    <a:pt x="62484" y="7620"/>
                  </a:lnTo>
                  <a:lnTo>
                    <a:pt x="53340" y="12192"/>
                  </a:lnTo>
                  <a:lnTo>
                    <a:pt x="44196" y="18288"/>
                  </a:lnTo>
                  <a:lnTo>
                    <a:pt x="36576" y="22860"/>
                  </a:lnTo>
                  <a:lnTo>
                    <a:pt x="12192" y="53340"/>
                  </a:lnTo>
                  <a:lnTo>
                    <a:pt x="0" y="91440"/>
                  </a:lnTo>
                  <a:lnTo>
                    <a:pt x="0" y="496824"/>
                  </a:lnTo>
                  <a:lnTo>
                    <a:pt x="1524" y="507492"/>
                  </a:lnTo>
                  <a:lnTo>
                    <a:pt x="7620" y="525780"/>
                  </a:lnTo>
                  <a:lnTo>
                    <a:pt x="12192" y="534924"/>
                  </a:lnTo>
                  <a:lnTo>
                    <a:pt x="12192" y="92964"/>
                  </a:lnTo>
                  <a:lnTo>
                    <a:pt x="13716" y="83820"/>
                  </a:lnTo>
                  <a:lnTo>
                    <a:pt x="13716" y="85344"/>
                  </a:lnTo>
                  <a:lnTo>
                    <a:pt x="19812" y="67056"/>
                  </a:lnTo>
                  <a:lnTo>
                    <a:pt x="19812" y="68580"/>
                  </a:lnTo>
                  <a:lnTo>
                    <a:pt x="22860" y="59436"/>
                  </a:lnTo>
                  <a:lnTo>
                    <a:pt x="27432" y="51816"/>
                  </a:lnTo>
                  <a:lnTo>
                    <a:pt x="27432" y="53340"/>
                  </a:lnTo>
                  <a:lnTo>
                    <a:pt x="32004" y="47625"/>
                  </a:lnTo>
                  <a:lnTo>
                    <a:pt x="32004" y="45720"/>
                  </a:lnTo>
                  <a:lnTo>
                    <a:pt x="38100" y="39624"/>
                  </a:lnTo>
                  <a:lnTo>
                    <a:pt x="44196" y="34747"/>
                  </a:lnTo>
                  <a:lnTo>
                    <a:pt x="44196" y="33528"/>
                  </a:lnTo>
                  <a:lnTo>
                    <a:pt x="51816" y="27432"/>
                  </a:lnTo>
                  <a:lnTo>
                    <a:pt x="51816" y="28956"/>
                  </a:lnTo>
                  <a:lnTo>
                    <a:pt x="59436" y="22860"/>
                  </a:lnTo>
                  <a:lnTo>
                    <a:pt x="59436" y="24384"/>
                  </a:lnTo>
                  <a:lnTo>
                    <a:pt x="67056" y="19812"/>
                  </a:lnTo>
                  <a:lnTo>
                    <a:pt x="74676" y="17272"/>
                  </a:lnTo>
                  <a:lnTo>
                    <a:pt x="74676" y="16764"/>
                  </a:lnTo>
                  <a:lnTo>
                    <a:pt x="102108" y="12192"/>
                  </a:lnTo>
                  <a:lnTo>
                    <a:pt x="1854708" y="12192"/>
                  </a:lnTo>
                  <a:lnTo>
                    <a:pt x="1854708" y="12409"/>
                  </a:lnTo>
                  <a:lnTo>
                    <a:pt x="1863852" y="13716"/>
                  </a:lnTo>
                  <a:lnTo>
                    <a:pt x="1863852" y="13933"/>
                  </a:lnTo>
                  <a:lnTo>
                    <a:pt x="1872996" y="15240"/>
                  </a:lnTo>
                  <a:lnTo>
                    <a:pt x="1872996" y="15494"/>
                  </a:lnTo>
                  <a:lnTo>
                    <a:pt x="1880616" y="16764"/>
                  </a:lnTo>
                  <a:lnTo>
                    <a:pt x="1889760" y="19812"/>
                  </a:lnTo>
                  <a:lnTo>
                    <a:pt x="1889760" y="20574"/>
                  </a:lnTo>
                  <a:lnTo>
                    <a:pt x="1897380" y="24384"/>
                  </a:lnTo>
                  <a:lnTo>
                    <a:pt x="1897380" y="22860"/>
                  </a:lnTo>
                  <a:lnTo>
                    <a:pt x="1903476" y="27736"/>
                  </a:lnTo>
                  <a:lnTo>
                    <a:pt x="1903476" y="27432"/>
                  </a:lnTo>
                  <a:lnTo>
                    <a:pt x="1911096" y="33528"/>
                  </a:lnTo>
                  <a:lnTo>
                    <a:pt x="1923288" y="45720"/>
                  </a:lnTo>
                  <a:lnTo>
                    <a:pt x="1929384" y="53340"/>
                  </a:lnTo>
                  <a:lnTo>
                    <a:pt x="1929384" y="54356"/>
                  </a:lnTo>
                  <a:lnTo>
                    <a:pt x="1932432" y="59436"/>
                  </a:lnTo>
                  <a:lnTo>
                    <a:pt x="1937004" y="68580"/>
                  </a:lnTo>
                  <a:lnTo>
                    <a:pt x="1937004" y="67056"/>
                  </a:lnTo>
                  <a:lnTo>
                    <a:pt x="1940052" y="76200"/>
                  </a:lnTo>
                  <a:lnTo>
                    <a:pt x="1941576" y="85344"/>
                  </a:lnTo>
                  <a:lnTo>
                    <a:pt x="1941576" y="83820"/>
                  </a:lnTo>
                  <a:lnTo>
                    <a:pt x="1943100" y="92964"/>
                  </a:lnTo>
                  <a:lnTo>
                    <a:pt x="1943100" y="537210"/>
                  </a:lnTo>
                  <a:lnTo>
                    <a:pt x="1944624" y="534924"/>
                  </a:lnTo>
                  <a:lnTo>
                    <a:pt x="1949196" y="525780"/>
                  </a:lnTo>
                  <a:lnTo>
                    <a:pt x="1952244" y="516636"/>
                  </a:lnTo>
                  <a:lnTo>
                    <a:pt x="1953768" y="507492"/>
                  </a:lnTo>
                  <a:lnTo>
                    <a:pt x="1956816" y="486156"/>
                  </a:lnTo>
                  <a:close/>
                </a:path>
                <a:path w="1957070" h="588645">
                  <a:moveTo>
                    <a:pt x="33528" y="544068"/>
                  </a:moveTo>
                  <a:lnTo>
                    <a:pt x="13716" y="504444"/>
                  </a:lnTo>
                  <a:lnTo>
                    <a:pt x="12192" y="495300"/>
                  </a:lnTo>
                  <a:lnTo>
                    <a:pt x="12192" y="534924"/>
                  </a:lnTo>
                  <a:lnTo>
                    <a:pt x="16764" y="544068"/>
                  </a:lnTo>
                  <a:lnTo>
                    <a:pt x="28956" y="559308"/>
                  </a:lnTo>
                  <a:lnTo>
                    <a:pt x="32004" y="561746"/>
                  </a:lnTo>
                  <a:lnTo>
                    <a:pt x="32004" y="542544"/>
                  </a:lnTo>
                  <a:lnTo>
                    <a:pt x="33528" y="544068"/>
                  </a:lnTo>
                  <a:close/>
                </a:path>
                <a:path w="1957070" h="588645">
                  <a:moveTo>
                    <a:pt x="33528" y="45720"/>
                  </a:moveTo>
                  <a:lnTo>
                    <a:pt x="32004" y="45720"/>
                  </a:lnTo>
                  <a:lnTo>
                    <a:pt x="32004" y="47625"/>
                  </a:lnTo>
                  <a:lnTo>
                    <a:pt x="33528" y="45720"/>
                  </a:lnTo>
                  <a:close/>
                </a:path>
                <a:path w="1957070" h="588645">
                  <a:moveTo>
                    <a:pt x="45720" y="556260"/>
                  </a:moveTo>
                  <a:lnTo>
                    <a:pt x="38100" y="550164"/>
                  </a:lnTo>
                  <a:lnTo>
                    <a:pt x="32004" y="542544"/>
                  </a:lnTo>
                  <a:lnTo>
                    <a:pt x="32004" y="561746"/>
                  </a:lnTo>
                  <a:lnTo>
                    <a:pt x="44196" y="571500"/>
                  </a:lnTo>
                  <a:lnTo>
                    <a:pt x="44196" y="556260"/>
                  </a:lnTo>
                  <a:lnTo>
                    <a:pt x="45720" y="556260"/>
                  </a:lnTo>
                  <a:close/>
                </a:path>
                <a:path w="1957070" h="588645">
                  <a:moveTo>
                    <a:pt x="45720" y="33528"/>
                  </a:moveTo>
                  <a:lnTo>
                    <a:pt x="44196" y="33528"/>
                  </a:lnTo>
                  <a:lnTo>
                    <a:pt x="44196" y="34747"/>
                  </a:lnTo>
                  <a:lnTo>
                    <a:pt x="45720" y="33528"/>
                  </a:lnTo>
                  <a:close/>
                </a:path>
                <a:path w="1957070" h="588645">
                  <a:moveTo>
                    <a:pt x="76200" y="585216"/>
                  </a:moveTo>
                  <a:lnTo>
                    <a:pt x="76200" y="573024"/>
                  </a:lnTo>
                  <a:lnTo>
                    <a:pt x="67056" y="568452"/>
                  </a:lnTo>
                  <a:lnTo>
                    <a:pt x="67056" y="569976"/>
                  </a:lnTo>
                  <a:lnTo>
                    <a:pt x="44196" y="556260"/>
                  </a:lnTo>
                  <a:lnTo>
                    <a:pt x="44196" y="571500"/>
                  </a:lnTo>
                  <a:lnTo>
                    <a:pt x="62484" y="580644"/>
                  </a:lnTo>
                  <a:lnTo>
                    <a:pt x="76200" y="585216"/>
                  </a:lnTo>
                  <a:close/>
                </a:path>
                <a:path w="1957070" h="588645">
                  <a:moveTo>
                    <a:pt x="76200" y="16764"/>
                  </a:moveTo>
                  <a:lnTo>
                    <a:pt x="74676" y="16764"/>
                  </a:lnTo>
                  <a:lnTo>
                    <a:pt x="74676" y="17272"/>
                  </a:lnTo>
                  <a:lnTo>
                    <a:pt x="76200" y="16764"/>
                  </a:lnTo>
                  <a:close/>
                </a:path>
                <a:path w="1957070" h="588645">
                  <a:moveTo>
                    <a:pt x="1863852" y="588264"/>
                  </a:moveTo>
                  <a:lnTo>
                    <a:pt x="1863852" y="576072"/>
                  </a:lnTo>
                  <a:lnTo>
                    <a:pt x="92964" y="576072"/>
                  </a:lnTo>
                  <a:lnTo>
                    <a:pt x="83820" y="574548"/>
                  </a:lnTo>
                  <a:lnTo>
                    <a:pt x="74676" y="571500"/>
                  </a:lnTo>
                  <a:lnTo>
                    <a:pt x="76200" y="573024"/>
                  </a:lnTo>
                  <a:lnTo>
                    <a:pt x="76200" y="585216"/>
                  </a:lnTo>
                  <a:lnTo>
                    <a:pt x="80772" y="586740"/>
                  </a:lnTo>
                  <a:lnTo>
                    <a:pt x="91440" y="588264"/>
                  </a:lnTo>
                  <a:lnTo>
                    <a:pt x="1863852" y="588264"/>
                  </a:lnTo>
                  <a:close/>
                </a:path>
                <a:path w="1957070" h="588645">
                  <a:moveTo>
                    <a:pt x="1854708" y="12409"/>
                  </a:moveTo>
                  <a:lnTo>
                    <a:pt x="1854708" y="12192"/>
                  </a:lnTo>
                  <a:lnTo>
                    <a:pt x="1853184" y="12192"/>
                  </a:lnTo>
                  <a:lnTo>
                    <a:pt x="1854708" y="12409"/>
                  </a:lnTo>
                  <a:close/>
                </a:path>
                <a:path w="1957070" h="588645">
                  <a:moveTo>
                    <a:pt x="1863852" y="13933"/>
                  </a:moveTo>
                  <a:lnTo>
                    <a:pt x="1863852" y="13716"/>
                  </a:lnTo>
                  <a:lnTo>
                    <a:pt x="1862328" y="13716"/>
                  </a:lnTo>
                  <a:lnTo>
                    <a:pt x="1863852" y="13933"/>
                  </a:lnTo>
                  <a:close/>
                </a:path>
                <a:path w="1957070" h="588645">
                  <a:moveTo>
                    <a:pt x="1872996" y="586957"/>
                  </a:moveTo>
                  <a:lnTo>
                    <a:pt x="1872996" y="574548"/>
                  </a:lnTo>
                  <a:lnTo>
                    <a:pt x="1862328" y="576072"/>
                  </a:lnTo>
                  <a:lnTo>
                    <a:pt x="1863852" y="576072"/>
                  </a:lnTo>
                  <a:lnTo>
                    <a:pt x="1863852" y="588264"/>
                  </a:lnTo>
                  <a:lnTo>
                    <a:pt x="1872996" y="586957"/>
                  </a:lnTo>
                  <a:close/>
                </a:path>
                <a:path w="1957070" h="588645">
                  <a:moveTo>
                    <a:pt x="1872996" y="15494"/>
                  </a:moveTo>
                  <a:lnTo>
                    <a:pt x="1872996" y="15240"/>
                  </a:lnTo>
                  <a:lnTo>
                    <a:pt x="1871472" y="15240"/>
                  </a:lnTo>
                  <a:lnTo>
                    <a:pt x="1872996" y="15494"/>
                  </a:lnTo>
                  <a:close/>
                </a:path>
                <a:path w="1957070" h="588645">
                  <a:moveTo>
                    <a:pt x="1889760" y="568452"/>
                  </a:moveTo>
                  <a:lnTo>
                    <a:pt x="1880616" y="573024"/>
                  </a:lnTo>
                  <a:lnTo>
                    <a:pt x="1880616" y="571500"/>
                  </a:lnTo>
                  <a:lnTo>
                    <a:pt x="1871472" y="574548"/>
                  </a:lnTo>
                  <a:lnTo>
                    <a:pt x="1872996" y="574548"/>
                  </a:lnTo>
                  <a:lnTo>
                    <a:pt x="1872996" y="586957"/>
                  </a:lnTo>
                  <a:lnTo>
                    <a:pt x="1874520" y="586740"/>
                  </a:lnTo>
                  <a:lnTo>
                    <a:pt x="1885188" y="583692"/>
                  </a:lnTo>
                  <a:lnTo>
                    <a:pt x="1888236" y="582676"/>
                  </a:lnTo>
                  <a:lnTo>
                    <a:pt x="1888236" y="569976"/>
                  </a:lnTo>
                  <a:lnTo>
                    <a:pt x="1889760" y="568452"/>
                  </a:lnTo>
                  <a:close/>
                </a:path>
                <a:path w="1957070" h="588645">
                  <a:moveTo>
                    <a:pt x="1889760" y="20574"/>
                  </a:moveTo>
                  <a:lnTo>
                    <a:pt x="1889760" y="19812"/>
                  </a:lnTo>
                  <a:lnTo>
                    <a:pt x="1888236" y="19812"/>
                  </a:lnTo>
                  <a:lnTo>
                    <a:pt x="1889760" y="20574"/>
                  </a:lnTo>
                  <a:close/>
                </a:path>
                <a:path w="1957070" h="588645">
                  <a:moveTo>
                    <a:pt x="1905000" y="575157"/>
                  </a:moveTo>
                  <a:lnTo>
                    <a:pt x="1905000" y="560832"/>
                  </a:lnTo>
                  <a:lnTo>
                    <a:pt x="1897380" y="565404"/>
                  </a:lnTo>
                  <a:lnTo>
                    <a:pt x="1888236" y="569976"/>
                  </a:lnTo>
                  <a:lnTo>
                    <a:pt x="1888236" y="582676"/>
                  </a:lnTo>
                  <a:lnTo>
                    <a:pt x="1894332" y="580644"/>
                  </a:lnTo>
                  <a:lnTo>
                    <a:pt x="1903476" y="576072"/>
                  </a:lnTo>
                  <a:lnTo>
                    <a:pt x="1905000" y="575157"/>
                  </a:lnTo>
                  <a:close/>
                </a:path>
                <a:path w="1957070" h="588645">
                  <a:moveTo>
                    <a:pt x="1905000" y="28956"/>
                  </a:moveTo>
                  <a:lnTo>
                    <a:pt x="1903476" y="27432"/>
                  </a:lnTo>
                  <a:lnTo>
                    <a:pt x="1903476" y="27736"/>
                  </a:lnTo>
                  <a:lnTo>
                    <a:pt x="1905000" y="28956"/>
                  </a:lnTo>
                  <a:close/>
                </a:path>
                <a:path w="1957070" h="588645">
                  <a:moveTo>
                    <a:pt x="1929384" y="555498"/>
                  </a:moveTo>
                  <a:lnTo>
                    <a:pt x="1929384" y="536448"/>
                  </a:lnTo>
                  <a:lnTo>
                    <a:pt x="1923288" y="544068"/>
                  </a:lnTo>
                  <a:lnTo>
                    <a:pt x="1911096" y="556260"/>
                  </a:lnTo>
                  <a:lnTo>
                    <a:pt x="1903476" y="560832"/>
                  </a:lnTo>
                  <a:lnTo>
                    <a:pt x="1905000" y="560832"/>
                  </a:lnTo>
                  <a:lnTo>
                    <a:pt x="1905000" y="575157"/>
                  </a:lnTo>
                  <a:lnTo>
                    <a:pt x="1911096" y="571500"/>
                  </a:lnTo>
                  <a:lnTo>
                    <a:pt x="1926336" y="559308"/>
                  </a:lnTo>
                  <a:lnTo>
                    <a:pt x="1929384" y="555498"/>
                  </a:lnTo>
                  <a:close/>
                </a:path>
                <a:path w="1957070" h="588645">
                  <a:moveTo>
                    <a:pt x="1929384" y="54356"/>
                  </a:moveTo>
                  <a:lnTo>
                    <a:pt x="1929384" y="53340"/>
                  </a:lnTo>
                  <a:lnTo>
                    <a:pt x="1927860" y="51816"/>
                  </a:lnTo>
                  <a:lnTo>
                    <a:pt x="1929384" y="54356"/>
                  </a:lnTo>
                  <a:close/>
                </a:path>
                <a:path w="1957070" h="588645">
                  <a:moveTo>
                    <a:pt x="1943100" y="537210"/>
                  </a:moveTo>
                  <a:lnTo>
                    <a:pt x="1943100" y="495300"/>
                  </a:lnTo>
                  <a:lnTo>
                    <a:pt x="1940052" y="513588"/>
                  </a:lnTo>
                  <a:lnTo>
                    <a:pt x="1937004" y="521208"/>
                  </a:lnTo>
                  <a:lnTo>
                    <a:pt x="1927860" y="536448"/>
                  </a:lnTo>
                  <a:lnTo>
                    <a:pt x="1929384" y="536448"/>
                  </a:lnTo>
                  <a:lnTo>
                    <a:pt x="1929384" y="555498"/>
                  </a:lnTo>
                  <a:lnTo>
                    <a:pt x="1938528" y="544068"/>
                  </a:lnTo>
                  <a:lnTo>
                    <a:pt x="1943100" y="537210"/>
                  </a:lnTo>
                  <a:close/>
                </a:path>
              </a:pathLst>
            </a:custGeom>
            <a:solidFill>
              <a:srgbClr val="22226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019050" y="1560612"/>
            <a:ext cx="2740959" cy="1353110"/>
            <a:chOff x="2941320" y="1222248"/>
            <a:chExt cx="3106420" cy="1533525"/>
          </a:xfrm>
        </p:grpSpPr>
        <p:sp>
          <p:nvSpPr>
            <p:cNvPr id="8" name="object 8"/>
            <p:cNvSpPr/>
            <p:nvPr/>
          </p:nvSpPr>
          <p:spPr>
            <a:xfrm>
              <a:off x="2941320" y="1222248"/>
              <a:ext cx="3105911" cy="15270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107436" y="2513076"/>
              <a:ext cx="972819" cy="242570"/>
            </a:xfrm>
            <a:custGeom>
              <a:avLst/>
              <a:gdLst/>
              <a:ahLst/>
              <a:cxnLst/>
              <a:rect l="l" t="t" r="r" b="b"/>
              <a:pathLst>
                <a:path w="972820" h="242569">
                  <a:moveTo>
                    <a:pt x="972312" y="198120"/>
                  </a:moveTo>
                  <a:lnTo>
                    <a:pt x="972312" y="44196"/>
                  </a:lnTo>
                  <a:lnTo>
                    <a:pt x="970788" y="35052"/>
                  </a:lnTo>
                  <a:lnTo>
                    <a:pt x="944880" y="3048"/>
                  </a:lnTo>
                  <a:lnTo>
                    <a:pt x="935736" y="0"/>
                  </a:lnTo>
                  <a:lnTo>
                    <a:pt x="36576" y="0"/>
                  </a:lnTo>
                  <a:lnTo>
                    <a:pt x="1524" y="35052"/>
                  </a:lnTo>
                  <a:lnTo>
                    <a:pt x="0" y="44196"/>
                  </a:lnTo>
                  <a:lnTo>
                    <a:pt x="0" y="198120"/>
                  </a:lnTo>
                  <a:lnTo>
                    <a:pt x="1524" y="207264"/>
                  </a:lnTo>
                  <a:lnTo>
                    <a:pt x="7620" y="222504"/>
                  </a:lnTo>
                  <a:lnTo>
                    <a:pt x="13716" y="230124"/>
                  </a:lnTo>
                  <a:lnTo>
                    <a:pt x="13716" y="38100"/>
                  </a:lnTo>
                  <a:lnTo>
                    <a:pt x="15240" y="30480"/>
                  </a:lnTo>
                  <a:lnTo>
                    <a:pt x="15240" y="32004"/>
                  </a:lnTo>
                  <a:lnTo>
                    <a:pt x="18288" y="25908"/>
                  </a:lnTo>
                  <a:lnTo>
                    <a:pt x="21336" y="22860"/>
                  </a:lnTo>
                  <a:lnTo>
                    <a:pt x="21336" y="21336"/>
                  </a:lnTo>
                  <a:lnTo>
                    <a:pt x="27432" y="16764"/>
                  </a:lnTo>
                  <a:lnTo>
                    <a:pt x="27432" y="18288"/>
                  </a:lnTo>
                  <a:lnTo>
                    <a:pt x="33528" y="13716"/>
                  </a:lnTo>
                  <a:lnTo>
                    <a:pt x="33528" y="14630"/>
                  </a:lnTo>
                  <a:lnTo>
                    <a:pt x="38100" y="12801"/>
                  </a:lnTo>
                  <a:lnTo>
                    <a:pt x="38100" y="12192"/>
                  </a:lnTo>
                  <a:lnTo>
                    <a:pt x="934212" y="12192"/>
                  </a:lnTo>
                  <a:lnTo>
                    <a:pt x="934212" y="12801"/>
                  </a:lnTo>
                  <a:lnTo>
                    <a:pt x="938784" y="14630"/>
                  </a:lnTo>
                  <a:lnTo>
                    <a:pt x="938784" y="13716"/>
                  </a:lnTo>
                  <a:lnTo>
                    <a:pt x="944880" y="18288"/>
                  </a:lnTo>
                  <a:lnTo>
                    <a:pt x="944880" y="16764"/>
                  </a:lnTo>
                  <a:lnTo>
                    <a:pt x="954024" y="25908"/>
                  </a:lnTo>
                  <a:lnTo>
                    <a:pt x="954024" y="27940"/>
                  </a:lnTo>
                  <a:lnTo>
                    <a:pt x="957072" y="32004"/>
                  </a:lnTo>
                  <a:lnTo>
                    <a:pt x="957072" y="34290"/>
                  </a:lnTo>
                  <a:lnTo>
                    <a:pt x="958596" y="38100"/>
                  </a:lnTo>
                  <a:lnTo>
                    <a:pt x="958596" y="230124"/>
                  </a:lnTo>
                  <a:lnTo>
                    <a:pt x="964692" y="222504"/>
                  </a:lnTo>
                  <a:lnTo>
                    <a:pt x="970788" y="207264"/>
                  </a:lnTo>
                  <a:lnTo>
                    <a:pt x="972312" y="198120"/>
                  </a:lnTo>
                  <a:close/>
                </a:path>
                <a:path w="972820" h="242569">
                  <a:moveTo>
                    <a:pt x="22860" y="220980"/>
                  </a:moveTo>
                  <a:lnTo>
                    <a:pt x="18288" y="214884"/>
                  </a:lnTo>
                  <a:lnTo>
                    <a:pt x="18288" y="216408"/>
                  </a:lnTo>
                  <a:lnTo>
                    <a:pt x="15240" y="210312"/>
                  </a:lnTo>
                  <a:lnTo>
                    <a:pt x="13716" y="204216"/>
                  </a:lnTo>
                  <a:lnTo>
                    <a:pt x="13716" y="230124"/>
                  </a:lnTo>
                  <a:lnTo>
                    <a:pt x="19812" y="234696"/>
                  </a:lnTo>
                  <a:lnTo>
                    <a:pt x="21336" y="235610"/>
                  </a:lnTo>
                  <a:lnTo>
                    <a:pt x="21336" y="220980"/>
                  </a:lnTo>
                  <a:lnTo>
                    <a:pt x="22860" y="220980"/>
                  </a:lnTo>
                  <a:close/>
                </a:path>
                <a:path w="972820" h="242569">
                  <a:moveTo>
                    <a:pt x="22860" y="21336"/>
                  </a:moveTo>
                  <a:lnTo>
                    <a:pt x="21336" y="21336"/>
                  </a:lnTo>
                  <a:lnTo>
                    <a:pt x="21336" y="22860"/>
                  </a:lnTo>
                  <a:lnTo>
                    <a:pt x="22860" y="21336"/>
                  </a:lnTo>
                  <a:close/>
                </a:path>
                <a:path w="972820" h="242569">
                  <a:moveTo>
                    <a:pt x="33528" y="227076"/>
                  </a:moveTo>
                  <a:lnTo>
                    <a:pt x="27432" y="224028"/>
                  </a:lnTo>
                  <a:lnTo>
                    <a:pt x="27432" y="225552"/>
                  </a:lnTo>
                  <a:lnTo>
                    <a:pt x="21336" y="220980"/>
                  </a:lnTo>
                  <a:lnTo>
                    <a:pt x="21336" y="235610"/>
                  </a:lnTo>
                  <a:lnTo>
                    <a:pt x="27432" y="239268"/>
                  </a:lnTo>
                  <a:lnTo>
                    <a:pt x="32004" y="240792"/>
                  </a:lnTo>
                  <a:lnTo>
                    <a:pt x="32004" y="227076"/>
                  </a:lnTo>
                  <a:lnTo>
                    <a:pt x="33528" y="227076"/>
                  </a:lnTo>
                  <a:close/>
                </a:path>
                <a:path w="972820" h="242569">
                  <a:moveTo>
                    <a:pt x="33528" y="14630"/>
                  </a:moveTo>
                  <a:lnTo>
                    <a:pt x="33528" y="13716"/>
                  </a:lnTo>
                  <a:lnTo>
                    <a:pt x="32004" y="15240"/>
                  </a:lnTo>
                  <a:lnTo>
                    <a:pt x="33528" y="14630"/>
                  </a:lnTo>
                  <a:close/>
                </a:path>
                <a:path w="972820" h="242569">
                  <a:moveTo>
                    <a:pt x="39624" y="230124"/>
                  </a:moveTo>
                  <a:lnTo>
                    <a:pt x="32004" y="227076"/>
                  </a:lnTo>
                  <a:lnTo>
                    <a:pt x="32004" y="240792"/>
                  </a:lnTo>
                  <a:lnTo>
                    <a:pt x="36576" y="242316"/>
                  </a:lnTo>
                  <a:lnTo>
                    <a:pt x="38100" y="242316"/>
                  </a:lnTo>
                  <a:lnTo>
                    <a:pt x="38100" y="230124"/>
                  </a:lnTo>
                  <a:lnTo>
                    <a:pt x="39624" y="230124"/>
                  </a:lnTo>
                  <a:close/>
                </a:path>
                <a:path w="972820" h="242569">
                  <a:moveTo>
                    <a:pt x="39624" y="12192"/>
                  </a:moveTo>
                  <a:lnTo>
                    <a:pt x="38100" y="12192"/>
                  </a:lnTo>
                  <a:lnTo>
                    <a:pt x="38100" y="12801"/>
                  </a:lnTo>
                  <a:lnTo>
                    <a:pt x="39624" y="12192"/>
                  </a:lnTo>
                  <a:close/>
                </a:path>
                <a:path w="972820" h="242569">
                  <a:moveTo>
                    <a:pt x="934212" y="242316"/>
                  </a:moveTo>
                  <a:lnTo>
                    <a:pt x="934212" y="230124"/>
                  </a:lnTo>
                  <a:lnTo>
                    <a:pt x="38100" y="230124"/>
                  </a:lnTo>
                  <a:lnTo>
                    <a:pt x="38100" y="242316"/>
                  </a:lnTo>
                  <a:lnTo>
                    <a:pt x="934212" y="242316"/>
                  </a:lnTo>
                  <a:close/>
                </a:path>
                <a:path w="972820" h="242569">
                  <a:moveTo>
                    <a:pt x="934212" y="12801"/>
                  </a:moveTo>
                  <a:lnTo>
                    <a:pt x="934212" y="12192"/>
                  </a:lnTo>
                  <a:lnTo>
                    <a:pt x="932688" y="12192"/>
                  </a:lnTo>
                  <a:lnTo>
                    <a:pt x="934212" y="12801"/>
                  </a:lnTo>
                  <a:close/>
                </a:path>
                <a:path w="972820" h="242569">
                  <a:moveTo>
                    <a:pt x="940308" y="240792"/>
                  </a:moveTo>
                  <a:lnTo>
                    <a:pt x="940308" y="227076"/>
                  </a:lnTo>
                  <a:lnTo>
                    <a:pt x="932688" y="230124"/>
                  </a:lnTo>
                  <a:lnTo>
                    <a:pt x="934212" y="230124"/>
                  </a:lnTo>
                  <a:lnTo>
                    <a:pt x="934212" y="242316"/>
                  </a:lnTo>
                  <a:lnTo>
                    <a:pt x="935736" y="242316"/>
                  </a:lnTo>
                  <a:lnTo>
                    <a:pt x="940308" y="240792"/>
                  </a:lnTo>
                  <a:close/>
                </a:path>
                <a:path w="972820" h="242569">
                  <a:moveTo>
                    <a:pt x="940308" y="15240"/>
                  </a:moveTo>
                  <a:lnTo>
                    <a:pt x="938784" y="13716"/>
                  </a:lnTo>
                  <a:lnTo>
                    <a:pt x="938784" y="14630"/>
                  </a:lnTo>
                  <a:lnTo>
                    <a:pt x="940308" y="15240"/>
                  </a:lnTo>
                  <a:close/>
                </a:path>
                <a:path w="972820" h="242569">
                  <a:moveTo>
                    <a:pt x="954024" y="233553"/>
                  </a:moveTo>
                  <a:lnTo>
                    <a:pt x="954024" y="214884"/>
                  </a:lnTo>
                  <a:lnTo>
                    <a:pt x="949452" y="220980"/>
                  </a:lnTo>
                  <a:lnTo>
                    <a:pt x="944880" y="225552"/>
                  </a:lnTo>
                  <a:lnTo>
                    <a:pt x="944880" y="224028"/>
                  </a:lnTo>
                  <a:lnTo>
                    <a:pt x="938784" y="227076"/>
                  </a:lnTo>
                  <a:lnTo>
                    <a:pt x="940308" y="227076"/>
                  </a:lnTo>
                  <a:lnTo>
                    <a:pt x="940308" y="240792"/>
                  </a:lnTo>
                  <a:lnTo>
                    <a:pt x="944880" y="239268"/>
                  </a:lnTo>
                  <a:lnTo>
                    <a:pt x="952500" y="234696"/>
                  </a:lnTo>
                  <a:lnTo>
                    <a:pt x="954024" y="233553"/>
                  </a:lnTo>
                  <a:close/>
                </a:path>
                <a:path w="972820" h="242569">
                  <a:moveTo>
                    <a:pt x="954024" y="27940"/>
                  </a:moveTo>
                  <a:lnTo>
                    <a:pt x="954024" y="25908"/>
                  </a:lnTo>
                  <a:lnTo>
                    <a:pt x="952500" y="25908"/>
                  </a:lnTo>
                  <a:lnTo>
                    <a:pt x="954024" y="27940"/>
                  </a:lnTo>
                  <a:close/>
                </a:path>
                <a:path w="972820" h="242569">
                  <a:moveTo>
                    <a:pt x="957072" y="231267"/>
                  </a:moveTo>
                  <a:lnTo>
                    <a:pt x="957072" y="210312"/>
                  </a:lnTo>
                  <a:lnTo>
                    <a:pt x="952500" y="216408"/>
                  </a:lnTo>
                  <a:lnTo>
                    <a:pt x="954024" y="214884"/>
                  </a:lnTo>
                  <a:lnTo>
                    <a:pt x="954024" y="233553"/>
                  </a:lnTo>
                  <a:lnTo>
                    <a:pt x="957072" y="231267"/>
                  </a:lnTo>
                  <a:close/>
                </a:path>
                <a:path w="972820" h="242569">
                  <a:moveTo>
                    <a:pt x="957072" y="34290"/>
                  </a:moveTo>
                  <a:lnTo>
                    <a:pt x="957072" y="32004"/>
                  </a:lnTo>
                  <a:lnTo>
                    <a:pt x="955548" y="30480"/>
                  </a:lnTo>
                  <a:lnTo>
                    <a:pt x="957072" y="34290"/>
                  </a:lnTo>
                  <a:close/>
                </a:path>
                <a:path w="972820" h="242569">
                  <a:moveTo>
                    <a:pt x="958596" y="230124"/>
                  </a:moveTo>
                  <a:lnTo>
                    <a:pt x="958596" y="204216"/>
                  </a:lnTo>
                  <a:lnTo>
                    <a:pt x="955548" y="210312"/>
                  </a:lnTo>
                  <a:lnTo>
                    <a:pt x="957072" y="210312"/>
                  </a:lnTo>
                  <a:lnTo>
                    <a:pt x="957072" y="231267"/>
                  </a:lnTo>
                  <a:lnTo>
                    <a:pt x="958596" y="230124"/>
                  </a:lnTo>
                  <a:close/>
                </a:path>
              </a:pathLst>
            </a:custGeom>
            <a:solidFill>
              <a:srgbClr val="88A3A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945379" y="2391155"/>
              <a:ext cx="958595" cy="2301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4937760" y="2385060"/>
              <a:ext cx="972819" cy="243840"/>
            </a:xfrm>
            <a:custGeom>
              <a:avLst/>
              <a:gdLst/>
              <a:ahLst/>
              <a:cxnLst/>
              <a:rect l="l" t="t" r="r" b="b"/>
              <a:pathLst>
                <a:path w="972820" h="243839">
                  <a:moveTo>
                    <a:pt x="972312" y="198120"/>
                  </a:moveTo>
                  <a:lnTo>
                    <a:pt x="972312" y="44196"/>
                  </a:lnTo>
                  <a:lnTo>
                    <a:pt x="970788" y="35052"/>
                  </a:lnTo>
                  <a:lnTo>
                    <a:pt x="944880" y="3048"/>
                  </a:lnTo>
                  <a:lnTo>
                    <a:pt x="935736" y="0"/>
                  </a:lnTo>
                  <a:lnTo>
                    <a:pt x="36576" y="0"/>
                  </a:lnTo>
                  <a:lnTo>
                    <a:pt x="1524" y="35052"/>
                  </a:lnTo>
                  <a:lnTo>
                    <a:pt x="0" y="44196"/>
                  </a:lnTo>
                  <a:lnTo>
                    <a:pt x="0" y="198120"/>
                  </a:lnTo>
                  <a:lnTo>
                    <a:pt x="1524" y="207264"/>
                  </a:lnTo>
                  <a:lnTo>
                    <a:pt x="4572" y="216408"/>
                  </a:lnTo>
                  <a:lnTo>
                    <a:pt x="7620" y="224028"/>
                  </a:lnTo>
                  <a:lnTo>
                    <a:pt x="13716" y="230124"/>
                  </a:lnTo>
                  <a:lnTo>
                    <a:pt x="13716" y="38100"/>
                  </a:lnTo>
                  <a:lnTo>
                    <a:pt x="15240" y="35052"/>
                  </a:lnTo>
                  <a:lnTo>
                    <a:pt x="15240" y="32004"/>
                  </a:lnTo>
                  <a:lnTo>
                    <a:pt x="18288" y="27940"/>
                  </a:lnTo>
                  <a:lnTo>
                    <a:pt x="18288" y="27432"/>
                  </a:lnTo>
                  <a:lnTo>
                    <a:pt x="22860" y="21336"/>
                  </a:lnTo>
                  <a:lnTo>
                    <a:pt x="22860" y="22860"/>
                  </a:lnTo>
                  <a:lnTo>
                    <a:pt x="27432" y="16764"/>
                  </a:lnTo>
                  <a:lnTo>
                    <a:pt x="27432" y="18288"/>
                  </a:lnTo>
                  <a:lnTo>
                    <a:pt x="32004" y="16002"/>
                  </a:lnTo>
                  <a:lnTo>
                    <a:pt x="32004" y="15240"/>
                  </a:lnTo>
                  <a:lnTo>
                    <a:pt x="39624" y="12192"/>
                  </a:lnTo>
                  <a:lnTo>
                    <a:pt x="39624" y="13411"/>
                  </a:lnTo>
                  <a:lnTo>
                    <a:pt x="45720" y="12192"/>
                  </a:lnTo>
                  <a:lnTo>
                    <a:pt x="926592" y="12192"/>
                  </a:lnTo>
                  <a:lnTo>
                    <a:pt x="932688" y="13411"/>
                  </a:lnTo>
                  <a:lnTo>
                    <a:pt x="932688" y="12192"/>
                  </a:lnTo>
                  <a:lnTo>
                    <a:pt x="940308" y="15240"/>
                  </a:lnTo>
                  <a:lnTo>
                    <a:pt x="940308" y="16002"/>
                  </a:lnTo>
                  <a:lnTo>
                    <a:pt x="944880" y="18288"/>
                  </a:lnTo>
                  <a:lnTo>
                    <a:pt x="944880" y="16764"/>
                  </a:lnTo>
                  <a:lnTo>
                    <a:pt x="950976" y="22860"/>
                  </a:lnTo>
                  <a:lnTo>
                    <a:pt x="950976" y="23368"/>
                  </a:lnTo>
                  <a:lnTo>
                    <a:pt x="954024" y="27432"/>
                  </a:lnTo>
                  <a:lnTo>
                    <a:pt x="954024" y="25908"/>
                  </a:lnTo>
                  <a:lnTo>
                    <a:pt x="957072" y="32004"/>
                  </a:lnTo>
                  <a:lnTo>
                    <a:pt x="958596" y="38100"/>
                  </a:lnTo>
                  <a:lnTo>
                    <a:pt x="958596" y="230124"/>
                  </a:lnTo>
                  <a:lnTo>
                    <a:pt x="964692" y="224028"/>
                  </a:lnTo>
                  <a:lnTo>
                    <a:pt x="967740" y="216408"/>
                  </a:lnTo>
                  <a:lnTo>
                    <a:pt x="970788" y="207264"/>
                  </a:lnTo>
                  <a:lnTo>
                    <a:pt x="972312" y="198120"/>
                  </a:lnTo>
                  <a:close/>
                </a:path>
                <a:path w="972820" h="243839">
                  <a:moveTo>
                    <a:pt x="16764" y="211836"/>
                  </a:moveTo>
                  <a:lnTo>
                    <a:pt x="13716" y="204216"/>
                  </a:lnTo>
                  <a:lnTo>
                    <a:pt x="13716" y="230124"/>
                  </a:lnTo>
                  <a:lnTo>
                    <a:pt x="15240" y="231648"/>
                  </a:lnTo>
                  <a:lnTo>
                    <a:pt x="15240" y="210312"/>
                  </a:lnTo>
                  <a:lnTo>
                    <a:pt x="16764" y="211836"/>
                  </a:lnTo>
                  <a:close/>
                </a:path>
                <a:path w="972820" h="243839">
                  <a:moveTo>
                    <a:pt x="16764" y="32004"/>
                  </a:moveTo>
                  <a:lnTo>
                    <a:pt x="15240" y="32004"/>
                  </a:lnTo>
                  <a:lnTo>
                    <a:pt x="15240" y="35052"/>
                  </a:lnTo>
                  <a:lnTo>
                    <a:pt x="16764" y="32004"/>
                  </a:lnTo>
                  <a:close/>
                </a:path>
                <a:path w="972820" h="243839">
                  <a:moveTo>
                    <a:pt x="19812" y="216408"/>
                  </a:moveTo>
                  <a:lnTo>
                    <a:pt x="15240" y="210312"/>
                  </a:lnTo>
                  <a:lnTo>
                    <a:pt x="15240" y="231648"/>
                  </a:lnTo>
                  <a:lnTo>
                    <a:pt x="18288" y="234696"/>
                  </a:lnTo>
                  <a:lnTo>
                    <a:pt x="18288" y="216408"/>
                  </a:lnTo>
                  <a:lnTo>
                    <a:pt x="19812" y="216408"/>
                  </a:lnTo>
                  <a:close/>
                </a:path>
                <a:path w="972820" h="243839">
                  <a:moveTo>
                    <a:pt x="19812" y="25908"/>
                  </a:moveTo>
                  <a:lnTo>
                    <a:pt x="18288" y="27432"/>
                  </a:lnTo>
                  <a:lnTo>
                    <a:pt x="18288" y="27940"/>
                  </a:lnTo>
                  <a:lnTo>
                    <a:pt x="19812" y="25908"/>
                  </a:lnTo>
                  <a:close/>
                </a:path>
                <a:path w="972820" h="243839">
                  <a:moveTo>
                    <a:pt x="33528" y="241300"/>
                  </a:moveTo>
                  <a:lnTo>
                    <a:pt x="33528" y="228600"/>
                  </a:lnTo>
                  <a:lnTo>
                    <a:pt x="27432" y="224028"/>
                  </a:lnTo>
                  <a:lnTo>
                    <a:pt x="27432" y="225552"/>
                  </a:lnTo>
                  <a:lnTo>
                    <a:pt x="18288" y="216408"/>
                  </a:lnTo>
                  <a:lnTo>
                    <a:pt x="18288" y="234696"/>
                  </a:lnTo>
                  <a:lnTo>
                    <a:pt x="19812" y="236220"/>
                  </a:lnTo>
                  <a:lnTo>
                    <a:pt x="27432" y="239268"/>
                  </a:lnTo>
                  <a:lnTo>
                    <a:pt x="33528" y="241300"/>
                  </a:lnTo>
                  <a:close/>
                </a:path>
                <a:path w="972820" h="243839">
                  <a:moveTo>
                    <a:pt x="33528" y="15240"/>
                  </a:moveTo>
                  <a:lnTo>
                    <a:pt x="32004" y="15240"/>
                  </a:lnTo>
                  <a:lnTo>
                    <a:pt x="32004" y="16002"/>
                  </a:lnTo>
                  <a:lnTo>
                    <a:pt x="33528" y="15240"/>
                  </a:lnTo>
                  <a:close/>
                </a:path>
                <a:path w="972820" h="243839">
                  <a:moveTo>
                    <a:pt x="39624" y="230124"/>
                  </a:moveTo>
                  <a:lnTo>
                    <a:pt x="32004" y="227076"/>
                  </a:lnTo>
                  <a:lnTo>
                    <a:pt x="33528" y="228600"/>
                  </a:lnTo>
                  <a:lnTo>
                    <a:pt x="33528" y="241300"/>
                  </a:lnTo>
                  <a:lnTo>
                    <a:pt x="36576" y="242316"/>
                  </a:lnTo>
                  <a:lnTo>
                    <a:pt x="38100" y="242570"/>
                  </a:lnTo>
                  <a:lnTo>
                    <a:pt x="38100" y="230124"/>
                  </a:lnTo>
                  <a:lnTo>
                    <a:pt x="39624" y="230124"/>
                  </a:lnTo>
                  <a:close/>
                </a:path>
                <a:path w="972820" h="243839">
                  <a:moveTo>
                    <a:pt x="39624" y="13411"/>
                  </a:moveTo>
                  <a:lnTo>
                    <a:pt x="39624" y="12192"/>
                  </a:lnTo>
                  <a:lnTo>
                    <a:pt x="38100" y="13716"/>
                  </a:lnTo>
                  <a:lnTo>
                    <a:pt x="39624" y="13411"/>
                  </a:lnTo>
                  <a:close/>
                </a:path>
                <a:path w="972820" h="243839">
                  <a:moveTo>
                    <a:pt x="934212" y="242620"/>
                  </a:moveTo>
                  <a:lnTo>
                    <a:pt x="934212" y="230124"/>
                  </a:lnTo>
                  <a:lnTo>
                    <a:pt x="38100" y="230124"/>
                  </a:lnTo>
                  <a:lnTo>
                    <a:pt x="38100" y="242570"/>
                  </a:lnTo>
                  <a:lnTo>
                    <a:pt x="45720" y="243840"/>
                  </a:lnTo>
                  <a:lnTo>
                    <a:pt x="928116" y="243840"/>
                  </a:lnTo>
                  <a:lnTo>
                    <a:pt x="934212" y="242620"/>
                  </a:lnTo>
                  <a:close/>
                </a:path>
                <a:path w="972820" h="243839">
                  <a:moveTo>
                    <a:pt x="934212" y="13716"/>
                  </a:moveTo>
                  <a:lnTo>
                    <a:pt x="932688" y="12192"/>
                  </a:lnTo>
                  <a:lnTo>
                    <a:pt x="932688" y="13411"/>
                  </a:lnTo>
                  <a:lnTo>
                    <a:pt x="934212" y="13716"/>
                  </a:lnTo>
                  <a:close/>
                </a:path>
                <a:path w="972820" h="243839">
                  <a:moveTo>
                    <a:pt x="940308" y="227076"/>
                  </a:moveTo>
                  <a:lnTo>
                    <a:pt x="932688" y="230124"/>
                  </a:lnTo>
                  <a:lnTo>
                    <a:pt x="934212" y="230124"/>
                  </a:lnTo>
                  <a:lnTo>
                    <a:pt x="934212" y="242620"/>
                  </a:lnTo>
                  <a:lnTo>
                    <a:pt x="935736" y="242316"/>
                  </a:lnTo>
                  <a:lnTo>
                    <a:pt x="938784" y="241300"/>
                  </a:lnTo>
                  <a:lnTo>
                    <a:pt x="938784" y="228600"/>
                  </a:lnTo>
                  <a:lnTo>
                    <a:pt x="940308" y="227076"/>
                  </a:lnTo>
                  <a:close/>
                </a:path>
                <a:path w="972820" h="243839">
                  <a:moveTo>
                    <a:pt x="940308" y="16002"/>
                  </a:moveTo>
                  <a:lnTo>
                    <a:pt x="940308" y="15240"/>
                  </a:lnTo>
                  <a:lnTo>
                    <a:pt x="938784" y="15240"/>
                  </a:lnTo>
                  <a:lnTo>
                    <a:pt x="940308" y="16002"/>
                  </a:lnTo>
                  <a:close/>
                </a:path>
                <a:path w="972820" h="243839">
                  <a:moveTo>
                    <a:pt x="950976" y="236829"/>
                  </a:moveTo>
                  <a:lnTo>
                    <a:pt x="950976" y="220980"/>
                  </a:lnTo>
                  <a:lnTo>
                    <a:pt x="944880" y="225552"/>
                  </a:lnTo>
                  <a:lnTo>
                    <a:pt x="944880" y="224028"/>
                  </a:lnTo>
                  <a:lnTo>
                    <a:pt x="938784" y="228600"/>
                  </a:lnTo>
                  <a:lnTo>
                    <a:pt x="938784" y="241300"/>
                  </a:lnTo>
                  <a:lnTo>
                    <a:pt x="944880" y="239268"/>
                  </a:lnTo>
                  <a:lnTo>
                    <a:pt x="950976" y="236829"/>
                  </a:lnTo>
                  <a:close/>
                </a:path>
                <a:path w="972820" h="243839">
                  <a:moveTo>
                    <a:pt x="950976" y="23368"/>
                  </a:moveTo>
                  <a:lnTo>
                    <a:pt x="950976" y="22860"/>
                  </a:lnTo>
                  <a:lnTo>
                    <a:pt x="949452" y="21336"/>
                  </a:lnTo>
                  <a:lnTo>
                    <a:pt x="950976" y="23368"/>
                  </a:lnTo>
                  <a:close/>
                </a:path>
                <a:path w="972820" h="243839">
                  <a:moveTo>
                    <a:pt x="958596" y="230124"/>
                  </a:moveTo>
                  <a:lnTo>
                    <a:pt x="958596" y="204216"/>
                  </a:lnTo>
                  <a:lnTo>
                    <a:pt x="957072" y="211836"/>
                  </a:lnTo>
                  <a:lnTo>
                    <a:pt x="957072" y="210312"/>
                  </a:lnTo>
                  <a:lnTo>
                    <a:pt x="954024" y="216408"/>
                  </a:lnTo>
                  <a:lnTo>
                    <a:pt x="949452" y="220980"/>
                  </a:lnTo>
                  <a:lnTo>
                    <a:pt x="950976" y="220980"/>
                  </a:lnTo>
                  <a:lnTo>
                    <a:pt x="950976" y="236829"/>
                  </a:lnTo>
                  <a:lnTo>
                    <a:pt x="952500" y="236220"/>
                  </a:lnTo>
                  <a:lnTo>
                    <a:pt x="958596" y="230124"/>
                  </a:lnTo>
                  <a:close/>
                </a:path>
              </a:pathLst>
            </a:custGeom>
            <a:solidFill>
              <a:srgbClr val="88A3A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97648" y="4516417"/>
            <a:ext cx="1501588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0288" marR="4483" indent="-349642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Arial"/>
                <a:cs typeface="Arial"/>
              </a:rPr>
              <a:t>Shrinked Representation  (Bottle</a:t>
            </a:r>
            <a:r>
              <a:rPr sz="1059" spc="-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9" spc="-4" dirty="0">
                <a:solidFill>
                  <a:srgbClr val="FFFFFF"/>
                </a:solidFill>
                <a:latin typeface="Arial"/>
                <a:cs typeface="Arial"/>
              </a:rPr>
              <a:t>Neck)</a:t>
            </a:r>
            <a:endParaRPr sz="1059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31777" y="4056978"/>
            <a:ext cx="5467910" cy="458881"/>
            <a:chOff x="1783080" y="4597908"/>
            <a:chExt cx="6196965" cy="520065"/>
          </a:xfrm>
        </p:grpSpPr>
        <p:sp>
          <p:nvSpPr>
            <p:cNvPr id="14" name="object 14"/>
            <p:cNvSpPr/>
            <p:nvPr/>
          </p:nvSpPr>
          <p:spPr>
            <a:xfrm>
              <a:off x="5039868" y="4727448"/>
              <a:ext cx="85725" cy="273050"/>
            </a:xfrm>
            <a:custGeom>
              <a:avLst/>
              <a:gdLst/>
              <a:ahLst/>
              <a:cxnLst/>
              <a:rect l="l" t="t" r="r" b="b"/>
              <a:pathLst>
                <a:path w="85725" h="273050">
                  <a:moveTo>
                    <a:pt x="85344" y="85344"/>
                  </a:moveTo>
                  <a:lnTo>
                    <a:pt x="42672" y="0"/>
                  </a:lnTo>
                  <a:lnTo>
                    <a:pt x="0" y="85344"/>
                  </a:lnTo>
                  <a:lnTo>
                    <a:pt x="28956" y="85344"/>
                  </a:lnTo>
                  <a:lnTo>
                    <a:pt x="28956" y="71628"/>
                  </a:lnTo>
                  <a:lnTo>
                    <a:pt x="57912" y="71628"/>
                  </a:lnTo>
                  <a:lnTo>
                    <a:pt x="57912" y="85344"/>
                  </a:lnTo>
                  <a:lnTo>
                    <a:pt x="85344" y="85344"/>
                  </a:lnTo>
                  <a:close/>
                </a:path>
                <a:path w="85725" h="273050">
                  <a:moveTo>
                    <a:pt x="57912" y="85344"/>
                  </a:moveTo>
                  <a:lnTo>
                    <a:pt x="57912" y="71628"/>
                  </a:lnTo>
                  <a:lnTo>
                    <a:pt x="28956" y="71628"/>
                  </a:lnTo>
                  <a:lnTo>
                    <a:pt x="28956" y="85344"/>
                  </a:lnTo>
                  <a:lnTo>
                    <a:pt x="57912" y="85344"/>
                  </a:lnTo>
                  <a:close/>
                </a:path>
                <a:path w="85725" h="273050">
                  <a:moveTo>
                    <a:pt x="57912" y="272796"/>
                  </a:moveTo>
                  <a:lnTo>
                    <a:pt x="57912" y="85344"/>
                  </a:lnTo>
                  <a:lnTo>
                    <a:pt x="28956" y="85344"/>
                  </a:lnTo>
                  <a:lnTo>
                    <a:pt x="28956" y="272796"/>
                  </a:lnTo>
                  <a:lnTo>
                    <a:pt x="57912" y="27279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9176" y="4916423"/>
              <a:ext cx="1152143" cy="1950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3080" y="4908804"/>
              <a:ext cx="1164590" cy="208915"/>
            </a:xfrm>
            <a:custGeom>
              <a:avLst/>
              <a:gdLst/>
              <a:ahLst/>
              <a:cxnLst/>
              <a:rect l="l" t="t" r="r" b="b"/>
              <a:pathLst>
                <a:path w="1164589" h="208914">
                  <a:moveTo>
                    <a:pt x="1164336" y="178308"/>
                  </a:moveTo>
                  <a:lnTo>
                    <a:pt x="1164336" y="32004"/>
                  </a:lnTo>
                  <a:lnTo>
                    <a:pt x="1161288" y="24384"/>
                  </a:lnTo>
                  <a:lnTo>
                    <a:pt x="1158240" y="18288"/>
                  </a:lnTo>
                  <a:lnTo>
                    <a:pt x="1153668" y="12192"/>
                  </a:lnTo>
                  <a:lnTo>
                    <a:pt x="1141476" y="3048"/>
                  </a:lnTo>
                  <a:lnTo>
                    <a:pt x="1126236" y="0"/>
                  </a:lnTo>
                  <a:lnTo>
                    <a:pt x="38100" y="0"/>
                  </a:lnTo>
                  <a:lnTo>
                    <a:pt x="3048" y="24384"/>
                  </a:lnTo>
                  <a:lnTo>
                    <a:pt x="0" y="39624"/>
                  </a:lnTo>
                  <a:lnTo>
                    <a:pt x="0" y="170688"/>
                  </a:lnTo>
                  <a:lnTo>
                    <a:pt x="1524" y="178308"/>
                  </a:lnTo>
                  <a:lnTo>
                    <a:pt x="3048" y="184404"/>
                  </a:lnTo>
                  <a:lnTo>
                    <a:pt x="6096" y="192024"/>
                  </a:lnTo>
                  <a:lnTo>
                    <a:pt x="12192" y="196596"/>
                  </a:lnTo>
                  <a:lnTo>
                    <a:pt x="12192" y="39624"/>
                  </a:lnTo>
                  <a:lnTo>
                    <a:pt x="13716" y="33528"/>
                  </a:lnTo>
                  <a:lnTo>
                    <a:pt x="13716" y="35052"/>
                  </a:lnTo>
                  <a:lnTo>
                    <a:pt x="15240" y="28956"/>
                  </a:lnTo>
                  <a:lnTo>
                    <a:pt x="15240" y="30480"/>
                  </a:lnTo>
                  <a:lnTo>
                    <a:pt x="16764" y="27432"/>
                  </a:lnTo>
                  <a:lnTo>
                    <a:pt x="16764" y="25908"/>
                  </a:lnTo>
                  <a:lnTo>
                    <a:pt x="19812" y="21844"/>
                  </a:lnTo>
                  <a:lnTo>
                    <a:pt x="19812" y="21336"/>
                  </a:lnTo>
                  <a:lnTo>
                    <a:pt x="24384" y="16764"/>
                  </a:lnTo>
                  <a:lnTo>
                    <a:pt x="24384" y="18288"/>
                  </a:lnTo>
                  <a:lnTo>
                    <a:pt x="28956" y="15240"/>
                  </a:lnTo>
                  <a:lnTo>
                    <a:pt x="33528" y="14097"/>
                  </a:lnTo>
                  <a:lnTo>
                    <a:pt x="33528" y="13716"/>
                  </a:lnTo>
                  <a:lnTo>
                    <a:pt x="1132332" y="13716"/>
                  </a:lnTo>
                  <a:lnTo>
                    <a:pt x="1132332" y="14097"/>
                  </a:lnTo>
                  <a:lnTo>
                    <a:pt x="1136904" y="15240"/>
                  </a:lnTo>
                  <a:lnTo>
                    <a:pt x="1136904" y="16002"/>
                  </a:lnTo>
                  <a:lnTo>
                    <a:pt x="1139952" y="17526"/>
                  </a:lnTo>
                  <a:lnTo>
                    <a:pt x="1139952" y="16764"/>
                  </a:lnTo>
                  <a:lnTo>
                    <a:pt x="1144524" y="21336"/>
                  </a:lnTo>
                  <a:lnTo>
                    <a:pt x="1144524" y="19812"/>
                  </a:lnTo>
                  <a:lnTo>
                    <a:pt x="1147572" y="25908"/>
                  </a:lnTo>
                  <a:lnTo>
                    <a:pt x="1147572" y="24384"/>
                  </a:lnTo>
                  <a:lnTo>
                    <a:pt x="1150620" y="30480"/>
                  </a:lnTo>
                  <a:lnTo>
                    <a:pt x="1150620" y="28956"/>
                  </a:lnTo>
                  <a:lnTo>
                    <a:pt x="1152144" y="35052"/>
                  </a:lnTo>
                  <a:lnTo>
                    <a:pt x="1152144" y="198120"/>
                  </a:lnTo>
                  <a:lnTo>
                    <a:pt x="1158240" y="192024"/>
                  </a:lnTo>
                  <a:lnTo>
                    <a:pt x="1161288" y="184404"/>
                  </a:lnTo>
                  <a:lnTo>
                    <a:pt x="1164336" y="178308"/>
                  </a:lnTo>
                  <a:close/>
                </a:path>
                <a:path w="1164589" h="208914">
                  <a:moveTo>
                    <a:pt x="18288" y="184404"/>
                  </a:moveTo>
                  <a:lnTo>
                    <a:pt x="15240" y="179832"/>
                  </a:lnTo>
                  <a:lnTo>
                    <a:pt x="13716" y="173736"/>
                  </a:lnTo>
                  <a:lnTo>
                    <a:pt x="13716" y="175260"/>
                  </a:lnTo>
                  <a:lnTo>
                    <a:pt x="12192" y="169164"/>
                  </a:lnTo>
                  <a:lnTo>
                    <a:pt x="12192" y="196596"/>
                  </a:lnTo>
                  <a:lnTo>
                    <a:pt x="16764" y="202692"/>
                  </a:lnTo>
                  <a:lnTo>
                    <a:pt x="16764" y="184404"/>
                  </a:lnTo>
                  <a:lnTo>
                    <a:pt x="18288" y="184404"/>
                  </a:lnTo>
                  <a:close/>
                </a:path>
                <a:path w="1164589" h="208914">
                  <a:moveTo>
                    <a:pt x="18288" y="24384"/>
                  </a:moveTo>
                  <a:lnTo>
                    <a:pt x="16764" y="25908"/>
                  </a:lnTo>
                  <a:lnTo>
                    <a:pt x="16764" y="27432"/>
                  </a:lnTo>
                  <a:lnTo>
                    <a:pt x="18288" y="24384"/>
                  </a:lnTo>
                  <a:close/>
                </a:path>
                <a:path w="1164589" h="208914">
                  <a:moveTo>
                    <a:pt x="35052" y="195072"/>
                  </a:moveTo>
                  <a:lnTo>
                    <a:pt x="28956" y="193548"/>
                  </a:lnTo>
                  <a:lnTo>
                    <a:pt x="24384" y="190500"/>
                  </a:lnTo>
                  <a:lnTo>
                    <a:pt x="24384" y="192024"/>
                  </a:lnTo>
                  <a:lnTo>
                    <a:pt x="16764" y="184404"/>
                  </a:lnTo>
                  <a:lnTo>
                    <a:pt x="16764" y="202692"/>
                  </a:lnTo>
                  <a:lnTo>
                    <a:pt x="24384" y="205740"/>
                  </a:lnTo>
                  <a:lnTo>
                    <a:pt x="30480" y="207264"/>
                  </a:lnTo>
                  <a:lnTo>
                    <a:pt x="33528" y="207873"/>
                  </a:lnTo>
                  <a:lnTo>
                    <a:pt x="33528" y="195072"/>
                  </a:lnTo>
                  <a:lnTo>
                    <a:pt x="35052" y="195072"/>
                  </a:lnTo>
                  <a:close/>
                </a:path>
                <a:path w="1164589" h="208914">
                  <a:moveTo>
                    <a:pt x="21336" y="19812"/>
                  </a:moveTo>
                  <a:lnTo>
                    <a:pt x="19812" y="21336"/>
                  </a:lnTo>
                  <a:lnTo>
                    <a:pt x="19812" y="21844"/>
                  </a:lnTo>
                  <a:lnTo>
                    <a:pt x="21336" y="19812"/>
                  </a:lnTo>
                  <a:close/>
                </a:path>
                <a:path w="1164589" h="208914">
                  <a:moveTo>
                    <a:pt x="35052" y="13716"/>
                  </a:moveTo>
                  <a:lnTo>
                    <a:pt x="33528" y="13716"/>
                  </a:lnTo>
                  <a:lnTo>
                    <a:pt x="33528" y="14097"/>
                  </a:lnTo>
                  <a:lnTo>
                    <a:pt x="35052" y="13716"/>
                  </a:lnTo>
                  <a:close/>
                </a:path>
                <a:path w="1164589" h="208914">
                  <a:moveTo>
                    <a:pt x="1132332" y="207568"/>
                  </a:moveTo>
                  <a:lnTo>
                    <a:pt x="1132332" y="195072"/>
                  </a:lnTo>
                  <a:lnTo>
                    <a:pt x="1126236" y="196596"/>
                  </a:lnTo>
                  <a:lnTo>
                    <a:pt x="39624" y="196596"/>
                  </a:lnTo>
                  <a:lnTo>
                    <a:pt x="33528" y="195072"/>
                  </a:lnTo>
                  <a:lnTo>
                    <a:pt x="33528" y="207873"/>
                  </a:lnTo>
                  <a:lnTo>
                    <a:pt x="38100" y="208788"/>
                  </a:lnTo>
                  <a:lnTo>
                    <a:pt x="1126236" y="208788"/>
                  </a:lnTo>
                  <a:lnTo>
                    <a:pt x="1132332" y="207568"/>
                  </a:lnTo>
                  <a:close/>
                </a:path>
                <a:path w="1164589" h="208914">
                  <a:moveTo>
                    <a:pt x="1132332" y="14097"/>
                  </a:moveTo>
                  <a:lnTo>
                    <a:pt x="1132332" y="13716"/>
                  </a:lnTo>
                  <a:lnTo>
                    <a:pt x="1130808" y="13716"/>
                  </a:lnTo>
                  <a:lnTo>
                    <a:pt x="1132332" y="14097"/>
                  </a:lnTo>
                  <a:close/>
                </a:path>
                <a:path w="1164589" h="208914">
                  <a:moveTo>
                    <a:pt x="1136904" y="206654"/>
                  </a:moveTo>
                  <a:lnTo>
                    <a:pt x="1136904" y="193548"/>
                  </a:lnTo>
                  <a:lnTo>
                    <a:pt x="1130808" y="195072"/>
                  </a:lnTo>
                  <a:lnTo>
                    <a:pt x="1132332" y="195072"/>
                  </a:lnTo>
                  <a:lnTo>
                    <a:pt x="1132332" y="207568"/>
                  </a:lnTo>
                  <a:lnTo>
                    <a:pt x="1136904" y="206654"/>
                  </a:lnTo>
                  <a:close/>
                </a:path>
                <a:path w="1164589" h="208914">
                  <a:moveTo>
                    <a:pt x="1136904" y="16002"/>
                  </a:moveTo>
                  <a:lnTo>
                    <a:pt x="1136904" y="15240"/>
                  </a:lnTo>
                  <a:lnTo>
                    <a:pt x="1135380" y="15240"/>
                  </a:lnTo>
                  <a:lnTo>
                    <a:pt x="1136904" y="16002"/>
                  </a:lnTo>
                  <a:close/>
                </a:path>
                <a:path w="1164589" h="208914">
                  <a:moveTo>
                    <a:pt x="1141476" y="190500"/>
                  </a:moveTo>
                  <a:lnTo>
                    <a:pt x="1135380" y="193548"/>
                  </a:lnTo>
                  <a:lnTo>
                    <a:pt x="1136904" y="193548"/>
                  </a:lnTo>
                  <a:lnTo>
                    <a:pt x="1136904" y="206654"/>
                  </a:lnTo>
                  <a:lnTo>
                    <a:pt x="1139952" y="206044"/>
                  </a:lnTo>
                  <a:lnTo>
                    <a:pt x="1139952" y="192024"/>
                  </a:lnTo>
                  <a:lnTo>
                    <a:pt x="1141476" y="190500"/>
                  </a:lnTo>
                  <a:close/>
                </a:path>
                <a:path w="1164589" h="208914">
                  <a:moveTo>
                    <a:pt x="1141476" y="18288"/>
                  </a:moveTo>
                  <a:lnTo>
                    <a:pt x="1139952" y="16764"/>
                  </a:lnTo>
                  <a:lnTo>
                    <a:pt x="1139952" y="17526"/>
                  </a:lnTo>
                  <a:lnTo>
                    <a:pt x="1141476" y="18288"/>
                  </a:lnTo>
                  <a:close/>
                </a:path>
                <a:path w="1164589" h="208914">
                  <a:moveTo>
                    <a:pt x="1152144" y="198120"/>
                  </a:moveTo>
                  <a:lnTo>
                    <a:pt x="1152144" y="173736"/>
                  </a:lnTo>
                  <a:lnTo>
                    <a:pt x="1150620" y="179832"/>
                  </a:lnTo>
                  <a:lnTo>
                    <a:pt x="1144524" y="188976"/>
                  </a:lnTo>
                  <a:lnTo>
                    <a:pt x="1144524" y="187452"/>
                  </a:lnTo>
                  <a:lnTo>
                    <a:pt x="1139952" y="192024"/>
                  </a:lnTo>
                  <a:lnTo>
                    <a:pt x="1139952" y="206044"/>
                  </a:lnTo>
                  <a:lnTo>
                    <a:pt x="1141476" y="205740"/>
                  </a:lnTo>
                  <a:lnTo>
                    <a:pt x="1147572" y="202692"/>
                  </a:lnTo>
                  <a:lnTo>
                    <a:pt x="1152144" y="198120"/>
                  </a:lnTo>
                  <a:close/>
                </a:path>
              </a:pathLst>
            </a:custGeom>
            <a:solidFill>
              <a:srgbClr val="88A3A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920483" y="4605527"/>
              <a:ext cx="1051559" cy="2910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914388" y="4597908"/>
              <a:ext cx="1065530" cy="304800"/>
            </a:xfrm>
            <a:custGeom>
              <a:avLst/>
              <a:gdLst/>
              <a:ahLst/>
              <a:cxnLst/>
              <a:rect l="l" t="t" r="r" b="b"/>
              <a:pathLst>
                <a:path w="1065529" h="304800">
                  <a:moveTo>
                    <a:pt x="1065276" y="249936"/>
                  </a:moveTo>
                  <a:lnTo>
                    <a:pt x="1065276" y="54864"/>
                  </a:lnTo>
                  <a:lnTo>
                    <a:pt x="1063752" y="44196"/>
                  </a:lnTo>
                  <a:lnTo>
                    <a:pt x="1040892" y="10668"/>
                  </a:lnTo>
                  <a:lnTo>
                    <a:pt x="1010412" y="0"/>
                  </a:lnTo>
                  <a:lnTo>
                    <a:pt x="54864" y="0"/>
                  </a:lnTo>
                  <a:lnTo>
                    <a:pt x="16764" y="16764"/>
                  </a:lnTo>
                  <a:lnTo>
                    <a:pt x="0" y="54864"/>
                  </a:lnTo>
                  <a:lnTo>
                    <a:pt x="0" y="249936"/>
                  </a:lnTo>
                  <a:lnTo>
                    <a:pt x="1524" y="260604"/>
                  </a:lnTo>
                  <a:lnTo>
                    <a:pt x="4572" y="271272"/>
                  </a:lnTo>
                  <a:lnTo>
                    <a:pt x="9144" y="280416"/>
                  </a:lnTo>
                  <a:lnTo>
                    <a:pt x="13716" y="285902"/>
                  </a:lnTo>
                  <a:lnTo>
                    <a:pt x="13716" y="47244"/>
                  </a:lnTo>
                  <a:lnTo>
                    <a:pt x="16764" y="38100"/>
                  </a:lnTo>
                  <a:lnTo>
                    <a:pt x="16764" y="39624"/>
                  </a:lnTo>
                  <a:lnTo>
                    <a:pt x="19812" y="34544"/>
                  </a:lnTo>
                  <a:lnTo>
                    <a:pt x="19812" y="32004"/>
                  </a:lnTo>
                  <a:lnTo>
                    <a:pt x="32004" y="19812"/>
                  </a:lnTo>
                  <a:lnTo>
                    <a:pt x="32004" y="20574"/>
                  </a:lnTo>
                  <a:lnTo>
                    <a:pt x="38100" y="17526"/>
                  </a:lnTo>
                  <a:lnTo>
                    <a:pt x="38100" y="16764"/>
                  </a:lnTo>
                  <a:lnTo>
                    <a:pt x="45720" y="14224"/>
                  </a:lnTo>
                  <a:lnTo>
                    <a:pt x="45720" y="13716"/>
                  </a:lnTo>
                  <a:lnTo>
                    <a:pt x="1019556" y="13716"/>
                  </a:lnTo>
                  <a:lnTo>
                    <a:pt x="1019556" y="14224"/>
                  </a:lnTo>
                  <a:lnTo>
                    <a:pt x="1027176" y="16764"/>
                  </a:lnTo>
                  <a:lnTo>
                    <a:pt x="1027176" y="17678"/>
                  </a:lnTo>
                  <a:lnTo>
                    <a:pt x="1033272" y="21336"/>
                  </a:lnTo>
                  <a:lnTo>
                    <a:pt x="1033272" y="19812"/>
                  </a:lnTo>
                  <a:lnTo>
                    <a:pt x="1045464" y="32004"/>
                  </a:lnTo>
                  <a:lnTo>
                    <a:pt x="1045464" y="34544"/>
                  </a:lnTo>
                  <a:lnTo>
                    <a:pt x="1048512" y="39624"/>
                  </a:lnTo>
                  <a:lnTo>
                    <a:pt x="1048512" y="38100"/>
                  </a:lnTo>
                  <a:lnTo>
                    <a:pt x="1051560" y="47244"/>
                  </a:lnTo>
                  <a:lnTo>
                    <a:pt x="1051560" y="284988"/>
                  </a:lnTo>
                  <a:lnTo>
                    <a:pt x="1060704" y="271272"/>
                  </a:lnTo>
                  <a:lnTo>
                    <a:pt x="1063752" y="260604"/>
                  </a:lnTo>
                  <a:lnTo>
                    <a:pt x="1065276" y="249936"/>
                  </a:lnTo>
                  <a:close/>
                </a:path>
                <a:path w="1065529" h="304800">
                  <a:moveTo>
                    <a:pt x="21336" y="274320"/>
                  </a:moveTo>
                  <a:lnTo>
                    <a:pt x="16764" y="266700"/>
                  </a:lnTo>
                  <a:lnTo>
                    <a:pt x="13716" y="257556"/>
                  </a:lnTo>
                  <a:lnTo>
                    <a:pt x="13716" y="285902"/>
                  </a:lnTo>
                  <a:lnTo>
                    <a:pt x="16764" y="289560"/>
                  </a:lnTo>
                  <a:lnTo>
                    <a:pt x="19812" y="291998"/>
                  </a:lnTo>
                  <a:lnTo>
                    <a:pt x="19812" y="272796"/>
                  </a:lnTo>
                  <a:lnTo>
                    <a:pt x="21336" y="274320"/>
                  </a:lnTo>
                  <a:close/>
                </a:path>
                <a:path w="1065529" h="304800">
                  <a:moveTo>
                    <a:pt x="21336" y="32004"/>
                  </a:moveTo>
                  <a:lnTo>
                    <a:pt x="19812" y="32004"/>
                  </a:lnTo>
                  <a:lnTo>
                    <a:pt x="19812" y="34544"/>
                  </a:lnTo>
                  <a:lnTo>
                    <a:pt x="21336" y="32004"/>
                  </a:lnTo>
                  <a:close/>
                </a:path>
                <a:path w="1065529" h="304800">
                  <a:moveTo>
                    <a:pt x="25908" y="280416"/>
                  </a:moveTo>
                  <a:lnTo>
                    <a:pt x="19812" y="272796"/>
                  </a:lnTo>
                  <a:lnTo>
                    <a:pt x="19812" y="291998"/>
                  </a:lnTo>
                  <a:lnTo>
                    <a:pt x="24384" y="295656"/>
                  </a:lnTo>
                  <a:lnTo>
                    <a:pt x="24384" y="280416"/>
                  </a:lnTo>
                  <a:lnTo>
                    <a:pt x="25908" y="280416"/>
                  </a:lnTo>
                  <a:close/>
                </a:path>
                <a:path w="1065529" h="304800">
                  <a:moveTo>
                    <a:pt x="32004" y="284988"/>
                  </a:moveTo>
                  <a:lnTo>
                    <a:pt x="24384" y="280416"/>
                  </a:lnTo>
                  <a:lnTo>
                    <a:pt x="24384" y="295656"/>
                  </a:lnTo>
                  <a:lnTo>
                    <a:pt x="30480" y="298704"/>
                  </a:lnTo>
                  <a:lnTo>
                    <a:pt x="30480" y="284988"/>
                  </a:lnTo>
                  <a:lnTo>
                    <a:pt x="32004" y="284988"/>
                  </a:lnTo>
                  <a:close/>
                </a:path>
                <a:path w="1065529" h="304800">
                  <a:moveTo>
                    <a:pt x="32004" y="20574"/>
                  </a:moveTo>
                  <a:lnTo>
                    <a:pt x="32004" y="19812"/>
                  </a:lnTo>
                  <a:lnTo>
                    <a:pt x="30480" y="21336"/>
                  </a:lnTo>
                  <a:lnTo>
                    <a:pt x="32004" y="20574"/>
                  </a:lnTo>
                  <a:close/>
                </a:path>
                <a:path w="1065529" h="304800">
                  <a:moveTo>
                    <a:pt x="39624" y="289560"/>
                  </a:moveTo>
                  <a:lnTo>
                    <a:pt x="30480" y="284988"/>
                  </a:lnTo>
                  <a:lnTo>
                    <a:pt x="30480" y="298704"/>
                  </a:lnTo>
                  <a:lnTo>
                    <a:pt x="33528" y="300228"/>
                  </a:lnTo>
                  <a:lnTo>
                    <a:pt x="38100" y="302187"/>
                  </a:lnTo>
                  <a:lnTo>
                    <a:pt x="38100" y="289560"/>
                  </a:lnTo>
                  <a:lnTo>
                    <a:pt x="39624" y="289560"/>
                  </a:lnTo>
                  <a:close/>
                </a:path>
                <a:path w="1065529" h="304800">
                  <a:moveTo>
                    <a:pt x="39624" y="16764"/>
                  </a:moveTo>
                  <a:lnTo>
                    <a:pt x="38100" y="16764"/>
                  </a:lnTo>
                  <a:lnTo>
                    <a:pt x="38100" y="17526"/>
                  </a:lnTo>
                  <a:lnTo>
                    <a:pt x="39624" y="16764"/>
                  </a:lnTo>
                  <a:close/>
                </a:path>
                <a:path w="1065529" h="304800">
                  <a:moveTo>
                    <a:pt x="47244" y="291084"/>
                  </a:moveTo>
                  <a:lnTo>
                    <a:pt x="38100" y="289560"/>
                  </a:lnTo>
                  <a:lnTo>
                    <a:pt x="38100" y="302187"/>
                  </a:lnTo>
                  <a:lnTo>
                    <a:pt x="44196" y="304800"/>
                  </a:lnTo>
                  <a:lnTo>
                    <a:pt x="45720" y="304800"/>
                  </a:lnTo>
                  <a:lnTo>
                    <a:pt x="45720" y="291084"/>
                  </a:lnTo>
                  <a:lnTo>
                    <a:pt x="47244" y="291084"/>
                  </a:lnTo>
                  <a:close/>
                </a:path>
                <a:path w="1065529" h="304800">
                  <a:moveTo>
                    <a:pt x="47244" y="13716"/>
                  </a:moveTo>
                  <a:lnTo>
                    <a:pt x="45720" y="13716"/>
                  </a:lnTo>
                  <a:lnTo>
                    <a:pt x="45720" y="14224"/>
                  </a:lnTo>
                  <a:lnTo>
                    <a:pt x="47244" y="13716"/>
                  </a:lnTo>
                  <a:close/>
                </a:path>
                <a:path w="1065529" h="304800">
                  <a:moveTo>
                    <a:pt x="56388" y="292608"/>
                  </a:moveTo>
                  <a:lnTo>
                    <a:pt x="45720" y="291084"/>
                  </a:lnTo>
                  <a:lnTo>
                    <a:pt x="45720" y="304800"/>
                  </a:lnTo>
                  <a:lnTo>
                    <a:pt x="54864" y="304800"/>
                  </a:lnTo>
                  <a:lnTo>
                    <a:pt x="54864" y="292608"/>
                  </a:lnTo>
                  <a:lnTo>
                    <a:pt x="56388" y="292608"/>
                  </a:lnTo>
                  <a:close/>
                </a:path>
                <a:path w="1065529" h="304800">
                  <a:moveTo>
                    <a:pt x="1010412" y="304800"/>
                  </a:moveTo>
                  <a:lnTo>
                    <a:pt x="1010412" y="292608"/>
                  </a:lnTo>
                  <a:lnTo>
                    <a:pt x="54864" y="292608"/>
                  </a:lnTo>
                  <a:lnTo>
                    <a:pt x="54864" y="304800"/>
                  </a:lnTo>
                  <a:lnTo>
                    <a:pt x="1010412" y="304800"/>
                  </a:lnTo>
                  <a:close/>
                </a:path>
                <a:path w="1065529" h="304800">
                  <a:moveTo>
                    <a:pt x="1019556" y="304800"/>
                  </a:moveTo>
                  <a:lnTo>
                    <a:pt x="1019556" y="291084"/>
                  </a:lnTo>
                  <a:lnTo>
                    <a:pt x="1008888" y="292608"/>
                  </a:lnTo>
                  <a:lnTo>
                    <a:pt x="1010412" y="292608"/>
                  </a:lnTo>
                  <a:lnTo>
                    <a:pt x="1010412" y="304800"/>
                  </a:lnTo>
                  <a:lnTo>
                    <a:pt x="1019556" y="304800"/>
                  </a:lnTo>
                  <a:close/>
                </a:path>
                <a:path w="1065529" h="304800">
                  <a:moveTo>
                    <a:pt x="1019556" y="14224"/>
                  </a:moveTo>
                  <a:lnTo>
                    <a:pt x="1019556" y="13716"/>
                  </a:lnTo>
                  <a:lnTo>
                    <a:pt x="1018032" y="13716"/>
                  </a:lnTo>
                  <a:lnTo>
                    <a:pt x="1019556" y="14224"/>
                  </a:lnTo>
                  <a:close/>
                </a:path>
                <a:path w="1065529" h="304800">
                  <a:moveTo>
                    <a:pt x="1027176" y="302187"/>
                  </a:moveTo>
                  <a:lnTo>
                    <a:pt x="1027176" y="289560"/>
                  </a:lnTo>
                  <a:lnTo>
                    <a:pt x="1018032" y="291084"/>
                  </a:lnTo>
                  <a:lnTo>
                    <a:pt x="1019556" y="291084"/>
                  </a:lnTo>
                  <a:lnTo>
                    <a:pt x="1019556" y="304800"/>
                  </a:lnTo>
                  <a:lnTo>
                    <a:pt x="1021080" y="304800"/>
                  </a:lnTo>
                  <a:lnTo>
                    <a:pt x="1027176" y="302187"/>
                  </a:lnTo>
                  <a:close/>
                </a:path>
                <a:path w="1065529" h="304800">
                  <a:moveTo>
                    <a:pt x="1027176" y="17678"/>
                  </a:moveTo>
                  <a:lnTo>
                    <a:pt x="1027176" y="16764"/>
                  </a:lnTo>
                  <a:lnTo>
                    <a:pt x="1025652" y="16764"/>
                  </a:lnTo>
                  <a:lnTo>
                    <a:pt x="1027176" y="17678"/>
                  </a:lnTo>
                  <a:close/>
                </a:path>
                <a:path w="1065529" h="304800">
                  <a:moveTo>
                    <a:pt x="1040892" y="295656"/>
                  </a:moveTo>
                  <a:lnTo>
                    <a:pt x="1040892" y="280416"/>
                  </a:lnTo>
                  <a:lnTo>
                    <a:pt x="1025652" y="289560"/>
                  </a:lnTo>
                  <a:lnTo>
                    <a:pt x="1027176" y="289560"/>
                  </a:lnTo>
                  <a:lnTo>
                    <a:pt x="1027176" y="302187"/>
                  </a:lnTo>
                  <a:lnTo>
                    <a:pt x="1031748" y="300228"/>
                  </a:lnTo>
                  <a:lnTo>
                    <a:pt x="1040892" y="295656"/>
                  </a:lnTo>
                  <a:close/>
                </a:path>
                <a:path w="1065529" h="304800">
                  <a:moveTo>
                    <a:pt x="1045464" y="291998"/>
                  </a:moveTo>
                  <a:lnTo>
                    <a:pt x="1045464" y="272796"/>
                  </a:lnTo>
                  <a:lnTo>
                    <a:pt x="1039368" y="280416"/>
                  </a:lnTo>
                  <a:lnTo>
                    <a:pt x="1040892" y="280416"/>
                  </a:lnTo>
                  <a:lnTo>
                    <a:pt x="1040892" y="295656"/>
                  </a:lnTo>
                  <a:lnTo>
                    <a:pt x="1045464" y="291998"/>
                  </a:lnTo>
                  <a:close/>
                </a:path>
                <a:path w="1065529" h="304800">
                  <a:moveTo>
                    <a:pt x="1045464" y="34544"/>
                  </a:moveTo>
                  <a:lnTo>
                    <a:pt x="1045464" y="32004"/>
                  </a:lnTo>
                  <a:lnTo>
                    <a:pt x="1043940" y="32004"/>
                  </a:lnTo>
                  <a:lnTo>
                    <a:pt x="1045464" y="34544"/>
                  </a:lnTo>
                  <a:close/>
                </a:path>
                <a:path w="1065529" h="304800">
                  <a:moveTo>
                    <a:pt x="1051560" y="284988"/>
                  </a:moveTo>
                  <a:lnTo>
                    <a:pt x="1051560" y="257556"/>
                  </a:lnTo>
                  <a:lnTo>
                    <a:pt x="1048512" y="266700"/>
                  </a:lnTo>
                  <a:lnTo>
                    <a:pt x="1043940" y="274320"/>
                  </a:lnTo>
                  <a:lnTo>
                    <a:pt x="1045464" y="272796"/>
                  </a:lnTo>
                  <a:lnTo>
                    <a:pt x="1045464" y="291998"/>
                  </a:lnTo>
                  <a:lnTo>
                    <a:pt x="1048512" y="289560"/>
                  </a:lnTo>
                  <a:lnTo>
                    <a:pt x="1051560" y="284988"/>
                  </a:lnTo>
                  <a:close/>
                </a:path>
              </a:pathLst>
            </a:custGeom>
            <a:solidFill>
              <a:srgbClr val="88A3A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09344" y="1967556"/>
            <a:ext cx="1824318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"/>
                <a:cs typeface="Arial"/>
              </a:rPr>
              <a:t>120M</a:t>
            </a:r>
            <a:r>
              <a:rPr sz="1588" spc="-44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Computations</a:t>
            </a:r>
            <a:endParaRPr sz="1588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48097" y="5623197"/>
            <a:ext cx="646523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"/>
                <a:cs typeface="Arial"/>
              </a:rPr>
              <a:t>Computations: </a:t>
            </a:r>
            <a:r>
              <a:rPr sz="1588" spc="-9" dirty="0">
                <a:latin typeface="Arial"/>
                <a:cs typeface="Arial"/>
              </a:rPr>
              <a:t>(28x28x16) </a:t>
            </a:r>
            <a:r>
              <a:rPr sz="1588" dirty="0">
                <a:latin typeface="Arial"/>
                <a:cs typeface="Arial"/>
              </a:rPr>
              <a:t>x </a:t>
            </a:r>
            <a:r>
              <a:rPr sz="1588" spc="-9" dirty="0">
                <a:latin typeface="Arial"/>
                <a:cs typeface="Arial"/>
              </a:rPr>
              <a:t>(1x1x192)+ (28x28x32) </a:t>
            </a:r>
            <a:r>
              <a:rPr sz="1588" dirty="0">
                <a:latin typeface="Arial"/>
                <a:cs typeface="Arial"/>
              </a:rPr>
              <a:t>x </a:t>
            </a:r>
            <a:r>
              <a:rPr sz="1588" spc="-9" dirty="0">
                <a:latin typeface="Arial"/>
                <a:cs typeface="Arial"/>
              </a:rPr>
              <a:t>(5x5x16) </a:t>
            </a:r>
            <a:r>
              <a:rPr sz="1588" dirty="0">
                <a:latin typeface="Arial"/>
                <a:cs typeface="Arial"/>
              </a:rPr>
              <a:t>=</a:t>
            </a:r>
            <a:r>
              <a:rPr sz="1588" spc="265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12.4M</a:t>
            </a:r>
            <a:endParaRPr sz="1588" dirty="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918538" y="953396"/>
            <a:ext cx="1211916" cy="328332"/>
          </a:xfrm>
          <a:custGeom>
            <a:avLst/>
            <a:gdLst/>
            <a:ahLst/>
            <a:cxnLst/>
            <a:rect l="l" t="t" r="r" b="b"/>
            <a:pathLst>
              <a:path w="1373504" h="372109">
                <a:moveTo>
                  <a:pt x="1373124" y="6096"/>
                </a:moveTo>
                <a:lnTo>
                  <a:pt x="1373111" y="0"/>
                </a:lnTo>
                <a:lnTo>
                  <a:pt x="0" y="0"/>
                </a:lnTo>
                <a:lnTo>
                  <a:pt x="0" y="371856"/>
                </a:lnTo>
                <a:lnTo>
                  <a:pt x="6096" y="371856"/>
                </a:lnTo>
                <a:lnTo>
                  <a:pt x="12192" y="371856"/>
                </a:lnTo>
                <a:lnTo>
                  <a:pt x="1367028" y="371856"/>
                </a:lnTo>
                <a:lnTo>
                  <a:pt x="1373111" y="371856"/>
                </a:lnTo>
                <a:lnTo>
                  <a:pt x="1373111" y="365760"/>
                </a:lnTo>
                <a:lnTo>
                  <a:pt x="1373124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 txBox="1"/>
          <p:nvPr/>
        </p:nvSpPr>
        <p:spPr>
          <a:xfrm>
            <a:off x="8923916" y="958769"/>
            <a:ext cx="1206313" cy="275479"/>
          </a:xfrm>
          <a:prstGeom prst="rect">
            <a:avLst/>
          </a:prstGeom>
        </p:spPr>
        <p:txBody>
          <a:bodyPr vert="horz" wrap="square" lIns="0" tIns="30816" rIns="0" bIns="0" rtlCol="0">
            <a:spAutoFit/>
          </a:bodyPr>
          <a:lstStyle/>
          <a:p>
            <a:pPr marL="126073">
              <a:spcBef>
                <a:spcPts val="243"/>
              </a:spcBef>
            </a:pPr>
            <a:r>
              <a:rPr sz="1588" spc="-9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15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88" spc="-4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8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CDAB9C-1093-2DA1-CBF8-B230DD64C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E2A6BE7-BC05-48F7-AC65-81DC7EB719F5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43200" y="2124638"/>
            <a:ext cx="6467471" cy="3477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C0DD8-76C4-930A-0DD3-0DFF2890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A54D3A3-2278-4B11-BC9D-B0B784CB91CF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600" y="1905000"/>
            <a:ext cx="6873812" cy="3875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8E90D1D-244B-F847-623B-8FAF68C6D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30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8784C6C0-82C8-4605-9090-D8EA9FF767B8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2127319" y="5931047"/>
            <a:ext cx="216665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i="1" spc="-4" dirty="0">
                <a:latin typeface="Arial"/>
                <a:cs typeface="Arial"/>
              </a:rPr>
              <a:t>Slide Credit: Andrew</a:t>
            </a:r>
            <a:r>
              <a:rPr sz="1588" i="1" spc="-79" dirty="0">
                <a:latin typeface="Arial"/>
                <a:cs typeface="Arial"/>
              </a:rPr>
              <a:t> </a:t>
            </a:r>
            <a:r>
              <a:rPr sz="1588" i="1" spc="-4" dirty="0">
                <a:latin typeface="Arial"/>
                <a:cs typeface="Arial"/>
              </a:rPr>
              <a:t>Ng</a:t>
            </a:r>
            <a:endParaRPr sz="1588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49952" y="1395805"/>
            <a:ext cx="7680160" cy="4320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3353695" y="4090146"/>
            <a:ext cx="68131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28x28x192</a:t>
            </a:r>
            <a:endParaRPr sz="10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9422" y="2120151"/>
            <a:ext cx="60567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28</a:t>
            </a:r>
            <a:r>
              <a:rPr sz="1059" spc="-13" dirty="0">
                <a:latin typeface="Arial"/>
                <a:cs typeface="Arial"/>
              </a:rPr>
              <a:t>x</a:t>
            </a:r>
            <a:r>
              <a:rPr sz="1059" spc="-4" dirty="0">
                <a:latin typeface="Arial"/>
                <a:cs typeface="Arial"/>
              </a:rPr>
              <a:t>28</a:t>
            </a:r>
            <a:r>
              <a:rPr sz="1059" spc="-13" dirty="0">
                <a:latin typeface="Arial"/>
                <a:cs typeface="Arial"/>
              </a:rPr>
              <a:t>x</a:t>
            </a:r>
            <a:r>
              <a:rPr sz="1059" spc="-4" dirty="0">
                <a:latin typeface="Arial"/>
                <a:cs typeface="Arial"/>
              </a:rPr>
              <a:t>64</a:t>
            </a:r>
            <a:endParaRPr sz="10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44288" y="3073548"/>
            <a:ext cx="68131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28x28x128</a:t>
            </a:r>
            <a:endParaRPr sz="105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6221" y="4153347"/>
            <a:ext cx="60567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28</a:t>
            </a:r>
            <a:r>
              <a:rPr sz="1059" spc="-13" dirty="0">
                <a:latin typeface="Arial"/>
                <a:cs typeface="Arial"/>
              </a:rPr>
              <a:t>x</a:t>
            </a:r>
            <a:r>
              <a:rPr sz="1059" spc="-4" dirty="0">
                <a:latin typeface="Arial"/>
                <a:cs typeface="Arial"/>
              </a:rPr>
              <a:t>28</a:t>
            </a:r>
            <a:r>
              <a:rPr sz="1059" spc="-13" dirty="0">
                <a:latin typeface="Arial"/>
                <a:cs typeface="Arial"/>
              </a:rPr>
              <a:t>x</a:t>
            </a:r>
            <a:r>
              <a:rPr sz="1059" spc="-4" dirty="0">
                <a:latin typeface="Arial"/>
                <a:cs typeface="Arial"/>
              </a:rPr>
              <a:t>32</a:t>
            </a:r>
            <a:endParaRPr sz="1059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9422" y="5156496"/>
            <a:ext cx="60567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28</a:t>
            </a:r>
            <a:r>
              <a:rPr sz="1059" spc="-13" dirty="0">
                <a:latin typeface="Arial"/>
                <a:cs typeface="Arial"/>
              </a:rPr>
              <a:t>x</a:t>
            </a:r>
            <a:r>
              <a:rPr sz="1059" spc="-4" dirty="0">
                <a:latin typeface="Arial"/>
                <a:cs typeface="Arial"/>
              </a:rPr>
              <a:t>28</a:t>
            </a:r>
            <a:r>
              <a:rPr sz="1059" spc="-13" dirty="0">
                <a:latin typeface="Arial"/>
                <a:cs typeface="Arial"/>
              </a:rPr>
              <a:t>x</a:t>
            </a:r>
            <a:r>
              <a:rPr sz="1059" spc="-4" dirty="0">
                <a:latin typeface="Arial"/>
                <a:cs typeface="Arial"/>
              </a:rPr>
              <a:t>32</a:t>
            </a:r>
            <a:endParaRPr sz="105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2078" y="5613696"/>
            <a:ext cx="68131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28x28x192</a:t>
            </a:r>
            <a:endParaRPr sz="105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6423" y="5613696"/>
            <a:ext cx="1187263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1x1x192 – 32</a:t>
            </a:r>
            <a:r>
              <a:rPr sz="1059" spc="-57" dirty="0">
                <a:latin typeface="Arial"/>
                <a:cs typeface="Arial"/>
              </a:rPr>
              <a:t> </a:t>
            </a:r>
            <a:r>
              <a:rPr sz="1059" spc="-4" dirty="0">
                <a:latin typeface="Arial"/>
                <a:cs typeface="Arial"/>
              </a:rPr>
              <a:t>filters</a:t>
            </a:r>
            <a:endParaRPr sz="105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10342" y="3039930"/>
            <a:ext cx="17257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96</a:t>
            </a:r>
            <a:endParaRPr sz="105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2273" y="3962399"/>
            <a:ext cx="17257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16</a:t>
            </a:r>
            <a:endParaRPr sz="105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671D24-FB34-D51F-935F-83E29C19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solidFill>
                  <a:srgbClr val="0070C0"/>
                </a:solidFill>
                <a:latin typeface="Arial"/>
                <a:cs typeface="Arial"/>
              </a:rPr>
              <a:t>Global </a:t>
            </a:r>
            <a:r>
              <a:rPr lang="en-US" spc="-13" dirty="0">
                <a:solidFill>
                  <a:srgbClr val="0070C0"/>
                </a:solidFill>
                <a:latin typeface="Arial"/>
                <a:cs typeface="Arial"/>
              </a:rPr>
              <a:t>Average</a:t>
            </a:r>
            <a:r>
              <a:rPr lang="en-US" spc="-84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pc="-4" dirty="0">
                <a:solidFill>
                  <a:srgbClr val="0070C0"/>
                </a:solidFill>
                <a:latin typeface="Arial"/>
                <a:cs typeface="Arial"/>
              </a:rPr>
              <a:t>Pooling</a:t>
            </a:r>
            <a:endParaRPr lang="en-US" dirty="0">
              <a:solidFill>
                <a:srgbClr val="0070C0"/>
              </a:solidFill>
              <a:latin typeface="Arial"/>
              <a:cs typeface="Arial"/>
            </a:endParaRPr>
          </a:p>
          <a:p>
            <a:pPr marL="667346" marR="543514" lvl="1" indent="-253266">
              <a:spcBef>
                <a:spcPts val="424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2000" spc="-4" dirty="0">
                <a:latin typeface="Arial"/>
                <a:cs typeface="Arial"/>
              </a:rPr>
              <a:t>Similar to </a:t>
            </a:r>
            <a:r>
              <a:rPr lang="en-US" sz="2000" dirty="0">
                <a:latin typeface="Arial"/>
                <a:cs typeface="Arial"/>
              </a:rPr>
              <a:t>max pooling layers, GAP </a:t>
            </a:r>
            <a:r>
              <a:rPr lang="en-US" sz="2000" spc="-4" dirty="0">
                <a:latin typeface="Arial"/>
                <a:cs typeface="Arial"/>
              </a:rPr>
              <a:t>layers </a:t>
            </a:r>
            <a:r>
              <a:rPr lang="en-US" sz="2000" dirty="0">
                <a:latin typeface="Arial"/>
                <a:cs typeface="Arial"/>
              </a:rPr>
              <a:t>are used </a:t>
            </a:r>
            <a:r>
              <a:rPr lang="en-US" sz="2000" spc="-4" dirty="0">
                <a:latin typeface="Arial"/>
                <a:cs typeface="Arial"/>
              </a:rPr>
              <a:t>to </a:t>
            </a:r>
            <a:r>
              <a:rPr lang="en-US" sz="2000" dirty="0">
                <a:latin typeface="Arial"/>
                <a:cs typeface="Arial"/>
              </a:rPr>
              <a:t>reduce</a:t>
            </a:r>
            <a:r>
              <a:rPr lang="en-US" sz="2000" spc="-185" dirty="0">
                <a:latin typeface="Arial"/>
                <a:cs typeface="Arial"/>
              </a:rPr>
              <a:t> </a:t>
            </a:r>
            <a:r>
              <a:rPr lang="en-US" sz="2000" spc="-4" dirty="0">
                <a:latin typeface="Arial"/>
                <a:cs typeface="Arial"/>
              </a:rPr>
              <a:t>the  </a:t>
            </a:r>
            <a:r>
              <a:rPr lang="en-US" sz="2000" dirty="0">
                <a:latin typeface="Arial"/>
                <a:cs typeface="Arial"/>
              </a:rPr>
              <a:t>spatial dimensions of a </a:t>
            </a:r>
            <a:r>
              <a:rPr lang="en-US" sz="2000" spc="-4" dirty="0">
                <a:latin typeface="Arial"/>
                <a:cs typeface="Arial"/>
              </a:rPr>
              <a:t>three-dimensional</a:t>
            </a:r>
            <a:r>
              <a:rPr lang="en-US" sz="2000" spc="-110" dirty="0">
                <a:latin typeface="Arial"/>
                <a:cs typeface="Arial"/>
              </a:rPr>
              <a:t> </a:t>
            </a:r>
            <a:r>
              <a:rPr lang="en-US" sz="2000" spc="-13" dirty="0">
                <a:latin typeface="Arial"/>
                <a:cs typeface="Arial"/>
              </a:rPr>
              <a:t>tensor.</a:t>
            </a:r>
            <a:endParaRPr lang="en-US" sz="2000" dirty="0">
              <a:latin typeface="Arial"/>
              <a:cs typeface="Arial"/>
            </a:endParaRPr>
          </a:p>
          <a:p>
            <a:pPr marL="667346" marR="4483" lvl="1" indent="-253266">
              <a:spcBef>
                <a:spcPts val="424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2000" spc="-13" dirty="0">
                <a:latin typeface="Arial"/>
                <a:cs typeface="Arial"/>
              </a:rPr>
              <a:t>However, </a:t>
            </a:r>
            <a:r>
              <a:rPr lang="en-US" sz="2000" dirty="0">
                <a:latin typeface="Arial"/>
                <a:cs typeface="Arial"/>
              </a:rPr>
              <a:t>GAP </a:t>
            </a:r>
            <a:r>
              <a:rPr lang="en-US" sz="2000" spc="-4" dirty="0">
                <a:latin typeface="Arial"/>
                <a:cs typeface="Arial"/>
              </a:rPr>
              <a:t>layers </a:t>
            </a:r>
            <a:r>
              <a:rPr lang="en-US" sz="2000" dirty="0">
                <a:latin typeface="Arial"/>
                <a:cs typeface="Arial"/>
              </a:rPr>
              <a:t>perform a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more </a:t>
            </a:r>
            <a:r>
              <a:rPr lang="en-US" sz="2000" spc="-4" dirty="0">
                <a:solidFill>
                  <a:srgbClr val="FF0000"/>
                </a:solidFill>
                <a:latin typeface="Arial"/>
                <a:cs typeface="Arial"/>
              </a:rPr>
              <a:t>extreme type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lang="en-US" sz="2000" spc="-4" dirty="0">
                <a:solidFill>
                  <a:srgbClr val="FF0000"/>
                </a:solidFill>
                <a:latin typeface="Arial"/>
                <a:cs typeface="Arial"/>
              </a:rPr>
              <a:t>dimensionality 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reduction</a:t>
            </a:r>
            <a:r>
              <a:rPr lang="en-US" sz="2000" dirty="0">
                <a:latin typeface="Arial"/>
                <a:cs typeface="Arial"/>
              </a:rPr>
              <a:t>, where a tensor </a:t>
            </a:r>
            <a:r>
              <a:rPr lang="en-US" sz="2000" spc="-4" dirty="0">
                <a:latin typeface="Arial"/>
                <a:cs typeface="Arial"/>
              </a:rPr>
              <a:t>with </a:t>
            </a:r>
            <a:r>
              <a:rPr lang="en-US" sz="2000" dirty="0">
                <a:latin typeface="Arial"/>
                <a:cs typeface="Arial"/>
              </a:rPr>
              <a:t>dimensions </a:t>
            </a:r>
            <a:r>
              <a:rPr lang="en-US" sz="2000" i="1" spc="4" dirty="0" err="1">
                <a:solidFill>
                  <a:srgbClr val="FF0000"/>
                </a:solidFill>
                <a:latin typeface="Arial"/>
                <a:cs typeface="Arial"/>
              </a:rPr>
              <a:t>h×w×d</a:t>
            </a:r>
            <a:r>
              <a:rPr lang="en-US" sz="2000" i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spc="-4" dirty="0">
                <a:latin typeface="Arial"/>
                <a:cs typeface="Arial"/>
              </a:rPr>
              <a:t>is </a:t>
            </a:r>
            <a:r>
              <a:rPr lang="en-US" sz="2000" dirty="0">
                <a:latin typeface="Arial"/>
                <a:cs typeface="Arial"/>
              </a:rPr>
              <a:t>reduced </a:t>
            </a:r>
            <a:r>
              <a:rPr lang="en-US" sz="2000" spc="-4" dirty="0">
                <a:latin typeface="Arial"/>
                <a:cs typeface="Arial"/>
              </a:rPr>
              <a:t>in </a:t>
            </a:r>
            <a:r>
              <a:rPr lang="en-US" sz="2000" dirty="0">
                <a:latin typeface="Arial"/>
                <a:cs typeface="Arial"/>
              </a:rPr>
              <a:t>size</a:t>
            </a:r>
            <a:r>
              <a:rPr lang="en-US" sz="2000" spc="-229" dirty="0">
                <a:latin typeface="Arial"/>
                <a:cs typeface="Arial"/>
              </a:rPr>
              <a:t> </a:t>
            </a:r>
            <a:r>
              <a:rPr lang="en-US" sz="2000" spc="-4" dirty="0">
                <a:latin typeface="Arial"/>
                <a:cs typeface="Arial"/>
              </a:rPr>
              <a:t>to  have </a:t>
            </a:r>
            <a:r>
              <a:rPr lang="en-US" sz="2000" dirty="0">
                <a:latin typeface="Arial"/>
                <a:cs typeface="Arial"/>
              </a:rPr>
              <a:t>dimensions</a:t>
            </a:r>
            <a:r>
              <a:rPr lang="en-US" sz="2000" spc="-35" dirty="0">
                <a:latin typeface="Arial"/>
                <a:cs typeface="Arial"/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Arial"/>
                <a:cs typeface="Arial"/>
              </a:rPr>
              <a:t>1×1×d</a:t>
            </a:r>
            <a:r>
              <a:rPr lang="en-US" sz="2000" dirty="0">
                <a:latin typeface="Arial"/>
                <a:cs typeface="Arial"/>
              </a:rPr>
              <a:t>.</a:t>
            </a:r>
          </a:p>
          <a:p>
            <a:pPr marL="667346" marR="601788" lvl="1" indent="-253266">
              <a:spcBef>
                <a:spcPts val="424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2000" dirty="0">
                <a:latin typeface="Arial"/>
                <a:cs typeface="Arial"/>
              </a:rPr>
              <a:t>GAP </a:t>
            </a:r>
            <a:r>
              <a:rPr lang="en-US" sz="2000" spc="-4" dirty="0">
                <a:latin typeface="Arial"/>
                <a:cs typeface="Arial"/>
              </a:rPr>
              <a:t>layers </a:t>
            </a:r>
            <a:r>
              <a:rPr lang="en-US" sz="2000" dirty="0">
                <a:latin typeface="Arial"/>
                <a:cs typeface="Arial"/>
              </a:rPr>
              <a:t>reduce each </a:t>
            </a:r>
            <a:r>
              <a:rPr lang="en-US" sz="2000" dirty="0" err="1">
                <a:latin typeface="Arial"/>
                <a:cs typeface="Arial"/>
              </a:rPr>
              <a:t>h×w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spc="-4" dirty="0">
                <a:latin typeface="Arial"/>
                <a:cs typeface="Arial"/>
              </a:rPr>
              <a:t>feature </a:t>
            </a:r>
            <a:r>
              <a:rPr lang="en-US" sz="2000" dirty="0">
                <a:latin typeface="Arial"/>
                <a:cs typeface="Arial"/>
              </a:rPr>
              <a:t>map </a:t>
            </a:r>
            <a:r>
              <a:rPr lang="en-US" sz="2000" spc="-4" dirty="0">
                <a:latin typeface="Arial"/>
                <a:cs typeface="Arial"/>
              </a:rPr>
              <a:t>to </a:t>
            </a:r>
            <a:r>
              <a:rPr lang="en-US" sz="2000" dirty="0">
                <a:latin typeface="Arial"/>
                <a:cs typeface="Arial"/>
              </a:rPr>
              <a:t>a single number</a:t>
            </a:r>
            <a:r>
              <a:rPr lang="en-US" sz="2000" spc="-207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by simply taking </a:t>
            </a:r>
            <a:r>
              <a:rPr lang="en-US" sz="2000" spc="-4" dirty="0">
                <a:latin typeface="Arial"/>
                <a:cs typeface="Arial"/>
              </a:rPr>
              <a:t>the </a:t>
            </a:r>
            <a:r>
              <a:rPr lang="en-US" sz="2000" dirty="0">
                <a:latin typeface="Arial"/>
                <a:cs typeface="Arial"/>
              </a:rPr>
              <a:t>average of </a:t>
            </a:r>
            <a:r>
              <a:rPr lang="en-US" sz="2000" spc="-4" dirty="0">
                <a:latin typeface="Arial"/>
                <a:cs typeface="Arial"/>
              </a:rPr>
              <a:t>all </a:t>
            </a:r>
            <a:r>
              <a:rPr lang="en-US" sz="2000" i="1" dirty="0" err="1">
                <a:solidFill>
                  <a:srgbClr val="FF0000"/>
                </a:solidFill>
                <a:latin typeface="Arial"/>
                <a:cs typeface="Arial"/>
              </a:rPr>
              <a:t>hw</a:t>
            </a:r>
            <a:r>
              <a:rPr lang="en-US" sz="2000" i="1" spc="-9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values.</a:t>
            </a:r>
          </a:p>
          <a:p>
            <a:endParaRPr lang="en-US" sz="36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31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2B932DC1-C5A5-4165-9691-24AEC2CBD045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/>
          <p:nvPr/>
        </p:nvSpPr>
        <p:spPr>
          <a:xfrm>
            <a:off x="3886200" y="4143206"/>
            <a:ext cx="4057870" cy="22291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DF64C6-52D3-25F9-A4F8-39F3DF76B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Using the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dimension reduced inception module</a:t>
            </a:r>
            <a:r>
              <a:rPr lang="en-US" sz="2800" spc="-4" dirty="0">
                <a:latin typeface="Arial"/>
                <a:cs typeface="Arial"/>
              </a:rPr>
              <a:t>, a neural  network architecture was built (2014) which got the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first place  in the 2014 </a:t>
            </a:r>
            <a:r>
              <a:rPr lang="en-US" sz="2800" spc="-4" dirty="0">
                <a:latin typeface="Arial"/>
                <a:cs typeface="Arial"/>
              </a:rPr>
              <a:t>ImageNet competition for classification and  detection</a:t>
            </a:r>
            <a:r>
              <a:rPr lang="en-US" sz="2800" spc="4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challenges.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 err="1">
                <a:solidFill>
                  <a:srgbClr val="0070C0"/>
                </a:solidFill>
                <a:latin typeface="Arial"/>
                <a:cs typeface="Arial"/>
              </a:rPr>
              <a:t>GoogLeNet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 has 9 such inception modules </a:t>
            </a:r>
            <a:r>
              <a:rPr lang="en-US" sz="2800" spc="-4" dirty="0">
                <a:latin typeface="Arial"/>
                <a:cs typeface="Arial"/>
              </a:rPr>
              <a:t>stacked</a:t>
            </a:r>
            <a:r>
              <a:rPr lang="en-US" sz="2800" spc="84" dirty="0">
                <a:latin typeface="Arial"/>
                <a:cs typeface="Arial"/>
              </a:rPr>
              <a:t> </a:t>
            </a:r>
            <a:r>
              <a:rPr lang="en-US" sz="2800" spc="-22" dirty="0">
                <a:latin typeface="Arial"/>
                <a:cs typeface="Arial"/>
              </a:rPr>
              <a:t>linearly.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GAP layer after last inception module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It </a:t>
            </a:r>
            <a:r>
              <a:rPr lang="en-US" sz="2800" spc="-4" dirty="0">
                <a:latin typeface="Arial"/>
                <a:cs typeface="Arial"/>
              </a:rPr>
              <a:t>is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22 layers </a:t>
            </a:r>
            <a:r>
              <a:rPr lang="en-US" sz="2800" spc="-4" dirty="0">
                <a:latin typeface="Arial"/>
                <a:cs typeface="Arial"/>
              </a:rPr>
              <a:t>deep (27, including the pooling</a:t>
            </a:r>
            <a:r>
              <a:rPr lang="en-US" sz="2800" spc="97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layers).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It </a:t>
            </a:r>
            <a:r>
              <a:rPr lang="en-US" sz="2800" spc="-4" dirty="0">
                <a:latin typeface="Arial"/>
                <a:cs typeface="Arial"/>
              </a:rPr>
              <a:t>achieved a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top-5 error rate with of</a:t>
            </a:r>
            <a:r>
              <a:rPr lang="en-US" sz="2800" spc="13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6.67%</a:t>
            </a:r>
            <a:endParaRPr lang="en-US" sz="280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313781" marR="1115045" indent="-302575">
              <a:spcBef>
                <a:spcPts val="512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It </a:t>
            </a:r>
            <a:r>
              <a:rPr lang="en-US" sz="2800" spc="-4" dirty="0">
                <a:latin typeface="Arial"/>
                <a:cs typeface="Arial"/>
              </a:rPr>
              <a:t>reduces the number of parameters from 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60 million  (</a:t>
            </a:r>
            <a:r>
              <a:rPr lang="en-US" sz="2800" spc="-4" dirty="0" err="1">
                <a:solidFill>
                  <a:srgbClr val="C00000"/>
                </a:solidFill>
                <a:latin typeface="Arial"/>
                <a:cs typeface="Arial"/>
              </a:rPr>
              <a:t>AlexNet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) </a:t>
            </a:r>
            <a:r>
              <a:rPr lang="en-US" sz="280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lang="en-US" sz="2800" spc="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million.</a:t>
            </a:r>
            <a:endParaRPr lang="en-US" sz="2800" dirty="0">
              <a:solidFill>
                <a:srgbClr val="C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45219FC-42A5-406D-9388-68FA5082F17C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20DB0A-D371-FA71-68D4-B34A5E9EF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C9CF195-3E65-4481-9202-9550316AD323}" type="datetime1">
              <a:rPr lang="en-US" spc="-9" smtClean="0"/>
              <a:t>3/5/2025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4200" y="1617307"/>
            <a:ext cx="5771288" cy="40943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0F15-E814-4B73-9741-FBB8F8E3F288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21281</TotalTime>
  <Words>1594</Words>
  <Application>Microsoft Office PowerPoint</Application>
  <PresentationFormat>Widescreen</PresentationFormat>
  <Paragraphs>240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</vt:lpstr>
      <vt:lpstr>Arial MT</vt:lpstr>
      <vt:lpstr>Calibri</vt:lpstr>
      <vt:lpstr>Wingdings</vt:lpstr>
      <vt:lpstr>Office Theme</vt:lpstr>
      <vt:lpstr>PowerPoint Presentation</vt:lpstr>
      <vt:lpstr>Goals</vt:lpstr>
      <vt:lpstr>Evaluation Metrics</vt:lpstr>
      <vt:lpstr>Evaluation Metrics</vt:lpstr>
      <vt:lpstr>Evaluation Metrics</vt:lpstr>
      <vt:lpstr>Evaluation Metrics</vt:lpstr>
      <vt:lpstr>Evaluation Metrics</vt:lpstr>
      <vt:lpstr>The Inception Family</vt:lpstr>
      <vt:lpstr>The Inception Family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The Inception Module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1493</cp:revision>
  <dcterms:created xsi:type="dcterms:W3CDTF">2006-08-16T00:00:00Z</dcterms:created>
  <dcterms:modified xsi:type="dcterms:W3CDTF">2025-03-05T07:36:54Z</dcterms:modified>
</cp:coreProperties>
</file>