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42"/>
  </p:notesMasterIdLst>
  <p:sldIdLst>
    <p:sldId id="352" r:id="rId2"/>
    <p:sldId id="421" r:id="rId3"/>
    <p:sldId id="1825" r:id="rId4"/>
    <p:sldId id="1827" r:id="rId5"/>
    <p:sldId id="258" r:id="rId6"/>
    <p:sldId id="259" r:id="rId7"/>
    <p:sldId id="260" r:id="rId8"/>
    <p:sldId id="261" r:id="rId9"/>
    <p:sldId id="272" r:id="rId10"/>
    <p:sldId id="1838" r:id="rId11"/>
    <p:sldId id="262" r:id="rId12"/>
    <p:sldId id="263" r:id="rId13"/>
    <p:sldId id="1858" r:id="rId14"/>
    <p:sldId id="1839" r:id="rId15"/>
    <p:sldId id="274" r:id="rId16"/>
    <p:sldId id="264" r:id="rId17"/>
    <p:sldId id="1840" r:id="rId18"/>
    <p:sldId id="1841" r:id="rId19"/>
    <p:sldId id="1842" r:id="rId20"/>
    <p:sldId id="1843" r:id="rId21"/>
    <p:sldId id="1844" r:id="rId22"/>
    <p:sldId id="1845" r:id="rId23"/>
    <p:sldId id="1846" r:id="rId24"/>
    <p:sldId id="1847" r:id="rId25"/>
    <p:sldId id="1860" r:id="rId26"/>
    <p:sldId id="1849" r:id="rId27"/>
    <p:sldId id="1861" r:id="rId28"/>
    <p:sldId id="1862" r:id="rId29"/>
    <p:sldId id="1863" r:id="rId30"/>
    <p:sldId id="1864" r:id="rId31"/>
    <p:sldId id="1865" r:id="rId32"/>
    <p:sldId id="1868" r:id="rId33"/>
    <p:sldId id="1866" r:id="rId34"/>
    <p:sldId id="1867" r:id="rId35"/>
    <p:sldId id="1850" r:id="rId36"/>
    <p:sldId id="1851" r:id="rId37"/>
    <p:sldId id="1856" r:id="rId38"/>
    <p:sldId id="1853" r:id="rId39"/>
    <p:sldId id="1848" r:id="rId40"/>
    <p:sldId id="1288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0F22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248" autoAdjust="0"/>
  </p:normalViewPr>
  <p:slideViewPr>
    <p:cSldViewPr>
      <p:cViewPr varScale="1">
        <p:scale>
          <a:sx n="47" d="100"/>
          <a:sy n="47" d="100"/>
        </p:scale>
        <p:origin x="1416" y="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45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Directed Graphs</a:t>
            </a:r>
            <a:r>
              <a:rPr lang="en-GB" dirty="0"/>
              <a:t> – edges have directions (e.g., Twitter follower graph)</a:t>
            </a:r>
          </a:p>
          <a:p>
            <a:r>
              <a:rPr lang="en-GB" b="1" dirty="0"/>
              <a:t>Weighted Graphs</a:t>
            </a:r>
            <a:r>
              <a:rPr lang="en-GB" dirty="0"/>
              <a:t> – edges have weights (e.g., distances or strengths of relationships)</a:t>
            </a:r>
          </a:p>
          <a:p>
            <a:r>
              <a:rPr lang="en-GB" b="1" dirty="0"/>
              <a:t>Multi-Relational Graphs</a:t>
            </a:r>
            <a:r>
              <a:rPr lang="en-GB" dirty="0"/>
              <a:t> – multiple types of edges between same nodes (e.g., user-friend and user-follower in social apps)</a:t>
            </a:r>
          </a:p>
          <a:p>
            <a:r>
              <a:rPr lang="en-GB" b="1" dirty="0"/>
              <a:t>Self-Connection (A + I)</a:t>
            </a:r>
            <a:r>
              <a:rPr lang="en-GB" dirty="0"/>
              <a:t> – adding self-loops by updating the adjacency matrix (common in GCNs)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78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Node-level tasks</a:t>
            </a:r>
            <a:r>
              <a:rPr lang="en-GB" dirty="0"/>
              <a:t>: e.g., classify nodes (Is this paper about AI or CV?).</a:t>
            </a:r>
          </a:p>
          <a:p>
            <a:r>
              <a:rPr lang="en-GB" b="1" dirty="0"/>
              <a:t>Edge-level tasks</a:t>
            </a:r>
            <a:r>
              <a:rPr lang="en-GB" dirty="0"/>
              <a:t>: e.g., link prediction (Will two users become friends?).</a:t>
            </a:r>
          </a:p>
          <a:p>
            <a:r>
              <a:rPr lang="en-GB" b="1" dirty="0"/>
              <a:t>Graph-level tasks</a:t>
            </a:r>
            <a:r>
              <a:rPr lang="en-GB" dirty="0"/>
              <a:t>: e.g., graph classification (Is this molecule toxic?).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61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Convert graph structure into </a:t>
            </a:r>
            <a:r>
              <a:rPr lang="en-GB" b="1" dirty="0"/>
              <a:t>dense vector embeddings</a:t>
            </a:r>
            <a:r>
              <a:rPr lang="en-GB" dirty="0"/>
              <a:t> using GNNs.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54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GB" b="1" dirty="0"/>
                  <a:t>Encoder</a:t>
                </a:r>
                <a:r>
                  <a:rPr lang="en-GB" dirty="0"/>
                  <a:t>: GNN that learns vector </a:t>
                </a:r>
                <a:r>
                  <a:rPr lang="en-GB" b="1" dirty="0"/>
                  <a:t>zᵢ</a:t>
                </a:r>
                <a:r>
                  <a:rPr lang="en-GB" dirty="0"/>
                  <a:t> for each node</a:t>
                </a:r>
              </a:p>
              <a:p>
                <a:r>
                  <a:rPr lang="en-GB" b="1" dirty="0"/>
                  <a:t>Scoring Function (S)</a:t>
                </a:r>
                <a:r>
                  <a:rPr lang="en-GB" dirty="0"/>
                  <a:t>: e.g., dot product or distance between zᵢ and zⱼ</a:t>
                </a:r>
              </a:p>
              <a:p>
                <a:r>
                  <a:rPr lang="en-GB" b="1" dirty="0"/>
                  <a:t>Loss (L)</a:t>
                </a:r>
                <a:r>
                  <a:rPr lang="en-GB" dirty="0"/>
                  <a:t>: Measures how good the prediction is (e.g., binary cross-entropy)</a:t>
                </a:r>
                <a:br>
                  <a:rPr lang="en-GB" dirty="0"/>
                </a:br>
                <a:br>
                  <a:rPr lang="en-GB" dirty="0"/>
                </a:br>
                <a:r>
                  <a:rPr lang="en-GB" dirty="0"/>
                  <a:t>Graph Representation Learning is the process of </a:t>
                </a:r>
                <a:r>
                  <a:rPr lang="en-GB" b="1" dirty="0"/>
                  <a:t>converting graph-structured data (nodes and edges)</a:t>
                </a:r>
                <a:r>
                  <a:rPr lang="en-GB" dirty="0"/>
                  <a:t> into a continuous vector space (usually ℝⁿ), so that machine learning models can operate on it efficiently.</a:t>
                </a:r>
                <a:br>
                  <a:rPr lang="en-GB" dirty="0"/>
                </a:br>
                <a:br>
                  <a:rPr lang="en-GB" dirty="0"/>
                </a:br>
                <a:r>
                  <a:rPr lang="en-GB" dirty="0"/>
                  <a:t>his refers to learning </a:t>
                </a:r>
                <a:r>
                  <a:rPr lang="en-GB" b="1" dirty="0"/>
                  <a:t>meaningful feature vectors</a:t>
                </a:r>
                <a:r>
                  <a:rPr lang="en-GB" dirty="0"/>
                  <a:t> (e.g., </a:t>
                </a:r>
                <a:r>
                  <a:rPr lang="en-GB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zᵢ</a:t>
                </a:r>
                <a:r>
                  <a:rPr lang="en-GB" dirty="0"/>
                  <a:t>) for each node in the graph that </a:t>
                </a:r>
                <a:r>
                  <a:rPr lang="en-GB" b="1" dirty="0"/>
                  <a:t>capture both</a:t>
                </a:r>
                <a:r>
                  <a:rPr lang="en-GB" dirty="0"/>
                  <a:t>:</a:t>
                </a:r>
              </a:p>
              <a:p>
                <a:r>
                  <a:rPr lang="en-GB" dirty="0"/>
                  <a:t>The node’s own features.</a:t>
                </a:r>
              </a:p>
              <a:p>
                <a:r>
                  <a:rPr lang="en-GB" dirty="0"/>
                  <a:t>The </a:t>
                </a:r>
                <a:r>
                  <a:rPr lang="en-GB" b="1" dirty="0"/>
                  <a:t>structure and features</a:t>
                </a:r>
                <a:r>
                  <a:rPr lang="en-GB" dirty="0"/>
                  <a:t> of its </a:t>
                </a:r>
                <a:r>
                  <a:rPr lang="en-GB" dirty="0" err="1"/>
                  <a:t>neighborhood</a:t>
                </a:r>
                <a:r>
                  <a:rPr lang="en-GB" dirty="0"/>
                  <a:t> (e.g., how it's connected to other nodes).</a:t>
                </a:r>
              </a:p>
              <a:p>
                <a:r>
                  <a:rPr lang="en-GB" dirty="0"/>
                  <a:t>These embeddings help in tasks like:</a:t>
                </a:r>
              </a:p>
              <a:p>
                <a:r>
                  <a:rPr lang="en-GB" dirty="0"/>
                  <a:t>Node classification (e.g., detecting spam users).</a:t>
                </a:r>
              </a:p>
              <a:p>
                <a:r>
                  <a:rPr lang="en-GB" dirty="0"/>
                  <a:t>Link prediction (e.g., suggesting friends on Facebook).</a:t>
                </a:r>
              </a:p>
              <a:p>
                <a:r>
                  <a:rPr lang="en-GB" dirty="0"/>
                  <a:t>Graph classification (e.g., predicting molecular properties).</a:t>
                </a:r>
              </a:p>
              <a:p>
                <a:endParaRPr lang="en-GB" dirty="0"/>
              </a:p>
              <a:p>
                <a:r>
                  <a:rPr lang="en-US" b="1" dirty="0"/>
                  <a:t>Per-Node Encoder</a:t>
                </a:r>
              </a:p>
              <a:p>
                <a:r>
                  <a:rPr lang="en-US" dirty="0"/>
                  <a:t>An </a:t>
                </a:r>
                <a:r>
                  <a:rPr lang="en-US" b="1" dirty="0"/>
                  <a:t>encoder</a:t>
                </a:r>
                <a:r>
                  <a:rPr lang="en-US" dirty="0"/>
                  <a:t> is a function (usually a neural network like a GCN, GAT, </a:t>
                </a:r>
                <a:r>
                  <a:rPr lang="en-US" dirty="0" err="1"/>
                  <a:t>GraphSAGE</a:t>
                </a:r>
                <a:r>
                  <a:rPr lang="en-US" dirty="0"/>
                  <a:t>, etc.) that </a:t>
                </a:r>
                <a:r>
                  <a:rPr lang="en-US" b="1" dirty="0"/>
                  <a:t>maps each node and its neighborhood</a:t>
                </a:r>
                <a:r>
                  <a:rPr lang="en-US" dirty="0"/>
                  <a:t> to an embedding: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/>
                        <m:t>ENC</m:t>
                      </m:r>
                      <m:d>
                        <m:d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sSub>
                        <m:sSub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</m:e>
                        <m:sub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∈</m:t>
                      </m:r>
                      <m:sSup>
                        <m:sSup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ℝ</m:t>
                          </m:r>
                        </m:e>
                        <m:sup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It takes the graph and node features as input and </a:t>
                </a:r>
                <a:r>
                  <a:rPr lang="en-US" b="1" dirty="0"/>
                  <a:t>outputs embeddings</a:t>
                </a:r>
                <a:r>
                  <a:rPr lang="en-US" dirty="0"/>
                  <a:t> </a:t>
                </a:r>
                <a:r>
                  <a:rPr lang="en-US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zᵢ</a:t>
                </a:r>
                <a:r>
                  <a:rPr lang="en-US" dirty="0"/>
                  <a:t> and </a:t>
                </a:r>
                <a:r>
                  <a:rPr lang="en-US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zⱼ</a:t>
                </a:r>
                <a:r>
                  <a:rPr lang="en-US" dirty="0"/>
                  <a:t> for nodes </a:t>
                </a:r>
                <a:r>
                  <a:rPr lang="en-US" sz="1200" kern="120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</a:t>
                </a:r>
                <a:r>
                  <a:rPr lang="en-US" dirty="0"/>
                  <a:t> and </a:t>
                </a:r>
                <a:r>
                  <a:rPr lang="en-US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j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These encoders can be:</a:t>
                </a:r>
              </a:p>
              <a:p>
                <a:pPr lvl="1"/>
                <a:r>
                  <a:rPr lang="en-US" b="1" dirty="0"/>
                  <a:t>Inductive</a:t>
                </a:r>
                <a:r>
                  <a:rPr lang="en-US" dirty="0"/>
                  <a:t>: Generalize to unseen nodes/graphs.</a:t>
                </a:r>
              </a:p>
              <a:p>
                <a:pPr lvl="1"/>
                <a:r>
                  <a:rPr lang="en-US" b="1" dirty="0" err="1"/>
                  <a:t>Transductive</a:t>
                </a:r>
                <a:r>
                  <a:rPr lang="en-US" dirty="0"/>
                  <a:t>: Work only on seen graphs.</a:t>
                </a:r>
              </a:p>
              <a:p>
                <a:endParaRPr lang="en-GB" dirty="0"/>
              </a:p>
              <a:p>
                <a:r>
                  <a:rPr lang="en-GB" b="1" dirty="0"/>
                  <a:t>Loss Computation</a:t>
                </a:r>
              </a:p>
              <a:p>
                <a:r>
                  <a:rPr lang="en-GB" dirty="0"/>
                  <a:t>Finally, the model computes a </a:t>
                </a:r>
                <a:r>
                  <a:rPr lang="en-GB" b="1" dirty="0"/>
                  <a:t>loss </a:t>
                </a:r>
                <a:r>
                  <a:rPr lang="en-GB" sz="1200" b="1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</a:t>
                </a:r>
                <a:r>
                  <a:rPr lang="en-GB" dirty="0"/>
                  <a:t> based on the score, which is used to train the encoder.</a:t>
                </a:r>
              </a:p>
              <a:p>
                <a:r>
                  <a:rPr lang="en-GB" dirty="0"/>
                  <a:t>Example:</a:t>
                </a:r>
              </a:p>
              <a:p>
                <a:pPr lvl="1"/>
                <a:r>
                  <a:rPr lang="en-GB" dirty="0"/>
                  <a:t>In </a:t>
                </a:r>
                <a:r>
                  <a:rPr lang="en-GB" b="1" dirty="0"/>
                  <a:t>link prediction</a:t>
                </a:r>
                <a:r>
                  <a:rPr lang="en-GB" dirty="0"/>
                  <a:t>, if </a:t>
                </a:r>
                <a:r>
                  <a:rPr lang="en-GB" sz="1200" kern="120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</a:t>
                </a:r>
                <a:r>
                  <a:rPr lang="en-GB" dirty="0"/>
                  <a:t> and </a:t>
                </a:r>
                <a:r>
                  <a:rPr lang="en-GB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j</a:t>
                </a:r>
                <a:r>
                  <a:rPr lang="en-GB" dirty="0"/>
                  <a:t> are truly connected, we want the score </a:t>
                </a:r>
                <a:r>
                  <a:rPr lang="en-GB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S(zᵢ, zⱼ)</a:t>
                </a:r>
                <a:r>
                  <a:rPr lang="en-GB" dirty="0"/>
                  <a:t> to be high.</a:t>
                </a:r>
              </a:p>
              <a:p>
                <a:pPr lvl="1"/>
                <a:r>
                  <a:rPr lang="en-GB" dirty="0"/>
                  <a:t>Binary cross-entropy loss can be used here.</a:t>
                </a:r>
              </a:p>
              <a:p>
                <a:br>
                  <a:rPr lang="en-GB" dirty="0"/>
                </a:br>
                <a:r>
                  <a:rPr lang="en-GB" dirty="0"/>
                  <a:t>Once nodes are embedded as </a:t>
                </a:r>
                <a:r>
                  <a:rPr lang="en-GB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zᵢ</a:t>
                </a:r>
                <a:r>
                  <a:rPr lang="en-GB" dirty="0"/>
                  <a:t>, </a:t>
                </a:r>
                <a:r>
                  <a:rPr lang="en-GB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zⱼ</a:t>
                </a:r>
                <a:r>
                  <a:rPr lang="en-GB" dirty="0"/>
                  <a:t>, we often want to know how </a:t>
                </a:r>
                <a:r>
                  <a:rPr lang="en-GB" b="1" dirty="0"/>
                  <a:t>related</a:t>
                </a:r>
                <a:r>
                  <a:rPr lang="en-GB" dirty="0"/>
                  <a:t> or </a:t>
                </a:r>
                <a:r>
                  <a:rPr lang="en-GB" b="1" dirty="0"/>
                  <a:t>similar</a:t>
                </a:r>
                <a:r>
                  <a:rPr lang="en-GB" dirty="0"/>
                  <a:t> two nodes are.</a:t>
                </a:r>
              </a:p>
              <a:p>
                <a:r>
                  <a:rPr lang="en-GB" dirty="0"/>
                  <a:t>This is done using a </a:t>
                </a:r>
                <a:r>
                  <a:rPr lang="en-GB" b="1" dirty="0"/>
                  <a:t>scoring function </a:t>
                </a:r>
                <a:r>
                  <a:rPr lang="en-GB" sz="1200" b="1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S(zᵢ, zⱼ)</a:t>
                </a:r>
                <a:r>
                  <a:rPr lang="en-GB" dirty="0"/>
                  <a:t>:</a:t>
                </a:r>
              </a:p>
              <a:p>
                <a:r>
                  <a:rPr lang="en-GB" dirty="0"/>
                  <a:t>Examples: Dot product, cosine similarity, or MLP.</a:t>
                </a:r>
              </a:p>
              <a:p>
                <a:r>
                  <a:rPr lang="en-GB" dirty="0"/>
                  <a:t>Higher scores → more similar/connected.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GB" b="1" dirty="0"/>
                  <a:t>Encoder</a:t>
                </a:r>
                <a:r>
                  <a:rPr lang="en-GB" dirty="0"/>
                  <a:t>: GNN that learns vector </a:t>
                </a:r>
                <a:r>
                  <a:rPr lang="en-GB" b="1" dirty="0"/>
                  <a:t>zᵢ</a:t>
                </a:r>
                <a:r>
                  <a:rPr lang="en-GB" dirty="0"/>
                  <a:t> for each node</a:t>
                </a:r>
              </a:p>
              <a:p>
                <a:r>
                  <a:rPr lang="en-GB" b="1" dirty="0"/>
                  <a:t>Scoring Function (S)</a:t>
                </a:r>
                <a:r>
                  <a:rPr lang="en-GB" dirty="0"/>
                  <a:t>: e.g., dot product or distance between zᵢ and zⱼ</a:t>
                </a:r>
              </a:p>
              <a:p>
                <a:r>
                  <a:rPr lang="en-GB" b="1" dirty="0"/>
                  <a:t>Loss (L)</a:t>
                </a:r>
                <a:r>
                  <a:rPr lang="en-GB" dirty="0"/>
                  <a:t>: Measures how good the prediction is (e.g., binary cross-entropy)</a:t>
                </a:r>
                <a:br>
                  <a:rPr lang="en-GB" dirty="0"/>
                </a:br>
                <a:br>
                  <a:rPr lang="en-GB" dirty="0"/>
                </a:br>
                <a:r>
                  <a:rPr lang="en-GB" dirty="0"/>
                  <a:t>Graph Representation Learning is the process of </a:t>
                </a:r>
                <a:r>
                  <a:rPr lang="en-GB" b="1" dirty="0"/>
                  <a:t>converting graph-structured data (nodes and edges)</a:t>
                </a:r>
                <a:r>
                  <a:rPr lang="en-GB" dirty="0"/>
                  <a:t> into a continuous vector space (usually ℝⁿ), so that machine learning models can operate on it efficiently.</a:t>
                </a:r>
                <a:br>
                  <a:rPr lang="en-GB" dirty="0"/>
                </a:br>
                <a:br>
                  <a:rPr lang="en-GB" dirty="0"/>
                </a:br>
                <a:r>
                  <a:rPr lang="en-GB" dirty="0"/>
                  <a:t>his refers to learning </a:t>
                </a:r>
                <a:r>
                  <a:rPr lang="en-GB" b="1" dirty="0"/>
                  <a:t>meaningful feature vectors</a:t>
                </a:r>
                <a:r>
                  <a:rPr lang="en-GB" dirty="0"/>
                  <a:t> (e.g., </a:t>
                </a:r>
                <a:r>
                  <a:rPr lang="en-GB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zᵢ</a:t>
                </a:r>
                <a:r>
                  <a:rPr lang="en-GB" dirty="0"/>
                  <a:t>) for each node in the graph that </a:t>
                </a:r>
                <a:r>
                  <a:rPr lang="en-GB" b="1" dirty="0"/>
                  <a:t>capture both</a:t>
                </a:r>
                <a:r>
                  <a:rPr lang="en-GB" dirty="0"/>
                  <a:t>:</a:t>
                </a:r>
              </a:p>
              <a:p>
                <a:r>
                  <a:rPr lang="en-GB" dirty="0"/>
                  <a:t>The node’s own features.</a:t>
                </a:r>
              </a:p>
              <a:p>
                <a:r>
                  <a:rPr lang="en-GB" dirty="0"/>
                  <a:t>The </a:t>
                </a:r>
                <a:r>
                  <a:rPr lang="en-GB" b="1" dirty="0"/>
                  <a:t>structure and features</a:t>
                </a:r>
                <a:r>
                  <a:rPr lang="en-GB" dirty="0"/>
                  <a:t> of its </a:t>
                </a:r>
                <a:r>
                  <a:rPr lang="en-GB" dirty="0" err="1"/>
                  <a:t>neighborhood</a:t>
                </a:r>
                <a:r>
                  <a:rPr lang="en-GB" dirty="0"/>
                  <a:t> (e.g., how it's connected to other nodes).</a:t>
                </a:r>
              </a:p>
              <a:p>
                <a:r>
                  <a:rPr lang="en-GB" dirty="0"/>
                  <a:t>These embeddings help in tasks like:</a:t>
                </a:r>
              </a:p>
              <a:p>
                <a:r>
                  <a:rPr lang="en-GB" dirty="0"/>
                  <a:t>Node classification (e.g., detecting spam users).</a:t>
                </a:r>
              </a:p>
              <a:p>
                <a:r>
                  <a:rPr lang="en-GB" dirty="0"/>
                  <a:t>Link prediction (e.g., suggesting friends on Facebook).</a:t>
                </a:r>
              </a:p>
              <a:p>
                <a:r>
                  <a:rPr lang="en-GB" dirty="0"/>
                  <a:t>Graph classification (e.g., predicting molecular properties).</a:t>
                </a:r>
              </a:p>
              <a:p>
                <a:endParaRPr lang="en-GB" dirty="0"/>
              </a:p>
              <a:p>
                <a:r>
                  <a:rPr lang="en-US" b="1" dirty="0"/>
                  <a:t>Per-Node Encoder</a:t>
                </a:r>
              </a:p>
              <a:p>
                <a:r>
                  <a:rPr lang="en-US" dirty="0"/>
                  <a:t>An </a:t>
                </a:r>
                <a:r>
                  <a:rPr lang="en-US" b="1" dirty="0"/>
                  <a:t>encoder</a:t>
                </a:r>
                <a:r>
                  <a:rPr lang="en-US" dirty="0"/>
                  <a:t> is a function (usually a neural network like a GCN, GAT, </a:t>
                </a:r>
                <a:r>
                  <a:rPr lang="en-US" dirty="0" err="1"/>
                  <a:t>GraphSAGE</a:t>
                </a:r>
                <a:r>
                  <a:rPr lang="en-US" dirty="0"/>
                  <a:t>, etc.) that </a:t>
                </a:r>
                <a:r>
                  <a:rPr lang="en-US" b="1" dirty="0"/>
                  <a:t>maps each node and its neighborhood</a:t>
                </a:r>
                <a:r>
                  <a:rPr lang="en-US" dirty="0"/>
                  <a:t> to an embedding:</a:t>
                </a:r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"ENC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(</a:t>
                </a:r>
                <a:r>
                  <a:rPr lang="ar-AE" b="0" i="0"/>
                  <a:t>𝑖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)→𝑧_𝑖∈ℝ^𝑑</a:t>
                </a:r>
                <a:endParaRPr lang="ar-AE" b="0" dirty="0"/>
              </a:p>
              <a:p>
                <a:r>
                  <a:rPr lang="en-US" dirty="0"/>
                  <a:t>It takes the graph and node features as input and </a:t>
                </a:r>
                <a:r>
                  <a:rPr lang="en-US" b="1" dirty="0"/>
                  <a:t>outputs embeddings</a:t>
                </a:r>
                <a:r>
                  <a:rPr lang="en-US" dirty="0"/>
                  <a:t> </a:t>
                </a:r>
                <a:r>
                  <a:rPr lang="en-US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zᵢ</a:t>
                </a:r>
                <a:r>
                  <a:rPr lang="en-US" dirty="0"/>
                  <a:t> and </a:t>
                </a:r>
                <a:r>
                  <a:rPr lang="en-US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zⱼ</a:t>
                </a:r>
                <a:r>
                  <a:rPr lang="en-US" dirty="0"/>
                  <a:t> for nodes </a:t>
                </a:r>
                <a:r>
                  <a:rPr lang="en-US" sz="1200" kern="120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</a:t>
                </a:r>
                <a:r>
                  <a:rPr lang="en-US" dirty="0"/>
                  <a:t> and </a:t>
                </a:r>
                <a:r>
                  <a:rPr lang="en-US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j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These encoders can be:</a:t>
                </a:r>
              </a:p>
              <a:p>
                <a:pPr lvl="1"/>
                <a:r>
                  <a:rPr lang="en-US" b="1" dirty="0"/>
                  <a:t>Inductive</a:t>
                </a:r>
                <a:r>
                  <a:rPr lang="en-US" dirty="0"/>
                  <a:t>: Generalize to unseen nodes/graphs.</a:t>
                </a:r>
              </a:p>
              <a:p>
                <a:pPr lvl="1"/>
                <a:r>
                  <a:rPr lang="en-US" b="1" dirty="0" err="1"/>
                  <a:t>Transductive</a:t>
                </a:r>
                <a:r>
                  <a:rPr lang="en-US" dirty="0"/>
                  <a:t>: Work only on seen graphs.</a:t>
                </a:r>
              </a:p>
              <a:p>
                <a:endParaRPr lang="en-GB" dirty="0"/>
              </a:p>
              <a:p>
                <a:r>
                  <a:rPr lang="en-GB" b="1" dirty="0"/>
                  <a:t>Loss Computation</a:t>
                </a:r>
              </a:p>
              <a:p>
                <a:r>
                  <a:rPr lang="en-GB" dirty="0"/>
                  <a:t>Finally, the model computes a </a:t>
                </a:r>
                <a:r>
                  <a:rPr lang="en-GB" b="1" dirty="0"/>
                  <a:t>loss </a:t>
                </a:r>
                <a:r>
                  <a:rPr lang="en-GB" sz="1200" b="1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</a:t>
                </a:r>
                <a:r>
                  <a:rPr lang="en-GB" dirty="0"/>
                  <a:t> based on the score, which is used to train the encoder.</a:t>
                </a:r>
              </a:p>
              <a:p>
                <a:r>
                  <a:rPr lang="en-GB" dirty="0"/>
                  <a:t>Example:</a:t>
                </a:r>
              </a:p>
              <a:p>
                <a:pPr lvl="1"/>
                <a:r>
                  <a:rPr lang="en-GB" dirty="0"/>
                  <a:t>In </a:t>
                </a:r>
                <a:r>
                  <a:rPr lang="en-GB" b="1" dirty="0"/>
                  <a:t>link prediction</a:t>
                </a:r>
                <a:r>
                  <a:rPr lang="en-GB" dirty="0"/>
                  <a:t>, if </a:t>
                </a:r>
                <a:r>
                  <a:rPr lang="en-GB" sz="1200" kern="120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</a:t>
                </a:r>
                <a:r>
                  <a:rPr lang="en-GB" dirty="0"/>
                  <a:t> and </a:t>
                </a:r>
                <a:r>
                  <a:rPr lang="en-GB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j</a:t>
                </a:r>
                <a:r>
                  <a:rPr lang="en-GB" dirty="0"/>
                  <a:t> are truly connected, we want the score </a:t>
                </a:r>
                <a:r>
                  <a:rPr lang="en-GB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S(zᵢ, zⱼ)</a:t>
                </a:r>
                <a:r>
                  <a:rPr lang="en-GB" dirty="0"/>
                  <a:t> to be high.</a:t>
                </a:r>
              </a:p>
              <a:p>
                <a:pPr lvl="1"/>
                <a:r>
                  <a:rPr lang="en-GB" dirty="0"/>
                  <a:t>Binary cross-entropy loss can be used here.</a:t>
                </a:r>
              </a:p>
              <a:p>
                <a:br>
                  <a:rPr lang="en-GB" dirty="0"/>
                </a:br>
                <a:r>
                  <a:rPr lang="en-GB" dirty="0"/>
                  <a:t>Once nodes are embedded as </a:t>
                </a:r>
                <a:r>
                  <a:rPr lang="en-GB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zᵢ</a:t>
                </a:r>
                <a:r>
                  <a:rPr lang="en-GB" dirty="0"/>
                  <a:t>, </a:t>
                </a:r>
                <a:r>
                  <a:rPr lang="en-GB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zⱼ</a:t>
                </a:r>
                <a:r>
                  <a:rPr lang="en-GB" dirty="0"/>
                  <a:t>, we often want to know how </a:t>
                </a:r>
                <a:r>
                  <a:rPr lang="en-GB" b="1" dirty="0"/>
                  <a:t>related</a:t>
                </a:r>
                <a:r>
                  <a:rPr lang="en-GB" dirty="0"/>
                  <a:t> or </a:t>
                </a:r>
                <a:r>
                  <a:rPr lang="en-GB" b="1" dirty="0"/>
                  <a:t>similar</a:t>
                </a:r>
                <a:r>
                  <a:rPr lang="en-GB" dirty="0"/>
                  <a:t> two nodes are.</a:t>
                </a:r>
              </a:p>
              <a:p>
                <a:r>
                  <a:rPr lang="en-GB" dirty="0"/>
                  <a:t>This is done using a </a:t>
                </a:r>
                <a:r>
                  <a:rPr lang="en-GB" b="1" dirty="0"/>
                  <a:t>scoring function </a:t>
                </a:r>
                <a:r>
                  <a:rPr lang="en-GB" sz="1200" b="1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S(zᵢ, zⱼ)</a:t>
                </a:r>
                <a:r>
                  <a:rPr lang="en-GB" dirty="0"/>
                  <a:t>:</a:t>
                </a:r>
              </a:p>
              <a:p>
                <a:r>
                  <a:rPr lang="en-GB" dirty="0"/>
                  <a:t>Examples: Dot product, cosine similarity, or MLP.</a:t>
                </a:r>
              </a:p>
              <a:p>
                <a:r>
                  <a:rPr lang="en-GB" dirty="0"/>
                  <a:t>Higher scores → more similar/connected.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76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This slide provides examples of popular techniques used for learning graph representations.</a:t>
                </a:r>
                <a:br>
                  <a:rPr lang="en-GB" dirty="0"/>
                </a:br>
                <a:r>
                  <a:rPr lang="en-US" b="1" dirty="0"/>
                  <a:t>Explanation of Each Method:</a:t>
                </a:r>
              </a:p>
              <a:p>
                <a:r>
                  <a:rPr lang="en-US" b="1" dirty="0"/>
                  <a:t>Laplacian Eigenmaps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Enforces </a:t>
                </a:r>
                <a:r>
                  <a:rPr lang="en-US" b="1" dirty="0"/>
                  <a:t>similar nodes to have similar embeddings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Score is the Euclidean distance; the goal is to keep neighbors close.</a:t>
                </a:r>
              </a:p>
              <a:p>
                <a:pPr lvl="1"/>
                <a:r>
                  <a:rPr lang="en-US" dirty="0"/>
                  <a:t>Only penalizes </a:t>
                </a:r>
                <a:r>
                  <a:rPr lang="en-US" i="1" dirty="0"/>
                  <a:t>connected nodes</a:t>
                </a:r>
                <a:r>
                  <a:rPr lang="en-US" dirty="0"/>
                  <a:t> (hence “no connection → no penalty”).</a:t>
                </a:r>
              </a:p>
              <a:p>
                <a:r>
                  <a:rPr lang="en-US" b="1" dirty="0"/>
                  <a:t>Graph Factorization / </a:t>
                </a:r>
                <a:r>
                  <a:rPr lang="en-US" b="1" dirty="0" err="1"/>
                  <a:t>GraRep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Models edges using </a:t>
                </a:r>
                <a:r>
                  <a:rPr lang="en-US" b="1" dirty="0"/>
                  <a:t>inner product similarity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Loss compares predicted edge strength to actual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pPr lvl="1"/>
                <a:r>
                  <a:rPr lang="en-US" dirty="0"/>
                  <a:t>Useful for graphs with weighted edges.</a:t>
                </a:r>
              </a:p>
              <a:p>
                <a:r>
                  <a:rPr lang="en-US" b="1" dirty="0" err="1"/>
                  <a:t>DeepWalk</a:t>
                </a:r>
                <a:r>
                  <a:rPr lang="en-US" b="1" dirty="0"/>
                  <a:t> / node2vec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Inspired by </a:t>
                </a:r>
                <a:r>
                  <a:rPr lang="en-US" b="1" dirty="0"/>
                  <a:t>Word2Vec</a:t>
                </a:r>
                <a:r>
                  <a:rPr lang="en-US" dirty="0"/>
                  <a:t> in NLP.</a:t>
                </a:r>
              </a:p>
              <a:p>
                <a:pPr lvl="1"/>
                <a:r>
                  <a:rPr lang="en-US" dirty="0"/>
                  <a:t>Learns embeddings by simulating random walks and maximizing co-occurrence probabilities.</a:t>
                </a:r>
              </a:p>
              <a:p>
                <a:pPr lvl="1"/>
                <a:r>
                  <a:rPr lang="en-US" dirty="0" err="1"/>
                  <a:t>Softmax</a:t>
                </a:r>
                <a:r>
                  <a:rPr lang="en-US" dirty="0"/>
                  <a:t>-based similarity score.</a:t>
                </a:r>
              </a:p>
              <a:p>
                <a:pPr lvl="1"/>
                <a:r>
                  <a:rPr lang="en-US" dirty="0"/>
                  <a:t>Cross-entropy-like loss penalizes the log probability if two nodes are not connected.</a:t>
                </a:r>
              </a:p>
              <a:p>
                <a:pPr lvl="1"/>
                <a:endParaRPr lang="en-US" b="1" dirty="0"/>
              </a:p>
              <a:p>
                <a:pPr lvl="1"/>
                <a:r>
                  <a:rPr lang="en-US" b="1" dirty="0"/>
                  <a:t>“No connection, no penalty”:</a:t>
                </a:r>
              </a:p>
              <a:p>
                <a:r>
                  <a:rPr lang="en-US" dirty="0"/>
                  <a:t>This idea is central to sparsity-aware loss functions. Most graph losses only focus on existing edges in the adjacency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US" dirty="0"/>
                  <a:t>so unconnected node pairs do </a:t>
                </a:r>
                <a:r>
                  <a:rPr lang="en-US" b="1" dirty="0"/>
                  <a:t>not</a:t>
                </a:r>
                <a:r>
                  <a:rPr lang="en-US" dirty="0"/>
                  <a:t> contribute to loss — improving efficiency on sparse graphs.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This slide provides examples of popular techniques used for learning graph representations.</a:t>
                </a:r>
                <a:br>
                  <a:rPr lang="en-GB" dirty="0"/>
                </a:br>
                <a:r>
                  <a:rPr lang="en-US" b="1" dirty="0"/>
                  <a:t>Explanation of Each Method:</a:t>
                </a:r>
              </a:p>
              <a:p>
                <a:r>
                  <a:rPr lang="en-US" b="1" dirty="0"/>
                  <a:t>Laplacian Eigenmaps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Enforces </a:t>
                </a:r>
                <a:r>
                  <a:rPr lang="en-US" b="1" dirty="0"/>
                  <a:t>similar nodes to have similar embeddings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Score is the Euclidean distance; the goal is to keep neighbors close.</a:t>
                </a:r>
              </a:p>
              <a:p>
                <a:pPr lvl="1"/>
                <a:r>
                  <a:rPr lang="en-US" dirty="0"/>
                  <a:t>Only penalizes </a:t>
                </a:r>
                <a:r>
                  <a:rPr lang="en-US" i="1" dirty="0"/>
                  <a:t>connected nodes</a:t>
                </a:r>
                <a:r>
                  <a:rPr lang="en-US" dirty="0"/>
                  <a:t> (hence “no connection → no penalty”).</a:t>
                </a:r>
              </a:p>
              <a:p>
                <a:r>
                  <a:rPr lang="en-US" b="1" dirty="0"/>
                  <a:t>Graph Factorization / </a:t>
                </a:r>
                <a:r>
                  <a:rPr lang="en-US" b="1" dirty="0" err="1"/>
                  <a:t>GraRep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Models edges using </a:t>
                </a:r>
                <a:r>
                  <a:rPr lang="en-US" b="1" dirty="0"/>
                  <a:t>inner product similarity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Loss compares predicted edge strength to actual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𝐴_𝑖𝑗</a:t>
                </a:r>
                <a:r>
                  <a:rPr lang="ar-AE" dirty="0"/>
                  <a:t>.</a:t>
                </a:r>
              </a:p>
              <a:p>
                <a:pPr lvl="1"/>
                <a:r>
                  <a:rPr lang="en-US" dirty="0"/>
                  <a:t>Useful for graphs with weighted edges.</a:t>
                </a:r>
              </a:p>
              <a:p>
                <a:r>
                  <a:rPr lang="en-US" b="1" dirty="0" err="1"/>
                  <a:t>DeepWalk</a:t>
                </a:r>
                <a:r>
                  <a:rPr lang="en-US" b="1" dirty="0"/>
                  <a:t> / node2vec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Inspired by </a:t>
                </a:r>
                <a:r>
                  <a:rPr lang="en-US" b="1" dirty="0"/>
                  <a:t>Word2Vec</a:t>
                </a:r>
                <a:r>
                  <a:rPr lang="en-US" dirty="0"/>
                  <a:t> in NLP.</a:t>
                </a:r>
              </a:p>
              <a:p>
                <a:pPr lvl="1"/>
                <a:r>
                  <a:rPr lang="en-US" dirty="0"/>
                  <a:t>Learns embeddings by simulating random walks and maximizing co-occurrence probabilities.</a:t>
                </a:r>
              </a:p>
              <a:p>
                <a:pPr lvl="1"/>
                <a:r>
                  <a:rPr lang="en-US" dirty="0" err="1"/>
                  <a:t>Softmax</a:t>
                </a:r>
                <a:r>
                  <a:rPr lang="en-US" dirty="0"/>
                  <a:t>-based similarity score.</a:t>
                </a:r>
              </a:p>
              <a:p>
                <a:pPr lvl="1"/>
                <a:r>
                  <a:rPr lang="en-US" dirty="0"/>
                  <a:t>Cross-entropy-like loss penalizes the log probability if two nodes are not connected.</a:t>
                </a:r>
              </a:p>
              <a:p>
                <a:pPr lvl="1"/>
                <a:endParaRPr lang="en-US" b="1" dirty="0"/>
              </a:p>
              <a:p>
                <a:pPr lvl="1"/>
                <a:r>
                  <a:rPr lang="en-US" b="1" dirty="0"/>
                  <a:t>“No connection, no penalty”:</a:t>
                </a:r>
              </a:p>
              <a:p>
                <a:r>
                  <a:rPr lang="en-US" dirty="0"/>
                  <a:t>This idea is central to sparsity-aware loss functions. Most graph losses only focus on existing edges in the adjacency matrix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𝐴_𝑖𝑗</a:t>
                </a:r>
                <a:r>
                  <a:rPr lang="ar-AE" dirty="0"/>
                  <a:t>, </a:t>
                </a:r>
                <a:r>
                  <a:rPr lang="en-US" dirty="0"/>
                  <a:t>so unconnected node pairs do </a:t>
                </a:r>
                <a:r>
                  <a:rPr lang="en-US" b="1" dirty="0"/>
                  <a:t>not</a:t>
                </a:r>
                <a:r>
                  <a:rPr lang="en-US" dirty="0"/>
                  <a:t> contribute to loss — improving efficiency on sparse graphs.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799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Problem:</a:t>
                </a:r>
                <a:endParaRPr lang="en-US" dirty="0"/>
              </a:p>
              <a:p>
                <a:r>
                  <a:rPr lang="en-US" dirty="0"/>
                  <a:t>For a graph with </a:t>
                </a:r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∣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𝑉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∣</m:t>
                    </m:r>
                  </m:oMath>
                </a14:m>
                <a:r>
                  <a:rPr lang="en-US" dirty="0"/>
                  <a:t>nodes, calculating loss for all </a:t>
                </a:r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∣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𝑉</m:t>
                    </m:r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</m:e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node pairs is computationally expensive.</a:t>
                </a:r>
              </a:p>
              <a:p>
                <a:r>
                  <a:rPr lang="en-US" dirty="0"/>
                  <a:t>Most node pairs are </a:t>
                </a:r>
                <a:r>
                  <a:rPr lang="en-US" b="1" dirty="0"/>
                  <a:t>not connected</a:t>
                </a:r>
                <a:r>
                  <a:rPr lang="en-US" dirty="0"/>
                  <a:t> — we don’t want to waste time on irrelevant negatives.</a:t>
                </a:r>
              </a:p>
              <a:p>
                <a:r>
                  <a:rPr lang="en-US" b="1" dirty="0"/>
                  <a:t>Solution: Negative Sampling</a:t>
                </a:r>
                <a:endParaRPr lang="en-US" dirty="0"/>
              </a:p>
              <a:p>
                <a:r>
                  <a:rPr lang="en-US" dirty="0"/>
                  <a:t>Instead of scoring </a:t>
                </a:r>
                <a:r>
                  <a:rPr lang="en-US" b="1" dirty="0"/>
                  <a:t>all</a:t>
                </a:r>
                <a:r>
                  <a:rPr lang="en-US" dirty="0"/>
                  <a:t> node pairs, we sample a small number of </a:t>
                </a:r>
                <a:r>
                  <a:rPr lang="en-US" b="1" dirty="0"/>
                  <a:t>negative edges</a:t>
                </a:r>
                <a:r>
                  <a:rPr lang="en-US" dirty="0"/>
                  <a:t> (i.e., node pairs that are not connected).</a:t>
                </a:r>
              </a:p>
              <a:p>
                <a:r>
                  <a:rPr lang="en-US" dirty="0"/>
                  <a:t>Then compute loss over: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𝑝𝑜𝑠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US" dirty="0"/>
                  <a:t>score for positive (true) edges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𝑛𝑒𝑔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US" dirty="0"/>
                  <a:t>score for sampled negative edges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Negative sampling is similar to what we saw in Word2Vec or contrastive learning — avoid computing on every negative pair, just sample some smartly.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Problem:</a:t>
                </a:r>
                <a:endParaRPr lang="en-US" dirty="0"/>
              </a:p>
              <a:p>
                <a:r>
                  <a:rPr lang="en-US" dirty="0"/>
                  <a:t>For a graph with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∣𝑉∣</a:t>
                </a:r>
                <a:r>
                  <a:rPr lang="en-US" dirty="0"/>
                  <a:t>nodes, calculating loss for all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∣𝑉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∣^2</a:t>
                </a:r>
                <a:r>
                  <a:rPr lang="en-US" dirty="0"/>
                  <a:t>node pairs is computationally expensive.</a:t>
                </a:r>
              </a:p>
              <a:p>
                <a:r>
                  <a:rPr lang="en-US" dirty="0"/>
                  <a:t>Most node pairs are </a:t>
                </a:r>
                <a:r>
                  <a:rPr lang="en-US" b="1" dirty="0"/>
                  <a:t>not connected</a:t>
                </a:r>
                <a:r>
                  <a:rPr lang="en-US" dirty="0"/>
                  <a:t> — we don’t want to waste time on irrelevant negatives.</a:t>
                </a:r>
              </a:p>
              <a:p>
                <a:r>
                  <a:rPr lang="en-US" b="1" dirty="0"/>
                  <a:t>Solution: Negative Sampling</a:t>
                </a:r>
                <a:endParaRPr lang="en-US" dirty="0"/>
              </a:p>
              <a:p>
                <a:r>
                  <a:rPr lang="en-US" dirty="0"/>
                  <a:t>Instead of scoring </a:t>
                </a:r>
                <a:r>
                  <a:rPr lang="en-US" b="1" dirty="0"/>
                  <a:t>all</a:t>
                </a:r>
                <a:r>
                  <a:rPr lang="en-US" dirty="0"/>
                  <a:t> node pairs, we sample a small number of </a:t>
                </a:r>
                <a:r>
                  <a:rPr lang="en-US" b="1" dirty="0"/>
                  <a:t>negative edges</a:t>
                </a:r>
                <a:r>
                  <a:rPr lang="en-US" dirty="0"/>
                  <a:t> (i.e., node pairs that are not connected).</a:t>
                </a:r>
              </a:p>
              <a:p>
                <a:r>
                  <a:rPr lang="en-US" dirty="0"/>
                  <a:t>Then compute loss over:</a:t>
                </a:r>
              </a:p>
              <a:p>
                <a:pPr lvl="1"/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𝑆_𝑝𝑜𝑠</a:t>
                </a:r>
                <a:r>
                  <a:rPr lang="ar-AE" dirty="0"/>
                  <a:t>: </a:t>
                </a:r>
                <a:r>
                  <a:rPr lang="en-US" dirty="0"/>
                  <a:t>score for positive (true) edges</a:t>
                </a:r>
              </a:p>
              <a:p>
                <a:pPr lvl="1"/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𝑆_𝑛𝑒𝑔</a:t>
                </a:r>
                <a:r>
                  <a:rPr lang="ar-AE" dirty="0"/>
                  <a:t>: </a:t>
                </a:r>
                <a:r>
                  <a:rPr lang="en-US" dirty="0"/>
                  <a:t>score for sampled negative edges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Negative sampling is similar to what we saw in Word2Vec or contrastive learning — avoid computing on every negative pair, just sample some smartly.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86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𝒯</m:t>
                    </m:r>
                  </m:oMath>
                </a14:m>
                <a:r>
                  <a:rPr lang="en-US" dirty="0"/>
                  <a:t>= set of all positive and </a:t>
                </a:r>
                <a:r>
                  <a:rPr lang="en-US" b="1" dirty="0"/>
                  <a:t>sampled negative</a:t>
                </a:r>
                <a:r>
                  <a:rPr lang="en-US" dirty="0"/>
                  <a:t> edges.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</m:oMath>
                </a14:m>
                <a:r>
                  <a:rPr lang="en-US" dirty="0"/>
                  <a:t>= class label: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dirty="0"/>
                  <a:t>→ for positive edge (actual edge exists),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r>
                  <a:rPr lang="en-US" dirty="0"/>
                  <a:t>→ for sampled negative edge.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𝑠</m:t>
                    </m:r>
                    <m:d>
                      <m:dPr>
                        <m:sepChr m:val=",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e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US" dirty="0"/>
                  <a:t>predicted score for similarity between node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</m:oMath>
                </a14:m>
                <a:r>
                  <a:rPr lang="en-US" dirty="0"/>
                  <a:t>, defined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</m:t>
                      </m:r>
                      <m:d>
                        <m:dPr>
                          <m:sepChr m:val=",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e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𝜎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⊤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using </a:t>
                </a:r>
                <a:r>
                  <a:rPr lang="en-US" b="1" dirty="0"/>
                  <a:t>sigmoid</a:t>
                </a:r>
                <a:r>
                  <a:rPr lang="en-US" dirty="0"/>
                  <a:t> activation.</a:t>
                </a:r>
              </a:p>
              <a:p>
                <a:r>
                  <a:rPr lang="en-US" b="1" dirty="0"/>
                  <a:t>🔹 What is happening:</a:t>
                </a:r>
              </a:p>
              <a:p>
                <a:r>
                  <a:rPr lang="en-US" dirty="0"/>
                  <a:t>For </a:t>
                </a:r>
                <a:r>
                  <a:rPr lang="en-US" b="1" dirty="0"/>
                  <a:t>positive edges</a:t>
                </a:r>
                <a:r>
                  <a:rPr lang="en-US" dirty="0"/>
                  <a:t>, we maximize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log</m:t>
                        </m:r>
                      </m:fName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</m:func>
                    <m:d>
                      <m:dPr>
                        <m:sepChr m:val=",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e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e>
                    </m:d>
                  </m:oMath>
                </a14:m>
                <a:r>
                  <a:rPr lang="ar-AE" dirty="0"/>
                  <a:t>— </a:t>
                </a:r>
                <a:r>
                  <a:rPr lang="en-US" dirty="0"/>
                  <a:t>we want the similarity to be high.</a:t>
                </a:r>
              </a:p>
              <a:p>
                <a:r>
                  <a:rPr lang="en-US" dirty="0"/>
                  <a:t>For </a:t>
                </a:r>
                <a:r>
                  <a:rPr lang="en-US" b="1" dirty="0"/>
                  <a:t>negative edges</a:t>
                </a:r>
                <a:r>
                  <a:rPr lang="en-US" dirty="0"/>
                  <a:t>, we maximize — we want the similarity to be low.</a:t>
                </a:r>
              </a:p>
              <a:p>
                <a:r>
                  <a:rPr lang="en-US" dirty="0"/>
                  <a:t>This balances attraction (positive edges) and repulsion (negative edges) between node embeddings.</a:t>
                </a:r>
              </a:p>
              <a:p>
                <a:r>
                  <a:rPr lang="en-US" b="1" dirty="0"/>
                  <a:t>🔹 Intuition:</a:t>
                </a:r>
              </a:p>
              <a:p>
                <a:r>
                  <a:rPr lang="en-US" dirty="0"/>
                  <a:t>This objective forces nodes that are </a:t>
                </a:r>
                <a:r>
                  <a:rPr lang="en-US" b="1" dirty="0"/>
                  <a:t>connected</a:t>
                </a:r>
                <a:r>
                  <a:rPr lang="en-US" dirty="0"/>
                  <a:t> to be closer in embedding space.</a:t>
                </a:r>
              </a:p>
              <a:p>
                <a:r>
                  <a:rPr lang="en-US" dirty="0"/>
                  <a:t>At the same time, it </a:t>
                </a:r>
                <a:r>
                  <a:rPr lang="en-US" b="1" dirty="0"/>
                  <a:t>pushes apart</a:t>
                </a:r>
                <a:r>
                  <a:rPr lang="en-US" dirty="0"/>
                  <a:t> nodes that are </a:t>
                </a:r>
                <a:r>
                  <a:rPr lang="en-US" b="1" dirty="0"/>
                  <a:t>not connected</a:t>
                </a:r>
                <a:r>
                  <a:rPr lang="en-US" dirty="0"/>
                  <a:t>, sampled via negative sampling.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Where: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𝒯</a:t>
                </a:r>
                <a:r>
                  <a:rPr lang="en-US" dirty="0"/>
                  <a:t>= set of all positive and </a:t>
                </a:r>
                <a:r>
                  <a:rPr lang="en-US" b="1" dirty="0"/>
                  <a:t>sampled negative</a:t>
                </a:r>
                <a:r>
                  <a:rPr lang="en-US" dirty="0"/>
                  <a:t> edges.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r>
                  <a:rPr lang="en-US" dirty="0"/>
                  <a:t>= class label:</a:t>
                </a:r>
              </a:p>
              <a:p>
                <a:pPr lvl="1"/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𝑐=1</a:t>
                </a:r>
                <a:r>
                  <a:rPr lang="en-US" dirty="0"/>
                  <a:t>→ for positive edge (actual edge exists),</a:t>
                </a:r>
              </a:p>
              <a:p>
                <a:pPr lvl="1"/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𝑐=0</a:t>
                </a:r>
                <a:r>
                  <a:rPr lang="en-US" dirty="0"/>
                  <a:t>→ for sampled negative edge.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(𝑖ⓜ,𝑗)</a:t>
                </a:r>
                <a:r>
                  <a:rPr lang="ar-AE" dirty="0"/>
                  <a:t>= </a:t>
                </a:r>
                <a:r>
                  <a:rPr lang="en-US" dirty="0"/>
                  <a:t>predicted score for similarity between node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en-US" dirty="0"/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𝑗</a:t>
                </a:r>
                <a:r>
                  <a:rPr lang="en-US" dirty="0"/>
                  <a:t>, defined as: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(𝑖ⓜ,𝑗)=𝜎(𝑧_𝑖^⊤ 𝑧_𝑗 )</a:t>
                </a:r>
                <a:endParaRPr lang="ar-AE" dirty="0"/>
              </a:p>
              <a:p>
                <a:r>
                  <a:rPr lang="en-US" dirty="0"/>
                  <a:t>using </a:t>
                </a:r>
                <a:r>
                  <a:rPr lang="en-US" b="1" dirty="0"/>
                  <a:t>sigmoid</a:t>
                </a:r>
                <a:r>
                  <a:rPr lang="en-US" dirty="0"/>
                  <a:t> activation.</a:t>
                </a:r>
              </a:p>
              <a:p>
                <a:r>
                  <a:rPr lang="en-US" b="1" dirty="0"/>
                  <a:t>🔹 What is happening:</a:t>
                </a:r>
              </a:p>
              <a:p>
                <a:r>
                  <a:rPr lang="en-US" dirty="0"/>
                  <a:t>For </a:t>
                </a:r>
                <a:r>
                  <a:rPr lang="en-US" b="1" dirty="0"/>
                  <a:t>positive edges</a:t>
                </a:r>
                <a:r>
                  <a:rPr lang="en-US" dirty="0"/>
                  <a:t>, we maximize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⁡𝑠 (𝑖ⓜ,𝑗)</a:t>
                </a:r>
                <a:r>
                  <a:rPr lang="ar-AE" dirty="0"/>
                  <a:t>— </a:t>
                </a:r>
                <a:r>
                  <a:rPr lang="en-US" dirty="0"/>
                  <a:t>we want the similarity to be high.</a:t>
                </a:r>
              </a:p>
              <a:p>
                <a:r>
                  <a:rPr lang="en-US" dirty="0"/>
                  <a:t>For </a:t>
                </a:r>
                <a:r>
                  <a:rPr lang="en-US" b="1" dirty="0"/>
                  <a:t>negative edges</a:t>
                </a:r>
                <a:r>
                  <a:rPr lang="en-US" dirty="0"/>
                  <a:t>, we maximize — we want the similarity to be low.</a:t>
                </a:r>
              </a:p>
              <a:p>
                <a:r>
                  <a:rPr lang="en-US" dirty="0"/>
                  <a:t>This balances attraction (positive edges) and repulsion (negative edges) between node embeddings.</a:t>
                </a:r>
              </a:p>
              <a:p>
                <a:r>
                  <a:rPr lang="en-US" b="1" dirty="0"/>
                  <a:t>🔹 Intuition:</a:t>
                </a:r>
              </a:p>
              <a:p>
                <a:r>
                  <a:rPr lang="en-US" dirty="0"/>
                  <a:t>This objective forces nodes that are </a:t>
                </a:r>
                <a:r>
                  <a:rPr lang="en-US" b="1" dirty="0"/>
                  <a:t>connected</a:t>
                </a:r>
                <a:r>
                  <a:rPr lang="en-US" dirty="0"/>
                  <a:t> to be closer in embedding space.</a:t>
                </a:r>
              </a:p>
              <a:p>
                <a:r>
                  <a:rPr lang="en-US" dirty="0"/>
                  <a:t>At the same time, it </a:t>
                </a:r>
                <a:r>
                  <a:rPr lang="en-US" b="1" dirty="0"/>
                  <a:t>pushes apart</a:t>
                </a:r>
                <a:r>
                  <a:rPr lang="en-US" dirty="0"/>
                  <a:t> nodes that are </a:t>
                </a:r>
                <a:r>
                  <a:rPr lang="en-US" b="1" dirty="0"/>
                  <a:t>not connected</a:t>
                </a:r>
                <a:r>
                  <a:rPr lang="en-US" dirty="0"/>
                  <a:t>, sampled via negative sampling.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33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RESCAL / </a:t>
                </a:r>
                <a:r>
                  <a:rPr lang="en-US" b="1" dirty="0" err="1"/>
                  <a:t>DistMult</a:t>
                </a:r>
                <a:endParaRPr lang="en-US" b="1" dirty="0"/>
              </a:p>
              <a:p>
                <a:r>
                  <a:rPr lang="en-US" dirty="0"/>
                  <a:t>These are </a:t>
                </a:r>
                <a:r>
                  <a:rPr lang="en-US" b="1" dirty="0"/>
                  <a:t>bilinear models</a:t>
                </a:r>
                <a:r>
                  <a:rPr lang="en-US" dirty="0"/>
                  <a:t> for scoring the likelihood of a triplet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e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</m:e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are embeddings for entities (e.g., "Obama", "USA")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is a </a:t>
                </a:r>
                <a:r>
                  <a:rPr lang="en-US" b="1" dirty="0"/>
                  <a:t>relation-specific matrix</a:t>
                </a:r>
                <a:r>
                  <a:rPr lang="en-US" dirty="0"/>
                  <a:t> for the relation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𝑟</m:t>
                    </m:r>
                  </m:oMath>
                </a14:m>
                <a:r>
                  <a:rPr lang="en-US" dirty="0"/>
                  <a:t>(e.g., "</a:t>
                </a:r>
                <a:r>
                  <a:rPr lang="en-US" dirty="0" err="1"/>
                  <a:t>born_in</a:t>
                </a:r>
                <a:r>
                  <a:rPr lang="en-US" dirty="0"/>
                  <a:t>")</a:t>
                </a:r>
              </a:p>
              <a:p>
                <a:r>
                  <a:rPr lang="en-US" dirty="0"/>
                  <a:t>Score Function: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</m:t>
                      </m:r>
                      <m:d>
                        <m:dPr>
                          <m:sepChr m:val=",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e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Sup>
                        <m:sSub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lvl="1"/>
                <a:r>
                  <a:rPr lang="en-US" dirty="0"/>
                  <a:t>This computes a bilinear interaction between the two entity vectors using the relation matrix.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TransE (Translational Embedding)</a:t>
                </a:r>
              </a:p>
              <a:p>
                <a:r>
                  <a:rPr lang="en-US" dirty="0"/>
                  <a:t>TransE models relations as </a:t>
                </a:r>
                <a:r>
                  <a:rPr lang="en-US" b="1" dirty="0"/>
                  <a:t>translations in vector space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A relation is treated like a vector that moves from head to tail entity.</a:t>
                </a:r>
              </a:p>
              <a:p>
                <a:r>
                  <a:rPr lang="en-US" dirty="0"/>
                  <a:t>Score Function: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</m:t>
                      </m:r>
                      <m:d>
                        <m:dPr>
                          <m:sepChr m:val=",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e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=∥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</m:t>
                          </m:r>
                        </m:sub>
                      </m:sSub>
                      <m:sSubSup>
                        <m:sSub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∥</m:t>
                          </m:r>
                        </m:e>
                        <m:sub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ar-AE" dirty="0"/>
              </a:p>
              <a:p>
                <a:pPr lvl="1"/>
                <a:r>
                  <a:rPr lang="en-US" dirty="0"/>
                  <a:t>This measures how close the translation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is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pPr lvl="1"/>
                <a:r>
                  <a:rPr lang="en-US" dirty="0"/>
                  <a:t>Smaller values → more likely the triplet is correct.</a:t>
                </a:r>
              </a:p>
              <a:p>
                <a:br>
                  <a:rPr lang="en-US" dirty="0"/>
                </a:br>
                <a:r>
                  <a:rPr lang="en-US" b="1" dirty="0"/>
                  <a:t>Training Information:</a:t>
                </a:r>
              </a:p>
              <a:p>
                <a:r>
                  <a:rPr lang="en-US" dirty="0"/>
                  <a:t>Both methods are trained using:</a:t>
                </a:r>
              </a:p>
              <a:p>
                <a:pPr lvl="1"/>
                <a:r>
                  <a:rPr lang="en-US" b="1" dirty="0"/>
                  <a:t>Negative sampling</a:t>
                </a:r>
                <a:r>
                  <a:rPr lang="en-US" dirty="0"/>
                  <a:t> (to avoid full pairwise computation).</a:t>
                </a:r>
              </a:p>
              <a:p>
                <a:pPr lvl="1"/>
                <a:r>
                  <a:rPr lang="en-US" b="1" dirty="0"/>
                  <a:t>Binary cross-entropy loss</a:t>
                </a:r>
                <a:r>
                  <a:rPr lang="en-US" dirty="0"/>
                  <a:t> or </a:t>
                </a:r>
                <a:r>
                  <a:rPr lang="en-US" b="1" dirty="0"/>
                  <a:t>margin ranking loss</a:t>
                </a:r>
                <a:r>
                  <a:rPr lang="en-US" dirty="0"/>
                  <a:t> (especially for TransE).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RESCAL / </a:t>
                </a:r>
                <a:r>
                  <a:rPr lang="en-US" b="1" dirty="0" err="1"/>
                  <a:t>DistMult</a:t>
                </a:r>
                <a:endParaRPr lang="en-US" b="1" dirty="0"/>
              </a:p>
              <a:p>
                <a:r>
                  <a:rPr lang="en-US" dirty="0"/>
                  <a:t>These are </a:t>
                </a:r>
                <a:r>
                  <a:rPr lang="en-US" b="1" dirty="0"/>
                  <a:t>bilinear models</a:t>
                </a:r>
                <a:r>
                  <a:rPr lang="en-US" dirty="0"/>
                  <a:t> for scoring the likelihood of a triplet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(𝑖ⓜ,𝑟ⓜ,𝑗)</a:t>
                </a:r>
                <a:r>
                  <a:rPr lang="ar-AE" dirty="0"/>
                  <a:t>, </a:t>
                </a:r>
                <a:r>
                  <a:rPr lang="en-US" dirty="0"/>
                  <a:t>where:</a:t>
                </a:r>
              </a:p>
              <a:p>
                <a:pPr lvl="1"/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𝑧_𝑖,𝑧_𝑗</a:t>
                </a:r>
                <a:r>
                  <a:rPr lang="en-US" dirty="0"/>
                  <a:t>are embeddings for entities (e.g., "Obama", "USA")</a:t>
                </a:r>
              </a:p>
              <a:p>
                <a:pPr lvl="1"/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𝑅_𝑟</a:t>
                </a:r>
                <a:r>
                  <a:rPr lang="en-US" dirty="0"/>
                  <a:t>is a </a:t>
                </a:r>
                <a:r>
                  <a:rPr lang="en-US" b="1" dirty="0"/>
                  <a:t>relation-specific matrix</a:t>
                </a:r>
                <a:r>
                  <a:rPr lang="en-US" dirty="0"/>
                  <a:t> for the relation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𝑟</a:t>
                </a:r>
                <a:r>
                  <a:rPr lang="en-US" dirty="0"/>
                  <a:t>(e.g., "</a:t>
                </a:r>
                <a:r>
                  <a:rPr lang="en-US" dirty="0" err="1"/>
                  <a:t>born_in</a:t>
                </a:r>
                <a:r>
                  <a:rPr lang="en-US" dirty="0"/>
                  <a:t>")</a:t>
                </a:r>
              </a:p>
              <a:p>
                <a:r>
                  <a:rPr lang="en-US" dirty="0"/>
                  <a:t>Score Function: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(𝑖ⓜ,𝑟ⓜ,𝑗)=𝑧_𝑖^⊤ 𝑅_𝑟 𝑧_𝑗</a:t>
                </a:r>
                <a:endParaRPr lang="ar-AE" dirty="0"/>
              </a:p>
              <a:p>
                <a:pPr lvl="1"/>
                <a:r>
                  <a:rPr lang="en-US" dirty="0"/>
                  <a:t>This computes a bilinear interaction between the two entity vectors using the relation matrix.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TransE (Translational Embedding)</a:t>
                </a:r>
              </a:p>
              <a:p>
                <a:r>
                  <a:rPr lang="en-US" dirty="0"/>
                  <a:t>TransE models relations as </a:t>
                </a:r>
                <a:r>
                  <a:rPr lang="en-US" b="1" dirty="0"/>
                  <a:t>translations in vector space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A relation is treated like a vector that moves from head to tail entity.</a:t>
                </a:r>
              </a:p>
              <a:p>
                <a:r>
                  <a:rPr lang="en-US" dirty="0"/>
                  <a:t>Score Function: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(𝑖ⓜ,𝑟ⓜ,𝑗)=∥𝑧_𝑖+𝑟_𝑟−𝑧_𝑗 ∥_2^2</a:t>
                </a:r>
                <a:endParaRPr lang="ar-AE" dirty="0"/>
              </a:p>
              <a:p>
                <a:pPr lvl="1"/>
                <a:r>
                  <a:rPr lang="en-US" dirty="0"/>
                  <a:t>This measures how close the translation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𝑧_𝑖+𝑟_𝑟</a:t>
                </a:r>
                <a:r>
                  <a:rPr lang="en-US" dirty="0"/>
                  <a:t>is to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𝑧_𝑗</a:t>
                </a:r>
                <a:r>
                  <a:rPr lang="ar-AE" dirty="0"/>
                  <a:t>.</a:t>
                </a:r>
              </a:p>
              <a:p>
                <a:pPr lvl="1"/>
                <a:r>
                  <a:rPr lang="en-US" dirty="0"/>
                  <a:t>Smaller values → more likely the triplet is correct.</a:t>
                </a:r>
              </a:p>
              <a:p>
                <a:br>
                  <a:rPr lang="en-US" dirty="0"/>
                </a:br>
                <a:r>
                  <a:rPr lang="en-US" b="1" dirty="0"/>
                  <a:t>Training Information:</a:t>
                </a:r>
              </a:p>
              <a:p>
                <a:r>
                  <a:rPr lang="en-US" dirty="0"/>
                  <a:t>Both methods are trained using:</a:t>
                </a:r>
              </a:p>
              <a:p>
                <a:pPr lvl="1"/>
                <a:r>
                  <a:rPr lang="en-US" b="1" dirty="0"/>
                  <a:t>Negative sampling</a:t>
                </a:r>
                <a:r>
                  <a:rPr lang="en-US" dirty="0"/>
                  <a:t> (to avoid full pairwise computation).</a:t>
                </a:r>
              </a:p>
              <a:p>
                <a:pPr lvl="1"/>
                <a:r>
                  <a:rPr lang="en-US" b="1" dirty="0"/>
                  <a:t>Binary cross-entropy loss</a:t>
                </a:r>
                <a:r>
                  <a:rPr lang="en-US" dirty="0"/>
                  <a:t> or </a:t>
                </a:r>
                <a:r>
                  <a:rPr lang="en-US" b="1" dirty="0"/>
                  <a:t>margin ranking loss</a:t>
                </a:r>
                <a:r>
                  <a:rPr lang="en-US" dirty="0"/>
                  <a:t> (especially for TransE).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462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CC99EB6-AA71-4B4C-A82B-CEA734E6F32C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47658-BC40-4C79-AFC1-AA3352BFDF15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48A5C-8CDE-4F86-B9B3-D61413E0EC2C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67355-86D3-4D2C-BF36-E886C5D540CA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1A67-B065-4E93-8F18-7C60AB0DBF6D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7D889-463E-495B-A2E6-D1DB76ECF379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37D74-316A-40C2-BB5E-CFDDC2D37EBF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CD4D0-620E-4F75-8B90-DFDF232830BD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84E99-DA4D-45D6-9055-41C97E69F2A7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814CE-1CAC-43A4-94CC-A6356D7213F6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5E637-8EB3-4ED1-9C7D-C5291CCA4B4C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7867" y="283295"/>
            <a:ext cx="11506200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GB"/>
              <a:t>Presented by    Dr. Noshina Tariq</a:t>
            </a:r>
            <a:endParaRPr lang="en-US"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17C6BC6A-A717-420D-BD8A-5092184E426F}" type="datetime1">
              <a:rPr lang="en-US" spc="-20" smtClean="0"/>
              <a:t>11/28/2025</a:t>
            </a:fld>
            <a:endParaRPr lang="en-US"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7465">
              <a:lnSpc>
                <a:spcPts val="1425"/>
              </a:lnSpc>
            </a:pPr>
            <a:fld id="{81D60167-4931-47E6-BA6A-407CBD079E47}" type="slidenum">
              <a:rPr lang="en-US" spc="-25" smtClean="0"/>
              <a:pPr marL="37465">
                <a:lnSpc>
                  <a:spcPts val="1425"/>
                </a:lnSpc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243703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13A5E8C-48FD-401D-A4EF-CAC94B716B35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552700" y="457200"/>
            <a:ext cx="6329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National University of Computer and Emerging Sciences</a:t>
            </a:r>
            <a:endParaRPr lang="en-US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501901" y="2430404"/>
            <a:ext cx="7658099" cy="125351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Graph Neural Networks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00600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Dr. Noshina Tariq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AI and 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Deep Learning for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49478"/>
            <a:ext cx="954108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87759-3B6F-D40C-8A44-2CA050CF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2FF5-0C6A-4C9F-B96A-9C58A5D773ED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7175A4-EFCC-F43B-6AB2-E931F4BEC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C2CC0-64E5-C986-29FD-7822CDA9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Review of Previous Lecture</a:t>
            </a:r>
          </a:p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dirty="0"/>
              <a:t>Graph Representation Learning</a:t>
            </a:r>
          </a:p>
          <a:p>
            <a:pPr lvl="1"/>
            <a:r>
              <a:rPr lang="en-US" dirty="0">
                <a:solidFill>
                  <a:srgbClr val="002060"/>
                </a:solidFill>
                <a:ea typeface="SimSun" panose="02010600030101010101" pitchFamily="2" charset="-122"/>
              </a:rPr>
              <a:t>Graph Neural Networks</a:t>
            </a:r>
          </a:p>
          <a:p>
            <a:pPr lvl="1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68AA4D-45D2-B623-9753-510EF97D5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DF566-25EF-445D-BDB4-4780DD31B417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5DBF5B-AB0F-1AE4-A0B4-5E18F5E52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32CC4-4FB5-8034-85B1-90CA51D55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4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C01036F-D68B-C6DD-760F-8818B0E5E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388534"/>
            <a:ext cx="1097280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Deep</a:t>
            </a:r>
            <a:r>
              <a:rPr lang="en-US" spc="-60" dirty="0"/>
              <a:t> </a:t>
            </a:r>
            <a:r>
              <a:rPr lang="en-US" spc="-10" dirty="0"/>
              <a:t>Learning Approach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7900" y="1752600"/>
            <a:ext cx="2667000" cy="2667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8872" y="1160065"/>
            <a:ext cx="2516322" cy="3619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02500" y="1320800"/>
            <a:ext cx="2006600" cy="9906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92801" y="1117600"/>
            <a:ext cx="1372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Speech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data</a:t>
            </a:r>
            <a:endParaRPr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53101" y="2730500"/>
            <a:ext cx="1918335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b="1" dirty="0">
                <a:latin typeface="Arial"/>
                <a:cs typeface="Arial"/>
              </a:rPr>
              <a:t>Natural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language </a:t>
            </a:r>
            <a:r>
              <a:rPr b="1" dirty="0">
                <a:latin typeface="Arial"/>
                <a:cs typeface="Arial"/>
              </a:rPr>
              <a:t>processing</a:t>
            </a:r>
            <a:r>
              <a:rPr b="1" spc="-7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(NLP)</a:t>
            </a:r>
            <a:endParaRPr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13600" y="2730500"/>
            <a:ext cx="2641600" cy="18161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133600" y="4203700"/>
            <a:ext cx="4065904" cy="1760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34950" algn="r">
              <a:spcBef>
                <a:spcPts val="100"/>
              </a:spcBef>
            </a:pPr>
            <a:r>
              <a:rPr b="1" spc="-50" dirty="0">
                <a:latin typeface="Arial"/>
                <a:cs typeface="Arial"/>
              </a:rPr>
              <a:t>…</a:t>
            </a:r>
            <a:endParaRPr>
              <a:latin typeface="Arial"/>
              <a:cs typeface="Arial"/>
            </a:endParaRPr>
          </a:p>
          <a:p>
            <a:pPr>
              <a:spcBef>
                <a:spcPts val="1470"/>
              </a:spcBef>
            </a:pPr>
            <a:endParaRPr>
              <a:latin typeface="Arial"/>
              <a:cs typeface="Arial"/>
            </a:endParaRPr>
          </a:p>
          <a:p>
            <a:pPr marL="12700"/>
            <a:r>
              <a:rPr b="1" dirty="0">
                <a:latin typeface="Arial"/>
                <a:cs typeface="Arial"/>
              </a:rPr>
              <a:t>Deep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neural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nets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that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exploit:</a:t>
            </a:r>
            <a:endParaRPr>
              <a:latin typeface="Arial"/>
              <a:cs typeface="Arial"/>
            </a:endParaRPr>
          </a:p>
          <a:p>
            <a:pPr marL="202565" indent="-177165">
              <a:spcBef>
                <a:spcPts val="1040"/>
              </a:spcBef>
              <a:buChar char="-"/>
              <a:tabLst>
                <a:tab pos="202565" algn="l"/>
              </a:tabLst>
            </a:pPr>
            <a:r>
              <a:rPr dirty="0">
                <a:latin typeface="Arial MT"/>
                <a:cs typeface="Arial MT"/>
              </a:rPr>
              <a:t>translation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invariance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(weight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sharing)</a:t>
            </a:r>
            <a:endParaRPr>
              <a:latin typeface="Arial MT"/>
              <a:cs typeface="Arial MT"/>
            </a:endParaRPr>
          </a:p>
          <a:p>
            <a:pPr marL="202565" indent="-177165">
              <a:spcBef>
                <a:spcPts val="440"/>
              </a:spcBef>
              <a:buChar char="-"/>
              <a:tabLst>
                <a:tab pos="202565" algn="l"/>
              </a:tabLst>
            </a:pPr>
            <a:r>
              <a:rPr dirty="0">
                <a:latin typeface="Arial MT"/>
                <a:cs typeface="Arial MT"/>
              </a:rPr>
              <a:t>hierarchical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compositionality</a:t>
            </a:r>
            <a:endParaRPr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97462" y="5058475"/>
            <a:ext cx="1055513" cy="10502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26605" y="4931983"/>
            <a:ext cx="1342795" cy="139261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45601" y="4944683"/>
            <a:ext cx="997163" cy="139261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0410523" y="6492335"/>
            <a:ext cx="11048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E2FF7FD-03F1-70E6-791D-414BEFABB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B3E8-EAF8-4D51-BF1E-62DFEDC56EED}" type="datetime1">
              <a:rPr lang="en-US" smtClean="0"/>
              <a:t>11/28/2025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5D86F62-111C-E5D7-7979-316CF2037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4477DD5-001F-E7D1-8B1C-53F9C356F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E163C981-C893-529F-BE64-0FA75F47D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745290"/>
            <a:ext cx="1097280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Deep</a:t>
            </a:r>
            <a:r>
              <a:rPr lang="en-US" spc="-60" dirty="0"/>
              <a:t> </a:t>
            </a:r>
            <a:r>
              <a:rPr lang="en-US" spc="-10" dirty="0"/>
              <a:t>Learning Approach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3249821" y="6139107"/>
            <a:ext cx="5158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Euclidean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data: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grids,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sequences…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8100" y="1714500"/>
            <a:ext cx="3073400" cy="30734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916786" y="2160637"/>
            <a:ext cx="2181225" cy="2181225"/>
            <a:chOff x="5392785" y="2160636"/>
            <a:chExt cx="2181225" cy="2181225"/>
          </a:xfrm>
        </p:grpSpPr>
        <p:sp>
          <p:nvSpPr>
            <p:cNvPr id="6" name="object 6"/>
            <p:cNvSpPr/>
            <p:nvPr/>
          </p:nvSpPr>
          <p:spPr>
            <a:xfrm>
              <a:off x="5411835" y="4046585"/>
              <a:ext cx="2143125" cy="276225"/>
            </a:xfrm>
            <a:custGeom>
              <a:avLst/>
              <a:gdLst/>
              <a:ahLst/>
              <a:cxnLst/>
              <a:rect l="l" t="t" r="r" b="b"/>
              <a:pathLst>
                <a:path w="2143125" h="276225">
                  <a:moveTo>
                    <a:pt x="236847" y="39280"/>
                  </a:moveTo>
                  <a:lnTo>
                    <a:pt x="263034" y="75540"/>
                  </a:lnTo>
                  <a:lnTo>
                    <a:pt x="276127" y="116680"/>
                  </a:lnTo>
                  <a:lnTo>
                    <a:pt x="276127" y="159447"/>
                  </a:lnTo>
                  <a:lnTo>
                    <a:pt x="263034" y="200587"/>
                  </a:lnTo>
                  <a:lnTo>
                    <a:pt x="236847" y="236847"/>
                  </a:lnTo>
                  <a:lnTo>
                    <a:pt x="200587" y="263034"/>
                  </a:lnTo>
                  <a:lnTo>
                    <a:pt x="159447" y="276127"/>
                  </a:lnTo>
                  <a:lnTo>
                    <a:pt x="116680" y="276127"/>
                  </a:lnTo>
                  <a:lnTo>
                    <a:pt x="75540" y="263034"/>
                  </a:lnTo>
                  <a:lnTo>
                    <a:pt x="39280" y="236847"/>
                  </a:lnTo>
                  <a:lnTo>
                    <a:pt x="13093" y="200587"/>
                  </a:lnTo>
                  <a:lnTo>
                    <a:pt x="0" y="159447"/>
                  </a:lnTo>
                  <a:lnTo>
                    <a:pt x="0" y="116680"/>
                  </a:lnTo>
                  <a:lnTo>
                    <a:pt x="13093" y="75540"/>
                  </a:lnTo>
                  <a:lnTo>
                    <a:pt x="39280" y="39280"/>
                  </a:lnTo>
                  <a:lnTo>
                    <a:pt x="75540" y="13093"/>
                  </a:lnTo>
                  <a:lnTo>
                    <a:pt x="116680" y="0"/>
                  </a:lnTo>
                  <a:lnTo>
                    <a:pt x="159447" y="0"/>
                  </a:lnTo>
                  <a:lnTo>
                    <a:pt x="200587" y="13093"/>
                  </a:lnTo>
                  <a:lnTo>
                    <a:pt x="236847" y="39280"/>
                  </a:lnTo>
                </a:path>
                <a:path w="2143125" h="276225">
                  <a:moveTo>
                    <a:pt x="859147" y="39280"/>
                  </a:moveTo>
                  <a:lnTo>
                    <a:pt x="885334" y="75540"/>
                  </a:lnTo>
                  <a:lnTo>
                    <a:pt x="898427" y="116680"/>
                  </a:lnTo>
                  <a:lnTo>
                    <a:pt x="898427" y="159447"/>
                  </a:lnTo>
                  <a:lnTo>
                    <a:pt x="885334" y="200587"/>
                  </a:lnTo>
                  <a:lnTo>
                    <a:pt x="859147" y="236847"/>
                  </a:lnTo>
                  <a:lnTo>
                    <a:pt x="822887" y="263034"/>
                  </a:lnTo>
                  <a:lnTo>
                    <a:pt x="781747" y="276127"/>
                  </a:lnTo>
                  <a:lnTo>
                    <a:pt x="738980" y="276127"/>
                  </a:lnTo>
                  <a:lnTo>
                    <a:pt x="697840" y="263034"/>
                  </a:lnTo>
                  <a:lnTo>
                    <a:pt x="661580" y="236847"/>
                  </a:lnTo>
                  <a:lnTo>
                    <a:pt x="635393" y="200587"/>
                  </a:lnTo>
                  <a:lnTo>
                    <a:pt x="622300" y="159447"/>
                  </a:lnTo>
                  <a:lnTo>
                    <a:pt x="622300" y="116680"/>
                  </a:lnTo>
                  <a:lnTo>
                    <a:pt x="635393" y="75540"/>
                  </a:lnTo>
                  <a:lnTo>
                    <a:pt x="661580" y="39280"/>
                  </a:lnTo>
                  <a:lnTo>
                    <a:pt x="697840" y="13093"/>
                  </a:lnTo>
                  <a:lnTo>
                    <a:pt x="738980" y="0"/>
                  </a:lnTo>
                  <a:lnTo>
                    <a:pt x="781747" y="0"/>
                  </a:lnTo>
                  <a:lnTo>
                    <a:pt x="822887" y="13093"/>
                  </a:lnTo>
                  <a:lnTo>
                    <a:pt x="859147" y="39280"/>
                  </a:lnTo>
                </a:path>
                <a:path w="2143125" h="276225">
                  <a:moveTo>
                    <a:pt x="1481447" y="39280"/>
                  </a:moveTo>
                  <a:lnTo>
                    <a:pt x="1507634" y="75540"/>
                  </a:lnTo>
                  <a:lnTo>
                    <a:pt x="1520727" y="116680"/>
                  </a:lnTo>
                  <a:lnTo>
                    <a:pt x="1520727" y="159447"/>
                  </a:lnTo>
                  <a:lnTo>
                    <a:pt x="1507634" y="200587"/>
                  </a:lnTo>
                  <a:lnTo>
                    <a:pt x="1481447" y="236847"/>
                  </a:lnTo>
                  <a:lnTo>
                    <a:pt x="1445187" y="263034"/>
                  </a:lnTo>
                  <a:lnTo>
                    <a:pt x="1404047" y="276127"/>
                  </a:lnTo>
                  <a:lnTo>
                    <a:pt x="1361280" y="276127"/>
                  </a:lnTo>
                  <a:lnTo>
                    <a:pt x="1320140" y="263034"/>
                  </a:lnTo>
                  <a:lnTo>
                    <a:pt x="1283880" y="236847"/>
                  </a:lnTo>
                  <a:lnTo>
                    <a:pt x="1257693" y="200587"/>
                  </a:lnTo>
                  <a:lnTo>
                    <a:pt x="1244600" y="159447"/>
                  </a:lnTo>
                  <a:lnTo>
                    <a:pt x="1244600" y="116680"/>
                  </a:lnTo>
                  <a:lnTo>
                    <a:pt x="1257693" y="75540"/>
                  </a:lnTo>
                  <a:lnTo>
                    <a:pt x="1283880" y="39280"/>
                  </a:lnTo>
                  <a:lnTo>
                    <a:pt x="1320140" y="13093"/>
                  </a:lnTo>
                  <a:lnTo>
                    <a:pt x="1361280" y="0"/>
                  </a:lnTo>
                  <a:lnTo>
                    <a:pt x="1404047" y="0"/>
                  </a:lnTo>
                  <a:lnTo>
                    <a:pt x="1445187" y="13093"/>
                  </a:lnTo>
                  <a:lnTo>
                    <a:pt x="1481447" y="39280"/>
                  </a:lnTo>
                </a:path>
                <a:path w="2143125" h="276225">
                  <a:moveTo>
                    <a:pt x="2103747" y="39280"/>
                  </a:moveTo>
                  <a:lnTo>
                    <a:pt x="2129934" y="75540"/>
                  </a:lnTo>
                  <a:lnTo>
                    <a:pt x="2143027" y="116680"/>
                  </a:lnTo>
                  <a:lnTo>
                    <a:pt x="2143027" y="159447"/>
                  </a:lnTo>
                  <a:lnTo>
                    <a:pt x="2129934" y="200587"/>
                  </a:lnTo>
                  <a:lnTo>
                    <a:pt x="2103747" y="236847"/>
                  </a:lnTo>
                  <a:lnTo>
                    <a:pt x="2067487" y="263034"/>
                  </a:lnTo>
                  <a:lnTo>
                    <a:pt x="2026347" y="276127"/>
                  </a:lnTo>
                  <a:lnTo>
                    <a:pt x="1983580" y="276127"/>
                  </a:lnTo>
                  <a:lnTo>
                    <a:pt x="1942440" y="263034"/>
                  </a:lnTo>
                  <a:lnTo>
                    <a:pt x="1906180" y="236847"/>
                  </a:lnTo>
                  <a:lnTo>
                    <a:pt x="1879993" y="200587"/>
                  </a:lnTo>
                  <a:lnTo>
                    <a:pt x="1866900" y="159447"/>
                  </a:lnTo>
                  <a:lnTo>
                    <a:pt x="1866900" y="116680"/>
                  </a:lnTo>
                  <a:lnTo>
                    <a:pt x="1879993" y="75540"/>
                  </a:lnTo>
                  <a:lnTo>
                    <a:pt x="1906180" y="39280"/>
                  </a:lnTo>
                  <a:lnTo>
                    <a:pt x="1942440" y="13093"/>
                  </a:lnTo>
                  <a:lnTo>
                    <a:pt x="1983580" y="0"/>
                  </a:lnTo>
                  <a:lnTo>
                    <a:pt x="2026347" y="0"/>
                  </a:lnTo>
                  <a:lnTo>
                    <a:pt x="2067487" y="13093"/>
                  </a:lnTo>
                  <a:lnTo>
                    <a:pt x="2103747" y="39280"/>
                  </a:lnTo>
                </a:path>
              </a:pathLst>
            </a:custGeom>
            <a:ln w="38100">
              <a:solidFill>
                <a:srgbClr val="569A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08649" y="4184650"/>
              <a:ext cx="1549400" cy="0"/>
            </a:xfrm>
            <a:custGeom>
              <a:avLst/>
              <a:gdLst/>
              <a:ahLst/>
              <a:cxnLst/>
              <a:rect l="l" t="t" r="r" b="b"/>
              <a:pathLst>
                <a:path w="1549400">
                  <a:moveTo>
                    <a:pt x="0" y="0"/>
                  </a:moveTo>
                  <a:lnTo>
                    <a:pt x="304800" y="0"/>
                  </a:lnTo>
                </a:path>
                <a:path w="1549400">
                  <a:moveTo>
                    <a:pt x="622300" y="0"/>
                  </a:moveTo>
                  <a:lnTo>
                    <a:pt x="927100" y="0"/>
                  </a:lnTo>
                </a:path>
                <a:path w="1549400">
                  <a:moveTo>
                    <a:pt x="1244600" y="0"/>
                  </a:moveTo>
                  <a:lnTo>
                    <a:pt x="1549400" y="0"/>
                  </a:lnTo>
                </a:path>
              </a:pathLst>
            </a:custGeom>
            <a:ln w="38100">
              <a:solidFill>
                <a:srgbClr val="D6D6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11835" y="3424286"/>
              <a:ext cx="2143125" cy="276225"/>
            </a:xfrm>
            <a:custGeom>
              <a:avLst/>
              <a:gdLst/>
              <a:ahLst/>
              <a:cxnLst/>
              <a:rect l="l" t="t" r="r" b="b"/>
              <a:pathLst>
                <a:path w="2143125" h="276225">
                  <a:moveTo>
                    <a:pt x="236847" y="39280"/>
                  </a:moveTo>
                  <a:lnTo>
                    <a:pt x="263034" y="75539"/>
                  </a:lnTo>
                  <a:lnTo>
                    <a:pt x="276127" y="116679"/>
                  </a:lnTo>
                  <a:lnTo>
                    <a:pt x="276127" y="159447"/>
                  </a:lnTo>
                  <a:lnTo>
                    <a:pt x="263034" y="200587"/>
                  </a:lnTo>
                  <a:lnTo>
                    <a:pt x="236847" y="236846"/>
                  </a:lnTo>
                  <a:lnTo>
                    <a:pt x="200587" y="263033"/>
                  </a:lnTo>
                  <a:lnTo>
                    <a:pt x="159447" y="276127"/>
                  </a:lnTo>
                  <a:lnTo>
                    <a:pt x="116680" y="276127"/>
                  </a:lnTo>
                  <a:lnTo>
                    <a:pt x="75540" y="263033"/>
                  </a:lnTo>
                  <a:lnTo>
                    <a:pt x="39280" y="236846"/>
                  </a:lnTo>
                  <a:lnTo>
                    <a:pt x="13093" y="200587"/>
                  </a:lnTo>
                  <a:lnTo>
                    <a:pt x="0" y="159447"/>
                  </a:lnTo>
                  <a:lnTo>
                    <a:pt x="0" y="116679"/>
                  </a:lnTo>
                  <a:lnTo>
                    <a:pt x="13093" y="75539"/>
                  </a:lnTo>
                  <a:lnTo>
                    <a:pt x="39280" y="39280"/>
                  </a:lnTo>
                  <a:lnTo>
                    <a:pt x="75540" y="13093"/>
                  </a:lnTo>
                  <a:lnTo>
                    <a:pt x="116680" y="0"/>
                  </a:lnTo>
                  <a:lnTo>
                    <a:pt x="159447" y="0"/>
                  </a:lnTo>
                  <a:lnTo>
                    <a:pt x="200587" y="13093"/>
                  </a:lnTo>
                  <a:lnTo>
                    <a:pt x="236847" y="39280"/>
                  </a:lnTo>
                </a:path>
                <a:path w="2143125" h="276225">
                  <a:moveTo>
                    <a:pt x="859147" y="39280"/>
                  </a:moveTo>
                  <a:lnTo>
                    <a:pt x="885334" y="75539"/>
                  </a:lnTo>
                  <a:lnTo>
                    <a:pt x="898427" y="116679"/>
                  </a:lnTo>
                  <a:lnTo>
                    <a:pt x="898427" y="159447"/>
                  </a:lnTo>
                  <a:lnTo>
                    <a:pt x="885334" y="200587"/>
                  </a:lnTo>
                  <a:lnTo>
                    <a:pt x="859147" y="236846"/>
                  </a:lnTo>
                  <a:lnTo>
                    <a:pt x="822887" y="263033"/>
                  </a:lnTo>
                  <a:lnTo>
                    <a:pt x="781747" y="276127"/>
                  </a:lnTo>
                  <a:lnTo>
                    <a:pt x="738980" y="276127"/>
                  </a:lnTo>
                  <a:lnTo>
                    <a:pt x="697840" y="263033"/>
                  </a:lnTo>
                  <a:lnTo>
                    <a:pt x="661580" y="236846"/>
                  </a:lnTo>
                  <a:lnTo>
                    <a:pt x="635393" y="200587"/>
                  </a:lnTo>
                  <a:lnTo>
                    <a:pt x="622300" y="159447"/>
                  </a:lnTo>
                  <a:lnTo>
                    <a:pt x="622300" y="116679"/>
                  </a:lnTo>
                  <a:lnTo>
                    <a:pt x="635393" y="75539"/>
                  </a:lnTo>
                  <a:lnTo>
                    <a:pt x="661580" y="39280"/>
                  </a:lnTo>
                  <a:lnTo>
                    <a:pt x="697840" y="13093"/>
                  </a:lnTo>
                  <a:lnTo>
                    <a:pt x="738980" y="0"/>
                  </a:lnTo>
                  <a:lnTo>
                    <a:pt x="781747" y="0"/>
                  </a:lnTo>
                  <a:lnTo>
                    <a:pt x="822887" y="13093"/>
                  </a:lnTo>
                  <a:lnTo>
                    <a:pt x="859147" y="39280"/>
                  </a:lnTo>
                </a:path>
                <a:path w="2143125" h="276225">
                  <a:moveTo>
                    <a:pt x="1481447" y="39280"/>
                  </a:moveTo>
                  <a:lnTo>
                    <a:pt x="1507634" y="75539"/>
                  </a:lnTo>
                  <a:lnTo>
                    <a:pt x="1520727" y="116679"/>
                  </a:lnTo>
                  <a:lnTo>
                    <a:pt x="1520727" y="159447"/>
                  </a:lnTo>
                  <a:lnTo>
                    <a:pt x="1507634" y="200587"/>
                  </a:lnTo>
                  <a:lnTo>
                    <a:pt x="1481447" y="236846"/>
                  </a:lnTo>
                  <a:lnTo>
                    <a:pt x="1445187" y="263033"/>
                  </a:lnTo>
                  <a:lnTo>
                    <a:pt x="1404047" y="276127"/>
                  </a:lnTo>
                  <a:lnTo>
                    <a:pt x="1361280" y="276127"/>
                  </a:lnTo>
                  <a:lnTo>
                    <a:pt x="1320140" y="263033"/>
                  </a:lnTo>
                  <a:lnTo>
                    <a:pt x="1283880" y="236846"/>
                  </a:lnTo>
                  <a:lnTo>
                    <a:pt x="1257693" y="200587"/>
                  </a:lnTo>
                  <a:lnTo>
                    <a:pt x="1244600" y="159447"/>
                  </a:lnTo>
                  <a:lnTo>
                    <a:pt x="1244600" y="116679"/>
                  </a:lnTo>
                  <a:lnTo>
                    <a:pt x="1257693" y="75539"/>
                  </a:lnTo>
                  <a:lnTo>
                    <a:pt x="1283880" y="39280"/>
                  </a:lnTo>
                  <a:lnTo>
                    <a:pt x="1320140" y="13093"/>
                  </a:lnTo>
                  <a:lnTo>
                    <a:pt x="1361280" y="0"/>
                  </a:lnTo>
                  <a:lnTo>
                    <a:pt x="1404047" y="0"/>
                  </a:lnTo>
                  <a:lnTo>
                    <a:pt x="1445187" y="13093"/>
                  </a:lnTo>
                  <a:lnTo>
                    <a:pt x="1481447" y="39280"/>
                  </a:lnTo>
                </a:path>
                <a:path w="2143125" h="276225">
                  <a:moveTo>
                    <a:pt x="2103747" y="39280"/>
                  </a:moveTo>
                  <a:lnTo>
                    <a:pt x="2129934" y="75539"/>
                  </a:lnTo>
                  <a:lnTo>
                    <a:pt x="2143027" y="116679"/>
                  </a:lnTo>
                  <a:lnTo>
                    <a:pt x="2143027" y="159447"/>
                  </a:lnTo>
                  <a:lnTo>
                    <a:pt x="2129934" y="200587"/>
                  </a:lnTo>
                  <a:lnTo>
                    <a:pt x="2103747" y="236846"/>
                  </a:lnTo>
                  <a:lnTo>
                    <a:pt x="2067487" y="263033"/>
                  </a:lnTo>
                  <a:lnTo>
                    <a:pt x="2026347" y="276127"/>
                  </a:lnTo>
                  <a:lnTo>
                    <a:pt x="1983580" y="276127"/>
                  </a:lnTo>
                  <a:lnTo>
                    <a:pt x="1942440" y="263033"/>
                  </a:lnTo>
                  <a:lnTo>
                    <a:pt x="1906180" y="236846"/>
                  </a:lnTo>
                  <a:lnTo>
                    <a:pt x="1879993" y="200587"/>
                  </a:lnTo>
                  <a:lnTo>
                    <a:pt x="1866900" y="159447"/>
                  </a:lnTo>
                  <a:lnTo>
                    <a:pt x="1866900" y="116679"/>
                  </a:lnTo>
                  <a:lnTo>
                    <a:pt x="1879993" y="75539"/>
                  </a:lnTo>
                  <a:lnTo>
                    <a:pt x="1906180" y="39280"/>
                  </a:lnTo>
                  <a:lnTo>
                    <a:pt x="1942440" y="13093"/>
                  </a:lnTo>
                  <a:lnTo>
                    <a:pt x="1983580" y="0"/>
                  </a:lnTo>
                  <a:lnTo>
                    <a:pt x="2026347" y="0"/>
                  </a:lnTo>
                  <a:lnTo>
                    <a:pt x="2067487" y="13093"/>
                  </a:lnTo>
                  <a:lnTo>
                    <a:pt x="2103747" y="39280"/>
                  </a:lnTo>
                </a:path>
              </a:pathLst>
            </a:custGeom>
            <a:ln w="38100">
              <a:solidFill>
                <a:srgbClr val="569A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8649" y="3562349"/>
              <a:ext cx="1549400" cy="0"/>
            </a:xfrm>
            <a:custGeom>
              <a:avLst/>
              <a:gdLst/>
              <a:ahLst/>
              <a:cxnLst/>
              <a:rect l="l" t="t" r="r" b="b"/>
              <a:pathLst>
                <a:path w="1549400">
                  <a:moveTo>
                    <a:pt x="0" y="0"/>
                  </a:moveTo>
                  <a:lnTo>
                    <a:pt x="304800" y="0"/>
                  </a:lnTo>
                </a:path>
                <a:path w="1549400">
                  <a:moveTo>
                    <a:pt x="622300" y="0"/>
                  </a:moveTo>
                  <a:lnTo>
                    <a:pt x="927100" y="0"/>
                  </a:lnTo>
                </a:path>
                <a:path w="1549400">
                  <a:moveTo>
                    <a:pt x="1244600" y="0"/>
                  </a:moveTo>
                  <a:lnTo>
                    <a:pt x="1549400" y="0"/>
                  </a:lnTo>
                </a:path>
              </a:pathLst>
            </a:custGeom>
            <a:ln w="38100">
              <a:solidFill>
                <a:srgbClr val="D6D6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11835" y="2801986"/>
              <a:ext cx="2143125" cy="276225"/>
            </a:xfrm>
            <a:custGeom>
              <a:avLst/>
              <a:gdLst/>
              <a:ahLst/>
              <a:cxnLst/>
              <a:rect l="l" t="t" r="r" b="b"/>
              <a:pathLst>
                <a:path w="2143125" h="276225">
                  <a:moveTo>
                    <a:pt x="236847" y="39280"/>
                  </a:moveTo>
                  <a:lnTo>
                    <a:pt x="263034" y="75539"/>
                  </a:lnTo>
                  <a:lnTo>
                    <a:pt x="276127" y="116679"/>
                  </a:lnTo>
                  <a:lnTo>
                    <a:pt x="276127" y="159446"/>
                  </a:lnTo>
                  <a:lnTo>
                    <a:pt x="263034" y="200587"/>
                  </a:lnTo>
                  <a:lnTo>
                    <a:pt x="236847" y="236846"/>
                  </a:lnTo>
                  <a:lnTo>
                    <a:pt x="200587" y="263033"/>
                  </a:lnTo>
                  <a:lnTo>
                    <a:pt x="159447" y="276126"/>
                  </a:lnTo>
                  <a:lnTo>
                    <a:pt x="116680" y="276126"/>
                  </a:lnTo>
                  <a:lnTo>
                    <a:pt x="75540" y="263033"/>
                  </a:lnTo>
                  <a:lnTo>
                    <a:pt x="39280" y="236846"/>
                  </a:lnTo>
                  <a:lnTo>
                    <a:pt x="13093" y="200587"/>
                  </a:lnTo>
                  <a:lnTo>
                    <a:pt x="0" y="159446"/>
                  </a:lnTo>
                  <a:lnTo>
                    <a:pt x="0" y="116679"/>
                  </a:lnTo>
                  <a:lnTo>
                    <a:pt x="13093" y="75539"/>
                  </a:lnTo>
                  <a:lnTo>
                    <a:pt x="39280" y="39280"/>
                  </a:lnTo>
                  <a:lnTo>
                    <a:pt x="75540" y="13093"/>
                  </a:lnTo>
                  <a:lnTo>
                    <a:pt x="116680" y="0"/>
                  </a:lnTo>
                  <a:lnTo>
                    <a:pt x="159447" y="0"/>
                  </a:lnTo>
                  <a:lnTo>
                    <a:pt x="200587" y="13093"/>
                  </a:lnTo>
                  <a:lnTo>
                    <a:pt x="236847" y="39280"/>
                  </a:lnTo>
                </a:path>
                <a:path w="2143125" h="276225">
                  <a:moveTo>
                    <a:pt x="859147" y="39280"/>
                  </a:moveTo>
                  <a:lnTo>
                    <a:pt x="885334" y="75539"/>
                  </a:lnTo>
                  <a:lnTo>
                    <a:pt x="898427" y="116679"/>
                  </a:lnTo>
                  <a:lnTo>
                    <a:pt x="898427" y="159446"/>
                  </a:lnTo>
                  <a:lnTo>
                    <a:pt x="885334" y="200587"/>
                  </a:lnTo>
                  <a:lnTo>
                    <a:pt x="859147" y="236846"/>
                  </a:lnTo>
                  <a:lnTo>
                    <a:pt x="822887" y="263033"/>
                  </a:lnTo>
                  <a:lnTo>
                    <a:pt x="781747" y="276126"/>
                  </a:lnTo>
                  <a:lnTo>
                    <a:pt x="738980" y="276126"/>
                  </a:lnTo>
                  <a:lnTo>
                    <a:pt x="697840" y="263033"/>
                  </a:lnTo>
                  <a:lnTo>
                    <a:pt x="661580" y="236846"/>
                  </a:lnTo>
                  <a:lnTo>
                    <a:pt x="635393" y="200587"/>
                  </a:lnTo>
                  <a:lnTo>
                    <a:pt x="622300" y="159446"/>
                  </a:lnTo>
                  <a:lnTo>
                    <a:pt x="622300" y="116679"/>
                  </a:lnTo>
                  <a:lnTo>
                    <a:pt x="635393" y="75539"/>
                  </a:lnTo>
                  <a:lnTo>
                    <a:pt x="661580" y="39280"/>
                  </a:lnTo>
                  <a:lnTo>
                    <a:pt x="697840" y="13093"/>
                  </a:lnTo>
                  <a:lnTo>
                    <a:pt x="738980" y="0"/>
                  </a:lnTo>
                  <a:lnTo>
                    <a:pt x="781747" y="0"/>
                  </a:lnTo>
                  <a:lnTo>
                    <a:pt x="822887" y="13093"/>
                  </a:lnTo>
                  <a:lnTo>
                    <a:pt x="859147" y="39280"/>
                  </a:lnTo>
                </a:path>
                <a:path w="2143125" h="276225">
                  <a:moveTo>
                    <a:pt x="1481447" y="39280"/>
                  </a:moveTo>
                  <a:lnTo>
                    <a:pt x="1507634" y="75539"/>
                  </a:lnTo>
                  <a:lnTo>
                    <a:pt x="1520727" y="116679"/>
                  </a:lnTo>
                  <a:lnTo>
                    <a:pt x="1520727" y="159446"/>
                  </a:lnTo>
                  <a:lnTo>
                    <a:pt x="1507634" y="200587"/>
                  </a:lnTo>
                  <a:lnTo>
                    <a:pt x="1481447" y="236846"/>
                  </a:lnTo>
                  <a:lnTo>
                    <a:pt x="1445187" y="263033"/>
                  </a:lnTo>
                  <a:lnTo>
                    <a:pt x="1404047" y="276126"/>
                  </a:lnTo>
                  <a:lnTo>
                    <a:pt x="1361280" y="276126"/>
                  </a:lnTo>
                  <a:lnTo>
                    <a:pt x="1320140" y="263033"/>
                  </a:lnTo>
                  <a:lnTo>
                    <a:pt x="1283880" y="236846"/>
                  </a:lnTo>
                  <a:lnTo>
                    <a:pt x="1257693" y="200587"/>
                  </a:lnTo>
                  <a:lnTo>
                    <a:pt x="1244600" y="159446"/>
                  </a:lnTo>
                  <a:lnTo>
                    <a:pt x="1244600" y="116679"/>
                  </a:lnTo>
                  <a:lnTo>
                    <a:pt x="1257693" y="75539"/>
                  </a:lnTo>
                  <a:lnTo>
                    <a:pt x="1283880" y="39280"/>
                  </a:lnTo>
                  <a:lnTo>
                    <a:pt x="1320140" y="13093"/>
                  </a:lnTo>
                  <a:lnTo>
                    <a:pt x="1361280" y="0"/>
                  </a:lnTo>
                  <a:lnTo>
                    <a:pt x="1404047" y="0"/>
                  </a:lnTo>
                  <a:lnTo>
                    <a:pt x="1445187" y="13093"/>
                  </a:lnTo>
                  <a:lnTo>
                    <a:pt x="1481447" y="39280"/>
                  </a:lnTo>
                </a:path>
                <a:path w="2143125" h="276225">
                  <a:moveTo>
                    <a:pt x="2103747" y="39280"/>
                  </a:moveTo>
                  <a:lnTo>
                    <a:pt x="2129934" y="75539"/>
                  </a:lnTo>
                  <a:lnTo>
                    <a:pt x="2143027" y="116679"/>
                  </a:lnTo>
                  <a:lnTo>
                    <a:pt x="2143027" y="159446"/>
                  </a:lnTo>
                  <a:lnTo>
                    <a:pt x="2129934" y="200587"/>
                  </a:lnTo>
                  <a:lnTo>
                    <a:pt x="2103747" y="236846"/>
                  </a:lnTo>
                  <a:lnTo>
                    <a:pt x="2067487" y="263033"/>
                  </a:lnTo>
                  <a:lnTo>
                    <a:pt x="2026347" y="276126"/>
                  </a:lnTo>
                  <a:lnTo>
                    <a:pt x="1983580" y="276126"/>
                  </a:lnTo>
                  <a:lnTo>
                    <a:pt x="1942440" y="263033"/>
                  </a:lnTo>
                  <a:lnTo>
                    <a:pt x="1906180" y="236846"/>
                  </a:lnTo>
                  <a:lnTo>
                    <a:pt x="1879993" y="200587"/>
                  </a:lnTo>
                  <a:lnTo>
                    <a:pt x="1866900" y="159446"/>
                  </a:lnTo>
                  <a:lnTo>
                    <a:pt x="1866900" y="116679"/>
                  </a:lnTo>
                  <a:lnTo>
                    <a:pt x="1879993" y="75539"/>
                  </a:lnTo>
                  <a:lnTo>
                    <a:pt x="1906180" y="39280"/>
                  </a:lnTo>
                  <a:lnTo>
                    <a:pt x="1942440" y="13093"/>
                  </a:lnTo>
                  <a:lnTo>
                    <a:pt x="1983580" y="0"/>
                  </a:lnTo>
                  <a:lnTo>
                    <a:pt x="2026347" y="0"/>
                  </a:lnTo>
                  <a:lnTo>
                    <a:pt x="2067487" y="13093"/>
                  </a:lnTo>
                  <a:lnTo>
                    <a:pt x="2103747" y="39280"/>
                  </a:lnTo>
                </a:path>
              </a:pathLst>
            </a:custGeom>
            <a:ln w="38100">
              <a:solidFill>
                <a:srgbClr val="569A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08649" y="2940049"/>
              <a:ext cx="1549400" cy="0"/>
            </a:xfrm>
            <a:custGeom>
              <a:avLst/>
              <a:gdLst/>
              <a:ahLst/>
              <a:cxnLst/>
              <a:rect l="l" t="t" r="r" b="b"/>
              <a:pathLst>
                <a:path w="1549400">
                  <a:moveTo>
                    <a:pt x="0" y="0"/>
                  </a:moveTo>
                  <a:lnTo>
                    <a:pt x="304800" y="0"/>
                  </a:lnTo>
                </a:path>
                <a:path w="1549400">
                  <a:moveTo>
                    <a:pt x="622300" y="0"/>
                  </a:moveTo>
                  <a:lnTo>
                    <a:pt x="927100" y="0"/>
                  </a:lnTo>
                </a:path>
                <a:path w="1549400">
                  <a:moveTo>
                    <a:pt x="1244600" y="0"/>
                  </a:moveTo>
                  <a:lnTo>
                    <a:pt x="1549400" y="0"/>
                  </a:lnTo>
                </a:path>
              </a:pathLst>
            </a:custGeom>
            <a:ln w="38100">
              <a:solidFill>
                <a:srgbClr val="D6D6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11835" y="2179686"/>
              <a:ext cx="2143125" cy="276225"/>
            </a:xfrm>
            <a:custGeom>
              <a:avLst/>
              <a:gdLst/>
              <a:ahLst/>
              <a:cxnLst/>
              <a:rect l="l" t="t" r="r" b="b"/>
              <a:pathLst>
                <a:path w="2143125" h="276225">
                  <a:moveTo>
                    <a:pt x="236847" y="39280"/>
                  </a:moveTo>
                  <a:lnTo>
                    <a:pt x="263034" y="75539"/>
                  </a:lnTo>
                  <a:lnTo>
                    <a:pt x="276127" y="116679"/>
                  </a:lnTo>
                  <a:lnTo>
                    <a:pt x="276127" y="159446"/>
                  </a:lnTo>
                  <a:lnTo>
                    <a:pt x="263034" y="200587"/>
                  </a:lnTo>
                  <a:lnTo>
                    <a:pt x="236847" y="236846"/>
                  </a:lnTo>
                  <a:lnTo>
                    <a:pt x="200587" y="263033"/>
                  </a:lnTo>
                  <a:lnTo>
                    <a:pt x="159447" y="276126"/>
                  </a:lnTo>
                  <a:lnTo>
                    <a:pt x="116680" y="276126"/>
                  </a:lnTo>
                  <a:lnTo>
                    <a:pt x="75540" y="263033"/>
                  </a:lnTo>
                  <a:lnTo>
                    <a:pt x="39280" y="236846"/>
                  </a:lnTo>
                  <a:lnTo>
                    <a:pt x="13093" y="200587"/>
                  </a:lnTo>
                  <a:lnTo>
                    <a:pt x="0" y="159446"/>
                  </a:lnTo>
                  <a:lnTo>
                    <a:pt x="0" y="116679"/>
                  </a:lnTo>
                  <a:lnTo>
                    <a:pt x="13093" y="75539"/>
                  </a:lnTo>
                  <a:lnTo>
                    <a:pt x="39280" y="39280"/>
                  </a:lnTo>
                  <a:lnTo>
                    <a:pt x="75540" y="13093"/>
                  </a:lnTo>
                  <a:lnTo>
                    <a:pt x="116680" y="0"/>
                  </a:lnTo>
                  <a:lnTo>
                    <a:pt x="159447" y="0"/>
                  </a:lnTo>
                  <a:lnTo>
                    <a:pt x="200587" y="13093"/>
                  </a:lnTo>
                  <a:lnTo>
                    <a:pt x="236847" y="39280"/>
                  </a:lnTo>
                </a:path>
                <a:path w="2143125" h="276225">
                  <a:moveTo>
                    <a:pt x="859147" y="39280"/>
                  </a:moveTo>
                  <a:lnTo>
                    <a:pt x="885334" y="75539"/>
                  </a:lnTo>
                  <a:lnTo>
                    <a:pt x="898427" y="116679"/>
                  </a:lnTo>
                  <a:lnTo>
                    <a:pt x="898427" y="159446"/>
                  </a:lnTo>
                  <a:lnTo>
                    <a:pt x="885334" y="200587"/>
                  </a:lnTo>
                  <a:lnTo>
                    <a:pt x="859147" y="236846"/>
                  </a:lnTo>
                  <a:lnTo>
                    <a:pt x="822887" y="263033"/>
                  </a:lnTo>
                  <a:lnTo>
                    <a:pt x="781747" y="276126"/>
                  </a:lnTo>
                  <a:lnTo>
                    <a:pt x="738980" y="276126"/>
                  </a:lnTo>
                  <a:lnTo>
                    <a:pt x="697840" y="263033"/>
                  </a:lnTo>
                  <a:lnTo>
                    <a:pt x="661580" y="236846"/>
                  </a:lnTo>
                  <a:lnTo>
                    <a:pt x="635393" y="200587"/>
                  </a:lnTo>
                  <a:lnTo>
                    <a:pt x="622300" y="159446"/>
                  </a:lnTo>
                  <a:lnTo>
                    <a:pt x="622300" y="116679"/>
                  </a:lnTo>
                  <a:lnTo>
                    <a:pt x="635393" y="75539"/>
                  </a:lnTo>
                  <a:lnTo>
                    <a:pt x="661580" y="39280"/>
                  </a:lnTo>
                  <a:lnTo>
                    <a:pt x="697840" y="13093"/>
                  </a:lnTo>
                  <a:lnTo>
                    <a:pt x="738980" y="0"/>
                  </a:lnTo>
                  <a:lnTo>
                    <a:pt x="781747" y="0"/>
                  </a:lnTo>
                  <a:lnTo>
                    <a:pt x="822887" y="13093"/>
                  </a:lnTo>
                  <a:lnTo>
                    <a:pt x="859147" y="39280"/>
                  </a:lnTo>
                </a:path>
                <a:path w="2143125" h="276225">
                  <a:moveTo>
                    <a:pt x="1481447" y="39280"/>
                  </a:moveTo>
                  <a:lnTo>
                    <a:pt x="1507634" y="75539"/>
                  </a:lnTo>
                  <a:lnTo>
                    <a:pt x="1520727" y="116679"/>
                  </a:lnTo>
                  <a:lnTo>
                    <a:pt x="1520727" y="159446"/>
                  </a:lnTo>
                  <a:lnTo>
                    <a:pt x="1507634" y="200587"/>
                  </a:lnTo>
                  <a:lnTo>
                    <a:pt x="1481447" y="236846"/>
                  </a:lnTo>
                  <a:lnTo>
                    <a:pt x="1445187" y="263033"/>
                  </a:lnTo>
                  <a:lnTo>
                    <a:pt x="1404047" y="276126"/>
                  </a:lnTo>
                  <a:lnTo>
                    <a:pt x="1361280" y="276126"/>
                  </a:lnTo>
                  <a:lnTo>
                    <a:pt x="1320140" y="263033"/>
                  </a:lnTo>
                  <a:lnTo>
                    <a:pt x="1283880" y="236846"/>
                  </a:lnTo>
                  <a:lnTo>
                    <a:pt x="1257693" y="200587"/>
                  </a:lnTo>
                  <a:lnTo>
                    <a:pt x="1244600" y="159446"/>
                  </a:lnTo>
                  <a:lnTo>
                    <a:pt x="1244600" y="116679"/>
                  </a:lnTo>
                  <a:lnTo>
                    <a:pt x="1257693" y="75539"/>
                  </a:lnTo>
                  <a:lnTo>
                    <a:pt x="1283880" y="39280"/>
                  </a:lnTo>
                  <a:lnTo>
                    <a:pt x="1320140" y="13093"/>
                  </a:lnTo>
                  <a:lnTo>
                    <a:pt x="1361280" y="0"/>
                  </a:lnTo>
                  <a:lnTo>
                    <a:pt x="1404047" y="0"/>
                  </a:lnTo>
                  <a:lnTo>
                    <a:pt x="1445187" y="13093"/>
                  </a:lnTo>
                  <a:lnTo>
                    <a:pt x="1481447" y="39280"/>
                  </a:lnTo>
                </a:path>
                <a:path w="2143125" h="276225">
                  <a:moveTo>
                    <a:pt x="2103747" y="39280"/>
                  </a:moveTo>
                  <a:lnTo>
                    <a:pt x="2129934" y="75539"/>
                  </a:lnTo>
                  <a:lnTo>
                    <a:pt x="2143027" y="116679"/>
                  </a:lnTo>
                  <a:lnTo>
                    <a:pt x="2143027" y="159446"/>
                  </a:lnTo>
                  <a:lnTo>
                    <a:pt x="2129934" y="200587"/>
                  </a:lnTo>
                  <a:lnTo>
                    <a:pt x="2103747" y="236846"/>
                  </a:lnTo>
                  <a:lnTo>
                    <a:pt x="2067487" y="263033"/>
                  </a:lnTo>
                  <a:lnTo>
                    <a:pt x="2026347" y="276126"/>
                  </a:lnTo>
                  <a:lnTo>
                    <a:pt x="1983580" y="276126"/>
                  </a:lnTo>
                  <a:lnTo>
                    <a:pt x="1942440" y="263033"/>
                  </a:lnTo>
                  <a:lnTo>
                    <a:pt x="1906180" y="236846"/>
                  </a:lnTo>
                  <a:lnTo>
                    <a:pt x="1879993" y="200587"/>
                  </a:lnTo>
                  <a:lnTo>
                    <a:pt x="1866900" y="159446"/>
                  </a:lnTo>
                  <a:lnTo>
                    <a:pt x="1866900" y="116679"/>
                  </a:lnTo>
                  <a:lnTo>
                    <a:pt x="1879993" y="75539"/>
                  </a:lnTo>
                  <a:lnTo>
                    <a:pt x="1906180" y="39280"/>
                  </a:lnTo>
                  <a:lnTo>
                    <a:pt x="1942440" y="13093"/>
                  </a:lnTo>
                  <a:lnTo>
                    <a:pt x="1983580" y="0"/>
                  </a:lnTo>
                  <a:lnTo>
                    <a:pt x="2026347" y="0"/>
                  </a:lnTo>
                  <a:lnTo>
                    <a:pt x="2067487" y="13093"/>
                  </a:lnTo>
                  <a:lnTo>
                    <a:pt x="2103747" y="39280"/>
                  </a:lnTo>
                </a:path>
              </a:pathLst>
            </a:custGeom>
            <a:ln w="38100">
              <a:solidFill>
                <a:srgbClr val="569A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56249" y="2317749"/>
              <a:ext cx="1866900" cy="1708150"/>
            </a:xfrm>
            <a:custGeom>
              <a:avLst/>
              <a:gdLst/>
              <a:ahLst/>
              <a:cxnLst/>
              <a:rect l="l" t="t" r="r" b="b"/>
              <a:pathLst>
                <a:path w="1866900" h="1708150">
                  <a:moveTo>
                    <a:pt x="152400" y="0"/>
                  </a:moveTo>
                  <a:lnTo>
                    <a:pt x="457200" y="0"/>
                  </a:lnTo>
                </a:path>
                <a:path w="1866900" h="1708150">
                  <a:moveTo>
                    <a:pt x="774700" y="0"/>
                  </a:moveTo>
                  <a:lnTo>
                    <a:pt x="1079500" y="0"/>
                  </a:lnTo>
                </a:path>
                <a:path w="1866900" h="1708150">
                  <a:moveTo>
                    <a:pt x="1397000" y="0"/>
                  </a:moveTo>
                  <a:lnTo>
                    <a:pt x="1701800" y="0"/>
                  </a:lnTo>
                </a:path>
                <a:path w="1866900" h="1708150">
                  <a:moveTo>
                    <a:pt x="1866900" y="158750"/>
                  </a:moveTo>
                  <a:lnTo>
                    <a:pt x="1866900" y="463549"/>
                  </a:lnTo>
                </a:path>
                <a:path w="1866900" h="1708150">
                  <a:moveTo>
                    <a:pt x="1244600" y="158750"/>
                  </a:moveTo>
                  <a:lnTo>
                    <a:pt x="1244600" y="463549"/>
                  </a:lnTo>
                </a:path>
                <a:path w="1866900" h="1708150">
                  <a:moveTo>
                    <a:pt x="622300" y="158750"/>
                  </a:moveTo>
                  <a:lnTo>
                    <a:pt x="622300" y="463549"/>
                  </a:lnTo>
                </a:path>
                <a:path w="1866900" h="1708150">
                  <a:moveTo>
                    <a:pt x="0" y="158750"/>
                  </a:moveTo>
                  <a:lnTo>
                    <a:pt x="0" y="463549"/>
                  </a:lnTo>
                </a:path>
                <a:path w="1866900" h="1708150">
                  <a:moveTo>
                    <a:pt x="0" y="781050"/>
                  </a:moveTo>
                  <a:lnTo>
                    <a:pt x="0" y="1085849"/>
                  </a:lnTo>
                </a:path>
                <a:path w="1866900" h="1708150">
                  <a:moveTo>
                    <a:pt x="622300" y="781050"/>
                  </a:moveTo>
                  <a:lnTo>
                    <a:pt x="622300" y="1085849"/>
                  </a:lnTo>
                </a:path>
                <a:path w="1866900" h="1708150">
                  <a:moveTo>
                    <a:pt x="1244600" y="781050"/>
                  </a:moveTo>
                  <a:lnTo>
                    <a:pt x="1244600" y="1085849"/>
                  </a:lnTo>
                </a:path>
                <a:path w="1866900" h="1708150">
                  <a:moveTo>
                    <a:pt x="1866900" y="781050"/>
                  </a:moveTo>
                  <a:lnTo>
                    <a:pt x="1866900" y="1085849"/>
                  </a:lnTo>
                </a:path>
                <a:path w="1866900" h="1708150">
                  <a:moveTo>
                    <a:pt x="0" y="1403350"/>
                  </a:moveTo>
                  <a:lnTo>
                    <a:pt x="0" y="1708150"/>
                  </a:lnTo>
                </a:path>
                <a:path w="1866900" h="1708150">
                  <a:moveTo>
                    <a:pt x="622300" y="1403350"/>
                  </a:moveTo>
                  <a:lnTo>
                    <a:pt x="622300" y="1708150"/>
                  </a:lnTo>
                </a:path>
                <a:path w="1866900" h="1708150">
                  <a:moveTo>
                    <a:pt x="1244600" y="1403350"/>
                  </a:moveTo>
                  <a:lnTo>
                    <a:pt x="1244600" y="1708150"/>
                  </a:lnTo>
                </a:path>
                <a:path w="1866900" h="1708150">
                  <a:moveTo>
                    <a:pt x="1866900" y="1403350"/>
                  </a:moveTo>
                  <a:lnTo>
                    <a:pt x="1866900" y="1708150"/>
                  </a:lnTo>
                </a:path>
              </a:pathLst>
            </a:custGeom>
            <a:ln w="38100">
              <a:solidFill>
                <a:srgbClr val="D6D6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940802" y="3146988"/>
            <a:ext cx="599440" cy="213360"/>
            <a:chOff x="4416802" y="3146988"/>
            <a:chExt cx="599440" cy="213360"/>
          </a:xfrm>
        </p:grpSpPr>
        <p:sp>
          <p:nvSpPr>
            <p:cNvPr id="15" name="object 15"/>
            <p:cNvSpPr/>
            <p:nvPr/>
          </p:nvSpPr>
          <p:spPr>
            <a:xfrm>
              <a:off x="4416802" y="3253668"/>
              <a:ext cx="411480" cy="0"/>
            </a:xfrm>
            <a:custGeom>
              <a:avLst/>
              <a:gdLst/>
              <a:ahLst/>
              <a:cxnLst/>
              <a:rect l="l" t="t" r="r" b="b"/>
              <a:pathLst>
                <a:path w="411479">
                  <a:moveTo>
                    <a:pt x="0" y="0"/>
                  </a:moveTo>
                  <a:lnTo>
                    <a:pt x="385572" y="0"/>
                  </a:lnTo>
                  <a:lnTo>
                    <a:pt x="410972" y="0"/>
                  </a:lnTo>
                </a:path>
              </a:pathLst>
            </a:custGeom>
            <a:ln w="50800">
              <a:solidFill>
                <a:srgbClr val="84848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02374" y="3146988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0" y="0"/>
                  </a:moveTo>
                  <a:lnTo>
                    <a:pt x="0" y="213360"/>
                  </a:lnTo>
                  <a:lnTo>
                    <a:pt x="213360" y="1066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84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607301" y="4457700"/>
            <a:ext cx="762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 MT"/>
                <a:cs typeface="Arial MT"/>
              </a:rPr>
              <a:t>2D</a:t>
            </a:r>
            <a:r>
              <a:rPr spc="-20" dirty="0">
                <a:latin typeface="Arial MT"/>
                <a:cs typeface="Arial MT"/>
              </a:rPr>
              <a:t> grid</a:t>
            </a:r>
            <a:endParaRPr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916786" y="5468986"/>
            <a:ext cx="2803525" cy="314325"/>
            <a:chOff x="5392785" y="5468985"/>
            <a:chExt cx="2803525" cy="314325"/>
          </a:xfrm>
        </p:grpSpPr>
        <p:sp>
          <p:nvSpPr>
            <p:cNvPr id="19" name="object 19"/>
            <p:cNvSpPr/>
            <p:nvPr/>
          </p:nvSpPr>
          <p:spPr>
            <a:xfrm>
              <a:off x="5411835" y="5488035"/>
              <a:ext cx="2143125" cy="276225"/>
            </a:xfrm>
            <a:custGeom>
              <a:avLst/>
              <a:gdLst/>
              <a:ahLst/>
              <a:cxnLst/>
              <a:rect l="l" t="t" r="r" b="b"/>
              <a:pathLst>
                <a:path w="2143125" h="276225">
                  <a:moveTo>
                    <a:pt x="236847" y="39280"/>
                  </a:moveTo>
                  <a:lnTo>
                    <a:pt x="263034" y="75540"/>
                  </a:lnTo>
                  <a:lnTo>
                    <a:pt x="276127" y="116680"/>
                  </a:lnTo>
                  <a:lnTo>
                    <a:pt x="276127" y="159447"/>
                  </a:lnTo>
                  <a:lnTo>
                    <a:pt x="263034" y="200587"/>
                  </a:lnTo>
                  <a:lnTo>
                    <a:pt x="236847" y="236847"/>
                  </a:lnTo>
                  <a:lnTo>
                    <a:pt x="200587" y="263034"/>
                  </a:lnTo>
                  <a:lnTo>
                    <a:pt x="159447" y="276127"/>
                  </a:lnTo>
                  <a:lnTo>
                    <a:pt x="116680" y="276127"/>
                  </a:lnTo>
                  <a:lnTo>
                    <a:pt x="75540" y="263034"/>
                  </a:lnTo>
                  <a:lnTo>
                    <a:pt x="39280" y="236847"/>
                  </a:lnTo>
                  <a:lnTo>
                    <a:pt x="13093" y="200587"/>
                  </a:lnTo>
                  <a:lnTo>
                    <a:pt x="0" y="159447"/>
                  </a:lnTo>
                  <a:lnTo>
                    <a:pt x="0" y="116680"/>
                  </a:lnTo>
                  <a:lnTo>
                    <a:pt x="13093" y="75540"/>
                  </a:lnTo>
                  <a:lnTo>
                    <a:pt x="39280" y="39280"/>
                  </a:lnTo>
                  <a:lnTo>
                    <a:pt x="75540" y="13093"/>
                  </a:lnTo>
                  <a:lnTo>
                    <a:pt x="116680" y="0"/>
                  </a:lnTo>
                  <a:lnTo>
                    <a:pt x="159447" y="0"/>
                  </a:lnTo>
                  <a:lnTo>
                    <a:pt x="200587" y="13093"/>
                  </a:lnTo>
                  <a:lnTo>
                    <a:pt x="236847" y="39280"/>
                  </a:lnTo>
                </a:path>
                <a:path w="2143125" h="276225">
                  <a:moveTo>
                    <a:pt x="859147" y="39280"/>
                  </a:moveTo>
                  <a:lnTo>
                    <a:pt x="885334" y="75540"/>
                  </a:lnTo>
                  <a:lnTo>
                    <a:pt x="898427" y="116680"/>
                  </a:lnTo>
                  <a:lnTo>
                    <a:pt x="898427" y="159447"/>
                  </a:lnTo>
                  <a:lnTo>
                    <a:pt x="885334" y="200587"/>
                  </a:lnTo>
                  <a:lnTo>
                    <a:pt x="859147" y="236847"/>
                  </a:lnTo>
                  <a:lnTo>
                    <a:pt x="822887" y="263034"/>
                  </a:lnTo>
                  <a:lnTo>
                    <a:pt x="781747" y="276127"/>
                  </a:lnTo>
                  <a:lnTo>
                    <a:pt x="738980" y="276127"/>
                  </a:lnTo>
                  <a:lnTo>
                    <a:pt x="697840" y="263034"/>
                  </a:lnTo>
                  <a:lnTo>
                    <a:pt x="661580" y="236847"/>
                  </a:lnTo>
                  <a:lnTo>
                    <a:pt x="635393" y="200587"/>
                  </a:lnTo>
                  <a:lnTo>
                    <a:pt x="622300" y="159447"/>
                  </a:lnTo>
                  <a:lnTo>
                    <a:pt x="622300" y="116680"/>
                  </a:lnTo>
                  <a:lnTo>
                    <a:pt x="635393" y="75540"/>
                  </a:lnTo>
                  <a:lnTo>
                    <a:pt x="661580" y="39280"/>
                  </a:lnTo>
                  <a:lnTo>
                    <a:pt x="697840" y="13093"/>
                  </a:lnTo>
                  <a:lnTo>
                    <a:pt x="738980" y="0"/>
                  </a:lnTo>
                  <a:lnTo>
                    <a:pt x="781747" y="0"/>
                  </a:lnTo>
                  <a:lnTo>
                    <a:pt x="822887" y="13093"/>
                  </a:lnTo>
                  <a:lnTo>
                    <a:pt x="859147" y="39280"/>
                  </a:lnTo>
                </a:path>
                <a:path w="2143125" h="276225">
                  <a:moveTo>
                    <a:pt x="1481447" y="39280"/>
                  </a:moveTo>
                  <a:lnTo>
                    <a:pt x="1507634" y="75540"/>
                  </a:lnTo>
                  <a:lnTo>
                    <a:pt x="1520727" y="116680"/>
                  </a:lnTo>
                  <a:lnTo>
                    <a:pt x="1520727" y="159447"/>
                  </a:lnTo>
                  <a:lnTo>
                    <a:pt x="1507634" y="200587"/>
                  </a:lnTo>
                  <a:lnTo>
                    <a:pt x="1481447" y="236847"/>
                  </a:lnTo>
                  <a:lnTo>
                    <a:pt x="1445187" y="263034"/>
                  </a:lnTo>
                  <a:lnTo>
                    <a:pt x="1404047" y="276127"/>
                  </a:lnTo>
                  <a:lnTo>
                    <a:pt x="1361280" y="276127"/>
                  </a:lnTo>
                  <a:lnTo>
                    <a:pt x="1320140" y="263034"/>
                  </a:lnTo>
                  <a:lnTo>
                    <a:pt x="1283880" y="236847"/>
                  </a:lnTo>
                  <a:lnTo>
                    <a:pt x="1257693" y="200587"/>
                  </a:lnTo>
                  <a:lnTo>
                    <a:pt x="1244600" y="159447"/>
                  </a:lnTo>
                  <a:lnTo>
                    <a:pt x="1244600" y="116680"/>
                  </a:lnTo>
                  <a:lnTo>
                    <a:pt x="1257693" y="75540"/>
                  </a:lnTo>
                  <a:lnTo>
                    <a:pt x="1283880" y="39280"/>
                  </a:lnTo>
                  <a:lnTo>
                    <a:pt x="1320140" y="13093"/>
                  </a:lnTo>
                  <a:lnTo>
                    <a:pt x="1361280" y="0"/>
                  </a:lnTo>
                  <a:lnTo>
                    <a:pt x="1404047" y="0"/>
                  </a:lnTo>
                  <a:lnTo>
                    <a:pt x="1445187" y="13093"/>
                  </a:lnTo>
                  <a:lnTo>
                    <a:pt x="1481447" y="39280"/>
                  </a:lnTo>
                </a:path>
                <a:path w="2143125" h="276225">
                  <a:moveTo>
                    <a:pt x="2103747" y="39280"/>
                  </a:moveTo>
                  <a:lnTo>
                    <a:pt x="2129934" y="75540"/>
                  </a:lnTo>
                  <a:lnTo>
                    <a:pt x="2143027" y="116680"/>
                  </a:lnTo>
                  <a:lnTo>
                    <a:pt x="2143027" y="159447"/>
                  </a:lnTo>
                  <a:lnTo>
                    <a:pt x="2129934" y="200587"/>
                  </a:lnTo>
                  <a:lnTo>
                    <a:pt x="2103747" y="236847"/>
                  </a:lnTo>
                  <a:lnTo>
                    <a:pt x="2067487" y="263034"/>
                  </a:lnTo>
                  <a:lnTo>
                    <a:pt x="2026347" y="276127"/>
                  </a:lnTo>
                  <a:lnTo>
                    <a:pt x="1983580" y="276127"/>
                  </a:lnTo>
                  <a:lnTo>
                    <a:pt x="1942440" y="263034"/>
                  </a:lnTo>
                  <a:lnTo>
                    <a:pt x="1906180" y="236847"/>
                  </a:lnTo>
                  <a:lnTo>
                    <a:pt x="1879993" y="200587"/>
                  </a:lnTo>
                  <a:lnTo>
                    <a:pt x="1866900" y="159447"/>
                  </a:lnTo>
                  <a:lnTo>
                    <a:pt x="1866900" y="116680"/>
                  </a:lnTo>
                  <a:lnTo>
                    <a:pt x="1879993" y="75540"/>
                  </a:lnTo>
                  <a:lnTo>
                    <a:pt x="1906180" y="39280"/>
                  </a:lnTo>
                  <a:lnTo>
                    <a:pt x="1942440" y="13093"/>
                  </a:lnTo>
                  <a:lnTo>
                    <a:pt x="1983580" y="0"/>
                  </a:lnTo>
                  <a:lnTo>
                    <a:pt x="2026347" y="0"/>
                  </a:lnTo>
                  <a:lnTo>
                    <a:pt x="2067487" y="13093"/>
                  </a:lnTo>
                  <a:lnTo>
                    <a:pt x="2103747" y="39280"/>
                  </a:lnTo>
                </a:path>
              </a:pathLst>
            </a:custGeom>
            <a:ln w="38100">
              <a:solidFill>
                <a:srgbClr val="569A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8649" y="5632449"/>
              <a:ext cx="1549400" cy="0"/>
            </a:xfrm>
            <a:custGeom>
              <a:avLst/>
              <a:gdLst/>
              <a:ahLst/>
              <a:cxnLst/>
              <a:rect l="l" t="t" r="r" b="b"/>
              <a:pathLst>
                <a:path w="1549400">
                  <a:moveTo>
                    <a:pt x="0" y="0"/>
                  </a:moveTo>
                  <a:lnTo>
                    <a:pt x="304800" y="0"/>
                  </a:lnTo>
                </a:path>
                <a:path w="1549400">
                  <a:moveTo>
                    <a:pt x="622300" y="0"/>
                  </a:moveTo>
                  <a:lnTo>
                    <a:pt x="927100" y="0"/>
                  </a:lnTo>
                </a:path>
                <a:path w="1549400">
                  <a:moveTo>
                    <a:pt x="1244600" y="0"/>
                  </a:moveTo>
                  <a:lnTo>
                    <a:pt x="1549400" y="0"/>
                  </a:lnTo>
                </a:path>
              </a:pathLst>
            </a:custGeom>
            <a:ln w="38100">
              <a:solidFill>
                <a:srgbClr val="D6D6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01035" y="5488035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36847" y="39280"/>
                  </a:moveTo>
                  <a:lnTo>
                    <a:pt x="263034" y="75540"/>
                  </a:lnTo>
                  <a:lnTo>
                    <a:pt x="276127" y="116680"/>
                  </a:lnTo>
                  <a:lnTo>
                    <a:pt x="276127" y="159447"/>
                  </a:lnTo>
                  <a:lnTo>
                    <a:pt x="263034" y="200587"/>
                  </a:lnTo>
                  <a:lnTo>
                    <a:pt x="236847" y="236847"/>
                  </a:lnTo>
                  <a:lnTo>
                    <a:pt x="200587" y="263034"/>
                  </a:lnTo>
                  <a:lnTo>
                    <a:pt x="159447" y="276127"/>
                  </a:lnTo>
                  <a:lnTo>
                    <a:pt x="116680" y="276127"/>
                  </a:lnTo>
                  <a:lnTo>
                    <a:pt x="75540" y="263034"/>
                  </a:lnTo>
                  <a:lnTo>
                    <a:pt x="39280" y="236847"/>
                  </a:lnTo>
                  <a:lnTo>
                    <a:pt x="13093" y="200587"/>
                  </a:lnTo>
                  <a:lnTo>
                    <a:pt x="0" y="159447"/>
                  </a:lnTo>
                  <a:lnTo>
                    <a:pt x="0" y="116680"/>
                  </a:lnTo>
                  <a:lnTo>
                    <a:pt x="13093" y="75540"/>
                  </a:lnTo>
                  <a:lnTo>
                    <a:pt x="39280" y="39280"/>
                  </a:lnTo>
                  <a:lnTo>
                    <a:pt x="75540" y="13093"/>
                  </a:lnTo>
                  <a:lnTo>
                    <a:pt x="116680" y="0"/>
                  </a:lnTo>
                  <a:lnTo>
                    <a:pt x="159447" y="0"/>
                  </a:lnTo>
                  <a:lnTo>
                    <a:pt x="200587" y="13093"/>
                  </a:lnTo>
                  <a:lnTo>
                    <a:pt x="236847" y="39280"/>
                  </a:lnTo>
                </a:path>
              </a:pathLst>
            </a:custGeom>
            <a:ln w="38100">
              <a:solidFill>
                <a:srgbClr val="569A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75549" y="5632449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38100">
              <a:solidFill>
                <a:srgbClr val="D6D6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940802" y="5517911"/>
            <a:ext cx="599440" cy="213360"/>
            <a:chOff x="4416802" y="5517911"/>
            <a:chExt cx="599440" cy="213360"/>
          </a:xfrm>
        </p:grpSpPr>
        <p:sp>
          <p:nvSpPr>
            <p:cNvPr id="24" name="object 24"/>
            <p:cNvSpPr/>
            <p:nvPr/>
          </p:nvSpPr>
          <p:spPr>
            <a:xfrm>
              <a:off x="4416802" y="5624590"/>
              <a:ext cx="411480" cy="0"/>
            </a:xfrm>
            <a:custGeom>
              <a:avLst/>
              <a:gdLst/>
              <a:ahLst/>
              <a:cxnLst/>
              <a:rect l="l" t="t" r="r" b="b"/>
              <a:pathLst>
                <a:path w="411479">
                  <a:moveTo>
                    <a:pt x="0" y="0"/>
                  </a:moveTo>
                  <a:lnTo>
                    <a:pt x="385572" y="0"/>
                  </a:lnTo>
                  <a:lnTo>
                    <a:pt x="410972" y="0"/>
                  </a:lnTo>
                </a:path>
              </a:pathLst>
            </a:custGeom>
            <a:ln w="50800">
              <a:solidFill>
                <a:srgbClr val="84848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02374" y="5517911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0" y="0"/>
                  </a:moveTo>
                  <a:lnTo>
                    <a:pt x="0" y="213359"/>
                  </a:lnTo>
                  <a:lnTo>
                    <a:pt x="213360" y="1066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84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924801" y="5880100"/>
            <a:ext cx="762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 MT"/>
                <a:cs typeface="Arial MT"/>
              </a:rPr>
              <a:t>1D</a:t>
            </a:r>
            <a:r>
              <a:rPr spc="-20" dirty="0">
                <a:latin typeface="Arial MT"/>
                <a:cs typeface="Arial MT"/>
              </a:rPr>
              <a:t> grid</a:t>
            </a:r>
            <a:endParaRPr>
              <a:latin typeface="Arial MT"/>
              <a:cs typeface="Arial MT"/>
            </a:endParaRPr>
          </a:p>
        </p:txBody>
      </p: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6384" y="5168900"/>
            <a:ext cx="2001290" cy="990600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0410523" y="6492335"/>
            <a:ext cx="11048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0" dirty="0"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F5465B13-7EAF-AEFF-DACD-BFFEF8FE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8950-5DFF-41DD-976C-8ED1A306E471}" type="datetime1">
              <a:rPr lang="en-US" smtClean="0"/>
              <a:t>11/28/2025</a:t>
            </a:fld>
            <a:endParaRPr lang="en-US"/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5E3357E9-C18C-82EE-1BC3-2A5E31BE1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08CDA69F-8FE9-5340-E0EC-F2CEF289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spc="70" dirty="0"/>
              <a:t>Many</a:t>
            </a:r>
            <a:r>
              <a:rPr spc="-30" dirty="0"/>
              <a:t> </a:t>
            </a:r>
            <a:r>
              <a:rPr dirty="0"/>
              <a:t>real-</a:t>
            </a:r>
            <a:r>
              <a:rPr spc="135" dirty="0"/>
              <a:t>world</a:t>
            </a:r>
            <a:r>
              <a:rPr spc="-10" dirty="0"/>
              <a:t> </a:t>
            </a:r>
            <a:r>
              <a:rPr spc="45" dirty="0"/>
              <a:t>datasets</a:t>
            </a:r>
            <a:r>
              <a:rPr spc="-10" dirty="0"/>
              <a:t> </a:t>
            </a:r>
            <a:r>
              <a:rPr spc="75" dirty="0"/>
              <a:t>come</a:t>
            </a:r>
            <a:r>
              <a:rPr spc="-35" dirty="0"/>
              <a:t> </a:t>
            </a:r>
            <a:r>
              <a:rPr spc="110" dirty="0"/>
              <a:t>in</a:t>
            </a:r>
            <a:r>
              <a:rPr spc="-25" dirty="0"/>
              <a:t> </a:t>
            </a:r>
            <a:r>
              <a:rPr spc="110" dirty="0"/>
              <a:t>the</a:t>
            </a:r>
            <a:r>
              <a:rPr spc="-30" dirty="0"/>
              <a:t> </a:t>
            </a:r>
            <a:r>
              <a:rPr spc="185" dirty="0"/>
              <a:t>form</a:t>
            </a:r>
            <a:r>
              <a:rPr spc="-35" dirty="0"/>
              <a:t> </a:t>
            </a:r>
            <a:r>
              <a:rPr spc="140" dirty="0"/>
              <a:t>of</a:t>
            </a:r>
            <a:r>
              <a:rPr spc="-35" dirty="0"/>
              <a:t> </a:t>
            </a:r>
            <a:r>
              <a:rPr spc="-10" dirty="0"/>
              <a:t>graphs.</a:t>
            </a:r>
          </a:p>
          <a:p>
            <a:pPr>
              <a:lnSpc>
                <a:spcPct val="100000"/>
              </a:lnSpc>
              <a:spcBef>
                <a:spcPts val="1460"/>
              </a:spcBef>
              <a:buClr>
                <a:srgbClr val="333333"/>
              </a:buClr>
              <a:buFont typeface="Arial MT"/>
              <a:buChar char="•"/>
            </a:pPr>
            <a:endParaRPr spc="-10" dirty="0"/>
          </a:p>
          <a:p>
            <a:pPr marL="240029" indent="-227329">
              <a:lnSpc>
                <a:spcPct val="100000"/>
              </a:lnSpc>
              <a:buChar char="•"/>
              <a:tabLst>
                <a:tab pos="240029" algn="l"/>
              </a:tabLst>
            </a:pPr>
            <a:r>
              <a:rPr dirty="0"/>
              <a:t>Social</a:t>
            </a:r>
            <a:r>
              <a:rPr spc="-170" dirty="0"/>
              <a:t> </a:t>
            </a:r>
            <a:r>
              <a:rPr spc="85" dirty="0"/>
              <a:t>networks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395864"/>
            <a:ext cx="10972800" cy="1125031"/>
          </a:xfrm>
          <a:prstGeom prst="rect">
            <a:avLst/>
          </a:prstGeom>
        </p:spPr>
        <p:txBody>
          <a:bodyPr vert="horz" wrap="square" lIns="0" tIns="565511" rIns="0" bIns="0" rtlCol="0">
            <a:spAutoFit/>
          </a:bodyPr>
          <a:lstStyle/>
          <a:p>
            <a:pPr marL="160528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Graphs</a:t>
            </a:r>
            <a:r>
              <a:rPr lang="en-US" spc="-140" dirty="0"/>
              <a:t> </a:t>
            </a:r>
            <a:r>
              <a:rPr lang="en-US" dirty="0"/>
              <a:t>are</a:t>
            </a:r>
            <a:r>
              <a:rPr lang="en-US" spc="-125" dirty="0"/>
              <a:t> </a:t>
            </a:r>
            <a:r>
              <a:rPr lang="en-US" dirty="0"/>
              <a:t>structured</a:t>
            </a:r>
            <a:r>
              <a:rPr lang="en-US" spc="-125" dirty="0"/>
              <a:t> </a:t>
            </a:r>
            <a:r>
              <a:rPr lang="en-US" spc="-20" dirty="0"/>
              <a:t>data</a:t>
            </a:r>
            <a:endParaRPr spc="-2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600" y="2552700"/>
            <a:ext cx="3514331" cy="351281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9B247-9BE8-371C-1B49-F7181F9C9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75C7E-3BD4-4BBF-AA32-E755C0C1C45A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E3560-033D-BA8C-2496-8FB5F7837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7865A-D597-8B05-B84B-36F80358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spc="70" dirty="0"/>
              <a:t>Many</a:t>
            </a:r>
            <a:r>
              <a:rPr spc="-30" dirty="0"/>
              <a:t> </a:t>
            </a:r>
            <a:r>
              <a:rPr dirty="0"/>
              <a:t>real-</a:t>
            </a:r>
            <a:r>
              <a:rPr spc="135" dirty="0"/>
              <a:t>world</a:t>
            </a:r>
            <a:r>
              <a:rPr spc="-10" dirty="0"/>
              <a:t> </a:t>
            </a:r>
            <a:r>
              <a:rPr spc="45" dirty="0"/>
              <a:t>datasets</a:t>
            </a:r>
            <a:r>
              <a:rPr spc="-10" dirty="0"/>
              <a:t> </a:t>
            </a:r>
            <a:r>
              <a:rPr spc="75" dirty="0"/>
              <a:t>come</a:t>
            </a:r>
            <a:r>
              <a:rPr spc="-35" dirty="0"/>
              <a:t> </a:t>
            </a:r>
            <a:r>
              <a:rPr spc="110" dirty="0"/>
              <a:t>in</a:t>
            </a:r>
            <a:r>
              <a:rPr spc="-25" dirty="0"/>
              <a:t> </a:t>
            </a:r>
            <a:r>
              <a:rPr spc="110" dirty="0"/>
              <a:t>the</a:t>
            </a:r>
            <a:r>
              <a:rPr spc="-30" dirty="0"/>
              <a:t> </a:t>
            </a:r>
            <a:r>
              <a:rPr spc="185" dirty="0"/>
              <a:t>form</a:t>
            </a:r>
            <a:r>
              <a:rPr spc="-35" dirty="0"/>
              <a:t> </a:t>
            </a:r>
            <a:r>
              <a:rPr spc="140" dirty="0"/>
              <a:t>of</a:t>
            </a:r>
            <a:r>
              <a:rPr spc="-35" dirty="0"/>
              <a:t> </a:t>
            </a:r>
            <a:r>
              <a:rPr spc="-10" dirty="0"/>
              <a:t>graphs.</a:t>
            </a:r>
          </a:p>
          <a:p>
            <a:pPr>
              <a:lnSpc>
                <a:spcPct val="100000"/>
              </a:lnSpc>
              <a:spcBef>
                <a:spcPts val="1460"/>
              </a:spcBef>
              <a:buClr>
                <a:srgbClr val="333333"/>
              </a:buClr>
              <a:buFont typeface="Arial MT"/>
              <a:buChar char="•"/>
            </a:pPr>
            <a:endParaRPr spc="-10" dirty="0"/>
          </a:p>
          <a:p>
            <a:pPr marL="240029" indent="-227329">
              <a:lnSpc>
                <a:spcPct val="100000"/>
              </a:lnSpc>
              <a:buChar char="•"/>
              <a:tabLst>
                <a:tab pos="240029" algn="l"/>
              </a:tabLst>
            </a:pPr>
            <a:r>
              <a:rPr dirty="0"/>
              <a:t>Social</a:t>
            </a:r>
            <a:r>
              <a:rPr spc="-170" dirty="0"/>
              <a:t> </a:t>
            </a:r>
            <a:r>
              <a:rPr spc="85" dirty="0"/>
              <a:t>networks</a:t>
            </a: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Char char="•"/>
              <a:tabLst>
                <a:tab pos="240029" algn="l"/>
              </a:tabLst>
            </a:pPr>
            <a:r>
              <a:rPr spc="55" dirty="0"/>
              <a:t>Protein-</a:t>
            </a:r>
            <a:r>
              <a:rPr spc="90" dirty="0"/>
              <a:t>interaction</a:t>
            </a:r>
            <a:r>
              <a:rPr spc="-10" dirty="0"/>
              <a:t> </a:t>
            </a:r>
            <a:r>
              <a:rPr spc="85" dirty="0"/>
              <a:t>networks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5511" rIns="0" bIns="0" rtlCol="0">
            <a:spAutoFit/>
          </a:bodyPr>
          <a:lstStyle/>
          <a:p>
            <a:pPr marL="1605280">
              <a:lnSpc>
                <a:spcPct val="100000"/>
              </a:lnSpc>
              <a:spcBef>
                <a:spcPts val="105"/>
              </a:spcBef>
            </a:pPr>
            <a:r>
              <a:rPr dirty="0"/>
              <a:t>Graphs</a:t>
            </a:r>
            <a:r>
              <a:rPr spc="-14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dirty="0"/>
              <a:t>structured</a:t>
            </a:r>
            <a:r>
              <a:rPr spc="-125" dirty="0"/>
              <a:t> </a:t>
            </a:r>
            <a:r>
              <a:rPr spc="-20" dirty="0"/>
              <a:t>data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0" y="2609088"/>
            <a:ext cx="2971799" cy="297179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78C2B6-1DAA-3D15-EBAB-63F653E77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1638-DC39-4A49-BFE5-60E074F0A888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0B8ED-D27F-6378-673A-A591763C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2B39F-6677-519D-F8E0-DC6A77C0A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spc="70" dirty="0"/>
              <a:t>Many</a:t>
            </a:r>
            <a:r>
              <a:rPr spc="-30" dirty="0"/>
              <a:t> </a:t>
            </a:r>
            <a:r>
              <a:rPr dirty="0"/>
              <a:t>real-</a:t>
            </a:r>
            <a:r>
              <a:rPr spc="135" dirty="0"/>
              <a:t>world</a:t>
            </a:r>
            <a:r>
              <a:rPr spc="-10" dirty="0"/>
              <a:t> </a:t>
            </a:r>
            <a:r>
              <a:rPr spc="45" dirty="0"/>
              <a:t>datasets</a:t>
            </a:r>
            <a:r>
              <a:rPr spc="-10" dirty="0"/>
              <a:t> </a:t>
            </a:r>
            <a:r>
              <a:rPr spc="75" dirty="0"/>
              <a:t>come</a:t>
            </a:r>
            <a:r>
              <a:rPr spc="-35" dirty="0"/>
              <a:t> </a:t>
            </a:r>
            <a:r>
              <a:rPr spc="110" dirty="0"/>
              <a:t>in</a:t>
            </a:r>
            <a:r>
              <a:rPr spc="-25" dirty="0"/>
              <a:t> </a:t>
            </a:r>
            <a:r>
              <a:rPr spc="110" dirty="0"/>
              <a:t>the</a:t>
            </a:r>
            <a:r>
              <a:rPr spc="-30" dirty="0"/>
              <a:t> </a:t>
            </a:r>
            <a:r>
              <a:rPr spc="185" dirty="0"/>
              <a:t>form</a:t>
            </a:r>
            <a:r>
              <a:rPr spc="-35" dirty="0"/>
              <a:t> </a:t>
            </a:r>
            <a:r>
              <a:rPr spc="140" dirty="0"/>
              <a:t>of</a:t>
            </a:r>
            <a:r>
              <a:rPr spc="-35" dirty="0"/>
              <a:t> </a:t>
            </a:r>
            <a:r>
              <a:rPr spc="-10" dirty="0"/>
              <a:t>graphs.</a:t>
            </a:r>
          </a:p>
          <a:p>
            <a:pPr>
              <a:lnSpc>
                <a:spcPct val="100000"/>
              </a:lnSpc>
              <a:spcBef>
                <a:spcPts val="1460"/>
              </a:spcBef>
              <a:buClr>
                <a:srgbClr val="333333"/>
              </a:buClr>
              <a:buFont typeface="Arial MT"/>
              <a:buChar char="•"/>
            </a:pPr>
            <a:endParaRPr spc="-10" dirty="0"/>
          </a:p>
          <a:p>
            <a:pPr marL="240029" indent="-227329">
              <a:lnSpc>
                <a:spcPct val="100000"/>
              </a:lnSpc>
              <a:buChar char="•"/>
              <a:tabLst>
                <a:tab pos="240029" algn="l"/>
              </a:tabLst>
            </a:pPr>
            <a:r>
              <a:rPr dirty="0"/>
              <a:t>social</a:t>
            </a:r>
            <a:r>
              <a:rPr spc="85" dirty="0"/>
              <a:t> networks</a:t>
            </a: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Char char="•"/>
              <a:tabLst>
                <a:tab pos="240029" algn="l"/>
              </a:tabLst>
            </a:pPr>
            <a:r>
              <a:rPr spc="95" dirty="0"/>
              <a:t>protein-</a:t>
            </a:r>
            <a:r>
              <a:rPr spc="90" dirty="0"/>
              <a:t>interaction</a:t>
            </a:r>
            <a:r>
              <a:rPr spc="5" dirty="0"/>
              <a:t> </a:t>
            </a:r>
            <a:r>
              <a:rPr spc="85" dirty="0"/>
              <a:t>networks</a:t>
            </a: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Char char="•"/>
              <a:tabLst>
                <a:tab pos="240029" algn="l"/>
              </a:tabLst>
            </a:pPr>
            <a:r>
              <a:rPr dirty="0"/>
              <a:t>The</a:t>
            </a:r>
            <a:r>
              <a:rPr spc="5" dirty="0"/>
              <a:t> </a:t>
            </a:r>
            <a:r>
              <a:rPr spc="85" dirty="0"/>
              <a:t>World</a:t>
            </a:r>
            <a:r>
              <a:rPr spc="-20" dirty="0"/>
              <a:t> </a:t>
            </a:r>
            <a:r>
              <a:rPr dirty="0"/>
              <a:t>Wide</a:t>
            </a:r>
            <a:r>
              <a:rPr spc="10" dirty="0"/>
              <a:t> </a:t>
            </a:r>
            <a:r>
              <a:rPr spc="-25" dirty="0"/>
              <a:t>Web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5511" rIns="0" bIns="0" rtlCol="0">
            <a:spAutoFit/>
          </a:bodyPr>
          <a:lstStyle/>
          <a:p>
            <a:pPr marL="1605280">
              <a:lnSpc>
                <a:spcPct val="100000"/>
              </a:lnSpc>
              <a:spcBef>
                <a:spcPts val="105"/>
              </a:spcBef>
            </a:pPr>
            <a:r>
              <a:rPr dirty="0"/>
              <a:t>Graphs</a:t>
            </a:r>
            <a:r>
              <a:rPr spc="-14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dirty="0"/>
              <a:t>structured</a:t>
            </a:r>
            <a:r>
              <a:rPr spc="-125" dirty="0"/>
              <a:t> </a:t>
            </a:r>
            <a:r>
              <a:rPr spc="-20" dirty="0"/>
              <a:t>data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0" y="2604813"/>
            <a:ext cx="3449007" cy="344546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75BF9-E41E-1939-3B4F-565906036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A70A8-BCBF-4D38-9740-5A4DD5561065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E4FCD-75F2-458B-B82E-64A4DA9A7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C1B12-A3C8-002D-6E54-AE0B00FE8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spc="70" dirty="0"/>
              <a:t>Many</a:t>
            </a:r>
            <a:r>
              <a:rPr spc="-30" dirty="0"/>
              <a:t> </a:t>
            </a:r>
            <a:r>
              <a:rPr dirty="0"/>
              <a:t>real-</a:t>
            </a:r>
            <a:r>
              <a:rPr spc="135" dirty="0"/>
              <a:t>world</a:t>
            </a:r>
            <a:r>
              <a:rPr spc="-10" dirty="0"/>
              <a:t> </a:t>
            </a:r>
            <a:r>
              <a:rPr spc="45" dirty="0"/>
              <a:t>datasets</a:t>
            </a:r>
            <a:r>
              <a:rPr spc="-10" dirty="0"/>
              <a:t> </a:t>
            </a:r>
            <a:r>
              <a:rPr spc="75" dirty="0"/>
              <a:t>come</a:t>
            </a:r>
            <a:r>
              <a:rPr spc="-35" dirty="0"/>
              <a:t> </a:t>
            </a:r>
            <a:r>
              <a:rPr spc="110" dirty="0"/>
              <a:t>in</a:t>
            </a:r>
            <a:r>
              <a:rPr spc="-25" dirty="0"/>
              <a:t> </a:t>
            </a:r>
            <a:r>
              <a:rPr spc="110" dirty="0"/>
              <a:t>the</a:t>
            </a:r>
            <a:r>
              <a:rPr spc="-30" dirty="0"/>
              <a:t> </a:t>
            </a:r>
            <a:r>
              <a:rPr spc="185" dirty="0"/>
              <a:t>form</a:t>
            </a:r>
            <a:r>
              <a:rPr spc="-35" dirty="0"/>
              <a:t> </a:t>
            </a:r>
            <a:r>
              <a:rPr spc="140" dirty="0"/>
              <a:t>of</a:t>
            </a:r>
            <a:r>
              <a:rPr spc="-35" dirty="0"/>
              <a:t> </a:t>
            </a:r>
            <a:r>
              <a:rPr spc="-10" dirty="0"/>
              <a:t>graphs.</a:t>
            </a:r>
          </a:p>
          <a:p>
            <a:pPr>
              <a:lnSpc>
                <a:spcPct val="100000"/>
              </a:lnSpc>
              <a:spcBef>
                <a:spcPts val="1460"/>
              </a:spcBef>
              <a:buFont typeface="Arial MT"/>
              <a:buChar char="•"/>
            </a:pPr>
            <a:endParaRPr spc="-10" dirty="0"/>
          </a:p>
          <a:p>
            <a:pPr marL="240029" indent="-227329">
              <a:lnSpc>
                <a:spcPct val="100000"/>
              </a:lnSpc>
              <a:buChar char="•"/>
              <a:tabLst>
                <a:tab pos="240029" algn="l"/>
              </a:tabLst>
            </a:pPr>
            <a:r>
              <a:rPr dirty="0"/>
              <a:t>social</a:t>
            </a:r>
            <a:r>
              <a:rPr spc="85" dirty="0"/>
              <a:t> networks</a:t>
            </a: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Char char="•"/>
              <a:tabLst>
                <a:tab pos="240029" algn="l"/>
              </a:tabLst>
            </a:pPr>
            <a:r>
              <a:rPr spc="95" dirty="0"/>
              <a:t>protein-</a:t>
            </a:r>
            <a:r>
              <a:rPr spc="90" dirty="0"/>
              <a:t>interaction</a:t>
            </a:r>
            <a:r>
              <a:rPr spc="5" dirty="0"/>
              <a:t> </a:t>
            </a:r>
            <a:r>
              <a:rPr spc="85" dirty="0"/>
              <a:t>networks</a:t>
            </a: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Char char="•"/>
              <a:tabLst>
                <a:tab pos="240029" algn="l"/>
              </a:tabLst>
            </a:pPr>
            <a:r>
              <a:rPr dirty="0"/>
              <a:t>The</a:t>
            </a:r>
            <a:r>
              <a:rPr spc="5" dirty="0"/>
              <a:t> </a:t>
            </a:r>
            <a:r>
              <a:rPr spc="85" dirty="0"/>
              <a:t>World</a:t>
            </a:r>
            <a:r>
              <a:rPr spc="-20" dirty="0"/>
              <a:t> </a:t>
            </a:r>
            <a:r>
              <a:rPr dirty="0"/>
              <a:t>Wide</a:t>
            </a:r>
            <a:r>
              <a:rPr spc="10" dirty="0"/>
              <a:t> </a:t>
            </a:r>
            <a:r>
              <a:rPr spc="-25" dirty="0"/>
              <a:t>Web</a:t>
            </a:r>
          </a:p>
          <a:p>
            <a:pPr marL="240029" indent="-227329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0029" algn="l"/>
              </a:tabLst>
            </a:pPr>
            <a:r>
              <a:rPr spc="-10" dirty="0">
                <a:solidFill>
                  <a:srgbClr val="000000"/>
                </a:solidFill>
                <a:latin typeface="Calibri"/>
                <a:cs typeface="Calibri"/>
              </a:rPr>
              <a:t>Molecules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5511" rIns="0" bIns="0" rtlCol="0">
            <a:spAutoFit/>
          </a:bodyPr>
          <a:lstStyle/>
          <a:p>
            <a:pPr marL="1605280">
              <a:lnSpc>
                <a:spcPct val="100000"/>
              </a:lnSpc>
              <a:spcBef>
                <a:spcPts val="105"/>
              </a:spcBef>
            </a:pPr>
            <a:r>
              <a:rPr dirty="0"/>
              <a:t>Graphs</a:t>
            </a:r>
            <a:r>
              <a:rPr spc="-14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dirty="0"/>
              <a:t>structured</a:t>
            </a:r>
            <a:r>
              <a:rPr spc="-125" dirty="0"/>
              <a:t> </a:t>
            </a:r>
            <a:r>
              <a:rPr spc="-20" dirty="0"/>
              <a:t>data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8771" y="2590800"/>
            <a:ext cx="3419855" cy="341831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E827B0-385D-5359-82E5-1C3ED6337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6493-BD48-4F96-AA96-EE1A8367B4FC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7926D-0B5F-4C19-E62E-C83FD1442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999FE-87F8-2B92-AD8D-43569096D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3728" y="2406475"/>
            <a:ext cx="4390682" cy="2762346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idx="1"/>
          </p:nvPr>
        </p:nvSpPr>
        <p:spPr>
          <a:xfrm>
            <a:off x="1219200" y="1600201"/>
            <a:ext cx="10363200" cy="33039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if</a:t>
            </a:r>
            <a:r>
              <a:rPr spc="-35" dirty="0"/>
              <a:t> </a:t>
            </a:r>
            <a:r>
              <a:rPr dirty="0"/>
              <a:t>our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dirty="0"/>
              <a:t>looks</a:t>
            </a:r>
            <a:r>
              <a:rPr spc="-35" dirty="0"/>
              <a:t> </a:t>
            </a:r>
            <a:r>
              <a:rPr dirty="0"/>
              <a:t>like</a:t>
            </a:r>
            <a:r>
              <a:rPr spc="-30" dirty="0"/>
              <a:t> </a:t>
            </a:r>
            <a:r>
              <a:rPr spc="-10" dirty="0"/>
              <a:t>this?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spcBef>
                <a:spcPts val="200"/>
              </a:spcBef>
            </a:pPr>
            <a:endParaRPr lang="en-US" spc="-10" dirty="0"/>
          </a:p>
          <a:p>
            <a:pPr>
              <a:spcBef>
                <a:spcPts val="200"/>
              </a:spcBef>
            </a:pPr>
            <a:endParaRPr lang="en-US" spc="-10" dirty="0"/>
          </a:p>
          <a:p>
            <a:pPr>
              <a:spcBef>
                <a:spcPts val="200"/>
              </a:spcBef>
            </a:pPr>
            <a:endParaRPr lang="en-US" spc="-10" dirty="0"/>
          </a:p>
          <a:p>
            <a:pPr>
              <a:spcBef>
                <a:spcPts val="200"/>
              </a:spcBef>
            </a:pPr>
            <a:endParaRPr spc="-10" dirty="0"/>
          </a:p>
          <a:p>
            <a:pPr marR="313690" algn="r"/>
            <a:r>
              <a:rPr b="0" dirty="0">
                <a:latin typeface="Arial MT"/>
                <a:cs typeface="Arial MT"/>
              </a:rPr>
              <a:t>or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this: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0" dirty="0"/>
              <a:t>Graph-</a:t>
            </a:r>
            <a:r>
              <a:rPr dirty="0"/>
              <a:t>structured</a:t>
            </a:r>
            <a:r>
              <a:rPr spc="-75" dirty="0"/>
              <a:t> </a:t>
            </a:r>
            <a:r>
              <a:rPr spc="-20" dirty="0"/>
              <a:t>data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176098" y="3048000"/>
            <a:ext cx="1710689" cy="1598295"/>
            <a:chOff x="1024393" y="2049525"/>
            <a:chExt cx="1710689" cy="15982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8963" y="2723133"/>
              <a:ext cx="132085" cy="1320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6665" y="3218433"/>
              <a:ext cx="132084" cy="13208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0486" y="3436365"/>
              <a:ext cx="132085" cy="1320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48052" y="3033521"/>
              <a:ext cx="132085" cy="1320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2809" y="2934461"/>
              <a:ext cx="132085" cy="1320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5218" y="2049525"/>
              <a:ext cx="132085" cy="13208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1848" y="3515613"/>
              <a:ext cx="132085" cy="1320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4393" y="2624073"/>
              <a:ext cx="132085" cy="1320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80137" y="2472181"/>
              <a:ext cx="132085" cy="132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02691" y="2149209"/>
              <a:ext cx="1501140" cy="1376680"/>
            </a:xfrm>
            <a:custGeom>
              <a:avLst/>
              <a:gdLst/>
              <a:ahLst/>
              <a:cxnLst/>
              <a:rect l="l" t="t" r="r" b="b"/>
              <a:pathLst>
                <a:path w="1501139" h="1376679">
                  <a:moveTo>
                    <a:pt x="52827" y="552126"/>
                  </a:moveTo>
                  <a:lnTo>
                    <a:pt x="497227" y="628743"/>
                  </a:lnTo>
                </a:path>
                <a:path w="1501139" h="1376679">
                  <a:moveTo>
                    <a:pt x="0" y="605803"/>
                  </a:moveTo>
                  <a:lnTo>
                    <a:pt x="87757" y="1070365"/>
                  </a:lnTo>
                </a:path>
                <a:path w="1501139" h="1376679">
                  <a:moveTo>
                    <a:pt x="44591" y="507261"/>
                  </a:moveTo>
                  <a:lnTo>
                    <a:pt x="901718" y="0"/>
                  </a:lnTo>
                </a:path>
                <a:path w="1501139" h="1376679">
                  <a:moveTo>
                    <a:pt x="622959" y="613777"/>
                  </a:moveTo>
                  <a:lnTo>
                    <a:pt x="1082839" y="415200"/>
                  </a:lnTo>
                </a:path>
                <a:path w="1501139" h="1376679">
                  <a:moveTo>
                    <a:pt x="925077" y="23292"/>
                  </a:moveTo>
                  <a:lnTo>
                    <a:pt x="595802" y="583028"/>
                  </a:lnTo>
                </a:path>
                <a:path w="1501139" h="1376679">
                  <a:moveTo>
                    <a:pt x="985043" y="26875"/>
                  </a:moveTo>
                  <a:lnTo>
                    <a:pt x="1117010" y="328493"/>
                  </a:lnTo>
                </a:path>
                <a:path w="1501139" h="1376679">
                  <a:moveTo>
                    <a:pt x="1128356" y="453305"/>
                  </a:moveTo>
                  <a:lnTo>
                    <a:pt x="1026531" y="886059"/>
                  </a:lnTo>
                </a:path>
                <a:path w="1501139" h="1376679">
                  <a:moveTo>
                    <a:pt x="1076420" y="938742"/>
                  </a:moveTo>
                  <a:lnTo>
                    <a:pt x="1501139" y="862903"/>
                  </a:lnTo>
                </a:path>
                <a:path w="1501139" h="1376679">
                  <a:moveTo>
                    <a:pt x="1046615" y="1006236"/>
                  </a:moveTo>
                  <a:lnTo>
                    <a:pt x="1279983" y="1376560"/>
                  </a:lnTo>
                </a:path>
                <a:path w="1501139" h="1376679">
                  <a:moveTo>
                    <a:pt x="975817" y="1006004"/>
                  </a:moveTo>
                  <a:lnTo>
                    <a:pt x="789419" y="1297544"/>
                  </a:lnTo>
                </a:path>
                <a:path w="1501139" h="1376679">
                  <a:moveTo>
                    <a:pt x="616652" y="677520"/>
                  </a:moveTo>
                  <a:lnTo>
                    <a:pt x="957061" y="912796"/>
                  </a:lnTo>
                </a:path>
                <a:path w="1501139" h="1376679">
                  <a:moveTo>
                    <a:pt x="579443" y="703755"/>
                  </a:moveTo>
                  <a:lnTo>
                    <a:pt x="736704" y="1289405"/>
                  </a:lnTo>
                </a:path>
                <a:path w="1501139" h="1376679">
                  <a:moveTo>
                    <a:pt x="162682" y="1156152"/>
                  </a:moveTo>
                  <a:lnTo>
                    <a:pt x="691167" y="1332308"/>
                  </a:lnTo>
                </a:path>
              </a:pathLst>
            </a:custGeom>
            <a:ln w="19812">
              <a:solidFill>
                <a:srgbClr val="D6D6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8963" y="2723133"/>
              <a:ext cx="132085" cy="13208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6665" y="3218433"/>
              <a:ext cx="132084" cy="13208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48052" y="3033521"/>
              <a:ext cx="132085" cy="13208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0486" y="3436365"/>
              <a:ext cx="132085" cy="13208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2809" y="2934461"/>
              <a:ext cx="132085" cy="13208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5218" y="2049525"/>
              <a:ext cx="132085" cy="13208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1848" y="3515613"/>
              <a:ext cx="132085" cy="13208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4393" y="2624073"/>
              <a:ext cx="132085" cy="13208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80137" y="2472181"/>
              <a:ext cx="132085" cy="1320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102691" y="2149209"/>
              <a:ext cx="1501140" cy="1376680"/>
            </a:xfrm>
            <a:custGeom>
              <a:avLst/>
              <a:gdLst/>
              <a:ahLst/>
              <a:cxnLst/>
              <a:rect l="l" t="t" r="r" b="b"/>
              <a:pathLst>
                <a:path w="1501139" h="1376679">
                  <a:moveTo>
                    <a:pt x="52827" y="552126"/>
                  </a:moveTo>
                  <a:lnTo>
                    <a:pt x="497227" y="628743"/>
                  </a:lnTo>
                </a:path>
                <a:path w="1501139" h="1376679">
                  <a:moveTo>
                    <a:pt x="0" y="605803"/>
                  </a:moveTo>
                  <a:lnTo>
                    <a:pt x="87757" y="1070365"/>
                  </a:lnTo>
                </a:path>
                <a:path w="1501139" h="1376679">
                  <a:moveTo>
                    <a:pt x="44591" y="507261"/>
                  </a:moveTo>
                  <a:lnTo>
                    <a:pt x="901718" y="0"/>
                  </a:lnTo>
                </a:path>
                <a:path w="1501139" h="1376679">
                  <a:moveTo>
                    <a:pt x="622959" y="613777"/>
                  </a:moveTo>
                  <a:lnTo>
                    <a:pt x="1082839" y="415200"/>
                  </a:lnTo>
                </a:path>
                <a:path w="1501139" h="1376679">
                  <a:moveTo>
                    <a:pt x="925077" y="23292"/>
                  </a:moveTo>
                  <a:lnTo>
                    <a:pt x="595802" y="583028"/>
                  </a:lnTo>
                </a:path>
                <a:path w="1501139" h="1376679">
                  <a:moveTo>
                    <a:pt x="985043" y="26875"/>
                  </a:moveTo>
                  <a:lnTo>
                    <a:pt x="1117010" y="328493"/>
                  </a:lnTo>
                </a:path>
                <a:path w="1501139" h="1376679">
                  <a:moveTo>
                    <a:pt x="1128356" y="453305"/>
                  </a:moveTo>
                  <a:lnTo>
                    <a:pt x="1026531" y="886059"/>
                  </a:lnTo>
                </a:path>
                <a:path w="1501139" h="1376679">
                  <a:moveTo>
                    <a:pt x="1076420" y="938742"/>
                  </a:moveTo>
                  <a:lnTo>
                    <a:pt x="1501139" y="862903"/>
                  </a:lnTo>
                </a:path>
                <a:path w="1501139" h="1376679">
                  <a:moveTo>
                    <a:pt x="1046615" y="1006236"/>
                  </a:moveTo>
                  <a:lnTo>
                    <a:pt x="1279983" y="1376560"/>
                  </a:lnTo>
                </a:path>
                <a:path w="1501139" h="1376679">
                  <a:moveTo>
                    <a:pt x="975817" y="1006004"/>
                  </a:moveTo>
                  <a:lnTo>
                    <a:pt x="789419" y="1297544"/>
                  </a:lnTo>
                </a:path>
                <a:path w="1501139" h="1376679">
                  <a:moveTo>
                    <a:pt x="616652" y="677520"/>
                  </a:moveTo>
                  <a:lnTo>
                    <a:pt x="957061" y="912796"/>
                  </a:lnTo>
                </a:path>
                <a:path w="1501139" h="1376679">
                  <a:moveTo>
                    <a:pt x="579443" y="703755"/>
                  </a:moveTo>
                  <a:lnTo>
                    <a:pt x="736704" y="1289405"/>
                  </a:lnTo>
                </a:path>
                <a:path w="1501139" h="1376679">
                  <a:moveTo>
                    <a:pt x="162682" y="1156152"/>
                  </a:moveTo>
                  <a:lnTo>
                    <a:pt x="691167" y="1332308"/>
                  </a:lnTo>
                </a:path>
              </a:pathLst>
            </a:custGeom>
            <a:ln w="19812">
              <a:solidFill>
                <a:srgbClr val="D6D6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0410523" y="6492335"/>
            <a:ext cx="11048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0" dirty="0"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E905572B-8AFD-ED7C-E56D-22D0ECBE6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C3D0F-3639-4356-BF02-4B27E030A731}" type="datetime1">
              <a:rPr lang="en-US" smtClean="0"/>
              <a:t>11/28/2025</a:t>
            </a:fld>
            <a:endParaRPr lang="en-US"/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98726926-3AC0-1F85-01E0-6880397ED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8F20149-2E3F-D841-D1B8-668D8B6E5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89FAD03-1020-CE04-DCDF-8CAFDB3FD3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9625" y="1676400"/>
            <a:ext cx="5802719" cy="44958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E3B8620-012D-C18D-541B-28A2E0776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and Networks</a:t>
            </a:r>
          </a:p>
        </p:txBody>
      </p:sp>
      <p:pic>
        <p:nvPicPr>
          <p:cNvPr id="9" name="object 2">
            <a:extLst>
              <a:ext uri="{FF2B5EF4-FFF2-40B4-BE49-F238E27FC236}">
                <a16:creationId xmlns:a16="http://schemas.microsoft.com/office/drawing/2014/main" id="{60C4A76E-AFAA-F167-00F3-4C940079039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12344" y="2047826"/>
            <a:ext cx="4807991" cy="313377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EE023E-D2B0-D698-4F79-D2B2F827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266B3-6A38-4A2A-A55C-08A0277342E8}" type="datetime1">
              <a:rPr lang="en-US" smtClean="0"/>
              <a:t>11/28/2025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4B0E573-D60A-CDBD-1B3D-40C2DD897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A0BBD03-042E-60E0-8545-9EE7CE62E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91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4DC8B1D-ED28-5EB1-81B3-9DFD36AEC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466186"/>
            <a:ext cx="10972800" cy="1125031"/>
          </a:xfrm>
          <a:prstGeom prst="rect">
            <a:avLst/>
          </a:prstGeom>
        </p:spPr>
        <p:txBody>
          <a:bodyPr vert="horz" wrap="square" lIns="0" tIns="565511" rIns="0" bIns="0" rtlCol="0">
            <a:spAutoFit/>
          </a:bodyPr>
          <a:lstStyle/>
          <a:p>
            <a:pPr marL="2581910" algn="l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Images</a:t>
            </a:r>
            <a:r>
              <a:rPr lang="en-US" spc="-75" dirty="0"/>
              <a:t> </a:t>
            </a:r>
            <a:r>
              <a:rPr lang="en-US" dirty="0"/>
              <a:t>are</a:t>
            </a:r>
            <a:r>
              <a:rPr lang="en-US" spc="-95" dirty="0"/>
              <a:t> </a:t>
            </a:r>
            <a:r>
              <a:rPr lang="en-US" spc="-10" dirty="0"/>
              <a:t>graphs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916939" y="2305176"/>
            <a:ext cx="9083040" cy="83629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Images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graphs,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pixel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represents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is 	</a:t>
            </a:r>
            <a:r>
              <a:rPr sz="2800" dirty="0">
                <a:latin typeface="Calibri"/>
                <a:cs typeface="Calibri"/>
              </a:rPr>
              <a:t>connected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edge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adjacent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pixels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2828" y="3713355"/>
            <a:ext cx="6236180" cy="22803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672056" y="6314316"/>
            <a:ext cx="15913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Image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by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Sanchez-lengeling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51B12-08E8-1450-E1D5-D13B66B90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D011-B71E-46FF-B2C6-D8643CD398A6}" type="datetime1">
              <a:rPr lang="en-US" smtClean="0"/>
              <a:t>11/28/2025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0315142-E1EE-8006-0AEC-7B808E5B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C69335-355A-35C5-C5AF-8A18B1E4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6E126A2-AD67-E8EE-7734-09E6F1B61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800" dirty="0">
                <a:latin typeface="Calibri"/>
                <a:cs typeface="Calibri"/>
              </a:rPr>
              <a:t>Each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token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is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node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-3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is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connected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via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edge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to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node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that 	</a:t>
            </a:r>
            <a:r>
              <a:rPr lang="en-US" sz="2800" dirty="0">
                <a:latin typeface="Calibri"/>
                <a:cs typeface="Calibri"/>
              </a:rPr>
              <a:t>preceding</a:t>
            </a:r>
            <a:r>
              <a:rPr lang="en-US" sz="2800" spc="-105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it.</a:t>
            </a:r>
            <a:endParaRPr lang="en-US"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en-US"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lang="en-US" sz="2800" dirty="0">
              <a:latin typeface="Calibri"/>
              <a:cs typeface="Calibri"/>
            </a:endParaRPr>
          </a:p>
          <a:p>
            <a:pPr marL="2279650">
              <a:lnSpc>
                <a:spcPct val="100000"/>
              </a:lnSpc>
              <a:spcBef>
                <a:spcPts val="5"/>
              </a:spcBef>
              <a:tabLst>
                <a:tab pos="3166745" algn="l"/>
                <a:tab pos="3794125" algn="l"/>
              </a:tabLst>
            </a:pPr>
            <a:r>
              <a:rPr lang="en-US" sz="2800" spc="-10" dirty="0">
                <a:solidFill>
                  <a:srgbClr val="006FC0"/>
                </a:solidFill>
                <a:latin typeface="Calibri"/>
                <a:cs typeface="Calibri"/>
              </a:rPr>
              <a:t>Texts</a:t>
            </a:r>
            <a:r>
              <a:rPr lang="en-US" sz="2800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lang="en-US" sz="2800" spc="-25" dirty="0">
                <a:solidFill>
                  <a:srgbClr val="006FC0"/>
                </a:solidFill>
                <a:latin typeface="Calibri"/>
                <a:cs typeface="Calibri"/>
              </a:rPr>
              <a:t>are</a:t>
            </a:r>
            <a:r>
              <a:rPr lang="en-US" sz="2800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lang="en-US" sz="2800" spc="-10" dirty="0">
                <a:solidFill>
                  <a:srgbClr val="006FC0"/>
                </a:solidFill>
                <a:latin typeface="Calibri"/>
                <a:cs typeface="Calibri"/>
              </a:rPr>
              <a:t>graphs</a:t>
            </a:r>
            <a:endParaRPr lang="en-US" sz="2800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2B9FD30-8268-7674-CF42-99B7A92DA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75" dirty="0"/>
              <a:t>Text</a:t>
            </a:r>
            <a:r>
              <a:rPr lang="en-US" spc="-100" dirty="0"/>
              <a:t> </a:t>
            </a:r>
            <a:r>
              <a:rPr lang="en-US" dirty="0"/>
              <a:t>as</a:t>
            </a:r>
            <a:r>
              <a:rPr lang="en-US" spc="-95" dirty="0"/>
              <a:t> </a:t>
            </a:r>
            <a:r>
              <a:rPr lang="en-US" spc="-10" dirty="0"/>
              <a:t>graphs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EEFFAA-19E2-D2FD-CCBF-FC4A3616D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A9A72-DE3F-4D59-B74F-5C5AE9BAB5FF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883180-CDF8-7E3F-0C4F-F1384FE35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1B15D-132F-A1DA-4D09-49BC27554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C452BA-7A62-CB89-0622-1703246E4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-apple-system"/>
              </a:rPr>
              <a:t>Text as graphs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12494-1151-8150-DC0B-9DD78DE1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BC6D-8F5E-4214-9DC9-F2C887D389D3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5A6534-DDF8-0236-E5CF-731081376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F1D66E-3E3C-7560-0F9D-0063B8474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BCE45B5-DE1F-EEDE-25B3-BB0A5EBD8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Representation Learning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4FAC84-A8F1-5454-AF3F-DEB09110F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514600"/>
            <a:ext cx="7695206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569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4AFBB86-BC99-60E9-CB3F-F18E88BD8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0" dirty="0"/>
              <a:t>Graph Representation: Adjacency Matrix: A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7582C9C-AB25-09B6-D4EB-74ECDA5C1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153748" cy="4525963"/>
          </a:xfrm>
        </p:spPr>
        <p:txBody>
          <a:bodyPr/>
          <a:lstStyle/>
          <a:p>
            <a:r>
              <a:rPr lang="en-US" dirty="0"/>
              <a:t>Variants of Graph:</a:t>
            </a:r>
          </a:p>
          <a:p>
            <a:pPr lvl="1"/>
            <a:r>
              <a:rPr lang="en-US" dirty="0"/>
              <a:t>Directed Graphs</a:t>
            </a:r>
          </a:p>
          <a:p>
            <a:pPr lvl="1"/>
            <a:r>
              <a:rPr lang="en-US" dirty="0"/>
              <a:t>Weighted Graphs</a:t>
            </a:r>
          </a:p>
          <a:p>
            <a:pPr lvl="1"/>
            <a:r>
              <a:rPr lang="en-US" dirty="0"/>
              <a:t>Multi-Relational Graphs</a:t>
            </a:r>
          </a:p>
          <a:p>
            <a:pPr lvl="1"/>
            <a:r>
              <a:rPr lang="en-US" dirty="0"/>
              <a:t>Self-Connection (A+1)</a:t>
            </a:r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8D6FED4A-7514-4C32-E6AA-E394C7866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068" y="2209800"/>
            <a:ext cx="6917296" cy="29718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621B9E-17CA-DED9-AF99-F14C0817F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C454C-F7FF-4E5B-B9F6-4EF0928CF26A}" type="datetime1">
              <a:rPr lang="en-US" smtClean="0"/>
              <a:t>11/28/2025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BBB53A-690C-CFAF-6624-52436FF47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635D7ED-E56C-4FAF-3387-62DE310CA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02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771342"/>
            <a:ext cx="10972800" cy="83820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0" dirty="0"/>
              <a:t>Graph-</a:t>
            </a:r>
            <a:r>
              <a:rPr dirty="0"/>
              <a:t>structured</a:t>
            </a:r>
            <a:r>
              <a:rPr spc="-7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51100" y="2603500"/>
            <a:ext cx="10077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Graph</a:t>
            </a:r>
            <a:r>
              <a:rPr sz="2400" spc="-10" dirty="0"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1400" y="2667000"/>
            <a:ext cx="1511300" cy="3429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46801" y="2584879"/>
            <a:ext cx="3084195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  <a:tabLst>
                <a:tab pos="2784475" algn="l"/>
              </a:tabLst>
            </a:pPr>
            <a:r>
              <a:rPr sz="3600" b="1" baseline="1157" dirty="0">
                <a:latin typeface="Arial"/>
                <a:cs typeface="Arial"/>
              </a:rPr>
              <a:t>Adjacency</a:t>
            </a:r>
            <a:r>
              <a:rPr sz="3600" b="1" spc="-150" baseline="1157" dirty="0">
                <a:latin typeface="Arial"/>
                <a:cs typeface="Arial"/>
              </a:rPr>
              <a:t> </a:t>
            </a:r>
            <a:r>
              <a:rPr sz="3600" b="1" spc="-15" baseline="1157" dirty="0">
                <a:latin typeface="Arial"/>
                <a:cs typeface="Arial"/>
              </a:rPr>
              <a:t>matrix:</a:t>
            </a:r>
            <a:r>
              <a:rPr sz="3600" b="1" baseline="1157" dirty="0">
                <a:latin typeface="Arial"/>
                <a:cs typeface="Arial"/>
              </a:rPr>
              <a:t>	</a:t>
            </a:r>
            <a:r>
              <a:rPr sz="2600" b="1" spc="225" dirty="0">
                <a:latin typeface="Georgia"/>
                <a:cs typeface="Georgia"/>
              </a:rPr>
              <a:t>A</a:t>
            </a:r>
            <a:endParaRPr sz="2600" dirty="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33886" y="3791544"/>
            <a:ext cx="301625" cy="304165"/>
          </a:xfrm>
          <a:custGeom>
            <a:avLst/>
            <a:gdLst/>
            <a:ahLst/>
            <a:cxnLst/>
            <a:rect l="l" t="t" r="r" b="b"/>
            <a:pathLst>
              <a:path w="301625" h="304164">
                <a:moveTo>
                  <a:pt x="258716" y="43255"/>
                </a:moveTo>
                <a:lnTo>
                  <a:pt x="287321" y="83183"/>
                </a:lnTo>
                <a:lnTo>
                  <a:pt x="301624" y="128486"/>
                </a:lnTo>
                <a:lnTo>
                  <a:pt x="301624" y="175581"/>
                </a:lnTo>
                <a:lnTo>
                  <a:pt x="287321" y="220884"/>
                </a:lnTo>
                <a:lnTo>
                  <a:pt x="258716" y="260812"/>
                </a:lnTo>
                <a:lnTo>
                  <a:pt x="219109" y="289649"/>
                </a:lnTo>
                <a:lnTo>
                  <a:pt x="174170" y="304067"/>
                </a:lnTo>
                <a:lnTo>
                  <a:pt x="127453" y="304067"/>
                </a:lnTo>
                <a:lnTo>
                  <a:pt x="82514" y="289649"/>
                </a:lnTo>
                <a:lnTo>
                  <a:pt x="42907" y="260812"/>
                </a:lnTo>
                <a:lnTo>
                  <a:pt x="14302" y="220884"/>
                </a:lnTo>
                <a:lnTo>
                  <a:pt x="0" y="175581"/>
                </a:lnTo>
                <a:lnTo>
                  <a:pt x="0" y="128486"/>
                </a:lnTo>
                <a:lnTo>
                  <a:pt x="14302" y="83183"/>
                </a:lnTo>
                <a:lnTo>
                  <a:pt x="42907" y="43255"/>
                </a:lnTo>
                <a:lnTo>
                  <a:pt x="82514" y="14418"/>
                </a:lnTo>
                <a:lnTo>
                  <a:pt x="127453" y="0"/>
                </a:lnTo>
                <a:lnTo>
                  <a:pt x="174170" y="0"/>
                </a:lnTo>
                <a:lnTo>
                  <a:pt x="219109" y="14418"/>
                </a:lnTo>
                <a:lnTo>
                  <a:pt x="258716" y="43255"/>
                </a:lnTo>
              </a:path>
            </a:pathLst>
          </a:custGeom>
          <a:ln w="22285">
            <a:solidFill>
              <a:srgbClr val="0119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94949" y="3776430"/>
            <a:ext cx="185420" cy="30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50" b="1" spc="-50" dirty="0">
                <a:solidFill>
                  <a:srgbClr val="941751"/>
                </a:solidFill>
                <a:latin typeface="Arial"/>
                <a:cs typeface="Arial"/>
              </a:rPr>
              <a:t>A</a:t>
            </a:r>
            <a:endParaRPr sz="18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33886" y="4787285"/>
            <a:ext cx="301625" cy="304165"/>
          </a:xfrm>
          <a:custGeom>
            <a:avLst/>
            <a:gdLst/>
            <a:ahLst/>
            <a:cxnLst/>
            <a:rect l="l" t="t" r="r" b="b"/>
            <a:pathLst>
              <a:path w="301625" h="304164">
                <a:moveTo>
                  <a:pt x="258716" y="43255"/>
                </a:moveTo>
                <a:lnTo>
                  <a:pt x="287321" y="83183"/>
                </a:lnTo>
                <a:lnTo>
                  <a:pt x="301624" y="128486"/>
                </a:lnTo>
                <a:lnTo>
                  <a:pt x="301624" y="175581"/>
                </a:lnTo>
                <a:lnTo>
                  <a:pt x="287321" y="220884"/>
                </a:lnTo>
                <a:lnTo>
                  <a:pt x="258716" y="260812"/>
                </a:lnTo>
                <a:lnTo>
                  <a:pt x="219109" y="289649"/>
                </a:lnTo>
                <a:lnTo>
                  <a:pt x="174170" y="304067"/>
                </a:lnTo>
                <a:lnTo>
                  <a:pt x="127453" y="304067"/>
                </a:lnTo>
                <a:lnTo>
                  <a:pt x="82514" y="289649"/>
                </a:lnTo>
                <a:lnTo>
                  <a:pt x="42907" y="260812"/>
                </a:lnTo>
                <a:lnTo>
                  <a:pt x="14302" y="220884"/>
                </a:lnTo>
                <a:lnTo>
                  <a:pt x="0" y="175581"/>
                </a:lnTo>
                <a:lnTo>
                  <a:pt x="0" y="128486"/>
                </a:lnTo>
                <a:lnTo>
                  <a:pt x="14302" y="83183"/>
                </a:lnTo>
                <a:lnTo>
                  <a:pt x="42907" y="43255"/>
                </a:lnTo>
                <a:lnTo>
                  <a:pt x="82514" y="14418"/>
                </a:lnTo>
                <a:lnTo>
                  <a:pt x="127453" y="0"/>
                </a:lnTo>
                <a:lnTo>
                  <a:pt x="174170" y="0"/>
                </a:lnTo>
                <a:lnTo>
                  <a:pt x="219109" y="14418"/>
                </a:lnTo>
                <a:lnTo>
                  <a:pt x="258716" y="43255"/>
                </a:lnTo>
              </a:path>
            </a:pathLst>
          </a:custGeom>
          <a:ln w="22285">
            <a:solidFill>
              <a:srgbClr val="0119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88423" y="4772169"/>
            <a:ext cx="198120" cy="30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50" b="1" spc="-50" dirty="0">
                <a:solidFill>
                  <a:srgbClr val="941751"/>
                </a:solidFill>
                <a:latin typeface="Arial"/>
                <a:cs typeface="Arial"/>
              </a:rPr>
              <a:t>C</a:t>
            </a:r>
            <a:endParaRPr sz="18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82550" y="3791544"/>
            <a:ext cx="301625" cy="304165"/>
          </a:xfrm>
          <a:custGeom>
            <a:avLst/>
            <a:gdLst/>
            <a:ahLst/>
            <a:cxnLst/>
            <a:rect l="l" t="t" r="r" b="b"/>
            <a:pathLst>
              <a:path w="301625" h="304164">
                <a:moveTo>
                  <a:pt x="258716" y="43255"/>
                </a:moveTo>
                <a:lnTo>
                  <a:pt x="287321" y="83183"/>
                </a:lnTo>
                <a:lnTo>
                  <a:pt x="301624" y="128486"/>
                </a:lnTo>
                <a:lnTo>
                  <a:pt x="301624" y="175581"/>
                </a:lnTo>
                <a:lnTo>
                  <a:pt x="287321" y="220884"/>
                </a:lnTo>
                <a:lnTo>
                  <a:pt x="258716" y="260812"/>
                </a:lnTo>
                <a:lnTo>
                  <a:pt x="219109" y="289649"/>
                </a:lnTo>
                <a:lnTo>
                  <a:pt x="174170" y="304067"/>
                </a:lnTo>
                <a:lnTo>
                  <a:pt x="127453" y="304067"/>
                </a:lnTo>
                <a:lnTo>
                  <a:pt x="82514" y="289649"/>
                </a:lnTo>
                <a:lnTo>
                  <a:pt x="42907" y="260812"/>
                </a:lnTo>
                <a:lnTo>
                  <a:pt x="14302" y="220884"/>
                </a:lnTo>
                <a:lnTo>
                  <a:pt x="0" y="175581"/>
                </a:lnTo>
                <a:lnTo>
                  <a:pt x="0" y="128486"/>
                </a:lnTo>
                <a:lnTo>
                  <a:pt x="14302" y="83183"/>
                </a:lnTo>
                <a:lnTo>
                  <a:pt x="42907" y="43255"/>
                </a:lnTo>
                <a:lnTo>
                  <a:pt x="82514" y="14418"/>
                </a:lnTo>
                <a:lnTo>
                  <a:pt x="127453" y="0"/>
                </a:lnTo>
                <a:lnTo>
                  <a:pt x="174170" y="0"/>
                </a:lnTo>
                <a:lnTo>
                  <a:pt x="219109" y="14418"/>
                </a:lnTo>
                <a:lnTo>
                  <a:pt x="258716" y="43255"/>
                </a:lnTo>
              </a:path>
            </a:pathLst>
          </a:custGeom>
          <a:ln w="22285">
            <a:solidFill>
              <a:srgbClr val="0119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41400" y="3776430"/>
            <a:ext cx="189865" cy="30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50" b="1" spc="-50" dirty="0">
                <a:solidFill>
                  <a:srgbClr val="941751"/>
                </a:solidFill>
                <a:latin typeface="Arial"/>
                <a:cs typeface="Arial"/>
              </a:rPr>
              <a:t>B</a:t>
            </a:r>
            <a:endParaRPr sz="18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85324" y="4787285"/>
            <a:ext cx="301625" cy="304165"/>
          </a:xfrm>
          <a:custGeom>
            <a:avLst/>
            <a:gdLst/>
            <a:ahLst/>
            <a:cxnLst/>
            <a:rect l="l" t="t" r="r" b="b"/>
            <a:pathLst>
              <a:path w="301625" h="304164">
                <a:moveTo>
                  <a:pt x="258716" y="43255"/>
                </a:moveTo>
                <a:lnTo>
                  <a:pt x="287321" y="83183"/>
                </a:lnTo>
                <a:lnTo>
                  <a:pt x="301624" y="128486"/>
                </a:lnTo>
                <a:lnTo>
                  <a:pt x="301624" y="175581"/>
                </a:lnTo>
                <a:lnTo>
                  <a:pt x="287321" y="220884"/>
                </a:lnTo>
                <a:lnTo>
                  <a:pt x="258716" y="260812"/>
                </a:lnTo>
                <a:lnTo>
                  <a:pt x="219109" y="289649"/>
                </a:lnTo>
                <a:lnTo>
                  <a:pt x="174170" y="304067"/>
                </a:lnTo>
                <a:lnTo>
                  <a:pt x="127453" y="304067"/>
                </a:lnTo>
                <a:lnTo>
                  <a:pt x="82514" y="289649"/>
                </a:lnTo>
                <a:lnTo>
                  <a:pt x="42907" y="260812"/>
                </a:lnTo>
                <a:lnTo>
                  <a:pt x="14302" y="220884"/>
                </a:lnTo>
                <a:lnTo>
                  <a:pt x="0" y="175581"/>
                </a:lnTo>
                <a:lnTo>
                  <a:pt x="0" y="128486"/>
                </a:lnTo>
                <a:lnTo>
                  <a:pt x="14302" y="83183"/>
                </a:lnTo>
                <a:lnTo>
                  <a:pt x="42907" y="43255"/>
                </a:lnTo>
                <a:lnTo>
                  <a:pt x="82514" y="14418"/>
                </a:lnTo>
                <a:lnTo>
                  <a:pt x="127453" y="0"/>
                </a:lnTo>
                <a:lnTo>
                  <a:pt x="174170" y="0"/>
                </a:lnTo>
                <a:lnTo>
                  <a:pt x="219109" y="14418"/>
                </a:lnTo>
                <a:lnTo>
                  <a:pt x="258716" y="43255"/>
                </a:lnTo>
              </a:path>
            </a:pathLst>
          </a:custGeom>
          <a:ln w="22285">
            <a:solidFill>
              <a:srgbClr val="0119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45411" y="4772169"/>
            <a:ext cx="198120" cy="30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50" b="1" spc="-50" dirty="0">
                <a:solidFill>
                  <a:srgbClr val="941751"/>
                </a:solidFill>
                <a:latin typeface="Arial"/>
                <a:cs typeface="Arial"/>
              </a:rPr>
              <a:t>D</a:t>
            </a:r>
            <a:endParaRPr sz="18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64740" y="4286617"/>
            <a:ext cx="301625" cy="304165"/>
          </a:xfrm>
          <a:custGeom>
            <a:avLst/>
            <a:gdLst/>
            <a:ahLst/>
            <a:cxnLst/>
            <a:rect l="l" t="t" r="r" b="b"/>
            <a:pathLst>
              <a:path w="301625" h="304164">
                <a:moveTo>
                  <a:pt x="258716" y="43255"/>
                </a:moveTo>
                <a:lnTo>
                  <a:pt x="287321" y="83183"/>
                </a:lnTo>
                <a:lnTo>
                  <a:pt x="301624" y="128486"/>
                </a:lnTo>
                <a:lnTo>
                  <a:pt x="301624" y="175581"/>
                </a:lnTo>
                <a:lnTo>
                  <a:pt x="287321" y="220884"/>
                </a:lnTo>
                <a:lnTo>
                  <a:pt x="258716" y="260812"/>
                </a:lnTo>
                <a:lnTo>
                  <a:pt x="219109" y="289649"/>
                </a:lnTo>
                <a:lnTo>
                  <a:pt x="174170" y="304067"/>
                </a:lnTo>
                <a:lnTo>
                  <a:pt x="127453" y="304067"/>
                </a:lnTo>
                <a:lnTo>
                  <a:pt x="82514" y="289649"/>
                </a:lnTo>
                <a:lnTo>
                  <a:pt x="42907" y="260812"/>
                </a:lnTo>
                <a:lnTo>
                  <a:pt x="14302" y="220884"/>
                </a:lnTo>
                <a:lnTo>
                  <a:pt x="0" y="175581"/>
                </a:lnTo>
                <a:lnTo>
                  <a:pt x="0" y="128486"/>
                </a:lnTo>
                <a:lnTo>
                  <a:pt x="14302" y="83183"/>
                </a:lnTo>
                <a:lnTo>
                  <a:pt x="42907" y="43255"/>
                </a:lnTo>
                <a:lnTo>
                  <a:pt x="82514" y="14418"/>
                </a:lnTo>
                <a:lnTo>
                  <a:pt x="127453" y="0"/>
                </a:lnTo>
                <a:lnTo>
                  <a:pt x="174170" y="0"/>
                </a:lnTo>
                <a:lnTo>
                  <a:pt x="219109" y="14418"/>
                </a:lnTo>
                <a:lnTo>
                  <a:pt x="258716" y="43255"/>
                </a:lnTo>
              </a:path>
            </a:pathLst>
          </a:custGeom>
          <a:ln w="22285">
            <a:solidFill>
              <a:srgbClr val="0119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24674" y="4271503"/>
            <a:ext cx="176530" cy="30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50" b="1" spc="-50" dirty="0">
                <a:solidFill>
                  <a:srgbClr val="941751"/>
                </a:solidFill>
                <a:latin typeface="Arial"/>
                <a:cs typeface="Arial"/>
              </a:rPr>
              <a:t>E</a:t>
            </a:r>
            <a:endParaRPr sz="18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87472" y="3946375"/>
            <a:ext cx="1982470" cy="996315"/>
          </a:xfrm>
          <a:custGeom>
            <a:avLst/>
            <a:gdLst/>
            <a:ahLst/>
            <a:cxnLst/>
            <a:rect l="l" t="t" r="r" b="b"/>
            <a:pathLst>
              <a:path w="1982470" h="996314">
                <a:moveTo>
                  <a:pt x="121477" y="104654"/>
                </a:moveTo>
                <a:lnTo>
                  <a:pt x="1024411" y="885491"/>
                </a:lnTo>
              </a:path>
              <a:path w="1982470" h="996314">
                <a:moveTo>
                  <a:pt x="160923" y="0"/>
                </a:moveTo>
                <a:lnTo>
                  <a:pt x="982190" y="0"/>
                </a:lnTo>
              </a:path>
              <a:path w="1982470" h="996314">
                <a:moveTo>
                  <a:pt x="1148204" y="827920"/>
                </a:moveTo>
                <a:lnTo>
                  <a:pt x="1146348" y="162226"/>
                </a:lnTo>
              </a:path>
              <a:path w="1982470" h="996314">
                <a:moveTo>
                  <a:pt x="0" y="162227"/>
                </a:moveTo>
                <a:lnTo>
                  <a:pt x="0" y="827919"/>
                </a:lnTo>
              </a:path>
              <a:path w="1982470" h="996314">
                <a:moveTo>
                  <a:pt x="160923" y="995740"/>
                </a:moveTo>
                <a:lnTo>
                  <a:pt x="984965" y="995740"/>
                </a:lnTo>
              </a:path>
              <a:path w="1982470" h="996314">
                <a:moveTo>
                  <a:pt x="1975479" y="495785"/>
                </a:moveTo>
                <a:lnTo>
                  <a:pt x="1286529" y="81727"/>
                </a:lnTo>
              </a:path>
              <a:path w="1982470" h="996314">
                <a:moveTo>
                  <a:pt x="1982295" y="567437"/>
                </a:moveTo>
                <a:lnTo>
                  <a:pt x="1301263" y="918558"/>
                </a:lnTo>
              </a:path>
            </a:pathLst>
          </a:custGeom>
          <a:ln w="22286">
            <a:solidFill>
              <a:srgbClr val="0119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6692900" y="3505200"/>
            <a:ext cx="2159000" cy="2082800"/>
            <a:chOff x="5168900" y="2286000"/>
            <a:chExt cx="2159000" cy="2082800"/>
          </a:xfrm>
        </p:grpSpPr>
        <p:sp>
          <p:nvSpPr>
            <p:cNvPr id="18" name="object 18"/>
            <p:cNvSpPr/>
            <p:nvPr/>
          </p:nvSpPr>
          <p:spPr>
            <a:xfrm>
              <a:off x="5181600" y="2425700"/>
              <a:ext cx="2133600" cy="1816100"/>
            </a:xfrm>
            <a:custGeom>
              <a:avLst/>
              <a:gdLst/>
              <a:ahLst/>
              <a:cxnLst/>
              <a:rect l="l" t="t" r="r" b="b"/>
              <a:pathLst>
                <a:path w="2133600" h="1816100">
                  <a:moveTo>
                    <a:pt x="114300" y="0"/>
                  </a:moveTo>
                  <a:lnTo>
                    <a:pt x="2019300" y="0"/>
                  </a:lnTo>
                  <a:lnTo>
                    <a:pt x="2063790" y="8982"/>
                  </a:lnTo>
                  <a:lnTo>
                    <a:pt x="2100122" y="33477"/>
                  </a:lnTo>
                  <a:lnTo>
                    <a:pt x="2124617" y="69809"/>
                  </a:lnTo>
                  <a:lnTo>
                    <a:pt x="2133600" y="114300"/>
                  </a:lnTo>
                  <a:lnTo>
                    <a:pt x="2133600" y="1701800"/>
                  </a:lnTo>
                  <a:lnTo>
                    <a:pt x="2124617" y="1746290"/>
                  </a:lnTo>
                  <a:lnTo>
                    <a:pt x="2100122" y="1782622"/>
                  </a:lnTo>
                  <a:lnTo>
                    <a:pt x="2063790" y="1807117"/>
                  </a:lnTo>
                  <a:lnTo>
                    <a:pt x="2019300" y="1816100"/>
                  </a:lnTo>
                  <a:lnTo>
                    <a:pt x="114300" y="1816100"/>
                  </a:lnTo>
                  <a:lnTo>
                    <a:pt x="69809" y="1807117"/>
                  </a:lnTo>
                  <a:lnTo>
                    <a:pt x="33477" y="1782622"/>
                  </a:lnTo>
                  <a:lnTo>
                    <a:pt x="8982" y="1746290"/>
                  </a:lnTo>
                  <a:lnTo>
                    <a:pt x="0" y="1701800"/>
                  </a:lnTo>
                  <a:lnTo>
                    <a:pt x="0" y="114300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close/>
                </a:path>
              </a:pathLst>
            </a:custGeom>
            <a:ln w="25400">
              <a:solidFill>
                <a:srgbClr val="0119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83200" y="2286000"/>
              <a:ext cx="1930400" cy="2082800"/>
            </a:xfrm>
            <a:custGeom>
              <a:avLst/>
              <a:gdLst/>
              <a:ahLst/>
              <a:cxnLst/>
              <a:rect l="l" t="t" r="r" b="b"/>
              <a:pathLst>
                <a:path w="1930400" h="2082800">
                  <a:moveTo>
                    <a:pt x="0" y="0"/>
                  </a:moveTo>
                  <a:lnTo>
                    <a:pt x="1930400" y="0"/>
                  </a:lnTo>
                  <a:lnTo>
                    <a:pt x="1930400" y="2082800"/>
                  </a:lnTo>
                  <a:lnTo>
                    <a:pt x="0" y="2082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993348" y="3353847"/>
            <a:ext cx="154368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54965" algn="l"/>
                <a:tab pos="700405" algn="l"/>
                <a:tab pos="1053465" algn="l"/>
                <a:tab pos="1406525" algn="l"/>
              </a:tabLst>
            </a:pPr>
            <a:r>
              <a:rPr sz="1500" b="1" spc="-50" dirty="0">
                <a:solidFill>
                  <a:srgbClr val="941751"/>
                </a:solidFill>
                <a:latin typeface="Arial"/>
                <a:cs typeface="Arial"/>
              </a:rPr>
              <a:t>A</a:t>
            </a:r>
            <a:r>
              <a:rPr sz="1500" b="1" dirty="0">
                <a:solidFill>
                  <a:srgbClr val="941751"/>
                </a:solidFill>
                <a:latin typeface="Arial"/>
                <a:cs typeface="Arial"/>
              </a:rPr>
              <a:t>	</a:t>
            </a:r>
            <a:r>
              <a:rPr sz="1500" b="1" spc="-50" dirty="0">
                <a:solidFill>
                  <a:srgbClr val="941751"/>
                </a:solidFill>
                <a:latin typeface="Arial"/>
                <a:cs typeface="Arial"/>
              </a:rPr>
              <a:t>B</a:t>
            </a:r>
            <a:r>
              <a:rPr sz="1500" b="1" dirty="0">
                <a:solidFill>
                  <a:srgbClr val="941751"/>
                </a:solidFill>
                <a:latin typeface="Arial"/>
                <a:cs typeface="Arial"/>
              </a:rPr>
              <a:t>	</a:t>
            </a:r>
            <a:r>
              <a:rPr sz="1500" b="1" spc="-50" dirty="0">
                <a:solidFill>
                  <a:srgbClr val="941751"/>
                </a:solidFill>
                <a:latin typeface="Arial"/>
                <a:cs typeface="Arial"/>
              </a:rPr>
              <a:t>C</a:t>
            </a:r>
            <a:r>
              <a:rPr sz="1500" b="1" dirty="0">
                <a:solidFill>
                  <a:srgbClr val="941751"/>
                </a:solidFill>
                <a:latin typeface="Arial"/>
                <a:cs typeface="Arial"/>
              </a:rPr>
              <a:t>	</a:t>
            </a:r>
            <a:r>
              <a:rPr sz="1500" b="1" spc="-50" dirty="0">
                <a:solidFill>
                  <a:srgbClr val="941751"/>
                </a:solidFill>
                <a:latin typeface="Arial"/>
                <a:cs typeface="Arial"/>
              </a:rPr>
              <a:t>D</a:t>
            </a:r>
            <a:r>
              <a:rPr sz="1500" b="1" dirty="0">
                <a:solidFill>
                  <a:srgbClr val="941751"/>
                </a:solidFill>
                <a:latin typeface="Arial"/>
                <a:cs typeface="Arial"/>
              </a:rPr>
              <a:t>	</a:t>
            </a:r>
            <a:r>
              <a:rPr sz="1500" b="1" spc="-50" dirty="0">
                <a:solidFill>
                  <a:srgbClr val="941751"/>
                </a:solidFill>
                <a:latin typeface="Arial"/>
                <a:cs typeface="Arial"/>
              </a:rPr>
              <a:t>E</a:t>
            </a:r>
            <a:endParaRPr sz="1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410523" y="6492335"/>
            <a:ext cx="11048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0" dirty="0"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22930" y="3566629"/>
            <a:ext cx="167005" cy="180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80" algn="just">
              <a:lnSpc>
                <a:spcPct val="155600"/>
              </a:lnSpc>
              <a:spcBef>
                <a:spcPts val="100"/>
              </a:spcBef>
            </a:pPr>
            <a:r>
              <a:rPr sz="1500" b="1" spc="-60" dirty="0">
                <a:solidFill>
                  <a:srgbClr val="941751"/>
                </a:solidFill>
                <a:latin typeface="Arial"/>
                <a:cs typeface="Arial"/>
              </a:rPr>
              <a:t>A </a:t>
            </a:r>
            <a:r>
              <a:rPr sz="1500" b="1" spc="-50" dirty="0">
                <a:solidFill>
                  <a:srgbClr val="941751"/>
                </a:solidFill>
                <a:latin typeface="Arial"/>
                <a:cs typeface="Arial"/>
              </a:rPr>
              <a:t>B C D E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64045" y="3580153"/>
            <a:ext cx="1614170" cy="18034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spcBef>
                <a:spcPts val="1100"/>
              </a:spcBef>
              <a:tabLst>
                <a:tab pos="382905" algn="l"/>
                <a:tab pos="753745" algn="l"/>
                <a:tab pos="1124585" algn="l"/>
                <a:tab pos="1495425" algn="l"/>
              </a:tabLst>
            </a:pPr>
            <a:r>
              <a:rPr sz="1500" b="1" spc="-50" dirty="0">
                <a:latin typeface="Arial"/>
                <a:cs typeface="Arial"/>
              </a:rPr>
              <a:t>0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0</a:t>
            </a:r>
            <a:endParaRPr sz="1500">
              <a:latin typeface="Arial"/>
              <a:cs typeface="Arial"/>
            </a:endParaRPr>
          </a:p>
          <a:p>
            <a:pPr marL="12700">
              <a:spcBef>
                <a:spcPts val="1000"/>
              </a:spcBef>
              <a:tabLst>
                <a:tab pos="382905" algn="l"/>
                <a:tab pos="753745" algn="l"/>
                <a:tab pos="1124585" algn="l"/>
                <a:tab pos="1495425" algn="l"/>
              </a:tabLst>
            </a:pP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0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0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  <a:p>
            <a:pPr marL="12700">
              <a:spcBef>
                <a:spcPts val="1000"/>
              </a:spcBef>
              <a:tabLst>
                <a:tab pos="382905" algn="l"/>
                <a:tab pos="753745" algn="l"/>
                <a:tab pos="1124585" algn="l"/>
                <a:tab pos="1495425" algn="l"/>
              </a:tabLst>
            </a:pP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0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0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0</a:t>
            </a:r>
            <a:endParaRPr sz="1500">
              <a:latin typeface="Arial"/>
              <a:cs typeface="Arial"/>
            </a:endParaRPr>
          </a:p>
          <a:p>
            <a:pPr marL="12700">
              <a:spcBef>
                <a:spcPts val="1000"/>
              </a:spcBef>
              <a:tabLst>
                <a:tab pos="382905" algn="l"/>
                <a:tab pos="753745" algn="l"/>
                <a:tab pos="1124585" algn="l"/>
                <a:tab pos="1495425" algn="l"/>
              </a:tabLst>
            </a:pP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0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  <a:p>
            <a:pPr marL="12700">
              <a:spcBef>
                <a:spcPts val="1000"/>
              </a:spcBef>
              <a:tabLst>
                <a:tab pos="382905" algn="l"/>
                <a:tab pos="753745" algn="l"/>
                <a:tab pos="1124585" algn="l"/>
                <a:tab pos="1495425" algn="l"/>
              </a:tabLst>
            </a:pPr>
            <a:r>
              <a:rPr sz="1500" b="1" spc="-50" dirty="0">
                <a:latin typeface="Arial"/>
                <a:cs typeface="Arial"/>
              </a:rPr>
              <a:t>0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0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1</a:t>
            </a:r>
            <a:r>
              <a:rPr sz="1500" b="1" dirty="0">
                <a:latin typeface="Arial"/>
                <a:cs typeface="Arial"/>
              </a:rPr>
              <a:t>	</a:t>
            </a:r>
            <a:r>
              <a:rPr sz="1500" b="1" spc="-50" dirty="0">
                <a:latin typeface="Arial"/>
                <a:cs typeface="Arial"/>
              </a:rPr>
              <a:t>0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C14DF5CF-06A6-0888-BF0C-81FF7B68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5577D-660D-47F2-BF4D-E2FACDCC4897}" type="datetime1">
              <a:rPr lang="en-US" smtClean="0"/>
              <a:t>11/28/2025</a:t>
            </a:fld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4B792E25-4E54-1F6F-06F3-6D81F23F7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64FA9A3C-A7B6-E53E-28CF-9B3D41F63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240A9EC-B5CA-070C-B433-A14F9536F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771456"/>
            <a:ext cx="8813800" cy="4341576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AD815-5F58-4389-6CE1-A1A0BF253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lang="en-US" sz="2800" spc="-25" dirty="0">
                <a:latin typeface="Calibri"/>
                <a:cs typeface="Calibri"/>
              </a:rPr>
              <a:t>Node-</a:t>
            </a:r>
            <a:r>
              <a:rPr lang="en-US" sz="2800" dirty="0">
                <a:latin typeface="Calibri"/>
                <a:cs typeface="Calibri"/>
              </a:rPr>
              <a:t>level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task</a:t>
            </a:r>
            <a:endParaRPr lang="en-US" sz="2800" dirty="0">
              <a:latin typeface="Calibri"/>
              <a:cs typeface="Calibri"/>
            </a:endParaRPr>
          </a:p>
          <a:p>
            <a:r>
              <a:rPr lang="en-US" sz="2800" spc="-30" dirty="0">
                <a:latin typeface="Calibri"/>
                <a:cs typeface="Calibri"/>
              </a:rPr>
              <a:t>Edge-</a:t>
            </a:r>
            <a:r>
              <a:rPr lang="en-US" sz="2800" dirty="0">
                <a:latin typeface="Calibri"/>
                <a:cs typeface="Calibri"/>
              </a:rPr>
              <a:t>level</a:t>
            </a:r>
            <a:r>
              <a:rPr lang="en-US" sz="2800" spc="-30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task</a:t>
            </a:r>
            <a:endParaRPr lang="en-US" sz="2800" dirty="0">
              <a:latin typeface="Calibri"/>
              <a:cs typeface="Calibri"/>
            </a:endParaRPr>
          </a:p>
          <a:p>
            <a:r>
              <a:rPr lang="en-US" spc="-30" dirty="0">
                <a:latin typeface="Calibri"/>
                <a:cs typeface="Calibri"/>
              </a:rPr>
              <a:t>Graph-</a:t>
            </a:r>
            <a:r>
              <a:rPr lang="en-US" dirty="0">
                <a:latin typeface="Calibri"/>
                <a:cs typeface="Calibri"/>
              </a:rPr>
              <a:t>level</a:t>
            </a:r>
            <a:r>
              <a:rPr lang="en-US" spc="15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task</a:t>
            </a:r>
            <a:endParaRPr lang="en-US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744968"/>
            <a:ext cx="1097280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75" dirty="0"/>
              <a:t>Supervised </a:t>
            </a:r>
            <a:r>
              <a:rPr spc="-75" dirty="0"/>
              <a:t>Tasks</a:t>
            </a:r>
            <a:r>
              <a:rPr lang="en-US" spc="-75" dirty="0"/>
              <a:t> on Graph</a:t>
            </a:r>
            <a:endParaRPr spc="-75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9699C-7B2E-6628-377F-0D2A65158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C43E-9E3A-4E9D-BC1F-01AB479720C9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A3779-4140-C3ED-1315-FF8D4462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67E6D-A302-0CFD-345E-F6988E168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519BABE-DC35-84E1-99F5-9B1208702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Representation Learning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6E3098-1DBC-893D-5BC3-6803DBC45C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224" y="1620520"/>
            <a:ext cx="6793552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0F1E5B-4C40-6F19-633D-07940C423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26CEB-ED19-4301-A4FC-E45AE0586E87}" type="datetime1">
              <a:rPr lang="en-US" smtClean="0"/>
              <a:t>11/28/2025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11B5DC3-24B7-A440-790C-CE0221C57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AA3C37-3ACC-F697-BADF-9D1B87387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28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2B750-107E-5D2E-C0ED-DCF263DAD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</a:t>
            </a:r>
            <a:r>
              <a:rPr lang="en-US" dirty="0">
                <a:solidFill>
                  <a:srgbClr val="FFC000"/>
                </a:solidFill>
              </a:rPr>
              <a:t>Structural Node Representation</a:t>
            </a:r>
          </a:p>
          <a:p>
            <a:r>
              <a:rPr lang="en-US" dirty="0"/>
              <a:t>Per-Node </a:t>
            </a:r>
            <a:r>
              <a:rPr lang="en-US" dirty="0">
                <a:solidFill>
                  <a:srgbClr val="FFC000"/>
                </a:solidFill>
              </a:rPr>
              <a:t>Encoder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Pairwise Scoring Function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AFCDDF-3394-DF74-ECAA-AD3DE7BB8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Representation Learning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9564D2-1B3C-BBF4-6376-79B8F82D8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920" y="3048000"/>
            <a:ext cx="6962775" cy="291465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BC9F24-1CD5-7619-65F2-F5C9D65A2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1BD40-DB3F-4EC1-8E63-51DF27A21AB4}" type="datetime1">
              <a:rPr lang="en-US" smtClean="0"/>
              <a:t>11/28/2025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1C0F6F7-82B6-694B-CDB2-473AB9FAD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FD397D7-40AD-1D72-1DCA-6CF5DD9D2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31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DFC066-1A1A-FED9-1D5B-01C049900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No connection no penalty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9D2EB2B-42CE-4627-FCE9-06303548F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Representation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8EB101-A774-CB77-295F-AD4624B7B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895600"/>
            <a:ext cx="9267825" cy="26670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CEB23B-08B3-E536-C8D2-3E41ED969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5DF4-0EA7-49F9-B544-A5D9100BE047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7112B0-E6E2-F021-9387-69B949C57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F90022-BBBE-9C08-F0B6-E9BF43DCA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02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EC8F7E-B48E-8CC5-4B87-EE664979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Negative Sampling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53D3502-CA3C-B5A8-7284-24780EF3A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Representation Learning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C9A0F8-65AF-E13D-B3B7-F482C4976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99" y="2201864"/>
            <a:ext cx="8905413" cy="40767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7E9951-DC9A-EC6F-2CC3-4F60D79DF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16A4-4F71-45E6-8F2E-CE4B2A2E2655}" type="datetime1">
              <a:rPr lang="en-US" smtClean="0"/>
              <a:t>11/28/2025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44DE09B-22D5-8D19-7DA4-F3CF61BD7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512DE74-7347-EB25-AEAB-D3A536ED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039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841B59-1F21-7659-02B4-B98B433EF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Negative Sampling Loss: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41D6D7-F041-DC7F-D29E-201B79BA6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Representation Learning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1CDF48-8924-5A52-32F1-57DB0855C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209800"/>
            <a:ext cx="8168430" cy="406876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6229FC-A9CA-5B1F-4B29-8C2C1761A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ECE95-77E7-4189-BB52-A6E9A3F84F10}" type="datetime1">
              <a:rPr lang="en-US" smtClean="0"/>
              <a:t>11/28/2025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60975C3-C347-C89F-C6B6-3E021DB11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AB3FC81-E8F1-F344-0864-9BD3BCB2A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72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43BD5F9-6FFA-80CB-8CE5-E3B636815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4999" y="1694378"/>
            <a:ext cx="10190001" cy="4782622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1BC3DFA-08E6-3A41-742B-5F01BEABE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1697"/>
            <a:ext cx="10972800" cy="838200"/>
          </a:xfrm>
        </p:spPr>
        <p:txBody>
          <a:bodyPr/>
          <a:lstStyle/>
          <a:p>
            <a:r>
              <a:rPr lang="en-US" dirty="0"/>
              <a:t>Graph Representation Learning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7E82F7-9DA6-DBE7-99D8-A32939B01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237178"/>
            <a:ext cx="3679583" cy="23797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B36582-15D7-9CC0-8571-0835B8F028D0}"/>
              </a:ext>
            </a:extLst>
          </p:cNvPr>
          <p:cNvSpPr txBox="1"/>
          <p:nvPr/>
        </p:nvSpPr>
        <p:spPr>
          <a:xfrm>
            <a:off x="1828800" y="987752"/>
            <a:ext cx="381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Multi-Relational Graphs</a:t>
            </a:r>
            <a:endParaRPr lang="en-US" b="1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3FFC45-99AC-20DE-51A9-709E2E84B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5956-B48D-4EB9-832F-88BC4364F202}" type="datetime1">
              <a:rPr lang="en-US" smtClean="0"/>
              <a:t>11/28/2025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CD722D3-C47E-028D-BC4A-77F7A0B8D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A63A4D-10BF-8A01-2026-700C7DBC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50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A83D19-7CD7-714F-6AF4-FC5E98A3B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Relational Entity Embeddings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723D0C-762F-8004-6F35-BCABB11C6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Representation Learning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A28B50-C67C-281F-E2AA-D163640D7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286000"/>
            <a:ext cx="9710098" cy="28194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431746-7769-3891-D6DC-B8AF86D7E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4E150-9B52-4983-8C36-BF50B5A9EB04}" type="datetime1">
              <a:rPr lang="en-US" smtClean="0"/>
              <a:t>11/28/2025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B42029-BE16-783E-0D9F-08371F87F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7CD01E-B82E-88E0-9DBD-269C3E671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33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7593EF-5DBB-FD32-9FC6-90A6E2ED5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Limitations of Simple Embedding Learning:</a:t>
            </a:r>
          </a:p>
          <a:p>
            <a:r>
              <a:rPr lang="en-US" dirty="0"/>
              <a:t>Simple embeddings often </a:t>
            </a:r>
            <a:r>
              <a:rPr lang="en-US" dirty="0">
                <a:solidFill>
                  <a:srgbClr val="FF0000"/>
                </a:solidFill>
              </a:rPr>
              <a:t>ignore important graph structures </a:t>
            </a:r>
            <a:r>
              <a:rPr lang="en-US" dirty="0"/>
              <a:t>like neighborhoods, communities, or hierarchies</a:t>
            </a:r>
          </a:p>
          <a:p>
            <a:r>
              <a:rPr lang="en-US" dirty="0"/>
              <a:t>Simple methods usually work in a </a:t>
            </a:r>
            <a:r>
              <a:rPr lang="en-US" b="1" dirty="0" err="1"/>
              <a:t>transductive</a:t>
            </a:r>
            <a:r>
              <a:rPr lang="en-US" dirty="0"/>
              <a:t> setting (fixed nodes) and can't inductively infer </a:t>
            </a:r>
            <a:r>
              <a:rPr lang="en-US" dirty="0">
                <a:solidFill>
                  <a:srgbClr val="FF0000"/>
                </a:solidFill>
              </a:rPr>
              <a:t>embeddings for unseen nodes</a:t>
            </a:r>
            <a:r>
              <a:rPr lang="en-US" dirty="0"/>
              <a:t>.</a:t>
            </a:r>
          </a:p>
          <a:p>
            <a:r>
              <a:rPr lang="en-US" dirty="0"/>
              <a:t>Embeddings learned on one graph can't be easily </a:t>
            </a:r>
            <a:r>
              <a:rPr lang="en-US" dirty="0">
                <a:solidFill>
                  <a:srgbClr val="0099CC"/>
                </a:solidFill>
              </a:rPr>
              <a:t>transferred to another graph or a changing graph</a:t>
            </a:r>
            <a:r>
              <a:rPr lang="en-US" dirty="0"/>
              <a:t>.</a:t>
            </a:r>
          </a:p>
          <a:p>
            <a:r>
              <a:rPr lang="en-US" b="1" dirty="0"/>
              <a:t>Solutions: </a:t>
            </a:r>
            <a:r>
              <a:rPr lang="en-US" dirty="0"/>
              <a:t>Use </a:t>
            </a:r>
            <a:r>
              <a:rPr lang="en-US" dirty="0">
                <a:solidFill>
                  <a:srgbClr val="FFC000"/>
                </a:solidFill>
              </a:rPr>
              <a:t>Graph Neural Networks (GNNs)</a:t>
            </a:r>
            <a:r>
              <a:rPr lang="en-US" dirty="0"/>
              <a:t> to combine structure and node features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E2C9746-377E-8C8A-8F19-586A75B0B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Representation Learning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7F24B4-ECE9-5164-0A53-3D3BB2394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FBB9E-EC4C-4126-9F68-7308CAC38DDC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284035-A615-121C-67A1-98B5D3F58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6331F5-8495-307D-D33D-A276F432A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41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2D8381-CBB8-1405-F2F9-7763F90E7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-apple-system"/>
              </a:rPr>
              <a:t>Once the graph is in matrix format it can be described using graph neural networks (GNNs) to solve graph prediction tasks. </a:t>
            </a:r>
          </a:p>
          <a:p>
            <a:r>
              <a:rPr lang="en-US" b="1" i="0" dirty="0">
                <a:effectLst/>
                <a:latin typeface="-apple-system"/>
              </a:rPr>
              <a:t>A GNN is an optimizable transformation on all attributes of the graph (nodes, edges, global-context) that preserves graph symmetries (permutation invariances).</a:t>
            </a:r>
            <a:r>
              <a:rPr lang="en-US" b="0" i="0" dirty="0">
                <a:effectLst/>
                <a:latin typeface="-apple-system"/>
              </a:rPr>
              <a:t> </a:t>
            </a:r>
          </a:p>
          <a:p>
            <a:r>
              <a:rPr lang="en-US" b="0" i="0" dirty="0">
                <a:effectLst/>
                <a:latin typeface="-apple-system"/>
              </a:rPr>
              <a:t>GNNs can be build using the “message passing neural network” framework.</a:t>
            </a:r>
          </a:p>
          <a:p>
            <a:r>
              <a:rPr lang="en-US" b="0" i="0" dirty="0">
                <a:effectLst/>
                <a:latin typeface="-apple-system"/>
              </a:rPr>
              <a:t>Take graph as input and graph as output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04DAFB-38C7-B19E-0CC7-3106C1B80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56F3-C1D0-4246-A0F7-DEC850D6128D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8F16D-0BDB-9C6D-9DAD-78DF7498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360FD-09B2-82BF-8A63-15DFDF0B7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5889303-3032-3D9E-BF27-A38B4FBD1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Neural Networks (GNNs)</a:t>
            </a:r>
          </a:p>
        </p:txBody>
      </p:sp>
    </p:spTree>
    <p:extLst>
      <p:ext uri="{BB962C8B-B14F-4D97-AF65-F5344CB8AC3E}">
        <p14:creationId xmlns:p14="http://schemas.microsoft.com/office/powerpoint/2010/main" val="77139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654E35-12AD-FB36-4EC1-F82BF6512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393328"/>
                </a:solidFill>
                <a:latin typeface="HelveticaNeue-Bold"/>
              </a:rPr>
              <a:t>Main Idea</a:t>
            </a:r>
            <a:r>
              <a:rPr lang="en-US" sz="2000" b="0" i="0" u="none" strike="noStrike" baseline="0" dirty="0">
                <a:solidFill>
                  <a:srgbClr val="393328"/>
                </a:solidFill>
                <a:latin typeface="HelveticaNeue-Light"/>
              </a:rPr>
              <a:t>: Pass massages between pairs of nodes and agglomerate</a:t>
            </a:r>
          </a:p>
          <a:p>
            <a:pPr algn="l"/>
            <a:r>
              <a:rPr lang="en-US" sz="2000" b="1" i="0" u="none" strike="noStrike" baseline="0" dirty="0">
                <a:solidFill>
                  <a:srgbClr val="393328"/>
                </a:solidFill>
                <a:latin typeface="HelveticaNeue-Bold"/>
              </a:rPr>
              <a:t>Alternative Interpretation</a:t>
            </a:r>
            <a:r>
              <a:rPr lang="en-US" sz="2000" b="0" i="0" u="none" strike="noStrike" baseline="0" dirty="0">
                <a:solidFill>
                  <a:srgbClr val="393328"/>
                </a:solidFill>
                <a:latin typeface="HelveticaNeue-Light"/>
              </a:rPr>
              <a:t>: Pass massages between nodes to refine node (and possibly edge) representations</a:t>
            </a:r>
            <a:endParaRPr lang="en-US" sz="2000" b="0" i="0" u="none" strike="noStrike" baseline="0" dirty="0">
              <a:solidFill>
                <a:srgbClr val="000000"/>
              </a:solidFill>
              <a:latin typeface="HelveticaNeue-Bold"/>
            </a:endParaRPr>
          </a:p>
          <a:p>
            <a:endParaRPr lang="en-US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E7F22-11BC-83B9-CC4B-E0974F37B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F38-C071-4C4F-A990-2D496BA4F2F9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9C57F8-7477-B75D-821F-9B79C41B0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1EF44-53C9-5CB0-4D97-F01100F4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E6EF3B-9C86-B415-FC71-C941DEE5C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Neural Networks (GNNs)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3E53CE-A12F-C079-04B1-42D15FFA3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12107"/>
            <a:ext cx="6734872" cy="356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330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0983BCD-3995-2A00-7C80-F25A0ABB9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ACC42E-87BF-3F57-8416-F8DA8C347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03AC-E4C5-4087-8997-EE77A612BB68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590FEC-B690-D23D-6345-D3CDF50E6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3B67A-5F58-8127-A36E-E1E9B3640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C4FE35C-0AA3-BAFE-C775-A8937E7F6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Neural Networks (GNNs)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F698A-A2F5-0D1B-8378-F91D0A2A5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338" y="1912292"/>
            <a:ext cx="8231060" cy="410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68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004617-062E-1B3A-5F8E-3BA9B3E1E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simple GNN architecture, we learn new embeddings for all graph attributes (nodes, edges, global).</a:t>
            </a:r>
          </a:p>
          <a:p>
            <a:r>
              <a:rPr lang="en-US" b="0" i="0" dirty="0">
                <a:effectLst/>
                <a:latin typeface="-apple-system"/>
              </a:rPr>
              <a:t>This GNN uses a separate multilayer perceptron (MLP)</a:t>
            </a:r>
          </a:p>
          <a:p>
            <a:pPr lvl="1"/>
            <a:r>
              <a:rPr lang="en-US" sz="3200" b="0" i="0" dirty="0">
                <a:effectLst/>
                <a:latin typeface="-apple-system"/>
              </a:rPr>
              <a:t>GNN layer</a:t>
            </a:r>
          </a:p>
          <a:p>
            <a:r>
              <a:rPr lang="en-US" dirty="0">
                <a:latin typeface="-apple-system"/>
              </a:rPr>
              <a:t>For each node vector, apply the MLP and get a learned node-vector. </a:t>
            </a:r>
          </a:p>
          <a:p>
            <a:r>
              <a:rPr lang="en-US" dirty="0">
                <a:latin typeface="-apple-system"/>
              </a:rPr>
              <a:t>Same can be done for each edge, learning a per-edge embedding, and also for the global-context vector</a:t>
            </a:r>
          </a:p>
          <a:p>
            <a:pPr lvl="1"/>
            <a:r>
              <a:rPr lang="en-US" dirty="0">
                <a:latin typeface="-apple-system"/>
              </a:rPr>
              <a:t>Can learn the </a:t>
            </a:r>
            <a:r>
              <a:rPr lang="en-US" b="1" dirty="0">
                <a:latin typeface="-apple-system"/>
              </a:rPr>
              <a:t>entire graph</a:t>
            </a:r>
            <a:r>
              <a:rPr lang="en-US" dirty="0">
                <a:latin typeface="-apple-system"/>
              </a:rPr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36B11C-3C74-E23F-3987-2ACD3F92F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D7F85-1826-4D88-A777-2DFB8B8165FB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4B78EA-10ED-D2CE-43FD-21E9C7AD1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A6F0D-EB78-F918-07B4-BA962A27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FFA547-859D-846E-4B9E-DDA0F8E8A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Neural Networks (GNNs)</a:t>
            </a:r>
          </a:p>
        </p:txBody>
      </p:sp>
    </p:spTree>
    <p:extLst>
      <p:ext uri="{BB962C8B-B14F-4D97-AF65-F5344CB8AC3E}">
        <p14:creationId xmlns:p14="http://schemas.microsoft.com/office/powerpoint/2010/main" val="8804241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1ECB4DA-1041-1312-B13F-CA2C7DC68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6686" y="2220929"/>
            <a:ext cx="7018628" cy="3284505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E1CB9B-184D-B8EA-CB5D-3BD861780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5163E-D9E5-42D1-83F6-EBDBC520E1C9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DA156E-EF5B-65D2-85E1-E2685D105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3BB8E-55DD-FF12-7199-A6DA4966E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3CB7B27-B497-3449-7567-ACDA6F704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Neural Networks (GNNs)</a:t>
            </a:r>
          </a:p>
        </p:txBody>
      </p:sp>
    </p:spTree>
    <p:extLst>
      <p:ext uri="{BB962C8B-B14F-4D97-AF65-F5344CB8AC3E}">
        <p14:creationId xmlns:p14="http://schemas.microsoft.com/office/powerpoint/2010/main" val="18413461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E51DD1-B172-FE52-2C49-63CC7B226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defines how information flows and is updated across the nodes in a graph.</a:t>
            </a:r>
          </a:p>
          <a:p>
            <a:r>
              <a:rPr lang="en-US" dirty="0"/>
              <a:t>Each node updates its representation (embedding) by exchanging information with its neighbors.</a:t>
            </a:r>
          </a:p>
          <a:p>
            <a:r>
              <a:rPr lang="en-US" dirty="0"/>
              <a:t>Each node sends a </a:t>
            </a:r>
            <a:r>
              <a:rPr lang="en-US" b="1" dirty="0"/>
              <a:t>message</a:t>
            </a:r>
            <a:r>
              <a:rPr lang="en-US" dirty="0"/>
              <a:t> to its neighbors based on its current state: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BEEE3B-302C-EC08-06CF-06BBE1DDA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C584A-74B6-45B8-A8B0-692F4C6D4571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64E50A-01A9-C404-A19A-E51F7E667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39F38-C817-D224-0663-EFEEA395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A9552C0-8A84-B8F1-BE7D-7FCF8F9CF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Messagae</a:t>
            </a:r>
            <a:r>
              <a:rPr lang="en-US" dirty="0"/>
              <a:t> Passing Framework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A1A939-1D6E-B573-F318-F5361A870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193300"/>
            <a:ext cx="7278475" cy="205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12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E535A2-8E3C-DDF6-9651-562EFD821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Aggregation Function (Collect messages)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400" dirty="0"/>
          </a:p>
          <a:p>
            <a:r>
              <a:rPr lang="en-US" dirty="0"/>
              <a:t>Message passing with normalized sum aggregation and shared weights.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EDBC39-E53E-5ED4-9DA1-FA7CB4806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0F84-EB03-48E2-A4CD-A7C7E2E60A69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D23E0C-2DC9-EAF6-AFC3-3563C895E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30570D-1788-8C46-E41C-4EDEEE2A3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5EFB044-6836-1864-4E95-6D5FB01A0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Framework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D262AF-8D0F-DE6C-02F5-3ED350DCB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362200"/>
            <a:ext cx="8405447" cy="2133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4888B3-0AD8-FE32-9FD9-248EFCE4E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916295"/>
            <a:ext cx="4646798" cy="122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62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4545BEC9-3DE5-1863-4AB1-C808EC8EAA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55076" y="1600200"/>
            <a:ext cx="9881847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12E5C-FC49-A749-49F5-0D7B68697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F67D8-4272-4192-A7BD-1E2350E65676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950A7-92D1-8DE7-AFCE-9BAFA729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1D91B7-4624-E2D1-D866-F0929180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CBF977E-3A7E-3614-1A89-0089CBFC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 GNNs</a:t>
            </a:r>
          </a:p>
        </p:txBody>
      </p:sp>
    </p:spTree>
    <p:extLst>
      <p:ext uri="{BB962C8B-B14F-4D97-AF65-F5344CB8AC3E}">
        <p14:creationId xmlns:p14="http://schemas.microsoft.com/office/powerpoint/2010/main" val="27470841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72E1AE-D48E-1903-F066-A63817F7B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GNN architectures</a:t>
            </a:r>
            <a:r>
              <a:rPr lang="en-US" dirty="0"/>
              <a:t> are neural network models specifically designed to operate on </a:t>
            </a:r>
            <a:r>
              <a:rPr lang="en-US" b="1" dirty="0"/>
              <a:t>graph-structured data</a:t>
            </a:r>
            <a:r>
              <a:rPr lang="en-US" dirty="0"/>
              <a:t>. </a:t>
            </a:r>
          </a:p>
          <a:p>
            <a:r>
              <a:rPr lang="en-US" dirty="0"/>
              <a:t>They are built upon the </a:t>
            </a:r>
            <a:r>
              <a:rPr lang="en-US" b="1" dirty="0"/>
              <a:t>message passing framework</a:t>
            </a:r>
            <a:r>
              <a:rPr lang="en-US" dirty="0"/>
              <a:t>, where each node updates its representation by aggregating information from its neighbors.</a:t>
            </a:r>
          </a:p>
          <a:p>
            <a:r>
              <a:rPr lang="en-US" dirty="0"/>
              <a:t>These models differ in: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How they aggregate information</a:t>
            </a:r>
            <a:r>
              <a:rPr lang="en-US" dirty="0"/>
              <a:t> from neighbors,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Whether they support inductive learning</a:t>
            </a:r>
            <a:r>
              <a:rPr lang="en-US" dirty="0"/>
              <a:t> (generalizing to unseen data),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How scalable</a:t>
            </a:r>
            <a:r>
              <a:rPr lang="en-US" dirty="0"/>
              <a:t> they are.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328C2C-D194-8ADA-5C0F-F56BEB66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161D1-90BD-458E-A6E1-A13BF62FC218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FBA0FA-84C0-41F8-EA5B-7F6468316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C2CF8-EF36-BF60-BEEC-94D9BEE0E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55CEB66-3058-7D6D-AD6E-A98E8E71B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Basic GNN Architectures?</a:t>
            </a:r>
          </a:p>
        </p:txBody>
      </p:sp>
    </p:spTree>
    <p:extLst>
      <p:ext uri="{BB962C8B-B14F-4D97-AF65-F5344CB8AC3E}">
        <p14:creationId xmlns:p14="http://schemas.microsoft.com/office/powerpoint/2010/main" val="34153447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AF3A89-7728-063E-DDEC-B7D61F1EB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Introduced by: </a:t>
            </a:r>
            <a:r>
              <a:rPr lang="en-US" dirty="0"/>
              <a:t>Kipf &amp; Welling (2017)</a:t>
            </a:r>
          </a:p>
          <a:p>
            <a:r>
              <a:rPr lang="en-US" dirty="0"/>
              <a:t>Core Idea: Nodes update their features by taking a weighted average of their neighbors’ features.</a:t>
            </a:r>
          </a:p>
          <a:p>
            <a:r>
              <a:rPr lang="en-US" b="1" dirty="0"/>
              <a:t>Used for</a:t>
            </a:r>
            <a:r>
              <a:rPr lang="en-US" dirty="0"/>
              <a:t>: Semi-supervised node classification</a:t>
            </a:r>
          </a:p>
          <a:p>
            <a:r>
              <a:rPr lang="en-US" dirty="0"/>
              <a:t>GCNs extend the idea of </a:t>
            </a:r>
            <a:r>
              <a:rPr lang="en-US" b="1" dirty="0"/>
              <a:t>convolutions</a:t>
            </a:r>
            <a:r>
              <a:rPr lang="en-US" dirty="0"/>
              <a:t> from grids (like images) to </a:t>
            </a:r>
            <a:r>
              <a:rPr lang="en-US" b="1" dirty="0"/>
              <a:t>non-Euclidean structures</a:t>
            </a:r>
            <a:r>
              <a:rPr lang="en-US" dirty="0"/>
              <a:t> (graphs).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In images: </a:t>
            </a:r>
            <a:r>
              <a:rPr lang="en-US" dirty="0"/>
              <a:t>each pixel aggregates information from neighboring pixels using convolution filters.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In graphs: </a:t>
            </a:r>
            <a:r>
              <a:rPr lang="en-US" dirty="0"/>
              <a:t>each </a:t>
            </a:r>
            <a:r>
              <a:rPr lang="en-US" b="1" dirty="0"/>
              <a:t>node aggregates features from its neighbors</a:t>
            </a:r>
            <a:r>
              <a:rPr lang="en-US" dirty="0"/>
              <a:t>, regardless of how many or how they are arranged.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A48B95-31E0-47A0-DC8C-CBC41012B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4374F-62C1-48CD-90B6-37E1D504BB41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219EA0-9AD5-754D-DB77-48600AC70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BE3EE-72F5-58F1-EE69-DA591F422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63FEDA5-4BCA-31CD-55CA-890FCF9A3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Convolutional Networks (GCN)</a:t>
            </a:r>
          </a:p>
        </p:txBody>
      </p:sp>
    </p:spTree>
    <p:extLst>
      <p:ext uri="{BB962C8B-B14F-4D97-AF65-F5344CB8AC3E}">
        <p14:creationId xmlns:p14="http://schemas.microsoft.com/office/powerpoint/2010/main" val="8935391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8F6CE4D-60A1-88FB-E291-4D5001337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4612" y="1600200"/>
            <a:ext cx="9402775" cy="452596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C640AC-FEA5-E25A-7413-7454AA3C4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120E-A2DE-4D3E-B618-3B96FC28CC4E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5B7E1-972F-FE3A-D34E-C88FAD120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CDA5B6-4BC5-402B-3653-6DC59538D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C5BA985-5D4F-E303-53A6-0303DA60C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Convolutional Networks (GCN)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8416DA-7245-231D-B0A2-01B02265162A}"/>
              </a:ext>
            </a:extLst>
          </p:cNvPr>
          <p:cNvSpPr txBox="1"/>
          <p:nvPr/>
        </p:nvSpPr>
        <p:spPr>
          <a:xfrm>
            <a:off x="1143000" y="1447801"/>
            <a:ext cx="79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393328"/>
                </a:solidFill>
                <a:latin typeface="HelveticaNeue-Light"/>
              </a:rPr>
              <a:t>Convolutional Neural Networks (CNNs) on Grids as message passing</a:t>
            </a:r>
            <a:endParaRPr lang="en-US" sz="1800" b="0" i="0" u="none" strike="noStrike" baseline="0" dirty="0">
              <a:solidFill>
                <a:srgbClr val="000000"/>
              </a:solidFill>
              <a:latin typeface="HelveticaNeue-Light"/>
            </a:endParaRPr>
          </a:p>
        </p:txBody>
      </p:sp>
    </p:spTree>
    <p:extLst>
      <p:ext uri="{BB962C8B-B14F-4D97-AF65-F5344CB8AC3E}">
        <p14:creationId xmlns:p14="http://schemas.microsoft.com/office/powerpoint/2010/main" val="19161863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68941CD-6AC1-29D4-E855-F8CE10614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9833" y="1600200"/>
            <a:ext cx="5792333" cy="452596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0C78F-50B9-09CB-0027-03C5CCA6C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2524-DCE9-4FD5-9FCE-99C4E868A125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6FD858-3416-128F-BBD8-DD80E253E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FA0126-0697-E5C3-AA1C-AD23B88F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21FB5FE-5069-6FD6-BDEE-093F5A144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Convolutional Networks (GCN)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01216F-3B4D-4A01-52CB-989FD661F46E}"/>
              </a:ext>
            </a:extLst>
          </p:cNvPr>
          <p:cNvSpPr txBox="1"/>
          <p:nvPr/>
        </p:nvSpPr>
        <p:spPr>
          <a:xfrm>
            <a:off x="8153400" y="5455541"/>
            <a:ext cx="3810000" cy="646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rgbClr val="0F22B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normalization may help contain the gradients.</a:t>
            </a:r>
          </a:p>
        </p:txBody>
      </p:sp>
    </p:spTree>
    <p:extLst>
      <p:ext uri="{BB962C8B-B14F-4D97-AF65-F5344CB8AC3E}">
        <p14:creationId xmlns:p14="http://schemas.microsoft.com/office/powerpoint/2010/main" val="8453436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F1D09-3572-B8C0-B8AA-14D906F04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D134EE3-58AF-D819-7C05-25E35C533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667" y="1570037"/>
            <a:ext cx="5792333" cy="452596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664390-106E-9685-EF58-7873E4F99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50E80-A8BE-4A3A-BC29-341CDCBA3F6C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567F76-1C68-B384-B0D5-25261C3DC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D5111-BA03-11AB-B10D-2B4360554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F3106F-1826-3A5A-0D97-31B40C90D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Convolution-based Graph Neural Networks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57ABFEB-2E31-1468-39ED-7672FD4F4A43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791200" y="1676400"/>
            <a:ext cx="6400800" cy="48768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Weight sharing over all locations</a:t>
            </a:r>
          </a:p>
          <a:p>
            <a:pPr lvl="1"/>
            <a:r>
              <a:rPr lang="en-US" dirty="0"/>
              <a:t>Fewer parameters (parameter efficiency)</a:t>
            </a:r>
          </a:p>
          <a:p>
            <a:pPr lvl="1"/>
            <a:r>
              <a:rPr lang="en-US" dirty="0"/>
              <a:t>Better generalization</a:t>
            </a:r>
          </a:p>
          <a:p>
            <a:pPr lvl="1"/>
            <a:r>
              <a:rPr lang="en-US" dirty="0"/>
              <a:t>Makes GCNs scalable to large graphs</a:t>
            </a:r>
          </a:p>
          <a:p>
            <a:r>
              <a:rPr lang="en-US" dirty="0">
                <a:solidFill>
                  <a:srgbClr val="FFC000"/>
                </a:solidFill>
              </a:rPr>
              <a:t>Invariance to permutations </a:t>
            </a:r>
            <a:r>
              <a:rPr lang="en-US" dirty="0"/>
              <a:t>as GCNs aggregate over sets of neighbors, not sequences.</a:t>
            </a:r>
          </a:p>
          <a:p>
            <a:r>
              <a:rPr lang="en-US" dirty="0"/>
              <a:t>Applicable both in </a:t>
            </a:r>
            <a:r>
              <a:rPr lang="en-US" dirty="0" err="1">
                <a:solidFill>
                  <a:srgbClr val="00B0F0"/>
                </a:solidFill>
              </a:rPr>
              <a:t>transductive</a:t>
            </a:r>
            <a:r>
              <a:rPr lang="en-US" dirty="0"/>
              <a:t> and inductive settings</a:t>
            </a:r>
          </a:p>
          <a:p>
            <a:pPr lvl="1"/>
            <a:r>
              <a:rPr lang="en-US" b="1" dirty="0" err="1"/>
              <a:t>Transductive</a:t>
            </a:r>
            <a:r>
              <a:rPr lang="en-US" b="1" dirty="0"/>
              <a:t> learning: </a:t>
            </a:r>
            <a:r>
              <a:rPr lang="en-US" dirty="0"/>
              <a:t>The model is trained and tested on a single fixed graph.</a:t>
            </a:r>
          </a:p>
          <a:p>
            <a:pPr lvl="1"/>
            <a:r>
              <a:rPr lang="en-US" b="1" dirty="0"/>
              <a:t>Inductive learning: </a:t>
            </a:r>
            <a:r>
              <a:rPr lang="en-US" dirty="0"/>
              <a:t>The model is trained on one graph and can be applied to unseen nodes or new graphs.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5227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787899E-7943-A5D3-3F0A-C933EC8037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776588"/>
            <a:ext cx="10972800" cy="4173186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FA5758-4955-E775-ABD9-4DA9548A0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6C0FF-3F50-4A1A-83F0-69F23E9C52FA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33B99-E97F-E8D2-1548-DAC8D53D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1774F-0DDC-B94B-82D3-DBE7E016E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A974216-11D5-EF3D-FA6C-D134FC20E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Learned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5630628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9801C6-F159-CBF2-DB2F-87AF9B5CE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Graph Neural Networks (GNNs) for Combining Structure and Node Features</a:t>
            </a:r>
            <a:br>
              <a:rPr lang="en-US" dirty="0"/>
            </a:br>
            <a:r>
              <a:rPr lang="en-US" dirty="0"/>
              <a:t>Zhou, J., Cui, G., Hu, S., Zhang, Z., Yang, C., Liu, Z., Wang, L., Li, C., &amp; Sun, M. (2018). </a:t>
            </a:r>
            <a:r>
              <a:rPr lang="en-US" i="1" dirty="0"/>
              <a:t>Graph Neural Networks: A Review of Methods and Applications</a:t>
            </a:r>
            <a:r>
              <a:rPr lang="en-US" dirty="0"/>
              <a:t>. </a:t>
            </a:r>
            <a:r>
              <a:rPr lang="en-US" dirty="0" err="1"/>
              <a:t>arXiv</a:t>
            </a:r>
            <a:r>
              <a:rPr lang="en-US" dirty="0"/>
              <a:t> preprint arXiv:1812.08434. </a:t>
            </a:r>
          </a:p>
          <a:p>
            <a:pPr>
              <a:buFont typeface="+mj-lt"/>
              <a:buAutoNum type="arabicPeriod"/>
            </a:pPr>
            <a:r>
              <a:rPr lang="en-US" b="1" dirty="0" err="1"/>
              <a:t>GraphSAGE</a:t>
            </a:r>
            <a:r>
              <a:rPr lang="en-US" b="1" dirty="0"/>
              <a:t> for Inductive Learning on Large Graphs</a:t>
            </a:r>
            <a:br>
              <a:rPr lang="en-US" dirty="0"/>
            </a:br>
            <a:r>
              <a:rPr lang="en-US" dirty="0"/>
              <a:t>Hamilton, W. L., Ying, R., &amp; Leskovec, J. (2017). </a:t>
            </a:r>
            <a:r>
              <a:rPr lang="en-US" i="1" dirty="0"/>
              <a:t>Inductive Representation Learning on Large Graphs</a:t>
            </a:r>
            <a:r>
              <a:rPr lang="en-US" dirty="0"/>
              <a:t>. In </a:t>
            </a:r>
            <a:r>
              <a:rPr lang="en-US" i="1" dirty="0"/>
              <a:t>Advances in Neural Information Processing Systems</a:t>
            </a:r>
            <a:r>
              <a:rPr lang="en-US" dirty="0"/>
              <a:t> (pp. 1024–1034).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Multi-Hop Neighborhood Aggregation</a:t>
            </a:r>
            <a:br>
              <a:rPr lang="en-US" dirty="0"/>
            </a:br>
            <a:r>
              <a:rPr lang="en-US" dirty="0"/>
              <a:t>Sun, Z., Wang, C., Hu, W., Chen, M., Dai, J., Zhang, W., &amp; Qu, Y. (2019). </a:t>
            </a:r>
            <a:r>
              <a:rPr lang="en-US" i="1" dirty="0"/>
              <a:t>Knowledge Graph Alignment Network with Gated Multi-hop Neighborhood Aggregation</a:t>
            </a:r>
            <a:r>
              <a:rPr lang="en-US" dirty="0"/>
              <a:t>. </a:t>
            </a:r>
            <a:r>
              <a:rPr lang="en-US" dirty="0" err="1"/>
              <a:t>arXiv</a:t>
            </a:r>
            <a:r>
              <a:rPr lang="en-US" dirty="0"/>
              <a:t> preprint arXiv:1911.08936.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Hierarchical or Multi-Scale Representations</a:t>
            </a:r>
            <a:br>
              <a:rPr lang="en-US" dirty="0"/>
            </a:br>
            <a:r>
              <a:rPr lang="en-US" dirty="0"/>
              <a:t>Sun, Y., Zhu, D., Du, H., &amp; Tian, Z. (2021). </a:t>
            </a:r>
            <a:r>
              <a:rPr lang="en-US" i="1" dirty="0"/>
              <a:t>MHNF: Multi-hop Heterogeneous Neighborhood Information Fusion Graph Representation Learning</a:t>
            </a:r>
            <a:r>
              <a:rPr lang="en-US" dirty="0"/>
              <a:t>. </a:t>
            </a:r>
            <a:r>
              <a:rPr lang="en-US" dirty="0" err="1"/>
              <a:t>arXiv</a:t>
            </a:r>
            <a:r>
              <a:rPr lang="en-US" dirty="0"/>
              <a:t> preprint arXiv:2106.09289.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Regularization to Avoid Overfitting</a:t>
            </a:r>
            <a:br>
              <a:rPr lang="en-US" dirty="0"/>
            </a:br>
            <a:r>
              <a:rPr lang="en-US" dirty="0"/>
              <a:t>Zhang, L., &amp; Sun, L. (2020). </a:t>
            </a:r>
            <a:r>
              <a:rPr lang="en-US" i="1" dirty="0"/>
              <a:t>Graph-based Regularization on Embedding Layers for Recommender Systems</a:t>
            </a:r>
            <a:r>
              <a:rPr lang="en-US" dirty="0"/>
              <a:t>. In </a:t>
            </a:r>
            <a:r>
              <a:rPr lang="en-US" i="1" dirty="0"/>
              <a:t>Proceedings of the 29th ACM International Conference on Information &amp; Knowledge Management</a:t>
            </a:r>
            <a:r>
              <a:rPr lang="en-US" dirty="0"/>
              <a:t> (pp. 1395–1404).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54D0A8-CF8D-842E-AB5B-9FA214F41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BA1A01-00F1-9BFF-D9C3-35685B5D7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8FA1-7C1B-44CC-9832-BB5DC4487A68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60D32-87FC-70E2-C061-1135D3DDB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6C236-B763-6B1F-16EC-6F1A61309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478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C232-B888-0EB2-61B2-BEB4A983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C1AA-A3FB-9995-AC6E-943FF959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62930-1E6D-DB8B-BF0D-190341163676}"/>
              </a:ext>
            </a:extLst>
          </p:cNvPr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6A714-E99E-953C-6997-CBEDBD4E5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7BD30-6276-4F6B-ABD3-05A4EE61D68E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6729B-CDCF-6657-1466-1F4C73AC4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8372F-2F12-66FC-5B64-98D81ADDA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0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42221</TotalTime>
  <Words>2715</Words>
  <Application>Microsoft Office PowerPoint</Application>
  <PresentationFormat>Widescreen</PresentationFormat>
  <Paragraphs>404</Paragraphs>
  <Slides>40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2" baseType="lpstr">
      <vt:lpstr>SimSun</vt:lpstr>
      <vt:lpstr>-apple-system</vt:lpstr>
      <vt:lpstr>arial</vt:lpstr>
      <vt:lpstr>arial</vt:lpstr>
      <vt:lpstr>Arial MT</vt:lpstr>
      <vt:lpstr>Calibri</vt:lpstr>
      <vt:lpstr>Cambria Math</vt:lpstr>
      <vt:lpstr>Georgia</vt:lpstr>
      <vt:lpstr>HelveticaNeue-Bold</vt:lpstr>
      <vt:lpstr>HelveticaNeue-Light</vt:lpstr>
      <vt:lpstr>Wingdings</vt:lpstr>
      <vt:lpstr>Office Theme</vt:lpstr>
      <vt:lpstr>PowerPoint Presentation</vt:lpstr>
      <vt:lpstr>Goals</vt:lpstr>
      <vt:lpstr>Deep Learning Approach</vt:lpstr>
      <vt:lpstr>Deep Learning Approach</vt:lpstr>
      <vt:lpstr>Graphs are structured data</vt:lpstr>
      <vt:lpstr>Graphs are structured data</vt:lpstr>
      <vt:lpstr>Graphs are structured data</vt:lpstr>
      <vt:lpstr>Graphs are structured data</vt:lpstr>
      <vt:lpstr>Graph-structured data</vt:lpstr>
      <vt:lpstr>Graph and Networks</vt:lpstr>
      <vt:lpstr>Images are graphs</vt:lpstr>
      <vt:lpstr>Text as graphs</vt:lpstr>
      <vt:lpstr>Graph Representation Learning</vt:lpstr>
      <vt:lpstr>Graph Representation: Adjacency Matrix: A</vt:lpstr>
      <vt:lpstr>Graph-structured data</vt:lpstr>
      <vt:lpstr>Supervised Tasks on Graph</vt:lpstr>
      <vt:lpstr>Graph Representation Learning</vt:lpstr>
      <vt:lpstr>Graph Representation Learning</vt:lpstr>
      <vt:lpstr>Graph Representation Learning</vt:lpstr>
      <vt:lpstr>Graph Representation Learning</vt:lpstr>
      <vt:lpstr>Graph Representation Learning</vt:lpstr>
      <vt:lpstr>Graph Representation Learning</vt:lpstr>
      <vt:lpstr>Graph Representation Learning</vt:lpstr>
      <vt:lpstr>Graph Representation Learning</vt:lpstr>
      <vt:lpstr>Graph Neural Networks (GNNs)</vt:lpstr>
      <vt:lpstr>Graph Neural Networks (GNNs) </vt:lpstr>
      <vt:lpstr>Graph Neural Networks (GNNs)</vt:lpstr>
      <vt:lpstr>Graph Neural Networks (GNNs)</vt:lpstr>
      <vt:lpstr>Graph Neural Networks (GNNs)</vt:lpstr>
      <vt:lpstr>Messagae Passing Framework</vt:lpstr>
      <vt:lpstr>Message Passing Framework</vt:lpstr>
      <vt:lpstr>Working of GNNs</vt:lpstr>
      <vt:lpstr>What Are Basic GNN Architectures?</vt:lpstr>
      <vt:lpstr>Graph Convolutional Networks (GCN)</vt:lpstr>
      <vt:lpstr>Graph Convolutional Networks (GCN)</vt:lpstr>
      <vt:lpstr>Graph Convolutional Networks (GCN)</vt:lpstr>
      <vt:lpstr>Convolution-based Graph Neural Networks </vt:lpstr>
      <vt:lpstr>Learned Representations</vt:lpstr>
      <vt:lpstr>References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Noshina Tariq</cp:lastModifiedBy>
  <cp:revision>2190</cp:revision>
  <dcterms:created xsi:type="dcterms:W3CDTF">2006-08-16T00:00:00Z</dcterms:created>
  <dcterms:modified xsi:type="dcterms:W3CDTF">2025-11-28T15:58:19Z</dcterms:modified>
</cp:coreProperties>
</file>