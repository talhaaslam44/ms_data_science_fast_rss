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9"/>
  </p:notesMasterIdLst>
  <p:sldIdLst>
    <p:sldId id="352" r:id="rId2"/>
    <p:sldId id="421" r:id="rId3"/>
    <p:sldId id="1643" r:id="rId4"/>
    <p:sldId id="1782" r:id="rId5"/>
    <p:sldId id="257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1775" r:id="rId14"/>
    <p:sldId id="1776" r:id="rId15"/>
    <p:sldId id="1777" r:id="rId16"/>
    <p:sldId id="1778" r:id="rId17"/>
    <p:sldId id="271" r:id="rId18"/>
    <p:sldId id="272" r:id="rId19"/>
    <p:sldId id="275" r:id="rId20"/>
    <p:sldId id="276" r:id="rId21"/>
    <p:sldId id="277" r:id="rId22"/>
    <p:sldId id="278" r:id="rId23"/>
    <p:sldId id="1739" r:id="rId24"/>
    <p:sldId id="1740" r:id="rId25"/>
    <p:sldId id="1779" r:id="rId26"/>
    <p:sldId id="1780" r:id="rId27"/>
    <p:sldId id="1781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15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>
      <p:cViewPr varScale="1">
        <p:scale>
          <a:sx n="63" d="100"/>
          <a:sy n="63" d="100"/>
        </p:scale>
        <p:origin x="912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EC161F6-1670-4B85-B46A-322D42DAC3EE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Dr. Noshina Tariq with thanks to Dr. AKHTAR JAMIL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107-5131-482B-86FF-BC2AF5A1B7F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E95-1EDB-4584-9D5C-01220610CF4B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6C68-21D1-4735-A4CA-6C8849F34F7F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716E-F0E2-4F9C-B024-6D1CD094D5D0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C98F-2531-46E5-99B5-D5ACD11D24B6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17D30-3B49-46CE-870D-A2A3FE723728}" type="datetime1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B472-51EE-48A8-8DF1-25773A020402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730B0-C238-4DE1-858A-B29EC6E71BFD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BF285-7CC3-4526-A138-8E7A1D94CC46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F4E1-56E8-4A37-8899-5ECABB1B9998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C296C0A-1841-4B8E-A63C-D2C6E8651EE3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Dr. Noshina Tariq with thanks to Dr. AKHTAR JAMIL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9" Type="http://schemas.openxmlformats.org/officeDocument/2006/relationships/image" Target="../media/image44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0" Type="http://schemas.openxmlformats.org/officeDocument/2006/relationships/image" Target="../media/image35.png"/><Relationship Id="rId41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0.jpg"/><Relationship Id="rId7" Type="http://schemas.openxmlformats.org/officeDocument/2006/relationships/image" Target="../media/image6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10" Type="http://schemas.openxmlformats.org/officeDocument/2006/relationships/image" Target="../media/image78.png"/><Relationship Id="rId4" Type="http://schemas.openxmlformats.org/officeDocument/2006/relationships/image" Target="../media/image81.jpg"/><Relationship Id="rId9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jpg"/><Relationship Id="rId7" Type="http://schemas.openxmlformats.org/officeDocument/2006/relationships/image" Target="../media/image6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81.jp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0.jpg"/><Relationship Id="rId7" Type="http://schemas.openxmlformats.org/officeDocument/2006/relationships/image" Target="../media/image6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10" Type="http://schemas.openxmlformats.org/officeDocument/2006/relationships/image" Target="../media/image78.png"/><Relationship Id="rId4" Type="http://schemas.openxmlformats.org/officeDocument/2006/relationships/image" Target="../media/image81.jpg"/><Relationship Id="rId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FA1F-74B8-4FC9-8D5E-48C00DE6E56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55841" y="840211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rgbClr val="0099CC"/>
                </a:solidFill>
                <a:latin typeface="arial" panose="020B0604020202020204" pitchFamily="34" charset="0"/>
              </a:rPr>
              <a:t>The National University of Computer and Emerging Sciences</a:t>
            </a:r>
            <a:endParaRPr lang="en-US" sz="28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72985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Recurrent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Noshina Tariq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AI and 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Deep Learning 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3085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Long-Short Term Memory (LSTM)</a:t>
            </a:r>
          </a:p>
          <a:p>
            <a:pPr lvl="1"/>
            <a:r>
              <a:rPr lang="en-US" dirty="0"/>
              <a:t>Gated Recurrent Units (GRU)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ABE3E-2D20-4449-9550-85E8FBFB0A36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3BE0C0-1E11-4C11-9F6F-0FE900F5B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Long Short-Term Memory units (LSTM) </a:t>
            </a:r>
          </a:p>
          <a:p>
            <a:r>
              <a:rPr lang="en-US" sz="3200" dirty="0">
                <a:solidFill>
                  <a:srgbClr val="FF0000"/>
                </a:solidFill>
              </a:rPr>
              <a:t>Gated Recurrent Unit (GRU) </a:t>
            </a:r>
          </a:p>
          <a:p>
            <a:pPr fontAlgn="ctr"/>
            <a:r>
              <a:rPr lang="en-US" sz="3200" dirty="0"/>
              <a:t>Bidirectional (BRNN)</a:t>
            </a:r>
          </a:p>
          <a:p>
            <a:pPr fontAlgn="ctr"/>
            <a:r>
              <a:rPr lang="en-US" sz="3200" dirty="0"/>
              <a:t>Deep (DRNN)</a:t>
            </a:r>
          </a:p>
          <a:p>
            <a:pPr fontAlgn="ctr"/>
            <a:r>
              <a:rPr lang="en-US" sz="3200" dirty="0"/>
              <a:t>Attention model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A4BCB-38E7-40FC-9741-CC79ADE4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14EA-1DB5-4D94-9EA5-C580E0DC1A1F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64B0F-8F99-4BFA-A810-4530DCCF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2A933-B160-4E81-A5DE-966A7C03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CFB31-6D7D-4BDB-8F95-399488A2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RNN</a:t>
            </a:r>
          </a:p>
        </p:txBody>
      </p:sp>
    </p:spTree>
    <p:extLst>
      <p:ext uri="{BB962C8B-B14F-4D97-AF65-F5344CB8AC3E}">
        <p14:creationId xmlns:p14="http://schemas.microsoft.com/office/powerpoint/2010/main" val="180731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D11BE-F118-0AF5-EBC9-E694C108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CAC9-2751-439D-A9B3-CB4FBCF1B2B1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C12B7-2D9C-7628-138F-F2EFB24E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54FAD-2969-6C1F-2BE7-5EFFBFF8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8A3706-408F-5775-BC66-21CF8545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09900"/>
            <a:ext cx="10972800" cy="838200"/>
          </a:xfrm>
        </p:spPr>
        <p:txBody>
          <a:bodyPr/>
          <a:lstStyle/>
          <a:p>
            <a:r>
              <a:rPr lang="en-US" dirty="0"/>
              <a:t>Long</a:t>
            </a:r>
            <a:r>
              <a:rPr lang="en-US" spc="-62" dirty="0"/>
              <a:t> </a:t>
            </a:r>
            <a:r>
              <a:rPr lang="en-US" dirty="0"/>
              <a:t>Short</a:t>
            </a:r>
            <a:r>
              <a:rPr lang="en-US" spc="-40" dirty="0"/>
              <a:t> </a:t>
            </a:r>
            <a:r>
              <a:rPr lang="en-US" spc="-49" dirty="0"/>
              <a:t>Term</a:t>
            </a:r>
            <a:r>
              <a:rPr lang="en-US" spc="-66" dirty="0"/>
              <a:t> </a:t>
            </a:r>
            <a:r>
              <a:rPr lang="en-US" dirty="0"/>
              <a:t>Memory</a:t>
            </a:r>
            <a:r>
              <a:rPr lang="en-US" spc="-75" dirty="0"/>
              <a:t> </a:t>
            </a:r>
            <a:r>
              <a:rPr lang="en-US" spc="-18" dirty="0"/>
              <a:t>Networks</a:t>
            </a:r>
            <a:r>
              <a:rPr lang="en-US" spc="-75" dirty="0"/>
              <a:t> </a:t>
            </a:r>
            <a:r>
              <a:rPr lang="en-US" dirty="0"/>
              <a:t>-</a:t>
            </a:r>
            <a:r>
              <a:rPr lang="en-US" spc="-49" dirty="0"/>
              <a:t> </a:t>
            </a:r>
            <a:r>
              <a:rPr lang="en-US" spc="-9" dirty="0"/>
              <a:t>LSTMs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0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Long</a:t>
            </a:r>
            <a:r>
              <a:rPr spc="-62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spc="-49" dirty="0"/>
              <a:t>Term</a:t>
            </a:r>
            <a:r>
              <a:rPr spc="-66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8" dirty="0"/>
              <a:t>Networks</a:t>
            </a:r>
            <a:r>
              <a:rPr spc="-75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3500" y="1701970"/>
            <a:ext cx="9525000" cy="2258846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6502" marR="4483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sz="2030" dirty="0">
                <a:latin typeface="Calibri"/>
                <a:cs typeface="Calibri"/>
              </a:rPr>
              <a:t>Long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Short</a:t>
            </a:r>
            <a:r>
              <a:rPr sz="2030" spc="-35" dirty="0">
                <a:latin typeface="Calibri"/>
                <a:cs typeface="Calibri"/>
              </a:rPr>
              <a:t> Term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Memory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networks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usually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just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called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“LSTMs”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spc="-22" dirty="0">
                <a:solidFill>
                  <a:srgbClr val="0099CC"/>
                </a:solidFill>
                <a:latin typeface="Calibri"/>
                <a:cs typeface="Calibri"/>
              </a:rPr>
              <a:t>are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a</a:t>
            </a:r>
            <a:r>
              <a:rPr sz="2030" spc="-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special</a:t>
            </a:r>
            <a:r>
              <a:rPr sz="2030" spc="-18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kind</a:t>
            </a:r>
            <a:r>
              <a:rPr sz="2030" spc="-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of</a:t>
            </a:r>
            <a:r>
              <a:rPr sz="2030" spc="-13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RNN</a:t>
            </a:r>
            <a:r>
              <a:rPr sz="2030" dirty="0">
                <a:latin typeface="Calibri"/>
                <a:cs typeface="Calibri"/>
              </a:rPr>
              <a:t>,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capable</a:t>
            </a:r>
            <a:r>
              <a:rPr sz="2030" spc="-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r>
              <a:rPr sz="2030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spc="-9" dirty="0">
                <a:solidFill>
                  <a:srgbClr val="FF0000"/>
                </a:solidFill>
                <a:latin typeface="Calibri"/>
                <a:cs typeface="Calibri"/>
              </a:rPr>
              <a:t>long-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term</a:t>
            </a:r>
            <a:r>
              <a:rPr sz="203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spc="-9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sz="2030" spc="-9" dirty="0">
                <a:latin typeface="Calibri"/>
                <a:cs typeface="Calibri"/>
              </a:rPr>
              <a:t>.</a:t>
            </a:r>
            <a:endParaRPr lang="en-US" sz="2030" spc="-9" dirty="0">
              <a:latin typeface="Calibri"/>
              <a:cs typeface="Calibri"/>
            </a:endParaRPr>
          </a:p>
          <a:p>
            <a:pPr marL="633702" marR="4483" lvl="1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lang="en-US" sz="2400" dirty="0"/>
              <a:t>Remembering information for long periods of time</a:t>
            </a:r>
          </a:p>
          <a:p>
            <a:pPr marL="176502" marR="4483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lang="en-US" sz="2400" dirty="0"/>
              <a:t>All recurrent neural networks have the form of a chain of repeating modules of neural network.</a:t>
            </a:r>
            <a:endParaRPr sz="2030" dirty="0">
              <a:latin typeface="Calibri"/>
              <a:cs typeface="Calibri"/>
            </a:endParaRPr>
          </a:p>
          <a:p>
            <a:pPr marL="177062" indent="-165856">
              <a:spcBef>
                <a:spcPts val="459"/>
              </a:spcBef>
              <a:buFont typeface="Arial MT"/>
              <a:buChar char="•"/>
              <a:tabLst>
                <a:tab pos="177062" algn="l"/>
              </a:tabLst>
            </a:pPr>
            <a:r>
              <a:rPr lang="en-US" sz="2030" dirty="0">
                <a:latin typeface="Calibri"/>
                <a:cs typeface="Calibri"/>
              </a:rPr>
              <a:t>They work tremendously well on a </a:t>
            </a:r>
            <a:r>
              <a:rPr lang="en-US" sz="2030" dirty="0">
                <a:solidFill>
                  <a:srgbClr val="FF0000"/>
                </a:solidFill>
                <a:latin typeface="Calibri"/>
                <a:cs typeface="Calibri"/>
              </a:rPr>
              <a:t>large variety of problems</a:t>
            </a:r>
            <a:r>
              <a:rPr lang="en-US" sz="2030" dirty="0">
                <a:latin typeface="Calibri"/>
                <a:cs typeface="Calibri"/>
              </a:rPr>
              <a:t>, and are now widely used</a:t>
            </a:r>
            <a:endParaRPr sz="203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2730" y="4251316"/>
            <a:ext cx="3783339" cy="1674427"/>
            <a:chOff x="2087879" y="3870959"/>
            <a:chExt cx="5797295" cy="2170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7391" y="3870959"/>
              <a:ext cx="280416" cy="4876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8488" y="3870959"/>
              <a:ext cx="283463" cy="4876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45407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577839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639311" y="4360163"/>
              <a:ext cx="1950720" cy="70485"/>
            </a:xfrm>
            <a:custGeom>
              <a:avLst/>
              <a:gdLst/>
              <a:ahLst/>
              <a:cxnLst/>
              <a:rect l="l" t="t" r="r" b="b"/>
              <a:pathLst>
                <a:path w="1950720" h="70485">
                  <a:moveTo>
                    <a:pt x="0" y="0"/>
                  </a:moveTo>
                  <a:lnTo>
                    <a:pt x="21335" y="0"/>
                  </a:lnTo>
                </a:path>
                <a:path w="1950720" h="70485">
                  <a:moveTo>
                    <a:pt x="1929383" y="0"/>
                  </a:moveTo>
                  <a:lnTo>
                    <a:pt x="1950719" y="0"/>
                  </a:lnTo>
                </a:path>
                <a:path w="1950720" h="70485">
                  <a:moveTo>
                    <a:pt x="0" y="3048"/>
                  </a:moveTo>
                  <a:lnTo>
                    <a:pt x="21335" y="3048"/>
                  </a:lnTo>
                </a:path>
                <a:path w="1950720" h="70485">
                  <a:moveTo>
                    <a:pt x="1929383" y="3048"/>
                  </a:moveTo>
                  <a:lnTo>
                    <a:pt x="1950719" y="3048"/>
                  </a:lnTo>
                </a:path>
                <a:path w="1950720" h="70485">
                  <a:moveTo>
                    <a:pt x="0" y="6095"/>
                  </a:moveTo>
                  <a:lnTo>
                    <a:pt x="21335" y="6095"/>
                  </a:lnTo>
                </a:path>
                <a:path w="1950720" h="70485">
                  <a:moveTo>
                    <a:pt x="1929383" y="6095"/>
                  </a:moveTo>
                  <a:lnTo>
                    <a:pt x="1950719" y="6095"/>
                  </a:lnTo>
                </a:path>
                <a:path w="1950720" h="70485">
                  <a:moveTo>
                    <a:pt x="0" y="9143"/>
                  </a:moveTo>
                  <a:lnTo>
                    <a:pt x="21335" y="9143"/>
                  </a:lnTo>
                </a:path>
                <a:path w="1950720" h="70485">
                  <a:moveTo>
                    <a:pt x="1929383" y="9143"/>
                  </a:moveTo>
                  <a:lnTo>
                    <a:pt x="1950719" y="9143"/>
                  </a:lnTo>
                </a:path>
                <a:path w="1950720" h="70485">
                  <a:moveTo>
                    <a:pt x="0" y="12191"/>
                  </a:moveTo>
                  <a:lnTo>
                    <a:pt x="21335" y="12191"/>
                  </a:lnTo>
                </a:path>
                <a:path w="1950720" h="70485">
                  <a:moveTo>
                    <a:pt x="1929383" y="12191"/>
                  </a:moveTo>
                  <a:lnTo>
                    <a:pt x="1950719" y="12191"/>
                  </a:lnTo>
                </a:path>
                <a:path w="1950720" h="70485">
                  <a:moveTo>
                    <a:pt x="0" y="15239"/>
                  </a:moveTo>
                  <a:lnTo>
                    <a:pt x="21335" y="15239"/>
                  </a:lnTo>
                </a:path>
                <a:path w="1950720" h="70485">
                  <a:moveTo>
                    <a:pt x="1929383" y="15239"/>
                  </a:moveTo>
                  <a:lnTo>
                    <a:pt x="1950719" y="15239"/>
                  </a:lnTo>
                </a:path>
                <a:path w="1950720" h="70485">
                  <a:moveTo>
                    <a:pt x="0" y="18287"/>
                  </a:moveTo>
                  <a:lnTo>
                    <a:pt x="21335" y="18287"/>
                  </a:lnTo>
                </a:path>
                <a:path w="1950720" h="70485">
                  <a:moveTo>
                    <a:pt x="1929383" y="18287"/>
                  </a:moveTo>
                  <a:lnTo>
                    <a:pt x="1950719" y="18287"/>
                  </a:lnTo>
                </a:path>
                <a:path w="1950720" h="70485">
                  <a:moveTo>
                    <a:pt x="0" y="21336"/>
                  </a:moveTo>
                  <a:lnTo>
                    <a:pt x="21335" y="21336"/>
                  </a:lnTo>
                </a:path>
                <a:path w="1950720" h="70485">
                  <a:moveTo>
                    <a:pt x="1929383" y="21336"/>
                  </a:moveTo>
                  <a:lnTo>
                    <a:pt x="1950719" y="21336"/>
                  </a:lnTo>
                </a:path>
                <a:path w="1950720" h="70485">
                  <a:moveTo>
                    <a:pt x="0" y="24384"/>
                  </a:moveTo>
                  <a:lnTo>
                    <a:pt x="21335" y="24384"/>
                  </a:lnTo>
                </a:path>
                <a:path w="1950720" h="70485">
                  <a:moveTo>
                    <a:pt x="1929383" y="24384"/>
                  </a:moveTo>
                  <a:lnTo>
                    <a:pt x="1950719" y="24384"/>
                  </a:lnTo>
                </a:path>
                <a:path w="1950720" h="70485">
                  <a:moveTo>
                    <a:pt x="0" y="27431"/>
                  </a:moveTo>
                  <a:lnTo>
                    <a:pt x="21335" y="27431"/>
                  </a:lnTo>
                </a:path>
                <a:path w="1950720" h="70485">
                  <a:moveTo>
                    <a:pt x="1929383" y="27431"/>
                  </a:moveTo>
                  <a:lnTo>
                    <a:pt x="1950719" y="27431"/>
                  </a:lnTo>
                </a:path>
                <a:path w="1950720" h="70485">
                  <a:moveTo>
                    <a:pt x="0" y="30479"/>
                  </a:moveTo>
                  <a:lnTo>
                    <a:pt x="21335" y="30479"/>
                  </a:lnTo>
                </a:path>
                <a:path w="1950720" h="70485">
                  <a:moveTo>
                    <a:pt x="1929383" y="30479"/>
                  </a:moveTo>
                  <a:lnTo>
                    <a:pt x="1950719" y="30479"/>
                  </a:lnTo>
                </a:path>
                <a:path w="1950720" h="70485">
                  <a:moveTo>
                    <a:pt x="0" y="33527"/>
                  </a:moveTo>
                  <a:lnTo>
                    <a:pt x="21335" y="33527"/>
                  </a:lnTo>
                </a:path>
                <a:path w="1950720" h="70485">
                  <a:moveTo>
                    <a:pt x="1929383" y="33527"/>
                  </a:moveTo>
                  <a:lnTo>
                    <a:pt x="1950719" y="33527"/>
                  </a:lnTo>
                </a:path>
                <a:path w="1950720" h="70485">
                  <a:moveTo>
                    <a:pt x="0" y="36575"/>
                  </a:moveTo>
                  <a:lnTo>
                    <a:pt x="21335" y="36575"/>
                  </a:lnTo>
                </a:path>
                <a:path w="1950720" h="70485">
                  <a:moveTo>
                    <a:pt x="1929383" y="36575"/>
                  </a:moveTo>
                  <a:lnTo>
                    <a:pt x="1950719" y="36575"/>
                  </a:lnTo>
                </a:path>
                <a:path w="1950720" h="70485">
                  <a:moveTo>
                    <a:pt x="0" y="39624"/>
                  </a:moveTo>
                  <a:lnTo>
                    <a:pt x="21335" y="39624"/>
                  </a:lnTo>
                </a:path>
                <a:path w="1950720" h="70485">
                  <a:moveTo>
                    <a:pt x="1929383" y="39624"/>
                  </a:moveTo>
                  <a:lnTo>
                    <a:pt x="1950719" y="39624"/>
                  </a:lnTo>
                </a:path>
                <a:path w="1950720" h="70485">
                  <a:moveTo>
                    <a:pt x="0" y="42672"/>
                  </a:moveTo>
                  <a:lnTo>
                    <a:pt x="21335" y="42672"/>
                  </a:lnTo>
                </a:path>
                <a:path w="1950720" h="70485">
                  <a:moveTo>
                    <a:pt x="1929383" y="42672"/>
                  </a:moveTo>
                  <a:lnTo>
                    <a:pt x="1950719" y="42672"/>
                  </a:lnTo>
                </a:path>
                <a:path w="1950720" h="70485">
                  <a:moveTo>
                    <a:pt x="0" y="45719"/>
                  </a:moveTo>
                  <a:lnTo>
                    <a:pt x="21335" y="45719"/>
                  </a:lnTo>
                </a:path>
                <a:path w="1950720" h="70485">
                  <a:moveTo>
                    <a:pt x="1929383" y="45719"/>
                  </a:moveTo>
                  <a:lnTo>
                    <a:pt x="1950719" y="45719"/>
                  </a:lnTo>
                </a:path>
                <a:path w="1950720" h="70485">
                  <a:moveTo>
                    <a:pt x="0" y="48767"/>
                  </a:moveTo>
                  <a:lnTo>
                    <a:pt x="21335" y="48767"/>
                  </a:lnTo>
                </a:path>
                <a:path w="1950720" h="70485">
                  <a:moveTo>
                    <a:pt x="1929383" y="48767"/>
                  </a:moveTo>
                  <a:lnTo>
                    <a:pt x="1950719" y="48767"/>
                  </a:lnTo>
                </a:path>
                <a:path w="1950720" h="70485">
                  <a:moveTo>
                    <a:pt x="0" y="51815"/>
                  </a:moveTo>
                  <a:lnTo>
                    <a:pt x="21335" y="51815"/>
                  </a:lnTo>
                </a:path>
                <a:path w="1950720" h="70485">
                  <a:moveTo>
                    <a:pt x="1929383" y="51815"/>
                  </a:moveTo>
                  <a:lnTo>
                    <a:pt x="1950719" y="51815"/>
                  </a:lnTo>
                </a:path>
                <a:path w="1950720" h="70485">
                  <a:moveTo>
                    <a:pt x="0" y="54863"/>
                  </a:moveTo>
                  <a:lnTo>
                    <a:pt x="21335" y="54863"/>
                  </a:lnTo>
                </a:path>
                <a:path w="1950720" h="70485">
                  <a:moveTo>
                    <a:pt x="1929383" y="54863"/>
                  </a:moveTo>
                  <a:lnTo>
                    <a:pt x="1950719" y="54863"/>
                  </a:lnTo>
                </a:path>
                <a:path w="1950720" h="70485">
                  <a:moveTo>
                    <a:pt x="0" y="57912"/>
                  </a:moveTo>
                  <a:lnTo>
                    <a:pt x="21335" y="57912"/>
                  </a:lnTo>
                </a:path>
                <a:path w="1950720" h="70485">
                  <a:moveTo>
                    <a:pt x="1929383" y="57912"/>
                  </a:moveTo>
                  <a:lnTo>
                    <a:pt x="1950719" y="57912"/>
                  </a:lnTo>
                </a:path>
                <a:path w="1950720" h="70485">
                  <a:moveTo>
                    <a:pt x="0" y="60960"/>
                  </a:moveTo>
                  <a:lnTo>
                    <a:pt x="21335" y="60960"/>
                  </a:lnTo>
                </a:path>
                <a:path w="1950720" h="70485">
                  <a:moveTo>
                    <a:pt x="1929383" y="60960"/>
                  </a:moveTo>
                  <a:lnTo>
                    <a:pt x="1950719" y="60960"/>
                  </a:lnTo>
                </a:path>
                <a:path w="1950720" h="70485">
                  <a:moveTo>
                    <a:pt x="0" y="64007"/>
                  </a:moveTo>
                  <a:lnTo>
                    <a:pt x="21335" y="64007"/>
                  </a:lnTo>
                </a:path>
                <a:path w="1950720" h="70485">
                  <a:moveTo>
                    <a:pt x="1929383" y="64007"/>
                  </a:moveTo>
                  <a:lnTo>
                    <a:pt x="1950719" y="64007"/>
                  </a:lnTo>
                </a:path>
                <a:path w="1950720" h="70485">
                  <a:moveTo>
                    <a:pt x="0" y="67055"/>
                  </a:moveTo>
                  <a:lnTo>
                    <a:pt x="21335" y="67055"/>
                  </a:lnTo>
                </a:path>
                <a:path w="1950720" h="70485">
                  <a:moveTo>
                    <a:pt x="0" y="70103"/>
                  </a:moveTo>
                  <a:lnTo>
                    <a:pt x="21335" y="701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975" y="3870959"/>
              <a:ext cx="5791199" cy="9418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28872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85825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79373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879" y="4812791"/>
              <a:ext cx="1728216" cy="12283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7263" y="4809743"/>
              <a:ext cx="1725168" cy="12313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4455" y="4809743"/>
              <a:ext cx="1737360" cy="1231391"/>
            </a:xfrm>
            <a:prstGeom prst="rect">
              <a:avLst/>
            </a:prstGeom>
          </p:spPr>
        </p:pic>
      </p:grp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45D67C4-B5FF-2ABE-B781-5160E614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289F-1E0F-4FAF-99D4-043B60A56D9E}" type="datetime1">
              <a:rPr lang="en-US" smtClean="0"/>
              <a:t>11/22/2025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3857256-D4CC-DD74-C2D6-5B1DA4C4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E66C56D-9832-2E4D-78C1-9070D9CE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8" name="Picture 17" descr="A group of symbols on a black background&#10;&#10;Description automatically generated">
            <a:extLst>
              <a:ext uri="{FF2B5EF4-FFF2-40B4-BE49-F238E27FC236}">
                <a16:creationId xmlns:a16="http://schemas.microsoft.com/office/drawing/2014/main" id="{3D217C3B-754D-68BB-E191-09B40DFD2A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251316"/>
            <a:ext cx="3783339" cy="17438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9CC314-C9B0-B78F-0429-E2C716F8EA86}"/>
              </a:ext>
            </a:extLst>
          </p:cNvPr>
          <p:cNvSpPr txBox="1"/>
          <p:nvPr/>
        </p:nvSpPr>
        <p:spPr>
          <a:xfrm>
            <a:off x="8787769" y="612166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 RNN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B7770-B32F-142A-864C-B8BB9F6CE41F}"/>
              </a:ext>
            </a:extLst>
          </p:cNvPr>
          <p:cNvSpPr txBox="1"/>
          <p:nvPr/>
        </p:nvSpPr>
        <p:spPr>
          <a:xfrm>
            <a:off x="2868650" y="6121664"/>
            <a:ext cx="103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Long</a:t>
            </a:r>
            <a:r>
              <a:rPr spc="-62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spc="-49" dirty="0"/>
              <a:t>Term</a:t>
            </a:r>
            <a:r>
              <a:rPr spc="-66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8" dirty="0"/>
              <a:t>Networks</a:t>
            </a:r>
            <a:r>
              <a:rPr spc="-75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8380" y="1685408"/>
            <a:ext cx="8915400" cy="1076893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The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repeating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is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03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2030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LSTMs</a:t>
            </a:r>
            <a:endParaRPr lang="en-US" sz="2030" spc="-9" dirty="0">
              <a:latin typeface="Calibri"/>
              <a:cs typeface="Calibri"/>
            </a:endParaRPr>
          </a:p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lang="en-US" sz="2400" dirty="0"/>
              <a:t>Instead of having a single neural network layer, </a:t>
            </a:r>
            <a:r>
              <a:rPr lang="en-US" sz="2400" dirty="0">
                <a:solidFill>
                  <a:srgbClr val="FF0000"/>
                </a:solidFill>
              </a:rPr>
              <a:t>there are four, interacting in a very special way.</a:t>
            </a:r>
            <a:endParaRPr sz="203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4600" y="2862004"/>
            <a:ext cx="6167158" cy="2577935"/>
            <a:chOff x="1905000" y="3060192"/>
            <a:chExt cx="5968365" cy="2243455"/>
          </a:xfrm>
        </p:grpSpPr>
        <p:sp>
          <p:nvSpPr>
            <p:cNvPr id="5" name="object 5"/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3718" y="5705462"/>
            <a:ext cx="4262275" cy="587453"/>
          </a:xfrm>
          <a:prstGeom prst="rect">
            <a:avLst/>
          </a:prstGeom>
        </p:spPr>
      </p:pic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2EF47898-436C-D738-BA97-0EEAD0ED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4E98-173D-4316-BB7C-C379FEFDE83F}" type="datetime1">
              <a:rPr lang="en-US" smtClean="0"/>
              <a:t>11/22/2025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2DAA54AA-6580-BB4B-59B6-0AB0FC05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AFBA4A7-1944-A0BC-4502-8F70456C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239831"/>
            <a:ext cx="8356600" cy="3747708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77623" marR="155210" indent="-166977">
              <a:spcBef>
                <a:spcPts val="344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LSTMs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32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the </a:t>
            </a:r>
            <a:r>
              <a:rPr sz="3200" spc="-9" dirty="0">
                <a:latin typeface="Calibri"/>
                <a:cs typeface="Calibri"/>
              </a:rPr>
              <a:t>horizontal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top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diagram.</a:t>
            </a:r>
            <a:endParaRPr sz="3200" dirty="0">
              <a:latin typeface="Calibri"/>
              <a:cs typeface="Calibri"/>
            </a:endParaRPr>
          </a:p>
          <a:p>
            <a:pPr marL="177623" indent="-166416">
              <a:spcBef>
                <a:spcPts val="459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cell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state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kind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-1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conveyor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belt.</a:t>
            </a:r>
            <a:endParaRPr sz="3200" dirty="0">
              <a:latin typeface="Calibri"/>
              <a:cs typeface="Calibri"/>
            </a:endParaRPr>
          </a:p>
          <a:p>
            <a:pPr marL="177623" marR="45946" indent="-166977">
              <a:spcBef>
                <a:spcPts val="759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runs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straight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down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chain,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with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minor</a:t>
            </a:r>
            <a:r>
              <a:rPr sz="3200" spc="-1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linear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interactions.</a:t>
            </a:r>
            <a:endParaRPr sz="3200" dirty="0">
              <a:latin typeface="Calibri"/>
              <a:cs typeface="Calibri"/>
            </a:endParaRPr>
          </a:p>
          <a:p>
            <a:pPr marL="177623" marR="270636" indent="-166977">
              <a:spcBef>
                <a:spcPts val="715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It’s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very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easy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9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just</a:t>
            </a:r>
            <a:r>
              <a:rPr sz="3200" spc="-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8" dirty="0">
                <a:solidFill>
                  <a:srgbClr val="FF0000"/>
                </a:solidFill>
                <a:latin typeface="Calibri"/>
                <a:cs typeface="Calibri"/>
              </a:rPr>
              <a:t>flow </a:t>
            </a:r>
            <a:r>
              <a:rPr sz="3200" dirty="0">
                <a:latin typeface="Calibri"/>
                <a:cs typeface="Calibri"/>
              </a:rPr>
              <a:t>along</a:t>
            </a:r>
            <a:r>
              <a:rPr sz="3200" spc="-2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3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unchanged.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7900" y="2209800"/>
            <a:ext cx="3124200" cy="179876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6F3CA8-FC1E-70B3-0F2A-AFA90D91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CED5-6D0F-4809-95A1-9582061B01A6}" type="datetime1">
              <a:rPr lang="en-US" smtClean="0"/>
              <a:t>11/22/2025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DE77981-68B4-8E5B-7F2D-8C3CE46D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A2B8DD-C434-0ABD-7C7D-40D79397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57" dirty="0"/>
              <a:t> </a:t>
            </a:r>
            <a:r>
              <a:rPr dirty="0"/>
              <a:t>-</a:t>
            </a:r>
            <a:r>
              <a:rPr spc="-22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024" y="1931894"/>
            <a:ext cx="8258261" cy="3653074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6502" marR="196674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LSTM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add </a:t>
            </a:r>
            <a:r>
              <a:rPr sz="2400" spc="-9" dirty="0">
                <a:latin typeface="Calibri"/>
                <a:cs typeface="Calibri"/>
              </a:rPr>
              <a:t>information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400" i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carefully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regulated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by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gates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76502" marR="4483" indent="-165856">
              <a:spcBef>
                <a:spcPts val="69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Gates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optionally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information </a:t>
            </a:r>
            <a:r>
              <a:rPr sz="2400" dirty="0">
                <a:latin typeface="Calibri"/>
                <a:cs typeface="Calibri"/>
              </a:rPr>
              <a:t>through.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sigmoid</a:t>
            </a:r>
            <a:r>
              <a:rPr sz="2400" spc="-31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neural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net</a:t>
            </a:r>
            <a:r>
              <a:rPr sz="2400" spc="-31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layer</a:t>
            </a:r>
            <a:r>
              <a:rPr sz="2400" spc="-35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and</a:t>
            </a:r>
            <a:r>
              <a:rPr sz="2400" spc="-18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point-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wise</a:t>
            </a:r>
            <a:r>
              <a:rPr sz="2400" spc="-22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multiplication</a:t>
            </a:r>
            <a:r>
              <a:rPr sz="2400" spc="-4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operation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76502" marR="188829" indent="-165856"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4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8" dirty="0">
                <a:solidFill>
                  <a:srgbClr val="FF0000"/>
                </a:solidFill>
                <a:latin typeface="Calibri"/>
                <a:cs typeface="Calibri"/>
              </a:rPr>
              <a:t>zero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i="1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describing how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component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through.</a:t>
            </a:r>
            <a:endParaRPr sz="2400" dirty="0">
              <a:latin typeface="Calibri"/>
              <a:cs typeface="Calibri"/>
            </a:endParaRPr>
          </a:p>
          <a:p>
            <a:pPr marL="176502" marR="21853" indent="-165856">
              <a:spcBef>
                <a:spcPts val="710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let</a:t>
            </a:r>
            <a:r>
              <a:rPr sz="2400" spc="-26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nothing</a:t>
            </a:r>
            <a:r>
              <a:rPr sz="2400" spc="-3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FFC000"/>
                </a:solidFill>
                <a:latin typeface="Calibri"/>
                <a:cs typeface="Calibri"/>
              </a:rPr>
              <a:t>through</a:t>
            </a:r>
            <a:r>
              <a:rPr sz="2400" spc="-18" dirty="0">
                <a:latin typeface="Calibri"/>
                <a:cs typeface="Calibri"/>
              </a:rPr>
              <a:t>,”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</a:t>
            </a:r>
            <a:r>
              <a:rPr lang="en-US"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let</a:t>
            </a:r>
            <a:r>
              <a:rPr sz="24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everything</a:t>
            </a:r>
            <a:r>
              <a:rPr sz="24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C000"/>
                </a:solidFill>
                <a:latin typeface="Calibri"/>
                <a:cs typeface="Calibri"/>
              </a:rPr>
              <a:t>through</a:t>
            </a:r>
            <a:r>
              <a:rPr sz="2400" spc="-9" dirty="0">
                <a:latin typeface="Calibri"/>
                <a:cs typeface="Calibri"/>
              </a:rPr>
              <a:t>!”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27591" y="3495899"/>
            <a:ext cx="1370479" cy="1674159"/>
            <a:chOff x="7650480" y="2948939"/>
            <a:chExt cx="1553210" cy="1897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80" y="2948939"/>
              <a:ext cx="1552955" cy="3581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42960" y="33489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160" y="3352799"/>
              <a:ext cx="601980" cy="149352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991600" y="1564900"/>
            <a:ext cx="2435768" cy="1406899"/>
            <a:chOff x="7144511" y="1303013"/>
            <a:chExt cx="2646045" cy="1173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6619" y="1344161"/>
              <a:ext cx="2464308" cy="36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92339" y="1383023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4572" y="0"/>
                  </a:lnTo>
                </a:path>
                <a:path w="608329">
                  <a:moveTo>
                    <a:pt x="603504" y="0"/>
                  </a:moveTo>
                  <a:lnTo>
                    <a:pt x="608076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8501633" y="1380737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0"/>
                  </a:moveTo>
                  <a:lnTo>
                    <a:pt x="0" y="370338"/>
                  </a:lnTo>
                </a:path>
              </a:pathLst>
            </a:custGeom>
            <a:ln w="1371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2339" y="1387595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4572" y="0"/>
                  </a:lnTo>
                </a:path>
                <a:path w="608329">
                  <a:moveTo>
                    <a:pt x="603504" y="0"/>
                  </a:moveTo>
                  <a:lnTo>
                    <a:pt x="608076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4543" y="1380737"/>
              <a:ext cx="786384" cy="182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92339" y="1392167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603504" y="0"/>
                  </a:moveTo>
                  <a:lnTo>
                    <a:pt x="608076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603504" y="4572"/>
                  </a:moveTo>
                  <a:lnTo>
                    <a:pt x="608076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603504" y="9144"/>
                  </a:moveTo>
                  <a:lnTo>
                    <a:pt x="608076" y="9144"/>
                  </a:lnTo>
                </a:path>
                <a:path w="2418715" h="1396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7895843" y="140588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7292339" y="1405883"/>
              <a:ext cx="2418715" cy="32384"/>
            </a:xfrm>
            <a:custGeom>
              <a:avLst/>
              <a:gdLst/>
              <a:ahLst/>
              <a:cxnLst/>
              <a:rect l="l" t="t" r="r" b="b"/>
              <a:pathLst>
                <a:path w="2418715" h="32384">
                  <a:moveTo>
                    <a:pt x="2414016" y="0"/>
                  </a:moveTo>
                  <a:lnTo>
                    <a:pt x="2418588" y="0"/>
                  </a:lnTo>
                </a:path>
                <a:path w="2418715" h="32384">
                  <a:moveTo>
                    <a:pt x="0" y="4572"/>
                  </a:moveTo>
                  <a:lnTo>
                    <a:pt x="4572" y="4572"/>
                  </a:lnTo>
                </a:path>
                <a:path w="2418715" h="3238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2384">
                  <a:moveTo>
                    <a:pt x="0" y="9144"/>
                  </a:moveTo>
                  <a:lnTo>
                    <a:pt x="4572" y="9144"/>
                  </a:lnTo>
                </a:path>
                <a:path w="2418715" h="3238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32384">
                  <a:moveTo>
                    <a:pt x="0" y="13716"/>
                  </a:moveTo>
                  <a:lnTo>
                    <a:pt x="4572" y="13716"/>
                  </a:lnTo>
                </a:path>
                <a:path w="2418715" h="3238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2384">
                  <a:moveTo>
                    <a:pt x="0" y="18287"/>
                  </a:moveTo>
                  <a:lnTo>
                    <a:pt x="4572" y="18287"/>
                  </a:lnTo>
                </a:path>
                <a:path w="2418715" h="3238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2384">
                  <a:moveTo>
                    <a:pt x="0" y="22860"/>
                  </a:moveTo>
                  <a:lnTo>
                    <a:pt x="4572" y="22860"/>
                  </a:lnTo>
                </a:path>
                <a:path w="2418715" h="32384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32384">
                  <a:moveTo>
                    <a:pt x="0" y="27432"/>
                  </a:moveTo>
                  <a:lnTo>
                    <a:pt x="4572" y="27432"/>
                  </a:lnTo>
                </a:path>
                <a:path w="2418715" h="3238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2384">
                  <a:moveTo>
                    <a:pt x="0" y="32003"/>
                  </a:moveTo>
                  <a:lnTo>
                    <a:pt x="4572" y="32003"/>
                  </a:lnTo>
                </a:path>
                <a:path w="2418715" h="32384">
                  <a:moveTo>
                    <a:pt x="2414016" y="32003"/>
                  </a:moveTo>
                  <a:lnTo>
                    <a:pt x="2418588" y="3200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7187183" y="14424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92339" y="1442459"/>
              <a:ext cx="2418715" cy="9525"/>
            </a:xfrm>
            <a:custGeom>
              <a:avLst/>
              <a:gdLst/>
              <a:ahLst/>
              <a:cxnLst/>
              <a:rect l="l" t="t" r="r" b="b"/>
              <a:pathLst>
                <a:path w="2418715" h="9525">
                  <a:moveTo>
                    <a:pt x="0" y="0"/>
                  </a:moveTo>
                  <a:lnTo>
                    <a:pt x="4572" y="0"/>
                  </a:lnTo>
                </a:path>
                <a:path w="2418715" h="9525">
                  <a:moveTo>
                    <a:pt x="2414016" y="0"/>
                  </a:moveTo>
                  <a:lnTo>
                    <a:pt x="2418588" y="0"/>
                  </a:lnTo>
                </a:path>
                <a:path w="2418715" h="9525">
                  <a:moveTo>
                    <a:pt x="0" y="4572"/>
                  </a:moveTo>
                  <a:lnTo>
                    <a:pt x="4572" y="4572"/>
                  </a:lnTo>
                </a:path>
                <a:path w="2418715" h="952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9525">
                  <a:moveTo>
                    <a:pt x="0" y="9144"/>
                  </a:moveTo>
                  <a:lnTo>
                    <a:pt x="4572" y="9144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3467" y="1353305"/>
              <a:ext cx="150875" cy="1325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06355" y="1451603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59">
                  <a:moveTo>
                    <a:pt x="0" y="0"/>
                  </a:moveTo>
                  <a:lnTo>
                    <a:pt x="4572" y="0"/>
                  </a:lnTo>
                </a:path>
                <a:path w="5079" h="22859">
                  <a:moveTo>
                    <a:pt x="0" y="4571"/>
                  </a:moveTo>
                  <a:lnTo>
                    <a:pt x="4572" y="4571"/>
                  </a:lnTo>
                </a:path>
                <a:path w="5079" h="22859">
                  <a:moveTo>
                    <a:pt x="0" y="9143"/>
                  </a:moveTo>
                  <a:lnTo>
                    <a:pt x="4572" y="9143"/>
                  </a:lnTo>
                </a:path>
                <a:path w="5079" h="22859">
                  <a:moveTo>
                    <a:pt x="0" y="13715"/>
                  </a:moveTo>
                  <a:lnTo>
                    <a:pt x="4572" y="13715"/>
                  </a:lnTo>
                </a:path>
                <a:path w="5079" h="22859">
                  <a:moveTo>
                    <a:pt x="0" y="18287"/>
                  </a:moveTo>
                  <a:lnTo>
                    <a:pt x="4572" y="18287"/>
                  </a:lnTo>
                </a:path>
                <a:path w="5079" h="22859">
                  <a:moveTo>
                    <a:pt x="0" y="22859"/>
                  </a:moveTo>
                  <a:lnTo>
                    <a:pt x="4572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476749"/>
              <a:ext cx="22859" cy="45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706355" y="1483607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039" y="1453889"/>
              <a:ext cx="118872" cy="457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219187" y="14927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2339" y="1492751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7219187" y="149732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7292339" y="1497323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219187" y="15018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7292339" y="1501895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0" y="18287"/>
                  </a:moveTo>
                  <a:lnTo>
                    <a:pt x="4572" y="18287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0" y="22866"/>
                  </a:moveTo>
                  <a:lnTo>
                    <a:pt x="4572" y="22866"/>
                  </a:lnTo>
                </a:path>
                <a:path w="2418715" h="55244">
                  <a:moveTo>
                    <a:pt x="2414016" y="22866"/>
                  </a:moveTo>
                  <a:lnTo>
                    <a:pt x="2418588" y="22866"/>
                  </a:lnTo>
                </a:path>
                <a:path w="2418715" h="55244">
                  <a:moveTo>
                    <a:pt x="0" y="27438"/>
                  </a:moveTo>
                  <a:lnTo>
                    <a:pt x="4572" y="27438"/>
                  </a:lnTo>
                </a:path>
                <a:path w="2418715" h="55244">
                  <a:moveTo>
                    <a:pt x="2414016" y="27438"/>
                  </a:moveTo>
                  <a:lnTo>
                    <a:pt x="2418588" y="27438"/>
                  </a:lnTo>
                </a:path>
                <a:path w="2418715" h="55244">
                  <a:moveTo>
                    <a:pt x="0" y="32010"/>
                  </a:moveTo>
                  <a:lnTo>
                    <a:pt x="4572" y="32010"/>
                  </a:lnTo>
                </a:path>
                <a:path w="2418715" h="55244">
                  <a:moveTo>
                    <a:pt x="2414016" y="32010"/>
                  </a:moveTo>
                  <a:lnTo>
                    <a:pt x="2418588" y="32010"/>
                  </a:lnTo>
                </a:path>
                <a:path w="2418715" h="55244">
                  <a:moveTo>
                    <a:pt x="0" y="36582"/>
                  </a:moveTo>
                  <a:lnTo>
                    <a:pt x="4572" y="36582"/>
                  </a:lnTo>
                </a:path>
                <a:path w="2418715" h="55244">
                  <a:moveTo>
                    <a:pt x="2414016" y="36582"/>
                  </a:moveTo>
                  <a:lnTo>
                    <a:pt x="2418588" y="36582"/>
                  </a:lnTo>
                </a:path>
                <a:path w="2418715" h="55244">
                  <a:moveTo>
                    <a:pt x="0" y="41154"/>
                  </a:moveTo>
                  <a:lnTo>
                    <a:pt x="4572" y="41154"/>
                  </a:lnTo>
                </a:path>
                <a:path w="2418715" h="55244">
                  <a:moveTo>
                    <a:pt x="2414016" y="41154"/>
                  </a:moveTo>
                  <a:lnTo>
                    <a:pt x="2418588" y="41154"/>
                  </a:lnTo>
                </a:path>
                <a:path w="2418715" h="55244">
                  <a:moveTo>
                    <a:pt x="0" y="45726"/>
                  </a:moveTo>
                  <a:lnTo>
                    <a:pt x="4572" y="45726"/>
                  </a:lnTo>
                </a:path>
                <a:path w="2418715" h="55244">
                  <a:moveTo>
                    <a:pt x="2414016" y="45726"/>
                  </a:moveTo>
                  <a:lnTo>
                    <a:pt x="2418588" y="45726"/>
                  </a:lnTo>
                </a:path>
                <a:path w="2418715" h="55244">
                  <a:moveTo>
                    <a:pt x="0" y="50298"/>
                  </a:moveTo>
                  <a:lnTo>
                    <a:pt x="4572" y="50298"/>
                  </a:lnTo>
                </a:path>
                <a:path w="2418715" h="55244">
                  <a:moveTo>
                    <a:pt x="2414016" y="50298"/>
                  </a:moveTo>
                  <a:lnTo>
                    <a:pt x="2418588" y="50298"/>
                  </a:lnTo>
                </a:path>
                <a:path w="2418715" h="55244">
                  <a:moveTo>
                    <a:pt x="0" y="54870"/>
                  </a:moveTo>
                  <a:lnTo>
                    <a:pt x="4572" y="54870"/>
                  </a:lnTo>
                </a:path>
                <a:path w="2418715" h="55244">
                  <a:moveTo>
                    <a:pt x="2414016" y="54870"/>
                  </a:moveTo>
                  <a:lnTo>
                    <a:pt x="2418588" y="5487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3467" y="1495037"/>
              <a:ext cx="150875" cy="914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4211" y="1399025"/>
              <a:ext cx="800100" cy="33833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706355" y="15613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8067" y="1568196"/>
              <a:ext cx="22859" cy="1371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706355" y="158419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8039" y="1559052"/>
              <a:ext cx="118872" cy="365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706355" y="158877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9187" y="1586484"/>
              <a:ext cx="77724" cy="914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292339" y="1593342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524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5244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5244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5244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5244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5244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55244">
                  <a:moveTo>
                    <a:pt x="2414016" y="54863"/>
                  </a:moveTo>
                  <a:lnTo>
                    <a:pt x="2418588" y="5486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467" y="1609344"/>
              <a:ext cx="150875" cy="685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706355" y="165277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668780"/>
              <a:ext cx="22859" cy="457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706355" y="16756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1"/>
                  </a:moveTo>
                  <a:lnTo>
                    <a:pt x="4572" y="457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7" y="1655064"/>
              <a:ext cx="123444" cy="3657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706355" y="168478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19187" y="1682496"/>
              <a:ext cx="77724" cy="91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706355" y="1689354"/>
              <a:ext cx="5080" cy="41275"/>
            </a:xfrm>
            <a:custGeom>
              <a:avLst/>
              <a:gdLst/>
              <a:ahLst/>
              <a:cxnLst/>
              <a:rect l="l" t="t" r="r" b="b"/>
              <a:pathLst>
                <a:path w="5079" h="41275">
                  <a:moveTo>
                    <a:pt x="0" y="0"/>
                  </a:moveTo>
                  <a:lnTo>
                    <a:pt x="4572" y="0"/>
                  </a:lnTo>
                </a:path>
                <a:path w="5079" h="41275">
                  <a:moveTo>
                    <a:pt x="0" y="4572"/>
                  </a:moveTo>
                  <a:lnTo>
                    <a:pt x="4572" y="4572"/>
                  </a:lnTo>
                </a:path>
                <a:path w="5079" h="41275">
                  <a:moveTo>
                    <a:pt x="0" y="9144"/>
                  </a:moveTo>
                  <a:lnTo>
                    <a:pt x="4572" y="9144"/>
                  </a:lnTo>
                </a:path>
                <a:path w="5079" h="41275">
                  <a:moveTo>
                    <a:pt x="0" y="13716"/>
                  </a:moveTo>
                  <a:lnTo>
                    <a:pt x="4572" y="13716"/>
                  </a:lnTo>
                </a:path>
                <a:path w="5079" h="41275">
                  <a:moveTo>
                    <a:pt x="0" y="18287"/>
                  </a:moveTo>
                  <a:lnTo>
                    <a:pt x="4572" y="18287"/>
                  </a:lnTo>
                </a:path>
                <a:path w="5079" h="41275">
                  <a:moveTo>
                    <a:pt x="0" y="22860"/>
                  </a:moveTo>
                  <a:lnTo>
                    <a:pt x="4572" y="22860"/>
                  </a:lnTo>
                </a:path>
                <a:path w="5079" h="41275">
                  <a:moveTo>
                    <a:pt x="0" y="27431"/>
                  </a:moveTo>
                  <a:lnTo>
                    <a:pt x="4572" y="27431"/>
                  </a:lnTo>
                </a:path>
                <a:path w="5079" h="41275">
                  <a:moveTo>
                    <a:pt x="0" y="32003"/>
                  </a:moveTo>
                  <a:lnTo>
                    <a:pt x="4572" y="32003"/>
                  </a:lnTo>
                </a:path>
                <a:path w="5079" h="41275">
                  <a:moveTo>
                    <a:pt x="0" y="36575"/>
                  </a:moveTo>
                  <a:lnTo>
                    <a:pt x="4572" y="36575"/>
                  </a:lnTo>
                </a:path>
                <a:path w="5079" h="41275">
                  <a:moveTo>
                    <a:pt x="0" y="41148"/>
                  </a:moveTo>
                  <a:lnTo>
                    <a:pt x="4572" y="4114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7" y="1687068"/>
              <a:ext cx="123444" cy="6400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706355" y="1735074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53727" y="1732788"/>
              <a:ext cx="50292" cy="1371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706355" y="174421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5"/>
                  </a:moveTo>
                  <a:lnTo>
                    <a:pt x="4572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42831" y="1737360"/>
              <a:ext cx="118871" cy="777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73467" y="1737360"/>
              <a:ext cx="150875" cy="4114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706355" y="17625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88067" y="1764792"/>
              <a:ext cx="22859" cy="91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07423" y="1737360"/>
              <a:ext cx="68580" cy="685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33103" y="1737360"/>
              <a:ext cx="45719" cy="6400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706355" y="177622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8039" y="1773936"/>
              <a:ext cx="118872" cy="1371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706355" y="17807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7219187" y="178536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7292339" y="178536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7187183" y="178993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7292339" y="178993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7187183" y="17945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92339" y="1794510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50800">
                  <a:moveTo>
                    <a:pt x="0" y="13716"/>
                  </a:moveTo>
                  <a:lnTo>
                    <a:pt x="4572" y="13716"/>
                  </a:lnTo>
                </a:path>
                <a:path w="2418715" h="50800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50800">
                  <a:moveTo>
                    <a:pt x="0" y="18288"/>
                  </a:moveTo>
                  <a:lnTo>
                    <a:pt x="4572" y="18288"/>
                  </a:lnTo>
                </a:path>
                <a:path w="2418715" h="50800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50800">
                  <a:moveTo>
                    <a:pt x="0" y="22860"/>
                  </a:moveTo>
                  <a:lnTo>
                    <a:pt x="4572" y="22860"/>
                  </a:lnTo>
                </a:path>
                <a:path w="2418715" h="50800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50800">
                  <a:moveTo>
                    <a:pt x="0" y="27432"/>
                  </a:moveTo>
                  <a:lnTo>
                    <a:pt x="4572" y="27432"/>
                  </a:lnTo>
                </a:path>
                <a:path w="2418715" h="50800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50800">
                  <a:moveTo>
                    <a:pt x="0" y="32004"/>
                  </a:moveTo>
                  <a:lnTo>
                    <a:pt x="4572" y="32004"/>
                  </a:lnTo>
                </a:path>
                <a:path w="2418715" h="50800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50800">
                  <a:moveTo>
                    <a:pt x="0" y="36576"/>
                  </a:moveTo>
                  <a:lnTo>
                    <a:pt x="4572" y="36576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50800">
                  <a:moveTo>
                    <a:pt x="0" y="50292"/>
                  </a:moveTo>
                  <a:lnTo>
                    <a:pt x="4572" y="50292"/>
                  </a:lnTo>
                </a:path>
                <a:path w="2418715" h="50800">
                  <a:moveTo>
                    <a:pt x="2414016" y="50292"/>
                  </a:moveTo>
                  <a:lnTo>
                    <a:pt x="2418588" y="5029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73467" y="1783080"/>
              <a:ext cx="150875" cy="9144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706355" y="1849374"/>
              <a:ext cx="5080" cy="9525"/>
            </a:xfrm>
            <a:custGeom>
              <a:avLst/>
              <a:gdLst/>
              <a:ahLst/>
              <a:cxnLst/>
              <a:rect l="l" t="t" r="r" b="b"/>
              <a:pathLst>
                <a:path w="5079" h="9525">
                  <a:moveTo>
                    <a:pt x="0" y="0"/>
                  </a:moveTo>
                  <a:lnTo>
                    <a:pt x="4572" y="0"/>
                  </a:lnTo>
                </a:path>
                <a:path w="5079" h="9525">
                  <a:moveTo>
                    <a:pt x="0" y="4572"/>
                  </a:moveTo>
                  <a:lnTo>
                    <a:pt x="4572" y="4572"/>
                  </a:lnTo>
                </a:path>
                <a:path w="5079" h="9525">
                  <a:moveTo>
                    <a:pt x="0" y="9143"/>
                  </a:moveTo>
                  <a:lnTo>
                    <a:pt x="4572" y="914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88067" y="1860804"/>
              <a:ext cx="22859" cy="914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706355" y="18722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73467" y="1847088"/>
              <a:ext cx="123444" cy="3657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706355" y="18768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82611" y="1874520"/>
              <a:ext cx="114300" cy="1371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706355" y="188137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19187" y="1883664"/>
              <a:ext cx="50291" cy="457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292339" y="1885950"/>
              <a:ext cx="2418715" cy="64135"/>
            </a:xfrm>
            <a:custGeom>
              <a:avLst/>
              <a:gdLst/>
              <a:ahLst/>
              <a:cxnLst/>
              <a:rect l="l" t="t" r="r" b="b"/>
              <a:pathLst>
                <a:path w="2418715" h="64135">
                  <a:moveTo>
                    <a:pt x="0" y="0"/>
                  </a:moveTo>
                  <a:lnTo>
                    <a:pt x="4572" y="0"/>
                  </a:lnTo>
                </a:path>
                <a:path w="2418715" h="64135">
                  <a:moveTo>
                    <a:pt x="2414016" y="0"/>
                  </a:moveTo>
                  <a:lnTo>
                    <a:pt x="2418588" y="0"/>
                  </a:lnTo>
                </a:path>
                <a:path w="2418715" h="64135">
                  <a:moveTo>
                    <a:pt x="0" y="4572"/>
                  </a:moveTo>
                  <a:lnTo>
                    <a:pt x="4572" y="4572"/>
                  </a:lnTo>
                </a:path>
                <a:path w="2418715" h="6413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64135">
                  <a:moveTo>
                    <a:pt x="0" y="9144"/>
                  </a:moveTo>
                  <a:lnTo>
                    <a:pt x="4572" y="9144"/>
                  </a:lnTo>
                </a:path>
                <a:path w="2418715" h="64135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64135">
                  <a:moveTo>
                    <a:pt x="0" y="13716"/>
                  </a:moveTo>
                  <a:lnTo>
                    <a:pt x="4572" y="13716"/>
                  </a:lnTo>
                </a:path>
                <a:path w="2418715" h="64135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64135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64135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64135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64135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64135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64135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64135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64135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64135">
                  <a:moveTo>
                    <a:pt x="2414016" y="54863"/>
                  </a:moveTo>
                  <a:lnTo>
                    <a:pt x="2418588" y="54863"/>
                  </a:lnTo>
                </a:path>
                <a:path w="2418715" h="64135">
                  <a:moveTo>
                    <a:pt x="2414016" y="59435"/>
                  </a:moveTo>
                  <a:lnTo>
                    <a:pt x="2418588" y="59435"/>
                  </a:lnTo>
                </a:path>
                <a:path w="2418715" h="64135">
                  <a:moveTo>
                    <a:pt x="2414016" y="64007"/>
                  </a:moveTo>
                  <a:lnTo>
                    <a:pt x="2418588" y="64007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6" name="object 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73467" y="1901952"/>
              <a:ext cx="150875" cy="6858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292339" y="195453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88067" y="1956816"/>
              <a:ext cx="22859" cy="914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292339" y="196824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7219187" y="197281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7292339" y="197281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7219187" y="197739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7292339" y="197739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7219187" y="19819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7292339" y="1981962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7219187" y="198653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7292339" y="1986534"/>
              <a:ext cx="2418715" cy="45720"/>
            </a:xfrm>
            <a:custGeom>
              <a:avLst/>
              <a:gdLst/>
              <a:ahLst/>
              <a:cxnLst/>
              <a:rect l="l" t="t" r="r" b="b"/>
              <a:pathLst>
                <a:path w="2418715" h="45719">
                  <a:moveTo>
                    <a:pt x="0" y="0"/>
                  </a:moveTo>
                  <a:lnTo>
                    <a:pt x="4572" y="0"/>
                  </a:lnTo>
                </a:path>
                <a:path w="2418715" h="45719">
                  <a:moveTo>
                    <a:pt x="2414016" y="0"/>
                  </a:moveTo>
                  <a:lnTo>
                    <a:pt x="2418588" y="0"/>
                  </a:lnTo>
                </a:path>
                <a:path w="2418715" h="45719">
                  <a:moveTo>
                    <a:pt x="0" y="4572"/>
                  </a:moveTo>
                  <a:lnTo>
                    <a:pt x="4572" y="4572"/>
                  </a:lnTo>
                </a:path>
                <a:path w="2418715" h="4571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45719">
                  <a:moveTo>
                    <a:pt x="0" y="9144"/>
                  </a:moveTo>
                  <a:lnTo>
                    <a:pt x="4572" y="9144"/>
                  </a:lnTo>
                </a:path>
                <a:path w="2418715" h="4571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45719">
                  <a:moveTo>
                    <a:pt x="0" y="13716"/>
                  </a:moveTo>
                  <a:lnTo>
                    <a:pt x="4572" y="13716"/>
                  </a:lnTo>
                </a:path>
                <a:path w="2418715" h="45719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45719">
                  <a:moveTo>
                    <a:pt x="0" y="18288"/>
                  </a:moveTo>
                  <a:lnTo>
                    <a:pt x="4572" y="18288"/>
                  </a:lnTo>
                </a:path>
                <a:path w="2418715" h="45719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45719">
                  <a:moveTo>
                    <a:pt x="0" y="22860"/>
                  </a:moveTo>
                  <a:lnTo>
                    <a:pt x="4572" y="22860"/>
                  </a:lnTo>
                </a:path>
                <a:path w="2418715" h="45719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45719">
                  <a:moveTo>
                    <a:pt x="0" y="27432"/>
                  </a:moveTo>
                  <a:lnTo>
                    <a:pt x="4572" y="27432"/>
                  </a:lnTo>
                </a:path>
                <a:path w="2418715" h="45719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45719">
                  <a:moveTo>
                    <a:pt x="0" y="32004"/>
                  </a:moveTo>
                  <a:lnTo>
                    <a:pt x="4572" y="32004"/>
                  </a:lnTo>
                </a:path>
                <a:path w="2418715" h="45719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45719">
                  <a:moveTo>
                    <a:pt x="0" y="36576"/>
                  </a:moveTo>
                  <a:lnTo>
                    <a:pt x="4572" y="36576"/>
                  </a:lnTo>
                </a:path>
                <a:path w="2418715" h="45719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45719">
                  <a:moveTo>
                    <a:pt x="0" y="41148"/>
                  </a:moveTo>
                  <a:lnTo>
                    <a:pt x="4572" y="41148"/>
                  </a:lnTo>
                </a:path>
                <a:path w="2418715" h="45719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45719">
                  <a:moveTo>
                    <a:pt x="0" y="45720"/>
                  </a:moveTo>
                  <a:lnTo>
                    <a:pt x="4572" y="4572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8" name="object 8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73467" y="1970532"/>
              <a:ext cx="150875" cy="960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706355" y="2032254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60">
                  <a:moveTo>
                    <a:pt x="0" y="0"/>
                  </a:moveTo>
                  <a:lnTo>
                    <a:pt x="4572" y="0"/>
                  </a:lnTo>
                </a:path>
                <a:path w="5079" h="22860">
                  <a:moveTo>
                    <a:pt x="0" y="4572"/>
                  </a:moveTo>
                  <a:lnTo>
                    <a:pt x="4572" y="4572"/>
                  </a:lnTo>
                </a:path>
                <a:path w="5079" h="22860">
                  <a:moveTo>
                    <a:pt x="0" y="9144"/>
                  </a:moveTo>
                  <a:lnTo>
                    <a:pt x="4572" y="9144"/>
                  </a:lnTo>
                </a:path>
                <a:path w="5079" h="22860">
                  <a:moveTo>
                    <a:pt x="0" y="13716"/>
                  </a:moveTo>
                  <a:lnTo>
                    <a:pt x="4572" y="13716"/>
                  </a:lnTo>
                </a:path>
                <a:path w="5079" h="22860">
                  <a:moveTo>
                    <a:pt x="0" y="18287"/>
                  </a:moveTo>
                  <a:lnTo>
                    <a:pt x="4572" y="18287"/>
                  </a:lnTo>
                </a:path>
                <a:path w="5079" h="22860">
                  <a:moveTo>
                    <a:pt x="0" y="22860"/>
                  </a:moveTo>
                  <a:lnTo>
                    <a:pt x="4572" y="2286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057400"/>
              <a:ext cx="22859" cy="4572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9706355" y="20642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2" name="object 9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3467" y="2034540"/>
              <a:ext cx="123444" cy="41148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9706355" y="206883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4" name="object 9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78039" y="2066544"/>
              <a:ext cx="118872" cy="13716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9706355" y="207340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6" name="object 96"/>
            <p:cNvSpPr/>
            <p:nvPr/>
          </p:nvSpPr>
          <p:spPr>
            <a:xfrm>
              <a:off x="7219187" y="207797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7" name="object 97"/>
            <p:cNvSpPr/>
            <p:nvPr/>
          </p:nvSpPr>
          <p:spPr>
            <a:xfrm>
              <a:off x="7292339" y="2077974"/>
              <a:ext cx="2418715" cy="36830"/>
            </a:xfrm>
            <a:custGeom>
              <a:avLst/>
              <a:gdLst/>
              <a:ahLst/>
              <a:cxnLst/>
              <a:rect l="l" t="t" r="r" b="b"/>
              <a:pathLst>
                <a:path w="2418715" h="36830">
                  <a:moveTo>
                    <a:pt x="0" y="0"/>
                  </a:moveTo>
                  <a:lnTo>
                    <a:pt x="4572" y="0"/>
                  </a:lnTo>
                </a:path>
                <a:path w="2418715" h="36830">
                  <a:moveTo>
                    <a:pt x="2414016" y="0"/>
                  </a:moveTo>
                  <a:lnTo>
                    <a:pt x="2418588" y="0"/>
                  </a:lnTo>
                </a:path>
                <a:path w="2418715" h="36830">
                  <a:moveTo>
                    <a:pt x="0" y="4572"/>
                  </a:moveTo>
                  <a:lnTo>
                    <a:pt x="4572" y="4572"/>
                  </a:lnTo>
                </a:path>
                <a:path w="2418715" h="3683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6830">
                  <a:moveTo>
                    <a:pt x="0" y="9144"/>
                  </a:moveTo>
                  <a:lnTo>
                    <a:pt x="4572" y="9144"/>
                  </a:lnTo>
                </a:path>
                <a:path w="2418715" h="3683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36830">
                  <a:moveTo>
                    <a:pt x="0" y="13716"/>
                  </a:moveTo>
                  <a:lnTo>
                    <a:pt x="4572" y="13716"/>
                  </a:lnTo>
                </a:path>
                <a:path w="2418715" h="3683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6830">
                  <a:moveTo>
                    <a:pt x="0" y="18287"/>
                  </a:moveTo>
                  <a:lnTo>
                    <a:pt x="4572" y="18287"/>
                  </a:lnTo>
                </a:path>
                <a:path w="2418715" h="3683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6830">
                  <a:moveTo>
                    <a:pt x="0" y="22860"/>
                  </a:moveTo>
                  <a:lnTo>
                    <a:pt x="4572" y="22860"/>
                  </a:lnTo>
                </a:path>
                <a:path w="2418715" h="3683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36830">
                  <a:moveTo>
                    <a:pt x="0" y="27432"/>
                  </a:moveTo>
                  <a:lnTo>
                    <a:pt x="4572" y="27432"/>
                  </a:lnTo>
                </a:path>
                <a:path w="2418715" h="3683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6830">
                  <a:moveTo>
                    <a:pt x="0" y="32003"/>
                  </a:moveTo>
                  <a:lnTo>
                    <a:pt x="4572" y="32003"/>
                  </a:lnTo>
                </a:path>
                <a:path w="2418715" h="3683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36830">
                  <a:moveTo>
                    <a:pt x="0" y="36575"/>
                  </a:moveTo>
                  <a:lnTo>
                    <a:pt x="4572" y="36575"/>
                  </a:lnTo>
                </a:path>
                <a:path w="2418715" h="36830">
                  <a:moveTo>
                    <a:pt x="2414016" y="36575"/>
                  </a:moveTo>
                  <a:lnTo>
                    <a:pt x="2418588" y="3657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8" name="object 98"/>
            <p:cNvSpPr/>
            <p:nvPr/>
          </p:nvSpPr>
          <p:spPr>
            <a:xfrm>
              <a:off x="7187183" y="211912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9" name="object 99"/>
            <p:cNvSpPr/>
            <p:nvPr/>
          </p:nvSpPr>
          <p:spPr>
            <a:xfrm>
              <a:off x="7292339" y="2119122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2414016" y="0"/>
                  </a:moveTo>
                  <a:lnTo>
                    <a:pt x="2418588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  <a:path w="2418715" h="13969">
                  <a:moveTo>
                    <a:pt x="2414016" y="13715"/>
                  </a:moveTo>
                  <a:lnTo>
                    <a:pt x="2418588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0" name="object 10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73467" y="2075688"/>
              <a:ext cx="150875" cy="8686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9706355" y="2137410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153412"/>
              <a:ext cx="22859" cy="457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706355" y="216026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3467" y="2135124"/>
              <a:ext cx="123444" cy="36576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9706355" y="216484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6" name="object 10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78039" y="2167127"/>
              <a:ext cx="118872" cy="914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706355" y="21694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8" name="object 10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82611" y="2171700"/>
              <a:ext cx="114300" cy="914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706355" y="2173986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0" name="object 11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82611" y="2176272"/>
              <a:ext cx="114300" cy="4572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292339" y="2192274"/>
              <a:ext cx="2418715" cy="22860"/>
            </a:xfrm>
            <a:custGeom>
              <a:avLst/>
              <a:gdLst/>
              <a:ahLst/>
              <a:cxnLst/>
              <a:rect l="l" t="t" r="r" b="b"/>
              <a:pathLst>
                <a:path w="2418715" h="22860">
                  <a:moveTo>
                    <a:pt x="0" y="0"/>
                  </a:moveTo>
                  <a:lnTo>
                    <a:pt x="4572" y="0"/>
                  </a:lnTo>
                </a:path>
                <a:path w="2418715" h="22860">
                  <a:moveTo>
                    <a:pt x="2414016" y="0"/>
                  </a:moveTo>
                  <a:lnTo>
                    <a:pt x="2418588" y="0"/>
                  </a:lnTo>
                </a:path>
                <a:path w="2418715" h="22860">
                  <a:moveTo>
                    <a:pt x="0" y="4572"/>
                  </a:moveTo>
                  <a:lnTo>
                    <a:pt x="4572" y="4572"/>
                  </a:lnTo>
                </a:path>
                <a:path w="2418715" h="2286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22860">
                  <a:moveTo>
                    <a:pt x="0" y="9144"/>
                  </a:moveTo>
                  <a:lnTo>
                    <a:pt x="4572" y="9144"/>
                  </a:lnTo>
                </a:path>
                <a:path w="2418715" h="2286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22860">
                  <a:moveTo>
                    <a:pt x="0" y="13716"/>
                  </a:moveTo>
                  <a:lnTo>
                    <a:pt x="4572" y="13716"/>
                  </a:lnTo>
                </a:path>
                <a:path w="2418715" h="2286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22860">
                  <a:moveTo>
                    <a:pt x="0" y="18287"/>
                  </a:moveTo>
                  <a:lnTo>
                    <a:pt x="4572" y="18287"/>
                  </a:lnTo>
                </a:path>
                <a:path w="2418715" h="2286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22860">
                  <a:moveTo>
                    <a:pt x="0" y="22860"/>
                  </a:moveTo>
                  <a:lnTo>
                    <a:pt x="4572" y="22860"/>
                  </a:lnTo>
                </a:path>
                <a:path w="2418715" h="22860">
                  <a:moveTo>
                    <a:pt x="2414016" y="22859"/>
                  </a:moveTo>
                  <a:lnTo>
                    <a:pt x="2418588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255763" y="221970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BBA6D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292339" y="2219705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  <a:path w="2418715" h="5080">
                  <a:moveTo>
                    <a:pt x="2414016" y="4572"/>
                  </a:moveTo>
                  <a:lnTo>
                    <a:pt x="2418588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23759" y="1737360"/>
              <a:ext cx="2537460" cy="66294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73467" y="2221991"/>
              <a:ext cx="150875" cy="4114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292339" y="2242566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7" name="object 11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688067" y="2226563"/>
              <a:ext cx="22860" cy="32004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292339" y="2260854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9" name="object 11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178039" y="2263140"/>
              <a:ext cx="50292" cy="1371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9706355" y="226542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1" name="object 12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219187" y="2263140"/>
              <a:ext cx="45720" cy="13716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7292339" y="226999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219187" y="227456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292339" y="2274569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0800">
                  <a:moveTo>
                    <a:pt x="0" y="13715"/>
                  </a:moveTo>
                  <a:lnTo>
                    <a:pt x="4572" y="13715"/>
                  </a:lnTo>
                </a:path>
                <a:path w="2418715" h="5080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0800">
                  <a:moveTo>
                    <a:pt x="0" y="18287"/>
                  </a:moveTo>
                  <a:lnTo>
                    <a:pt x="4572" y="18287"/>
                  </a:lnTo>
                </a:path>
                <a:path w="2418715" h="5080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0800">
                  <a:moveTo>
                    <a:pt x="0" y="22859"/>
                  </a:moveTo>
                  <a:lnTo>
                    <a:pt x="4572" y="22859"/>
                  </a:lnTo>
                </a:path>
                <a:path w="2418715" h="5080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0800">
                  <a:moveTo>
                    <a:pt x="0" y="27431"/>
                  </a:moveTo>
                  <a:lnTo>
                    <a:pt x="4572" y="27431"/>
                  </a:lnTo>
                </a:path>
                <a:path w="2418715" h="5080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0800">
                  <a:moveTo>
                    <a:pt x="0" y="32003"/>
                  </a:moveTo>
                  <a:lnTo>
                    <a:pt x="4572" y="32003"/>
                  </a:lnTo>
                </a:path>
                <a:path w="2418715" h="5080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0800">
                  <a:moveTo>
                    <a:pt x="0" y="36575"/>
                  </a:moveTo>
                  <a:lnTo>
                    <a:pt x="4572" y="36575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0800">
                  <a:moveTo>
                    <a:pt x="0" y="50291"/>
                  </a:moveTo>
                  <a:lnTo>
                    <a:pt x="4572" y="5029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895843" y="23248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292339" y="2324862"/>
              <a:ext cx="2418715" cy="18415"/>
            </a:xfrm>
            <a:custGeom>
              <a:avLst/>
              <a:gdLst/>
              <a:ahLst/>
              <a:cxnLst/>
              <a:rect l="l" t="t" r="r" b="b"/>
              <a:pathLst>
                <a:path w="2418715" h="18414">
                  <a:moveTo>
                    <a:pt x="2414016" y="0"/>
                  </a:moveTo>
                  <a:lnTo>
                    <a:pt x="2418588" y="0"/>
                  </a:lnTo>
                </a:path>
                <a:path w="2418715" h="18414">
                  <a:moveTo>
                    <a:pt x="0" y="4572"/>
                  </a:moveTo>
                  <a:lnTo>
                    <a:pt x="4572" y="4572"/>
                  </a:lnTo>
                </a:path>
                <a:path w="2418715" h="1841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8414">
                  <a:moveTo>
                    <a:pt x="0" y="9144"/>
                  </a:moveTo>
                  <a:lnTo>
                    <a:pt x="4572" y="9144"/>
                  </a:lnTo>
                </a:path>
                <a:path w="2418715" h="1841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8414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18414">
                  <a:moveTo>
                    <a:pt x="2414016" y="18288"/>
                  </a:moveTo>
                  <a:lnTo>
                    <a:pt x="2418588" y="1828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7" name="object 12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872983" y="2400300"/>
              <a:ext cx="64008" cy="36576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251191" y="2400300"/>
              <a:ext cx="109728" cy="3657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093707" y="2395727"/>
              <a:ext cx="41148" cy="4114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697211" y="2345436"/>
              <a:ext cx="68579" cy="9144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485631" y="2400300"/>
              <a:ext cx="41148" cy="36576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7144511" y="1303013"/>
              <a:ext cx="2646045" cy="1173480"/>
            </a:xfrm>
            <a:custGeom>
              <a:avLst/>
              <a:gdLst/>
              <a:ahLst/>
              <a:cxnLst/>
              <a:rect l="l" t="t" r="r" b="b"/>
              <a:pathLst>
                <a:path w="2646045" h="1173480">
                  <a:moveTo>
                    <a:pt x="2645664" y="1168914"/>
                  </a:moveTo>
                  <a:lnTo>
                    <a:pt x="2645664" y="4572"/>
                  </a:lnTo>
                  <a:lnTo>
                    <a:pt x="26395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68914"/>
                  </a:lnTo>
                  <a:lnTo>
                    <a:pt x="4572" y="1173486"/>
                  </a:lnTo>
                  <a:lnTo>
                    <a:pt x="10668" y="1173486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21280" y="22860"/>
                  </a:lnTo>
                  <a:lnTo>
                    <a:pt x="2621280" y="10668"/>
                  </a:lnTo>
                  <a:lnTo>
                    <a:pt x="2633472" y="22860"/>
                  </a:lnTo>
                  <a:lnTo>
                    <a:pt x="2633472" y="1173486"/>
                  </a:lnTo>
                  <a:lnTo>
                    <a:pt x="2639568" y="1173486"/>
                  </a:lnTo>
                  <a:lnTo>
                    <a:pt x="2645664" y="1168914"/>
                  </a:lnTo>
                  <a:close/>
                </a:path>
                <a:path w="2646045" h="117348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646045" h="1173480">
                  <a:moveTo>
                    <a:pt x="22860" y="115062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50626"/>
                  </a:lnTo>
                  <a:lnTo>
                    <a:pt x="22860" y="1150626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10668" y="1150626"/>
                  </a:lnTo>
                  <a:lnTo>
                    <a:pt x="22860" y="1161294"/>
                  </a:lnTo>
                  <a:lnTo>
                    <a:pt x="22860" y="1173486"/>
                  </a:lnTo>
                  <a:lnTo>
                    <a:pt x="2621280" y="1173486"/>
                  </a:lnTo>
                  <a:lnTo>
                    <a:pt x="2621280" y="1161294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2860" y="1173486"/>
                  </a:moveTo>
                  <a:lnTo>
                    <a:pt x="22860" y="1161294"/>
                  </a:lnTo>
                  <a:lnTo>
                    <a:pt x="10668" y="1150626"/>
                  </a:lnTo>
                  <a:lnTo>
                    <a:pt x="10668" y="1173486"/>
                  </a:lnTo>
                  <a:lnTo>
                    <a:pt x="22860" y="1173486"/>
                  </a:lnTo>
                  <a:close/>
                </a:path>
                <a:path w="2646045" h="1173480">
                  <a:moveTo>
                    <a:pt x="2633472" y="22860"/>
                  </a:moveTo>
                  <a:lnTo>
                    <a:pt x="2621280" y="10668"/>
                  </a:lnTo>
                  <a:lnTo>
                    <a:pt x="2621280" y="22860"/>
                  </a:lnTo>
                  <a:lnTo>
                    <a:pt x="2633472" y="22860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2633472" y="22860"/>
                  </a:lnTo>
                  <a:lnTo>
                    <a:pt x="2621280" y="22860"/>
                  </a:lnTo>
                  <a:lnTo>
                    <a:pt x="2621280" y="1150626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633472" y="1173486"/>
                  </a:moveTo>
                  <a:lnTo>
                    <a:pt x="2633472" y="1150626"/>
                  </a:lnTo>
                  <a:lnTo>
                    <a:pt x="2621280" y="1161294"/>
                  </a:lnTo>
                  <a:lnTo>
                    <a:pt x="2621280" y="1173486"/>
                  </a:lnTo>
                  <a:lnTo>
                    <a:pt x="2633472" y="117348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6" name="Date Placeholder 135">
            <a:extLst>
              <a:ext uri="{FF2B5EF4-FFF2-40B4-BE49-F238E27FC236}">
                <a16:creationId xmlns:a16="http://schemas.microsoft.com/office/drawing/2014/main" id="{A4C81D3E-76FC-242A-9D32-FE9B43C5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29AE-C865-4213-83C4-92F9BF64C836}" type="datetime1">
              <a:rPr lang="en-US" smtClean="0"/>
              <a:t>11/22/2025</a:t>
            </a:fld>
            <a:endParaRPr lang="en-US"/>
          </a:p>
        </p:txBody>
      </p:sp>
      <p:sp>
        <p:nvSpPr>
          <p:cNvPr id="137" name="Footer Placeholder 136">
            <a:extLst>
              <a:ext uri="{FF2B5EF4-FFF2-40B4-BE49-F238E27FC236}">
                <a16:creationId xmlns:a16="http://schemas.microsoft.com/office/drawing/2014/main" id="{2BF64564-89CB-0B73-BEAF-3082650C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38" name="Slide Number Placeholder 137">
            <a:extLst>
              <a:ext uri="{FF2B5EF4-FFF2-40B4-BE49-F238E27FC236}">
                <a16:creationId xmlns:a16="http://schemas.microsoft.com/office/drawing/2014/main" id="{C27B9900-836E-B1FF-A20E-FF7749CF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57" dirty="0"/>
              <a:t> </a:t>
            </a:r>
            <a:r>
              <a:rPr dirty="0"/>
              <a:t>-</a:t>
            </a:r>
            <a:r>
              <a:rPr spc="-22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5046" y="1755945"/>
            <a:ext cx="4000954" cy="38008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77623" indent="-166416">
              <a:spcBef>
                <a:spcPts val="84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Gating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19400" y="2743200"/>
            <a:ext cx="6331323" cy="3345180"/>
            <a:chOff x="2171700" y="3031236"/>
            <a:chExt cx="5057140" cy="2719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179" y="3063240"/>
              <a:ext cx="4995671" cy="26548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71700" y="3031236"/>
              <a:ext cx="5057140" cy="2719070"/>
            </a:xfrm>
            <a:custGeom>
              <a:avLst/>
              <a:gdLst/>
              <a:ahLst/>
              <a:cxnLst/>
              <a:rect l="l" t="t" r="r" b="b"/>
              <a:pathLst>
                <a:path w="5057140" h="2719070">
                  <a:moveTo>
                    <a:pt x="5056632" y="2711196"/>
                  </a:moveTo>
                  <a:lnTo>
                    <a:pt x="5056632" y="7620"/>
                  </a:lnTo>
                  <a:lnTo>
                    <a:pt x="5050536" y="0"/>
                  </a:lnTo>
                  <a:lnTo>
                    <a:pt x="6096" y="0"/>
                  </a:lnTo>
                  <a:lnTo>
                    <a:pt x="0" y="7620"/>
                  </a:lnTo>
                  <a:lnTo>
                    <a:pt x="0" y="2711196"/>
                  </a:lnTo>
                  <a:lnTo>
                    <a:pt x="6096" y="2718816"/>
                  </a:lnTo>
                  <a:lnTo>
                    <a:pt x="15240" y="2718816"/>
                  </a:lnTo>
                  <a:lnTo>
                    <a:pt x="15240" y="32004"/>
                  </a:lnTo>
                  <a:lnTo>
                    <a:pt x="30480" y="16764"/>
                  </a:lnTo>
                  <a:lnTo>
                    <a:pt x="30480" y="32004"/>
                  </a:lnTo>
                  <a:lnTo>
                    <a:pt x="5026152" y="32004"/>
                  </a:lnTo>
                  <a:lnTo>
                    <a:pt x="5026152" y="16764"/>
                  </a:lnTo>
                  <a:lnTo>
                    <a:pt x="5041392" y="32004"/>
                  </a:lnTo>
                  <a:lnTo>
                    <a:pt x="5041392" y="2718816"/>
                  </a:lnTo>
                  <a:lnTo>
                    <a:pt x="5050536" y="2718816"/>
                  </a:lnTo>
                  <a:lnTo>
                    <a:pt x="5056632" y="2711196"/>
                  </a:lnTo>
                  <a:close/>
                </a:path>
                <a:path w="5057140" h="2719070">
                  <a:moveTo>
                    <a:pt x="30480" y="32004"/>
                  </a:moveTo>
                  <a:lnTo>
                    <a:pt x="30480" y="16764"/>
                  </a:lnTo>
                  <a:lnTo>
                    <a:pt x="15240" y="32004"/>
                  </a:lnTo>
                  <a:lnTo>
                    <a:pt x="30480" y="32004"/>
                  </a:lnTo>
                  <a:close/>
                </a:path>
                <a:path w="5057140" h="2719070">
                  <a:moveTo>
                    <a:pt x="30480" y="2686812"/>
                  </a:moveTo>
                  <a:lnTo>
                    <a:pt x="30480" y="32004"/>
                  </a:lnTo>
                  <a:lnTo>
                    <a:pt x="15240" y="32004"/>
                  </a:lnTo>
                  <a:lnTo>
                    <a:pt x="15240" y="2686812"/>
                  </a:lnTo>
                  <a:lnTo>
                    <a:pt x="30480" y="2686812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15240" y="2686812"/>
                  </a:lnTo>
                  <a:lnTo>
                    <a:pt x="30480" y="2703576"/>
                  </a:lnTo>
                  <a:lnTo>
                    <a:pt x="30480" y="2718816"/>
                  </a:lnTo>
                  <a:lnTo>
                    <a:pt x="5026152" y="2718816"/>
                  </a:lnTo>
                  <a:lnTo>
                    <a:pt x="5026152" y="2703576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30480" y="2718816"/>
                  </a:moveTo>
                  <a:lnTo>
                    <a:pt x="30480" y="2703576"/>
                  </a:lnTo>
                  <a:lnTo>
                    <a:pt x="15240" y="2686812"/>
                  </a:lnTo>
                  <a:lnTo>
                    <a:pt x="15240" y="2718816"/>
                  </a:lnTo>
                  <a:lnTo>
                    <a:pt x="30480" y="2718816"/>
                  </a:lnTo>
                  <a:close/>
                </a:path>
                <a:path w="5057140" h="2719070">
                  <a:moveTo>
                    <a:pt x="5041392" y="32004"/>
                  </a:moveTo>
                  <a:lnTo>
                    <a:pt x="5026152" y="16764"/>
                  </a:lnTo>
                  <a:lnTo>
                    <a:pt x="5026152" y="32004"/>
                  </a:lnTo>
                  <a:lnTo>
                    <a:pt x="5041392" y="32004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5041392" y="32004"/>
                  </a:lnTo>
                  <a:lnTo>
                    <a:pt x="5026152" y="32004"/>
                  </a:lnTo>
                  <a:lnTo>
                    <a:pt x="5026152" y="2686812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5041392" y="2718816"/>
                  </a:moveTo>
                  <a:lnTo>
                    <a:pt x="5041392" y="2686812"/>
                  </a:lnTo>
                  <a:lnTo>
                    <a:pt x="5026152" y="2703576"/>
                  </a:lnTo>
                  <a:lnTo>
                    <a:pt x="5026152" y="2718816"/>
                  </a:lnTo>
                  <a:lnTo>
                    <a:pt x="5041392" y="271881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2B50C80-3882-9E24-1927-BAA277F7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093C-3A88-402D-9BDE-9FA9FC4A5826}" type="datetime1">
              <a:rPr lang="en-US" smtClean="0"/>
              <a:t>11/22/2025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A4F2D1-A56F-7B4B-317C-393D5C5E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86E199-FB95-55D0-E13B-092A2CF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</a:t>
            </a:r>
            <a:r>
              <a:rPr spc="-40" dirty="0"/>
              <a:t> </a:t>
            </a:r>
            <a:r>
              <a:rPr dirty="0"/>
              <a:t>-</a:t>
            </a:r>
            <a:r>
              <a:rPr spc="-26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1894" y="1567254"/>
            <a:ext cx="7035706" cy="443899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800" dirty="0">
                <a:latin typeface="Calibri"/>
                <a:cs typeface="Calibri"/>
              </a:rPr>
              <a:t>Plus Junction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Point-</a:t>
            </a:r>
            <a:r>
              <a:rPr sz="2800" dirty="0">
                <a:latin typeface="Calibri"/>
                <a:cs typeface="Calibri"/>
              </a:rPr>
              <a:t>wise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Addition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82931" y="2386092"/>
            <a:ext cx="7294469" cy="3557508"/>
            <a:chOff x="2240280" y="3311652"/>
            <a:chExt cx="5274945" cy="2874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2284" y="3342132"/>
              <a:ext cx="5212079" cy="28117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40280" y="3311652"/>
              <a:ext cx="5274945" cy="2874645"/>
            </a:xfrm>
            <a:custGeom>
              <a:avLst/>
              <a:gdLst/>
              <a:ahLst/>
              <a:cxnLst/>
              <a:rect l="l" t="t" r="r" b="b"/>
              <a:pathLst>
                <a:path w="5274945" h="2874645">
                  <a:moveTo>
                    <a:pt x="5274564" y="2866644"/>
                  </a:moveTo>
                  <a:lnTo>
                    <a:pt x="5274564" y="6096"/>
                  </a:lnTo>
                  <a:lnTo>
                    <a:pt x="5268468" y="0"/>
                  </a:lnTo>
                  <a:lnTo>
                    <a:pt x="7620" y="0"/>
                  </a:lnTo>
                  <a:lnTo>
                    <a:pt x="0" y="6096"/>
                  </a:lnTo>
                  <a:lnTo>
                    <a:pt x="0" y="2866644"/>
                  </a:lnTo>
                  <a:lnTo>
                    <a:pt x="7620" y="2874264"/>
                  </a:lnTo>
                  <a:lnTo>
                    <a:pt x="16764" y="2874264"/>
                  </a:lnTo>
                  <a:lnTo>
                    <a:pt x="16764" y="30480"/>
                  </a:lnTo>
                  <a:lnTo>
                    <a:pt x="32004" y="15240"/>
                  </a:lnTo>
                  <a:lnTo>
                    <a:pt x="32004" y="30480"/>
                  </a:lnTo>
                  <a:lnTo>
                    <a:pt x="5244084" y="30480"/>
                  </a:lnTo>
                  <a:lnTo>
                    <a:pt x="5244084" y="15240"/>
                  </a:lnTo>
                  <a:lnTo>
                    <a:pt x="5259324" y="30480"/>
                  </a:lnTo>
                  <a:lnTo>
                    <a:pt x="5259324" y="2874264"/>
                  </a:lnTo>
                  <a:lnTo>
                    <a:pt x="5268468" y="2874264"/>
                  </a:lnTo>
                  <a:lnTo>
                    <a:pt x="5274564" y="2866644"/>
                  </a:lnTo>
                  <a:close/>
                </a:path>
                <a:path w="5274945" h="2874645">
                  <a:moveTo>
                    <a:pt x="32004" y="30480"/>
                  </a:moveTo>
                  <a:lnTo>
                    <a:pt x="32004" y="15240"/>
                  </a:lnTo>
                  <a:lnTo>
                    <a:pt x="16764" y="30480"/>
                  </a:lnTo>
                  <a:lnTo>
                    <a:pt x="32004" y="30480"/>
                  </a:lnTo>
                  <a:close/>
                </a:path>
                <a:path w="5274945" h="2874645">
                  <a:moveTo>
                    <a:pt x="32004" y="2842260"/>
                  </a:moveTo>
                  <a:lnTo>
                    <a:pt x="32004" y="30480"/>
                  </a:lnTo>
                  <a:lnTo>
                    <a:pt x="16764" y="30480"/>
                  </a:lnTo>
                  <a:lnTo>
                    <a:pt x="16764" y="2842260"/>
                  </a:lnTo>
                  <a:lnTo>
                    <a:pt x="32004" y="284226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16764" y="2842260"/>
                  </a:lnTo>
                  <a:lnTo>
                    <a:pt x="32004" y="2859024"/>
                  </a:lnTo>
                  <a:lnTo>
                    <a:pt x="32004" y="2874264"/>
                  </a:lnTo>
                  <a:lnTo>
                    <a:pt x="5244084" y="2874264"/>
                  </a:lnTo>
                  <a:lnTo>
                    <a:pt x="5244084" y="2859024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32004" y="2874264"/>
                  </a:moveTo>
                  <a:lnTo>
                    <a:pt x="32004" y="2859024"/>
                  </a:lnTo>
                  <a:lnTo>
                    <a:pt x="16764" y="2842260"/>
                  </a:lnTo>
                  <a:lnTo>
                    <a:pt x="16764" y="2874264"/>
                  </a:lnTo>
                  <a:lnTo>
                    <a:pt x="32004" y="2874264"/>
                  </a:lnTo>
                  <a:close/>
                </a:path>
                <a:path w="5274945" h="2874645">
                  <a:moveTo>
                    <a:pt x="5259324" y="30480"/>
                  </a:moveTo>
                  <a:lnTo>
                    <a:pt x="5244084" y="15240"/>
                  </a:lnTo>
                  <a:lnTo>
                    <a:pt x="5244084" y="30480"/>
                  </a:lnTo>
                  <a:lnTo>
                    <a:pt x="5259324" y="3048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5259324" y="30480"/>
                  </a:lnTo>
                  <a:lnTo>
                    <a:pt x="5244084" y="30480"/>
                  </a:lnTo>
                  <a:lnTo>
                    <a:pt x="5244084" y="2842260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5259324" y="2874264"/>
                  </a:moveTo>
                  <a:lnTo>
                    <a:pt x="5259324" y="2842260"/>
                  </a:lnTo>
                  <a:lnTo>
                    <a:pt x="5244084" y="2859024"/>
                  </a:lnTo>
                  <a:lnTo>
                    <a:pt x="5244084" y="2874264"/>
                  </a:lnTo>
                  <a:lnTo>
                    <a:pt x="5259324" y="287426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B15E19A-7275-6C89-9907-35ADF427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91D4B-142B-44D9-91B9-4B2469609F82}" type="datetime1">
              <a:rPr lang="en-US" smtClean="0"/>
              <a:t>11/22/2025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EC98B7C-9155-28F0-A37E-D27386CF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9CD143-50F5-B28B-A3AA-93E49CEF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345039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68566"/>
            <a:ext cx="9829800" cy="2557902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98915" marR="26896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lang="en-US" sz="2200" dirty="0"/>
              <a:t>The first step in our LSTM is to decide what </a:t>
            </a:r>
            <a:r>
              <a:rPr lang="en-US" sz="2200" dirty="0">
                <a:solidFill>
                  <a:srgbClr val="00B0F0"/>
                </a:solidFill>
              </a:rPr>
              <a:t>information we’re going to throw away from the cell state</a:t>
            </a:r>
            <a:r>
              <a:rPr lang="en-US" sz="2200" dirty="0"/>
              <a:t>. This decision is made by a sigmoid layer called the “</a:t>
            </a:r>
            <a:r>
              <a:rPr lang="en-US" sz="2200" dirty="0">
                <a:solidFill>
                  <a:srgbClr val="00B0F0"/>
                </a:solidFill>
              </a:rPr>
              <a:t>forget gate layer</a:t>
            </a:r>
            <a:r>
              <a:rPr lang="en-US" sz="2200" dirty="0"/>
              <a:t>.” </a:t>
            </a:r>
          </a:p>
          <a:p>
            <a:pPr marL="198915" marR="26896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2200" i="1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looks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200" i="1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00" i="1" spc="218" baseline="-203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200" i="1" baseline="-2037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0 	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cell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i="1" spc="-13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00" spc="-9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98915" marR="1199093" indent="-165856">
              <a:spcBef>
                <a:spcPts val="723"/>
              </a:spcBef>
              <a:buFont typeface="Arial MT"/>
              <a:buChar char="•"/>
              <a:tabLst>
                <a:tab pos="200036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represents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“</a:t>
            </a:r>
            <a:r>
              <a:rPr sz="2200" spc="-9" dirty="0">
                <a:solidFill>
                  <a:srgbClr val="FFC000"/>
                </a:solidFill>
                <a:latin typeface="Calibri"/>
                <a:cs typeface="Calibri"/>
              </a:rPr>
              <a:t>completely</a:t>
            </a:r>
            <a:r>
              <a:rPr sz="2200" spc="-57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C000"/>
                </a:solidFill>
                <a:latin typeface="Calibri"/>
                <a:cs typeface="Calibri"/>
              </a:rPr>
              <a:t>keep</a:t>
            </a:r>
            <a:r>
              <a:rPr sz="2200" spc="-4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C000"/>
                </a:solidFill>
                <a:latin typeface="Calibri"/>
                <a:cs typeface="Calibri"/>
              </a:rPr>
              <a:t>this</a:t>
            </a:r>
            <a:r>
              <a:rPr sz="2200" dirty="0">
                <a:latin typeface="Calibri"/>
                <a:cs typeface="Calibri"/>
              </a:rPr>
              <a:t>”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while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represents 	“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completely</a:t>
            </a:r>
            <a:r>
              <a:rPr sz="2200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rid</a:t>
            </a:r>
            <a:r>
              <a:rPr sz="2200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200" spc="-9" dirty="0">
                <a:latin typeface="Calibri"/>
                <a:cs typeface="Calibri"/>
              </a:rPr>
              <a:t>.”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847719"/>
            <a:ext cx="5883469" cy="9716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7382" y="4426468"/>
            <a:ext cx="3141811" cy="20636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400800" y="5069241"/>
            <a:ext cx="3581400" cy="569274"/>
            <a:chOff x="5689092" y="4855464"/>
            <a:chExt cx="3522345" cy="5594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9236" y="5030723"/>
              <a:ext cx="3335915" cy="2880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89092" y="4855464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6096" y="559308"/>
                  </a:lnTo>
                  <a:lnTo>
                    <a:pt x="12192" y="55930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59308"/>
                  </a:lnTo>
                  <a:lnTo>
                    <a:pt x="3515868" y="559308"/>
                  </a:lnTo>
                  <a:lnTo>
                    <a:pt x="3521964" y="554736"/>
                  </a:lnTo>
                  <a:close/>
                </a:path>
                <a:path w="3522345" h="559435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522345" h="559435">
                  <a:moveTo>
                    <a:pt x="24384" y="53644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4384" y="536448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12192" y="536448"/>
                  </a:lnTo>
                  <a:lnTo>
                    <a:pt x="24384" y="548640"/>
                  </a:lnTo>
                  <a:lnTo>
                    <a:pt x="24384" y="559308"/>
                  </a:lnTo>
                  <a:lnTo>
                    <a:pt x="3497580" y="559308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24384" y="559308"/>
                  </a:moveTo>
                  <a:lnTo>
                    <a:pt x="24384" y="548640"/>
                  </a:lnTo>
                  <a:lnTo>
                    <a:pt x="12192" y="536448"/>
                  </a:lnTo>
                  <a:lnTo>
                    <a:pt x="12192" y="559308"/>
                  </a:lnTo>
                  <a:lnTo>
                    <a:pt x="24384" y="559308"/>
                  </a:lnTo>
                  <a:close/>
                </a:path>
                <a:path w="3522345" h="559435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3509772" y="559308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59308"/>
                  </a:lnTo>
                  <a:lnTo>
                    <a:pt x="3509772" y="55930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560A0E3-EB07-2E25-E192-7B0FCEE1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BBD7-BCD6-4E6C-A277-7F8B2E8FDBAD}" type="datetime1">
              <a:rPr lang="en-US" smtClean="0"/>
              <a:t>11/22/2025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4CF0991-1D08-6DC8-2441-2AA03044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43A0CC-00D9-3074-FE31-5B5B1DB8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93" dirty="0"/>
              <a:t> </a:t>
            </a:r>
            <a:r>
              <a:rPr dirty="0"/>
              <a:t>–</a:t>
            </a:r>
            <a:r>
              <a:rPr spc="-57" dirty="0"/>
              <a:t> </a:t>
            </a:r>
            <a:r>
              <a:rPr dirty="0"/>
              <a:t>Forget</a:t>
            </a:r>
            <a:r>
              <a:rPr spc="-84" dirty="0"/>
              <a:t> </a:t>
            </a:r>
            <a:r>
              <a:rPr spc="-9" dirty="0"/>
              <a:t>Layer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5059" y="1752600"/>
            <a:ext cx="9681882" cy="3775958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77062" indent="-165856">
              <a:spcBef>
                <a:spcPts val="304"/>
              </a:spcBef>
              <a:buFont typeface="Arial MT"/>
              <a:buChar char="•"/>
              <a:tabLst>
                <a:tab pos="177062" algn="l"/>
              </a:tabLst>
            </a:pPr>
            <a:r>
              <a:rPr sz="4000" spc="-9" dirty="0"/>
              <a:t>Example:</a:t>
            </a:r>
          </a:p>
          <a:p>
            <a:pPr marL="508774" marR="339556" lvl="1" indent="-164735"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lang="en-US" spc="9" dirty="0">
                <a:solidFill>
                  <a:srgbClr val="0070C0"/>
                </a:solidFill>
                <a:latin typeface="Calibri"/>
                <a:cs typeface="Calibri"/>
              </a:rPr>
              <a:t>"She entered the room, and her cat followed closely behind. The cat seemed eager to play, and it pounced on a toy”</a:t>
            </a:r>
            <a:r>
              <a:rPr lang="en-US" spc="9" dirty="0">
                <a:latin typeface="Calibri"/>
                <a:cs typeface="Calibri"/>
              </a:rPr>
              <a:t>. </a:t>
            </a:r>
          </a:p>
          <a:p>
            <a:pPr marL="508774" marR="339556" lvl="1" indent="-164735"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dirty="0">
                <a:latin typeface="Calibri"/>
                <a:cs typeface="Calibri"/>
              </a:rPr>
              <a:t>Language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trying</a:t>
            </a:r>
            <a:r>
              <a:rPr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predict the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next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word</a:t>
            </a:r>
            <a:r>
              <a:rPr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previous</a:t>
            </a:r>
            <a:r>
              <a:rPr lang="en-US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ones</a:t>
            </a:r>
            <a:r>
              <a:rPr spc="-9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508774" marR="433130" lvl="1" indent="-164735">
              <a:spcBef>
                <a:spcPts val="361"/>
              </a:spcBef>
              <a:buFont typeface="Arial MT"/>
              <a:buChar char="•"/>
              <a:tabLst>
                <a:tab pos="509895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such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problem,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might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include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gender</a:t>
            </a:r>
            <a:r>
              <a:rPr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present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subject</a:t>
            </a:r>
            <a:r>
              <a:rPr dirty="0">
                <a:latin typeface="Calibri"/>
                <a:cs typeface="Calibri"/>
              </a:rPr>
              <a:t>,</a:t>
            </a:r>
            <a:r>
              <a:rPr spc="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correct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pronouns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26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used.</a:t>
            </a:r>
            <a:endParaRPr dirty="0">
              <a:latin typeface="Calibri"/>
              <a:cs typeface="Calibri"/>
            </a:endParaRPr>
          </a:p>
          <a:p>
            <a:pPr marL="509335" lvl="1" indent="-164735">
              <a:spcBef>
                <a:spcPts val="141"/>
              </a:spcBef>
              <a:buFont typeface="Arial MT"/>
              <a:buChar char="•"/>
              <a:tabLst>
                <a:tab pos="509335" algn="l"/>
              </a:tabLst>
            </a:pPr>
            <a:r>
              <a:rPr dirty="0">
                <a:latin typeface="Calibri"/>
                <a:cs typeface="Calibri"/>
              </a:rPr>
              <a:t>When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subject,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we</a:t>
            </a:r>
            <a:r>
              <a:rPr spc="18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want</a:t>
            </a:r>
            <a:r>
              <a:rPr spc="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forget</a:t>
            </a:r>
            <a:r>
              <a:rPr spc="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gender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spc="22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old</a:t>
            </a:r>
            <a:r>
              <a:rPr spc="22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C000"/>
                </a:solidFill>
                <a:latin typeface="Calibri"/>
                <a:cs typeface="Calibri"/>
              </a:rPr>
              <a:t>subject</a:t>
            </a:r>
            <a:r>
              <a:rPr spc="-9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BB16B-C624-B854-4AB2-1BFBDEA3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6560-0E8F-4CB8-B424-90BAD5FC6BB3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D9EB8-073D-8F07-EADE-D13824C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268F4-BD01-3AB0-7402-20582AF6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992405"/>
            <a:ext cx="10744199" cy="2404014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98915" marR="207880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decide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information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we’re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store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cell </a:t>
            </a:r>
            <a:r>
              <a:rPr sz="2800" spc="-9" dirty="0">
                <a:solidFill>
                  <a:srgbClr val="0070C0"/>
                </a:solidFill>
                <a:latin typeface="Calibri"/>
                <a:cs typeface="Calibri"/>
              </a:rPr>
              <a:t>state</a:t>
            </a:r>
            <a:r>
              <a:rPr sz="2800" spc="-9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99475" indent="-165856">
              <a:spcBef>
                <a:spcPts val="459"/>
              </a:spcBef>
              <a:buFont typeface="Arial MT"/>
              <a:buChar char="•"/>
              <a:tabLst>
                <a:tab pos="19947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parts.</a:t>
            </a:r>
            <a:endParaRPr sz="2800" dirty="0">
              <a:latin typeface="Calibri"/>
              <a:cs typeface="Calibri"/>
            </a:endParaRPr>
          </a:p>
          <a:p>
            <a:pPr marL="531747" lvl="1" indent="-164735">
              <a:spcBef>
                <a:spcPts val="190"/>
              </a:spcBef>
              <a:buFont typeface="Arial MT"/>
              <a:buChar char="•"/>
              <a:tabLst>
                <a:tab pos="531747" algn="l"/>
              </a:tabLst>
            </a:pPr>
            <a:r>
              <a:rPr sz="2000" dirty="0">
                <a:latin typeface="Calibri"/>
                <a:cs typeface="Calibri"/>
              </a:rPr>
              <a:t>First,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sigmoid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2000" i="1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r>
              <a:rPr sz="2000" i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decides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we’ll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update.</a:t>
            </a:r>
            <a:endParaRPr sz="2000" dirty="0">
              <a:latin typeface="Calibri"/>
              <a:cs typeface="Calibri"/>
            </a:endParaRPr>
          </a:p>
          <a:p>
            <a:pPr marL="531187" marR="26896" lvl="1" indent="-164735">
              <a:spcBef>
                <a:spcPts val="427"/>
              </a:spcBef>
              <a:buFont typeface="Arial MT"/>
              <a:buChar char="•"/>
              <a:tabLst>
                <a:tab pos="532308" algn="l"/>
              </a:tabLst>
            </a:pPr>
            <a:r>
              <a:rPr sz="2000" dirty="0">
                <a:latin typeface="Calibri"/>
                <a:cs typeface="Calibri"/>
              </a:rPr>
              <a:t>Next,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2000" i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vector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candidate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values,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Ĉ</a:t>
            </a:r>
            <a:r>
              <a:rPr sz="2000" i="1" baseline="-21367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 be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added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state.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step,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we’ll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 to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update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state.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533400"/>
            <a:ext cx="7924800" cy="12099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4572000"/>
            <a:ext cx="2844800" cy="1905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324600" y="5029200"/>
            <a:ext cx="4104565" cy="1052904"/>
            <a:chOff x="5073396" y="4864608"/>
            <a:chExt cx="3450590" cy="8718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3979" y="4963680"/>
              <a:ext cx="3319920" cy="6859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73396" y="4864608"/>
              <a:ext cx="3450590" cy="871855"/>
            </a:xfrm>
            <a:custGeom>
              <a:avLst/>
              <a:gdLst/>
              <a:ahLst/>
              <a:cxnLst/>
              <a:rect l="l" t="t" r="r" b="b"/>
              <a:pathLst>
                <a:path w="3450590" h="871854">
                  <a:moveTo>
                    <a:pt x="3450336" y="865632"/>
                  </a:moveTo>
                  <a:lnTo>
                    <a:pt x="3450336" y="4572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865632"/>
                  </a:lnTo>
                  <a:lnTo>
                    <a:pt x="4572" y="871728"/>
                  </a:lnTo>
                  <a:lnTo>
                    <a:pt x="12192" y="871728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425952" y="22860"/>
                  </a:lnTo>
                  <a:lnTo>
                    <a:pt x="3425952" y="12192"/>
                  </a:lnTo>
                  <a:lnTo>
                    <a:pt x="3438144" y="22860"/>
                  </a:lnTo>
                  <a:lnTo>
                    <a:pt x="3438144" y="871728"/>
                  </a:lnTo>
                  <a:lnTo>
                    <a:pt x="3444240" y="871728"/>
                  </a:lnTo>
                  <a:lnTo>
                    <a:pt x="3450336" y="865632"/>
                  </a:lnTo>
                  <a:close/>
                </a:path>
                <a:path w="3450590" h="87185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450590" h="871854">
                  <a:moveTo>
                    <a:pt x="22860" y="847344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847344"/>
                  </a:lnTo>
                  <a:lnTo>
                    <a:pt x="22860" y="847344"/>
                  </a:lnTo>
                  <a:close/>
                </a:path>
                <a:path w="3450590" h="871854">
                  <a:moveTo>
                    <a:pt x="3438144" y="847344"/>
                  </a:moveTo>
                  <a:lnTo>
                    <a:pt x="12192" y="847344"/>
                  </a:lnTo>
                  <a:lnTo>
                    <a:pt x="22860" y="859536"/>
                  </a:lnTo>
                  <a:lnTo>
                    <a:pt x="22860" y="871728"/>
                  </a:lnTo>
                  <a:lnTo>
                    <a:pt x="3425952" y="871728"/>
                  </a:lnTo>
                  <a:lnTo>
                    <a:pt x="3425952" y="859536"/>
                  </a:lnTo>
                  <a:lnTo>
                    <a:pt x="3438144" y="847344"/>
                  </a:lnTo>
                  <a:close/>
                </a:path>
                <a:path w="3450590" h="871854">
                  <a:moveTo>
                    <a:pt x="22860" y="871728"/>
                  </a:moveTo>
                  <a:lnTo>
                    <a:pt x="22860" y="859536"/>
                  </a:lnTo>
                  <a:lnTo>
                    <a:pt x="12192" y="847344"/>
                  </a:lnTo>
                  <a:lnTo>
                    <a:pt x="12192" y="871728"/>
                  </a:lnTo>
                  <a:lnTo>
                    <a:pt x="22860" y="871728"/>
                  </a:lnTo>
                  <a:close/>
                </a:path>
                <a:path w="3450590" h="871854">
                  <a:moveTo>
                    <a:pt x="3438144" y="22860"/>
                  </a:moveTo>
                  <a:lnTo>
                    <a:pt x="3425952" y="12192"/>
                  </a:lnTo>
                  <a:lnTo>
                    <a:pt x="3425952" y="22860"/>
                  </a:lnTo>
                  <a:lnTo>
                    <a:pt x="3438144" y="22860"/>
                  </a:lnTo>
                  <a:close/>
                </a:path>
                <a:path w="3450590" h="871854">
                  <a:moveTo>
                    <a:pt x="3438144" y="847344"/>
                  </a:moveTo>
                  <a:lnTo>
                    <a:pt x="3438144" y="22860"/>
                  </a:lnTo>
                  <a:lnTo>
                    <a:pt x="3425952" y="22860"/>
                  </a:lnTo>
                  <a:lnTo>
                    <a:pt x="3425952" y="847344"/>
                  </a:lnTo>
                  <a:lnTo>
                    <a:pt x="3438144" y="847344"/>
                  </a:lnTo>
                  <a:close/>
                </a:path>
                <a:path w="3450590" h="871854">
                  <a:moveTo>
                    <a:pt x="3438144" y="871728"/>
                  </a:moveTo>
                  <a:lnTo>
                    <a:pt x="3438144" y="847344"/>
                  </a:lnTo>
                  <a:lnTo>
                    <a:pt x="3425952" y="859536"/>
                  </a:lnTo>
                  <a:lnTo>
                    <a:pt x="3425952" y="871728"/>
                  </a:lnTo>
                  <a:lnTo>
                    <a:pt x="3438144" y="8717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2E202BA-B773-2204-0903-A9B56F77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6470-1104-41A1-9BA2-49482764EEA4}" type="datetime1">
              <a:rPr lang="en-US" smtClean="0"/>
              <a:t>11/22/2025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8094663-A0D6-7CE7-F9EB-DF1B0CA2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1806C47-81D6-3C61-A5E4-38FEBD28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62" dirty="0"/>
              <a:t> </a:t>
            </a:r>
            <a:r>
              <a:rPr dirty="0"/>
              <a:t>–</a:t>
            </a:r>
            <a:r>
              <a:rPr spc="-22" dirty="0"/>
              <a:t> </a:t>
            </a:r>
            <a:r>
              <a:rPr dirty="0"/>
              <a:t>Input</a:t>
            </a:r>
            <a:r>
              <a:rPr spc="-22" dirty="0"/>
              <a:t> </a:t>
            </a:r>
            <a:r>
              <a:rPr spc="-9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2210000"/>
            <a:ext cx="9681882" cy="1879734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77062" indent="-165856">
              <a:lnSpc>
                <a:spcPct val="150000"/>
              </a:lnSpc>
              <a:spcBef>
                <a:spcPts val="304"/>
              </a:spcBef>
              <a:buFont typeface="Arial MT"/>
              <a:buChar char="•"/>
              <a:tabLst>
                <a:tab pos="177062" algn="l"/>
              </a:tabLst>
            </a:pPr>
            <a:r>
              <a:rPr sz="3200" spc="-9" dirty="0">
                <a:latin typeface="Calibri"/>
                <a:cs typeface="Calibri"/>
              </a:rPr>
              <a:t>Example</a:t>
            </a:r>
            <a:endParaRPr sz="3200" dirty="0">
              <a:latin typeface="Calibri"/>
              <a:cs typeface="Calibri"/>
            </a:endParaRPr>
          </a:p>
          <a:p>
            <a:pPr marL="508774" marR="4483" lvl="1" indent="-164735">
              <a:lnSpc>
                <a:spcPct val="150000"/>
              </a:lnSpc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we’d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 to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gender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state,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old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one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we’re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forgetting.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CBC95-3A0C-A025-26E4-FCCAF23E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3F67-04DD-4B7D-B707-0AD85E921309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CCFBC-18BE-DC77-25F8-FE19CD12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801D7-0516-88F9-87C7-D43D625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2087341"/>
            <a:ext cx="10744200" cy="1900822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99475" indent="-165856">
              <a:spcBef>
                <a:spcPts val="582"/>
              </a:spcBef>
              <a:buFont typeface="Arial MT"/>
              <a:buChar char="•"/>
              <a:tabLst>
                <a:tab pos="199475" algn="l"/>
              </a:tabLst>
            </a:pPr>
            <a:r>
              <a:rPr sz="2800" dirty="0">
                <a:latin typeface="Calibri"/>
                <a:cs typeface="Calibri"/>
              </a:rPr>
              <a:t>Update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old</a:t>
            </a:r>
            <a:r>
              <a:rPr sz="280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800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state,</a:t>
            </a:r>
            <a:r>
              <a:rPr sz="2800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400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new</a:t>
            </a:r>
            <a:r>
              <a:rPr sz="28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cell</a:t>
            </a:r>
            <a:r>
              <a:rPr sz="2800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state</a:t>
            </a:r>
            <a:r>
              <a:rPr sz="2800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31" dirty="0">
                <a:solidFill>
                  <a:srgbClr val="0070C0"/>
                </a:solidFill>
                <a:latin typeface="Calibri"/>
                <a:cs typeface="Calibri"/>
              </a:rPr>
              <a:t>C</a:t>
            </a:r>
            <a:r>
              <a:rPr sz="2400" spc="-46" baseline="-2037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endParaRPr sz="2400" baseline="-2037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198915" marR="26896" indent="-165856">
              <a:spcBef>
                <a:spcPts val="763"/>
              </a:spcBef>
              <a:buFont typeface="Arial MT"/>
              <a:buChar char="•"/>
              <a:tabLst>
                <a:tab pos="200036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model,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we’d </a:t>
            </a:r>
            <a:r>
              <a:rPr sz="2800" dirty="0">
                <a:latin typeface="Calibri"/>
                <a:cs typeface="Calibri"/>
              </a:rPr>
              <a:t>actually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drop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information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about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old</a:t>
            </a:r>
            <a:r>
              <a:rPr sz="2800" spc="-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subject’s</a:t>
            </a:r>
            <a:r>
              <a:rPr sz="2800" spc="-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gender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2800" spc="-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add</a:t>
            </a:r>
            <a:r>
              <a:rPr sz="2800" spc="-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 new</a:t>
            </a:r>
            <a:r>
              <a:rPr lang="en-US" sz="2800" spc="-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800" spc="-9" dirty="0">
                <a:solidFill>
                  <a:srgbClr val="0070C0"/>
                </a:solidFill>
                <a:latin typeface="Calibri"/>
                <a:cs typeface="Calibri"/>
              </a:rPr>
              <a:t>information</a:t>
            </a:r>
            <a:r>
              <a:rPr sz="2800" spc="-9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decided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steps.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669244"/>
            <a:ext cx="7924800" cy="1170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266" y="4102582"/>
            <a:ext cx="3358267" cy="2205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00800" y="4821110"/>
            <a:ext cx="3429000" cy="665289"/>
            <a:chOff x="5475732" y="4971285"/>
            <a:chExt cx="3066415" cy="5778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7579" y="5065381"/>
              <a:ext cx="2871889" cy="3276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75732" y="4971285"/>
              <a:ext cx="3066415" cy="577850"/>
            </a:xfrm>
            <a:custGeom>
              <a:avLst/>
              <a:gdLst/>
              <a:ahLst/>
              <a:cxnLst/>
              <a:rect l="l" t="t" r="r" b="b"/>
              <a:pathLst>
                <a:path w="3066415" h="577850">
                  <a:moveTo>
                    <a:pt x="3066288" y="573024"/>
                  </a:moveTo>
                  <a:lnTo>
                    <a:pt x="3066288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6288" y="573024"/>
                  </a:lnTo>
                  <a:close/>
                </a:path>
                <a:path w="306641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641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641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641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641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641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641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 dirty="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AEC7C7B-79DB-394E-5B42-91CD6E7A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C00-D796-4C7B-A2DD-FCDEA66F89B5}" type="datetime1">
              <a:rPr lang="en-US" smtClean="0"/>
              <a:t>11/22/2025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6D305F7-AEE9-C7AD-2682-10E06ACD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E9BFAE-54C1-A559-7E1D-9E904A52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3645" y="2235796"/>
            <a:ext cx="5889251" cy="32540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spc="-9" dirty="0">
                <a:latin typeface="Calibri"/>
                <a:cs typeface="Calibri"/>
              </a:rPr>
              <a:t>Finally,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we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need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decide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what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we’re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going</a:t>
            </a:r>
            <a:r>
              <a:rPr sz="2030" spc="-6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output.</a:t>
            </a:r>
            <a:endParaRPr sz="203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1" y="609600"/>
            <a:ext cx="8299076" cy="14330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040" y="3116426"/>
            <a:ext cx="3860800" cy="252237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239000" y="3799535"/>
            <a:ext cx="3505200" cy="1015859"/>
            <a:chOff x="5408676" y="4219955"/>
            <a:chExt cx="3171825" cy="9099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2589" y="4322383"/>
              <a:ext cx="3017459" cy="6818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8676" y="4219955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5256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5256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5256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69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6968"/>
                  </a:lnTo>
                  <a:lnTo>
                    <a:pt x="22860" y="886968"/>
                  </a:lnTo>
                  <a:close/>
                </a:path>
                <a:path w="3171825" h="909954">
                  <a:moveTo>
                    <a:pt x="3159252" y="886968"/>
                  </a:moveTo>
                  <a:lnTo>
                    <a:pt x="12192" y="886968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6968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6968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6968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6968"/>
                  </a:lnTo>
                  <a:lnTo>
                    <a:pt x="3159252" y="886968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6968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91E19FB-75F3-EFDD-5A77-AD1BC8BE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A7E16-12FC-4239-A532-022E5639A76B}" type="datetime1">
              <a:rPr lang="en-US" smtClean="0"/>
              <a:t>11/22/2025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6CAAD6-13F2-CF3E-E35B-5A2027CC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CE1BA3-A245-6B36-0DBC-3F311004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2610701"/>
            <a:ext cx="11277600" cy="3982237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177623" indent="-166416">
              <a:spcBef>
                <a:spcPts val="35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3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filtered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version.</a:t>
            </a:r>
            <a:endParaRPr sz="2400" dirty="0">
              <a:latin typeface="Calibri"/>
              <a:cs typeface="Calibri"/>
            </a:endParaRPr>
          </a:p>
          <a:p>
            <a:pPr marL="177623" marR="527825" indent="-166977">
              <a:spcBef>
                <a:spcPts val="706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First,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sigmoid</a:t>
            </a:r>
            <a:r>
              <a:rPr sz="2400" i="1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 we’re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going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output.</a:t>
            </a:r>
            <a:endParaRPr sz="2400" dirty="0">
              <a:latin typeface="Calibri"/>
              <a:cs typeface="Calibri"/>
            </a:endParaRPr>
          </a:p>
          <a:p>
            <a:pPr marL="177623" indent="-166416">
              <a:spcBef>
                <a:spcPts val="287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Then,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24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push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between</a:t>
            </a:r>
            <a:endParaRPr sz="2400" dirty="0">
              <a:latin typeface="Calibri"/>
              <a:cs typeface="Calibri"/>
            </a:endParaRPr>
          </a:p>
          <a:p>
            <a:pPr marL="177623" marR="56593">
              <a:spcBef>
                <a:spcPts val="238"/>
              </a:spcBef>
            </a:pPr>
            <a:r>
              <a:rPr sz="2400" dirty="0">
                <a:latin typeface="Calibri"/>
                <a:cs typeface="Calibri"/>
              </a:rPr>
              <a:t>−1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1)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output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sigmoid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70C0"/>
                </a:solidFill>
                <a:latin typeface="Calibri"/>
                <a:cs typeface="Calibri"/>
              </a:rPr>
              <a:t>gate</a:t>
            </a:r>
            <a:r>
              <a:rPr sz="2400" spc="-9" dirty="0">
                <a:latin typeface="Calibri"/>
                <a:cs typeface="Calibri"/>
              </a:rPr>
              <a:t>,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only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to.</a:t>
            </a:r>
            <a:endParaRPr sz="2400" dirty="0">
              <a:latin typeface="Calibri"/>
              <a:cs typeface="Calibri"/>
            </a:endParaRPr>
          </a:p>
          <a:p>
            <a:pPr marL="177623" marR="4483" indent="-166977">
              <a:spcBef>
                <a:spcPts val="732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want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information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relevant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verb,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coming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next.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singular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plural,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so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verb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conjugated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what </a:t>
            </a:r>
            <a:r>
              <a:rPr sz="2400" spc="-9" dirty="0">
                <a:latin typeface="Calibri"/>
                <a:cs typeface="Calibri"/>
              </a:rPr>
              <a:t>follows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next.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1" y="457200"/>
            <a:ext cx="2943580" cy="201073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50411" y="990600"/>
            <a:ext cx="3698389" cy="1113971"/>
            <a:chOff x="4637532" y="1475225"/>
            <a:chExt cx="3171825" cy="9099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445" y="1577659"/>
              <a:ext cx="3017459" cy="681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37532" y="1475225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5">
                  <a:moveTo>
                    <a:pt x="3171444" y="90526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5262"/>
                  </a:lnTo>
                  <a:lnTo>
                    <a:pt x="4572" y="909834"/>
                  </a:lnTo>
                  <a:lnTo>
                    <a:pt x="12192" y="909834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34"/>
                  </a:lnTo>
                  <a:lnTo>
                    <a:pt x="3165348" y="909834"/>
                  </a:lnTo>
                  <a:lnTo>
                    <a:pt x="3171444" y="905262"/>
                  </a:lnTo>
                  <a:close/>
                </a:path>
                <a:path w="3171825" h="909955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5">
                  <a:moveTo>
                    <a:pt x="22860" y="88697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6974"/>
                  </a:lnTo>
                  <a:lnTo>
                    <a:pt x="22860" y="886974"/>
                  </a:lnTo>
                  <a:close/>
                </a:path>
                <a:path w="3171825" h="909955">
                  <a:moveTo>
                    <a:pt x="3159252" y="886974"/>
                  </a:moveTo>
                  <a:lnTo>
                    <a:pt x="12192" y="886974"/>
                  </a:lnTo>
                  <a:lnTo>
                    <a:pt x="22860" y="897642"/>
                  </a:lnTo>
                  <a:lnTo>
                    <a:pt x="22860" y="909834"/>
                  </a:lnTo>
                  <a:lnTo>
                    <a:pt x="3147060" y="909834"/>
                  </a:lnTo>
                  <a:lnTo>
                    <a:pt x="3147060" y="897642"/>
                  </a:lnTo>
                  <a:lnTo>
                    <a:pt x="3159252" y="886974"/>
                  </a:lnTo>
                  <a:close/>
                </a:path>
                <a:path w="3171825" h="909955">
                  <a:moveTo>
                    <a:pt x="22860" y="909834"/>
                  </a:moveTo>
                  <a:lnTo>
                    <a:pt x="22860" y="897642"/>
                  </a:lnTo>
                  <a:lnTo>
                    <a:pt x="12192" y="886974"/>
                  </a:lnTo>
                  <a:lnTo>
                    <a:pt x="12192" y="909834"/>
                  </a:lnTo>
                  <a:lnTo>
                    <a:pt x="22860" y="909834"/>
                  </a:lnTo>
                  <a:close/>
                </a:path>
                <a:path w="3171825" h="909955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5">
                  <a:moveTo>
                    <a:pt x="3159252" y="88697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6974"/>
                  </a:lnTo>
                  <a:lnTo>
                    <a:pt x="3159252" y="886974"/>
                  </a:lnTo>
                  <a:close/>
                </a:path>
                <a:path w="3171825" h="909955">
                  <a:moveTo>
                    <a:pt x="3159252" y="909834"/>
                  </a:moveTo>
                  <a:lnTo>
                    <a:pt x="3159252" y="886974"/>
                  </a:lnTo>
                  <a:lnTo>
                    <a:pt x="3147060" y="897642"/>
                  </a:lnTo>
                  <a:lnTo>
                    <a:pt x="3147060" y="909834"/>
                  </a:lnTo>
                  <a:lnTo>
                    <a:pt x="3159252" y="90983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F8FB6-AD18-12B2-AEA9-65BC70EC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CC076-333C-4392-AC55-EF4BE96F8ED2}" type="datetime1">
              <a:rPr lang="en-US" smtClean="0"/>
              <a:t>11/22/2025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133FB74-0182-B1B6-7B06-D72777EF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045D11-8425-6C93-CED0-0CD72504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163" y="1255955"/>
            <a:ext cx="3482228" cy="2950509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650" y="2273897"/>
            <a:ext cx="353291" cy="1663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73502" y="1235779"/>
            <a:ext cx="3107951" cy="493619"/>
            <a:chOff x="5230368" y="1400549"/>
            <a:chExt cx="3522345" cy="55943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05774" y="1883933"/>
            <a:ext cx="3044638" cy="770965"/>
            <a:chOff x="5266944" y="2135124"/>
            <a:chExt cx="3450590" cy="8737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527" y="2235720"/>
              <a:ext cx="3319920" cy="6859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66944" y="2135124"/>
              <a:ext cx="3450590" cy="873760"/>
            </a:xfrm>
            <a:custGeom>
              <a:avLst/>
              <a:gdLst/>
              <a:ahLst/>
              <a:cxnLst/>
              <a:rect l="l" t="t" r="r" b="b"/>
              <a:pathLst>
                <a:path w="3450590" h="873760">
                  <a:moveTo>
                    <a:pt x="3450336" y="867156"/>
                  </a:moveTo>
                  <a:lnTo>
                    <a:pt x="3450336" y="6096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4572" y="873252"/>
                  </a:lnTo>
                  <a:lnTo>
                    <a:pt x="12192" y="87325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25952" y="24384"/>
                  </a:lnTo>
                  <a:lnTo>
                    <a:pt x="3425952" y="12192"/>
                  </a:lnTo>
                  <a:lnTo>
                    <a:pt x="3438144" y="24384"/>
                  </a:lnTo>
                  <a:lnTo>
                    <a:pt x="3438144" y="873252"/>
                  </a:lnTo>
                  <a:lnTo>
                    <a:pt x="3444240" y="873252"/>
                  </a:lnTo>
                  <a:lnTo>
                    <a:pt x="3450336" y="867156"/>
                  </a:lnTo>
                  <a:close/>
                </a:path>
                <a:path w="3450590" h="87376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50590" h="873760">
                  <a:moveTo>
                    <a:pt x="22860" y="8488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2860" y="848868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12192" y="848868"/>
                  </a:lnTo>
                  <a:lnTo>
                    <a:pt x="22860" y="861060"/>
                  </a:lnTo>
                  <a:lnTo>
                    <a:pt x="22860" y="873252"/>
                  </a:lnTo>
                  <a:lnTo>
                    <a:pt x="3425952" y="873252"/>
                  </a:lnTo>
                  <a:lnTo>
                    <a:pt x="3425952" y="861060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22860" y="873252"/>
                  </a:moveTo>
                  <a:lnTo>
                    <a:pt x="22860" y="861060"/>
                  </a:lnTo>
                  <a:lnTo>
                    <a:pt x="12192" y="848868"/>
                  </a:lnTo>
                  <a:lnTo>
                    <a:pt x="12192" y="873252"/>
                  </a:lnTo>
                  <a:lnTo>
                    <a:pt x="22860" y="873252"/>
                  </a:lnTo>
                  <a:close/>
                </a:path>
                <a:path w="3450590" h="873760">
                  <a:moveTo>
                    <a:pt x="3438144" y="24384"/>
                  </a:moveTo>
                  <a:lnTo>
                    <a:pt x="3425952" y="12192"/>
                  </a:lnTo>
                  <a:lnTo>
                    <a:pt x="3425952" y="24384"/>
                  </a:lnTo>
                  <a:lnTo>
                    <a:pt x="3438144" y="24384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3438144" y="24384"/>
                  </a:lnTo>
                  <a:lnTo>
                    <a:pt x="3425952" y="24384"/>
                  </a:lnTo>
                  <a:lnTo>
                    <a:pt x="3425952" y="848868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3438144" y="873252"/>
                  </a:moveTo>
                  <a:lnTo>
                    <a:pt x="3438144" y="848868"/>
                  </a:lnTo>
                  <a:lnTo>
                    <a:pt x="3425952" y="861060"/>
                  </a:lnTo>
                  <a:lnTo>
                    <a:pt x="3425952" y="873252"/>
                  </a:lnTo>
                  <a:lnTo>
                    <a:pt x="3438144" y="87325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05774" y="2795643"/>
            <a:ext cx="2704540" cy="509868"/>
            <a:chOff x="5266944" y="3168396"/>
            <a:chExt cx="3065145" cy="57785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3262489"/>
              <a:ext cx="2871889" cy="32767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66944" y="3168396"/>
              <a:ext cx="3065145" cy="577850"/>
            </a:xfrm>
            <a:custGeom>
              <a:avLst/>
              <a:gdLst/>
              <a:ahLst/>
              <a:cxnLst/>
              <a:rect l="l" t="t" r="r" b="b"/>
              <a:pathLst>
                <a:path w="3065145" h="577850">
                  <a:moveTo>
                    <a:pt x="3064764" y="573024"/>
                  </a:moveTo>
                  <a:lnTo>
                    <a:pt x="3064764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4764" y="573024"/>
                  </a:lnTo>
                  <a:close/>
                </a:path>
                <a:path w="306514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514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514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05775" y="3446481"/>
            <a:ext cx="2798669" cy="802901"/>
            <a:chOff x="5266944" y="3906011"/>
            <a:chExt cx="3171825" cy="90995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0857" y="4008301"/>
              <a:ext cx="3017459" cy="6806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66944" y="3906011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373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3732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3732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544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5444"/>
                  </a:lnTo>
                  <a:lnTo>
                    <a:pt x="22860" y="88544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12192" y="885444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5444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5444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5444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2000" y="4536588"/>
            <a:ext cx="5257799" cy="507718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Assume</a:t>
            </a:r>
            <a:r>
              <a:rPr sz="1600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0070C0"/>
                </a:solidFill>
                <a:latin typeface="Times New Roman"/>
                <a:cs typeface="Times New Roman"/>
              </a:rPr>
              <a:t>x</a:t>
            </a:r>
            <a:r>
              <a:rPr sz="1600" i="1" spc="13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1600" spc="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10</a:t>
            </a:r>
            <a:r>
              <a:rPr sz="1600" spc="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dimensional</a:t>
            </a:r>
            <a:r>
              <a:rPr sz="1600" spc="7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spc="-9" dirty="0">
                <a:solidFill>
                  <a:srgbClr val="0070C0"/>
                </a:solidFill>
                <a:latin typeface="Calibri"/>
                <a:cs typeface="Calibri"/>
              </a:rPr>
              <a:t>vector</a:t>
            </a:r>
            <a:endParaRPr sz="160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Each</a:t>
            </a:r>
            <a:r>
              <a:rPr sz="1600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LSTM</a:t>
            </a:r>
            <a:r>
              <a:rPr sz="1600" spc="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unit</a:t>
            </a:r>
            <a:r>
              <a:rPr sz="1600" spc="4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has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5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neurons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1600" spc="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hidden</a:t>
            </a:r>
            <a:r>
              <a:rPr sz="1600" spc="4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spc="-9" dirty="0">
                <a:solidFill>
                  <a:srgbClr val="0070C0"/>
                </a:solidFill>
                <a:latin typeface="Calibri"/>
                <a:cs typeface="Calibri"/>
              </a:rPr>
              <a:t>layer</a:t>
            </a:r>
            <a:endParaRPr sz="16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16532" y="4464423"/>
            <a:ext cx="2477060" cy="267821"/>
            <a:chOff x="5279136" y="5059680"/>
            <a:chExt cx="2807335" cy="303530"/>
          </a:xfrm>
        </p:grpSpPr>
        <p:sp>
          <p:nvSpPr>
            <p:cNvPr id="22" name="object 22"/>
            <p:cNvSpPr/>
            <p:nvPr/>
          </p:nvSpPr>
          <p:spPr>
            <a:xfrm>
              <a:off x="5289804" y="5071872"/>
              <a:ext cx="2784475" cy="279400"/>
            </a:xfrm>
            <a:custGeom>
              <a:avLst/>
              <a:gdLst/>
              <a:ahLst/>
              <a:cxnLst/>
              <a:rect l="l" t="t" r="r" b="b"/>
              <a:pathLst>
                <a:path w="2784475" h="279400">
                  <a:moveTo>
                    <a:pt x="2784347" y="278891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4347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279136" y="5059680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4" h="303529">
                  <a:moveTo>
                    <a:pt x="2807208" y="298704"/>
                  </a:moveTo>
                  <a:lnTo>
                    <a:pt x="2807208" y="6096"/>
                  </a:lnTo>
                  <a:lnTo>
                    <a:pt x="2802636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8704"/>
                  </a:lnTo>
                  <a:lnTo>
                    <a:pt x="4572" y="303276"/>
                  </a:lnTo>
                  <a:lnTo>
                    <a:pt x="10668" y="303276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48" y="24384"/>
                  </a:lnTo>
                  <a:lnTo>
                    <a:pt x="2784348" y="12192"/>
                  </a:lnTo>
                  <a:lnTo>
                    <a:pt x="2795016" y="24384"/>
                  </a:lnTo>
                  <a:lnTo>
                    <a:pt x="2795016" y="303276"/>
                  </a:lnTo>
                  <a:lnTo>
                    <a:pt x="2802636" y="303276"/>
                  </a:lnTo>
                  <a:lnTo>
                    <a:pt x="2807208" y="298704"/>
                  </a:lnTo>
                  <a:close/>
                </a:path>
                <a:path w="2807334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807334" h="303529">
                  <a:moveTo>
                    <a:pt x="22860" y="280416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280416"/>
                  </a:lnTo>
                  <a:lnTo>
                    <a:pt x="22860" y="280416"/>
                  </a:lnTo>
                  <a:close/>
                </a:path>
                <a:path w="2807334" h="303529">
                  <a:moveTo>
                    <a:pt x="2795016" y="280416"/>
                  </a:moveTo>
                  <a:lnTo>
                    <a:pt x="10668" y="280416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48" y="303276"/>
                  </a:lnTo>
                  <a:lnTo>
                    <a:pt x="2784348" y="291084"/>
                  </a:lnTo>
                  <a:lnTo>
                    <a:pt x="2795016" y="280416"/>
                  </a:lnTo>
                  <a:close/>
                </a:path>
                <a:path w="2807334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0668" y="280416"/>
                  </a:lnTo>
                  <a:lnTo>
                    <a:pt x="10668" y="303276"/>
                  </a:lnTo>
                  <a:lnTo>
                    <a:pt x="22860" y="303276"/>
                  </a:lnTo>
                  <a:close/>
                </a:path>
                <a:path w="2807334" h="303529">
                  <a:moveTo>
                    <a:pt x="2795016" y="24384"/>
                  </a:moveTo>
                  <a:lnTo>
                    <a:pt x="2784348" y="12192"/>
                  </a:lnTo>
                  <a:lnTo>
                    <a:pt x="2784348" y="24384"/>
                  </a:lnTo>
                  <a:lnTo>
                    <a:pt x="2795016" y="24384"/>
                  </a:lnTo>
                  <a:close/>
                </a:path>
                <a:path w="2807334" h="303529">
                  <a:moveTo>
                    <a:pt x="2795016" y="280416"/>
                  </a:moveTo>
                  <a:lnTo>
                    <a:pt x="2795016" y="24384"/>
                  </a:lnTo>
                  <a:lnTo>
                    <a:pt x="2784348" y="24384"/>
                  </a:lnTo>
                  <a:lnTo>
                    <a:pt x="2784348" y="280416"/>
                  </a:lnTo>
                  <a:lnTo>
                    <a:pt x="2795016" y="280416"/>
                  </a:lnTo>
                  <a:close/>
                </a:path>
                <a:path w="2807334" h="303529">
                  <a:moveTo>
                    <a:pt x="2795016" y="303276"/>
                  </a:moveTo>
                  <a:lnTo>
                    <a:pt x="2795016" y="280416"/>
                  </a:lnTo>
                  <a:lnTo>
                    <a:pt x="2784348" y="291084"/>
                  </a:lnTo>
                  <a:lnTo>
                    <a:pt x="2784348" y="303276"/>
                  </a:lnTo>
                  <a:lnTo>
                    <a:pt x="2795016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784850" y="5117604"/>
              <a:ext cx="2223770" cy="215265"/>
            </a:xfrm>
            <a:custGeom>
              <a:avLst/>
              <a:gdLst/>
              <a:ahLst/>
              <a:cxnLst/>
              <a:rect l="l" t="t" r="r" b="b"/>
              <a:pathLst>
                <a:path w="2223770" h="215264">
                  <a:moveTo>
                    <a:pt x="508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18542" y="214884"/>
                  </a:lnTo>
                  <a:lnTo>
                    <a:pt x="19050" y="214884"/>
                  </a:lnTo>
                  <a:lnTo>
                    <a:pt x="50546" y="214884"/>
                  </a:lnTo>
                  <a:lnTo>
                    <a:pt x="50546" y="205740"/>
                  </a:lnTo>
                  <a:lnTo>
                    <a:pt x="19050" y="205740"/>
                  </a:lnTo>
                  <a:lnTo>
                    <a:pt x="1905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223770" h="215264">
                  <a:moveTo>
                    <a:pt x="2205482" y="205740"/>
                  </a:moveTo>
                  <a:lnTo>
                    <a:pt x="2173478" y="205740"/>
                  </a:lnTo>
                  <a:lnTo>
                    <a:pt x="2173478" y="214884"/>
                  </a:lnTo>
                  <a:lnTo>
                    <a:pt x="2205482" y="214884"/>
                  </a:lnTo>
                  <a:lnTo>
                    <a:pt x="2205482" y="205740"/>
                  </a:lnTo>
                  <a:close/>
                </a:path>
                <a:path w="2223770" h="215264">
                  <a:moveTo>
                    <a:pt x="2223770" y="0"/>
                  </a:moveTo>
                  <a:lnTo>
                    <a:pt x="2205990" y="0"/>
                  </a:lnTo>
                  <a:lnTo>
                    <a:pt x="2172970" y="0"/>
                  </a:lnTo>
                  <a:lnTo>
                    <a:pt x="2172970" y="9144"/>
                  </a:lnTo>
                  <a:lnTo>
                    <a:pt x="2205990" y="9144"/>
                  </a:lnTo>
                  <a:lnTo>
                    <a:pt x="2205990" y="214884"/>
                  </a:lnTo>
                  <a:lnTo>
                    <a:pt x="2223770" y="214884"/>
                  </a:lnTo>
                  <a:lnTo>
                    <a:pt x="2223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316532" y="4811358"/>
            <a:ext cx="2382931" cy="270622"/>
            <a:chOff x="5279136" y="5452872"/>
            <a:chExt cx="2700655" cy="306705"/>
          </a:xfrm>
        </p:grpSpPr>
        <p:sp>
          <p:nvSpPr>
            <p:cNvPr id="26" name="object 26"/>
            <p:cNvSpPr/>
            <p:nvPr/>
          </p:nvSpPr>
          <p:spPr>
            <a:xfrm>
              <a:off x="5289804" y="5465063"/>
              <a:ext cx="2679700" cy="281940"/>
            </a:xfrm>
            <a:custGeom>
              <a:avLst/>
              <a:gdLst/>
              <a:ahLst/>
              <a:cxnLst/>
              <a:rect l="l" t="t" r="r" b="b"/>
              <a:pathLst>
                <a:path w="2679700" h="281939">
                  <a:moveTo>
                    <a:pt x="2679191" y="281939"/>
                  </a:moveTo>
                  <a:lnTo>
                    <a:pt x="2679191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9191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279136" y="5452872"/>
              <a:ext cx="2700655" cy="306705"/>
            </a:xfrm>
            <a:custGeom>
              <a:avLst/>
              <a:gdLst/>
              <a:ahLst/>
              <a:cxnLst/>
              <a:rect l="l" t="t" r="r" b="b"/>
              <a:pathLst>
                <a:path w="2700654" h="306704">
                  <a:moveTo>
                    <a:pt x="2700528" y="301752"/>
                  </a:moveTo>
                  <a:lnTo>
                    <a:pt x="2700528" y="6096"/>
                  </a:lnTo>
                  <a:lnTo>
                    <a:pt x="2695956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301752"/>
                  </a:lnTo>
                  <a:lnTo>
                    <a:pt x="4572" y="306324"/>
                  </a:lnTo>
                  <a:lnTo>
                    <a:pt x="10668" y="306324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677668" y="24384"/>
                  </a:lnTo>
                  <a:lnTo>
                    <a:pt x="2677668" y="12192"/>
                  </a:lnTo>
                  <a:lnTo>
                    <a:pt x="2689860" y="24384"/>
                  </a:lnTo>
                  <a:lnTo>
                    <a:pt x="2689860" y="306324"/>
                  </a:lnTo>
                  <a:lnTo>
                    <a:pt x="2695956" y="306324"/>
                  </a:lnTo>
                  <a:lnTo>
                    <a:pt x="2700528" y="301752"/>
                  </a:lnTo>
                  <a:close/>
                </a:path>
                <a:path w="2700654" h="306704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700654" h="306704">
                  <a:moveTo>
                    <a:pt x="22860" y="283464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283464"/>
                  </a:lnTo>
                  <a:lnTo>
                    <a:pt x="22860" y="283464"/>
                  </a:lnTo>
                  <a:close/>
                </a:path>
                <a:path w="2700654" h="306704">
                  <a:moveTo>
                    <a:pt x="2689860" y="283464"/>
                  </a:moveTo>
                  <a:lnTo>
                    <a:pt x="10668" y="283464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68" y="306324"/>
                  </a:lnTo>
                  <a:lnTo>
                    <a:pt x="2677668" y="294132"/>
                  </a:lnTo>
                  <a:lnTo>
                    <a:pt x="2689860" y="283464"/>
                  </a:lnTo>
                  <a:close/>
                </a:path>
                <a:path w="2700654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0668" y="283464"/>
                  </a:lnTo>
                  <a:lnTo>
                    <a:pt x="10668" y="306324"/>
                  </a:lnTo>
                  <a:lnTo>
                    <a:pt x="22860" y="306324"/>
                  </a:lnTo>
                  <a:close/>
                </a:path>
                <a:path w="2700654" h="306704">
                  <a:moveTo>
                    <a:pt x="2689860" y="24384"/>
                  </a:moveTo>
                  <a:lnTo>
                    <a:pt x="2677668" y="12192"/>
                  </a:lnTo>
                  <a:lnTo>
                    <a:pt x="2677668" y="24384"/>
                  </a:lnTo>
                  <a:lnTo>
                    <a:pt x="2689860" y="24384"/>
                  </a:lnTo>
                  <a:close/>
                </a:path>
                <a:path w="2700654" h="306704">
                  <a:moveTo>
                    <a:pt x="2689860" y="283464"/>
                  </a:moveTo>
                  <a:lnTo>
                    <a:pt x="2689860" y="24384"/>
                  </a:lnTo>
                  <a:lnTo>
                    <a:pt x="2677668" y="24384"/>
                  </a:lnTo>
                  <a:lnTo>
                    <a:pt x="2677668" y="283464"/>
                  </a:lnTo>
                  <a:lnTo>
                    <a:pt x="2689860" y="283464"/>
                  </a:lnTo>
                  <a:close/>
                </a:path>
                <a:path w="2700654" h="306704">
                  <a:moveTo>
                    <a:pt x="2689860" y="306324"/>
                  </a:moveTo>
                  <a:lnTo>
                    <a:pt x="2689860" y="283464"/>
                  </a:lnTo>
                  <a:lnTo>
                    <a:pt x="2677668" y="294132"/>
                  </a:lnTo>
                  <a:lnTo>
                    <a:pt x="2677668" y="306324"/>
                  </a:lnTo>
                  <a:lnTo>
                    <a:pt x="2689860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6120" y="5513844"/>
              <a:ext cx="2115820" cy="215265"/>
            </a:xfrm>
            <a:custGeom>
              <a:avLst/>
              <a:gdLst/>
              <a:ahLst/>
              <a:cxnLst/>
              <a:rect l="l" t="t" r="r" b="b"/>
              <a:pathLst>
                <a:path w="2115820" h="215264">
                  <a:moveTo>
                    <a:pt x="508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18796" y="214884"/>
                  </a:lnTo>
                  <a:lnTo>
                    <a:pt x="19050" y="214884"/>
                  </a:lnTo>
                  <a:lnTo>
                    <a:pt x="50800" y="214884"/>
                  </a:lnTo>
                  <a:lnTo>
                    <a:pt x="50800" y="205740"/>
                  </a:lnTo>
                  <a:lnTo>
                    <a:pt x="19050" y="205740"/>
                  </a:lnTo>
                  <a:lnTo>
                    <a:pt x="1905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115820" h="215264">
                  <a:moveTo>
                    <a:pt x="2097532" y="205740"/>
                  </a:moveTo>
                  <a:lnTo>
                    <a:pt x="2065528" y="205740"/>
                  </a:lnTo>
                  <a:lnTo>
                    <a:pt x="2065528" y="214884"/>
                  </a:lnTo>
                  <a:lnTo>
                    <a:pt x="2097532" y="214884"/>
                  </a:lnTo>
                  <a:lnTo>
                    <a:pt x="2097532" y="205740"/>
                  </a:lnTo>
                  <a:close/>
                </a:path>
                <a:path w="2115820" h="215264">
                  <a:moveTo>
                    <a:pt x="2115820" y="0"/>
                  </a:moveTo>
                  <a:lnTo>
                    <a:pt x="2098040" y="0"/>
                  </a:lnTo>
                  <a:lnTo>
                    <a:pt x="2065020" y="0"/>
                  </a:lnTo>
                  <a:lnTo>
                    <a:pt x="2065020" y="9144"/>
                  </a:lnTo>
                  <a:lnTo>
                    <a:pt x="2098040" y="9144"/>
                  </a:lnTo>
                  <a:lnTo>
                    <a:pt x="2098040" y="214884"/>
                  </a:lnTo>
                  <a:lnTo>
                    <a:pt x="2115820" y="214884"/>
                  </a:lnTo>
                  <a:lnTo>
                    <a:pt x="21158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325942" y="4273294"/>
            <a:ext cx="2375087" cy="710692"/>
          </a:xfrm>
          <a:prstGeom prst="rect">
            <a:avLst/>
          </a:prstGeom>
        </p:spPr>
        <p:txBody>
          <a:bodyPr vert="horz" wrap="square" lIns="0" tIns="118222" rIns="0" bIns="0" rtlCol="0">
            <a:spAutoFit/>
          </a:bodyPr>
          <a:lstStyle/>
          <a:p>
            <a:pPr marL="34740">
              <a:spcBef>
                <a:spcPts val="931"/>
              </a:spcBef>
              <a:tabLst>
                <a:tab pos="485241" algn="l"/>
              </a:tabLst>
            </a:pPr>
            <a:r>
              <a:rPr sz="2382" spc="112" baseline="-20061" dirty="0">
                <a:latin typeface="Cambria"/>
                <a:cs typeface="Cambria"/>
              </a:rPr>
              <a:t>x</a:t>
            </a:r>
            <a:r>
              <a:rPr sz="2382" spc="212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231" baseline="-20061" dirty="0">
                <a:latin typeface="Cambria"/>
                <a:cs typeface="Cambria"/>
              </a:rPr>
              <a:t>x</a:t>
            </a:r>
            <a:r>
              <a:rPr sz="1147" spc="154" dirty="0">
                <a:latin typeface="Cambria"/>
                <a:cs typeface="Cambria"/>
              </a:rPr>
              <a:t>&lt;1&gt;</a:t>
            </a:r>
            <a:r>
              <a:rPr sz="1147" spc="172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212" baseline="-20061" dirty="0">
                <a:latin typeface="Cambria"/>
                <a:cs typeface="Cambria"/>
              </a:rPr>
              <a:t>x</a:t>
            </a:r>
            <a:r>
              <a:rPr sz="1147" spc="141" dirty="0">
                <a:latin typeface="Cambria"/>
                <a:cs typeface="Cambria"/>
              </a:rPr>
              <a:t>&lt;2&gt;</a:t>
            </a:r>
            <a:r>
              <a:rPr sz="2382" spc="212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178" baseline="-20061" dirty="0">
                <a:latin typeface="Cambria"/>
                <a:cs typeface="Cambria"/>
              </a:rPr>
              <a:t>x</a:t>
            </a:r>
            <a:r>
              <a:rPr sz="1147" spc="119" dirty="0">
                <a:latin typeface="Cambria"/>
                <a:cs typeface="Cambria"/>
              </a:rPr>
              <a:t>&lt;10&gt;</a:t>
            </a:r>
            <a:endParaRPr sz="1147">
              <a:latin typeface="Cambria"/>
              <a:cs typeface="Cambria"/>
            </a:endParaRPr>
          </a:p>
          <a:p>
            <a:pPr marL="33619">
              <a:spcBef>
                <a:spcPts val="847"/>
              </a:spcBef>
              <a:tabLst>
                <a:tab pos="486361" algn="l"/>
              </a:tabLst>
            </a:pPr>
            <a:r>
              <a:rPr sz="2382" baseline="-20061" dirty="0">
                <a:latin typeface="Cambria"/>
                <a:cs typeface="Cambria"/>
              </a:rPr>
              <a:t>ℎ</a:t>
            </a:r>
            <a:r>
              <a:rPr sz="2382" spc="191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178" baseline="-20061" dirty="0">
                <a:latin typeface="Cambria"/>
                <a:cs typeface="Cambria"/>
              </a:rPr>
              <a:t>ℎ</a:t>
            </a:r>
            <a:r>
              <a:rPr sz="1147" spc="119" dirty="0">
                <a:latin typeface="Cambria"/>
                <a:cs typeface="Cambria"/>
              </a:rPr>
              <a:t>&lt;1&gt;</a:t>
            </a:r>
            <a:r>
              <a:rPr sz="1147" spc="176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65" baseline="-20061" dirty="0">
                <a:latin typeface="Cambria"/>
                <a:cs typeface="Cambria"/>
              </a:rPr>
              <a:t>ℎ</a:t>
            </a:r>
            <a:r>
              <a:rPr sz="1147" spc="110" dirty="0">
                <a:latin typeface="Cambria"/>
                <a:cs typeface="Cambria"/>
              </a:rPr>
              <a:t>&lt;2&gt;</a:t>
            </a:r>
            <a:r>
              <a:rPr sz="2382" spc="165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58" baseline="-20061" dirty="0">
                <a:latin typeface="Cambria"/>
                <a:cs typeface="Cambria"/>
              </a:rPr>
              <a:t>ℎ</a:t>
            </a:r>
            <a:r>
              <a:rPr sz="1147" spc="106" dirty="0">
                <a:latin typeface="Cambria"/>
                <a:cs typeface="Cambria"/>
              </a:rPr>
              <a:t>&lt;5&gt;</a:t>
            </a:r>
            <a:endParaRPr sz="1147">
              <a:latin typeface="Cambria"/>
              <a:cs typeface="Cambria"/>
            </a:endParaRPr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A4F68907-6D7D-683C-2842-E00C2C60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35060-0D6B-4FC8-852D-A5069C13FFDC}" type="datetime1">
              <a:rPr lang="en-US" smtClean="0"/>
              <a:t>11/22/2025</a:t>
            </a:fld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179D055D-BE85-B7FA-F983-80250AB5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374E39F5-CED9-B0D9-2C1C-0B5C53C8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163" y="1255955"/>
            <a:ext cx="3482228" cy="2950509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650" y="2273897"/>
            <a:ext cx="353291" cy="1663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53331" y="3166782"/>
            <a:ext cx="3107951" cy="495300"/>
            <a:chOff x="5207508" y="3589020"/>
            <a:chExt cx="3522345" cy="56134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76148" y="3764279"/>
              <a:ext cx="3337379" cy="2880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07508" y="3589020"/>
              <a:ext cx="3522345" cy="561340"/>
            </a:xfrm>
            <a:custGeom>
              <a:avLst/>
              <a:gdLst/>
              <a:ahLst/>
              <a:cxnLst/>
              <a:rect l="l" t="t" r="r" b="b"/>
              <a:pathLst>
                <a:path w="3522345" h="561339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4572" y="560832"/>
                  </a:lnTo>
                  <a:lnTo>
                    <a:pt x="12192" y="56083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60832"/>
                  </a:lnTo>
                  <a:lnTo>
                    <a:pt x="3515868" y="560832"/>
                  </a:lnTo>
                  <a:lnTo>
                    <a:pt x="3521964" y="554736"/>
                  </a:lnTo>
                  <a:close/>
                </a:path>
                <a:path w="3522345" h="56133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522345" h="561339">
                  <a:moveTo>
                    <a:pt x="22860" y="53644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2860" y="536448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12192" y="536448"/>
                  </a:lnTo>
                  <a:lnTo>
                    <a:pt x="22860" y="548640"/>
                  </a:lnTo>
                  <a:lnTo>
                    <a:pt x="22860" y="560832"/>
                  </a:lnTo>
                  <a:lnTo>
                    <a:pt x="3497580" y="560832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22860" y="560832"/>
                  </a:moveTo>
                  <a:lnTo>
                    <a:pt x="22860" y="548640"/>
                  </a:lnTo>
                  <a:lnTo>
                    <a:pt x="12192" y="536448"/>
                  </a:lnTo>
                  <a:lnTo>
                    <a:pt x="12192" y="560832"/>
                  </a:lnTo>
                  <a:lnTo>
                    <a:pt x="22860" y="560832"/>
                  </a:lnTo>
                  <a:close/>
                </a:path>
                <a:path w="3522345" h="561339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3509772" y="560832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60832"/>
                  </a:lnTo>
                  <a:lnTo>
                    <a:pt x="3509772" y="56083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470667" y="4467113"/>
            <a:ext cx="2477060" cy="267821"/>
            <a:chOff x="920489" y="5062728"/>
            <a:chExt cx="2807335" cy="303530"/>
          </a:xfrm>
        </p:grpSpPr>
        <p:sp>
          <p:nvSpPr>
            <p:cNvPr id="12" name="object 12"/>
            <p:cNvSpPr/>
            <p:nvPr/>
          </p:nvSpPr>
          <p:spPr>
            <a:xfrm>
              <a:off x="932681" y="5074919"/>
              <a:ext cx="2783205" cy="279400"/>
            </a:xfrm>
            <a:custGeom>
              <a:avLst/>
              <a:gdLst/>
              <a:ahLst/>
              <a:cxnLst/>
              <a:rect l="l" t="t" r="r" b="b"/>
              <a:pathLst>
                <a:path w="2783204" h="279400">
                  <a:moveTo>
                    <a:pt x="2782823" y="278891"/>
                  </a:moveTo>
                  <a:lnTo>
                    <a:pt x="2782823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2823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489" y="5062728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4572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5022" y="24384"/>
                  </a:lnTo>
                  <a:lnTo>
                    <a:pt x="2795022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2807335" h="303529">
                  <a:moveTo>
                    <a:pt x="22860" y="278892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2860" y="278892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12192" y="278892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2860" y="303276"/>
                  </a:lnTo>
                  <a:close/>
                </a:path>
                <a:path w="2807335" h="303529">
                  <a:moveTo>
                    <a:pt x="2795022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5022" y="24384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2795022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795022" y="303276"/>
                  </a:moveTo>
                  <a:lnTo>
                    <a:pt x="2795022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5022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426210" y="5120652"/>
              <a:ext cx="2225040" cy="215265"/>
            </a:xfrm>
            <a:custGeom>
              <a:avLst/>
              <a:gdLst/>
              <a:ahLst/>
              <a:cxnLst/>
              <a:rect l="l" t="t" r="r" b="b"/>
              <a:pathLst>
                <a:path w="2225040" h="215264">
                  <a:moveTo>
                    <a:pt x="50800" y="0"/>
                  </a:moveTo>
                  <a:lnTo>
                    <a:pt x="2032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20053" y="214884"/>
                  </a:lnTo>
                  <a:lnTo>
                    <a:pt x="20320" y="214884"/>
                  </a:lnTo>
                  <a:lnTo>
                    <a:pt x="50533" y="214884"/>
                  </a:lnTo>
                  <a:lnTo>
                    <a:pt x="50533" y="205740"/>
                  </a:lnTo>
                  <a:lnTo>
                    <a:pt x="20320" y="205740"/>
                  </a:lnTo>
                  <a:lnTo>
                    <a:pt x="2032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225040" h="215264">
                  <a:moveTo>
                    <a:pt x="2205482" y="205740"/>
                  </a:moveTo>
                  <a:lnTo>
                    <a:pt x="2175002" y="205740"/>
                  </a:lnTo>
                  <a:lnTo>
                    <a:pt x="2175002" y="214884"/>
                  </a:lnTo>
                  <a:lnTo>
                    <a:pt x="2205482" y="214884"/>
                  </a:lnTo>
                  <a:lnTo>
                    <a:pt x="2205482" y="205740"/>
                  </a:lnTo>
                  <a:close/>
                </a:path>
                <a:path w="2225040" h="215264">
                  <a:moveTo>
                    <a:pt x="2225040" y="0"/>
                  </a:moveTo>
                  <a:lnTo>
                    <a:pt x="2205990" y="0"/>
                  </a:lnTo>
                  <a:lnTo>
                    <a:pt x="2175510" y="0"/>
                  </a:lnTo>
                  <a:lnTo>
                    <a:pt x="2175510" y="9144"/>
                  </a:lnTo>
                  <a:lnTo>
                    <a:pt x="2205990" y="9144"/>
                  </a:lnTo>
                  <a:lnTo>
                    <a:pt x="2205990" y="214884"/>
                  </a:lnTo>
                  <a:lnTo>
                    <a:pt x="2225040" y="214884"/>
                  </a:lnTo>
                  <a:lnTo>
                    <a:pt x="2225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470667" y="4814048"/>
            <a:ext cx="2384612" cy="270622"/>
            <a:chOff x="920489" y="5455920"/>
            <a:chExt cx="2702560" cy="306705"/>
          </a:xfrm>
        </p:grpSpPr>
        <p:sp>
          <p:nvSpPr>
            <p:cNvPr id="16" name="object 16"/>
            <p:cNvSpPr/>
            <p:nvPr/>
          </p:nvSpPr>
          <p:spPr>
            <a:xfrm>
              <a:off x="932681" y="5468111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920489" y="5455920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4572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2702560" h="306704">
                  <a:moveTo>
                    <a:pt x="22860" y="28194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2860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2860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7480" y="5516892"/>
              <a:ext cx="2117090" cy="215265"/>
            </a:xfrm>
            <a:custGeom>
              <a:avLst/>
              <a:gdLst/>
              <a:ahLst/>
              <a:cxnLst/>
              <a:rect l="l" t="t" r="r" b="b"/>
              <a:pathLst>
                <a:path w="2117090" h="215264">
                  <a:moveTo>
                    <a:pt x="50800" y="0"/>
                  </a:moveTo>
                  <a:lnTo>
                    <a:pt x="2032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20307" y="214884"/>
                  </a:lnTo>
                  <a:lnTo>
                    <a:pt x="50787" y="214884"/>
                  </a:lnTo>
                  <a:lnTo>
                    <a:pt x="50787" y="205740"/>
                  </a:lnTo>
                  <a:lnTo>
                    <a:pt x="20320" y="205740"/>
                  </a:lnTo>
                  <a:lnTo>
                    <a:pt x="2032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117090" h="215264">
                  <a:moveTo>
                    <a:pt x="2097532" y="205740"/>
                  </a:moveTo>
                  <a:lnTo>
                    <a:pt x="2067052" y="205740"/>
                  </a:lnTo>
                  <a:lnTo>
                    <a:pt x="2067052" y="214884"/>
                  </a:lnTo>
                  <a:lnTo>
                    <a:pt x="2097532" y="214884"/>
                  </a:lnTo>
                  <a:lnTo>
                    <a:pt x="2097532" y="205740"/>
                  </a:lnTo>
                  <a:close/>
                </a:path>
                <a:path w="2117090" h="215264">
                  <a:moveTo>
                    <a:pt x="2117090" y="0"/>
                  </a:moveTo>
                  <a:lnTo>
                    <a:pt x="2098040" y="0"/>
                  </a:lnTo>
                  <a:lnTo>
                    <a:pt x="2067560" y="0"/>
                  </a:lnTo>
                  <a:lnTo>
                    <a:pt x="2067560" y="9144"/>
                  </a:lnTo>
                  <a:lnTo>
                    <a:pt x="2098040" y="9144"/>
                  </a:lnTo>
                  <a:lnTo>
                    <a:pt x="2098040" y="214884"/>
                  </a:lnTo>
                  <a:lnTo>
                    <a:pt x="2117090" y="214884"/>
                  </a:lnTo>
                  <a:lnTo>
                    <a:pt x="2117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80080" y="4274639"/>
            <a:ext cx="2375087" cy="710692"/>
          </a:xfrm>
          <a:prstGeom prst="rect">
            <a:avLst/>
          </a:prstGeom>
        </p:spPr>
        <p:txBody>
          <a:bodyPr vert="horz" wrap="square" lIns="0" tIns="118222" rIns="0" bIns="0" rtlCol="0">
            <a:spAutoFit/>
          </a:bodyPr>
          <a:lstStyle/>
          <a:p>
            <a:pPr marL="34740">
              <a:spcBef>
                <a:spcPts val="931"/>
              </a:spcBef>
              <a:tabLst>
                <a:tab pos="485241" algn="l"/>
              </a:tabLst>
            </a:pPr>
            <a:r>
              <a:rPr sz="2382" spc="112" baseline="-20061" dirty="0">
                <a:latin typeface="Cambria"/>
                <a:cs typeface="Cambria"/>
              </a:rPr>
              <a:t>x</a:t>
            </a:r>
            <a:r>
              <a:rPr sz="2382" spc="212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231" baseline="-20061" dirty="0">
                <a:latin typeface="Cambria"/>
                <a:cs typeface="Cambria"/>
              </a:rPr>
              <a:t>x</a:t>
            </a:r>
            <a:r>
              <a:rPr sz="1147" spc="154" dirty="0">
                <a:latin typeface="Cambria"/>
                <a:cs typeface="Cambria"/>
              </a:rPr>
              <a:t>&lt;1&gt;</a:t>
            </a:r>
            <a:r>
              <a:rPr sz="1147" spc="172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212" baseline="-20061" dirty="0">
                <a:latin typeface="Cambria"/>
                <a:cs typeface="Cambria"/>
              </a:rPr>
              <a:t>x</a:t>
            </a:r>
            <a:r>
              <a:rPr sz="1147" spc="141" dirty="0">
                <a:latin typeface="Cambria"/>
                <a:cs typeface="Cambria"/>
              </a:rPr>
              <a:t>&lt;2&gt;</a:t>
            </a:r>
            <a:r>
              <a:rPr sz="2382" spc="212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178" baseline="-20061" dirty="0">
                <a:latin typeface="Cambria"/>
                <a:cs typeface="Cambria"/>
              </a:rPr>
              <a:t>x</a:t>
            </a:r>
            <a:r>
              <a:rPr sz="1147" spc="119" dirty="0">
                <a:latin typeface="Cambria"/>
                <a:cs typeface="Cambria"/>
              </a:rPr>
              <a:t>&lt;10&gt;</a:t>
            </a:r>
            <a:endParaRPr sz="1147">
              <a:latin typeface="Cambria"/>
              <a:cs typeface="Cambria"/>
            </a:endParaRPr>
          </a:p>
          <a:p>
            <a:pPr marL="33619">
              <a:spcBef>
                <a:spcPts val="847"/>
              </a:spcBef>
              <a:tabLst>
                <a:tab pos="486361" algn="l"/>
              </a:tabLst>
            </a:pPr>
            <a:r>
              <a:rPr sz="2382" baseline="-20061" dirty="0">
                <a:latin typeface="Cambria"/>
                <a:cs typeface="Cambria"/>
              </a:rPr>
              <a:t>ℎ</a:t>
            </a:r>
            <a:r>
              <a:rPr sz="2382" spc="191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178" baseline="-20061" dirty="0">
                <a:latin typeface="Cambria"/>
                <a:cs typeface="Cambria"/>
              </a:rPr>
              <a:t>ℎ</a:t>
            </a:r>
            <a:r>
              <a:rPr sz="1147" spc="119" dirty="0">
                <a:latin typeface="Cambria"/>
                <a:cs typeface="Cambria"/>
              </a:rPr>
              <a:t>&lt;1&gt;</a:t>
            </a:r>
            <a:r>
              <a:rPr sz="1147" spc="176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65" baseline="-20061" dirty="0">
                <a:latin typeface="Cambria"/>
                <a:cs typeface="Cambria"/>
              </a:rPr>
              <a:t>ℎ</a:t>
            </a:r>
            <a:r>
              <a:rPr sz="1147" spc="110" dirty="0">
                <a:latin typeface="Cambria"/>
                <a:cs typeface="Cambria"/>
              </a:rPr>
              <a:t>&lt;2&gt;</a:t>
            </a:r>
            <a:r>
              <a:rPr sz="2382" spc="165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58" baseline="-20061" dirty="0">
                <a:latin typeface="Cambria"/>
                <a:cs typeface="Cambria"/>
              </a:rPr>
              <a:t>ℎ</a:t>
            </a:r>
            <a:r>
              <a:rPr sz="1147" spc="106" dirty="0">
                <a:latin typeface="Cambria"/>
                <a:cs typeface="Cambria"/>
              </a:rPr>
              <a:t>&lt;5&gt;</a:t>
            </a:r>
            <a:endParaRPr sz="1147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581016" y="1717190"/>
            <a:ext cx="349624" cy="899832"/>
            <a:chOff x="7845552" y="1946148"/>
            <a:chExt cx="396240" cy="101981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6219" y="1956815"/>
              <a:ext cx="374903" cy="9982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845552" y="1946148"/>
              <a:ext cx="396240" cy="1019810"/>
            </a:xfrm>
            <a:custGeom>
              <a:avLst/>
              <a:gdLst/>
              <a:ahLst/>
              <a:cxnLst/>
              <a:rect l="l" t="t" r="r" b="b"/>
              <a:pathLst>
                <a:path w="396240" h="1019810">
                  <a:moveTo>
                    <a:pt x="396240" y="954024"/>
                  </a:moveTo>
                  <a:lnTo>
                    <a:pt x="396240" y="65532"/>
                  </a:lnTo>
                  <a:lnTo>
                    <a:pt x="394716" y="57912"/>
                  </a:lnTo>
                  <a:lnTo>
                    <a:pt x="374904" y="21336"/>
                  </a:lnTo>
                  <a:lnTo>
                    <a:pt x="338328" y="1524"/>
                  </a:lnTo>
                  <a:lnTo>
                    <a:pt x="330708" y="0"/>
                  </a:lnTo>
                  <a:lnTo>
                    <a:pt x="65532" y="0"/>
                  </a:lnTo>
                  <a:lnTo>
                    <a:pt x="21336" y="21336"/>
                  </a:lnTo>
                  <a:lnTo>
                    <a:pt x="1524" y="57912"/>
                  </a:lnTo>
                  <a:lnTo>
                    <a:pt x="0" y="65532"/>
                  </a:lnTo>
                  <a:lnTo>
                    <a:pt x="0" y="954024"/>
                  </a:lnTo>
                  <a:lnTo>
                    <a:pt x="21336" y="998220"/>
                  </a:lnTo>
                  <a:lnTo>
                    <a:pt x="21336" y="64008"/>
                  </a:lnTo>
                  <a:lnTo>
                    <a:pt x="22860" y="57912"/>
                  </a:lnTo>
                  <a:lnTo>
                    <a:pt x="24384" y="55626"/>
                  </a:lnTo>
                  <a:lnTo>
                    <a:pt x="24384" y="53340"/>
                  </a:lnTo>
                  <a:lnTo>
                    <a:pt x="30480" y="42672"/>
                  </a:lnTo>
                  <a:lnTo>
                    <a:pt x="30480" y="43586"/>
                  </a:lnTo>
                  <a:lnTo>
                    <a:pt x="35052" y="37185"/>
                  </a:lnTo>
                  <a:lnTo>
                    <a:pt x="35052" y="36576"/>
                  </a:lnTo>
                  <a:lnTo>
                    <a:pt x="36576" y="35052"/>
                  </a:lnTo>
                  <a:lnTo>
                    <a:pt x="36576" y="35306"/>
                  </a:lnTo>
                  <a:lnTo>
                    <a:pt x="44196" y="28956"/>
                  </a:lnTo>
                  <a:lnTo>
                    <a:pt x="44196" y="29609"/>
                  </a:lnTo>
                  <a:lnTo>
                    <a:pt x="53340" y="24384"/>
                  </a:lnTo>
                  <a:lnTo>
                    <a:pt x="53340" y="25146"/>
                  </a:lnTo>
                  <a:lnTo>
                    <a:pt x="57912" y="22860"/>
                  </a:lnTo>
                  <a:lnTo>
                    <a:pt x="57912" y="24384"/>
                  </a:lnTo>
                  <a:lnTo>
                    <a:pt x="62484" y="22860"/>
                  </a:lnTo>
                  <a:lnTo>
                    <a:pt x="67056" y="21717"/>
                  </a:lnTo>
                  <a:lnTo>
                    <a:pt x="67056" y="21336"/>
                  </a:lnTo>
                  <a:lnTo>
                    <a:pt x="329184" y="21336"/>
                  </a:lnTo>
                  <a:lnTo>
                    <a:pt x="329184" y="21717"/>
                  </a:lnTo>
                  <a:lnTo>
                    <a:pt x="333756" y="22860"/>
                  </a:lnTo>
                  <a:lnTo>
                    <a:pt x="333756" y="23241"/>
                  </a:lnTo>
                  <a:lnTo>
                    <a:pt x="338328" y="24384"/>
                  </a:lnTo>
                  <a:lnTo>
                    <a:pt x="338328" y="22860"/>
                  </a:lnTo>
                  <a:lnTo>
                    <a:pt x="342900" y="25908"/>
                  </a:lnTo>
                  <a:lnTo>
                    <a:pt x="342900" y="24384"/>
                  </a:lnTo>
                  <a:lnTo>
                    <a:pt x="353568" y="30480"/>
                  </a:lnTo>
                  <a:lnTo>
                    <a:pt x="353568" y="31133"/>
                  </a:lnTo>
                  <a:lnTo>
                    <a:pt x="359664" y="35487"/>
                  </a:lnTo>
                  <a:lnTo>
                    <a:pt x="359664" y="35052"/>
                  </a:lnTo>
                  <a:lnTo>
                    <a:pt x="361188" y="36576"/>
                  </a:lnTo>
                  <a:lnTo>
                    <a:pt x="361188" y="37185"/>
                  </a:lnTo>
                  <a:lnTo>
                    <a:pt x="365760" y="43586"/>
                  </a:lnTo>
                  <a:lnTo>
                    <a:pt x="365760" y="42672"/>
                  </a:lnTo>
                  <a:lnTo>
                    <a:pt x="371856" y="53340"/>
                  </a:lnTo>
                  <a:lnTo>
                    <a:pt x="371856" y="55626"/>
                  </a:lnTo>
                  <a:lnTo>
                    <a:pt x="373380" y="57912"/>
                  </a:lnTo>
                  <a:lnTo>
                    <a:pt x="373380" y="62484"/>
                  </a:lnTo>
                  <a:lnTo>
                    <a:pt x="374904" y="68580"/>
                  </a:lnTo>
                  <a:lnTo>
                    <a:pt x="374904" y="998220"/>
                  </a:lnTo>
                  <a:lnTo>
                    <a:pt x="384048" y="987552"/>
                  </a:lnTo>
                  <a:lnTo>
                    <a:pt x="390144" y="975360"/>
                  </a:lnTo>
                  <a:lnTo>
                    <a:pt x="393192" y="967740"/>
                  </a:lnTo>
                  <a:lnTo>
                    <a:pt x="394716" y="961644"/>
                  </a:lnTo>
                  <a:lnTo>
                    <a:pt x="396240" y="954024"/>
                  </a:lnTo>
                  <a:close/>
                </a:path>
                <a:path w="396240" h="1019810">
                  <a:moveTo>
                    <a:pt x="22860" y="62484"/>
                  </a:moveTo>
                  <a:lnTo>
                    <a:pt x="21336" y="64008"/>
                  </a:lnTo>
                  <a:lnTo>
                    <a:pt x="21336" y="68580"/>
                  </a:lnTo>
                  <a:lnTo>
                    <a:pt x="22860" y="62484"/>
                  </a:lnTo>
                  <a:close/>
                </a:path>
                <a:path w="396240" h="1019810">
                  <a:moveTo>
                    <a:pt x="22860" y="957072"/>
                  </a:moveTo>
                  <a:lnTo>
                    <a:pt x="21336" y="950976"/>
                  </a:lnTo>
                  <a:lnTo>
                    <a:pt x="21336" y="957072"/>
                  </a:lnTo>
                  <a:lnTo>
                    <a:pt x="22860" y="957072"/>
                  </a:lnTo>
                  <a:close/>
                </a:path>
                <a:path w="396240" h="1019810">
                  <a:moveTo>
                    <a:pt x="25908" y="967740"/>
                  </a:moveTo>
                  <a:lnTo>
                    <a:pt x="22860" y="961644"/>
                  </a:lnTo>
                  <a:lnTo>
                    <a:pt x="21336" y="957072"/>
                  </a:lnTo>
                  <a:lnTo>
                    <a:pt x="21336" y="998220"/>
                  </a:lnTo>
                  <a:lnTo>
                    <a:pt x="24384" y="1000832"/>
                  </a:lnTo>
                  <a:lnTo>
                    <a:pt x="24384" y="966216"/>
                  </a:lnTo>
                  <a:lnTo>
                    <a:pt x="25908" y="967740"/>
                  </a:lnTo>
                  <a:close/>
                </a:path>
                <a:path w="396240" h="1019810">
                  <a:moveTo>
                    <a:pt x="25908" y="53340"/>
                  </a:moveTo>
                  <a:lnTo>
                    <a:pt x="24384" y="53340"/>
                  </a:lnTo>
                  <a:lnTo>
                    <a:pt x="24384" y="55626"/>
                  </a:lnTo>
                  <a:lnTo>
                    <a:pt x="25908" y="53340"/>
                  </a:lnTo>
                  <a:close/>
                </a:path>
                <a:path w="396240" h="1019810">
                  <a:moveTo>
                    <a:pt x="30480" y="976884"/>
                  </a:moveTo>
                  <a:lnTo>
                    <a:pt x="24384" y="966216"/>
                  </a:lnTo>
                  <a:lnTo>
                    <a:pt x="24384" y="1000832"/>
                  </a:lnTo>
                  <a:lnTo>
                    <a:pt x="28956" y="1004751"/>
                  </a:lnTo>
                  <a:lnTo>
                    <a:pt x="28956" y="975360"/>
                  </a:lnTo>
                  <a:lnTo>
                    <a:pt x="30480" y="976884"/>
                  </a:lnTo>
                  <a:close/>
                </a:path>
                <a:path w="396240" h="1019810">
                  <a:moveTo>
                    <a:pt x="30480" y="43586"/>
                  </a:moveTo>
                  <a:lnTo>
                    <a:pt x="30480" y="42672"/>
                  </a:lnTo>
                  <a:lnTo>
                    <a:pt x="28956" y="45720"/>
                  </a:lnTo>
                  <a:lnTo>
                    <a:pt x="30480" y="43586"/>
                  </a:lnTo>
                  <a:close/>
                </a:path>
                <a:path w="396240" h="1019810">
                  <a:moveTo>
                    <a:pt x="35883" y="983672"/>
                  </a:moveTo>
                  <a:lnTo>
                    <a:pt x="28956" y="975360"/>
                  </a:lnTo>
                  <a:lnTo>
                    <a:pt x="28956" y="1004751"/>
                  </a:lnTo>
                  <a:lnTo>
                    <a:pt x="32004" y="1007364"/>
                  </a:lnTo>
                  <a:lnTo>
                    <a:pt x="35052" y="1008888"/>
                  </a:lnTo>
                  <a:lnTo>
                    <a:pt x="35052" y="982980"/>
                  </a:lnTo>
                  <a:lnTo>
                    <a:pt x="35883" y="983672"/>
                  </a:lnTo>
                  <a:close/>
                </a:path>
                <a:path w="396240" h="1019810">
                  <a:moveTo>
                    <a:pt x="36576" y="35052"/>
                  </a:moveTo>
                  <a:lnTo>
                    <a:pt x="35052" y="36576"/>
                  </a:lnTo>
                  <a:lnTo>
                    <a:pt x="36127" y="35679"/>
                  </a:lnTo>
                  <a:lnTo>
                    <a:pt x="36576" y="35052"/>
                  </a:lnTo>
                  <a:close/>
                </a:path>
                <a:path w="396240" h="1019810">
                  <a:moveTo>
                    <a:pt x="36127" y="35679"/>
                  </a:moveTo>
                  <a:lnTo>
                    <a:pt x="35052" y="36576"/>
                  </a:lnTo>
                  <a:lnTo>
                    <a:pt x="35052" y="37185"/>
                  </a:lnTo>
                  <a:lnTo>
                    <a:pt x="36127" y="35679"/>
                  </a:lnTo>
                  <a:close/>
                </a:path>
                <a:path w="396240" h="1019810">
                  <a:moveTo>
                    <a:pt x="36576" y="984504"/>
                  </a:moveTo>
                  <a:lnTo>
                    <a:pt x="35883" y="983672"/>
                  </a:lnTo>
                  <a:lnTo>
                    <a:pt x="35052" y="982980"/>
                  </a:lnTo>
                  <a:lnTo>
                    <a:pt x="36576" y="984504"/>
                  </a:lnTo>
                  <a:close/>
                </a:path>
                <a:path w="396240" h="1019810">
                  <a:moveTo>
                    <a:pt x="36576" y="1009650"/>
                  </a:moveTo>
                  <a:lnTo>
                    <a:pt x="36576" y="984504"/>
                  </a:lnTo>
                  <a:lnTo>
                    <a:pt x="35052" y="982980"/>
                  </a:lnTo>
                  <a:lnTo>
                    <a:pt x="35052" y="1008888"/>
                  </a:lnTo>
                  <a:lnTo>
                    <a:pt x="36576" y="1009650"/>
                  </a:lnTo>
                  <a:close/>
                </a:path>
                <a:path w="396240" h="1019810">
                  <a:moveTo>
                    <a:pt x="44196" y="1013460"/>
                  </a:moveTo>
                  <a:lnTo>
                    <a:pt x="44196" y="990600"/>
                  </a:lnTo>
                  <a:lnTo>
                    <a:pt x="35883" y="983672"/>
                  </a:lnTo>
                  <a:lnTo>
                    <a:pt x="36576" y="984504"/>
                  </a:lnTo>
                  <a:lnTo>
                    <a:pt x="36576" y="1009650"/>
                  </a:lnTo>
                  <a:lnTo>
                    <a:pt x="44196" y="1013460"/>
                  </a:lnTo>
                  <a:close/>
                </a:path>
                <a:path w="396240" h="1019810">
                  <a:moveTo>
                    <a:pt x="36576" y="35306"/>
                  </a:moveTo>
                  <a:lnTo>
                    <a:pt x="36576" y="35052"/>
                  </a:lnTo>
                  <a:lnTo>
                    <a:pt x="36127" y="35679"/>
                  </a:lnTo>
                  <a:lnTo>
                    <a:pt x="36576" y="35306"/>
                  </a:lnTo>
                  <a:close/>
                </a:path>
                <a:path w="396240" h="1019810">
                  <a:moveTo>
                    <a:pt x="44196" y="29609"/>
                  </a:moveTo>
                  <a:lnTo>
                    <a:pt x="44196" y="28956"/>
                  </a:lnTo>
                  <a:lnTo>
                    <a:pt x="42672" y="30480"/>
                  </a:lnTo>
                  <a:lnTo>
                    <a:pt x="44196" y="29609"/>
                  </a:lnTo>
                  <a:close/>
                </a:path>
                <a:path w="396240" h="1019810">
                  <a:moveTo>
                    <a:pt x="53340" y="1016889"/>
                  </a:moveTo>
                  <a:lnTo>
                    <a:pt x="53340" y="995172"/>
                  </a:lnTo>
                  <a:lnTo>
                    <a:pt x="42672" y="989076"/>
                  </a:lnTo>
                  <a:lnTo>
                    <a:pt x="44196" y="990600"/>
                  </a:lnTo>
                  <a:lnTo>
                    <a:pt x="44196" y="1013460"/>
                  </a:lnTo>
                  <a:lnTo>
                    <a:pt x="51816" y="1016508"/>
                  </a:lnTo>
                  <a:lnTo>
                    <a:pt x="53340" y="1016889"/>
                  </a:lnTo>
                  <a:close/>
                </a:path>
                <a:path w="396240" h="1019810">
                  <a:moveTo>
                    <a:pt x="53340" y="25146"/>
                  </a:moveTo>
                  <a:lnTo>
                    <a:pt x="53340" y="24384"/>
                  </a:lnTo>
                  <a:lnTo>
                    <a:pt x="51816" y="25908"/>
                  </a:lnTo>
                  <a:lnTo>
                    <a:pt x="53340" y="25146"/>
                  </a:lnTo>
                  <a:close/>
                </a:path>
                <a:path w="396240" h="1019810">
                  <a:moveTo>
                    <a:pt x="68580" y="998220"/>
                  </a:moveTo>
                  <a:lnTo>
                    <a:pt x="62484" y="996696"/>
                  </a:lnTo>
                  <a:lnTo>
                    <a:pt x="62484" y="998220"/>
                  </a:lnTo>
                  <a:lnTo>
                    <a:pt x="57912" y="996696"/>
                  </a:lnTo>
                  <a:lnTo>
                    <a:pt x="51816" y="993648"/>
                  </a:lnTo>
                  <a:lnTo>
                    <a:pt x="53340" y="995172"/>
                  </a:lnTo>
                  <a:lnTo>
                    <a:pt x="53340" y="1016889"/>
                  </a:lnTo>
                  <a:lnTo>
                    <a:pt x="57912" y="1018032"/>
                  </a:lnTo>
                  <a:lnTo>
                    <a:pt x="65532" y="1019556"/>
                  </a:lnTo>
                  <a:lnTo>
                    <a:pt x="67056" y="1019556"/>
                  </a:lnTo>
                  <a:lnTo>
                    <a:pt x="67056" y="998220"/>
                  </a:lnTo>
                  <a:lnTo>
                    <a:pt x="68580" y="998220"/>
                  </a:lnTo>
                  <a:close/>
                </a:path>
                <a:path w="396240" h="1019810">
                  <a:moveTo>
                    <a:pt x="68580" y="21336"/>
                  </a:moveTo>
                  <a:lnTo>
                    <a:pt x="67056" y="21336"/>
                  </a:lnTo>
                  <a:lnTo>
                    <a:pt x="67056" y="21717"/>
                  </a:lnTo>
                  <a:lnTo>
                    <a:pt x="68580" y="21336"/>
                  </a:lnTo>
                  <a:close/>
                </a:path>
                <a:path w="396240" h="1019810">
                  <a:moveTo>
                    <a:pt x="329184" y="1019556"/>
                  </a:moveTo>
                  <a:lnTo>
                    <a:pt x="329184" y="998220"/>
                  </a:lnTo>
                  <a:lnTo>
                    <a:pt x="67056" y="998220"/>
                  </a:lnTo>
                  <a:lnTo>
                    <a:pt x="67056" y="1019556"/>
                  </a:lnTo>
                  <a:lnTo>
                    <a:pt x="329184" y="1019556"/>
                  </a:lnTo>
                  <a:close/>
                </a:path>
                <a:path w="396240" h="1019810">
                  <a:moveTo>
                    <a:pt x="329184" y="21717"/>
                  </a:moveTo>
                  <a:lnTo>
                    <a:pt x="329184" y="21336"/>
                  </a:lnTo>
                  <a:lnTo>
                    <a:pt x="327660" y="21336"/>
                  </a:lnTo>
                  <a:lnTo>
                    <a:pt x="329184" y="21717"/>
                  </a:lnTo>
                  <a:close/>
                </a:path>
                <a:path w="396240" h="1019810">
                  <a:moveTo>
                    <a:pt x="333756" y="996696"/>
                  </a:moveTo>
                  <a:lnTo>
                    <a:pt x="327660" y="998220"/>
                  </a:lnTo>
                  <a:lnTo>
                    <a:pt x="329184" y="998220"/>
                  </a:lnTo>
                  <a:lnTo>
                    <a:pt x="329184" y="1019556"/>
                  </a:lnTo>
                  <a:lnTo>
                    <a:pt x="330708" y="1019556"/>
                  </a:lnTo>
                  <a:lnTo>
                    <a:pt x="332232" y="1019251"/>
                  </a:lnTo>
                  <a:lnTo>
                    <a:pt x="332232" y="998220"/>
                  </a:lnTo>
                  <a:lnTo>
                    <a:pt x="333756" y="996696"/>
                  </a:lnTo>
                  <a:close/>
                </a:path>
                <a:path w="396240" h="1019810">
                  <a:moveTo>
                    <a:pt x="333756" y="23241"/>
                  </a:moveTo>
                  <a:lnTo>
                    <a:pt x="333756" y="22860"/>
                  </a:lnTo>
                  <a:lnTo>
                    <a:pt x="332232" y="22860"/>
                  </a:lnTo>
                  <a:lnTo>
                    <a:pt x="333756" y="23241"/>
                  </a:lnTo>
                  <a:close/>
                </a:path>
                <a:path w="396240" h="1019810">
                  <a:moveTo>
                    <a:pt x="353568" y="1012698"/>
                  </a:moveTo>
                  <a:lnTo>
                    <a:pt x="353568" y="989076"/>
                  </a:lnTo>
                  <a:lnTo>
                    <a:pt x="342900" y="995172"/>
                  </a:lnTo>
                  <a:lnTo>
                    <a:pt x="342900" y="993648"/>
                  </a:lnTo>
                  <a:lnTo>
                    <a:pt x="338328" y="996696"/>
                  </a:lnTo>
                  <a:lnTo>
                    <a:pt x="332232" y="998220"/>
                  </a:lnTo>
                  <a:lnTo>
                    <a:pt x="332232" y="1019251"/>
                  </a:lnTo>
                  <a:lnTo>
                    <a:pt x="338328" y="1018032"/>
                  </a:lnTo>
                  <a:lnTo>
                    <a:pt x="344424" y="1016508"/>
                  </a:lnTo>
                  <a:lnTo>
                    <a:pt x="352044" y="1013460"/>
                  </a:lnTo>
                  <a:lnTo>
                    <a:pt x="353568" y="1012698"/>
                  </a:lnTo>
                  <a:close/>
                </a:path>
                <a:path w="396240" h="1019810">
                  <a:moveTo>
                    <a:pt x="353568" y="31133"/>
                  </a:moveTo>
                  <a:lnTo>
                    <a:pt x="353568" y="30480"/>
                  </a:lnTo>
                  <a:lnTo>
                    <a:pt x="350520" y="28956"/>
                  </a:lnTo>
                  <a:lnTo>
                    <a:pt x="353568" y="31133"/>
                  </a:lnTo>
                  <a:close/>
                </a:path>
                <a:path w="396240" h="1019810">
                  <a:moveTo>
                    <a:pt x="360560" y="983428"/>
                  </a:moveTo>
                  <a:lnTo>
                    <a:pt x="350520" y="990600"/>
                  </a:lnTo>
                  <a:lnTo>
                    <a:pt x="353568" y="989076"/>
                  </a:lnTo>
                  <a:lnTo>
                    <a:pt x="353568" y="1012698"/>
                  </a:lnTo>
                  <a:lnTo>
                    <a:pt x="359664" y="1009650"/>
                  </a:lnTo>
                  <a:lnTo>
                    <a:pt x="359664" y="984504"/>
                  </a:lnTo>
                  <a:lnTo>
                    <a:pt x="360560" y="983428"/>
                  </a:lnTo>
                  <a:close/>
                </a:path>
                <a:path w="396240" h="1019810">
                  <a:moveTo>
                    <a:pt x="361188" y="36576"/>
                  </a:moveTo>
                  <a:lnTo>
                    <a:pt x="359664" y="35052"/>
                  </a:lnTo>
                  <a:lnTo>
                    <a:pt x="360299" y="35941"/>
                  </a:lnTo>
                  <a:lnTo>
                    <a:pt x="361188" y="36576"/>
                  </a:lnTo>
                  <a:close/>
                </a:path>
                <a:path w="396240" h="1019810">
                  <a:moveTo>
                    <a:pt x="360299" y="35941"/>
                  </a:moveTo>
                  <a:lnTo>
                    <a:pt x="359664" y="35052"/>
                  </a:lnTo>
                  <a:lnTo>
                    <a:pt x="359664" y="35487"/>
                  </a:lnTo>
                  <a:lnTo>
                    <a:pt x="360299" y="35941"/>
                  </a:lnTo>
                  <a:close/>
                </a:path>
                <a:path w="396240" h="1019810">
                  <a:moveTo>
                    <a:pt x="361188" y="982980"/>
                  </a:moveTo>
                  <a:lnTo>
                    <a:pt x="360560" y="983428"/>
                  </a:lnTo>
                  <a:lnTo>
                    <a:pt x="359664" y="984504"/>
                  </a:lnTo>
                  <a:lnTo>
                    <a:pt x="361188" y="982980"/>
                  </a:lnTo>
                  <a:close/>
                </a:path>
                <a:path w="396240" h="1019810">
                  <a:moveTo>
                    <a:pt x="361188" y="1008888"/>
                  </a:moveTo>
                  <a:lnTo>
                    <a:pt x="361188" y="982980"/>
                  </a:lnTo>
                  <a:lnTo>
                    <a:pt x="359664" y="984504"/>
                  </a:lnTo>
                  <a:lnTo>
                    <a:pt x="359664" y="1009650"/>
                  </a:lnTo>
                  <a:lnTo>
                    <a:pt x="361188" y="1008888"/>
                  </a:lnTo>
                  <a:close/>
                </a:path>
                <a:path w="396240" h="1019810">
                  <a:moveTo>
                    <a:pt x="361188" y="37185"/>
                  </a:moveTo>
                  <a:lnTo>
                    <a:pt x="361188" y="36576"/>
                  </a:lnTo>
                  <a:lnTo>
                    <a:pt x="360299" y="35941"/>
                  </a:lnTo>
                  <a:lnTo>
                    <a:pt x="361188" y="37185"/>
                  </a:lnTo>
                  <a:close/>
                </a:path>
                <a:path w="396240" h="1019810">
                  <a:moveTo>
                    <a:pt x="367284" y="1004751"/>
                  </a:moveTo>
                  <a:lnTo>
                    <a:pt x="367284" y="975360"/>
                  </a:lnTo>
                  <a:lnTo>
                    <a:pt x="360560" y="983428"/>
                  </a:lnTo>
                  <a:lnTo>
                    <a:pt x="361188" y="982980"/>
                  </a:lnTo>
                  <a:lnTo>
                    <a:pt x="361188" y="1008888"/>
                  </a:lnTo>
                  <a:lnTo>
                    <a:pt x="364236" y="1007364"/>
                  </a:lnTo>
                  <a:lnTo>
                    <a:pt x="367284" y="1004751"/>
                  </a:lnTo>
                  <a:close/>
                </a:path>
                <a:path w="396240" h="1019810">
                  <a:moveTo>
                    <a:pt x="367284" y="45720"/>
                  </a:moveTo>
                  <a:lnTo>
                    <a:pt x="365760" y="42672"/>
                  </a:lnTo>
                  <a:lnTo>
                    <a:pt x="365760" y="43586"/>
                  </a:lnTo>
                  <a:lnTo>
                    <a:pt x="367284" y="45720"/>
                  </a:lnTo>
                  <a:close/>
                </a:path>
                <a:path w="396240" h="1019810">
                  <a:moveTo>
                    <a:pt x="371856" y="1000832"/>
                  </a:moveTo>
                  <a:lnTo>
                    <a:pt x="371856" y="966216"/>
                  </a:lnTo>
                  <a:lnTo>
                    <a:pt x="365760" y="976884"/>
                  </a:lnTo>
                  <a:lnTo>
                    <a:pt x="367284" y="975360"/>
                  </a:lnTo>
                  <a:lnTo>
                    <a:pt x="367284" y="1004751"/>
                  </a:lnTo>
                  <a:lnTo>
                    <a:pt x="371856" y="1000832"/>
                  </a:lnTo>
                  <a:close/>
                </a:path>
                <a:path w="396240" h="1019810">
                  <a:moveTo>
                    <a:pt x="371856" y="55626"/>
                  </a:moveTo>
                  <a:lnTo>
                    <a:pt x="371856" y="53340"/>
                  </a:lnTo>
                  <a:lnTo>
                    <a:pt x="370332" y="53340"/>
                  </a:lnTo>
                  <a:lnTo>
                    <a:pt x="371856" y="55626"/>
                  </a:lnTo>
                  <a:close/>
                </a:path>
                <a:path w="396240" h="1019810">
                  <a:moveTo>
                    <a:pt x="373380" y="999526"/>
                  </a:moveTo>
                  <a:lnTo>
                    <a:pt x="373380" y="961644"/>
                  </a:lnTo>
                  <a:lnTo>
                    <a:pt x="370332" y="967740"/>
                  </a:lnTo>
                  <a:lnTo>
                    <a:pt x="371856" y="966216"/>
                  </a:lnTo>
                  <a:lnTo>
                    <a:pt x="371856" y="1000832"/>
                  </a:lnTo>
                  <a:lnTo>
                    <a:pt x="373380" y="999526"/>
                  </a:lnTo>
                  <a:close/>
                </a:path>
                <a:path w="396240" h="1019810">
                  <a:moveTo>
                    <a:pt x="373380" y="64008"/>
                  </a:moveTo>
                  <a:lnTo>
                    <a:pt x="373380" y="57912"/>
                  </a:lnTo>
                  <a:lnTo>
                    <a:pt x="371856" y="57912"/>
                  </a:lnTo>
                  <a:lnTo>
                    <a:pt x="373380" y="64008"/>
                  </a:lnTo>
                  <a:close/>
                </a:path>
                <a:path w="396240" h="1019810">
                  <a:moveTo>
                    <a:pt x="374904" y="998220"/>
                  </a:moveTo>
                  <a:lnTo>
                    <a:pt x="374904" y="950976"/>
                  </a:lnTo>
                  <a:lnTo>
                    <a:pt x="373380" y="957072"/>
                  </a:lnTo>
                  <a:lnTo>
                    <a:pt x="371856" y="961644"/>
                  </a:lnTo>
                  <a:lnTo>
                    <a:pt x="373380" y="961644"/>
                  </a:lnTo>
                  <a:lnTo>
                    <a:pt x="373380" y="999526"/>
                  </a:lnTo>
                  <a:lnTo>
                    <a:pt x="374904" y="998220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/>
          <p:nvPr/>
        </p:nvSpPr>
        <p:spPr>
          <a:xfrm>
            <a:off x="7039983" y="1784424"/>
            <a:ext cx="1226484" cy="661707"/>
          </a:xfrm>
          <a:custGeom>
            <a:avLst/>
            <a:gdLst/>
            <a:ahLst/>
            <a:cxnLst/>
            <a:rect l="l" t="t" r="r" b="b"/>
            <a:pathLst>
              <a:path w="1390015" h="749935">
                <a:moveTo>
                  <a:pt x="1389887" y="624839"/>
                </a:moveTo>
                <a:lnTo>
                  <a:pt x="1389887" y="124967"/>
                </a:lnTo>
                <a:lnTo>
                  <a:pt x="1380005" y="76509"/>
                </a:lnTo>
                <a:lnTo>
                  <a:pt x="1353121" y="36766"/>
                </a:lnTo>
                <a:lnTo>
                  <a:pt x="1313378" y="9882"/>
                </a:lnTo>
                <a:lnTo>
                  <a:pt x="1264919" y="0"/>
                </a:lnTo>
                <a:lnTo>
                  <a:pt x="124967" y="0"/>
                </a:lnTo>
                <a:lnTo>
                  <a:pt x="76509" y="9882"/>
                </a:lnTo>
                <a:lnTo>
                  <a:pt x="36766" y="36766"/>
                </a:lnTo>
                <a:lnTo>
                  <a:pt x="9882" y="76509"/>
                </a:lnTo>
                <a:lnTo>
                  <a:pt x="0" y="124967"/>
                </a:lnTo>
                <a:lnTo>
                  <a:pt x="0" y="624839"/>
                </a:lnTo>
                <a:lnTo>
                  <a:pt x="9882" y="673941"/>
                </a:lnTo>
                <a:lnTo>
                  <a:pt x="36766" y="713612"/>
                </a:lnTo>
                <a:lnTo>
                  <a:pt x="76509" y="740140"/>
                </a:lnTo>
                <a:lnTo>
                  <a:pt x="124967" y="749807"/>
                </a:lnTo>
                <a:lnTo>
                  <a:pt x="1264919" y="749807"/>
                </a:lnTo>
                <a:lnTo>
                  <a:pt x="1313378" y="740140"/>
                </a:lnTo>
                <a:lnTo>
                  <a:pt x="1353121" y="713612"/>
                </a:lnTo>
                <a:lnTo>
                  <a:pt x="1380005" y="673941"/>
                </a:lnTo>
                <a:lnTo>
                  <a:pt x="1389887" y="624839"/>
                </a:lnTo>
                <a:close/>
              </a:path>
            </a:pathLst>
          </a:custGeom>
          <a:solidFill>
            <a:srgbClr val="E2F0D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 txBox="1"/>
          <p:nvPr/>
        </p:nvSpPr>
        <p:spPr>
          <a:xfrm>
            <a:off x="7455494" y="2021989"/>
            <a:ext cx="349624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19" spc="92" baseline="11494" dirty="0">
                <a:latin typeface="Cambria"/>
                <a:cs typeface="Cambria"/>
              </a:rPr>
              <a:t>W</a:t>
            </a:r>
            <a:r>
              <a:rPr sz="971" spc="62" dirty="0">
                <a:latin typeface="Cambria"/>
                <a:cs typeface="Cambria"/>
              </a:rPr>
              <a:t>xƒ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56382" y="1801907"/>
            <a:ext cx="547407" cy="661707"/>
          </a:xfrm>
          <a:custGeom>
            <a:avLst/>
            <a:gdLst/>
            <a:ahLst/>
            <a:cxnLst/>
            <a:rect l="l" t="t" r="r" b="b"/>
            <a:pathLst>
              <a:path w="620395" h="749935">
                <a:moveTo>
                  <a:pt x="620267" y="646175"/>
                </a:moveTo>
                <a:lnTo>
                  <a:pt x="620267" y="103631"/>
                </a:lnTo>
                <a:lnTo>
                  <a:pt x="612219" y="63007"/>
                </a:lnTo>
                <a:lnTo>
                  <a:pt x="590168" y="30098"/>
                </a:lnTo>
                <a:lnTo>
                  <a:pt x="557260" y="8048"/>
                </a:lnTo>
                <a:lnTo>
                  <a:pt x="516635" y="0"/>
                </a:lnTo>
                <a:lnTo>
                  <a:pt x="103631" y="0"/>
                </a:lnTo>
                <a:lnTo>
                  <a:pt x="63007" y="8048"/>
                </a:lnTo>
                <a:lnTo>
                  <a:pt x="30098" y="30098"/>
                </a:lnTo>
                <a:lnTo>
                  <a:pt x="8048" y="63007"/>
                </a:lnTo>
                <a:lnTo>
                  <a:pt x="0" y="103631"/>
                </a:lnTo>
                <a:lnTo>
                  <a:pt x="0" y="646175"/>
                </a:lnTo>
                <a:lnTo>
                  <a:pt x="8048" y="686157"/>
                </a:lnTo>
                <a:lnTo>
                  <a:pt x="30098" y="719137"/>
                </a:lnTo>
                <a:lnTo>
                  <a:pt x="63007" y="741545"/>
                </a:lnTo>
                <a:lnTo>
                  <a:pt x="103631" y="749807"/>
                </a:lnTo>
                <a:lnTo>
                  <a:pt x="516635" y="749807"/>
                </a:lnTo>
                <a:lnTo>
                  <a:pt x="557260" y="741545"/>
                </a:lnTo>
                <a:lnTo>
                  <a:pt x="590168" y="719137"/>
                </a:lnTo>
                <a:lnTo>
                  <a:pt x="612219" y="686157"/>
                </a:lnTo>
                <a:lnTo>
                  <a:pt x="620267" y="646175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 txBox="1"/>
          <p:nvPr/>
        </p:nvSpPr>
        <p:spPr>
          <a:xfrm>
            <a:off x="6530338" y="2038125"/>
            <a:ext cx="353546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19" spc="72" baseline="11494" dirty="0">
                <a:latin typeface="Cambria"/>
                <a:cs typeface="Cambria"/>
              </a:rPr>
              <a:t>W</a:t>
            </a:r>
            <a:r>
              <a:rPr sz="971" spc="49" dirty="0">
                <a:latin typeface="Cambria"/>
                <a:cs typeface="Cambria"/>
              </a:rPr>
              <a:t>hƒ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1354" y="2418676"/>
            <a:ext cx="360269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882" dirty="0">
                <a:solidFill>
                  <a:srgbClr val="00B04F"/>
                </a:solidFill>
                <a:latin typeface="Cambria"/>
                <a:cs typeface="Cambria"/>
              </a:rPr>
              <a:t>5</a:t>
            </a:r>
            <a:r>
              <a:rPr sz="882" spc="190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882" spc="137" dirty="0">
                <a:solidFill>
                  <a:srgbClr val="00B04F"/>
                </a:solidFill>
                <a:latin typeface="Cambria"/>
                <a:cs typeface="Cambria"/>
              </a:rPr>
              <a:t>×</a:t>
            </a:r>
            <a:r>
              <a:rPr sz="882" spc="-9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882" spc="-31" dirty="0">
                <a:solidFill>
                  <a:srgbClr val="00B04F"/>
                </a:solidFill>
                <a:latin typeface="Cambria"/>
                <a:cs typeface="Cambria"/>
              </a:rPr>
              <a:t>10</a:t>
            </a:r>
            <a:endParaRPr sz="882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98469" y="2428090"/>
            <a:ext cx="298076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882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r>
              <a:rPr sz="882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82" spc="137" dirty="0">
                <a:solidFill>
                  <a:srgbClr val="C00000"/>
                </a:solidFill>
                <a:latin typeface="Cambria"/>
                <a:cs typeface="Cambria"/>
              </a:rPr>
              <a:t>×</a:t>
            </a:r>
            <a:r>
              <a:rPr sz="882" spc="-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82" spc="-44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endParaRPr sz="882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55529" y="1695674"/>
            <a:ext cx="2018740" cy="944096"/>
            <a:chOff x="5323332" y="1921764"/>
            <a:chExt cx="2287905" cy="1069975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3999" y="1932431"/>
              <a:ext cx="2266187" cy="105003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323332" y="1921764"/>
              <a:ext cx="2287905" cy="1069975"/>
            </a:xfrm>
            <a:custGeom>
              <a:avLst/>
              <a:gdLst/>
              <a:ahLst/>
              <a:cxnLst/>
              <a:rect l="l" t="t" r="r" b="b"/>
              <a:pathLst>
                <a:path w="2287904" h="1069975">
                  <a:moveTo>
                    <a:pt x="2287524" y="903732"/>
                  </a:moveTo>
                  <a:lnTo>
                    <a:pt x="2287524" y="166116"/>
                  </a:lnTo>
                  <a:lnTo>
                    <a:pt x="2284476" y="147828"/>
                  </a:lnTo>
                  <a:lnTo>
                    <a:pt x="2264664" y="97536"/>
                  </a:lnTo>
                  <a:lnTo>
                    <a:pt x="2234184" y="54864"/>
                  </a:lnTo>
                  <a:lnTo>
                    <a:pt x="2191512" y="22860"/>
                  </a:lnTo>
                  <a:lnTo>
                    <a:pt x="2139696" y="4572"/>
                  </a:lnTo>
                  <a:lnTo>
                    <a:pt x="2103120" y="0"/>
                  </a:lnTo>
                  <a:lnTo>
                    <a:pt x="184404" y="0"/>
                  </a:lnTo>
                  <a:lnTo>
                    <a:pt x="129540" y="9144"/>
                  </a:lnTo>
                  <a:lnTo>
                    <a:pt x="80772" y="32004"/>
                  </a:lnTo>
                  <a:lnTo>
                    <a:pt x="41148" y="68580"/>
                  </a:lnTo>
                  <a:lnTo>
                    <a:pt x="32004" y="82296"/>
                  </a:lnTo>
                  <a:lnTo>
                    <a:pt x="21336" y="97536"/>
                  </a:lnTo>
                  <a:lnTo>
                    <a:pt x="13716" y="114300"/>
                  </a:lnTo>
                  <a:lnTo>
                    <a:pt x="7620" y="131064"/>
                  </a:lnTo>
                  <a:lnTo>
                    <a:pt x="3048" y="147828"/>
                  </a:lnTo>
                  <a:lnTo>
                    <a:pt x="0" y="166116"/>
                  </a:lnTo>
                  <a:lnTo>
                    <a:pt x="0" y="903732"/>
                  </a:lnTo>
                  <a:lnTo>
                    <a:pt x="3048" y="922020"/>
                  </a:lnTo>
                  <a:lnTo>
                    <a:pt x="7620" y="940308"/>
                  </a:lnTo>
                  <a:lnTo>
                    <a:pt x="13716" y="957072"/>
                  </a:lnTo>
                  <a:lnTo>
                    <a:pt x="19812" y="970483"/>
                  </a:lnTo>
                  <a:lnTo>
                    <a:pt x="19812" y="185928"/>
                  </a:lnTo>
                  <a:lnTo>
                    <a:pt x="21336" y="167640"/>
                  </a:lnTo>
                  <a:lnTo>
                    <a:pt x="21336" y="169164"/>
                  </a:lnTo>
                  <a:lnTo>
                    <a:pt x="24384" y="152400"/>
                  </a:lnTo>
                  <a:lnTo>
                    <a:pt x="24384" y="153924"/>
                  </a:lnTo>
                  <a:lnTo>
                    <a:pt x="27432" y="137160"/>
                  </a:lnTo>
                  <a:lnTo>
                    <a:pt x="33528" y="121920"/>
                  </a:lnTo>
                  <a:lnTo>
                    <a:pt x="39624" y="109728"/>
                  </a:lnTo>
                  <a:lnTo>
                    <a:pt x="39624" y="108204"/>
                  </a:lnTo>
                  <a:lnTo>
                    <a:pt x="48768" y="92964"/>
                  </a:lnTo>
                  <a:lnTo>
                    <a:pt x="48768" y="94488"/>
                  </a:lnTo>
                  <a:lnTo>
                    <a:pt x="57912" y="80772"/>
                  </a:lnTo>
                  <a:lnTo>
                    <a:pt x="57912" y="82296"/>
                  </a:lnTo>
                  <a:lnTo>
                    <a:pt x="68580" y="68580"/>
                  </a:lnTo>
                  <a:lnTo>
                    <a:pt x="68580" y="70104"/>
                  </a:lnTo>
                  <a:lnTo>
                    <a:pt x="80772" y="57912"/>
                  </a:lnTo>
                  <a:lnTo>
                    <a:pt x="80772" y="58250"/>
                  </a:lnTo>
                  <a:lnTo>
                    <a:pt x="92964" y="48768"/>
                  </a:lnTo>
                  <a:lnTo>
                    <a:pt x="92964" y="50292"/>
                  </a:lnTo>
                  <a:lnTo>
                    <a:pt x="106680" y="41148"/>
                  </a:lnTo>
                  <a:lnTo>
                    <a:pt x="121920" y="33528"/>
                  </a:lnTo>
                  <a:lnTo>
                    <a:pt x="121920" y="34497"/>
                  </a:lnTo>
                  <a:lnTo>
                    <a:pt x="135636" y="29510"/>
                  </a:lnTo>
                  <a:lnTo>
                    <a:pt x="135636" y="28956"/>
                  </a:lnTo>
                  <a:lnTo>
                    <a:pt x="150876" y="24799"/>
                  </a:lnTo>
                  <a:lnTo>
                    <a:pt x="150876" y="24384"/>
                  </a:lnTo>
                  <a:lnTo>
                    <a:pt x="169164" y="21336"/>
                  </a:lnTo>
                  <a:lnTo>
                    <a:pt x="169164" y="22733"/>
                  </a:lnTo>
                  <a:lnTo>
                    <a:pt x="184404" y="21463"/>
                  </a:lnTo>
                  <a:lnTo>
                    <a:pt x="184404" y="21336"/>
                  </a:lnTo>
                  <a:lnTo>
                    <a:pt x="2103120" y="21463"/>
                  </a:lnTo>
                  <a:lnTo>
                    <a:pt x="2118360" y="22733"/>
                  </a:lnTo>
                  <a:lnTo>
                    <a:pt x="2118360" y="21336"/>
                  </a:lnTo>
                  <a:lnTo>
                    <a:pt x="2136648" y="24384"/>
                  </a:lnTo>
                  <a:lnTo>
                    <a:pt x="2136648" y="24799"/>
                  </a:lnTo>
                  <a:lnTo>
                    <a:pt x="2151888" y="28956"/>
                  </a:lnTo>
                  <a:lnTo>
                    <a:pt x="2151888" y="29510"/>
                  </a:lnTo>
                  <a:lnTo>
                    <a:pt x="2165604" y="34497"/>
                  </a:lnTo>
                  <a:lnTo>
                    <a:pt x="2165604" y="33528"/>
                  </a:lnTo>
                  <a:lnTo>
                    <a:pt x="2180844" y="41148"/>
                  </a:lnTo>
                  <a:lnTo>
                    <a:pt x="2194560" y="50292"/>
                  </a:lnTo>
                  <a:lnTo>
                    <a:pt x="2194560" y="48768"/>
                  </a:lnTo>
                  <a:lnTo>
                    <a:pt x="2206752" y="59436"/>
                  </a:lnTo>
                  <a:lnTo>
                    <a:pt x="2206752" y="57912"/>
                  </a:lnTo>
                  <a:lnTo>
                    <a:pt x="2218944" y="70104"/>
                  </a:lnTo>
                  <a:lnTo>
                    <a:pt x="2218944" y="68580"/>
                  </a:lnTo>
                  <a:lnTo>
                    <a:pt x="2229612" y="82296"/>
                  </a:lnTo>
                  <a:lnTo>
                    <a:pt x="2229612" y="80772"/>
                  </a:lnTo>
                  <a:lnTo>
                    <a:pt x="2238756" y="94488"/>
                  </a:lnTo>
                  <a:lnTo>
                    <a:pt x="2238756" y="92964"/>
                  </a:lnTo>
                  <a:lnTo>
                    <a:pt x="2247900" y="108204"/>
                  </a:lnTo>
                  <a:lnTo>
                    <a:pt x="2247900" y="109728"/>
                  </a:lnTo>
                  <a:lnTo>
                    <a:pt x="2253996" y="121920"/>
                  </a:lnTo>
                  <a:lnTo>
                    <a:pt x="2260092" y="137160"/>
                  </a:lnTo>
                  <a:lnTo>
                    <a:pt x="2260092" y="142748"/>
                  </a:lnTo>
                  <a:lnTo>
                    <a:pt x="2263140" y="153924"/>
                  </a:lnTo>
                  <a:lnTo>
                    <a:pt x="2263140" y="152400"/>
                  </a:lnTo>
                  <a:lnTo>
                    <a:pt x="2266188" y="169164"/>
                  </a:lnTo>
                  <a:lnTo>
                    <a:pt x="2266188" y="971042"/>
                  </a:lnTo>
                  <a:lnTo>
                    <a:pt x="2273808" y="957072"/>
                  </a:lnTo>
                  <a:lnTo>
                    <a:pt x="2279904" y="940308"/>
                  </a:lnTo>
                  <a:lnTo>
                    <a:pt x="2284476" y="922020"/>
                  </a:lnTo>
                  <a:lnTo>
                    <a:pt x="2287524" y="903732"/>
                  </a:lnTo>
                  <a:close/>
                </a:path>
                <a:path w="2287904" h="1069975">
                  <a:moveTo>
                    <a:pt x="41148" y="963168"/>
                  </a:moveTo>
                  <a:lnTo>
                    <a:pt x="33528" y="947928"/>
                  </a:lnTo>
                  <a:lnTo>
                    <a:pt x="33528" y="949452"/>
                  </a:lnTo>
                  <a:lnTo>
                    <a:pt x="27432" y="934212"/>
                  </a:lnTo>
                  <a:lnTo>
                    <a:pt x="24384" y="917448"/>
                  </a:lnTo>
                  <a:lnTo>
                    <a:pt x="24384" y="918972"/>
                  </a:lnTo>
                  <a:lnTo>
                    <a:pt x="21336" y="900684"/>
                  </a:lnTo>
                  <a:lnTo>
                    <a:pt x="21336" y="902208"/>
                  </a:lnTo>
                  <a:lnTo>
                    <a:pt x="19812" y="883920"/>
                  </a:lnTo>
                  <a:lnTo>
                    <a:pt x="19812" y="970483"/>
                  </a:lnTo>
                  <a:lnTo>
                    <a:pt x="21336" y="973836"/>
                  </a:lnTo>
                  <a:lnTo>
                    <a:pt x="32004" y="989076"/>
                  </a:lnTo>
                  <a:lnTo>
                    <a:pt x="39624" y="1000506"/>
                  </a:lnTo>
                  <a:lnTo>
                    <a:pt x="39624" y="963168"/>
                  </a:lnTo>
                  <a:lnTo>
                    <a:pt x="41148" y="963168"/>
                  </a:lnTo>
                  <a:close/>
                </a:path>
                <a:path w="2287904" h="1069975">
                  <a:moveTo>
                    <a:pt x="41148" y="106680"/>
                  </a:moveTo>
                  <a:lnTo>
                    <a:pt x="39624" y="108204"/>
                  </a:lnTo>
                  <a:lnTo>
                    <a:pt x="39624" y="109728"/>
                  </a:lnTo>
                  <a:lnTo>
                    <a:pt x="41148" y="106680"/>
                  </a:lnTo>
                  <a:close/>
                </a:path>
                <a:path w="2287904" h="1069975">
                  <a:moveTo>
                    <a:pt x="80772" y="1011936"/>
                  </a:moveTo>
                  <a:lnTo>
                    <a:pt x="68580" y="1001268"/>
                  </a:lnTo>
                  <a:lnTo>
                    <a:pt x="57912" y="989076"/>
                  </a:lnTo>
                  <a:lnTo>
                    <a:pt x="57912" y="990600"/>
                  </a:lnTo>
                  <a:lnTo>
                    <a:pt x="39624" y="963168"/>
                  </a:lnTo>
                  <a:lnTo>
                    <a:pt x="39624" y="1000506"/>
                  </a:lnTo>
                  <a:lnTo>
                    <a:pt x="41148" y="1002792"/>
                  </a:lnTo>
                  <a:lnTo>
                    <a:pt x="53340" y="1016508"/>
                  </a:lnTo>
                  <a:lnTo>
                    <a:pt x="67056" y="1028700"/>
                  </a:lnTo>
                  <a:lnTo>
                    <a:pt x="79248" y="1038182"/>
                  </a:lnTo>
                  <a:lnTo>
                    <a:pt x="79248" y="1011936"/>
                  </a:lnTo>
                  <a:lnTo>
                    <a:pt x="80772" y="1011936"/>
                  </a:lnTo>
                  <a:close/>
                </a:path>
                <a:path w="2287904" h="1069975">
                  <a:moveTo>
                    <a:pt x="80772" y="58250"/>
                  </a:moveTo>
                  <a:lnTo>
                    <a:pt x="80772" y="57912"/>
                  </a:lnTo>
                  <a:lnTo>
                    <a:pt x="79248" y="59436"/>
                  </a:lnTo>
                  <a:lnTo>
                    <a:pt x="80772" y="58250"/>
                  </a:lnTo>
                  <a:close/>
                </a:path>
                <a:path w="2287904" h="1069975">
                  <a:moveTo>
                    <a:pt x="121920" y="1036320"/>
                  </a:moveTo>
                  <a:lnTo>
                    <a:pt x="106680" y="1028700"/>
                  </a:lnTo>
                  <a:lnTo>
                    <a:pt x="106680" y="1030224"/>
                  </a:lnTo>
                  <a:lnTo>
                    <a:pt x="79248" y="1011936"/>
                  </a:lnTo>
                  <a:lnTo>
                    <a:pt x="79248" y="1038182"/>
                  </a:lnTo>
                  <a:lnTo>
                    <a:pt x="80772" y="1039368"/>
                  </a:lnTo>
                  <a:lnTo>
                    <a:pt x="96012" y="1048512"/>
                  </a:lnTo>
                  <a:lnTo>
                    <a:pt x="112776" y="1056132"/>
                  </a:lnTo>
                  <a:lnTo>
                    <a:pt x="120396" y="1058902"/>
                  </a:lnTo>
                  <a:lnTo>
                    <a:pt x="120396" y="1036320"/>
                  </a:lnTo>
                  <a:lnTo>
                    <a:pt x="121920" y="1036320"/>
                  </a:lnTo>
                  <a:close/>
                </a:path>
                <a:path w="2287904" h="1069975">
                  <a:moveTo>
                    <a:pt x="121920" y="34497"/>
                  </a:moveTo>
                  <a:lnTo>
                    <a:pt x="121920" y="33528"/>
                  </a:lnTo>
                  <a:lnTo>
                    <a:pt x="120396" y="35052"/>
                  </a:lnTo>
                  <a:lnTo>
                    <a:pt x="121920" y="34497"/>
                  </a:lnTo>
                  <a:close/>
                </a:path>
                <a:path w="2287904" h="1069975">
                  <a:moveTo>
                    <a:pt x="137160" y="1042416"/>
                  </a:moveTo>
                  <a:lnTo>
                    <a:pt x="120396" y="1036320"/>
                  </a:lnTo>
                  <a:lnTo>
                    <a:pt x="120396" y="1058902"/>
                  </a:lnTo>
                  <a:lnTo>
                    <a:pt x="129540" y="1062228"/>
                  </a:lnTo>
                  <a:lnTo>
                    <a:pt x="135636" y="1063752"/>
                  </a:lnTo>
                  <a:lnTo>
                    <a:pt x="135636" y="1042416"/>
                  </a:lnTo>
                  <a:lnTo>
                    <a:pt x="137160" y="1042416"/>
                  </a:lnTo>
                  <a:close/>
                </a:path>
                <a:path w="2287904" h="1069975">
                  <a:moveTo>
                    <a:pt x="137160" y="28956"/>
                  </a:moveTo>
                  <a:lnTo>
                    <a:pt x="135636" y="28956"/>
                  </a:lnTo>
                  <a:lnTo>
                    <a:pt x="135636" y="29510"/>
                  </a:lnTo>
                  <a:lnTo>
                    <a:pt x="137160" y="28956"/>
                  </a:lnTo>
                  <a:close/>
                </a:path>
                <a:path w="2287904" h="1069975">
                  <a:moveTo>
                    <a:pt x="152400" y="1067562"/>
                  </a:moveTo>
                  <a:lnTo>
                    <a:pt x="152400" y="1046988"/>
                  </a:lnTo>
                  <a:lnTo>
                    <a:pt x="135636" y="1042416"/>
                  </a:lnTo>
                  <a:lnTo>
                    <a:pt x="135636" y="1063752"/>
                  </a:lnTo>
                  <a:lnTo>
                    <a:pt x="147828" y="1066800"/>
                  </a:lnTo>
                  <a:lnTo>
                    <a:pt x="152400" y="1067562"/>
                  </a:lnTo>
                  <a:close/>
                </a:path>
                <a:path w="2287904" h="1069975">
                  <a:moveTo>
                    <a:pt x="152400" y="24384"/>
                  </a:moveTo>
                  <a:lnTo>
                    <a:pt x="150876" y="24384"/>
                  </a:lnTo>
                  <a:lnTo>
                    <a:pt x="150876" y="24799"/>
                  </a:lnTo>
                  <a:lnTo>
                    <a:pt x="152400" y="24384"/>
                  </a:lnTo>
                  <a:close/>
                </a:path>
                <a:path w="2287904" h="1069975">
                  <a:moveTo>
                    <a:pt x="169164" y="1048512"/>
                  </a:moveTo>
                  <a:lnTo>
                    <a:pt x="150876" y="1045464"/>
                  </a:lnTo>
                  <a:lnTo>
                    <a:pt x="152400" y="1046988"/>
                  </a:lnTo>
                  <a:lnTo>
                    <a:pt x="152400" y="1067562"/>
                  </a:lnTo>
                  <a:lnTo>
                    <a:pt x="166116" y="1069848"/>
                  </a:lnTo>
                  <a:lnTo>
                    <a:pt x="167640" y="1069848"/>
                  </a:lnTo>
                  <a:lnTo>
                    <a:pt x="167640" y="1048512"/>
                  </a:lnTo>
                  <a:lnTo>
                    <a:pt x="169164" y="1048512"/>
                  </a:lnTo>
                  <a:close/>
                </a:path>
                <a:path w="2287904" h="1069975">
                  <a:moveTo>
                    <a:pt x="169164" y="22733"/>
                  </a:moveTo>
                  <a:lnTo>
                    <a:pt x="169164" y="21336"/>
                  </a:lnTo>
                  <a:lnTo>
                    <a:pt x="167640" y="22860"/>
                  </a:lnTo>
                  <a:lnTo>
                    <a:pt x="169164" y="22733"/>
                  </a:lnTo>
                  <a:close/>
                </a:path>
                <a:path w="2287904" h="1069975">
                  <a:moveTo>
                    <a:pt x="2103120" y="1069848"/>
                  </a:moveTo>
                  <a:lnTo>
                    <a:pt x="2103120" y="1050036"/>
                  </a:lnTo>
                  <a:lnTo>
                    <a:pt x="184404" y="1050036"/>
                  </a:lnTo>
                  <a:lnTo>
                    <a:pt x="184404" y="1049909"/>
                  </a:lnTo>
                  <a:lnTo>
                    <a:pt x="167640" y="1048512"/>
                  </a:lnTo>
                  <a:lnTo>
                    <a:pt x="167640" y="1069848"/>
                  </a:lnTo>
                  <a:lnTo>
                    <a:pt x="2103120" y="1069848"/>
                  </a:lnTo>
                  <a:close/>
                </a:path>
                <a:path w="2287904" h="1069975">
                  <a:moveTo>
                    <a:pt x="185928" y="21336"/>
                  </a:moveTo>
                  <a:lnTo>
                    <a:pt x="184404" y="21336"/>
                  </a:lnTo>
                  <a:lnTo>
                    <a:pt x="184404" y="21463"/>
                  </a:lnTo>
                  <a:lnTo>
                    <a:pt x="185928" y="21336"/>
                  </a:lnTo>
                  <a:close/>
                </a:path>
                <a:path w="2287904" h="1069975">
                  <a:moveTo>
                    <a:pt x="185928" y="1050036"/>
                  </a:moveTo>
                  <a:lnTo>
                    <a:pt x="184404" y="1049909"/>
                  </a:lnTo>
                  <a:lnTo>
                    <a:pt x="184404" y="1050036"/>
                  </a:lnTo>
                  <a:lnTo>
                    <a:pt x="185928" y="1050036"/>
                  </a:lnTo>
                  <a:close/>
                </a:path>
                <a:path w="2287904" h="1069975">
                  <a:moveTo>
                    <a:pt x="2103120" y="21463"/>
                  </a:moveTo>
                  <a:lnTo>
                    <a:pt x="2103120" y="21336"/>
                  </a:lnTo>
                  <a:lnTo>
                    <a:pt x="2101596" y="21336"/>
                  </a:lnTo>
                  <a:lnTo>
                    <a:pt x="2103120" y="21463"/>
                  </a:lnTo>
                  <a:close/>
                </a:path>
                <a:path w="2287904" h="1069975">
                  <a:moveTo>
                    <a:pt x="2119884" y="1069848"/>
                  </a:moveTo>
                  <a:lnTo>
                    <a:pt x="2119884" y="1048512"/>
                  </a:lnTo>
                  <a:lnTo>
                    <a:pt x="2101596" y="1050036"/>
                  </a:lnTo>
                  <a:lnTo>
                    <a:pt x="2103120" y="1050036"/>
                  </a:lnTo>
                  <a:lnTo>
                    <a:pt x="2103120" y="1069848"/>
                  </a:lnTo>
                  <a:lnTo>
                    <a:pt x="2119884" y="1069848"/>
                  </a:lnTo>
                  <a:close/>
                </a:path>
                <a:path w="2287904" h="1069975">
                  <a:moveTo>
                    <a:pt x="2119884" y="22860"/>
                  </a:moveTo>
                  <a:lnTo>
                    <a:pt x="2118360" y="21336"/>
                  </a:lnTo>
                  <a:lnTo>
                    <a:pt x="2118360" y="22733"/>
                  </a:lnTo>
                  <a:lnTo>
                    <a:pt x="2119884" y="22860"/>
                  </a:lnTo>
                  <a:close/>
                </a:path>
                <a:path w="2287904" h="1069975">
                  <a:moveTo>
                    <a:pt x="2136648" y="1045464"/>
                  </a:moveTo>
                  <a:lnTo>
                    <a:pt x="2118360" y="1048512"/>
                  </a:lnTo>
                  <a:lnTo>
                    <a:pt x="2119884" y="1048512"/>
                  </a:lnTo>
                  <a:lnTo>
                    <a:pt x="2119884" y="1069848"/>
                  </a:lnTo>
                  <a:lnTo>
                    <a:pt x="2121408" y="1069848"/>
                  </a:lnTo>
                  <a:lnTo>
                    <a:pt x="2135124" y="1067562"/>
                  </a:lnTo>
                  <a:lnTo>
                    <a:pt x="2135124" y="1046988"/>
                  </a:lnTo>
                  <a:lnTo>
                    <a:pt x="2136648" y="1045464"/>
                  </a:lnTo>
                  <a:close/>
                </a:path>
                <a:path w="2287904" h="1069975">
                  <a:moveTo>
                    <a:pt x="2136648" y="24799"/>
                  </a:moveTo>
                  <a:lnTo>
                    <a:pt x="2136648" y="24384"/>
                  </a:lnTo>
                  <a:lnTo>
                    <a:pt x="2135124" y="24384"/>
                  </a:lnTo>
                  <a:lnTo>
                    <a:pt x="2136648" y="24799"/>
                  </a:lnTo>
                  <a:close/>
                </a:path>
                <a:path w="2287904" h="1069975">
                  <a:moveTo>
                    <a:pt x="2151888" y="1063752"/>
                  </a:moveTo>
                  <a:lnTo>
                    <a:pt x="2151888" y="1042416"/>
                  </a:lnTo>
                  <a:lnTo>
                    <a:pt x="2135124" y="1046988"/>
                  </a:lnTo>
                  <a:lnTo>
                    <a:pt x="2135124" y="1067562"/>
                  </a:lnTo>
                  <a:lnTo>
                    <a:pt x="2139696" y="1066800"/>
                  </a:lnTo>
                  <a:lnTo>
                    <a:pt x="2151888" y="1063752"/>
                  </a:lnTo>
                  <a:close/>
                </a:path>
                <a:path w="2287904" h="1069975">
                  <a:moveTo>
                    <a:pt x="2151888" y="29510"/>
                  </a:moveTo>
                  <a:lnTo>
                    <a:pt x="2151888" y="28956"/>
                  </a:lnTo>
                  <a:lnTo>
                    <a:pt x="2150364" y="28956"/>
                  </a:lnTo>
                  <a:lnTo>
                    <a:pt x="2151888" y="29510"/>
                  </a:lnTo>
                  <a:close/>
                </a:path>
                <a:path w="2287904" h="1069975">
                  <a:moveTo>
                    <a:pt x="2167128" y="1058902"/>
                  </a:moveTo>
                  <a:lnTo>
                    <a:pt x="2167128" y="1036320"/>
                  </a:lnTo>
                  <a:lnTo>
                    <a:pt x="2150364" y="1042416"/>
                  </a:lnTo>
                  <a:lnTo>
                    <a:pt x="2151888" y="1042416"/>
                  </a:lnTo>
                  <a:lnTo>
                    <a:pt x="2151888" y="1063752"/>
                  </a:lnTo>
                  <a:lnTo>
                    <a:pt x="2157984" y="1062228"/>
                  </a:lnTo>
                  <a:lnTo>
                    <a:pt x="2167128" y="1058902"/>
                  </a:lnTo>
                  <a:close/>
                </a:path>
                <a:path w="2287904" h="1069975">
                  <a:moveTo>
                    <a:pt x="2167128" y="35052"/>
                  </a:moveTo>
                  <a:lnTo>
                    <a:pt x="2165604" y="33528"/>
                  </a:lnTo>
                  <a:lnTo>
                    <a:pt x="2165604" y="34497"/>
                  </a:lnTo>
                  <a:lnTo>
                    <a:pt x="2167128" y="35052"/>
                  </a:lnTo>
                  <a:close/>
                </a:path>
                <a:path w="2287904" h="1069975">
                  <a:moveTo>
                    <a:pt x="2247900" y="998873"/>
                  </a:moveTo>
                  <a:lnTo>
                    <a:pt x="2247900" y="963168"/>
                  </a:lnTo>
                  <a:lnTo>
                    <a:pt x="2229612" y="990600"/>
                  </a:lnTo>
                  <a:lnTo>
                    <a:pt x="2229612" y="989076"/>
                  </a:lnTo>
                  <a:lnTo>
                    <a:pt x="2218944" y="1001268"/>
                  </a:lnTo>
                  <a:lnTo>
                    <a:pt x="2206752" y="1011936"/>
                  </a:lnTo>
                  <a:lnTo>
                    <a:pt x="2194560" y="1021080"/>
                  </a:lnTo>
                  <a:lnTo>
                    <a:pt x="2180844" y="1030224"/>
                  </a:lnTo>
                  <a:lnTo>
                    <a:pt x="2180844" y="1028700"/>
                  </a:lnTo>
                  <a:lnTo>
                    <a:pt x="2165604" y="1036320"/>
                  </a:lnTo>
                  <a:lnTo>
                    <a:pt x="2167128" y="1036320"/>
                  </a:lnTo>
                  <a:lnTo>
                    <a:pt x="2167128" y="1058902"/>
                  </a:lnTo>
                  <a:lnTo>
                    <a:pt x="2174748" y="1056132"/>
                  </a:lnTo>
                  <a:lnTo>
                    <a:pt x="2191512" y="1048512"/>
                  </a:lnTo>
                  <a:lnTo>
                    <a:pt x="2206752" y="1039368"/>
                  </a:lnTo>
                  <a:lnTo>
                    <a:pt x="2220468" y="1028700"/>
                  </a:lnTo>
                  <a:lnTo>
                    <a:pt x="2234184" y="1016508"/>
                  </a:lnTo>
                  <a:lnTo>
                    <a:pt x="2247900" y="998873"/>
                  </a:lnTo>
                  <a:close/>
                </a:path>
                <a:path w="2287904" h="1069975">
                  <a:moveTo>
                    <a:pt x="2247900" y="109728"/>
                  </a:moveTo>
                  <a:lnTo>
                    <a:pt x="2247900" y="108204"/>
                  </a:lnTo>
                  <a:lnTo>
                    <a:pt x="2246376" y="106680"/>
                  </a:lnTo>
                  <a:lnTo>
                    <a:pt x="2247900" y="109728"/>
                  </a:lnTo>
                  <a:close/>
                </a:path>
                <a:path w="2287904" h="1069975">
                  <a:moveTo>
                    <a:pt x="2260092" y="981456"/>
                  </a:moveTo>
                  <a:lnTo>
                    <a:pt x="2260092" y="934212"/>
                  </a:lnTo>
                  <a:lnTo>
                    <a:pt x="2253996" y="949452"/>
                  </a:lnTo>
                  <a:lnTo>
                    <a:pt x="2253996" y="947928"/>
                  </a:lnTo>
                  <a:lnTo>
                    <a:pt x="2246376" y="963168"/>
                  </a:lnTo>
                  <a:lnTo>
                    <a:pt x="2247900" y="963168"/>
                  </a:lnTo>
                  <a:lnTo>
                    <a:pt x="2247900" y="998873"/>
                  </a:lnTo>
                  <a:lnTo>
                    <a:pt x="2255520" y="989076"/>
                  </a:lnTo>
                  <a:lnTo>
                    <a:pt x="2260092" y="981456"/>
                  </a:lnTo>
                  <a:close/>
                </a:path>
                <a:path w="2287904" h="1069975">
                  <a:moveTo>
                    <a:pt x="2260092" y="142748"/>
                  </a:moveTo>
                  <a:lnTo>
                    <a:pt x="2260092" y="137160"/>
                  </a:lnTo>
                  <a:lnTo>
                    <a:pt x="2258568" y="137160"/>
                  </a:lnTo>
                  <a:lnTo>
                    <a:pt x="2260092" y="142748"/>
                  </a:lnTo>
                  <a:close/>
                </a:path>
                <a:path w="2287904" h="1069975">
                  <a:moveTo>
                    <a:pt x="2266188" y="971042"/>
                  </a:moveTo>
                  <a:lnTo>
                    <a:pt x="2266188" y="900684"/>
                  </a:lnTo>
                  <a:lnTo>
                    <a:pt x="2263140" y="918972"/>
                  </a:lnTo>
                  <a:lnTo>
                    <a:pt x="2263140" y="917448"/>
                  </a:lnTo>
                  <a:lnTo>
                    <a:pt x="2258568" y="934212"/>
                  </a:lnTo>
                  <a:lnTo>
                    <a:pt x="2260092" y="934212"/>
                  </a:lnTo>
                  <a:lnTo>
                    <a:pt x="2260092" y="981456"/>
                  </a:lnTo>
                  <a:lnTo>
                    <a:pt x="2264664" y="973836"/>
                  </a:lnTo>
                  <a:lnTo>
                    <a:pt x="2266188" y="971042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088391" y="2672825"/>
            <a:ext cx="567578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</a:pPr>
            <a:r>
              <a:rPr sz="882" dirty="0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r>
              <a:rPr sz="927" baseline="-15873" dirty="0">
                <a:solidFill>
                  <a:srgbClr val="FF0000"/>
                </a:solidFill>
                <a:latin typeface="Cambria"/>
                <a:cs typeface="Cambria"/>
              </a:rPr>
              <a:t>ƒ</a:t>
            </a:r>
            <a:r>
              <a:rPr sz="882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882" spc="-4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882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r>
              <a:rPr sz="882" spc="3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882" spc="137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882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882" spc="-22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endParaRPr sz="882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59071" y="1101309"/>
            <a:ext cx="3314700" cy="310963"/>
            <a:chOff x="5440680" y="1248149"/>
            <a:chExt cx="3756660" cy="352425"/>
          </a:xfrm>
        </p:grpSpPr>
        <p:sp>
          <p:nvSpPr>
            <p:cNvPr id="34" name="object 34"/>
            <p:cNvSpPr/>
            <p:nvPr/>
          </p:nvSpPr>
          <p:spPr>
            <a:xfrm>
              <a:off x="5452872" y="1258817"/>
              <a:ext cx="3732529" cy="329565"/>
            </a:xfrm>
            <a:custGeom>
              <a:avLst/>
              <a:gdLst/>
              <a:ahLst/>
              <a:cxnLst/>
              <a:rect l="l" t="t" r="r" b="b"/>
              <a:pathLst>
                <a:path w="3732529" h="329565">
                  <a:moveTo>
                    <a:pt x="3732275" y="329183"/>
                  </a:moveTo>
                  <a:lnTo>
                    <a:pt x="3732275" y="0"/>
                  </a:lnTo>
                  <a:lnTo>
                    <a:pt x="0" y="0"/>
                  </a:lnTo>
                  <a:lnTo>
                    <a:pt x="0" y="329183"/>
                  </a:lnTo>
                  <a:lnTo>
                    <a:pt x="3732275" y="329183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5440680" y="1248149"/>
              <a:ext cx="3756660" cy="352425"/>
            </a:xfrm>
            <a:custGeom>
              <a:avLst/>
              <a:gdLst/>
              <a:ahLst/>
              <a:cxnLst/>
              <a:rect l="l" t="t" r="r" b="b"/>
              <a:pathLst>
                <a:path w="3756659" h="352425">
                  <a:moveTo>
                    <a:pt x="3756660" y="347478"/>
                  </a:moveTo>
                  <a:lnTo>
                    <a:pt x="3756660" y="4572"/>
                  </a:lnTo>
                  <a:lnTo>
                    <a:pt x="375056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47478"/>
                  </a:lnTo>
                  <a:lnTo>
                    <a:pt x="4572" y="352050"/>
                  </a:lnTo>
                  <a:lnTo>
                    <a:pt x="12192" y="352050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732276" y="22860"/>
                  </a:lnTo>
                  <a:lnTo>
                    <a:pt x="3732276" y="10668"/>
                  </a:lnTo>
                  <a:lnTo>
                    <a:pt x="3744468" y="22860"/>
                  </a:lnTo>
                  <a:lnTo>
                    <a:pt x="3744468" y="352050"/>
                  </a:lnTo>
                  <a:lnTo>
                    <a:pt x="3750564" y="352050"/>
                  </a:lnTo>
                  <a:lnTo>
                    <a:pt x="3756660" y="347478"/>
                  </a:lnTo>
                  <a:close/>
                </a:path>
                <a:path w="3756659" h="352425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756659" h="352425">
                  <a:moveTo>
                    <a:pt x="22860" y="32919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29190"/>
                  </a:lnTo>
                  <a:lnTo>
                    <a:pt x="22860" y="329190"/>
                  </a:lnTo>
                  <a:close/>
                </a:path>
                <a:path w="3756659" h="352425">
                  <a:moveTo>
                    <a:pt x="3744468" y="329190"/>
                  </a:moveTo>
                  <a:lnTo>
                    <a:pt x="12192" y="329190"/>
                  </a:lnTo>
                  <a:lnTo>
                    <a:pt x="22860" y="339858"/>
                  </a:lnTo>
                  <a:lnTo>
                    <a:pt x="22860" y="352050"/>
                  </a:lnTo>
                  <a:lnTo>
                    <a:pt x="3732276" y="352050"/>
                  </a:lnTo>
                  <a:lnTo>
                    <a:pt x="3732276" y="339858"/>
                  </a:lnTo>
                  <a:lnTo>
                    <a:pt x="3744468" y="329190"/>
                  </a:lnTo>
                  <a:close/>
                </a:path>
                <a:path w="3756659" h="352425">
                  <a:moveTo>
                    <a:pt x="22860" y="352050"/>
                  </a:moveTo>
                  <a:lnTo>
                    <a:pt x="22860" y="339858"/>
                  </a:lnTo>
                  <a:lnTo>
                    <a:pt x="12192" y="329190"/>
                  </a:lnTo>
                  <a:lnTo>
                    <a:pt x="12192" y="352050"/>
                  </a:lnTo>
                  <a:lnTo>
                    <a:pt x="22860" y="352050"/>
                  </a:lnTo>
                  <a:close/>
                </a:path>
                <a:path w="3756659" h="352425">
                  <a:moveTo>
                    <a:pt x="3744468" y="22860"/>
                  </a:moveTo>
                  <a:lnTo>
                    <a:pt x="3732276" y="10668"/>
                  </a:lnTo>
                  <a:lnTo>
                    <a:pt x="3732276" y="22860"/>
                  </a:lnTo>
                  <a:lnTo>
                    <a:pt x="3744468" y="22860"/>
                  </a:lnTo>
                  <a:close/>
                </a:path>
                <a:path w="3756659" h="352425">
                  <a:moveTo>
                    <a:pt x="3744468" y="329190"/>
                  </a:moveTo>
                  <a:lnTo>
                    <a:pt x="3744468" y="22860"/>
                  </a:lnTo>
                  <a:lnTo>
                    <a:pt x="3732276" y="22860"/>
                  </a:lnTo>
                  <a:lnTo>
                    <a:pt x="3732276" y="329190"/>
                  </a:lnTo>
                  <a:lnTo>
                    <a:pt x="3744468" y="329190"/>
                  </a:lnTo>
                  <a:close/>
                </a:path>
                <a:path w="3756659" h="352425">
                  <a:moveTo>
                    <a:pt x="3744468" y="352050"/>
                  </a:moveTo>
                  <a:lnTo>
                    <a:pt x="3744468" y="329190"/>
                  </a:lnTo>
                  <a:lnTo>
                    <a:pt x="3732276" y="339858"/>
                  </a:lnTo>
                  <a:lnTo>
                    <a:pt x="3732276" y="352050"/>
                  </a:lnTo>
                  <a:lnTo>
                    <a:pt x="3744468" y="352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6514201" y="1093556"/>
            <a:ext cx="3199840" cy="279526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33619">
              <a:spcBef>
                <a:spcPts val="115"/>
              </a:spcBef>
            </a:pPr>
            <a:r>
              <a:rPr sz="1721" spc="150" dirty="0">
                <a:latin typeface="Cambria"/>
                <a:cs typeface="Cambria"/>
              </a:rPr>
              <a:t>f</a:t>
            </a:r>
            <a:r>
              <a:rPr sz="1853" spc="224" baseline="-15873" dirty="0">
                <a:latin typeface="Cambria"/>
                <a:cs typeface="Cambria"/>
              </a:rPr>
              <a:t>t</a:t>
            </a:r>
            <a:r>
              <a:rPr sz="1853" spc="509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spc="88" dirty="0">
                <a:latin typeface="Cambria"/>
                <a:cs typeface="Cambria"/>
              </a:rPr>
              <a:t>σ(W</a:t>
            </a:r>
            <a:r>
              <a:rPr sz="1853" spc="132" baseline="-15873" dirty="0">
                <a:latin typeface="Cambria"/>
                <a:cs typeface="Cambria"/>
              </a:rPr>
              <a:t>hƒ</a:t>
            </a:r>
            <a:r>
              <a:rPr sz="1853" spc="331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97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115" dirty="0">
                <a:latin typeface="Cambria"/>
                <a:cs typeface="Cambria"/>
              </a:rPr>
              <a:t>W</a:t>
            </a:r>
            <a:r>
              <a:rPr sz="1853" spc="172" baseline="-15873" dirty="0">
                <a:latin typeface="Cambria"/>
                <a:cs typeface="Cambria"/>
              </a:rPr>
              <a:t>xƒ</a:t>
            </a:r>
            <a:r>
              <a:rPr sz="1721" spc="115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5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b</a:t>
            </a:r>
            <a:r>
              <a:rPr sz="1853" spc="158" baseline="-15873" dirty="0">
                <a:latin typeface="Cambria"/>
                <a:cs typeface="Cambria"/>
              </a:rPr>
              <a:t>ƒ</a:t>
            </a:r>
            <a:r>
              <a:rPr sz="1721" spc="106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67074" y="1948029"/>
            <a:ext cx="216274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62" dirty="0">
                <a:latin typeface="Cambria"/>
                <a:cs typeface="Cambria"/>
              </a:rPr>
              <a:t>b</a:t>
            </a:r>
            <a:r>
              <a:rPr sz="1456" spc="92" baseline="-15151" dirty="0">
                <a:latin typeface="Cambria"/>
                <a:cs typeface="Cambria"/>
              </a:rPr>
              <a:t>ƒ</a:t>
            </a:r>
            <a:endParaRPr sz="1456" baseline="-15151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55246" y="2040814"/>
            <a:ext cx="298076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882" dirty="0">
                <a:latin typeface="Cambria"/>
                <a:cs typeface="Cambria"/>
              </a:rPr>
              <a:t>5</a:t>
            </a:r>
            <a:r>
              <a:rPr sz="882" spc="190" dirty="0">
                <a:latin typeface="Cambria"/>
                <a:cs typeface="Cambria"/>
              </a:rPr>
              <a:t> </a:t>
            </a:r>
            <a:r>
              <a:rPr sz="882" spc="137" dirty="0">
                <a:latin typeface="Cambria"/>
                <a:cs typeface="Cambria"/>
              </a:rPr>
              <a:t>×</a:t>
            </a:r>
            <a:r>
              <a:rPr sz="882" spc="-9" dirty="0">
                <a:latin typeface="Cambria"/>
                <a:cs typeface="Cambria"/>
              </a:rPr>
              <a:t> </a:t>
            </a:r>
            <a:r>
              <a:rPr sz="882" spc="-44" dirty="0">
                <a:latin typeface="Cambria"/>
                <a:cs typeface="Cambria"/>
              </a:rPr>
              <a:t>1</a:t>
            </a:r>
            <a:endParaRPr sz="882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21461" y="3989293"/>
            <a:ext cx="1955987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latin typeface="Calibri"/>
                <a:cs typeface="Calibri"/>
              </a:rPr>
              <a:t>Number</a:t>
            </a:r>
            <a:r>
              <a:rPr sz="1588" spc="13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of</a:t>
            </a:r>
            <a:r>
              <a:rPr sz="1588" spc="-9" dirty="0">
                <a:latin typeface="Calibri"/>
                <a:cs typeface="Calibri"/>
              </a:rPr>
              <a:t> Parameters: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54184" y="4378362"/>
            <a:ext cx="1727946" cy="289112"/>
            <a:chOff x="5321808" y="4962144"/>
            <a:chExt cx="1958339" cy="327660"/>
          </a:xfrm>
        </p:grpSpPr>
        <p:sp>
          <p:nvSpPr>
            <p:cNvPr id="41" name="object 41"/>
            <p:cNvSpPr/>
            <p:nvPr/>
          </p:nvSpPr>
          <p:spPr>
            <a:xfrm>
              <a:off x="5333999" y="4974335"/>
              <a:ext cx="1934210" cy="304800"/>
            </a:xfrm>
            <a:custGeom>
              <a:avLst/>
              <a:gdLst/>
              <a:ahLst/>
              <a:cxnLst/>
              <a:rect l="l" t="t" r="r" b="b"/>
              <a:pathLst>
                <a:path w="1934209" h="304800">
                  <a:moveTo>
                    <a:pt x="1933955" y="304799"/>
                  </a:moveTo>
                  <a:lnTo>
                    <a:pt x="1933955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1933955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321808" y="4962144"/>
              <a:ext cx="1958339" cy="327660"/>
            </a:xfrm>
            <a:custGeom>
              <a:avLst/>
              <a:gdLst/>
              <a:ahLst/>
              <a:cxnLst/>
              <a:rect l="l" t="t" r="r" b="b"/>
              <a:pathLst>
                <a:path w="1958340" h="327660">
                  <a:moveTo>
                    <a:pt x="1958340" y="323088"/>
                  </a:moveTo>
                  <a:lnTo>
                    <a:pt x="1958340" y="4572"/>
                  </a:lnTo>
                  <a:lnTo>
                    <a:pt x="19537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23088"/>
                  </a:lnTo>
                  <a:lnTo>
                    <a:pt x="4572" y="327660"/>
                  </a:lnTo>
                  <a:lnTo>
                    <a:pt x="12192" y="327660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1935480" y="22860"/>
                  </a:lnTo>
                  <a:lnTo>
                    <a:pt x="1935480" y="12192"/>
                  </a:lnTo>
                  <a:lnTo>
                    <a:pt x="1946148" y="22860"/>
                  </a:lnTo>
                  <a:lnTo>
                    <a:pt x="1946148" y="327660"/>
                  </a:lnTo>
                  <a:lnTo>
                    <a:pt x="1953768" y="327660"/>
                  </a:lnTo>
                  <a:lnTo>
                    <a:pt x="1958340" y="323088"/>
                  </a:lnTo>
                  <a:close/>
                </a:path>
                <a:path w="1958340" h="32766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1958340" h="327660">
                  <a:moveTo>
                    <a:pt x="22860" y="30480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1958340" h="327660">
                  <a:moveTo>
                    <a:pt x="1946148" y="304800"/>
                  </a:moveTo>
                  <a:lnTo>
                    <a:pt x="12192" y="304800"/>
                  </a:lnTo>
                  <a:lnTo>
                    <a:pt x="22860" y="316992"/>
                  </a:lnTo>
                  <a:lnTo>
                    <a:pt x="22860" y="327660"/>
                  </a:lnTo>
                  <a:lnTo>
                    <a:pt x="1935480" y="327660"/>
                  </a:lnTo>
                  <a:lnTo>
                    <a:pt x="1935480" y="316992"/>
                  </a:lnTo>
                  <a:lnTo>
                    <a:pt x="1946148" y="304800"/>
                  </a:lnTo>
                  <a:close/>
                </a:path>
                <a:path w="1958340" h="327660">
                  <a:moveTo>
                    <a:pt x="22860" y="327660"/>
                  </a:moveTo>
                  <a:lnTo>
                    <a:pt x="22860" y="316992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2860" y="327660"/>
                  </a:lnTo>
                  <a:close/>
                </a:path>
                <a:path w="1958340" h="327660">
                  <a:moveTo>
                    <a:pt x="1946148" y="22860"/>
                  </a:moveTo>
                  <a:lnTo>
                    <a:pt x="1935480" y="12192"/>
                  </a:lnTo>
                  <a:lnTo>
                    <a:pt x="1935480" y="22860"/>
                  </a:lnTo>
                  <a:lnTo>
                    <a:pt x="1946148" y="22860"/>
                  </a:lnTo>
                  <a:close/>
                </a:path>
                <a:path w="1958340" h="327660">
                  <a:moveTo>
                    <a:pt x="1946148" y="304800"/>
                  </a:moveTo>
                  <a:lnTo>
                    <a:pt x="1946148" y="22860"/>
                  </a:lnTo>
                  <a:lnTo>
                    <a:pt x="1935480" y="22860"/>
                  </a:lnTo>
                  <a:lnTo>
                    <a:pt x="1935480" y="304800"/>
                  </a:lnTo>
                  <a:lnTo>
                    <a:pt x="1946148" y="304800"/>
                  </a:lnTo>
                  <a:close/>
                </a:path>
                <a:path w="1958340" h="327660">
                  <a:moveTo>
                    <a:pt x="1946148" y="327660"/>
                  </a:moveTo>
                  <a:lnTo>
                    <a:pt x="1946148" y="304800"/>
                  </a:lnTo>
                  <a:lnTo>
                    <a:pt x="1935480" y="316992"/>
                  </a:lnTo>
                  <a:lnTo>
                    <a:pt x="1935480" y="327660"/>
                  </a:lnTo>
                  <a:lnTo>
                    <a:pt x="1946148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384661" y="4363120"/>
            <a:ext cx="1617009" cy="279526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721" dirty="0">
                <a:latin typeface="Cambria"/>
                <a:cs typeface="Cambria"/>
              </a:rPr>
              <a:t>5</a:t>
            </a:r>
            <a:r>
              <a:rPr sz="1721" spc="393" dirty="0">
                <a:latin typeface="Cambria"/>
                <a:cs typeface="Cambria"/>
              </a:rPr>
              <a:t> </a:t>
            </a:r>
            <a:r>
              <a:rPr sz="1721" spc="291" dirty="0">
                <a:latin typeface="Cambria"/>
                <a:cs typeface="Cambria"/>
              </a:rPr>
              <a:t>×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15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5</a:t>
            </a:r>
            <a:r>
              <a:rPr sz="1721" spc="106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spc="-31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47" name="Date Placeholder 46">
            <a:extLst>
              <a:ext uri="{FF2B5EF4-FFF2-40B4-BE49-F238E27FC236}">
                <a16:creationId xmlns:a16="http://schemas.microsoft.com/office/drawing/2014/main" id="{FB1E0CDF-0F6B-E6BD-4A15-5011C9A5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2933-A889-4387-BCBA-F4A419B2E55D}" type="datetime1">
              <a:rPr lang="en-US" smtClean="0"/>
              <a:t>11/22/2025</a:t>
            </a:fld>
            <a:endParaRPr lang="en-US"/>
          </a:p>
        </p:txBody>
      </p:sp>
      <p:sp>
        <p:nvSpPr>
          <p:cNvPr id="48" name="Footer Placeholder 47">
            <a:extLst>
              <a:ext uri="{FF2B5EF4-FFF2-40B4-BE49-F238E27FC236}">
                <a16:creationId xmlns:a16="http://schemas.microsoft.com/office/drawing/2014/main" id="{846A222C-3A4F-20F2-BA3F-CAE6248E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B8BA8671-F684-6955-026A-40023684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163" y="1255955"/>
            <a:ext cx="3482228" cy="2950509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650" y="2273897"/>
            <a:ext cx="353291" cy="1663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73502" y="1235779"/>
            <a:ext cx="3107951" cy="493619"/>
            <a:chOff x="5230368" y="1400549"/>
            <a:chExt cx="3522345" cy="55943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05774" y="1883933"/>
            <a:ext cx="3044638" cy="770965"/>
            <a:chOff x="5266944" y="2135124"/>
            <a:chExt cx="3450590" cy="8737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527" y="2235720"/>
              <a:ext cx="3319920" cy="6859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66944" y="2135124"/>
              <a:ext cx="3450590" cy="873760"/>
            </a:xfrm>
            <a:custGeom>
              <a:avLst/>
              <a:gdLst/>
              <a:ahLst/>
              <a:cxnLst/>
              <a:rect l="l" t="t" r="r" b="b"/>
              <a:pathLst>
                <a:path w="3450590" h="873760">
                  <a:moveTo>
                    <a:pt x="3450336" y="867156"/>
                  </a:moveTo>
                  <a:lnTo>
                    <a:pt x="3450336" y="6096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4572" y="873252"/>
                  </a:lnTo>
                  <a:lnTo>
                    <a:pt x="12192" y="87325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25952" y="24384"/>
                  </a:lnTo>
                  <a:lnTo>
                    <a:pt x="3425952" y="12192"/>
                  </a:lnTo>
                  <a:lnTo>
                    <a:pt x="3438144" y="24384"/>
                  </a:lnTo>
                  <a:lnTo>
                    <a:pt x="3438144" y="873252"/>
                  </a:lnTo>
                  <a:lnTo>
                    <a:pt x="3444240" y="873252"/>
                  </a:lnTo>
                  <a:lnTo>
                    <a:pt x="3450336" y="867156"/>
                  </a:lnTo>
                  <a:close/>
                </a:path>
                <a:path w="3450590" h="87376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50590" h="873760">
                  <a:moveTo>
                    <a:pt x="22860" y="8488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2860" y="848868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12192" y="848868"/>
                  </a:lnTo>
                  <a:lnTo>
                    <a:pt x="22860" y="861060"/>
                  </a:lnTo>
                  <a:lnTo>
                    <a:pt x="22860" y="873252"/>
                  </a:lnTo>
                  <a:lnTo>
                    <a:pt x="3425952" y="873252"/>
                  </a:lnTo>
                  <a:lnTo>
                    <a:pt x="3425952" y="861060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22860" y="873252"/>
                  </a:moveTo>
                  <a:lnTo>
                    <a:pt x="22860" y="861060"/>
                  </a:lnTo>
                  <a:lnTo>
                    <a:pt x="12192" y="848868"/>
                  </a:lnTo>
                  <a:lnTo>
                    <a:pt x="12192" y="873252"/>
                  </a:lnTo>
                  <a:lnTo>
                    <a:pt x="22860" y="873252"/>
                  </a:lnTo>
                  <a:close/>
                </a:path>
                <a:path w="3450590" h="873760">
                  <a:moveTo>
                    <a:pt x="3438144" y="24384"/>
                  </a:moveTo>
                  <a:lnTo>
                    <a:pt x="3425952" y="12192"/>
                  </a:lnTo>
                  <a:lnTo>
                    <a:pt x="3425952" y="24384"/>
                  </a:lnTo>
                  <a:lnTo>
                    <a:pt x="3438144" y="24384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3438144" y="24384"/>
                  </a:lnTo>
                  <a:lnTo>
                    <a:pt x="3425952" y="24384"/>
                  </a:lnTo>
                  <a:lnTo>
                    <a:pt x="3425952" y="848868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3438144" y="873252"/>
                  </a:moveTo>
                  <a:lnTo>
                    <a:pt x="3438144" y="848868"/>
                  </a:lnTo>
                  <a:lnTo>
                    <a:pt x="3425952" y="861060"/>
                  </a:lnTo>
                  <a:lnTo>
                    <a:pt x="3425952" y="873252"/>
                  </a:lnTo>
                  <a:lnTo>
                    <a:pt x="3438144" y="87325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05774" y="2795643"/>
            <a:ext cx="2704540" cy="509868"/>
            <a:chOff x="5266944" y="3168396"/>
            <a:chExt cx="3065145" cy="57785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3262489"/>
              <a:ext cx="2871889" cy="32767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66944" y="3168396"/>
              <a:ext cx="3065145" cy="577850"/>
            </a:xfrm>
            <a:custGeom>
              <a:avLst/>
              <a:gdLst/>
              <a:ahLst/>
              <a:cxnLst/>
              <a:rect l="l" t="t" r="r" b="b"/>
              <a:pathLst>
                <a:path w="3065145" h="577850">
                  <a:moveTo>
                    <a:pt x="3064764" y="573024"/>
                  </a:moveTo>
                  <a:lnTo>
                    <a:pt x="3064764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4764" y="573024"/>
                  </a:lnTo>
                  <a:close/>
                </a:path>
                <a:path w="306514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514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514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05775" y="3446481"/>
            <a:ext cx="2798669" cy="802901"/>
            <a:chOff x="5266944" y="3906011"/>
            <a:chExt cx="3171825" cy="90995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0857" y="4008301"/>
              <a:ext cx="3017459" cy="6806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66944" y="3906011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373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3732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3732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544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5444"/>
                  </a:lnTo>
                  <a:lnTo>
                    <a:pt x="22860" y="88544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12192" y="885444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5444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5444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5444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78013" y="4620409"/>
            <a:ext cx="2477060" cy="267821"/>
            <a:chOff x="475481" y="5236464"/>
            <a:chExt cx="2807335" cy="303530"/>
          </a:xfrm>
        </p:grpSpPr>
        <p:sp>
          <p:nvSpPr>
            <p:cNvPr id="21" name="object 21"/>
            <p:cNvSpPr/>
            <p:nvPr/>
          </p:nvSpPr>
          <p:spPr>
            <a:xfrm>
              <a:off x="487673" y="5248655"/>
              <a:ext cx="2784475" cy="279400"/>
            </a:xfrm>
            <a:custGeom>
              <a:avLst/>
              <a:gdLst/>
              <a:ahLst/>
              <a:cxnLst/>
              <a:rect l="l" t="t" r="r" b="b"/>
              <a:pathLst>
                <a:path w="2784475" h="279400">
                  <a:moveTo>
                    <a:pt x="2784347" y="278891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4347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475481" y="5236464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6096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6546" y="24384"/>
                  </a:lnTo>
                  <a:lnTo>
                    <a:pt x="2796546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2807335" h="303529">
                  <a:moveTo>
                    <a:pt x="24384" y="278892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4384" y="278892"/>
                  </a:lnTo>
                  <a:close/>
                </a:path>
                <a:path w="2807335" h="303529">
                  <a:moveTo>
                    <a:pt x="2796546" y="278892"/>
                  </a:moveTo>
                  <a:lnTo>
                    <a:pt x="12192" y="278892"/>
                  </a:lnTo>
                  <a:lnTo>
                    <a:pt x="24384" y="291084"/>
                  </a:lnTo>
                  <a:lnTo>
                    <a:pt x="24384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6546" y="278892"/>
                  </a:lnTo>
                  <a:close/>
                </a:path>
                <a:path w="2807335" h="303529">
                  <a:moveTo>
                    <a:pt x="24384" y="303276"/>
                  </a:moveTo>
                  <a:lnTo>
                    <a:pt x="24384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4384" y="303276"/>
                  </a:lnTo>
                  <a:close/>
                </a:path>
                <a:path w="2807335" h="303529">
                  <a:moveTo>
                    <a:pt x="2796546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6546" y="24384"/>
                  </a:lnTo>
                  <a:close/>
                </a:path>
                <a:path w="2807335" h="303529">
                  <a:moveTo>
                    <a:pt x="2796546" y="278892"/>
                  </a:moveTo>
                  <a:lnTo>
                    <a:pt x="2796546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6546" y="278892"/>
                  </a:lnTo>
                  <a:close/>
                </a:path>
                <a:path w="2807335" h="303529">
                  <a:moveTo>
                    <a:pt x="2796546" y="303276"/>
                  </a:moveTo>
                  <a:lnTo>
                    <a:pt x="2796546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6546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982980" y="5294388"/>
              <a:ext cx="2223770" cy="215265"/>
            </a:xfrm>
            <a:custGeom>
              <a:avLst/>
              <a:gdLst/>
              <a:ahLst/>
              <a:cxnLst/>
              <a:rect l="l" t="t" r="r" b="b"/>
              <a:pathLst>
                <a:path w="2223770" h="215264">
                  <a:moveTo>
                    <a:pt x="50279" y="205740"/>
                  </a:moveTo>
                  <a:lnTo>
                    <a:pt x="18275" y="205740"/>
                  </a:lnTo>
                  <a:lnTo>
                    <a:pt x="18275" y="214884"/>
                  </a:lnTo>
                  <a:lnTo>
                    <a:pt x="50279" y="214884"/>
                  </a:lnTo>
                  <a:lnTo>
                    <a:pt x="50279" y="205740"/>
                  </a:lnTo>
                  <a:close/>
                </a:path>
                <a:path w="2223770" h="215264">
                  <a:moveTo>
                    <a:pt x="50800" y="0"/>
                  </a:moveTo>
                  <a:lnTo>
                    <a:pt x="1778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17780" y="214884"/>
                  </a:lnTo>
                  <a:lnTo>
                    <a:pt x="1778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223770" h="215264">
                  <a:moveTo>
                    <a:pt x="2223770" y="0"/>
                  </a:moveTo>
                  <a:lnTo>
                    <a:pt x="2204720" y="0"/>
                  </a:lnTo>
                  <a:lnTo>
                    <a:pt x="2172970" y="0"/>
                  </a:lnTo>
                  <a:lnTo>
                    <a:pt x="2172970" y="9144"/>
                  </a:lnTo>
                  <a:lnTo>
                    <a:pt x="2204720" y="9144"/>
                  </a:lnTo>
                  <a:lnTo>
                    <a:pt x="2204720" y="205740"/>
                  </a:lnTo>
                  <a:lnTo>
                    <a:pt x="2173224" y="205740"/>
                  </a:lnTo>
                  <a:lnTo>
                    <a:pt x="2173224" y="214884"/>
                  </a:lnTo>
                  <a:lnTo>
                    <a:pt x="2204720" y="214884"/>
                  </a:lnTo>
                  <a:lnTo>
                    <a:pt x="2205228" y="214884"/>
                  </a:lnTo>
                  <a:lnTo>
                    <a:pt x="2223770" y="214884"/>
                  </a:lnTo>
                  <a:lnTo>
                    <a:pt x="2223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078013" y="4967343"/>
            <a:ext cx="2384612" cy="270622"/>
            <a:chOff x="475481" y="5629655"/>
            <a:chExt cx="2702560" cy="306705"/>
          </a:xfrm>
        </p:grpSpPr>
        <p:sp>
          <p:nvSpPr>
            <p:cNvPr id="25" name="object 25"/>
            <p:cNvSpPr/>
            <p:nvPr/>
          </p:nvSpPr>
          <p:spPr>
            <a:xfrm>
              <a:off x="487673" y="5641847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75481" y="5629655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6096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2702560" h="306704">
                  <a:moveTo>
                    <a:pt x="24384" y="281940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4384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4384" y="294132"/>
                  </a:lnTo>
                  <a:lnTo>
                    <a:pt x="24384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4384" y="306324"/>
                  </a:moveTo>
                  <a:lnTo>
                    <a:pt x="24384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4384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984250" y="5690628"/>
              <a:ext cx="2115820" cy="213360"/>
            </a:xfrm>
            <a:custGeom>
              <a:avLst/>
              <a:gdLst/>
              <a:ahLst/>
              <a:cxnLst/>
              <a:rect l="l" t="t" r="r" b="b"/>
              <a:pathLst>
                <a:path w="2115820" h="213360">
                  <a:moveTo>
                    <a:pt x="508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13360"/>
                  </a:lnTo>
                  <a:lnTo>
                    <a:pt x="18529" y="213360"/>
                  </a:lnTo>
                  <a:lnTo>
                    <a:pt x="19050" y="213360"/>
                  </a:lnTo>
                  <a:lnTo>
                    <a:pt x="50533" y="213360"/>
                  </a:lnTo>
                  <a:lnTo>
                    <a:pt x="50533" y="205740"/>
                  </a:lnTo>
                  <a:lnTo>
                    <a:pt x="19050" y="205740"/>
                  </a:lnTo>
                  <a:lnTo>
                    <a:pt x="19050" y="7620"/>
                  </a:lnTo>
                  <a:lnTo>
                    <a:pt x="50800" y="7620"/>
                  </a:lnTo>
                  <a:lnTo>
                    <a:pt x="50800" y="0"/>
                  </a:lnTo>
                  <a:close/>
                </a:path>
                <a:path w="2115820" h="213360">
                  <a:moveTo>
                    <a:pt x="2115820" y="0"/>
                  </a:moveTo>
                  <a:lnTo>
                    <a:pt x="2096770" y="0"/>
                  </a:lnTo>
                  <a:lnTo>
                    <a:pt x="2065020" y="0"/>
                  </a:lnTo>
                  <a:lnTo>
                    <a:pt x="2065020" y="7620"/>
                  </a:lnTo>
                  <a:lnTo>
                    <a:pt x="2096770" y="7620"/>
                  </a:lnTo>
                  <a:lnTo>
                    <a:pt x="2096770" y="205740"/>
                  </a:lnTo>
                  <a:lnTo>
                    <a:pt x="2065274" y="205740"/>
                  </a:lnTo>
                  <a:lnTo>
                    <a:pt x="2065274" y="213360"/>
                  </a:lnTo>
                  <a:lnTo>
                    <a:pt x="2096770" y="213360"/>
                  </a:lnTo>
                  <a:lnTo>
                    <a:pt x="2097278" y="213360"/>
                  </a:lnTo>
                  <a:lnTo>
                    <a:pt x="2115820" y="213360"/>
                  </a:lnTo>
                  <a:lnTo>
                    <a:pt x="21158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087426" y="4427936"/>
            <a:ext cx="2375087" cy="710692"/>
          </a:xfrm>
          <a:prstGeom prst="rect">
            <a:avLst/>
          </a:prstGeom>
        </p:spPr>
        <p:txBody>
          <a:bodyPr vert="horz" wrap="square" lIns="0" tIns="118222" rIns="0" bIns="0" rtlCol="0">
            <a:spAutoFit/>
          </a:bodyPr>
          <a:lstStyle/>
          <a:p>
            <a:pPr marL="34740">
              <a:spcBef>
                <a:spcPts val="931"/>
              </a:spcBef>
              <a:tabLst>
                <a:tab pos="485241" algn="l"/>
              </a:tabLst>
            </a:pPr>
            <a:r>
              <a:rPr sz="2382" spc="112" baseline="-20061" dirty="0">
                <a:latin typeface="Cambria"/>
                <a:cs typeface="Cambria"/>
              </a:rPr>
              <a:t>x</a:t>
            </a:r>
            <a:r>
              <a:rPr sz="2382" spc="212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231" baseline="-20061" dirty="0">
                <a:latin typeface="Cambria"/>
                <a:cs typeface="Cambria"/>
              </a:rPr>
              <a:t>x</a:t>
            </a:r>
            <a:r>
              <a:rPr sz="1147" spc="154" dirty="0">
                <a:latin typeface="Cambria"/>
                <a:cs typeface="Cambria"/>
              </a:rPr>
              <a:t>&lt;1&gt;</a:t>
            </a:r>
            <a:r>
              <a:rPr sz="1147" spc="172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212" baseline="-20061" dirty="0">
                <a:latin typeface="Cambria"/>
                <a:cs typeface="Cambria"/>
              </a:rPr>
              <a:t>x</a:t>
            </a:r>
            <a:r>
              <a:rPr sz="1147" spc="141" dirty="0">
                <a:latin typeface="Cambria"/>
                <a:cs typeface="Cambria"/>
              </a:rPr>
              <a:t>&lt;2&gt;</a:t>
            </a:r>
            <a:r>
              <a:rPr sz="2382" spc="212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178" baseline="-20061" dirty="0">
                <a:latin typeface="Cambria"/>
                <a:cs typeface="Cambria"/>
              </a:rPr>
              <a:t>x</a:t>
            </a:r>
            <a:r>
              <a:rPr sz="1147" spc="119" dirty="0">
                <a:latin typeface="Cambria"/>
                <a:cs typeface="Cambria"/>
              </a:rPr>
              <a:t>&lt;10&gt;</a:t>
            </a:r>
            <a:endParaRPr sz="1147">
              <a:latin typeface="Cambria"/>
              <a:cs typeface="Cambria"/>
            </a:endParaRPr>
          </a:p>
          <a:p>
            <a:pPr marL="33619">
              <a:spcBef>
                <a:spcPts val="847"/>
              </a:spcBef>
              <a:tabLst>
                <a:tab pos="486361" algn="l"/>
              </a:tabLst>
            </a:pPr>
            <a:r>
              <a:rPr sz="2382" baseline="-20061" dirty="0">
                <a:latin typeface="Cambria"/>
                <a:cs typeface="Cambria"/>
              </a:rPr>
              <a:t>ℎ</a:t>
            </a:r>
            <a:r>
              <a:rPr sz="2382" spc="191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178" baseline="-20061" dirty="0">
                <a:latin typeface="Cambria"/>
                <a:cs typeface="Cambria"/>
              </a:rPr>
              <a:t>ℎ</a:t>
            </a:r>
            <a:r>
              <a:rPr sz="1147" spc="119" dirty="0">
                <a:latin typeface="Cambria"/>
                <a:cs typeface="Cambria"/>
              </a:rPr>
              <a:t>&lt;1&gt;</a:t>
            </a:r>
            <a:r>
              <a:rPr sz="1147" spc="176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65" baseline="-20061" dirty="0">
                <a:latin typeface="Cambria"/>
                <a:cs typeface="Cambria"/>
              </a:rPr>
              <a:t>ℎ</a:t>
            </a:r>
            <a:r>
              <a:rPr sz="1147" spc="110" dirty="0">
                <a:latin typeface="Cambria"/>
                <a:cs typeface="Cambria"/>
              </a:rPr>
              <a:t>&lt;2&gt;</a:t>
            </a:r>
            <a:r>
              <a:rPr sz="2382" spc="165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58" baseline="-20061" dirty="0">
                <a:latin typeface="Cambria"/>
                <a:cs typeface="Cambria"/>
              </a:rPr>
              <a:t>ℎ</a:t>
            </a:r>
            <a:r>
              <a:rPr sz="1147" spc="106" dirty="0">
                <a:latin typeface="Cambria"/>
                <a:cs typeface="Cambria"/>
              </a:rPr>
              <a:t>&lt;5&gt;</a:t>
            </a:r>
            <a:endParaRPr sz="1147">
              <a:latin typeface="Cambria"/>
              <a:cs typeface="Cambr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658471" y="813719"/>
            <a:ext cx="2278156" cy="59971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688" rIns="0" bIns="0" rtlCol="0" anchor="ctr">
            <a:spAutoFit/>
          </a:bodyPr>
          <a:lstStyle/>
          <a:p>
            <a:pPr marL="65558">
              <a:spcBef>
                <a:spcPts val="124"/>
              </a:spcBef>
            </a:pPr>
            <a:r>
              <a:rPr sz="1897" spc="-31" dirty="0"/>
              <a:t>Total</a:t>
            </a:r>
            <a:r>
              <a:rPr sz="1897" spc="-53" dirty="0"/>
              <a:t> </a:t>
            </a:r>
            <a:r>
              <a:rPr sz="1897" dirty="0"/>
              <a:t>NW</a:t>
            </a:r>
            <a:r>
              <a:rPr sz="1897" spc="-57" dirty="0"/>
              <a:t> </a:t>
            </a:r>
            <a:r>
              <a:rPr sz="1897" spc="-9" dirty="0"/>
              <a:t>Parameters</a:t>
            </a:r>
            <a:endParaRPr sz="1897"/>
          </a:p>
        </p:txBody>
      </p:sp>
      <p:grpSp>
        <p:nvGrpSpPr>
          <p:cNvPr id="30" name="object 30"/>
          <p:cNvGrpSpPr/>
          <p:nvPr/>
        </p:nvGrpSpPr>
        <p:grpSpPr>
          <a:xfrm>
            <a:off x="9481969" y="1312427"/>
            <a:ext cx="368674" cy="289112"/>
            <a:chOff x="8866632" y="1487417"/>
            <a:chExt cx="417830" cy="327660"/>
          </a:xfrm>
        </p:grpSpPr>
        <p:sp>
          <p:nvSpPr>
            <p:cNvPr id="31" name="object 31"/>
            <p:cNvSpPr/>
            <p:nvPr/>
          </p:nvSpPr>
          <p:spPr>
            <a:xfrm>
              <a:off x="8878823" y="1498085"/>
              <a:ext cx="393700" cy="304800"/>
            </a:xfrm>
            <a:custGeom>
              <a:avLst/>
              <a:gdLst/>
              <a:ahLst/>
              <a:cxnLst/>
              <a:rect l="l" t="t" r="r" b="b"/>
              <a:pathLst>
                <a:path w="393700" h="304800">
                  <a:moveTo>
                    <a:pt x="393191" y="304799"/>
                  </a:moveTo>
                  <a:lnTo>
                    <a:pt x="393191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3191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8866632" y="1487417"/>
              <a:ext cx="417830" cy="327660"/>
            </a:xfrm>
            <a:custGeom>
              <a:avLst/>
              <a:gdLst/>
              <a:ahLst/>
              <a:cxnLst/>
              <a:rect l="l" t="t" r="r" b="b"/>
              <a:pathLst>
                <a:path w="417829" h="327660">
                  <a:moveTo>
                    <a:pt x="417576" y="323094"/>
                  </a:moveTo>
                  <a:lnTo>
                    <a:pt x="417576" y="4572"/>
                  </a:lnTo>
                  <a:lnTo>
                    <a:pt x="411480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323094"/>
                  </a:lnTo>
                  <a:lnTo>
                    <a:pt x="6096" y="327666"/>
                  </a:lnTo>
                  <a:lnTo>
                    <a:pt x="12192" y="327666"/>
                  </a:lnTo>
                  <a:lnTo>
                    <a:pt x="12192" y="22860"/>
                  </a:lnTo>
                  <a:lnTo>
                    <a:pt x="24384" y="10668"/>
                  </a:lnTo>
                  <a:lnTo>
                    <a:pt x="24384" y="22860"/>
                  </a:lnTo>
                  <a:lnTo>
                    <a:pt x="393192" y="22860"/>
                  </a:lnTo>
                  <a:lnTo>
                    <a:pt x="393192" y="10668"/>
                  </a:lnTo>
                  <a:lnTo>
                    <a:pt x="405384" y="22860"/>
                  </a:lnTo>
                  <a:lnTo>
                    <a:pt x="405384" y="327666"/>
                  </a:lnTo>
                  <a:lnTo>
                    <a:pt x="411480" y="327666"/>
                  </a:lnTo>
                  <a:lnTo>
                    <a:pt x="417576" y="323094"/>
                  </a:lnTo>
                  <a:close/>
                </a:path>
                <a:path w="417829" h="327660">
                  <a:moveTo>
                    <a:pt x="24384" y="22860"/>
                  </a:moveTo>
                  <a:lnTo>
                    <a:pt x="24384" y="10668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417829" h="327660">
                  <a:moveTo>
                    <a:pt x="24384" y="304806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304806"/>
                  </a:lnTo>
                  <a:lnTo>
                    <a:pt x="24384" y="304806"/>
                  </a:lnTo>
                  <a:close/>
                </a:path>
                <a:path w="417829" h="327660">
                  <a:moveTo>
                    <a:pt x="405384" y="304806"/>
                  </a:moveTo>
                  <a:lnTo>
                    <a:pt x="12192" y="304806"/>
                  </a:lnTo>
                  <a:lnTo>
                    <a:pt x="24384" y="315474"/>
                  </a:lnTo>
                  <a:lnTo>
                    <a:pt x="24384" y="327666"/>
                  </a:lnTo>
                  <a:lnTo>
                    <a:pt x="393192" y="327666"/>
                  </a:lnTo>
                  <a:lnTo>
                    <a:pt x="393192" y="315474"/>
                  </a:lnTo>
                  <a:lnTo>
                    <a:pt x="405384" y="304806"/>
                  </a:lnTo>
                  <a:close/>
                </a:path>
                <a:path w="417829" h="327660">
                  <a:moveTo>
                    <a:pt x="24384" y="327666"/>
                  </a:moveTo>
                  <a:lnTo>
                    <a:pt x="24384" y="315474"/>
                  </a:lnTo>
                  <a:lnTo>
                    <a:pt x="12192" y="304806"/>
                  </a:lnTo>
                  <a:lnTo>
                    <a:pt x="12192" y="327666"/>
                  </a:lnTo>
                  <a:lnTo>
                    <a:pt x="24384" y="327666"/>
                  </a:lnTo>
                  <a:close/>
                </a:path>
                <a:path w="417829" h="327660">
                  <a:moveTo>
                    <a:pt x="405384" y="22860"/>
                  </a:moveTo>
                  <a:lnTo>
                    <a:pt x="393192" y="10668"/>
                  </a:lnTo>
                  <a:lnTo>
                    <a:pt x="393192" y="22860"/>
                  </a:lnTo>
                  <a:lnTo>
                    <a:pt x="405384" y="22860"/>
                  </a:lnTo>
                  <a:close/>
                </a:path>
                <a:path w="417829" h="327660">
                  <a:moveTo>
                    <a:pt x="405384" y="304806"/>
                  </a:moveTo>
                  <a:lnTo>
                    <a:pt x="405384" y="22860"/>
                  </a:lnTo>
                  <a:lnTo>
                    <a:pt x="393192" y="22860"/>
                  </a:lnTo>
                  <a:lnTo>
                    <a:pt x="393192" y="304806"/>
                  </a:lnTo>
                  <a:lnTo>
                    <a:pt x="405384" y="304806"/>
                  </a:lnTo>
                  <a:close/>
                </a:path>
                <a:path w="417829" h="327660">
                  <a:moveTo>
                    <a:pt x="405384" y="327666"/>
                  </a:moveTo>
                  <a:lnTo>
                    <a:pt x="405384" y="304806"/>
                  </a:lnTo>
                  <a:lnTo>
                    <a:pt x="393192" y="315474"/>
                  </a:lnTo>
                  <a:lnTo>
                    <a:pt x="393192" y="327666"/>
                  </a:lnTo>
                  <a:lnTo>
                    <a:pt x="405384" y="327666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9495417" y="1848970"/>
            <a:ext cx="367552" cy="289112"/>
            <a:chOff x="8881872" y="2095500"/>
            <a:chExt cx="416559" cy="327660"/>
          </a:xfrm>
        </p:grpSpPr>
        <p:sp>
          <p:nvSpPr>
            <p:cNvPr id="34" name="object 34"/>
            <p:cNvSpPr/>
            <p:nvPr/>
          </p:nvSpPr>
          <p:spPr>
            <a:xfrm>
              <a:off x="8894064" y="2107691"/>
              <a:ext cx="391795" cy="303530"/>
            </a:xfrm>
            <a:custGeom>
              <a:avLst/>
              <a:gdLst/>
              <a:ahLst/>
              <a:cxnLst/>
              <a:rect l="l" t="t" r="r" b="b"/>
              <a:pathLst>
                <a:path w="391795" h="303530">
                  <a:moveTo>
                    <a:pt x="391667" y="303275"/>
                  </a:moveTo>
                  <a:lnTo>
                    <a:pt x="391667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391667" y="303275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881872" y="2095500"/>
              <a:ext cx="416559" cy="327660"/>
            </a:xfrm>
            <a:custGeom>
              <a:avLst/>
              <a:gdLst/>
              <a:ahLst/>
              <a:cxnLst/>
              <a:rect l="l" t="t" r="r" b="b"/>
              <a:pathLst>
                <a:path w="416559" h="327660">
                  <a:moveTo>
                    <a:pt x="416052" y="323088"/>
                  </a:moveTo>
                  <a:lnTo>
                    <a:pt x="416052" y="4572"/>
                  </a:lnTo>
                  <a:lnTo>
                    <a:pt x="41148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23088"/>
                  </a:lnTo>
                  <a:lnTo>
                    <a:pt x="4572" y="327660"/>
                  </a:lnTo>
                  <a:lnTo>
                    <a:pt x="12192" y="327660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93192" y="22860"/>
                  </a:lnTo>
                  <a:lnTo>
                    <a:pt x="393192" y="12192"/>
                  </a:lnTo>
                  <a:lnTo>
                    <a:pt x="403860" y="22860"/>
                  </a:lnTo>
                  <a:lnTo>
                    <a:pt x="403860" y="327660"/>
                  </a:lnTo>
                  <a:lnTo>
                    <a:pt x="411480" y="327660"/>
                  </a:lnTo>
                  <a:lnTo>
                    <a:pt x="416052" y="323088"/>
                  </a:lnTo>
                  <a:close/>
                </a:path>
                <a:path w="416559" h="32766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416559" h="327660">
                  <a:moveTo>
                    <a:pt x="22860" y="30480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416559" h="327660">
                  <a:moveTo>
                    <a:pt x="403860" y="304800"/>
                  </a:moveTo>
                  <a:lnTo>
                    <a:pt x="12192" y="304800"/>
                  </a:lnTo>
                  <a:lnTo>
                    <a:pt x="22860" y="315468"/>
                  </a:lnTo>
                  <a:lnTo>
                    <a:pt x="22860" y="327660"/>
                  </a:lnTo>
                  <a:lnTo>
                    <a:pt x="393192" y="327660"/>
                  </a:lnTo>
                  <a:lnTo>
                    <a:pt x="393192" y="315468"/>
                  </a:lnTo>
                  <a:lnTo>
                    <a:pt x="403860" y="304800"/>
                  </a:lnTo>
                  <a:close/>
                </a:path>
                <a:path w="416559" h="327660">
                  <a:moveTo>
                    <a:pt x="22860" y="327660"/>
                  </a:moveTo>
                  <a:lnTo>
                    <a:pt x="22860" y="315468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2860" y="327660"/>
                  </a:lnTo>
                  <a:close/>
                </a:path>
                <a:path w="416559" h="327660">
                  <a:moveTo>
                    <a:pt x="403860" y="22860"/>
                  </a:moveTo>
                  <a:lnTo>
                    <a:pt x="393192" y="12192"/>
                  </a:lnTo>
                  <a:lnTo>
                    <a:pt x="393192" y="22860"/>
                  </a:lnTo>
                  <a:lnTo>
                    <a:pt x="403860" y="22860"/>
                  </a:lnTo>
                  <a:close/>
                </a:path>
                <a:path w="416559" h="327660">
                  <a:moveTo>
                    <a:pt x="403860" y="304800"/>
                  </a:moveTo>
                  <a:lnTo>
                    <a:pt x="403860" y="22860"/>
                  </a:lnTo>
                  <a:lnTo>
                    <a:pt x="393192" y="22860"/>
                  </a:lnTo>
                  <a:lnTo>
                    <a:pt x="393192" y="304800"/>
                  </a:lnTo>
                  <a:lnTo>
                    <a:pt x="403860" y="304800"/>
                  </a:lnTo>
                  <a:close/>
                </a:path>
                <a:path w="416559" h="327660">
                  <a:moveTo>
                    <a:pt x="403860" y="327660"/>
                  </a:moveTo>
                  <a:lnTo>
                    <a:pt x="403860" y="304800"/>
                  </a:lnTo>
                  <a:lnTo>
                    <a:pt x="393192" y="315468"/>
                  </a:lnTo>
                  <a:lnTo>
                    <a:pt x="393192" y="327660"/>
                  </a:lnTo>
                  <a:lnTo>
                    <a:pt x="403860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9495417" y="2255072"/>
            <a:ext cx="367552" cy="290793"/>
            <a:chOff x="8881872" y="2555748"/>
            <a:chExt cx="416559" cy="329565"/>
          </a:xfrm>
        </p:grpSpPr>
        <p:sp>
          <p:nvSpPr>
            <p:cNvPr id="37" name="object 37"/>
            <p:cNvSpPr/>
            <p:nvPr/>
          </p:nvSpPr>
          <p:spPr>
            <a:xfrm>
              <a:off x="8894064" y="2567939"/>
              <a:ext cx="391795" cy="304800"/>
            </a:xfrm>
            <a:custGeom>
              <a:avLst/>
              <a:gdLst/>
              <a:ahLst/>
              <a:cxnLst/>
              <a:rect l="l" t="t" r="r" b="b"/>
              <a:pathLst>
                <a:path w="391795" h="304800">
                  <a:moveTo>
                    <a:pt x="391667" y="304799"/>
                  </a:moveTo>
                  <a:lnTo>
                    <a:pt x="391667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1667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8881872" y="2555748"/>
              <a:ext cx="416559" cy="329565"/>
            </a:xfrm>
            <a:custGeom>
              <a:avLst/>
              <a:gdLst/>
              <a:ahLst/>
              <a:cxnLst/>
              <a:rect l="l" t="t" r="r" b="b"/>
              <a:pathLst>
                <a:path w="416559" h="329564">
                  <a:moveTo>
                    <a:pt x="416052" y="323088"/>
                  </a:moveTo>
                  <a:lnTo>
                    <a:pt x="416052" y="6096"/>
                  </a:lnTo>
                  <a:lnTo>
                    <a:pt x="41148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323088"/>
                  </a:lnTo>
                  <a:lnTo>
                    <a:pt x="4572" y="329184"/>
                  </a:lnTo>
                  <a:lnTo>
                    <a:pt x="12192" y="329184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93192" y="24384"/>
                  </a:lnTo>
                  <a:lnTo>
                    <a:pt x="393192" y="12192"/>
                  </a:lnTo>
                  <a:lnTo>
                    <a:pt x="403860" y="24384"/>
                  </a:lnTo>
                  <a:lnTo>
                    <a:pt x="403860" y="329184"/>
                  </a:lnTo>
                  <a:lnTo>
                    <a:pt x="411480" y="329184"/>
                  </a:lnTo>
                  <a:lnTo>
                    <a:pt x="416052" y="323088"/>
                  </a:lnTo>
                  <a:close/>
                </a:path>
                <a:path w="416559" h="32956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416559" h="329564">
                  <a:moveTo>
                    <a:pt x="22860" y="304800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416559" h="329564">
                  <a:moveTo>
                    <a:pt x="403860" y="304800"/>
                  </a:moveTo>
                  <a:lnTo>
                    <a:pt x="12192" y="304800"/>
                  </a:lnTo>
                  <a:lnTo>
                    <a:pt x="22860" y="316992"/>
                  </a:lnTo>
                  <a:lnTo>
                    <a:pt x="22860" y="329184"/>
                  </a:lnTo>
                  <a:lnTo>
                    <a:pt x="393192" y="329184"/>
                  </a:lnTo>
                  <a:lnTo>
                    <a:pt x="393192" y="316992"/>
                  </a:lnTo>
                  <a:lnTo>
                    <a:pt x="403860" y="304800"/>
                  </a:lnTo>
                  <a:close/>
                </a:path>
                <a:path w="416559" h="329564">
                  <a:moveTo>
                    <a:pt x="22860" y="329184"/>
                  </a:moveTo>
                  <a:lnTo>
                    <a:pt x="22860" y="316992"/>
                  </a:lnTo>
                  <a:lnTo>
                    <a:pt x="12192" y="304800"/>
                  </a:lnTo>
                  <a:lnTo>
                    <a:pt x="12192" y="329184"/>
                  </a:lnTo>
                  <a:lnTo>
                    <a:pt x="22860" y="329184"/>
                  </a:lnTo>
                  <a:close/>
                </a:path>
                <a:path w="416559" h="329564">
                  <a:moveTo>
                    <a:pt x="403860" y="24384"/>
                  </a:moveTo>
                  <a:lnTo>
                    <a:pt x="393192" y="12192"/>
                  </a:lnTo>
                  <a:lnTo>
                    <a:pt x="393192" y="24384"/>
                  </a:lnTo>
                  <a:lnTo>
                    <a:pt x="403860" y="24384"/>
                  </a:lnTo>
                  <a:close/>
                </a:path>
                <a:path w="416559" h="329564">
                  <a:moveTo>
                    <a:pt x="403860" y="304800"/>
                  </a:moveTo>
                  <a:lnTo>
                    <a:pt x="403860" y="24384"/>
                  </a:lnTo>
                  <a:lnTo>
                    <a:pt x="393192" y="24384"/>
                  </a:lnTo>
                  <a:lnTo>
                    <a:pt x="393192" y="304800"/>
                  </a:lnTo>
                  <a:lnTo>
                    <a:pt x="403860" y="304800"/>
                  </a:lnTo>
                  <a:close/>
                </a:path>
                <a:path w="416559" h="329564">
                  <a:moveTo>
                    <a:pt x="403860" y="329184"/>
                  </a:moveTo>
                  <a:lnTo>
                    <a:pt x="403860" y="304800"/>
                  </a:lnTo>
                  <a:lnTo>
                    <a:pt x="393192" y="316992"/>
                  </a:lnTo>
                  <a:lnTo>
                    <a:pt x="393192" y="329184"/>
                  </a:lnTo>
                  <a:lnTo>
                    <a:pt x="403860" y="32918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07067" y="1297192"/>
            <a:ext cx="280147" cy="1227863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  <a:p>
            <a:pPr>
              <a:spcBef>
                <a:spcPts val="141"/>
              </a:spcBef>
            </a:pPr>
            <a:endParaRPr sz="1721">
              <a:latin typeface="Cambria"/>
              <a:cs typeface="Cambria"/>
            </a:endParaRPr>
          </a:p>
          <a:p>
            <a:pPr marL="22972"/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  <a:p>
            <a:pPr marL="22972">
              <a:spcBef>
                <a:spcPts val="1143"/>
              </a:spcBef>
            </a:pPr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481969" y="3457239"/>
            <a:ext cx="368674" cy="289112"/>
            <a:chOff x="8866632" y="3918204"/>
            <a:chExt cx="417830" cy="327660"/>
          </a:xfrm>
        </p:grpSpPr>
        <p:sp>
          <p:nvSpPr>
            <p:cNvPr id="41" name="object 41"/>
            <p:cNvSpPr/>
            <p:nvPr/>
          </p:nvSpPr>
          <p:spPr>
            <a:xfrm>
              <a:off x="8878823" y="3930396"/>
              <a:ext cx="393700" cy="304800"/>
            </a:xfrm>
            <a:custGeom>
              <a:avLst/>
              <a:gdLst/>
              <a:ahLst/>
              <a:cxnLst/>
              <a:rect l="l" t="t" r="r" b="b"/>
              <a:pathLst>
                <a:path w="393700" h="304800">
                  <a:moveTo>
                    <a:pt x="393191" y="304799"/>
                  </a:moveTo>
                  <a:lnTo>
                    <a:pt x="393191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3191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8866632" y="3918204"/>
              <a:ext cx="417830" cy="327660"/>
            </a:xfrm>
            <a:custGeom>
              <a:avLst/>
              <a:gdLst/>
              <a:ahLst/>
              <a:cxnLst/>
              <a:rect l="l" t="t" r="r" b="b"/>
              <a:pathLst>
                <a:path w="417829" h="327660">
                  <a:moveTo>
                    <a:pt x="417576" y="323088"/>
                  </a:moveTo>
                  <a:lnTo>
                    <a:pt x="417576" y="6096"/>
                  </a:lnTo>
                  <a:lnTo>
                    <a:pt x="411480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323088"/>
                  </a:lnTo>
                  <a:lnTo>
                    <a:pt x="6096" y="327660"/>
                  </a:lnTo>
                  <a:lnTo>
                    <a:pt x="12192" y="327660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93192" y="24384"/>
                  </a:lnTo>
                  <a:lnTo>
                    <a:pt x="393192" y="12192"/>
                  </a:lnTo>
                  <a:lnTo>
                    <a:pt x="405384" y="24384"/>
                  </a:lnTo>
                  <a:lnTo>
                    <a:pt x="405384" y="327660"/>
                  </a:lnTo>
                  <a:lnTo>
                    <a:pt x="411480" y="327660"/>
                  </a:lnTo>
                  <a:lnTo>
                    <a:pt x="417576" y="323088"/>
                  </a:lnTo>
                  <a:close/>
                </a:path>
                <a:path w="417829" h="327660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417829" h="327660">
                  <a:moveTo>
                    <a:pt x="24384" y="304800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304800"/>
                  </a:lnTo>
                  <a:lnTo>
                    <a:pt x="24384" y="304800"/>
                  </a:lnTo>
                  <a:close/>
                </a:path>
                <a:path w="417829" h="327660">
                  <a:moveTo>
                    <a:pt x="405384" y="304800"/>
                  </a:moveTo>
                  <a:lnTo>
                    <a:pt x="12192" y="304800"/>
                  </a:lnTo>
                  <a:lnTo>
                    <a:pt x="24384" y="316992"/>
                  </a:lnTo>
                  <a:lnTo>
                    <a:pt x="24384" y="327660"/>
                  </a:lnTo>
                  <a:lnTo>
                    <a:pt x="393192" y="327660"/>
                  </a:lnTo>
                  <a:lnTo>
                    <a:pt x="393192" y="316992"/>
                  </a:lnTo>
                  <a:lnTo>
                    <a:pt x="405384" y="304800"/>
                  </a:lnTo>
                  <a:close/>
                </a:path>
                <a:path w="417829" h="327660">
                  <a:moveTo>
                    <a:pt x="24384" y="327660"/>
                  </a:moveTo>
                  <a:lnTo>
                    <a:pt x="24384" y="316992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4384" y="327660"/>
                  </a:lnTo>
                  <a:close/>
                </a:path>
                <a:path w="417829" h="327660">
                  <a:moveTo>
                    <a:pt x="405384" y="24384"/>
                  </a:moveTo>
                  <a:lnTo>
                    <a:pt x="393192" y="12192"/>
                  </a:lnTo>
                  <a:lnTo>
                    <a:pt x="393192" y="24384"/>
                  </a:lnTo>
                  <a:lnTo>
                    <a:pt x="405384" y="24384"/>
                  </a:lnTo>
                  <a:close/>
                </a:path>
                <a:path w="417829" h="327660">
                  <a:moveTo>
                    <a:pt x="405384" y="304800"/>
                  </a:moveTo>
                  <a:lnTo>
                    <a:pt x="405384" y="24384"/>
                  </a:lnTo>
                  <a:lnTo>
                    <a:pt x="393192" y="24384"/>
                  </a:lnTo>
                  <a:lnTo>
                    <a:pt x="393192" y="304800"/>
                  </a:lnTo>
                  <a:lnTo>
                    <a:pt x="405384" y="304800"/>
                  </a:lnTo>
                  <a:close/>
                </a:path>
                <a:path w="417829" h="327660">
                  <a:moveTo>
                    <a:pt x="405384" y="327660"/>
                  </a:moveTo>
                  <a:lnTo>
                    <a:pt x="405384" y="304800"/>
                  </a:lnTo>
                  <a:lnTo>
                    <a:pt x="393192" y="316992"/>
                  </a:lnTo>
                  <a:lnTo>
                    <a:pt x="393192" y="327660"/>
                  </a:lnTo>
                  <a:lnTo>
                    <a:pt x="405384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507067" y="3441997"/>
            <a:ext cx="267821" cy="279526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316532" y="4620410"/>
            <a:ext cx="2184026" cy="423581"/>
            <a:chOff x="5279136" y="5236464"/>
            <a:chExt cx="2475230" cy="480059"/>
          </a:xfrm>
        </p:grpSpPr>
        <p:sp>
          <p:nvSpPr>
            <p:cNvPr id="45" name="object 45"/>
            <p:cNvSpPr/>
            <p:nvPr/>
          </p:nvSpPr>
          <p:spPr>
            <a:xfrm>
              <a:off x="5289804" y="5248655"/>
              <a:ext cx="2452370" cy="457200"/>
            </a:xfrm>
            <a:custGeom>
              <a:avLst/>
              <a:gdLst/>
              <a:ahLst/>
              <a:cxnLst/>
              <a:rect l="l" t="t" r="r" b="b"/>
              <a:pathLst>
                <a:path w="2452370" h="457200">
                  <a:moveTo>
                    <a:pt x="2452115" y="457199"/>
                  </a:moveTo>
                  <a:lnTo>
                    <a:pt x="245211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2452115" y="4571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5279136" y="5236464"/>
              <a:ext cx="2475230" cy="480059"/>
            </a:xfrm>
            <a:custGeom>
              <a:avLst/>
              <a:gdLst/>
              <a:ahLst/>
              <a:cxnLst/>
              <a:rect l="l" t="t" r="r" b="b"/>
              <a:pathLst>
                <a:path w="2475229" h="480060">
                  <a:moveTo>
                    <a:pt x="2474976" y="475488"/>
                  </a:moveTo>
                  <a:lnTo>
                    <a:pt x="2474976" y="6096"/>
                  </a:lnTo>
                  <a:lnTo>
                    <a:pt x="246888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75488"/>
                  </a:lnTo>
                  <a:lnTo>
                    <a:pt x="4572" y="480060"/>
                  </a:lnTo>
                  <a:lnTo>
                    <a:pt x="10668" y="480060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450592" y="24384"/>
                  </a:lnTo>
                  <a:lnTo>
                    <a:pt x="2450592" y="12192"/>
                  </a:lnTo>
                  <a:lnTo>
                    <a:pt x="2462784" y="24384"/>
                  </a:lnTo>
                  <a:lnTo>
                    <a:pt x="2462784" y="480060"/>
                  </a:lnTo>
                  <a:lnTo>
                    <a:pt x="2468880" y="480060"/>
                  </a:lnTo>
                  <a:lnTo>
                    <a:pt x="2474976" y="475488"/>
                  </a:lnTo>
                  <a:close/>
                </a:path>
                <a:path w="2475229" h="480060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475229" h="480060">
                  <a:moveTo>
                    <a:pt x="22860" y="457200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57200"/>
                  </a:lnTo>
                  <a:lnTo>
                    <a:pt x="22860" y="457200"/>
                  </a:lnTo>
                  <a:close/>
                </a:path>
                <a:path w="2475229" h="480060">
                  <a:moveTo>
                    <a:pt x="2462784" y="457200"/>
                  </a:moveTo>
                  <a:lnTo>
                    <a:pt x="10668" y="457200"/>
                  </a:lnTo>
                  <a:lnTo>
                    <a:pt x="22860" y="469392"/>
                  </a:lnTo>
                  <a:lnTo>
                    <a:pt x="22860" y="480060"/>
                  </a:lnTo>
                  <a:lnTo>
                    <a:pt x="2450592" y="480060"/>
                  </a:lnTo>
                  <a:lnTo>
                    <a:pt x="2450592" y="469392"/>
                  </a:lnTo>
                  <a:lnTo>
                    <a:pt x="2462784" y="457200"/>
                  </a:lnTo>
                  <a:close/>
                </a:path>
                <a:path w="2475229" h="480060">
                  <a:moveTo>
                    <a:pt x="22860" y="480060"/>
                  </a:moveTo>
                  <a:lnTo>
                    <a:pt x="22860" y="469392"/>
                  </a:lnTo>
                  <a:lnTo>
                    <a:pt x="10668" y="457200"/>
                  </a:lnTo>
                  <a:lnTo>
                    <a:pt x="10668" y="480060"/>
                  </a:lnTo>
                  <a:lnTo>
                    <a:pt x="22860" y="480060"/>
                  </a:lnTo>
                  <a:close/>
                </a:path>
                <a:path w="2475229" h="480060">
                  <a:moveTo>
                    <a:pt x="2462784" y="24384"/>
                  </a:moveTo>
                  <a:lnTo>
                    <a:pt x="2450592" y="12192"/>
                  </a:lnTo>
                  <a:lnTo>
                    <a:pt x="2450592" y="24384"/>
                  </a:lnTo>
                  <a:lnTo>
                    <a:pt x="2462784" y="24384"/>
                  </a:lnTo>
                  <a:close/>
                </a:path>
                <a:path w="2475229" h="480060">
                  <a:moveTo>
                    <a:pt x="2462784" y="457200"/>
                  </a:moveTo>
                  <a:lnTo>
                    <a:pt x="2462784" y="24384"/>
                  </a:lnTo>
                  <a:lnTo>
                    <a:pt x="2450592" y="24384"/>
                  </a:lnTo>
                  <a:lnTo>
                    <a:pt x="2450592" y="457200"/>
                  </a:lnTo>
                  <a:lnTo>
                    <a:pt x="2462784" y="457200"/>
                  </a:lnTo>
                  <a:close/>
                </a:path>
                <a:path w="2475229" h="480060">
                  <a:moveTo>
                    <a:pt x="2462784" y="480060"/>
                  </a:moveTo>
                  <a:lnTo>
                    <a:pt x="2462784" y="457200"/>
                  </a:lnTo>
                  <a:lnTo>
                    <a:pt x="2450592" y="469392"/>
                  </a:lnTo>
                  <a:lnTo>
                    <a:pt x="2450592" y="480060"/>
                  </a:lnTo>
                  <a:lnTo>
                    <a:pt x="2462784" y="4800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363147" y="4597099"/>
            <a:ext cx="2018740" cy="414703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  <a:tabLst>
                <a:tab pos="524463" algn="l"/>
              </a:tabLst>
            </a:pPr>
            <a:r>
              <a:rPr sz="2603" spc="-22" dirty="0">
                <a:latin typeface="Cambria"/>
                <a:cs typeface="Cambria"/>
              </a:rPr>
              <a:t>80</a:t>
            </a:r>
            <a:r>
              <a:rPr sz="2603" dirty="0">
                <a:latin typeface="Cambria"/>
                <a:cs typeface="Cambria"/>
              </a:rPr>
              <a:t>	</a:t>
            </a:r>
            <a:r>
              <a:rPr sz="2603" spc="415" dirty="0">
                <a:latin typeface="Cambria"/>
                <a:cs typeface="Cambria"/>
              </a:rPr>
              <a:t>×</a:t>
            </a:r>
            <a:r>
              <a:rPr sz="2603" spc="4" dirty="0">
                <a:latin typeface="Cambria"/>
                <a:cs typeface="Cambria"/>
              </a:rPr>
              <a:t> </a:t>
            </a:r>
            <a:r>
              <a:rPr sz="2603" dirty="0">
                <a:latin typeface="Cambria"/>
                <a:cs typeface="Cambria"/>
              </a:rPr>
              <a:t>4</a:t>
            </a:r>
            <a:r>
              <a:rPr sz="2603" spc="146" dirty="0">
                <a:latin typeface="Cambria"/>
                <a:cs typeface="Cambria"/>
              </a:rPr>
              <a:t> </a:t>
            </a:r>
            <a:r>
              <a:rPr sz="2603" spc="503" dirty="0">
                <a:latin typeface="Cambria"/>
                <a:cs typeface="Cambria"/>
              </a:rPr>
              <a:t>=</a:t>
            </a:r>
            <a:r>
              <a:rPr sz="2603" spc="150" dirty="0">
                <a:latin typeface="Cambria"/>
                <a:cs typeface="Cambria"/>
              </a:rPr>
              <a:t> </a:t>
            </a:r>
            <a:r>
              <a:rPr sz="2603" spc="-22" dirty="0">
                <a:latin typeface="Cambria"/>
                <a:cs typeface="Cambria"/>
              </a:rPr>
              <a:t>320</a:t>
            </a:r>
            <a:endParaRPr sz="2603">
              <a:latin typeface="Cambria"/>
              <a:cs typeface="Cambria"/>
            </a:endParaRPr>
          </a:p>
        </p:txBody>
      </p:sp>
      <p:sp>
        <p:nvSpPr>
          <p:cNvPr id="51" name="Date Placeholder 50">
            <a:extLst>
              <a:ext uri="{FF2B5EF4-FFF2-40B4-BE49-F238E27FC236}">
                <a16:creationId xmlns:a16="http://schemas.microsoft.com/office/drawing/2014/main" id="{C4C57D35-1026-D577-9C57-70B8F59A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D72E1-1316-456F-A228-D7FA3FB64D50}" type="datetime1">
              <a:rPr lang="en-US" smtClean="0"/>
              <a:t>11/22/2025</a:t>
            </a:fld>
            <a:endParaRPr lang="en-US"/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533CE7D0-9F5F-4412-2F34-35A3CC83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470A7F83-0372-B058-30D2-45255284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71" y="813719"/>
            <a:ext cx="2278156" cy="59971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688" rIns="0" bIns="0" rtlCol="0" anchor="ctr">
            <a:spAutoFit/>
          </a:bodyPr>
          <a:lstStyle/>
          <a:p>
            <a:pPr marL="65558">
              <a:spcBef>
                <a:spcPts val="124"/>
              </a:spcBef>
            </a:pPr>
            <a:r>
              <a:rPr sz="1897" spc="-31" dirty="0"/>
              <a:t>Total</a:t>
            </a:r>
            <a:r>
              <a:rPr sz="1897" spc="-53" dirty="0"/>
              <a:t> </a:t>
            </a:r>
            <a:r>
              <a:rPr sz="1897" dirty="0"/>
              <a:t>NW</a:t>
            </a:r>
            <a:r>
              <a:rPr sz="1897" spc="-57" dirty="0"/>
              <a:t> </a:t>
            </a:r>
            <a:r>
              <a:rPr sz="1897" spc="-9" dirty="0"/>
              <a:t>Parameters</a:t>
            </a:r>
            <a:endParaRPr sz="1897"/>
          </a:p>
        </p:txBody>
      </p:sp>
      <p:sp>
        <p:nvSpPr>
          <p:cNvPr id="3" name="object 3"/>
          <p:cNvSpPr txBox="1"/>
          <p:nvPr/>
        </p:nvSpPr>
        <p:spPr>
          <a:xfrm>
            <a:off x="6295016" y="1522206"/>
            <a:ext cx="3274359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2585">
              <a:lnSpc>
                <a:spcPts val="2149"/>
              </a:lnSpc>
            </a:pPr>
            <a:r>
              <a:rPr sz="1897" spc="44" dirty="0">
                <a:latin typeface="Cambria"/>
                <a:cs typeface="Cambria"/>
              </a:rPr>
              <a:t>Embedding:</a:t>
            </a:r>
            <a:r>
              <a:rPr sz="1897" spc="-106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100</a:t>
            </a:r>
            <a:r>
              <a:rPr sz="1897" spc="41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</a:t>
            </a:r>
            <a:r>
              <a:rPr sz="1897" spc="115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01" dirty="0">
                <a:latin typeface="Cambria"/>
                <a:cs typeface="Cambria"/>
              </a:rPr>
              <a:t> </a:t>
            </a:r>
            <a:r>
              <a:rPr sz="1897" spc="-18" dirty="0">
                <a:latin typeface="Cambria"/>
                <a:cs typeface="Cambria"/>
              </a:rPr>
              <a:t>1000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8554" y="2960592"/>
            <a:ext cx="695325" cy="3026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897" spc="-9" dirty="0">
                <a:latin typeface="Cambria"/>
                <a:cs typeface="Cambria"/>
              </a:rPr>
              <a:t>LSTM: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3963" y="3000039"/>
            <a:ext cx="3736041" cy="290793"/>
          </a:xfrm>
          <a:custGeom>
            <a:avLst/>
            <a:gdLst/>
            <a:ahLst/>
            <a:cxnLst/>
            <a:rect l="l" t="t" r="r" b="b"/>
            <a:pathLst>
              <a:path w="4234180" h="329564">
                <a:moveTo>
                  <a:pt x="4233678" y="164592"/>
                </a:moveTo>
                <a:lnTo>
                  <a:pt x="4227963" y="105918"/>
                </a:lnTo>
                <a:lnTo>
                  <a:pt x="4210818" y="56388"/>
                </a:lnTo>
                <a:lnTo>
                  <a:pt x="4184529" y="19050"/>
                </a:lnTo>
                <a:lnTo>
                  <a:pt x="4146810" y="0"/>
                </a:lnTo>
                <a:lnTo>
                  <a:pt x="4143762" y="10668"/>
                </a:lnTo>
                <a:lnTo>
                  <a:pt x="4158883" y="18335"/>
                </a:lnTo>
                <a:lnTo>
                  <a:pt x="4172146" y="29718"/>
                </a:lnTo>
                <a:lnTo>
                  <a:pt x="4192530" y="62484"/>
                </a:lnTo>
                <a:lnTo>
                  <a:pt x="4204912" y="108394"/>
                </a:lnTo>
                <a:lnTo>
                  <a:pt x="4209294" y="164592"/>
                </a:lnTo>
                <a:lnTo>
                  <a:pt x="4209294" y="275475"/>
                </a:lnTo>
                <a:lnTo>
                  <a:pt x="4210818" y="272796"/>
                </a:lnTo>
                <a:lnTo>
                  <a:pt x="4220819" y="248816"/>
                </a:lnTo>
                <a:lnTo>
                  <a:pt x="4227963" y="222694"/>
                </a:lnTo>
                <a:lnTo>
                  <a:pt x="4232249" y="194571"/>
                </a:lnTo>
                <a:lnTo>
                  <a:pt x="4233678" y="164592"/>
                </a:lnTo>
                <a:close/>
              </a:path>
              <a:path w="4234180" h="329564">
                <a:moveTo>
                  <a:pt x="4209294" y="275475"/>
                </a:moveTo>
                <a:lnTo>
                  <a:pt x="4209294" y="164592"/>
                </a:lnTo>
                <a:lnTo>
                  <a:pt x="4208175" y="193167"/>
                </a:lnTo>
                <a:lnTo>
                  <a:pt x="4204912" y="219456"/>
                </a:lnTo>
                <a:lnTo>
                  <a:pt x="4192530" y="265176"/>
                </a:lnTo>
                <a:lnTo>
                  <a:pt x="4172146" y="298704"/>
                </a:lnTo>
                <a:lnTo>
                  <a:pt x="4143762" y="318516"/>
                </a:lnTo>
                <a:lnTo>
                  <a:pt x="4146810" y="329184"/>
                </a:lnTo>
                <a:lnTo>
                  <a:pt x="4167098" y="321444"/>
                </a:lnTo>
                <a:lnTo>
                  <a:pt x="4184529" y="309562"/>
                </a:lnTo>
                <a:lnTo>
                  <a:pt x="4199102" y="293393"/>
                </a:lnTo>
                <a:lnTo>
                  <a:pt x="4209294" y="275475"/>
                </a:lnTo>
                <a:close/>
              </a:path>
              <a:path w="4234180" h="329564">
                <a:moveTo>
                  <a:pt x="89916" y="10668"/>
                </a:moveTo>
                <a:lnTo>
                  <a:pt x="86868" y="0"/>
                </a:lnTo>
                <a:lnTo>
                  <a:pt x="67437" y="7096"/>
                </a:lnTo>
                <a:lnTo>
                  <a:pt x="50268" y="19076"/>
                </a:lnTo>
                <a:lnTo>
                  <a:pt x="22860" y="56388"/>
                </a:lnTo>
                <a:lnTo>
                  <a:pt x="5715" y="105918"/>
                </a:lnTo>
                <a:lnTo>
                  <a:pt x="0" y="164592"/>
                </a:lnTo>
                <a:lnTo>
                  <a:pt x="1428" y="194571"/>
                </a:lnTo>
                <a:lnTo>
                  <a:pt x="5715" y="222694"/>
                </a:lnTo>
                <a:lnTo>
                  <a:pt x="12858" y="248816"/>
                </a:lnTo>
                <a:lnTo>
                  <a:pt x="22860" y="272796"/>
                </a:lnTo>
                <a:lnTo>
                  <a:pt x="24384" y="275292"/>
                </a:lnTo>
                <a:lnTo>
                  <a:pt x="24384" y="164592"/>
                </a:lnTo>
                <a:lnTo>
                  <a:pt x="25503" y="135135"/>
                </a:lnTo>
                <a:lnTo>
                  <a:pt x="34028" y="84224"/>
                </a:lnTo>
                <a:lnTo>
                  <a:pt x="50292" y="44498"/>
                </a:lnTo>
                <a:lnTo>
                  <a:pt x="74795" y="18335"/>
                </a:lnTo>
                <a:lnTo>
                  <a:pt x="89916" y="10668"/>
                </a:lnTo>
                <a:close/>
              </a:path>
              <a:path w="4234180" h="329564">
                <a:moveTo>
                  <a:pt x="89916" y="318516"/>
                </a:moveTo>
                <a:lnTo>
                  <a:pt x="50268" y="283797"/>
                </a:lnTo>
                <a:lnTo>
                  <a:pt x="34028" y="243459"/>
                </a:lnTo>
                <a:lnTo>
                  <a:pt x="25503" y="193167"/>
                </a:lnTo>
                <a:lnTo>
                  <a:pt x="24384" y="164592"/>
                </a:lnTo>
                <a:lnTo>
                  <a:pt x="24384" y="275292"/>
                </a:lnTo>
                <a:lnTo>
                  <a:pt x="35433" y="293393"/>
                </a:lnTo>
                <a:lnTo>
                  <a:pt x="50292" y="309562"/>
                </a:lnTo>
                <a:lnTo>
                  <a:pt x="67437" y="321444"/>
                </a:lnTo>
                <a:lnTo>
                  <a:pt x="86868" y="329184"/>
                </a:lnTo>
                <a:lnTo>
                  <a:pt x="89916" y="3185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2798332" y="2960592"/>
            <a:ext cx="3485590" cy="3026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  <a:tabLst>
                <a:tab pos="842167" algn="l"/>
                <a:tab pos="1585717" algn="l"/>
                <a:tab pos="2285001" algn="l"/>
              </a:tabLst>
            </a:pPr>
            <a:r>
              <a:rPr sz="1897" dirty="0">
                <a:latin typeface="Cambria"/>
                <a:cs typeface="Cambria"/>
              </a:rPr>
              <a:t>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10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4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5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4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 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5699" y="2960592"/>
            <a:ext cx="668431" cy="3026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01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320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7118" y="1995544"/>
            <a:ext cx="2435599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8662">
              <a:lnSpc>
                <a:spcPts val="2149"/>
              </a:lnSpc>
            </a:pPr>
            <a:r>
              <a:rPr sz="1897" dirty="0">
                <a:latin typeface="Cambria"/>
                <a:cs typeface="Cambria"/>
              </a:rPr>
              <a:t>Dense:</a:t>
            </a:r>
            <a:r>
              <a:rPr sz="1897" spc="-9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468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26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119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28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30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31540" y="2987936"/>
            <a:ext cx="3599890" cy="690282"/>
            <a:chOff x="1216145" y="3386327"/>
            <a:chExt cx="4079875" cy="7823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7863" y="3387851"/>
              <a:ext cx="288035" cy="2987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3387851"/>
              <a:ext cx="288035" cy="298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6145" y="3404615"/>
              <a:ext cx="1036326" cy="2971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2303" y="3387851"/>
              <a:ext cx="286511" cy="2987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0463" y="3392423"/>
              <a:ext cx="909827" cy="2987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9432" y="3386327"/>
              <a:ext cx="192023" cy="2971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6400" y="3744480"/>
              <a:ext cx="3091180" cy="424180"/>
            </a:xfrm>
            <a:custGeom>
              <a:avLst/>
              <a:gdLst/>
              <a:ahLst/>
              <a:cxnLst/>
              <a:rect l="l" t="t" r="r" b="b"/>
              <a:pathLst>
                <a:path w="3091179" h="424179">
                  <a:moveTo>
                    <a:pt x="141732" y="275844"/>
                  </a:moveTo>
                  <a:lnTo>
                    <a:pt x="94488" y="275844"/>
                  </a:lnTo>
                  <a:lnTo>
                    <a:pt x="94488" y="10668"/>
                  </a:lnTo>
                  <a:lnTo>
                    <a:pt x="47244" y="10668"/>
                  </a:lnTo>
                  <a:lnTo>
                    <a:pt x="47244" y="275844"/>
                  </a:lnTo>
                  <a:lnTo>
                    <a:pt x="0" y="275844"/>
                  </a:lnTo>
                  <a:lnTo>
                    <a:pt x="47244" y="371348"/>
                  </a:lnTo>
                  <a:lnTo>
                    <a:pt x="70104" y="417576"/>
                  </a:lnTo>
                  <a:lnTo>
                    <a:pt x="94488" y="369316"/>
                  </a:lnTo>
                  <a:lnTo>
                    <a:pt x="141732" y="275844"/>
                  </a:lnTo>
                  <a:close/>
                </a:path>
                <a:path w="3091179" h="424179">
                  <a:moveTo>
                    <a:pt x="1799844" y="265176"/>
                  </a:moveTo>
                  <a:lnTo>
                    <a:pt x="1752600" y="265176"/>
                  </a:lnTo>
                  <a:lnTo>
                    <a:pt x="1752600" y="0"/>
                  </a:lnTo>
                  <a:lnTo>
                    <a:pt x="1705356" y="0"/>
                  </a:lnTo>
                  <a:lnTo>
                    <a:pt x="1705356" y="265176"/>
                  </a:lnTo>
                  <a:lnTo>
                    <a:pt x="1658112" y="265176"/>
                  </a:lnTo>
                  <a:lnTo>
                    <a:pt x="1705356" y="358648"/>
                  </a:lnTo>
                  <a:lnTo>
                    <a:pt x="1729740" y="406908"/>
                  </a:lnTo>
                  <a:lnTo>
                    <a:pt x="1752600" y="360680"/>
                  </a:lnTo>
                  <a:lnTo>
                    <a:pt x="1799844" y="265176"/>
                  </a:lnTo>
                  <a:close/>
                </a:path>
                <a:path w="3091179" h="424179">
                  <a:moveTo>
                    <a:pt x="3090672" y="283464"/>
                  </a:moveTo>
                  <a:lnTo>
                    <a:pt x="3043428" y="283464"/>
                  </a:lnTo>
                  <a:lnTo>
                    <a:pt x="3043428" y="18288"/>
                  </a:lnTo>
                  <a:lnTo>
                    <a:pt x="2996184" y="18288"/>
                  </a:lnTo>
                  <a:lnTo>
                    <a:pt x="2996184" y="283464"/>
                  </a:lnTo>
                  <a:lnTo>
                    <a:pt x="2948940" y="283464"/>
                  </a:lnTo>
                  <a:lnTo>
                    <a:pt x="2996184" y="377952"/>
                  </a:lnTo>
                  <a:lnTo>
                    <a:pt x="3019044" y="423672"/>
                  </a:lnTo>
                  <a:lnTo>
                    <a:pt x="3043428" y="375932"/>
                  </a:lnTo>
                  <a:lnTo>
                    <a:pt x="3090672" y="283464"/>
                  </a:lnTo>
                  <a:close/>
                </a:path>
              </a:pathLst>
            </a:custGeom>
            <a:solidFill>
              <a:srgbClr val="5A9AD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02000" y="3714973"/>
            <a:ext cx="3403226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  <a:tabLst>
                <a:tab pos="1574510" algn="l"/>
                <a:tab pos="3112600" algn="l"/>
              </a:tabLst>
            </a:pPr>
            <a:r>
              <a:rPr sz="1279" i="1" dirty="0">
                <a:latin typeface="Calibri"/>
                <a:cs typeface="Calibri"/>
              </a:rPr>
              <a:t>Input</a:t>
            </a:r>
            <a:r>
              <a:rPr sz="1279" i="1" spc="9" dirty="0">
                <a:latin typeface="Calibri"/>
                <a:cs typeface="Calibri"/>
              </a:rPr>
              <a:t> </a:t>
            </a:r>
            <a:r>
              <a:rPr sz="1279" i="1" dirty="0">
                <a:latin typeface="Calibri"/>
                <a:cs typeface="Calibri"/>
              </a:rPr>
              <a:t>to</a:t>
            </a:r>
            <a:r>
              <a:rPr sz="1279" i="1" spc="35" dirty="0">
                <a:latin typeface="Calibri"/>
                <a:cs typeface="Calibri"/>
              </a:rPr>
              <a:t> </a:t>
            </a:r>
            <a:r>
              <a:rPr sz="1279" i="1" spc="-9" dirty="0">
                <a:latin typeface="Calibri"/>
                <a:cs typeface="Calibri"/>
              </a:rPr>
              <a:t>hidden</a:t>
            </a:r>
            <a:r>
              <a:rPr sz="1279" i="1" dirty="0">
                <a:latin typeface="Calibri"/>
                <a:cs typeface="Calibri"/>
              </a:rPr>
              <a:t>	Hidden</a:t>
            </a:r>
            <a:r>
              <a:rPr sz="1279" i="1" spc="40" dirty="0">
                <a:latin typeface="Calibri"/>
                <a:cs typeface="Calibri"/>
              </a:rPr>
              <a:t> </a:t>
            </a:r>
            <a:r>
              <a:rPr sz="1279" i="1" dirty="0">
                <a:latin typeface="Calibri"/>
                <a:cs typeface="Calibri"/>
              </a:rPr>
              <a:t>to</a:t>
            </a:r>
            <a:r>
              <a:rPr sz="1279" i="1" spc="40" dirty="0">
                <a:latin typeface="Calibri"/>
                <a:cs typeface="Calibri"/>
              </a:rPr>
              <a:t> </a:t>
            </a:r>
            <a:r>
              <a:rPr sz="1279" i="1" spc="-9" dirty="0">
                <a:latin typeface="Calibri"/>
                <a:cs typeface="Calibri"/>
              </a:rPr>
              <a:t>hidden</a:t>
            </a:r>
            <a:r>
              <a:rPr sz="1279" i="1" dirty="0">
                <a:latin typeface="Calibri"/>
                <a:cs typeface="Calibri"/>
              </a:rPr>
              <a:t>	</a:t>
            </a:r>
            <a:r>
              <a:rPr sz="1279" i="1" spc="-18" dirty="0">
                <a:latin typeface="Calibri"/>
                <a:cs typeface="Calibri"/>
              </a:rPr>
              <a:t>Bias</a:t>
            </a:r>
            <a:endParaRPr sz="1279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80834" y="4116144"/>
            <a:ext cx="4897531" cy="329453"/>
            <a:chOff x="138678" y="4664963"/>
            <a:chExt cx="5550535" cy="373380"/>
          </a:xfrm>
        </p:grpSpPr>
        <p:sp>
          <p:nvSpPr>
            <p:cNvPr id="19" name="object 19"/>
            <p:cNvSpPr/>
            <p:nvPr/>
          </p:nvSpPr>
          <p:spPr>
            <a:xfrm>
              <a:off x="138678" y="4664963"/>
              <a:ext cx="5550535" cy="373380"/>
            </a:xfrm>
            <a:custGeom>
              <a:avLst/>
              <a:gdLst/>
              <a:ahLst/>
              <a:cxnLst/>
              <a:rect l="l" t="t" r="r" b="b"/>
              <a:pathLst>
                <a:path w="5550535" h="373379">
                  <a:moveTo>
                    <a:pt x="5550407" y="373379"/>
                  </a:moveTo>
                  <a:lnTo>
                    <a:pt x="5550407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5550407" y="37337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025639" y="4704600"/>
              <a:ext cx="3414395" cy="329565"/>
            </a:xfrm>
            <a:custGeom>
              <a:avLst/>
              <a:gdLst/>
              <a:ahLst/>
              <a:cxnLst/>
              <a:rect l="l" t="t" r="r" b="b"/>
              <a:pathLst>
                <a:path w="341439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734"/>
                  </a:lnTo>
                  <a:lnTo>
                    <a:pt x="50266" y="19646"/>
                  </a:lnTo>
                  <a:lnTo>
                    <a:pt x="22860" y="56388"/>
                  </a:lnTo>
                  <a:lnTo>
                    <a:pt x="5715" y="106489"/>
                  </a:lnTo>
                  <a:lnTo>
                    <a:pt x="0" y="164592"/>
                  </a:lnTo>
                  <a:lnTo>
                    <a:pt x="1435" y="195211"/>
                  </a:lnTo>
                  <a:lnTo>
                    <a:pt x="5715" y="223266"/>
                  </a:lnTo>
                  <a:lnTo>
                    <a:pt x="12865" y="249021"/>
                  </a:lnTo>
                  <a:lnTo>
                    <a:pt x="22860" y="272796"/>
                  </a:lnTo>
                  <a:lnTo>
                    <a:pt x="24384" y="275310"/>
                  </a:lnTo>
                  <a:lnTo>
                    <a:pt x="35433" y="293598"/>
                  </a:lnTo>
                  <a:lnTo>
                    <a:pt x="50292" y="310134"/>
                  </a:lnTo>
                  <a:lnTo>
                    <a:pt x="67437" y="322084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845"/>
                  </a:lnTo>
                  <a:lnTo>
                    <a:pt x="61531" y="299466"/>
                  </a:lnTo>
                  <a:lnTo>
                    <a:pt x="41148" y="266700"/>
                  </a:lnTo>
                  <a:lnTo>
                    <a:pt x="28765" y="220789"/>
                  </a:lnTo>
                  <a:lnTo>
                    <a:pt x="24384" y="164592"/>
                  </a:lnTo>
                  <a:lnTo>
                    <a:pt x="25501" y="136017"/>
                  </a:lnTo>
                  <a:lnTo>
                    <a:pt x="34023" y="85725"/>
                  </a:lnTo>
                  <a:lnTo>
                    <a:pt x="50292" y="45351"/>
                  </a:lnTo>
                  <a:lnTo>
                    <a:pt x="74790" y="18999"/>
                  </a:lnTo>
                  <a:lnTo>
                    <a:pt x="89916" y="10668"/>
                  </a:lnTo>
                  <a:close/>
                </a:path>
                <a:path w="3414395" h="329564">
                  <a:moveTo>
                    <a:pt x="208788" y="48768"/>
                  </a:moveTo>
                  <a:lnTo>
                    <a:pt x="204216" y="38100"/>
                  </a:lnTo>
                  <a:lnTo>
                    <a:pt x="185928" y="44996"/>
                  </a:lnTo>
                  <a:lnTo>
                    <a:pt x="169926" y="54483"/>
                  </a:lnTo>
                  <a:lnTo>
                    <a:pt x="135661" y="100291"/>
                  </a:lnTo>
                  <a:lnTo>
                    <a:pt x="124853" y="141439"/>
                  </a:lnTo>
                  <a:lnTo>
                    <a:pt x="123444" y="164592"/>
                  </a:lnTo>
                  <a:lnTo>
                    <a:pt x="124853" y="187731"/>
                  </a:lnTo>
                  <a:lnTo>
                    <a:pt x="128968" y="209169"/>
                  </a:lnTo>
                  <a:lnTo>
                    <a:pt x="135661" y="228879"/>
                  </a:lnTo>
                  <a:lnTo>
                    <a:pt x="144780" y="246888"/>
                  </a:lnTo>
                  <a:lnTo>
                    <a:pt x="146304" y="248945"/>
                  </a:lnTo>
                  <a:lnTo>
                    <a:pt x="156210" y="262356"/>
                  </a:lnTo>
                  <a:lnTo>
                    <a:pt x="169926" y="274701"/>
                  </a:lnTo>
                  <a:lnTo>
                    <a:pt x="185928" y="284175"/>
                  </a:lnTo>
                  <a:lnTo>
                    <a:pt x="204216" y="291084"/>
                  </a:lnTo>
                  <a:lnTo>
                    <a:pt x="207264" y="280416"/>
                  </a:lnTo>
                  <a:lnTo>
                    <a:pt x="193268" y="274434"/>
                  </a:lnTo>
                  <a:lnTo>
                    <a:pt x="180975" y="265747"/>
                  </a:lnTo>
                  <a:lnTo>
                    <a:pt x="155308" y="224142"/>
                  </a:lnTo>
                  <a:lnTo>
                    <a:pt x="147396" y="185712"/>
                  </a:lnTo>
                  <a:lnTo>
                    <a:pt x="146304" y="163068"/>
                  </a:lnTo>
                  <a:lnTo>
                    <a:pt x="147396" y="141960"/>
                  </a:lnTo>
                  <a:lnTo>
                    <a:pt x="155308" y="104343"/>
                  </a:lnTo>
                  <a:lnTo>
                    <a:pt x="181165" y="63436"/>
                  </a:lnTo>
                  <a:lnTo>
                    <a:pt x="193903" y="54737"/>
                  </a:lnTo>
                  <a:lnTo>
                    <a:pt x="208788" y="48768"/>
                  </a:lnTo>
                  <a:close/>
                </a:path>
                <a:path w="3414395" h="329564">
                  <a:moveTo>
                    <a:pt x="1069860" y="164592"/>
                  </a:moveTo>
                  <a:lnTo>
                    <a:pt x="1064907" y="120015"/>
                  </a:lnTo>
                  <a:lnTo>
                    <a:pt x="1048524" y="82296"/>
                  </a:lnTo>
                  <a:lnTo>
                    <a:pt x="1007376" y="44996"/>
                  </a:lnTo>
                  <a:lnTo>
                    <a:pt x="989088" y="38100"/>
                  </a:lnTo>
                  <a:lnTo>
                    <a:pt x="986040" y="48768"/>
                  </a:lnTo>
                  <a:lnTo>
                    <a:pt x="1000899" y="54737"/>
                  </a:lnTo>
                  <a:lnTo>
                    <a:pt x="1013472" y="63436"/>
                  </a:lnTo>
                  <a:lnTo>
                    <a:pt x="1038631" y="104343"/>
                  </a:lnTo>
                  <a:lnTo>
                    <a:pt x="1046111" y="141960"/>
                  </a:lnTo>
                  <a:lnTo>
                    <a:pt x="1047000" y="163068"/>
                  </a:lnTo>
                  <a:lnTo>
                    <a:pt x="1046111" y="185712"/>
                  </a:lnTo>
                  <a:lnTo>
                    <a:pt x="1038631" y="224142"/>
                  </a:lnTo>
                  <a:lnTo>
                    <a:pt x="1013472" y="265747"/>
                  </a:lnTo>
                  <a:lnTo>
                    <a:pt x="986040" y="280416"/>
                  </a:lnTo>
                  <a:lnTo>
                    <a:pt x="989088" y="291084"/>
                  </a:lnTo>
                  <a:lnTo>
                    <a:pt x="1007376" y="284175"/>
                  </a:lnTo>
                  <a:lnTo>
                    <a:pt x="1023378" y="274701"/>
                  </a:lnTo>
                  <a:lnTo>
                    <a:pt x="1037094" y="262356"/>
                  </a:lnTo>
                  <a:lnTo>
                    <a:pt x="1047000" y="248945"/>
                  </a:lnTo>
                  <a:lnTo>
                    <a:pt x="1048524" y="246888"/>
                  </a:lnTo>
                  <a:lnTo>
                    <a:pt x="1058278" y="228879"/>
                  </a:lnTo>
                  <a:lnTo>
                    <a:pt x="1064907" y="209169"/>
                  </a:lnTo>
                  <a:lnTo>
                    <a:pt x="1068666" y="187731"/>
                  </a:lnTo>
                  <a:lnTo>
                    <a:pt x="1069860" y="164592"/>
                  </a:lnTo>
                  <a:close/>
                </a:path>
                <a:path w="3414395" h="329564">
                  <a:moveTo>
                    <a:pt x="1527060" y="48768"/>
                  </a:moveTo>
                  <a:lnTo>
                    <a:pt x="1522488" y="38100"/>
                  </a:lnTo>
                  <a:lnTo>
                    <a:pt x="1504200" y="44996"/>
                  </a:lnTo>
                  <a:lnTo>
                    <a:pt x="1488198" y="54483"/>
                  </a:lnTo>
                  <a:lnTo>
                    <a:pt x="1453921" y="100291"/>
                  </a:lnTo>
                  <a:lnTo>
                    <a:pt x="1443113" y="141439"/>
                  </a:lnTo>
                  <a:lnTo>
                    <a:pt x="1441716" y="164592"/>
                  </a:lnTo>
                  <a:lnTo>
                    <a:pt x="1443113" y="187731"/>
                  </a:lnTo>
                  <a:lnTo>
                    <a:pt x="1447241" y="209169"/>
                  </a:lnTo>
                  <a:lnTo>
                    <a:pt x="1453921" y="228879"/>
                  </a:lnTo>
                  <a:lnTo>
                    <a:pt x="1463052" y="246888"/>
                  </a:lnTo>
                  <a:lnTo>
                    <a:pt x="1464576" y="248945"/>
                  </a:lnTo>
                  <a:lnTo>
                    <a:pt x="1474482" y="262356"/>
                  </a:lnTo>
                  <a:lnTo>
                    <a:pt x="1488198" y="274701"/>
                  </a:lnTo>
                  <a:lnTo>
                    <a:pt x="1504200" y="284175"/>
                  </a:lnTo>
                  <a:lnTo>
                    <a:pt x="1522488" y="291084"/>
                  </a:lnTo>
                  <a:lnTo>
                    <a:pt x="1525536" y="280416"/>
                  </a:lnTo>
                  <a:lnTo>
                    <a:pt x="1511528" y="274434"/>
                  </a:lnTo>
                  <a:lnTo>
                    <a:pt x="1499247" y="265747"/>
                  </a:lnTo>
                  <a:lnTo>
                    <a:pt x="1473568" y="224142"/>
                  </a:lnTo>
                  <a:lnTo>
                    <a:pt x="1465668" y="185712"/>
                  </a:lnTo>
                  <a:lnTo>
                    <a:pt x="1464576" y="163068"/>
                  </a:lnTo>
                  <a:lnTo>
                    <a:pt x="1465668" y="141960"/>
                  </a:lnTo>
                  <a:lnTo>
                    <a:pt x="1473568" y="104343"/>
                  </a:lnTo>
                  <a:lnTo>
                    <a:pt x="1499438" y="63436"/>
                  </a:lnTo>
                  <a:lnTo>
                    <a:pt x="1512176" y="54737"/>
                  </a:lnTo>
                  <a:lnTo>
                    <a:pt x="1527060" y="48768"/>
                  </a:lnTo>
                  <a:close/>
                </a:path>
                <a:path w="3414395" h="329564">
                  <a:moveTo>
                    <a:pt x="2237244" y="164592"/>
                  </a:moveTo>
                  <a:lnTo>
                    <a:pt x="2232291" y="120015"/>
                  </a:lnTo>
                  <a:lnTo>
                    <a:pt x="2215908" y="82296"/>
                  </a:lnTo>
                  <a:lnTo>
                    <a:pt x="2174760" y="44996"/>
                  </a:lnTo>
                  <a:lnTo>
                    <a:pt x="2156472" y="38100"/>
                  </a:lnTo>
                  <a:lnTo>
                    <a:pt x="2153424" y="48768"/>
                  </a:lnTo>
                  <a:lnTo>
                    <a:pt x="2168283" y="54737"/>
                  </a:lnTo>
                  <a:lnTo>
                    <a:pt x="2180856" y="63436"/>
                  </a:lnTo>
                  <a:lnTo>
                    <a:pt x="2206015" y="104343"/>
                  </a:lnTo>
                  <a:lnTo>
                    <a:pt x="2213495" y="141960"/>
                  </a:lnTo>
                  <a:lnTo>
                    <a:pt x="2214384" y="163068"/>
                  </a:lnTo>
                  <a:lnTo>
                    <a:pt x="2213495" y="185712"/>
                  </a:lnTo>
                  <a:lnTo>
                    <a:pt x="2206015" y="224142"/>
                  </a:lnTo>
                  <a:lnTo>
                    <a:pt x="2180856" y="265747"/>
                  </a:lnTo>
                  <a:lnTo>
                    <a:pt x="2153424" y="280416"/>
                  </a:lnTo>
                  <a:lnTo>
                    <a:pt x="2156472" y="291084"/>
                  </a:lnTo>
                  <a:lnTo>
                    <a:pt x="2174760" y="284175"/>
                  </a:lnTo>
                  <a:lnTo>
                    <a:pt x="2190762" y="274701"/>
                  </a:lnTo>
                  <a:lnTo>
                    <a:pt x="2204478" y="262356"/>
                  </a:lnTo>
                  <a:lnTo>
                    <a:pt x="2214384" y="248945"/>
                  </a:lnTo>
                  <a:lnTo>
                    <a:pt x="2215908" y="246888"/>
                  </a:lnTo>
                  <a:lnTo>
                    <a:pt x="2225662" y="228879"/>
                  </a:lnTo>
                  <a:lnTo>
                    <a:pt x="2232291" y="209169"/>
                  </a:lnTo>
                  <a:lnTo>
                    <a:pt x="2236051" y="187731"/>
                  </a:lnTo>
                  <a:lnTo>
                    <a:pt x="2237244" y="164592"/>
                  </a:lnTo>
                  <a:close/>
                </a:path>
                <a:path w="3414395" h="329564">
                  <a:moveTo>
                    <a:pt x="3413772" y="164592"/>
                  </a:moveTo>
                  <a:lnTo>
                    <a:pt x="3408057" y="106489"/>
                  </a:lnTo>
                  <a:lnTo>
                    <a:pt x="3390912" y="56388"/>
                  </a:lnTo>
                  <a:lnTo>
                    <a:pt x="3364623" y="19621"/>
                  </a:lnTo>
                  <a:lnTo>
                    <a:pt x="3326904" y="0"/>
                  </a:lnTo>
                  <a:lnTo>
                    <a:pt x="3323856" y="10668"/>
                  </a:lnTo>
                  <a:lnTo>
                    <a:pt x="3338969" y="18999"/>
                  </a:lnTo>
                  <a:lnTo>
                    <a:pt x="3352241" y="30480"/>
                  </a:lnTo>
                  <a:lnTo>
                    <a:pt x="3372624" y="64008"/>
                  </a:lnTo>
                  <a:lnTo>
                    <a:pt x="3385007" y="109728"/>
                  </a:lnTo>
                  <a:lnTo>
                    <a:pt x="3389388" y="164592"/>
                  </a:lnTo>
                  <a:lnTo>
                    <a:pt x="3388258" y="194043"/>
                  </a:lnTo>
                  <a:lnTo>
                    <a:pt x="3379736" y="244957"/>
                  </a:lnTo>
                  <a:lnTo>
                    <a:pt x="3363493" y="284645"/>
                  </a:lnTo>
                  <a:lnTo>
                    <a:pt x="3323856" y="318516"/>
                  </a:lnTo>
                  <a:lnTo>
                    <a:pt x="3326904" y="329184"/>
                  </a:lnTo>
                  <a:lnTo>
                    <a:pt x="3364623" y="310134"/>
                  </a:lnTo>
                  <a:lnTo>
                    <a:pt x="3389388" y="275501"/>
                  </a:lnTo>
                  <a:lnTo>
                    <a:pt x="3408057" y="223266"/>
                  </a:lnTo>
                  <a:lnTo>
                    <a:pt x="3412337" y="195211"/>
                  </a:lnTo>
                  <a:lnTo>
                    <a:pt x="3413772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80834" y="4116144"/>
            <a:ext cx="4897531" cy="299860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48188">
              <a:spcBef>
                <a:spcPts val="62"/>
              </a:spcBef>
              <a:tabLst>
                <a:tab pos="969361" algn="l"/>
                <a:tab pos="1800321" algn="l"/>
                <a:tab pos="2132593" algn="l"/>
                <a:tab pos="2830757" algn="l"/>
                <a:tab pos="4042177" algn="l"/>
                <a:tab pos="4446731" algn="l"/>
              </a:tabLst>
            </a:pPr>
            <a:r>
              <a:rPr sz="1897" spc="-9" dirty="0">
                <a:latin typeface="Cambria"/>
                <a:cs typeface="Cambria"/>
              </a:rPr>
              <a:t>LSTM: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10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5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5)</a:t>
            </a:r>
            <a:r>
              <a:rPr sz="1897" spc="18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18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=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-22" dirty="0">
                <a:latin typeface="Cambria"/>
                <a:cs typeface="Cambria"/>
              </a:rPr>
              <a:t>320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95625" y="1479176"/>
            <a:ext cx="3711388" cy="986118"/>
            <a:chOff x="155441" y="1676400"/>
            <a:chExt cx="4206240" cy="11176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733" y="1794071"/>
              <a:ext cx="3904633" cy="90071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55441" y="1676400"/>
              <a:ext cx="4206240" cy="1117600"/>
            </a:xfrm>
            <a:custGeom>
              <a:avLst/>
              <a:gdLst/>
              <a:ahLst/>
              <a:cxnLst/>
              <a:rect l="l" t="t" r="r" b="b"/>
              <a:pathLst>
                <a:path w="4206240" h="1117600">
                  <a:moveTo>
                    <a:pt x="4206246" y="1112520"/>
                  </a:moveTo>
                  <a:lnTo>
                    <a:pt x="4206246" y="4572"/>
                  </a:lnTo>
                  <a:lnTo>
                    <a:pt x="420167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12520"/>
                  </a:lnTo>
                  <a:lnTo>
                    <a:pt x="4572" y="1117092"/>
                  </a:lnTo>
                  <a:lnTo>
                    <a:pt x="12192" y="1117092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4183386" y="22860"/>
                  </a:lnTo>
                  <a:lnTo>
                    <a:pt x="4183386" y="12192"/>
                  </a:lnTo>
                  <a:lnTo>
                    <a:pt x="4194054" y="22860"/>
                  </a:lnTo>
                  <a:lnTo>
                    <a:pt x="4194054" y="1117092"/>
                  </a:lnTo>
                  <a:lnTo>
                    <a:pt x="4201674" y="1117092"/>
                  </a:lnTo>
                  <a:lnTo>
                    <a:pt x="4206246" y="1112520"/>
                  </a:lnTo>
                  <a:close/>
                </a:path>
                <a:path w="4206240" h="111760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4206240" h="1117600">
                  <a:moveTo>
                    <a:pt x="22860" y="1094232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1094232"/>
                  </a:lnTo>
                  <a:lnTo>
                    <a:pt x="22860" y="1094232"/>
                  </a:lnTo>
                  <a:close/>
                </a:path>
                <a:path w="4206240" h="1117600">
                  <a:moveTo>
                    <a:pt x="4194054" y="1094232"/>
                  </a:moveTo>
                  <a:lnTo>
                    <a:pt x="12192" y="1094232"/>
                  </a:lnTo>
                  <a:lnTo>
                    <a:pt x="22860" y="1106424"/>
                  </a:lnTo>
                  <a:lnTo>
                    <a:pt x="22860" y="1117092"/>
                  </a:lnTo>
                  <a:lnTo>
                    <a:pt x="4183386" y="1117092"/>
                  </a:lnTo>
                  <a:lnTo>
                    <a:pt x="4183386" y="1106424"/>
                  </a:lnTo>
                  <a:lnTo>
                    <a:pt x="4194054" y="1094232"/>
                  </a:lnTo>
                  <a:close/>
                </a:path>
                <a:path w="4206240" h="1117600">
                  <a:moveTo>
                    <a:pt x="22860" y="1117092"/>
                  </a:moveTo>
                  <a:lnTo>
                    <a:pt x="22860" y="1106424"/>
                  </a:lnTo>
                  <a:lnTo>
                    <a:pt x="12192" y="1094232"/>
                  </a:lnTo>
                  <a:lnTo>
                    <a:pt x="12192" y="1117092"/>
                  </a:lnTo>
                  <a:lnTo>
                    <a:pt x="22860" y="1117092"/>
                  </a:lnTo>
                  <a:close/>
                </a:path>
                <a:path w="4206240" h="1117600">
                  <a:moveTo>
                    <a:pt x="4194054" y="22860"/>
                  </a:moveTo>
                  <a:lnTo>
                    <a:pt x="4183386" y="12192"/>
                  </a:lnTo>
                  <a:lnTo>
                    <a:pt x="4183386" y="22860"/>
                  </a:lnTo>
                  <a:lnTo>
                    <a:pt x="4194054" y="22860"/>
                  </a:lnTo>
                  <a:close/>
                </a:path>
                <a:path w="4206240" h="1117600">
                  <a:moveTo>
                    <a:pt x="4194054" y="1094232"/>
                  </a:moveTo>
                  <a:lnTo>
                    <a:pt x="4194054" y="22860"/>
                  </a:lnTo>
                  <a:lnTo>
                    <a:pt x="4183386" y="22860"/>
                  </a:lnTo>
                  <a:lnTo>
                    <a:pt x="4183386" y="1094232"/>
                  </a:lnTo>
                  <a:lnTo>
                    <a:pt x="4194054" y="1094232"/>
                  </a:lnTo>
                  <a:close/>
                </a:path>
                <a:path w="4206240" h="1117600">
                  <a:moveTo>
                    <a:pt x="4194054" y="1117092"/>
                  </a:moveTo>
                  <a:lnTo>
                    <a:pt x="4194054" y="1094232"/>
                  </a:lnTo>
                  <a:lnTo>
                    <a:pt x="4183386" y="1106424"/>
                  </a:lnTo>
                  <a:lnTo>
                    <a:pt x="4183386" y="1117092"/>
                  </a:lnTo>
                  <a:lnTo>
                    <a:pt x="4194054" y="111709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C09C5273-C8A7-8845-1A75-9671C386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5F78-C24C-454F-AA81-E223AFEEEAC9}" type="datetime1">
              <a:rPr lang="en-US" smtClean="0"/>
              <a:t>11/22/2025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67EABEF0-93C8-D291-B541-B9A5D75C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7289F808-F039-2597-EE0F-4A04F116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71" y="813719"/>
            <a:ext cx="2278156" cy="59971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688" rIns="0" bIns="0" rtlCol="0" anchor="ctr">
            <a:spAutoFit/>
          </a:bodyPr>
          <a:lstStyle/>
          <a:p>
            <a:pPr marL="65558">
              <a:spcBef>
                <a:spcPts val="124"/>
              </a:spcBef>
            </a:pPr>
            <a:r>
              <a:rPr sz="1897" spc="-31" dirty="0"/>
              <a:t>Total</a:t>
            </a:r>
            <a:r>
              <a:rPr sz="1897" spc="-53" dirty="0"/>
              <a:t> </a:t>
            </a:r>
            <a:r>
              <a:rPr sz="1897" dirty="0"/>
              <a:t>NW</a:t>
            </a:r>
            <a:r>
              <a:rPr sz="1897" spc="-57" dirty="0"/>
              <a:t> </a:t>
            </a:r>
            <a:r>
              <a:rPr sz="1897" spc="-9" dirty="0"/>
              <a:t>Parameters</a:t>
            </a:r>
            <a:endParaRPr sz="1897"/>
          </a:p>
        </p:txBody>
      </p:sp>
      <p:sp>
        <p:nvSpPr>
          <p:cNvPr id="3" name="object 3"/>
          <p:cNvSpPr txBox="1"/>
          <p:nvPr/>
        </p:nvSpPr>
        <p:spPr>
          <a:xfrm>
            <a:off x="6295016" y="1522206"/>
            <a:ext cx="3274359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2585">
              <a:lnSpc>
                <a:spcPts val="2149"/>
              </a:lnSpc>
            </a:pPr>
            <a:r>
              <a:rPr sz="1897" spc="44" dirty="0">
                <a:latin typeface="Cambria"/>
                <a:cs typeface="Cambria"/>
              </a:rPr>
              <a:t>Embedding:</a:t>
            </a:r>
            <a:r>
              <a:rPr sz="1897" spc="-106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100</a:t>
            </a:r>
            <a:r>
              <a:rPr sz="1897" spc="41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</a:t>
            </a:r>
            <a:r>
              <a:rPr sz="1897" spc="115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01" dirty="0">
                <a:latin typeface="Cambria"/>
                <a:cs typeface="Cambria"/>
              </a:rPr>
              <a:t> </a:t>
            </a:r>
            <a:r>
              <a:rPr sz="1897" spc="-18" dirty="0">
                <a:latin typeface="Cambria"/>
                <a:cs typeface="Cambria"/>
              </a:rPr>
              <a:t>1000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7118" y="1995544"/>
            <a:ext cx="2704540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9783">
              <a:lnSpc>
                <a:spcPts val="2149"/>
              </a:lnSpc>
            </a:pPr>
            <a:r>
              <a:rPr sz="1897" dirty="0">
                <a:latin typeface="Cambria"/>
                <a:cs typeface="Cambria"/>
              </a:rPr>
              <a:t>Dense:</a:t>
            </a:r>
            <a:r>
              <a:rPr sz="1897" spc="-9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64</a:t>
            </a:r>
            <a:r>
              <a:rPr sz="1897" spc="45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22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22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124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2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325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8068" y="2829260"/>
            <a:ext cx="5123329" cy="329453"/>
            <a:chOff x="214877" y="3206495"/>
            <a:chExt cx="5806440" cy="373380"/>
          </a:xfrm>
        </p:grpSpPr>
        <p:sp>
          <p:nvSpPr>
            <p:cNvPr id="6" name="object 6"/>
            <p:cNvSpPr/>
            <p:nvPr/>
          </p:nvSpPr>
          <p:spPr>
            <a:xfrm>
              <a:off x="214877" y="3206495"/>
              <a:ext cx="5806440" cy="373380"/>
            </a:xfrm>
            <a:custGeom>
              <a:avLst/>
              <a:gdLst/>
              <a:ahLst/>
              <a:cxnLst/>
              <a:rect l="l" t="t" r="r" b="b"/>
              <a:pathLst>
                <a:path w="5806440" h="373379">
                  <a:moveTo>
                    <a:pt x="5806439" y="373379"/>
                  </a:moveTo>
                  <a:lnTo>
                    <a:pt x="5806439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5806439" y="37337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356347" y="3246132"/>
              <a:ext cx="3414395" cy="329565"/>
            </a:xfrm>
            <a:custGeom>
              <a:avLst/>
              <a:gdLst/>
              <a:ahLst/>
              <a:cxnLst/>
              <a:rect l="l" t="t" r="r" b="b"/>
              <a:pathLst>
                <a:path w="341439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734"/>
                  </a:lnTo>
                  <a:lnTo>
                    <a:pt x="50266" y="19646"/>
                  </a:lnTo>
                  <a:lnTo>
                    <a:pt x="22860" y="56388"/>
                  </a:lnTo>
                  <a:lnTo>
                    <a:pt x="5715" y="106489"/>
                  </a:lnTo>
                  <a:lnTo>
                    <a:pt x="0" y="164592"/>
                  </a:lnTo>
                  <a:lnTo>
                    <a:pt x="1435" y="195211"/>
                  </a:lnTo>
                  <a:lnTo>
                    <a:pt x="5715" y="223266"/>
                  </a:lnTo>
                  <a:lnTo>
                    <a:pt x="12865" y="249021"/>
                  </a:lnTo>
                  <a:lnTo>
                    <a:pt x="22860" y="272796"/>
                  </a:lnTo>
                  <a:lnTo>
                    <a:pt x="24384" y="275310"/>
                  </a:lnTo>
                  <a:lnTo>
                    <a:pt x="35433" y="293598"/>
                  </a:lnTo>
                  <a:lnTo>
                    <a:pt x="50292" y="310134"/>
                  </a:lnTo>
                  <a:lnTo>
                    <a:pt x="67437" y="322084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845"/>
                  </a:lnTo>
                  <a:lnTo>
                    <a:pt x="61531" y="299466"/>
                  </a:lnTo>
                  <a:lnTo>
                    <a:pt x="41148" y="266700"/>
                  </a:lnTo>
                  <a:lnTo>
                    <a:pt x="28765" y="220789"/>
                  </a:lnTo>
                  <a:lnTo>
                    <a:pt x="24384" y="164592"/>
                  </a:lnTo>
                  <a:lnTo>
                    <a:pt x="25501" y="136017"/>
                  </a:lnTo>
                  <a:lnTo>
                    <a:pt x="34023" y="85725"/>
                  </a:lnTo>
                  <a:lnTo>
                    <a:pt x="50292" y="45351"/>
                  </a:lnTo>
                  <a:lnTo>
                    <a:pt x="74790" y="18999"/>
                  </a:lnTo>
                  <a:lnTo>
                    <a:pt x="89916" y="10668"/>
                  </a:lnTo>
                  <a:close/>
                </a:path>
                <a:path w="3414395" h="329564">
                  <a:moveTo>
                    <a:pt x="207276" y="48768"/>
                  </a:moveTo>
                  <a:lnTo>
                    <a:pt x="204228" y="38100"/>
                  </a:lnTo>
                  <a:lnTo>
                    <a:pt x="185928" y="44996"/>
                  </a:lnTo>
                  <a:lnTo>
                    <a:pt x="169926" y="54483"/>
                  </a:lnTo>
                  <a:lnTo>
                    <a:pt x="135013" y="100291"/>
                  </a:lnTo>
                  <a:lnTo>
                    <a:pt x="124637" y="141439"/>
                  </a:lnTo>
                  <a:lnTo>
                    <a:pt x="123444" y="164592"/>
                  </a:lnTo>
                  <a:lnTo>
                    <a:pt x="124637" y="187731"/>
                  </a:lnTo>
                  <a:lnTo>
                    <a:pt x="128397" y="209169"/>
                  </a:lnTo>
                  <a:lnTo>
                    <a:pt x="135013" y="228879"/>
                  </a:lnTo>
                  <a:lnTo>
                    <a:pt x="144780" y="246888"/>
                  </a:lnTo>
                  <a:lnTo>
                    <a:pt x="146304" y="248945"/>
                  </a:lnTo>
                  <a:lnTo>
                    <a:pt x="156210" y="262356"/>
                  </a:lnTo>
                  <a:lnTo>
                    <a:pt x="169926" y="274701"/>
                  </a:lnTo>
                  <a:lnTo>
                    <a:pt x="185928" y="284175"/>
                  </a:lnTo>
                  <a:lnTo>
                    <a:pt x="204228" y="291084"/>
                  </a:lnTo>
                  <a:lnTo>
                    <a:pt x="207276" y="280416"/>
                  </a:lnTo>
                  <a:lnTo>
                    <a:pt x="192405" y="274434"/>
                  </a:lnTo>
                  <a:lnTo>
                    <a:pt x="179832" y="265747"/>
                  </a:lnTo>
                  <a:lnTo>
                    <a:pt x="154660" y="224142"/>
                  </a:lnTo>
                  <a:lnTo>
                    <a:pt x="147180" y="185712"/>
                  </a:lnTo>
                  <a:lnTo>
                    <a:pt x="146304" y="163068"/>
                  </a:lnTo>
                  <a:lnTo>
                    <a:pt x="147180" y="141960"/>
                  </a:lnTo>
                  <a:lnTo>
                    <a:pt x="154660" y="104343"/>
                  </a:lnTo>
                  <a:lnTo>
                    <a:pt x="180403" y="63436"/>
                  </a:lnTo>
                  <a:lnTo>
                    <a:pt x="193052" y="54737"/>
                  </a:lnTo>
                  <a:lnTo>
                    <a:pt x="207276" y="48768"/>
                  </a:lnTo>
                  <a:close/>
                </a:path>
                <a:path w="3414395" h="329564">
                  <a:moveTo>
                    <a:pt x="1069860" y="164592"/>
                  </a:moveTo>
                  <a:lnTo>
                    <a:pt x="1064336" y="120015"/>
                  </a:lnTo>
                  <a:lnTo>
                    <a:pt x="1048524" y="82296"/>
                  </a:lnTo>
                  <a:lnTo>
                    <a:pt x="1007376" y="44996"/>
                  </a:lnTo>
                  <a:lnTo>
                    <a:pt x="989088" y="38100"/>
                  </a:lnTo>
                  <a:lnTo>
                    <a:pt x="984516" y="48768"/>
                  </a:lnTo>
                  <a:lnTo>
                    <a:pt x="999388" y="54737"/>
                  </a:lnTo>
                  <a:lnTo>
                    <a:pt x="1012139" y="63436"/>
                  </a:lnTo>
                  <a:lnTo>
                    <a:pt x="1037996" y="104343"/>
                  </a:lnTo>
                  <a:lnTo>
                    <a:pt x="1045895" y="141960"/>
                  </a:lnTo>
                  <a:lnTo>
                    <a:pt x="1047000" y="163068"/>
                  </a:lnTo>
                  <a:lnTo>
                    <a:pt x="1045895" y="185712"/>
                  </a:lnTo>
                  <a:lnTo>
                    <a:pt x="1037996" y="224142"/>
                  </a:lnTo>
                  <a:lnTo>
                    <a:pt x="1012329" y="265747"/>
                  </a:lnTo>
                  <a:lnTo>
                    <a:pt x="986040" y="280416"/>
                  </a:lnTo>
                  <a:lnTo>
                    <a:pt x="989088" y="291084"/>
                  </a:lnTo>
                  <a:lnTo>
                    <a:pt x="1007376" y="284175"/>
                  </a:lnTo>
                  <a:lnTo>
                    <a:pt x="1023378" y="274701"/>
                  </a:lnTo>
                  <a:lnTo>
                    <a:pt x="1037094" y="262356"/>
                  </a:lnTo>
                  <a:lnTo>
                    <a:pt x="1047000" y="248945"/>
                  </a:lnTo>
                  <a:lnTo>
                    <a:pt x="1048524" y="246888"/>
                  </a:lnTo>
                  <a:lnTo>
                    <a:pt x="1057643" y="228879"/>
                  </a:lnTo>
                  <a:lnTo>
                    <a:pt x="1064336" y="209169"/>
                  </a:lnTo>
                  <a:lnTo>
                    <a:pt x="1068451" y="187731"/>
                  </a:lnTo>
                  <a:lnTo>
                    <a:pt x="1069860" y="164592"/>
                  </a:lnTo>
                  <a:close/>
                </a:path>
                <a:path w="3414395" h="329564">
                  <a:moveTo>
                    <a:pt x="1525536" y="48768"/>
                  </a:moveTo>
                  <a:lnTo>
                    <a:pt x="1522488" y="38100"/>
                  </a:lnTo>
                  <a:lnTo>
                    <a:pt x="1504200" y="44996"/>
                  </a:lnTo>
                  <a:lnTo>
                    <a:pt x="1488198" y="54483"/>
                  </a:lnTo>
                  <a:lnTo>
                    <a:pt x="1453286" y="100291"/>
                  </a:lnTo>
                  <a:lnTo>
                    <a:pt x="1442897" y="141439"/>
                  </a:lnTo>
                  <a:lnTo>
                    <a:pt x="1441716" y="164592"/>
                  </a:lnTo>
                  <a:lnTo>
                    <a:pt x="1442897" y="187731"/>
                  </a:lnTo>
                  <a:lnTo>
                    <a:pt x="1446669" y="209169"/>
                  </a:lnTo>
                  <a:lnTo>
                    <a:pt x="1453286" y="228879"/>
                  </a:lnTo>
                  <a:lnTo>
                    <a:pt x="1463052" y="246888"/>
                  </a:lnTo>
                  <a:lnTo>
                    <a:pt x="1464576" y="248945"/>
                  </a:lnTo>
                  <a:lnTo>
                    <a:pt x="1474482" y="262356"/>
                  </a:lnTo>
                  <a:lnTo>
                    <a:pt x="1488198" y="274701"/>
                  </a:lnTo>
                  <a:lnTo>
                    <a:pt x="1504200" y="284175"/>
                  </a:lnTo>
                  <a:lnTo>
                    <a:pt x="1522488" y="291084"/>
                  </a:lnTo>
                  <a:lnTo>
                    <a:pt x="1525536" y="280416"/>
                  </a:lnTo>
                  <a:lnTo>
                    <a:pt x="1510677" y="274434"/>
                  </a:lnTo>
                  <a:lnTo>
                    <a:pt x="1498104" y="265747"/>
                  </a:lnTo>
                  <a:lnTo>
                    <a:pt x="1472933" y="224142"/>
                  </a:lnTo>
                  <a:lnTo>
                    <a:pt x="1465453" y="185712"/>
                  </a:lnTo>
                  <a:lnTo>
                    <a:pt x="1464576" y="163068"/>
                  </a:lnTo>
                  <a:lnTo>
                    <a:pt x="1465453" y="141960"/>
                  </a:lnTo>
                  <a:lnTo>
                    <a:pt x="1472933" y="104343"/>
                  </a:lnTo>
                  <a:lnTo>
                    <a:pt x="1498676" y="63436"/>
                  </a:lnTo>
                  <a:lnTo>
                    <a:pt x="1511312" y="54737"/>
                  </a:lnTo>
                  <a:lnTo>
                    <a:pt x="1525536" y="48768"/>
                  </a:lnTo>
                  <a:close/>
                </a:path>
                <a:path w="3414395" h="329564">
                  <a:moveTo>
                    <a:pt x="2237244" y="164592"/>
                  </a:moveTo>
                  <a:lnTo>
                    <a:pt x="2231720" y="120015"/>
                  </a:lnTo>
                  <a:lnTo>
                    <a:pt x="2215908" y="82296"/>
                  </a:lnTo>
                  <a:lnTo>
                    <a:pt x="2174760" y="44996"/>
                  </a:lnTo>
                  <a:lnTo>
                    <a:pt x="2156472" y="38100"/>
                  </a:lnTo>
                  <a:lnTo>
                    <a:pt x="2151900" y="48768"/>
                  </a:lnTo>
                  <a:lnTo>
                    <a:pt x="2166772" y="54737"/>
                  </a:lnTo>
                  <a:lnTo>
                    <a:pt x="2179523" y="63436"/>
                  </a:lnTo>
                  <a:lnTo>
                    <a:pt x="2205380" y="104343"/>
                  </a:lnTo>
                  <a:lnTo>
                    <a:pt x="2213279" y="141960"/>
                  </a:lnTo>
                  <a:lnTo>
                    <a:pt x="2214384" y="163068"/>
                  </a:lnTo>
                  <a:lnTo>
                    <a:pt x="2213279" y="185712"/>
                  </a:lnTo>
                  <a:lnTo>
                    <a:pt x="2205380" y="224142"/>
                  </a:lnTo>
                  <a:lnTo>
                    <a:pt x="2179713" y="265747"/>
                  </a:lnTo>
                  <a:lnTo>
                    <a:pt x="2153424" y="280416"/>
                  </a:lnTo>
                  <a:lnTo>
                    <a:pt x="2156472" y="291084"/>
                  </a:lnTo>
                  <a:lnTo>
                    <a:pt x="2174760" y="284175"/>
                  </a:lnTo>
                  <a:lnTo>
                    <a:pt x="2190762" y="274701"/>
                  </a:lnTo>
                  <a:lnTo>
                    <a:pt x="2204478" y="262356"/>
                  </a:lnTo>
                  <a:lnTo>
                    <a:pt x="2214384" y="248945"/>
                  </a:lnTo>
                  <a:lnTo>
                    <a:pt x="2215908" y="246888"/>
                  </a:lnTo>
                  <a:lnTo>
                    <a:pt x="2225027" y="228879"/>
                  </a:lnTo>
                  <a:lnTo>
                    <a:pt x="2231720" y="209169"/>
                  </a:lnTo>
                  <a:lnTo>
                    <a:pt x="2235835" y="187731"/>
                  </a:lnTo>
                  <a:lnTo>
                    <a:pt x="2237244" y="164592"/>
                  </a:lnTo>
                  <a:close/>
                </a:path>
                <a:path w="3414395" h="329564">
                  <a:moveTo>
                    <a:pt x="3413772" y="164592"/>
                  </a:moveTo>
                  <a:lnTo>
                    <a:pt x="3408057" y="106489"/>
                  </a:lnTo>
                  <a:lnTo>
                    <a:pt x="3390912" y="56388"/>
                  </a:lnTo>
                  <a:lnTo>
                    <a:pt x="3363480" y="19621"/>
                  </a:lnTo>
                  <a:lnTo>
                    <a:pt x="3326904" y="0"/>
                  </a:lnTo>
                  <a:lnTo>
                    <a:pt x="3323856" y="10668"/>
                  </a:lnTo>
                  <a:lnTo>
                    <a:pt x="3338969" y="18999"/>
                  </a:lnTo>
                  <a:lnTo>
                    <a:pt x="3352241" y="30480"/>
                  </a:lnTo>
                  <a:lnTo>
                    <a:pt x="3372624" y="64008"/>
                  </a:lnTo>
                  <a:lnTo>
                    <a:pt x="3385007" y="109728"/>
                  </a:lnTo>
                  <a:lnTo>
                    <a:pt x="3389388" y="164592"/>
                  </a:lnTo>
                  <a:lnTo>
                    <a:pt x="3388258" y="194043"/>
                  </a:lnTo>
                  <a:lnTo>
                    <a:pt x="3379736" y="244957"/>
                  </a:lnTo>
                  <a:lnTo>
                    <a:pt x="3363480" y="284683"/>
                  </a:lnTo>
                  <a:lnTo>
                    <a:pt x="3323856" y="318516"/>
                  </a:lnTo>
                  <a:lnTo>
                    <a:pt x="3326904" y="329184"/>
                  </a:lnTo>
                  <a:lnTo>
                    <a:pt x="3346335" y="322084"/>
                  </a:lnTo>
                  <a:lnTo>
                    <a:pt x="3363493" y="310095"/>
                  </a:lnTo>
                  <a:lnTo>
                    <a:pt x="3378339" y="293598"/>
                  </a:lnTo>
                  <a:lnTo>
                    <a:pt x="3389388" y="275310"/>
                  </a:lnTo>
                  <a:lnTo>
                    <a:pt x="3390912" y="272796"/>
                  </a:lnTo>
                  <a:lnTo>
                    <a:pt x="3400907" y="249021"/>
                  </a:lnTo>
                  <a:lnTo>
                    <a:pt x="3408057" y="223266"/>
                  </a:lnTo>
                  <a:lnTo>
                    <a:pt x="3412337" y="195211"/>
                  </a:lnTo>
                  <a:lnTo>
                    <a:pt x="3413772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48068" y="2829260"/>
            <a:ext cx="5123329" cy="299860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50989">
              <a:spcBef>
                <a:spcPts val="62"/>
              </a:spcBef>
              <a:tabLst>
                <a:tab pos="1194050" algn="l"/>
                <a:tab pos="2025011" algn="l"/>
                <a:tab pos="2357283" algn="l"/>
                <a:tab pos="3054886" algn="l"/>
                <a:tab pos="4266307" algn="l"/>
                <a:tab pos="4671421" algn="l"/>
              </a:tabLst>
            </a:pPr>
            <a:r>
              <a:rPr sz="1897" spc="-9" dirty="0">
                <a:latin typeface="Cambria"/>
                <a:cs typeface="Cambria"/>
              </a:rPr>
              <a:t>LSTM_1: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10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5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5)</a:t>
            </a:r>
            <a:r>
              <a:rPr sz="1897" spc="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26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=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-22" dirty="0">
                <a:latin typeface="Cambria"/>
                <a:cs typeface="Cambria"/>
              </a:rPr>
              <a:t>320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7897" y="1457661"/>
            <a:ext cx="3253068" cy="1075765"/>
            <a:chOff x="192017" y="1652016"/>
            <a:chExt cx="3686810" cy="12192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77" y="1674875"/>
              <a:ext cx="3466275" cy="11719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2017" y="1652016"/>
              <a:ext cx="3686810" cy="1219200"/>
            </a:xfrm>
            <a:custGeom>
              <a:avLst/>
              <a:gdLst/>
              <a:ahLst/>
              <a:cxnLst/>
              <a:rect l="l" t="t" r="r" b="b"/>
              <a:pathLst>
                <a:path w="3686810" h="1219200">
                  <a:moveTo>
                    <a:pt x="3686562" y="1213104"/>
                  </a:moveTo>
                  <a:lnTo>
                    <a:pt x="3686562" y="4572"/>
                  </a:lnTo>
                  <a:lnTo>
                    <a:pt x="368199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13104"/>
                  </a:lnTo>
                  <a:lnTo>
                    <a:pt x="4572" y="1219200"/>
                  </a:lnTo>
                  <a:lnTo>
                    <a:pt x="10668" y="1219200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663702" y="22860"/>
                  </a:lnTo>
                  <a:lnTo>
                    <a:pt x="3663702" y="10668"/>
                  </a:lnTo>
                  <a:lnTo>
                    <a:pt x="3675894" y="22860"/>
                  </a:lnTo>
                  <a:lnTo>
                    <a:pt x="3675894" y="1219200"/>
                  </a:lnTo>
                  <a:lnTo>
                    <a:pt x="3681990" y="1219200"/>
                  </a:lnTo>
                  <a:lnTo>
                    <a:pt x="3686562" y="1213104"/>
                  </a:lnTo>
                  <a:close/>
                </a:path>
                <a:path w="3686810" h="121920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3686810" h="1219200">
                  <a:moveTo>
                    <a:pt x="22860" y="119481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94816"/>
                  </a:lnTo>
                  <a:lnTo>
                    <a:pt x="22860" y="1194816"/>
                  </a:lnTo>
                  <a:close/>
                </a:path>
                <a:path w="3686810" h="1219200">
                  <a:moveTo>
                    <a:pt x="3675894" y="1194816"/>
                  </a:moveTo>
                  <a:lnTo>
                    <a:pt x="10668" y="1194816"/>
                  </a:lnTo>
                  <a:lnTo>
                    <a:pt x="22860" y="1207008"/>
                  </a:lnTo>
                  <a:lnTo>
                    <a:pt x="22860" y="1219200"/>
                  </a:lnTo>
                  <a:lnTo>
                    <a:pt x="3663702" y="1219200"/>
                  </a:lnTo>
                  <a:lnTo>
                    <a:pt x="3663702" y="1207008"/>
                  </a:lnTo>
                  <a:lnTo>
                    <a:pt x="3675894" y="1194816"/>
                  </a:lnTo>
                  <a:close/>
                </a:path>
                <a:path w="3686810" h="1219200">
                  <a:moveTo>
                    <a:pt x="22860" y="1219200"/>
                  </a:moveTo>
                  <a:lnTo>
                    <a:pt x="22860" y="1207008"/>
                  </a:lnTo>
                  <a:lnTo>
                    <a:pt x="10668" y="1194816"/>
                  </a:lnTo>
                  <a:lnTo>
                    <a:pt x="10668" y="1219200"/>
                  </a:lnTo>
                  <a:lnTo>
                    <a:pt x="22860" y="1219200"/>
                  </a:lnTo>
                  <a:close/>
                </a:path>
                <a:path w="3686810" h="1219200">
                  <a:moveTo>
                    <a:pt x="3675894" y="22860"/>
                  </a:moveTo>
                  <a:lnTo>
                    <a:pt x="3663702" y="10668"/>
                  </a:lnTo>
                  <a:lnTo>
                    <a:pt x="3663702" y="22860"/>
                  </a:lnTo>
                  <a:lnTo>
                    <a:pt x="3675894" y="22860"/>
                  </a:lnTo>
                  <a:close/>
                </a:path>
                <a:path w="3686810" h="1219200">
                  <a:moveTo>
                    <a:pt x="3675894" y="1194816"/>
                  </a:moveTo>
                  <a:lnTo>
                    <a:pt x="3675894" y="22860"/>
                  </a:lnTo>
                  <a:lnTo>
                    <a:pt x="3663702" y="22860"/>
                  </a:lnTo>
                  <a:lnTo>
                    <a:pt x="3663702" y="1194816"/>
                  </a:lnTo>
                  <a:lnTo>
                    <a:pt x="3675894" y="1194816"/>
                  </a:lnTo>
                  <a:close/>
                </a:path>
                <a:path w="3686810" h="1219200">
                  <a:moveTo>
                    <a:pt x="3675894" y="1219200"/>
                  </a:moveTo>
                  <a:lnTo>
                    <a:pt x="3675894" y="1194816"/>
                  </a:lnTo>
                  <a:lnTo>
                    <a:pt x="3663702" y="1207008"/>
                  </a:lnTo>
                  <a:lnTo>
                    <a:pt x="3663702" y="1219200"/>
                  </a:lnTo>
                  <a:lnTo>
                    <a:pt x="3675894" y="121920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848068" y="3537921"/>
            <a:ext cx="5844427" cy="328332"/>
            <a:chOff x="214877" y="4009644"/>
            <a:chExt cx="6623684" cy="372110"/>
          </a:xfrm>
        </p:grpSpPr>
        <p:sp>
          <p:nvSpPr>
            <p:cNvPr id="13" name="object 13"/>
            <p:cNvSpPr/>
            <p:nvPr/>
          </p:nvSpPr>
          <p:spPr>
            <a:xfrm>
              <a:off x="214877" y="4009644"/>
              <a:ext cx="6623684" cy="372110"/>
            </a:xfrm>
            <a:custGeom>
              <a:avLst/>
              <a:gdLst/>
              <a:ahLst/>
              <a:cxnLst/>
              <a:rect l="l" t="t" r="r" b="b"/>
              <a:pathLst>
                <a:path w="6623684" h="372110">
                  <a:moveTo>
                    <a:pt x="6623303" y="371855"/>
                  </a:moveTo>
                  <a:lnTo>
                    <a:pt x="6623303" y="0"/>
                  </a:lnTo>
                  <a:lnTo>
                    <a:pt x="0" y="0"/>
                  </a:lnTo>
                  <a:lnTo>
                    <a:pt x="0" y="371855"/>
                  </a:lnTo>
                  <a:lnTo>
                    <a:pt x="6623303" y="371855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0919" y="4049280"/>
              <a:ext cx="3865245" cy="329565"/>
            </a:xfrm>
            <a:custGeom>
              <a:avLst/>
              <a:gdLst/>
              <a:ahLst/>
              <a:cxnLst/>
              <a:rect l="l" t="t" r="r" b="b"/>
              <a:pathLst>
                <a:path w="386524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086"/>
                  </a:lnTo>
                  <a:lnTo>
                    <a:pt x="50266" y="19075"/>
                  </a:lnTo>
                  <a:lnTo>
                    <a:pt x="22860" y="56388"/>
                  </a:lnTo>
                  <a:lnTo>
                    <a:pt x="5715" y="105918"/>
                  </a:lnTo>
                  <a:lnTo>
                    <a:pt x="0" y="164592"/>
                  </a:lnTo>
                  <a:lnTo>
                    <a:pt x="1435" y="194564"/>
                  </a:lnTo>
                  <a:lnTo>
                    <a:pt x="5715" y="222694"/>
                  </a:lnTo>
                  <a:lnTo>
                    <a:pt x="12865" y="248805"/>
                  </a:lnTo>
                  <a:lnTo>
                    <a:pt x="22860" y="272796"/>
                  </a:lnTo>
                  <a:lnTo>
                    <a:pt x="24384" y="275285"/>
                  </a:lnTo>
                  <a:lnTo>
                    <a:pt x="35433" y="293382"/>
                  </a:lnTo>
                  <a:lnTo>
                    <a:pt x="50292" y="309562"/>
                  </a:lnTo>
                  <a:lnTo>
                    <a:pt x="67437" y="321437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172"/>
                  </a:lnTo>
                  <a:lnTo>
                    <a:pt x="61531" y="298704"/>
                  </a:lnTo>
                  <a:lnTo>
                    <a:pt x="41148" y="265176"/>
                  </a:lnTo>
                  <a:lnTo>
                    <a:pt x="28765" y="219456"/>
                  </a:lnTo>
                  <a:lnTo>
                    <a:pt x="24384" y="164592"/>
                  </a:lnTo>
                  <a:lnTo>
                    <a:pt x="25501" y="135128"/>
                  </a:lnTo>
                  <a:lnTo>
                    <a:pt x="34023" y="84213"/>
                  </a:lnTo>
                  <a:lnTo>
                    <a:pt x="50292" y="44488"/>
                  </a:lnTo>
                  <a:lnTo>
                    <a:pt x="74790" y="18326"/>
                  </a:lnTo>
                  <a:lnTo>
                    <a:pt x="89916" y="10668"/>
                  </a:lnTo>
                  <a:close/>
                </a:path>
                <a:path w="3865245" h="329564">
                  <a:moveTo>
                    <a:pt x="205752" y="47244"/>
                  </a:moveTo>
                  <a:lnTo>
                    <a:pt x="202704" y="38100"/>
                  </a:lnTo>
                  <a:lnTo>
                    <a:pt x="184404" y="44361"/>
                  </a:lnTo>
                  <a:lnTo>
                    <a:pt x="168402" y="53911"/>
                  </a:lnTo>
                  <a:lnTo>
                    <a:pt x="133489" y="99415"/>
                  </a:lnTo>
                  <a:lnTo>
                    <a:pt x="123113" y="139941"/>
                  </a:lnTo>
                  <a:lnTo>
                    <a:pt x="121920" y="163068"/>
                  </a:lnTo>
                  <a:lnTo>
                    <a:pt x="123113" y="187071"/>
                  </a:lnTo>
                  <a:lnTo>
                    <a:pt x="126873" y="208788"/>
                  </a:lnTo>
                  <a:lnTo>
                    <a:pt x="133489" y="228219"/>
                  </a:lnTo>
                  <a:lnTo>
                    <a:pt x="143256" y="245364"/>
                  </a:lnTo>
                  <a:lnTo>
                    <a:pt x="144780" y="247446"/>
                  </a:lnTo>
                  <a:lnTo>
                    <a:pt x="154686" y="261048"/>
                  </a:lnTo>
                  <a:lnTo>
                    <a:pt x="168402" y="273748"/>
                  </a:lnTo>
                  <a:lnTo>
                    <a:pt x="184404" y="283286"/>
                  </a:lnTo>
                  <a:lnTo>
                    <a:pt x="202704" y="289560"/>
                  </a:lnTo>
                  <a:lnTo>
                    <a:pt x="205752" y="280416"/>
                  </a:lnTo>
                  <a:lnTo>
                    <a:pt x="190881" y="273558"/>
                  </a:lnTo>
                  <a:lnTo>
                    <a:pt x="178308" y="264414"/>
                  </a:lnTo>
                  <a:lnTo>
                    <a:pt x="153136" y="223278"/>
                  </a:lnTo>
                  <a:lnTo>
                    <a:pt x="145656" y="185039"/>
                  </a:lnTo>
                  <a:lnTo>
                    <a:pt x="144780" y="163068"/>
                  </a:lnTo>
                  <a:lnTo>
                    <a:pt x="145656" y="141325"/>
                  </a:lnTo>
                  <a:lnTo>
                    <a:pt x="160020" y="88392"/>
                  </a:lnTo>
                  <a:lnTo>
                    <a:pt x="191528" y="53886"/>
                  </a:lnTo>
                  <a:lnTo>
                    <a:pt x="205752" y="47244"/>
                  </a:lnTo>
                  <a:close/>
                </a:path>
                <a:path w="3865245" h="329564">
                  <a:moveTo>
                    <a:pt x="1069860" y="163068"/>
                  </a:moveTo>
                  <a:lnTo>
                    <a:pt x="1064336" y="118681"/>
                  </a:lnTo>
                  <a:lnTo>
                    <a:pt x="1048524" y="82296"/>
                  </a:lnTo>
                  <a:lnTo>
                    <a:pt x="1007376" y="44361"/>
                  </a:lnTo>
                  <a:lnTo>
                    <a:pt x="989088" y="38100"/>
                  </a:lnTo>
                  <a:lnTo>
                    <a:pt x="984516" y="47244"/>
                  </a:lnTo>
                  <a:lnTo>
                    <a:pt x="999388" y="53886"/>
                  </a:lnTo>
                  <a:lnTo>
                    <a:pt x="1012139" y="62674"/>
                  </a:lnTo>
                  <a:lnTo>
                    <a:pt x="1037996" y="104127"/>
                  </a:lnTo>
                  <a:lnTo>
                    <a:pt x="1047000" y="163068"/>
                  </a:lnTo>
                  <a:lnTo>
                    <a:pt x="1045895" y="185039"/>
                  </a:lnTo>
                  <a:lnTo>
                    <a:pt x="1037996" y="223278"/>
                  </a:lnTo>
                  <a:lnTo>
                    <a:pt x="1012329" y="264414"/>
                  </a:lnTo>
                  <a:lnTo>
                    <a:pt x="986040" y="280416"/>
                  </a:lnTo>
                  <a:lnTo>
                    <a:pt x="989088" y="289560"/>
                  </a:lnTo>
                  <a:lnTo>
                    <a:pt x="1007376" y="283286"/>
                  </a:lnTo>
                  <a:lnTo>
                    <a:pt x="1023378" y="273748"/>
                  </a:lnTo>
                  <a:lnTo>
                    <a:pt x="1037094" y="261048"/>
                  </a:lnTo>
                  <a:lnTo>
                    <a:pt x="1047000" y="247446"/>
                  </a:lnTo>
                  <a:lnTo>
                    <a:pt x="1048524" y="245364"/>
                  </a:lnTo>
                  <a:lnTo>
                    <a:pt x="1057643" y="228219"/>
                  </a:lnTo>
                  <a:lnTo>
                    <a:pt x="1064336" y="208788"/>
                  </a:lnTo>
                  <a:lnTo>
                    <a:pt x="1068451" y="187071"/>
                  </a:lnTo>
                  <a:lnTo>
                    <a:pt x="1069860" y="163068"/>
                  </a:lnTo>
                  <a:close/>
                </a:path>
                <a:path w="3865245" h="329564">
                  <a:moveTo>
                    <a:pt x="1524012" y="47244"/>
                  </a:moveTo>
                  <a:lnTo>
                    <a:pt x="1520964" y="38100"/>
                  </a:lnTo>
                  <a:lnTo>
                    <a:pt x="1502676" y="44361"/>
                  </a:lnTo>
                  <a:lnTo>
                    <a:pt x="1486674" y="53911"/>
                  </a:lnTo>
                  <a:lnTo>
                    <a:pt x="1451762" y="99415"/>
                  </a:lnTo>
                  <a:lnTo>
                    <a:pt x="1441373" y="139941"/>
                  </a:lnTo>
                  <a:lnTo>
                    <a:pt x="1440192" y="163068"/>
                  </a:lnTo>
                  <a:lnTo>
                    <a:pt x="1441373" y="187071"/>
                  </a:lnTo>
                  <a:lnTo>
                    <a:pt x="1445145" y="208788"/>
                  </a:lnTo>
                  <a:lnTo>
                    <a:pt x="1451762" y="228219"/>
                  </a:lnTo>
                  <a:lnTo>
                    <a:pt x="1461528" y="245364"/>
                  </a:lnTo>
                  <a:lnTo>
                    <a:pt x="1463052" y="247446"/>
                  </a:lnTo>
                  <a:lnTo>
                    <a:pt x="1472958" y="261048"/>
                  </a:lnTo>
                  <a:lnTo>
                    <a:pt x="1486674" y="273748"/>
                  </a:lnTo>
                  <a:lnTo>
                    <a:pt x="1502676" y="283286"/>
                  </a:lnTo>
                  <a:lnTo>
                    <a:pt x="1520964" y="289560"/>
                  </a:lnTo>
                  <a:lnTo>
                    <a:pt x="1524012" y="280416"/>
                  </a:lnTo>
                  <a:lnTo>
                    <a:pt x="1509153" y="273558"/>
                  </a:lnTo>
                  <a:lnTo>
                    <a:pt x="1496580" y="264414"/>
                  </a:lnTo>
                  <a:lnTo>
                    <a:pt x="1471409" y="223278"/>
                  </a:lnTo>
                  <a:lnTo>
                    <a:pt x="1463929" y="185039"/>
                  </a:lnTo>
                  <a:lnTo>
                    <a:pt x="1463052" y="163068"/>
                  </a:lnTo>
                  <a:lnTo>
                    <a:pt x="1463929" y="141325"/>
                  </a:lnTo>
                  <a:lnTo>
                    <a:pt x="1478292" y="88392"/>
                  </a:lnTo>
                  <a:lnTo>
                    <a:pt x="1509788" y="53886"/>
                  </a:lnTo>
                  <a:lnTo>
                    <a:pt x="1524012" y="47244"/>
                  </a:lnTo>
                  <a:close/>
                </a:path>
                <a:path w="3865245" h="329564">
                  <a:moveTo>
                    <a:pt x="2538996" y="163068"/>
                  </a:moveTo>
                  <a:lnTo>
                    <a:pt x="2533472" y="118681"/>
                  </a:lnTo>
                  <a:lnTo>
                    <a:pt x="2517660" y="82296"/>
                  </a:lnTo>
                  <a:lnTo>
                    <a:pt x="2476512" y="44361"/>
                  </a:lnTo>
                  <a:lnTo>
                    <a:pt x="2458224" y="38100"/>
                  </a:lnTo>
                  <a:lnTo>
                    <a:pt x="2453652" y="47244"/>
                  </a:lnTo>
                  <a:lnTo>
                    <a:pt x="2468524" y="53886"/>
                  </a:lnTo>
                  <a:lnTo>
                    <a:pt x="2481275" y="62674"/>
                  </a:lnTo>
                  <a:lnTo>
                    <a:pt x="2507132" y="104127"/>
                  </a:lnTo>
                  <a:lnTo>
                    <a:pt x="2516136" y="163068"/>
                  </a:lnTo>
                  <a:lnTo>
                    <a:pt x="2515031" y="185039"/>
                  </a:lnTo>
                  <a:lnTo>
                    <a:pt x="2507132" y="223278"/>
                  </a:lnTo>
                  <a:lnTo>
                    <a:pt x="2481465" y="264414"/>
                  </a:lnTo>
                  <a:lnTo>
                    <a:pt x="2455176" y="280416"/>
                  </a:lnTo>
                  <a:lnTo>
                    <a:pt x="2458224" y="289560"/>
                  </a:lnTo>
                  <a:lnTo>
                    <a:pt x="2476512" y="283286"/>
                  </a:lnTo>
                  <a:lnTo>
                    <a:pt x="2492514" y="273748"/>
                  </a:lnTo>
                  <a:lnTo>
                    <a:pt x="2506230" y="261048"/>
                  </a:lnTo>
                  <a:lnTo>
                    <a:pt x="2516136" y="247446"/>
                  </a:lnTo>
                  <a:lnTo>
                    <a:pt x="2517660" y="245364"/>
                  </a:lnTo>
                  <a:lnTo>
                    <a:pt x="2526779" y="228219"/>
                  </a:lnTo>
                  <a:lnTo>
                    <a:pt x="2533472" y="208788"/>
                  </a:lnTo>
                  <a:lnTo>
                    <a:pt x="2537587" y="187071"/>
                  </a:lnTo>
                  <a:lnTo>
                    <a:pt x="2538996" y="163068"/>
                  </a:lnTo>
                  <a:close/>
                </a:path>
                <a:path w="3865245" h="329564">
                  <a:moveTo>
                    <a:pt x="3864876" y="164592"/>
                  </a:moveTo>
                  <a:lnTo>
                    <a:pt x="3859161" y="105918"/>
                  </a:lnTo>
                  <a:lnTo>
                    <a:pt x="3842016" y="56388"/>
                  </a:lnTo>
                  <a:lnTo>
                    <a:pt x="3814584" y="19050"/>
                  </a:lnTo>
                  <a:lnTo>
                    <a:pt x="3778008" y="0"/>
                  </a:lnTo>
                  <a:lnTo>
                    <a:pt x="3774960" y="10668"/>
                  </a:lnTo>
                  <a:lnTo>
                    <a:pt x="3790073" y="18326"/>
                  </a:lnTo>
                  <a:lnTo>
                    <a:pt x="3803345" y="29718"/>
                  </a:lnTo>
                  <a:lnTo>
                    <a:pt x="3823728" y="62484"/>
                  </a:lnTo>
                  <a:lnTo>
                    <a:pt x="3836111" y="108394"/>
                  </a:lnTo>
                  <a:lnTo>
                    <a:pt x="3840492" y="164592"/>
                  </a:lnTo>
                  <a:lnTo>
                    <a:pt x="3839362" y="193167"/>
                  </a:lnTo>
                  <a:lnTo>
                    <a:pt x="3830840" y="243459"/>
                  </a:lnTo>
                  <a:lnTo>
                    <a:pt x="3814584" y="283819"/>
                  </a:lnTo>
                  <a:lnTo>
                    <a:pt x="3774960" y="318516"/>
                  </a:lnTo>
                  <a:lnTo>
                    <a:pt x="3778008" y="329184"/>
                  </a:lnTo>
                  <a:lnTo>
                    <a:pt x="3797439" y="321437"/>
                  </a:lnTo>
                  <a:lnTo>
                    <a:pt x="3814597" y="309524"/>
                  </a:lnTo>
                  <a:lnTo>
                    <a:pt x="3829443" y="293382"/>
                  </a:lnTo>
                  <a:lnTo>
                    <a:pt x="3840492" y="275285"/>
                  </a:lnTo>
                  <a:lnTo>
                    <a:pt x="3842016" y="272796"/>
                  </a:lnTo>
                  <a:lnTo>
                    <a:pt x="3852011" y="248805"/>
                  </a:lnTo>
                  <a:lnTo>
                    <a:pt x="3859161" y="222694"/>
                  </a:lnTo>
                  <a:lnTo>
                    <a:pt x="3863441" y="194564"/>
                  </a:lnTo>
                  <a:lnTo>
                    <a:pt x="3864876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48068" y="3537922"/>
            <a:ext cx="5844427" cy="298163"/>
          </a:xfrm>
          <a:prstGeom prst="rect">
            <a:avLst/>
          </a:prstGeom>
        </p:spPr>
        <p:txBody>
          <a:bodyPr vert="horz" wrap="square" lIns="0" tIns="6163" rIns="0" bIns="0" rtlCol="0">
            <a:spAutoFit/>
          </a:bodyPr>
          <a:lstStyle/>
          <a:p>
            <a:pPr marL="54912">
              <a:spcBef>
                <a:spcPts val="49"/>
              </a:spcBef>
              <a:tabLst>
                <a:tab pos="1196292" algn="l"/>
                <a:tab pos="2027813" algn="l"/>
                <a:tab pos="2359524" algn="l"/>
                <a:tab pos="3324401" algn="l"/>
                <a:tab pos="4668620" algn="l"/>
                <a:tab pos="5073734" algn="l"/>
              </a:tabLst>
            </a:pPr>
            <a:r>
              <a:rPr sz="1897" spc="-9" dirty="0">
                <a:latin typeface="Cambria"/>
                <a:cs typeface="Cambria"/>
              </a:rPr>
              <a:t>LSTM_2: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64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64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64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64)</a:t>
            </a:r>
            <a:r>
              <a:rPr sz="1897" spc="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22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=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-9" dirty="0">
                <a:latin typeface="Cambria"/>
                <a:cs typeface="Cambria"/>
              </a:rPr>
              <a:t>17,920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62352" y="4040841"/>
            <a:ext cx="3161739" cy="1564341"/>
            <a:chOff x="6237732" y="4579620"/>
            <a:chExt cx="3583304" cy="177292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5351" y="4587239"/>
              <a:ext cx="3462235" cy="1757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37732" y="4579620"/>
              <a:ext cx="3583304" cy="1772920"/>
            </a:xfrm>
            <a:custGeom>
              <a:avLst/>
              <a:gdLst/>
              <a:ahLst/>
              <a:cxnLst/>
              <a:rect l="l" t="t" r="r" b="b"/>
              <a:pathLst>
                <a:path w="3583304" h="1772920">
                  <a:moveTo>
                    <a:pt x="3582924" y="1770888"/>
                  </a:moveTo>
                  <a:lnTo>
                    <a:pt x="3582924" y="1524"/>
                  </a:lnTo>
                  <a:lnTo>
                    <a:pt x="35814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770888"/>
                  </a:lnTo>
                  <a:lnTo>
                    <a:pt x="1524" y="1772412"/>
                  </a:lnTo>
                  <a:lnTo>
                    <a:pt x="3048" y="1772412"/>
                  </a:lnTo>
                  <a:lnTo>
                    <a:pt x="3048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575304" y="7620"/>
                  </a:lnTo>
                  <a:lnTo>
                    <a:pt x="3575304" y="4572"/>
                  </a:lnTo>
                  <a:lnTo>
                    <a:pt x="3578352" y="7620"/>
                  </a:lnTo>
                  <a:lnTo>
                    <a:pt x="3578352" y="1772412"/>
                  </a:lnTo>
                  <a:lnTo>
                    <a:pt x="3581400" y="1772412"/>
                  </a:lnTo>
                  <a:lnTo>
                    <a:pt x="3582924" y="1770888"/>
                  </a:lnTo>
                  <a:close/>
                </a:path>
                <a:path w="3583304" h="1772920">
                  <a:moveTo>
                    <a:pt x="7620" y="7620"/>
                  </a:moveTo>
                  <a:lnTo>
                    <a:pt x="7620" y="4572"/>
                  </a:lnTo>
                  <a:lnTo>
                    <a:pt x="3048" y="7620"/>
                  </a:lnTo>
                  <a:lnTo>
                    <a:pt x="7620" y="7620"/>
                  </a:lnTo>
                  <a:close/>
                </a:path>
                <a:path w="3583304" h="1772920">
                  <a:moveTo>
                    <a:pt x="7620" y="1764792"/>
                  </a:moveTo>
                  <a:lnTo>
                    <a:pt x="7620" y="7620"/>
                  </a:lnTo>
                  <a:lnTo>
                    <a:pt x="3048" y="7620"/>
                  </a:lnTo>
                  <a:lnTo>
                    <a:pt x="3048" y="1764792"/>
                  </a:lnTo>
                  <a:lnTo>
                    <a:pt x="7620" y="1764792"/>
                  </a:lnTo>
                  <a:close/>
                </a:path>
                <a:path w="3583304" h="1772920">
                  <a:moveTo>
                    <a:pt x="3578352" y="1764792"/>
                  </a:moveTo>
                  <a:lnTo>
                    <a:pt x="3048" y="1764792"/>
                  </a:lnTo>
                  <a:lnTo>
                    <a:pt x="7620" y="1769364"/>
                  </a:lnTo>
                  <a:lnTo>
                    <a:pt x="7620" y="1772412"/>
                  </a:lnTo>
                  <a:lnTo>
                    <a:pt x="3575304" y="1772412"/>
                  </a:lnTo>
                  <a:lnTo>
                    <a:pt x="3575304" y="1769364"/>
                  </a:lnTo>
                  <a:lnTo>
                    <a:pt x="3578352" y="1764792"/>
                  </a:lnTo>
                  <a:close/>
                </a:path>
                <a:path w="3583304" h="1772920">
                  <a:moveTo>
                    <a:pt x="7620" y="1772412"/>
                  </a:moveTo>
                  <a:lnTo>
                    <a:pt x="7620" y="1769364"/>
                  </a:lnTo>
                  <a:lnTo>
                    <a:pt x="3048" y="1764792"/>
                  </a:lnTo>
                  <a:lnTo>
                    <a:pt x="3048" y="1772412"/>
                  </a:lnTo>
                  <a:lnTo>
                    <a:pt x="7620" y="1772412"/>
                  </a:lnTo>
                  <a:close/>
                </a:path>
                <a:path w="3583304" h="1772920">
                  <a:moveTo>
                    <a:pt x="3578352" y="7620"/>
                  </a:moveTo>
                  <a:lnTo>
                    <a:pt x="3575304" y="4572"/>
                  </a:lnTo>
                  <a:lnTo>
                    <a:pt x="3575304" y="7620"/>
                  </a:lnTo>
                  <a:lnTo>
                    <a:pt x="3578352" y="7620"/>
                  </a:lnTo>
                  <a:close/>
                </a:path>
                <a:path w="3583304" h="1772920">
                  <a:moveTo>
                    <a:pt x="3578352" y="1764792"/>
                  </a:moveTo>
                  <a:lnTo>
                    <a:pt x="3578352" y="7620"/>
                  </a:lnTo>
                  <a:lnTo>
                    <a:pt x="3575304" y="7620"/>
                  </a:lnTo>
                  <a:lnTo>
                    <a:pt x="3575304" y="1764792"/>
                  </a:lnTo>
                  <a:lnTo>
                    <a:pt x="3578352" y="1764792"/>
                  </a:lnTo>
                  <a:close/>
                </a:path>
                <a:path w="3583304" h="1772920">
                  <a:moveTo>
                    <a:pt x="3578352" y="1772412"/>
                  </a:moveTo>
                  <a:lnTo>
                    <a:pt x="3578352" y="1764792"/>
                  </a:lnTo>
                  <a:lnTo>
                    <a:pt x="3575304" y="1769364"/>
                  </a:lnTo>
                  <a:lnTo>
                    <a:pt x="3575304" y="1772412"/>
                  </a:lnTo>
                  <a:lnTo>
                    <a:pt x="3578352" y="177241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476E44B-F9AB-3B7A-67D0-6D499103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DD52C-82F6-4B15-B7F6-DF9FEB81A600}" type="datetime1">
              <a:rPr lang="en-US" smtClean="0"/>
              <a:t>11/22/2025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8DE115E-0F23-E8B4-2E08-EEF64BD9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F03BFB7-947F-50BF-69D6-9A440189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26010-E6DF-01D4-5D0F-A8822539695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 fontScale="55000" lnSpcReduction="20000"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LSTMCell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Initialize weights and biases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.bf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.bi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.bo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F3BDD-C2DE-2DB6-47A4-704701BC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2E0C-3D4D-4738-B2A8-47164042F787}" type="datetime1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1AD6C-9609-3323-674A-225FCBD4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BF32A-63EB-1105-AE8B-7283E036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D505E5-7A0B-FF37-90EA-FE6684B9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2195674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C76B6-5DAF-A68A-2D8F-51893F53D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600"/>
            <a:ext cx="10972800" cy="6324599"/>
          </a:xfrm>
          <a:solidFill>
            <a:schemeClr val="tx1"/>
          </a:solidFill>
        </p:spPr>
        <p:txBody>
          <a:bodyPr>
            <a:normAutofit fontScale="55000" lnSpcReduction="20000"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sigmoid(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np.exp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tanh(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np.tanh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forward(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combined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np.vstack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Forget Gate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.sigmoid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.bf)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Input Gate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.sigmoid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.bi)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Candidate Cell 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c_tilde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.tanh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Cell 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c_tilde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Output Gate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.sigmoid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.bo)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Hidden 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.tanh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cell_state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0F063-EAB5-148A-0CB1-831B08D5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87D-A56C-4FE7-9D2D-C37DE076CEEE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043D4-5A8E-96FE-D289-20929DC7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793F4-5401-3EC0-16F0-6BC21F0A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5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5400" y="3581400"/>
            <a:ext cx="9296400" cy="409449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 marR="4483" indent="472913">
              <a:lnSpc>
                <a:spcPct val="101000"/>
              </a:lnSpc>
              <a:spcBef>
                <a:spcPts val="84"/>
              </a:spcBef>
            </a:pPr>
            <a:r>
              <a:rPr sz="2735" spc="-9" dirty="0">
                <a:solidFill>
                  <a:srgbClr val="0070C0"/>
                </a:solidFill>
              </a:rPr>
              <a:t>Worked</a:t>
            </a:r>
            <a:r>
              <a:rPr sz="2735" spc="-124" dirty="0">
                <a:solidFill>
                  <a:srgbClr val="0070C0"/>
                </a:solidFill>
              </a:rPr>
              <a:t> </a:t>
            </a:r>
            <a:r>
              <a:rPr sz="2735" spc="-9" dirty="0">
                <a:solidFill>
                  <a:srgbClr val="0070C0"/>
                </a:solidFill>
              </a:rPr>
              <a:t>Example </a:t>
            </a:r>
            <a:r>
              <a:rPr sz="2735" dirty="0">
                <a:solidFill>
                  <a:srgbClr val="0070C0"/>
                </a:solidFill>
              </a:rPr>
              <a:t>(LSTMs</a:t>
            </a:r>
            <a:r>
              <a:rPr sz="2735" spc="4" dirty="0">
                <a:solidFill>
                  <a:srgbClr val="0070C0"/>
                </a:solidFill>
              </a:rPr>
              <a:t> </a:t>
            </a:r>
            <a:r>
              <a:rPr sz="2735" dirty="0">
                <a:solidFill>
                  <a:srgbClr val="0070C0"/>
                </a:solidFill>
              </a:rPr>
              <a:t>–</a:t>
            </a:r>
            <a:r>
              <a:rPr sz="2735" spc="-9" dirty="0">
                <a:solidFill>
                  <a:srgbClr val="0070C0"/>
                </a:solidFill>
              </a:rPr>
              <a:t> </a:t>
            </a:r>
            <a:r>
              <a:rPr sz="2735" dirty="0">
                <a:solidFill>
                  <a:srgbClr val="0070C0"/>
                </a:solidFill>
              </a:rPr>
              <a:t>Forward</a:t>
            </a:r>
            <a:r>
              <a:rPr sz="2735" spc="9" dirty="0">
                <a:solidFill>
                  <a:srgbClr val="0070C0"/>
                </a:solidFill>
              </a:rPr>
              <a:t> </a:t>
            </a:r>
            <a:r>
              <a:rPr sz="2735" spc="-9" dirty="0">
                <a:solidFill>
                  <a:srgbClr val="0070C0"/>
                </a:solidFill>
              </a:rPr>
              <a:t>Pass)</a:t>
            </a:r>
            <a:endParaRPr sz="2735" dirty="0">
              <a:solidFill>
                <a:srgbClr val="0070C0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384BA7-4870-D07C-1174-E216F69A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22F4-0558-415B-8C89-ACB516F4D846}" type="datetime1">
              <a:rPr lang="en-US" smtClean="0"/>
              <a:t>11/22/2025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018755-7A5E-9BC6-9548-4D5E8CCF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8BD8C7-4F09-8690-0B67-7FC29735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1941979" cy="367552"/>
            <a:chOff x="0" y="1057649"/>
            <a:chExt cx="2200910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2193290" cy="408940"/>
            </a:xfrm>
            <a:custGeom>
              <a:avLst/>
              <a:gdLst/>
              <a:ahLst/>
              <a:cxnLst/>
              <a:rect l="l" t="t" r="r" b="b"/>
              <a:pathLst>
                <a:path w="2193290" h="408940">
                  <a:moveTo>
                    <a:pt x="2193035" y="408431"/>
                  </a:moveTo>
                  <a:lnTo>
                    <a:pt x="2193035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2193035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2200910" cy="416559"/>
            </a:xfrm>
            <a:custGeom>
              <a:avLst/>
              <a:gdLst/>
              <a:ahLst/>
              <a:cxnLst/>
              <a:rect l="l" t="t" r="r" b="b"/>
              <a:pathLst>
                <a:path w="2200910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2200910" h="416559">
                  <a:moveTo>
                    <a:pt x="2193035" y="9143"/>
                  </a:moveTo>
                  <a:lnTo>
                    <a:pt x="2185415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2193035" y="9143"/>
                  </a:lnTo>
                  <a:close/>
                </a:path>
                <a:path w="2200910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2200910" h="416559">
                  <a:moveTo>
                    <a:pt x="2193035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2185415" y="416051"/>
                  </a:lnTo>
                  <a:lnTo>
                    <a:pt x="2185415" y="408431"/>
                  </a:lnTo>
                  <a:lnTo>
                    <a:pt x="2193035" y="400811"/>
                  </a:lnTo>
                  <a:close/>
                </a:path>
                <a:path w="2200910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2200910" h="416559">
                  <a:moveTo>
                    <a:pt x="2200655" y="413003"/>
                  </a:moveTo>
                  <a:lnTo>
                    <a:pt x="2200655" y="0"/>
                  </a:lnTo>
                  <a:lnTo>
                    <a:pt x="2185415" y="0"/>
                  </a:lnTo>
                  <a:lnTo>
                    <a:pt x="2193035" y="9143"/>
                  </a:lnTo>
                  <a:lnTo>
                    <a:pt x="2193035" y="416051"/>
                  </a:lnTo>
                  <a:lnTo>
                    <a:pt x="2197607" y="416051"/>
                  </a:lnTo>
                  <a:lnTo>
                    <a:pt x="2200655" y="413003"/>
                  </a:lnTo>
                  <a:close/>
                </a:path>
                <a:path w="2200910" h="416559">
                  <a:moveTo>
                    <a:pt x="2193035" y="400811"/>
                  </a:moveTo>
                  <a:lnTo>
                    <a:pt x="2193035" y="9143"/>
                  </a:lnTo>
                  <a:lnTo>
                    <a:pt x="2185415" y="9143"/>
                  </a:lnTo>
                  <a:lnTo>
                    <a:pt x="2185415" y="400811"/>
                  </a:lnTo>
                  <a:lnTo>
                    <a:pt x="2193035" y="400811"/>
                  </a:lnTo>
                  <a:close/>
                </a:path>
                <a:path w="2200910" h="416559">
                  <a:moveTo>
                    <a:pt x="2193035" y="416051"/>
                  </a:moveTo>
                  <a:lnTo>
                    <a:pt x="2193035" y="400811"/>
                  </a:lnTo>
                  <a:lnTo>
                    <a:pt x="2185415" y="408431"/>
                  </a:lnTo>
                  <a:lnTo>
                    <a:pt x="2185415" y="416051"/>
                  </a:lnTo>
                  <a:lnTo>
                    <a:pt x="2193035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1935256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13" dirty="0">
                <a:latin typeface="Calibri"/>
                <a:cs typeface="Calibri"/>
              </a:rPr>
              <a:t> </a:t>
            </a:r>
            <a:r>
              <a:rPr sz="1897" b="1" spc="-9" dirty="0">
                <a:latin typeface="Calibri"/>
                <a:cs typeface="Calibri"/>
              </a:rPr>
              <a:t>Example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0971" y="1291275"/>
            <a:ext cx="4476750" cy="1140101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A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sequence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length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44" dirty="0">
                <a:latin typeface="Calibri"/>
                <a:cs typeface="Calibri"/>
              </a:rPr>
              <a:t>2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99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2D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Feature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Space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One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the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LSTM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85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Two</a:t>
            </a:r>
            <a:r>
              <a:rPr sz="2030" spc="-7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time-steps</a:t>
            </a:r>
            <a:endParaRPr sz="203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56989" y="2573766"/>
          <a:ext cx="677395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51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17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554941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39" y="7620"/>
                </a:lnTo>
                <a:lnTo>
                  <a:pt x="27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431676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876768" y="2573766"/>
          <a:ext cx="80178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599328" y="2619487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3348318" y="261948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35474" y="3334871"/>
          <a:ext cx="1001805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xc</a:t>
                      </a:r>
                      <a:r>
                        <a:rPr sz="1500" spc="24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40005">
                        <a:lnSpc>
                          <a:spcPts val="116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2856379" y="3380590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2512358" y="3380590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940853" y="3793415"/>
          <a:ext cx="997883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xi</a:t>
                      </a:r>
                      <a:r>
                        <a:rPr sz="1500" spc="45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0.95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6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2857500" y="3839135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2513479" y="3839135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940853" y="4233133"/>
          <a:ext cx="102757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xƒ</a:t>
                      </a:r>
                      <a:r>
                        <a:rPr sz="1500" spc="359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0.70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2887755" y="4276164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2543735" y="4276164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940853" y="4693023"/>
          <a:ext cx="101132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xo</a:t>
                      </a:r>
                      <a:r>
                        <a:rPr sz="1500" spc="20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2870946" y="4736054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2528046" y="4736054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39" y="7620"/>
                </a:lnTo>
                <a:lnTo>
                  <a:pt x="27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172608" y="3445809"/>
          <a:ext cx="1014132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540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500" spc="34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177987" y="3904354"/>
          <a:ext cx="995081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500" spc="39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177988" y="4294990"/>
          <a:ext cx="1024777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577">
                <a:tc>
                  <a:txBody>
                    <a:bodyPr/>
                    <a:lstStyle/>
                    <a:p>
                      <a:pPr marL="25400">
                        <a:lnSpc>
                          <a:spcPts val="1570"/>
                        </a:lnSpc>
                      </a:pPr>
                      <a:r>
                        <a:rPr sz="1300" spc="8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20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500" spc="35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7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4124885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3781985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177988" y="4797239"/>
          <a:ext cx="1023097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478">
                <a:tc>
                  <a:txBody>
                    <a:bodyPr/>
                    <a:lstStyle/>
                    <a:p>
                      <a:pPr marL="25400">
                        <a:lnSpc>
                          <a:spcPts val="1225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50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22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466215" y="3445809"/>
          <a:ext cx="886385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471594" y="3904354"/>
          <a:ext cx="867334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45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471594" y="4294990"/>
          <a:ext cx="885823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577">
                <a:tc>
                  <a:txBody>
                    <a:bodyPr/>
                    <a:lstStyle/>
                    <a:p>
                      <a:pPr marL="24130">
                        <a:lnSpc>
                          <a:spcPts val="1570"/>
                        </a:lnSpc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500" spc="36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57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5280212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4937312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471595" y="4797239"/>
          <a:ext cx="895349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478">
                <a:tc>
                  <a:txBody>
                    <a:bodyPr/>
                    <a:lstStyle/>
                    <a:p>
                      <a:pPr marL="24130">
                        <a:lnSpc>
                          <a:spcPts val="1225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500" spc="38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2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2699FD1F-C6D2-FD2C-BCDB-1F4BAE16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41B5-5124-4C7B-BBC7-85A9EB07821A}" type="datetime1">
              <a:rPr lang="en-US" smtClean="0"/>
              <a:t>11/22/2025</a:t>
            </a:fld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D2BDA0D4-2C44-451A-4F1F-5109CAC2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495B1492-25BD-30A0-CE18-0FF685E6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0971" y="1291275"/>
            <a:ext cx="4476750" cy="1140101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A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sequence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length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44" dirty="0">
                <a:latin typeface="Calibri"/>
                <a:cs typeface="Calibri"/>
              </a:rPr>
              <a:t>2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99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2D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Feature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Space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One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the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LSTM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85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Two</a:t>
            </a:r>
            <a:r>
              <a:rPr sz="2030" spc="-7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time-steps</a:t>
            </a:r>
            <a:endParaRPr sz="203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56989" y="2573766"/>
          <a:ext cx="677395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51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17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554941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39" y="7620"/>
                </a:lnTo>
                <a:lnTo>
                  <a:pt x="27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431676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0" name="object 10"/>
          <p:cNvGrpSpPr/>
          <p:nvPr/>
        </p:nvGrpSpPr>
        <p:grpSpPr>
          <a:xfrm>
            <a:off x="6698429" y="1233089"/>
            <a:ext cx="3310778" cy="2151529"/>
            <a:chOff x="5711952" y="1397501"/>
            <a:chExt cx="3752215" cy="24384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8723" y="1454285"/>
              <a:ext cx="3560719" cy="23402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11952" y="1397501"/>
              <a:ext cx="3752215" cy="2438400"/>
            </a:xfrm>
            <a:custGeom>
              <a:avLst/>
              <a:gdLst/>
              <a:ahLst/>
              <a:cxnLst/>
              <a:rect l="l" t="t" r="r" b="b"/>
              <a:pathLst>
                <a:path w="3752215" h="2438400">
                  <a:moveTo>
                    <a:pt x="3752088" y="2432310"/>
                  </a:moveTo>
                  <a:lnTo>
                    <a:pt x="3752088" y="4572"/>
                  </a:lnTo>
                  <a:lnTo>
                    <a:pt x="37459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2432310"/>
                  </a:lnTo>
                  <a:lnTo>
                    <a:pt x="4572" y="2438406"/>
                  </a:lnTo>
                  <a:lnTo>
                    <a:pt x="12192" y="2438406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727704" y="22860"/>
                  </a:lnTo>
                  <a:lnTo>
                    <a:pt x="3727704" y="12192"/>
                  </a:lnTo>
                  <a:lnTo>
                    <a:pt x="3739896" y="22860"/>
                  </a:lnTo>
                  <a:lnTo>
                    <a:pt x="3739896" y="2438406"/>
                  </a:lnTo>
                  <a:lnTo>
                    <a:pt x="3745992" y="2438406"/>
                  </a:lnTo>
                  <a:lnTo>
                    <a:pt x="3752088" y="2432310"/>
                  </a:lnTo>
                  <a:close/>
                </a:path>
                <a:path w="3752215" h="243840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752215" h="2438400">
                  <a:moveTo>
                    <a:pt x="22860" y="2414022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414022"/>
                  </a:lnTo>
                  <a:lnTo>
                    <a:pt x="22860" y="2414022"/>
                  </a:lnTo>
                  <a:close/>
                </a:path>
                <a:path w="3752215" h="2438400">
                  <a:moveTo>
                    <a:pt x="3739896" y="2414022"/>
                  </a:moveTo>
                  <a:lnTo>
                    <a:pt x="12192" y="2414022"/>
                  </a:lnTo>
                  <a:lnTo>
                    <a:pt x="22860" y="2426214"/>
                  </a:lnTo>
                  <a:lnTo>
                    <a:pt x="22860" y="2438406"/>
                  </a:lnTo>
                  <a:lnTo>
                    <a:pt x="3727704" y="2438406"/>
                  </a:lnTo>
                  <a:lnTo>
                    <a:pt x="3727704" y="2426214"/>
                  </a:lnTo>
                  <a:lnTo>
                    <a:pt x="3739896" y="2414022"/>
                  </a:lnTo>
                  <a:close/>
                </a:path>
                <a:path w="3752215" h="2438400">
                  <a:moveTo>
                    <a:pt x="22860" y="2438406"/>
                  </a:moveTo>
                  <a:lnTo>
                    <a:pt x="22860" y="2426214"/>
                  </a:lnTo>
                  <a:lnTo>
                    <a:pt x="12192" y="2414022"/>
                  </a:lnTo>
                  <a:lnTo>
                    <a:pt x="12192" y="2438406"/>
                  </a:lnTo>
                  <a:lnTo>
                    <a:pt x="22860" y="2438406"/>
                  </a:lnTo>
                  <a:close/>
                </a:path>
                <a:path w="3752215" h="2438400">
                  <a:moveTo>
                    <a:pt x="3739896" y="22860"/>
                  </a:moveTo>
                  <a:lnTo>
                    <a:pt x="3727704" y="12192"/>
                  </a:lnTo>
                  <a:lnTo>
                    <a:pt x="3727704" y="22860"/>
                  </a:lnTo>
                  <a:lnTo>
                    <a:pt x="3739896" y="22860"/>
                  </a:lnTo>
                  <a:close/>
                </a:path>
                <a:path w="3752215" h="2438400">
                  <a:moveTo>
                    <a:pt x="3739896" y="2414022"/>
                  </a:moveTo>
                  <a:lnTo>
                    <a:pt x="3739896" y="22860"/>
                  </a:lnTo>
                  <a:lnTo>
                    <a:pt x="3727704" y="22860"/>
                  </a:lnTo>
                  <a:lnTo>
                    <a:pt x="3727704" y="2414022"/>
                  </a:lnTo>
                  <a:lnTo>
                    <a:pt x="3739896" y="2414022"/>
                  </a:lnTo>
                  <a:close/>
                </a:path>
                <a:path w="3752215" h="2438400">
                  <a:moveTo>
                    <a:pt x="3739896" y="2438406"/>
                  </a:moveTo>
                  <a:lnTo>
                    <a:pt x="3739896" y="2414022"/>
                  </a:lnTo>
                  <a:lnTo>
                    <a:pt x="3727704" y="2426214"/>
                  </a:lnTo>
                  <a:lnTo>
                    <a:pt x="3727704" y="2438406"/>
                  </a:lnTo>
                  <a:lnTo>
                    <a:pt x="3739896" y="243840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683637" y="3506993"/>
            <a:ext cx="3020546" cy="481853"/>
            <a:chOff x="5695188" y="3974592"/>
            <a:chExt cx="3423285" cy="5461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2543" y="4145361"/>
              <a:ext cx="3243698" cy="2794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695188" y="3974592"/>
              <a:ext cx="3423285" cy="546100"/>
            </a:xfrm>
            <a:custGeom>
              <a:avLst/>
              <a:gdLst/>
              <a:ahLst/>
              <a:cxnLst/>
              <a:rect l="l" t="t" r="r" b="b"/>
              <a:pathLst>
                <a:path w="3423284" h="546100">
                  <a:moveTo>
                    <a:pt x="3422904" y="539496"/>
                  </a:moveTo>
                  <a:lnTo>
                    <a:pt x="3422904" y="6096"/>
                  </a:lnTo>
                  <a:lnTo>
                    <a:pt x="341833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539496"/>
                  </a:lnTo>
                  <a:lnTo>
                    <a:pt x="4572" y="545592"/>
                  </a:lnTo>
                  <a:lnTo>
                    <a:pt x="12192" y="54559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00044" y="24384"/>
                  </a:lnTo>
                  <a:lnTo>
                    <a:pt x="3400044" y="12192"/>
                  </a:lnTo>
                  <a:lnTo>
                    <a:pt x="3410712" y="24384"/>
                  </a:lnTo>
                  <a:lnTo>
                    <a:pt x="3410712" y="545592"/>
                  </a:lnTo>
                  <a:lnTo>
                    <a:pt x="3418332" y="545592"/>
                  </a:lnTo>
                  <a:lnTo>
                    <a:pt x="3422904" y="539496"/>
                  </a:lnTo>
                  <a:close/>
                </a:path>
                <a:path w="3423284" h="54610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23284" h="546100">
                  <a:moveTo>
                    <a:pt x="22860" y="52120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521208"/>
                  </a:lnTo>
                  <a:lnTo>
                    <a:pt x="22860" y="521208"/>
                  </a:lnTo>
                  <a:close/>
                </a:path>
                <a:path w="3423284" h="546100">
                  <a:moveTo>
                    <a:pt x="3410712" y="521208"/>
                  </a:moveTo>
                  <a:lnTo>
                    <a:pt x="12192" y="521208"/>
                  </a:lnTo>
                  <a:lnTo>
                    <a:pt x="22860" y="533400"/>
                  </a:lnTo>
                  <a:lnTo>
                    <a:pt x="22860" y="545592"/>
                  </a:lnTo>
                  <a:lnTo>
                    <a:pt x="3400044" y="545592"/>
                  </a:lnTo>
                  <a:lnTo>
                    <a:pt x="3400044" y="533400"/>
                  </a:lnTo>
                  <a:lnTo>
                    <a:pt x="3410712" y="521208"/>
                  </a:lnTo>
                  <a:close/>
                </a:path>
                <a:path w="3423284" h="546100">
                  <a:moveTo>
                    <a:pt x="22860" y="545592"/>
                  </a:moveTo>
                  <a:lnTo>
                    <a:pt x="22860" y="533400"/>
                  </a:lnTo>
                  <a:lnTo>
                    <a:pt x="12192" y="521208"/>
                  </a:lnTo>
                  <a:lnTo>
                    <a:pt x="12192" y="545592"/>
                  </a:lnTo>
                  <a:lnTo>
                    <a:pt x="22860" y="545592"/>
                  </a:lnTo>
                  <a:close/>
                </a:path>
                <a:path w="3423284" h="546100">
                  <a:moveTo>
                    <a:pt x="3410712" y="24384"/>
                  </a:moveTo>
                  <a:lnTo>
                    <a:pt x="3400044" y="12192"/>
                  </a:lnTo>
                  <a:lnTo>
                    <a:pt x="3400044" y="24384"/>
                  </a:lnTo>
                  <a:lnTo>
                    <a:pt x="3410712" y="24384"/>
                  </a:lnTo>
                  <a:close/>
                </a:path>
                <a:path w="3423284" h="546100">
                  <a:moveTo>
                    <a:pt x="3410712" y="521208"/>
                  </a:moveTo>
                  <a:lnTo>
                    <a:pt x="3410712" y="24384"/>
                  </a:lnTo>
                  <a:lnTo>
                    <a:pt x="3400044" y="24384"/>
                  </a:lnTo>
                  <a:lnTo>
                    <a:pt x="3400044" y="521208"/>
                  </a:lnTo>
                  <a:lnTo>
                    <a:pt x="3410712" y="521208"/>
                  </a:lnTo>
                  <a:close/>
                </a:path>
                <a:path w="3423284" h="546100">
                  <a:moveTo>
                    <a:pt x="3410712" y="545592"/>
                  </a:moveTo>
                  <a:lnTo>
                    <a:pt x="3410712" y="521208"/>
                  </a:lnTo>
                  <a:lnTo>
                    <a:pt x="3400044" y="533400"/>
                  </a:lnTo>
                  <a:lnTo>
                    <a:pt x="3400044" y="545592"/>
                  </a:lnTo>
                  <a:lnTo>
                    <a:pt x="3410712" y="54559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83637" y="4179345"/>
            <a:ext cx="3293408" cy="2564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77885">
              <a:lnSpc>
                <a:spcPts val="1994"/>
              </a:lnSpc>
            </a:pPr>
            <a:r>
              <a:rPr sz="1721" spc="150" dirty="0">
                <a:latin typeface="Cambria"/>
                <a:cs typeface="Cambria"/>
              </a:rPr>
              <a:t>f</a:t>
            </a:r>
            <a:r>
              <a:rPr sz="1853" spc="224" baseline="-15873" dirty="0">
                <a:latin typeface="Cambria"/>
                <a:cs typeface="Cambria"/>
              </a:rPr>
              <a:t>t</a:t>
            </a:r>
            <a:r>
              <a:rPr sz="1853" spc="502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spc="101" dirty="0">
                <a:latin typeface="Cambria"/>
                <a:cs typeface="Cambria"/>
              </a:rPr>
              <a:t>σ(W</a:t>
            </a:r>
            <a:r>
              <a:rPr sz="1853" spc="152" baseline="-15873" dirty="0">
                <a:latin typeface="Cambria"/>
                <a:cs typeface="Cambria"/>
              </a:rPr>
              <a:t>xƒ</a:t>
            </a:r>
            <a:r>
              <a:rPr sz="1721" spc="101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44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W</a:t>
            </a:r>
            <a:r>
              <a:rPr sz="1853" spc="158" baseline="-15873" dirty="0">
                <a:latin typeface="Cambria"/>
                <a:cs typeface="Cambria"/>
              </a:rPr>
              <a:t>hƒ</a:t>
            </a:r>
            <a:r>
              <a:rPr sz="1853" spc="331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1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b</a:t>
            </a:r>
            <a:r>
              <a:rPr sz="1853" spc="158" baseline="-15873" dirty="0">
                <a:latin typeface="Cambria"/>
                <a:cs typeface="Cambria"/>
              </a:rPr>
              <a:t>ƒ</a:t>
            </a:r>
            <a:r>
              <a:rPr sz="1721" spc="106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0421" y="927398"/>
            <a:ext cx="1060076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1588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588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956989" y="3234018"/>
          <a:ext cx="1027018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xƒ</a:t>
                      </a:r>
                      <a:r>
                        <a:rPr sz="1500" spc="359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4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0.70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2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903443" y="3277048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2559424" y="3277048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194124" y="3295873"/>
          <a:ext cx="1024776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5400">
                        <a:lnSpc>
                          <a:spcPts val="1560"/>
                        </a:lnSpc>
                      </a:pPr>
                      <a:r>
                        <a:rPr sz="1300" spc="8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20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500" spc="35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4140574" y="3329491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3797673" y="3329491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487731" y="3295873"/>
          <a:ext cx="885825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4130">
                        <a:lnSpc>
                          <a:spcPts val="1560"/>
                        </a:lnSpc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500" spc="36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295900" y="3329491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4954121" y="3329491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70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 txBox="1"/>
          <p:nvPr/>
        </p:nvSpPr>
        <p:spPr>
          <a:xfrm>
            <a:off x="1958339" y="3913989"/>
            <a:ext cx="2370044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62" dirty="0">
                <a:latin typeface="Cambria"/>
                <a:cs typeface="Cambria"/>
              </a:rPr>
              <a:t>f</a:t>
            </a:r>
            <a:r>
              <a:rPr sz="1456" spc="92" baseline="-15151" dirty="0">
                <a:latin typeface="Cambria"/>
                <a:cs typeface="Cambria"/>
              </a:rPr>
              <a:t>0</a:t>
            </a:r>
            <a:r>
              <a:rPr sz="1279" spc="62" dirty="0">
                <a:latin typeface="Calibri"/>
                <a:cs typeface="Calibri"/>
              </a:rPr>
              <a:t>=</a:t>
            </a:r>
            <a:r>
              <a:rPr sz="1279" spc="22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(W</a:t>
            </a:r>
            <a:r>
              <a:rPr sz="1456" spc="119" baseline="-15151" dirty="0">
                <a:latin typeface="Cambria"/>
                <a:cs typeface="Cambria"/>
              </a:rPr>
              <a:t>xƒ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4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71" dirty="0">
                <a:latin typeface="Cambria"/>
                <a:cs typeface="Cambria"/>
              </a:rPr>
              <a:t>W</a:t>
            </a:r>
            <a:r>
              <a:rPr sz="1456" spc="106" baseline="-15151" dirty="0">
                <a:latin typeface="Cambria"/>
                <a:cs typeface="Cambria"/>
              </a:rPr>
              <a:t>hƒ</a:t>
            </a:r>
            <a:r>
              <a:rPr sz="1456" spc="23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9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1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b</a:t>
            </a:r>
            <a:r>
              <a:rPr sz="1456" spc="119" baseline="-15151" dirty="0">
                <a:latin typeface="Cambria"/>
                <a:cs typeface="Cambria"/>
              </a:rPr>
              <a:t>ƒ</a:t>
            </a:r>
            <a:r>
              <a:rPr sz="1279" spc="79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77005" y="4340722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2541494" y="4340722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09" h="177164">
                <a:moveTo>
                  <a:pt x="41643" y="169164"/>
                </a:moveTo>
                <a:lnTo>
                  <a:pt x="15735" y="169164"/>
                </a:lnTo>
                <a:lnTo>
                  <a:pt x="15735" y="176784"/>
                </a:lnTo>
                <a:lnTo>
                  <a:pt x="41643" y="176784"/>
                </a:lnTo>
                <a:lnTo>
                  <a:pt x="41643" y="169164"/>
                </a:lnTo>
                <a:close/>
              </a:path>
              <a:path w="41909" h="177164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3652670" y="4282899"/>
            <a:ext cx="38660" cy="273424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7178" y="0"/>
                </a:lnTo>
                <a:lnTo>
                  <a:pt x="508" y="0"/>
                </a:lnTo>
                <a:lnTo>
                  <a:pt x="508" y="7620"/>
                </a:lnTo>
                <a:lnTo>
                  <a:pt x="27178" y="7620"/>
                </a:lnTo>
                <a:lnTo>
                  <a:pt x="2717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7178" y="309372"/>
                </a:lnTo>
                <a:lnTo>
                  <a:pt x="27432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3514165" y="4282899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196" y="301752"/>
                </a:moveTo>
                <a:lnTo>
                  <a:pt x="16764" y="301752"/>
                </a:lnTo>
                <a:lnTo>
                  <a:pt x="16764" y="309372"/>
                </a:lnTo>
                <a:lnTo>
                  <a:pt x="44196" y="309372"/>
                </a:lnTo>
                <a:lnTo>
                  <a:pt x="44196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 txBox="1"/>
          <p:nvPr/>
        </p:nvSpPr>
        <p:spPr>
          <a:xfrm>
            <a:off x="3544644" y="4394049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82888" y="4340722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416" y="169164"/>
                </a:moveTo>
                <a:lnTo>
                  <a:pt x="508" y="169164"/>
                </a:lnTo>
                <a:lnTo>
                  <a:pt x="508" y="176784"/>
                </a:lnTo>
                <a:lnTo>
                  <a:pt x="26416" y="176784"/>
                </a:lnTo>
                <a:lnTo>
                  <a:pt x="2641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3926541" y="4340722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41656" y="169164"/>
                </a:moveTo>
                <a:lnTo>
                  <a:pt x="15748" y="169164"/>
                </a:lnTo>
                <a:lnTo>
                  <a:pt x="15748" y="176784"/>
                </a:lnTo>
                <a:lnTo>
                  <a:pt x="41656" y="176784"/>
                </a:lnTo>
                <a:lnTo>
                  <a:pt x="4165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4684059" y="4340722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400" y="176784"/>
                </a:lnTo>
                <a:lnTo>
                  <a:pt x="25908" y="176784"/>
                </a:lnTo>
                <a:lnTo>
                  <a:pt x="40640" y="176784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/>
          <p:nvPr/>
        </p:nvSpPr>
        <p:spPr>
          <a:xfrm>
            <a:off x="4548468" y="4340722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986" y="176784"/>
                </a:lnTo>
                <a:lnTo>
                  <a:pt x="15240" y="176784"/>
                </a:lnTo>
                <a:lnTo>
                  <a:pt x="40894" y="176784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 txBox="1"/>
          <p:nvPr/>
        </p:nvSpPr>
        <p:spPr>
          <a:xfrm>
            <a:off x="1937272" y="4297229"/>
            <a:ext cx="3542739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22329" algn="l"/>
                <a:tab pos="1618216" algn="l"/>
              </a:tabLst>
            </a:pPr>
            <a:r>
              <a:rPr sz="1919" spc="99" baseline="3831" dirty="0">
                <a:latin typeface="Cambria"/>
                <a:cs typeface="Cambria"/>
              </a:rPr>
              <a:t>f</a:t>
            </a:r>
            <a:r>
              <a:rPr sz="1456" spc="99" baseline="-10101" dirty="0">
                <a:latin typeface="Cambria"/>
                <a:cs typeface="Cambria"/>
              </a:rPr>
              <a:t>0</a:t>
            </a:r>
            <a:r>
              <a:rPr sz="1456" spc="284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25" baseline="3831" dirty="0">
                <a:latin typeface="Cambria"/>
                <a:cs typeface="Cambria"/>
              </a:rPr>
              <a:t> </a:t>
            </a:r>
            <a:r>
              <a:rPr sz="1919" spc="92" baseline="3831" dirty="0">
                <a:latin typeface="Cambria"/>
                <a:cs typeface="Cambria"/>
              </a:rPr>
              <a:t>σ(</a:t>
            </a:r>
            <a:r>
              <a:rPr sz="1919" spc="284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0.70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4482" dirty="0">
                <a:latin typeface="Cambria"/>
                <a:cs typeface="Cambria"/>
              </a:rPr>
              <a:t>1</a:t>
            </a:r>
            <a:r>
              <a:rPr sz="1919" spc="165" baseline="34482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0.10</a:t>
            </a:r>
            <a:r>
              <a:rPr sz="1919" spc="146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[0.15])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71781" y="4670163"/>
            <a:ext cx="996763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1292">
              <a:lnSpc>
                <a:spcPts val="1474"/>
              </a:lnSpc>
            </a:pPr>
            <a:r>
              <a:rPr sz="1279" spc="66" dirty="0">
                <a:latin typeface="Cambria"/>
                <a:cs typeface="Cambria"/>
              </a:rPr>
              <a:t>f</a:t>
            </a:r>
            <a:r>
              <a:rPr sz="1456" spc="99" baseline="-15151" dirty="0">
                <a:latin typeface="Cambria"/>
                <a:cs typeface="Cambria"/>
              </a:rPr>
              <a:t>0</a:t>
            </a:r>
            <a:r>
              <a:rPr sz="1456" spc="29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4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0.85195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9E3D1C0F-80D1-6538-A517-3EFE7687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7A91-9805-4189-B956-D58F685E2A23}" type="datetime1">
              <a:rPr lang="en-US" smtClean="0"/>
              <a:t>11/22/2025</a:t>
            </a:fld>
            <a:endParaRPr lang="en-US"/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B43EE4B7-750C-F2A6-7CB4-D927EB1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36D17FD-A72B-4B84-7A31-0A619002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8" y="927398"/>
            <a:ext cx="97491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588" spc="9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16893" y="1255950"/>
            <a:ext cx="2977403" cy="1897716"/>
            <a:chOff x="5506212" y="1423409"/>
            <a:chExt cx="3374390" cy="21507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042" y="1431036"/>
              <a:ext cx="3245824" cy="21284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06212" y="1423409"/>
              <a:ext cx="3374390" cy="2150745"/>
            </a:xfrm>
            <a:custGeom>
              <a:avLst/>
              <a:gdLst/>
              <a:ahLst/>
              <a:cxnLst/>
              <a:rect l="l" t="t" r="r" b="b"/>
              <a:pathLst>
                <a:path w="3374390" h="2150745">
                  <a:moveTo>
                    <a:pt x="3374136" y="2148846"/>
                  </a:moveTo>
                  <a:lnTo>
                    <a:pt x="3374136" y="1524"/>
                  </a:lnTo>
                  <a:lnTo>
                    <a:pt x="3372612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148846"/>
                  </a:lnTo>
                  <a:lnTo>
                    <a:pt x="1524" y="2150370"/>
                  </a:lnTo>
                  <a:lnTo>
                    <a:pt x="4572" y="2150370"/>
                  </a:ln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366516" y="7620"/>
                  </a:lnTo>
                  <a:lnTo>
                    <a:pt x="3366516" y="4572"/>
                  </a:lnTo>
                  <a:lnTo>
                    <a:pt x="3369564" y="7620"/>
                  </a:lnTo>
                  <a:lnTo>
                    <a:pt x="3369564" y="2150370"/>
                  </a:lnTo>
                  <a:lnTo>
                    <a:pt x="3372612" y="2150370"/>
                  </a:lnTo>
                  <a:lnTo>
                    <a:pt x="3374136" y="2148846"/>
                  </a:lnTo>
                  <a:close/>
                </a:path>
                <a:path w="3374390" h="2150745">
                  <a:moveTo>
                    <a:pt x="7620" y="7620"/>
                  </a:move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close/>
                </a:path>
                <a:path w="3374390" h="2150745">
                  <a:moveTo>
                    <a:pt x="7620" y="2142750"/>
                  </a:moveTo>
                  <a:lnTo>
                    <a:pt x="7620" y="7620"/>
                  </a:lnTo>
                  <a:lnTo>
                    <a:pt x="4572" y="7620"/>
                  </a:lnTo>
                  <a:lnTo>
                    <a:pt x="4572" y="2142750"/>
                  </a:lnTo>
                  <a:lnTo>
                    <a:pt x="7620" y="2142750"/>
                  </a:lnTo>
                  <a:close/>
                </a:path>
                <a:path w="3374390" h="2150745">
                  <a:moveTo>
                    <a:pt x="3369564" y="2142750"/>
                  </a:moveTo>
                  <a:lnTo>
                    <a:pt x="4572" y="2142750"/>
                  </a:lnTo>
                  <a:lnTo>
                    <a:pt x="7620" y="2145798"/>
                  </a:lnTo>
                  <a:lnTo>
                    <a:pt x="7620" y="2150370"/>
                  </a:lnTo>
                  <a:lnTo>
                    <a:pt x="3366516" y="2150370"/>
                  </a:lnTo>
                  <a:lnTo>
                    <a:pt x="3366516" y="2145798"/>
                  </a:lnTo>
                  <a:lnTo>
                    <a:pt x="3369564" y="2142750"/>
                  </a:lnTo>
                  <a:close/>
                </a:path>
                <a:path w="3374390" h="2150745">
                  <a:moveTo>
                    <a:pt x="7620" y="2150370"/>
                  </a:moveTo>
                  <a:lnTo>
                    <a:pt x="7620" y="2145798"/>
                  </a:lnTo>
                  <a:lnTo>
                    <a:pt x="4572" y="2142750"/>
                  </a:lnTo>
                  <a:lnTo>
                    <a:pt x="4572" y="2150370"/>
                  </a:lnTo>
                  <a:lnTo>
                    <a:pt x="7620" y="2150370"/>
                  </a:lnTo>
                  <a:close/>
                </a:path>
                <a:path w="3374390" h="2150745">
                  <a:moveTo>
                    <a:pt x="3369564" y="7620"/>
                  </a:moveTo>
                  <a:lnTo>
                    <a:pt x="3366516" y="4572"/>
                  </a:lnTo>
                  <a:lnTo>
                    <a:pt x="3366516" y="7620"/>
                  </a:lnTo>
                  <a:lnTo>
                    <a:pt x="3369564" y="7620"/>
                  </a:lnTo>
                  <a:close/>
                </a:path>
                <a:path w="3374390" h="2150745">
                  <a:moveTo>
                    <a:pt x="3369564" y="2142750"/>
                  </a:moveTo>
                  <a:lnTo>
                    <a:pt x="3369564" y="7620"/>
                  </a:lnTo>
                  <a:lnTo>
                    <a:pt x="3366516" y="7620"/>
                  </a:lnTo>
                  <a:lnTo>
                    <a:pt x="3366516" y="2142750"/>
                  </a:lnTo>
                  <a:lnTo>
                    <a:pt x="3369564" y="2142750"/>
                  </a:lnTo>
                  <a:close/>
                </a:path>
                <a:path w="3374390" h="2150745">
                  <a:moveTo>
                    <a:pt x="3369564" y="2150370"/>
                  </a:moveTo>
                  <a:lnTo>
                    <a:pt x="3369564" y="2142750"/>
                  </a:lnTo>
                  <a:lnTo>
                    <a:pt x="3366516" y="2145798"/>
                  </a:lnTo>
                  <a:lnTo>
                    <a:pt x="3366516" y="2150370"/>
                  </a:lnTo>
                  <a:lnTo>
                    <a:pt x="3369564" y="215037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31685" y="3291840"/>
            <a:ext cx="3044638" cy="769284"/>
            <a:chOff x="5522976" y="3730752"/>
            <a:chExt cx="3450590" cy="8718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5083" y="3831348"/>
              <a:ext cx="3319920" cy="68591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22976" y="3730752"/>
              <a:ext cx="3450590" cy="871855"/>
            </a:xfrm>
            <a:custGeom>
              <a:avLst/>
              <a:gdLst/>
              <a:ahLst/>
              <a:cxnLst/>
              <a:rect l="l" t="t" r="r" b="b"/>
              <a:pathLst>
                <a:path w="3450590" h="871854">
                  <a:moveTo>
                    <a:pt x="3450336" y="867156"/>
                  </a:moveTo>
                  <a:lnTo>
                    <a:pt x="3450336" y="6096"/>
                  </a:lnTo>
                  <a:lnTo>
                    <a:pt x="3445764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6096" y="871728"/>
                  </a:lnTo>
                  <a:lnTo>
                    <a:pt x="12192" y="87172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27476" y="24384"/>
                  </a:lnTo>
                  <a:lnTo>
                    <a:pt x="3427476" y="12192"/>
                  </a:lnTo>
                  <a:lnTo>
                    <a:pt x="3439668" y="24384"/>
                  </a:lnTo>
                  <a:lnTo>
                    <a:pt x="3439668" y="871728"/>
                  </a:lnTo>
                  <a:lnTo>
                    <a:pt x="3445764" y="871728"/>
                  </a:lnTo>
                  <a:lnTo>
                    <a:pt x="3450336" y="867156"/>
                  </a:lnTo>
                  <a:close/>
                </a:path>
                <a:path w="3450590" h="871854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450590" h="871854">
                  <a:moveTo>
                    <a:pt x="24384" y="84886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4384" y="848868"/>
                  </a:lnTo>
                  <a:close/>
                </a:path>
                <a:path w="3450590" h="871854">
                  <a:moveTo>
                    <a:pt x="3439668" y="848868"/>
                  </a:moveTo>
                  <a:lnTo>
                    <a:pt x="12192" y="848868"/>
                  </a:lnTo>
                  <a:lnTo>
                    <a:pt x="24384" y="859536"/>
                  </a:lnTo>
                  <a:lnTo>
                    <a:pt x="24384" y="871728"/>
                  </a:lnTo>
                  <a:lnTo>
                    <a:pt x="3427476" y="871728"/>
                  </a:lnTo>
                  <a:lnTo>
                    <a:pt x="3427476" y="859536"/>
                  </a:lnTo>
                  <a:lnTo>
                    <a:pt x="3439668" y="848868"/>
                  </a:lnTo>
                  <a:close/>
                </a:path>
                <a:path w="3450590" h="871854">
                  <a:moveTo>
                    <a:pt x="24384" y="871728"/>
                  </a:moveTo>
                  <a:lnTo>
                    <a:pt x="24384" y="859536"/>
                  </a:lnTo>
                  <a:lnTo>
                    <a:pt x="12192" y="848868"/>
                  </a:lnTo>
                  <a:lnTo>
                    <a:pt x="12192" y="871728"/>
                  </a:lnTo>
                  <a:lnTo>
                    <a:pt x="24384" y="871728"/>
                  </a:lnTo>
                  <a:close/>
                </a:path>
                <a:path w="3450590" h="871854">
                  <a:moveTo>
                    <a:pt x="3439668" y="24384"/>
                  </a:moveTo>
                  <a:lnTo>
                    <a:pt x="3427476" y="12192"/>
                  </a:lnTo>
                  <a:lnTo>
                    <a:pt x="3427476" y="24384"/>
                  </a:lnTo>
                  <a:lnTo>
                    <a:pt x="3439668" y="24384"/>
                  </a:lnTo>
                  <a:close/>
                </a:path>
                <a:path w="3450590" h="871854">
                  <a:moveTo>
                    <a:pt x="3439668" y="848868"/>
                  </a:moveTo>
                  <a:lnTo>
                    <a:pt x="3439668" y="24384"/>
                  </a:lnTo>
                  <a:lnTo>
                    <a:pt x="3427476" y="24384"/>
                  </a:lnTo>
                  <a:lnTo>
                    <a:pt x="3427476" y="848868"/>
                  </a:lnTo>
                  <a:lnTo>
                    <a:pt x="3439668" y="848868"/>
                  </a:lnTo>
                  <a:close/>
                </a:path>
                <a:path w="3450590" h="871854">
                  <a:moveTo>
                    <a:pt x="3439668" y="871728"/>
                  </a:moveTo>
                  <a:lnTo>
                    <a:pt x="3439668" y="848868"/>
                  </a:lnTo>
                  <a:lnTo>
                    <a:pt x="3427476" y="859536"/>
                  </a:lnTo>
                  <a:lnTo>
                    <a:pt x="3427476" y="871728"/>
                  </a:lnTo>
                  <a:lnTo>
                    <a:pt x="3439668" y="8717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/>
          <p:nvPr/>
        </p:nvSpPr>
        <p:spPr>
          <a:xfrm>
            <a:off x="6500756" y="4336677"/>
            <a:ext cx="3840816" cy="277346"/>
          </a:xfrm>
          <a:custGeom>
            <a:avLst/>
            <a:gdLst/>
            <a:ahLst/>
            <a:cxnLst/>
            <a:rect l="l" t="t" r="r" b="b"/>
            <a:pathLst>
              <a:path w="4352925" h="314325">
                <a:moveTo>
                  <a:pt x="4352543" y="313943"/>
                </a:moveTo>
                <a:lnTo>
                  <a:pt x="4352543" y="0"/>
                </a:lnTo>
                <a:lnTo>
                  <a:pt x="0" y="0"/>
                </a:lnTo>
                <a:lnTo>
                  <a:pt x="0" y="313943"/>
                </a:lnTo>
                <a:lnTo>
                  <a:pt x="4352543" y="313943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6520924" y="4057279"/>
            <a:ext cx="3638550" cy="543135"/>
          </a:xfrm>
          <a:prstGeom prst="rect">
            <a:avLst/>
          </a:prstGeom>
        </p:spPr>
        <p:txBody>
          <a:bodyPr vert="horz" wrap="square" lIns="0" tIns="42582" rIns="0" bIns="0" rtlCol="0">
            <a:spAutoFit/>
          </a:bodyPr>
          <a:lstStyle/>
          <a:p>
            <a:pPr marL="33619">
              <a:spcBef>
                <a:spcPts val="335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Activation:</a:t>
            </a:r>
            <a:endParaRPr sz="1279">
              <a:latin typeface="Calibri"/>
              <a:cs typeface="Calibri"/>
            </a:endParaRPr>
          </a:p>
          <a:p>
            <a:pPr marL="193312">
              <a:spcBef>
                <a:spcPts val="322"/>
              </a:spcBef>
            </a:pPr>
            <a:r>
              <a:rPr sz="1721" spc="-468" dirty="0">
                <a:latin typeface="Cambria"/>
                <a:cs typeface="Cambria"/>
              </a:rPr>
              <a:t>C</a:t>
            </a:r>
            <a:r>
              <a:rPr sz="2581" spc="66" baseline="11396" dirty="0">
                <a:latin typeface="Cambria"/>
                <a:cs typeface="Cambria"/>
              </a:rPr>
              <a:t>˜</a:t>
            </a:r>
            <a:r>
              <a:rPr sz="1853" spc="337" baseline="-15873" dirty="0">
                <a:latin typeface="Cambria"/>
                <a:cs typeface="Cambria"/>
              </a:rPr>
              <a:t>t</a:t>
            </a:r>
            <a:r>
              <a:rPr sz="1853" spc="502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06" dirty="0">
                <a:latin typeface="Cambria"/>
                <a:cs typeface="Cambria"/>
              </a:rPr>
              <a:t> </a:t>
            </a:r>
            <a:r>
              <a:rPr sz="1721" spc="26" dirty="0">
                <a:latin typeface="Cambria"/>
                <a:cs typeface="Cambria"/>
              </a:rPr>
              <a:t>ta</a:t>
            </a:r>
            <a:r>
              <a:rPr sz="1721" spc="22" dirty="0">
                <a:latin typeface="Cambria"/>
                <a:cs typeface="Cambria"/>
              </a:rPr>
              <a:t>nh</a:t>
            </a:r>
            <a:r>
              <a:rPr sz="1721" spc="18" dirty="0">
                <a:latin typeface="Cambria"/>
                <a:cs typeface="Cambria"/>
              </a:rPr>
              <a:t>(</a:t>
            </a:r>
            <a:r>
              <a:rPr sz="1721" spc="-326" dirty="0">
                <a:latin typeface="Cambria"/>
                <a:cs typeface="Cambria"/>
              </a:rPr>
              <a:t>W</a:t>
            </a:r>
            <a:r>
              <a:rPr sz="1853" spc="39" baseline="-15873" dirty="0">
                <a:latin typeface="Cambria"/>
                <a:cs typeface="Cambria"/>
              </a:rPr>
              <a:t>x</a:t>
            </a:r>
            <a:r>
              <a:rPr sz="1853" spc="218" baseline="-15873" dirty="0">
                <a:latin typeface="Cambria"/>
                <a:cs typeface="Cambria"/>
              </a:rPr>
              <a:t>c</a:t>
            </a:r>
            <a:r>
              <a:rPr sz="1721" spc="26" dirty="0">
                <a:latin typeface="Cambria"/>
                <a:cs typeface="Cambria"/>
              </a:rPr>
              <a:t>.</a:t>
            </a:r>
            <a:r>
              <a:rPr sz="1721" spc="-101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3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W</a:t>
            </a:r>
            <a:r>
              <a:rPr sz="1853" baseline="-15873" dirty="0">
                <a:latin typeface="Cambria"/>
                <a:cs typeface="Cambria"/>
              </a:rPr>
              <a:t>hc</a:t>
            </a:r>
            <a:r>
              <a:rPr sz="1853" spc="350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106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1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dirty="0">
                <a:latin typeface="Cambria"/>
                <a:cs typeface="Cambria"/>
              </a:rPr>
              <a:t> </a:t>
            </a:r>
            <a:r>
              <a:rPr sz="1721" spc="49" dirty="0">
                <a:latin typeface="Cambria"/>
                <a:cs typeface="Cambria"/>
              </a:rPr>
              <a:t>b</a:t>
            </a:r>
            <a:r>
              <a:rPr sz="1853" spc="72" baseline="-15873" dirty="0">
                <a:latin typeface="Cambria"/>
                <a:cs typeface="Cambria"/>
              </a:rPr>
              <a:t>c</a:t>
            </a:r>
            <a:r>
              <a:rPr sz="1721" spc="49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3617" y="4951206"/>
            <a:ext cx="3293408" cy="2564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139521">
              <a:lnSpc>
                <a:spcPts val="1977"/>
              </a:lnSpc>
            </a:pPr>
            <a:r>
              <a:rPr sz="1721" spc="101" dirty="0">
                <a:latin typeface="Cambria"/>
                <a:cs typeface="Cambria"/>
              </a:rPr>
              <a:t>i</a:t>
            </a:r>
            <a:r>
              <a:rPr sz="1853" spc="152" baseline="-15873" dirty="0">
                <a:latin typeface="Cambria"/>
                <a:cs typeface="Cambria"/>
              </a:rPr>
              <a:t>t</a:t>
            </a:r>
            <a:r>
              <a:rPr sz="1853" spc="496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5" dirty="0">
                <a:latin typeface="Cambria"/>
                <a:cs typeface="Cambria"/>
              </a:rPr>
              <a:t> </a:t>
            </a:r>
            <a:r>
              <a:rPr sz="1721" spc="57" dirty="0">
                <a:latin typeface="Cambria"/>
                <a:cs typeface="Cambria"/>
              </a:rPr>
              <a:t>σ(W</a:t>
            </a:r>
            <a:r>
              <a:rPr sz="1853" spc="86" baseline="-15873" dirty="0">
                <a:latin typeface="Cambria"/>
                <a:cs typeface="Cambria"/>
              </a:rPr>
              <a:t>xi</a:t>
            </a:r>
            <a:r>
              <a:rPr sz="1721" spc="57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50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W</a:t>
            </a:r>
            <a:r>
              <a:rPr sz="1853" baseline="-15873" dirty="0">
                <a:latin typeface="Cambria"/>
                <a:cs typeface="Cambria"/>
              </a:rPr>
              <a:t>hi</a:t>
            </a:r>
            <a:r>
              <a:rPr sz="1853" spc="357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101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spc="49" dirty="0">
                <a:latin typeface="Cambria"/>
                <a:cs typeface="Cambria"/>
              </a:rPr>
              <a:t>b</a:t>
            </a:r>
            <a:r>
              <a:rPr sz="1853" spc="72" baseline="-15873" dirty="0">
                <a:latin typeface="Cambria"/>
                <a:cs typeface="Cambria"/>
              </a:rPr>
              <a:t>i</a:t>
            </a:r>
            <a:r>
              <a:rPr sz="1721" spc="49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3336" y="4699296"/>
            <a:ext cx="786653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279">
              <a:latin typeface="Calibri"/>
              <a:cs typeface="Calibri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833276" y="2248348"/>
          <a:ext cx="1001806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xc</a:t>
                      </a:r>
                      <a:r>
                        <a:rPr sz="1500" spc="24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9370">
                        <a:lnSpc>
                          <a:spcPts val="116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2754406" y="2294068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2410385" y="2294068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062342" y="2306843"/>
          <a:ext cx="1013571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7305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500" spc="34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253752" y="2260451"/>
          <a:ext cx="886384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776">
                <a:tc>
                  <a:txBody>
                    <a:bodyPr/>
                    <a:lstStyle/>
                    <a:p>
                      <a:pPr marL="24130">
                        <a:lnSpc>
                          <a:spcPts val="1545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060576" y="2292724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4718797" y="2292724"/>
            <a:ext cx="23532" cy="5603"/>
          </a:xfrm>
          <a:custGeom>
            <a:avLst/>
            <a:gdLst/>
            <a:ahLst/>
            <a:cxnLst/>
            <a:rect l="l" t="t" r="r" b="b"/>
            <a:pathLst>
              <a:path w="26670" h="6350">
                <a:moveTo>
                  <a:pt x="0" y="0"/>
                </a:moveTo>
                <a:lnTo>
                  <a:pt x="0" y="6096"/>
                </a:lnTo>
                <a:lnTo>
                  <a:pt x="26670" y="6096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3455894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2622177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643" y="169164"/>
                </a:moveTo>
                <a:lnTo>
                  <a:pt x="15735" y="169164"/>
                </a:lnTo>
                <a:lnTo>
                  <a:pt x="15735" y="175260"/>
                </a:lnTo>
                <a:lnTo>
                  <a:pt x="41643" y="175260"/>
                </a:lnTo>
                <a:lnTo>
                  <a:pt x="41643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3731559" y="3125107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450" y="0"/>
                </a:moveTo>
                <a:lnTo>
                  <a:pt x="27940" y="0"/>
                </a:lnTo>
                <a:lnTo>
                  <a:pt x="0" y="0"/>
                </a:lnTo>
                <a:lnTo>
                  <a:pt x="0" y="9144"/>
                </a:lnTo>
                <a:lnTo>
                  <a:pt x="27940" y="9144"/>
                </a:lnTo>
                <a:lnTo>
                  <a:pt x="27940" y="301752"/>
                </a:lnTo>
                <a:lnTo>
                  <a:pt x="508" y="301752"/>
                </a:lnTo>
                <a:lnTo>
                  <a:pt x="508" y="310896"/>
                </a:lnTo>
                <a:lnTo>
                  <a:pt x="27940" y="310896"/>
                </a:lnTo>
                <a:lnTo>
                  <a:pt x="44450" y="310896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3593726" y="3125107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43942" y="310896"/>
                </a:lnTo>
                <a:lnTo>
                  <a:pt x="43942" y="301752"/>
                </a:lnTo>
                <a:lnTo>
                  <a:pt x="16510" y="301752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 txBox="1"/>
          <p:nvPr/>
        </p:nvSpPr>
        <p:spPr>
          <a:xfrm>
            <a:off x="3623982" y="3236257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362450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4006103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402" y="169164"/>
                </a:moveTo>
                <a:lnTo>
                  <a:pt x="15494" y="169164"/>
                </a:lnTo>
                <a:lnTo>
                  <a:pt x="15494" y="175260"/>
                </a:lnTo>
                <a:lnTo>
                  <a:pt x="41402" y="175260"/>
                </a:lnTo>
                <a:lnTo>
                  <a:pt x="4140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4763397" y="3184274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4628029" y="3184274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32" y="175260"/>
                </a:lnTo>
                <a:lnTo>
                  <a:pt x="15240" y="175260"/>
                </a:lnTo>
                <a:lnTo>
                  <a:pt x="40640" y="175260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 txBox="1"/>
          <p:nvPr/>
        </p:nvSpPr>
        <p:spPr>
          <a:xfrm>
            <a:off x="1771874" y="3139438"/>
            <a:ext cx="3695140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368311" algn="l"/>
                <a:tab pos="1863077" algn="l"/>
              </a:tabLst>
            </a:pPr>
            <a:r>
              <a:rPr sz="1919" spc="-721" baseline="3831" dirty="0">
                <a:latin typeface="Cambria"/>
                <a:cs typeface="Cambria"/>
              </a:rPr>
              <a:t>C</a:t>
            </a:r>
            <a:r>
              <a:rPr sz="1919" spc="46" baseline="15325" dirty="0">
                <a:latin typeface="Cambria"/>
                <a:cs typeface="Cambria"/>
              </a:rPr>
              <a:t>˜</a:t>
            </a:r>
            <a:r>
              <a:rPr sz="1456" spc="304" baseline="-10101" dirty="0">
                <a:latin typeface="Cambria"/>
                <a:cs typeface="Cambria"/>
              </a:rPr>
              <a:t>0</a:t>
            </a:r>
            <a:r>
              <a:rPr sz="1456" spc="278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12" baseline="3831" dirty="0">
                <a:latin typeface="Cambria"/>
                <a:cs typeface="Cambria"/>
              </a:rPr>
              <a:t> </a:t>
            </a:r>
            <a:r>
              <a:rPr sz="1919" baseline="3831" dirty="0">
                <a:latin typeface="Cambria"/>
                <a:cs typeface="Cambria"/>
              </a:rPr>
              <a:t>tanh(</a:t>
            </a:r>
            <a:r>
              <a:rPr sz="1919" spc="251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0.25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4482" dirty="0">
                <a:latin typeface="Cambria"/>
                <a:cs typeface="Cambria"/>
              </a:rPr>
              <a:t>1</a:t>
            </a:r>
            <a:r>
              <a:rPr sz="1919" spc="172" baseline="34482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0.15</a:t>
            </a:r>
            <a:r>
              <a:rPr sz="1919" spc="146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3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[0.2])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38655" y="3492201"/>
            <a:ext cx="1021976" cy="196913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/>
            <a:r>
              <a:rPr sz="1279" spc="-481" dirty="0">
                <a:latin typeface="Cambria"/>
                <a:cs typeface="Cambria"/>
              </a:rPr>
              <a:t>C</a:t>
            </a:r>
            <a:r>
              <a:rPr sz="1919" spc="46" baseline="11494" dirty="0">
                <a:latin typeface="Cambria"/>
                <a:cs typeface="Cambria"/>
              </a:rPr>
              <a:t>˜</a:t>
            </a:r>
            <a:r>
              <a:rPr sz="1456" spc="304" baseline="-15151" dirty="0">
                <a:latin typeface="Cambria"/>
                <a:cs typeface="Cambria"/>
              </a:rPr>
              <a:t>0</a:t>
            </a:r>
            <a:r>
              <a:rPr sz="1456" spc="1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35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0.81775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70175" y="2838674"/>
            <a:ext cx="1834402" cy="154641"/>
          </a:xfrm>
          <a:custGeom>
            <a:avLst/>
            <a:gdLst/>
            <a:ahLst/>
            <a:cxnLst/>
            <a:rect l="l" t="t" r="r" b="b"/>
            <a:pathLst>
              <a:path w="2078989" h="175260">
                <a:moveTo>
                  <a:pt x="2078742" y="88392"/>
                </a:moveTo>
                <a:lnTo>
                  <a:pt x="2070383" y="43386"/>
                </a:lnTo>
                <a:lnTo>
                  <a:pt x="2046357" y="11239"/>
                </a:lnTo>
                <a:lnTo>
                  <a:pt x="2022354" y="0"/>
                </a:lnTo>
                <a:lnTo>
                  <a:pt x="2020830" y="7620"/>
                </a:lnTo>
                <a:lnTo>
                  <a:pt x="2030545" y="11906"/>
                </a:lnTo>
                <a:lnTo>
                  <a:pt x="2039118" y="17907"/>
                </a:lnTo>
                <a:lnTo>
                  <a:pt x="2059692" y="58102"/>
                </a:lnTo>
                <a:lnTo>
                  <a:pt x="2061978" y="86868"/>
                </a:lnTo>
                <a:lnTo>
                  <a:pt x="2061978" y="146863"/>
                </a:lnTo>
                <a:lnTo>
                  <a:pt x="2063502" y="144780"/>
                </a:lnTo>
                <a:lnTo>
                  <a:pt x="2070383" y="132540"/>
                </a:lnTo>
                <a:lnTo>
                  <a:pt x="2075122" y="118872"/>
                </a:lnTo>
                <a:lnTo>
                  <a:pt x="2077861" y="104060"/>
                </a:lnTo>
                <a:lnTo>
                  <a:pt x="2078742" y="88392"/>
                </a:lnTo>
                <a:close/>
              </a:path>
              <a:path w="2078989" h="175260">
                <a:moveTo>
                  <a:pt x="2061978" y="146863"/>
                </a:moveTo>
                <a:lnTo>
                  <a:pt x="2061978" y="86868"/>
                </a:lnTo>
                <a:lnTo>
                  <a:pt x="2061406" y="102274"/>
                </a:lnTo>
                <a:lnTo>
                  <a:pt x="2059692" y="116395"/>
                </a:lnTo>
                <a:lnTo>
                  <a:pt x="2039118" y="157353"/>
                </a:lnTo>
                <a:lnTo>
                  <a:pt x="2020830" y="167640"/>
                </a:lnTo>
                <a:lnTo>
                  <a:pt x="2022354" y="175260"/>
                </a:lnTo>
                <a:lnTo>
                  <a:pt x="2035212" y="170711"/>
                </a:lnTo>
                <a:lnTo>
                  <a:pt x="2046357" y="164020"/>
                </a:lnTo>
                <a:lnTo>
                  <a:pt x="2055786" y="155328"/>
                </a:lnTo>
                <a:lnTo>
                  <a:pt x="2061978" y="146863"/>
                </a:lnTo>
                <a:close/>
              </a:path>
              <a:path w="2078989" h="175260">
                <a:moveTo>
                  <a:pt x="57912" y="7620"/>
                </a:moveTo>
                <a:lnTo>
                  <a:pt x="56388" y="0"/>
                </a:lnTo>
                <a:lnTo>
                  <a:pt x="43529" y="4548"/>
                </a:lnTo>
                <a:lnTo>
                  <a:pt x="32385" y="11239"/>
                </a:lnTo>
                <a:lnTo>
                  <a:pt x="8358" y="43386"/>
                </a:lnTo>
                <a:lnTo>
                  <a:pt x="0" y="88392"/>
                </a:lnTo>
                <a:lnTo>
                  <a:pt x="881" y="104060"/>
                </a:lnTo>
                <a:lnTo>
                  <a:pt x="3619" y="118872"/>
                </a:lnTo>
                <a:lnTo>
                  <a:pt x="8358" y="132540"/>
                </a:lnTo>
                <a:lnTo>
                  <a:pt x="15240" y="144780"/>
                </a:lnTo>
                <a:lnTo>
                  <a:pt x="16764" y="146863"/>
                </a:lnTo>
                <a:lnTo>
                  <a:pt x="16764" y="86868"/>
                </a:lnTo>
                <a:lnTo>
                  <a:pt x="17335" y="71699"/>
                </a:lnTo>
                <a:lnTo>
                  <a:pt x="32194" y="25622"/>
                </a:lnTo>
                <a:lnTo>
                  <a:pt x="48196" y="11906"/>
                </a:lnTo>
                <a:lnTo>
                  <a:pt x="57912" y="7620"/>
                </a:lnTo>
                <a:close/>
              </a:path>
              <a:path w="2078989" h="175260">
                <a:moveTo>
                  <a:pt x="57912" y="167640"/>
                </a:moveTo>
                <a:lnTo>
                  <a:pt x="25908" y="140208"/>
                </a:lnTo>
                <a:lnTo>
                  <a:pt x="17335" y="102274"/>
                </a:lnTo>
                <a:lnTo>
                  <a:pt x="16764" y="86868"/>
                </a:lnTo>
                <a:lnTo>
                  <a:pt x="16764" y="146863"/>
                </a:lnTo>
                <a:lnTo>
                  <a:pt x="22955" y="155328"/>
                </a:lnTo>
                <a:lnTo>
                  <a:pt x="32385" y="164020"/>
                </a:lnTo>
                <a:lnTo>
                  <a:pt x="43529" y="170711"/>
                </a:lnTo>
                <a:lnTo>
                  <a:pt x="56388" y="175260"/>
                </a:lnTo>
                <a:lnTo>
                  <a:pt x="57912" y="167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 txBox="1"/>
          <p:nvPr/>
        </p:nvSpPr>
        <p:spPr>
          <a:xfrm>
            <a:off x="1815795" y="2784436"/>
            <a:ext cx="2556622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-481" dirty="0">
                <a:latin typeface="Cambria"/>
                <a:cs typeface="Cambria"/>
              </a:rPr>
              <a:t>C</a:t>
            </a:r>
            <a:r>
              <a:rPr sz="1919" spc="46" baseline="11494" dirty="0">
                <a:latin typeface="Cambria"/>
                <a:cs typeface="Cambria"/>
              </a:rPr>
              <a:t>˜</a:t>
            </a:r>
            <a:r>
              <a:rPr sz="1456" spc="304" baseline="-15151" dirty="0">
                <a:latin typeface="Cambria"/>
                <a:cs typeface="Cambria"/>
              </a:rPr>
              <a:t>0</a:t>
            </a:r>
            <a:r>
              <a:rPr sz="1456" spc="27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75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tanh</a:t>
            </a:r>
            <a:r>
              <a:rPr sz="1279" spc="23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xc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66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172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dirty="0">
                <a:latin typeface="Cambria"/>
                <a:cs typeface="Cambria"/>
              </a:rPr>
              <a:t> W</a:t>
            </a:r>
            <a:r>
              <a:rPr sz="1456" baseline="-15151" dirty="0">
                <a:latin typeface="Cambria"/>
                <a:cs typeface="Cambria"/>
              </a:rPr>
              <a:t>hc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71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15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b</a:t>
            </a:r>
            <a:r>
              <a:rPr sz="1456" spc="-33" baseline="-15151" dirty="0">
                <a:latin typeface="Cambria"/>
                <a:cs typeface="Cambria"/>
              </a:rPr>
              <a:t>c</a:t>
            </a:r>
            <a:endParaRPr sz="1456" baseline="-15151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85763" y="1945341"/>
            <a:ext cx="1145241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Activation:</a:t>
            </a:r>
            <a:endParaRPr sz="1279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25209" y="3805518"/>
            <a:ext cx="4338357" cy="48745"/>
          </a:xfrm>
          <a:custGeom>
            <a:avLst/>
            <a:gdLst/>
            <a:ahLst/>
            <a:cxnLst/>
            <a:rect l="l" t="t" r="r" b="b"/>
            <a:pathLst>
              <a:path w="4916805" h="55245">
                <a:moveTo>
                  <a:pt x="4916429" y="47243"/>
                </a:moveTo>
                <a:lnTo>
                  <a:pt x="4916429" y="0"/>
                </a:lnTo>
                <a:lnTo>
                  <a:pt x="0" y="7619"/>
                </a:lnTo>
                <a:lnTo>
                  <a:pt x="0" y="54863"/>
                </a:lnTo>
                <a:lnTo>
                  <a:pt x="4916429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 txBox="1"/>
          <p:nvPr/>
        </p:nvSpPr>
        <p:spPr>
          <a:xfrm>
            <a:off x="1846275" y="3924747"/>
            <a:ext cx="786653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279">
              <a:latin typeface="Calibri"/>
              <a:cs typeface="Calibri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825208" y="4234479"/>
          <a:ext cx="997323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xi</a:t>
                      </a:r>
                      <a:r>
                        <a:rPr sz="1500" spc="45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0.95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17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2742079" y="4280199"/>
            <a:ext cx="24653" cy="8404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0" y="0"/>
                </a:moveTo>
                <a:lnTo>
                  <a:pt x="0" y="9144"/>
                </a:lnTo>
                <a:lnTo>
                  <a:pt x="27940" y="9144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2398059" y="4280199"/>
            <a:ext cx="24653" cy="8404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0" y="0"/>
                </a:moveTo>
                <a:lnTo>
                  <a:pt x="0" y="9144"/>
                </a:lnTo>
                <a:lnTo>
                  <a:pt x="27940" y="9144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3007210" y="4263390"/>
          <a:ext cx="995082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540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500" spc="39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4096421" y="4263390"/>
          <a:ext cx="867334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45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1825213" y="4696608"/>
            <a:ext cx="2280397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44" dirty="0">
                <a:latin typeface="Cambria"/>
                <a:cs typeface="Cambria"/>
              </a:rPr>
              <a:t>i</a:t>
            </a:r>
            <a:r>
              <a:rPr sz="1456" spc="66" baseline="-15151" dirty="0">
                <a:latin typeface="Cambria"/>
                <a:cs typeface="Cambria"/>
              </a:rPr>
              <a:t>0</a:t>
            </a:r>
            <a:r>
              <a:rPr sz="1279" spc="44" dirty="0">
                <a:latin typeface="Calibri"/>
                <a:cs typeface="Calibri"/>
              </a:rPr>
              <a:t>=</a:t>
            </a:r>
            <a:r>
              <a:rPr sz="1279" spc="35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7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xi</a:t>
            </a:r>
            <a:r>
              <a:rPr sz="1456" spc="27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4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3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hi</a:t>
            </a:r>
            <a:r>
              <a:rPr sz="1456" spc="25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4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35" dirty="0">
                <a:latin typeface="Cambria"/>
                <a:cs typeface="Cambria"/>
              </a:rPr>
              <a:t> b</a:t>
            </a:r>
            <a:r>
              <a:rPr sz="1456" spc="53" baseline="-15151" dirty="0">
                <a:latin typeface="Cambria"/>
                <a:cs typeface="Cambria"/>
              </a:rPr>
              <a:t>i</a:t>
            </a:r>
            <a:r>
              <a:rPr sz="1279" spc="35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243879" y="5126030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654" y="176784"/>
                </a:lnTo>
                <a:lnTo>
                  <a:pt x="25908" y="176784"/>
                </a:lnTo>
                <a:lnTo>
                  <a:pt x="40894" y="176784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2409265" y="5126030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40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19" y="176784"/>
                </a:lnTo>
                <a:lnTo>
                  <a:pt x="15240" y="176784"/>
                </a:lnTo>
                <a:lnTo>
                  <a:pt x="40627" y="176784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3519544" y="5068207"/>
            <a:ext cx="39781" cy="273424"/>
          </a:xfrm>
          <a:custGeom>
            <a:avLst/>
            <a:gdLst/>
            <a:ahLst/>
            <a:cxnLst/>
            <a:rect l="l" t="t" r="r" b="b"/>
            <a:pathLst>
              <a:path w="45085" h="309879">
                <a:moveTo>
                  <a:pt x="44704" y="0"/>
                </a:moveTo>
                <a:lnTo>
                  <a:pt x="26924" y="0"/>
                </a:lnTo>
                <a:lnTo>
                  <a:pt x="254" y="0"/>
                </a:lnTo>
                <a:lnTo>
                  <a:pt x="254" y="7620"/>
                </a:lnTo>
                <a:lnTo>
                  <a:pt x="26924" y="7620"/>
                </a:lnTo>
                <a:lnTo>
                  <a:pt x="26924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6924" y="309372"/>
                </a:lnTo>
                <a:lnTo>
                  <a:pt x="27432" y="309372"/>
                </a:lnTo>
                <a:lnTo>
                  <a:pt x="44704" y="309372"/>
                </a:lnTo>
                <a:lnTo>
                  <a:pt x="44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3380815" y="5068207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 txBox="1"/>
          <p:nvPr/>
        </p:nvSpPr>
        <p:spPr>
          <a:xfrm>
            <a:off x="3411519" y="5179356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150211" y="5126030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3794312" y="5126030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32" y="176784"/>
                </a:lnTo>
                <a:lnTo>
                  <a:pt x="15240" y="176784"/>
                </a:lnTo>
                <a:lnTo>
                  <a:pt x="40640" y="176784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4550709" y="5126030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4415118" y="5126030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41148" y="176784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8" name="object 58"/>
          <p:cNvSpPr txBox="1"/>
          <p:nvPr/>
        </p:nvSpPr>
        <p:spPr>
          <a:xfrm>
            <a:off x="1816248" y="5082537"/>
            <a:ext cx="3530974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10002" algn="l"/>
                <a:tab pos="1606449" algn="l"/>
              </a:tabLst>
            </a:pPr>
            <a:r>
              <a:rPr sz="1919" baseline="3831" dirty="0">
                <a:latin typeface="Cambria"/>
                <a:cs typeface="Cambria"/>
              </a:rPr>
              <a:t>i</a:t>
            </a:r>
            <a:r>
              <a:rPr sz="1456" baseline="-10101" dirty="0">
                <a:latin typeface="Cambria"/>
                <a:cs typeface="Cambria"/>
              </a:rPr>
              <a:t>0</a:t>
            </a:r>
            <a:r>
              <a:rPr sz="1456" spc="331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52" baseline="3831" dirty="0">
                <a:latin typeface="Cambria"/>
                <a:cs typeface="Cambria"/>
              </a:rPr>
              <a:t> </a:t>
            </a:r>
            <a:r>
              <a:rPr sz="1919" spc="92" baseline="3831" dirty="0">
                <a:latin typeface="Cambria"/>
                <a:cs typeface="Cambria"/>
              </a:rPr>
              <a:t>σ(</a:t>
            </a:r>
            <a:r>
              <a:rPr sz="1919" spc="304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0.95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0.80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4482" dirty="0">
                <a:latin typeface="Cambria"/>
                <a:cs typeface="Cambria"/>
              </a:rPr>
              <a:t>1</a:t>
            </a:r>
            <a:r>
              <a:rPr sz="1919" spc="165" baseline="34482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0.80</a:t>
            </a:r>
            <a:r>
              <a:rPr sz="1919" spc="146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[0.65])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37310" y="5455471"/>
            <a:ext cx="986118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4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19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0.96083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25A9997F-75FD-C36C-EAF7-6DAA5CE4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4F96-122F-4B95-9D8F-337E4DC73606}" type="datetime1">
              <a:rPr lang="en-US" smtClean="0"/>
              <a:t>11/22/2025</a:t>
            </a:fld>
            <a:endParaRPr lang="en-US"/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00F94E92-02E2-F104-DC03-12376D62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D01B1299-A092-D048-15AD-4F2C9DA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9" y="927398"/>
            <a:ext cx="112787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588" spc="1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15548" y="1313771"/>
            <a:ext cx="2634503" cy="1687606"/>
            <a:chOff x="5504688" y="1488941"/>
            <a:chExt cx="2985770" cy="19126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625" y="1550351"/>
              <a:ext cx="2824180" cy="18286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04688" y="1488941"/>
              <a:ext cx="2985770" cy="1912620"/>
            </a:xfrm>
            <a:custGeom>
              <a:avLst/>
              <a:gdLst/>
              <a:ahLst/>
              <a:cxnLst/>
              <a:rect l="l" t="t" r="r" b="b"/>
              <a:pathLst>
                <a:path w="2985770" h="1912620">
                  <a:moveTo>
                    <a:pt x="2985516" y="1909578"/>
                  </a:moveTo>
                  <a:lnTo>
                    <a:pt x="2985516" y="1524"/>
                  </a:lnTo>
                  <a:lnTo>
                    <a:pt x="2983992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1909578"/>
                  </a:lnTo>
                  <a:lnTo>
                    <a:pt x="3048" y="1912626"/>
                  </a:lnTo>
                  <a:lnTo>
                    <a:pt x="4572" y="1912626"/>
                  </a:ln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lnTo>
                    <a:pt x="2977896" y="7620"/>
                  </a:lnTo>
                  <a:lnTo>
                    <a:pt x="2977896" y="3048"/>
                  </a:lnTo>
                  <a:lnTo>
                    <a:pt x="2982468" y="7620"/>
                  </a:lnTo>
                  <a:lnTo>
                    <a:pt x="2982468" y="1912626"/>
                  </a:lnTo>
                  <a:lnTo>
                    <a:pt x="2983992" y="1912626"/>
                  </a:lnTo>
                  <a:lnTo>
                    <a:pt x="2985516" y="1909578"/>
                  </a:lnTo>
                  <a:close/>
                </a:path>
                <a:path w="2985770" h="1912620">
                  <a:moveTo>
                    <a:pt x="9144" y="7620"/>
                  </a:move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  <a:path w="2985770" h="1912620">
                  <a:moveTo>
                    <a:pt x="9144" y="1903482"/>
                  </a:moveTo>
                  <a:lnTo>
                    <a:pt x="9144" y="7620"/>
                  </a:lnTo>
                  <a:lnTo>
                    <a:pt x="4572" y="7620"/>
                  </a:lnTo>
                  <a:lnTo>
                    <a:pt x="4572" y="1903482"/>
                  </a:lnTo>
                  <a:lnTo>
                    <a:pt x="9144" y="1903482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4572" y="1903482"/>
                  </a:lnTo>
                  <a:lnTo>
                    <a:pt x="9144" y="1908054"/>
                  </a:lnTo>
                  <a:lnTo>
                    <a:pt x="9144" y="1912626"/>
                  </a:lnTo>
                  <a:lnTo>
                    <a:pt x="2977896" y="1912626"/>
                  </a:lnTo>
                  <a:lnTo>
                    <a:pt x="2977896" y="1908054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9144" y="1912626"/>
                  </a:moveTo>
                  <a:lnTo>
                    <a:pt x="9144" y="1908054"/>
                  </a:lnTo>
                  <a:lnTo>
                    <a:pt x="4572" y="1903482"/>
                  </a:lnTo>
                  <a:lnTo>
                    <a:pt x="4572" y="1912626"/>
                  </a:lnTo>
                  <a:lnTo>
                    <a:pt x="9144" y="1912626"/>
                  </a:lnTo>
                  <a:close/>
                </a:path>
                <a:path w="2985770" h="1912620">
                  <a:moveTo>
                    <a:pt x="2982468" y="7620"/>
                  </a:moveTo>
                  <a:lnTo>
                    <a:pt x="2977896" y="3048"/>
                  </a:lnTo>
                  <a:lnTo>
                    <a:pt x="2977896" y="7620"/>
                  </a:lnTo>
                  <a:lnTo>
                    <a:pt x="2982468" y="7620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2982468" y="7620"/>
                  </a:lnTo>
                  <a:lnTo>
                    <a:pt x="2977896" y="7620"/>
                  </a:lnTo>
                  <a:lnTo>
                    <a:pt x="2977896" y="1903482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2982468" y="1912626"/>
                  </a:moveTo>
                  <a:lnTo>
                    <a:pt x="2982468" y="1903482"/>
                  </a:lnTo>
                  <a:lnTo>
                    <a:pt x="2977896" y="1908054"/>
                  </a:lnTo>
                  <a:lnTo>
                    <a:pt x="2977896" y="1912626"/>
                  </a:lnTo>
                  <a:lnTo>
                    <a:pt x="2982468" y="191262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16893" y="3150646"/>
            <a:ext cx="2798669" cy="416859"/>
            <a:chOff x="5506212" y="3570732"/>
            <a:chExt cx="3171825" cy="472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547" y="3672795"/>
              <a:ext cx="3001038" cy="2493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06212" y="3570732"/>
              <a:ext cx="3171825" cy="472440"/>
            </a:xfrm>
            <a:custGeom>
              <a:avLst/>
              <a:gdLst/>
              <a:ahLst/>
              <a:cxnLst/>
              <a:rect l="l" t="t" r="r" b="b"/>
              <a:pathLst>
                <a:path w="3171825" h="472439">
                  <a:moveTo>
                    <a:pt x="3171444" y="467868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67868"/>
                  </a:lnTo>
                  <a:lnTo>
                    <a:pt x="4572" y="472440"/>
                  </a:lnTo>
                  <a:lnTo>
                    <a:pt x="10668" y="472440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472440"/>
                  </a:lnTo>
                  <a:lnTo>
                    <a:pt x="3165348" y="472440"/>
                  </a:lnTo>
                  <a:lnTo>
                    <a:pt x="3171444" y="467868"/>
                  </a:lnTo>
                  <a:close/>
                </a:path>
                <a:path w="3171825" h="472439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3171825" h="472439">
                  <a:moveTo>
                    <a:pt x="22860" y="449580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49580"/>
                  </a:lnTo>
                  <a:lnTo>
                    <a:pt x="22860" y="449580"/>
                  </a:lnTo>
                  <a:close/>
                </a:path>
                <a:path w="3171825" h="472439">
                  <a:moveTo>
                    <a:pt x="3159252" y="449580"/>
                  </a:moveTo>
                  <a:lnTo>
                    <a:pt x="10668" y="449580"/>
                  </a:lnTo>
                  <a:lnTo>
                    <a:pt x="22860" y="461772"/>
                  </a:lnTo>
                  <a:lnTo>
                    <a:pt x="22860" y="472440"/>
                  </a:lnTo>
                  <a:lnTo>
                    <a:pt x="3147060" y="472440"/>
                  </a:lnTo>
                  <a:lnTo>
                    <a:pt x="3147060" y="461772"/>
                  </a:lnTo>
                  <a:lnTo>
                    <a:pt x="3159252" y="449580"/>
                  </a:lnTo>
                  <a:close/>
                </a:path>
                <a:path w="3171825" h="472439">
                  <a:moveTo>
                    <a:pt x="22860" y="472440"/>
                  </a:moveTo>
                  <a:lnTo>
                    <a:pt x="22860" y="461772"/>
                  </a:lnTo>
                  <a:lnTo>
                    <a:pt x="10668" y="449580"/>
                  </a:lnTo>
                  <a:lnTo>
                    <a:pt x="10668" y="472440"/>
                  </a:lnTo>
                  <a:lnTo>
                    <a:pt x="22860" y="472440"/>
                  </a:lnTo>
                  <a:close/>
                </a:path>
                <a:path w="3171825" h="472439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472439">
                  <a:moveTo>
                    <a:pt x="3159252" y="449580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449580"/>
                  </a:lnTo>
                  <a:lnTo>
                    <a:pt x="3159252" y="449580"/>
                  </a:lnTo>
                  <a:close/>
                </a:path>
                <a:path w="3171825" h="472439">
                  <a:moveTo>
                    <a:pt x="3159252" y="472440"/>
                  </a:moveTo>
                  <a:lnTo>
                    <a:pt x="3159252" y="449580"/>
                  </a:lnTo>
                  <a:lnTo>
                    <a:pt x="3147060" y="461772"/>
                  </a:lnTo>
                  <a:lnTo>
                    <a:pt x="3147060" y="472440"/>
                  </a:lnTo>
                  <a:lnTo>
                    <a:pt x="3159252" y="472440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43786" y="4124212"/>
            <a:ext cx="3294529" cy="2564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73402">
              <a:lnSpc>
                <a:spcPts val="1985"/>
              </a:lnSpc>
            </a:pPr>
            <a:r>
              <a:rPr sz="1721" spc="44" dirty="0">
                <a:latin typeface="Cambria"/>
                <a:cs typeface="Cambria"/>
              </a:rPr>
              <a:t>o</a:t>
            </a:r>
            <a:r>
              <a:rPr sz="1853" spc="66" baseline="-15873" dirty="0">
                <a:latin typeface="Cambria"/>
                <a:cs typeface="Cambria"/>
              </a:rPr>
              <a:t>t</a:t>
            </a:r>
            <a:r>
              <a:rPr sz="1853" spc="522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32" dirty="0">
                <a:latin typeface="Cambria"/>
                <a:cs typeface="Cambria"/>
              </a:rPr>
              <a:t> </a:t>
            </a:r>
            <a:r>
              <a:rPr sz="1721" spc="71" dirty="0">
                <a:latin typeface="Cambria"/>
                <a:cs typeface="Cambria"/>
              </a:rPr>
              <a:t>σ</a:t>
            </a:r>
            <a:r>
              <a:rPr sz="1721" spc="40" dirty="0">
                <a:latin typeface="Cambria"/>
                <a:cs typeface="Cambria"/>
              </a:rPr>
              <a:t>(</a:t>
            </a:r>
            <a:r>
              <a:rPr sz="1721" spc="-322" dirty="0">
                <a:latin typeface="Cambria"/>
                <a:cs typeface="Cambria"/>
              </a:rPr>
              <a:t>W</a:t>
            </a:r>
            <a:r>
              <a:rPr sz="1853" spc="53" baseline="-15873" dirty="0">
                <a:latin typeface="Cambria"/>
                <a:cs typeface="Cambria"/>
              </a:rPr>
              <a:t>x</a:t>
            </a:r>
            <a:r>
              <a:rPr sz="1853" spc="212" baseline="-15873" dirty="0">
                <a:latin typeface="Cambria"/>
                <a:cs typeface="Cambria"/>
              </a:rPr>
              <a:t>o</a:t>
            </a:r>
            <a:r>
              <a:rPr sz="1721" spc="35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90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35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W</a:t>
            </a:r>
            <a:r>
              <a:rPr sz="1853" baseline="-15873" dirty="0">
                <a:latin typeface="Cambria"/>
                <a:cs typeface="Cambria"/>
              </a:rPr>
              <a:t>ho</a:t>
            </a:r>
            <a:r>
              <a:rPr sz="1853" spc="370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331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35" dirty="0">
                <a:latin typeface="Cambria"/>
                <a:cs typeface="Cambria"/>
              </a:rPr>
              <a:t> </a:t>
            </a:r>
            <a:r>
              <a:rPr sz="1721" spc="44" dirty="0">
                <a:latin typeface="Cambria"/>
                <a:cs typeface="Cambria"/>
              </a:rPr>
              <a:t>b</a:t>
            </a:r>
            <a:r>
              <a:rPr sz="1853" spc="66" baseline="-15873" dirty="0">
                <a:latin typeface="Cambria"/>
                <a:cs typeface="Cambria"/>
              </a:rPr>
              <a:t>o</a:t>
            </a:r>
            <a:r>
              <a:rPr sz="1721" spc="44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2579" y="3876337"/>
            <a:ext cx="910478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279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279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796970" y="2178422"/>
          <a:ext cx="1011331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524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xo</a:t>
                      </a:r>
                      <a:r>
                        <a:rPr sz="1500" spc="20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4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6830">
                        <a:lnSpc>
                          <a:spcPts val="119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726391" y="2220110"/>
            <a:ext cx="23532" cy="8404"/>
          </a:xfrm>
          <a:custGeom>
            <a:avLst/>
            <a:gdLst/>
            <a:ahLst/>
            <a:cxnLst/>
            <a:rect l="l" t="t" r="r" b="b"/>
            <a:pathLst>
              <a:path w="26669" h="9525">
                <a:moveTo>
                  <a:pt x="0" y="0"/>
                </a:moveTo>
                <a:lnTo>
                  <a:pt x="0" y="9144"/>
                </a:lnTo>
                <a:lnTo>
                  <a:pt x="26670" y="9144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2384612" y="2220110"/>
            <a:ext cx="22412" cy="8404"/>
          </a:xfrm>
          <a:custGeom>
            <a:avLst/>
            <a:gdLst/>
            <a:ahLst/>
            <a:cxnLst/>
            <a:rect l="l" t="t" r="r" b="b"/>
            <a:pathLst>
              <a:path w="25400" h="9525">
                <a:moveTo>
                  <a:pt x="0" y="0"/>
                </a:moveTo>
                <a:lnTo>
                  <a:pt x="0" y="9144"/>
                </a:lnTo>
                <a:lnTo>
                  <a:pt x="25399" y="9144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032759" y="2281294"/>
          <a:ext cx="1023096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7305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50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26367" y="2281294"/>
          <a:ext cx="895349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540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500" spc="38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721671" y="2750818"/>
            <a:ext cx="2379569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22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xo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ho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3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1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2" dirty="0">
                <a:latin typeface="Cambria"/>
                <a:cs typeface="Cambria"/>
              </a:rPr>
              <a:t> b</a:t>
            </a:r>
            <a:r>
              <a:rPr sz="1456" spc="33" baseline="-15151" dirty="0">
                <a:latin typeface="Cambria"/>
                <a:cs typeface="Cambria"/>
              </a:rPr>
              <a:t>o</a:t>
            </a:r>
            <a:r>
              <a:rPr sz="1279" spc="22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22856" y="3165449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654" y="176784"/>
                </a:lnTo>
                <a:lnTo>
                  <a:pt x="25908" y="176784"/>
                </a:lnTo>
                <a:lnTo>
                  <a:pt x="40894" y="176784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2288241" y="3165449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40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19" y="176784"/>
                </a:lnTo>
                <a:lnTo>
                  <a:pt x="15240" y="176784"/>
                </a:lnTo>
                <a:lnTo>
                  <a:pt x="40627" y="176784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3398520" y="3107626"/>
            <a:ext cx="39781" cy="273424"/>
          </a:xfrm>
          <a:custGeom>
            <a:avLst/>
            <a:gdLst/>
            <a:ahLst/>
            <a:cxnLst/>
            <a:rect l="l" t="t" r="r" b="b"/>
            <a:pathLst>
              <a:path w="45085" h="309879">
                <a:moveTo>
                  <a:pt x="44704" y="0"/>
                </a:moveTo>
                <a:lnTo>
                  <a:pt x="26924" y="0"/>
                </a:lnTo>
                <a:lnTo>
                  <a:pt x="254" y="0"/>
                </a:lnTo>
                <a:lnTo>
                  <a:pt x="254" y="7620"/>
                </a:lnTo>
                <a:lnTo>
                  <a:pt x="26924" y="7620"/>
                </a:lnTo>
                <a:lnTo>
                  <a:pt x="26924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6924" y="309372"/>
                </a:lnTo>
                <a:lnTo>
                  <a:pt x="27432" y="309372"/>
                </a:lnTo>
                <a:lnTo>
                  <a:pt x="44704" y="309372"/>
                </a:lnTo>
                <a:lnTo>
                  <a:pt x="44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3259791" y="3107626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3290495" y="3218776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27394" y="3165449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416" y="169164"/>
                </a:moveTo>
                <a:lnTo>
                  <a:pt x="508" y="169164"/>
                </a:lnTo>
                <a:lnTo>
                  <a:pt x="508" y="176784"/>
                </a:lnTo>
                <a:lnTo>
                  <a:pt x="26416" y="176784"/>
                </a:lnTo>
                <a:lnTo>
                  <a:pt x="2641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3673288" y="3165449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32" y="176784"/>
                </a:lnTo>
                <a:lnTo>
                  <a:pt x="15240" y="176784"/>
                </a:lnTo>
                <a:lnTo>
                  <a:pt x="40640" y="176784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4429686" y="3165449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4294095" y="3165449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41148" y="176784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 txBox="1"/>
          <p:nvPr/>
        </p:nvSpPr>
        <p:spPr>
          <a:xfrm>
            <a:off x="1664297" y="3120612"/>
            <a:ext cx="3560669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40820" algn="l"/>
                <a:tab pos="1637267" algn="l"/>
              </a:tabLst>
            </a:pPr>
            <a:r>
              <a:rPr sz="1919" baseline="1915" dirty="0">
                <a:latin typeface="Cambria"/>
                <a:cs typeface="Cambria"/>
              </a:rPr>
              <a:t>o</a:t>
            </a:r>
            <a:r>
              <a:rPr sz="1456" baseline="-12626" dirty="0">
                <a:latin typeface="Cambria"/>
                <a:cs typeface="Cambria"/>
              </a:rPr>
              <a:t>0</a:t>
            </a:r>
            <a:r>
              <a:rPr sz="1456" spc="284" baseline="-12626" dirty="0">
                <a:latin typeface="Cambria"/>
                <a:cs typeface="Cambria"/>
              </a:rPr>
              <a:t> </a:t>
            </a:r>
            <a:r>
              <a:rPr sz="1919" spc="397" baseline="1915" dirty="0">
                <a:latin typeface="Cambria"/>
                <a:cs typeface="Cambria"/>
              </a:rPr>
              <a:t>=</a:t>
            </a:r>
            <a:r>
              <a:rPr sz="1919" spc="112" baseline="1915" dirty="0">
                <a:latin typeface="Cambria"/>
                <a:cs typeface="Cambria"/>
              </a:rPr>
              <a:t> </a:t>
            </a:r>
            <a:r>
              <a:rPr sz="1919" spc="86" baseline="1915" dirty="0">
                <a:latin typeface="Cambria"/>
                <a:cs typeface="Cambria"/>
              </a:rPr>
              <a:t>σ(</a:t>
            </a:r>
            <a:r>
              <a:rPr sz="1919" spc="271" baseline="1915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0.60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1</a:t>
            </a:r>
            <a:r>
              <a:rPr sz="1919" spc="165" baseline="32567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152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0.25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spc="337" baseline="1915" dirty="0">
                <a:latin typeface="Cambria"/>
                <a:cs typeface="Cambria"/>
              </a:rPr>
              <a:t>×</a:t>
            </a:r>
            <a:r>
              <a:rPr sz="1919" spc="146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13" baseline="1915" dirty="0">
                <a:latin typeface="Cambria"/>
                <a:cs typeface="Cambria"/>
              </a:rPr>
              <a:t> </a:t>
            </a:r>
            <a:r>
              <a:rPr sz="1919" spc="-13" baseline="1915" dirty="0">
                <a:latin typeface="Cambria"/>
                <a:cs typeface="Cambria"/>
              </a:rPr>
              <a:t>[0.10])</a:t>
            </a:r>
            <a:endParaRPr sz="1919" baseline="1915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35114" y="3508337"/>
            <a:ext cx="1015253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1292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75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0.81757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67C53C96-4B42-8582-2B10-48B564F9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424E2-530E-4777-8C0A-03E6243AC324}" type="datetime1">
              <a:rPr lang="en-US" smtClean="0"/>
              <a:t>11/22/2025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1928BF02-DACF-33D9-63A0-67FC17F9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1F34D669-99A7-6C2D-7829-7B0FBB51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9" y="927398"/>
            <a:ext cx="1196228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588" spc="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0000"/>
                </a:solidFill>
                <a:latin typeface="Calibri"/>
                <a:cs typeface="Calibri"/>
              </a:rPr>
              <a:t>Layer: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4563" y="1945341"/>
            <a:ext cx="2837890" cy="9566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22413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279"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279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State:</a:t>
            </a:r>
            <a:endParaRPr sz="1279">
              <a:latin typeface="Calibri"/>
              <a:cs typeface="Calibri"/>
            </a:endParaRPr>
          </a:p>
          <a:p>
            <a:pPr>
              <a:spcBef>
                <a:spcPts val="251"/>
              </a:spcBef>
            </a:pPr>
            <a:endParaRPr sz="1279">
              <a:latin typeface="Calibri"/>
              <a:cs typeface="Calibri"/>
            </a:endParaRPr>
          </a:p>
          <a:p>
            <a:pPr marL="58274"/>
            <a:r>
              <a:rPr sz="1279" spc="-26" dirty="0">
                <a:latin typeface="Cambria"/>
                <a:cs typeface="Cambria"/>
              </a:rPr>
              <a:t>C</a:t>
            </a:r>
            <a:r>
              <a:rPr sz="1456" spc="132" baseline="-15151" dirty="0">
                <a:latin typeface="Cambria"/>
                <a:cs typeface="Cambria"/>
              </a:rPr>
              <a:t>0</a:t>
            </a:r>
            <a:r>
              <a:rPr sz="1279" spc="44" dirty="0">
                <a:latin typeface="Calibri"/>
                <a:cs typeface="Calibri"/>
              </a:rPr>
              <a:t>=</a:t>
            </a:r>
            <a:r>
              <a:rPr sz="1279" spc="-366" dirty="0">
                <a:latin typeface="Cambria"/>
                <a:cs typeface="Cambria"/>
              </a:rPr>
              <a:t>C</a:t>
            </a:r>
            <a:r>
              <a:rPr sz="1919" spc="-13" baseline="11494" dirty="0">
                <a:latin typeface="Cambria"/>
                <a:cs typeface="Cambria"/>
              </a:rPr>
              <a:t>˜</a:t>
            </a:r>
            <a:r>
              <a:rPr sz="1456" spc="66" baseline="-15151" dirty="0">
                <a:latin typeface="Cambria"/>
                <a:cs typeface="Cambria"/>
              </a:rPr>
              <a:t>0</a:t>
            </a:r>
            <a:r>
              <a:rPr sz="1456" spc="178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4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199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9" dirty="0">
                <a:latin typeface="Cambria"/>
                <a:cs typeface="Cambria"/>
              </a:rPr>
              <a:t> </a:t>
            </a:r>
            <a:r>
              <a:rPr sz="1279" spc="71" dirty="0">
                <a:latin typeface="Cambria"/>
                <a:cs typeface="Cambria"/>
              </a:rPr>
              <a:t>f</a:t>
            </a:r>
            <a:r>
              <a:rPr sz="1456" spc="106" baseline="-15151" dirty="0">
                <a:latin typeface="Cambria"/>
                <a:cs typeface="Cambria"/>
              </a:rPr>
              <a:t>0</a:t>
            </a:r>
            <a:r>
              <a:rPr sz="1456" spc="615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49" dirty="0">
                <a:latin typeface="Cambria"/>
                <a:cs typeface="Cambria"/>
              </a:rPr>
              <a:t>C</a:t>
            </a:r>
            <a:r>
              <a:rPr sz="1456" spc="72" baseline="-15151" dirty="0">
                <a:latin typeface="Cambria"/>
                <a:cs typeface="Cambria"/>
              </a:rPr>
              <a:t>–1</a:t>
            </a:r>
            <a:endParaRPr sz="1456" baseline="-15151">
              <a:latin typeface="Cambria"/>
              <a:cs typeface="Cambria"/>
            </a:endParaRPr>
          </a:p>
          <a:p>
            <a:pPr marL="58274">
              <a:spcBef>
                <a:spcPts val="877"/>
              </a:spcBef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57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0.81775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0.96083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0.85195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spc="-44" dirty="0">
                <a:latin typeface="Cambria"/>
                <a:cs typeface="Cambria"/>
              </a:rPr>
              <a:t>0</a:t>
            </a:r>
            <a:endParaRPr sz="1279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28996" y="1223676"/>
            <a:ext cx="3020546" cy="1908362"/>
            <a:chOff x="5519928" y="1386833"/>
            <a:chExt cx="3423285" cy="21628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8672" y="1425026"/>
              <a:ext cx="3209011" cy="21091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19928" y="1386833"/>
              <a:ext cx="3423285" cy="2162810"/>
            </a:xfrm>
            <a:custGeom>
              <a:avLst/>
              <a:gdLst/>
              <a:ahLst/>
              <a:cxnLst/>
              <a:rect l="l" t="t" r="r" b="b"/>
              <a:pathLst>
                <a:path w="3423284" h="2162810">
                  <a:moveTo>
                    <a:pt x="3422904" y="2161038"/>
                  </a:moveTo>
                  <a:lnTo>
                    <a:pt x="3422904" y="1524"/>
                  </a:lnTo>
                  <a:lnTo>
                    <a:pt x="342138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161038"/>
                  </a:lnTo>
                  <a:lnTo>
                    <a:pt x="1524" y="2162562"/>
                  </a:lnTo>
                  <a:lnTo>
                    <a:pt x="4572" y="2162562"/>
                  </a:ln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415284" y="7620"/>
                  </a:lnTo>
                  <a:lnTo>
                    <a:pt x="3415284" y="4572"/>
                  </a:lnTo>
                  <a:lnTo>
                    <a:pt x="3419856" y="7620"/>
                  </a:lnTo>
                  <a:lnTo>
                    <a:pt x="3419856" y="2162562"/>
                  </a:lnTo>
                  <a:lnTo>
                    <a:pt x="3421380" y="2162562"/>
                  </a:lnTo>
                  <a:lnTo>
                    <a:pt x="3422904" y="2161038"/>
                  </a:lnTo>
                  <a:close/>
                </a:path>
                <a:path w="3423284" h="2162810">
                  <a:moveTo>
                    <a:pt x="7620" y="7620"/>
                  </a:move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close/>
                </a:path>
                <a:path w="3423284" h="2162810">
                  <a:moveTo>
                    <a:pt x="7620" y="2154942"/>
                  </a:moveTo>
                  <a:lnTo>
                    <a:pt x="7620" y="7620"/>
                  </a:lnTo>
                  <a:lnTo>
                    <a:pt x="4572" y="7620"/>
                  </a:lnTo>
                  <a:lnTo>
                    <a:pt x="4572" y="2154942"/>
                  </a:lnTo>
                  <a:lnTo>
                    <a:pt x="7620" y="2154942"/>
                  </a:lnTo>
                  <a:close/>
                </a:path>
                <a:path w="3423284" h="2162810">
                  <a:moveTo>
                    <a:pt x="3419856" y="2154942"/>
                  </a:moveTo>
                  <a:lnTo>
                    <a:pt x="4572" y="2154942"/>
                  </a:lnTo>
                  <a:lnTo>
                    <a:pt x="7620" y="2159514"/>
                  </a:lnTo>
                  <a:lnTo>
                    <a:pt x="7620" y="2162562"/>
                  </a:lnTo>
                  <a:lnTo>
                    <a:pt x="3415284" y="2162562"/>
                  </a:lnTo>
                  <a:lnTo>
                    <a:pt x="3415284" y="2159514"/>
                  </a:lnTo>
                  <a:lnTo>
                    <a:pt x="3419856" y="2154942"/>
                  </a:lnTo>
                  <a:close/>
                </a:path>
                <a:path w="3423284" h="2162810">
                  <a:moveTo>
                    <a:pt x="7620" y="2162562"/>
                  </a:moveTo>
                  <a:lnTo>
                    <a:pt x="7620" y="2159514"/>
                  </a:lnTo>
                  <a:lnTo>
                    <a:pt x="4572" y="2154942"/>
                  </a:lnTo>
                  <a:lnTo>
                    <a:pt x="4572" y="2162562"/>
                  </a:lnTo>
                  <a:lnTo>
                    <a:pt x="7620" y="2162562"/>
                  </a:lnTo>
                  <a:close/>
                </a:path>
                <a:path w="3423284" h="2162810">
                  <a:moveTo>
                    <a:pt x="3419856" y="7620"/>
                  </a:moveTo>
                  <a:lnTo>
                    <a:pt x="3415284" y="4572"/>
                  </a:lnTo>
                  <a:lnTo>
                    <a:pt x="3415284" y="7620"/>
                  </a:lnTo>
                  <a:lnTo>
                    <a:pt x="3419856" y="7620"/>
                  </a:lnTo>
                  <a:close/>
                </a:path>
                <a:path w="3423284" h="2162810">
                  <a:moveTo>
                    <a:pt x="3419856" y="2154942"/>
                  </a:moveTo>
                  <a:lnTo>
                    <a:pt x="3419856" y="7620"/>
                  </a:lnTo>
                  <a:lnTo>
                    <a:pt x="3415284" y="7620"/>
                  </a:lnTo>
                  <a:lnTo>
                    <a:pt x="3415284" y="2154942"/>
                  </a:lnTo>
                  <a:lnTo>
                    <a:pt x="3419856" y="2154942"/>
                  </a:lnTo>
                  <a:close/>
                </a:path>
                <a:path w="3423284" h="2162810">
                  <a:moveTo>
                    <a:pt x="3419856" y="2162562"/>
                  </a:moveTo>
                  <a:lnTo>
                    <a:pt x="3419856" y="2154942"/>
                  </a:lnTo>
                  <a:lnTo>
                    <a:pt x="3415284" y="2159514"/>
                  </a:lnTo>
                  <a:lnTo>
                    <a:pt x="3415284" y="2162562"/>
                  </a:lnTo>
                  <a:lnTo>
                    <a:pt x="3419856" y="216256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15548" y="3286461"/>
            <a:ext cx="2400300" cy="457199"/>
            <a:chOff x="5504688" y="3724655"/>
            <a:chExt cx="2720340" cy="518159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4369" y="3810584"/>
              <a:ext cx="2544253" cy="2901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04688" y="3724655"/>
              <a:ext cx="2720340" cy="518159"/>
            </a:xfrm>
            <a:custGeom>
              <a:avLst/>
              <a:gdLst/>
              <a:ahLst/>
              <a:cxnLst/>
              <a:rect l="l" t="t" r="r" b="b"/>
              <a:pathLst>
                <a:path w="2720340" h="518160">
                  <a:moveTo>
                    <a:pt x="2720340" y="512064"/>
                  </a:moveTo>
                  <a:lnTo>
                    <a:pt x="2720340" y="4572"/>
                  </a:lnTo>
                  <a:lnTo>
                    <a:pt x="27157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12064"/>
                  </a:lnTo>
                  <a:lnTo>
                    <a:pt x="4572" y="518160"/>
                  </a:lnTo>
                  <a:lnTo>
                    <a:pt x="10668" y="518160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97480" y="22860"/>
                  </a:lnTo>
                  <a:lnTo>
                    <a:pt x="2697480" y="10668"/>
                  </a:lnTo>
                  <a:lnTo>
                    <a:pt x="2708148" y="22860"/>
                  </a:lnTo>
                  <a:lnTo>
                    <a:pt x="2708148" y="518160"/>
                  </a:lnTo>
                  <a:lnTo>
                    <a:pt x="2715768" y="518160"/>
                  </a:lnTo>
                  <a:lnTo>
                    <a:pt x="2720340" y="512064"/>
                  </a:lnTo>
                  <a:close/>
                </a:path>
                <a:path w="2720340" h="51816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720340" h="518160">
                  <a:moveTo>
                    <a:pt x="22860" y="49377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493776"/>
                  </a:lnTo>
                  <a:lnTo>
                    <a:pt x="22860" y="493776"/>
                  </a:lnTo>
                  <a:close/>
                </a:path>
                <a:path w="2720340" h="518160">
                  <a:moveTo>
                    <a:pt x="2708148" y="493776"/>
                  </a:moveTo>
                  <a:lnTo>
                    <a:pt x="10668" y="493776"/>
                  </a:lnTo>
                  <a:lnTo>
                    <a:pt x="22860" y="505968"/>
                  </a:lnTo>
                  <a:lnTo>
                    <a:pt x="22860" y="518160"/>
                  </a:lnTo>
                  <a:lnTo>
                    <a:pt x="2697480" y="518160"/>
                  </a:lnTo>
                  <a:lnTo>
                    <a:pt x="2697480" y="505968"/>
                  </a:lnTo>
                  <a:lnTo>
                    <a:pt x="2708148" y="493776"/>
                  </a:lnTo>
                  <a:close/>
                </a:path>
                <a:path w="2720340" h="518160">
                  <a:moveTo>
                    <a:pt x="22860" y="518160"/>
                  </a:moveTo>
                  <a:lnTo>
                    <a:pt x="22860" y="505968"/>
                  </a:lnTo>
                  <a:lnTo>
                    <a:pt x="10668" y="493776"/>
                  </a:lnTo>
                  <a:lnTo>
                    <a:pt x="10668" y="518160"/>
                  </a:lnTo>
                  <a:lnTo>
                    <a:pt x="22860" y="518160"/>
                  </a:lnTo>
                  <a:close/>
                </a:path>
                <a:path w="2720340" h="518160">
                  <a:moveTo>
                    <a:pt x="2708148" y="22860"/>
                  </a:moveTo>
                  <a:lnTo>
                    <a:pt x="2697480" y="10668"/>
                  </a:lnTo>
                  <a:lnTo>
                    <a:pt x="2697480" y="22860"/>
                  </a:lnTo>
                  <a:lnTo>
                    <a:pt x="2708148" y="22860"/>
                  </a:lnTo>
                  <a:close/>
                </a:path>
                <a:path w="2720340" h="518160">
                  <a:moveTo>
                    <a:pt x="2708148" y="493776"/>
                  </a:moveTo>
                  <a:lnTo>
                    <a:pt x="2708148" y="22860"/>
                  </a:lnTo>
                  <a:lnTo>
                    <a:pt x="2697480" y="22860"/>
                  </a:lnTo>
                  <a:lnTo>
                    <a:pt x="2697480" y="493776"/>
                  </a:lnTo>
                  <a:lnTo>
                    <a:pt x="2708148" y="493776"/>
                  </a:lnTo>
                  <a:close/>
                </a:path>
                <a:path w="2720340" h="518160">
                  <a:moveTo>
                    <a:pt x="2708148" y="518160"/>
                  </a:moveTo>
                  <a:lnTo>
                    <a:pt x="2708148" y="493776"/>
                  </a:lnTo>
                  <a:lnTo>
                    <a:pt x="2697480" y="505968"/>
                  </a:lnTo>
                  <a:lnTo>
                    <a:pt x="2697480" y="518160"/>
                  </a:lnTo>
                  <a:lnTo>
                    <a:pt x="2708148" y="518160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38655" y="3022898"/>
            <a:ext cx="102197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35718" y="4430805"/>
            <a:ext cx="2537572" cy="251572"/>
          </a:xfrm>
          <a:custGeom>
            <a:avLst/>
            <a:gdLst/>
            <a:ahLst/>
            <a:cxnLst/>
            <a:rect l="l" t="t" r="r" b="b"/>
            <a:pathLst>
              <a:path w="2875915" h="285114">
                <a:moveTo>
                  <a:pt x="2875787" y="284987"/>
                </a:moveTo>
                <a:lnTo>
                  <a:pt x="2875787" y="0"/>
                </a:lnTo>
                <a:lnTo>
                  <a:pt x="0" y="0"/>
                </a:lnTo>
                <a:lnTo>
                  <a:pt x="0" y="284987"/>
                </a:lnTo>
                <a:lnTo>
                  <a:pt x="2875787" y="284987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 txBox="1"/>
          <p:nvPr/>
        </p:nvSpPr>
        <p:spPr>
          <a:xfrm>
            <a:off x="6785832" y="4412874"/>
            <a:ext cx="1416984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33619">
              <a:spcBef>
                <a:spcPts val="97"/>
              </a:spcBef>
            </a:pPr>
            <a:r>
              <a:rPr sz="1588" dirty="0">
                <a:latin typeface="Cambria"/>
                <a:cs typeface="Cambria"/>
              </a:rPr>
              <a:t>C</a:t>
            </a:r>
            <a:r>
              <a:rPr sz="1721" baseline="-14957" dirty="0">
                <a:latin typeface="Cambria"/>
                <a:cs typeface="Cambria"/>
              </a:rPr>
              <a:t>t</a:t>
            </a:r>
            <a:r>
              <a:rPr sz="1721" spc="403" baseline="-14957" dirty="0">
                <a:latin typeface="Cambria"/>
                <a:cs typeface="Cambria"/>
              </a:rPr>
              <a:t> </a:t>
            </a:r>
            <a:r>
              <a:rPr sz="1588" spc="309" dirty="0">
                <a:latin typeface="Cambria"/>
                <a:cs typeface="Cambria"/>
              </a:rPr>
              <a:t>=</a:t>
            </a:r>
            <a:r>
              <a:rPr sz="1588" spc="84" dirty="0">
                <a:latin typeface="Cambria"/>
                <a:cs typeface="Cambria"/>
              </a:rPr>
              <a:t> </a:t>
            </a:r>
            <a:r>
              <a:rPr sz="1588" spc="-393" dirty="0">
                <a:latin typeface="Cambria"/>
                <a:cs typeface="Cambria"/>
              </a:rPr>
              <a:t>C</a:t>
            </a:r>
            <a:r>
              <a:rPr sz="2382" spc="59" baseline="10802" dirty="0">
                <a:latin typeface="Cambria"/>
                <a:cs typeface="Cambria"/>
              </a:rPr>
              <a:t>˜</a:t>
            </a:r>
            <a:r>
              <a:rPr sz="1721" spc="172" baseline="-14957" dirty="0">
                <a:latin typeface="Cambria"/>
                <a:cs typeface="Cambria"/>
              </a:rPr>
              <a:t>t</a:t>
            </a:r>
            <a:r>
              <a:rPr sz="1721" spc="297" baseline="-14957" dirty="0">
                <a:latin typeface="Cambria"/>
                <a:cs typeface="Cambria"/>
              </a:rPr>
              <a:t> </a:t>
            </a:r>
            <a:r>
              <a:rPr sz="1588" spc="-141" dirty="0">
                <a:latin typeface="Cambria"/>
                <a:cs typeface="Cambria"/>
              </a:rPr>
              <a:t>o</a:t>
            </a:r>
            <a:r>
              <a:rPr sz="1588" spc="9" dirty="0">
                <a:latin typeface="Cambria"/>
                <a:cs typeface="Cambria"/>
              </a:rPr>
              <a:t> </a:t>
            </a:r>
            <a:r>
              <a:rPr sz="1588" spc="93" dirty="0">
                <a:latin typeface="Cambria"/>
                <a:cs typeface="Cambria"/>
              </a:rPr>
              <a:t>i</a:t>
            </a:r>
            <a:r>
              <a:rPr sz="1721" spc="139" baseline="-14957" dirty="0">
                <a:latin typeface="Cambria"/>
                <a:cs typeface="Cambria"/>
              </a:rPr>
              <a:t>t</a:t>
            </a:r>
            <a:r>
              <a:rPr sz="1721" spc="297" baseline="-14957" dirty="0">
                <a:latin typeface="Cambria"/>
                <a:cs typeface="Cambria"/>
              </a:rPr>
              <a:t> </a:t>
            </a:r>
            <a:r>
              <a:rPr sz="1588" spc="309" dirty="0">
                <a:latin typeface="Cambria"/>
                <a:cs typeface="Cambria"/>
              </a:rPr>
              <a:t>+</a:t>
            </a:r>
            <a:r>
              <a:rPr sz="1588" spc="-4" dirty="0">
                <a:latin typeface="Cambria"/>
                <a:cs typeface="Cambria"/>
              </a:rPr>
              <a:t> </a:t>
            </a:r>
            <a:r>
              <a:rPr sz="1588" spc="106" dirty="0">
                <a:latin typeface="Cambria"/>
                <a:cs typeface="Cambria"/>
              </a:rPr>
              <a:t>f</a:t>
            </a:r>
            <a:r>
              <a:rPr sz="1721" spc="158" baseline="-14957" dirty="0">
                <a:latin typeface="Cambria"/>
                <a:cs typeface="Cambria"/>
              </a:rPr>
              <a:t>t</a:t>
            </a:r>
            <a:endParaRPr sz="1721" baseline="-14957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9415" y="4454560"/>
            <a:ext cx="57542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33619">
              <a:spcBef>
                <a:spcPts val="97"/>
              </a:spcBef>
            </a:pPr>
            <a:r>
              <a:rPr sz="2382" spc="-212" baseline="10802" dirty="0">
                <a:latin typeface="Cambria"/>
                <a:cs typeface="Cambria"/>
              </a:rPr>
              <a:t>o</a:t>
            </a:r>
            <a:r>
              <a:rPr sz="2382" spc="19" baseline="10802" dirty="0">
                <a:latin typeface="Cambria"/>
                <a:cs typeface="Cambria"/>
              </a:rPr>
              <a:t> </a:t>
            </a:r>
            <a:r>
              <a:rPr sz="2382" spc="125" baseline="10802" dirty="0">
                <a:latin typeface="Cambria"/>
                <a:cs typeface="Cambria"/>
              </a:rPr>
              <a:t>C</a:t>
            </a:r>
            <a:r>
              <a:rPr sz="1147" spc="84" dirty="0">
                <a:latin typeface="Cambria"/>
                <a:cs typeface="Cambria"/>
              </a:rPr>
              <a:t>t–1</a:t>
            </a:r>
            <a:endParaRPr sz="114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19131" y="4168138"/>
            <a:ext cx="700368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279"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State:</a:t>
            </a:r>
            <a:endParaRPr sz="1279">
              <a:latin typeface="Calibri"/>
              <a:cs typeface="Calibri"/>
            </a:endParaRP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D7C4DC5-665D-9EA3-7845-53E2B7C4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F24B7-EDC8-436A-BEC5-8E75D0693E3E}" type="datetime1">
              <a:rPr lang="en-US" smtClean="0"/>
              <a:t>11/22/2025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4D2E961C-4621-9005-0BA3-EE5AF51C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CA5CE5C-989B-5FE2-123E-B5249C85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9" y="927398"/>
            <a:ext cx="682999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spc="-9" dirty="0">
                <a:solidFill>
                  <a:srgbClr val="FF0000"/>
                </a:solidFill>
                <a:latin typeface="Calibri"/>
                <a:cs typeface="Calibri"/>
              </a:rPr>
              <a:t>Output: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15548" y="1313771"/>
            <a:ext cx="2634503" cy="1687606"/>
            <a:chOff x="5504688" y="1488941"/>
            <a:chExt cx="2985770" cy="19126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625" y="1550351"/>
              <a:ext cx="2824180" cy="18286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04688" y="1488941"/>
              <a:ext cx="2985770" cy="1912620"/>
            </a:xfrm>
            <a:custGeom>
              <a:avLst/>
              <a:gdLst/>
              <a:ahLst/>
              <a:cxnLst/>
              <a:rect l="l" t="t" r="r" b="b"/>
              <a:pathLst>
                <a:path w="2985770" h="1912620">
                  <a:moveTo>
                    <a:pt x="2985516" y="1909578"/>
                  </a:moveTo>
                  <a:lnTo>
                    <a:pt x="2985516" y="1524"/>
                  </a:lnTo>
                  <a:lnTo>
                    <a:pt x="2983992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1909578"/>
                  </a:lnTo>
                  <a:lnTo>
                    <a:pt x="3048" y="1912626"/>
                  </a:lnTo>
                  <a:lnTo>
                    <a:pt x="4572" y="1912626"/>
                  </a:ln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lnTo>
                    <a:pt x="2977896" y="7620"/>
                  </a:lnTo>
                  <a:lnTo>
                    <a:pt x="2977896" y="3048"/>
                  </a:lnTo>
                  <a:lnTo>
                    <a:pt x="2982468" y="7620"/>
                  </a:lnTo>
                  <a:lnTo>
                    <a:pt x="2982468" y="1912626"/>
                  </a:lnTo>
                  <a:lnTo>
                    <a:pt x="2983992" y="1912626"/>
                  </a:lnTo>
                  <a:lnTo>
                    <a:pt x="2985516" y="1909578"/>
                  </a:lnTo>
                  <a:close/>
                </a:path>
                <a:path w="2985770" h="1912620">
                  <a:moveTo>
                    <a:pt x="9144" y="7620"/>
                  </a:move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  <a:path w="2985770" h="1912620">
                  <a:moveTo>
                    <a:pt x="9144" y="1903482"/>
                  </a:moveTo>
                  <a:lnTo>
                    <a:pt x="9144" y="7620"/>
                  </a:lnTo>
                  <a:lnTo>
                    <a:pt x="4572" y="7620"/>
                  </a:lnTo>
                  <a:lnTo>
                    <a:pt x="4572" y="1903482"/>
                  </a:lnTo>
                  <a:lnTo>
                    <a:pt x="9144" y="1903482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4572" y="1903482"/>
                  </a:lnTo>
                  <a:lnTo>
                    <a:pt x="9144" y="1908054"/>
                  </a:lnTo>
                  <a:lnTo>
                    <a:pt x="9144" y="1912626"/>
                  </a:lnTo>
                  <a:lnTo>
                    <a:pt x="2977896" y="1912626"/>
                  </a:lnTo>
                  <a:lnTo>
                    <a:pt x="2977896" y="1908054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9144" y="1912626"/>
                  </a:moveTo>
                  <a:lnTo>
                    <a:pt x="9144" y="1908054"/>
                  </a:lnTo>
                  <a:lnTo>
                    <a:pt x="4572" y="1903482"/>
                  </a:lnTo>
                  <a:lnTo>
                    <a:pt x="4572" y="1912626"/>
                  </a:lnTo>
                  <a:lnTo>
                    <a:pt x="9144" y="1912626"/>
                  </a:lnTo>
                  <a:close/>
                </a:path>
                <a:path w="2985770" h="1912620">
                  <a:moveTo>
                    <a:pt x="2982468" y="7620"/>
                  </a:moveTo>
                  <a:lnTo>
                    <a:pt x="2977896" y="3048"/>
                  </a:lnTo>
                  <a:lnTo>
                    <a:pt x="2977896" y="7620"/>
                  </a:lnTo>
                  <a:lnTo>
                    <a:pt x="2982468" y="7620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2982468" y="7620"/>
                  </a:lnTo>
                  <a:lnTo>
                    <a:pt x="2977896" y="7620"/>
                  </a:lnTo>
                  <a:lnTo>
                    <a:pt x="2977896" y="1903482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2982468" y="1912626"/>
                  </a:moveTo>
                  <a:lnTo>
                    <a:pt x="2982468" y="1903482"/>
                  </a:lnTo>
                  <a:lnTo>
                    <a:pt x="2977896" y="1908054"/>
                  </a:lnTo>
                  <a:lnTo>
                    <a:pt x="2977896" y="1912626"/>
                  </a:lnTo>
                  <a:lnTo>
                    <a:pt x="2982468" y="191262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16893" y="3273014"/>
            <a:ext cx="2798669" cy="442632"/>
            <a:chOff x="5506212" y="3709416"/>
            <a:chExt cx="3171825" cy="5016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0126" y="3816038"/>
              <a:ext cx="1950059" cy="2508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06212" y="3709416"/>
              <a:ext cx="3171825" cy="501650"/>
            </a:xfrm>
            <a:custGeom>
              <a:avLst/>
              <a:gdLst/>
              <a:ahLst/>
              <a:cxnLst/>
              <a:rect l="l" t="t" r="r" b="b"/>
              <a:pathLst>
                <a:path w="3171825" h="501650">
                  <a:moveTo>
                    <a:pt x="3171444" y="496824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96824"/>
                  </a:lnTo>
                  <a:lnTo>
                    <a:pt x="4572" y="501396"/>
                  </a:lnTo>
                  <a:lnTo>
                    <a:pt x="10668" y="501396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501396"/>
                  </a:lnTo>
                  <a:lnTo>
                    <a:pt x="3165348" y="501396"/>
                  </a:lnTo>
                  <a:lnTo>
                    <a:pt x="3171444" y="496824"/>
                  </a:lnTo>
                  <a:close/>
                </a:path>
                <a:path w="3171825" h="501650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3171825" h="501650">
                  <a:moveTo>
                    <a:pt x="22860" y="478536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78536"/>
                  </a:lnTo>
                  <a:lnTo>
                    <a:pt x="22860" y="478536"/>
                  </a:lnTo>
                  <a:close/>
                </a:path>
                <a:path w="3171825" h="501650">
                  <a:moveTo>
                    <a:pt x="3159252" y="478536"/>
                  </a:moveTo>
                  <a:lnTo>
                    <a:pt x="10668" y="478536"/>
                  </a:lnTo>
                  <a:lnTo>
                    <a:pt x="22860" y="490728"/>
                  </a:lnTo>
                  <a:lnTo>
                    <a:pt x="22860" y="501396"/>
                  </a:lnTo>
                  <a:lnTo>
                    <a:pt x="3147060" y="501396"/>
                  </a:lnTo>
                  <a:lnTo>
                    <a:pt x="3147060" y="490728"/>
                  </a:lnTo>
                  <a:lnTo>
                    <a:pt x="3159252" y="478536"/>
                  </a:lnTo>
                  <a:close/>
                </a:path>
                <a:path w="3171825" h="501650">
                  <a:moveTo>
                    <a:pt x="22860" y="501396"/>
                  </a:moveTo>
                  <a:lnTo>
                    <a:pt x="22860" y="490728"/>
                  </a:lnTo>
                  <a:lnTo>
                    <a:pt x="10668" y="478536"/>
                  </a:lnTo>
                  <a:lnTo>
                    <a:pt x="10668" y="501396"/>
                  </a:lnTo>
                  <a:lnTo>
                    <a:pt x="22860" y="501396"/>
                  </a:lnTo>
                  <a:close/>
                </a:path>
                <a:path w="3171825" h="501650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501650">
                  <a:moveTo>
                    <a:pt x="3159252" y="478536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478536"/>
                  </a:lnTo>
                  <a:lnTo>
                    <a:pt x="3159252" y="478536"/>
                  </a:lnTo>
                  <a:close/>
                </a:path>
                <a:path w="3171825" h="501650">
                  <a:moveTo>
                    <a:pt x="3159252" y="501396"/>
                  </a:moveTo>
                  <a:lnTo>
                    <a:pt x="3159252" y="478536"/>
                  </a:lnTo>
                  <a:lnTo>
                    <a:pt x="3147060" y="490728"/>
                  </a:lnTo>
                  <a:lnTo>
                    <a:pt x="3147060" y="501396"/>
                  </a:lnTo>
                  <a:lnTo>
                    <a:pt x="3159252" y="5013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37063" y="4171277"/>
            <a:ext cx="1845049" cy="268941"/>
            <a:chOff x="5529071" y="4727447"/>
            <a:chExt cx="2091055" cy="304800"/>
          </a:xfrm>
        </p:grpSpPr>
        <p:sp>
          <p:nvSpPr>
            <p:cNvPr id="17" name="object 17"/>
            <p:cNvSpPr/>
            <p:nvPr/>
          </p:nvSpPr>
          <p:spPr>
            <a:xfrm>
              <a:off x="5529071" y="4727447"/>
              <a:ext cx="2091055" cy="304800"/>
            </a:xfrm>
            <a:custGeom>
              <a:avLst/>
              <a:gdLst/>
              <a:ahLst/>
              <a:cxnLst/>
              <a:rect l="l" t="t" r="r" b="b"/>
              <a:pathLst>
                <a:path w="2091054" h="304800">
                  <a:moveTo>
                    <a:pt x="2090927" y="304799"/>
                  </a:moveTo>
                  <a:lnTo>
                    <a:pt x="2090927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2090927" y="3047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1884" y="4776216"/>
              <a:ext cx="370840" cy="231775"/>
            </a:xfrm>
            <a:custGeom>
              <a:avLst/>
              <a:gdLst/>
              <a:ahLst/>
              <a:cxnLst/>
              <a:rect l="l" t="t" r="r" b="b"/>
              <a:pathLst>
                <a:path w="370840" h="231775">
                  <a:moveTo>
                    <a:pt x="370332" y="115824"/>
                  </a:moveTo>
                  <a:lnTo>
                    <a:pt x="365569" y="74866"/>
                  </a:lnTo>
                  <a:lnTo>
                    <a:pt x="350520" y="39624"/>
                  </a:lnTo>
                  <a:lnTo>
                    <a:pt x="312801" y="5976"/>
                  </a:lnTo>
                  <a:lnTo>
                    <a:pt x="295656" y="0"/>
                  </a:lnTo>
                  <a:lnTo>
                    <a:pt x="292608" y="9144"/>
                  </a:lnTo>
                  <a:lnTo>
                    <a:pt x="306347" y="14859"/>
                  </a:lnTo>
                  <a:lnTo>
                    <a:pt x="317944" y="22860"/>
                  </a:lnTo>
                  <a:lnTo>
                    <a:pt x="341280" y="60293"/>
                  </a:lnTo>
                  <a:lnTo>
                    <a:pt x="348996" y="114300"/>
                  </a:lnTo>
                  <a:lnTo>
                    <a:pt x="348996" y="195760"/>
                  </a:lnTo>
                  <a:lnTo>
                    <a:pt x="352044" y="192024"/>
                  </a:lnTo>
                  <a:lnTo>
                    <a:pt x="360045" y="175188"/>
                  </a:lnTo>
                  <a:lnTo>
                    <a:pt x="365760" y="156781"/>
                  </a:lnTo>
                  <a:lnTo>
                    <a:pt x="369189" y="136945"/>
                  </a:lnTo>
                  <a:lnTo>
                    <a:pt x="370332" y="115824"/>
                  </a:lnTo>
                  <a:close/>
                </a:path>
                <a:path w="370840" h="231775">
                  <a:moveTo>
                    <a:pt x="348996" y="195760"/>
                  </a:moveTo>
                  <a:lnTo>
                    <a:pt x="348996" y="114300"/>
                  </a:lnTo>
                  <a:lnTo>
                    <a:pt x="348138" y="135135"/>
                  </a:lnTo>
                  <a:lnTo>
                    <a:pt x="345567" y="154114"/>
                  </a:lnTo>
                  <a:lnTo>
                    <a:pt x="327540" y="198501"/>
                  </a:lnTo>
                  <a:lnTo>
                    <a:pt x="292608" y="222504"/>
                  </a:lnTo>
                  <a:lnTo>
                    <a:pt x="295656" y="231648"/>
                  </a:lnTo>
                  <a:lnTo>
                    <a:pt x="312824" y="225671"/>
                  </a:lnTo>
                  <a:lnTo>
                    <a:pt x="327850" y="216979"/>
                  </a:lnTo>
                  <a:lnTo>
                    <a:pt x="340875" y="205716"/>
                  </a:lnTo>
                  <a:lnTo>
                    <a:pt x="348996" y="195760"/>
                  </a:lnTo>
                  <a:close/>
                </a:path>
                <a:path w="370840" h="231775">
                  <a:moveTo>
                    <a:pt x="77724" y="9144"/>
                  </a:moveTo>
                  <a:lnTo>
                    <a:pt x="73152" y="0"/>
                  </a:lnTo>
                  <a:lnTo>
                    <a:pt x="56864" y="5976"/>
                  </a:lnTo>
                  <a:lnTo>
                    <a:pt x="42291" y="14668"/>
                  </a:lnTo>
                  <a:lnTo>
                    <a:pt x="10287" y="56459"/>
                  </a:lnTo>
                  <a:lnTo>
                    <a:pt x="1143" y="94702"/>
                  </a:lnTo>
                  <a:lnTo>
                    <a:pt x="0" y="115824"/>
                  </a:lnTo>
                  <a:lnTo>
                    <a:pt x="1143" y="136945"/>
                  </a:lnTo>
                  <a:lnTo>
                    <a:pt x="4572" y="156781"/>
                  </a:lnTo>
                  <a:lnTo>
                    <a:pt x="10287" y="175188"/>
                  </a:lnTo>
                  <a:lnTo>
                    <a:pt x="18288" y="192024"/>
                  </a:lnTo>
                  <a:lnTo>
                    <a:pt x="21336" y="195768"/>
                  </a:lnTo>
                  <a:lnTo>
                    <a:pt x="21336" y="114300"/>
                  </a:lnTo>
                  <a:lnTo>
                    <a:pt x="22193" y="94583"/>
                  </a:lnTo>
                  <a:lnTo>
                    <a:pt x="35052" y="45720"/>
                  </a:lnTo>
                  <a:lnTo>
                    <a:pt x="63984" y="14859"/>
                  </a:lnTo>
                  <a:lnTo>
                    <a:pt x="77724" y="9144"/>
                  </a:lnTo>
                  <a:close/>
                </a:path>
                <a:path w="370840" h="231775">
                  <a:moveTo>
                    <a:pt x="76200" y="222504"/>
                  </a:moveTo>
                  <a:lnTo>
                    <a:pt x="42767" y="198501"/>
                  </a:lnTo>
                  <a:lnTo>
                    <a:pt x="24765" y="154114"/>
                  </a:lnTo>
                  <a:lnTo>
                    <a:pt x="21336" y="114300"/>
                  </a:lnTo>
                  <a:lnTo>
                    <a:pt x="21336" y="195768"/>
                  </a:lnTo>
                  <a:lnTo>
                    <a:pt x="29432" y="205716"/>
                  </a:lnTo>
                  <a:lnTo>
                    <a:pt x="42291" y="216979"/>
                  </a:lnTo>
                  <a:lnTo>
                    <a:pt x="56864" y="225671"/>
                  </a:lnTo>
                  <a:lnTo>
                    <a:pt x="73152" y="231648"/>
                  </a:lnTo>
                  <a:lnTo>
                    <a:pt x="76200" y="2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37063" y="4171277"/>
            <a:ext cx="184504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006">
              <a:lnSpc>
                <a:spcPts val="1985"/>
              </a:lnSpc>
              <a:tabLst>
                <a:tab pos="1420982" algn="l"/>
              </a:tabLst>
            </a:pPr>
            <a:r>
              <a:rPr sz="1721" spc="71" dirty="0">
                <a:latin typeface="Cambria"/>
                <a:cs typeface="Cambria"/>
              </a:rPr>
              <a:t>ℎ</a:t>
            </a:r>
            <a:r>
              <a:rPr sz="1853" spc="106" baseline="-15873" dirty="0">
                <a:latin typeface="Cambria"/>
                <a:cs typeface="Cambria"/>
              </a:rPr>
              <a:t>t</a:t>
            </a:r>
            <a:r>
              <a:rPr sz="1853" spc="496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tanh</a:t>
            </a:r>
            <a:r>
              <a:rPr sz="1721" spc="349" dirty="0">
                <a:latin typeface="Cambria"/>
                <a:cs typeface="Cambria"/>
              </a:rPr>
              <a:t> </a:t>
            </a:r>
            <a:r>
              <a:rPr sz="1721" spc="40" dirty="0">
                <a:latin typeface="Cambria"/>
                <a:cs typeface="Cambria"/>
              </a:rPr>
              <a:t>c</a:t>
            </a:r>
            <a:r>
              <a:rPr sz="1853" spc="59" baseline="-15873" dirty="0">
                <a:latin typeface="Cambria"/>
                <a:cs typeface="Cambria"/>
              </a:rPr>
              <a:t>t</a:t>
            </a:r>
            <a:r>
              <a:rPr sz="1853" baseline="-15873" dirty="0">
                <a:latin typeface="Cambria"/>
                <a:cs typeface="Cambria"/>
              </a:rPr>
              <a:t>	</a:t>
            </a:r>
            <a:r>
              <a:rPr sz="1721" spc="-154" dirty="0">
                <a:latin typeface="Cambria"/>
                <a:cs typeface="Cambria"/>
              </a:rPr>
              <a:t>o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22" dirty="0">
                <a:latin typeface="Cambria"/>
                <a:cs typeface="Cambria"/>
              </a:rPr>
              <a:t>o</a:t>
            </a:r>
            <a:r>
              <a:rPr sz="1853" spc="33" baseline="-15873" dirty="0">
                <a:latin typeface="Cambria"/>
                <a:cs typeface="Cambria"/>
              </a:rPr>
              <a:t>t</a:t>
            </a:r>
            <a:endParaRPr sz="1853" baseline="-15873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35268" y="3858856"/>
            <a:ext cx="1490943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1279" spc="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State/Output:</a:t>
            </a:r>
            <a:endParaRPr sz="1279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57973" y="1951795"/>
            <a:ext cx="2352115" cy="637543"/>
          </a:xfrm>
          <a:prstGeom prst="rect">
            <a:avLst/>
          </a:prstGeom>
        </p:spPr>
        <p:txBody>
          <a:bodyPr vert="horz" wrap="square" lIns="0" tIns="127187" rIns="0" bIns="0" rtlCol="0">
            <a:spAutoFit/>
          </a:bodyPr>
          <a:lstStyle/>
          <a:p>
            <a:pPr marL="33619">
              <a:spcBef>
                <a:spcPts val="1002"/>
              </a:spcBef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2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49" dirty="0">
                <a:latin typeface="Cambria"/>
                <a:cs typeface="Cambria"/>
              </a:rPr>
              <a:t>tanℎ(C</a:t>
            </a:r>
            <a:r>
              <a:rPr sz="1456" spc="72" baseline="-15151" dirty="0">
                <a:latin typeface="Cambria"/>
                <a:cs typeface="Cambria"/>
              </a:rPr>
              <a:t>0</a:t>
            </a:r>
            <a:r>
              <a:rPr sz="1279" spc="49" dirty="0">
                <a:latin typeface="Cambria"/>
                <a:cs typeface="Cambria"/>
              </a:rPr>
              <a:t>)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o</a:t>
            </a:r>
            <a:r>
              <a:rPr sz="1456" spc="-33" baseline="-15151" dirty="0">
                <a:latin typeface="Cambria"/>
                <a:cs typeface="Cambria"/>
              </a:rPr>
              <a:t>0</a:t>
            </a:r>
            <a:endParaRPr sz="1456" baseline="-15151">
              <a:latin typeface="Cambria"/>
              <a:cs typeface="Cambria"/>
            </a:endParaRPr>
          </a:p>
          <a:p>
            <a:pPr marL="69480">
              <a:spcBef>
                <a:spcPts val="922"/>
              </a:spcBef>
            </a:pPr>
            <a:r>
              <a:rPr sz="1279" spc="18" dirty="0">
                <a:latin typeface="Cambria"/>
                <a:cs typeface="Cambria"/>
              </a:rPr>
              <a:t>ℎ</a:t>
            </a:r>
            <a:r>
              <a:rPr sz="1456" spc="26" baseline="-15151" dirty="0">
                <a:latin typeface="Cambria"/>
                <a:cs typeface="Cambria"/>
              </a:rPr>
              <a:t>0</a:t>
            </a:r>
            <a:r>
              <a:rPr sz="1456" spc="390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46" dirty="0">
                <a:latin typeface="Cambria"/>
                <a:cs typeface="Cambria"/>
              </a:rPr>
              <a:t> </a:t>
            </a:r>
            <a:r>
              <a:rPr sz="1279" spc="18" dirty="0">
                <a:latin typeface="Cambria"/>
                <a:cs typeface="Cambria"/>
              </a:rPr>
              <a:t>tanℎ(0.78572)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0.81757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98314" y="2791609"/>
            <a:ext cx="1024778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98314" y="3273014"/>
            <a:ext cx="3363445" cy="55469"/>
          </a:xfrm>
          <a:custGeom>
            <a:avLst/>
            <a:gdLst/>
            <a:ahLst/>
            <a:cxnLst/>
            <a:rect l="l" t="t" r="r" b="b"/>
            <a:pathLst>
              <a:path w="3811904" h="62864">
                <a:moveTo>
                  <a:pt x="3811530" y="47243"/>
                </a:moveTo>
                <a:lnTo>
                  <a:pt x="3811530" y="0"/>
                </a:lnTo>
                <a:lnTo>
                  <a:pt x="0" y="15239"/>
                </a:lnTo>
                <a:lnTo>
                  <a:pt x="0" y="62483"/>
                </a:lnTo>
                <a:lnTo>
                  <a:pt x="3811530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DC6CF178-7DA0-C188-F5A4-A1D73067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F3BB-58C8-4629-AFB3-4811758129FD}" type="datetime1">
              <a:rPr lang="en-US" smtClean="0"/>
              <a:t>11/22/2025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27E0C2EE-FF83-CE44-5579-435A30E2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051A207-5D36-4361-8968-F42B39BA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33277" y="1748118"/>
          <a:ext cx="80290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54941" y="179383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305050" y="179383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5" name="object 5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6" name="object 6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5103" y="1792492"/>
            <a:ext cx="1023657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8810" y="1792492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833276" y="2493084"/>
          <a:ext cx="102757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20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xƒ</a:t>
                      </a:r>
                      <a:r>
                        <a:rPr sz="1500" spc="359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0.70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780178" y="2536115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2436159" y="2536115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050241" y="2493084"/>
          <a:ext cx="1024777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7305">
                        <a:lnSpc>
                          <a:spcPts val="1560"/>
                        </a:lnSpc>
                      </a:pPr>
                      <a:r>
                        <a:rPr sz="1300" spc="8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20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500" spc="35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998259" y="2528047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3655358" y="2528047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222824" y="2474258"/>
          <a:ext cx="887504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5400">
                        <a:lnSpc>
                          <a:spcPts val="1560"/>
                        </a:lnSpc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500" spc="36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5032562" y="2507876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4689662" y="2507876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 txBox="1"/>
          <p:nvPr/>
        </p:nvSpPr>
        <p:spPr>
          <a:xfrm>
            <a:off x="1805043" y="3058756"/>
            <a:ext cx="2274794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53" dirty="0">
                <a:latin typeface="Cambria"/>
                <a:cs typeface="Cambria"/>
              </a:rPr>
              <a:t>f</a:t>
            </a:r>
            <a:r>
              <a:rPr sz="1456" spc="79" baseline="-15151" dirty="0">
                <a:latin typeface="Cambria"/>
                <a:cs typeface="Cambria"/>
              </a:rPr>
              <a:t>1</a:t>
            </a:r>
            <a:r>
              <a:rPr sz="1279" spc="53" dirty="0">
                <a:latin typeface="Calibri"/>
                <a:cs typeface="Calibri"/>
              </a:rPr>
              <a:t>=</a:t>
            </a:r>
            <a:r>
              <a:rPr sz="1279" spc="22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(W</a:t>
            </a:r>
            <a:r>
              <a:rPr sz="1456" spc="119" baseline="-15151" dirty="0">
                <a:latin typeface="Cambria"/>
                <a:cs typeface="Cambria"/>
              </a:rPr>
              <a:t>xƒ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75" dirty="0">
                <a:latin typeface="Cambria"/>
                <a:cs typeface="Cambria"/>
              </a:rPr>
              <a:t>W</a:t>
            </a:r>
            <a:r>
              <a:rPr sz="1456" spc="112" baseline="-15151" dirty="0">
                <a:latin typeface="Cambria"/>
                <a:cs typeface="Cambria"/>
              </a:rPr>
              <a:t>hƒ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b</a:t>
            </a:r>
            <a:r>
              <a:rPr sz="1456" spc="119" baseline="-15151" dirty="0">
                <a:latin typeface="Cambria"/>
                <a:cs typeface="Cambria"/>
              </a:rPr>
              <a:t>ƒ</a:t>
            </a:r>
            <a:r>
              <a:rPr sz="1279" spc="79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22364" y="3488178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2386853" y="3488178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09" h="177164">
                <a:moveTo>
                  <a:pt x="41910" y="0"/>
                </a:moveTo>
                <a:lnTo>
                  <a:pt x="17780" y="0"/>
                </a:lnTo>
                <a:lnTo>
                  <a:pt x="0" y="0"/>
                </a:lnTo>
                <a:lnTo>
                  <a:pt x="0" y="176784"/>
                </a:lnTo>
                <a:lnTo>
                  <a:pt x="17259" y="176784"/>
                </a:lnTo>
                <a:lnTo>
                  <a:pt x="17780" y="176784"/>
                </a:lnTo>
                <a:lnTo>
                  <a:pt x="41643" y="176784"/>
                </a:lnTo>
                <a:lnTo>
                  <a:pt x="41643" y="169164"/>
                </a:lnTo>
                <a:lnTo>
                  <a:pt x="17780" y="169164"/>
                </a:lnTo>
                <a:lnTo>
                  <a:pt x="1778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3625776" y="3430355"/>
            <a:ext cx="38660" cy="273424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7178" y="0"/>
                </a:lnTo>
                <a:lnTo>
                  <a:pt x="508" y="0"/>
                </a:lnTo>
                <a:lnTo>
                  <a:pt x="508" y="7620"/>
                </a:lnTo>
                <a:lnTo>
                  <a:pt x="27178" y="7620"/>
                </a:lnTo>
                <a:lnTo>
                  <a:pt x="2717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7178" y="309372"/>
                </a:lnTo>
                <a:lnTo>
                  <a:pt x="27432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3359523" y="3430355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196" y="301752"/>
                </a:moveTo>
                <a:lnTo>
                  <a:pt x="18288" y="301752"/>
                </a:lnTo>
                <a:lnTo>
                  <a:pt x="18288" y="309372"/>
                </a:lnTo>
                <a:lnTo>
                  <a:pt x="44196" y="309372"/>
                </a:lnTo>
                <a:lnTo>
                  <a:pt x="44196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7780" y="0"/>
                </a:lnTo>
                <a:lnTo>
                  <a:pt x="0" y="0"/>
                </a:lnTo>
                <a:lnTo>
                  <a:pt x="0" y="309372"/>
                </a:lnTo>
                <a:lnTo>
                  <a:pt x="17780" y="309372"/>
                </a:lnTo>
                <a:lnTo>
                  <a:pt x="1778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3453204" y="3542850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54874" y="3488178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3898527" y="3488178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41402" y="169164"/>
                </a:moveTo>
                <a:lnTo>
                  <a:pt x="17018" y="169164"/>
                </a:lnTo>
                <a:lnTo>
                  <a:pt x="17018" y="176784"/>
                </a:lnTo>
                <a:lnTo>
                  <a:pt x="41402" y="176784"/>
                </a:lnTo>
                <a:lnTo>
                  <a:pt x="4140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16510" y="0"/>
                </a:lnTo>
                <a:lnTo>
                  <a:pt x="0" y="0"/>
                </a:lnTo>
                <a:lnTo>
                  <a:pt x="0" y="176784"/>
                </a:lnTo>
                <a:lnTo>
                  <a:pt x="16510" y="176784"/>
                </a:lnTo>
                <a:lnTo>
                  <a:pt x="1651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5154706" y="3488178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400" y="176784"/>
                </a:lnTo>
                <a:lnTo>
                  <a:pt x="25908" y="176784"/>
                </a:lnTo>
                <a:lnTo>
                  <a:pt x="40640" y="176784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4521574" y="3488178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169164"/>
                </a:moveTo>
                <a:lnTo>
                  <a:pt x="16510" y="169164"/>
                </a:lnTo>
                <a:lnTo>
                  <a:pt x="1651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6510" y="0"/>
                </a:lnTo>
                <a:lnTo>
                  <a:pt x="0" y="0"/>
                </a:lnTo>
                <a:lnTo>
                  <a:pt x="0" y="176784"/>
                </a:lnTo>
                <a:lnTo>
                  <a:pt x="16510" y="176784"/>
                </a:lnTo>
                <a:lnTo>
                  <a:pt x="40894" y="176784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/>
          <p:nvPr/>
        </p:nvSpPr>
        <p:spPr>
          <a:xfrm>
            <a:off x="1786665" y="3444686"/>
            <a:ext cx="4162985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18407" algn="l"/>
                <a:tab pos="1614293" algn="l"/>
              </a:tabLst>
            </a:pPr>
            <a:r>
              <a:rPr sz="1919" spc="79" baseline="3831" dirty="0">
                <a:latin typeface="Cambria"/>
                <a:cs typeface="Cambria"/>
              </a:rPr>
              <a:t>f</a:t>
            </a:r>
            <a:r>
              <a:rPr sz="1456" spc="79" baseline="-10101" dirty="0">
                <a:latin typeface="Cambria"/>
                <a:cs typeface="Cambria"/>
              </a:rPr>
              <a:t>1</a:t>
            </a:r>
            <a:r>
              <a:rPr sz="1456" spc="284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19" baseline="3831" dirty="0">
                <a:latin typeface="Cambria"/>
                <a:cs typeface="Cambria"/>
              </a:rPr>
              <a:t> </a:t>
            </a:r>
            <a:r>
              <a:rPr sz="1919" spc="92" baseline="3831" dirty="0">
                <a:latin typeface="Cambria"/>
                <a:cs typeface="Cambria"/>
              </a:rPr>
              <a:t>σ(</a:t>
            </a:r>
            <a:r>
              <a:rPr sz="1919" spc="284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0.70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0.5</a:t>
            </a:r>
            <a:r>
              <a:rPr sz="1919" spc="172" baseline="32567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0.10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7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0.53631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[0.15])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18484" y="3814931"/>
            <a:ext cx="993962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spc="53" dirty="0">
                <a:latin typeface="Cambria"/>
                <a:cs typeface="Cambria"/>
              </a:rPr>
              <a:t>f</a:t>
            </a:r>
            <a:r>
              <a:rPr sz="1456" spc="79" baseline="-15151" dirty="0">
                <a:latin typeface="Cambria"/>
                <a:cs typeface="Cambria"/>
              </a:rPr>
              <a:t>1</a:t>
            </a:r>
            <a:r>
              <a:rPr sz="1456" spc="27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4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0.87030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82863" y="946224"/>
            <a:ext cx="1004607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1588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3AA0D6D2-D144-559A-9947-D1B9CA79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94859-A117-4BFE-BE09-8C5BFD0BB97D}" type="datetime1">
              <a:rPr lang="en-US" smtClean="0"/>
              <a:t>11/22/2025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2A2E36E7-D7BC-97FD-123A-2B155356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31F51F93-395F-194E-9575-C8BC50E0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33277" y="1748118"/>
          <a:ext cx="80290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54941" y="179383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305050" y="179383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33276" y="2412402"/>
          <a:ext cx="100180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85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xc</a:t>
                      </a:r>
                      <a:r>
                        <a:rPr sz="1500" spc="24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443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9370">
                        <a:lnSpc>
                          <a:spcPts val="117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754406" y="2456778"/>
            <a:ext cx="22412" cy="8404"/>
          </a:xfrm>
          <a:custGeom>
            <a:avLst/>
            <a:gdLst/>
            <a:ahLst/>
            <a:cxnLst/>
            <a:rect l="l" t="t" r="r" b="b"/>
            <a:pathLst>
              <a:path w="25400" h="9525">
                <a:moveTo>
                  <a:pt x="0" y="0"/>
                </a:moveTo>
                <a:lnTo>
                  <a:pt x="0" y="9144"/>
                </a:lnTo>
                <a:lnTo>
                  <a:pt x="25400" y="9144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2410385" y="2456778"/>
            <a:ext cx="23532" cy="8404"/>
          </a:xfrm>
          <a:custGeom>
            <a:avLst/>
            <a:gdLst/>
            <a:ahLst/>
            <a:cxnLst/>
            <a:rect l="l" t="t" r="r" b="b"/>
            <a:pathLst>
              <a:path w="26669" h="9525">
                <a:moveTo>
                  <a:pt x="0" y="0"/>
                </a:moveTo>
                <a:lnTo>
                  <a:pt x="0" y="9144"/>
                </a:lnTo>
                <a:lnTo>
                  <a:pt x="26669" y="9144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95102" y="2419126"/>
          <a:ext cx="1013571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540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500" spc="34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929902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3587003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378810" y="2419126"/>
          <a:ext cx="886385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413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186081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4844302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1949823" y="3519990"/>
            <a:ext cx="93569" cy="15958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971" spc="-44" dirty="0">
                <a:latin typeface="Cambria"/>
                <a:cs typeface="Cambria"/>
              </a:rPr>
              <a:t>1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99373" y="3496246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2664759" y="3496246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40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19" y="175260"/>
                </a:lnTo>
                <a:lnTo>
                  <a:pt x="15240" y="175260"/>
                </a:lnTo>
                <a:lnTo>
                  <a:pt x="40627" y="175260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1830144" y="3451410"/>
            <a:ext cx="1698812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44826">
              <a:spcBef>
                <a:spcPts val="119"/>
              </a:spcBef>
              <a:tabLst>
                <a:tab pos="1351501" algn="l"/>
              </a:tabLst>
            </a:pPr>
            <a:r>
              <a:rPr sz="1919" spc="-13" baseline="3831" dirty="0">
                <a:latin typeface="Cambria"/>
                <a:cs typeface="Cambria"/>
              </a:rPr>
              <a:t>C</a:t>
            </a:r>
            <a:r>
              <a:rPr sz="1919" spc="-13" baseline="15325" dirty="0">
                <a:latin typeface="Cambria"/>
                <a:cs typeface="Cambria"/>
              </a:rPr>
              <a:t>˜</a:t>
            </a:r>
            <a:r>
              <a:rPr sz="1919" spc="152" baseline="15325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59" baseline="3831" dirty="0">
                <a:latin typeface="Cambria"/>
                <a:cs typeface="Cambria"/>
              </a:rPr>
              <a:t> </a:t>
            </a:r>
            <a:r>
              <a:rPr sz="1919" baseline="3831" dirty="0">
                <a:latin typeface="Cambria"/>
                <a:cs typeface="Cambria"/>
              </a:rPr>
              <a:t>tanh(</a:t>
            </a:r>
            <a:r>
              <a:rPr sz="1919" spc="172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0.25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01441" y="3438423"/>
            <a:ext cx="38660" cy="273424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5908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3636309" y="3438423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 txBox="1"/>
          <p:nvPr/>
        </p:nvSpPr>
        <p:spPr>
          <a:xfrm>
            <a:off x="3730214" y="3549574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31659" y="3496246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4175312" y="3496246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5431491" y="3496246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4797239" y="3496246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986" y="175260"/>
                </a:lnTo>
                <a:lnTo>
                  <a:pt x="15240" y="175260"/>
                </a:lnTo>
                <a:lnTo>
                  <a:pt x="40894" y="175260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3644601" y="3441997"/>
            <a:ext cx="2477060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19" baseline="30651" dirty="0">
                <a:latin typeface="Cambria"/>
                <a:cs typeface="Cambria"/>
              </a:rPr>
              <a:t>0.5</a:t>
            </a:r>
            <a:r>
              <a:rPr sz="1919" spc="184" baseline="30651" dirty="0">
                <a:latin typeface="Cambria"/>
                <a:cs typeface="Cambria"/>
              </a:rPr>
              <a:t> 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06" dirty="0">
                <a:latin typeface="Cambria"/>
                <a:cs typeface="Cambria"/>
              </a:rPr>
              <a:t>  </a:t>
            </a:r>
            <a:r>
              <a:rPr sz="1279" dirty="0">
                <a:latin typeface="Cambria"/>
                <a:cs typeface="Cambria"/>
              </a:rPr>
              <a:t>0.15</a:t>
            </a:r>
            <a:r>
              <a:rPr sz="1279" spc="110" dirty="0">
                <a:latin typeface="Cambria"/>
                <a:cs typeface="Cambria"/>
              </a:rPr>
              <a:t> 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106" dirty="0">
                <a:latin typeface="Cambria"/>
                <a:cs typeface="Cambria"/>
              </a:rPr>
              <a:t>  </a:t>
            </a:r>
            <a:r>
              <a:rPr sz="1279" dirty="0">
                <a:latin typeface="Cambria"/>
                <a:cs typeface="Cambria"/>
              </a:rPr>
              <a:t>0.53631</a:t>
            </a:r>
            <a:r>
              <a:rPr sz="1279" spc="110" dirty="0">
                <a:latin typeface="Cambria"/>
                <a:cs typeface="Cambria"/>
              </a:rPr>
              <a:t> 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[0.2])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95133" y="3894268"/>
            <a:ext cx="1018054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527"/>
              </a:lnSpc>
            </a:pPr>
            <a:r>
              <a:rPr sz="1279" spc="-93" dirty="0">
                <a:latin typeface="Cambria"/>
                <a:cs typeface="Cambria"/>
              </a:rPr>
              <a:t>C</a:t>
            </a:r>
            <a:r>
              <a:rPr sz="1919" spc="-139" baseline="11494" dirty="0">
                <a:latin typeface="Cambria"/>
                <a:cs typeface="Cambria"/>
              </a:rPr>
              <a:t>˜</a:t>
            </a:r>
            <a:r>
              <a:rPr sz="1456" spc="-139" baseline="-15151" dirty="0">
                <a:latin typeface="Cambria"/>
                <a:cs typeface="Cambria"/>
              </a:rPr>
              <a:t>1</a:t>
            </a:r>
            <a:r>
              <a:rPr sz="1456" spc="1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0.84980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94380" y="3112994"/>
            <a:ext cx="1743075" cy="154641"/>
          </a:xfrm>
          <a:custGeom>
            <a:avLst/>
            <a:gdLst/>
            <a:ahLst/>
            <a:cxnLst/>
            <a:rect l="l" t="t" r="r" b="b"/>
            <a:pathLst>
              <a:path w="1975485" h="175260">
                <a:moveTo>
                  <a:pt x="1975110" y="88392"/>
                </a:moveTo>
                <a:lnTo>
                  <a:pt x="1966751" y="44029"/>
                </a:lnTo>
                <a:lnTo>
                  <a:pt x="1942725" y="12001"/>
                </a:lnTo>
                <a:lnTo>
                  <a:pt x="1918722" y="0"/>
                </a:lnTo>
                <a:lnTo>
                  <a:pt x="1917198" y="7620"/>
                </a:lnTo>
                <a:lnTo>
                  <a:pt x="1926913" y="11906"/>
                </a:lnTo>
                <a:lnTo>
                  <a:pt x="1935486" y="17907"/>
                </a:lnTo>
                <a:lnTo>
                  <a:pt x="1956060" y="58674"/>
                </a:lnTo>
                <a:lnTo>
                  <a:pt x="1958346" y="86868"/>
                </a:lnTo>
                <a:lnTo>
                  <a:pt x="1958346" y="146990"/>
                </a:lnTo>
                <a:lnTo>
                  <a:pt x="1959870" y="144780"/>
                </a:lnTo>
                <a:lnTo>
                  <a:pt x="1966751" y="132754"/>
                </a:lnTo>
                <a:lnTo>
                  <a:pt x="1971490" y="119443"/>
                </a:lnTo>
                <a:lnTo>
                  <a:pt x="1974229" y="104703"/>
                </a:lnTo>
                <a:lnTo>
                  <a:pt x="1975110" y="88392"/>
                </a:lnTo>
                <a:close/>
              </a:path>
              <a:path w="1975485" h="175260">
                <a:moveTo>
                  <a:pt x="1958346" y="146990"/>
                </a:moveTo>
                <a:lnTo>
                  <a:pt x="1958346" y="86868"/>
                </a:lnTo>
                <a:lnTo>
                  <a:pt x="1957774" y="102274"/>
                </a:lnTo>
                <a:lnTo>
                  <a:pt x="1956060" y="116395"/>
                </a:lnTo>
                <a:lnTo>
                  <a:pt x="1935486" y="158115"/>
                </a:lnTo>
                <a:lnTo>
                  <a:pt x="1917198" y="169164"/>
                </a:lnTo>
                <a:lnTo>
                  <a:pt x="1918722" y="175260"/>
                </a:lnTo>
                <a:lnTo>
                  <a:pt x="1931580" y="170926"/>
                </a:lnTo>
                <a:lnTo>
                  <a:pt x="1942725" y="164592"/>
                </a:lnTo>
                <a:lnTo>
                  <a:pt x="1952154" y="155971"/>
                </a:lnTo>
                <a:lnTo>
                  <a:pt x="1958346" y="146990"/>
                </a:lnTo>
                <a:close/>
              </a:path>
              <a:path w="1975485" h="175260">
                <a:moveTo>
                  <a:pt x="57912" y="7620"/>
                </a:moveTo>
                <a:lnTo>
                  <a:pt x="56388" y="0"/>
                </a:lnTo>
                <a:lnTo>
                  <a:pt x="43529" y="5214"/>
                </a:lnTo>
                <a:lnTo>
                  <a:pt x="32385" y="12001"/>
                </a:lnTo>
                <a:lnTo>
                  <a:pt x="8358" y="44029"/>
                </a:lnTo>
                <a:lnTo>
                  <a:pt x="0" y="88392"/>
                </a:lnTo>
                <a:lnTo>
                  <a:pt x="881" y="104703"/>
                </a:lnTo>
                <a:lnTo>
                  <a:pt x="3619" y="119443"/>
                </a:lnTo>
                <a:lnTo>
                  <a:pt x="8358" y="132754"/>
                </a:lnTo>
                <a:lnTo>
                  <a:pt x="15240" y="144780"/>
                </a:lnTo>
                <a:lnTo>
                  <a:pt x="16764" y="146990"/>
                </a:lnTo>
                <a:lnTo>
                  <a:pt x="16764" y="86868"/>
                </a:lnTo>
                <a:lnTo>
                  <a:pt x="17335" y="72342"/>
                </a:lnTo>
                <a:lnTo>
                  <a:pt x="25908" y="35052"/>
                </a:lnTo>
                <a:lnTo>
                  <a:pt x="48196" y="11906"/>
                </a:lnTo>
                <a:lnTo>
                  <a:pt x="57912" y="7620"/>
                </a:lnTo>
                <a:close/>
              </a:path>
              <a:path w="1975485" h="175260">
                <a:moveTo>
                  <a:pt x="57912" y="169164"/>
                </a:moveTo>
                <a:lnTo>
                  <a:pt x="25908" y="140208"/>
                </a:lnTo>
                <a:lnTo>
                  <a:pt x="17335" y="102274"/>
                </a:lnTo>
                <a:lnTo>
                  <a:pt x="16764" y="86868"/>
                </a:lnTo>
                <a:lnTo>
                  <a:pt x="16764" y="146990"/>
                </a:lnTo>
                <a:lnTo>
                  <a:pt x="22955" y="155971"/>
                </a:lnTo>
                <a:lnTo>
                  <a:pt x="32385" y="164592"/>
                </a:lnTo>
                <a:lnTo>
                  <a:pt x="43529" y="170926"/>
                </a:lnTo>
                <a:lnTo>
                  <a:pt x="56388" y="175260"/>
                </a:lnTo>
                <a:lnTo>
                  <a:pt x="57912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1844034" y="3060101"/>
            <a:ext cx="996203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  <a:tabLst>
                <a:tab pos="243181" algn="l"/>
              </a:tabLst>
            </a:pPr>
            <a:r>
              <a:rPr sz="1279" spc="-22" dirty="0">
                <a:latin typeface="Cambria"/>
                <a:cs typeface="Cambria"/>
              </a:rPr>
              <a:t>C</a:t>
            </a:r>
            <a:r>
              <a:rPr sz="1919" spc="-33" baseline="11494" dirty="0">
                <a:latin typeface="Cambria"/>
                <a:cs typeface="Cambria"/>
              </a:rPr>
              <a:t>˜</a:t>
            </a:r>
            <a:r>
              <a:rPr sz="1919" baseline="11494" dirty="0">
                <a:latin typeface="Cambria"/>
                <a:cs typeface="Cambria"/>
              </a:rPr>
              <a:t>	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tanh</a:t>
            </a:r>
            <a:r>
              <a:rPr sz="1279" spc="274" dirty="0">
                <a:latin typeface="Cambria"/>
                <a:cs typeface="Cambria"/>
              </a:rPr>
              <a:t> </a:t>
            </a:r>
            <a:r>
              <a:rPr sz="1279" spc="13" dirty="0">
                <a:latin typeface="Cambria"/>
                <a:cs typeface="Cambria"/>
              </a:rPr>
              <a:t>W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507" y="3138094"/>
            <a:ext cx="1227044" cy="15958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  <a:tabLst>
                <a:tab pos="817513" algn="l"/>
                <a:tab pos="1144742" algn="l"/>
              </a:tabLst>
            </a:pPr>
            <a:r>
              <a:rPr sz="971" spc="-44" dirty="0">
                <a:latin typeface="Cambria"/>
                <a:cs typeface="Cambria"/>
              </a:rPr>
              <a:t>1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53" dirty="0">
                <a:latin typeface="Cambria"/>
                <a:cs typeface="Cambria"/>
              </a:rPr>
              <a:t>xc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-44" dirty="0">
                <a:latin typeface="Cambria"/>
                <a:cs typeface="Cambria"/>
              </a:rPr>
              <a:t>1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40830" y="3060101"/>
            <a:ext cx="603437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.</a:t>
            </a:r>
            <a:r>
              <a:rPr sz="1279" spc="-66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x</a:t>
            </a:r>
            <a:r>
              <a:rPr sz="1279" spc="150" dirty="0">
                <a:latin typeface="Cambria"/>
                <a:cs typeface="Cambria"/>
              </a:rPr>
              <a:t> 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13" dirty="0">
                <a:latin typeface="Cambria"/>
                <a:cs typeface="Cambria"/>
              </a:rPr>
              <a:t>W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3108" y="3060101"/>
            <a:ext cx="542925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  <a:tabLst>
                <a:tab pos="279602" algn="l"/>
              </a:tabLst>
            </a:pPr>
            <a:r>
              <a:rPr sz="1279" dirty="0">
                <a:latin typeface="Cambria"/>
                <a:cs typeface="Cambria"/>
              </a:rPr>
              <a:t>.</a:t>
            </a:r>
            <a:r>
              <a:rPr sz="1279" spc="-66" dirty="0">
                <a:latin typeface="Cambria"/>
                <a:cs typeface="Cambria"/>
              </a:rPr>
              <a:t> </a:t>
            </a:r>
            <a:r>
              <a:rPr sz="1279" spc="-44" dirty="0">
                <a:latin typeface="Cambria"/>
                <a:cs typeface="Cambria"/>
              </a:rPr>
              <a:t>ℎ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4" dirty="0">
                <a:latin typeface="Cambria"/>
                <a:cs typeface="Cambria"/>
              </a:rPr>
              <a:t> </a:t>
            </a:r>
            <a:r>
              <a:rPr sz="1279" spc="-44" dirty="0">
                <a:latin typeface="Cambria"/>
                <a:cs typeface="Cambria"/>
              </a:rPr>
              <a:t>b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00262" y="3138094"/>
            <a:ext cx="782171" cy="15958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  <a:tabLst>
                <a:tab pos="348522" algn="l"/>
                <a:tab pos="708810" algn="l"/>
              </a:tabLst>
            </a:pPr>
            <a:r>
              <a:rPr sz="971" spc="26" dirty="0">
                <a:latin typeface="Cambria"/>
                <a:cs typeface="Cambria"/>
              </a:rPr>
              <a:t>hc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-44" dirty="0">
                <a:latin typeface="Cambria"/>
                <a:cs typeface="Cambria"/>
              </a:rPr>
              <a:t>0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9" dirty="0">
                <a:latin typeface="Cambria"/>
                <a:cs typeface="Cambria"/>
              </a:rPr>
              <a:t>c</a:t>
            </a:r>
            <a:endParaRPr sz="971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4" name="object 34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95103" y="1792492"/>
            <a:ext cx="1023657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78810" y="1792492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6397214" y="2429883"/>
          <a:ext cx="996203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8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xi</a:t>
                      </a:r>
                      <a:r>
                        <a:rPr sz="1500" spc="45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443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0.95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6830">
                        <a:lnSpc>
                          <a:spcPts val="117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7314080" y="247560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70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6970059" y="2475603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399" y="7620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579210" y="2423160"/>
          <a:ext cx="995082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413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500" spc="39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8496300" y="245543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8154521" y="2455433"/>
            <a:ext cx="21291" cy="5603"/>
          </a:xfrm>
          <a:custGeom>
            <a:avLst/>
            <a:gdLst/>
            <a:ahLst/>
            <a:cxnLst/>
            <a:rect l="l" t="t" r="r" b="b"/>
            <a:pathLst>
              <a:path w="24129" h="6350">
                <a:moveTo>
                  <a:pt x="0" y="0"/>
                </a:moveTo>
                <a:lnTo>
                  <a:pt x="0" y="6096"/>
                </a:lnTo>
                <a:lnTo>
                  <a:pt x="24129" y="6096"/>
                </a:lnTo>
                <a:lnTo>
                  <a:pt x="241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8667078" y="2423160"/>
          <a:ext cx="868455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540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45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9457765" y="245543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9114865" y="245543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 txBox="1"/>
          <p:nvPr/>
        </p:nvSpPr>
        <p:spPr>
          <a:xfrm>
            <a:off x="6395867" y="2892013"/>
            <a:ext cx="2184587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44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75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xi</a:t>
            </a:r>
            <a:r>
              <a:rPr sz="1456" spc="29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hi</a:t>
            </a:r>
            <a:r>
              <a:rPr sz="1456" spc="29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spc="35" dirty="0">
                <a:latin typeface="Cambria"/>
                <a:cs typeface="Cambria"/>
              </a:rPr>
              <a:t>b</a:t>
            </a:r>
            <a:r>
              <a:rPr sz="1456" spc="53" baseline="-15151" dirty="0">
                <a:latin typeface="Cambria"/>
                <a:cs typeface="Cambria"/>
              </a:rPr>
              <a:t>i</a:t>
            </a:r>
            <a:r>
              <a:rPr sz="1279" spc="35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814535" y="3324124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6096"/>
                </a:lnTo>
                <a:lnTo>
                  <a:pt x="25908" y="6096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908" y="175260"/>
                </a:lnTo>
                <a:lnTo>
                  <a:pt x="41148" y="175260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6981265" y="3324124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32" y="175260"/>
                </a:lnTo>
                <a:lnTo>
                  <a:pt x="15240" y="175260"/>
                </a:lnTo>
                <a:lnTo>
                  <a:pt x="40640" y="175260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8217946" y="3264957"/>
            <a:ext cx="38660" cy="274544"/>
          </a:xfrm>
          <a:custGeom>
            <a:avLst/>
            <a:gdLst/>
            <a:ahLst/>
            <a:cxnLst/>
            <a:rect l="l" t="t" r="r" b="b"/>
            <a:pathLst>
              <a:path w="43815" h="311150">
                <a:moveTo>
                  <a:pt x="4368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9144"/>
                </a:lnTo>
                <a:lnTo>
                  <a:pt x="25908" y="9144"/>
                </a:lnTo>
                <a:lnTo>
                  <a:pt x="25908" y="301752"/>
                </a:lnTo>
                <a:lnTo>
                  <a:pt x="0" y="301752"/>
                </a:lnTo>
                <a:lnTo>
                  <a:pt x="0" y="310896"/>
                </a:lnTo>
                <a:lnTo>
                  <a:pt x="25908" y="310896"/>
                </a:lnTo>
                <a:lnTo>
                  <a:pt x="43688" y="310896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7951694" y="3264957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196" y="301752"/>
                </a:moveTo>
                <a:lnTo>
                  <a:pt x="16764" y="301752"/>
                </a:lnTo>
                <a:lnTo>
                  <a:pt x="16764" y="310896"/>
                </a:lnTo>
                <a:lnTo>
                  <a:pt x="44196" y="310896"/>
                </a:lnTo>
                <a:lnTo>
                  <a:pt x="44196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 txBox="1"/>
          <p:nvPr/>
        </p:nvSpPr>
        <p:spPr>
          <a:xfrm>
            <a:off x="8046718" y="3377451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847044" y="332412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8491818" y="332412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9746876" y="3324124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40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6096"/>
                </a:lnTo>
                <a:lnTo>
                  <a:pt x="25400" y="6096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9113745" y="3324124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169164"/>
                </a:move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986" y="175260"/>
                </a:lnTo>
                <a:lnTo>
                  <a:pt x="15240" y="175260"/>
                </a:lnTo>
                <a:lnTo>
                  <a:pt x="40894" y="175260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8" name="object 58"/>
          <p:cNvSpPr txBox="1"/>
          <p:nvPr/>
        </p:nvSpPr>
        <p:spPr>
          <a:xfrm>
            <a:off x="6390937" y="3279288"/>
            <a:ext cx="4151219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07200" algn="l"/>
                <a:tab pos="1601965" algn="l"/>
              </a:tabLst>
            </a:pPr>
            <a:r>
              <a:rPr sz="1919" baseline="3831" dirty="0">
                <a:latin typeface="Cambria"/>
                <a:cs typeface="Cambria"/>
              </a:rPr>
              <a:t>i</a:t>
            </a:r>
            <a:r>
              <a:rPr sz="1456" baseline="-10101" dirty="0">
                <a:latin typeface="Cambria"/>
                <a:cs typeface="Cambria"/>
              </a:rPr>
              <a:t>1</a:t>
            </a:r>
            <a:r>
              <a:rPr sz="1456" spc="324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39" baseline="3831" dirty="0">
                <a:latin typeface="Cambria"/>
                <a:cs typeface="Cambria"/>
              </a:rPr>
              <a:t> </a:t>
            </a:r>
            <a:r>
              <a:rPr sz="1919" spc="86" baseline="3831" dirty="0">
                <a:latin typeface="Cambria"/>
                <a:cs typeface="Cambria"/>
              </a:rPr>
              <a:t>σ(</a:t>
            </a:r>
            <a:r>
              <a:rPr sz="1919" spc="297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0.95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0.80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0.5</a:t>
            </a:r>
            <a:r>
              <a:rPr sz="1919" spc="172" baseline="32567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7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0.80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0.53631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46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[0.65])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09316" y="3649531"/>
            <a:ext cx="981635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33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0.98118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482863" y="946224"/>
            <a:ext cx="91888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588" spc="9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1C670DF6-1A80-E2B3-E864-92F36E0A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271E-DC49-49FD-B962-834BDE97C5DF}" type="datetime1">
              <a:rPr lang="en-US" smtClean="0"/>
              <a:t>11/22/2025</a:t>
            </a:fld>
            <a:endParaRPr lang="en-US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B5510FEF-742E-164D-1409-B209EE67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9BB75403-A1D7-69EF-1BFB-680E9288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33277" y="2546873"/>
          <a:ext cx="101132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20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xo</a:t>
                      </a:r>
                      <a:r>
                        <a:rPr sz="1500" spc="20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763370" y="2589904"/>
            <a:ext cx="23532" cy="8404"/>
          </a:xfrm>
          <a:custGeom>
            <a:avLst/>
            <a:gdLst/>
            <a:ahLst/>
            <a:cxnLst/>
            <a:rect l="l" t="t" r="r" b="b"/>
            <a:pathLst>
              <a:path w="26669" h="9525">
                <a:moveTo>
                  <a:pt x="0" y="0"/>
                </a:moveTo>
                <a:lnTo>
                  <a:pt x="0" y="9144"/>
                </a:lnTo>
                <a:lnTo>
                  <a:pt x="26670" y="9144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420471" y="2589904"/>
            <a:ext cx="24653" cy="8404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0" y="0"/>
                </a:moveTo>
                <a:lnTo>
                  <a:pt x="0" y="9144"/>
                </a:lnTo>
                <a:lnTo>
                  <a:pt x="27940" y="9144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69066" y="2651088"/>
          <a:ext cx="1023095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7305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50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364018" y="2651088"/>
          <a:ext cx="895349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500" spc="38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784873" y="3228189"/>
            <a:ext cx="2284319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18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49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xo</a:t>
            </a:r>
            <a:r>
              <a:rPr sz="1456" spc="23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199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ho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1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3" dirty="0">
                <a:latin typeface="Cambria"/>
                <a:cs typeface="Cambria"/>
              </a:rPr>
              <a:t> </a:t>
            </a:r>
            <a:r>
              <a:rPr sz="1279" spc="22" dirty="0">
                <a:latin typeface="Cambria"/>
                <a:cs typeface="Cambria"/>
              </a:rPr>
              <a:t>b</a:t>
            </a:r>
            <a:r>
              <a:rPr sz="1456" spc="33" baseline="-15151" dirty="0">
                <a:latin typeface="Cambria"/>
                <a:cs typeface="Cambria"/>
              </a:rPr>
              <a:t>o</a:t>
            </a:r>
            <a:r>
              <a:rPr sz="1279" spc="22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07124" y="3646853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372286" y="3646853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389" y="169164"/>
                </a:moveTo>
                <a:lnTo>
                  <a:pt x="15481" y="169164"/>
                </a:lnTo>
                <a:lnTo>
                  <a:pt x="15481" y="175260"/>
                </a:lnTo>
                <a:lnTo>
                  <a:pt x="41389" y="175260"/>
                </a:lnTo>
                <a:lnTo>
                  <a:pt x="41389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3609415" y="3587686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27686" y="301752"/>
                </a:moveTo>
                <a:lnTo>
                  <a:pt x="254" y="301752"/>
                </a:lnTo>
                <a:lnTo>
                  <a:pt x="254" y="310896"/>
                </a:lnTo>
                <a:lnTo>
                  <a:pt x="27686" y="310896"/>
                </a:lnTo>
                <a:lnTo>
                  <a:pt x="27686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27940" y="0"/>
                </a:lnTo>
                <a:lnTo>
                  <a:pt x="0" y="0"/>
                </a:lnTo>
                <a:lnTo>
                  <a:pt x="0" y="9144"/>
                </a:lnTo>
                <a:lnTo>
                  <a:pt x="27940" y="9144"/>
                </a:lnTo>
                <a:lnTo>
                  <a:pt x="27940" y="310896"/>
                </a:lnTo>
                <a:lnTo>
                  <a:pt x="44450" y="310896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3344956" y="3587686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3942" y="301752"/>
                </a:moveTo>
                <a:lnTo>
                  <a:pt x="18034" y="301752"/>
                </a:lnTo>
                <a:lnTo>
                  <a:pt x="18034" y="310896"/>
                </a:lnTo>
                <a:lnTo>
                  <a:pt x="43942" y="310896"/>
                </a:lnTo>
                <a:lnTo>
                  <a:pt x="43942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17780" y="0"/>
                </a:lnTo>
                <a:lnTo>
                  <a:pt x="0" y="0"/>
                </a:lnTo>
                <a:lnTo>
                  <a:pt x="0" y="310896"/>
                </a:lnTo>
                <a:lnTo>
                  <a:pt x="17780" y="310896"/>
                </a:lnTo>
                <a:lnTo>
                  <a:pt x="1778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3438413" y="3700181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40306" y="3646853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6096"/>
                </a:lnTo>
                <a:lnTo>
                  <a:pt x="25400" y="6096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3883959" y="3646853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169164"/>
                </a:move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41148" y="175260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5139915" y="3646853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4504765" y="3646853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1753047" y="3600672"/>
            <a:ext cx="4122644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36897" algn="l"/>
                <a:tab pos="1633344" algn="l"/>
              </a:tabLst>
            </a:pPr>
            <a:r>
              <a:rPr sz="1919" baseline="1915" dirty="0">
                <a:latin typeface="Cambria"/>
                <a:cs typeface="Cambria"/>
              </a:rPr>
              <a:t>o</a:t>
            </a:r>
            <a:r>
              <a:rPr sz="1456" baseline="-12626" dirty="0">
                <a:latin typeface="Cambria"/>
                <a:cs typeface="Cambria"/>
              </a:rPr>
              <a:t>1</a:t>
            </a:r>
            <a:r>
              <a:rPr sz="1456" spc="271" baseline="-12626" dirty="0">
                <a:latin typeface="Cambria"/>
                <a:cs typeface="Cambria"/>
              </a:rPr>
              <a:t> </a:t>
            </a:r>
            <a:r>
              <a:rPr sz="1919" spc="397" baseline="1915" dirty="0">
                <a:latin typeface="Cambria"/>
                <a:cs typeface="Cambria"/>
              </a:rPr>
              <a:t>=</a:t>
            </a:r>
            <a:r>
              <a:rPr sz="1919" spc="99" baseline="1915" dirty="0">
                <a:latin typeface="Cambria"/>
                <a:cs typeface="Cambria"/>
              </a:rPr>
              <a:t> </a:t>
            </a:r>
            <a:r>
              <a:rPr sz="1919" spc="86" baseline="1915" dirty="0">
                <a:latin typeface="Cambria"/>
                <a:cs typeface="Cambria"/>
              </a:rPr>
              <a:t>σ(</a:t>
            </a:r>
            <a:r>
              <a:rPr sz="1919" spc="251" baseline="1915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0.60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0.5</a:t>
            </a:r>
            <a:r>
              <a:rPr sz="1919" spc="184" baseline="32567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0.25</a:t>
            </a:r>
            <a:r>
              <a:rPr sz="1919" spc="165" baseline="1915" dirty="0">
                <a:latin typeface="Cambria"/>
                <a:cs typeface="Cambria"/>
              </a:rPr>
              <a:t>  </a:t>
            </a:r>
            <a:r>
              <a:rPr sz="1919" spc="337" baseline="1915" dirty="0">
                <a:latin typeface="Cambria"/>
                <a:cs typeface="Cambria"/>
              </a:rPr>
              <a:t>×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0.53631</a:t>
            </a:r>
            <a:r>
              <a:rPr sz="1919" spc="165" baseline="1915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26" baseline="1915" dirty="0">
                <a:latin typeface="Cambria"/>
                <a:cs typeface="Cambria"/>
              </a:rPr>
              <a:t> </a:t>
            </a:r>
            <a:r>
              <a:rPr sz="1919" spc="-13" baseline="1915" dirty="0">
                <a:latin typeface="Cambria"/>
                <a:cs typeface="Cambria"/>
              </a:rPr>
              <a:t>[0.10)</a:t>
            </a:r>
            <a:endParaRPr sz="1919" baseline="1915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33277" y="3987052"/>
            <a:ext cx="1011331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5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0.84993</a:t>
            </a:r>
            <a:endParaRPr sz="1279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20" name="object 20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833277" y="1748118"/>
          <a:ext cx="80290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2554941" y="179383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2305050" y="179383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 txBox="1"/>
          <p:nvPr/>
        </p:nvSpPr>
        <p:spPr>
          <a:xfrm>
            <a:off x="2995103" y="1792492"/>
            <a:ext cx="1023657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78810" y="1792492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9661" y="946224"/>
            <a:ext cx="1071843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588" spc="1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A1DE31DF-2701-F997-3780-E7A3074A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5650C-8881-40C5-A324-9926D630865C}" type="datetime1">
              <a:rPr lang="en-US" smtClean="0"/>
              <a:t>11/22/2025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504DEBE0-EB97-845A-73A3-0693E611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AA491ABF-9C30-455E-E008-9DEE873A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9659" y="1498629"/>
            <a:ext cx="3334310" cy="629687"/>
          </a:xfrm>
          <a:prstGeom prst="rect">
            <a:avLst/>
          </a:prstGeom>
        </p:spPr>
        <p:txBody>
          <a:bodyPr vert="horz" wrap="square" lIns="0" tIns="119343" rIns="0" bIns="0" rtlCol="0">
            <a:spAutoFit/>
          </a:bodyPr>
          <a:lstStyle/>
          <a:p>
            <a:pPr marL="33619">
              <a:spcBef>
                <a:spcPts val="940"/>
              </a:spcBef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13" dirty="0">
                <a:latin typeface="Calibri"/>
                <a:cs typeface="Calibri"/>
              </a:rPr>
              <a:t> </a:t>
            </a:r>
            <a:r>
              <a:rPr sz="1279" spc="-507" dirty="0">
                <a:latin typeface="Cambria"/>
                <a:cs typeface="Cambria"/>
              </a:rPr>
              <a:t>C</a:t>
            </a:r>
            <a:r>
              <a:rPr sz="1919" spc="6" baseline="11494" dirty="0">
                <a:latin typeface="Cambria"/>
                <a:cs typeface="Cambria"/>
              </a:rPr>
              <a:t>˜</a:t>
            </a:r>
            <a:r>
              <a:rPr sz="1456" spc="265" baseline="-15151" dirty="0">
                <a:latin typeface="Cambria"/>
                <a:cs typeface="Cambria"/>
              </a:rPr>
              <a:t>0</a:t>
            </a:r>
            <a:r>
              <a:rPr sz="1456" spc="178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1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53" dirty="0">
                <a:latin typeface="Cambria"/>
                <a:cs typeface="Cambria"/>
              </a:rPr>
              <a:t>f</a:t>
            </a:r>
            <a:r>
              <a:rPr sz="1456" spc="79" baseline="-15151" dirty="0">
                <a:latin typeface="Cambria"/>
                <a:cs typeface="Cambria"/>
              </a:rPr>
              <a:t>1</a:t>
            </a:r>
            <a:r>
              <a:rPr sz="1456" spc="628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C</a:t>
            </a:r>
            <a:r>
              <a:rPr sz="1456" spc="-33" baseline="-15151" dirty="0">
                <a:latin typeface="Cambria"/>
                <a:cs typeface="Cambria"/>
              </a:rPr>
              <a:t>0</a:t>
            </a:r>
            <a:endParaRPr sz="1456" baseline="-15151">
              <a:latin typeface="Cambria"/>
              <a:cs typeface="Cambria"/>
            </a:endParaRPr>
          </a:p>
          <a:p>
            <a:pPr marL="33619">
              <a:spcBef>
                <a:spcPts val="855"/>
              </a:spcBef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44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0.84980</a:t>
            </a:r>
            <a:r>
              <a:rPr sz="1279" spc="366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0.98118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0.87030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8655" y="2252383"/>
            <a:ext cx="92560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7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7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1.5176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2936" y="2725718"/>
            <a:ext cx="3363445" cy="55469"/>
          </a:xfrm>
          <a:custGeom>
            <a:avLst/>
            <a:gdLst/>
            <a:ahLst/>
            <a:cxnLst/>
            <a:rect l="l" t="t" r="r" b="b"/>
            <a:pathLst>
              <a:path w="3811904" h="62864">
                <a:moveTo>
                  <a:pt x="3811529" y="47243"/>
                </a:moveTo>
                <a:lnTo>
                  <a:pt x="3811529" y="0"/>
                </a:lnTo>
                <a:lnTo>
                  <a:pt x="0" y="15239"/>
                </a:lnTo>
                <a:lnTo>
                  <a:pt x="0" y="62483"/>
                </a:lnTo>
                <a:lnTo>
                  <a:pt x="3811529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2567486" y="3622637"/>
            <a:ext cx="606799" cy="154641"/>
          </a:xfrm>
          <a:custGeom>
            <a:avLst/>
            <a:gdLst/>
            <a:ahLst/>
            <a:cxnLst/>
            <a:rect l="l" t="t" r="r" b="b"/>
            <a:pathLst>
              <a:path w="687705" h="175260">
                <a:moveTo>
                  <a:pt x="687330" y="86868"/>
                </a:moveTo>
                <a:lnTo>
                  <a:pt x="679614" y="42719"/>
                </a:lnTo>
                <a:lnTo>
                  <a:pt x="655897" y="11239"/>
                </a:lnTo>
                <a:lnTo>
                  <a:pt x="632466" y="0"/>
                </a:lnTo>
                <a:lnTo>
                  <a:pt x="629418" y="7620"/>
                </a:lnTo>
                <a:lnTo>
                  <a:pt x="639990" y="11906"/>
                </a:lnTo>
                <a:lnTo>
                  <a:pt x="648849" y="17907"/>
                </a:lnTo>
                <a:lnTo>
                  <a:pt x="669613" y="58102"/>
                </a:lnTo>
                <a:lnTo>
                  <a:pt x="672090" y="86868"/>
                </a:lnTo>
                <a:lnTo>
                  <a:pt x="672090" y="146863"/>
                </a:lnTo>
                <a:lnTo>
                  <a:pt x="673614" y="144780"/>
                </a:lnTo>
                <a:lnTo>
                  <a:pt x="679614" y="131873"/>
                </a:lnTo>
                <a:lnTo>
                  <a:pt x="683901" y="118110"/>
                </a:lnTo>
                <a:lnTo>
                  <a:pt x="686472" y="103203"/>
                </a:lnTo>
                <a:lnTo>
                  <a:pt x="687330" y="86868"/>
                </a:lnTo>
                <a:close/>
              </a:path>
              <a:path w="687705" h="175260">
                <a:moveTo>
                  <a:pt x="672090" y="146863"/>
                </a:moveTo>
                <a:lnTo>
                  <a:pt x="672090" y="86868"/>
                </a:lnTo>
                <a:lnTo>
                  <a:pt x="671494" y="102274"/>
                </a:lnTo>
                <a:lnTo>
                  <a:pt x="669613" y="116395"/>
                </a:lnTo>
                <a:lnTo>
                  <a:pt x="648277" y="157353"/>
                </a:lnTo>
                <a:lnTo>
                  <a:pt x="629418" y="167640"/>
                </a:lnTo>
                <a:lnTo>
                  <a:pt x="632466" y="175260"/>
                </a:lnTo>
                <a:lnTo>
                  <a:pt x="645324" y="170711"/>
                </a:lnTo>
                <a:lnTo>
                  <a:pt x="656469" y="164020"/>
                </a:lnTo>
                <a:lnTo>
                  <a:pt x="665898" y="155328"/>
                </a:lnTo>
                <a:lnTo>
                  <a:pt x="672090" y="146863"/>
                </a:lnTo>
                <a:close/>
              </a:path>
              <a:path w="687705" h="175260">
                <a:moveTo>
                  <a:pt x="57912" y="7620"/>
                </a:moveTo>
                <a:lnTo>
                  <a:pt x="54864" y="0"/>
                </a:lnTo>
                <a:lnTo>
                  <a:pt x="42005" y="4548"/>
                </a:lnTo>
                <a:lnTo>
                  <a:pt x="30861" y="11239"/>
                </a:lnTo>
                <a:lnTo>
                  <a:pt x="7715" y="42719"/>
                </a:lnTo>
                <a:lnTo>
                  <a:pt x="0" y="86868"/>
                </a:lnTo>
                <a:lnTo>
                  <a:pt x="857" y="103203"/>
                </a:lnTo>
                <a:lnTo>
                  <a:pt x="3429" y="118110"/>
                </a:lnTo>
                <a:lnTo>
                  <a:pt x="7715" y="131873"/>
                </a:lnTo>
                <a:lnTo>
                  <a:pt x="13716" y="144780"/>
                </a:lnTo>
                <a:lnTo>
                  <a:pt x="15240" y="146863"/>
                </a:lnTo>
                <a:lnTo>
                  <a:pt x="15240" y="86868"/>
                </a:lnTo>
                <a:lnTo>
                  <a:pt x="15835" y="71699"/>
                </a:lnTo>
                <a:lnTo>
                  <a:pt x="31337" y="25622"/>
                </a:lnTo>
                <a:lnTo>
                  <a:pt x="47339" y="11906"/>
                </a:lnTo>
                <a:lnTo>
                  <a:pt x="57912" y="7620"/>
                </a:lnTo>
                <a:close/>
              </a:path>
              <a:path w="687705" h="175260">
                <a:moveTo>
                  <a:pt x="57912" y="167640"/>
                </a:moveTo>
                <a:lnTo>
                  <a:pt x="25908" y="140208"/>
                </a:lnTo>
                <a:lnTo>
                  <a:pt x="15835" y="102274"/>
                </a:lnTo>
                <a:lnTo>
                  <a:pt x="15240" y="86868"/>
                </a:lnTo>
                <a:lnTo>
                  <a:pt x="15240" y="146863"/>
                </a:lnTo>
                <a:lnTo>
                  <a:pt x="21431" y="155328"/>
                </a:lnTo>
                <a:lnTo>
                  <a:pt x="30861" y="164020"/>
                </a:lnTo>
                <a:lnTo>
                  <a:pt x="42005" y="170711"/>
                </a:lnTo>
                <a:lnTo>
                  <a:pt x="54864" y="175260"/>
                </a:lnTo>
                <a:lnTo>
                  <a:pt x="57912" y="167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1798314" y="3144549"/>
            <a:ext cx="2205318" cy="637543"/>
          </a:xfrm>
          <a:prstGeom prst="rect">
            <a:avLst/>
          </a:prstGeom>
        </p:spPr>
        <p:txBody>
          <a:bodyPr vert="horz" wrap="square" lIns="0" tIns="127187" rIns="0" bIns="0" rtlCol="0">
            <a:spAutoFit/>
          </a:bodyPr>
          <a:lstStyle/>
          <a:p>
            <a:pPr marL="33619">
              <a:spcBef>
                <a:spcPts val="1002"/>
              </a:spcBef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8" dirty="0">
                <a:latin typeface="Cambria"/>
                <a:cs typeface="Cambria"/>
              </a:rPr>
              <a:t> </a:t>
            </a:r>
            <a:r>
              <a:rPr sz="1279" spc="49" dirty="0">
                <a:latin typeface="Cambria"/>
                <a:cs typeface="Cambria"/>
              </a:rPr>
              <a:t>tanℎ(C</a:t>
            </a:r>
            <a:r>
              <a:rPr sz="1456" spc="72" baseline="-15151" dirty="0">
                <a:latin typeface="Cambria"/>
                <a:cs typeface="Cambria"/>
              </a:rPr>
              <a:t>1</a:t>
            </a:r>
            <a:r>
              <a:rPr sz="1279" spc="49" dirty="0">
                <a:latin typeface="Cambria"/>
                <a:cs typeface="Cambria"/>
              </a:rPr>
              <a:t>)</a:t>
            </a:r>
            <a:r>
              <a:rPr sz="1279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4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o</a:t>
            </a:r>
            <a:r>
              <a:rPr sz="1456" spc="-33" baseline="-15151" dirty="0">
                <a:latin typeface="Cambria"/>
                <a:cs typeface="Cambria"/>
              </a:rPr>
              <a:t>1</a:t>
            </a:r>
            <a:endParaRPr sz="1456" baseline="-15151">
              <a:latin typeface="Cambria"/>
              <a:cs typeface="Cambria"/>
            </a:endParaRPr>
          </a:p>
          <a:p>
            <a:pPr marL="48188">
              <a:spcBef>
                <a:spcPts val="922"/>
              </a:spcBef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31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tanh</a:t>
            </a:r>
            <a:r>
              <a:rPr sz="1279" spc="27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1.5176</a:t>
            </a:r>
            <a:r>
              <a:rPr sz="1279" spc="150" dirty="0">
                <a:latin typeface="Cambria"/>
                <a:cs typeface="Cambria"/>
              </a:rPr>
              <a:t> 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0.84993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8655" y="3965538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9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4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0.77197</a:t>
            </a:r>
            <a:endParaRPr sz="1279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9" name="object 9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0661" y="946224"/>
            <a:ext cx="1843928" cy="4969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00600"/>
              </a:lnSpc>
              <a:spcBef>
                <a:spcPts val="88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588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588" spc="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1588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22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Give</a:t>
            </a:r>
            <a:r>
              <a:rPr sz="1588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F5E4D03-CD35-B2B6-05B9-BE92244D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3896-0C00-4D92-B89E-BC91E90542BB}" type="datetime1">
              <a:rPr lang="en-US" smtClean="0"/>
              <a:t>11/22/2025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4FF9A70-F4AF-1841-5FE9-3B272569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BEF0EB6-0FA0-9DEE-3219-C00EDDA4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22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2174747"/>
            <a:ext cx="8114286" cy="1438644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spc="-9" dirty="0">
                <a:latin typeface="Calibri"/>
                <a:cs typeface="Calibri"/>
              </a:rPr>
              <a:t>Understanding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LSTMs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Colah’s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Blog</a:t>
            </a:r>
            <a:endParaRPr sz="2030" dirty="0">
              <a:latin typeface="Calibri"/>
              <a:cs typeface="Calibri"/>
            </a:endParaRPr>
          </a:p>
          <a:p>
            <a:pPr marL="176502" marR="4483" indent="-165856">
              <a:lnSpc>
                <a:spcPts val="2206"/>
              </a:lnSpc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r>
              <a:rPr sz="2030" spc="-9" dirty="0">
                <a:latin typeface="Calibri"/>
                <a:cs typeface="Calibri"/>
              </a:rPr>
              <a:t>Illustrated</a:t>
            </a:r>
            <a:r>
              <a:rPr sz="2030" spc="-57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Guide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LSTM’s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and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GRU’s: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A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step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by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step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explanation, 	</a:t>
            </a:r>
            <a:r>
              <a:rPr sz="2030" dirty="0">
                <a:latin typeface="Calibri"/>
                <a:cs typeface="Calibri"/>
              </a:rPr>
              <a:t>Michael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Nguyen</a:t>
            </a:r>
            <a:endParaRPr lang="en-US" sz="2030" spc="-9" dirty="0">
              <a:latin typeface="Calibri"/>
              <a:cs typeface="Calibri"/>
            </a:endParaRPr>
          </a:p>
          <a:p>
            <a:pPr marL="176502" marR="4483" indent="-165856">
              <a:lnSpc>
                <a:spcPts val="2206"/>
              </a:lnSpc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endParaRPr sz="2030"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DFB91-65C2-0EB6-8288-34DFE9D9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191A-AC2E-4337-B1C8-447E5A9B79AC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90C4F-C0CD-B9D9-DC18-B9BF3B19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3B8D1-B151-DA5D-3628-967873BA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09A5-D558-4F9E-9FC3-C5C6ECBD5A71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Dr. Noshina Tariq with thanks to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20971</TotalTime>
  <Words>3031</Words>
  <Application>Microsoft Office PowerPoint</Application>
  <PresentationFormat>Widescreen</PresentationFormat>
  <Paragraphs>471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Arial</vt:lpstr>
      <vt:lpstr>Arial MT</vt:lpstr>
      <vt:lpstr>Calibri</vt:lpstr>
      <vt:lpstr>Cambria</vt:lpstr>
      <vt:lpstr>Consolas</vt:lpstr>
      <vt:lpstr>Times New Roman</vt:lpstr>
      <vt:lpstr>Wingdings</vt:lpstr>
      <vt:lpstr>Office Theme</vt:lpstr>
      <vt:lpstr>PowerPoint Presentation</vt:lpstr>
      <vt:lpstr>Goals</vt:lpstr>
      <vt:lpstr>Variants of RNN</vt:lpstr>
      <vt:lpstr>Long Short Term Memory Networks - LSTMs</vt:lpstr>
      <vt:lpstr>Long Short Term Memory Networks - LSTMs</vt:lpstr>
      <vt:lpstr>Long Short Term Memory Networks - LSTMs</vt:lpstr>
      <vt:lpstr>LSTMs</vt:lpstr>
      <vt:lpstr>LSTMs - Gates</vt:lpstr>
      <vt:lpstr>LSTMs - Gates</vt:lpstr>
      <vt:lpstr>LSTM - Gates</vt:lpstr>
      <vt:lpstr>LSTMs</vt:lpstr>
      <vt:lpstr>LSTMs – Forget Layer</vt:lpstr>
      <vt:lpstr>PowerPoint Presentation</vt:lpstr>
      <vt:lpstr>LSTMs – Input Layer</vt:lpstr>
      <vt:lpstr>PowerPoint Presentation</vt:lpstr>
      <vt:lpstr>PowerPoint Presentation</vt:lpstr>
      <vt:lpstr>PowerPoint Presentation</vt:lpstr>
      <vt:lpstr>PowerPoint Presentation</vt:lpstr>
      <vt:lpstr>ft = σ(Whƒ . ℎt–1 + Wxƒ. xt + bƒ)</vt:lpstr>
      <vt:lpstr>Total NW Parameters</vt:lpstr>
      <vt:lpstr>Total NW Parameters</vt:lpstr>
      <vt:lpstr>Total NW Parameters</vt:lpstr>
      <vt:lpstr>LSTM</vt:lpstr>
      <vt:lpstr>PowerPoint Presentation</vt:lpstr>
      <vt:lpstr>Worked Example (LSTMs – Forward Pass)</vt:lpstr>
      <vt:lpstr>Worked Example</vt:lpstr>
      <vt:lpstr>Worked Example – Forward Pass @ t=0</vt:lpstr>
      <vt:lpstr>Worked Example – Forward Pass @ t=0</vt:lpstr>
      <vt:lpstr>Worked Example – Forward Pass @ t=0</vt:lpstr>
      <vt:lpstr>Worked Example – Forward Pass @ t=0</vt:lpstr>
      <vt:lpstr>Worked Example – Forward Pass @ t=0</vt:lpstr>
      <vt:lpstr>Worked Example – Forward Pass @ t=1</vt:lpstr>
      <vt:lpstr>Worked Example – Forward Pass @ t=1</vt:lpstr>
      <vt:lpstr>Worked Example – Forward Pass @ t=1</vt:lpstr>
      <vt:lpstr>Worked Example – Forward Pass @ t=1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Noshina Tariq</cp:lastModifiedBy>
  <cp:revision>1434</cp:revision>
  <dcterms:created xsi:type="dcterms:W3CDTF">2006-08-16T00:00:00Z</dcterms:created>
  <dcterms:modified xsi:type="dcterms:W3CDTF">2025-11-22T14:24:59Z</dcterms:modified>
</cp:coreProperties>
</file>